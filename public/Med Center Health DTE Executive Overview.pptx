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0"/>
  </p:notesMasterIdLst>
  <p:sldIdLst>
    <p:sldId id="588" r:id="rId8"/>
    <p:sldId id="454" r:id="rId9"/>
    <p:sldId id="2145726874" r:id="rId10"/>
    <p:sldId id="2145726912" r:id="rId11"/>
    <p:sldId id="559" r:id="rId12"/>
    <p:sldId id="580" r:id="rId13"/>
    <p:sldId id="2145726924" r:id="rId14"/>
    <p:sldId id="2145726926" r:id="rId15"/>
    <p:sldId id="614" r:id="rId16"/>
    <p:sldId id="2145726927" r:id="rId17"/>
    <p:sldId id="2145726928" r:id="rId18"/>
    <p:sldId id="472" r:id="rId19"/>
  </p:sldIdLst>
  <p:sldSz cx="12192000" cy="6858000"/>
  <p:notesSz cx="7315200" cy="96012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 varScale="1">
        <p:scale>
          <a:sx n="98" d="100"/>
          <a:sy n="98" d="100"/>
        </p:scale>
        <p:origin x="82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Med Center Health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D-1D5C-FF21-4A1E-7AB392E8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371-73B9-408F-674E-7CD4D0AB597E}"/>
              </a:ext>
            </a:extLst>
          </p:cNvPr>
          <p:cNvSpPr/>
          <p:nvPr/>
        </p:nvSpPr>
        <p:spPr>
          <a:xfrm>
            <a:off x="1" y="0"/>
            <a:ext cx="4846964" cy="6870346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9C9EE-93FE-78B8-4BCD-C09DECB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520" y="6421464"/>
            <a:ext cx="4114800" cy="365125"/>
          </a:xfrm>
        </p:spPr>
        <p:txBody>
          <a:bodyPr/>
          <a:lstStyle/>
          <a:p>
            <a:r>
              <a:rPr lang="en-US"/>
              <a:t>Key Benefit Administrators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966400-D608-A464-A105-DE053AB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5" y="683306"/>
            <a:ext cx="5957965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>
                <a:solidFill>
                  <a:srgbClr val="000B2E"/>
                </a:solidFill>
              </a:rPr>
              <a:t>Our Founding and Heritage:</a:t>
            </a:r>
            <a:br>
              <a:rPr lang="en-US" sz="4000" b="1">
                <a:solidFill>
                  <a:srgbClr val="000B2E"/>
                </a:solidFill>
              </a:rPr>
            </a:br>
            <a:r>
              <a:rPr lang="en-US" sz="3600" b="0">
                <a:solidFill>
                  <a:srgbClr val="000B2E"/>
                </a:solidFill>
              </a:rPr>
              <a:t>46 Years of Striving for Honesty in Healthcare</a:t>
            </a:r>
            <a:endParaRPr lang="en-US" sz="16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 descr="Larry Dust - Crunchbase Person Profile">
            <a:extLst>
              <a:ext uri="{FF2B5EF4-FFF2-40B4-BE49-F238E27FC236}">
                <a16:creationId xmlns:a16="http://schemas.microsoft.com/office/drawing/2014/main" id="{F7A901A5-A0C2-992D-8392-CF98ABD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42" y="1049081"/>
            <a:ext cx="2498081" cy="2498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4" descr="Working at Key Benefit Administrators | Top Workplaces">
            <a:extLst>
              <a:ext uri="{FF2B5EF4-FFF2-40B4-BE49-F238E27FC236}">
                <a16:creationId xmlns:a16="http://schemas.microsoft.com/office/drawing/2014/main" id="{F140746C-3B1E-D8A0-5BED-E05A5C3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57" y="3913332"/>
            <a:ext cx="2990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0CBFE08E-E446-CB70-FF81-2CC0C848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06" y="2298120"/>
            <a:ext cx="5863414" cy="39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8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E9585457-04EC-9F2F-1461-7D06991F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6" y="691197"/>
            <a:ext cx="8657166" cy="54559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96923" y="3710892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2439551" y="460543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Dallas Fort Worth, TX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3058516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4CD584-8CF7-DD3D-64A2-A93AEE54754C}"/>
              </a:ext>
            </a:extLst>
          </p:cNvPr>
          <p:cNvSpPr/>
          <p:nvPr/>
        </p:nvSpPr>
        <p:spPr>
          <a:xfrm>
            <a:off x="6962035" y="2256594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Cleveland, OH</a:t>
            </a:r>
          </a:p>
        </p:txBody>
      </p:sp>
    </p:spTree>
    <p:extLst>
      <p:ext uri="{BB962C8B-B14F-4D97-AF65-F5344CB8AC3E}">
        <p14:creationId xmlns:p14="http://schemas.microsoft.com/office/powerpoint/2010/main" val="35807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250+ Employers       60,000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120,000+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4478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-1609344" y="1828800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Med Center Health service area in Allen, Barren, Butler, Edmonson, Grayson, Hart, Logan, Metcalfe, Ohio, Simpson, Todd, Warren, Montgomery, Robertson, and Sumner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398K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234K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146K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85K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$1.04M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$0.16M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$5.88M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$1.87M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$11.65M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$3.87M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115.7K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457.8K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663.3K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-211.9K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286.2K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495.3K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173.5K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347.0K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653.9K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1,061.3K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-152.9K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174.2K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485.9K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900.5K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115.7K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331.6K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-271.0K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-61.9K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2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Rounded 2">
            <a:extLst>
              <a:ext uri="{FF2B5EF4-FFF2-40B4-BE49-F238E27FC236}">
                <a16:creationId xmlns:a16="http://schemas.microsoft.com/office/drawing/2014/main" id="{0E0827A4-8831-4F72-BCCA-ED2FC12E6729}"/>
              </a:ext>
            </a:extLst>
          </p:cNvPr>
          <p:cNvSpPr/>
          <p:nvPr/>
        </p:nvSpPr>
        <p:spPr>
          <a:xfrm flipV="1">
            <a:off x="-12707" y="-2"/>
            <a:ext cx="4787908" cy="5524593"/>
          </a:xfrm>
          <a:prstGeom prst="round1Rect">
            <a:avLst>
              <a:gd name="adj" fmla="val 14176"/>
            </a:avLst>
          </a:prstGeom>
          <a:solidFill>
            <a:srgbClr val="00539F">
              <a:alpha val="93725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5BDB08-48BA-4014-94E1-0CA6432F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174481"/>
            <a:ext cx="3839251" cy="943119"/>
          </a:xfrm>
          <a:noFill/>
        </p:spPr>
        <p:txBody>
          <a:bodyPr>
            <a:normAutofit/>
          </a:bodyPr>
          <a:lstStyle/>
          <a:p>
            <a:r>
              <a:rPr lang="en-US" sz="2400" cap="all" dirty="0">
                <a:solidFill>
                  <a:schemeClr val="bg1"/>
                </a:solidFill>
              </a:rPr>
              <a:t>Complete Marketing System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D71BB9D-3705-447C-AA44-226373980B76}"/>
              </a:ext>
            </a:extLst>
          </p:cNvPr>
          <p:cNvSpPr txBox="1"/>
          <p:nvPr/>
        </p:nvSpPr>
        <p:spPr>
          <a:xfrm>
            <a:off x="326132" y="1333409"/>
            <a:ext cx="4029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Branding and Messaging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Brochures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Web Site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Targeted Employer Outreach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Sales System (Social Media, Email, Text, etc.)</a:t>
            </a: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E9CEBAE5-9FB0-92E7-FE3C-8D162366D53C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FEB77514-FCC1-8077-FF95-E9A7EC1F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Object 1">
            <a:extLst>
              <a:ext uri="{FF2B5EF4-FFF2-40B4-BE49-F238E27FC236}">
                <a16:creationId xmlns:a16="http://schemas.microsoft.com/office/drawing/2014/main" id="{6A650CAB-F194-C039-985A-378659DC9264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solidFill>
            <a:srgbClr val="254F96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A8440E76-55C9-58AD-8FFE-1161A970BB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7" t="358" r="-3017" b="358"/>
          <a:stretch/>
        </p:blipFill>
        <p:spPr>
          <a:xfrm>
            <a:off x="6260477" y="1869754"/>
            <a:ext cx="4672331" cy="2916602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8A7EB5CC-EEC2-B5AA-4D5D-3D6555854B7F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80FD5046-6F68-9F9C-A2D7-3B2367BB6F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2571" y="1610180"/>
            <a:ext cx="6211749" cy="36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1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Med Center Health has 70% inpatient market share, and 50% outpatient market compared to hospitals/clinics in the Med Center Health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Med Center Health.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convenience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3387" y="865762"/>
          <a:ext cx="7444190" cy="5129655"/>
        </p:xfrm>
        <a:graphic>
          <a:graphicData uri="http://schemas.openxmlformats.org/drawingml/2006/table">
            <a:tbl>
              <a:tblPr/>
              <a:tblGrid>
                <a:gridCol w="1488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8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47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Med Center Health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Med Center Health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87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1,000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$ 1,928,560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$ 2,504,403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$ 1,169,535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$ 5,602,497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$ 647,996.1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$ 841,479.3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$ 392,963.7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$ 1,882,439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$ 651,294.1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$ 12,000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$ 663,294.1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$ 483,294.1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$ 2,122,614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$ 3,693,449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$ 1,724,809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$ 7,540,872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$ 713,198.2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$ 1,240,999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$ 579,536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$ 2,533,733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70% (inpatient) and 50%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33.6%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77% inpatient and 74%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33.6%, with a 10 percentage-point reduction to reflect competitive-edge rates and a 10 percentage-point increase due to lower billing costs and higher patient responsibility collections because of the member convenience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686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12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46169</TotalTime>
  <Words>1085</Words>
  <Application>Microsoft Office PowerPoint</Application>
  <PresentationFormat>Widescreen</PresentationFormat>
  <Paragraphs>392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Our Founding and Heritage: 46 Years of Striving for Honesty in Healthcare</vt:lpstr>
      <vt:lpstr>PowerPoint Presentation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Complete Marketing System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114</cp:revision>
  <cp:lastPrinted>2023-07-13T10:24:43Z</cp:lastPrinted>
  <dcterms:created xsi:type="dcterms:W3CDTF">2021-01-20T14:12:11Z</dcterms:created>
  <dcterms:modified xsi:type="dcterms:W3CDTF">2026-03-24T15:32:02Z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