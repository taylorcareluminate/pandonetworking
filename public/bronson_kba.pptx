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43.jpg" ContentType="image/jpeg"/>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6"/>
  </p:notesMasterIdLst>
  <p:sldIdLst>
    <p:sldId id="588" r:id="rId10"/>
    <p:sldId id="454" r:id="rId11"/>
    <p:sldId id="549" r:id="rId12"/>
    <p:sldId id="2145726869" r:id="rId13"/>
    <p:sldId id="452" r:id="rId14"/>
    <p:sldId id="466" r:id="rId15"/>
    <p:sldId id="2145726871" r:id="rId16"/>
    <p:sldId id="580" r:id="rId17"/>
    <p:sldId id="582" r:id="rId18"/>
    <p:sldId id="558" r:id="rId19"/>
    <p:sldId id="2145726907" r:id="rId20"/>
    <p:sldId id="521" r:id="rId21"/>
    <p:sldId id="564" r:id="rId22"/>
    <p:sldId id="2145726908" r:id="rId23"/>
    <p:sldId id="613" r:id="rId24"/>
    <p:sldId id="458" r:id="rId25"/>
    <p:sldId id="2145726859" r:id="rId26"/>
    <p:sldId id="2145726857" r:id="rId27"/>
    <p:sldId id="469" r:id="rId28"/>
    <p:sldId id="2145726856" r:id="rId29"/>
    <p:sldId id="614" r:id="rId30"/>
    <p:sldId id="459" r:id="rId31"/>
    <p:sldId id="2145726870" r:id="rId32"/>
    <p:sldId id="281" r:id="rId33"/>
    <p:sldId id="288" r:id="rId34"/>
    <p:sldId id="289" r:id="rId35"/>
    <p:sldId id="2145726904" r:id="rId36"/>
    <p:sldId id="2145726906" r:id="rId37"/>
    <p:sldId id="2145726629" r:id="rId38"/>
    <p:sldId id="2145726866" r:id="rId39"/>
    <p:sldId id="583" r:id="rId40"/>
    <p:sldId id="525" r:id="rId41"/>
    <p:sldId id="2145726868" r:id="rId42"/>
    <p:sldId id="571" r:id="rId43"/>
    <p:sldId id="2145726864" r:id="rId44"/>
    <p:sldId id="585" r:id="rId45"/>
    <p:sldId id="2145726909" r:id="rId46"/>
    <p:sldId id="256" r:id="rId47"/>
    <p:sldId id="574" r:id="rId48"/>
    <p:sldId id="572" r:id="rId49"/>
    <p:sldId id="575" r:id="rId50"/>
    <p:sldId id="498" r:id="rId51"/>
    <p:sldId id="325" r:id="rId52"/>
    <p:sldId id="326" r:id="rId53"/>
    <p:sldId id="491" r:id="rId54"/>
    <p:sldId id="472" r:id="rId55"/>
  </p:sldIdLst>
  <p:sldSz cx="12192000" cy="6858000"/>
  <p:notesSz cx="7315200" cy="9601200"/>
  <p:custDataLst>
    <p:tags r:id="rId5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slide" Target="slides/slide46.xml"/><Relationship Id="rId63"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theme" Target="theme/theme1.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notesMaster" Target="notesMasters/notesMaster1.xml"/><Relationship Id="rId64"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presProps" Target="presProp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ags" Target="tags/tag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7D0B6B51-DA5F-4021-8848-39BD0005AA08}"/>
    <pc:docChg chg="delSld modSld">
      <pc:chgData name="Taylor Davis" userId="5c9e72a0-c39f-4aa1-9d7d-64125e78cbe6" providerId="ADAL" clId="{7D0B6B51-DA5F-4021-8848-39BD0005AA08}" dt="2025-09-25T22:41:38.644" v="5" actId="20577"/>
      <pc:docMkLst>
        <pc:docMk/>
      </pc:docMkLst>
      <pc:sldChg chg="del">
        <pc:chgData name="Taylor Davis" userId="5c9e72a0-c39f-4aa1-9d7d-64125e78cbe6" providerId="ADAL" clId="{7D0B6B51-DA5F-4021-8848-39BD0005AA08}" dt="2025-09-25T22:38:02.337" v="0" actId="47"/>
        <pc:sldMkLst>
          <pc:docMk/>
          <pc:sldMk cId="3325436177" sldId="489"/>
        </pc:sldMkLst>
      </pc:sldChg>
      <pc:sldChg chg="modSp mod">
        <pc:chgData name="Taylor Davis" userId="5c9e72a0-c39f-4aa1-9d7d-64125e78cbe6" providerId="ADAL" clId="{7D0B6B51-DA5F-4021-8848-39BD0005AA08}" dt="2025-09-25T22:41:17.515" v="2" actId="20577"/>
        <pc:sldMkLst>
          <pc:docMk/>
          <pc:sldMk cId="2203540903" sldId="499"/>
        </pc:sldMkLst>
        <pc:spChg chg="mod">
          <ac:chgData name="Taylor Davis" userId="5c9e72a0-c39f-4aa1-9d7d-64125e78cbe6" providerId="ADAL" clId="{7D0B6B51-DA5F-4021-8848-39BD0005AA08}" dt="2025-09-25T22:41:17.515" v="2" actId="20577"/>
          <ac:spMkLst>
            <pc:docMk/>
            <pc:sldMk cId="2203540903" sldId="499"/>
            <ac:spMk id="7" creationId="{AB8821D0-DEDE-002D-E87D-13E033D5D75F}"/>
          </ac:spMkLst>
        </pc:spChg>
      </pc:sldChg>
      <pc:sldChg chg="modSp mod">
        <pc:chgData name="Taylor Davis" userId="5c9e72a0-c39f-4aa1-9d7d-64125e78cbe6" providerId="ADAL" clId="{7D0B6B51-DA5F-4021-8848-39BD0005AA08}" dt="2025-09-25T22:41:38.644" v="5" actId="20577"/>
        <pc:sldMkLst>
          <pc:docMk/>
          <pc:sldMk cId="3470905217" sldId="558"/>
        </pc:sldMkLst>
        <pc:spChg chg="mod">
          <ac:chgData name="Taylor Davis" userId="5c9e72a0-c39f-4aa1-9d7d-64125e78cbe6" providerId="ADAL" clId="{7D0B6B51-DA5F-4021-8848-39BD0005AA08}" dt="2025-09-25T22:41:38.644" v="5" actId="20577"/>
          <ac:spMkLst>
            <pc:docMk/>
            <pc:sldMk cId="3470905217" sldId="558"/>
            <ac:spMk id="6" creationId="{025AE6BF-C458-13D4-626E-DAD4C1439055}"/>
          </ac:spMkLst>
        </pc:spChg>
      </pc:sldChg>
    </pc:docChg>
  </pc:docChgLst>
</pc:chgInfo>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1.svg"/><Relationship Id="rId9" Type="http://schemas.openxmlformats.org/officeDocument/2006/relationships/image" Target="../media/image36.png"/></Relationships>
</file>

<file path=ppt/diagrams/_rels/drawing1.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1.svg"/><Relationship Id="rId9" Type="http://schemas.openxmlformats.org/officeDocument/2006/relationships/image" Target="../media/image36.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2/5/2026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9</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22</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dirty="0"/>
              <a:t>Can’t put 3,500 on the convenience card. Second line is not the healthcare </a:t>
            </a:r>
            <a:r>
              <a:rPr lang="en-US" altLang="en-US" dirty="0" err="1"/>
              <a:t>credicard</a:t>
            </a:r>
            <a:r>
              <a:rPr lang="en-US" altLang="en-US" dirty="0"/>
              <a:t> balance</a:t>
            </a:r>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23</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15D0E5-5042-47C0-BF59-F47A3BD5F6F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3169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2/5/2026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2/5/2026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2/5/2026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2/5/2026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2/5/2026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2/5/2026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2/5/2026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2/5/2026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2/5/2026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2/5/2026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2/5/2026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2/5/2026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2/5/2026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2/5/2026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2/5/2026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2/5/2026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2/5/2026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2/5/2026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2/5/2026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2/5/2026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2/5/2026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2/5/2026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2/5/2026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2/5/2026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2/5/2026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2/5/2026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2/5/2026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2/5/2026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2/5/2026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2/5/2026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2/5/2026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2/5/2026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2/5/2026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2/5/2026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2/5/2026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2/5/2026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2/5/2026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2/5/2026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2/5/2026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2/5/2026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2/5/2026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2/5/2026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2/5/2026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2/5/2026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2/5/2026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2/5/2026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2/5/2026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2/5/2026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2/5/2026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2/5/2026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2/5/2026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2/5/2026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2/5/2026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2/5/2026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2/5/2026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2/5/2026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2/5/2026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2/5/2026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2/5/2026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2/5/2026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2/5/2026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hyperlink" Target="https://www.perfectiongeeks.com/ai-in-claims-processing" TargetMode="External"/><Relationship Id="rId2" Type="http://schemas.openxmlformats.org/officeDocument/2006/relationships/image" Target="../media/image43.jpg"/><Relationship Id="rId1" Type="http://schemas.openxmlformats.org/officeDocument/2006/relationships/slideLayout" Target="../slideLayouts/slideLayout34.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hyperlink" Target="https://www.perfectiongeeks.com/ai-in-claims-processing" TargetMode="External"/><Relationship Id="rId2" Type="http://schemas.openxmlformats.org/officeDocument/2006/relationships/image" Target="../media/image43.jpg"/><Relationship Id="rId1" Type="http://schemas.openxmlformats.org/officeDocument/2006/relationships/slideLayout" Target="../slideLayouts/slideLayout34.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2.png"/><Relationship Id="rId1" Type="http://schemas.openxmlformats.org/officeDocument/2006/relationships/slideLayout" Target="../slideLayouts/slideLayout3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2.png"/><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28.xml"/><Relationship Id="rId4" Type="http://schemas.openxmlformats.org/officeDocument/2006/relationships/image" Target="../media/image50.jpeg"/></Relationships>
</file>

<file path=ppt/slides/_rels/slide30.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jpe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eg"/><Relationship Id="rId1" Type="http://schemas.openxmlformats.org/officeDocument/2006/relationships/slideLayout" Target="../slideLayouts/slideLayout2.xml"/><Relationship Id="rId6" Type="http://schemas.openxmlformats.org/officeDocument/2006/relationships/image" Target="../media/image58.jpeg"/><Relationship Id="rId5" Type="http://schemas.openxmlformats.org/officeDocument/2006/relationships/image" Target="../media/image57.jpeg"/><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9.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9.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6.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jpeg"/><Relationship Id="rId1" Type="http://schemas.openxmlformats.org/officeDocument/2006/relationships/slideLayout" Target="../slideLayouts/slideLayout6.xml"/><Relationship Id="rId6" Type="http://schemas.openxmlformats.org/officeDocument/2006/relationships/image" Target="../media/image64.svg"/><Relationship Id="rId11" Type="http://schemas.openxmlformats.org/officeDocument/2006/relationships/image" Target="../media/image10.png"/><Relationship Id="rId5" Type="http://schemas.openxmlformats.org/officeDocument/2006/relationships/image" Target="../media/image63.png"/><Relationship Id="rId10" Type="http://schemas.openxmlformats.org/officeDocument/2006/relationships/image" Target="../media/image68.svg"/><Relationship Id="rId4" Type="http://schemas.openxmlformats.org/officeDocument/2006/relationships/image" Target="../media/image62.svg"/><Relationship Id="rId9"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Bronson Healthcare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40670" y="3693371"/>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Ozarks Community Choice</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7360920" y="348830"/>
            <a:ext cx="4423880"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BRONSON</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Bronson Healthcare is the quality and access leader in this service area (see slide 8). Market size and brand quality are likelty to negatively impact plan growth</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Bronson Healthcare.</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Bronson Healthcare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700+ Employers       165,000</a:t>
            </a:r>
            <a:r>
              <a:rPr lang="en-US" sz="1600" spc="200" dirty="0">
                <a:latin typeface="Montserrat" panose="00000500000000000000" pitchFamily="2" charset="0"/>
                <a:cs typeface="+mj-cs"/>
                <a:sym typeface="Wingdings" panose="05000000000000000000" pitchFamily="2" charset="2"/>
              </a:rPr>
              <a:t>+ Employees       300,000+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351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145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105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105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7</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26,300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21,800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31,500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73,500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42,000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47,300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56,700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132,300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28,800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75,600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1084051" y="1622946"/>
            <a:ext cx="6096000" cy="4876800"/>
          </a:xfrm>
          <a:prstGeom prst="rect">
            <a:avLst/>
          </a:prstGeom>
        </p:spPr>
      </p:pic>
    </p:spTree>
    <p:extLst>
      <p:ext uri="{BB962C8B-B14F-4D97-AF65-F5344CB8AC3E}">
        <p14:creationId xmlns:p14="http://schemas.microsoft.com/office/powerpoint/2010/main" val="401343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Bronson Healthcare service area in Allegan, Barry, Berrien, Branch, Calhoun, Cass, Eaton, Jackson, Kalamazoo, St. Joseph, and Van Buren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749K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437K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309K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174K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$6.82M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$0.83M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$40.33M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$5.92M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$82.01M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$12.19M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Bronson Healthcare has 54% inpatient market share, and 35% outpatient market compared to hospitals/clinics in the Bronson Healthcare service area (see slide 8). The DTE tiered structure will create immediate steerage, with additional steerage over time from patient bonus benefits and the patient card (see slide 33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Bronson Healthcare 18%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9.4%</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14.4%</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19.4%</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328.5K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622.2K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1,219.3K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1,942.4K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45.9K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488.1K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1,114.9K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1,875.8K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438.0K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878.4K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1,698.4K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2,682.4K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763.2K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1,623.7K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2,659.0K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783.9K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-134.0K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252.3K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652.5K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1,092.6K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4003744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276363" y="3315538"/>
            <a:ext cx="4599618" cy="823236"/>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BRONSON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Bronson Healthcare has the strongest brand quality in Allegan, Barry, Berrien, Branch, Calhoun, Cass, Eaton, Jackson, Kalamazoo, St. Joseph, and Van Buren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1155241432"/>
              </p:ext>
            </p:extLst>
          </p:nvPr>
        </p:nvGraphicFramePr>
        <p:xfrm>
          <a:off x="447472" y="2297672"/>
          <a:ext cx="8477464" cy="2731527"/>
        </p:xfrm>
        <a:graphic>
          <a:graphicData uri="http://schemas.openxmlformats.org/drawingml/2006/table">
            <a:tbl>
              <a:tblPr/>
              <a:tblGrid>
                <a:gridCol w="1954553">
                  <a:extLst>
                    <a:ext uri="{9D8B030D-6E8A-4147-A177-3AD203B41FA5}">
                      <a16:colId xmlns:a16="http://schemas.microsoft.com/office/drawing/2014/main" val="20000"/>
                    </a:ext>
                  </a:extLst>
                </a:gridCol>
                <a:gridCol w="1665273">
                  <a:extLst>
                    <a:ext uri="{9D8B030D-6E8A-4147-A177-3AD203B41FA5}">
                      <a16:colId xmlns:a16="http://schemas.microsoft.com/office/drawing/2014/main" val="20001"/>
                    </a:ext>
                  </a:extLst>
                </a:gridCol>
                <a:gridCol w="1115096">
                  <a:extLst>
                    <a:ext uri="{9D8B030D-6E8A-4147-A177-3AD203B41FA5}">
                      <a16:colId xmlns:a16="http://schemas.microsoft.com/office/drawing/2014/main" val="20002"/>
                    </a:ext>
                  </a:extLst>
                </a:gridCol>
                <a:gridCol w="1079184">
                  <a:extLst>
                    <a:ext uri="{9D8B030D-6E8A-4147-A177-3AD203B41FA5}">
                      <a16:colId xmlns:a16="http://schemas.microsoft.com/office/drawing/2014/main" val="20003"/>
                    </a:ext>
                  </a:extLst>
                </a:gridCol>
                <a:gridCol w="1313604">
                  <a:extLst>
                    <a:ext uri="{9D8B030D-6E8A-4147-A177-3AD203B41FA5}">
                      <a16:colId xmlns:a16="http://schemas.microsoft.com/office/drawing/2014/main" val="20004"/>
                    </a:ext>
                  </a:extLst>
                </a:gridCol>
                <a:gridCol w="1349754">
                  <a:extLst>
                    <a:ext uri="{9D8B030D-6E8A-4147-A177-3AD203B41FA5}">
                      <a16:colId xmlns:a16="http://schemas.microsoft.com/office/drawing/2014/main" val="20005"/>
                    </a:ext>
                  </a:extLst>
                </a:gridCol>
              </a:tblGrid>
              <a:tr h="1342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10847">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Bronson Healthcare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468A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1"/>
                  </a:ext>
                </a:extLst>
              </a:tr>
              <a:tr h="778153">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Beacon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20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D5DDE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5979AF">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30.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Bronson Healthcare’s approved site(s) with network integration, and development of Bronson Healthcare’s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-292K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$ 2,176K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3,402K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$ 1,226K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$ 4,353K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6,804K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$ 2,451K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$10,882K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$ 1,567K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$ 17,010K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$ 6,128K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$ 2,449K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882K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620K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$43,526K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$ 6,268K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$ 68,038K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$24,512K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$ 9,797K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$3,530K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$3,470K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$87,052K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$12,536K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$136,076K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$49,024K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$19,595K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$7,059K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$7,269K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88422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Bronson Healthcare’s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Bronson Healthcare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Bronson Healthcare’s managed care with KBA’s programs positions Bronson Healthcare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Bronson Healthcare’s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Bronson Healthcare’s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Bronson Healthcare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19</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22</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a:solidFill>
                  <a:srgbClr val="000000"/>
                </a:solidFill>
                <a:latin typeface="Aptos" panose="020B0004020202020204" pitchFamily="34" charset="0"/>
              </a:rPr>
              <a:t>Example:</a:t>
            </a:r>
            <a:r>
              <a:rPr lang="en-US" altLang="en-US" sz="1600" i="1">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a:solidFill>
                  <a:srgbClr val="000000"/>
                </a:solidFill>
                <a:latin typeface="Aptos" panose="020B0004020202020204" pitchFamily="34" charset="0"/>
              </a:rPr>
              <a:t>net OOP $0 due to the preferred provider </a:t>
            </a:r>
            <a:r>
              <a:rPr lang="en-US" altLang="en-US" sz="1600" b="1" i="1">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23</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Bronson Healthcare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BRONSON HEALTHCARE</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7DD81-E488-663E-734E-D11B62C390D4}"/>
              </a:ext>
            </a:extLst>
          </p:cNvPr>
          <p:cNvSpPr>
            <a:spLocks noGrp="1"/>
          </p:cNvSpPr>
          <p:nvPr>
            <p:ph type="title"/>
          </p:nvPr>
        </p:nvSpPr>
        <p:spPr>
          <a:xfrm>
            <a:off x="215573" y="88915"/>
            <a:ext cx="6839743" cy="721519"/>
          </a:xfrm>
        </p:spPr>
        <p:txBody>
          <a:bodyPr/>
          <a:lstStyle/>
          <a:p>
            <a:r>
              <a:rPr lang="en-US" dirty="0"/>
              <a:t>Claims Processing Excellence</a:t>
            </a:r>
          </a:p>
        </p:txBody>
      </p:sp>
      <p:pic>
        <p:nvPicPr>
          <p:cNvPr id="5" name="Content Placeholder 5">
            <a:extLst>
              <a:ext uri="{FF2B5EF4-FFF2-40B4-BE49-F238E27FC236}">
                <a16:creationId xmlns:a16="http://schemas.microsoft.com/office/drawing/2014/main" id="{0635402A-A5FE-5B59-AA66-D36C62E71792}"/>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4867" r="24867"/>
          <a:stretch/>
        </p:blipFill>
        <p:spPr>
          <a:xfrm>
            <a:off x="7887573" y="14832"/>
            <a:ext cx="4304427" cy="6843167"/>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6" name="Picture 14">
            <a:extLst>
              <a:ext uri="{FF2B5EF4-FFF2-40B4-BE49-F238E27FC236}">
                <a16:creationId xmlns:a16="http://schemas.microsoft.com/office/drawing/2014/main" id="{E61AF1B5-AA77-90DD-F844-E9896FA03FB0}"/>
              </a:ext>
            </a:extLst>
          </p:cNvPr>
          <p:cNvPicPr>
            <a:picLocks noChangeAspect="1"/>
          </p:cNvPicPr>
          <p:nvPr/>
        </p:nvPicPr>
        <p:blipFill>
          <a:blip r:embed="rId4"/>
          <a:stretch>
            <a:fillRect/>
          </a:stretch>
        </p:blipFill>
        <p:spPr>
          <a:xfrm>
            <a:off x="215573" y="6356350"/>
            <a:ext cx="2125097" cy="463658"/>
          </a:xfrm>
          <a:prstGeom prst="rect">
            <a:avLst/>
          </a:prstGeom>
        </p:spPr>
      </p:pic>
      <p:sp>
        <p:nvSpPr>
          <p:cNvPr id="7" name="Freeform 15">
            <a:extLst>
              <a:ext uri="{FF2B5EF4-FFF2-40B4-BE49-F238E27FC236}">
                <a16:creationId xmlns:a16="http://schemas.microsoft.com/office/drawing/2014/main" id="{33EE36E4-60E3-19D6-8060-7B1E7A2C3476}"/>
              </a:ext>
            </a:extLst>
          </p:cNvPr>
          <p:cNvSpPr/>
          <p:nvPr/>
        </p:nvSpPr>
        <p:spPr>
          <a:xfrm rot="16200000" flipV="1">
            <a:off x="7280237" y="1931405"/>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8" name="Rectangle 1">
            <a:extLst>
              <a:ext uri="{FF2B5EF4-FFF2-40B4-BE49-F238E27FC236}">
                <a16:creationId xmlns:a16="http://schemas.microsoft.com/office/drawing/2014/main" id="{5FB0EB8E-1550-F54F-58C0-044760364F9E}"/>
              </a:ext>
            </a:extLst>
          </p:cNvPr>
          <p:cNvSpPr>
            <a:spLocks noGrp="1" noChangeArrowheads="1"/>
          </p:cNvSpPr>
          <p:nvPr>
            <p:ph type="body" sz="half" idx="2"/>
          </p:nvPr>
        </p:nvSpPr>
        <p:spPr bwMode="auto">
          <a:xfrm>
            <a:off x="120670" y="767237"/>
            <a:ext cx="702954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Delivering a positive member and provider experience starts with accurate, efficient, and transparent claims processing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b="1" dirty="0"/>
              <a:t>Key Benefit Administrators leverages:</a:t>
            </a:r>
          </a:p>
          <a:p>
            <a:pPr marL="742950" lvl="1" indent="-285750" eaLnBrk="0" fontAlgn="base" hangingPunct="0">
              <a:lnSpc>
                <a:spcPct val="100000"/>
              </a:lnSpc>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rPr>
              <a:t>Proven </a:t>
            </a:r>
            <a:r>
              <a:rPr lang="en-US" altLang="en-US" sz="1200" dirty="0"/>
              <a:t>technology</a:t>
            </a:r>
          </a:p>
          <a:p>
            <a:pPr marL="742950" lvl="1" indent="-285750" eaLnBrk="0" fontAlgn="base" hangingPunct="0">
              <a:lnSpc>
                <a:spcPct val="100000"/>
              </a:lnSpc>
              <a:spcBef>
                <a:spcPct val="0"/>
              </a:spcBef>
              <a:spcAft>
                <a:spcPct val="0"/>
              </a:spcAft>
              <a:buFont typeface="Arial" panose="020B0604020202020204" pitchFamily="34" charset="0"/>
              <a:buChar char="•"/>
            </a:pPr>
            <a:r>
              <a:rPr kumimoji="0" lang="en-US" altLang="en-US" sz="1200" b="0" i="0" u="none" strike="noStrike" cap="none" normalizeH="0" baseline="0" dirty="0" err="1">
                <a:ln>
                  <a:noFill/>
                </a:ln>
                <a:solidFill>
                  <a:schemeClr val="tx1"/>
                </a:solidFill>
                <a:effectLst/>
              </a:rPr>
              <a:t>Steamlined</a:t>
            </a:r>
            <a:r>
              <a:rPr kumimoji="0" lang="en-US" altLang="en-US" sz="1200" b="0" i="0" u="none" strike="noStrike" cap="none" normalizeH="0" baseline="0" dirty="0">
                <a:ln>
                  <a:noFill/>
                </a:ln>
                <a:solidFill>
                  <a:schemeClr val="tx1"/>
                </a:solidFill>
                <a:effectLst/>
              </a:rPr>
              <a:t> workflows</a:t>
            </a:r>
          </a:p>
          <a:p>
            <a:pPr marL="742950" lvl="1" indent="-285750" eaLnBrk="0" fontAlgn="base" hangingPunct="0">
              <a:lnSpc>
                <a:spcPct val="100000"/>
              </a:lnSpc>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rPr>
              <a:t>A team dedicated to first pass accuracy</a:t>
            </a:r>
          </a:p>
          <a:p>
            <a:pPr lvl="1" eaLnBrk="0" fontAlgn="base" hangingPunct="0">
              <a:lnSpc>
                <a:spcPct val="100000"/>
              </a:lnSpc>
              <a:spcBef>
                <a:spcPct val="0"/>
              </a:spcBef>
              <a:spcAft>
                <a:spcPct val="0"/>
              </a:spcAft>
            </a:pPr>
            <a:endParaRPr lang="en-US" altLang="en-US" sz="1600" dirty="0"/>
          </a:p>
          <a:p>
            <a:pPr marL="285750" indent="-285750" eaLnBrk="0" fontAlgn="base" hangingPunct="0">
              <a:lnSpc>
                <a:spcPct val="100000"/>
              </a:lnSpc>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rPr>
              <a:t>We Consistently:</a:t>
            </a:r>
          </a:p>
          <a:p>
            <a:pPr marL="742950" lvl="1" indent="-285750" eaLnBrk="0" fontAlgn="base" hangingPunct="0">
              <a:lnSpc>
                <a:spcPct val="100000"/>
              </a:lnSpc>
              <a:spcBef>
                <a:spcPct val="0"/>
              </a:spcBef>
              <a:spcAft>
                <a:spcPct val="0"/>
              </a:spcAft>
              <a:buFont typeface="Arial" panose="020B0604020202020204" pitchFamily="34" charset="0"/>
              <a:buChar char="•"/>
            </a:pPr>
            <a:r>
              <a:rPr lang="en-US" altLang="en-US" sz="1200" dirty="0"/>
              <a:t>Exceed industry standard turnaround times and quality metrics</a:t>
            </a:r>
          </a:p>
          <a:p>
            <a:pPr marL="742950" lvl="1" indent="-285750" eaLnBrk="0" fontAlgn="base" hangingPunct="0">
              <a:lnSpc>
                <a:spcPct val="100000"/>
              </a:lnSpc>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rPr>
              <a:t>R</a:t>
            </a:r>
            <a:r>
              <a:rPr lang="en-US" altLang="en-US" sz="1200" dirty="0"/>
              <a:t>educe administrative burdens</a:t>
            </a:r>
          </a:p>
          <a:p>
            <a:pPr marL="742950" lvl="1" indent="-285750" eaLnBrk="0" fontAlgn="base" hangingPunct="0">
              <a:lnSpc>
                <a:spcPct val="100000"/>
              </a:lnSpc>
              <a:spcBef>
                <a:spcPct val="0"/>
              </a:spcBef>
              <a:spcAft>
                <a:spcPct val="0"/>
              </a:spcAft>
              <a:buFont typeface="Arial" panose="020B0604020202020204" pitchFamily="34" charset="0"/>
              <a:buChar char="•"/>
            </a:pPr>
            <a:r>
              <a:rPr lang="en-US" altLang="en-US" sz="1200" dirty="0"/>
              <a:t>Maintain high member and provider satisfaction</a:t>
            </a:r>
          </a:p>
          <a:p>
            <a:pPr marL="742950" lvl="1" indent="-285750" eaLnBrk="0" fontAlgn="base" hangingPunct="0">
              <a:lnSpc>
                <a:spcPct val="100000"/>
              </a:lnSpc>
              <a:spcBef>
                <a:spcPct val="0"/>
              </a:spcBef>
              <a:spcAft>
                <a:spcPct val="0"/>
              </a:spcAft>
              <a:buFont typeface="Arial" panose="020B0604020202020204" pitchFamily="34" charset="0"/>
              <a:buChar char="•"/>
            </a:pPr>
            <a:endParaRPr kumimoji="0" lang="en-US" altLang="en-US" b="0" i="0" u="none" strike="noStrike" cap="none" normalizeH="0" baseline="0" dirty="0">
              <a:ln>
                <a:noFill/>
              </a:ln>
              <a:solidFill>
                <a:schemeClr val="tx1"/>
              </a:solidFill>
              <a:effectLst/>
            </a:endParaRPr>
          </a:p>
          <a:p>
            <a:pPr marL="285750" indent="-285750" eaLnBrk="0" fontAlgn="base" hangingPunct="0">
              <a:lnSpc>
                <a:spcPct val="100000"/>
              </a:lnSpc>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rPr>
              <a:t>Strategic Partnerships:</a:t>
            </a:r>
          </a:p>
          <a:p>
            <a:pPr marL="742950" lvl="1" indent="-285750" eaLnBrk="0" fontAlgn="base" hangingPunct="0">
              <a:lnSpc>
                <a:spcPct val="100000"/>
              </a:lnSpc>
              <a:spcBef>
                <a:spcPct val="0"/>
              </a:spcBef>
              <a:spcAft>
                <a:spcPct val="0"/>
              </a:spcAft>
              <a:buFont typeface="Arial" panose="020B0604020202020204" pitchFamily="34" charset="0"/>
              <a:buChar char="•"/>
            </a:pPr>
            <a:r>
              <a:rPr lang="en-US" altLang="en-US" sz="1200" dirty="0"/>
              <a:t>We partner with </a:t>
            </a:r>
            <a:r>
              <a:rPr lang="en-US" altLang="en-US" sz="1200" b="1" dirty="0"/>
              <a:t>Smart Data Solutions </a:t>
            </a:r>
            <a:r>
              <a:rPr lang="en-US" altLang="en-US" sz="1200" dirty="0"/>
              <a:t>for clearinghouse services to empower providers with electronic claims submission and transparency tools.</a:t>
            </a:r>
          </a:p>
          <a:p>
            <a:pPr marL="742950" lvl="1" indent="-285750" eaLnBrk="0" fontAlgn="base" hangingPunct="0">
              <a:lnSpc>
                <a:spcPct val="100000"/>
              </a:lnSpc>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rPr>
              <a:t>Currently 82% of our claim volume is received electronically.</a:t>
            </a:r>
          </a:p>
          <a:p>
            <a:pPr marL="742950" lvl="1" indent="-285750" eaLnBrk="0" fontAlgn="base" hangingPunct="0">
              <a:lnSpc>
                <a:spcPct val="100000"/>
              </a:lnSpc>
              <a:spcBef>
                <a:spcPct val="0"/>
              </a:spcBef>
              <a:spcAft>
                <a:spcPct val="0"/>
              </a:spcAft>
              <a:buFont typeface="Arial" panose="020B0604020202020204" pitchFamily="34" charset="0"/>
              <a:buChar char="•"/>
            </a:pPr>
            <a:r>
              <a:rPr lang="en-US" altLang="en-US" sz="1200" dirty="0"/>
              <a:t>Ongoing efforts to increase electronic submissions:</a:t>
            </a:r>
          </a:p>
          <a:p>
            <a:pPr marL="1200150" lvl="2" indent="-285750" eaLnBrk="0" fontAlgn="base" hangingPunct="0">
              <a:lnSpc>
                <a:spcPct val="10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Analyze paper and non-electronic claims</a:t>
            </a:r>
          </a:p>
          <a:p>
            <a:pPr marL="1200150" lvl="2" indent="-285750" eaLnBrk="0" fontAlgn="base" hangingPunct="0">
              <a:lnSpc>
                <a:spcPct val="100000"/>
              </a:lnSpc>
              <a:spcBef>
                <a:spcPct val="0"/>
              </a:spcBef>
              <a:spcAft>
                <a:spcPct val="0"/>
              </a:spcAft>
              <a:buFont typeface="Arial" panose="020B0604020202020204" pitchFamily="34" charset="0"/>
              <a:buChar char="•"/>
            </a:pPr>
            <a:r>
              <a:rPr lang="en-US" altLang="en-US" dirty="0"/>
              <a:t>Proactively engage providers for electronic claim setup</a:t>
            </a:r>
          </a:p>
          <a:p>
            <a:pPr marL="742950" lvl="1" indent="-285750" eaLnBrk="0" fontAlgn="base" hangingPunct="0">
              <a:lnSpc>
                <a:spcPct val="100000"/>
              </a:lnSpc>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rPr>
              <a:t>We also partner with top tier vendors to provide cost containment solutions to include:</a:t>
            </a:r>
          </a:p>
          <a:p>
            <a:pPr marL="1200150" lvl="2" indent="-285750" eaLnBrk="0" fontAlgn="base" hangingPunct="0">
              <a:lnSpc>
                <a:spcPct val="100000"/>
              </a:lnSpc>
              <a:spcBef>
                <a:spcPct val="0"/>
              </a:spcBef>
              <a:spcAft>
                <a:spcPct val="0"/>
              </a:spcAft>
              <a:buFont typeface="Arial" panose="020B0604020202020204" pitchFamily="34" charset="0"/>
              <a:buChar char="•"/>
            </a:pPr>
            <a:r>
              <a:rPr lang="en-US" altLang="en-US" dirty="0"/>
              <a:t>Out of network discounts</a:t>
            </a:r>
          </a:p>
          <a:p>
            <a:pPr marL="1200150" lvl="2" indent="-285750" eaLnBrk="0" fontAlgn="base" hangingPunct="0">
              <a:lnSpc>
                <a:spcPct val="10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High dollar bill reviews</a:t>
            </a:r>
          </a:p>
          <a:p>
            <a:pPr marL="1200150" lvl="2" indent="-285750" eaLnBrk="0" fontAlgn="base" hangingPunct="0">
              <a:lnSpc>
                <a:spcPct val="100000"/>
              </a:lnSpc>
              <a:spcBef>
                <a:spcPct val="0"/>
              </a:spcBef>
              <a:spcAft>
                <a:spcPct val="0"/>
              </a:spcAft>
              <a:buFont typeface="Arial" panose="020B0604020202020204" pitchFamily="34" charset="0"/>
              <a:buChar char="•"/>
            </a:pPr>
            <a:r>
              <a:rPr lang="en-US" altLang="en-US" dirty="0"/>
              <a:t>Specialized networks for high-cost conditions such as transplants and dialysis.</a:t>
            </a:r>
            <a:endParaRPr kumimoji="0" lang="en-US" altLang="en-US" b="0" i="0" u="none" strike="noStrike" cap="none" normalizeH="0" baseline="0" dirty="0">
              <a:ln>
                <a:noFill/>
              </a:ln>
              <a:solidFill>
                <a:schemeClr val="tx1"/>
              </a:solidFill>
              <a:effectLst/>
            </a:endParaRPr>
          </a:p>
          <a:p>
            <a:pPr marL="285750" indent="-285750" eaLnBrk="0" fontAlgn="base" hangingPunct="0">
              <a:lnSpc>
                <a:spcPct val="100000"/>
              </a:lnSpc>
              <a:spcBef>
                <a:spcPct val="0"/>
              </a:spcBef>
              <a:spcAft>
                <a:spcPct val="0"/>
              </a:spcAft>
              <a:buFont typeface="Arial" panose="020B0604020202020204" pitchFamily="34" charset="0"/>
              <a:buChar char="•"/>
            </a:pP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70776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7DD81-E488-663E-734E-D11B62C390D4}"/>
              </a:ext>
            </a:extLst>
          </p:cNvPr>
          <p:cNvSpPr>
            <a:spLocks noGrp="1"/>
          </p:cNvSpPr>
          <p:nvPr>
            <p:ph type="title"/>
          </p:nvPr>
        </p:nvSpPr>
        <p:spPr>
          <a:xfrm>
            <a:off x="215573" y="320584"/>
            <a:ext cx="6839743" cy="532319"/>
          </a:xfrm>
        </p:spPr>
        <p:txBody>
          <a:bodyPr>
            <a:normAutofit/>
          </a:bodyPr>
          <a:lstStyle/>
          <a:p>
            <a:r>
              <a:rPr lang="en-US" dirty="0"/>
              <a:t>Claims Statistics</a:t>
            </a:r>
          </a:p>
        </p:txBody>
      </p:sp>
      <p:pic>
        <p:nvPicPr>
          <p:cNvPr id="5" name="Content Placeholder 5">
            <a:extLst>
              <a:ext uri="{FF2B5EF4-FFF2-40B4-BE49-F238E27FC236}">
                <a16:creationId xmlns:a16="http://schemas.microsoft.com/office/drawing/2014/main" id="{0635402A-A5FE-5B59-AA66-D36C62E71792}"/>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4867" r="24867"/>
          <a:stretch/>
        </p:blipFill>
        <p:spPr>
          <a:xfrm>
            <a:off x="8913655" y="14832"/>
            <a:ext cx="3278345" cy="6843167"/>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6" name="Picture 14">
            <a:extLst>
              <a:ext uri="{FF2B5EF4-FFF2-40B4-BE49-F238E27FC236}">
                <a16:creationId xmlns:a16="http://schemas.microsoft.com/office/drawing/2014/main" id="{E61AF1B5-AA77-90DD-F844-E9896FA03FB0}"/>
              </a:ext>
            </a:extLst>
          </p:cNvPr>
          <p:cNvPicPr>
            <a:picLocks noChangeAspect="1"/>
          </p:cNvPicPr>
          <p:nvPr/>
        </p:nvPicPr>
        <p:blipFill>
          <a:blip r:embed="rId4"/>
          <a:stretch>
            <a:fillRect/>
          </a:stretch>
        </p:blipFill>
        <p:spPr>
          <a:xfrm>
            <a:off x="215573" y="6356350"/>
            <a:ext cx="2125097" cy="463658"/>
          </a:xfrm>
          <a:prstGeom prst="rect">
            <a:avLst/>
          </a:prstGeom>
        </p:spPr>
      </p:pic>
      <p:sp>
        <p:nvSpPr>
          <p:cNvPr id="7" name="Freeform 15">
            <a:extLst>
              <a:ext uri="{FF2B5EF4-FFF2-40B4-BE49-F238E27FC236}">
                <a16:creationId xmlns:a16="http://schemas.microsoft.com/office/drawing/2014/main" id="{33EE36E4-60E3-19D6-8060-7B1E7A2C3476}"/>
              </a:ext>
            </a:extLst>
          </p:cNvPr>
          <p:cNvSpPr/>
          <p:nvPr/>
        </p:nvSpPr>
        <p:spPr>
          <a:xfrm rot="16200000" flipV="1">
            <a:off x="7280237" y="1931405"/>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4" name="Table 3">
            <a:extLst>
              <a:ext uri="{FF2B5EF4-FFF2-40B4-BE49-F238E27FC236}">
                <a16:creationId xmlns:a16="http://schemas.microsoft.com/office/drawing/2014/main" id="{139FE4F6-B6C7-17F9-9A99-7F799375CD40}"/>
              </a:ext>
            </a:extLst>
          </p:cNvPr>
          <p:cNvGraphicFramePr>
            <a:graphicFrameLocks noGrp="1"/>
          </p:cNvGraphicFramePr>
          <p:nvPr/>
        </p:nvGraphicFramePr>
        <p:xfrm>
          <a:off x="215573" y="1048018"/>
          <a:ext cx="8519664" cy="2123440"/>
        </p:xfrm>
        <a:graphic>
          <a:graphicData uri="http://schemas.openxmlformats.org/drawingml/2006/table">
            <a:tbl>
              <a:tblPr firstRow="1" bandRow="1">
                <a:tableStyleId>{6E25E649-3F16-4E02-A733-19D2CDBF48F0}</a:tableStyleId>
              </a:tblPr>
              <a:tblGrid>
                <a:gridCol w="2129916">
                  <a:extLst>
                    <a:ext uri="{9D8B030D-6E8A-4147-A177-3AD203B41FA5}">
                      <a16:colId xmlns:a16="http://schemas.microsoft.com/office/drawing/2014/main" val="4076455432"/>
                    </a:ext>
                  </a:extLst>
                </a:gridCol>
                <a:gridCol w="2129916">
                  <a:extLst>
                    <a:ext uri="{9D8B030D-6E8A-4147-A177-3AD203B41FA5}">
                      <a16:colId xmlns:a16="http://schemas.microsoft.com/office/drawing/2014/main" val="567022854"/>
                    </a:ext>
                  </a:extLst>
                </a:gridCol>
                <a:gridCol w="2129916">
                  <a:extLst>
                    <a:ext uri="{9D8B030D-6E8A-4147-A177-3AD203B41FA5}">
                      <a16:colId xmlns:a16="http://schemas.microsoft.com/office/drawing/2014/main" val="1765131716"/>
                    </a:ext>
                  </a:extLst>
                </a:gridCol>
                <a:gridCol w="2129916">
                  <a:extLst>
                    <a:ext uri="{9D8B030D-6E8A-4147-A177-3AD203B41FA5}">
                      <a16:colId xmlns:a16="http://schemas.microsoft.com/office/drawing/2014/main" val="1080441654"/>
                    </a:ext>
                  </a:extLst>
                </a:gridCol>
              </a:tblGrid>
              <a:tr h="370840">
                <a:tc>
                  <a:txBody>
                    <a:bodyPr/>
                    <a:lstStyle/>
                    <a:p>
                      <a:pPr algn="ctr"/>
                      <a:r>
                        <a:rPr lang="en-US" sz="1200" dirty="0">
                          <a:latin typeface="Montserrat" panose="00000500000000000000" pitchFamily="2" charset="0"/>
                        </a:rPr>
                        <a:t>Claims</a:t>
                      </a:r>
                    </a:p>
                  </a:txBody>
                  <a:tcPr/>
                </a:tc>
                <a:tc>
                  <a:txBody>
                    <a:bodyPr/>
                    <a:lstStyle/>
                    <a:p>
                      <a:pPr algn="ctr"/>
                      <a:r>
                        <a:rPr lang="en-US" sz="1200" dirty="0">
                          <a:latin typeface="Montserrat" panose="00000500000000000000" pitchFamily="2" charset="0"/>
                        </a:rPr>
                        <a:t>Industry Standard</a:t>
                      </a:r>
                    </a:p>
                  </a:txBody>
                  <a:tcPr/>
                </a:tc>
                <a:tc>
                  <a:txBody>
                    <a:bodyPr/>
                    <a:lstStyle/>
                    <a:p>
                      <a:pPr algn="ctr"/>
                      <a:r>
                        <a:rPr lang="en-US" sz="1200" dirty="0">
                          <a:latin typeface="Montserrat" panose="00000500000000000000" pitchFamily="2" charset="0"/>
                        </a:rPr>
                        <a:t>Corporate Goal</a:t>
                      </a:r>
                    </a:p>
                  </a:txBody>
                  <a:tcPr/>
                </a:tc>
                <a:tc>
                  <a:txBody>
                    <a:bodyPr/>
                    <a:lstStyle/>
                    <a:p>
                      <a:pPr algn="ctr"/>
                      <a:r>
                        <a:rPr lang="en-US" sz="1200" dirty="0">
                          <a:latin typeface="Montserrat" panose="00000500000000000000" pitchFamily="2" charset="0"/>
                        </a:rPr>
                        <a:t>Self-Funded Medical Achieved*</a:t>
                      </a:r>
                    </a:p>
                    <a:p>
                      <a:pPr algn="ctr"/>
                      <a:endParaRPr lang="en-US" sz="1200" dirty="0"/>
                    </a:p>
                  </a:txBody>
                  <a:tcPr/>
                </a:tc>
                <a:extLst>
                  <a:ext uri="{0D108BD9-81ED-4DB2-BD59-A6C34878D82A}">
                    <a16:rowId xmlns:a16="http://schemas.microsoft.com/office/drawing/2014/main" val="1373136258"/>
                  </a:ext>
                </a:extLst>
              </a:tr>
              <a:tr h="370840">
                <a:tc>
                  <a:txBody>
                    <a:bodyPr/>
                    <a:lstStyle/>
                    <a:p>
                      <a:r>
                        <a:rPr lang="en-US" sz="1200" dirty="0">
                          <a:latin typeface="Montserrat" panose="00000500000000000000" pitchFamily="2" charset="0"/>
                        </a:rPr>
                        <a:t>Turn Around Time</a:t>
                      </a:r>
                    </a:p>
                  </a:txBody>
                  <a:tcPr/>
                </a:tc>
                <a:tc>
                  <a:txBody>
                    <a:bodyPr/>
                    <a:lstStyle/>
                    <a:p>
                      <a:pPr algn="ctr"/>
                      <a:r>
                        <a:rPr lang="en-US" sz="1200" dirty="0">
                          <a:latin typeface="Montserrat" panose="00000500000000000000" pitchFamily="2" charset="0"/>
                        </a:rPr>
                        <a:t>10 calendar days</a:t>
                      </a:r>
                    </a:p>
                  </a:txBody>
                  <a:tcPr/>
                </a:tc>
                <a:tc>
                  <a:txBody>
                    <a:bodyPr/>
                    <a:lstStyle/>
                    <a:p>
                      <a:pPr algn="ctr"/>
                      <a:r>
                        <a:rPr lang="en-US" sz="1200" dirty="0">
                          <a:latin typeface="Montserrat" panose="00000500000000000000" pitchFamily="2" charset="0"/>
                        </a:rPr>
                        <a:t>7 calendar days</a:t>
                      </a:r>
                    </a:p>
                  </a:txBody>
                  <a:tcPr/>
                </a:tc>
                <a:tc>
                  <a:txBody>
                    <a:bodyPr/>
                    <a:lstStyle/>
                    <a:p>
                      <a:pPr algn="ctr"/>
                      <a:r>
                        <a:rPr lang="en-US" sz="1200" dirty="0">
                          <a:latin typeface="Montserrat" panose="00000500000000000000" pitchFamily="2" charset="0"/>
                        </a:rPr>
                        <a:t>4.25 calendar days</a:t>
                      </a:r>
                    </a:p>
                  </a:txBody>
                  <a:tcPr/>
                </a:tc>
                <a:extLst>
                  <a:ext uri="{0D108BD9-81ED-4DB2-BD59-A6C34878D82A}">
                    <a16:rowId xmlns:a16="http://schemas.microsoft.com/office/drawing/2014/main" val="149304990"/>
                  </a:ext>
                </a:extLst>
              </a:tr>
              <a:tr h="370840">
                <a:tc>
                  <a:txBody>
                    <a:bodyPr/>
                    <a:lstStyle/>
                    <a:p>
                      <a:r>
                        <a:rPr lang="en-US" sz="1200" dirty="0">
                          <a:latin typeface="Montserrat" panose="00000500000000000000" pitchFamily="2" charset="0"/>
                        </a:rPr>
                        <a:t>% Paid in 10 days</a:t>
                      </a:r>
                    </a:p>
                  </a:txBody>
                  <a:tcPr/>
                </a:tc>
                <a:tc>
                  <a:txBody>
                    <a:bodyPr/>
                    <a:lstStyle/>
                    <a:p>
                      <a:pPr algn="ctr"/>
                      <a:r>
                        <a:rPr lang="en-US" sz="1200" dirty="0">
                          <a:latin typeface="Montserrat" panose="00000500000000000000" pitchFamily="2" charset="0"/>
                        </a:rPr>
                        <a:t>80%</a:t>
                      </a:r>
                    </a:p>
                  </a:txBody>
                  <a:tcPr/>
                </a:tc>
                <a:tc>
                  <a:txBody>
                    <a:bodyPr/>
                    <a:lstStyle/>
                    <a:p>
                      <a:pPr algn="ctr"/>
                      <a:r>
                        <a:rPr lang="en-US" sz="1200" dirty="0">
                          <a:latin typeface="Montserrat" panose="00000500000000000000" pitchFamily="2" charset="0"/>
                        </a:rPr>
                        <a:t>85%</a:t>
                      </a:r>
                    </a:p>
                  </a:txBody>
                  <a:tcPr/>
                </a:tc>
                <a:tc>
                  <a:txBody>
                    <a:bodyPr/>
                    <a:lstStyle/>
                    <a:p>
                      <a:pPr algn="ctr"/>
                      <a:r>
                        <a:rPr lang="en-US" sz="1200" dirty="0">
                          <a:latin typeface="Montserrat" panose="00000500000000000000" pitchFamily="2" charset="0"/>
                        </a:rPr>
                        <a:t>86.7%</a:t>
                      </a:r>
                    </a:p>
                  </a:txBody>
                  <a:tcPr/>
                </a:tc>
                <a:extLst>
                  <a:ext uri="{0D108BD9-81ED-4DB2-BD59-A6C34878D82A}">
                    <a16:rowId xmlns:a16="http://schemas.microsoft.com/office/drawing/2014/main" val="2684920851"/>
                  </a:ext>
                </a:extLst>
              </a:tr>
              <a:tr h="370840">
                <a:tc>
                  <a:txBody>
                    <a:bodyPr/>
                    <a:lstStyle/>
                    <a:p>
                      <a:r>
                        <a:rPr lang="en-US" sz="1200" dirty="0">
                          <a:latin typeface="Montserrat" panose="00000500000000000000" pitchFamily="2" charset="0"/>
                        </a:rPr>
                        <a:t>Financial Quality</a:t>
                      </a:r>
                    </a:p>
                  </a:txBody>
                  <a:tcPr/>
                </a:tc>
                <a:tc>
                  <a:txBody>
                    <a:bodyPr/>
                    <a:lstStyle/>
                    <a:p>
                      <a:pPr algn="ctr"/>
                      <a:r>
                        <a:rPr lang="en-US" sz="1200" dirty="0">
                          <a:latin typeface="Montserrat" panose="00000500000000000000" pitchFamily="2" charset="0"/>
                        </a:rPr>
                        <a:t>99%</a:t>
                      </a:r>
                    </a:p>
                  </a:txBody>
                  <a:tcPr/>
                </a:tc>
                <a:tc>
                  <a:txBody>
                    <a:bodyPr/>
                    <a:lstStyle/>
                    <a:p>
                      <a:pPr algn="ctr"/>
                      <a:r>
                        <a:rPr lang="en-US" sz="1200" dirty="0">
                          <a:latin typeface="Montserrat" panose="00000500000000000000" pitchFamily="2" charset="0"/>
                        </a:rPr>
                        <a:t>99%</a:t>
                      </a:r>
                    </a:p>
                  </a:txBody>
                  <a:tcPr/>
                </a:tc>
                <a:tc>
                  <a:txBody>
                    <a:bodyPr/>
                    <a:lstStyle/>
                    <a:p>
                      <a:pPr algn="ctr"/>
                      <a:r>
                        <a:rPr lang="en-US" sz="1200" dirty="0">
                          <a:latin typeface="Montserrat" panose="00000500000000000000" pitchFamily="2" charset="0"/>
                        </a:rPr>
                        <a:t>99.6%</a:t>
                      </a:r>
                    </a:p>
                  </a:txBody>
                  <a:tcPr/>
                </a:tc>
                <a:extLst>
                  <a:ext uri="{0D108BD9-81ED-4DB2-BD59-A6C34878D82A}">
                    <a16:rowId xmlns:a16="http://schemas.microsoft.com/office/drawing/2014/main" val="3360702736"/>
                  </a:ext>
                </a:extLst>
              </a:tr>
              <a:tr h="370840">
                <a:tc>
                  <a:txBody>
                    <a:bodyPr/>
                    <a:lstStyle/>
                    <a:p>
                      <a:r>
                        <a:rPr lang="en-US" sz="1200" dirty="0">
                          <a:latin typeface="Montserrat" panose="00000500000000000000" pitchFamily="2" charset="0"/>
                        </a:rPr>
                        <a:t>Payment Accuracy</a:t>
                      </a:r>
                    </a:p>
                  </a:txBody>
                  <a:tcPr/>
                </a:tc>
                <a:tc>
                  <a:txBody>
                    <a:bodyPr/>
                    <a:lstStyle/>
                    <a:p>
                      <a:pPr algn="ctr"/>
                      <a:r>
                        <a:rPr lang="en-US" sz="1200" dirty="0">
                          <a:latin typeface="Montserrat" panose="00000500000000000000" pitchFamily="2" charset="0"/>
                        </a:rPr>
                        <a:t>NA</a:t>
                      </a:r>
                    </a:p>
                  </a:txBody>
                  <a:tcPr/>
                </a:tc>
                <a:tc>
                  <a:txBody>
                    <a:bodyPr/>
                    <a:lstStyle/>
                    <a:p>
                      <a:pPr algn="ctr"/>
                      <a:r>
                        <a:rPr lang="en-US" sz="1200" dirty="0">
                          <a:latin typeface="Montserrat" panose="00000500000000000000" pitchFamily="2" charset="0"/>
                        </a:rPr>
                        <a:t>95%</a:t>
                      </a:r>
                    </a:p>
                  </a:txBody>
                  <a:tcPr/>
                </a:tc>
                <a:tc>
                  <a:txBody>
                    <a:bodyPr/>
                    <a:lstStyle/>
                    <a:p>
                      <a:pPr algn="ctr"/>
                      <a:r>
                        <a:rPr lang="en-US" sz="1200" dirty="0">
                          <a:latin typeface="Montserrat" panose="00000500000000000000" pitchFamily="2" charset="0"/>
                        </a:rPr>
                        <a:t>97.4%</a:t>
                      </a:r>
                    </a:p>
                  </a:txBody>
                  <a:tcPr/>
                </a:tc>
                <a:extLst>
                  <a:ext uri="{0D108BD9-81ED-4DB2-BD59-A6C34878D82A}">
                    <a16:rowId xmlns:a16="http://schemas.microsoft.com/office/drawing/2014/main" val="2625952483"/>
                  </a:ext>
                </a:extLst>
              </a:tr>
            </a:tbl>
          </a:graphicData>
        </a:graphic>
      </p:graphicFrame>
      <p:sp>
        <p:nvSpPr>
          <p:cNvPr id="9" name="TextBox 8">
            <a:extLst>
              <a:ext uri="{FF2B5EF4-FFF2-40B4-BE49-F238E27FC236}">
                <a16:creationId xmlns:a16="http://schemas.microsoft.com/office/drawing/2014/main" id="{D3E1D5E2-E92A-03BB-B4A4-E9814C3C04C1}"/>
              </a:ext>
            </a:extLst>
          </p:cNvPr>
          <p:cNvSpPr txBox="1"/>
          <p:nvPr/>
        </p:nvSpPr>
        <p:spPr>
          <a:xfrm>
            <a:off x="215573" y="3235768"/>
            <a:ext cx="806905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Data achieved is for Jan-Jun 2025 calendar year</a:t>
            </a:r>
          </a:p>
        </p:txBody>
      </p:sp>
      <p:sp>
        <p:nvSpPr>
          <p:cNvPr id="13" name="TextBox 12">
            <a:extLst>
              <a:ext uri="{FF2B5EF4-FFF2-40B4-BE49-F238E27FC236}">
                <a16:creationId xmlns:a16="http://schemas.microsoft.com/office/drawing/2014/main" id="{35E4C3B6-26D2-9774-6392-A9A5C275D7E6}"/>
              </a:ext>
            </a:extLst>
          </p:cNvPr>
          <p:cNvSpPr txBox="1"/>
          <p:nvPr/>
        </p:nvSpPr>
        <p:spPr>
          <a:xfrm>
            <a:off x="215573" y="3986857"/>
            <a:ext cx="8278461" cy="184665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Groups are provided with a dedicated specialist to handle escalated issues and concerns promptly.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We offer comprehensive, interactive training for claims and customer service staff to prepare them for their roles, using a collaborative LMS system to ensure consistency and accuracy in KBA processes. </a:t>
            </a:r>
            <a:endPar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2181070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990A0-B199-0CE8-C6C1-303498D083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3B4E5-39BA-72F4-8B6F-5E333F57A213}"/>
              </a:ext>
            </a:extLst>
          </p:cNvPr>
          <p:cNvSpPr>
            <a:spLocks noGrp="1"/>
          </p:cNvSpPr>
          <p:nvPr>
            <p:ph type="title"/>
          </p:nvPr>
        </p:nvSpPr>
        <p:spPr>
          <a:xfrm>
            <a:off x="215573" y="162535"/>
            <a:ext cx="9906201" cy="532319"/>
          </a:xfrm>
        </p:spPr>
        <p:txBody>
          <a:bodyPr>
            <a:normAutofit/>
          </a:bodyPr>
          <a:lstStyle/>
          <a:p>
            <a:r>
              <a:rPr lang="en-US" sz="2800" dirty="0"/>
              <a:t>KBA 2023-2024 Total Quality Management Statistics</a:t>
            </a:r>
          </a:p>
        </p:txBody>
      </p:sp>
      <p:pic>
        <p:nvPicPr>
          <p:cNvPr id="6" name="Picture 14">
            <a:extLst>
              <a:ext uri="{FF2B5EF4-FFF2-40B4-BE49-F238E27FC236}">
                <a16:creationId xmlns:a16="http://schemas.microsoft.com/office/drawing/2014/main" id="{3B930FF4-E39B-4635-5A7F-62C75F794901}"/>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Freeform 15">
            <a:extLst>
              <a:ext uri="{FF2B5EF4-FFF2-40B4-BE49-F238E27FC236}">
                <a16:creationId xmlns:a16="http://schemas.microsoft.com/office/drawing/2014/main" id="{01FCC95D-26C9-9272-557D-2A18ABE7CD53}"/>
              </a:ext>
            </a:extLst>
          </p:cNvPr>
          <p:cNvSpPr/>
          <p:nvPr/>
        </p:nvSpPr>
        <p:spPr>
          <a:xfrm rot="16200000" flipV="1">
            <a:off x="7280237" y="1931405"/>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10" name="Picture 9">
            <a:extLst>
              <a:ext uri="{FF2B5EF4-FFF2-40B4-BE49-F238E27FC236}">
                <a16:creationId xmlns:a16="http://schemas.microsoft.com/office/drawing/2014/main" id="{33610A5C-B434-DC6D-A026-587495EC2713}"/>
              </a:ext>
            </a:extLst>
          </p:cNvPr>
          <p:cNvPicPr>
            <a:picLocks noChangeAspect="1"/>
          </p:cNvPicPr>
          <p:nvPr/>
        </p:nvPicPr>
        <p:blipFill>
          <a:blip r:embed="rId3"/>
          <a:stretch>
            <a:fillRect/>
          </a:stretch>
        </p:blipFill>
        <p:spPr>
          <a:xfrm>
            <a:off x="164864" y="2121976"/>
            <a:ext cx="2189341" cy="644922"/>
          </a:xfrm>
          <a:prstGeom prst="rect">
            <a:avLst/>
          </a:prstGeom>
        </p:spPr>
      </p:pic>
      <p:pic>
        <p:nvPicPr>
          <p:cNvPr id="13" name="Picture 12">
            <a:extLst>
              <a:ext uri="{FF2B5EF4-FFF2-40B4-BE49-F238E27FC236}">
                <a16:creationId xmlns:a16="http://schemas.microsoft.com/office/drawing/2014/main" id="{D1DA7312-7614-9CCE-1897-1D284F740DBE}"/>
              </a:ext>
            </a:extLst>
          </p:cNvPr>
          <p:cNvPicPr>
            <a:picLocks noChangeAspect="1"/>
          </p:cNvPicPr>
          <p:nvPr/>
        </p:nvPicPr>
        <p:blipFill>
          <a:blip r:embed="rId4"/>
          <a:stretch>
            <a:fillRect/>
          </a:stretch>
        </p:blipFill>
        <p:spPr>
          <a:xfrm>
            <a:off x="242931" y="3021139"/>
            <a:ext cx="2070379" cy="556465"/>
          </a:xfrm>
          <a:prstGeom prst="rect">
            <a:avLst/>
          </a:prstGeom>
        </p:spPr>
      </p:pic>
      <p:pic>
        <p:nvPicPr>
          <p:cNvPr id="15" name="Picture 14">
            <a:extLst>
              <a:ext uri="{FF2B5EF4-FFF2-40B4-BE49-F238E27FC236}">
                <a16:creationId xmlns:a16="http://schemas.microsoft.com/office/drawing/2014/main" id="{46E4506F-D250-CA5F-DC34-ADF5D4C1AE58}"/>
              </a:ext>
            </a:extLst>
          </p:cNvPr>
          <p:cNvPicPr>
            <a:picLocks noChangeAspect="1"/>
          </p:cNvPicPr>
          <p:nvPr/>
        </p:nvPicPr>
        <p:blipFill>
          <a:blip r:embed="rId5"/>
          <a:stretch>
            <a:fillRect/>
          </a:stretch>
        </p:blipFill>
        <p:spPr>
          <a:xfrm>
            <a:off x="101017" y="3942998"/>
            <a:ext cx="2354205" cy="532320"/>
          </a:xfrm>
          <a:prstGeom prst="rect">
            <a:avLst/>
          </a:prstGeom>
        </p:spPr>
      </p:pic>
      <p:pic>
        <p:nvPicPr>
          <p:cNvPr id="17" name="Picture 16">
            <a:extLst>
              <a:ext uri="{FF2B5EF4-FFF2-40B4-BE49-F238E27FC236}">
                <a16:creationId xmlns:a16="http://schemas.microsoft.com/office/drawing/2014/main" id="{986F52CA-09AE-0CD0-7474-303EF39C6DED}"/>
              </a:ext>
            </a:extLst>
          </p:cNvPr>
          <p:cNvPicPr>
            <a:picLocks noChangeAspect="1"/>
          </p:cNvPicPr>
          <p:nvPr/>
        </p:nvPicPr>
        <p:blipFill>
          <a:blip r:embed="rId6"/>
          <a:stretch>
            <a:fillRect/>
          </a:stretch>
        </p:blipFill>
        <p:spPr>
          <a:xfrm>
            <a:off x="2863676" y="760502"/>
            <a:ext cx="9027371" cy="5634204"/>
          </a:xfrm>
          <a:prstGeom prst="rect">
            <a:avLst/>
          </a:prstGeom>
        </p:spPr>
      </p:pic>
    </p:spTree>
    <p:extLst>
      <p:ext uri="{BB962C8B-B14F-4D97-AF65-F5344CB8AC3E}">
        <p14:creationId xmlns:p14="http://schemas.microsoft.com/office/powerpoint/2010/main" val="3995384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EE6C6-52D8-113B-C26D-6D3BC5159761}"/>
            </a:ext>
          </a:extLst>
        </p:cNvPr>
        <p:cNvGrpSpPr/>
        <p:nvPr/>
      </p:nvGrpSpPr>
      <p:grpSpPr>
        <a:xfrm>
          <a:off x="0" y="0"/>
          <a:ext cx="0" cy="0"/>
          <a:chOff x="0" y="0"/>
          <a:chExt cx="0" cy="0"/>
        </a:xfrm>
      </p:grpSpPr>
      <p:sp>
        <p:nvSpPr>
          <p:cNvPr id="3" name="Rectangle: Single Corner Rounded 2">
            <a:extLst>
              <a:ext uri="{FF2B5EF4-FFF2-40B4-BE49-F238E27FC236}">
                <a16:creationId xmlns:a16="http://schemas.microsoft.com/office/drawing/2014/main" id="{8DB1C982-C4FC-1129-29B4-48726C14E06B}"/>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5F33AB84-0288-F50D-0315-A621E71DEA42}"/>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TRANSPARENT ANALYTICS ACCESS</a:t>
            </a:r>
          </a:p>
        </p:txBody>
      </p:sp>
      <p:sp>
        <p:nvSpPr>
          <p:cNvPr id="5" name="TextBox 9">
            <a:extLst>
              <a:ext uri="{FF2B5EF4-FFF2-40B4-BE49-F238E27FC236}">
                <a16:creationId xmlns:a16="http://schemas.microsoft.com/office/drawing/2014/main" id="{A8575679-017C-ACF9-77AA-2566A1C9D39A}"/>
              </a:ext>
            </a:extLst>
          </p:cNvPr>
          <p:cNvSpPr txBox="1"/>
          <p:nvPr/>
        </p:nvSpPr>
        <p:spPr>
          <a:xfrm>
            <a:off x="326132" y="1333409"/>
            <a:ext cx="4029076" cy="3939540"/>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EZView</a:t>
            </a: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analytics platform provides instant access to critical analytics insights. </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Filter to a population by data source, group, plan, or geographic location. </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Identifications of chronic conditions, patient acuity, compliance with nurse coaching, regimens of care, steerage rates or claims costs. </a:t>
            </a:r>
          </a:p>
        </p:txBody>
      </p:sp>
      <p:sp>
        <p:nvSpPr>
          <p:cNvPr id="16" name="Freeform 11">
            <a:extLst>
              <a:ext uri="{FF2B5EF4-FFF2-40B4-BE49-F238E27FC236}">
                <a16:creationId xmlns:a16="http://schemas.microsoft.com/office/drawing/2014/main" id="{EB5FDA5D-628A-2986-1FC7-454BB42B486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4" name="Picture 13">
            <a:extLst>
              <a:ext uri="{FF2B5EF4-FFF2-40B4-BE49-F238E27FC236}">
                <a16:creationId xmlns:a16="http://schemas.microsoft.com/office/drawing/2014/main" id="{5EC490BA-B756-4E8D-294D-11D21DF35B2F}"/>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0" name="Object 3">
            <a:extLst>
              <a:ext uri="{FF2B5EF4-FFF2-40B4-BE49-F238E27FC236}">
                <a16:creationId xmlns:a16="http://schemas.microsoft.com/office/drawing/2014/main" id="{78F0DBBF-275F-DFB6-D114-44CDF821D969}"/>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grpSp>
        <p:nvGrpSpPr>
          <p:cNvPr id="15" name="Group 14">
            <a:extLst>
              <a:ext uri="{FF2B5EF4-FFF2-40B4-BE49-F238E27FC236}">
                <a16:creationId xmlns:a16="http://schemas.microsoft.com/office/drawing/2014/main" id="{BE7E8AA3-6686-4683-863D-039F4B9F4ECF}"/>
              </a:ext>
            </a:extLst>
          </p:cNvPr>
          <p:cNvGrpSpPr/>
          <p:nvPr/>
        </p:nvGrpSpPr>
        <p:grpSpPr>
          <a:xfrm>
            <a:off x="4968667" y="1191045"/>
            <a:ext cx="6982231" cy="4540024"/>
            <a:chOff x="1567178" y="1319078"/>
            <a:chExt cx="9057640" cy="5400675"/>
          </a:xfrm>
        </p:grpSpPr>
        <p:pic>
          <p:nvPicPr>
            <p:cNvPr id="17" name="Picture 16">
              <a:extLst>
                <a:ext uri="{FF2B5EF4-FFF2-40B4-BE49-F238E27FC236}">
                  <a16:creationId xmlns:a16="http://schemas.microsoft.com/office/drawing/2014/main" id="{17377C34-25B9-4425-A9D0-632127AD8249}"/>
                </a:ext>
              </a:extLst>
            </p:cNvPr>
            <p:cNvPicPr/>
            <p:nvPr/>
          </p:nvPicPr>
          <p:blipFill>
            <a:blip r:embed="rId3">
              <a:extLst>
                <a:ext uri="{28A0092B-C50C-407E-A947-70E740481C1C}">
                  <a14:useLocalDpi xmlns:a14="http://schemas.microsoft.com/office/drawing/2010/main" val="0"/>
                </a:ext>
              </a:extLst>
            </a:blip>
            <a:stretch>
              <a:fillRect/>
            </a:stretch>
          </p:blipFill>
          <p:spPr>
            <a:xfrm>
              <a:off x="1567178" y="1319078"/>
              <a:ext cx="9057640" cy="5400675"/>
            </a:xfrm>
            <a:prstGeom prst="rect">
              <a:avLst/>
            </a:prstGeom>
          </p:spPr>
        </p:pic>
        <p:sp>
          <p:nvSpPr>
            <p:cNvPr id="22" name="Rectangle 21">
              <a:extLst>
                <a:ext uri="{FF2B5EF4-FFF2-40B4-BE49-F238E27FC236}">
                  <a16:creationId xmlns:a16="http://schemas.microsoft.com/office/drawing/2014/main" id="{BD91CA6F-7193-4C55-81B2-D73039FE2B3E}"/>
                </a:ext>
              </a:extLst>
            </p:cNvPr>
            <p:cNvSpPr/>
            <p:nvPr/>
          </p:nvSpPr>
          <p:spPr>
            <a:xfrm>
              <a:off x="5023945" y="2879834"/>
              <a:ext cx="5370784" cy="283780"/>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glow rad="139700">
                    <a:srgbClr val="0F9ED5">
                      <a:satMod val="175000"/>
                      <a:alpha val="40000"/>
                    </a:srgbClr>
                  </a:glow>
                </a:effectLst>
                <a:uLnTx/>
                <a:uFillTx/>
                <a:latin typeface="Montserrat" panose="00000500000000000000" pitchFamily="2" charset="0"/>
                <a:ea typeface="+mn-ea"/>
                <a:cs typeface="+mn-cs"/>
              </a:endParaRPr>
            </a:p>
          </p:txBody>
        </p:sp>
        <p:sp>
          <p:nvSpPr>
            <p:cNvPr id="23" name="Rectangle 22">
              <a:extLst>
                <a:ext uri="{FF2B5EF4-FFF2-40B4-BE49-F238E27FC236}">
                  <a16:creationId xmlns:a16="http://schemas.microsoft.com/office/drawing/2014/main" id="{2B6CC832-77C3-4E6A-8D26-6F422247D41E}"/>
                </a:ext>
              </a:extLst>
            </p:cNvPr>
            <p:cNvSpPr/>
            <p:nvPr/>
          </p:nvSpPr>
          <p:spPr>
            <a:xfrm>
              <a:off x="5023945" y="3673391"/>
              <a:ext cx="2543504" cy="131353"/>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glow rad="139700">
                    <a:srgbClr val="0F9ED5">
                      <a:satMod val="175000"/>
                      <a:alpha val="40000"/>
                    </a:srgbClr>
                  </a:glow>
                </a:effectLst>
                <a:uLnTx/>
                <a:uFillTx/>
                <a:latin typeface="Montserrat" panose="00000500000000000000" pitchFamily="2" charset="0"/>
                <a:ea typeface="+mn-ea"/>
                <a:cs typeface="+mn-cs"/>
              </a:endParaRPr>
            </a:p>
          </p:txBody>
        </p:sp>
        <p:sp>
          <p:nvSpPr>
            <p:cNvPr id="24" name="Rectangle 23">
              <a:extLst>
                <a:ext uri="{FF2B5EF4-FFF2-40B4-BE49-F238E27FC236}">
                  <a16:creationId xmlns:a16="http://schemas.microsoft.com/office/drawing/2014/main" id="{2E074EC1-9219-490A-9E38-4C2A7C3F3754}"/>
                </a:ext>
              </a:extLst>
            </p:cNvPr>
            <p:cNvSpPr/>
            <p:nvPr/>
          </p:nvSpPr>
          <p:spPr>
            <a:xfrm>
              <a:off x="7851225" y="3804744"/>
              <a:ext cx="2543504" cy="767256"/>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glow rad="139700">
                    <a:srgbClr val="0F9ED5">
                      <a:satMod val="175000"/>
                      <a:alpha val="40000"/>
                    </a:srgbClr>
                  </a:glow>
                </a:effectLst>
                <a:uLnTx/>
                <a:uFillTx/>
                <a:latin typeface="Montserrat" panose="00000500000000000000" pitchFamily="2" charset="0"/>
                <a:ea typeface="+mn-ea"/>
                <a:cs typeface="+mn-cs"/>
              </a:endParaRPr>
            </a:p>
          </p:txBody>
        </p:sp>
        <p:sp>
          <p:nvSpPr>
            <p:cNvPr id="25" name="Rectangle 24">
              <a:extLst>
                <a:ext uri="{FF2B5EF4-FFF2-40B4-BE49-F238E27FC236}">
                  <a16:creationId xmlns:a16="http://schemas.microsoft.com/office/drawing/2014/main" id="{AE90F4AD-BE15-4925-A5D5-EDCEFF21D8A4}"/>
                </a:ext>
              </a:extLst>
            </p:cNvPr>
            <p:cNvSpPr/>
            <p:nvPr/>
          </p:nvSpPr>
          <p:spPr>
            <a:xfrm>
              <a:off x="1619728" y="3916437"/>
              <a:ext cx="3125692" cy="767256"/>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glow rad="139700">
                    <a:srgbClr val="0F9ED5">
                      <a:satMod val="175000"/>
                      <a:alpha val="40000"/>
                    </a:srgbClr>
                  </a:glow>
                </a:effectLst>
                <a:uLnTx/>
                <a:uFillTx/>
                <a:latin typeface="Montserrat" panose="00000500000000000000" pitchFamily="2" charset="0"/>
                <a:ea typeface="+mn-ea"/>
                <a:cs typeface="+mn-cs"/>
              </a:endParaRPr>
            </a:p>
          </p:txBody>
        </p:sp>
      </p:grpSp>
    </p:spTree>
    <p:extLst>
      <p:ext uri="{BB962C8B-B14F-4D97-AF65-F5344CB8AC3E}">
        <p14:creationId xmlns:p14="http://schemas.microsoft.com/office/powerpoint/2010/main" val="38133462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hand holding a cell phone&#10;&#10;Description generated with high confidence">
            <a:extLst>
              <a:ext uri="{FF2B5EF4-FFF2-40B4-BE49-F238E27FC236}">
                <a16:creationId xmlns:a16="http://schemas.microsoft.com/office/drawing/2014/main" id="{29446CC1-16CA-4530-9910-7FA0AEC71ACD}"/>
              </a:ext>
            </a:extLst>
          </p:cNvPr>
          <p:cNvPicPr>
            <a:picLocks noChangeAspect="1"/>
          </p:cNvPicPr>
          <p:nvPr/>
        </p:nvPicPr>
        <p:blipFill rotWithShape="1">
          <a:blip r:embed="rId3" cstate="print">
            <a:alphaModFix amt="70000"/>
            <a:extLst>
              <a:ext uri="{28A0092B-C50C-407E-A947-70E740481C1C}">
                <a14:useLocalDpi xmlns:a14="http://schemas.microsoft.com/office/drawing/2010/main" val="0"/>
              </a:ext>
            </a:extLst>
          </a:blip>
          <a:srcRect b="1759"/>
          <a:stretch/>
        </p:blipFill>
        <p:spPr>
          <a:xfrm>
            <a:off x="3928262" y="32859"/>
            <a:ext cx="8263738" cy="6887380"/>
          </a:xfrm>
          <a:prstGeom prst="rect">
            <a:avLst/>
          </a:prstGeom>
        </p:spPr>
      </p:pic>
      <p:sp>
        <p:nvSpPr>
          <p:cNvPr id="2" name="Rectangle 1">
            <a:extLst>
              <a:ext uri="{FF2B5EF4-FFF2-40B4-BE49-F238E27FC236}">
                <a16:creationId xmlns:a16="http://schemas.microsoft.com/office/drawing/2014/main" id="{E6492F0A-A8C0-4F77-FAED-F025F36E66A2}"/>
              </a:ext>
            </a:extLst>
          </p:cNvPr>
          <p:cNvSpPr/>
          <p:nvPr/>
        </p:nvSpPr>
        <p:spPr>
          <a:xfrm>
            <a:off x="1" y="0"/>
            <a:ext cx="6096000" cy="6825141"/>
          </a:xfrm>
          <a:prstGeom prst="rect">
            <a:avLst/>
          </a:prstGeom>
          <a:gradFill>
            <a:gsLst>
              <a:gs pos="0">
                <a:schemeClr val="bg1"/>
              </a:gs>
              <a:gs pos="72000">
                <a:schemeClr val="bg1"/>
              </a:gs>
              <a:gs pos="100000">
                <a:schemeClr val="bg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9ED0C98-D2F3-4AAF-8C56-B34EC1D6D72E}"/>
              </a:ext>
            </a:extLst>
          </p:cNvPr>
          <p:cNvSpPr txBox="1"/>
          <p:nvPr/>
        </p:nvSpPr>
        <p:spPr>
          <a:xfrm>
            <a:off x="124239" y="1533764"/>
            <a:ext cx="4330517" cy="470898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Nova" panose="020B05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Gives you accessibility to your benefit plan information, claims data, eligibility details and so much more!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Dashboard with menu options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Claim Status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Benefit Information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View/Request an ID Card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Geofencing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Push Notifications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Rx Price Comparison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Customer Service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Nova" panose="020B0504020202020204" pitchFamily="34" charset="0"/>
                <a:ea typeface="+mn-ea"/>
                <a:cs typeface="+mn-cs"/>
              </a:rPr>
              <a:t> </a:t>
            </a:r>
            <a:endParaRPr kumimoji="0" lang="en-US" sz="2000" b="0" i="0" u="none" strike="noStrike" kern="1200" cap="none" spc="0" normalizeH="0" baseline="0" noProof="0">
              <a:ln>
                <a:noFill/>
              </a:ln>
              <a:solidFill>
                <a:prstClr val="black"/>
              </a:solidFill>
              <a:effectLst/>
              <a:uLnTx/>
              <a:uFillTx/>
              <a:latin typeface="Arial Nova" panose="020B05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Nova" panose="020B0504020202020204" pitchFamily="34" charset="0"/>
              <a:ea typeface="+mn-ea"/>
              <a:cs typeface="+mn-cs"/>
            </a:endParaRPr>
          </a:p>
        </p:txBody>
      </p:sp>
      <p:sp>
        <p:nvSpPr>
          <p:cNvPr id="7" name="TextBox 6">
            <a:extLst>
              <a:ext uri="{FF2B5EF4-FFF2-40B4-BE49-F238E27FC236}">
                <a16:creationId xmlns:a16="http://schemas.microsoft.com/office/drawing/2014/main" id="{AF93F6B8-043F-4549-A6D1-4C5578DD61BB}"/>
              </a:ext>
            </a:extLst>
          </p:cNvPr>
          <p:cNvSpPr txBox="1"/>
          <p:nvPr/>
        </p:nvSpPr>
        <p:spPr>
          <a:xfrm>
            <a:off x="124239" y="1115726"/>
            <a:ext cx="5092594" cy="5047536"/>
          </a:xfrm>
          <a:prstGeom prst="rect">
            <a:avLst/>
          </a:prstGeom>
          <a:solidFill>
            <a:schemeClr val="bg1">
              <a:lumMod val="95000"/>
            </a:schemeClr>
          </a:solidFill>
        </p:spPr>
        <p:txBody>
          <a:bodyPr wrap="square" rtlCol="0">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Gives you accessibility to your benefit plan information, claims data, eligibility details and much more! </a:t>
            </a:r>
          </a:p>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endParaRP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lang="en-US" sz="1400">
                <a:solidFill>
                  <a:prstClr val="black">
                    <a:lumMod val="65000"/>
                    <a:lumOff val="35000"/>
                  </a:prstClr>
                </a:solidFill>
                <a:latin typeface="Montserrat" panose="00000500000000000000" pitchFamily="2" charset="0"/>
                <a:cs typeface="Arial" panose="020B0604020202020204" pitchFamily="34" charset="0"/>
              </a:rPr>
              <a:t>Biometric Login for ease of access (Fingerprint &amp; Facial Recognition)</a:t>
            </a:r>
            <a:endPar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endParaRP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Simplified Accumulator</a:t>
            </a:r>
            <a:r>
              <a:rPr lang="en-US" sz="1400">
                <a:solidFill>
                  <a:prstClr val="black">
                    <a:lumMod val="65000"/>
                    <a:lumOff val="35000"/>
                  </a:prstClr>
                </a:solidFill>
                <a:latin typeface="Montserrat" panose="00000500000000000000" pitchFamily="2" charset="0"/>
                <a:cs typeface="Arial" panose="020B0604020202020204" pitchFamily="34" charset="0"/>
              </a:rPr>
              <a:t> View</a:t>
            </a: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Recent Claims Summary and Full Detail</a:t>
            </a: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Benefit Information</a:t>
            </a: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View/Request an ID Card </a:t>
            </a:r>
            <a:r>
              <a:rPr lang="en-US" sz="1400">
                <a:solidFill>
                  <a:prstClr val="black">
                    <a:lumMod val="65000"/>
                    <a:lumOff val="35000"/>
                  </a:prstClr>
                </a:solidFill>
                <a:latin typeface="Montserrat" panose="00000500000000000000" pitchFamily="2" charset="0"/>
                <a:cs typeface="Arial" panose="020B0604020202020204" pitchFamily="34" charset="0"/>
              </a:rPr>
              <a:t>                           </a:t>
            </a: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a:t>
            </a:r>
            <a:r>
              <a:rPr lang="en-US" sz="1400">
                <a:solidFill>
                  <a:prstClr val="black">
                    <a:lumMod val="65000"/>
                    <a:lumOff val="35000"/>
                  </a:prstClr>
                </a:solidFill>
                <a:latin typeface="Montserrat" panose="00000500000000000000" pitchFamily="2" charset="0"/>
                <a:cs typeface="Arial" panose="020B0604020202020204" pitchFamily="34" charset="0"/>
              </a:rPr>
              <a:t>Display - </a:t>
            </a: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Print – Fax – Email)</a:t>
            </a: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lang="en-US" sz="1400">
                <a:solidFill>
                  <a:prstClr val="black">
                    <a:lumMod val="65000"/>
                    <a:lumOff val="35000"/>
                  </a:prstClr>
                </a:solidFill>
                <a:latin typeface="Montserrat" panose="00000500000000000000" pitchFamily="2" charset="0"/>
                <a:cs typeface="Arial" panose="020B0604020202020204" pitchFamily="34" charset="0"/>
              </a:rPr>
              <a:t>SSO directly to Vendor Solutions</a:t>
            </a:r>
            <a:endPar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endParaRP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Rx Price Comparison and Pharmacy Discount Programs (</a:t>
            </a:r>
            <a:r>
              <a:rPr lang="en-US" sz="1400">
                <a:solidFill>
                  <a:prstClr val="black">
                    <a:lumMod val="65000"/>
                    <a:lumOff val="35000"/>
                  </a:prstClr>
                </a:solidFill>
                <a:latin typeface="Montserrat" panose="00000500000000000000" pitchFamily="2" charset="0"/>
                <a:cs typeface="Arial" panose="020B0604020202020204" pitchFamily="34" charset="0"/>
              </a:rPr>
              <a:t>if applicable)</a:t>
            </a:r>
            <a:endPar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endParaRPr>
          </a:p>
          <a:p>
            <a:pPr marL="914400" marR="0" lvl="1" indent="-342900" algn="l" defTabSz="457200" rtl="0" eaLnBrk="1" fontAlgn="auto" latinLnBrk="0" hangingPunct="1">
              <a:lnSpc>
                <a:spcPct val="100000"/>
              </a:lnSpc>
              <a:spcBef>
                <a:spcPts val="0"/>
              </a:spcBef>
              <a:spcAft>
                <a:spcPts val="0"/>
              </a:spcAft>
              <a:buClr>
                <a:srgbClr val="1D97C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Express Requests to Customer Support</a:t>
            </a:r>
          </a:p>
          <a:p>
            <a:pPr marL="914400" marR="0" lvl="1" indent="-342900" algn="l" defTabSz="457200" rtl="0" eaLnBrk="1" fontAlgn="auto" latinLnBrk="0" hangingPunct="1">
              <a:lnSpc>
                <a:spcPct val="100000"/>
              </a:lnSpc>
              <a:spcBef>
                <a:spcPts val="0"/>
              </a:spcBef>
              <a:spcAft>
                <a:spcPts val="0"/>
              </a:spcAft>
              <a:buClr>
                <a:srgbClr val="1D97CD"/>
              </a:buClr>
              <a:buSzTx/>
              <a:buFont typeface="Wingdings" panose="05000000000000000000" pitchFamily="2" charset="2"/>
              <a:buChar char="§"/>
              <a:tabLst/>
              <a:defRPr/>
            </a:pPr>
            <a:endParaRPr lang="en-US" sz="1400">
              <a:solidFill>
                <a:prstClr val="black">
                  <a:lumMod val="65000"/>
                  <a:lumOff val="35000"/>
                </a:prstClr>
              </a:solidFill>
              <a:latin typeface="Montserrat" panose="00000500000000000000" pitchFamily="2" charset="0"/>
              <a:cs typeface="Arial" panose="020B0604020202020204" pitchFamily="34" charset="0"/>
            </a:endParaRPr>
          </a:p>
          <a:p>
            <a:pPr marL="914400" lvl="1" indent="-342900" defTabSz="457200">
              <a:buClr>
                <a:srgbClr val="1D97CD"/>
              </a:buClr>
              <a:buFont typeface="Wingdings" panose="05000000000000000000" pitchFamily="2" charset="2"/>
              <a:buChar char="§"/>
              <a:defRPr/>
            </a:pPr>
            <a:r>
              <a:rPr lang="en-US" sz="1400">
                <a:solidFill>
                  <a:prstClr val="black">
                    <a:lumMod val="65000"/>
                    <a:lumOff val="35000"/>
                  </a:prstClr>
                </a:solidFill>
                <a:latin typeface="Montserrat" panose="00000500000000000000" pitchFamily="2" charset="0"/>
                <a:cs typeface="Arial" panose="020B0604020202020204" pitchFamily="34" charset="0"/>
              </a:rPr>
              <a:t>Push Notifications (Mobile App)</a:t>
            </a:r>
          </a:p>
          <a:p>
            <a:pPr marL="114300" marR="0" lvl="0" indent="0" algn="l" defTabSz="457200" rtl="0" eaLnBrk="1" fontAlgn="auto" latinLnBrk="0" hangingPunct="1">
              <a:lnSpc>
                <a:spcPct val="100000"/>
              </a:lnSpc>
              <a:spcBef>
                <a:spcPts val="0"/>
              </a:spcBef>
              <a:spcAft>
                <a:spcPts val="0"/>
              </a:spcAft>
              <a:buClr>
                <a:srgbClr val="0076C0"/>
              </a:buClr>
              <a:buSzTx/>
              <a:buFontTx/>
              <a:buNone/>
              <a:tabLst/>
              <a:defRPr/>
            </a:pPr>
            <a:endParaRPr kumimoji="0" lang="en-US" sz="1400" b="0" i="0" u="none" strike="noStrike" kern="1200" cap="none" spc="0" normalizeH="0" baseline="0" noProof="0">
              <a:ln>
                <a:noFill/>
              </a:ln>
              <a:solidFill>
                <a:prstClr val="black"/>
              </a:solidFill>
              <a:effectLst/>
              <a:uLnTx/>
              <a:uFillTx/>
              <a:latin typeface="Montserrat" panose="00000500000000000000" pitchFamily="2" charset="0"/>
              <a:cs typeface="Arial" panose="020B0604020202020204" pitchFamily="34" charset="0"/>
            </a:endParaRPr>
          </a:p>
        </p:txBody>
      </p:sp>
      <p:sp>
        <p:nvSpPr>
          <p:cNvPr id="8" name="Rectangle 7">
            <a:extLst>
              <a:ext uri="{FF2B5EF4-FFF2-40B4-BE49-F238E27FC236}">
                <a16:creationId xmlns:a16="http://schemas.microsoft.com/office/drawing/2014/main" id="{9D102BFD-8124-4AAE-B64F-4B7B0BDA5294}"/>
              </a:ext>
            </a:extLst>
          </p:cNvPr>
          <p:cNvSpPr/>
          <p:nvPr/>
        </p:nvSpPr>
        <p:spPr>
          <a:xfrm>
            <a:off x="419813" y="1990165"/>
            <a:ext cx="3276640" cy="325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itle 3">
            <a:extLst>
              <a:ext uri="{FF2B5EF4-FFF2-40B4-BE49-F238E27FC236}">
                <a16:creationId xmlns:a16="http://schemas.microsoft.com/office/drawing/2014/main" id="{1084C65C-54B0-4134-A03C-07CD9FF3BD21}"/>
              </a:ext>
            </a:extLst>
          </p:cNvPr>
          <p:cNvSpPr>
            <a:spLocks noGrp="1"/>
          </p:cNvSpPr>
          <p:nvPr>
            <p:ph type="title"/>
          </p:nvPr>
        </p:nvSpPr>
        <p:spPr>
          <a:xfrm>
            <a:off x="168643" y="317179"/>
            <a:ext cx="5360858" cy="596152"/>
          </a:xfrm>
        </p:spPr>
        <p:txBody>
          <a:bodyPr>
            <a:normAutofit fontScale="90000"/>
          </a:bodyPr>
          <a:lstStyle/>
          <a:p>
            <a:r>
              <a:rPr lang="en-US" sz="2800" b="1" spc="150">
                <a:solidFill>
                  <a:srgbClr val="0076A9"/>
                </a:solidFill>
                <a:cs typeface="Arial" panose="020B0604020202020204" pitchFamily="34" charset="0"/>
              </a:rPr>
              <a:t>Web Portal and Mobile Application</a:t>
            </a:r>
          </a:p>
        </p:txBody>
      </p:sp>
      <p:sp>
        <p:nvSpPr>
          <p:cNvPr id="10" name="Rectangle 9">
            <a:extLst>
              <a:ext uri="{FF2B5EF4-FFF2-40B4-BE49-F238E27FC236}">
                <a16:creationId xmlns:a16="http://schemas.microsoft.com/office/drawing/2014/main" id="{23877204-8B24-4E96-9E93-135502D8C8AC}"/>
              </a:ext>
            </a:extLst>
          </p:cNvPr>
          <p:cNvSpPr/>
          <p:nvPr/>
        </p:nvSpPr>
        <p:spPr>
          <a:xfrm>
            <a:off x="279031" y="1986750"/>
            <a:ext cx="3711944" cy="3077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8" name="Picture 6" descr="App Store Google Play Logo Vectors &amp; Illustrations for Free Download ...">
            <a:extLst>
              <a:ext uri="{FF2B5EF4-FFF2-40B4-BE49-F238E27FC236}">
                <a16:creationId xmlns:a16="http://schemas.microsoft.com/office/drawing/2014/main" id="{EDA0EA21-0B60-7BB6-939E-1494FC5030F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23858" y="41455"/>
            <a:ext cx="1868141" cy="1868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843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BRONSON’S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Bronson Healthcare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152,318</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$1,631,551K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32,298</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$172,498K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20%</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7,975</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$238,445K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5%</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2,339</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-$26,290K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109,706</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$1,219,470K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73%</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Bronson Healthcare estimates commercial insurance reimbursements at 210%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1,219,470K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210%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864,903K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2,084,372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1,708,093</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$376,279K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18%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210%</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579,410K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410,943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990,353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1,708,093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-717,741</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-72%</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54%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35%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nvGraphicFramePr>
        <p:xfrm>
          <a:off x="265176" y="914400"/>
          <a:ext cx="9829800" cy="53238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Bronson Methodist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$1,216,696.4K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$1,961,411.8K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Bronson Battle Creek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139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288,266.6K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628,975.5K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Bronson South Haven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9,736.9K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102,106.6K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Bronson LakeView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13,514.7K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171,975.3K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Bronson Behavioral Health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47,030.5K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Three Rivers Health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30,311.9K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164,956.0K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Insight Hospital &amp; Medical Center Coldwater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57,960.5K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408,589.2K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Corewell Health Watervliet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23,543.2K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117,863.3K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Beacon Kalamazoo</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236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759,174.5K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795,124.7K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Battle Creek VA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276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Oaklawn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117,191.0K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475,754.7K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Eaton Rapids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3,234.4K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61,042.5K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UM Health - Sparrow Eaton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16,192.8K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161,602.9K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Beacon Allegan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5,048.7K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65,318.3K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Corewell Health Pennock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25,416.0K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258,624.5K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Beacon Plainwell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20,429.5K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58,009.1K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Select Specialty Hospital - Battle Creek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121,405.7K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Kalamazoo Psychiatric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61,559.4K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252608617"/>
              </p:ext>
            </p:extLst>
          </p:nvPr>
        </p:nvGraphicFramePr>
        <p:xfrm>
          <a:off x="0" y="0"/>
          <a:ext cx="12191999" cy="6857992"/>
        </p:xfrm>
        <a:graphic>
          <a:graphicData uri="http://schemas.openxmlformats.org/drawingml/2006/table">
            <a:tbl>
              <a:tblPr/>
              <a:tblGrid>
                <a:gridCol w="3280939">
                  <a:extLst>
                    <a:ext uri="{9D8B030D-6E8A-4147-A177-3AD203B41FA5}">
                      <a16:colId xmlns:a16="http://schemas.microsoft.com/office/drawing/2014/main" val="20000"/>
                    </a:ext>
                  </a:extLst>
                </a:gridCol>
                <a:gridCol w="2144351">
                  <a:extLst>
                    <a:ext uri="{9D8B030D-6E8A-4147-A177-3AD203B41FA5}">
                      <a16:colId xmlns:a16="http://schemas.microsoft.com/office/drawing/2014/main" val="20001"/>
                    </a:ext>
                  </a:extLst>
                </a:gridCol>
                <a:gridCol w="2303175">
                  <a:extLst>
                    <a:ext uri="{9D8B030D-6E8A-4147-A177-3AD203B41FA5}">
                      <a16:colId xmlns:a16="http://schemas.microsoft.com/office/drawing/2014/main" val="20002"/>
                    </a:ext>
                  </a:extLst>
                </a:gridCol>
                <a:gridCol w="2342498">
                  <a:extLst>
                    <a:ext uri="{9D8B030D-6E8A-4147-A177-3AD203B41FA5}">
                      <a16:colId xmlns:a16="http://schemas.microsoft.com/office/drawing/2014/main" val="20003"/>
                    </a:ext>
                  </a:extLst>
                </a:gridCol>
                <a:gridCol w="2121036">
                  <a:extLst>
                    <a:ext uri="{9D8B030D-6E8A-4147-A177-3AD203B41FA5}">
                      <a16:colId xmlns:a16="http://schemas.microsoft.com/office/drawing/2014/main" val="20004"/>
                    </a:ext>
                  </a:extLst>
                </a:gridCol>
              </a:tblGrid>
              <a:tr h="323291">
                <a:tc gridSpan="5">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14085">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Bronson Methodist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Bronson Battle Creek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Bronson South Haven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Bronson LakeView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$464,778K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$92,245K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$3,544K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$6,068K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$749,259K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$201,272K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$37,167K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$77,217K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$126,937K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$40,566K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$2,707K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5048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$168,606K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$49,157K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$9,834K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$10,849K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$916,993K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$204,156K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$28,108K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$70,213K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$16,530K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$6,099K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$1,473K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$2,189K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$482,147K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$106,593K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$3,692K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$4,889K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$777,259K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$232,578K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$38,718K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$62,217K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$1,259,406K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$339,171K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$42,410K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$67,106K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$-46,870K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$-45,293K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$-1,762K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$16,245K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33.3%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45048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74.9%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63.5%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59.9%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59.5%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59692">
                <a:tc gridSpan="5">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59692">
                <a:tc gridSpan="5">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59692">
                <a:tc gridSpan="5">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59692">
                <a:tc gridSpan="5">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Bronson Healthcare has 54% inpatient market share, and 35% outpatient market compared to hospitals/clinics in the Bronson Healthcare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Bronson Healthcare.</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1798123219"/>
              </p:ext>
            </p:extLst>
          </p:nvPr>
        </p:nvGraphicFramePr>
        <p:xfrm>
          <a:off x="390844" y="876300"/>
          <a:ext cx="7646730" cy="5158314"/>
        </p:xfrm>
        <a:graphic>
          <a:graphicData uri="http://schemas.openxmlformats.org/drawingml/2006/table">
            <a:tbl>
              <a:tblPr/>
              <a:tblGrid>
                <a:gridCol w="1529346">
                  <a:extLst>
                    <a:ext uri="{9D8B030D-6E8A-4147-A177-3AD203B41FA5}">
                      <a16:colId xmlns:a16="http://schemas.microsoft.com/office/drawing/2014/main" val="20000"/>
                    </a:ext>
                  </a:extLst>
                </a:gridCol>
                <a:gridCol w="1529346">
                  <a:extLst>
                    <a:ext uri="{9D8B030D-6E8A-4147-A177-3AD203B41FA5}">
                      <a16:colId xmlns:a16="http://schemas.microsoft.com/office/drawing/2014/main" val="20001"/>
                    </a:ext>
                  </a:extLst>
                </a:gridCol>
                <a:gridCol w="1529346">
                  <a:extLst>
                    <a:ext uri="{9D8B030D-6E8A-4147-A177-3AD203B41FA5}">
                      <a16:colId xmlns:a16="http://schemas.microsoft.com/office/drawing/2014/main" val="20002"/>
                    </a:ext>
                  </a:extLst>
                </a:gridCol>
                <a:gridCol w="1529346">
                  <a:extLst>
                    <a:ext uri="{9D8B030D-6E8A-4147-A177-3AD203B41FA5}">
                      <a16:colId xmlns:a16="http://schemas.microsoft.com/office/drawing/2014/main" val="20003"/>
                    </a:ext>
                  </a:extLst>
                </a:gridCol>
                <a:gridCol w="1529346">
                  <a:extLst>
                    <a:ext uri="{9D8B030D-6E8A-4147-A177-3AD203B41FA5}">
                      <a16:colId xmlns:a16="http://schemas.microsoft.com/office/drawing/2014/main" val="20004"/>
                    </a:ext>
                  </a:extLst>
                </a:gridCol>
              </a:tblGrid>
              <a:tr h="83205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Bronson Healthcare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Bronson Healthcare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631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4,200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$ 6,743,112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$ 7,864,980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$ 3,672,879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$ 18,280,970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$ 971,008.1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$ 1,132,557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$ 528,894.5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$ 2,632,460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37491618"/>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$ 1,892,004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$2.25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$ 113,400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$ 2,005,404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$ 1,825,404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$ 9,167,006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$ 15,169,058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$ 7,083,821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$ 31,419,885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$ 1,320,049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$ 2,184,344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$ 1,020,070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$ 4,524,463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54% (inpatient) and 35%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14.4%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74% inpatient and 67%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14.4%,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449728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293">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2705">
                <a:tc gridSpan="5">
                  <a:txBody>
                    <a:bodyPr/>
                    <a:lstStyle/>
                    <a:p>
                      <a:pPr marL="63500" marR="63500" algn="l">
                        <a:lnSpc>
                          <a:spcPct val="100000"/>
                        </a:lnSpc>
                        <a:spcBef>
                          <a:spcPts val="5"/>
                        </a:spcBef>
                        <a:spcAft>
                          <a:spcPts val="5"/>
                        </a:spcAft>
                        <a:buNone/>
                      </a:pPr>
                      <a:r>
                        <a:rPr sz="16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57261">
                <a:tc>
                  <a:txBody>
                    <a:bodyPr/>
                    <a:lstStyle/>
                    <a:p>
                      <a:pPr marL="63500" marR="63500" algn="l">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$802.8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$1,605.5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$8,027.5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$40,137.6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$5,779.8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$1,035.1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$2,070.2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$10,350.9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$51,754.3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$298.1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$1,490.5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$7,452.6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390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$464.7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$2,323.3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$11,616.7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390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$33.5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$66.9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$334.6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$1,672.8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$936.3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$1,872.6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$9,363.1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$46,815.4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$269.7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$1,348.3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$6,741.4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$3,226.8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$16,133.8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$80,669.2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$464.7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$2,323.3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$11,616.4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39058">
                <a:tc>
                  <a:txBody>
                    <a:bodyPr/>
                    <a:lstStyle/>
                    <a:p>
                      <a:pPr marL="63500" marR="63500" algn="l">
                        <a:lnSpc>
                          <a:spcPct val="100000"/>
                        </a:lnSpc>
                        <a:spcBef>
                          <a:spcPts val="5"/>
                        </a:spcBef>
                        <a:spcAft>
                          <a:spcPts val="5"/>
                        </a:spcAft>
                        <a:buNone/>
                      </a:pPr>
                      <a:r>
                        <a:rPr sz="1200" b="0" i="0" u="none" strike="noStrike" cap="none" dirty="0">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$677.1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$1,354.2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$6,770.8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$33,853.8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390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$195.0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$975.0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$4,874.9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$437.2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$874.5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$4,372.5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$21,862.4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$3,148.2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$753.4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$1,506.9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$7,534.4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$37,671.8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$1,084.9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$5,424.7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390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$3,161.9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$15,809.4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390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$455.3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$2,276.6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57261">
                <a:tc>
                  <a:txBody>
                    <a:bodyPr/>
                    <a:lstStyle/>
                    <a:p>
                      <a:pPr marL="63500" marR="63500" algn="l">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$-140.0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$1,569.9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dirty="0">
                          <a:solidFill>
                            <a:srgbClr val="000000">
                              <a:alpha val="100000"/>
                            </a:srgbClr>
                          </a:solidFill>
                          <a:latin typeface="Montserrat"/>
                          <a:cs typeface="Arial"/>
                          <a:sym typeface="Arial"/>
                        </a:rPr>
                        <a:t>$9,169.3</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$2,176.3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$4,352.6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$21,763.1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$108,815.3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$626.8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$3,133.9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$15,669.4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$3,401.9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$6,803.8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$34,019.1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$170,095.3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$2,451.2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$12,256.0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$61,280.0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$489.9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$979.7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$4,898.7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$24,493.7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$176.5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$1,764.9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$8,824.3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$-140.0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$1,569.9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$9,169.3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$2,176.3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$4,352.6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$21,763.1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$108,815.3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$626.8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$3,133.9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$15,669.4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$7,895.6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$39,478.1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$197,390.4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$1,771.5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$3,543.0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$17,715.0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$88,575.1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$765.9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$7,658.7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$38,293.7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$905.0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$4,524.9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$22,624.3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$136.0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$602.0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$4,329.9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$22,969.3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45%+ Within-Plan Steerage and a Commercial Margin of 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45%+ Within-Plan Steerage and a Commercial Margin of 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45%+ Within-Plan Steerage and a Commercial Margin of 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45%+ Within-Plan Steerage and a Commercial Margin of 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45%+ Within-Plan Steerage and a Commercial Margin of 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$2,176.3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$4,352.6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$21,763.1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$108,815.3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$626.8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$3,133.9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$15,669.4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$2,852.7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$5,705.4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$28,526.8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$142,634.0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$1,352.7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$6,763.7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$33,818.7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$536.3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$2,681.5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$13,407.6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$-2,261.8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$-361.7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$-393.5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$-647.4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$-1,916.8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42</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81336" y="2431713"/>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Bronson Healthcare’s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Bronson Healthcare</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Bronson Healthcare</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Bronson Healthcare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43</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44</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Bronson Healthcare</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Bronson Healthcare’s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45</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46</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46165</TotalTime>
  <Words>5448</Words>
  <Application>Microsoft Office PowerPoint</Application>
  <PresentationFormat>Widescreen</PresentationFormat>
  <Paragraphs>1442</Paragraphs>
  <Slides>46</Slides>
  <Notes>9</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46</vt:i4>
      </vt:variant>
    </vt:vector>
  </HeadingPairs>
  <TitlesOfParts>
    <vt:vector size="60" baseType="lpstr">
      <vt:lpstr>Aptos</vt:lpstr>
      <vt:lpstr>Aptos Narrow</vt:lpstr>
      <vt:lpstr>Arial</vt:lpstr>
      <vt:lpstr>Arial Nova</vt:lpstr>
      <vt:lpstr>Book Antiqua</vt:lpstr>
      <vt:lpstr>Calibri</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BRONSON</vt:lpstr>
      <vt:lpstr>Direct-to-Employer Strategy: POWERFUL EMPLOYER VALUE</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BRONSON IS PATIENT RECOMMENDED</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Claims Processing Excellence</vt:lpstr>
      <vt:lpstr>Claims Statistics</vt:lpstr>
      <vt:lpstr>KBA 2023-2024 Total Quality Management Statistics</vt:lpstr>
      <vt:lpstr>TRANSPARENT ANALYTICS ACCESS</vt:lpstr>
      <vt:lpstr>Web Portal and Mobile Application</vt:lpstr>
      <vt:lpstr>PowerPoint Presentation</vt:lpstr>
      <vt:lpstr>ESTIMATION OF BRONSON’S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113</cp:revision>
  <cp:lastPrinted>2023-07-13T10:24:43Z</cp:lastPrinted>
  <dcterms:created xsi:type="dcterms:W3CDTF">2021-01-20T14:12:11Z</dcterms:created>
  <dcterms:modified xsi:type="dcterms:W3CDTF">2026-02-06T06:13:13Z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