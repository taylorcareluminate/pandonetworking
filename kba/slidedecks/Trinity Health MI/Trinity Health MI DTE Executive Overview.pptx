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2"/>
  </p:notesMasterIdLst>
  <p:sldIdLst>
    <p:sldId id="588" r:id="rId8"/>
    <p:sldId id="454" r:id="rId9"/>
    <p:sldId id="549" r:id="rId10"/>
    <p:sldId id="2145726869" r:id="rId11"/>
    <p:sldId id="452" r:id="rId12"/>
    <p:sldId id="2145726870" r:id="rId13"/>
    <p:sldId id="2145726871" r:id="rId14"/>
    <p:sldId id="2145726872" r:id="rId15"/>
    <p:sldId id="580" r:id="rId16"/>
    <p:sldId id="2145726873" r:id="rId17"/>
    <p:sldId id="582" r:id="rId18"/>
    <p:sldId id="2145726874" r:id="rId19"/>
    <p:sldId id="521" r:id="rId20"/>
    <p:sldId id="472" r:id="rId21"/>
  </p:sldIdLst>
  <p:sldSz cx="12192000" cy="6858000"/>
  <p:notesSz cx="7315200" cy="96012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A3C8"/>
    <a:srgbClr val="849CC3"/>
    <a:srgbClr val="FFFFFF"/>
    <a:srgbClr val="C0CCE1"/>
    <a:srgbClr val="8FA4C9"/>
    <a:srgbClr val="AD8C63"/>
    <a:srgbClr val="2D7B93"/>
    <a:srgbClr val="CEE8F0"/>
    <a:srgbClr val="DACBB9"/>
    <a:srgbClr val="466A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67DF58-2F60-4751-9704-8058E1A0BC88}" v="8" dt="2025-10-03T19:55:36.844"/>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50" d="100"/>
        <a:sy n="5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37654780-E669-4FAE-97FB-353716EDB9E2}"/>
    <pc:docChg chg="addSld delSld modSld delMainMaster">
      <pc:chgData name="Taylor Davis" userId="5c9e72a0-c39f-4aa1-9d7d-64125e78cbe6" providerId="ADAL" clId="{37654780-E669-4FAE-97FB-353716EDB9E2}" dt="2025-06-10T19:57:21.210" v="19"/>
      <pc:docMkLst>
        <pc:docMk/>
      </pc:docMkLst>
      <pc:sldChg chg="del">
        <pc:chgData name="Taylor Davis" userId="5c9e72a0-c39f-4aa1-9d7d-64125e78cbe6" providerId="ADAL" clId="{37654780-E669-4FAE-97FB-353716EDB9E2}" dt="2025-06-10T19:56:42.936" v="3" actId="47"/>
        <pc:sldMkLst>
          <pc:docMk/>
          <pc:sldMk cId="0" sldId="256"/>
        </pc:sldMkLst>
      </pc:sldChg>
      <pc:sldChg chg="del">
        <pc:chgData name="Taylor Davis" userId="5c9e72a0-c39f-4aa1-9d7d-64125e78cbe6" providerId="ADAL" clId="{37654780-E669-4FAE-97FB-353716EDB9E2}" dt="2025-06-10T19:56:42.936" v="3" actId="47"/>
        <pc:sldMkLst>
          <pc:docMk/>
          <pc:sldMk cId="3543401867" sldId="281"/>
        </pc:sldMkLst>
      </pc:sldChg>
      <pc:sldChg chg="del">
        <pc:chgData name="Taylor Davis" userId="5c9e72a0-c39f-4aa1-9d7d-64125e78cbe6" providerId="ADAL" clId="{37654780-E669-4FAE-97FB-353716EDB9E2}" dt="2025-06-10T19:56:42.936" v="3" actId="47"/>
        <pc:sldMkLst>
          <pc:docMk/>
          <pc:sldMk cId="2605732402" sldId="283"/>
        </pc:sldMkLst>
      </pc:sldChg>
      <pc:sldChg chg="del">
        <pc:chgData name="Taylor Davis" userId="5c9e72a0-c39f-4aa1-9d7d-64125e78cbe6" providerId="ADAL" clId="{37654780-E669-4FAE-97FB-353716EDB9E2}" dt="2025-06-10T19:56:42.936" v="3" actId="47"/>
        <pc:sldMkLst>
          <pc:docMk/>
          <pc:sldMk cId="514031403" sldId="285"/>
        </pc:sldMkLst>
      </pc:sldChg>
      <pc:sldChg chg="del">
        <pc:chgData name="Taylor Davis" userId="5c9e72a0-c39f-4aa1-9d7d-64125e78cbe6" providerId="ADAL" clId="{37654780-E669-4FAE-97FB-353716EDB9E2}" dt="2025-06-10T19:56:42.936" v="3" actId="47"/>
        <pc:sldMkLst>
          <pc:docMk/>
          <pc:sldMk cId="211951504" sldId="325"/>
        </pc:sldMkLst>
      </pc:sldChg>
      <pc:sldChg chg="del">
        <pc:chgData name="Taylor Davis" userId="5c9e72a0-c39f-4aa1-9d7d-64125e78cbe6" providerId="ADAL" clId="{37654780-E669-4FAE-97FB-353716EDB9E2}" dt="2025-06-10T19:56:42.936" v="3" actId="47"/>
        <pc:sldMkLst>
          <pc:docMk/>
          <pc:sldMk cId="225422285" sldId="326"/>
        </pc:sldMkLst>
      </pc:sldChg>
      <pc:sldChg chg="add del">
        <pc:chgData name="Taylor Davis" userId="5c9e72a0-c39f-4aa1-9d7d-64125e78cbe6" providerId="ADAL" clId="{37654780-E669-4FAE-97FB-353716EDB9E2}" dt="2025-06-10T19:57:21.210" v="19"/>
        <pc:sldMkLst>
          <pc:docMk/>
          <pc:sldMk cId="4059548579" sldId="452"/>
        </pc:sldMkLst>
      </pc:sldChg>
      <pc:sldChg chg="del">
        <pc:chgData name="Taylor Davis" userId="5c9e72a0-c39f-4aa1-9d7d-64125e78cbe6" providerId="ADAL" clId="{37654780-E669-4FAE-97FB-353716EDB9E2}" dt="2025-06-10T19:56:42.936" v="3" actId="47"/>
        <pc:sldMkLst>
          <pc:docMk/>
          <pc:sldMk cId="1700621358" sldId="456"/>
        </pc:sldMkLst>
      </pc:sldChg>
      <pc:sldChg chg="del">
        <pc:chgData name="Taylor Davis" userId="5c9e72a0-c39f-4aa1-9d7d-64125e78cbe6" providerId="ADAL" clId="{37654780-E669-4FAE-97FB-353716EDB9E2}" dt="2025-06-10T19:56:42.936" v="3" actId="47"/>
        <pc:sldMkLst>
          <pc:docMk/>
          <pc:sldMk cId="3958060990" sldId="458"/>
        </pc:sldMkLst>
      </pc:sldChg>
      <pc:sldChg chg="del">
        <pc:chgData name="Taylor Davis" userId="5c9e72a0-c39f-4aa1-9d7d-64125e78cbe6" providerId="ADAL" clId="{37654780-E669-4FAE-97FB-353716EDB9E2}" dt="2025-06-10T19:56:23.167" v="0" actId="47"/>
        <pc:sldMkLst>
          <pc:docMk/>
          <pc:sldMk cId="1714126014" sldId="466"/>
        </pc:sldMkLst>
      </pc:sldChg>
      <pc:sldChg chg="del">
        <pc:chgData name="Taylor Davis" userId="5c9e72a0-c39f-4aa1-9d7d-64125e78cbe6" providerId="ADAL" clId="{37654780-E669-4FAE-97FB-353716EDB9E2}" dt="2025-06-10T19:56:42.936" v="3" actId="47"/>
        <pc:sldMkLst>
          <pc:docMk/>
          <pc:sldMk cId="2680122054" sldId="469"/>
        </pc:sldMkLst>
      </pc:sldChg>
      <pc:sldChg chg="del">
        <pc:chgData name="Taylor Davis" userId="5c9e72a0-c39f-4aa1-9d7d-64125e78cbe6" providerId="ADAL" clId="{37654780-E669-4FAE-97FB-353716EDB9E2}" dt="2025-06-10T19:56:42.936" v="3" actId="47"/>
        <pc:sldMkLst>
          <pc:docMk/>
          <pc:sldMk cId="2660124243" sldId="491"/>
        </pc:sldMkLst>
      </pc:sldChg>
      <pc:sldChg chg="del">
        <pc:chgData name="Taylor Davis" userId="5c9e72a0-c39f-4aa1-9d7d-64125e78cbe6" providerId="ADAL" clId="{37654780-E669-4FAE-97FB-353716EDB9E2}" dt="2025-06-10T19:56:42.936" v="3" actId="47"/>
        <pc:sldMkLst>
          <pc:docMk/>
          <pc:sldMk cId="3144192130" sldId="498"/>
        </pc:sldMkLst>
      </pc:sldChg>
      <pc:sldChg chg="del">
        <pc:chgData name="Taylor Davis" userId="5c9e72a0-c39f-4aa1-9d7d-64125e78cbe6" providerId="ADAL" clId="{37654780-E669-4FAE-97FB-353716EDB9E2}" dt="2025-06-10T19:56:42.936" v="3" actId="47"/>
        <pc:sldMkLst>
          <pc:docMk/>
          <pc:sldMk cId="2203540903" sldId="499"/>
        </pc:sldMkLst>
      </pc:sldChg>
      <pc:sldChg chg="del">
        <pc:chgData name="Taylor Davis" userId="5c9e72a0-c39f-4aa1-9d7d-64125e78cbe6" providerId="ADAL" clId="{37654780-E669-4FAE-97FB-353716EDB9E2}" dt="2025-06-10T19:56:42.936" v="3" actId="47"/>
        <pc:sldMkLst>
          <pc:docMk/>
          <pc:sldMk cId="36791873" sldId="525"/>
        </pc:sldMkLst>
      </pc:sldChg>
      <pc:sldChg chg="del">
        <pc:chgData name="Taylor Davis" userId="5c9e72a0-c39f-4aa1-9d7d-64125e78cbe6" providerId="ADAL" clId="{37654780-E669-4FAE-97FB-353716EDB9E2}" dt="2025-06-10T19:56:42.936" v="3" actId="47"/>
        <pc:sldMkLst>
          <pc:docMk/>
          <pc:sldMk cId="1419816550" sldId="536"/>
        </pc:sldMkLst>
      </pc:sldChg>
      <pc:sldChg chg="del">
        <pc:chgData name="Taylor Davis" userId="5c9e72a0-c39f-4aa1-9d7d-64125e78cbe6" providerId="ADAL" clId="{37654780-E669-4FAE-97FB-353716EDB9E2}" dt="2025-06-10T19:56:33.546" v="2" actId="47"/>
        <pc:sldMkLst>
          <pc:docMk/>
          <pc:sldMk cId="3470905217" sldId="558"/>
        </pc:sldMkLst>
      </pc:sldChg>
      <pc:sldChg chg="del">
        <pc:chgData name="Taylor Davis" userId="5c9e72a0-c39f-4aa1-9d7d-64125e78cbe6" providerId="ADAL" clId="{37654780-E669-4FAE-97FB-353716EDB9E2}" dt="2025-06-10T19:56:42.936" v="3" actId="47"/>
        <pc:sldMkLst>
          <pc:docMk/>
          <pc:sldMk cId="0" sldId="571"/>
        </pc:sldMkLst>
      </pc:sldChg>
      <pc:sldChg chg="del">
        <pc:chgData name="Taylor Davis" userId="5c9e72a0-c39f-4aa1-9d7d-64125e78cbe6" providerId="ADAL" clId="{37654780-E669-4FAE-97FB-353716EDB9E2}" dt="2025-06-10T19:56:42.936" v="3" actId="47"/>
        <pc:sldMkLst>
          <pc:docMk/>
          <pc:sldMk cId="0" sldId="572"/>
        </pc:sldMkLst>
      </pc:sldChg>
      <pc:sldChg chg="del">
        <pc:chgData name="Taylor Davis" userId="5c9e72a0-c39f-4aa1-9d7d-64125e78cbe6" providerId="ADAL" clId="{37654780-E669-4FAE-97FB-353716EDB9E2}" dt="2025-06-10T19:56:42.936" v="3" actId="47"/>
        <pc:sldMkLst>
          <pc:docMk/>
          <pc:sldMk cId="1064222983" sldId="574"/>
        </pc:sldMkLst>
      </pc:sldChg>
      <pc:sldChg chg="del">
        <pc:chgData name="Taylor Davis" userId="5c9e72a0-c39f-4aa1-9d7d-64125e78cbe6" providerId="ADAL" clId="{37654780-E669-4FAE-97FB-353716EDB9E2}" dt="2025-06-10T19:56:42.936" v="3" actId="47"/>
        <pc:sldMkLst>
          <pc:docMk/>
          <pc:sldMk cId="3790917938" sldId="575"/>
        </pc:sldMkLst>
      </pc:sldChg>
      <pc:sldChg chg="del">
        <pc:chgData name="Taylor Davis" userId="5c9e72a0-c39f-4aa1-9d7d-64125e78cbe6" providerId="ADAL" clId="{37654780-E669-4FAE-97FB-353716EDB9E2}" dt="2025-06-10T19:56:42.936" v="3" actId="47"/>
        <pc:sldMkLst>
          <pc:docMk/>
          <pc:sldMk cId="838631500" sldId="583"/>
        </pc:sldMkLst>
      </pc:sldChg>
      <pc:sldChg chg="del">
        <pc:chgData name="Taylor Davis" userId="5c9e72a0-c39f-4aa1-9d7d-64125e78cbe6" providerId="ADAL" clId="{37654780-E669-4FAE-97FB-353716EDB9E2}" dt="2025-06-10T19:56:42.936" v="3" actId="47"/>
        <pc:sldMkLst>
          <pc:docMk/>
          <pc:sldMk cId="4042275972" sldId="613"/>
        </pc:sldMkLst>
      </pc:sldChg>
      <pc:sldChg chg="del">
        <pc:chgData name="Taylor Davis" userId="5c9e72a0-c39f-4aa1-9d7d-64125e78cbe6" providerId="ADAL" clId="{37654780-E669-4FAE-97FB-353716EDB9E2}" dt="2025-06-10T19:56:42.936" v="3" actId="47"/>
        <pc:sldMkLst>
          <pc:docMk/>
          <pc:sldMk cId="1281542618" sldId="614"/>
        </pc:sldMkLst>
      </pc:sldChg>
      <pc:sldChg chg="del">
        <pc:chgData name="Taylor Davis" userId="5c9e72a0-c39f-4aa1-9d7d-64125e78cbe6" providerId="ADAL" clId="{37654780-E669-4FAE-97FB-353716EDB9E2}" dt="2025-06-10T19:56:42.936" v="3" actId="47"/>
        <pc:sldMkLst>
          <pc:docMk/>
          <pc:sldMk cId="2174952421" sldId="2145726856"/>
        </pc:sldMkLst>
      </pc:sldChg>
      <pc:sldChg chg="del">
        <pc:chgData name="Taylor Davis" userId="5c9e72a0-c39f-4aa1-9d7d-64125e78cbe6" providerId="ADAL" clId="{37654780-E669-4FAE-97FB-353716EDB9E2}" dt="2025-06-10T19:56:42.936" v="3" actId="47"/>
        <pc:sldMkLst>
          <pc:docMk/>
          <pc:sldMk cId="4161310751" sldId="2145726857"/>
        </pc:sldMkLst>
      </pc:sldChg>
      <pc:sldChg chg="del">
        <pc:chgData name="Taylor Davis" userId="5c9e72a0-c39f-4aa1-9d7d-64125e78cbe6" providerId="ADAL" clId="{37654780-E669-4FAE-97FB-353716EDB9E2}" dt="2025-06-10T19:56:42.936" v="3" actId="47"/>
        <pc:sldMkLst>
          <pc:docMk/>
          <pc:sldMk cId="1389453819" sldId="2145726859"/>
        </pc:sldMkLst>
      </pc:sldChg>
      <pc:sldChg chg="del">
        <pc:chgData name="Taylor Davis" userId="5c9e72a0-c39f-4aa1-9d7d-64125e78cbe6" providerId="ADAL" clId="{37654780-E669-4FAE-97FB-353716EDB9E2}" dt="2025-06-10T19:56:42.936" v="3" actId="47"/>
        <pc:sldMkLst>
          <pc:docMk/>
          <pc:sldMk cId="0" sldId="2145726864"/>
        </pc:sldMkLst>
      </pc:sldChg>
      <pc:sldChg chg="del">
        <pc:chgData name="Taylor Davis" userId="5c9e72a0-c39f-4aa1-9d7d-64125e78cbe6" providerId="ADAL" clId="{37654780-E669-4FAE-97FB-353716EDB9E2}" dt="2025-06-10T19:56:42.936" v="3" actId="47"/>
        <pc:sldMkLst>
          <pc:docMk/>
          <pc:sldMk cId="1010235892" sldId="2145726866"/>
        </pc:sldMkLst>
      </pc:sldChg>
      <pc:sldChg chg="del">
        <pc:chgData name="Taylor Davis" userId="5c9e72a0-c39f-4aa1-9d7d-64125e78cbe6" providerId="ADAL" clId="{37654780-E669-4FAE-97FB-353716EDB9E2}" dt="2025-06-10T19:56:42.936" v="3" actId="47"/>
        <pc:sldMkLst>
          <pc:docMk/>
          <pc:sldMk cId="4087636236" sldId="2145726868"/>
        </pc:sldMkLst>
      </pc:sldChg>
      <pc:sldChg chg="modSp mod">
        <pc:chgData name="Taylor Davis" userId="5c9e72a0-c39f-4aa1-9d7d-64125e78cbe6" providerId="ADAL" clId="{37654780-E669-4FAE-97FB-353716EDB9E2}" dt="2025-06-10T19:56:50.452" v="18" actId="20577"/>
        <pc:sldMkLst>
          <pc:docMk/>
          <pc:sldMk cId="3568316183" sldId="2145726873"/>
        </pc:sldMkLst>
      </pc:sldChg>
      <pc:sldMasterChg chg="del delSldLayout">
        <pc:chgData name="Taylor Davis" userId="5c9e72a0-c39f-4aa1-9d7d-64125e78cbe6" providerId="ADAL" clId="{37654780-E669-4FAE-97FB-353716EDB9E2}" dt="2025-06-10T19:56:42.936" v="3" actId="47"/>
        <pc:sldMasterMkLst>
          <pc:docMk/>
          <pc:sldMasterMk cId="1265540980" sldId="2147483785"/>
        </pc:sldMasterMkLst>
        <pc:sldLayoutChg chg="del">
          <pc:chgData name="Taylor Davis" userId="5c9e72a0-c39f-4aa1-9d7d-64125e78cbe6" providerId="ADAL" clId="{37654780-E669-4FAE-97FB-353716EDB9E2}" dt="2025-06-10T19:56:42.936" v="3" actId="47"/>
          <pc:sldLayoutMkLst>
            <pc:docMk/>
            <pc:sldMasterMk cId="1265540980" sldId="2147483785"/>
            <pc:sldLayoutMk cId="2498378428" sldId="2147483786"/>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2601881731" sldId="2147483787"/>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1562686733" sldId="2147483788"/>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4003081434" sldId="2147483789"/>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1910118790" sldId="2147483790"/>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3711328393" sldId="2147483791"/>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1423940963" sldId="2147483792"/>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4032606110" sldId="2147483793"/>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2254392230" sldId="2147483794"/>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1920540095" sldId="2147483795"/>
          </pc:sldLayoutMkLst>
        </pc:sldLayoutChg>
        <pc:sldLayoutChg chg="del">
          <pc:chgData name="Taylor Davis" userId="5c9e72a0-c39f-4aa1-9d7d-64125e78cbe6" providerId="ADAL" clId="{37654780-E669-4FAE-97FB-353716EDB9E2}" dt="2025-06-10T19:56:42.936" v="3"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37654780-E669-4FAE-97FB-353716EDB9E2}" dt="2025-06-10T19:56:42.936" v="3" actId="47"/>
        <pc:sldMasterMkLst>
          <pc:docMk/>
          <pc:sldMasterMk cId="3563936643" sldId="2147483797"/>
        </pc:sldMasterMkLst>
        <pc:sldLayoutChg chg="del">
          <pc:chgData name="Taylor Davis" userId="5c9e72a0-c39f-4aa1-9d7d-64125e78cbe6" providerId="ADAL" clId="{37654780-E669-4FAE-97FB-353716EDB9E2}" dt="2025-06-10T19:56:42.936" v="3" actId="47"/>
          <pc:sldLayoutMkLst>
            <pc:docMk/>
            <pc:sldMasterMk cId="3563936643" sldId="2147483797"/>
            <pc:sldLayoutMk cId="2824293841" sldId="2147483798"/>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150421858" sldId="2147483799"/>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2298163207" sldId="2147483800"/>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1991304296" sldId="2147483801"/>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1121920882" sldId="2147483802"/>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2885874120" sldId="2147483803"/>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1906534417" sldId="2147483804"/>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491300616" sldId="2147483805"/>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2921565179" sldId="2147483806"/>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1159210513" sldId="2147483807"/>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1217176151" sldId="2147483808"/>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895843817" sldId="2147483809"/>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684719445" sldId="2147483810"/>
          </pc:sldLayoutMkLst>
        </pc:sldLayoutChg>
        <pc:sldLayoutChg chg="del">
          <pc:chgData name="Taylor Davis" userId="5c9e72a0-c39f-4aa1-9d7d-64125e78cbe6" providerId="ADAL" clId="{37654780-E669-4FAE-97FB-353716EDB9E2}" dt="2025-06-10T19:56:42.936" v="3" actId="47"/>
          <pc:sldLayoutMkLst>
            <pc:docMk/>
            <pc:sldMasterMk cId="3563936643" sldId="2147483797"/>
            <pc:sldLayoutMk cId="2530460957" sldId="2147483811"/>
          </pc:sldLayoutMkLst>
        </pc:sldLayoutChg>
      </pc:sldMasterChg>
    </pc:docChg>
  </pc:docChgLst>
  <pc:docChgLst>
    <pc:chgData name="Taylor Davis" userId="5c9e72a0-c39f-4aa1-9d7d-64125e78cbe6" providerId="ADAL" clId="{7D0B6B51-DA5F-4021-8848-39BD0005AA08}"/>
    <pc:docChg chg="undo custSel addSld delSld modSld">
      <pc:chgData name="Taylor Davis" userId="5c9e72a0-c39f-4aa1-9d7d-64125e78cbe6" providerId="ADAL" clId="{7D0B6B51-DA5F-4021-8848-39BD0005AA08}" dt="2025-10-03T19:59:11.763" v="829" actId="20577"/>
      <pc:docMkLst>
        <pc:docMk/>
      </pc:docMkLst>
      <pc:sldChg chg="del">
        <pc:chgData name="Taylor Davis" userId="5c9e72a0-c39f-4aa1-9d7d-64125e78cbe6" providerId="ADAL" clId="{7D0B6B51-DA5F-4021-8848-39BD0005AA08}" dt="2025-10-03T19:40:05.705" v="643" actId="47"/>
        <pc:sldMkLst>
          <pc:docMk/>
          <pc:sldMk cId="315794589" sldId="548"/>
        </pc:sldMkLst>
      </pc:sldChg>
      <pc:sldChg chg="addSp delSp modSp add mod">
        <pc:chgData name="Taylor Davis" userId="5c9e72a0-c39f-4aa1-9d7d-64125e78cbe6" providerId="ADAL" clId="{7D0B6B51-DA5F-4021-8848-39BD0005AA08}" dt="2025-10-03T19:59:11.763" v="829" actId="20577"/>
        <pc:sldMkLst>
          <pc:docMk/>
          <pc:sldMk cId="4091842096" sldId="2145726874"/>
        </pc:sldMkLst>
        <pc:spChg chg="del">
          <ac:chgData name="Taylor Davis" userId="5c9e72a0-c39f-4aa1-9d7d-64125e78cbe6" providerId="ADAL" clId="{7D0B6B51-DA5F-4021-8848-39BD0005AA08}" dt="2025-10-03T19:30:34.844" v="1" actId="478"/>
          <ac:spMkLst>
            <pc:docMk/>
            <pc:sldMk cId="4091842096" sldId="2145726874"/>
            <ac:spMk id="2" creationId="{EE9FA1F6-8D7B-D6FD-3D8F-9A7ADC963ECE}"/>
          </ac:spMkLst>
        </pc:spChg>
        <pc:spChg chg="del">
          <ac:chgData name="Taylor Davis" userId="5c9e72a0-c39f-4aa1-9d7d-64125e78cbe6" providerId="ADAL" clId="{7D0B6B51-DA5F-4021-8848-39BD0005AA08}" dt="2025-10-03T19:30:34.844" v="1" actId="478"/>
          <ac:spMkLst>
            <pc:docMk/>
            <pc:sldMk cId="4091842096" sldId="2145726874"/>
            <ac:spMk id="4" creationId="{8E7E04C6-EDDD-678D-1E39-FBF6FFA8064A}"/>
          </ac:spMkLst>
        </pc:spChg>
        <pc:spChg chg="del">
          <ac:chgData name="Taylor Davis" userId="5c9e72a0-c39f-4aa1-9d7d-64125e78cbe6" providerId="ADAL" clId="{7D0B6B51-DA5F-4021-8848-39BD0005AA08}" dt="2025-10-03T19:30:34.844" v="1" actId="478"/>
          <ac:spMkLst>
            <pc:docMk/>
            <pc:sldMk cId="4091842096" sldId="2145726874"/>
            <ac:spMk id="5" creationId="{9DB4B030-2389-B7B3-33E5-90D43E4E6D0C}"/>
          </ac:spMkLst>
        </pc:spChg>
        <pc:spChg chg="del">
          <ac:chgData name="Taylor Davis" userId="5c9e72a0-c39f-4aa1-9d7d-64125e78cbe6" providerId="ADAL" clId="{7D0B6B51-DA5F-4021-8848-39BD0005AA08}" dt="2025-10-03T19:30:34.844" v="1" actId="478"/>
          <ac:spMkLst>
            <pc:docMk/>
            <pc:sldMk cId="4091842096" sldId="2145726874"/>
            <ac:spMk id="7" creationId="{2F2B2DB3-0C67-A66A-69CC-2E43F5AABE62}"/>
          </ac:spMkLst>
        </pc:spChg>
        <pc:spChg chg="del">
          <ac:chgData name="Taylor Davis" userId="5c9e72a0-c39f-4aa1-9d7d-64125e78cbe6" providerId="ADAL" clId="{7D0B6B51-DA5F-4021-8848-39BD0005AA08}" dt="2025-10-03T19:30:34.844" v="1" actId="478"/>
          <ac:spMkLst>
            <pc:docMk/>
            <pc:sldMk cId="4091842096" sldId="2145726874"/>
            <ac:spMk id="9" creationId="{0B55E236-F90A-5DB0-1493-D81CFF74A9FF}"/>
          </ac:spMkLst>
        </pc:spChg>
        <pc:spChg chg="del">
          <ac:chgData name="Taylor Davis" userId="5c9e72a0-c39f-4aa1-9d7d-64125e78cbe6" providerId="ADAL" clId="{7D0B6B51-DA5F-4021-8848-39BD0005AA08}" dt="2025-10-03T19:30:34.844" v="1" actId="478"/>
          <ac:spMkLst>
            <pc:docMk/>
            <pc:sldMk cId="4091842096" sldId="2145726874"/>
            <ac:spMk id="11" creationId="{089D1AD1-8D24-7EEF-1D0A-A32E7D951BE6}"/>
          </ac:spMkLst>
        </pc:spChg>
        <pc:spChg chg="del">
          <ac:chgData name="Taylor Davis" userId="5c9e72a0-c39f-4aa1-9d7d-64125e78cbe6" providerId="ADAL" clId="{7D0B6B51-DA5F-4021-8848-39BD0005AA08}" dt="2025-10-03T19:30:34.844" v="1" actId="478"/>
          <ac:spMkLst>
            <pc:docMk/>
            <pc:sldMk cId="4091842096" sldId="2145726874"/>
            <ac:spMk id="13" creationId="{73FF7AEB-F67C-4709-93E7-4A895A61C77D}"/>
          </ac:spMkLst>
        </pc:spChg>
        <pc:spChg chg="del">
          <ac:chgData name="Taylor Davis" userId="5c9e72a0-c39f-4aa1-9d7d-64125e78cbe6" providerId="ADAL" clId="{7D0B6B51-DA5F-4021-8848-39BD0005AA08}" dt="2025-10-03T19:30:34.844" v="1" actId="478"/>
          <ac:spMkLst>
            <pc:docMk/>
            <pc:sldMk cId="4091842096" sldId="2145726874"/>
            <ac:spMk id="14" creationId="{A0C8A04D-5EF3-2AF2-5023-D859EC7DF945}"/>
          </ac:spMkLst>
        </pc:spChg>
        <pc:spChg chg="del">
          <ac:chgData name="Taylor Davis" userId="5c9e72a0-c39f-4aa1-9d7d-64125e78cbe6" providerId="ADAL" clId="{7D0B6B51-DA5F-4021-8848-39BD0005AA08}" dt="2025-10-03T19:30:34.844" v="1" actId="478"/>
          <ac:spMkLst>
            <pc:docMk/>
            <pc:sldMk cId="4091842096" sldId="2145726874"/>
            <ac:spMk id="17" creationId="{450710BD-D05A-7D86-F108-6E4738E1CB38}"/>
          </ac:spMkLst>
        </pc:spChg>
        <pc:spChg chg="del">
          <ac:chgData name="Taylor Davis" userId="5c9e72a0-c39f-4aa1-9d7d-64125e78cbe6" providerId="ADAL" clId="{7D0B6B51-DA5F-4021-8848-39BD0005AA08}" dt="2025-10-03T19:30:34.844" v="1" actId="478"/>
          <ac:spMkLst>
            <pc:docMk/>
            <pc:sldMk cId="4091842096" sldId="2145726874"/>
            <ac:spMk id="19" creationId="{3D703C80-636F-DC71-7BF2-14D8DA3BBAB3}"/>
          </ac:spMkLst>
        </pc:spChg>
        <pc:spChg chg="mod">
          <ac:chgData name="Taylor Davis" userId="5c9e72a0-c39f-4aa1-9d7d-64125e78cbe6" providerId="ADAL" clId="{7D0B6B51-DA5F-4021-8848-39BD0005AA08}" dt="2025-10-03T19:38:41.035" v="642" actId="403"/>
          <ac:spMkLst>
            <pc:docMk/>
            <pc:sldMk cId="4091842096" sldId="2145726874"/>
            <ac:spMk id="20" creationId="{60D701CE-F9EA-0233-D496-150FA8F1C3BF}"/>
          </ac:spMkLst>
        </pc:spChg>
        <pc:spChg chg="del">
          <ac:chgData name="Taylor Davis" userId="5c9e72a0-c39f-4aa1-9d7d-64125e78cbe6" providerId="ADAL" clId="{7D0B6B51-DA5F-4021-8848-39BD0005AA08}" dt="2025-10-03T19:30:36.667" v="2" actId="478"/>
          <ac:spMkLst>
            <pc:docMk/>
            <pc:sldMk cId="4091842096" sldId="2145726874"/>
            <ac:spMk id="25" creationId="{7D6F6E85-072E-9EF1-6446-FD573DC658C6}"/>
          </ac:spMkLst>
        </pc:spChg>
        <pc:spChg chg="add mod">
          <ac:chgData name="Taylor Davis" userId="5c9e72a0-c39f-4aa1-9d7d-64125e78cbe6" providerId="ADAL" clId="{7D0B6B51-DA5F-4021-8848-39BD0005AA08}" dt="2025-10-03T19:30:47.020" v="7" actId="403"/>
          <ac:spMkLst>
            <pc:docMk/>
            <pc:sldMk cId="4091842096" sldId="2145726874"/>
            <ac:spMk id="26" creationId="{D99CF07A-F4D4-027F-3A10-328B058384EF}"/>
          </ac:spMkLst>
        </pc:spChg>
        <pc:spChg chg="add mod">
          <ac:chgData name="Taylor Davis" userId="5c9e72a0-c39f-4aa1-9d7d-64125e78cbe6" providerId="ADAL" clId="{7D0B6B51-DA5F-4021-8848-39BD0005AA08}" dt="2025-10-03T19:31:02.490" v="11" actId="1076"/>
          <ac:spMkLst>
            <pc:docMk/>
            <pc:sldMk cId="4091842096" sldId="2145726874"/>
            <ac:spMk id="27" creationId="{FE82831D-84F7-F8FD-3E34-B1714E5AEF75}"/>
          </ac:spMkLst>
        </pc:spChg>
        <pc:spChg chg="add mod">
          <ac:chgData name="Taylor Davis" userId="5c9e72a0-c39f-4aa1-9d7d-64125e78cbe6" providerId="ADAL" clId="{7D0B6B51-DA5F-4021-8848-39BD0005AA08}" dt="2025-10-03T19:30:54.384" v="9" actId="1076"/>
          <ac:spMkLst>
            <pc:docMk/>
            <pc:sldMk cId="4091842096" sldId="2145726874"/>
            <ac:spMk id="28" creationId="{182C9CDF-8AE5-D0E9-0774-DCC9BCF36A9F}"/>
          </ac:spMkLst>
        </pc:spChg>
        <pc:spChg chg="add mod">
          <ac:chgData name="Taylor Davis" userId="5c9e72a0-c39f-4aa1-9d7d-64125e78cbe6" providerId="ADAL" clId="{7D0B6B51-DA5F-4021-8848-39BD0005AA08}" dt="2025-10-03T19:37:45.577" v="567" actId="1076"/>
          <ac:spMkLst>
            <pc:docMk/>
            <pc:sldMk cId="4091842096" sldId="2145726874"/>
            <ac:spMk id="31" creationId="{7EC0A745-5261-61C3-4876-5D1C12F67BD0}"/>
          </ac:spMkLst>
        </pc:spChg>
        <pc:spChg chg="add mod">
          <ac:chgData name="Taylor Davis" userId="5c9e72a0-c39f-4aa1-9d7d-64125e78cbe6" providerId="ADAL" clId="{7D0B6B51-DA5F-4021-8848-39BD0005AA08}" dt="2025-10-03T19:37:41.194" v="566" actId="1076"/>
          <ac:spMkLst>
            <pc:docMk/>
            <pc:sldMk cId="4091842096" sldId="2145726874"/>
            <ac:spMk id="32" creationId="{8EC0C52F-EAF6-5B63-9D7D-AE3C36E25C05}"/>
          </ac:spMkLst>
        </pc:spChg>
        <pc:graphicFrameChg chg="add mod modGraphic">
          <ac:chgData name="Taylor Davis" userId="5c9e72a0-c39f-4aa1-9d7d-64125e78cbe6" providerId="ADAL" clId="{7D0B6B51-DA5F-4021-8848-39BD0005AA08}" dt="2025-10-03T19:59:11.763" v="829" actId="20577"/>
          <ac:graphicFrameMkLst>
            <pc:docMk/>
            <pc:sldMk cId="4091842096" sldId="2145726874"/>
            <ac:graphicFrameMk id="29" creationId="{66B0CDF8-981F-FA82-3DE2-C0ABB8268E00}"/>
          </ac:graphicFrameMkLst>
        </pc:graphicFrameChg>
        <pc:graphicFrameChg chg="add mod modGraphic">
          <ac:chgData name="Taylor Davis" userId="5c9e72a0-c39f-4aa1-9d7d-64125e78cbe6" providerId="ADAL" clId="{7D0B6B51-DA5F-4021-8848-39BD0005AA08}" dt="2025-10-03T19:58:11.390" v="823" actId="20577"/>
          <ac:graphicFrameMkLst>
            <pc:docMk/>
            <pc:sldMk cId="4091842096" sldId="2145726874"/>
            <ac:graphicFrameMk id="30" creationId="{499268BA-5F01-8FC6-1960-1E7E66DE13D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10/3/2025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11</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BE0DC-AF5A-B3B1-CBBE-8590B33F7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13326-AA51-F1FE-04A1-0818C2F63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8C230-6267-4E58-3E0A-103EF3AAB5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a:extLst>
              <a:ext uri="{FF2B5EF4-FFF2-40B4-BE49-F238E27FC236}">
                <a16:creationId xmlns:a16="http://schemas.microsoft.com/office/drawing/2014/main" id="{E4F61911-F4C3-9633-AB8E-2C6DB47988E9}"/>
              </a:ext>
            </a:extLst>
          </p:cNvPr>
          <p:cNvSpPr>
            <a:spLocks noGrp="1"/>
          </p:cNvSpPr>
          <p:nvPr>
            <p:ph type="sldNum" sz="quarter" idx="5"/>
          </p:nvPr>
        </p:nvSpPr>
        <p:spPr/>
        <p:txBody>
          <a:bodyPr/>
          <a:lstStyle/>
          <a:p>
            <a:fld id="{4139CA89-B4B2-4050-B038-8DF8E3A33516}" type="slidenum">
              <a:rPr lang="en-US" smtClean="0"/>
              <a:t>12</a:t>
            </a:fld>
            <a:endParaRPr lang="en-US" dirty="0"/>
          </a:p>
        </p:txBody>
      </p:sp>
    </p:spTree>
    <p:extLst>
      <p:ext uri="{BB962C8B-B14F-4D97-AF65-F5344CB8AC3E}">
        <p14:creationId xmlns:p14="http://schemas.microsoft.com/office/powerpoint/2010/main" val="626269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10/3/2025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10/3/2025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10/3/2025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10/3/2025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10/3/2025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10/3/2025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10/3/2025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10/3/2025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10/3/2025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10/3/2025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10/3/2025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10/3/2025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10/3/2025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10/3/2025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10/3/2025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10/3/2025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10/3/2025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10/3/2025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10/3/2025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10/3/2025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27.svg"/><Relationship Id="rId11" Type="http://schemas.openxmlformats.org/officeDocument/2006/relationships/image" Target="../media/image10.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Trinity Health M</a:t>
            </a:r>
            <a:r>
              <a:rPr lang="en-US" sz="1750" kern="0" spc="53" dirty="0" err="1">
                <a:solidFill>
                  <a:srgbClr val="FFFFFF">
                    <a:alpha val="80000"/>
                  </a:srgbClr>
                </a:solidFill>
                <a:latin typeface="Montserrat"/>
                <a:ea typeface="Jost*"/>
                <a:cs typeface="Jost*" pitchFamily="34" charset="-120"/>
              </a:rPr>
              <a:t>ichigan</a:t>
            </a: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9646920" y="347472"/>
            <a:ext cx="1231484"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MODELING TRINITY HEALTH (MI)</a:t>
            </a:r>
            <a:br>
              <a:rPr lang="en-US" sz="3200" b="0" dirty="0">
                <a:solidFill>
                  <a:schemeClr val="tx1">
                    <a:lumMod val="75000"/>
                    <a:lumOff val="25000"/>
                  </a:schemeClr>
                </a:solidFill>
              </a:rPr>
            </a:br>
            <a:r>
              <a:rPr lang="en-US" sz="3200" b="0" dirty="0">
                <a:solidFill>
                  <a:schemeClr val="tx1">
                    <a:lumMod val="75000"/>
                    <a:lumOff val="25000"/>
                  </a:schemeClr>
                </a:solidFill>
              </a:rPr>
              <a:t>GO-TO-MARKET OPPORTUNITY</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797689"/>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MODELING DEMAND</a:t>
            </a:r>
          </a:p>
          <a:p>
            <a:pPr algn="ctr" defTabSz="914411">
              <a:lnSpc>
                <a:spcPct val="90000"/>
              </a:lnSpc>
              <a:spcAft>
                <a:spcPts val="1200"/>
              </a:spcAft>
              <a:buClr>
                <a:schemeClr val="tx1"/>
              </a:buClr>
            </a:pPr>
            <a:r>
              <a:rPr lang="en-US" sz="1600" dirty="0">
                <a:solidFill/>
                <a:latin typeface="Montserrat" panose="00000500000000000000" pitchFamily="2" charset="0"/>
              </a:rPr>
              <a:t>With over 10 years of experience, KBA has learned to accurately forecast plan growth, as a function of brand quality. </a:t>
            </a:r>
          </a:p>
          <a:p>
            <a:pPr algn="ctr" defTabSz="914411">
              <a:lnSpc>
                <a:spcPct val="90000"/>
              </a:lnSpc>
              <a:spcAft>
                <a:spcPts val="1200"/>
              </a:spcAft>
              <a:buClr>
                <a:schemeClr val="tx1"/>
              </a:buClr>
            </a:pPr>
            <a:r>
              <a:rPr lang="en-US" sz="1600" dirty="0">
                <a:solidFill/>
                <a:latin typeface="Montserrat" panose="00000500000000000000" pitchFamily="2" charset="0"/>
              </a:rPr>
              <a:t>HCAHPS recommendation rates and competitive landscape are highly predictive of possible demand. </a:t>
            </a:r>
          </a:p>
          <a:p>
            <a:pPr algn="ctr" defTabSz="914411">
              <a:lnSpc>
                <a:spcPct val="90000"/>
              </a:lnSpc>
              <a:spcAft>
                <a:spcPts val="1200"/>
              </a:spcAft>
              <a:buClr>
                <a:schemeClr val="tx1"/>
              </a:buClr>
            </a:pPr>
            <a:r>
              <a:rPr lang="en-US" sz="1600" dirty="0">
                <a:solidFill/>
                <a:latin typeface="Montserrat" panose="00000500000000000000" pitchFamily="2" charset="0"/>
              </a:rPr>
              <a:t>Trinity Health hospitals in MI have high variation in patient recommendation rates. Accordingly, some regions are far more likely to see growth.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22006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MODELING PROFITABILITY</a:t>
            </a:r>
          </a:p>
          <a:p>
            <a:pPr algn="ctr" defTabSz="914411">
              <a:lnSpc>
                <a:spcPct val="90000"/>
              </a:lnSpc>
              <a:spcAft>
                <a:spcPts val="1200"/>
              </a:spcAft>
              <a:buClr>
                <a:schemeClr val="tx1"/>
              </a:buClr>
            </a:pPr>
            <a:r>
              <a:rPr lang="en-US" sz="1600" dirty="0">
                <a:latin typeface="Montserrat" panose="00000500000000000000" pitchFamily="2" charset="0"/>
              </a:rPr>
              <a:t>KBA models increased revenue coming from increased patient steerage.</a:t>
            </a:r>
          </a:p>
          <a:p>
            <a:pPr algn="ctr" defTabSz="914411">
              <a:lnSpc>
                <a:spcPct val="90000"/>
              </a:lnSpc>
              <a:spcAft>
                <a:spcPts val="1200"/>
              </a:spcAft>
              <a:buClr>
                <a:schemeClr val="tx1"/>
              </a:buClr>
            </a:pPr>
            <a:r>
              <a:rPr lang="en-US" sz="1600" dirty="0">
                <a:latin typeface="Montserrat" panose="00000500000000000000" pitchFamily="2" charset="0"/>
              </a:rPr>
              <a:t>To convert revenue growth to profit, KBA estimates high, medium and low estimates for net income based on (1) estimates of commercial margin and (2) the within-DTE-network steerage rate. </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A747CF-DF6E-288D-8ADC-56A3E4900721}"/>
              </a:ext>
            </a:extLst>
          </p:cNvPr>
          <p:cNvPicPr>
            <a:picLocks noChangeAspect="1"/>
          </p:cNvPicPr>
          <p:nvPr/>
        </p:nvPicPr>
        <p:blipFill>
          <a:blip r:embed="rId2"/>
          <a:stretch>
            <a:fillRect/>
          </a:stretch>
        </p:blipFill>
        <p:spPr>
          <a:xfrm>
            <a:off x="215573" y="1801102"/>
            <a:ext cx="7669885" cy="4122851"/>
          </a:xfrm>
          <a:prstGeom prst="rect">
            <a:avLst/>
          </a:prstGeom>
        </p:spPr>
      </p:pic>
      <p:sp>
        <p:nvSpPr>
          <p:cNvPr id="6" name="TextBox 5">
            <a:extLst>
              <a:ext uri="{FF2B5EF4-FFF2-40B4-BE49-F238E27FC236}">
                <a16:creationId xmlns:a16="http://schemas.microsoft.com/office/drawing/2014/main" id="{8DC732EB-00A6-E3E3-9117-C8DE72EABA07}"/>
              </a:ext>
            </a:extLst>
          </p:cNvPr>
          <p:cNvSpPr txBox="1"/>
          <p:nvPr/>
        </p:nvSpPr>
        <p:spPr>
          <a:xfrm>
            <a:off x="1837107" y="2192165"/>
            <a:ext cx="981359" cy="307777"/>
          </a:xfrm>
          <a:prstGeom prst="rect">
            <a:avLst/>
          </a:prstGeom>
          <a:solidFill>
            <a:schemeClr val="accent6">
              <a:lumMod val="40000"/>
              <a:lumOff val="60000"/>
            </a:schemeClr>
          </a:solidFill>
        </p:spPr>
        <p:txBody>
          <a:bodyPr wrap="none" rtlCol="0">
            <a:spAutoFit/>
          </a:bodyPr>
          <a:lstStyle/>
          <a:p>
            <a:r>
              <a:rPr lang="en-US" sz="1400" dirty="0"/>
              <a:t>Shelby 78</a:t>
            </a:r>
          </a:p>
        </p:txBody>
      </p:sp>
      <p:sp>
        <p:nvSpPr>
          <p:cNvPr id="7" name="TextBox 6">
            <a:extLst>
              <a:ext uri="{FF2B5EF4-FFF2-40B4-BE49-F238E27FC236}">
                <a16:creationId xmlns:a16="http://schemas.microsoft.com/office/drawing/2014/main" id="{75F224E5-B677-92A3-9067-332F327DD67E}"/>
              </a:ext>
            </a:extLst>
          </p:cNvPr>
          <p:cNvSpPr txBox="1"/>
          <p:nvPr/>
        </p:nvSpPr>
        <p:spPr>
          <a:xfrm>
            <a:off x="3237890" y="4407479"/>
            <a:ext cx="1090363" cy="307777"/>
          </a:xfrm>
          <a:prstGeom prst="rect">
            <a:avLst/>
          </a:prstGeom>
          <a:solidFill>
            <a:schemeClr val="accent6">
              <a:lumMod val="40000"/>
              <a:lumOff val="60000"/>
            </a:schemeClr>
          </a:solidFill>
        </p:spPr>
        <p:txBody>
          <a:bodyPr wrap="none" rtlCol="0">
            <a:spAutoFit/>
          </a:bodyPr>
          <a:lstStyle/>
          <a:p>
            <a:r>
              <a:rPr lang="en-US" sz="1400" dirty="0"/>
              <a:t>Chelsea 93</a:t>
            </a:r>
          </a:p>
        </p:txBody>
      </p:sp>
      <p:sp>
        <p:nvSpPr>
          <p:cNvPr id="8" name="TextBox 7">
            <a:extLst>
              <a:ext uri="{FF2B5EF4-FFF2-40B4-BE49-F238E27FC236}">
                <a16:creationId xmlns:a16="http://schemas.microsoft.com/office/drawing/2014/main" id="{DC0D3803-64B0-E314-1F30-A53275BB58DE}"/>
              </a:ext>
            </a:extLst>
          </p:cNvPr>
          <p:cNvSpPr txBox="1"/>
          <p:nvPr/>
        </p:nvSpPr>
        <p:spPr>
          <a:xfrm>
            <a:off x="2469090" y="3058435"/>
            <a:ext cx="1537600" cy="307777"/>
          </a:xfrm>
          <a:prstGeom prst="rect">
            <a:avLst/>
          </a:prstGeom>
          <a:solidFill>
            <a:schemeClr val="accent6">
              <a:lumMod val="40000"/>
              <a:lumOff val="60000"/>
            </a:schemeClr>
          </a:solidFill>
        </p:spPr>
        <p:txBody>
          <a:bodyPr wrap="none" rtlCol="0">
            <a:spAutoFit/>
          </a:bodyPr>
          <a:lstStyle/>
          <a:p>
            <a:r>
              <a:rPr lang="en-US" sz="1400" dirty="0"/>
              <a:t>Grand Rapids 78</a:t>
            </a:r>
          </a:p>
        </p:txBody>
      </p:sp>
      <p:sp>
        <p:nvSpPr>
          <p:cNvPr id="9" name="TextBox 8">
            <a:extLst>
              <a:ext uri="{FF2B5EF4-FFF2-40B4-BE49-F238E27FC236}">
                <a16:creationId xmlns:a16="http://schemas.microsoft.com/office/drawing/2014/main" id="{50B92A05-C65A-29F8-1C19-F5750244AB46}"/>
              </a:ext>
            </a:extLst>
          </p:cNvPr>
          <p:cNvSpPr txBox="1"/>
          <p:nvPr/>
        </p:nvSpPr>
        <p:spPr>
          <a:xfrm>
            <a:off x="3854642" y="4931322"/>
            <a:ext cx="1229567" cy="307777"/>
          </a:xfrm>
          <a:prstGeom prst="rect">
            <a:avLst/>
          </a:prstGeom>
          <a:solidFill>
            <a:schemeClr val="accent6">
              <a:lumMod val="40000"/>
              <a:lumOff val="60000"/>
            </a:schemeClr>
          </a:solidFill>
        </p:spPr>
        <p:txBody>
          <a:bodyPr wrap="none" rtlCol="0">
            <a:spAutoFit/>
          </a:bodyPr>
          <a:lstStyle/>
          <a:p>
            <a:r>
              <a:rPr lang="en-US" sz="1400" dirty="0"/>
              <a:t>Ann Arbor 78</a:t>
            </a:r>
          </a:p>
        </p:txBody>
      </p:sp>
      <p:sp>
        <p:nvSpPr>
          <p:cNvPr id="10" name="TextBox 9">
            <a:extLst>
              <a:ext uri="{FF2B5EF4-FFF2-40B4-BE49-F238E27FC236}">
                <a16:creationId xmlns:a16="http://schemas.microsoft.com/office/drawing/2014/main" id="{4A63AA27-CD03-81CE-FB6A-A512CC931C43}"/>
              </a:ext>
            </a:extLst>
          </p:cNvPr>
          <p:cNvSpPr txBox="1"/>
          <p:nvPr/>
        </p:nvSpPr>
        <p:spPr>
          <a:xfrm>
            <a:off x="3623186" y="3649242"/>
            <a:ext cx="1239442" cy="307777"/>
          </a:xfrm>
          <a:prstGeom prst="rect">
            <a:avLst/>
          </a:prstGeom>
          <a:solidFill>
            <a:schemeClr val="accent1">
              <a:lumMod val="40000"/>
              <a:lumOff val="60000"/>
            </a:schemeClr>
          </a:solidFill>
        </p:spPr>
        <p:txBody>
          <a:bodyPr wrap="none" rtlCol="0">
            <a:spAutoFit/>
          </a:bodyPr>
          <a:lstStyle/>
          <a:p>
            <a:r>
              <a:rPr lang="en-US" sz="1400" dirty="0"/>
              <a:t>Livingston 61</a:t>
            </a:r>
          </a:p>
        </p:txBody>
      </p:sp>
      <p:sp>
        <p:nvSpPr>
          <p:cNvPr id="11" name="TextBox 10">
            <a:extLst>
              <a:ext uri="{FF2B5EF4-FFF2-40B4-BE49-F238E27FC236}">
                <a16:creationId xmlns:a16="http://schemas.microsoft.com/office/drawing/2014/main" id="{79A0534B-3E62-F314-5A87-E52BD7A9AE26}"/>
              </a:ext>
            </a:extLst>
          </p:cNvPr>
          <p:cNvSpPr txBox="1"/>
          <p:nvPr/>
        </p:nvSpPr>
        <p:spPr>
          <a:xfrm>
            <a:off x="5606558" y="4407479"/>
            <a:ext cx="1000595" cy="307777"/>
          </a:xfrm>
          <a:prstGeom prst="rect">
            <a:avLst/>
          </a:prstGeom>
          <a:solidFill>
            <a:schemeClr val="accent2">
              <a:lumMod val="20000"/>
              <a:lumOff val="80000"/>
            </a:schemeClr>
          </a:solidFill>
        </p:spPr>
        <p:txBody>
          <a:bodyPr wrap="none" rtlCol="0">
            <a:spAutoFit/>
          </a:bodyPr>
          <a:lstStyle/>
          <a:p>
            <a:r>
              <a:rPr lang="en-US" sz="1400" dirty="0"/>
              <a:t>Livonia 33</a:t>
            </a:r>
          </a:p>
        </p:txBody>
      </p:sp>
      <p:sp>
        <p:nvSpPr>
          <p:cNvPr id="12" name="TextBox 11">
            <a:extLst>
              <a:ext uri="{FF2B5EF4-FFF2-40B4-BE49-F238E27FC236}">
                <a16:creationId xmlns:a16="http://schemas.microsoft.com/office/drawing/2014/main" id="{541A39AF-FE71-CFCB-5154-A914ACFE0657}"/>
              </a:ext>
            </a:extLst>
          </p:cNvPr>
          <p:cNvSpPr txBox="1"/>
          <p:nvPr/>
        </p:nvSpPr>
        <p:spPr>
          <a:xfrm>
            <a:off x="5741808" y="3791786"/>
            <a:ext cx="1099981" cy="307777"/>
          </a:xfrm>
          <a:prstGeom prst="rect">
            <a:avLst/>
          </a:prstGeom>
          <a:solidFill>
            <a:schemeClr val="accent2">
              <a:lumMod val="20000"/>
              <a:lumOff val="80000"/>
            </a:schemeClr>
          </a:solidFill>
        </p:spPr>
        <p:txBody>
          <a:bodyPr wrap="none" rtlCol="0">
            <a:spAutoFit/>
          </a:bodyPr>
          <a:lstStyle/>
          <a:p>
            <a:r>
              <a:rPr lang="en-US" sz="1400" dirty="0"/>
              <a:t>Oakland 26</a:t>
            </a:r>
          </a:p>
        </p:txBody>
      </p:sp>
      <p:sp>
        <p:nvSpPr>
          <p:cNvPr id="13" name="TextBox 12">
            <a:extLst>
              <a:ext uri="{FF2B5EF4-FFF2-40B4-BE49-F238E27FC236}">
                <a16:creationId xmlns:a16="http://schemas.microsoft.com/office/drawing/2014/main" id="{0E761DE8-74EE-0111-0876-147158668087}"/>
              </a:ext>
            </a:extLst>
          </p:cNvPr>
          <p:cNvSpPr txBox="1"/>
          <p:nvPr/>
        </p:nvSpPr>
        <p:spPr>
          <a:xfrm>
            <a:off x="237170" y="3554750"/>
            <a:ext cx="1497526" cy="307777"/>
          </a:xfrm>
          <a:prstGeom prst="rect">
            <a:avLst/>
          </a:prstGeom>
          <a:solidFill>
            <a:schemeClr val="accent2">
              <a:lumMod val="20000"/>
              <a:lumOff val="80000"/>
            </a:schemeClr>
          </a:solidFill>
        </p:spPr>
        <p:txBody>
          <a:bodyPr wrap="none" rtlCol="0">
            <a:spAutoFit/>
          </a:bodyPr>
          <a:lstStyle/>
          <a:p>
            <a:r>
              <a:rPr lang="en-US" sz="1400" dirty="0"/>
              <a:t>Grand Haven 36</a:t>
            </a:r>
          </a:p>
        </p:txBody>
      </p:sp>
      <p:sp>
        <p:nvSpPr>
          <p:cNvPr id="14" name="TextBox 13">
            <a:extLst>
              <a:ext uri="{FF2B5EF4-FFF2-40B4-BE49-F238E27FC236}">
                <a16:creationId xmlns:a16="http://schemas.microsoft.com/office/drawing/2014/main" id="{2EE52D6D-D965-EF86-D47D-E65787117D15}"/>
              </a:ext>
            </a:extLst>
          </p:cNvPr>
          <p:cNvSpPr txBox="1"/>
          <p:nvPr/>
        </p:nvSpPr>
        <p:spPr>
          <a:xfrm>
            <a:off x="415404" y="2758632"/>
            <a:ext cx="1258678" cy="307777"/>
          </a:xfrm>
          <a:prstGeom prst="rect">
            <a:avLst/>
          </a:prstGeom>
          <a:solidFill>
            <a:schemeClr val="accent2">
              <a:lumMod val="20000"/>
              <a:lumOff val="80000"/>
            </a:schemeClr>
          </a:solidFill>
        </p:spPr>
        <p:txBody>
          <a:bodyPr wrap="none" rtlCol="0">
            <a:spAutoFit/>
          </a:bodyPr>
          <a:lstStyle/>
          <a:p>
            <a:r>
              <a:rPr lang="en-US" sz="1400" dirty="0"/>
              <a:t>Muskegon 24</a:t>
            </a:r>
          </a:p>
        </p:txBody>
      </p:sp>
      <p:pic>
        <p:nvPicPr>
          <p:cNvPr id="15" name="Picture 13">
            <a:extLst>
              <a:ext uri="{FF2B5EF4-FFF2-40B4-BE49-F238E27FC236}">
                <a16:creationId xmlns:a16="http://schemas.microsoft.com/office/drawing/2014/main" id="{39EC836B-B278-F669-0B22-91DD48B0234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6" name="Freeform 13">
            <a:extLst>
              <a:ext uri="{FF2B5EF4-FFF2-40B4-BE49-F238E27FC236}">
                <a16:creationId xmlns:a16="http://schemas.microsoft.com/office/drawing/2014/main" id="{5501921F-6E5E-6EDE-C397-9306C1C62B09}"/>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7" name="Title 1">
            <a:extLst>
              <a:ext uri="{FF2B5EF4-FFF2-40B4-BE49-F238E27FC236}">
                <a16:creationId xmlns:a16="http://schemas.microsoft.com/office/drawing/2014/main" id="{B204973A-F2FC-8ABC-5333-B26588644619}"/>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2800" b="0" dirty="0">
                <a:solidFill>
                  <a:srgbClr val="000B2E"/>
                </a:solidFill>
              </a:rPr>
              <a:t>VARIATION IN PATIENT HCAHPS RECOMMENDATIONS</a:t>
            </a:r>
            <a:br>
              <a:rPr lang="en-US" sz="2800" dirty="0">
                <a:solidFill>
                  <a:srgbClr val="000B2E"/>
                </a:solidFill>
              </a:rPr>
            </a:br>
            <a:r>
              <a:rPr lang="en-US" sz="1800" b="0" dirty="0">
                <a:solidFill>
                  <a:srgbClr val="000B2E"/>
                </a:solidFill>
              </a:rPr>
              <a:t>National HCAHPS Patient Recommendation Percentile by Hospital</a:t>
            </a:r>
            <a:endParaRPr lang="en-US" sz="1200" b="0" dirty="0">
              <a:solidFill>
                <a:schemeClr val="tx1">
                  <a:lumMod val="75000"/>
                  <a:lumOff val="25000"/>
                </a:schemeClr>
              </a:solidFill>
            </a:endParaRPr>
          </a:p>
        </p:txBody>
      </p:sp>
      <p:sp>
        <p:nvSpPr>
          <p:cNvPr id="18" name="Rectangle 6">
            <a:extLst>
              <a:ext uri="{FF2B5EF4-FFF2-40B4-BE49-F238E27FC236}">
                <a16:creationId xmlns:a16="http://schemas.microsoft.com/office/drawing/2014/main" id="{12E3323A-280A-5E02-441F-4CE5CE92D52F}"/>
              </a:ext>
            </a:extLst>
          </p:cNvPr>
          <p:cNvSpPr/>
          <p:nvPr/>
        </p:nvSpPr>
        <p:spPr>
          <a:xfrm>
            <a:off x="8095011" y="2844085"/>
            <a:ext cx="3681585" cy="1381917"/>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KEY FINDING</a:t>
            </a:r>
          </a:p>
          <a:p>
            <a:pPr algn="ctr" defTabSz="914411">
              <a:lnSpc>
                <a:spcPct val="90000"/>
              </a:lnSpc>
              <a:spcAft>
                <a:spcPts val="1200"/>
              </a:spcAft>
              <a:buClr>
                <a:schemeClr val="tx1"/>
              </a:buClr>
            </a:pPr>
            <a:r>
              <a:rPr lang="en-US" sz="1600" dirty="0">
                <a:latin typeface="Montserrat" panose="00000500000000000000" pitchFamily="2" charset="0"/>
              </a:rPr>
              <a:t>KBA models that Ann Arbor and Grand Rapids would fuel growth for a Michigan-wide Trinity Health DTE plan.  </a:t>
            </a:r>
          </a:p>
        </p:txBody>
      </p:sp>
    </p:spTree>
    <p:extLst>
      <p:ext uri="{BB962C8B-B14F-4D97-AF65-F5344CB8AC3E}">
        <p14:creationId xmlns:p14="http://schemas.microsoft.com/office/powerpoint/2010/main" val="2777534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0D16-678E-07E3-94CE-599236E96F91}"/>
            </a:ext>
          </a:extLst>
        </p:cNvPr>
        <p:cNvGrpSpPr/>
        <p:nvPr/>
      </p:nvGrpSpPr>
      <p:grpSpPr>
        <a:xfrm>
          <a:off x="0" y="0"/>
          <a:ext cx="0" cy="0"/>
          <a:chOff x="0" y="0"/>
          <a:chExt cx="0" cy="0"/>
        </a:xfrm>
      </p:grpSpPr>
      <p:pic>
        <p:nvPicPr>
          <p:cNvPr id="15" name="Picture 13">
            <a:extLst>
              <a:ext uri="{FF2B5EF4-FFF2-40B4-BE49-F238E27FC236}">
                <a16:creationId xmlns:a16="http://schemas.microsoft.com/office/drawing/2014/main" id="{E65E50DB-ED4C-F129-CC92-B3735964D418}"/>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6" name="Freeform 13">
            <a:extLst>
              <a:ext uri="{FF2B5EF4-FFF2-40B4-BE49-F238E27FC236}">
                <a16:creationId xmlns:a16="http://schemas.microsoft.com/office/drawing/2014/main" id="{273A0E08-165A-8CB9-AB69-FEE1ECDE21B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7" name="Title 1">
            <a:extLst>
              <a:ext uri="{FF2B5EF4-FFF2-40B4-BE49-F238E27FC236}">
                <a16:creationId xmlns:a16="http://schemas.microsoft.com/office/drawing/2014/main" id="{4B22C392-D873-3270-394F-F594E23880A0}"/>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2800" b="0" dirty="0">
                <a:solidFill>
                  <a:srgbClr val="000B2E"/>
                </a:solidFill>
              </a:rPr>
              <a:t>DETROIT/ANN ARBOR COMPETITIVE LANDSCAPE</a:t>
            </a:r>
            <a:br>
              <a:rPr lang="en-US" sz="2800" dirty="0">
                <a:solidFill>
                  <a:srgbClr val="000B2E"/>
                </a:solidFill>
              </a:rPr>
            </a:br>
            <a:endParaRPr lang="en-US" sz="1200" b="0" dirty="0">
              <a:solidFill>
                <a:schemeClr val="tx1">
                  <a:lumMod val="75000"/>
                  <a:lumOff val="25000"/>
                </a:schemeClr>
              </a:solidFill>
            </a:endParaRPr>
          </a:p>
        </p:txBody>
      </p:sp>
      <p:pic>
        <p:nvPicPr>
          <p:cNvPr id="2" name="Content Placeholder 8">
            <a:extLst>
              <a:ext uri="{FF2B5EF4-FFF2-40B4-BE49-F238E27FC236}">
                <a16:creationId xmlns:a16="http://schemas.microsoft.com/office/drawing/2014/main" id="{A21D941C-6B01-5953-D8D8-82C8DA769406}"/>
              </a:ext>
            </a:extLst>
          </p:cNvPr>
          <p:cNvPicPr>
            <a:picLocks noChangeAspect="1"/>
          </p:cNvPicPr>
          <p:nvPr/>
        </p:nvPicPr>
        <p:blipFill>
          <a:blip r:embed="rId3" cstate="print"/>
          <a:stretch>
            <a:fillRect/>
          </a:stretch>
        </p:blipFill>
        <p:spPr>
          <a:xfrm>
            <a:off x="-337583" y="1231900"/>
            <a:ext cx="6096000" cy="4876800"/>
          </a:xfrm>
          <a:prstGeom prst="rect">
            <a:avLst/>
          </a:prstGeom>
        </p:spPr>
      </p:pic>
      <p:pic>
        <p:nvPicPr>
          <p:cNvPr id="3" name="Content Placeholder 8">
            <a:extLst>
              <a:ext uri="{FF2B5EF4-FFF2-40B4-BE49-F238E27FC236}">
                <a16:creationId xmlns:a16="http://schemas.microsoft.com/office/drawing/2014/main" id="{87F1A695-FECA-276A-00CE-94A834A9E638}"/>
              </a:ext>
            </a:extLst>
          </p:cNvPr>
          <p:cNvPicPr>
            <a:picLocks noChangeAspect="1"/>
          </p:cNvPicPr>
          <p:nvPr/>
        </p:nvPicPr>
        <p:blipFill>
          <a:blip r:embed="rId4" cstate="print">
            <a:clrChange>
              <a:clrFrom>
                <a:srgbClr val="FFFFFF"/>
              </a:clrFrom>
              <a:clrTo>
                <a:srgbClr val="FFFFFF">
                  <a:alpha val="0"/>
                </a:srgbClr>
              </a:clrTo>
            </a:clrChange>
            <a:duotone>
              <a:prstClr val="black"/>
              <a:srgbClr val="D9C3A5">
                <a:tint val="50000"/>
                <a:satMod val="180000"/>
              </a:srgbClr>
            </a:duotone>
          </a:blip>
          <a:stretch>
            <a:fillRect/>
          </a:stretch>
        </p:blipFill>
        <p:spPr>
          <a:xfrm>
            <a:off x="415404" y="1038049"/>
            <a:ext cx="5071692" cy="4057354"/>
          </a:xfrm>
          <a:prstGeom prst="rect">
            <a:avLst/>
          </a:prstGeom>
        </p:spPr>
      </p:pic>
      <p:graphicFrame>
        <p:nvGraphicFramePr>
          <p:cNvPr id="4" name="Table 3">
            <a:extLst>
              <a:ext uri="{FF2B5EF4-FFF2-40B4-BE49-F238E27FC236}">
                <a16:creationId xmlns:a16="http://schemas.microsoft.com/office/drawing/2014/main" id="{4314A8F6-3A31-F9E1-49DE-2EDE60100656}"/>
              </a:ext>
            </a:extLst>
          </p:cNvPr>
          <p:cNvGraphicFramePr>
            <a:graphicFrameLocks noGrp="1"/>
          </p:cNvGraphicFramePr>
          <p:nvPr>
            <p:extLst>
              <p:ext uri="{D42A27DB-BD31-4B8C-83A1-F6EECF244321}">
                <p14:modId xmlns:p14="http://schemas.microsoft.com/office/powerpoint/2010/main" val="2509124835"/>
              </p:ext>
            </p:extLst>
          </p:nvPr>
        </p:nvGraphicFramePr>
        <p:xfrm>
          <a:off x="5680597" y="1231900"/>
          <a:ext cx="6095999" cy="5353346"/>
        </p:xfrm>
        <a:graphic>
          <a:graphicData uri="http://schemas.openxmlformats.org/drawingml/2006/table">
            <a:tbl>
              <a:tblPr/>
              <a:tblGrid>
                <a:gridCol w="2902132">
                  <a:extLst>
                    <a:ext uri="{9D8B030D-6E8A-4147-A177-3AD203B41FA5}">
                      <a16:colId xmlns:a16="http://schemas.microsoft.com/office/drawing/2014/main" val="20000"/>
                    </a:ext>
                  </a:extLst>
                </a:gridCol>
                <a:gridCol w="1764051">
                  <a:extLst>
                    <a:ext uri="{9D8B030D-6E8A-4147-A177-3AD203B41FA5}">
                      <a16:colId xmlns:a16="http://schemas.microsoft.com/office/drawing/2014/main" val="20001"/>
                    </a:ext>
                  </a:extLst>
                </a:gridCol>
                <a:gridCol w="1429816">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HCAHPS</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Recommendation</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KBA Brand</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Montserrat"/>
                          <a:cs typeface="Arial"/>
                          <a:sym typeface="Arial"/>
                        </a:rPr>
                        <a:t>University of Michigan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89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6583B4">
                        <a:alpha val="100000"/>
                      </a:srgbClr>
                    </a:solidFill>
                  </a:tcPr>
                </a:tc>
                <a:extLst>
                  <a:ext uri="{0D108BD9-81ED-4DB2-BD59-A6C34878D82A}">
                    <a16:rowId xmlns:a16="http://schemas.microsoft.com/office/drawing/2014/main" val="10001"/>
                  </a:ext>
                </a:extLst>
              </a:tr>
              <a:tr h="390241">
                <a:tc>
                  <a:txBody>
                    <a:bodyPr/>
                    <a:lstStyle/>
                    <a:p>
                      <a:pPr marL="63500" marR="63500" algn="l">
                        <a:lnSpc>
                          <a:spcPct val="100000"/>
                        </a:lnSpc>
                        <a:spcBef>
                          <a:spcPts val="500"/>
                        </a:spcBef>
                        <a:spcAft>
                          <a:spcPts val="500"/>
                        </a:spcAft>
                        <a:buNone/>
                      </a:pPr>
                      <a:r>
                        <a:rPr lang="en-US" sz="1100" b="1" i="0" u="none" cap="none" dirty="0">
                          <a:solidFill>
                            <a:srgbClr val="2D7B93"/>
                          </a:solidFill>
                          <a:latin typeface="Montserrat"/>
                          <a:cs typeface="Arial"/>
                          <a:sym typeface="Arial"/>
                        </a:rPr>
                        <a:t>Trinity Health (Ann Arbor and Chelsea)</a:t>
                      </a:r>
                      <a:endParaRPr sz="1100" b="1" i="0" u="none" cap="none" dirty="0">
                        <a:solidFill>
                          <a:srgbClr val="2D7B93"/>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lang="en-US" sz="1100" b="1" i="0" u="none" cap="none" dirty="0">
                          <a:solidFill>
                            <a:srgbClr val="FFFFFF">
                              <a:alpha val="100000"/>
                            </a:srgbClr>
                          </a:solidFill>
                          <a:latin typeface="Montserrat"/>
                          <a:cs typeface="Arial"/>
                          <a:sym typeface="Arial"/>
                        </a:rPr>
                        <a:t>85</a:t>
                      </a:r>
                      <a:endParaRPr sz="1100" b="1" i="0" u="none" cap="none" dirty="0">
                        <a:solidFill>
                          <a:srgbClr val="FFFFFF">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466AA5"/>
                    </a:solidFill>
                  </a:tcPr>
                </a:tc>
                <a:tc>
                  <a:txBody>
                    <a:bodyPr/>
                    <a:lstStyle/>
                    <a:p>
                      <a:pPr marL="63500" marR="63500" algn="ctr">
                        <a:lnSpc>
                          <a:spcPct val="100000"/>
                        </a:lnSpc>
                        <a:spcBef>
                          <a:spcPts val="500"/>
                        </a:spcBef>
                        <a:spcAft>
                          <a:spcPts val="500"/>
                        </a:spcAft>
                        <a:buNone/>
                      </a:pPr>
                      <a:r>
                        <a:rPr lang="en-US" sz="1100" b="1" i="0" u="none" cap="none" dirty="0">
                          <a:solidFill>
                            <a:srgbClr val="FFFFFF">
                              <a:alpha val="100000"/>
                            </a:srgbClr>
                          </a:solidFill>
                          <a:latin typeface="Montserrat"/>
                          <a:cs typeface="Arial"/>
                          <a:sym typeface="Arial"/>
                        </a:rPr>
                        <a:t>73</a:t>
                      </a:r>
                      <a:endParaRPr sz="1100" b="1" i="0" u="none" cap="none" dirty="0">
                        <a:solidFill>
                          <a:srgbClr val="FFFFFF">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6E8AB9">
                        <a:alpha val="100000"/>
                      </a:srgbClr>
                    </a:solidFill>
                  </a:tcPr>
                </a:tc>
                <a:extLst>
                  <a:ext uri="{0D108BD9-81ED-4DB2-BD59-A6C34878D82A}">
                    <a16:rowId xmlns:a16="http://schemas.microsoft.com/office/drawing/2014/main" val="998667127"/>
                  </a:ext>
                </a:extLst>
              </a:tr>
              <a:tr h="390241">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Montserrat"/>
                          <a:cs typeface="Arial"/>
                          <a:sym typeface="Arial"/>
                        </a:rPr>
                        <a:t>McLaren Health Care Corporation</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6E8AB9">
                        <a:alpha val="100000"/>
                      </a:srgbClr>
                    </a:solidFill>
                  </a:tcPr>
                </a:tc>
                <a:extLst>
                  <a:ext uri="{0D108BD9-81ED-4DB2-BD59-A6C34878D82A}">
                    <a16:rowId xmlns:a16="http://schemas.microsoft.com/office/drawing/2014/main" val="10002"/>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7690BD">
                        <a:alpha val="100000"/>
                      </a:srgbClr>
                    </a:solidFill>
                  </a:tcPr>
                </a:tc>
                <a:extLst>
                  <a:ext uri="{0D108BD9-81ED-4DB2-BD59-A6C34878D82A}">
                    <a16:rowId xmlns:a16="http://schemas.microsoft.com/office/drawing/2014/main" val="10003"/>
                  </a:ext>
                </a:extLst>
              </a:tr>
              <a:tr h="390173">
                <a:tc>
                  <a:txBody>
                    <a:bodyPr/>
                    <a:lstStyle/>
                    <a:p>
                      <a:pPr marL="63500" marR="63500" algn="l">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Trinity Health</a:t>
                      </a:r>
                      <a:r>
                        <a:rPr lang="en-US" sz="1100" b="1" i="0" u="none" cap="none" dirty="0">
                          <a:solidFill>
                            <a:srgbClr val="000000">
                              <a:alpha val="100000"/>
                            </a:srgbClr>
                          </a:solidFill>
                          <a:latin typeface="Montserrat"/>
                          <a:cs typeface="Arial"/>
                          <a:sym typeface="Arial"/>
                        </a:rPr>
                        <a:t> (Combined)</a:t>
                      </a:r>
                      <a:endParaRPr sz="1100" b="1" i="0" u="none" cap="none" dirty="0">
                        <a:solidFill>
                          <a:srgbClr val="000000">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7C95C0">
                        <a:alpha val="100000"/>
                      </a:srgbClr>
                    </a:solidFill>
                  </a:tcPr>
                </a:tc>
                <a:extLst>
                  <a:ext uri="{0D108BD9-81ED-4DB2-BD59-A6C34878D82A}">
                    <a16:rowId xmlns:a16="http://schemas.microsoft.com/office/drawing/2014/main" val="10004"/>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Ascension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5B7D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829AC3">
                        <a:alpha val="100000"/>
                      </a:srgbClr>
                    </a:solidFill>
                  </a:tcPr>
                </a:tc>
                <a:extLst>
                  <a:ext uri="{0D108BD9-81ED-4DB2-BD59-A6C34878D82A}">
                    <a16:rowId xmlns:a16="http://schemas.microsoft.com/office/drawing/2014/main" val="10005"/>
                  </a:ext>
                </a:extLst>
              </a:tr>
              <a:tr h="39017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Henry Ford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849CC3">
                        <a:alpha val="100000"/>
                      </a:srgbClr>
                    </a:solidFill>
                  </a:tcPr>
                </a:tc>
                <a:extLst>
                  <a:ext uri="{0D108BD9-81ED-4DB2-BD59-A6C34878D82A}">
                    <a16:rowId xmlns:a16="http://schemas.microsoft.com/office/drawing/2014/main" val="10006"/>
                  </a:ext>
                </a:extLst>
              </a:tr>
              <a:tr h="364184">
                <a:tc>
                  <a:txBody>
                    <a:bodyPr/>
                    <a:lstStyle/>
                    <a:p>
                      <a:pPr marL="63500" marR="63500" algn="l">
                        <a:lnSpc>
                          <a:spcPct val="100000"/>
                        </a:lnSpc>
                        <a:spcBef>
                          <a:spcPts val="500"/>
                        </a:spcBef>
                        <a:spcAft>
                          <a:spcPts val="500"/>
                        </a:spcAft>
                        <a:buNone/>
                      </a:pPr>
                      <a:r>
                        <a:rPr lang="en-US" sz="1100" b="1" i="0" u="none" cap="none" dirty="0">
                          <a:solidFill>
                            <a:srgbClr val="AD8C63"/>
                          </a:solidFill>
                          <a:latin typeface="Montserrat"/>
                          <a:cs typeface="Arial"/>
                          <a:sym typeface="Arial"/>
                        </a:rPr>
                        <a:t>Trinity Health (Livingston, Oakland, Livonia)</a:t>
                      </a:r>
                      <a:endParaRPr sz="1100" b="1" i="0" u="none" cap="none" dirty="0">
                        <a:solidFill>
                          <a:srgbClr val="AD8C63"/>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lang="en-US" sz="1100" b="1" i="0" u="none" cap="none" dirty="0">
                          <a:solidFill>
                            <a:srgbClr val="30589B">
                              <a:alpha val="100000"/>
                            </a:srgbClr>
                          </a:solidFill>
                          <a:latin typeface="Montserrat"/>
                          <a:cs typeface="Arial"/>
                          <a:sym typeface="Arial"/>
                        </a:rPr>
                        <a:t>40</a:t>
                      </a:r>
                      <a:endParaRPr sz="1100" b="1" i="0" u="none" cap="none" dirty="0">
                        <a:solidFill>
                          <a:srgbClr val="30589B">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C0CCE1">
                        <a:alpha val="100000"/>
                      </a:srgbClr>
                    </a:solidFill>
                  </a:tcPr>
                </a:tc>
                <a:tc>
                  <a:txBody>
                    <a:bodyPr/>
                    <a:lstStyle/>
                    <a:p>
                      <a:pPr marL="63500" marR="63500" algn="ctr">
                        <a:lnSpc>
                          <a:spcPct val="100000"/>
                        </a:lnSpc>
                        <a:spcBef>
                          <a:spcPts val="500"/>
                        </a:spcBef>
                        <a:spcAft>
                          <a:spcPts val="500"/>
                        </a:spcAft>
                        <a:buNone/>
                      </a:pPr>
                      <a:r>
                        <a:rPr lang="en-US" sz="1100" b="1" i="0" u="none" cap="none" dirty="0">
                          <a:solidFill>
                            <a:srgbClr val="FFFFFF">
                              <a:alpha val="100000"/>
                            </a:srgbClr>
                          </a:solidFill>
                          <a:latin typeface="Montserrat"/>
                          <a:cs typeface="Arial"/>
                          <a:sym typeface="Arial"/>
                        </a:rPr>
                        <a:t>58</a:t>
                      </a:r>
                      <a:endParaRPr sz="1100" b="1" i="0" u="none" cap="none" dirty="0">
                        <a:solidFill>
                          <a:srgbClr val="FFFFFF">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8DA3C8">
                        <a:alpha val="100000"/>
                      </a:srgbClr>
                    </a:solidFill>
                  </a:tcPr>
                </a:tc>
                <a:extLst>
                  <a:ext uri="{0D108BD9-81ED-4DB2-BD59-A6C34878D82A}">
                    <a16:rowId xmlns:a16="http://schemas.microsoft.com/office/drawing/2014/main" val="1290141104"/>
                  </a:ext>
                </a:extLst>
              </a:tr>
              <a:tr h="364184">
                <a:tc>
                  <a:txBody>
                    <a:bodyPr/>
                    <a:lstStyle/>
                    <a:p>
                      <a:pPr marL="63500" marR="63500" algn="l">
                        <a:lnSpc>
                          <a:spcPct val="100000"/>
                        </a:lnSpc>
                        <a:spcBef>
                          <a:spcPts val="500"/>
                        </a:spcBef>
                        <a:spcAft>
                          <a:spcPts val="500"/>
                        </a:spcAft>
                        <a:buNone/>
                      </a:pPr>
                      <a:r>
                        <a:rPr sz="1100" b="0" i="0" u="none" cap="none" dirty="0" err="1">
                          <a:solidFill>
                            <a:srgbClr val="000000">
                              <a:alpha val="100000"/>
                            </a:srgbClr>
                          </a:solidFill>
                          <a:latin typeface="Montserrat"/>
                          <a:cs typeface="Arial"/>
                          <a:sym typeface="Arial"/>
                        </a:rPr>
                        <a:t>Corewell</a:t>
                      </a:r>
                      <a:r>
                        <a:rPr sz="1100" b="0" i="0" u="none" cap="none" dirty="0">
                          <a:solidFill>
                            <a:srgbClr val="000000">
                              <a:alpha val="100000"/>
                            </a:srgbClr>
                          </a:solidFill>
                          <a:latin typeface="Montserrat"/>
                          <a:cs typeface="Arial"/>
                          <a:sym typeface="Arial"/>
                        </a:rPr>
                        <a: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8DA3C8">
                        <a:alpha val="100000"/>
                      </a:srgbClr>
                    </a:solidFill>
                  </a:tcPr>
                </a:tc>
                <a:extLst>
                  <a:ext uri="{0D108BD9-81ED-4DB2-BD59-A6C34878D82A}">
                    <a16:rowId xmlns:a16="http://schemas.microsoft.com/office/drawing/2014/main" val="10007"/>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ProMedica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FE5F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97ABCD">
                        <a:alpha val="100000"/>
                      </a:srgbClr>
                    </a:solidFill>
                  </a:tcPr>
                </a:tc>
                <a:extLst>
                  <a:ext uri="{0D108BD9-81ED-4DB2-BD59-A6C34878D82A}">
                    <a16:rowId xmlns:a16="http://schemas.microsoft.com/office/drawing/2014/main" val="10008"/>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Tenet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8F9F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9FB2D1">
                        <a:alpha val="100000"/>
                      </a:srgbClr>
                    </a:solidFill>
                  </a:tcPr>
                </a:tc>
                <a:extLst>
                  <a:ext uri="{0D108BD9-81ED-4DB2-BD59-A6C34878D82A}">
                    <a16:rowId xmlns:a16="http://schemas.microsoft.com/office/drawing/2014/main" val="10009"/>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4F6FA">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51658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ED82-69C1-C7E4-C245-892F5C564D51}"/>
            </a:ext>
          </a:extLst>
        </p:cNvPr>
        <p:cNvGrpSpPr/>
        <p:nvPr/>
      </p:nvGrpSpPr>
      <p:grpSpPr>
        <a:xfrm>
          <a:off x="0" y="0"/>
          <a:ext cx="0" cy="0"/>
          <a:chOff x="0" y="0"/>
          <a:chExt cx="0" cy="0"/>
        </a:xfrm>
      </p:grpSpPr>
      <p:pic>
        <p:nvPicPr>
          <p:cNvPr id="15" name="Picture 13">
            <a:extLst>
              <a:ext uri="{FF2B5EF4-FFF2-40B4-BE49-F238E27FC236}">
                <a16:creationId xmlns:a16="http://schemas.microsoft.com/office/drawing/2014/main" id="{9B235663-ECB2-1834-56B7-44355E95EB8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6" name="Freeform 13">
            <a:extLst>
              <a:ext uri="{FF2B5EF4-FFF2-40B4-BE49-F238E27FC236}">
                <a16:creationId xmlns:a16="http://schemas.microsoft.com/office/drawing/2014/main" id="{25A7AD72-8ADC-F5C9-CD53-21C870D9020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7" name="Title 1">
            <a:extLst>
              <a:ext uri="{FF2B5EF4-FFF2-40B4-BE49-F238E27FC236}">
                <a16:creationId xmlns:a16="http://schemas.microsoft.com/office/drawing/2014/main" id="{167B20F0-C6C1-F44F-87CC-BF83CEAF368A}"/>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2800" b="0" dirty="0">
                <a:solidFill>
                  <a:srgbClr val="000B2E"/>
                </a:solidFill>
              </a:rPr>
              <a:t>DETROIT/ANN ARBOR COMPETITIVE LANDSCAPE</a:t>
            </a:r>
            <a:br>
              <a:rPr lang="en-US" sz="2800" dirty="0">
                <a:solidFill>
                  <a:srgbClr val="000B2E"/>
                </a:solidFill>
              </a:rPr>
            </a:br>
            <a:endParaRPr lang="en-US" sz="1200" b="0" dirty="0">
              <a:solidFill>
                <a:schemeClr val="tx1">
                  <a:lumMod val="75000"/>
                  <a:lumOff val="25000"/>
                </a:schemeClr>
              </a:solidFill>
            </a:endParaRPr>
          </a:p>
        </p:txBody>
      </p:sp>
      <p:pic>
        <p:nvPicPr>
          <p:cNvPr id="5" name="Content Placeholder 8">
            <a:extLst>
              <a:ext uri="{FF2B5EF4-FFF2-40B4-BE49-F238E27FC236}">
                <a16:creationId xmlns:a16="http://schemas.microsoft.com/office/drawing/2014/main" id="{96F2EB54-601C-7DC4-9F72-27565ACA4B77}"/>
              </a:ext>
            </a:extLst>
          </p:cNvPr>
          <p:cNvPicPr>
            <a:picLocks noChangeAspect="1"/>
          </p:cNvPicPr>
          <p:nvPr/>
        </p:nvPicPr>
        <p:blipFill>
          <a:blip r:embed="rId3" cstate="print">
            <a:grayscl/>
          </a:blip>
          <a:stretch>
            <a:fillRect/>
          </a:stretch>
        </p:blipFill>
        <p:spPr>
          <a:xfrm>
            <a:off x="-1372331" y="523978"/>
            <a:ext cx="6096000" cy="4876800"/>
          </a:xfrm>
          <a:prstGeom prst="rect">
            <a:avLst/>
          </a:prstGeom>
        </p:spPr>
      </p:pic>
      <p:pic>
        <p:nvPicPr>
          <p:cNvPr id="6" name="Content Placeholder 8">
            <a:extLst>
              <a:ext uri="{FF2B5EF4-FFF2-40B4-BE49-F238E27FC236}">
                <a16:creationId xmlns:a16="http://schemas.microsoft.com/office/drawing/2014/main" id="{505F1B67-C95C-83A9-9E6D-D48CC0547B23}"/>
              </a:ext>
            </a:extLst>
          </p:cNvPr>
          <p:cNvPicPr>
            <a:picLocks noChangeAspect="1"/>
          </p:cNvPicPr>
          <p:nvPr/>
        </p:nvPicPr>
        <p:blipFill>
          <a:blip r:embed="rId4" cstate="print">
            <a:clrChange>
              <a:clrFrom>
                <a:srgbClr val="FFFFFF"/>
              </a:clrFrom>
              <a:clrTo>
                <a:srgbClr val="FFFFFF">
                  <a:alpha val="0"/>
                </a:srgbClr>
              </a:clrTo>
            </a:clrChange>
          </a:blip>
          <a:srcRect b="19803"/>
          <a:stretch>
            <a:fillRect/>
          </a:stretch>
        </p:blipFill>
        <p:spPr>
          <a:xfrm>
            <a:off x="-1033102" y="1529023"/>
            <a:ext cx="7489359" cy="4804999"/>
          </a:xfrm>
          <a:prstGeom prst="rect">
            <a:avLst/>
          </a:prstGeom>
        </p:spPr>
      </p:pic>
      <p:graphicFrame>
        <p:nvGraphicFramePr>
          <p:cNvPr id="7" name="Table 6">
            <a:extLst>
              <a:ext uri="{FF2B5EF4-FFF2-40B4-BE49-F238E27FC236}">
                <a16:creationId xmlns:a16="http://schemas.microsoft.com/office/drawing/2014/main" id="{A5982194-2745-17EE-3A4A-4D3C88CEFE23}"/>
              </a:ext>
            </a:extLst>
          </p:cNvPr>
          <p:cNvGraphicFramePr>
            <a:graphicFrameLocks noGrp="1"/>
          </p:cNvGraphicFramePr>
          <p:nvPr>
            <p:extLst>
              <p:ext uri="{D42A27DB-BD31-4B8C-83A1-F6EECF244321}">
                <p14:modId xmlns:p14="http://schemas.microsoft.com/office/powerpoint/2010/main" val="1967836954"/>
              </p:ext>
            </p:extLst>
          </p:nvPr>
        </p:nvGraphicFramePr>
        <p:xfrm>
          <a:off x="5999534" y="1740888"/>
          <a:ext cx="5925766" cy="4102313"/>
        </p:xfrm>
        <a:graphic>
          <a:graphicData uri="http://schemas.openxmlformats.org/drawingml/2006/table">
            <a:tbl>
              <a:tblPr/>
              <a:tblGrid>
                <a:gridCol w="2629747">
                  <a:extLst>
                    <a:ext uri="{9D8B030D-6E8A-4147-A177-3AD203B41FA5}">
                      <a16:colId xmlns:a16="http://schemas.microsoft.com/office/drawing/2014/main" val="20000"/>
                    </a:ext>
                  </a:extLst>
                </a:gridCol>
                <a:gridCol w="1820472">
                  <a:extLst>
                    <a:ext uri="{9D8B030D-6E8A-4147-A177-3AD203B41FA5}">
                      <a16:colId xmlns:a16="http://schemas.microsoft.com/office/drawing/2014/main" val="20001"/>
                    </a:ext>
                  </a:extLst>
                </a:gridCol>
                <a:gridCol w="1475547">
                  <a:extLst>
                    <a:ext uri="{9D8B030D-6E8A-4147-A177-3AD203B41FA5}">
                      <a16:colId xmlns:a16="http://schemas.microsoft.com/office/drawing/2014/main" val="20005"/>
                    </a:ext>
                  </a:extLst>
                </a:gridCol>
              </a:tblGrid>
              <a:tr h="1020906">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499435">
                <a:tc>
                  <a:txBody>
                    <a:bodyPr/>
                    <a:lstStyle/>
                    <a:p>
                      <a:pPr marL="63500" marR="63500" algn="l">
                        <a:lnSpc>
                          <a:spcPct val="100000"/>
                        </a:lnSpc>
                        <a:spcBef>
                          <a:spcPts val="500"/>
                        </a:spcBef>
                        <a:spcAft>
                          <a:spcPts val="500"/>
                        </a:spcAft>
                        <a:buNone/>
                      </a:pPr>
                      <a:r>
                        <a:rPr sz="1100" b="1" i="0" u="none" cap="none" dirty="0">
                          <a:solidFill>
                            <a:srgbClr val="2D7B93"/>
                          </a:solidFill>
                          <a:latin typeface="Montserrat"/>
                          <a:cs typeface="Arial"/>
                          <a:sym typeface="Arial"/>
                        </a:rPr>
                        <a:t>Trinity Health</a:t>
                      </a:r>
                      <a:r>
                        <a:rPr lang="en-US" sz="1100" b="1" i="0" u="none" cap="none" dirty="0">
                          <a:solidFill>
                            <a:srgbClr val="2D7B93"/>
                          </a:solidFill>
                          <a:latin typeface="Montserrat"/>
                          <a:cs typeface="Arial"/>
                          <a:sym typeface="Arial"/>
                        </a:rPr>
                        <a:t> Grand Rapids</a:t>
                      </a:r>
                      <a:endParaRPr sz="1100" b="1" i="0" u="none" cap="none" dirty="0">
                        <a:solidFill>
                          <a:srgbClr val="2D7B93"/>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6785B5">
                        <a:alpha val="100000"/>
                      </a:srgbClr>
                    </a:solidFill>
                  </a:tcPr>
                </a:tc>
                <a:extLst>
                  <a:ext uri="{0D108BD9-81ED-4DB2-BD59-A6C34878D82A}">
                    <a16:rowId xmlns:a16="http://schemas.microsoft.com/office/drawing/2014/main" val="10001"/>
                  </a:ext>
                </a:extLst>
              </a:tr>
              <a:tr h="59173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University of Michigan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6C88B8">
                        <a:alpha val="100000"/>
                      </a:srgbClr>
                    </a:solidFill>
                  </a:tcPr>
                </a:tc>
                <a:extLst>
                  <a:ext uri="{0D108BD9-81ED-4DB2-BD59-A6C34878D82A}">
                    <a16:rowId xmlns:a16="http://schemas.microsoft.com/office/drawing/2014/main" val="10002"/>
                  </a:ext>
                </a:extLst>
              </a:tr>
              <a:tr h="591734">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6E8AB9">
                        <a:alpha val="100000"/>
                      </a:srgbClr>
                    </a:solidFill>
                  </a:tcPr>
                </a:tc>
                <a:extLst>
                  <a:ext uri="{0D108BD9-81ED-4DB2-BD59-A6C34878D82A}">
                    <a16:rowId xmlns:a16="http://schemas.microsoft.com/office/drawing/2014/main" val="10003"/>
                  </a:ext>
                </a:extLst>
              </a:tr>
              <a:tr h="466168">
                <a:tc>
                  <a:txBody>
                    <a:bodyPr/>
                    <a:lstStyle/>
                    <a:p>
                      <a:pPr marL="63500" marR="63500" algn="l">
                        <a:lnSpc>
                          <a:spcPct val="100000"/>
                        </a:lnSpc>
                        <a:spcBef>
                          <a:spcPts val="500"/>
                        </a:spcBef>
                        <a:spcAft>
                          <a:spcPts val="500"/>
                        </a:spcAft>
                        <a:buNone/>
                      </a:pPr>
                      <a:r>
                        <a:rPr sz="1100" b="0" i="0" u="none" cap="none" dirty="0" err="1">
                          <a:solidFill>
                            <a:srgbClr val="000000">
                              <a:alpha val="100000"/>
                            </a:srgbClr>
                          </a:solidFill>
                          <a:latin typeface="Montserrat"/>
                          <a:cs typeface="Arial"/>
                          <a:sym typeface="Arial"/>
                        </a:rPr>
                        <a:t>Corewell</a:t>
                      </a:r>
                      <a:r>
                        <a:rPr sz="1100" b="0" i="0" u="none" cap="none" dirty="0">
                          <a:solidFill>
                            <a:srgbClr val="000000">
                              <a:alpha val="100000"/>
                            </a:srgbClr>
                          </a:solidFill>
                          <a:latin typeface="Montserrat"/>
                          <a:cs typeface="Arial"/>
                          <a:sym typeface="Arial"/>
                        </a:rPr>
                        <a: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748FBB">
                        <a:alpha val="100000"/>
                      </a:srgbClr>
                    </a:solidFill>
                  </a:tcPr>
                </a:tc>
                <a:extLst>
                  <a:ext uri="{0D108BD9-81ED-4DB2-BD59-A6C34878D82A}">
                    <a16:rowId xmlns:a16="http://schemas.microsoft.com/office/drawing/2014/main" val="10004"/>
                  </a:ext>
                </a:extLst>
              </a:tr>
              <a:tr h="466168">
                <a:tc>
                  <a:txBody>
                    <a:bodyPr/>
                    <a:lstStyle/>
                    <a:p>
                      <a:pPr marL="63500" marR="63500" algn="l">
                        <a:lnSpc>
                          <a:spcPct val="100000"/>
                        </a:lnSpc>
                        <a:spcBef>
                          <a:spcPts val="500"/>
                        </a:spcBef>
                        <a:spcAft>
                          <a:spcPts val="500"/>
                        </a:spcAft>
                        <a:buNone/>
                      </a:pPr>
                      <a:r>
                        <a:rPr lang="en-US" sz="1100" b="1" i="0" u="none" cap="none" dirty="0">
                          <a:solidFill>
                            <a:srgbClr val="000000">
                              <a:alpha val="100000"/>
                            </a:srgbClr>
                          </a:solidFill>
                          <a:latin typeface="Montserrat"/>
                          <a:cs typeface="Arial"/>
                          <a:sym typeface="Arial"/>
                        </a:rPr>
                        <a:t>Trinity Health (All)</a:t>
                      </a:r>
                      <a:endParaRPr sz="1100" b="1" i="0" u="none" cap="none" dirty="0">
                        <a:solidFill>
                          <a:srgbClr val="000000">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lang="en-US" sz="1100" b="1" i="0" u="none" cap="none" dirty="0">
                          <a:solidFill>
                            <a:srgbClr val="FFFFFF">
                              <a:alpha val="100000"/>
                            </a:srgbClr>
                          </a:solidFill>
                          <a:latin typeface="Montserrat"/>
                          <a:cs typeface="Arial"/>
                          <a:sym typeface="Arial"/>
                        </a:rPr>
                        <a:t>58</a:t>
                      </a:r>
                      <a:endParaRPr sz="1100" b="1" i="0" u="none" cap="none" dirty="0">
                        <a:solidFill>
                          <a:srgbClr val="FFFFFF">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solidFill>
                      <a:prstDash val="solid"/>
                      <a:round/>
                      <a:headEnd type="none" w="med" len="med"/>
                      <a:tailEnd type="none" w="med" len="med"/>
                    </a:lnB>
                    <a:solidFill>
                      <a:srgbClr val="8FA4C9"/>
                    </a:solidFill>
                  </a:tcPr>
                </a:tc>
                <a:tc>
                  <a:txBody>
                    <a:bodyPr/>
                    <a:lstStyle/>
                    <a:p>
                      <a:pPr marL="63500" marR="63500" algn="ctr">
                        <a:lnSpc>
                          <a:spcPct val="100000"/>
                        </a:lnSpc>
                        <a:spcBef>
                          <a:spcPts val="500"/>
                        </a:spcBef>
                        <a:spcAft>
                          <a:spcPts val="500"/>
                        </a:spcAft>
                        <a:buNone/>
                      </a:pPr>
                      <a:r>
                        <a:rPr lang="en-US" sz="1100" b="1" i="0" u="none" cap="none" dirty="0">
                          <a:solidFill>
                            <a:srgbClr val="FFFFFF">
                              <a:alpha val="100000"/>
                            </a:srgbClr>
                          </a:solidFill>
                          <a:latin typeface="Montserrat"/>
                          <a:cs typeface="Arial"/>
                          <a:sym typeface="Arial"/>
                        </a:rPr>
                        <a:t>64</a:t>
                      </a:r>
                      <a:endParaRPr sz="1100" b="1" i="0" u="none" cap="none" dirty="0">
                        <a:solidFill>
                          <a:srgbClr val="FFFFFF">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849CC3"/>
                    </a:solidFill>
                  </a:tcPr>
                </a:tc>
                <a:extLst>
                  <a:ext uri="{0D108BD9-81ED-4DB2-BD59-A6C34878D82A}">
                    <a16:rowId xmlns:a16="http://schemas.microsoft.com/office/drawing/2014/main" val="1143855946"/>
                  </a:ext>
                </a:extLst>
              </a:tr>
              <a:tr h="466168">
                <a:tc>
                  <a:txBody>
                    <a:bodyPr/>
                    <a:lstStyle/>
                    <a:p>
                      <a:pPr marL="63500" marR="63500" algn="l">
                        <a:lnSpc>
                          <a:spcPct val="100000"/>
                        </a:lnSpc>
                        <a:spcBef>
                          <a:spcPts val="500"/>
                        </a:spcBef>
                        <a:spcAft>
                          <a:spcPts val="500"/>
                        </a:spcAft>
                        <a:buNone/>
                      </a:pPr>
                      <a:r>
                        <a:rPr lang="en-US" sz="1100" b="1" i="0" u="none" cap="none" dirty="0">
                          <a:solidFill>
                            <a:srgbClr val="AD8C63"/>
                          </a:solidFill>
                          <a:latin typeface="Montserrat"/>
                          <a:cs typeface="Arial"/>
                          <a:sym typeface="Arial"/>
                        </a:rPr>
                        <a:t>Trinity Health Muskegon, Grand Haven and Shelby</a:t>
                      </a:r>
                      <a:endParaRPr sz="1100" b="1" i="0" u="none" cap="none" dirty="0">
                        <a:solidFill>
                          <a:srgbClr val="AD8C63"/>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100" b="1" i="0" u="none" cap="none" dirty="0">
                          <a:solidFill>
                            <a:srgbClr val="FFFFFF">
                              <a:alpha val="100000"/>
                            </a:srgbClr>
                          </a:solidFill>
                          <a:latin typeface="Montserrat"/>
                          <a:cs typeface="Arial"/>
                          <a:sym typeface="Arial"/>
                        </a:rPr>
                        <a:t>46</a:t>
                      </a:r>
                      <a:endParaRPr sz="1100" b="1" i="0" u="none" cap="none" dirty="0">
                        <a:solidFill>
                          <a:srgbClr val="FFFFFF">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C0CCE1"/>
                    </a:solidFill>
                  </a:tcPr>
                </a:tc>
                <a:tc>
                  <a:txBody>
                    <a:bodyPr/>
                    <a:lstStyle/>
                    <a:p>
                      <a:pPr marL="63500" marR="63500" algn="ctr">
                        <a:lnSpc>
                          <a:spcPct val="100000"/>
                        </a:lnSpc>
                        <a:spcBef>
                          <a:spcPts val="500"/>
                        </a:spcBef>
                        <a:spcAft>
                          <a:spcPts val="500"/>
                        </a:spcAft>
                        <a:buNone/>
                      </a:pPr>
                      <a:r>
                        <a:rPr lang="en-US" sz="1100" b="1" i="0" u="none" cap="none" dirty="0">
                          <a:solidFill>
                            <a:srgbClr val="FFFFFF">
                              <a:alpha val="100000"/>
                            </a:srgbClr>
                          </a:solidFill>
                          <a:latin typeface="Montserrat"/>
                          <a:cs typeface="Arial"/>
                          <a:sym typeface="Arial"/>
                        </a:rPr>
                        <a:t>61</a:t>
                      </a:r>
                      <a:endParaRPr sz="1100" b="1" i="0" u="none" cap="none" dirty="0">
                        <a:solidFill>
                          <a:srgbClr val="FFFFFF">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8DA3C8"/>
                    </a:solidFill>
                  </a:tcPr>
                </a:tc>
                <a:extLst>
                  <a:ext uri="{0D108BD9-81ED-4DB2-BD59-A6C34878D82A}">
                    <a16:rowId xmlns:a16="http://schemas.microsoft.com/office/drawing/2014/main" val="2845880822"/>
                  </a:ext>
                </a:extLst>
              </a:tr>
            </a:tbl>
          </a:graphicData>
        </a:graphic>
      </p:graphicFrame>
    </p:spTree>
    <p:extLst>
      <p:ext uri="{BB962C8B-B14F-4D97-AF65-F5344CB8AC3E}">
        <p14:creationId xmlns:p14="http://schemas.microsoft.com/office/powerpoint/2010/main" val="3823342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744800" y="147792"/>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Trinity Health MI service area in Allegan, Barry, Genesee, Hillsdale, Ingham, Ionia, Jackson, Kent, Lapeer, Lenawee, Livingston, Macomb, Monroe, Montcalm, Muskegon, Newaygo, Oakland, Oceana, Ottawa, Shiawassee, Washtenaw, and Wayne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5,941K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3,550K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2,536K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1,428K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2AC19-C6CE-28E7-7FBC-08BC099C722F}"/>
            </a:ext>
          </a:extLst>
        </p:cNvPr>
        <p:cNvGrpSpPr/>
        <p:nvPr/>
      </p:nvGrpSpPr>
      <p:grpSpPr>
        <a:xfrm>
          <a:off x="0" y="0"/>
          <a:ext cx="0" cy="0"/>
          <a:chOff x="0" y="0"/>
          <a:chExt cx="0" cy="0"/>
        </a:xfrm>
      </p:grpSpPr>
      <p:pic>
        <p:nvPicPr>
          <p:cNvPr id="15" name="Picture 13">
            <a:extLst>
              <a:ext uri="{FF2B5EF4-FFF2-40B4-BE49-F238E27FC236}">
                <a16:creationId xmlns:a16="http://schemas.microsoft.com/office/drawing/2014/main" id="{F54C5D28-0B33-15E4-4F63-84753BDC851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6" name="Freeform 13">
            <a:extLst>
              <a:ext uri="{FF2B5EF4-FFF2-40B4-BE49-F238E27FC236}">
                <a16:creationId xmlns:a16="http://schemas.microsoft.com/office/drawing/2014/main" id="{7FEBACBC-EE4A-FDC1-F9FC-170C30F884E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7" name="Title 1">
            <a:extLst>
              <a:ext uri="{FF2B5EF4-FFF2-40B4-BE49-F238E27FC236}">
                <a16:creationId xmlns:a16="http://schemas.microsoft.com/office/drawing/2014/main" id="{7F4BB45B-5AE3-D3A6-AAFA-62D46CC40A0A}"/>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2800" b="0" dirty="0">
                <a:solidFill>
                  <a:srgbClr val="000B2E"/>
                </a:solidFill>
              </a:rPr>
              <a:t>ESTIMATED PLAN GROWTH BY REGION</a:t>
            </a:r>
            <a:br>
              <a:rPr lang="en-US" sz="2800" b="0" dirty="0">
                <a:solidFill>
                  <a:srgbClr val="000B2E"/>
                </a:solidFill>
              </a:rPr>
            </a:br>
            <a:r>
              <a:rPr lang="en-US" sz="1600" b="0" dirty="0">
                <a:solidFill>
                  <a:srgbClr val="000B2E"/>
                </a:solidFill>
              </a:rPr>
              <a:t>Forecasted Number of Employees in Direct-to-Employer Plans</a:t>
            </a:r>
            <a:br>
              <a:rPr lang="en-US" sz="2800" dirty="0">
                <a:solidFill>
                  <a:srgbClr val="000B2E"/>
                </a:solidFill>
              </a:rPr>
            </a:br>
            <a:endParaRPr lang="en-US" sz="1200" b="0" dirty="0">
              <a:solidFill>
                <a:schemeClr val="tx1">
                  <a:lumMod val="75000"/>
                  <a:lumOff val="25000"/>
                </a:schemeClr>
              </a:solidFill>
            </a:endParaRPr>
          </a:p>
        </p:txBody>
      </p:sp>
      <p:graphicFrame>
        <p:nvGraphicFramePr>
          <p:cNvPr id="2" name="Table 1">
            <a:extLst>
              <a:ext uri="{FF2B5EF4-FFF2-40B4-BE49-F238E27FC236}">
                <a16:creationId xmlns:a16="http://schemas.microsoft.com/office/drawing/2014/main" id="{92FE72AC-AFF4-B218-2233-B59C6126BAFB}"/>
              </a:ext>
            </a:extLst>
          </p:cNvPr>
          <p:cNvGraphicFramePr>
            <a:graphicFrameLocks noGrp="1"/>
          </p:cNvGraphicFramePr>
          <p:nvPr>
            <p:extLst>
              <p:ext uri="{D42A27DB-BD31-4B8C-83A1-F6EECF244321}">
                <p14:modId xmlns:p14="http://schemas.microsoft.com/office/powerpoint/2010/main" val="467300988"/>
              </p:ext>
            </p:extLst>
          </p:nvPr>
        </p:nvGraphicFramePr>
        <p:xfrm>
          <a:off x="81786" y="959688"/>
          <a:ext cx="8831131" cy="5221913"/>
        </p:xfrm>
        <a:graphic>
          <a:graphicData uri="http://schemas.openxmlformats.org/drawingml/2006/table">
            <a:tbl>
              <a:tblPr bandRow="1">
                <a:tableStyleId>{F5AB1C69-6EDB-4FF4-983F-18BD219EF322}</a:tableStyleId>
              </a:tblPr>
              <a:tblGrid>
                <a:gridCol w="696909">
                  <a:extLst>
                    <a:ext uri="{9D8B030D-6E8A-4147-A177-3AD203B41FA5}">
                      <a16:colId xmlns:a16="http://schemas.microsoft.com/office/drawing/2014/main" val="551465522"/>
                    </a:ext>
                  </a:extLst>
                </a:gridCol>
                <a:gridCol w="1208699">
                  <a:extLst>
                    <a:ext uri="{9D8B030D-6E8A-4147-A177-3AD203B41FA5}">
                      <a16:colId xmlns:a16="http://schemas.microsoft.com/office/drawing/2014/main" val="943211418"/>
                    </a:ext>
                  </a:extLst>
                </a:gridCol>
                <a:gridCol w="960087">
                  <a:extLst>
                    <a:ext uri="{9D8B030D-6E8A-4147-A177-3AD203B41FA5}">
                      <a16:colId xmlns:a16="http://schemas.microsoft.com/office/drawing/2014/main" val="139435367"/>
                    </a:ext>
                  </a:extLst>
                </a:gridCol>
                <a:gridCol w="933855">
                  <a:extLst>
                    <a:ext uri="{9D8B030D-6E8A-4147-A177-3AD203B41FA5}">
                      <a16:colId xmlns:a16="http://schemas.microsoft.com/office/drawing/2014/main" val="1625989401"/>
                    </a:ext>
                  </a:extLst>
                </a:gridCol>
                <a:gridCol w="972766">
                  <a:extLst>
                    <a:ext uri="{9D8B030D-6E8A-4147-A177-3AD203B41FA5}">
                      <a16:colId xmlns:a16="http://schemas.microsoft.com/office/drawing/2014/main" val="2698984165"/>
                    </a:ext>
                  </a:extLst>
                </a:gridCol>
                <a:gridCol w="1011677">
                  <a:extLst>
                    <a:ext uri="{9D8B030D-6E8A-4147-A177-3AD203B41FA5}">
                      <a16:colId xmlns:a16="http://schemas.microsoft.com/office/drawing/2014/main" val="964788018"/>
                    </a:ext>
                  </a:extLst>
                </a:gridCol>
                <a:gridCol w="1108953">
                  <a:extLst>
                    <a:ext uri="{9D8B030D-6E8A-4147-A177-3AD203B41FA5}">
                      <a16:colId xmlns:a16="http://schemas.microsoft.com/office/drawing/2014/main" val="1860994931"/>
                    </a:ext>
                  </a:extLst>
                </a:gridCol>
                <a:gridCol w="836579">
                  <a:extLst>
                    <a:ext uri="{9D8B030D-6E8A-4147-A177-3AD203B41FA5}">
                      <a16:colId xmlns:a16="http://schemas.microsoft.com/office/drawing/2014/main" val="3375971760"/>
                    </a:ext>
                  </a:extLst>
                </a:gridCol>
                <a:gridCol w="1101606">
                  <a:extLst>
                    <a:ext uri="{9D8B030D-6E8A-4147-A177-3AD203B41FA5}">
                      <a16:colId xmlns:a16="http://schemas.microsoft.com/office/drawing/2014/main" val="582121174"/>
                    </a:ext>
                  </a:extLst>
                </a:gridCol>
              </a:tblGrid>
              <a:tr h="335481">
                <a:tc>
                  <a:txBody>
                    <a:bodyPr/>
                    <a:lstStyle/>
                    <a:p>
                      <a:pPr algn="l" fontAlgn="b"/>
                      <a:r>
                        <a:rPr lang="en-US" sz="1000" b="1" u="none" strike="noStrike" dirty="0">
                          <a:solidFill>
                            <a:srgbClr val="000000"/>
                          </a:solidFill>
                          <a:effectLst/>
                        </a:rPr>
                        <a:t>Year</a:t>
                      </a:r>
                      <a:endParaRPr lang="en-US" sz="1000" b="1" i="0" u="none" strike="noStrike" dirty="0">
                        <a:solidFill>
                          <a:srgbClr val="000000"/>
                        </a:solidFill>
                        <a:effectLst/>
                        <a:latin typeface="Calibri" panose="020F0502020204030204" pitchFamily="34" charset="0"/>
                      </a:endParaRPr>
                    </a:p>
                  </a:txBody>
                  <a:tcPr marL="8685" marR="8685" marT="8685" marB="0" anchor="b"/>
                </a:tc>
                <a:tc>
                  <a:txBody>
                    <a:bodyPr/>
                    <a:lstStyle/>
                    <a:p>
                      <a:pPr algn="l" fontAlgn="b"/>
                      <a:r>
                        <a:rPr lang="en-US" sz="1000" b="1" u="none" strike="noStrike" dirty="0">
                          <a:effectLst/>
                        </a:rPr>
                        <a:t>Grand Rapids</a:t>
                      </a:r>
                      <a:endParaRPr lang="en-US" sz="1000" b="1" i="0" u="none" strike="noStrike" dirty="0">
                        <a:solidFill>
                          <a:srgbClr val="000000"/>
                        </a:solidFill>
                        <a:effectLst/>
                        <a:latin typeface="Calibri" panose="020F0502020204030204" pitchFamily="34" charset="0"/>
                      </a:endParaRPr>
                    </a:p>
                  </a:txBody>
                  <a:tcPr marL="8685" marR="8685" marT="8685" marB="0" anchor="b"/>
                </a:tc>
                <a:tc>
                  <a:txBody>
                    <a:bodyPr/>
                    <a:lstStyle/>
                    <a:p>
                      <a:pPr algn="l" fontAlgn="b"/>
                      <a:r>
                        <a:rPr lang="en-US" sz="1000" b="1" u="none" strike="noStrike" dirty="0">
                          <a:effectLst/>
                        </a:rPr>
                        <a:t>Muskegon, Grand Haven and Shelby</a:t>
                      </a:r>
                      <a:endParaRPr lang="en-US" sz="1000" b="1" i="0" u="none" strike="noStrike" dirty="0">
                        <a:solidFill>
                          <a:srgbClr val="000000"/>
                        </a:solidFill>
                        <a:effectLst/>
                        <a:latin typeface="Calibri" panose="020F0502020204030204" pitchFamily="34" charset="0"/>
                      </a:endParaRPr>
                    </a:p>
                  </a:txBody>
                  <a:tcPr marL="8685" marR="8685" marT="8685" marB="0" anchor="b"/>
                </a:tc>
                <a:tc>
                  <a:txBody>
                    <a:bodyPr/>
                    <a:lstStyle/>
                    <a:p>
                      <a:pPr algn="l" fontAlgn="b"/>
                      <a:r>
                        <a:rPr lang="en-US" sz="1000" b="1" u="none" strike="noStrike" dirty="0">
                          <a:effectLst/>
                        </a:rPr>
                        <a:t>Oakland, Livonia, Livingston</a:t>
                      </a:r>
                      <a:endParaRPr lang="en-US" sz="1000" b="1" i="0" u="none" strike="noStrike" dirty="0">
                        <a:solidFill>
                          <a:srgbClr val="000000"/>
                        </a:solidFill>
                        <a:effectLst/>
                        <a:latin typeface="Calibri" panose="020F0502020204030204" pitchFamily="34" charset="0"/>
                      </a:endParaRPr>
                    </a:p>
                  </a:txBody>
                  <a:tcPr marL="8685" marR="8685" marT="8685" marB="0" anchor="b"/>
                </a:tc>
                <a:tc>
                  <a:txBody>
                    <a:bodyPr/>
                    <a:lstStyle/>
                    <a:p>
                      <a:pPr algn="l" fontAlgn="b"/>
                      <a:r>
                        <a:rPr lang="en-US" sz="1000" b="1" u="none" strike="noStrike" dirty="0">
                          <a:effectLst/>
                        </a:rPr>
                        <a:t>Ann Arbor, Chelsea</a:t>
                      </a:r>
                      <a:endParaRPr lang="en-US" sz="1000" b="1" i="0" u="none" strike="noStrike" dirty="0">
                        <a:solidFill>
                          <a:srgbClr val="000000"/>
                        </a:solidFill>
                        <a:effectLst/>
                        <a:latin typeface="Calibri" panose="020F0502020204030204" pitchFamily="34" charset="0"/>
                      </a:endParaRPr>
                    </a:p>
                  </a:txBody>
                  <a:tcPr marL="8685" marR="8685" marT="8685" marB="0" anchor="b"/>
                </a:tc>
                <a:tc>
                  <a:txBody>
                    <a:bodyPr/>
                    <a:lstStyle/>
                    <a:p>
                      <a:pPr algn="l" fontAlgn="b"/>
                      <a:r>
                        <a:rPr lang="en-US" sz="1000" b="1" u="none" strike="noStrike" dirty="0">
                          <a:effectLst/>
                        </a:rPr>
                        <a:t>Total Employees</a:t>
                      </a:r>
                      <a:endParaRPr lang="en-US" sz="1000" b="1" i="0" u="none" strike="noStrike" dirty="0">
                        <a:solidFill>
                          <a:srgbClr val="000000"/>
                        </a:solidFill>
                        <a:effectLst/>
                        <a:latin typeface="Calibri" panose="020F0502020204030204" pitchFamily="34" charset="0"/>
                      </a:endParaRPr>
                    </a:p>
                  </a:txBody>
                  <a:tcPr marL="8685" marR="8685" marT="8685" marB="0" anchor="b"/>
                </a:tc>
                <a:tc>
                  <a:txBody>
                    <a:bodyPr/>
                    <a:lstStyle/>
                    <a:p>
                      <a:pPr algn="l" fontAlgn="b"/>
                      <a:r>
                        <a:rPr lang="en-US" sz="1000" b="1" u="none" strike="noStrike" kern="1200" dirty="0">
                          <a:solidFill>
                            <a:schemeClr val="dk1"/>
                          </a:solidFill>
                          <a:effectLst/>
                        </a:rPr>
                        <a:t>Total Members</a:t>
                      </a:r>
                      <a:endParaRPr lang="en-US" sz="1000" b="1" u="none" strike="noStrike" kern="1200" dirty="0">
                        <a:solidFill>
                          <a:schemeClr val="dk1"/>
                        </a:solidFill>
                        <a:effectLst/>
                        <a:latin typeface="+mn-lt"/>
                        <a:ea typeface="+mn-ea"/>
                        <a:cs typeface="+mn-cs"/>
                      </a:endParaRPr>
                    </a:p>
                  </a:txBody>
                  <a:tcPr marL="8685" marR="8685" marT="8685" marB="0" anchor="b"/>
                </a:tc>
                <a:tc>
                  <a:txBody>
                    <a:bodyPr/>
                    <a:lstStyle/>
                    <a:p>
                      <a:pPr marL="0" marR="0" algn="ctr">
                        <a:lnSpc>
                          <a:spcPct val="100000"/>
                        </a:lnSpc>
                        <a:spcBef>
                          <a:spcPts val="0"/>
                        </a:spcBef>
                        <a:spcAft>
                          <a:spcPts val="0"/>
                        </a:spcAft>
                        <a:buNone/>
                      </a:pPr>
                      <a:r>
                        <a:rPr sz="1000" b="1" u="none" strike="noStrike" kern="1200" dirty="0">
                          <a:solidFill>
                            <a:schemeClr val="dk1"/>
                          </a:solidFill>
                          <a:effectLst/>
                          <a:sym typeface="Arial"/>
                        </a:rPr>
                        <a:t>Percent of Members Choosing Trinity Health MI for Inpatient Care</a:t>
                      </a:r>
                      <a:endParaRPr sz="1000" b="1" u="none" strike="noStrike" kern="1200" dirty="0">
                        <a:solidFill>
                          <a:schemeClr val="dk1"/>
                        </a:solidFill>
                        <a:effectLst/>
                        <a:latin typeface="+mn-lt"/>
                        <a:ea typeface="+mn-ea"/>
                        <a:cs typeface="+mn-cs"/>
                        <a:sym typeface="Arial"/>
                      </a:endParaRPr>
                    </a:p>
                  </a:txBody>
                  <a:tcPr marL="0" marR="0" marT="0" marB="0" anchor="ctr"/>
                </a:tc>
                <a:tc>
                  <a:txBody>
                    <a:bodyPr/>
                    <a:lstStyle/>
                    <a:p>
                      <a:pPr marL="0" marR="0" algn="ctr">
                        <a:lnSpc>
                          <a:spcPct val="100000"/>
                        </a:lnSpc>
                        <a:spcBef>
                          <a:spcPts val="0"/>
                        </a:spcBef>
                        <a:spcAft>
                          <a:spcPts val="0"/>
                        </a:spcAft>
                        <a:buNone/>
                      </a:pPr>
                      <a:r>
                        <a:rPr sz="1000" b="1" u="none" strike="noStrike" kern="1200" dirty="0">
                          <a:solidFill>
                            <a:schemeClr val="dk1"/>
                          </a:solidFill>
                          <a:effectLst/>
                          <a:sym typeface="Arial"/>
                        </a:rPr>
                        <a:t>Percent of Members Choosing Trinity Health MI for Outpatient Care</a:t>
                      </a:r>
                      <a:endParaRPr sz="1000" b="1" u="none" strike="noStrike" kern="1200" dirty="0">
                        <a:solidFill>
                          <a:schemeClr val="dk1"/>
                        </a:solidFill>
                        <a:effectLst/>
                        <a:latin typeface="+mn-lt"/>
                        <a:ea typeface="+mn-ea"/>
                        <a:cs typeface="+mn-cs"/>
                        <a:sym typeface="Arial"/>
                      </a:endParaRPr>
                    </a:p>
                  </a:txBody>
                  <a:tcPr marL="0" marR="0" marT="0" marB="0" anchor="ctr"/>
                </a:tc>
                <a:extLst>
                  <a:ext uri="{0D108BD9-81ED-4DB2-BD59-A6C34878D82A}">
                    <a16:rowId xmlns:a16="http://schemas.microsoft.com/office/drawing/2014/main" val="2090739107"/>
                  </a:ext>
                </a:extLst>
              </a:tr>
              <a:tr h="222418">
                <a:tc>
                  <a:txBody>
                    <a:bodyPr/>
                    <a:lstStyle/>
                    <a:p>
                      <a:pPr algn="ctr" rtl="0" fontAlgn="ctr"/>
                      <a:r>
                        <a:rPr lang="en-US" sz="1000" u="none" strike="noStrike">
                          <a:effectLst/>
                        </a:rPr>
                        <a:t>1</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kern="1200">
                          <a:solidFill>
                            <a:schemeClr val="dk1"/>
                          </a:solidFill>
                          <a:effectLst/>
                        </a:rPr>
                        <a:t>2,700</a:t>
                      </a:r>
                      <a:endParaRPr lang="en-US" sz="1000" u="none" strike="noStrike" kern="1200">
                        <a:solidFill>
                          <a:schemeClr val="dk1"/>
                        </a:solidFill>
                        <a:effectLst/>
                        <a:latin typeface="+mn-lt"/>
                        <a:ea typeface="+mn-ea"/>
                        <a:cs typeface="+mn-cs"/>
                      </a:endParaRPr>
                    </a:p>
                  </a:txBody>
                  <a:tcPr marL="8685" marR="8685" marT="8685" marB="0" anchor="ctr"/>
                </a:tc>
                <a:tc>
                  <a:txBody>
                    <a:bodyPr/>
                    <a:lstStyle/>
                    <a:p>
                      <a:pPr algn="ctr" rtl="0" fontAlgn="ctr"/>
                      <a:r>
                        <a:rPr lang="en-US" sz="1000" u="none" strike="noStrike" kern="1200">
                          <a:solidFill>
                            <a:schemeClr val="dk1"/>
                          </a:solidFill>
                          <a:effectLst/>
                        </a:rPr>
                        <a:t>60%</a:t>
                      </a:r>
                      <a:endParaRPr lang="en-US" sz="1000" u="none" strike="noStrike" kern="1200">
                        <a:solidFill>
                          <a:schemeClr val="dk1"/>
                        </a:solidFill>
                        <a:effectLst/>
                        <a:latin typeface="+mn-lt"/>
                        <a:ea typeface="+mn-ea"/>
                        <a:cs typeface="+mn-cs"/>
                      </a:endParaRPr>
                    </a:p>
                  </a:txBody>
                  <a:tcPr marL="8685" marR="8685" marT="8685" marB="0" anchor="ctr"/>
                </a:tc>
                <a:tc>
                  <a:txBody>
                    <a:bodyPr/>
                    <a:lstStyle/>
                    <a:p>
                      <a:pPr algn="ctr" rtl="0" fontAlgn="ctr"/>
                      <a:r>
                        <a:rPr lang="en-US" sz="1000" u="none" strike="noStrike" kern="1200">
                          <a:solidFill>
                            <a:schemeClr val="dk1"/>
                          </a:solidFill>
                          <a:effectLst/>
                        </a:rPr>
                        <a:t>50%</a:t>
                      </a:r>
                      <a:endParaRPr lang="en-US" sz="1000" u="none" strike="noStrike" kern="1200">
                        <a:solidFill>
                          <a:schemeClr val="dk1"/>
                        </a:solidFill>
                        <a:effectLst/>
                        <a:latin typeface="+mn-lt"/>
                        <a:ea typeface="+mn-ea"/>
                        <a:cs typeface="+mn-cs"/>
                      </a:endParaRPr>
                    </a:p>
                  </a:txBody>
                  <a:tcPr marL="8685" marR="8685" marT="8685" marB="0" anchor="ctr"/>
                </a:tc>
                <a:extLst>
                  <a:ext uri="{0D108BD9-81ED-4DB2-BD59-A6C34878D82A}">
                    <a16:rowId xmlns:a16="http://schemas.microsoft.com/office/drawing/2014/main" val="1454329764"/>
                  </a:ext>
                </a:extLst>
              </a:tr>
              <a:tr h="215005">
                <a:tc>
                  <a:txBody>
                    <a:bodyPr/>
                    <a:lstStyle/>
                    <a:p>
                      <a:pPr algn="ctr" rtl="0" fontAlgn="ctr"/>
                      <a:r>
                        <a:rPr lang="en-US" sz="1000" u="none" strike="noStrike">
                          <a:effectLst/>
                        </a:rPr>
                        <a:t>2</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dirty="0">
                          <a:effectLst/>
                        </a:rPr>
                        <a:t>1,500</a:t>
                      </a:r>
                      <a:endParaRPr lang="en-US" sz="1000" b="0" i="0" u="none" strike="noStrike" dirty="0">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kern="1200">
                          <a:solidFill>
                            <a:schemeClr val="dk1"/>
                          </a:solidFill>
                          <a:effectLst/>
                        </a:rPr>
                        <a:t>5,400</a:t>
                      </a:r>
                      <a:endParaRPr lang="en-US" sz="1000" u="none" strike="noStrike" kern="1200">
                        <a:solidFill>
                          <a:schemeClr val="dk1"/>
                        </a:solidFill>
                        <a:effectLst/>
                        <a:latin typeface="+mn-lt"/>
                        <a:ea typeface="+mn-ea"/>
                        <a:cs typeface="+mn-cs"/>
                      </a:endParaRPr>
                    </a:p>
                  </a:txBody>
                  <a:tcPr marL="8685" marR="8685" marT="8685" marB="0" anchor="ctr"/>
                </a:tc>
                <a:tc>
                  <a:txBody>
                    <a:bodyPr/>
                    <a:lstStyle/>
                    <a:p>
                      <a:pPr algn="ctr" rtl="0" fontAlgn="ctr"/>
                      <a:r>
                        <a:rPr lang="en-US" sz="1000" u="none" strike="noStrike" kern="1200">
                          <a:solidFill>
                            <a:schemeClr val="dk1"/>
                          </a:solidFill>
                          <a:effectLst/>
                        </a:rPr>
                        <a:t>60%</a:t>
                      </a:r>
                      <a:endParaRPr lang="en-US" sz="1000" u="none" strike="noStrike" kern="1200">
                        <a:solidFill>
                          <a:schemeClr val="dk1"/>
                        </a:solidFill>
                        <a:effectLst/>
                        <a:latin typeface="+mn-lt"/>
                        <a:ea typeface="+mn-ea"/>
                        <a:cs typeface="+mn-cs"/>
                      </a:endParaRPr>
                    </a:p>
                  </a:txBody>
                  <a:tcPr marL="8685" marR="8685" marT="8685" marB="0" anchor="ctr"/>
                </a:tc>
                <a:tc>
                  <a:txBody>
                    <a:bodyPr/>
                    <a:lstStyle/>
                    <a:p>
                      <a:pPr algn="ctr" rtl="0" fontAlgn="ctr"/>
                      <a:r>
                        <a:rPr lang="en-US" sz="1000" u="none" strike="noStrike" kern="1200" dirty="0">
                          <a:solidFill>
                            <a:schemeClr val="dk1"/>
                          </a:solidFill>
                          <a:effectLst/>
                        </a:rPr>
                        <a:t>50%</a:t>
                      </a:r>
                      <a:endParaRPr lang="en-US" sz="1000" u="none" strike="noStrike" kern="1200" dirty="0">
                        <a:solidFill>
                          <a:schemeClr val="dk1"/>
                        </a:solidFill>
                        <a:effectLst/>
                        <a:latin typeface="+mn-lt"/>
                        <a:ea typeface="+mn-ea"/>
                        <a:cs typeface="+mn-cs"/>
                      </a:endParaRPr>
                    </a:p>
                  </a:txBody>
                  <a:tcPr marL="8685" marR="8685" marT="8685" marB="0" anchor="ctr"/>
                </a:tc>
                <a:extLst>
                  <a:ext uri="{0D108BD9-81ED-4DB2-BD59-A6C34878D82A}">
                    <a16:rowId xmlns:a16="http://schemas.microsoft.com/office/drawing/2014/main" val="1586245059"/>
                  </a:ext>
                </a:extLst>
              </a:tr>
              <a:tr h="215005">
                <a:tc>
                  <a:txBody>
                    <a:bodyPr/>
                    <a:lstStyle/>
                    <a:p>
                      <a:pPr algn="ctr" rtl="0" fontAlgn="ctr"/>
                      <a:r>
                        <a:rPr lang="en-US" sz="1000" u="none" strike="noStrike">
                          <a:effectLst/>
                        </a:rPr>
                        <a:t>3</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4,900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8,800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65%</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55%</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3761603903"/>
                  </a:ext>
                </a:extLst>
              </a:tr>
              <a:tr h="215005">
                <a:tc>
                  <a:txBody>
                    <a:bodyPr/>
                    <a:lstStyle/>
                    <a:p>
                      <a:pPr algn="ctr" rtl="0" fontAlgn="ctr"/>
                      <a:r>
                        <a:rPr lang="en-US" sz="1000" u="none" strike="noStrike">
                          <a:effectLst/>
                        </a:rPr>
                        <a:t>4</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13,100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67%</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58%</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118499065"/>
                  </a:ext>
                </a:extLst>
              </a:tr>
              <a:tr h="215005">
                <a:tc>
                  <a:txBody>
                    <a:bodyPr/>
                    <a:lstStyle/>
                    <a:p>
                      <a:pPr algn="ctr" rtl="0" fontAlgn="ctr"/>
                      <a:r>
                        <a:rPr lang="en-US" sz="1000" u="none" strike="noStrike">
                          <a:effectLst/>
                        </a:rPr>
                        <a:t>5</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4,400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18,700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68%</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60%</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2244860107"/>
                  </a:ext>
                </a:extLst>
              </a:tr>
              <a:tr h="215005">
                <a:tc>
                  <a:txBody>
                    <a:bodyPr/>
                    <a:lstStyle/>
                    <a:p>
                      <a:pPr algn="ctr" rtl="0" fontAlgn="ctr"/>
                      <a:r>
                        <a:rPr lang="en-US" sz="1000" u="none" strike="noStrike">
                          <a:effectLst/>
                        </a:rPr>
                        <a:t>6</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14,300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25,600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68%</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60%</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134341739"/>
                  </a:ext>
                </a:extLst>
              </a:tr>
              <a:tr h="215005">
                <a:tc>
                  <a:txBody>
                    <a:bodyPr/>
                    <a:lstStyle/>
                    <a:p>
                      <a:pPr algn="ctr" rtl="0" fontAlgn="ctr"/>
                      <a:r>
                        <a:rPr lang="en-US" sz="1000" u="none" strike="noStrike">
                          <a:effectLst/>
                        </a:rPr>
                        <a:t>7</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9,700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8,000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18,800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33,800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69%</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61%</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872217799"/>
                  </a:ext>
                </a:extLst>
              </a:tr>
              <a:tr h="215005">
                <a:tc>
                  <a:txBody>
                    <a:bodyPr/>
                    <a:lstStyle/>
                    <a:p>
                      <a:pPr algn="ctr" rtl="0" fontAlgn="ctr"/>
                      <a:r>
                        <a:rPr lang="en-US" sz="1000" u="none" strike="noStrike">
                          <a:effectLst/>
                        </a:rPr>
                        <a:t>8</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12,400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24,100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43,600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69%</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62%</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623874617"/>
                  </a:ext>
                </a:extLst>
              </a:tr>
              <a:tr h="215005">
                <a:tc>
                  <a:txBody>
                    <a:bodyPr/>
                    <a:lstStyle/>
                    <a:p>
                      <a:pPr algn="ctr" rtl="0" fontAlgn="ctr"/>
                      <a:r>
                        <a:rPr lang="en-US" sz="1000" u="none" strike="noStrike">
                          <a:effectLst/>
                        </a:rPr>
                        <a:t>9</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15,500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12,900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30,200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54,500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69%</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62%</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2492445223"/>
                  </a:ext>
                </a:extLst>
              </a:tr>
              <a:tr h="215005">
                <a:tc>
                  <a:txBody>
                    <a:bodyPr/>
                    <a:lstStyle/>
                    <a:p>
                      <a:pPr algn="ctr" rtl="0" fontAlgn="ctr"/>
                      <a:r>
                        <a:rPr lang="en-US" sz="1000" u="none" strike="noStrike">
                          <a:effectLst/>
                        </a:rPr>
                        <a:t>10</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18,900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15,700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36,700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66,400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63%</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587872567"/>
                  </a:ext>
                </a:extLst>
              </a:tr>
              <a:tr h="215005">
                <a:tc>
                  <a:txBody>
                    <a:bodyPr/>
                    <a:lstStyle/>
                    <a:p>
                      <a:pPr algn="ctr" rtl="0" fontAlgn="ctr"/>
                      <a:r>
                        <a:rPr lang="en-US" sz="1000" u="none" strike="noStrike">
                          <a:effectLst/>
                        </a:rPr>
                        <a:t>11</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22,400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2,000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18,600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43,500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78,500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63%</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39396568"/>
                  </a:ext>
                </a:extLst>
              </a:tr>
              <a:tr h="215005">
                <a:tc>
                  <a:txBody>
                    <a:bodyPr/>
                    <a:lstStyle/>
                    <a:p>
                      <a:pPr algn="ctr" rtl="0" fontAlgn="ctr"/>
                      <a:r>
                        <a:rPr lang="en-US" sz="1000" u="none" strike="noStrike">
                          <a:effectLst/>
                        </a:rPr>
                        <a:t>12</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25,800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21,400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50,100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90,400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64%</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3518860077"/>
                  </a:ext>
                </a:extLst>
              </a:tr>
              <a:tr h="215005">
                <a:tc>
                  <a:txBody>
                    <a:bodyPr/>
                    <a:lstStyle/>
                    <a:p>
                      <a:pPr algn="ctr" rtl="0" fontAlgn="ctr"/>
                      <a:r>
                        <a:rPr lang="en-US" sz="1000" u="none" strike="noStrike">
                          <a:effectLst/>
                        </a:rPr>
                        <a:t>13</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28,900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24,000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56,200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101,500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71%</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64%</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989024895"/>
                  </a:ext>
                </a:extLst>
              </a:tr>
              <a:tr h="215005">
                <a:tc>
                  <a:txBody>
                    <a:bodyPr/>
                    <a:lstStyle/>
                    <a:p>
                      <a:pPr algn="ctr" rtl="0" fontAlgn="ctr"/>
                      <a:r>
                        <a:rPr lang="en-US" sz="1000" u="none" strike="noStrike">
                          <a:effectLst/>
                        </a:rPr>
                        <a:t>14</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31,700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26,400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61,600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111,400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71%</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65%</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1822556131"/>
                  </a:ext>
                </a:extLst>
              </a:tr>
              <a:tr h="215005">
                <a:tc>
                  <a:txBody>
                    <a:bodyPr/>
                    <a:lstStyle/>
                    <a:p>
                      <a:pPr algn="ctr" rtl="0" fontAlgn="ctr"/>
                      <a:r>
                        <a:rPr lang="en-US" sz="1000" u="none" strike="noStrike">
                          <a:effectLst/>
                        </a:rPr>
                        <a:t>15</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34,100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3,000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28,300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66,200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119,700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71%</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66%</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3860433428"/>
                  </a:ext>
                </a:extLst>
              </a:tr>
              <a:tr h="215005">
                <a:tc>
                  <a:txBody>
                    <a:bodyPr/>
                    <a:lstStyle/>
                    <a:p>
                      <a:pPr algn="ctr" rtl="0" fontAlgn="ctr"/>
                      <a:r>
                        <a:rPr lang="en-US" sz="1000" u="none" strike="noStrike">
                          <a:effectLst/>
                        </a:rPr>
                        <a:t>16</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36,100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30,000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70,100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126,500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72%</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66%</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2009688350"/>
                  </a:ext>
                </a:extLst>
              </a:tr>
              <a:tr h="215005">
                <a:tc>
                  <a:txBody>
                    <a:bodyPr/>
                    <a:lstStyle/>
                    <a:p>
                      <a:pPr algn="ctr" rtl="0" fontAlgn="ctr"/>
                      <a:r>
                        <a:rPr lang="en-US" sz="1000" u="none" strike="noStrike">
                          <a:effectLst/>
                        </a:rPr>
                        <a:t>17</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37,600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31,200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73,000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132,100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72%</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66%</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88445187"/>
                  </a:ext>
                </a:extLst>
              </a:tr>
              <a:tr h="215005">
                <a:tc>
                  <a:txBody>
                    <a:bodyPr/>
                    <a:lstStyle/>
                    <a:p>
                      <a:pPr algn="ctr" rtl="0" fontAlgn="ctr"/>
                      <a:r>
                        <a:rPr lang="en-US" sz="1000" u="none" strike="noStrike">
                          <a:effectLst/>
                        </a:rPr>
                        <a:t>18</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38,800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32,200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75,400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136,300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72%</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67%</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293737152"/>
                  </a:ext>
                </a:extLst>
              </a:tr>
              <a:tr h="215005">
                <a:tc>
                  <a:txBody>
                    <a:bodyPr/>
                    <a:lstStyle/>
                    <a:p>
                      <a:pPr algn="ctr" rtl="0" fontAlgn="ctr"/>
                      <a:r>
                        <a:rPr lang="en-US" sz="1000" u="none" strike="noStrike">
                          <a:effectLst/>
                        </a:rPr>
                        <a:t>19</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39,700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33,000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77,200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139,500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72%</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67%</a:t>
                      </a:r>
                      <a:endParaRPr lang="en-US" sz="1000" b="0" i="0" u="none" strike="noStrike">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2270734025"/>
                  </a:ext>
                </a:extLst>
              </a:tr>
              <a:tr h="215005">
                <a:tc>
                  <a:txBody>
                    <a:bodyPr/>
                    <a:lstStyle/>
                    <a:p>
                      <a:pPr algn="ctr" rtl="0" fontAlgn="ctr"/>
                      <a:r>
                        <a:rPr lang="en-US" sz="1000" u="none" strike="noStrike">
                          <a:effectLst/>
                        </a:rPr>
                        <a:t>20</a:t>
                      </a:r>
                      <a:endParaRPr lang="en-US" sz="1000" b="1"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40,400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900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33,600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78,500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141,800</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a:effectLst/>
                        </a:rPr>
                        <a:t>72%</a:t>
                      </a:r>
                      <a:endParaRPr lang="en-US" sz="1000" b="0" i="0" u="none" strike="noStrike">
                        <a:solidFill>
                          <a:srgbClr val="000000"/>
                        </a:solidFill>
                        <a:effectLst/>
                        <a:latin typeface="Montserrat" panose="00000500000000000000" pitchFamily="2" charset="0"/>
                      </a:endParaRPr>
                    </a:p>
                  </a:txBody>
                  <a:tcPr marL="8685" marR="8685" marT="8685" marB="0" anchor="ctr"/>
                </a:tc>
                <a:tc>
                  <a:txBody>
                    <a:bodyPr/>
                    <a:lstStyle/>
                    <a:p>
                      <a:pPr algn="ctr" rtl="0" fontAlgn="ctr"/>
                      <a:r>
                        <a:rPr lang="en-US" sz="1000" u="none" strike="noStrike" dirty="0">
                          <a:effectLst/>
                        </a:rPr>
                        <a:t>67%</a:t>
                      </a:r>
                      <a:endParaRPr lang="en-US" sz="1000" b="0" i="0" u="none" strike="noStrike" dirty="0">
                        <a:solidFill>
                          <a:srgbClr val="000000"/>
                        </a:solidFill>
                        <a:effectLst/>
                        <a:latin typeface="Montserrat" panose="00000500000000000000" pitchFamily="2" charset="0"/>
                      </a:endParaRPr>
                    </a:p>
                  </a:txBody>
                  <a:tcPr marL="8685" marR="8685" marT="8685" marB="0" anchor="ctr"/>
                </a:tc>
                <a:extLst>
                  <a:ext uri="{0D108BD9-81ED-4DB2-BD59-A6C34878D82A}">
                    <a16:rowId xmlns:a16="http://schemas.microsoft.com/office/drawing/2014/main" val="6734126"/>
                  </a:ext>
                </a:extLst>
              </a:tr>
            </a:tbl>
          </a:graphicData>
        </a:graphic>
      </p:graphicFrame>
      <p:sp>
        <p:nvSpPr>
          <p:cNvPr id="3" name="TextBox 12">
            <a:extLst>
              <a:ext uri="{FF2B5EF4-FFF2-40B4-BE49-F238E27FC236}">
                <a16:creationId xmlns:a16="http://schemas.microsoft.com/office/drawing/2014/main" id="{6C8C4CBB-1F10-0160-50D6-25F5CABB470F}"/>
              </a:ext>
            </a:extLst>
          </p:cNvPr>
          <p:cNvSpPr txBox="1"/>
          <p:nvPr/>
        </p:nvSpPr>
        <p:spPr>
          <a:xfrm>
            <a:off x="9242043" y="1230798"/>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Trinity Health MI has 11% inpatient market share, and 8% outpatient market compared to hospitals/clinics in the Trinity Health service area.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Trinity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Tree>
    <p:extLst>
      <p:ext uri="{BB962C8B-B14F-4D97-AF65-F5344CB8AC3E}">
        <p14:creationId xmlns:p14="http://schemas.microsoft.com/office/powerpoint/2010/main" val="3568316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$44.43M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$5.29M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$261.67M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$32.11M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$533.16M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$65.53M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1AE0C-2A38-FE0E-BC4E-83B6A28B6602}"/>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60D701CE-F9EA-0233-D496-150FA8F1C3BF}"/>
              </a:ext>
            </a:extLst>
          </p:cNvPr>
          <p:cNvSpPr>
            <a:spLocks noGrp="1"/>
          </p:cNvSpPr>
          <p:nvPr>
            <p:ph type="title"/>
          </p:nvPr>
        </p:nvSpPr>
        <p:spPr>
          <a:xfrm>
            <a:off x="295590" y="144962"/>
            <a:ext cx="11431354" cy="979057"/>
          </a:xfrm>
        </p:spPr>
        <p:txBody>
          <a:bodyPr>
            <a:normAutofit/>
          </a:bodyPr>
          <a:lstStyle/>
          <a:p>
            <a:r>
              <a:rPr lang="en-US" sz="3600" b="0" dirty="0"/>
              <a:t>JOINT INVESTMENT FRAMEWORK</a:t>
            </a:r>
          </a:p>
        </p:txBody>
      </p:sp>
      <p:pic>
        <p:nvPicPr>
          <p:cNvPr id="21" name="Picture 27">
            <a:extLst>
              <a:ext uri="{FF2B5EF4-FFF2-40B4-BE49-F238E27FC236}">
                <a16:creationId xmlns:a16="http://schemas.microsoft.com/office/drawing/2014/main" id="{10D900D8-EBA4-79D4-FA8D-A9D31EEFFC6D}"/>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3262FAE0-E9F8-09EC-EB3C-07A76C709322}"/>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6" name="Content Placeholder 2">
            <a:extLst>
              <a:ext uri="{FF2B5EF4-FFF2-40B4-BE49-F238E27FC236}">
                <a16:creationId xmlns:a16="http://schemas.microsoft.com/office/drawing/2014/main" id="{D99CF07A-F4D4-027F-3A10-328B058384EF}"/>
              </a:ext>
            </a:extLst>
          </p:cNvPr>
          <p:cNvSpPr txBox="1">
            <a:spLocks/>
          </p:cNvSpPr>
          <p:nvPr/>
        </p:nvSpPr>
        <p:spPr>
          <a:xfrm>
            <a:off x="404121" y="2134816"/>
            <a:ext cx="2885504" cy="584954"/>
          </a:xfrm>
          <a:prstGeom prst="rect">
            <a:avLst/>
          </a:prstGeom>
        </p:spPr>
        <p:txBody>
          <a:bodyPr vert="horz" lIns="58293" tIns="29146" rIns="58293" bIns="29146"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582937">
              <a:spcBef>
                <a:spcPts val="638"/>
              </a:spcBef>
              <a:buNone/>
              <a:defRPr/>
            </a:pPr>
            <a:endParaRPr lang="en-US" dirty="0">
              <a:solidFill>
                <a:prstClr val="black"/>
              </a:solidFill>
              <a:latin typeface="Montserrat" panose="00000500000000000000" pitchFamily="2" charset="0"/>
              <a:cs typeface="Arial" panose="020B0604020202020204" pitchFamily="34" charset="0"/>
            </a:endParaRPr>
          </a:p>
        </p:txBody>
      </p:sp>
      <p:sp>
        <p:nvSpPr>
          <p:cNvPr id="27" name="TextBox 7">
            <a:extLst>
              <a:ext uri="{FF2B5EF4-FFF2-40B4-BE49-F238E27FC236}">
                <a16:creationId xmlns:a16="http://schemas.microsoft.com/office/drawing/2014/main" id="{FE82831D-84F7-F8FD-3E34-B1714E5AEF75}"/>
              </a:ext>
            </a:extLst>
          </p:cNvPr>
          <p:cNvSpPr txBox="1"/>
          <p:nvPr/>
        </p:nvSpPr>
        <p:spPr>
          <a:xfrm>
            <a:off x="404121" y="1207512"/>
            <a:ext cx="5024222" cy="800219"/>
          </a:xfrm>
          <a:prstGeom prst="rect">
            <a:avLst/>
          </a:prstGeom>
          <a:noFill/>
        </p:spPr>
        <p:txBody>
          <a:bodyPr wrap="square">
            <a:spAutoFit/>
          </a:bodyPr>
          <a:lstStyle/>
          <a:p>
            <a:pPr defTabSz="291465">
              <a:defRPr/>
            </a:pPr>
            <a:r>
              <a:rPr lang="en-US" sz="2400" b="1" dirty="0">
                <a:solidFill>
                  <a:prstClr val="black"/>
                </a:solidFill>
                <a:latin typeface="Montserrat" panose="00000500000000000000" pitchFamily="2" charset="0"/>
                <a:cs typeface="Arial" panose="020B0604020202020204" pitchFamily="34" charset="0"/>
              </a:rPr>
              <a:t>Plan Set-Up Fees</a:t>
            </a:r>
          </a:p>
          <a:p>
            <a:pPr defTabSz="291465">
              <a:defRPr/>
            </a:pPr>
            <a:r>
              <a:rPr lang="en-US" sz="1100" dirty="0">
                <a:solidFill>
                  <a:prstClr val="black"/>
                </a:solidFill>
                <a:latin typeface="Montserrat" panose="00000500000000000000" pitchFamily="2" charset="0"/>
                <a:cs typeface="Arial" panose="020B0604020202020204" pitchFamily="34" charset="0"/>
              </a:rPr>
              <a:t>Plan and network creation, registration, marketing, sales, branding and launch. </a:t>
            </a:r>
          </a:p>
        </p:txBody>
      </p:sp>
      <p:sp>
        <p:nvSpPr>
          <p:cNvPr id="28" name="TextBox 8">
            <a:extLst>
              <a:ext uri="{FF2B5EF4-FFF2-40B4-BE49-F238E27FC236}">
                <a16:creationId xmlns:a16="http://schemas.microsoft.com/office/drawing/2014/main" id="{182C9CDF-8AE5-D0E9-0774-DCC9BCF36A9F}"/>
              </a:ext>
            </a:extLst>
          </p:cNvPr>
          <p:cNvSpPr txBox="1"/>
          <p:nvPr/>
        </p:nvSpPr>
        <p:spPr>
          <a:xfrm>
            <a:off x="6457514" y="1208531"/>
            <a:ext cx="5632886" cy="630942"/>
          </a:xfrm>
          <a:prstGeom prst="rect">
            <a:avLst/>
          </a:prstGeom>
          <a:noFill/>
        </p:spPr>
        <p:txBody>
          <a:bodyPr wrap="square">
            <a:spAutoFit/>
          </a:bodyPr>
          <a:lstStyle/>
          <a:p>
            <a:pPr defTabSz="291465">
              <a:defRPr/>
            </a:pPr>
            <a:r>
              <a:rPr lang="en-US" sz="2400" b="1" dirty="0">
                <a:solidFill>
                  <a:prstClr val="black"/>
                </a:solidFill>
                <a:latin typeface="Montserrat" panose="00000500000000000000" pitchFamily="2" charset="0"/>
                <a:cs typeface="Arial" panose="020B0604020202020204" pitchFamily="34" charset="0"/>
              </a:rPr>
              <a:t>Yearly Sales Fees</a:t>
            </a:r>
          </a:p>
          <a:p>
            <a:pPr defTabSz="291465">
              <a:defRPr/>
            </a:pPr>
            <a:r>
              <a:rPr lang="en-US" sz="1100" dirty="0">
                <a:solidFill>
                  <a:prstClr val="black"/>
                </a:solidFill>
                <a:latin typeface="Montserrat" panose="00000500000000000000" pitchFamily="2" charset="0"/>
                <a:cs typeface="Arial" panose="020B0604020202020204" pitchFamily="34" charset="0"/>
              </a:rPr>
              <a:t>Two dedicated sales leaders and ongoing sales/marketing support.</a:t>
            </a:r>
          </a:p>
        </p:txBody>
      </p:sp>
      <p:graphicFrame>
        <p:nvGraphicFramePr>
          <p:cNvPr id="29" name="Table 10">
            <a:extLst>
              <a:ext uri="{FF2B5EF4-FFF2-40B4-BE49-F238E27FC236}">
                <a16:creationId xmlns:a16="http://schemas.microsoft.com/office/drawing/2014/main" id="{66B0CDF8-981F-FA82-3DE2-C0ABB8268E00}"/>
              </a:ext>
            </a:extLst>
          </p:cNvPr>
          <p:cNvGraphicFramePr>
            <a:graphicFrameLocks noGrp="1"/>
          </p:cNvGraphicFramePr>
          <p:nvPr>
            <p:extLst>
              <p:ext uri="{D42A27DB-BD31-4B8C-83A1-F6EECF244321}">
                <p14:modId xmlns:p14="http://schemas.microsoft.com/office/powerpoint/2010/main" val="1120519352"/>
              </p:ext>
            </p:extLst>
          </p:nvPr>
        </p:nvGraphicFramePr>
        <p:xfrm>
          <a:off x="538698" y="2080907"/>
          <a:ext cx="5269430" cy="1922334"/>
        </p:xfrm>
        <a:graphic>
          <a:graphicData uri="http://schemas.openxmlformats.org/drawingml/2006/table">
            <a:tbl>
              <a:tblPr bandRow="1">
                <a:tableStyleId>{2D5ABB26-0587-4C30-8999-92F81FD0307C}</a:tableStyleId>
              </a:tblPr>
              <a:tblGrid>
                <a:gridCol w="2632519">
                  <a:extLst>
                    <a:ext uri="{9D8B030D-6E8A-4147-A177-3AD203B41FA5}">
                      <a16:colId xmlns:a16="http://schemas.microsoft.com/office/drawing/2014/main" val="1477699201"/>
                    </a:ext>
                  </a:extLst>
                </a:gridCol>
                <a:gridCol w="2636911">
                  <a:extLst>
                    <a:ext uri="{9D8B030D-6E8A-4147-A177-3AD203B41FA5}">
                      <a16:colId xmlns:a16="http://schemas.microsoft.com/office/drawing/2014/main" val="3897938436"/>
                    </a:ext>
                  </a:extLst>
                </a:gridCol>
              </a:tblGrid>
              <a:tr h="354235">
                <a:tc>
                  <a:txBody>
                    <a:bodyPr/>
                    <a:lstStyle/>
                    <a:p>
                      <a:r>
                        <a:rPr lang="en-US" sz="1200" b="0" kern="1200" dirty="0">
                          <a:solidFill>
                            <a:schemeClr val="tx1"/>
                          </a:solidFill>
                          <a:latin typeface="Montserrat" panose="00000500000000000000" pitchFamily="2" charset="0"/>
                          <a:ea typeface="+mn-ea"/>
                          <a:cs typeface="+mn-cs"/>
                        </a:rPr>
                        <a:t>Network Total Launch Cost</a:t>
                      </a:r>
                    </a:p>
                  </a:txBody>
                  <a:tcPr marL="58293" marR="58293" marT="29146" marB="29146">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b="0" kern="1200" dirty="0">
                          <a:solidFill>
                            <a:schemeClr val="tx1"/>
                          </a:solidFill>
                          <a:latin typeface="Montserrat" panose="00000500000000000000" pitchFamily="2" charset="0"/>
                          <a:ea typeface="+mn-ea"/>
                          <a:cs typeface="+mn-cs"/>
                        </a:rPr>
                        <a:t>$310K+</a:t>
                      </a:r>
                    </a:p>
                  </a:txBody>
                  <a:tcPr marL="58293" marR="58293" marT="29146" marB="29146">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05077763"/>
                  </a:ext>
                </a:extLst>
              </a:tr>
              <a:tr h="354235">
                <a:tc>
                  <a:txBody>
                    <a:bodyPr/>
                    <a:lstStyle/>
                    <a:p>
                      <a:pPr marL="0" algn="l" defTabSz="914400" rtl="0" eaLnBrk="1" latinLnBrk="0" hangingPunct="1"/>
                      <a:r>
                        <a:rPr lang="en-US" sz="1200" b="0" kern="1200" dirty="0">
                          <a:solidFill>
                            <a:schemeClr val="tx1"/>
                          </a:solidFill>
                          <a:latin typeface="Montserrat" panose="00000500000000000000" pitchFamily="2" charset="0"/>
                          <a:ea typeface="+mn-ea"/>
                          <a:cs typeface="+mn-cs"/>
                        </a:rPr>
                        <a:t>Trinity Launch Costs</a:t>
                      </a:r>
                    </a:p>
                  </a:txBody>
                  <a:tcPr marL="58293" marR="58293" marT="29146" marB="29146">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l" defTabSz="914400" rtl="0" eaLnBrk="1" latinLnBrk="0" hangingPunct="1"/>
                      <a:r>
                        <a:rPr lang="en-US" sz="1200" b="0" kern="1200" dirty="0">
                          <a:solidFill>
                            <a:schemeClr val="tx1"/>
                          </a:solidFill>
                          <a:latin typeface="Montserrat" panose="00000500000000000000" pitchFamily="2" charset="0"/>
                          <a:ea typeface="+mn-ea"/>
                          <a:cs typeface="+mn-cs"/>
                        </a:rPr>
                        <a:t>$150K </a:t>
                      </a:r>
                    </a:p>
                  </a:txBody>
                  <a:tcPr marL="58293" marR="58293" marT="29146" marB="29146">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54235">
                <a:tc>
                  <a:txBody>
                    <a:bodyPr/>
                    <a:lstStyle/>
                    <a:p>
                      <a:r>
                        <a:rPr lang="en-US" sz="1200" b="0" kern="1200" dirty="0">
                          <a:solidFill>
                            <a:schemeClr val="tx1"/>
                          </a:solidFill>
                          <a:latin typeface="Montserrat" panose="00000500000000000000" pitchFamily="2" charset="0"/>
                          <a:ea typeface="+mn-ea"/>
                          <a:cs typeface="+mn-cs"/>
                        </a:rPr>
                        <a:t>Trinity Health Rebate</a:t>
                      </a:r>
                    </a:p>
                  </a:txBody>
                  <a:tcPr marL="58293" marR="58293" marT="29146" marB="29146">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b="0" kern="1200" dirty="0">
                          <a:solidFill>
                            <a:schemeClr val="tx1"/>
                          </a:solidFill>
                          <a:latin typeface="Montserrat" panose="00000500000000000000" pitchFamily="2" charset="0"/>
                          <a:ea typeface="+mn-ea"/>
                          <a:cs typeface="+mn-cs"/>
                        </a:rPr>
                        <a:t>$37.5K per 1,500 employee lives added to the plan, up to a maximum of 4,500 employee lives –potential rebate of $112.5K</a:t>
                      </a:r>
                    </a:p>
                  </a:txBody>
                  <a:tcPr marL="58293" marR="58293" marT="29146" marB="29146">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45401996"/>
                  </a:ext>
                </a:extLst>
              </a:tr>
              <a:tr h="354235">
                <a:tc>
                  <a:txBody>
                    <a:bodyPr/>
                    <a:lstStyle/>
                    <a:p>
                      <a:r>
                        <a:rPr lang="en-US" sz="1200" b="0" kern="1200" dirty="0">
                          <a:solidFill>
                            <a:schemeClr val="tx1"/>
                          </a:solidFill>
                          <a:latin typeface="Montserrat" panose="00000500000000000000" pitchFamily="2" charset="0"/>
                          <a:ea typeface="+mn-ea"/>
                          <a:cs typeface="+mn-cs"/>
                        </a:rPr>
                        <a:t>KBA Launch Costs</a:t>
                      </a:r>
                    </a:p>
                  </a:txBody>
                  <a:tcPr marL="58293" marR="58293" marT="29146" marB="29146">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b="0" kern="1200" dirty="0">
                          <a:solidFill>
                            <a:schemeClr val="tx1"/>
                          </a:solidFill>
                          <a:latin typeface="Montserrat" panose="00000500000000000000" pitchFamily="2" charset="0"/>
                          <a:ea typeface="+mn-ea"/>
                          <a:cs typeface="+mn-cs"/>
                        </a:rPr>
                        <a:t>160-272.5K (depending on rebate)</a:t>
                      </a:r>
                    </a:p>
                  </a:txBody>
                  <a:tcPr marL="58293" marR="58293" marT="29146" marB="29146">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3966153"/>
                  </a:ext>
                </a:extLst>
              </a:tr>
            </a:tbl>
          </a:graphicData>
        </a:graphic>
      </p:graphicFrame>
      <p:graphicFrame>
        <p:nvGraphicFramePr>
          <p:cNvPr id="30" name="Table 11">
            <a:extLst>
              <a:ext uri="{FF2B5EF4-FFF2-40B4-BE49-F238E27FC236}">
                <a16:creationId xmlns:a16="http://schemas.microsoft.com/office/drawing/2014/main" id="{499268BA-5F01-8FC6-1960-1E7E66DE13DB}"/>
              </a:ext>
            </a:extLst>
          </p:cNvPr>
          <p:cNvGraphicFramePr>
            <a:graphicFrameLocks noGrp="1"/>
          </p:cNvGraphicFramePr>
          <p:nvPr>
            <p:extLst>
              <p:ext uri="{D42A27DB-BD31-4B8C-83A1-F6EECF244321}">
                <p14:modId xmlns:p14="http://schemas.microsoft.com/office/powerpoint/2010/main" val="285387548"/>
              </p:ext>
            </p:extLst>
          </p:nvPr>
        </p:nvGraphicFramePr>
        <p:xfrm>
          <a:off x="6639242" y="2028449"/>
          <a:ext cx="5269430" cy="1218515"/>
        </p:xfrm>
        <a:graphic>
          <a:graphicData uri="http://schemas.openxmlformats.org/drawingml/2006/table">
            <a:tbl>
              <a:tblPr bandRow="1">
                <a:tableStyleId>{2D5ABB26-0587-4C30-8999-92F81FD0307C}</a:tableStyleId>
              </a:tblPr>
              <a:tblGrid>
                <a:gridCol w="3277492">
                  <a:extLst>
                    <a:ext uri="{9D8B030D-6E8A-4147-A177-3AD203B41FA5}">
                      <a16:colId xmlns:a16="http://schemas.microsoft.com/office/drawing/2014/main" val="1477699201"/>
                    </a:ext>
                  </a:extLst>
                </a:gridCol>
                <a:gridCol w="1991938">
                  <a:extLst>
                    <a:ext uri="{9D8B030D-6E8A-4147-A177-3AD203B41FA5}">
                      <a16:colId xmlns:a16="http://schemas.microsoft.com/office/drawing/2014/main" val="3897938436"/>
                    </a:ext>
                  </a:extLst>
                </a:gridCol>
              </a:tblGrid>
              <a:tr h="459626">
                <a:tc>
                  <a:txBody>
                    <a:bodyPr/>
                    <a:lstStyle/>
                    <a:p>
                      <a:r>
                        <a:rPr lang="en-US" sz="1200" b="0" dirty="0">
                          <a:solidFill>
                            <a:schemeClr val="tx1"/>
                          </a:solidFill>
                          <a:latin typeface="Montserrat" panose="00000500000000000000" pitchFamily="2" charset="0"/>
                        </a:rPr>
                        <a:t>Network Total Annual Sales, Marketing and Administration Costs</a:t>
                      </a:r>
                    </a:p>
                  </a:txBody>
                  <a:tcPr marL="58293" marR="58293" marT="29146" marB="29146">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b="0" dirty="0">
                          <a:solidFill>
                            <a:schemeClr val="tx1"/>
                          </a:solidFill>
                          <a:latin typeface="Montserrat" panose="00000500000000000000" pitchFamily="2" charset="0"/>
                        </a:rPr>
                        <a:t>$380K+</a:t>
                      </a:r>
                    </a:p>
                  </a:txBody>
                  <a:tcPr marL="58293" marR="58293" marT="29146" marB="29146">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5482302"/>
                  </a:ext>
                </a:extLst>
              </a:tr>
              <a:tr h="459626">
                <a:tc>
                  <a:txBody>
                    <a:bodyPr/>
                    <a:lstStyle/>
                    <a:p>
                      <a:r>
                        <a:rPr lang="en-US" sz="1200" b="0" dirty="0">
                          <a:solidFill>
                            <a:schemeClr val="tx1"/>
                          </a:solidFill>
                          <a:latin typeface="Montserrat" panose="00000500000000000000" pitchFamily="2" charset="0"/>
                        </a:rPr>
                        <a:t>Trinity Health Yearly Investment</a:t>
                      </a:r>
                    </a:p>
                  </a:txBody>
                  <a:tcPr marL="58293" marR="58293" marT="29146" marB="29146">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b="0" dirty="0">
                          <a:solidFill>
                            <a:schemeClr val="tx1"/>
                          </a:solidFill>
                          <a:latin typeface="Montserrat" panose="00000500000000000000" pitchFamily="2" charset="0"/>
                        </a:rPr>
                        <a:t>$180K</a:t>
                      </a:r>
                    </a:p>
                    <a:p>
                      <a:endParaRPr lang="en-US" sz="1200" b="0" dirty="0">
                        <a:solidFill>
                          <a:schemeClr val="tx1"/>
                        </a:solidFill>
                        <a:latin typeface="Montserrat" panose="00000500000000000000" pitchFamily="2" charset="0"/>
                      </a:endParaRPr>
                    </a:p>
                  </a:txBody>
                  <a:tcPr marL="58293" marR="58293" marT="29146" marB="29146">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299263">
                <a:tc>
                  <a:txBody>
                    <a:bodyPr/>
                    <a:lstStyle/>
                    <a:p>
                      <a:r>
                        <a:rPr lang="en-US" sz="1200" b="0" dirty="0">
                          <a:solidFill>
                            <a:schemeClr val="tx1"/>
                          </a:solidFill>
                          <a:latin typeface="Montserrat" panose="00000500000000000000" pitchFamily="2" charset="0"/>
                        </a:rPr>
                        <a:t>KBA Yearly Investment</a:t>
                      </a:r>
                    </a:p>
                  </a:txBody>
                  <a:tcPr marL="58293" marR="58293" marT="29146" marB="29146">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sz="1200" b="0" dirty="0">
                          <a:solidFill>
                            <a:schemeClr val="tx1"/>
                          </a:solidFill>
                          <a:latin typeface="Montserrat" panose="00000500000000000000" pitchFamily="2" charset="0"/>
                        </a:rPr>
                        <a:t>200K</a:t>
                      </a:r>
                    </a:p>
                  </a:txBody>
                  <a:tcPr marL="58293" marR="58293" marT="29146" marB="29146">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44647924"/>
                  </a:ext>
                </a:extLst>
              </a:tr>
            </a:tbl>
          </a:graphicData>
        </a:graphic>
      </p:graphicFrame>
      <p:sp>
        <p:nvSpPr>
          <p:cNvPr id="31" name="TextBox 12">
            <a:extLst>
              <a:ext uri="{FF2B5EF4-FFF2-40B4-BE49-F238E27FC236}">
                <a16:creationId xmlns:a16="http://schemas.microsoft.com/office/drawing/2014/main" id="{7EC0A745-5261-61C3-4876-5D1C12F67BD0}"/>
              </a:ext>
            </a:extLst>
          </p:cNvPr>
          <p:cNvSpPr txBox="1"/>
          <p:nvPr/>
        </p:nvSpPr>
        <p:spPr>
          <a:xfrm>
            <a:off x="6457514" y="4463322"/>
            <a:ext cx="5037800" cy="1446550"/>
          </a:xfrm>
          <a:prstGeom prst="rect">
            <a:avLst/>
          </a:prstGeom>
          <a:noFill/>
        </p:spPr>
        <p:txBody>
          <a:bodyPr wrap="square" rtlCol="0">
            <a:spAutoFit/>
          </a:bodyPr>
          <a:lstStyle/>
          <a:p>
            <a:pPr defTabSz="582930">
              <a:defRPr/>
            </a:pPr>
            <a:r>
              <a:rPr lang="en-US" sz="1100" b="1" dirty="0">
                <a:solidFill>
                  <a:prstClr val="black"/>
                </a:solidFill>
                <a:latin typeface="Montserrat" panose="00000500000000000000" pitchFamily="2" charset="0"/>
              </a:rPr>
              <a:t>Trinity Health’s sales and marketing costs </a:t>
            </a:r>
            <a:r>
              <a:rPr lang="en-US" sz="1100" dirty="0">
                <a:solidFill>
                  <a:prstClr val="black"/>
                </a:solidFill>
                <a:latin typeface="Montserrat" panose="00000500000000000000" pitchFamily="2" charset="0"/>
              </a:rPr>
              <a:t>cover local sales leader salary and benefits. </a:t>
            </a:r>
          </a:p>
          <a:p>
            <a:pPr defTabSz="582930">
              <a:defRPr/>
            </a:pPr>
            <a:endParaRPr lang="en-US" sz="1100" dirty="0">
              <a:solidFill>
                <a:prstClr val="black"/>
              </a:solidFill>
              <a:latin typeface="Montserrat" panose="00000500000000000000" pitchFamily="2" charset="0"/>
            </a:endParaRPr>
          </a:p>
          <a:p>
            <a:pPr defTabSz="582930">
              <a:defRPr/>
            </a:pPr>
            <a:r>
              <a:rPr lang="en-US" sz="1100" b="1" dirty="0">
                <a:solidFill>
                  <a:prstClr val="black"/>
                </a:solidFill>
                <a:latin typeface="Montserrat" panose="00000500000000000000" pitchFamily="2" charset="0"/>
              </a:rPr>
              <a:t>KBA’s yearly investment </a:t>
            </a:r>
            <a:r>
              <a:rPr lang="en-US" sz="1100" dirty="0">
                <a:solidFill>
                  <a:prstClr val="black"/>
                </a:solidFill>
                <a:latin typeface="Montserrat" panose="00000500000000000000" pitchFamily="2" charset="0"/>
              </a:rPr>
              <a:t>covers sales leadership, marketing, broker and partner communications, website management, promotions, network management, patient convenience cards, Key Incentive Plan administration, EHR integration, promotional materials, and administrative reporting.</a:t>
            </a:r>
          </a:p>
        </p:txBody>
      </p:sp>
      <p:sp>
        <p:nvSpPr>
          <p:cNvPr id="32" name="TextBox 12">
            <a:extLst>
              <a:ext uri="{FF2B5EF4-FFF2-40B4-BE49-F238E27FC236}">
                <a16:creationId xmlns:a16="http://schemas.microsoft.com/office/drawing/2014/main" id="{8EC0C52F-EAF6-5B63-9D7D-AE3C36E25C05}"/>
              </a:ext>
            </a:extLst>
          </p:cNvPr>
          <p:cNvSpPr txBox="1"/>
          <p:nvPr/>
        </p:nvSpPr>
        <p:spPr>
          <a:xfrm>
            <a:off x="404121" y="4463322"/>
            <a:ext cx="5158797" cy="1615827"/>
          </a:xfrm>
          <a:prstGeom prst="rect">
            <a:avLst/>
          </a:prstGeom>
          <a:noFill/>
        </p:spPr>
        <p:txBody>
          <a:bodyPr wrap="square" rtlCol="0">
            <a:spAutoFit/>
          </a:bodyPr>
          <a:lstStyle/>
          <a:p>
            <a:pPr defTabSz="582930">
              <a:defRPr/>
            </a:pPr>
            <a:r>
              <a:rPr lang="en-US" sz="1100" b="1" dirty="0">
                <a:solidFill>
                  <a:prstClr val="black"/>
                </a:solidFill>
                <a:latin typeface="Montserrat" panose="00000500000000000000" pitchFamily="2" charset="0"/>
              </a:rPr>
              <a:t>Trinity Health launch costs </a:t>
            </a:r>
            <a:r>
              <a:rPr lang="en-US" sz="1100" dirty="0">
                <a:solidFill>
                  <a:prstClr val="black"/>
                </a:solidFill>
                <a:latin typeface="Montserrat" panose="00000500000000000000" pitchFamily="2" charset="0"/>
              </a:rPr>
              <a:t>cover the employer marketing campaign, the stop-loss relationship campaign, and employer communication campaigns.</a:t>
            </a:r>
          </a:p>
          <a:p>
            <a:pPr defTabSz="582930">
              <a:defRPr/>
            </a:pPr>
            <a:endParaRPr lang="en-US" sz="1100" dirty="0">
              <a:solidFill>
                <a:prstClr val="black"/>
              </a:solidFill>
              <a:latin typeface="Montserrat" panose="00000500000000000000" pitchFamily="2" charset="0"/>
            </a:endParaRPr>
          </a:p>
          <a:p>
            <a:pPr defTabSz="582930">
              <a:defRPr/>
            </a:pPr>
            <a:r>
              <a:rPr lang="en-US" sz="1100" b="1" dirty="0">
                <a:solidFill>
                  <a:prstClr val="black"/>
                </a:solidFill>
                <a:latin typeface="Montserrat" panose="00000500000000000000" pitchFamily="2" charset="0"/>
              </a:rPr>
              <a:t>KBA’s yearly investment </a:t>
            </a:r>
            <a:r>
              <a:rPr lang="en-US" sz="1100" dirty="0">
                <a:solidFill>
                  <a:prstClr val="black"/>
                </a:solidFill>
                <a:latin typeface="Montserrat" panose="00000500000000000000" pitchFamily="2" charset="0"/>
              </a:rPr>
              <a:t>covers three full-time implementation specialists, a PMI-certified project manager, expanded leadership support, claims administration programming, training and auditing, legal and regulatory compliance review, and provider network creation and management.. </a:t>
            </a:r>
          </a:p>
        </p:txBody>
      </p:sp>
    </p:spTree>
    <p:extLst>
      <p:ext uri="{BB962C8B-B14F-4D97-AF65-F5344CB8AC3E}">
        <p14:creationId xmlns:p14="http://schemas.microsoft.com/office/powerpoint/2010/main" val="4091842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99104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46195</TotalTime>
  <Words>1282</Words>
  <Application>Microsoft Office PowerPoint</Application>
  <PresentationFormat>Widescreen</PresentationFormat>
  <Paragraphs>395</Paragraphs>
  <Slides>14</Slides>
  <Notes>3</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14</vt:i4>
      </vt:variant>
    </vt:vector>
  </HeadingPairs>
  <TitlesOfParts>
    <vt:vector size="21" baseType="lpstr">
      <vt:lpstr>Arial</vt:lpstr>
      <vt:lpstr>Calibri</vt:lpstr>
      <vt:lpstr>Montserrat</vt:lpstr>
      <vt:lpstr>Office Theme</vt:lpstr>
      <vt:lpstr>1_Office Theme</vt:lpstr>
      <vt:lpstr>2_Office Theme</vt:lpstr>
      <vt:lpstr>3_Office Theme</vt:lpstr>
      <vt:lpstr>PowerPoint Presentation</vt:lpstr>
      <vt:lpstr>PowerPoint Presentation</vt:lpstr>
      <vt:lpstr>PowerPoint Presentation</vt:lpstr>
      <vt:lpstr>DIRECT-TO-EMPLOYER (DTE)  </vt:lpstr>
      <vt:lpstr>MODELING TRINITY HEALTH (MI) GO-TO-MARKET OPPORTUNITY</vt:lpstr>
      <vt:lpstr>VARIATION IN PATIENT HCAHPS RECOMMENDATIONS National HCAHPS Patient Recommendation Percentile by Hospital</vt:lpstr>
      <vt:lpstr>DETROIT/ANN ARBOR COMPETITIVE LANDSCAPE </vt:lpstr>
      <vt:lpstr>DETROIT/ANN ARBOR COMPETITIVE LANDSCAPE </vt:lpstr>
      <vt:lpstr>PLAN POTENTIAL GROWTH PATHS</vt:lpstr>
      <vt:lpstr>ESTIMATED PLAN GROWTH BY REGION Forecasted Number of Employees in Direct-to-Employer Plans </vt:lpstr>
      <vt:lpstr>GROWING POWERFUL, LASTING PROFITABILITY</vt:lpstr>
      <vt:lpstr>JOINT INVESTMENT FRAMEWORK</vt:lpstr>
      <vt:lpstr>DIRECT-TO-EMPLOYER STRATEGY: ONLY AVAILABLE TO PREMIER HEALTH SYSTEMS</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2025-10-03T19:59:13Z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