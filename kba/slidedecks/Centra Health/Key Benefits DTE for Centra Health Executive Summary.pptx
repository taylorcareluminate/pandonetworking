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Lst>
  <p:notesMasterIdLst>
    <p:notesMasterId r:id="rId15"/>
  </p:notesMasterIdLst>
  <p:sldIdLst>
    <p:sldId id="488" r:id="rId5"/>
    <p:sldId id="549" r:id="rId6"/>
    <p:sldId id="487" r:id="rId7"/>
    <p:sldId id="572" r:id="rId8"/>
    <p:sldId id="521" r:id="rId9"/>
    <p:sldId id="564" r:id="rId10"/>
    <p:sldId id="558" r:id="rId11"/>
    <p:sldId id="499" r:id="rId12"/>
    <p:sldId id="454" r:id="rId13"/>
    <p:sldId id="472" r:id="rId14"/>
  </p:sldIdLst>
  <p:sldSz cx="12192000" cy="6858000"/>
  <p:notesSz cx="7315200" cy="9601200"/>
  <p:custDataLst>
    <p:tags r:id="rId16"/>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DCE5"/>
    <a:srgbClr val="01A050"/>
    <a:srgbClr val="30589B"/>
    <a:srgbClr val="6A8C98"/>
    <a:srgbClr val="59CAE8"/>
    <a:srgbClr val="244F9A"/>
    <a:srgbClr val="254F96"/>
    <a:srgbClr val="61A606"/>
    <a:srgbClr val="019CA5"/>
    <a:srgbClr val="7D32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359A1B-5B19-447B-AC40-CA1BE9FCEF94}" v="18" dt="2024-08-09T20:12:05.332"/>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66" d="100"/>
          <a:sy n="66" d="100"/>
        </p:scale>
        <p:origin x="2172" y="1002"/>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tags" Target="tags/tag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EF359A1B-5B19-447B-AC40-CA1BE9FCEF94}"/>
    <pc:docChg chg="custSel addSld delSld modSld">
      <pc:chgData name="Taylor Davis" userId="5c9e72a0-c39f-4aa1-9d7d-64125e78cbe6" providerId="ADAL" clId="{EF359A1B-5B19-447B-AC40-CA1BE9FCEF94}" dt="2024-08-09T20:12:06.850" v="29" actId="47"/>
      <pc:docMkLst>
        <pc:docMk/>
      </pc:docMkLst>
      <pc:sldChg chg="del">
        <pc:chgData name="Taylor Davis" userId="5c9e72a0-c39f-4aa1-9d7d-64125e78cbe6" providerId="ADAL" clId="{EF359A1B-5B19-447B-AC40-CA1BE9FCEF94}" dt="2024-08-09T05:10:13.394" v="7" actId="47"/>
        <pc:sldMkLst>
          <pc:docMk/>
          <pc:sldMk cId="2494354821" sldId="267"/>
        </pc:sldMkLst>
      </pc:sldChg>
      <pc:sldChg chg="add del">
        <pc:chgData name="Taylor Davis" userId="5c9e72a0-c39f-4aa1-9d7d-64125e78cbe6" providerId="ADAL" clId="{EF359A1B-5B19-447B-AC40-CA1BE9FCEF94}" dt="2024-08-09T19:50:09.511" v="14"/>
        <pc:sldMkLst>
          <pc:docMk/>
          <pc:sldMk cId="1919135106" sldId="454"/>
        </pc:sldMkLst>
      </pc:sldChg>
      <pc:sldChg chg="add del">
        <pc:chgData name="Taylor Davis" userId="5c9e72a0-c39f-4aa1-9d7d-64125e78cbe6" providerId="ADAL" clId="{EF359A1B-5B19-447B-AC40-CA1BE9FCEF94}" dt="2024-08-09T19:50:09.511" v="14"/>
        <pc:sldMkLst>
          <pc:docMk/>
          <pc:sldMk cId="2317283943" sldId="472"/>
        </pc:sldMkLst>
      </pc:sldChg>
      <pc:sldChg chg="add">
        <pc:chgData name="Taylor Davis" userId="5c9e72a0-c39f-4aa1-9d7d-64125e78cbe6" providerId="ADAL" clId="{EF359A1B-5B19-447B-AC40-CA1BE9FCEF94}" dt="2024-08-09T05:09:51.095" v="2"/>
        <pc:sldMkLst>
          <pc:docMk/>
          <pc:sldMk cId="1552833548" sldId="487"/>
        </pc:sldMkLst>
      </pc:sldChg>
      <pc:sldChg chg="addSp delSp modSp add">
        <pc:chgData name="Taylor Davis" userId="5c9e72a0-c39f-4aa1-9d7d-64125e78cbe6" providerId="ADAL" clId="{EF359A1B-5B19-447B-AC40-CA1BE9FCEF94}" dt="2024-08-09T19:52:42.142" v="22" actId="732"/>
        <pc:sldMkLst>
          <pc:docMk/>
          <pc:sldMk cId="3100464503" sldId="488"/>
        </pc:sldMkLst>
        <pc:picChg chg="add mod">
          <ac:chgData name="Taylor Davis" userId="5c9e72a0-c39f-4aa1-9d7d-64125e78cbe6" providerId="ADAL" clId="{EF359A1B-5B19-447B-AC40-CA1BE9FCEF94}" dt="2024-08-09T19:52:42.142" v="22" actId="732"/>
          <ac:picMkLst>
            <pc:docMk/>
            <pc:sldMk cId="3100464503" sldId="488"/>
            <ac:picMk id="1026" creationId="{8874B57B-E71F-8772-792C-2DC507827CF3}"/>
          </ac:picMkLst>
        </pc:picChg>
        <pc:picChg chg="del">
          <ac:chgData name="Taylor Davis" userId="5c9e72a0-c39f-4aa1-9d7d-64125e78cbe6" providerId="ADAL" clId="{EF359A1B-5B19-447B-AC40-CA1BE9FCEF94}" dt="2024-08-09T19:52:17.513" v="16" actId="478"/>
          <ac:picMkLst>
            <pc:docMk/>
            <pc:sldMk cId="3100464503" sldId="488"/>
            <ac:picMk id="1030" creationId="{62B86929-6340-4CAF-4560-4CAA1ADE3B25}"/>
          </ac:picMkLst>
        </pc:picChg>
      </pc:sldChg>
      <pc:sldChg chg="modSp add del setBg">
        <pc:chgData name="Taylor Davis" userId="5c9e72a0-c39f-4aa1-9d7d-64125e78cbe6" providerId="ADAL" clId="{EF359A1B-5B19-447B-AC40-CA1BE9FCEF94}" dt="2024-08-09T19:50:51.445" v="15"/>
        <pc:sldMkLst>
          <pc:docMk/>
          <pc:sldMk cId="2203540903" sldId="499"/>
        </pc:sldMkLst>
        <pc:spChg chg="mod">
          <ac:chgData name="Taylor Davis" userId="5c9e72a0-c39f-4aa1-9d7d-64125e78cbe6" providerId="ADAL" clId="{EF359A1B-5B19-447B-AC40-CA1BE9FCEF94}" dt="2024-08-09T19:50:51.445" v="15"/>
          <ac:spMkLst>
            <pc:docMk/>
            <pc:sldMk cId="2203540903" sldId="499"/>
            <ac:spMk id="9" creationId="{AB8821D0-DEDE-002D-E87D-13E033D5D75F}"/>
          </ac:spMkLst>
        </pc:spChg>
      </pc:sldChg>
      <pc:sldChg chg="del">
        <pc:chgData name="Taylor Davis" userId="5c9e72a0-c39f-4aa1-9d7d-64125e78cbe6" providerId="ADAL" clId="{EF359A1B-5B19-447B-AC40-CA1BE9FCEF94}" dt="2024-08-09T05:10:03.489" v="6" actId="47"/>
        <pc:sldMkLst>
          <pc:docMk/>
          <pc:sldMk cId="3680080401" sldId="517"/>
        </pc:sldMkLst>
      </pc:sldChg>
      <pc:sldChg chg="del">
        <pc:chgData name="Taylor Davis" userId="5c9e72a0-c39f-4aa1-9d7d-64125e78cbe6" providerId="ADAL" clId="{EF359A1B-5B19-447B-AC40-CA1BE9FCEF94}" dt="2024-08-09T05:09:55.498" v="4" actId="47"/>
        <pc:sldMkLst>
          <pc:docMk/>
          <pc:sldMk cId="2103269747" sldId="520"/>
        </pc:sldMkLst>
      </pc:sldChg>
      <pc:sldChg chg="add del">
        <pc:chgData name="Taylor Davis" userId="5c9e72a0-c39f-4aa1-9d7d-64125e78cbe6" providerId="ADAL" clId="{EF359A1B-5B19-447B-AC40-CA1BE9FCEF94}" dt="2024-08-09T05:10:14.479" v="8"/>
        <pc:sldMkLst>
          <pc:docMk/>
          <pc:sldMk cId="500461553" sldId="521"/>
        </pc:sldMkLst>
      </pc:sldChg>
      <pc:sldChg chg="del">
        <pc:chgData name="Taylor Davis" userId="5c9e72a0-c39f-4aa1-9d7d-64125e78cbe6" providerId="ADAL" clId="{EF359A1B-5B19-447B-AC40-CA1BE9FCEF94}" dt="2024-08-09T05:09:45.249" v="1" actId="47"/>
        <pc:sldMkLst>
          <pc:docMk/>
          <pc:sldMk cId="1244793632" sldId="554"/>
        </pc:sldMkLst>
      </pc:sldChg>
      <pc:sldChg chg="del">
        <pc:chgData name="Taylor Davis" userId="5c9e72a0-c39f-4aa1-9d7d-64125e78cbe6" providerId="ADAL" clId="{EF359A1B-5B19-447B-AC40-CA1BE9FCEF94}" dt="2024-08-09T05:09:52.857" v="3" actId="47"/>
        <pc:sldMkLst>
          <pc:docMk/>
          <pc:sldMk cId="2092029267" sldId="555"/>
        </pc:sldMkLst>
      </pc:sldChg>
      <pc:sldChg chg="modSp add del">
        <pc:chgData name="Taylor Davis" userId="5c9e72a0-c39f-4aa1-9d7d-64125e78cbe6" providerId="ADAL" clId="{EF359A1B-5B19-447B-AC40-CA1BE9FCEF94}" dt="2024-08-09T19:50:51.445" v="15"/>
        <pc:sldMkLst>
          <pc:docMk/>
          <pc:sldMk cId="3470905217" sldId="558"/>
        </pc:sldMkLst>
        <pc:spChg chg="mod">
          <ac:chgData name="Taylor Davis" userId="5c9e72a0-c39f-4aa1-9d7d-64125e78cbe6" providerId="ADAL" clId="{EF359A1B-5B19-447B-AC40-CA1BE9FCEF94}" dt="2024-08-09T19:50:51.445" v="15"/>
          <ac:spMkLst>
            <pc:docMk/>
            <pc:sldMk cId="3470905217" sldId="558"/>
            <ac:spMk id="13" creationId="{025AE6BF-C458-13D4-626E-DAD4C1439055}"/>
          </ac:spMkLst>
        </pc:spChg>
        <pc:spChg chg="mod">
          <ac:chgData name="Taylor Davis" userId="5c9e72a0-c39f-4aa1-9d7d-64125e78cbe6" providerId="ADAL" clId="{EF359A1B-5B19-447B-AC40-CA1BE9FCEF94}" dt="2024-08-09T19:50:51.445" v="15"/>
          <ac:spMkLst>
            <pc:docMk/>
            <pc:sldMk cId="3470905217" sldId="558"/>
            <ac:spMk id="25" creationId="{32C9D62D-25B0-6CD9-8AD7-E6855B1B1B26}"/>
          </ac:spMkLst>
        </pc:spChg>
      </pc:sldChg>
      <pc:sldChg chg="addSp delSp modSp add del mod">
        <pc:chgData name="Taylor Davis" userId="5c9e72a0-c39f-4aa1-9d7d-64125e78cbe6" providerId="ADAL" clId="{EF359A1B-5B19-447B-AC40-CA1BE9FCEF94}" dt="2024-08-09T19:58:40.096" v="27" actId="47"/>
        <pc:sldMkLst>
          <pc:docMk/>
          <pc:sldMk cId="1660060508" sldId="559"/>
        </pc:sldMkLst>
        <pc:picChg chg="add mod">
          <ac:chgData name="Taylor Davis" userId="5c9e72a0-c39f-4aa1-9d7d-64125e78cbe6" providerId="ADAL" clId="{EF359A1B-5B19-447B-AC40-CA1BE9FCEF94}" dt="2024-08-09T19:57:27.111" v="25" actId="1076"/>
          <ac:picMkLst>
            <pc:docMk/>
            <pc:sldMk cId="1660060508" sldId="559"/>
            <ac:picMk id="2" creationId="{FE3518BA-3024-AA80-5503-5AFCB670929E}"/>
          </ac:picMkLst>
        </pc:picChg>
        <pc:picChg chg="del">
          <ac:chgData name="Taylor Davis" userId="5c9e72a0-c39f-4aa1-9d7d-64125e78cbe6" providerId="ADAL" clId="{EF359A1B-5B19-447B-AC40-CA1BE9FCEF94}" dt="2024-08-09T19:57:22.149" v="23" actId="478"/>
          <ac:picMkLst>
            <pc:docMk/>
            <pc:sldMk cId="1660060508" sldId="559"/>
            <ac:picMk id="11" creationId="{7CB2EC54-AB5F-C18F-3291-990A004ED6B4}"/>
          </ac:picMkLst>
        </pc:picChg>
      </pc:sldChg>
      <pc:sldChg chg="add">
        <pc:chgData name="Taylor Davis" userId="5c9e72a0-c39f-4aa1-9d7d-64125e78cbe6" providerId="ADAL" clId="{EF359A1B-5B19-447B-AC40-CA1BE9FCEF94}" dt="2024-08-09T05:10:14.479" v="8"/>
        <pc:sldMkLst>
          <pc:docMk/>
          <pc:sldMk cId="4064752386" sldId="564"/>
        </pc:sldMkLst>
      </pc:sldChg>
      <pc:sldChg chg="add del">
        <pc:chgData name="Taylor Davis" userId="5c9e72a0-c39f-4aa1-9d7d-64125e78cbe6" providerId="ADAL" clId="{EF359A1B-5B19-447B-AC40-CA1BE9FCEF94}" dt="2024-08-09T20:12:06.850" v="29" actId="47"/>
        <pc:sldMkLst>
          <pc:docMk/>
          <pc:sldMk cId="579987293" sldId="565"/>
        </pc:sldMkLst>
      </pc:sldChg>
      <pc:sldChg chg="add">
        <pc:chgData name="Taylor Davis" userId="5c9e72a0-c39f-4aa1-9d7d-64125e78cbe6" providerId="ADAL" clId="{EF359A1B-5B19-447B-AC40-CA1BE9FCEF94}" dt="2024-08-09T20:12:05.328" v="28"/>
        <pc:sldMkLst>
          <pc:docMk/>
          <pc:sldMk cId="2368596866" sldId="5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vl1pPr>
          </a:lstStyle>
          <a:p>
            <a:fld id="{7444AE22-21A2-46C1-A42F-3B4E8AE858E0}" type="datetimeFigureOut">
              <a:rPr lang="en-US" smtClean="0"/>
              <a:t>8/9/2024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vl1pPr>
          </a:lstStyle>
          <a:p>
            <a:fld id="{4139CA89-B4B2-4050-B038-8DF8E3A33516}" type="slidenum">
              <a:rPr lang="en-US" smtClean="0"/>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8/9/2024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8/9/2024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8/9/2024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8/9/2024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8/9/2024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8/9/2024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8/9/2024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8/9/2024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8/9/2024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8/9/2024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8/9/2024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48873-4569-48AE-9711-BF92EE297A77}" type="datetime1">
              <a:rPr lang="en-US" smtClean="0"/>
              <a:t>8/9/2024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C719D-C4A7-4544-876E-D411D11AF6C9}" type="slidenum">
              <a:rPr lang="en-US" smtClean="0"/>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jpeg"/><Relationship Id="rId1" Type="http://schemas.openxmlformats.org/officeDocument/2006/relationships/slideLayout" Target="../slideLayouts/slideLayout6.xml"/><Relationship Id="rId6" Type="http://schemas.openxmlformats.org/officeDocument/2006/relationships/image" Target="../media/image18.svg"/><Relationship Id="rId11" Type="http://schemas.openxmlformats.org/officeDocument/2006/relationships/image" Target="../media/image13.pn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B981BBA2-A3ED-6F7B-693B-880E5B031B26}"/>
              </a:ext>
            </a:extLst>
          </p:cNvPr>
          <p:cNvSpPr txBox="1"/>
          <p:nvPr/>
        </p:nvSpPr>
        <p:spPr>
          <a:xfrm>
            <a:off x="896984" y="0"/>
            <a:ext cx="11295016" cy="707886"/>
          </a:xfrm>
          <a:prstGeom prst="rect">
            <a:avLst/>
          </a:prstGeom>
          <a:solidFill>
            <a:srgbClr val="30589B"/>
          </a:solidFill>
          <a:ln>
            <a:noFill/>
          </a:ln>
        </p:spPr>
        <p:txBody>
          <a:bodyPr wrap="square" rtlCol="0">
            <a:spAutoFit/>
          </a:bodyPr>
          <a:lstStyle/>
          <a:p>
            <a:r>
              <a:rPr lang="en-US" sz="2000" b="1" dirty="0">
                <a:solidFill>
                  <a:schemeClr val="bg1"/>
                </a:solidFill>
              </a:rPr>
              <a:t>DIRECT-TO-EMPLOYER PLAN </a:t>
            </a:r>
          </a:p>
          <a:p>
            <a:r>
              <a:rPr lang="en-US" sz="2000" b="1" dirty="0">
                <a:solidFill>
                  <a:schemeClr val="bg1"/>
                </a:solidFill>
              </a:rPr>
              <a:t>August 9, 2024</a:t>
            </a:r>
          </a:p>
        </p:txBody>
      </p:sp>
      <p:pic>
        <p:nvPicPr>
          <p:cNvPr id="6" name="Picture 5" descr="A close-up of a logo&#10;&#10;Description automatically generated with medium confidence">
            <a:extLst>
              <a:ext uri="{FF2B5EF4-FFF2-40B4-BE49-F238E27FC236}">
                <a16:creationId xmlns:a16="http://schemas.microsoft.com/office/drawing/2014/main" id="{F66A7945-0E55-35D5-B6B3-1588521B85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16318" y="735756"/>
            <a:ext cx="1493520" cy="818092"/>
          </a:xfrm>
          <a:prstGeom prst="rect">
            <a:avLst/>
          </a:prstGeom>
        </p:spPr>
      </p:pic>
      <p:pic>
        <p:nvPicPr>
          <p:cNvPr id="3" name="Picture 2">
            <a:extLst>
              <a:ext uri="{FF2B5EF4-FFF2-40B4-BE49-F238E27FC236}">
                <a16:creationId xmlns:a16="http://schemas.microsoft.com/office/drawing/2014/main" id="{0BE8887C-953F-080F-B109-2F5B8F57E7E9}"/>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9982201" y="748230"/>
            <a:ext cx="1807318" cy="1023421"/>
          </a:xfrm>
          <a:prstGeom prst="rect">
            <a:avLst/>
          </a:prstGeom>
        </p:spPr>
      </p:pic>
      <p:pic>
        <p:nvPicPr>
          <p:cNvPr id="1026" name="Picture 2" descr="Centra Lynchburg General Hospital | Centra Health">
            <a:extLst>
              <a:ext uri="{FF2B5EF4-FFF2-40B4-BE49-F238E27FC236}">
                <a16:creationId xmlns:a16="http://schemas.microsoft.com/office/drawing/2014/main" id="{8874B57B-E71F-8772-792C-2DC507827CF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8557" b="11550"/>
          <a:stretch/>
        </p:blipFill>
        <p:spPr bwMode="auto">
          <a:xfrm>
            <a:off x="981075" y="1811995"/>
            <a:ext cx="11210925" cy="50460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0464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983975" y="1574349"/>
            <a:ext cx="7705725" cy="4657725"/>
          </a:xfrm>
          <a:prstGeom prst="rect">
            <a:avLst/>
          </a:prstGeom>
        </p:spPr>
      </p:pic>
      <p:sp>
        <p:nvSpPr>
          <p:cNvPr id="4" name="Footer Placeholder 3">
            <a:extLst>
              <a:ext uri="{FF2B5EF4-FFF2-40B4-BE49-F238E27FC236}">
                <a16:creationId xmlns:a16="http://schemas.microsoft.com/office/drawing/2014/main" id="{226CABA5-B853-4CE2-9D0B-B062457265F2}"/>
              </a:ext>
            </a:extLst>
          </p:cNvPr>
          <p:cNvSpPr>
            <a:spLocks noGrp="1"/>
          </p:cNvSpPr>
          <p:nvPr>
            <p:ph type="ftr" sz="quarter" idx="11"/>
          </p:nvPr>
        </p:nvSpPr>
        <p:spPr>
          <a:xfrm>
            <a:off x="396376" y="6471095"/>
            <a:ext cx="4114800" cy="250380"/>
          </a:xfrm>
        </p:spPr>
        <p:txBody>
          <a:bodyPr/>
          <a:lstStyle/>
          <a:p>
            <a:r>
              <a:rPr lang="en-US" dirty="0"/>
              <a:t>Key Benefit Administrators</a:t>
            </a:r>
          </a:p>
        </p:txBody>
      </p:sp>
      <p:sp>
        <p:nvSpPr>
          <p:cNvPr id="6" name="Rectangle 5">
            <a:extLst>
              <a:ext uri="{FF2B5EF4-FFF2-40B4-BE49-F238E27FC236}">
                <a16:creationId xmlns:a16="http://schemas.microsoft.com/office/drawing/2014/main" id="{F34C8217-D749-4511-B7B5-02F77484B378}"/>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fld id="{3AFC719D-C4A7-4544-876E-D411D11AF6C9}" type="slidenum">
              <a:rPr lang="en-US" smtClean="0"/>
              <a:t>2</a:t>
            </a:fld>
            <a:endParaRPr lang="en-US" dirty="0"/>
          </a:p>
        </p:txBody>
      </p:sp>
      <p:sp>
        <p:nvSpPr>
          <p:cNvPr id="9" name="Title 1">
            <a:extLst>
              <a:ext uri="{FF2B5EF4-FFF2-40B4-BE49-F238E27FC236}">
                <a16:creationId xmlns:a16="http://schemas.microsoft.com/office/drawing/2014/main" id="{553571B1-9896-47E3-8ADF-78C38648412E}"/>
              </a:ext>
            </a:extLst>
          </p:cNvPr>
          <p:cNvSpPr>
            <a:spLocks noGrp="1"/>
          </p:cNvSpPr>
          <p:nvPr>
            <p:ph type="title"/>
          </p:nvPr>
        </p:nvSpPr>
        <p:spPr>
          <a:xfrm>
            <a:off x="396376" y="1023915"/>
            <a:ext cx="9984796" cy="502882"/>
          </a:xfrm>
          <a:noFill/>
        </p:spPr>
        <p:txBody>
          <a:bodyPr vert="horz" lIns="91440" tIns="45720" rIns="91440" bIns="45720" rtlCol="0" anchor="t">
            <a:normAutofit/>
          </a:bodyPr>
          <a:lstStyle/>
          <a:p>
            <a:r>
              <a:rPr lang="en-US" sz="2800" b="1" spc="150" dirty="0">
                <a:solidFill>
                  <a:srgbClr val="0F5DA6"/>
                </a:solidFill>
                <a:latin typeface="Arial" panose="020B0604020202020204" pitchFamily="34" charset="0"/>
                <a:cs typeface="Arial" panose="020B0604020202020204" pitchFamily="34" charset="0"/>
              </a:rPr>
              <a:t>Healthcare Leader in Private Labeled DTE Plans</a:t>
            </a:r>
            <a:endParaRPr lang="en-US" sz="2800" b="1" cap="all" spc="150" dirty="0">
              <a:solidFill>
                <a:srgbClr val="0F5DA6"/>
              </a:solidFill>
              <a:latin typeface="Arial" panose="020B0604020202020204" pitchFamily="34" charset="0"/>
              <a:cs typeface="Arial" panose="020B0604020202020204" pitchFamily="34" charset="0"/>
            </a:endParaRPr>
          </a:p>
        </p:txBody>
      </p:sp>
      <p:pic>
        <p:nvPicPr>
          <p:cNvPr id="10242" name="Picture 2">
            <a:extLst>
              <a:ext uri="{FF2B5EF4-FFF2-40B4-BE49-F238E27FC236}">
                <a16:creationId xmlns:a16="http://schemas.microsoft.com/office/drawing/2014/main" id="{654A305B-9BE0-4449-826C-ACCCBB29F8D4}"/>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96376" y="293729"/>
            <a:ext cx="3645898" cy="62996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880AE72B-2936-B7FD-B16B-B7DDE61C48BF}"/>
              </a:ext>
            </a:extLst>
          </p:cNvPr>
          <p:cNvSpPr/>
          <p:nvPr/>
        </p:nvSpPr>
        <p:spPr>
          <a:xfrm>
            <a:off x="2659533" y="39740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Bentonville, AR</a:t>
            </a:r>
          </a:p>
          <a:p>
            <a:pPr algn="ctr"/>
            <a:r>
              <a:rPr lang="en-US" sz="1200" dirty="0">
                <a:latin typeface="Arial" panose="020B0604020202020204" pitchFamily="34" charset="0"/>
                <a:cs typeface="Arial" panose="020B0604020202020204" pitchFamily="34" charset="0"/>
              </a:rPr>
              <a:t>Northwest Health Plan</a:t>
            </a:r>
          </a:p>
        </p:txBody>
      </p:sp>
      <p:sp>
        <p:nvSpPr>
          <p:cNvPr id="10" name="Rectangle: Rounded Corners 9">
            <a:extLst>
              <a:ext uri="{FF2B5EF4-FFF2-40B4-BE49-F238E27FC236}">
                <a16:creationId xmlns:a16="http://schemas.microsoft.com/office/drawing/2014/main" id="{83BAAF75-9BFE-8A09-84C8-29127AD11CC8}"/>
              </a:ext>
            </a:extLst>
          </p:cNvPr>
          <p:cNvSpPr/>
          <p:nvPr/>
        </p:nvSpPr>
        <p:spPr>
          <a:xfrm>
            <a:off x="3572730" y="52576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Meridian, MS</a:t>
            </a:r>
          </a:p>
          <a:p>
            <a:pPr algn="ctr"/>
            <a:r>
              <a:rPr lang="en-US" sz="1200" dirty="0">
                <a:latin typeface="Arial" panose="020B0604020202020204" pitchFamily="34" charset="0"/>
                <a:cs typeface="Arial" panose="020B0604020202020204" pitchFamily="34" charset="0"/>
              </a:rPr>
              <a:t>Affinity Health Plan</a:t>
            </a:r>
          </a:p>
        </p:txBody>
      </p:sp>
      <p:sp>
        <p:nvSpPr>
          <p:cNvPr id="11" name="Rectangle: Rounded Corners 10">
            <a:extLst>
              <a:ext uri="{FF2B5EF4-FFF2-40B4-BE49-F238E27FC236}">
                <a16:creationId xmlns:a16="http://schemas.microsoft.com/office/drawing/2014/main" id="{F7F76DEC-1B86-5F34-4522-EE137E2BEDC5}"/>
              </a:ext>
            </a:extLst>
          </p:cNvPr>
          <p:cNvSpPr/>
          <p:nvPr/>
        </p:nvSpPr>
        <p:spPr>
          <a:xfrm>
            <a:off x="7452111" y="5382713"/>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Fort Myers, FL</a:t>
            </a:r>
          </a:p>
          <a:p>
            <a:pPr algn="ctr"/>
            <a:r>
              <a:rPr lang="en-US" sz="1200" dirty="0">
                <a:latin typeface="Arial" panose="020B0604020202020204" pitchFamily="34" charset="0"/>
                <a:cs typeface="Arial" panose="020B0604020202020204" pitchFamily="34" charset="0"/>
              </a:rPr>
              <a:t>Lee Health Care Partners</a:t>
            </a:r>
          </a:p>
        </p:txBody>
      </p:sp>
      <p:sp>
        <p:nvSpPr>
          <p:cNvPr id="12" name="Rectangle: Rounded Corners 11">
            <a:extLst>
              <a:ext uri="{FF2B5EF4-FFF2-40B4-BE49-F238E27FC236}">
                <a16:creationId xmlns:a16="http://schemas.microsoft.com/office/drawing/2014/main" id="{B522D9FB-03E8-0475-A3A5-AF33059EA7E6}"/>
              </a:ext>
            </a:extLst>
          </p:cNvPr>
          <p:cNvSpPr/>
          <p:nvPr/>
        </p:nvSpPr>
        <p:spPr>
          <a:xfrm>
            <a:off x="7208737" y="4373211"/>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Knoxville, TN</a:t>
            </a:r>
          </a:p>
          <a:p>
            <a:pPr algn="ctr"/>
            <a:r>
              <a:rPr lang="en-US" sz="1200" dirty="0">
                <a:latin typeface="Arial" panose="020B0604020202020204" pitchFamily="34" charset="0"/>
                <a:cs typeface="Arial" panose="020B0604020202020204" pitchFamily="34" charset="0"/>
              </a:rPr>
              <a:t>East Tennessee Health Plan</a:t>
            </a:r>
          </a:p>
        </p:txBody>
      </p:sp>
      <p:sp>
        <p:nvSpPr>
          <p:cNvPr id="13" name="Rectangle: Rounded Corners 12">
            <a:extLst>
              <a:ext uri="{FF2B5EF4-FFF2-40B4-BE49-F238E27FC236}">
                <a16:creationId xmlns:a16="http://schemas.microsoft.com/office/drawing/2014/main" id="{F3AB3343-FA0C-E9FA-637F-E45BB11DFFC1}"/>
              </a:ext>
            </a:extLst>
          </p:cNvPr>
          <p:cNvSpPr/>
          <p:nvPr/>
        </p:nvSpPr>
        <p:spPr>
          <a:xfrm>
            <a:off x="7047737" y="336370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Cincinnati, OH</a:t>
            </a:r>
          </a:p>
          <a:p>
            <a:pPr algn="ctr"/>
            <a:r>
              <a:rPr lang="en-US" sz="1200" dirty="0">
                <a:latin typeface="Arial" panose="020B0604020202020204" pitchFamily="34" charset="0"/>
                <a:cs typeface="Arial" panose="020B0604020202020204" pitchFamily="34" charset="0"/>
              </a:rPr>
              <a:t>TCH Optimal</a:t>
            </a:r>
          </a:p>
        </p:txBody>
      </p:sp>
      <p:sp>
        <p:nvSpPr>
          <p:cNvPr id="14" name="Rectangle: Rounded Corners 13">
            <a:extLst>
              <a:ext uri="{FF2B5EF4-FFF2-40B4-BE49-F238E27FC236}">
                <a16:creationId xmlns:a16="http://schemas.microsoft.com/office/drawing/2014/main" id="{A5F1AA97-617E-DEDA-E780-8518ACB143FB}"/>
              </a:ext>
            </a:extLst>
          </p:cNvPr>
          <p:cNvSpPr/>
          <p:nvPr/>
        </p:nvSpPr>
        <p:spPr>
          <a:xfrm>
            <a:off x="3870663" y="2934468"/>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Louisville, KY</a:t>
            </a:r>
          </a:p>
          <a:p>
            <a:pPr algn="ctr"/>
            <a:r>
              <a:rPr lang="en-US" sz="1200" dirty="0" err="1">
                <a:latin typeface="Arial" panose="020B0604020202020204" pitchFamily="34" charset="0"/>
                <a:cs typeface="Arial" panose="020B0604020202020204" pitchFamily="34" charset="0"/>
              </a:rPr>
              <a:t>OneHealth</a:t>
            </a:r>
            <a:r>
              <a:rPr lang="en-US" sz="1200" dirty="0">
                <a:latin typeface="Arial" panose="020B0604020202020204" pitchFamily="34" charset="0"/>
                <a:cs typeface="Arial" panose="020B0604020202020204" pitchFamily="34" charset="0"/>
              </a:rPr>
              <a:t> Plan</a:t>
            </a:r>
          </a:p>
        </p:txBody>
      </p:sp>
    </p:spTree>
    <p:extLst>
      <p:ext uri="{BB962C8B-B14F-4D97-AF65-F5344CB8AC3E}">
        <p14:creationId xmlns:p14="http://schemas.microsoft.com/office/powerpoint/2010/main" val="263972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409959" y="1292697"/>
            <a:ext cx="3677156" cy="3043929"/>
          </a:xfrm>
        </p:spPr>
        <p:txBody>
          <a:bodyPr>
            <a:noAutofit/>
          </a:bodyPr>
          <a:lstStyle/>
          <a:p>
            <a:pP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Direct-to-Employer</a:t>
            </a:r>
            <a:br>
              <a:rPr lang="en-US" sz="4000" b="1" dirty="0">
                <a:solidFill>
                  <a:srgbClr val="000B2E"/>
                </a:solidFill>
                <a:latin typeface="Arial" panose="020B0604020202020204" pitchFamily="34" charset="0"/>
                <a:cs typeface="Arial" panose="020B0604020202020204" pitchFamily="34" charset="0"/>
              </a:rPr>
            </a:br>
            <a:r>
              <a:rPr lang="en-US" sz="2800" b="1" dirty="0">
                <a:solidFill>
                  <a:srgbClr val="000B2E"/>
                </a:solidFill>
                <a:latin typeface="Arial" panose="020B0604020202020204" pitchFamily="34" charset="0"/>
                <a:cs typeface="Arial" panose="020B0604020202020204" pitchFamily="34" charset="0"/>
              </a:rPr>
              <a:t>(DTE)</a:t>
            </a:r>
            <a:br>
              <a:rPr lang="en-US" sz="1600" b="1" dirty="0">
                <a:solidFill>
                  <a:srgbClr val="000B2E"/>
                </a:solidFill>
                <a:latin typeface="Arial" panose="020B0604020202020204" pitchFamily="34" charset="0"/>
                <a:cs typeface="Arial" panose="020B0604020202020204" pitchFamily="34" charset="0"/>
              </a:rPr>
            </a:br>
            <a:br>
              <a:rPr lang="en-US" sz="1600" b="1" dirty="0">
                <a:solidFill>
                  <a:srgbClr val="000B2E"/>
                </a:solidFill>
                <a:latin typeface="Arial" panose="020B0604020202020204" pitchFamily="34" charset="0"/>
                <a:cs typeface="Arial" panose="020B0604020202020204" pitchFamily="34" charset="0"/>
              </a:rPr>
            </a:br>
            <a:r>
              <a:rPr lang="en-US" sz="1600" b="1" dirty="0">
                <a:solidFill>
                  <a:srgbClr val="000B2E"/>
                </a:solidFill>
                <a:latin typeface="Arial" panose="020B0604020202020204" pitchFamily="34" charset="0"/>
                <a:cs typeface="Arial" panose="020B0604020202020204" pitchFamily="34" charset="0"/>
              </a:rPr>
              <a:t>Your health plan focused on a direct relationship with self-funded employers in Your market</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6317763" y="1468132"/>
            <a:ext cx="5672318" cy="4660901"/>
          </a:xfrm>
        </p:spPr>
        <p:txBody>
          <a:bodyPr>
            <a:normAutofit/>
          </a:bodyPr>
          <a:lstStyle/>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Pick the Name of the Health Plan</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Determine the Fees Charged</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Practice the Medicine </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Receive the Profits  </a:t>
            </a:r>
          </a:p>
          <a:p>
            <a:pPr marL="0" indent="0">
              <a:lnSpc>
                <a:spcPct val="150000"/>
              </a:lnSpc>
              <a:spcAft>
                <a:spcPts val="1200"/>
              </a:spcAft>
              <a:buNone/>
            </a:pPr>
            <a:r>
              <a:rPr lang="en-US" sz="2700" b="1" dirty="0">
                <a:solidFill>
                  <a:srgbClr val="59CAE8"/>
                </a:solidFill>
                <a:latin typeface="Arial Black" panose="020B0A04020102020204" pitchFamily="34" charset="0"/>
              </a:rPr>
              <a:t>WE</a:t>
            </a:r>
            <a:r>
              <a:rPr lang="en-US" sz="2700" dirty="0">
                <a:solidFill>
                  <a:srgbClr val="9900CC"/>
                </a:solidFill>
              </a:rPr>
              <a:t> </a:t>
            </a:r>
            <a:r>
              <a:rPr lang="en-US" sz="2700"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3</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2" name="Group 41">
            <a:extLst>
              <a:ext uri="{FF2B5EF4-FFF2-40B4-BE49-F238E27FC236}">
                <a16:creationId xmlns:a16="http://schemas.microsoft.com/office/drawing/2014/main" id="{C3A11C0D-6225-4F5F-9034-762253C251A2}"/>
              </a:ext>
            </a:extLst>
          </p:cNvPr>
          <p:cNvGrpSpPr/>
          <p:nvPr/>
        </p:nvGrpSpPr>
        <p:grpSpPr>
          <a:xfrm>
            <a:off x="5489623" y="1468132"/>
            <a:ext cx="640080" cy="4254692"/>
            <a:chOff x="5315974" y="943768"/>
            <a:chExt cx="640080" cy="4254692"/>
          </a:xfrm>
          <a:noFill/>
        </p:grpSpPr>
        <p:pic>
          <p:nvPicPr>
            <p:cNvPr id="3082"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51"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52"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53"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54"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pic>
        <p:nvPicPr>
          <p:cNvPr id="7" name="Picture 2" descr="2023 NCC Award Winner: Carilion Roanoke Memorial Hospital - BCEN">
            <a:extLst>
              <a:ext uri="{FF2B5EF4-FFF2-40B4-BE49-F238E27FC236}">
                <a16:creationId xmlns:a16="http://schemas.microsoft.com/office/drawing/2014/main" id="{4025CA84-96A7-8CD9-EA89-0117372383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0948" y="319921"/>
            <a:ext cx="2424908" cy="81809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154A4E41-B7F3-7FC8-9B50-31C47A79066D}"/>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9982201" y="217255"/>
            <a:ext cx="1807318" cy="1023421"/>
          </a:xfrm>
          <a:prstGeom prst="rect">
            <a:avLst/>
          </a:prstGeom>
        </p:spPr>
      </p:pic>
    </p:spTree>
    <p:extLst>
      <p:ext uri="{BB962C8B-B14F-4D97-AF65-F5344CB8AC3E}">
        <p14:creationId xmlns:p14="http://schemas.microsoft.com/office/powerpoint/2010/main" val="1552833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6" name="TextBox 5">
            <a:extLst>
              <a:ext uri="{FF2B5EF4-FFF2-40B4-BE49-F238E27FC236}">
                <a16:creationId xmlns:a16="http://schemas.microsoft.com/office/drawing/2014/main" id="{C9963971-9E27-D1D8-44A6-33EAA3782592}"/>
              </a:ext>
            </a:extLst>
          </p:cNvPr>
          <p:cNvSpPr txBox="1"/>
          <p:nvPr/>
        </p:nvSpPr>
        <p:spPr>
          <a:xfrm>
            <a:off x="227045" y="1275695"/>
            <a:ext cx="11737910" cy="646331"/>
          </a:xfrm>
          <a:prstGeom prst="rect">
            <a:avLst/>
          </a:prstGeom>
          <a:noFill/>
        </p:spPr>
        <p:txBody>
          <a:bodyPr wrap="square">
            <a:spAutoFit/>
          </a:bodyPr>
          <a:lstStyle/>
          <a:p>
            <a:pPr algn="ctr"/>
            <a:r>
              <a:rPr lang="en-US" sz="1800" b="1" spc="200" dirty="0">
                <a:solidFill>
                  <a:schemeClr val="accent2">
                    <a:lumMod val="75000"/>
                  </a:schemeClr>
                </a:solidFill>
                <a:latin typeface="+mj-lt"/>
                <a:cs typeface="+mj-cs"/>
              </a:rPr>
              <a:t>Target Market</a:t>
            </a:r>
            <a:br>
              <a:rPr lang="en-US" sz="1800" spc="200" dirty="0">
                <a:latin typeface="+mj-lt"/>
                <a:cs typeface="+mj-cs"/>
              </a:rPr>
            </a:br>
            <a:r>
              <a:rPr lang="en-US" sz="1800" spc="200" dirty="0">
                <a:latin typeface="+mj-lt"/>
                <a:cs typeface="+mj-cs"/>
              </a:rPr>
              <a:t>9</a:t>
            </a:r>
            <a:r>
              <a:rPr lang="en-US" spc="200" dirty="0">
                <a:latin typeface="+mj-lt"/>
                <a:cs typeface="+mj-cs"/>
              </a:rPr>
              <a:t>00+</a:t>
            </a:r>
            <a:r>
              <a:rPr lang="en-US" sz="1800" spc="200" dirty="0">
                <a:latin typeface="+mj-lt"/>
                <a:cs typeface="+mj-cs"/>
              </a:rPr>
              <a:t> Employers       120,000</a:t>
            </a:r>
            <a:r>
              <a:rPr lang="en-US" sz="1800" spc="200" dirty="0">
                <a:latin typeface="+mj-lt"/>
                <a:cs typeface="+mj-cs"/>
                <a:sym typeface="Wingdings" panose="05000000000000000000" pitchFamily="2" charset="2"/>
              </a:rPr>
              <a:t>+ Employees       190,000+ Members</a:t>
            </a:r>
            <a:endParaRPr lang="en-US" dirty="0"/>
          </a:p>
        </p:txBody>
      </p:sp>
      <p:sp>
        <p:nvSpPr>
          <p:cNvPr id="9"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a:t>
            </a:r>
            <a:endParaRPr lang="en-US" dirty="0">
              <a:solidFill>
                <a:schemeClr val="tx1"/>
              </a:solidFill>
            </a:endParaRPr>
          </a:p>
        </p:txBody>
      </p:sp>
      <p:graphicFrame>
        <p:nvGraphicFramePr>
          <p:cNvPr id="13" name="Table 12">
            <a:extLst>
              <a:ext uri="{FF2B5EF4-FFF2-40B4-BE49-F238E27FC236}">
                <a16:creationId xmlns:a16="http://schemas.microsoft.com/office/drawing/2014/main" id="{C5BE1B27-9F04-9265-C933-6FD598A73DFA}"/>
              </a:ext>
            </a:extLst>
          </p:cNvPr>
          <p:cNvGraphicFramePr>
            <a:graphicFrameLocks noGrp="1"/>
          </p:cNvGraphicFramePr>
          <p:nvPr/>
        </p:nvGraphicFramePr>
        <p:xfrm>
          <a:off x="4889297" y="2140949"/>
          <a:ext cx="6949427" cy="3542506"/>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272206">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Aptos Narrow" panose="020B0004020202020204" pitchFamily="34"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440748">
                <a:tc>
                  <a:txBody>
                    <a:bodyPr/>
                    <a:lstStyle/>
                    <a:p>
                      <a:pPr algn="l" fontAlgn="b"/>
                      <a:r>
                        <a:rPr lang="en-US" sz="1100" b="1" i="0" u="none" strike="noStrike" dirty="0">
                          <a:solidFill>
                            <a:srgbClr val="000000"/>
                          </a:solidFill>
                          <a:effectLst/>
                          <a:latin typeface="Aptos Narrow" panose="020B0004020202020204" pitchFamily="34" charset="0"/>
                        </a:rPr>
                        <a:t>Commercial Employers Headquartered in:</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43507">
                <a:tc>
                  <a:txBody>
                    <a:bodyPr/>
                    <a:lstStyle/>
                    <a:p>
                      <a:pPr algn="l" fontAlgn="b"/>
                      <a:r>
                        <a:rPr lang="en-US" sz="1100" b="0" i="0" u="none" strike="noStrike" dirty="0">
                          <a:solidFill>
                            <a:srgbClr val="000000"/>
                          </a:solidFill>
                          <a:effectLst/>
                          <a:latin typeface="Aptos Narrow" panose="020B0004020202020204" pitchFamily="34" charset="0"/>
                        </a:rPr>
                        <a:t>Lynchburg Hospital Referral Region</a:t>
                      </a:r>
                    </a:p>
                  </a:txBody>
                  <a:tcPr marL="9525" marR="9525" marT="9525" marB="0" anchor="b">
                    <a:lnL>
                      <a:noFill/>
                    </a:lnL>
                    <a:lnR>
                      <a:noFill/>
                    </a:lnR>
                    <a:lnT>
                      <a:noFill/>
                    </a:lnT>
                    <a:lnB>
                      <a:noFill/>
                    </a:lnB>
                    <a:no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137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54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32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20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3</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3</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43507">
                <a:tc>
                  <a:txBody>
                    <a:bodyPr/>
                    <a:lstStyle/>
                    <a:p>
                      <a:pPr algn="l" fontAlgn="b"/>
                      <a:r>
                        <a:rPr lang="en-US" sz="1100" b="0" i="0" u="none" strike="noStrike" dirty="0">
                          <a:solidFill>
                            <a:srgbClr val="000000"/>
                          </a:solidFill>
                          <a:effectLst/>
                          <a:latin typeface="Aptos Narrow" panose="020B0004020202020204" pitchFamily="34" charset="0"/>
                        </a:rPr>
                        <a:t>Roanoke Hospital Referral Region</a:t>
                      </a:r>
                    </a:p>
                  </a:txBody>
                  <a:tcPr marL="9525" marR="9525" marT="9525" marB="0" anchor="b">
                    <a:lnL>
                      <a:noFill/>
                    </a:lnL>
                    <a:lnR>
                      <a:noFill/>
                    </a:lnR>
                    <a:lnT>
                      <a:noFill/>
                    </a:lnT>
                    <a:lnB>
                      <a:noFill/>
                    </a:lnB>
                    <a:no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350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146</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107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60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24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6</a:t>
                      </a:r>
                    </a:p>
                  </a:txBody>
                  <a:tcPr marL="9525" marR="9525" marT="9525" marB="0" anchor="b">
                    <a:lnL>
                      <a:noFill/>
                    </a:lnL>
                    <a:lnR>
                      <a:noFill/>
                    </a:lnR>
                    <a:lnT>
                      <a:noFill/>
                    </a:lnT>
                    <a:lnB>
                      <a:noFill/>
                    </a:lnB>
                    <a:noFill/>
                  </a:tcPr>
                </a:tc>
                <a:extLst>
                  <a:ext uri="{0D108BD9-81ED-4DB2-BD59-A6C34878D82A}">
                    <a16:rowId xmlns:a16="http://schemas.microsoft.com/office/drawing/2014/main" val="3588716138"/>
                  </a:ext>
                </a:extLst>
              </a:tr>
              <a:tr h="243507">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440748">
                <a:tc>
                  <a:txBody>
                    <a:bodyPr/>
                    <a:lstStyle/>
                    <a:p>
                      <a:pPr algn="l" fontAlgn="b"/>
                      <a:r>
                        <a:rPr lang="en-US" sz="1100" b="1" i="0" u="none" strike="noStrike" dirty="0">
                          <a:solidFill>
                            <a:srgbClr val="000000"/>
                          </a:solidFill>
                          <a:effectLst/>
                          <a:latin typeface="Aptos Narrow" panose="020B0004020202020204" pitchFamily="34" charset="0"/>
                        </a:rPr>
                        <a:t>Estimated Employees in:</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43507">
                <a:tc>
                  <a:txBody>
                    <a:bodyPr/>
                    <a:lstStyle/>
                    <a:p>
                      <a:pPr algn="l" fontAlgn="b"/>
                      <a:r>
                        <a:rPr lang="en-US" sz="1100" b="0" i="0" u="none" strike="noStrike" dirty="0">
                          <a:solidFill>
                            <a:srgbClr val="000000"/>
                          </a:solidFill>
                          <a:effectLst/>
                          <a:latin typeface="Aptos Narrow" panose="020B0004020202020204" pitchFamily="34" charset="0"/>
                        </a:rPr>
                        <a:t>Lynchburg Hospital Referral Region</a:t>
                      </a:r>
                    </a:p>
                  </a:txBody>
                  <a:tcPr marL="9525" marR="9525" marT="9525" marB="0" anchor="b">
                    <a:lnL>
                      <a:noFill/>
                    </a:lnL>
                    <a:lnR>
                      <a:noFill/>
                    </a:lnR>
                    <a:lnT>
                      <a:noFill/>
                    </a:lnT>
                    <a:lnB>
                      <a:noFill/>
                    </a:lnB>
                    <a:no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10,275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8,100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9,600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14,000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6,000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14,300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43507">
                <a:tc>
                  <a:txBody>
                    <a:bodyPr/>
                    <a:lstStyle/>
                    <a:p>
                      <a:pPr algn="l" fontAlgn="b"/>
                      <a:r>
                        <a:rPr lang="en-US" sz="1100" b="0" i="0" u="none" strike="noStrike" dirty="0">
                          <a:solidFill>
                            <a:srgbClr val="000000"/>
                          </a:solidFill>
                          <a:effectLst/>
                          <a:latin typeface="Aptos Narrow" panose="020B0004020202020204" pitchFamily="34" charset="0"/>
                        </a:rPr>
                        <a:t>Roanoke Hospital Referral Region</a:t>
                      </a:r>
                    </a:p>
                  </a:txBody>
                  <a:tcPr marL="9525" marR="9525" marT="9525" marB="0" anchor="b">
                    <a:lnL>
                      <a:noFill/>
                    </a:lnL>
                    <a:lnR>
                      <a:noFill/>
                    </a:lnR>
                    <a:lnT>
                      <a:noFill/>
                    </a:lnT>
                    <a:lnB>
                      <a:noFill/>
                    </a:lnB>
                    <a:no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26,250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21,900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32,100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42,000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48,000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55,100</a:t>
                      </a:r>
                    </a:p>
                  </a:txBody>
                  <a:tcPr marL="9525" marR="9525" marT="9525" marB="0" anchor="b">
                    <a:lnL>
                      <a:noFill/>
                    </a:lnL>
                    <a:lnR>
                      <a:noFill/>
                    </a:lnR>
                    <a:lnT>
                      <a:noFill/>
                    </a:lnT>
                    <a:lnB>
                      <a:noFill/>
                    </a:lnB>
                    <a:noFill/>
                  </a:tcPr>
                </a:tc>
                <a:extLst>
                  <a:ext uri="{0D108BD9-81ED-4DB2-BD59-A6C34878D82A}">
                    <a16:rowId xmlns:a16="http://schemas.microsoft.com/office/drawing/2014/main" val="1517699855"/>
                  </a:ext>
                </a:extLst>
              </a:tr>
              <a:tr h="243507">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440748">
                <a:tc>
                  <a:txBody>
                    <a:bodyPr/>
                    <a:lstStyle/>
                    <a:p>
                      <a:pPr algn="l" fontAlgn="b"/>
                      <a:r>
                        <a:rPr lang="en-US" sz="1100" b="1" i="0" u="none" strike="noStrike" dirty="0">
                          <a:solidFill>
                            <a:srgbClr val="000000"/>
                          </a:solidFill>
                          <a:effectLst/>
                          <a:latin typeface="Aptos Narrow" panose="020B0004020202020204" pitchFamily="34" charset="0"/>
                        </a:rPr>
                        <a:t>Estimated Members in:</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43507">
                <a:tc>
                  <a:txBody>
                    <a:bodyPr/>
                    <a:lstStyle/>
                    <a:p>
                      <a:pPr algn="l" fontAlgn="b"/>
                      <a:r>
                        <a:rPr lang="en-US" sz="1100" b="0" i="0" u="none" strike="noStrike" dirty="0">
                          <a:solidFill>
                            <a:srgbClr val="000000"/>
                          </a:solidFill>
                          <a:effectLst/>
                          <a:latin typeface="Aptos Narrow" panose="020B0004020202020204" pitchFamily="34" charset="0"/>
                        </a:rPr>
                        <a:t>Lynchburg Hospital Referral Region</a:t>
                      </a:r>
                    </a:p>
                  </a:txBody>
                  <a:tcPr marL="9525" marR="9525" marT="9525" marB="0" anchor="b">
                    <a:lnL>
                      <a:noFill/>
                    </a:lnL>
                    <a:lnR>
                      <a:noFill/>
                    </a:lnR>
                    <a:lnT>
                      <a:noFill/>
                    </a:lnT>
                    <a:lnB>
                      <a:noFill/>
                    </a:lnB>
                    <a:no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16,440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12,960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15,360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22,400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9,600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22,880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r h="243507">
                <a:tc>
                  <a:txBody>
                    <a:bodyPr/>
                    <a:lstStyle/>
                    <a:p>
                      <a:pPr algn="l" fontAlgn="b"/>
                      <a:r>
                        <a:rPr lang="en-US" sz="1100" b="0" i="0" u="none" strike="noStrike" dirty="0">
                          <a:solidFill>
                            <a:srgbClr val="000000"/>
                          </a:solidFill>
                          <a:effectLst/>
                          <a:latin typeface="Aptos Narrow" panose="020B0004020202020204" pitchFamily="34" charset="0"/>
                        </a:rPr>
                        <a:t>Roanoke Hospital Referral Region</a:t>
                      </a:r>
                    </a:p>
                  </a:txBody>
                  <a:tcPr marL="9525" marR="9525" marT="9525" marB="0" anchor="b">
                    <a:lnL>
                      <a:noFill/>
                    </a:lnL>
                    <a:lnR>
                      <a:noFill/>
                    </a:lnR>
                    <a:lnT>
                      <a:noFill/>
                    </a:lnT>
                    <a:lnB>
                      <a:noFill/>
                    </a:lnB>
                    <a:no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42,000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35,040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51,360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67,200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highlight>
                            <a:srgbClr val="FBE5D6"/>
                          </a:highlight>
                          <a:latin typeface="Aptos Narrow" panose="020B0004020202020204" pitchFamily="34" charset="0"/>
                        </a:rPr>
                        <a:t>76,800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88,160</a:t>
                      </a:r>
                    </a:p>
                  </a:txBody>
                  <a:tcPr marL="9525" marR="9525" marT="9525" marB="0" anchor="b">
                    <a:lnL>
                      <a:noFill/>
                    </a:lnL>
                    <a:lnR>
                      <a:noFill/>
                    </a:lnR>
                    <a:lnT>
                      <a:noFill/>
                    </a:lnT>
                    <a:lnB>
                      <a:noFill/>
                    </a:lnB>
                    <a:noFill/>
                  </a:tcPr>
                </a:tc>
                <a:extLst>
                  <a:ext uri="{0D108BD9-81ED-4DB2-BD59-A6C34878D82A}">
                    <a16:rowId xmlns:a16="http://schemas.microsoft.com/office/drawing/2014/main" val="3037142275"/>
                  </a:ext>
                </a:extLst>
              </a:tr>
            </a:tbl>
          </a:graphicData>
        </a:graphic>
      </p:graphicFrame>
      <p:sp>
        <p:nvSpPr>
          <p:cNvPr id="16" name="Title 1">
            <a:extLst>
              <a:ext uri="{FF2B5EF4-FFF2-40B4-BE49-F238E27FC236}">
                <a16:creationId xmlns:a16="http://schemas.microsoft.com/office/drawing/2014/main" id="{012C7A76-8C4C-0C17-C582-24A807F19DA5}"/>
              </a:ext>
            </a:extLst>
          </p:cNvPr>
          <p:cNvSpPr>
            <a:spLocks noGrp="1"/>
          </p:cNvSpPr>
          <p:nvPr>
            <p:ph type="title"/>
          </p:nvPr>
        </p:nvSpPr>
        <p:spPr>
          <a:xfrm>
            <a:off x="163572" y="43143"/>
            <a:ext cx="11801383" cy="1325563"/>
          </a:xfrm>
        </p:spPr>
        <p:txBody>
          <a:bodyPr>
            <a:noAutofit/>
          </a:bodyPr>
          <a:lstStyle/>
          <a:p>
            <a:pPr>
              <a:lnSpc>
                <a:spcPct val="100000"/>
              </a:lnSpc>
              <a:spcBef>
                <a:spcPts val="1800"/>
              </a:spcBef>
              <a:spcAft>
                <a:spcPts val="600"/>
              </a:spcAft>
            </a:pPr>
            <a:r>
              <a:rPr lang="en-US" sz="3600" dirty="0">
                <a:solidFill>
                  <a:srgbClr val="000B2E"/>
                </a:solidFill>
                <a:latin typeface="Arial" panose="020B0604020202020204" pitchFamily="34" charset="0"/>
                <a:cs typeface="Arial" panose="020B0604020202020204" pitchFamily="34" charset="0"/>
              </a:rPr>
              <a:t>Significant Opportunity for </a:t>
            </a:r>
            <a:r>
              <a:rPr lang="en-US" sz="3600" dirty="0">
                <a:solidFill>
                  <a:srgbClr val="000B2E"/>
                </a:solidFill>
              </a:rPr>
              <a:t>Plan Growth</a:t>
            </a:r>
            <a:br>
              <a:rPr lang="en-US" sz="3600" dirty="0">
                <a:solidFill>
                  <a:srgbClr val="000B2E"/>
                </a:solidFill>
              </a:rPr>
            </a:br>
            <a:r>
              <a:rPr lang="en-US" sz="2400" dirty="0">
                <a:solidFill>
                  <a:srgbClr val="000B2E"/>
                </a:solidFill>
              </a:rPr>
              <a:t>Researched for Roanoke and Lynchburg Hospital Referral Regions*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1D559771-FFA2-8422-2FBC-334EBEE63AE1}"/>
              </a:ext>
            </a:extLst>
          </p:cNvPr>
          <p:cNvPicPr>
            <a:picLocks noChangeAspect="1"/>
          </p:cNvPicPr>
          <p:nvPr/>
        </p:nvPicPr>
        <p:blipFill>
          <a:blip r:embed="rId2"/>
          <a:stretch>
            <a:fillRect/>
          </a:stretch>
        </p:blipFill>
        <p:spPr>
          <a:xfrm>
            <a:off x="-10805" y="3065951"/>
            <a:ext cx="4567666" cy="2270653"/>
          </a:xfrm>
          <a:prstGeom prst="rect">
            <a:avLst/>
          </a:prstGeom>
        </p:spPr>
      </p:pic>
      <p:sp>
        <p:nvSpPr>
          <p:cNvPr id="14" name="TextBox 13">
            <a:extLst>
              <a:ext uri="{FF2B5EF4-FFF2-40B4-BE49-F238E27FC236}">
                <a16:creationId xmlns:a16="http://schemas.microsoft.com/office/drawing/2014/main" id="{4A943FBC-F646-4D8D-7012-9A24D6FF5E84}"/>
              </a:ext>
            </a:extLst>
          </p:cNvPr>
          <p:cNvSpPr txBox="1"/>
          <p:nvPr/>
        </p:nvSpPr>
        <p:spPr>
          <a:xfrm>
            <a:off x="521110" y="5888661"/>
            <a:ext cx="5407742" cy="938719"/>
          </a:xfrm>
          <a:prstGeom prst="rect">
            <a:avLst/>
          </a:prstGeom>
          <a:noFill/>
        </p:spPr>
        <p:txBody>
          <a:bodyPr wrap="square">
            <a:spAutoFit/>
          </a:bodyPr>
          <a:lstStyle/>
          <a:p>
            <a:endParaRPr lang="en-US" sz="1100" dirty="0"/>
          </a:p>
          <a:p>
            <a:r>
              <a:rPr lang="en-US" sz="1100" dirty="0"/>
              <a:t>*Hospital Referral Regions (HRRs) are geographic regions in the U.S. that define healthcare markets based on patient referral patterns for major cardiovascular and neurosurgery procedures, created by the Dartmouth Atlas of Health Care.</a:t>
            </a:r>
          </a:p>
          <a:p>
            <a:endParaRPr lang="en-US" sz="1100" dirty="0"/>
          </a:p>
        </p:txBody>
      </p:sp>
      <p:sp>
        <p:nvSpPr>
          <p:cNvPr id="17" name="TextBox 16">
            <a:extLst>
              <a:ext uri="{FF2B5EF4-FFF2-40B4-BE49-F238E27FC236}">
                <a16:creationId xmlns:a16="http://schemas.microsoft.com/office/drawing/2014/main" id="{7679934B-C66F-3B45-7008-601AE76CFD06}"/>
              </a:ext>
            </a:extLst>
          </p:cNvPr>
          <p:cNvSpPr txBox="1"/>
          <p:nvPr/>
        </p:nvSpPr>
        <p:spPr>
          <a:xfrm>
            <a:off x="6376217" y="6059880"/>
            <a:ext cx="5815783" cy="430887"/>
          </a:xfrm>
          <a:prstGeom prst="rect">
            <a:avLst/>
          </a:prstGeom>
          <a:noFill/>
        </p:spPr>
        <p:txBody>
          <a:bodyPr wrap="square">
            <a:spAutoFit/>
          </a:bodyPr>
          <a:lstStyle/>
          <a:p>
            <a:r>
              <a:rPr lang="en-US" sz="1100" dirty="0"/>
              <a:t>Centra Southside Community Hospital is not included as it is a smaller hospital in a separate Hospital Referral Region and its isolated location will not contribute to DTE growth in that region.</a:t>
            </a:r>
          </a:p>
        </p:txBody>
      </p:sp>
      <p:pic>
        <p:nvPicPr>
          <p:cNvPr id="5" name="Picture 4">
            <a:extLst>
              <a:ext uri="{FF2B5EF4-FFF2-40B4-BE49-F238E27FC236}">
                <a16:creationId xmlns:a16="http://schemas.microsoft.com/office/drawing/2014/main" id="{C438FFB0-AF4E-9D86-DD3E-E182343B41AE}"/>
              </a:ext>
            </a:extLst>
          </p:cNvPr>
          <p:cNvPicPr>
            <a:picLocks noChangeAspect="1"/>
          </p:cNvPicPr>
          <p:nvPr/>
        </p:nvPicPr>
        <p:blipFill rotWithShape="1">
          <a:blip r:embed="rId3"/>
          <a:srcRect t="7041"/>
          <a:stretch/>
        </p:blipFill>
        <p:spPr>
          <a:xfrm>
            <a:off x="196088" y="3121819"/>
            <a:ext cx="1152525" cy="734916"/>
          </a:xfrm>
          <a:prstGeom prst="rect">
            <a:avLst/>
          </a:prstGeom>
        </p:spPr>
      </p:pic>
    </p:spTree>
    <p:extLst>
      <p:ext uri="{BB962C8B-B14F-4D97-AF65-F5344CB8AC3E}">
        <p14:creationId xmlns:p14="http://schemas.microsoft.com/office/powerpoint/2010/main" val="2368596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Only Available to </a:t>
            </a:r>
            <a:r>
              <a:rPr lang="en-US" sz="4000" b="1" i="1" dirty="0">
                <a:solidFill>
                  <a:srgbClr val="000B2E"/>
                </a:solidFill>
                <a:latin typeface="Arial" panose="020B0604020202020204" pitchFamily="34" charset="0"/>
                <a:cs typeface="Arial" panose="020B0604020202020204" pitchFamily="34" charset="0"/>
              </a:rPr>
              <a:t>Premier</a:t>
            </a:r>
            <a:r>
              <a:rPr lang="en-US" sz="4000" b="1" dirty="0">
                <a:solidFill>
                  <a:srgbClr val="000B2E"/>
                </a:solidFill>
                <a:latin typeface="Arial" panose="020B0604020202020204" pitchFamily="34" charset="0"/>
                <a:cs typeface="Arial" panose="020B0604020202020204" pitchFamily="34" charset="0"/>
              </a:rPr>
              <a:t> Health Systems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317243" y="1829480"/>
            <a:ext cx="5672318" cy="4660901"/>
          </a:xfrm>
        </p:spPr>
        <p:txBody>
          <a:bodyPr>
            <a:normAutofit/>
          </a:bodyPr>
          <a:lstStyle/>
          <a:p>
            <a:pPr marL="0" indent="0">
              <a:lnSpc>
                <a:spcPct val="150000"/>
              </a:lnSpc>
              <a:spcAft>
                <a:spcPts val="1200"/>
              </a:spcAft>
              <a:buNone/>
            </a:pPr>
            <a:r>
              <a:rPr lang="en-US" sz="3200" b="1" dirty="0">
                <a:solidFill>
                  <a:srgbClr val="59CAE8"/>
                </a:solidFill>
                <a:latin typeface="Arial Black" panose="020B0A04020102020204" pitchFamily="34"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Arial Black" panose="020B0A04020102020204" pitchFamily="34"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Arial Black" panose="020B0A04020102020204" pitchFamily="34"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Arial Black" panose="020B0A04020102020204" pitchFamily="34" charset="0"/>
              </a:rPr>
              <a:t>EXCELLENT</a:t>
            </a:r>
            <a:r>
              <a:rPr lang="en-US" sz="3200" dirty="0">
                <a:solidFill>
                  <a:srgbClr val="9900CC"/>
                </a:solidFill>
              </a:rPr>
              <a:t> </a:t>
            </a:r>
            <a:r>
              <a:rPr lang="en-US" sz="3200" dirty="0">
                <a:solidFill>
                  <a:schemeClr val="tx1">
                    <a:lumMod val="75000"/>
                    <a:lumOff val="25000"/>
                  </a:schemeClr>
                </a:solidFill>
              </a:rPr>
              <a:t>Care Quality  </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2" descr="2023 NCC Award Winner: Carilion Roanoke Memorial Hospital - BCEN">
            <a:extLst>
              <a:ext uri="{FF2B5EF4-FFF2-40B4-BE49-F238E27FC236}">
                <a16:creationId xmlns:a16="http://schemas.microsoft.com/office/drawing/2014/main" id="{B08B10DC-F5C8-9B5B-80DC-7BCA8F1BA7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7335" y="2221576"/>
            <a:ext cx="2957804" cy="99787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746A745F-B2A1-5A74-2F25-E1E3151CF138}"/>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718007" y="3709339"/>
            <a:ext cx="2596818" cy="1470487"/>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DDE28063-ACC1-5927-4B16-27C42FEFE195}"/>
              </a:ext>
            </a:extLst>
          </p:cNvPr>
          <p:cNvGraphicFramePr>
            <a:graphicFrameLocks noGrp="1"/>
          </p:cNvGraphicFramePr>
          <p:nvPr>
            <p:ph idx="1"/>
          </p:nvPr>
        </p:nvGraphicFramePr>
        <p:xfrm>
          <a:off x="3576792" y="1602861"/>
          <a:ext cx="8434412" cy="4357694"/>
        </p:xfrm>
        <a:graphic>
          <a:graphicData uri="http://schemas.openxmlformats.org/drawingml/2006/table">
            <a:tbl>
              <a:tblPr/>
              <a:tblGrid>
                <a:gridCol w="2975105">
                  <a:extLst>
                    <a:ext uri="{9D8B030D-6E8A-4147-A177-3AD203B41FA5}">
                      <a16:colId xmlns:a16="http://schemas.microsoft.com/office/drawing/2014/main" val="547557959"/>
                    </a:ext>
                  </a:extLst>
                </a:gridCol>
                <a:gridCol w="525117">
                  <a:extLst>
                    <a:ext uri="{9D8B030D-6E8A-4147-A177-3AD203B41FA5}">
                      <a16:colId xmlns:a16="http://schemas.microsoft.com/office/drawing/2014/main" val="2802026810"/>
                    </a:ext>
                  </a:extLst>
                </a:gridCol>
                <a:gridCol w="1363282">
                  <a:extLst>
                    <a:ext uri="{9D8B030D-6E8A-4147-A177-3AD203B41FA5}">
                      <a16:colId xmlns:a16="http://schemas.microsoft.com/office/drawing/2014/main" val="3605343309"/>
                    </a:ext>
                  </a:extLst>
                </a:gridCol>
                <a:gridCol w="858363">
                  <a:extLst>
                    <a:ext uri="{9D8B030D-6E8A-4147-A177-3AD203B41FA5}">
                      <a16:colId xmlns:a16="http://schemas.microsoft.com/office/drawing/2014/main" val="2052090602"/>
                    </a:ext>
                  </a:extLst>
                </a:gridCol>
                <a:gridCol w="838165">
                  <a:extLst>
                    <a:ext uri="{9D8B030D-6E8A-4147-A177-3AD203B41FA5}">
                      <a16:colId xmlns:a16="http://schemas.microsoft.com/office/drawing/2014/main" val="1531687483"/>
                    </a:ext>
                  </a:extLst>
                </a:gridCol>
                <a:gridCol w="1059789">
                  <a:extLst>
                    <a:ext uri="{9D8B030D-6E8A-4147-A177-3AD203B41FA5}">
                      <a16:colId xmlns:a16="http://schemas.microsoft.com/office/drawing/2014/main" val="3458614226"/>
                    </a:ext>
                  </a:extLst>
                </a:gridCol>
                <a:gridCol w="814591">
                  <a:extLst>
                    <a:ext uri="{9D8B030D-6E8A-4147-A177-3AD203B41FA5}">
                      <a16:colId xmlns:a16="http://schemas.microsoft.com/office/drawing/2014/main" val="4099265886"/>
                    </a:ext>
                  </a:extLst>
                </a:gridCol>
              </a:tblGrid>
              <a:tr h="997004">
                <a:tc>
                  <a:txBody>
                    <a:bodyPr/>
                    <a:lstStyle/>
                    <a:p>
                      <a:pPr algn="l" fontAlgn="b"/>
                      <a:r>
                        <a:rPr lang="en-US" sz="1200" b="0" i="0" u="none" strike="noStrike" dirty="0">
                          <a:solidFill>
                            <a:schemeClr val="bg1"/>
                          </a:solidFill>
                          <a:effectLst/>
                          <a:latin typeface="Aptos Narrow" panose="020B0004020202020204" pitchFamily="34" charset="0"/>
                        </a:rPr>
                        <a:t>Hospital Name</a:t>
                      </a:r>
                    </a:p>
                  </a:txBody>
                  <a:tcPr marL="9525" marR="9525" marT="9525" marB="0" anchor="b">
                    <a:lnL>
                      <a:noFill/>
                    </a:lnL>
                    <a:lnR>
                      <a:noFill/>
                    </a:lnR>
                    <a:lnT>
                      <a:noFill/>
                    </a:lnT>
                    <a:lnB>
                      <a:noFill/>
                    </a:lnB>
                    <a:solidFill>
                      <a:srgbClr val="30589B"/>
                    </a:solidFill>
                  </a:tcPr>
                </a:tc>
                <a:tc>
                  <a:txBody>
                    <a:bodyPr/>
                    <a:lstStyle/>
                    <a:p>
                      <a:pPr algn="l" fontAlgn="b"/>
                      <a:r>
                        <a:rPr lang="en-US" sz="1200" b="0" i="0" u="none" strike="noStrike" dirty="0">
                          <a:solidFill>
                            <a:schemeClr val="bg1"/>
                          </a:solidFill>
                          <a:effectLst/>
                          <a:latin typeface="Aptos Narrow" panose="020B0004020202020204" pitchFamily="34" charset="0"/>
                        </a:rPr>
                        <a:t>Total Beds</a:t>
                      </a:r>
                    </a:p>
                  </a:txBody>
                  <a:tcPr marL="9525" marR="9525" marT="9525" marB="0" anchor="b">
                    <a:lnL>
                      <a:noFill/>
                    </a:lnL>
                    <a:lnR>
                      <a:noFill/>
                    </a:lnR>
                    <a:lnT>
                      <a:noFill/>
                    </a:lnT>
                    <a:lnB>
                      <a:noFill/>
                    </a:lnB>
                    <a:solidFill>
                      <a:srgbClr val="30589B"/>
                    </a:solidFill>
                  </a:tcPr>
                </a:tc>
                <a:tc>
                  <a:txBody>
                    <a:bodyPr/>
                    <a:lstStyle/>
                    <a:p>
                      <a:pPr algn="l" fontAlgn="b"/>
                      <a:r>
                        <a:rPr lang="en-US" sz="1200" b="0" i="0" u="none" strike="noStrike" dirty="0">
                          <a:solidFill>
                            <a:schemeClr val="bg1"/>
                          </a:solidFill>
                          <a:effectLst/>
                          <a:latin typeface="Aptos Narrow" panose="020B0004020202020204" pitchFamily="34" charset="0"/>
                        </a:rPr>
                        <a:t>HCAHPS Recommendation Percentile</a:t>
                      </a:r>
                    </a:p>
                  </a:txBody>
                  <a:tcPr marL="9525" marR="9525" marT="9525" marB="0" anchor="b">
                    <a:lnL>
                      <a:noFill/>
                    </a:lnL>
                    <a:lnR>
                      <a:noFill/>
                    </a:lnR>
                    <a:lnT>
                      <a:noFill/>
                    </a:lnT>
                    <a:lnB>
                      <a:noFill/>
                    </a:lnB>
                    <a:solidFill>
                      <a:srgbClr val="30589B"/>
                    </a:solidFill>
                  </a:tcPr>
                </a:tc>
                <a:tc>
                  <a:txBody>
                    <a:bodyPr/>
                    <a:lstStyle/>
                    <a:p>
                      <a:pPr algn="l" fontAlgn="b"/>
                      <a:r>
                        <a:rPr lang="en-US" sz="1200" b="0" i="0" u="none" strike="noStrike" dirty="0">
                          <a:solidFill>
                            <a:schemeClr val="bg1"/>
                          </a:solidFill>
                          <a:effectLst/>
                          <a:latin typeface="Aptos Narrow" panose="020B0004020202020204" pitchFamily="34" charset="0"/>
                        </a:rPr>
                        <a:t>CMS Stars Percentile</a:t>
                      </a:r>
                    </a:p>
                  </a:txBody>
                  <a:tcPr marL="9525" marR="9525" marT="9525" marB="0" anchor="b">
                    <a:lnL>
                      <a:noFill/>
                    </a:lnL>
                    <a:lnR>
                      <a:noFill/>
                    </a:lnR>
                    <a:lnT>
                      <a:noFill/>
                    </a:lnT>
                    <a:lnB>
                      <a:noFill/>
                    </a:lnB>
                    <a:solidFill>
                      <a:srgbClr val="30589B"/>
                    </a:solidFill>
                  </a:tcPr>
                </a:tc>
                <a:tc>
                  <a:txBody>
                    <a:bodyPr/>
                    <a:lstStyle/>
                    <a:p>
                      <a:pPr algn="l" fontAlgn="b"/>
                      <a:r>
                        <a:rPr lang="en-US" sz="1200" b="0" i="0" u="none" strike="noStrike" dirty="0">
                          <a:solidFill>
                            <a:schemeClr val="bg1"/>
                          </a:solidFill>
                          <a:effectLst/>
                          <a:latin typeface="Aptos Narrow" panose="020B0004020202020204" pitchFamily="34" charset="0"/>
                        </a:rPr>
                        <a:t>Mortality Percentile</a:t>
                      </a:r>
                    </a:p>
                  </a:txBody>
                  <a:tcPr marL="9525" marR="9525" marT="9525" marB="0" anchor="b">
                    <a:lnL>
                      <a:noFill/>
                    </a:lnL>
                    <a:lnR>
                      <a:noFill/>
                    </a:lnR>
                    <a:lnT>
                      <a:noFill/>
                    </a:lnT>
                    <a:lnB>
                      <a:noFill/>
                    </a:lnB>
                    <a:solidFill>
                      <a:srgbClr val="30589B"/>
                    </a:solidFill>
                  </a:tcPr>
                </a:tc>
                <a:tc>
                  <a:txBody>
                    <a:bodyPr/>
                    <a:lstStyle/>
                    <a:p>
                      <a:pPr algn="l" fontAlgn="b"/>
                      <a:r>
                        <a:rPr lang="en-US" sz="1200" b="0" i="0" u="none" strike="noStrike" dirty="0">
                          <a:solidFill>
                            <a:schemeClr val="bg1"/>
                          </a:solidFill>
                          <a:effectLst/>
                          <a:latin typeface="Aptos Narrow" panose="020B0004020202020204" pitchFamily="34" charset="0"/>
                        </a:rPr>
                        <a:t>Readmission Percentile</a:t>
                      </a:r>
                    </a:p>
                  </a:txBody>
                  <a:tcPr marL="9525" marR="9525" marT="9525" marB="0" anchor="b">
                    <a:lnL>
                      <a:noFill/>
                    </a:lnL>
                    <a:lnR>
                      <a:noFill/>
                    </a:lnR>
                    <a:lnT>
                      <a:noFill/>
                    </a:lnT>
                    <a:lnB>
                      <a:noFill/>
                    </a:lnB>
                    <a:solidFill>
                      <a:srgbClr val="30589B"/>
                    </a:solidFill>
                  </a:tcPr>
                </a:tc>
                <a:tc>
                  <a:txBody>
                    <a:bodyPr/>
                    <a:lstStyle/>
                    <a:p>
                      <a:pPr algn="l" fontAlgn="b"/>
                      <a:r>
                        <a:rPr lang="en-US" sz="1200" b="0" i="0" u="none" strike="noStrike" dirty="0">
                          <a:solidFill>
                            <a:schemeClr val="bg1"/>
                          </a:solidFill>
                          <a:effectLst/>
                          <a:latin typeface="Aptos Narrow" panose="020B0004020202020204" pitchFamily="34" charset="0"/>
                        </a:rPr>
                        <a:t>Key Benefits Brand Quality Estimate</a:t>
                      </a:r>
                    </a:p>
                  </a:txBody>
                  <a:tcPr marL="9525" marR="9525" marT="9525" marB="0" anchor="b">
                    <a:lnL>
                      <a:noFill/>
                    </a:lnL>
                    <a:lnR>
                      <a:noFill/>
                    </a:lnR>
                    <a:lnT>
                      <a:noFill/>
                    </a:lnT>
                    <a:lnB>
                      <a:noFill/>
                    </a:lnB>
                    <a:solidFill>
                      <a:srgbClr val="30589B"/>
                    </a:solidFill>
                  </a:tcPr>
                </a:tc>
                <a:extLst>
                  <a:ext uri="{0D108BD9-81ED-4DB2-BD59-A6C34878D82A}">
                    <a16:rowId xmlns:a16="http://schemas.microsoft.com/office/drawing/2014/main" val="1688547837"/>
                  </a:ext>
                </a:extLst>
              </a:tr>
              <a:tr h="224046">
                <a:tc>
                  <a:txBody>
                    <a:bodyPr/>
                    <a:lstStyle/>
                    <a:p>
                      <a:pPr algn="l" fontAlgn="b"/>
                      <a:r>
                        <a:rPr lang="en-US" sz="1200" b="1" i="0" u="none" strike="noStrike" dirty="0">
                          <a:solidFill>
                            <a:srgbClr val="00467F"/>
                          </a:solidFill>
                          <a:effectLst/>
                          <a:latin typeface="Aptos Narrow" panose="020B0004020202020204" pitchFamily="34" charset="0"/>
                        </a:rPr>
                        <a:t>Carilion Franklin Memorial Hospital</a:t>
                      </a:r>
                    </a:p>
                  </a:txBody>
                  <a:tcPr marL="9525" marR="9525" marT="9525" marB="0" anchor="b">
                    <a:lnL>
                      <a:noFill/>
                    </a:lnL>
                    <a:lnR>
                      <a:noFill/>
                    </a:lnR>
                    <a:lnT>
                      <a:noFill/>
                    </a:lnT>
                    <a:lnB>
                      <a:noFill/>
                    </a:lnB>
                    <a:noFill/>
                  </a:tcPr>
                </a:tc>
                <a:tc>
                  <a:txBody>
                    <a:bodyPr/>
                    <a:lstStyle/>
                    <a:p>
                      <a:pPr algn="ctr" fontAlgn="b"/>
                      <a:r>
                        <a:rPr lang="en-US" sz="1200" b="0" i="0" u="none" strike="noStrike" dirty="0">
                          <a:solidFill>
                            <a:srgbClr val="000000"/>
                          </a:solidFill>
                          <a:effectLst/>
                          <a:latin typeface="Aptos Narrow" panose="020B0004020202020204" pitchFamily="34" charset="0"/>
                        </a:rPr>
                        <a:t>37</a:t>
                      </a:r>
                    </a:p>
                  </a:txBody>
                  <a:tcPr marL="9525" marR="9525" marT="9525" marB="0" anchor="b">
                    <a:lnL>
                      <a:noFill/>
                    </a:lnL>
                    <a:lnR>
                      <a:noFill/>
                    </a:lnR>
                    <a:lnT>
                      <a:noFill/>
                    </a:lnT>
                    <a:lnB>
                      <a:noFill/>
                    </a:lnB>
                    <a:noFill/>
                  </a:tcPr>
                </a:tc>
                <a:tc>
                  <a:txBody>
                    <a:bodyPr/>
                    <a:lstStyle/>
                    <a:p>
                      <a:pPr algn="ctr" fontAlgn="b"/>
                      <a:r>
                        <a:rPr lang="en-US" sz="1200" b="0" i="0" u="none" strike="noStrike" dirty="0">
                          <a:solidFill>
                            <a:srgbClr val="000000"/>
                          </a:solidFill>
                          <a:effectLst/>
                          <a:highlight>
                            <a:srgbClr val="8ACE9D"/>
                          </a:highlight>
                          <a:latin typeface="Aptos Narrow" panose="020B0004020202020204" pitchFamily="34" charset="0"/>
                        </a:rPr>
                        <a:t>75</a:t>
                      </a:r>
                    </a:p>
                  </a:txBody>
                  <a:tcPr marL="9525" marR="9525" marT="9525" marB="0" anchor="b">
                    <a:lnL>
                      <a:noFill/>
                    </a:lnL>
                    <a:lnR>
                      <a:noFill/>
                    </a:lnR>
                    <a:lnT>
                      <a:noFill/>
                    </a:lnT>
                    <a:lnB>
                      <a:noFill/>
                    </a:lnB>
                    <a:solidFill>
                      <a:srgbClr val="8ACE9D"/>
                    </a:solidFill>
                  </a:tcPr>
                </a:tc>
                <a:tc>
                  <a:txBody>
                    <a:bodyPr/>
                    <a:lstStyle/>
                    <a:p>
                      <a:pPr algn="ctr" fontAlgn="b"/>
                      <a:r>
                        <a:rPr lang="en-US" sz="1200" b="0" i="0" u="none" strike="noStrike">
                          <a:solidFill>
                            <a:srgbClr val="000000"/>
                          </a:solidFill>
                          <a:effectLst/>
                          <a:highlight>
                            <a:srgbClr val="A2D8B1"/>
                          </a:highlight>
                          <a:latin typeface="Aptos Narrow" panose="020B0004020202020204" pitchFamily="34" charset="0"/>
                        </a:rPr>
                        <a:t>60</a:t>
                      </a:r>
                    </a:p>
                  </a:txBody>
                  <a:tcPr marL="9525" marR="9525" marT="9525" marB="0" anchor="b">
                    <a:lnL>
                      <a:noFill/>
                    </a:lnL>
                    <a:lnR>
                      <a:noFill/>
                    </a:lnR>
                    <a:lnT>
                      <a:noFill/>
                    </a:lnT>
                    <a:lnB>
                      <a:noFill/>
                    </a:lnB>
                    <a:solidFill>
                      <a:srgbClr val="A2D8B1"/>
                    </a:solidFill>
                  </a:tcPr>
                </a:tc>
                <a:tc>
                  <a:txBody>
                    <a:bodyPr/>
                    <a:lstStyle/>
                    <a:p>
                      <a:pPr algn="ctr" fontAlgn="b"/>
                      <a:r>
                        <a:rPr lang="en-US" sz="1200" b="0" i="0" u="none" strike="noStrike">
                          <a:solidFill>
                            <a:srgbClr val="000000"/>
                          </a:solidFill>
                          <a:effectLst/>
                          <a:highlight>
                            <a:srgbClr val="9CD6AC"/>
                          </a:highlight>
                          <a:latin typeface="Aptos Narrow" panose="020B0004020202020204" pitchFamily="34" charset="0"/>
                        </a:rPr>
                        <a:t>63</a:t>
                      </a:r>
                    </a:p>
                  </a:txBody>
                  <a:tcPr marL="9525" marR="9525" marT="9525" marB="0" anchor="b">
                    <a:lnL>
                      <a:noFill/>
                    </a:lnL>
                    <a:lnR>
                      <a:noFill/>
                    </a:lnR>
                    <a:lnT>
                      <a:noFill/>
                    </a:lnT>
                    <a:lnB>
                      <a:noFill/>
                    </a:lnB>
                    <a:solidFill>
                      <a:srgbClr val="9CD6AC"/>
                    </a:solidFill>
                  </a:tcPr>
                </a:tc>
                <a:tc>
                  <a:txBody>
                    <a:bodyPr/>
                    <a:lstStyle/>
                    <a:p>
                      <a:pPr algn="ctr" fontAlgn="b"/>
                      <a:r>
                        <a:rPr lang="en-US" sz="1200" b="0" i="0" u="none" strike="noStrike">
                          <a:solidFill>
                            <a:srgbClr val="000000"/>
                          </a:solidFill>
                          <a:effectLst/>
                          <a:highlight>
                            <a:srgbClr val="7AC88F"/>
                          </a:highlight>
                          <a:latin typeface="Aptos Narrow" panose="020B0004020202020204" pitchFamily="34" charset="0"/>
                        </a:rPr>
                        <a:t>85</a:t>
                      </a:r>
                    </a:p>
                  </a:txBody>
                  <a:tcPr marL="9525" marR="9525" marT="9525" marB="0" anchor="b">
                    <a:lnL>
                      <a:noFill/>
                    </a:lnL>
                    <a:lnR>
                      <a:noFill/>
                    </a:lnR>
                    <a:lnT>
                      <a:noFill/>
                    </a:lnT>
                    <a:lnB>
                      <a:noFill/>
                    </a:lnB>
                    <a:solidFill>
                      <a:srgbClr val="7AC88F"/>
                    </a:solidFill>
                  </a:tcPr>
                </a:tc>
                <a:tc>
                  <a:txBody>
                    <a:bodyPr/>
                    <a:lstStyle/>
                    <a:p>
                      <a:pPr algn="ctr" fontAlgn="b"/>
                      <a:r>
                        <a:rPr lang="en-US" sz="1200" b="0" i="0" u="none" strike="noStrike">
                          <a:solidFill>
                            <a:srgbClr val="000000"/>
                          </a:solidFill>
                          <a:effectLst/>
                          <a:highlight>
                            <a:srgbClr val="90D1A2"/>
                          </a:highlight>
                          <a:latin typeface="Aptos Narrow" panose="020B0004020202020204" pitchFamily="34" charset="0"/>
                        </a:rPr>
                        <a:t>71</a:t>
                      </a:r>
                    </a:p>
                  </a:txBody>
                  <a:tcPr marL="9525" marR="9525" marT="9525" marB="0" anchor="b">
                    <a:lnL>
                      <a:noFill/>
                    </a:lnL>
                    <a:lnR>
                      <a:noFill/>
                    </a:lnR>
                    <a:lnT>
                      <a:noFill/>
                    </a:lnT>
                    <a:lnB>
                      <a:noFill/>
                    </a:lnB>
                    <a:solidFill>
                      <a:srgbClr val="90D1A2"/>
                    </a:solidFill>
                  </a:tcPr>
                </a:tc>
                <a:extLst>
                  <a:ext uri="{0D108BD9-81ED-4DB2-BD59-A6C34878D82A}">
                    <a16:rowId xmlns:a16="http://schemas.microsoft.com/office/drawing/2014/main" val="1741564775"/>
                  </a:ext>
                </a:extLst>
              </a:tr>
              <a:tr h="224046">
                <a:tc>
                  <a:txBody>
                    <a:bodyPr/>
                    <a:lstStyle/>
                    <a:p>
                      <a:pPr algn="l" fontAlgn="b"/>
                      <a:r>
                        <a:rPr lang="en-US" sz="1200" b="1" i="0" u="none" strike="noStrike" dirty="0">
                          <a:solidFill>
                            <a:srgbClr val="00467F"/>
                          </a:solidFill>
                          <a:effectLst/>
                          <a:latin typeface="Aptos Narrow" panose="020B0004020202020204" pitchFamily="34" charset="0"/>
                        </a:rPr>
                        <a:t>Carilion Giles Community Hospital</a:t>
                      </a:r>
                    </a:p>
                  </a:txBody>
                  <a:tcPr marL="9525" marR="9525" marT="9525" marB="0" anchor="b">
                    <a:lnL>
                      <a:noFill/>
                    </a:lnL>
                    <a:lnR>
                      <a:noFill/>
                    </a:lnR>
                    <a:lnT>
                      <a:noFill/>
                    </a:lnT>
                    <a:lnB>
                      <a:noFill/>
                    </a:lnB>
                    <a:noFill/>
                  </a:tcPr>
                </a:tc>
                <a:tc>
                  <a:txBody>
                    <a:bodyPr/>
                    <a:lstStyle/>
                    <a:p>
                      <a:pPr algn="ctr" fontAlgn="b"/>
                      <a:r>
                        <a:rPr lang="en-US" sz="1200" b="0" i="0" u="none" strike="noStrike" dirty="0">
                          <a:solidFill>
                            <a:srgbClr val="000000"/>
                          </a:solidFill>
                          <a:effectLst/>
                          <a:latin typeface="Aptos Narrow" panose="020B0004020202020204" pitchFamily="34" charset="0"/>
                        </a:rPr>
                        <a:t>25</a:t>
                      </a:r>
                    </a:p>
                  </a:txBody>
                  <a:tcPr marL="9525" marR="9525" marT="9525" marB="0" anchor="b">
                    <a:lnL>
                      <a:noFill/>
                    </a:lnL>
                    <a:lnR>
                      <a:noFill/>
                    </a:lnR>
                    <a:lnT>
                      <a:noFill/>
                    </a:lnT>
                    <a:lnB>
                      <a:noFill/>
                    </a:lnB>
                    <a:noFill/>
                  </a:tcPr>
                </a:tc>
                <a:tc>
                  <a:txBody>
                    <a:bodyPr/>
                    <a:lstStyle/>
                    <a:p>
                      <a:pPr algn="ctr" fontAlgn="b"/>
                      <a:r>
                        <a:rPr lang="en-US" sz="1200" b="0" i="0" u="none" strike="noStrike" dirty="0">
                          <a:solidFill>
                            <a:srgbClr val="000000"/>
                          </a:solidFill>
                          <a:effectLst/>
                          <a:highlight>
                            <a:srgbClr val="8ACE9D"/>
                          </a:highlight>
                          <a:latin typeface="Aptos Narrow" panose="020B0004020202020204" pitchFamily="34" charset="0"/>
                        </a:rPr>
                        <a:t>75</a:t>
                      </a:r>
                    </a:p>
                  </a:txBody>
                  <a:tcPr marL="9525" marR="9525" marT="9525" marB="0" anchor="b">
                    <a:lnL>
                      <a:noFill/>
                    </a:lnL>
                    <a:lnR>
                      <a:noFill/>
                    </a:lnR>
                    <a:lnT>
                      <a:noFill/>
                    </a:lnT>
                    <a:lnB>
                      <a:noFill/>
                    </a:lnB>
                    <a:solidFill>
                      <a:srgbClr val="8ACE9D"/>
                    </a:solidFill>
                  </a:tcPr>
                </a:tc>
                <a:tc>
                  <a:txBody>
                    <a:bodyPr/>
                    <a:lstStyle/>
                    <a:p>
                      <a:pPr algn="ctr" fontAlgn="b"/>
                      <a:r>
                        <a:rPr lang="en-US" sz="1200" b="0" i="0" u="none" strike="noStrike">
                          <a:solidFill>
                            <a:srgbClr val="000000"/>
                          </a:solidFill>
                          <a:effectLst/>
                          <a:highlight>
                            <a:srgbClr val="78C78D"/>
                          </a:highlight>
                          <a:latin typeface="Aptos Narrow" panose="020B0004020202020204" pitchFamily="34" charset="0"/>
                        </a:rPr>
                        <a:t>87</a:t>
                      </a:r>
                    </a:p>
                  </a:txBody>
                  <a:tcPr marL="9525" marR="9525" marT="9525" marB="0" anchor="b">
                    <a:lnL>
                      <a:noFill/>
                    </a:lnL>
                    <a:lnR>
                      <a:noFill/>
                    </a:lnR>
                    <a:lnT>
                      <a:noFill/>
                    </a:lnT>
                    <a:lnB>
                      <a:noFill/>
                    </a:lnB>
                    <a:solidFill>
                      <a:srgbClr val="78C78D"/>
                    </a:solidFill>
                  </a:tcPr>
                </a:tc>
                <a:tc>
                  <a:txBody>
                    <a:bodyPr/>
                    <a:lstStyle/>
                    <a:p>
                      <a:pPr algn="ctr" fontAlgn="b"/>
                      <a:r>
                        <a:rPr lang="en-US" sz="1200" b="0" i="0" u="none" strike="noStrike">
                          <a:solidFill>
                            <a:srgbClr val="000000"/>
                          </a:solidFill>
                          <a:effectLst/>
                          <a:latin typeface="Aptos Narrow" panose="020B0004020202020204" pitchFamily="34" charset="0"/>
                        </a:rPr>
                        <a:t>NA</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A0D7B0"/>
                          </a:highlight>
                          <a:latin typeface="Aptos Narrow" panose="020B0004020202020204" pitchFamily="34" charset="0"/>
                        </a:rPr>
                        <a:t>61</a:t>
                      </a:r>
                    </a:p>
                  </a:txBody>
                  <a:tcPr marL="9525" marR="9525" marT="9525" marB="0" anchor="b">
                    <a:lnL>
                      <a:noFill/>
                    </a:lnL>
                    <a:lnR>
                      <a:noFill/>
                    </a:lnR>
                    <a:lnT>
                      <a:noFill/>
                    </a:lnT>
                    <a:lnB>
                      <a:noFill/>
                    </a:lnB>
                    <a:solidFill>
                      <a:srgbClr val="A0D7B0"/>
                    </a:solidFill>
                  </a:tcPr>
                </a:tc>
                <a:tc>
                  <a:txBody>
                    <a:bodyPr/>
                    <a:lstStyle/>
                    <a:p>
                      <a:pPr algn="ctr" fontAlgn="b"/>
                      <a:r>
                        <a:rPr lang="en-US" sz="1200" b="0" i="0" u="none" strike="noStrike" dirty="0">
                          <a:solidFill>
                            <a:srgbClr val="000000"/>
                          </a:solidFill>
                          <a:effectLst/>
                          <a:highlight>
                            <a:srgbClr val="90D1A2"/>
                          </a:highlight>
                          <a:latin typeface="Aptos Narrow" panose="020B0004020202020204" pitchFamily="34" charset="0"/>
                        </a:rPr>
                        <a:t>71</a:t>
                      </a:r>
                    </a:p>
                  </a:txBody>
                  <a:tcPr marL="9525" marR="9525" marT="9525" marB="0" anchor="b">
                    <a:lnL>
                      <a:noFill/>
                    </a:lnL>
                    <a:lnR>
                      <a:noFill/>
                    </a:lnR>
                    <a:lnT>
                      <a:noFill/>
                    </a:lnT>
                    <a:lnB>
                      <a:noFill/>
                    </a:lnB>
                    <a:solidFill>
                      <a:srgbClr val="90D1A2"/>
                    </a:solidFill>
                  </a:tcPr>
                </a:tc>
                <a:extLst>
                  <a:ext uri="{0D108BD9-81ED-4DB2-BD59-A6C34878D82A}">
                    <a16:rowId xmlns:a16="http://schemas.microsoft.com/office/drawing/2014/main" val="1237941840"/>
                  </a:ext>
                </a:extLst>
              </a:tr>
              <a:tr h="224046">
                <a:tc>
                  <a:txBody>
                    <a:bodyPr/>
                    <a:lstStyle/>
                    <a:p>
                      <a:pPr algn="l" fontAlgn="b"/>
                      <a:r>
                        <a:rPr lang="en-US" sz="1200" b="0" i="0" u="none" strike="noStrike" dirty="0">
                          <a:solidFill>
                            <a:schemeClr val="tx1">
                              <a:lumMod val="50000"/>
                              <a:lumOff val="50000"/>
                            </a:schemeClr>
                          </a:solidFill>
                          <a:effectLst/>
                          <a:latin typeface="Aptos Narrow" panose="020B0004020202020204" pitchFamily="34" charset="0"/>
                        </a:rPr>
                        <a:t>Welch </a:t>
                      </a:r>
                      <a:r>
                        <a:rPr lang="en-US" sz="1200" b="0" i="0" u="none" strike="noStrike" dirty="0">
                          <a:solidFill>
                            <a:srgbClr val="7F7F7F"/>
                          </a:solidFill>
                          <a:effectLst/>
                          <a:latin typeface="Aptos Narrow" panose="020B0004020202020204" pitchFamily="34" charset="0"/>
                        </a:rPr>
                        <a:t>Community H</a:t>
                      </a:r>
                      <a:r>
                        <a:rPr lang="en-US" sz="1200" b="0" i="0" u="none" strike="noStrike" dirty="0">
                          <a:solidFill>
                            <a:schemeClr val="tx1">
                              <a:lumMod val="50000"/>
                              <a:lumOff val="50000"/>
                            </a:schemeClr>
                          </a:solidFill>
                          <a:effectLst/>
                          <a:latin typeface="Aptos Narrow" panose="020B0004020202020204" pitchFamily="34" charset="0"/>
                        </a:rPr>
                        <a:t>ospital</a:t>
                      </a:r>
                    </a:p>
                  </a:txBody>
                  <a:tcPr marL="9525" marR="9525" marT="9525" marB="0" anchor="b">
                    <a:lnL>
                      <a:noFill/>
                    </a:lnL>
                    <a:lnR>
                      <a:noFill/>
                    </a:lnR>
                    <a:lnT>
                      <a:noFill/>
                    </a:lnT>
                    <a:lnB>
                      <a:noFill/>
                    </a:lnB>
                    <a:noFill/>
                  </a:tcPr>
                </a:tc>
                <a:tc>
                  <a:txBody>
                    <a:bodyPr/>
                    <a:lstStyle/>
                    <a:p>
                      <a:pPr algn="ctr" fontAlgn="b"/>
                      <a:r>
                        <a:rPr lang="en-US" sz="1200" b="0" i="0" u="none" strike="noStrike" dirty="0">
                          <a:solidFill>
                            <a:srgbClr val="000000"/>
                          </a:solidFill>
                          <a:effectLst/>
                          <a:latin typeface="Aptos Narrow" panose="020B0004020202020204" pitchFamily="34" charset="0"/>
                        </a:rPr>
                        <a:t>49</a:t>
                      </a:r>
                    </a:p>
                  </a:txBody>
                  <a:tcPr marL="9525" marR="9525" marT="9525" marB="0" anchor="b">
                    <a:lnL>
                      <a:noFill/>
                    </a:lnL>
                    <a:lnR>
                      <a:noFill/>
                    </a:lnR>
                    <a:lnT>
                      <a:noFill/>
                    </a:lnT>
                    <a:lnB>
                      <a:noFill/>
                    </a:lnB>
                    <a:noFill/>
                  </a:tcPr>
                </a:tc>
                <a:tc>
                  <a:txBody>
                    <a:bodyPr/>
                    <a:lstStyle/>
                    <a:p>
                      <a:pPr algn="ctr" fontAlgn="b"/>
                      <a:r>
                        <a:rPr lang="en-US" sz="1200" b="0" i="0" u="none" strike="noStrike" dirty="0">
                          <a:solidFill>
                            <a:srgbClr val="000000"/>
                          </a:solidFill>
                          <a:effectLst/>
                          <a:highlight>
                            <a:srgbClr val="85CC99"/>
                          </a:highlight>
                          <a:latin typeface="Aptos Narrow" panose="020B0004020202020204" pitchFamily="34" charset="0"/>
                        </a:rPr>
                        <a:t>78</a:t>
                      </a:r>
                    </a:p>
                  </a:txBody>
                  <a:tcPr marL="9525" marR="9525" marT="9525" marB="0" anchor="b">
                    <a:lnL>
                      <a:noFill/>
                    </a:lnL>
                    <a:lnR>
                      <a:noFill/>
                    </a:lnR>
                    <a:lnT>
                      <a:noFill/>
                    </a:lnT>
                    <a:lnB>
                      <a:noFill/>
                    </a:lnB>
                    <a:solidFill>
                      <a:srgbClr val="85CC99"/>
                    </a:solidFill>
                  </a:tcPr>
                </a:tc>
                <a:tc>
                  <a:txBody>
                    <a:bodyPr/>
                    <a:lstStyle/>
                    <a:p>
                      <a:pPr algn="ctr" fontAlgn="b"/>
                      <a:r>
                        <a:rPr lang="en-US" sz="1200" b="0" i="0" u="none" strike="noStrike" dirty="0">
                          <a:solidFill>
                            <a:srgbClr val="000000"/>
                          </a:solidFill>
                          <a:effectLst/>
                          <a:latin typeface="Aptos Narrow" panose="020B0004020202020204" pitchFamily="34" charset="0"/>
                        </a:rPr>
                        <a:t>NA</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A7DAB6"/>
                          </a:highlight>
                          <a:latin typeface="Aptos Narrow" panose="020B0004020202020204" pitchFamily="34" charset="0"/>
                        </a:rPr>
                        <a:t>56</a:t>
                      </a:r>
                    </a:p>
                  </a:txBody>
                  <a:tcPr marL="9525" marR="9525" marT="9525" marB="0" anchor="b">
                    <a:lnL>
                      <a:noFill/>
                    </a:lnL>
                    <a:lnR>
                      <a:noFill/>
                    </a:lnR>
                    <a:lnT>
                      <a:noFill/>
                    </a:lnT>
                    <a:lnB>
                      <a:noFill/>
                    </a:lnB>
                    <a:solidFill>
                      <a:srgbClr val="A7DAB6"/>
                    </a:solidFill>
                  </a:tcPr>
                </a:tc>
                <a:tc>
                  <a:txBody>
                    <a:bodyPr/>
                    <a:lstStyle/>
                    <a:p>
                      <a:pPr algn="ctr" fontAlgn="b"/>
                      <a:r>
                        <a:rPr lang="en-US" sz="1200" b="0" i="0" u="none" strike="noStrike">
                          <a:solidFill>
                            <a:srgbClr val="000000"/>
                          </a:solidFill>
                          <a:effectLst/>
                          <a:highlight>
                            <a:srgbClr val="C2E5CD"/>
                          </a:highlight>
                          <a:latin typeface="Aptos Narrow" panose="020B0004020202020204" pitchFamily="34" charset="0"/>
                        </a:rPr>
                        <a:t>39</a:t>
                      </a:r>
                    </a:p>
                  </a:txBody>
                  <a:tcPr marL="9525" marR="9525" marT="9525" marB="0" anchor="b">
                    <a:lnL>
                      <a:noFill/>
                    </a:lnL>
                    <a:lnR>
                      <a:noFill/>
                    </a:lnR>
                    <a:lnT>
                      <a:noFill/>
                    </a:lnT>
                    <a:lnB>
                      <a:noFill/>
                    </a:lnB>
                    <a:solidFill>
                      <a:srgbClr val="C2E5CD"/>
                    </a:solidFill>
                  </a:tcPr>
                </a:tc>
                <a:tc>
                  <a:txBody>
                    <a:bodyPr/>
                    <a:lstStyle/>
                    <a:p>
                      <a:pPr algn="ctr" fontAlgn="b"/>
                      <a:r>
                        <a:rPr lang="en-US" sz="1200" b="0" i="0" u="none" strike="noStrike">
                          <a:solidFill>
                            <a:srgbClr val="000000"/>
                          </a:solidFill>
                          <a:effectLst/>
                          <a:highlight>
                            <a:srgbClr val="92D1A4"/>
                          </a:highlight>
                          <a:latin typeface="Aptos Narrow" panose="020B0004020202020204" pitchFamily="34" charset="0"/>
                        </a:rPr>
                        <a:t>70</a:t>
                      </a:r>
                    </a:p>
                  </a:txBody>
                  <a:tcPr marL="9525" marR="9525" marT="9525" marB="0" anchor="b">
                    <a:lnL>
                      <a:noFill/>
                    </a:lnL>
                    <a:lnR>
                      <a:noFill/>
                    </a:lnR>
                    <a:lnT>
                      <a:noFill/>
                    </a:lnT>
                    <a:lnB>
                      <a:noFill/>
                    </a:lnB>
                    <a:solidFill>
                      <a:srgbClr val="92D1A4"/>
                    </a:solidFill>
                  </a:tcPr>
                </a:tc>
                <a:extLst>
                  <a:ext uri="{0D108BD9-81ED-4DB2-BD59-A6C34878D82A}">
                    <a16:rowId xmlns:a16="http://schemas.microsoft.com/office/drawing/2014/main" val="1086663871"/>
                  </a:ext>
                </a:extLst>
              </a:tr>
              <a:tr h="224046">
                <a:tc>
                  <a:txBody>
                    <a:bodyPr/>
                    <a:lstStyle/>
                    <a:p>
                      <a:pPr algn="l" fontAlgn="b"/>
                      <a:r>
                        <a:rPr lang="en-US" sz="1200" b="1" i="0" u="none" strike="noStrike" dirty="0">
                          <a:solidFill>
                            <a:srgbClr val="027587"/>
                          </a:solidFill>
                          <a:effectLst/>
                          <a:latin typeface="Aptos Narrow" panose="020B0004020202020204" pitchFamily="34" charset="0"/>
                        </a:rPr>
                        <a:t>Centra Bedford Memorial Hospital</a:t>
                      </a:r>
                    </a:p>
                  </a:txBody>
                  <a:tcPr marL="9525" marR="9525" marT="9525" marB="0" anchor="b">
                    <a:lnL>
                      <a:noFill/>
                    </a:lnL>
                    <a:lnR>
                      <a:noFill/>
                    </a:lnR>
                    <a:lnT>
                      <a:noFill/>
                    </a:lnT>
                    <a:lnB>
                      <a:noFill/>
                    </a:lnB>
                    <a:noFill/>
                  </a:tcPr>
                </a:tc>
                <a:tc>
                  <a:txBody>
                    <a:bodyPr/>
                    <a:lstStyle/>
                    <a:p>
                      <a:pPr algn="ctr" fontAlgn="b"/>
                      <a:r>
                        <a:rPr lang="en-US" sz="1200" b="0" i="0" u="none" strike="noStrike" dirty="0">
                          <a:solidFill>
                            <a:srgbClr val="000000"/>
                          </a:solidFill>
                          <a:effectLst/>
                          <a:latin typeface="Aptos Narrow" panose="020B0004020202020204" pitchFamily="34" charset="0"/>
                        </a:rPr>
                        <a:t>34</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95D2A6"/>
                          </a:highlight>
                          <a:latin typeface="Aptos Narrow" panose="020B0004020202020204" pitchFamily="34" charset="0"/>
                        </a:rPr>
                        <a:t>68</a:t>
                      </a:r>
                    </a:p>
                  </a:txBody>
                  <a:tcPr marL="9525" marR="9525" marT="9525" marB="0" anchor="b">
                    <a:lnL>
                      <a:noFill/>
                    </a:lnL>
                    <a:lnR>
                      <a:noFill/>
                    </a:lnR>
                    <a:lnT>
                      <a:noFill/>
                    </a:lnT>
                    <a:lnB>
                      <a:noFill/>
                    </a:lnB>
                    <a:solidFill>
                      <a:srgbClr val="95D2A6"/>
                    </a:solidFill>
                  </a:tcPr>
                </a:tc>
                <a:tc>
                  <a:txBody>
                    <a:bodyPr/>
                    <a:lstStyle/>
                    <a:p>
                      <a:pPr algn="ctr" fontAlgn="b"/>
                      <a:r>
                        <a:rPr lang="en-US" sz="1200" b="0" i="0" u="none" strike="noStrike">
                          <a:solidFill>
                            <a:srgbClr val="000000"/>
                          </a:solidFill>
                          <a:effectLst/>
                          <a:highlight>
                            <a:srgbClr val="78C78D"/>
                          </a:highlight>
                          <a:latin typeface="Aptos Narrow" panose="020B0004020202020204" pitchFamily="34" charset="0"/>
                        </a:rPr>
                        <a:t>87</a:t>
                      </a:r>
                    </a:p>
                  </a:txBody>
                  <a:tcPr marL="9525" marR="9525" marT="9525" marB="0" anchor="b">
                    <a:lnL>
                      <a:noFill/>
                    </a:lnL>
                    <a:lnR>
                      <a:noFill/>
                    </a:lnR>
                    <a:lnT>
                      <a:noFill/>
                    </a:lnT>
                    <a:lnB>
                      <a:noFill/>
                    </a:lnB>
                    <a:solidFill>
                      <a:srgbClr val="78C78D"/>
                    </a:solidFill>
                  </a:tcPr>
                </a:tc>
                <a:tc>
                  <a:txBody>
                    <a:bodyPr/>
                    <a:lstStyle/>
                    <a:p>
                      <a:pPr algn="ctr" fontAlgn="b"/>
                      <a:r>
                        <a:rPr lang="en-US" sz="1200" b="0" i="0" u="none" strike="noStrike" dirty="0">
                          <a:solidFill>
                            <a:srgbClr val="000000"/>
                          </a:solidFill>
                          <a:effectLst/>
                          <a:highlight>
                            <a:srgbClr val="9ED6AE"/>
                          </a:highlight>
                          <a:latin typeface="Aptos Narrow" panose="020B0004020202020204" pitchFamily="34" charset="0"/>
                        </a:rPr>
                        <a:t>62</a:t>
                      </a:r>
                    </a:p>
                  </a:txBody>
                  <a:tcPr marL="9525" marR="9525" marT="9525" marB="0" anchor="b">
                    <a:lnL>
                      <a:noFill/>
                    </a:lnL>
                    <a:lnR>
                      <a:noFill/>
                    </a:lnR>
                    <a:lnT>
                      <a:noFill/>
                    </a:lnT>
                    <a:lnB>
                      <a:noFill/>
                    </a:lnB>
                    <a:solidFill>
                      <a:srgbClr val="9ED6AE"/>
                    </a:solidFill>
                  </a:tcPr>
                </a:tc>
                <a:tc>
                  <a:txBody>
                    <a:bodyPr/>
                    <a:lstStyle/>
                    <a:p>
                      <a:pPr algn="ctr" fontAlgn="b"/>
                      <a:r>
                        <a:rPr lang="en-US" sz="1200" b="0" i="0" u="none" strike="noStrike">
                          <a:solidFill>
                            <a:srgbClr val="000000"/>
                          </a:solidFill>
                          <a:effectLst/>
                          <a:highlight>
                            <a:srgbClr val="94D2A5"/>
                          </a:highlight>
                          <a:latin typeface="Aptos Narrow" panose="020B0004020202020204" pitchFamily="34" charset="0"/>
                        </a:rPr>
                        <a:t>69</a:t>
                      </a:r>
                    </a:p>
                  </a:txBody>
                  <a:tcPr marL="9525" marR="9525" marT="9525" marB="0" anchor="b">
                    <a:lnL>
                      <a:noFill/>
                    </a:lnL>
                    <a:lnR>
                      <a:noFill/>
                    </a:lnR>
                    <a:lnT>
                      <a:noFill/>
                    </a:lnT>
                    <a:lnB>
                      <a:noFill/>
                    </a:lnB>
                    <a:solidFill>
                      <a:srgbClr val="94D2A5"/>
                    </a:solidFill>
                  </a:tcPr>
                </a:tc>
                <a:tc>
                  <a:txBody>
                    <a:bodyPr/>
                    <a:lstStyle/>
                    <a:p>
                      <a:pPr algn="ctr" fontAlgn="b"/>
                      <a:r>
                        <a:rPr lang="en-US" sz="1200" b="0" i="0" u="none" strike="noStrike">
                          <a:solidFill>
                            <a:srgbClr val="000000"/>
                          </a:solidFill>
                          <a:effectLst/>
                          <a:highlight>
                            <a:srgbClr val="93D2A5"/>
                          </a:highlight>
                          <a:latin typeface="Aptos Narrow" panose="020B0004020202020204" pitchFamily="34" charset="0"/>
                        </a:rPr>
                        <a:t>69</a:t>
                      </a:r>
                    </a:p>
                  </a:txBody>
                  <a:tcPr marL="9525" marR="9525" marT="9525" marB="0" anchor="b">
                    <a:lnL>
                      <a:noFill/>
                    </a:lnL>
                    <a:lnR>
                      <a:noFill/>
                    </a:lnR>
                    <a:lnT>
                      <a:noFill/>
                    </a:lnT>
                    <a:lnB>
                      <a:noFill/>
                    </a:lnB>
                    <a:solidFill>
                      <a:srgbClr val="93D2A5"/>
                    </a:solidFill>
                  </a:tcPr>
                </a:tc>
                <a:extLst>
                  <a:ext uri="{0D108BD9-81ED-4DB2-BD59-A6C34878D82A}">
                    <a16:rowId xmlns:a16="http://schemas.microsoft.com/office/drawing/2014/main" val="2939104524"/>
                  </a:ext>
                </a:extLst>
              </a:tr>
              <a:tr h="224046">
                <a:tc>
                  <a:txBody>
                    <a:bodyPr/>
                    <a:lstStyle/>
                    <a:p>
                      <a:pPr algn="l" fontAlgn="b"/>
                      <a:r>
                        <a:rPr lang="en-US" sz="1200" b="0" i="0" u="none" strike="noStrike" dirty="0" err="1">
                          <a:solidFill>
                            <a:schemeClr val="tx1">
                              <a:lumMod val="50000"/>
                              <a:lumOff val="50000"/>
                            </a:schemeClr>
                          </a:solidFill>
                          <a:effectLst/>
                          <a:latin typeface="Aptos Narrow" panose="020B0004020202020204" pitchFamily="34" charset="0"/>
                        </a:rPr>
                        <a:t>Lewisgale</a:t>
                      </a:r>
                      <a:r>
                        <a:rPr lang="en-US" sz="1200" b="0" i="0" u="none" strike="noStrike" dirty="0">
                          <a:solidFill>
                            <a:schemeClr val="tx1">
                              <a:lumMod val="50000"/>
                              <a:lumOff val="50000"/>
                            </a:schemeClr>
                          </a:solidFill>
                          <a:effectLst/>
                          <a:latin typeface="Aptos Narrow" panose="020B0004020202020204" pitchFamily="34" charset="0"/>
                        </a:rPr>
                        <a:t> Hospital Montgomery</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92</a:t>
                      </a:r>
                    </a:p>
                  </a:txBody>
                  <a:tcPr marL="9525" marR="9525" marT="9525" marB="0" anchor="b">
                    <a:lnL>
                      <a:noFill/>
                    </a:lnL>
                    <a:lnR>
                      <a:noFill/>
                    </a:lnR>
                    <a:lnT>
                      <a:noFill/>
                    </a:lnT>
                    <a:lnB>
                      <a:noFill/>
                    </a:lnB>
                    <a:noFill/>
                  </a:tcPr>
                </a:tc>
                <a:tc>
                  <a:txBody>
                    <a:bodyPr/>
                    <a:lstStyle/>
                    <a:p>
                      <a:pPr algn="ctr" fontAlgn="b"/>
                      <a:r>
                        <a:rPr lang="en-US" sz="1200" b="0" i="0" u="none" strike="noStrike" dirty="0">
                          <a:solidFill>
                            <a:srgbClr val="000000"/>
                          </a:solidFill>
                          <a:effectLst/>
                          <a:highlight>
                            <a:srgbClr val="8FD0A1"/>
                          </a:highlight>
                          <a:latin typeface="Aptos Narrow" panose="020B0004020202020204" pitchFamily="34" charset="0"/>
                        </a:rPr>
                        <a:t>72</a:t>
                      </a:r>
                    </a:p>
                  </a:txBody>
                  <a:tcPr marL="9525" marR="9525" marT="9525" marB="0" anchor="b">
                    <a:lnL>
                      <a:noFill/>
                    </a:lnL>
                    <a:lnR>
                      <a:noFill/>
                    </a:lnR>
                    <a:lnT>
                      <a:noFill/>
                    </a:lnT>
                    <a:lnB>
                      <a:noFill/>
                    </a:lnB>
                    <a:solidFill>
                      <a:srgbClr val="8FD0A1"/>
                    </a:solidFill>
                  </a:tcPr>
                </a:tc>
                <a:tc>
                  <a:txBody>
                    <a:bodyPr/>
                    <a:lstStyle/>
                    <a:p>
                      <a:pPr algn="ctr" fontAlgn="b"/>
                      <a:r>
                        <a:rPr lang="en-US" sz="1200" b="0" i="0" u="none" strike="noStrike">
                          <a:solidFill>
                            <a:srgbClr val="000000"/>
                          </a:solidFill>
                          <a:effectLst/>
                          <a:highlight>
                            <a:srgbClr val="A2D8B1"/>
                          </a:highlight>
                          <a:latin typeface="Aptos Narrow" panose="020B0004020202020204" pitchFamily="34" charset="0"/>
                        </a:rPr>
                        <a:t>60</a:t>
                      </a:r>
                    </a:p>
                  </a:txBody>
                  <a:tcPr marL="9525" marR="9525" marT="9525" marB="0" anchor="b">
                    <a:lnL>
                      <a:noFill/>
                    </a:lnL>
                    <a:lnR>
                      <a:noFill/>
                    </a:lnR>
                    <a:lnT>
                      <a:noFill/>
                    </a:lnT>
                    <a:lnB>
                      <a:noFill/>
                    </a:lnB>
                    <a:solidFill>
                      <a:srgbClr val="A2D8B1"/>
                    </a:solidFill>
                  </a:tcPr>
                </a:tc>
                <a:tc>
                  <a:txBody>
                    <a:bodyPr/>
                    <a:lstStyle/>
                    <a:p>
                      <a:pPr algn="ctr" fontAlgn="b"/>
                      <a:r>
                        <a:rPr lang="en-US" sz="1200" b="0" i="0" u="none" strike="noStrike">
                          <a:solidFill>
                            <a:srgbClr val="000000"/>
                          </a:solidFill>
                          <a:effectLst/>
                          <a:highlight>
                            <a:srgbClr val="7EC992"/>
                          </a:highlight>
                          <a:latin typeface="Aptos Narrow" panose="020B0004020202020204" pitchFamily="34" charset="0"/>
                        </a:rPr>
                        <a:t>83</a:t>
                      </a:r>
                    </a:p>
                  </a:txBody>
                  <a:tcPr marL="9525" marR="9525" marT="9525" marB="0" anchor="b">
                    <a:lnL>
                      <a:noFill/>
                    </a:lnL>
                    <a:lnR>
                      <a:noFill/>
                    </a:lnR>
                    <a:lnT>
                      <a:noFill/>
                    </a:lnT>
                    <a:lnB>
                      <a:noFill/>
                    </a:lnB>
                    <a:solidFill>
                      <a:srgbClr val="7EC992"/>
                    </a:solidFill>
                  </a:tcPr>
                </a:tc>
                <a:tc>
                  <a:txBody>
                    <a:bodyPr/>
                    <a:lstStyle/>
                    <a:p>
                      <a:pPr algn="ctr" fontAlgn="b"/>
                      <a:r>
                        <a:rPr lang="en-US" sz="1200" b="0" i="0" u="none" strike="noStrike" dirty="0">
                          <a:solidFill>
                            <a:srgbClr val="000000"/>
                          </a:solidFill>
                          <a:effectLst/>
                          <a:highlight>
                            <a:srgbClr val="B2DEBF"/>
                          </a:highlight>
                          <a:latin typeface="Aptos Narrow" panose="020B0004020202020204" pitchFamily="34" charset="0"/>
                        </a:rPr>
                        <a:t>49</a:t>
                      </a:r>
                    </a:p>
                  </a:txBody>
                  <a:tcPr marL="9525" marR="9525" marT="9525" marB="0" anchor="b">
                    <a:lnL>
                      <a:noFill/>
                    </a:lnL>
                    <a:lnR>
                      <a:noFill/>
                    </a:lnR>
                    <a:lnT>
                      <a:noFill/>
                    </a:lnT>
                    <a:lnB>
                      <a:noFill/>
                    </a:lnB>
                    <a:solidFill>
                      <a:srgbClr val="B2DEBF"/>
                    </a:solidFill>
                  </a:tcPr>
                </a:tc>
                <a:tc>
                  <a:txBody>
                    <a:bodyPr/>
                    <a:lstStyle/>
                    <a:p>
                      <a:pPr algn="ctr" fontAlgn="b"/>
                      <a:r>
                        <a:rPr lang="en-US" sz="1200" b="0" i="0" u="none" strike="noStrike" dirty="0">
                          <a:solidFill>
                            <a:srgbClr val="000000"/>
                          </a:solidFill>
                          <a:effectLst/>
                          <a:highlight>
                            <a:srgbClr val="93D2A5"/>
                          </a:highlight>
                          <a:latin typeface="Aptos Narrow" panose="020B0004020202020204" pitchFamily="34" charset="0"/>
                        </a:rPr>
                        <a:t>69</a:t>
                      </a:r>
                    </a:p>
                  </a:txBody>
                  <a:tcPr marL="9525" marR="9525" marT="9525" marB="0" anchor="b">
                    <a:lnL>
                      <a:noFill/>
                    </a:lnL>
                    <a:lnR>
                      <a:noFill/>
                    </a:lnR>
                    <a:lnT>
                      <a:noFill/>
                    </a:lnT>
                    <a:lnB>
                      <a:noFill/>
                    </a:lnB>
                    <a:solidFill>
                      <a:srgbClr val="93D2A5"/>
                    </a:solidFill>
                  </a:tcPr>
                </a:tc>
                <a:extLst>
                  <a:ext uri="{0D108BD9-81ED-4DB2-BD59-A6C34878D82A}">
                    <a16:rowId xmlns:a16="http://schemas.microsoft.com/office/drawing/2014/main" val="2730456916"/>
                  </a:ext>
                </a:extLst>
              </a:tr>
              <a:tr h="224046">
                <a:tc>
                  <a:txBody>
                    <a:bodyPr/>
                    <a:lstStyle/>
                    <a:p>
                      <a:pPr algn="l" fontAlgn="b"/>
                      <a:r>
                        <a:rPr lang="en-US" sz="1200" b="1" i="0" u="none" strike="noStrike" dirty="0">
                          <a:solidFill>
                            <a:srgbClr val="00467F"/>
                          </a:solidFill>
                          <a:effectLst/>
                          <a:latin typeface="Aptos Narrow" panose="020B0004020202020204" pitchFamily="34" charset="0"/>
                        </a:rPr>
                        <a:t>Carilion Tazewell Community Hospital</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56</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9AD4AA"/>
                          </a:highlight>
                          <a:latin typeface="Aptos Narrow" panose="020B0004020202020204" pitchFamily="34" charset="0"/>
                        </a:rPr>
                        <a:t>65</a:t>
                      </a:r>
                    </a:p>
                  </a:txBody>
                  <a:tcPr marL="9525" marR="9525" marT="9525" marB="0" anchor="b">
                    <a:lnL>
                      <a:noFill/>
                    </a:lnL>
                    <a:lnR>
                      <a:noFill/>
                    </a:lnR>
                    <a:lnT>
                      <a:noFill/>
                    </a:lnT>
                    <a:lnB>
                      <a:noFill/>
                    </a:lnB>
                    <a:solidFill>
                      <a:srgbClr val="9AD4AA"/>
                    </a:solidFill>
                  </a:tcPr>
                </a:tc>
                <a:tc>
                  <a:txBody>
                    <a:bodyPr/>
                    <a:lstStyle/>
                    <a:p>
                      <a:pPr algn="ctr" fontAlgn="b"/>
                      <a:r>
                        <a:rPr lang="en-US" sz="1200" b="0" i="0" u="none" strike="noStrike" dirty="0">
                          <a:solidFill>
                            <a:srgbClr val="000000"/>
                          </a:solidFill>
                          <a:effectLst/>
                          <a:latin typeface="Aptos Narrow" panose="020B0004020202020204" pitchFamily="34" charset="0"/>
                        </a:rPr>
                        <a:t>NA</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ACDCBA"/>
                          </a:highlight>
                          <a:latin typeface="Aptos Narrow" panose="020B0004020202020204" pitchFamily="34" charset="0"/>
                        </a:rPr>
                        <a:t>53</a:t>
                      </a:r>
                    </a:p>
                  </a:txBody>
                  <a:tcPr marL="9525" marR="9525" marT="9525" marB="0" anchor="b">
                    <a:lnL>
                      <a:noFill/>
                    </a:lnL>
                    <a:lnR>
                      <a:noFill/>
                    </a:lnR>
                    <a:lnT>
                      <a:noFill/>
                    </a:lnT>
                    <a:lnB>
                      <a:noFill/>
                    </a:lnB>
                    <a:solidFill>
                      <a:srgbClr val="ACDCBA"/>
                    </a:solidFill>
                  </a:tcPr>
                </a:tc>
                <a:tc>
                  <a:txBody>
                    <a:bodyPr/>
                    <a:lstStyle/>
                    <a:p>
                      <a:pPr algn="ctr" fontAlgn="b"/>
                      <a:r>
                        <a:rPr lang="en-US" sz="1200" b="0" i="0" u="none" strike="noStrike" dirty="0">
                          <a:solidFill>
                            <a:srgbClr val="000000"/>
                          </a:solidFill>
                          <a:effectLst/>
                          <a:highlight>
                            <a:srgbClr val="B2DEC0"/>
                          </a:highlight>
                          <a:latin typeface="Aptos Narrow" panose="020B0004020202020204" pitchFamily="34" charset="0"/>
                        </a:rPr>
                        <a:t>49</a:t>
                      </a:r>
                    </a:p>
                  </a:txBody>
                  <a:tcPr marL="9525" marR="9525" marT="9525" marB="0" anchor="b">
                    <a:lnL>
                      <a:noFill/>
                    </a:lnL>
                    <a:lnR>
                      <a:noFill/>
                    </a:lnR>
                    <a:lnT>
                      <a:noFill/>
                    </a:lnT>
                    <a:lnB>
                      <a:noFill/>
                    </a:lnB>
                    <a:solidFill>
                      <a:srgbClr val="B2DEC0"/>
                    </a:solidFill>
                  </a:tcPr>
                </a:tc>
                <a:tc>
                  <a:txBody>
                    <a:bodyPr/>
                    <a:lstStyle/>
                    <a:p>
                      <a:pPr algn="ctr" fontAlgn="b"/>
                      <a:r>
                        <a:rPr lang="en-US" sz="1200" b="0" i="0" u="none" strike="noStrike">
                          <a:solidFill>
                            <a:srgbClr val="000000"/>
                          </a:solidFill>
                          <a:effectLst/>
                          <a:highlight>
                            <a:srgbClr val="95D3A6"/>
                          </a:highlight>
                          <a:latin typeface="Aptos Narrow" panose="020B0004020202020204" pitchFamily="34" charset="0"/>
                        </a:rPr>
                        <a:t>68</a:t>
                      </a:r>
                    </a:p>
                  </a:txBody>
                  <a:tcPr marL="9525" marR="9525" marT="9525" marB="0" anchor="b">
                    <a:lnL>
                      <a:noFill/>
                    </a:lnL>
                    <a:lnR>
                      <a:noFill/>
                    </a:lnR>
                    <a:lnT>
                      <a:noFill/>
                    </a:lnT>
                    <a:lnB>
                      <a:noFill/>
                    </a:lnB>
                    <a:solidFill>
                      <a:srgbClr val="95D3A6"/>
                    </a:solidFill>
                  </a:tcPr>
                </a:tc>
                <a:extLst>
                  <a:ext uri="{0D108BD9-81ED-4DB2-BD59-A6C34878D82A}">
                    <a16:rowId xmlns:a16="http://schemas.microsoft.com/office/drawing/2014/main" val="3215073818"/>
                  </a:ext>
                </a:extLst>
              </a:tr>
              <a:tr h="224046">
                <a:tc>
                  <a:txBody>
                    <a:bodyPr/>
                    <a:lstStyle/>
                    <a:p>
                      <a:pPr algn="l" fontAlgn="b"/>
                      <a:r>
                        <a:rPr lang="en-US" sz="1200" b="1" i="0" u="none" strike="noStrike" dirty="0">
                          <a:solidFill>
                            <a:srgbClr val="00467F"/>
                          </a:solidFill>
                          <a:effectLst/>
                          <a:latin typeface="Aptos Narrow" panose="020B0004020202020204" pitchFamily="34" charset="0"/>
                        </a:rPr>
                        <a:t>Carilion Roanoke Medical Center</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636</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9AD4AA"/>
                          </a:highlight>
                          <a:latin typeface="Aptos Narrow" panose="020B0004020202020204" pitchFamily="34" charset="0"/>
                        </a:rPr>
                        <a:t>65</a:t>
                      </a:r>
                    </a:p>
                  </a:txBody>
                  <a:tcPr marL="9525" marR="9525" marT="9525" marB="0" anchor="b">
                    <a:lnL>
                      <a:noFill/>
                    </a:lnL>
                    <a:lnR>
                      <a:noFill/>
                    </a:lnR>
                    <a:lnT>
                      <a:noFill/>
                    </a:lnT>
                    <a:lnB>
                      <a:noFill/>
                    </a:lnB>
                    <a:solidFill>
                      <a:srgbClr val="9AD4AA"/>
                    </a:solidFill>
                  </a:tcPr>
                </a:tc>
                <a:tc>
                  <a:txBody>
                    <a:bodyPr/>
                    <a:lstStyle/>
                    <a:p>
                      <a:pPr algn="ctr" fontAlgn="b"/>
                      <a:r>
                        <a:rPr lang="en-US" sz="1200" b="0" i="0" u="none" strike="noStrike">
                          <a:solidFill>
                            <a:srgbClr val="000000"/>
                          </a:solidFill>
                          <a:effectLst/>
                          <a:highlight>
                            <a:srgbClr val="A2D8B1"/>
                          </a:highlight>
                          <a:latin typeface="Aptos Narrow" panose="020B0004020202020204" pitchFamily="34" charset="0"/>
                        </a:rPr>
                        <a:t>60</a:t>
                      </a:r>
                    </a:p>
                  </a:txBody>
                  <a:tcPr marL="9525" marR="9525" marT="9525" marB="0" anchor="b">
                    <a:lnL>
                      <a:noFill/>
                    </a:lnL>
                    <a:lnR>
                      <a:noFill/>
                    </a:lnR>
                    <a:lnT>
                      <a:noFill/>
                    </a:lnT>
                    <a:lnB>
                      <a:noFill/>
                    </a:lnB>
                    <a:solidFill>
                      <a:srgbClr val="A2D8B1"/>
                    </a:solidFill>
                  </a:tcPr>
                </a:tc>
                <a:tc>
                  <a:txBody>
                    <a:bodyPr/>
                    <a:lstStyle/>
                    <a:p>
                      <a:pPr algn="ctr" fontAlgn="b"/>
                      <a:r>
                        <a:rPr lang="en-US" sz="1200" b="0" i="0" u="none" strike="noStrike">
                          <a:solidFill>
                            <a:srgbClr val="000000"/>
                          </a:solidFill>
                          <a:effectLst/>
                          <a:highlight>
                            <a:srgbClr val="94D2A6"/>
                          </a:highlight>
                          <a:latin typeface="Aptos Narrow" panose="020B0004020202020204" pitchFamily="34" charset="0"/>
                        </a:rPr>
                        <a:t>69</a:t>
                      </a:r>
                    </a:p>
                  </a:txBody>
                  <a:tcPr marL="9525" marR="9525" marT="9525" marB="0" anchor="b">
                    <a:lnL>
                      <a:noFill/>
                    </a:lnL>
                    <a:lnR>
                      <a:noFill/>
                    </a:lnR>
                    <a:lnT>
                      <a:noFill/>
                    </a:lnT>
                    <a:lnB>
                      <a:noFill/>
                    </a:lnB>
                    <a:solidFill>
                      <a:srgbClr val="94D2A6"/>
                    </a:solidFill>
                  </a:tcPr>
                </a:tc>
                <a:tc>
                  <a:txBody>
                    <a:bodyPr/>
                    <a:lstStyle/>
                    <a:p>
                      <a:pPr algn="ctr" fontAlgn="b"/>
                      <a:r>
                        <a:rPr lang="en-US" sz="1200" b="0" i="0" u="none" strike="noStrike" dirty="0">
                          <a:solidFill>
                            <a:srgbClr val="000000"/>
                          </a:solidFill>
                          <a:effectLst/>
                          <a:highlight>
                            <a:srgbClr val="6AC181"/>
                          </a:highlight>
                          <a:latin typeface="Aptos Narrow" panose="020B0004020202020204" pitchFamily="34" charset="0"/>
                        </a:rPr>
                        <a:t>96</a:t>
                      </a:r>
                    </a:p>
                  </a:txBody>
                  <a:tcPr marL="9525" marR="9525" marT="9525" marB="0" anchor="b">
                    <a:lnL>
                      <a:noFill/>
                    </a:lnL>
                    <a:lnR>
                      <a:noFill/>
                    </a:lnR>
                    <a:lnT>
                      <a:noFill/>
                    </a:lnT>
                    <a:lnB>
                      <a:noFill/>
                    </a:lnB>
                    <a:solidFill>
                      <a:srgbClr val="6AC181"/>
                    </a:solidFill>
                  </a:tcPr>
                </a:tc>
                <a:tc>
                  <a:txBody>
                    <a:bodyPr/>
                    <a:lstStyle/>
                    <a:p>
                      <a:pPr algn="ctr" fontAlgn="b"/>
                      <a:r>
                        <a:rPr lang="en-US" sz="1200" b="0" i="0" u="none" strike="noStrike" dirty="0">
                          <a:solidFill>
                            <a:srgbClr val="000000"/>
                          </a:solidFill>
                          <a:effectLst/>
                          <a:highlight>
                            <a:srgbClr val="97D3A8"/>
                          </a:highlight>
                          <a:latin typeface="Aptos Narrow" panose="020B0004020202020204" pitchFamily="34" charset="0"/>
                        </a:rPr>
                        <a:t>67</a:t>
                      </a:r>
                    </a:p>
                  </a:txBody>
                  <a:tcPr marL="9525" marR="9525" marT="9525" marB="0" anchor="b">
                    <a:lnL>
                      <a:noFill/>
                    </a:lnL>
                    <a:lnR>
                      <a:noFill/>
                    </a:lnR>
                    <a:lnT>
                      <a:noFill/>
                    </a:lnT>
                    <a:lnB>
                      <a:noFill/>
                    </a:lnB>
                    <a:solidFill>
                      <a:srgbClr val="97D3A8"/>
                    </a:solidFill>
                  </a:tcPr>
                </a:tc>
                <a:extLst>
                  <a:ext uri="{0D108BD9-81ED-4DB2-BD59-A6C34878D82A}">
                    <a16:rowId xmlns:a16="http://schemas.microsoft.com/office/drawing/2014/main" val="4291813915"/>
                  </a:ext>
                </a:extLst>
              </a:tr>
              <a:tr h="224046">
                <a:tc>
                  <a:txBody>
                    <a:bodyPr/>
                    <a:lstStyle/>
                    <a:p>
                      <a:pPr algn="l" fontAlgn="b"/>
                      <a:r>
                        <a:rPr lang="en-US" sz="1200" b="0" i="0" u="none" strike="noStrike" dirty="0" err="1">
                          <a:solidFill>
                            <a:schemeClr val="tx1">
                              <a:lumMod val="50000"/>
                              <a:lumOff val="50000"/>
                            </a:schemeClr>
                          </a:solidFill>
                          <a:effectLst/>
                          <a:latin typeface="Aptos Narrow" panose="020B0004020202020204" pitchFamily="34" charset="0"/>
                        </a:rPr>
                        <a:t>Lewisgale</a:t>
                      </a:r>
                      <a:r>
                        <a:rPr lang="en-US" sz="1200" b="0" i="0" u="none" strike="noStrike" dirty="0">
                          <a:solidFill>
                            <a:schemeClr val="tx1">
                              <a:lumMod val="50000"/>
                              <a:lumOff val="50000"/>
                            </a:schemeClr>
                          </a:solidFill>
                          <a:effectLst/>
                          <a:latin typeface="Aptos Narrow" panose="020B0004020202020204" pitchFamily="34" charset="0"/>
                        </a:rPr>
                        <a:t> Hospital Pulaski</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45</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ABDBB9"/>
                          </a:highlight>
                          <a:latin typeface="Aptos Narrow" panose="020B0004020202020204" pitchFamily="34" charset="0"/>
                        </a:rPr>
                        <a:t>54</a:t>
                      </a:r>
                    </a:p>
                  </a:txBody>
                  <a:tcPr marL="9525" marR="9525" marT="9525" marB="0" anchor="b">
                    <a:lnL>
                      <a:noFill/>
                    </a:lnL>
                    <a:lnR>
                      <a:noFill/>
                    </a:lnR>
                    <a:lnT>
                      <a:noFill/>
                    </a:lnT>
                    <a:lnB>
                      <a:noFill/>
                    </a:lnB>
                    <a:solidFill>
                      <a:srgbClr val="ABDBB9"/>
                    </a:solidFill>
                  </a:tcPr>
                </a:tc>
                <a:tc>
                  <a:txBody>
                    <a:bodyPr/>
                    <a:lstStyle/>
                    <a:p>
                      <a:pPr algn="ctr" fontAlgn="b"/>
                      <a:r>
                        <a:rPr lang="en-US" sz="1200" b="0" i="0" u="none" strike="noStrike">
                          <a:solidFill>
                            <a:srgbClr val="000000"/>
                          </a:solidFill>
                          <a:effectLst/>
                          <a:highlight>
                            <a:srgbClr val="A2D8B1"/>
                          </a:highlight>
                          <a:latin typeface="Aptos Narrow" panose="020B0004020202020204" pitchFamily="34" charset="0"/>
                        </a:rPr>
                        <a:t>60</a:t>
                      </a:r>
                    </a:p>
                  </a:txBody>
                  <a:tcPr marL="9525" marR="9525" marT="9525" marB="0" anchor="b">
                    <a:lnL>
                      <a:noFill/>
                    </a:lnL>
                    <a:lnR>
                      <a:noFill/>
                    </a:lnR>
                    <a:lnT>
                      <a:noFill/>
                    </a:lnT>
                    <a:lnB>
                      <a:noFill/>
                    </a:lnB>
                    <a:solidFill>
                      <a:srgbClr val="A2D8B1"/>
                    </a:solidFill>
                  </a:tcPr>
                </a:tc>
                <a:tc>
                  <a:txBody>
                    <a:bodyPr/>
                    <a:lstStyle/>
                    <a:p>
                      <a:pPr algn="ctr" fontAlgn="b"/>
                      <a:r>
                        <a:rPr lang="en-US" sz="1200" b="0" i="0" u="none" strike="noStrike" dirty="0">
                          <a:solidFill>
                            <a:srgbClr val="000000"/>
                          </a:solidFill>
                          <a:effectLst/>
                          <a:highlight>
                            <a:srgbClr val="9CD5AC"/>
                          </a:highlight>
                          <a:latin typeface="Aptos Narrow" panose="020B0004020202020204" pitchFamily="34" charset="0"/>
                        </a:rPr>
                        <a:t>64</a:t>
                      </a:r>
                    </a:p>
                  </a:txBody>
                  <a:tcPr marL="9525" marR="9525" marT="9525" marB="0" anchor="b">
                    <a:lnL>
                      <a:noFill/>
                    </a:lnL>
                    <a:lnR>
                      <a:noFill/>
                    </a:lnR>
                    <a:lnT>
                      <a:noFill/>
                    </a:lnT>
                    <a:lnB>
                      <a:noFill/>
                    </a:lnB>
                    <a:solidFill>
                      <a:srgbClr val="9CD5AC"/>
                    </a:solidFill>
                  </a:tcPr>
                </a:tc>
                <a:tc>
                  <a:txBody>
                    <a:bodyPr/>
                    <a:lstStyle/>
                    <a:p>
                      <a:pPr algn="ctr" fontAlgn="b"/>
                      <a:r>
                        <a:rPr lang="en-US" sz="1200" b="0" i="0" u="none" strike="noStrike" dirty="0">
                          <a:solidFill>
                            <a:srgbClr val="000000"/>
                          </a:solidFill>
                          <a:effectLst/>
                          <a:highlight>
                            <a:srgbClr val="9BD5AB"/>
                          </a:highlight>
                          <a:latin typeface="Aptos Narrow" panose="020B0004020202020204" pitchFamily="34" charset="0"/>
                        </a:rPr>
                        <a:t>64</a:t>
                      </a:r>
                    </a:p>
                  </a:txBody>
                  <a:tcPr marL="9525" marR="9525" marT="9525" marB="0" anchor="b">
                    <a:lnL>
                      <a:noFill/>
                    </a:lnL>
                    <a:lnR>
                      <a:noFill/>
                    </a:lnR>
                    <a:lnT>
                      <a:noFill/>
                    </a:lnT>
                    <a:lnB>
                      <a:noFill/>
                    </a:lnB>
                    <a:solidFill>
                      <a:srgbClr val="9BD5AB"/>
                    </a:solidFill>
                  </a:tcPr>
                </a:tc>
                <a:tc>
                  <a:txBody>
                    <a:bodyPr/>
                    <a:lstStyle/>
                    <a:p>
                      <a:pPr algn="ctr" fontAlgn="b"/>
                      <a:r>
                        <a:rPr lang="en-US" sz="1200" b="0" i="0" u="none" strike="noStrike" dirty="0">
                          <a:solidFill>
                            <a:srgbClr val="000000"/>
                          </a:solidFill>
                          <a:effectLst/>
                          <a:highlight>
                            <a:srgbClr val="98D4A9"/>
                          </a:highlight>
                          <a:latin typeface="Aptos Narrow" panose="020B0004020202020204" pitchFamily="34" charset="0"/>
                        </a:rPr>
                        <a:t>66</a:t>
                      </a:r>
                    </a:p>
                  </a:txBody>
                  <a:tcPr marL="9525" marR="9525" marT="9525" marB="0" anchor="b">
                    <a:lnL>
                      <a:noFill/>
                    </a:lnL>
                    <a:lnR>
                      <a:noFill/>
                    </a:lnR>
                    <a:lnT>
                      <a:noFill/>
                    </a:lnT>
                    <a:lnB>
                      <a:noFill/>
                    </a:lnB>
                    <a:solidFill>
                      <a:srgbClr val="98D4A9"/>
                    </a:solidFill>
                  </a:tcPr>
                </a:tc>
                <a:extLst>
                  <a:ext uri="{0D108BD9-81ED-4DB2-BD59-A6C34878D82A}">
                    <a16:rowId xmlns:a16="http://schemas.microsoft.com/office/drawing/2014/main" val="967171349"/>
                  </a:ext>
                </a:extLst>
              </a:tr>
              <a:tr h="224046">
                <a:tc>
                  <a:txBody>
                    <a:bodyPr/>
                    <a:lstStyle/>
                    <a:p>
                      <a:pPr algn="l" fontAlgn="b"/>
                      <a:r>
                        <a:rPr lang="en-US" sz="1200" b="1" i="0" u="none" strike="noStrike" dirty="0">
                          <a:solidFill>
                            <a:srgbClr val="00467F"/>
                          </a:solidFill>
                          <a:effectLst/>
                          <a:latin typeface="Aptos Narrow" panose="020B0004020202020204" pitchFamily="34" charset="0"/>
                        </a:rPr>
                        <a:t>Carilion New River Valley Medical Center</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110</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A4D9B4"/>
                          </a:highlight>
                          <a:latin typeface="Aptos Narrow" panose="020B0004020202020204" pitchFamily="34" charset="0"/>
                        </a:rPr>
                        <a:t>58</a:t>
                      </a:r>
                    </a:p>
                  </a:txBody>
                  <a:tcPr marL="9525" marR="9525" marT="9525" marB="0" anchor="b">
                    <a:lnL>
                      <a:noFill/>
                    </a:lnL>
                    <a:lnR>
                      <a:noFill/>
                    </a:lnR>
                    <a:lnT>
                      <a:noFill/>
                    </a:lnT>
                    <a:lnB>
                      <a:noFill/>
                    </a:lnB>
                    <a:solidFill>
                      <a:srgbClr val="A4D9B4"/>
                    </a:solidFill>
                  </a:tcPr>
                </a:tc>
                <a:tc>
                  <a:txBody>
                    <a:bodyPr/>
                    <a:lstStyle/>
                    <a:p>
                      <a:pPr algn="ctr" fontAlgn="b"/>
                      <a:r>
                        <a:rPr lang="en-US" sz="1200" b="0" i="0" u="none" strike="noStrike">
                          <a:solidFill>
                            <a:srgbClr val="000000"/>
                          </a:solidFill>
                          <a:effectLst/>
                          <a:highlight>
                            <a:srgbClr val="78C78D"/>
                          </a:highlight>
                          <a:latin typeface="Aptos Narrow" panose="020B0004020202020204" pitchFamily="34" charset="0"/>
                        </a:rPr>
                        <a:t>87</a:t>
                      </a:r>
                    </a:p>
                  </a:txBody>
                  <a:tcPr marL="9525" marR="9525" marT="9525" marB="0" anchor="b">
                    <a:lnL>
                      <a:noFill/>
                    </a:lnL>
                    <a:lnR>
                      <a:noFill/>
                    </a:lnR>
                    <a:lnT>
                      <a:noFill/>
                    </a:lnT>
                    <a:lnB>
                      <a:noFill/>
                    </a:lnB>
                    <a:solidFill>
                      <a:srgbClr val="78C78D"/>
                    </a:solidFill>
                  </a:tcPr>
                </a:tc>
                <a:tc>
                  <a:txBody>
                    <a:bodyPr/>
                    <a:lstStyle/>
                    <a:p>
                      <a:pPr algn="ctr" fontAlgn="b"/>
                      <a:r>
                        <a:rPr lang="en-US" sz="1200" b="0" i="0" u="none" strike="noStrike">
                          <a:solidFill>
                            <a:srgbClr val="000000"/>
                          </a:solidFill>
                          <a:effectLst/>
                          <a:highlight>
                            <a:srgbClr val="81CA95"/>
                          </a:highlight>
                          <a:latin typeface="Aptos Narrow" panose="020B0004020202020204" pitchFamily="34" charset="0"/>
                        </a:rPr>
                        <a:t>81</a:t>
                      </a:r>
                    </a:p>
                  </a:txBody>
                  <a:tcPr marL="9525" marR="9525" marT="9525" marB="0" anchor="b">
                    <a:lnL>
                      <a:noFill/>
                    </a:lnL>
                    <a:lnR>
                      <a:noFill/>
                    </a:lnR>
                    <a:lnT>
                      <a:noFill/>
                    </a:lnT>
                    <a:lnB>
                      <a:noFill/>
                    </a:lnB>
                    <a:solidFill>
                      <a:srgbClr val="81CA95"/>
                    </a:solidFill>
                  </a:tcPr>
                </a:tc>
                <a:tc>
                  <a:txBody>
                    <a:bodyPr/>
                    <a:lstStyle/>
                    <a:p>
                      <a:pPr algn="ctr" fontAlgn="b"/>
                      <a:r>
                        <a:rPr lang="en-US" sz="1200" b="0" i="0" u="none" strike="noStrike" dirty="0">
                          <a:solidFill>
                            <a:srgbClr val="000000"/>
                          </a:solidFill>
                          <a:effectLst/>
                          <a:highlight>
                            <a:srgbClr val="9AD5AA"/>
                          </a:highlight>
                          <a:latin typeface="Aptos Narrow" panose="020B0004020202020204" pitchFamily="34" charset="0"/>
                        </a:rPr>
                        <a:t>65</a:t>
                      </a:r>
                    </a:p>
                  </a:txBody>
                  <a:tcPr marL="9525" marR="9525" marT="9525" marB="0" anchor="b">
                    <a:lnL>
                      <a:noFill/>
                    </a:lnL>
                    <a:lnR>
                      <a:noFill/>
                    </a:lnR>
                    <a:lnT>
                      <a:noFill/>
                    </a:lnT>
                    <a:lnB>
                      <a:noFill/>
                    </a:lnB>
                    <a:solidFill>
                      <a:srgbClr val="9AD5AA"/>
                    </a:solidFill>
                  </a:tcPr>
                </a:tc>
                <a:tc>
                  <a:txBody>
                    <a:bodyPr/>
                    <a:lstStyle/>
                    <a:p>
                      <a:pPr algn="ctr" fontAlgn="b"/>
                      <a:r>
                        <a:rPr lang="en-US" sz="1200" b="0" i="0" u="none" strike="noStrike" dirty="0">
                          <a:solidFill>
                            <a:srgbClr val="000000"/>
                          </a:solidFill>
                          <a:effectLst/>
                          <a:highlight>
                            <a:srgbClr val="9AD4AA"/>
                          </a:highlight>
                          <a:latin typeface="Aptos Narrow" panose="020B0004020202020204" pitchFamily="34" charset="0"/>
                        </a:rPr>
                        <a:t>65</a:t>
                      </a:r>
                    </a:p>
                  </a:txBody>
                  <a:tcPr marL="9525" marR="9525" marT="9525" marB="0" anchor="b">
                    <a:lnL>
                      <a:noFill/>
                    </a:lnL>
                    <a:lnR>
                      <a:noFill/>
                    </a:lnR>
                    <a:lnT>
                      <a:noFill/>
                    </a:lnT>
                    <a:lnB>
                      <a:noFill/>
                    </a:lnB>
                    <a:solidFill>
                      <a:srgbClr val="9AD4AA"/>
                    </a:solidFill>
                  </a:tcPr>
                </a:tc>
                <a:extLst>
                  <a:ext uri="{0D108BD9-81ED-4DB2-BD59-A6C34878D82A}">
                    <a16:rowId xmlns:a16="http://schemas.microsoft.com/office/drawing/2014/main" val="3599872156"/>
                  </a:ext>
                </a:extLst>
              </a:tr>
              <a:tr h="224046">
                <a:tc>
                  <a:txBody>
                    <a:bodyPr/>
                    <a:lstStyle/>
                    <a:p>
                      <a:pPr algn="l" fontAlgn="b"/>
                      <a:r>
                        <a:rPr lang="en-US" sz="1200" b="1" i="0" u="none" strike="noStrike" dirty="0">
                          <a:solidFill>
                            <a:srgbClr val="00467F"/>
                          </a:solidFill>
                          <a:effectLst/>
                          <a:latin typeface="Aptos Narrow" panose="020B0004020202020204" pitchFamily="34" charset="0"/>
                        </a:rPr>
                        <a:t>Carilion Rockbridge Community Hospital</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25</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B6E0C3"/>
                          </a:highlight>
                          <a:latin typeface="Aptos Narrow" panose="020B0004020202020204" pitchFamily="34" charset="0"/>
                        </a:rPr>
                        <a:t>46</a:t>
                      </a:r>
                    </a:p>
                  </a:txBody>
                  <a:tcPr marL="9525" marR="9525" marT="9525" marB="0" anchor="b">
                    <a:lnL>
                      <a:noFill/>
                    </a:lnL>
                    <a:lnR>
                      <a:noFill/>
                    </a:lnR>
                    <a:lnT>
                      <a:noFill/>
                    </a:lnT>
                    <a:lnB>
                      <a:noFill/>
                    </a:lnB>
                    <a:solidFill>
                      <a:srgbClr val="B6E0C3"/>
                    </a:solidFill>
                  </a:tcPr>
                </a:tc>
                <a:tc>
                  <a:txBody>
                    <a:bodyPr/>
                    <a:lstStyle/>
                    <a:p>
                      <a:pPr algn="ctr" fontAlgn="b"/>
                      <a:r>
                        <a:rPr lang="en-US" sz="1200" b="0" i="0" u="none" strike="noStrike">
                          <a:solidFill>
                            <a:srgbClr val="000000"/>
                          </a:solidFill>
                          <a:effectLst/>
                          <a:highlight>
                            <a:srgbClr val="CFEAD8"/>
                          </a:highlight>
                          <a:latin typeface="Aptos Narrow" panose="020B0004020202020204" pitchFamily="34" charset="0"/>
                        </a:rPr>
                        <a:t>31</a:t>
                      </a:r>
                    </a:p>
                  </a:txBody>
                  <a:tcPr marL="9525" marR="9525" marT="9525" marB="0" anchor="b">
                    <a:lnL>
                      <a:noFill/>
                    </a:lnL>
                    <a:lnR>
                      <a:noFill/>
                    </a:lnR>
                    <a:lnT>
                      <a:noFill/>
                    </a:lnT>
                    <a:lnB>
                      <a:noFill/>
                    </a:lnB>
                    <a:solidFill>
                      <a:srgbClr val="CFEAD8"/>
                    </a:solidFill>
                  </a:tcPr>
                </a:tc>
                <a:tc>
                  <a:txBody>
                    <a:bodyPr/>
                    <a:lstStyle/>
                    <a:p>
                      <a:pPr algn="ctr" fontAlgn="b"/>
                      <a:r>
                        <a:rPr lang="en-US" sz="1200" b="0" i="0" u="none" strike="noStrike" dirty="0">
                          <a:solidFill>
                            <a:srgbClr val="000000"/>
                          </a:solidFill>
                          <a:effectLst/>
                          <a:latin typeface="Aptos Narrow" panose="020B0004020202020204" pitchFamily="34" charset="0"/>
                        </a:rPr>
                        <a:t>NA</a:t>
                      </a:r>
                    </a:p>
                  </a:txBody>
                  <a:tcPr marL="9525" marR="9525" marT="9525" marB="0" anchor="b">
                    <a:lnL>
                      <a:noFill/>
                    </a:lnL>
                    <a:lnR>
                      <a:noFill/>
                    </a:lnR>
                    <a:lnT>
                      <a:noFill/>
                    </a:lnT>
                    <a:lnB>
                      <a:noFill/>
                    </a:lnB>
                    <a:noFill/>
                  </a:tcPr>
                </a:tc>
                <a:tc>
                  <a:txBody>
                    <a:bodyPr/>
                    <a:lstStyle/>
                    <a:p>
                      <a:pPr algn="ctr" fontAlgn="b"/>
                      <a:r>
                        <a:rPr lang="en-US" sz="1200" b="0" i="0" u="none" strike="noStrike" dirty="0">
                          <a:solidFill>
                            <a:srgbClr val="000000"/>
                          </a:solidFill>
                          <a:effectLst/>
                          <a:highlight>
                            <a:srgbClr val="99D4AA"/>
                          </a:highlight>
                          <a:latin typeface="Aptos Narrow" panose="020B0004020202020204" pitchFamily="34" charset="0"/>
                        </a:rPr>
                        <a:t>65</a:t>
                      </a:r>
                    </a:p>
                  </a:txBody>
                  <a:tcPr marL="9525" marR="9525" marT="9525" marB="0" anchor="b">
                    <a:lnL>
                      <a:noFill/>
                    </a:lnL>
                    <a:lnR>
                      <a:noFill/>
                    </a:lnR>
                    <a:lnT>
                      <a:noFill/>
                    </a:lnT>
                    <a:lnB>
                      <a:noFill/>
                    </a:lnB>
                    <a:solidFill>
                      <a:srgbClr val="99D4AA"/>
                    </a:solidFill>
                  </a:tcPr>
                </a:tc>
                <a:tc>
                  <a:txBody>
                    <a:bodyPr/>
                    <a:lstStyle/>
                    <a:p>
                      <a:pPr algn="ctr" fontAlgn="b"/>
                      <a:r>
                        <a:rPr lang="en-US" sz="1200" b="0" i="0" u="none" strike="noStrike" dirty="0">
                          <a:solidFill>
                            <a:srgbClr val="000000"/>
                          </a:solidFill>
                          <a:effectLst/>
                          <a:highlight>
                            <a:srgbClr val="A0D7B0"/>
                          </a:highlight>
                          <a:latin typeface="Aptos Narrow" panose="020B0004020202020204" pitchFamily="34" charset="0"/>
                        </a:rPr>
                        <a:t>61</a:t>
                      </a:r>
                    </a:p>
                  </a:txBody>
                  <a:tcPr marL="9525" marR="9525" marT="9525" marB="0" anchor="b">
                    <a:lnL>
                      <a:noFill/>
                    </a:lnL>
                    <a:lnR>
                      <a:noFill/>
                    </a:lnR>
                    <a:lnT>
                      <a:noFill/>
                    </a:lnT>
                    <a:lnB>
                      <a:noFill/>
                    </a:lnB>
                    <a:solidFill>
                      <a:srgbClr val="A0D7B0"/>
                    </a:solidFill>
                  </a:tcPr>
                </a:tc>
                <a:extLst>
                  <a:ext uri="{0D108BD9-81ED-4DB2-BD59-A6C34878D82A}">
                    <a16:rowId xmlns:a16="http://schemas.microsoft.com/office/drawing/2014/main" val="558741216"/>
                  </a:ext>
                </a:extLst>
              </a:tr>
              <a:tr h="224046">
                <a:tc>
                  <a:txBody>
                    <a:bodyPr/>
                    <a:lstStyle/>
                    <a:p>
                      <a:pPr algn="l" fontAlgn="b"/>
                      <a:r>
                        <a:rPr lang="en-US" sz="1200" b="1" i="0" u="none" strike="noStrike" dirty="0">
                          <a:solidFill>
                            <a:srgbClr val="027587"/>
                          </a:solidFill>
                          <a:effectLst/>
                          <a:latin typeface="Aptos Narrow" panose="020B0004020202020204" pitchFamily="34" charset="0"/>
                        </a:rPr>
                        <a:t>Centra Lynchburg General Hospital</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443</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CCE9D5"/>
                          </a:highlight>
                          <a:latin typeface="Aptos Narrow" panose="020B0004020202020204" pitchFamily="34" charset="0"/>
                        </a:rPr>
                        <a:t>33</a:t>
                      </a:r>
                    </a:p>
                  </a:txBody>
                  <a:tcPr marL="9525" marR="9525" marT="9525" marB="0" anchor="b">
                    <a:lnL>
                      <a:noFill/>
                    </a:lnL>
                    <a:lnR>
                      <a:noFill/>
                    </a:lnR>
                    <a:lnT>
                      <a:noFill/>
                    </a:lnT>
                    <a:lnB>
                      <a:noFill/>
                    </a:lnB>
                    <a:solidFill>
                      <a:srgbClr val="CCE9D5"/>
                    </a:solidFill>
                  </a:tcPr>
                </a:tc>
                <a:tc>
                  <a:txBody>
                    <a:bodyPr/>
                    <a:lstStyle/>
                    <a:p>
                      <a:pPr algn="ctr" fontAlgn="b"/>
                      <a:r>
                        <a:rPr lang="en-US" sz="1200" b="0" i="0" u="none" strike="noStrike">
                          <a:solidFill>
                            <a:srgbClr val="000000"/>
                          </a:solidFill>
                          <a:effectLst/>
                          <a:highlight>
                            <a:srgbClr val="A2D8B1"/>
                          </a:highlight>
                          <a:latin typeface="Aptos Narrow" panose="020B0004020202020204" pitchFamily="34" charset="0"/>
                        </a:rPr>
                        <a:t>60</a:t>
                      </a:r>
                    </a:p>
                  </a:txBody>
                  <a:tcPr marL="9525" marR="9525" marT="9525" marB="0" anchor="b">
                    <a:lnL>
                      <a:noFill/>
                    </a:lnL>
                    <a:lnR>
                      <a:noFill/>
                    </a:lnR>
                    <a:lnT>
                      <a:noFill/>
                    </a:lnT>
                    <a:lnB>
                      <a:noFill/>
                    </a:lnB>
                    <a:solidFill>
                      <a:srgbClr val="A2D8B1"/>
                    </a:solidFill>
                  </a:tcPr>
                </a:tc>
                <a:tc>
                  <a:txBody>
                    <a:bodyPr/>
                    <a:lstStyle/>
                    <a:p>
                      <a:pPr algn="ctr" fontAlgn="b"/>
                      <a:r>
                        <a:rPr lang="en-US" sz="1200" b="0" i="0" u="none" strike="noStrike">
                          <a:solidFill>
                            <a:srgbClr val="000000"/>
                          </a:solidFill>
                          <a:effectLst/>
                          <a:highlight>
                            <a:srgbClr val="A1D7B0"/>
                          </a:highlight>
                          <a:latin typeface="Aptos Narrow" panose="020B0004020202020204" pitchFamily="34" charset="0"/>
                        </a:rPr>
                        <a:t>60</a:t>
                      </a:r>
                    </a:p>
                  </a:txBody>
                  <a:tcPr marL="9525" marR="9525" marT="9525" marB="0" anchor="b">
                    <a:lnL>
                      <a:noFill/>
                    </a:lnL>
                    <a:lnR>
                      <a:noFill/>
                    </a:lnR>
                    <a:lnT>
                      <a:noFill/>
                    </a:lnT>
                    <a:lnB>
                      <a:noFill/>
                    </a:lnB>
                    <a:solidFill>
                      <a:srgbClr val="A1D7B0"/>
                    </a:solidFill>
                  </a:tcPr>
                </a:tc>
                <a:tc>
                  <a:txBody>
                    <a:bodyPr/>
                    <a:lstStyle/>
                    <a:p>
                      <a:pPr algn="ctr" fontAlgn="b"/>
                      <a:r>
                        <a:rPr lang="en-US" sz="1200" b="0" i="0" u="none" strike="noStrike" dirty="0">
                          <a:solidFill>
                            <a:srgbClr val="000000"/>
                          </a:solidFill>
                          <a:effectLst/>
                          <a:highlight>
                            <a:srgbClr val="80CA94"/>
                          </a:highlight>
                          <a:latin typeface="Aptos Narrow" panose="020B0004020202020204" pitchFamily="34" charset="0"/>
                        </a:rPr>
                        <a:t>82</a:t>
                      </a:r>
                    </a:p>
                  </a:txBody>
                  <a:tcPr marL="9525" marR="9525" marT="9525" marB="0" anchor="b">
                    <a:lnL>
                      <a:noFill/>
                    </a:lnL>
                    <a:lnR>
                      <a:noFill/>
                    </a:lnR>
                    <a:lnT>
                      <a:noFill/>
                    </a:lnT>
                    <a:lnB>
                      <a:noFill/>
                    </a:lnB>
                    <a:solidFill>
                      <a:srgbClr val="80CA94"/>
                    </a:solidFill>
                  </a:tcPr>
                </a:tc>
                <a:tc>
                  <a:txBody>
                    <a:bodyPr/>
                    <a:lstStyle/>
                    <a:p>
                      <a:pPr algn="ctr" fontAlgn="b"/>
                      <a:r>
                        <a:rPr lang="en-US" sz="1200" b="0" i="0" u="none" strike="noStrike" dirty="0">
                          <a:solidFill>
                            <a:srgbClr val="000000"/>
                          </a:solidFill>
                          <a:effectLst/>
                          <a:highlight>
                            <a:srgbClr val="A8DAB6"/>
                          </a:highlight>
                          <a:latin typeface="Aptos Narrow" panose="020B0004020202020204" pitchFamily="34" charset="0"/>
                        </a:rPr>
                        <a:t>56</a:t>
                      </a:r>
                    </a:p>
                  </a:txBody>
                  <a:tcPr marL="9525" marR="9525" marT="9525" marB="0" anchor="b">
                    <a:lnL>
                      <a:noFill/>
                    </a:lnL>
                    <a:lnR>
                      <a:noFill/>
                    </a:lnR>
                    <a:lnT>
                      <a:noFill/>
                    </a:lnT>
                    <a:lnB>
                      <a:noFill/>
                    </a:lnB>
                    <a:solidFill>
                      <a:srgbClr val="A8DAB6"/>
                    </a:solidFill>
                  </a:tcPr>
                </a:tc>
                <a:extLst>
                  <a:ext uri="{0D108BD9-81ED-4DB2-BD59-A6C34878D82A}">
                    <a16:rowId xmlns:a16="http://schemas.microsoft.com/office/drawing/2014/main" val="604094850"/>
                  </a:ext>
                </a:extLst>
              </a:tr>
              <a:tr h="224046">
                <a:tc>
                  <a:txBody>
                    <a:bodyPr/>
                    <a:lstStyle/>
                    <a:p>
                      <a:pPr algn="l" fontAlgn="b"/>
                      <a:r>
                        <a:rPr lang="en-US" sz="1200" b="0" i="0" u="none" strike="noStrike" dirty="0">
                          <a:solidFill>
                            <a:schemeClr val="tx1">
                              <a:lumMod val="50000"/>
                              <a:lumOff val="50000"/>
                            </a:schemeClr>
                          </a:solidFill>
                          <a:effectLst/>
                          <a:latin typeface="Aptos Narrow" panose="020B0004020202020204" pitchFamily="34" charset="0"/>
                        </a:rPr>
                        <a:t>Wythe County Community Hospital</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92</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DEF0E5"/>
                          </a:highlight>
                          <a:latin typeface="Aptos Narrow" panose="020B0004020202020204" pitchFamily="34" charset="0"/>
                        </a:rPr>
                        <a:t>21</a:t>
                      </a:r>
                    </a:p>
                  </a:txBody>
                  <a:tcPr marL="9525" marR="9525" marT="9525" marB="0" anchor="b">
                    <a:lnL>
                      <a:noFill/>
                    </a:lnL>
                    <a:lnR>
                      <a:noFill/>
                    </a:lnR>
                    <a:lnT>
                      <a:noFill/>
                    </a:lnT>
                    <a:lnB>
                      <a:noFill/>
                    </a:lnB>
                    <a:solidFill>
                      <a:srgbClr val="DEF0E5"/>
                    </a:solidFill>
                  </a:tcPr>
                </a:tc>
                <a:tc>
                  <a:txBody>
                    <a:bodyPr/>
                    <a:lstStyle/>
                    <a:p>
                      <a:pPr algn="ctr" fontAlgn="b"/>
                      <a:r>
                        <a:rPr lang="en-US" sz="1200" b="0" i="0" u="none" strike="noStrike">
                          <a:solidFill>
                            <a:srgbClr val="000000"/>
                          </a:solidFill>
                          <a:effectLst/>
                          <a:highlight>
                            <a:srgbClr val="A2D8B1"/>
                          </a:highlight>
                          <a:latin typeface="Aptos Narrow" panose="020B0004020202020204" pitchFamily="34" charset="0"/>
                        </a:rPr>
                        <a:t>60</a:t>
                      </a:r>
                    </a:p>
                  </a:txBody>
                  <a:tcPr marL="9525" marR="9525" marT="9525" marB="0" anchor="b">
                    <a:lnL>
                      <a:noFill/>
                    </a:lnL>
                    <a:lnR>
                      <a:noFill/>
                    </a:lnR>
                    <a:lnT>
                      <a:noFill/>
                    </a:lnT>
                    <a:lnB>
                      <a:noFill/>
                    </a:lnB>
                    <a:solidFill>
                      <a:srgbClr val="A2D8B1"/>
                    </a:solidFill>
                  </a:tcPr>
                </a:tc>
                <a:tc>
                  <a:txBody>
                    <a:bodyPr/>
                    <a:lstStyle/>
                    <a:p>
                      <a:pPr algn="ctr" fontAlgn="b"/>
                      <a:r>
                        <a:rPr lang="en-US" sz="1200" b="0" i="0" u="none" strike="noStrike">
                          <a:solidFill>
                            <a:srgbClr val="000000"/>
                          </a:solidFill>
                          <a:effectLst/>
                          <a:highlight>
                            <a:srgbClr val="9CD6AD"/>
                          </a:highlight>
                          <a:latin typeface="Aptos Narrow" panose="020B0004020202020204" pitchFamily="34" charset="0"/>
                        </a:rPr>
                        <a:t>63</a:t>
                      </a:r>
                    </a:p>
                  </a:txBody>
                  <a:tcPr marL="9525" marR="9525" marT="9525" marB="0" anchor="b">
                    <a:lnL>
                      <a:noFill/>
                    </a:lnL>
                    <a:lnR>
                      <a:noFill/>
                    </a:lnR>
                    <a:lnT>
                      <a:noFill/>
                    </a:lnT>
                    <a:lnB>
                      <a:noFill/>
                    </a:lnB>
                    <a:solidFill>
                      <a:srgbClr val="9CD6AD"/>
                    </a:solidFill>
                  </a:tcPr>
                </a:tc>
                <a:tc>
                  <a:txBody>
                    <a:bodyPr/>
                    <a:lstStyle/>
                    <a:p>
                      <a:pPr algn="ctr" fontAlgn="b"/>
                      <a:r>
                        <a:rPr lang="en-US" sz="1200" b="0" i="0" u="none" strike="noStrike" dirty="0">
                          <a:solidFill>
                            <a:srgbClr val="000000"/>
                          </a:solidFill>
                          <a:effectLst/>
                          <a:highlight>
                            <a:srgbClr val="7BC890"/>
                          </a:highlight>
                          <a:latin typeface="Aptos Narrow" panose="020B0004020202020204" pitchFamily="34" charset="0"/>
                        </a:rPr>
                        <a:t>85</a:t>
                      </a:r>
                    </a:p>
                  </a:txBody>
                  <a:tcPr marL="9525" marR="9525" marT="9525" marB="0" anchor="b">
                    <a:lnL>
                      <a:noFill/>
                    </a:lnL>
                    <a:lnR>
                      <a:noFill/>
                    </a:lnR>
                    <a:lnT>
                      <a:noFill/>
                    </a:lnT>
                    <a:lnB>
                      <a:noFill/>
                    </a:lnB>
                    <a:solidFill>
                      <a:srgbClr val="7BC890"/>
                    </a:solidFill>
                  </a:tcPr>
                </a:tc>
                <a:tc>
                  <a:txBody>
                    <a:bodyPr/>
                    <a:lstStyle/>
                    <a:p>
                      <a:pPr algn="ctr" fontAlgn="b"/>
                      <a:r>
                        <a:rPr lang="en-US" sz="1200" b="0" i="0" u="none" strike="noStrike" dirty="0">
                          <a:solidFill>
                            <a:srgbClr val="000000"/>
                          </a:solidFill>
                          <a:effectLst/>
                          <a:highlight>
                            <a:srgbClr val="AFDDBD"/>
                          </a:highlight>
                          <a:latin typeface="Aptos Narrow" panose="020B0004020202020204" pitchFamily="34" charset="0"/>
                        </a:rPr>
                        <a:t>51</a:t>
                      </a:r>
                    </a:p>
                  </a:txBody>
                  <a:tcPr marL="9525" marR="9525" marT="9525" marB="0" anchor="b">
                    <a:lnL>
                      <a:noFill/>
                    </a:lnL>
                    <a:lnR>
                      <a:noFill/>
                    </a:lnR>
                    <a:lnT>
                      <a:noFill/>
                    </a:lnT>
                    <a:lnB>
                      <a:noFill/>
                    </a:lnB>
                    <a:solidFill>
                      <a:srgbClr val="AFDDBD"/>
                    </a:solidFill>
                  </a:tcPr>
                </a:tc>
                <a:extLst>
                  <a:ext uri="{0D108BD9-81ED-4DB2-BD59-A6C34878D82A}">
                    <a16:rowId xmlns:a16="http://schemas.microsoft.com/office/drawing/2014/main" val="796116304"/>
                  </a:ext>
                </a:extLst>
              </a:tr>
              <a:tr h="224046">
                <a:tc>
                  <a:txBody>
                    <a:bodyPr/>
                    <a:lstStyle/>
                    <a:p>
                      <a:pPr algn="l" fontAlgn="b"/>
                      <a:r>
                        <a:rPr lang="en-US" sz="1200" b="0" i="0" u="none" strike="noStrike" dirty="0" err="1">
                          <a:solidFill>
                            <a:schemeClr val="tx1">
                              <a:lumMod val="50000"/>
                              <a:lumOff val="50000"/>
                            </a:schemeClr>
                          </a:solidFill>
                          <a:effectLst/>
                          <a:latin typeface="Aptos Narrow" panose="020B0004020202020204" pitchFamily="34" charset="0"/>
                        </a:rPr>
                        <a:t>Lewisgale</a:t>
                      </a:r>
                      <a:r>
                        <a:rPr lang="en-US" sz="1200" b="0" i="0" u="none" strike="noStrike" dirty="0">
                          <a:solidFill>
                            <a:schemeClr val="tx1">
                              <a:lumMod val="50000"/>
                              <a:lumOff val="50000"/>
                            </a:schemeClr>
                          </a:solidFill>
                          <a:effectLst/>
                          <a:latin typeface="Aptos Narrow" panose="020B0004020202020204" pitchFamily="34" charset="0"/>
                        </a:rPr>
                        <a:t> Hospital Alleghany</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95</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DEF0E5"/>
                          </a:highlight>
                          <a:latin typeface="Aptos Narrow" panose="020B0004020202020204" pitchFamily="34" charset="0"/>
                        </a:rPr>
                        <a:t>21</a:t>
                      </a:r>
                    </a:p>
                  </a:txBody>
                  <a:tcPr marL="9525" marR="9525" marT="9525" marB="0" anchor="b">
                    <a:lnL>
                      <a:noFill/>
                    </a:lnL>
                    <a:lnR>
                      <a:noFill/>
                    </a:lnR>
                    <a:lnT>
                      <a:noFill/>
                    </a:lnT>
                    <a:lnB>
                      <a:noFill/>
                    </a:lnB>
                    <a:solidFill>
                      <a:srgbClr val="DEF0E5"/>
                    </a:solidFill>
                  </a:tcPr>
                </a:tc>
                <a:tc>
                  <a:txBody>
                    <a:bodyPr/>
                    <a:lstStyle/>
                    <a:p>
                      <a:pPr algn="ctr" fontAlgn="b"/>
                      <a:r>
                        <a:rPr lang="en-US" sz="1200" b="0" i="0" u="none" strike="noStrike">
                          <a:solidFill>
                            <a:srgbClr val="000000"/>
                          </a:solidFill>
                          <a:effectLst/>
                          <a:highlight>
                            <a:srgbClr val="78C78D"/>
                          </a:highlight>
                          <a:latin typeface="Aptos Narrow" panose="020B0004020202020204" pitchFamily="34" charset="0"/>
                        </a:rPr>
                        <a:t>87</a:t>
                      </a:r>
                    </a:p>
                  </a:txBody>
                  <a:tcPr marL="9525" marR="9525" marT="9525" marB="0" anchor="b">
                    <a:lnL>
                      <a:noFill/>
                    </a:lnL>
                    <a:lnR>
                      <a:noFill/>
                    </a:lnR>
                    <a:lnT>
                      <a:noFill/>
                    </a:lnT>
                    <a:lnB>
                      <a:noFill/>
                    </a:lnB>
                    <a:solidFill>
                      <a:srgbClr val="78C78D"/>
                    </a:solidFill>
                  </a:tcPr>
                </a:tc>
                <a:tc>
                  <a:txBody>
                    <a:bodyPr/>
                    <a:lstStyle/>
                    <a:p>
                      <a:pPr algn="ctr" fontAlgn="b"/>
                      <a:r>
                        <a:rPr lang="en-US" sz="1200" b="0" i="0" u="none" strike="noStrike">
                          <a:solidFill>
                            <a:srgbClr val="000000"/>
                          </a:solidFill>
                          <a:effectLst/>
                          <a:highlight>
                            <a:srgbClr val="98D4A9"/>
                          </a:highlight>
                          <a:latin typeface="Aptos Narrow" panose="020B0004020202020204" pitchFamily="34" charset="0"/>
                        </a:rPr>
                        <a:t>66</a:t>
                      </a:r>
                    </a:p>
                  </a:txBody>
                  <a:tcPr marL="9525" marR="9525" marT="9525" marB="0" anchor="b">
                    <a:lnL>
                      <a:noFill/>
                    </a:lnL>
                    <a:lnR>
                      <a:noFill/>
                    </a:lnR>
                    <a:lnT>
                      <a:noFill/>
                    </a:lnT>
                    <a:lnB>
                      <a:noFill/>
                    </a:lnB>
                    <a:solidFill>
                      <a:srgbClr val="98D4A9"/>
                    </a:solidFill>
                  </a:tcPr>
                </a:tc>
                <a:tc>
                  <a:txBody>
                    <a:bodyPr/>
                    <a:lstStyle/>
                    <a:p>
                      <a:pPr algn="ctr" fontAlgn="b"/>
                      <a:r>
                        <a:rPr lang="en-US" sz="1200" b="0" i="0" u="none" strike="noStrike" dirty="0">
                          <a:solidFill>
                            <a:srgbClr val="000000"/>
                          </a:solidFill>
                          <a:effectLst/>
                          <a:highlight>
                            <a:srgbClr val="7AC88F"/>
                          </a:highlight>
                          <a:latin typeface="Aptos Narrow" panose="020B0004020202020204" pitchFamily="34" charset="0"/>
                        </a:rPr>
                        <a:t>86</a:t>
                      </a:r>
                    </a:p>
                  </a:txBody>
                  <a:tcPr marL="9525" marR="9525" marT="9525" marB="0" anchor="b">
                    <a:lnL>
                      <a:noFill/>
                    </a:lnL>
                    <a:lnR>
                      <a:noFill/>
                    </a:lnR>
                    <a:lnT>
                      <a:noFill/>
                    </a:lnT>
                    <a:lnB>
                      <a:noFill/>
                    </a:lnB>
                    <a:solidFill>
                      <a:srgbClr val="7AC88F"/>
                    </a:solidFill>
                  </a:tcPr>
                </a:tc>
                <a:tc>
                  <a:txBody>
                    <a:bodyPr/>
                    <a:lstStyle/>
                    <a:p>
                      <a:pPr algn="ctr" fontAlgn="b"/>
                      <a:r>
                        <a:rPr lang="en-US" sz="1200" b="0" i="0" u="none" strike="noStrike" dirty="0">
                          <a:solidFill>
                            <a:srgbClr val="000000"/>
                          </a:solidFill>
                          <a:effectLst/>
                          <a:highlight>
                            <a:srgbClr val="B1DEBE"/>
                          </a:highlight>
                          <a:latin typeface="Aptos Narrow" panose="020B0004020202020204" pitchFamily="34" charset="0"/>
                        </a:rPr>
                        <a:t>50</a:t>
                      </a:r>
                    </a:p>
                  </a:txBody>
                  <a:tcPr marL="9525" marR="9525" marT="9525" marB="0" anchor="b">
                    <a:lnL>
                      <a:noFill/>
                    </a:lnL>
                    <a:lnR>
                      <a:noFill/>
                    </a:lnR>
                    <a:lnT>
                      <a:noFill/>
                    </a:lnT>
                    <a:lnB>
                      <a:noFill/>
                    </a:lnB>
                    <a:solidFill>
                      <a:srgbClr val="B1DEBE"/>
                    </a:solidFill>
                  </a:tcPr>
                </a:tc>
                <a:extLst>
                  <a:ext uri="{0D108BD9-81ED-4DB2-BD59-A6C34878D82A}">
                    <a16:rowId xmlns:a16="http://schemas.microsoft.com/office/drawing/2014/main" val="1252248759"/>
                  </a:ext>
                </a:extLst>
              </a:tr>
              <a:tr h="224046">
                <a:tc>
                  <a:txBody>
                    <a:bodyPr/>
                    <a:lstStyle/>
                    <a:p>
                      <a:pPr algn="l" fontAlgn="b"/>
                      <a:r>
                        <a:rPr lang="en-US" sz="1200" b="0" i="0" u="none" strike="noStrike" dirty="0" err="1">
                          <a:solidFill>
                            <a:schemeClr val="tx1">
                              <a:lumMod val="50000"/>
                              <a:lumOff val="50000"/>
                            </a:schemeClr>
                          </a:solidFill>
                          <a:effectLst/>
                          <a:latin typeface="Aptos Narrow" panose="020B0004020202020204" pitchFamily="34" charset="0"/>
                        </a:rPr>
                        <a:t>Lewisgale</a:t>
                      </a:r>
                      <a:r>
                        <a:rPr lang="en-US" sz="1200" b="0" i="0" u="none" strike="noStrike" dirty="0">
                          <a:solidFill>
                            <a:schemeClr val="tx1">
                              <a:lumMod val="50000"/>
                              <a:lumOff val="50000"/>
                            </a:schemeClr>
                          </a:solidFill>
                          <a:effectLst/>
                          <a:latin typeface="Aptos Narrow" panose="020B0004020202020204" pitchFamily="34" charset="0"/>
                        </a:rPr>
                        <a:t> Medical Center</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330</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EBF5F1"/>
                          </a:highlight>
                          <a:latin typeface="Aptos Narrow" panose="020B0004020202020204" pitchFamily="34" charset="0"/>
                        </a:rPr>
                        <a:t>12</a:t>
                      </a:r>
                    </a:p>
                  </a:txBody>
                  <a:tcPr marL="9525" marR="9525" marT="9525" marB="0" anchor="b">
                    <a:lnL>
                      <a:noFill/>
                    </a:lnL>
                    <a:lnR>
                      <a:noFill/>
                    </a:lnR>
                    <a:lnT>
                      <a:noFill/>
                    </a:lnT>
                    <a:lnB>
                      <a:noFill/>
                    </a:lnB>
                    <a:solidFill>
                      <a:srgbClr val="EBF5F1"/>
                    </a:solidFill>
                  </a:tcPr>
                </a:tc>
                <a:tc>
                  <a:txBody>
                    <a:bodyPr/>
                    <a:lstStyle/>
                    <a:p>
                      <a:pPr algn="ctr" fontAlgn="b"/>
                      <a:r>
                        <a:rPr lang="en-US" sz="1200" b="0" i="0" u="none" strike="noStrike">
                          <a:solidFill>
                            <a:srgbClr val="000000"/>
                          </a:solidFill>
                          <a:effectLst/>
                          <a:highlight>
                            <a:srgbClr val="A2D8B1"/>
                          </a:highlight>
                          <a:latin typeface="Aptos Narrow" panose="020B0004020202020204" pitchFamily="34" charset="0"/>
                        </a:rPr>
                        <a:t>60</a:t>
                      </a:r>
                    </a:p>
                  </a:txBody>
                  <a:tcPr marL="9525" marR="9525" marT="9525" marB="0" anchor="b">
                    <a:lnL>
                      <a:noFill/>
                    </a:lnL>
                    <a:lnR>
                      <a:noFill/>
                    </a:lnR>
                    <a:lnT>
                      <a:noFill/>
                    </a:lnT>
                    <a:lnB>
                      <a:noFill/>
                    </a:lnB>
                    <a:solidFill>
                      <a:srgbClr val="A2D8B1"/>
                    </a:solidFill>
                  </a:tcPr>
                </a:tc>
                <a:tc>
                  <a:txBody>
                    <a:bodyPr/>
                    <a:lstStyle/>
                    <a:p>
                      <a:pPr algn="ctr" fontAlgn="b"/>
                      <a:r>
                        <a:rPr lang="en-US" sz="1200" b="0" i="0" u="none" strike="noStrike">
                          <a:solidFill>
                            <a:srgbClr val="000000"/>
                          </a:solidFill>
                          <a:effectLst/>
                          <a:highlight>
                            <a:srgbClr val="7DC992"/>
                          </a:highlight>
                          <a:latin typeface="Aptos Narrow" panose="020B0004020202020204" pitchFamily="34" charset="0"/>
                        </a:rPr>
                        <a:t>83</a:t>
                      </a:r>
                    </a:p>
                  </a:txBody>
                  <a:tcPr marL="9525" marR="9525" marT="9525" marB="0" anchor="b">
                    <a:lnL>
                      <a:noFill/>
                    </a:lnL>
                    <a:lnR>
                      <a:noFill/>
                    </a:lnR>
                    <a:lnT>
                      <a:noFill/>
                    </a:lnT>
                    <a:lnB>
                      <a:noFill/>
                    </a:lnB>
                    <a:solidFill>
                      <a:srgbClr val="7DC992"/>
                    </a:solidFill>
                  </a:tcPr>
                </a:tc>
                <a:tc>
                  <a:txBody>
                    <a:bodyPr/>
                    <a:lstStyle/>
                    <a:p>
                      <a:pPr algn="ctr" fontAlgn="b"/>
                      <a:r>
                        <a:rPr lang="en-US" sz="1200" b="0" i="0" u="none" strike="noStrike" dirty="0">
                          <a:solidFill>
                            <a:srgbClr val="000000"/>
                          </a:solidFill>
                          <a:effectLst/>
                          <a:highlight>
                            <a:srgbClr val="AADBB9"/>
                          </a:highlight>
                          <a:latin typeface="Aptos Narrow" panose="020B0004020202020204" pitchFamily="34" charset="0"/>
                        </a:rPr>
                        <a:t>54</a:t>
                      </a:r>
                    </a:p>
                  </a:txBody>
                  <a:tcPr marL="9525" marR="9525" marT="9525" marB="0" anchor="b">
                    <a:lnL>
                      <a:noFill/>
                    </a:lnL>
                    <a:lnR>
                      <a:noFill/>
                    </a:lnR>
                    <a:lnT>
                      <a:noFill/>
                    </a:lnT>
                    <a:lnB>
                      <a:noFill/>
                    </a:lnB>
                    <a:solidFill>
                      <a:srgbClr val="AADBB9"/>
                    </a:solidFill>
                  </a:tcPr>
                </a:tc>
                <a:tc>
                  <a:txBody>
                    <a:bodyPr/>
                    <a:lstStyle/>
                    <a:p>
                      <a:pPr algn="ctr" fontAlgn="b"/>
                      <a:r>
                        <a:rPr lang="en-US" sz="1200" b="0" i="0" u="none" strike="noStrike" dirty="0">
                          <a:solidFill>
                            <a:srgbClr val="000000"/>
                          </a:solidFill>
                          <a:effectLst/>
                          <a:highlight>
                            <a:srgbClr val="B4DFC1"/>
                          </a:highlight>
                          <a:latin typeface="Aptos Narrow" panose="020B0004020202020204" pitchFamily="34" charset="0"/>
                        </a:rPr>
                        <a:t>48</a:t>
                      </a:r>
                    </a:p>
                  </a:txBody>
                  <a:tcPr marL="9525" marR="9525" marT="9525" marB="0" anchor="b">
                    <a:lnL>
                      <a:noFill/>
                    </a:lnL>
                    <a:lnR>
                      <a:noFill/>
                    </a:lnR>
                    <a:lnT>
                      <a:noFill/>
                    </a:lnT>
                    <a:lnB>
                      <a:noFill/>
                    </a:lnB>
                    <a:solidFill>
                      <a:srgbClr val="B4DFC1"/>
                    </a:solidFill>
                  </a:tcPr>
                </a:tc>
                <a:extLst>
                  <a:ext uri="{0D108BD9-81ED-4DB2-BD59-A6C34878D82A}">
                    <a16:rowId xmlns:a16="http://schemas.microsoft.com/office/drawing/2014/main" val="92557118"/>
                  </a:ext>
                </a:extLst>
              </a:tr>
              <a:tr h="224046">
                <a:tc>
                  <a:txBody>
                    <a:bodyPr/>
                    <a:lstStyle/>
                    <a:p>
                      <a:pPr algn="l" fontAlgn="b"/>
                      <a:r>
                        <a:rPr lang="en-US" sz="1200" b="0" i="0" u="none" strike="noStrike" dirty="0">
                          <a:solidFill>
                            <a:schemeClr val="tx1">
                              <a:lumMod val="50000"/>
                              <a:lumOff val="50000"/>
                            </a:schemeClr>
                          </a:solidFill>
                          <a:effectLst/>
                          <a:latin typeface="Aptos Narrow" panose="020B0004020202020204" pitchFamily="34" charset="0"/>
                        </a:rPr>
                        <a:t>Princeton Community Hospital</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88</a:t>
                      </a:r>
                    </a:p>
                  </a:txBody>
                  <a:tcPr marL="9525" marR="9525" marT="9525" marB="0" anchor="b">
                    <a:lnL>
                      <a:noFill/>
                    </a:lnL>
                    <a:lnR>
                      <a:noFill/>
                    </a:lnR>
                    <a:lnT>
                      <a:noFill/>
                    </a:lnT>
                    <a:lnB>
                      <a:noFill/>
                    </a:lnB>
                    <a:noFill/>
                  </a:tcPr>
                </a:tc>
                <a:tc>
                  <a:txBody>
                    <a:bodyPr/>
                    <a:lstStyle/>
                    <a:p>
                      <a:pPr algn="ctr" fontAlgn="b"/>
                      <a:r>
                        <a:rPr lang="en-US" sz="1200" b="0" i="0" u="none" strike="noStrike">
                          <a:solidFill>
                            <a:srgbClr val="000000"/>
                          </a:solidFill>
                          <a:effectLst/>
                          <a:highlight>
                            <a:srgbClr val="E9F5EF"/>
                          </a:highlight>
                          <a:latin typeface="Aptos Narrow" panose="020B0004020202020204" pitchFamily="34" charset="0"/>
                        </a:rPr>
                        <a:t>14</a:t>
                      </a:r>
                    </a:p>
                  </a:txBody>
                  <a:tcPr marL="9525" marR="9525" marT="9525" marB="0" anchor="b">
                    <a:lnL>
                      <a:noFill/>
                    </a:lnL>
                    <a:lnR>
                      <a:noFill/>
                    </a:lnR>
                    <a:lnT>
                      <a:noFill/>
                    </a:lnT>
                    <a:lnB>
                      <a:noFill/>
                    </a:lnB>
                    <a:solidFill>
                      <a:srgbClr val="E9F5EF"/>
                    </a:solidFill>
                  </a:tcPr>
                </a:tc>
                <a:tc>
                  <a:txBody>
                    <a:bodyPr/>
                    <a:lstStyle/>
                    <a:p>
                      <a:pPr algn="ctr" fontAlgn="b"/>
                      <a:r>
                        <a:rPr lang="en-US" sz="1200" b="0" i="0" u="none" strike="noStrike">
                          <a:solidFill>
                            <a:srgbClr val="000000"/>
                          </a:solidFill>
                          <a:effectLst/>
                          <a:highlight>
                            <a:srgbClr val="EFF7F4"/>
                          </a:highlight>
                          <a:latin typeface="Aptos Narrow" panose="020B0004020202020204" pitchFamily="34" charset="0"/>
                        </a:rPr>
                        <a:t>10</a:t>
                      </a:r>
                    </a:p>
                  </a:txBody>
                  <a:tcPr marL="9525" marR="9525" marT="9525" marB="0" anchor="b">
                    <a:lnL>
                      <a:noFill/>
                    </a:lnL>
                    <a:lnR>
                      <a:noFill/>
                    </a:lnR>
                    <a:lnT>
                      <a:noFill/>
                    </a:lnT>
                    <a:lnB>
                      <a:noFill/>
                    </a:lnB>
                    <a:solidFill>
                      <a:srgbClr val="EFF7F4"/>
                    </a:solidFill>
                  </a:tcPr>
                </a:tc>
                <a:tc>
                  <a:txBody>
                    <a:bodyPr/>
                    <a:lstStyle/>
                    <a:p>
                      <a:pPr algn="ctr" fontAlgn="b"/>
                      <a:r>
                        <a:rPr lang="en-US" sz="1200" b="0" i="0" u="none" strike="noStrike">
                          <a:solidFill>
                            <a:srgbClr val="000000"/>
                          </a:solidFill>
                          <a:effectLst/>
                          <a:highlight>
                            <a:srgbClr val="9DD6AD"/>
                          </a:highlight>
                          <a:latin typeface="Aptos Narrow" panose="020B0004020202020204" pitchFamily="34" charset="0"/>
                        </a:rPr>
                        <a:t>63</a:t>
                      </a:r>
                    </a:p>
                  </a:txBody>
                  <a:tcPr marL="9525" marR="9525" marT="9525" marB="0" anchor="b">
                    <a:lnL>
                      <a:noFill/>
                    </a:lnL>
                    <a:lnR>
                      <a:noFill/>
                    </a:lnR>
                    <a:lnT>
                      <a:noFill/>
                    </a:lnT>
                    <a:lnB>
                      <a:noFill/>
                    </a:lnB>
                    <a:solidFill>
                      <a:srgbClr val="9DD6AD"/>
                    </a:solidFill>
                  </a:tcPr>
                </a:tc>
                <a:tc>
                  <a:txBody>
                    <a:bodyPr/>
                    <a:lstStyle/>
                    <a:p>
                      <a:pPr algn="ctr" fontAlgn="b"/>
                      <a:r>
                        <a:rPr lang="en-US" sz="1200" b="0" i="0" u="none" strike="noStrike" dirty="0">
                          <a:solidFill>
                            <a:srgbClr val="000000"/>
                          </a:solidFill>
                          <a:effectLst/>
                          <a:highlight>
                            <a:srgbClr val="9DD6AD"/>
                          </a:highlight>
                          <a:latin typeface="Aptos Narrow" panose="020B0004020202020204" pitchFamily="34" charset="0"/>
                        </a:rPr>
                        <a:t>63</a:t>
                      </a:r>
                    </a:p>
                  </a:txBody>
                  <a:tcPr marL="9525" marR="9525" marT="9525" marB="0" anchor="b">
                    <a:lnL>
                      <a:noFill/>
                    </a:lnL>
                    <a:lnR>
                      <a:noFill/>
                    </a:lnR>
                    <a:lnT>
                      <a:noFill/>
                    </a:lnT>
                    <a:lnB>
                      <a:noFill/>
                    </a:lnB>
                    <a:solidFill>
                      <a:srgbClr val="9DD6AD"/>
                    </a:solidFill>
                  </a:tcPr>
                </a:tc>
                <a:tc>
                  <a:txBody>
                    <a:bodyPr/>
                    <a:lstStyle/>
                    <a:p>
                      <a:pPr algn="ctr" fontAlgn="b"/>
                      <a:r>
                        <a:rPr lang="en-US" sz="1200" b="0" i="0" u="none" strike="noStrike" dirty="0">
                          <a:solidFill>
                            <a:srgbClr val="000000"/>
                          </a:solidFill>
                          <a:effectLst/>
                          <a:highlight>
                            <a:srgbClr val="B4DFC1"/>
                          </a:highlight>
                          <a:latin typeface="Aptos Narrow" panose="020B0004020202020204" pitchFamily="34" charset="0"/>
                        </a:rPr>
                        <a:t>48</a:t>
                      </a:r>
                    </a:p>
                  </a:txBody>
                  <a:tcPr marL="9525" marR="9525" marT="9525" marB="0" anchor="b">
                    <a:lnL>
                      <a:noFill/>
                    </a:lnL>
                    <a:lnR>
                      <a:noFill/>
                    </a:lnR>
                    <a:lnT>
                      <a:noFill/>
                    </a:lnT>
                    <a:lnB>
                      <a:noFill/>
                    </a:lnB>
                    <a:solidFill>
                      <a:srgbClr val="B4DFC1"/>
                    </a:solidFill>
                  </a:tcPr>
                </a:tc>
                <a:extLst>
                  <a:ext uri="{0D108BD9-81ED-4DB2-BD59-A6C34878D82A}">
                    <a16:rowId xmlns:a16="http://schemas.microsoft.com/office/drawing/2014/main" val="597817543"/>
                  </a:ext>
                </a:extLst>
              </a:tr>
            </a:tbl>
          </a:graphicData>
        </a:graphic>
      </p:graphicFrame>
      <p:sp>
        <p:nvSpPr>
          <p:cNvPr id="4" name="Footer Placeholder 3">
            <a:extLst>
              <a:ext uri="{FF2B5EF4-FFF2-40B4-BE49-F238E27FC236}">
                <a16:creationId xmlns:a16="http://schemas.microsoft.com/office/drawing/2014/main" id="{D29718EC-0FBE-02AB-65D1-5F9EA788617B}"/>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51A8707D-53C1-F2FE-8133-D607A3729294}"/>
              </a:ext>
            </a:extLst>
          </p:cNvPr>
          <p:cNvSpPr>
            <a:spLocks noGrp="1"/>
          </p:cNvSpPr>
          <p:nvPr>
            <p:ph type="sldNum" sz="quarter" idx="12"/>
          </p:nvPr>
        </p:nvSpPr>
        <p:spPr/>
        <p:txBody>
          <a:bodyPr/>
          <a:lstStyle/>
          <a:p>
            <a:fld id="{3AFC719D-C4A7-4544-876E-D411D11AF6C9}" type="slidenum">
              <a:rPr lang="en-US" smtClean="0"/>
              <a:t>6</a:t>
            </a:fld>
            <a:endParaRPr lang="en-US" dirty="0"/>
          </a:p>
        </p:txBody>
      </p:sp>
      <p:sp>
        <p:nvSpPr>
          <p:cNvPr id="7" name="Rectangle 6">
            <a:extLst>
              <a:ext uri="{FF2B5EF4-FFF2-40B4-BE49-F238E27FC236}">
                <a16:creationId xmlns:a16="http://schemas.microsoft.com/office/drawing/2014/main" id="{E63A94DB-FE92-CA1C-15F4-F7EC71D30241}"/>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2" descr="2023 NCC Award Winner: Carilion Roanoke Memorial Hospital - BCEN">
            <a:extLst>
              <a:ext uri="{FF2B5EF4-FFF2-40B4-BE49-F238E27FC236}">
                <a16:creationId xmlns:a16="http://schemas.microsoft.com/office/drawing/2014/main" id="{E4B7BEDD-064B-3DD7-07F2-204BDEF366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8116" y="2773039"/>
            <a:ext cx="1944337" cy="65596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38B1434E-18CA-717B-B598-EEEF87249A97}"/>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425413" y="4028032"/>
            <a:ext cx="1707040" cy="966637"/>
          </a:xfrm>
          <a:prstGeom prst="rect">
            <a:avLst/>
          </a:prstGeom>
        </p:spPr>
      </p:pic>
      <p:sp>
        <p:nvSpPr>
          <p:cNvPr id="12" name="Title 1">
            <a:extLst>
              <a:ext uri="{FF2B5EF4-FFF2-40B4-BE49-F238E27FC236}">
                <a16:creationId xmlns:a16="http://schemas.microsoft.com/office/drawing/2014/main" id="{49C157AD-9D57-0448-105A-79BA8850085E}"/>
              </a:ext>
            </a:extLst>
          </p:cNvPr>
          <p:cNvSpPr>
            <a:spLocks noGrp="1"/>
          </p:cNvSpPr>
          <p:nvPr>
            <p:ph type="title"/>
          </p:nvPr>
        </p:nvSpPr>
        <p:spPr>
          <a:xfrm>
            <a:off x="1290485" y="136525"/>
            <a:ext cx="10515600" cy="1325563"/>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Critical for Success:</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Strong Brand and Care Quality</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4752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1F948BD-D9F3-0E7A-A778-3B130A8365CE}"/>
              </a:ext>
            </a:extLst>
          </p:cNvPr>
          <p:cNvSpPr/>
          <p:nvPr/>
        </p:nvSpPr>
        <p:spPr>
          <a:xfrm>
            <a:off x="7554897" y="3022723"/>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1553028" y="365125"/>
            <a:ext cx="10458459" cy="1325563"/>
          </a:xfrm>
        </p:spPr>
        <p:txBody>
          <a:bodyPr>
            <a:normAutofit/>
          </a:bodyPr>
          <a:lstStyle/>
          <a:p>
            <a:r>
              <a:rPr lang="en-US" sz="3600" b="1" dirty="0">
                <a:solidFill>
                  <a:schemeClr val="tx1">
                    <a:lumMod val="85000"/>
                    <a:lumOff val="15000"/>
                  </a:schemeClr>
                </a:solidFill>
                <a:latin typeface="Arial" panose="020B0604020202020204" pitchFamily="34" charset="0"/>
                <a:cs typeface="Arial" panose="020B0604020202020204" pitchFamily="34" charset="0"/>
              </a:rPr>
              <a:t>Estimated Financial Returns and Assumptions</a:t>
            </a:r>
          </a:p>
        </p:txBody>
      </p:sp>
      <p:sp>
        <p:nvSpPr>
          <p:cNvPr id="4" name="Footer Placeholder 3">
            <a:extLst>
              <a:ext uri="{FF2B5EF4-FFF2-40B4-BE49-F238E27FC236}">
                <a16:creationId xmlns:a16="http://schemas.microsoft.com/office/drawing/2014/main" id="{5507C855-B839-95B6-9EA2-093923967C6B}"/>
              </a:ext>
            </a:extLst>
          </p:cNvPr>
          <p:cNvSpPr>
            <a:spLocks noGrp="1"/>
          </p:cNvSpPr>
          <p:nvPr>
            <p:ph type="ftr" sz="quarter" idx="11"/>
          </p:nvPr>
        </p:nvSpPr>
        <p:spPr>
          <a:xfrm>
            <a:off x="4038602" y="6490145"/>
            <a:ext cx="4114800" cy="250380"/>
          </a:xfrm>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F7E7619F-9C66-420C-88E0-81D9A3B4FEB7}"/>
              </a:ext>
            </a:extLst>
          </p:cNvPr>
          <p:cNvSpPr>
            <a:spLocks noGrp="1"/>
          </p:cNvSpPr>
          <p:nvPr>
            <p:ph type="sldNum" sz="quarter" idx="12"/>
          </p:nvPr>
        </p:nvSpPr>
        <p:spPr>
          <a:xfrm>
            <a:off x="8610601" y="6490145"/>
            <a:ext cx="2743200" cy="250380"/>
          </a:xfrm>
        </p:spPr>
        <p:txBody>
          <a:bodyPr/>
          <a:lstStyle/>
          <a:p>
            <a:fld id="{3AFC719D-C4A7-4544-876E-D411D11AF6C9}" type="slidenum">
              <a:rPr lang="en-US" smtClean="0"/>
              <a:t>7</a:t>
            </a:fld>
            <a:endParaRPr lang="en-US" dirty="0"/>
          </a:p>
        </p:txBody>
      </p:sp>
      <p:sp>
        <p:nvSpPr>
          <p:cNvPr id="8" name="Rectangle 7">
            <a:extLst>
              <a:ext uri="{FF2B5EF4-FFF2-40B4-BE49-F238E27FC236}">
                <a16:creationId xmlns:a16="http://schemas.microsoft.com/office/drawing/2014/main" id="{55A48ACE-D370-6BA3-A39B-CF7D87E5C9A5}"/>
              </a:ext>
            </a:extLst>
          </p:cNvPr>
          <p:cNvSpPr/>
          <p:nvPr/>
        </p:nvSpPr>
        <p:spPr>
          <a:xfrm>
            <a:off x="7466120" y="1574676"/>
            <a:ext cx="4725880"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9386F57-8E81-E6DF-1A01-623E3BB7AB0B}"/>
              </a:ext>
            </a:extLst>
          </p:cNvPr>
          <p:cNvSpPr/>
          <p:nvPr/>
        </p:nvSpPr>
        <p:spPr>
          <a:xfrm>
            <a:off x="7168718" y="1574676"/>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7B828AB6-CD3A-4CD3-8950-2942DDBEAC0D}"/>
              </a:ext>
            </a:extLst>
          </p:cNvPr>
          <p:cNvSpPr txBox="1"/>
          <p:nvPr/>
        </p:nvSpPr>
        <p:spPr>
          <a:xfrm>
            <a:off x="8019782" y="1667584"/>
            <a:ext cx="3618555"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Patient Steerage Assumptions</a:t>
            </a:r>
          </a:p>
        </p:txBody>
      </p:sp>
      <p:sp>
        <p:nvSpPr>
          <p:cNvPr id="13" name="TextBox 12">
            <a:extLst>
              <a:ext uri="{FF2B5EF4-FFF2-40B4-BE49-F238E27FC236}">
                <a16:creationId xmlns:a16="http://schemas.microsoft.com/office/drawing/2014/main" id="{025AE6BF-C458-13D4-626E-DAD4C1439055}"/>
              </a:ext>
            </a:extLst>
          </p:cNvPr>
          <p:cNvSpPr txBox="1"/>
          <p:nvPr/>
        </p:nvSpPr>
        <p:spPr>
          <a:xfrm>
            <a:off x="7466120" y="2250333"/>
            <a:ext cx="4616389" cy="738664"/>
          </a:xfrm>
          <a:prstGeom prst="rect">
            <a:avLst/>
          </a:prstGeom>
          <a:noFill/>
        </p:spPr>
        <p:txBody>
          <a:bodyPr wrap="square" rtlCol="0">
            <a:spAutoFit/>
          </a:bodyPr>
          <a:lstStyle/>
          <a:p>
            <a:r>
              <a:rPr lang="en-US" sz="1050" dirty="0"/>
              <a:t>KBA currently estimates that Centra Health has 23% inpatient market share, and 12% outpatient market compared to hospitals/clinics in the Lynchburg and Roanoke hospital referral regions. Based on other DTE networks and Centra Health being Tier 1, we expect steerage to be (inpatient/outpatient):</a:t>
            </a:r>
          </a:p>
        </p:txBody>
      </p:sp>
      <p:sp>
        <p:nvSpPr>
          <p:cNvPr id="14" name="TextBox 13">
            <a:extLst>
              <a:ext uri="{FF2B5EF4-FFF2-40B4-BE49-F238E27FC236}">
                <a16:creationId xmlns:a16="http://schemas.microsoft.com/office/drawing/2014/main" id="{179940AC-5161-4A7C-F820-720723177F99}"/>
              </a:ext>
            </a:extLst>
          </p:cNvPr>
          <p:cNvSpPr txBox="1"/>
          <p:nvPr/>
        </p:nvSpPr>
        <p:spPr>
          <a:xfrm>
            <a:off x="7785777" y="2987377"/>
            <a:ext cx="488916" cy="307777"/>
          </a:xfrm>
          <a:prstGeom prst="rect">
            <a:avLst/>
          </a:prstGeom>
          <a:noFill/>
        </p:spPr>
        <p:txBody>
          <a:bodyPr wrap="none" rtlCol="0">
            <a:spAutoFit/>
          </a:bodyPr>
          <a:lstStyle/>
          <a:p>
            <a:r>
              <a:rPr lang="en-US" sz="1400" b="1" dirty="0"/>
              <a:t>Low</a:t>
            </a:r>
          </a:p>
        </p:txBody>
      </p:sp>
      <p:sp>
        <p:nvSpPr>
          <p:cNvPr id="15" name="TextBox 14">
            <a:extLst>
              <a:ext uri="{FF2B5EF4-FFF2-40B4-BE49-F238E27FC236}">
                <a16:creationId xmlns:a16="http://schemas.microsoft.com/office/drawing/2014/main" id="{7AC10C26-8A4C-C6CF-D8A6-005227E091A5}"/>
              </a:ext>
            </a:extLst>
          </p:cNvPr>
          <p:cNvSpPr txBox="1"/>
          <p:nvPr/>
        </p:nvSpPr>
        <p:spPr>
          <a:xfrm>
            <a:off x="9529856" y="2975309"/>
            <a:ext cx="643509" cy="307777"/>
          </a:xfrm>
          <a:prstGeom prst="rect">
            <a:avLst/>
          </a:prstGeom>
          <a:noFill/>
        </p:spPr>
        <p:txBody>
          <a:bodyPr wrap="none" rtlCol="0">
            <a:spAutoFit/>
          </a:bodyPr>
          <a:lstStyle/>
          <a:p>
            <a:r>
              <a:rPr lang="en-US" sz="1400" b="1" dirty="0"/>
              <a:t>Target</a:t>
            </a:r>
          </a:p>
        </p:txBody>
      </p:sp>
      <p:sp>
        <p:nvSpPr>
          <p:cNvPr id="16" name="TextBox 15">
            <a:extLst>
              <a:ext uri="{FF2B5EF4-FFF2-40B4-BE49-F238E27FC236}">
                <a16:creationId xmlns:a16="http://schemas.microsoft.com/office/drawing/2014/main" id="{0D3F3B85-69EC-8FED-A956-FFB8BE6FE5D7}"/>
              </a:ext>
            </a:extLst>
          </p:cNvPr>
          <p:cNvSpPr txBox="1"/>
          <p:nvPr/>
        </p:nvSpPr>
        <p:spPr>
          <a:xfrm>
            <a:off x="11244106" y="2991243"/>
            <a:ext cx="524503" cy="307777"/>
          </a:xfrm>
          <a:prstGeom prst="rect">
            <a:avLst/>
          </a:prstGeom>
          <a:noFill/>
        </p:spPr>
        <p:txBody>
          <a:bodyPr wrap="none" rtlCol="0">
            <a:spAutoFit/>
          </a:bodyPr>
          <a:lstStyle/>
          <a:p>
            <a:r>
              <a:rPr lang="en-US" sz="1400" b="1" dirty="0"/>
              <a:t>High</a:t>
            </a:r>
          </a:p>
        </p:txBody>
      </p:sp>
      <p:sp>
        <p:nvSpPr>
          <p:cNvPr id="17" name="TextBox 16">
            <a:extLst>
              <a:ext uri="{FF2B5EF4-FFF2-40B4-BE49-F238E27FC236}">
                <a16:creationId xmlns:a16="http://schemas.microsoft.com/office/drawing/2014/main" id="{19FEE2C1-9161-C3CD-EE7F-6727C796DF0D}"/>
              </a:ext>
            </a:extLst>
          </p:cNvPr>
          <p:cNvSpPr txBox="1"/>
          <p:nvPr/>
        </p:nvSpPr>
        <p:spPr>
          <a:xfrm>
            <a:off x="7531093" y="3237256"/>
            <a:ext cx="1072730" cy="369332"/>
          </a:xfrm>
          <a:prstGeom prst="rect">
            <a:avLst/>
          </a:prstGeom>
          <a:noFill/>
        </p:spPr>
        <p:txBody>
          <a:bodyPr wrap="none" rtlCol="0">
            <a:spAutoFit/>
          </a:bodyPr>
          <a:lstStyle/>
          <a:p>
            <a:r>
              <a:rPr lang="en-US" dirty="0"/>
              <a:t>30%/28%</a:t>
            </a:r>
          </a:p>
        </p:txBody>
      </p:sp>
      <p:sp>
        <p:nvSpPr>
          <p:cNvPr id="18" name="TextBox 17">
            <a:extLst>
              <a:ext uri="{FF2B5EF4-FFF2-40B4-BE49-F238E27FC236}">
                <a16:creationId xmlns:a16="http://schemas.microsoft.com/office/drawing/2014/main" id="{1CC51BEE-0560-3D56-4AE8-86D704578774}"/>
              </a:ext>
            </a:extLst>
          </p:cNvPr>
          <p:cNvSpPr txBox="1"/>
          <p:nvPr/>
        </p:nvSpPr>
        <p:spPr>
          <a:xfrm>
            <a:off x="9358154" y="3237256"/>
            <a:ext cx="1072730" cy="369332"/>
          </a:xfrm>
          <a:prstGeom prst="rect">
            <a:avLst/>
          </a:prstGeom>
          <a:noFill/>
        </p:spPr>
        <p:txBody>
          <a:bodyPr wrap="none" rtlCol="0">
            <a:spAutoFit/>
          </a:bodyPr>
          <a:lstStyle/>
          <a:p>
            <a:r>
              <a:rPr lang="en-US" dirty="0"/>
              <a:t>32%/29%</a:t>
            </a:r>
          </a:p>
        </p:txBody>
      </p:sp>
      <p:sp>
        <p:nvSpPr>
          <p:cNvPr id="19" name="TextBox 18">
            <a:extLst>
              <a:ext uri="{FF2B5EF4-FFF2-40B4-BE49-F238E27FC236}">
                <a16:creationId xmlns:a16="http://schemas.microsoft.com/office/drawing/2014/main" id="{A17D3C89-20DF-71B2-E5D8-1DA9D1F926E7}"/>
              </a:ext>
            </a:extLst>
          </p:cNvPr>
          <p:cNvSpPr txBox="1"/>
          <p:nvPr/>
        </p:nvSpPr>
        <p:spPr>
          <a:xfrm>
            <a:off x="10996093" y="3237256"/>
            <a:ext cx="1072730" cy="369332"/>
          </a:xfrm>
          <a:prstGeom prst="rect">
            <a:avLst/>
          </a:prstGeom>
          <a:noFill/>
        </p:spPr>
        <p:txBody>
          <a:bodyPr wrap="none" rtlCol="0">
            <a:spAutoFit/>
          </a:bodyPr>
          <a:lstStyle/>
          <a:p>
            <a:r>
              <a:rPr lang="en-US" dirty="0"/>
              <a:t>33%/30%</a:t>
            </a:r>
          </a:p>
        </p:txBody>
      </p:sp>
      <p:sp>
        <p:nvSpPr>
          <p:cNvPr id="21" name="Rectangle 20">
            <a:extLst>
              <a:ext uri="{FF2B5EF4-FFF2-40B4-BE49-F238E27FC236}">
                <a16:creationId xmlns:a16="http://schemas.microsoft.com/office/drawing/2014/main" id="{620CA171-241C-9006-DA4D-7174E70B2EF3}"/>
              </a:ext>
            </a:extLst>
          </p:cNvPr>
          <p:cNvSpPr/>
          <p:nvPr/>
        </p:nvSpPr>
        <p:spPr>
          <a:xfrm>
            <a:off x="7597806" y="5348162"/>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D8E1912-BAE3-A76F-55A7-754D206BC471}"/>
              </a:ext>
            </a:extLst>
          </p:cNvPr>
          <p:cNvSpPr/>
          <p:nvPr/>
        </p:nvSpPr>
        <p:spPr>
          <a:xfrm>
            <a:off x="7509029" y="4095424"/>
            <a:ext cx="4682971"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2B9ED21-8D89-315C-4C9C-403AA9B2666A}"/>
              </a:ext>
            </a:extLst>
          </p:cNvPr>
          <p:cNvSpPr/>
          <p:nvPr/>
        </p:nvSpPr>
        <p:spPr>
          <a:xfrm>
            <a:off x="7211627" y="4095424"/>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950E697A-C380-A6EE-50AE-8B3DED34929F}"/>
              </a:ext>
            </a:extLst>
          </p:cNvPr>
          <p:cNvSpPr txBox="1"/>
          <p:nvPr/>
        </p:nvSpPr>
        <p:spPr>
          <a:xfrm>
            <a:off x="8062691" y="4188332"/>
            <a:ext cx="3932743"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Commercial Margin Assumptions</a:t>
            </a:r>
          </a:p>
        </p:txBody>
      </p:sp>
      <p:sp>
        <p:nvSpPr>
          <p:cNvPr id="25" name="TextBox 24">
            <a:extLst>
              <a:ext uri="{FF2B5EF4-FFF2-40B4-BE49-F238E27FC236}">
                <a16:creationId xmlns:a16="http://schemas.microsoft.com/office/drawing/2014/main" id="{32C9D62D-25B0-6CD9-8AD7-E6855B1B1B26}"/>
              </a:ext>
            </a:extLst>
          </p:cNvPr>
          <p:cNvSpPr txBox="1"/>
          <p:nvPr/>
        </p:nvSpPr>
        <p:spPr>
          <a:xfrm>
            <a:off x="7509029" y="4771081"/>
            <a:ext cx="4616389" cy="577081"/>
          </a:xfrm>
          <a:prstGeom prst="rect">
            <a:avLst/>
          </a:prstGeom>
          <a:noFill/>
        </p:spPr>
        <p:txBody>
          <a:bodyPr wrap="square" rtlCol="0">
            <a:spAutoFit/>
          </a:bodyPr>
          <a:lstStyle/>
          <a:p>
            <a:r>
              <a:rPr lang="en-US" sz="1050" dirty="0"/>
              <a:t>KBA observes a Centra 41% commercial margin. Conservatively, we model the DTE to be 5% below commercial (10 percentage-point price reduction with a 5 percentage-point price increase from easier billing):</a:t>
            </a:r>
          </a:p>
        </p:txBody>
      </p:sp>
      <p:sp>
        <p:nvSpPr>
          <p:cNvPr id="26" name="TextBox 25">
            <a:extLst>
              <a:ext uri="{FF2B5EF4-FFF2-40B4-BE49-F238E27FC236}">
                <a16:creationId xmlns:a16="http://schemas.microsoft.com/office/drawing/2014/main" id="{A76920ED-352E-9285-CC83-BDA6AB18978D}"/>
              </a:ext>
            </a:extLst>
          </p:cNvPr>
          <p:cNvSpPr txBox="1"/>
          <p:nvPr/>
        </p:nvSpPr>
        <p:spPr>
          <a:xfrm>
            <a:off x="7707395" y="5300748"/>
            <a:ext cx="488916" cy="307777"/>
          </a:xfrm>
          <a:prstGeom prst="rect">
            <a:avLst/>
          </a:prstGeom>
          <a:noFill/>
        </p:spPr>
        <p:txBody>
          <a:bodyPr wrap="none" rtlCol="0">
            <a:spAutoFit/>
          </a:bodyPr>
          <a:lstStyle/>
          <a:p>
            <a:r>
              <a:rPr lang="en-US" sz="1400" b="1" dirty="0"/>
              <a:t>Low</a:t>
            </a:r>
          </a:p>
        </p:txBody>
      </p:sp>
      <p:sp>
        <p:nvSpPr>
          <p:cNvPr id="27" name="TextBox 26">
            <a:extLst>
              <a:ext uri="{FF2B5EF4-FFF2-40B4-BE49-F238E27FC236}">
                <a16:creationId xmlns:a16="http://schemas.microsoft.com/office/drawing/2014/main" id="{2559AB8C-6F23-81D3-4546-DE75EBD91879}"/>
              </a:ext>
            </a:extLst>
          </p:cNvPr>
          <p:cNvSpPr txBox="1"/>
          <p:nvPr/>
        </p:nvSpPr>
        <p:spPr>
          <a:xfrm>
            <a:off x="9572765" y="5300748"/>
            <a:ext cx="643509" cy="307777"/>
          </a:xfrm>
          <a:prstGeom prst="rect">
            <a:avLst/>
          </a:prstGeom>
          <a:noFill/>
        </p:spPr>
        <p:txBody>
          <a:bodyPr wrap="none" rtlCol="0">
            <a:spAutoFit/>
          </a:bodyPr>
          <a:lstStyle/>
          <a:p>
            <a:r>
              <a:rPr lang="en-US" sz="1400" b="1" dirty="0"/>
              <a:t>Target</a:t>
            </a:r>
          </a:p>
        </p:txBody>
      </p:sp>
      <p:sp>
        <p:nvSpPr>
          <p:cNvPr id="28" name="TextBox 27">
            <a:extLst>
              <a:ext uri="{FF2B5EF4-FFF2-40B4-BE49-F238E27FC236}">
                <a16:creationId xmlns:a16="http://schemas.microsoft.com/office/drawing/2014/main" id="{314AFF5C-ABDA-A82B-40C8-14E2DB160036}"/>
              </a:ext>
            </a:extLst>
          </p:cNvPr>
          <p:cNvSpPr txBox="1"/>
          <p:nvPr/>
        </p:nvSpPr>
        <p:spPr>
          <a:xfrm>
            <a:off x="11436788" y="5300748"/>
            <a:ext cx="524503" cy="307777"/>
          </a:xfrm>
          <a:prstGeom prst="rect">
            <a:avLst/>
          </a:prstGeom>
          <a:noFill/>
        </p:spPr>
        <p:txBody>
          <a:bodyPr wrap="none" rtlCol="0">
            <a:spAutoFit/>
          </a:bodyPr>
          <a:lstStyle/>
          <a:p>
            <a:r>
              <a:rPr lang="en-US" sz="1400" b="1" dirty="0"/>
              <a:t>High</a:t>
            </a:r>
          </a:p>
        </p:txBody>
      </p:sp>
      <p:sp>
        <p:nvSpPr>
          <p:cNvPr id="29" name="TextBox 28">
            <a:extLst>
              <a:ext uri="{FF2B5EF4-FFF2-40B4-BE49-F238E27FC236}">
                <a16:creationId xmlns:a16="http://schemas.microsoft.com/office/drawing/2014/main" id="{2C03026B-6D1E-F7B1-9995-7D9DC1019C60}"/>
              </a:ext>
            </a:extLst>
          </p:cNvPr>
          <p:cNvSpPr txBox="1"/>
          <p:nvPr/>
        </p:nvSpPr>
        <p:spPr>
          <a:xfrm>
            <a:off x="7659946" y="5559601"/>
            <a:ext cx="583814" cy="369332"/>
          </a:xfrm>
          <a:prstGeom prst="rect">
            <a:avLst/>
          </a:prstGeom>
          <a:noFill/>
        </p:spPr>
        <p:txBody>
          <a:bodyPr wrap="none" rtlCol="0">
            <a:spAutoFit/>
          </a:bodyPr>
          <a:lstStyle/>
          <a:p>
            <a:r>
              <a:rPr lang="en-US" dirty="0"/>
              <a:t>24%</a:t>
            </a:r>
          </a:p>
        </p:txBody>
      </p:sp>
      <p:sp>
        <p:nvSpPr>
          <p:cNvPr id="30" name="TextBox 29">
            <a:extLst>
              <a:ext uri="{FF2B5EF4-FFF2-40B4-BE49-F238E27FC236}">
                <a16:creationId xmlns:a16="http://schemas.microsoft.com/office/drawing/2014/main" id="{9C64CEEB-E16A-926D-5DF0-DC8275443A40}"/>
              </a:ext>
            </a:extLst>
          </p:cNvPr>
          <p:cNvSpPr txBox="1"/>
          <p:nvPr/>
        </p:nvSpPr>
        <p:spPr>
          <a:xfrm>
            <a:off x="9580061" y="5571573"/>
            <a:ext cx="583814" cy="369332"/>
          </a:xfrm>
          <a:prstGeom prst="rect">
            <a:avLst/>
          </a:prstGeom>
          <a:noFill/>
        </p:spPr>
        <p:txBody>
          <a:bodyPr wrap="none" rtlCol="0">
            <a:spAutoFit/>
          </a:bodyPr>
          <a:lstStyle/>
          <a:p>
            <a:r>
              <a:rPr lang="en-US" dirty="0"/>
              <a:t>30%</a:t>
            </a:r>
          </a:p>
        </p:txBody>
      </p:sp>
      <p:sp>
        <p:nvSpPr>
          <p:cNvPr id="31" name="TextBox 30">
            <a:extLst>
              <a:ext uri="{FF2B5EF4-FFF2-40B4-BE49-F238E27FC236}">
                <a16:creationId xmlns:a16="http://schemas.microsoft.com/office/drawing/2014/main" id="{716000A2-AFB1-117D-BFF0-2BDA3EA8A77D}"/>
              </a:ext>
            </a:extLst>
          </p:cNvPr>
          <p:cNvSpPr txBox="1"/>
          <p:nvPr/>
        </p:nvSpPr>
        <p:spPr>
          <a:xfrm>
            <a:off x="11389339" y="5571573"/>
            <a:ext cx="583814" cy="369332"/>
          </a:xfrm>
          <a:prstGeom prst="rect">
            <a:avLst/>
          </a:prstGeom>
          <a:noFill/>
        </p:spPr>
        <p:txBody>
          <a:bodyPr wrap="none" rtlCol="0">
            <a:spAutoFit/>
          </a:bodyPr>
          <a:lstStyle/>
          <a:p>
            <a:r>
              <a:rPr lang="en-US" dirty="0"/>
              <a:t>36%</a:t>
            </a:r>
          </a:p>
        </p:txBody>
      </p:sp>
      <p:sp>
        <p:nvSpPr>
          <p:cNvPr id="3" name="Rectangle 2">
            <a:extLst>
              <a:ext uri="{FF2B5EF4-FFF2-40B4-BE49-F238E27FC236}">
                <a16:creationId xmlns:a16="http://schemas.microsoft.com/office/drawing/2014/main" id="{E854312B-28D3-E83C-2C75-6E860911BB50}"/>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2DAB5DAF-375F-8C08-74DE-3B9B1A009F3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SINGLE-YEAR PROJECTION</a:t>
            </a:r>
          </a:p>
        </p:txBody>
      </p:sp>
      <p:pic>
        <p:nvPicPr>
          <p:cNvPr id="45" name="Content Placeholder 44" descr="A screen shot of a graph&#10;&#10;Description automatically generated">
            <a:extLst>
              <a:ext uri="{FF2B5EF4-FFF2-40B4-BE49-F238E27FC236}">
                <a16:creationId xmlns:a16="http://schemas.microsoft.com/office/drawing/2014/main" id="{8F49B191-28D3-ED23-5C76-27160D8959A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29836" y="1690688"/>
            <a:ext cx="6216197" cy="4351338"/>
          </a:xfrm>
        </p:spPr>
      </p:pic>
    </p:spTree>
    <p:extLst>
      <p:ext uri="{BB962C8B-B14F-4D97-AF65-F5344CB8AC3E}">
        <p14:creationId xmlns:p14="http://schemas.microsoft.com/office/powerpoint/2010/main" val="3470905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7"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583404" y="3031902"/>
            <a:ext cx="6145216" cy="752041"/>
          </a:xfrm>
        </p:spPr>
        <p:txBody>
          <a:bodyPr>
            <a:noAutofit/>
          </a:bodyPr>
          <a:lstStyle/>
          <a:p>
            <a:pPr>
              <a:lnSpc>
                <a:spcPct val="100000"/>
              </a:lnSpc>
              <a:spcBef>
                <a:spcPts val="600"/>
              </a:spcBef>
            </a:pPr>
            <a:r>
              <a:rPr lang="en-US" sz="3600" b="0" dirty="0">
                <a:solidFill>
                  <a:schemeClr val="bg1"/>
                </a:solidFill>
              </a:rPr>
              <a:t>SINGLE YEAR SUMMARY</a:t>
            </a:r>
          </a:p>
        </p:txBody>
      </p:sp>
      <p:sp>
        <p:nvSpPr>
          <p:cNvPr id="9" name="TextBox 8">
            <a:extLst>
              <a:ext uri="{FF2B5EF4-FFF2-40B4-BE49-F238E27FC236}">
                <a16:creationId xmlns:a16="http://schemas.microsoft.com/office/drawing/2014/main" id="{AB8821D0-DEDE-002D-E87D-13E033D5D75F}"/>
              </a:ext>
            </a:extLst>
          </p:cNvPr>
          <p:cNvSpPr txBox="1"/>
          <p:nvPr/>
        </p:nvSpPr>
        <p:spPr>
          <a:xfrm>
            <a:off x="1091591" y="5433068"/>
            <a:ext cx="10881335"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t>NOTE:  Please see detailed financial analysis and assumptions used starting on page 23.  </a:t>
            </a:r>
          </a:p>
          <a:p>
            <a:pPr marL="285750" indent="-285750">
              <a:buFont typeface="Arial" panose="020B0604020202020204" pitchFamily="34" charset="0"/>
              <a:buChar char="•"/>
            </a:pPr>
            <a:r>
              <a:rPr lang="en-US" sz="1600" dirty="0"/>
              <a:t>Financial projections do not include 340B contribution margin, which could represent $136 PMPM by optimizing 340B through Rx plan design, Centra’s approved site(s) with network integration, and development of Centra’s proprietary PBM program.</a:t>
            </a:r>
            <a:r>
              <a:rPr lang="en-US" sz="1600" dirty="0">
                <a:highlight>
                  <a:srgbClr val="FFFF00"/>
                </a:highlight>
              </a:rPr>
              <a:t>   </a:t>
            </a:r>
          </a:p>
        </p:txBody>
      </p:sp>
      <p:graphicFrame>
        <p:nvGraphicFramePr>
          <p:cNvPr id="13" name="Content Placeholder 2">
            <a:extLst>
              <a:ext uri="{FF2B5EF4-FFF2-40B4-BE49-F238E27FC236}">
                <a16:creationId xmlns:a16="http://schemas.microsoft.com/office/drawing/2014/main" id="{6DB82FE6-A016-1888-B4EA-C2A4CE0391A4}"/>
              </a:ext>
            </a:extLst>
          </p:cNvPr>
          <p:cNvGraphicFramePr>
            <a:graphicFrameLocks noGrp="1"/>
          </p:cNvGraphicFramePr>
          <p:nvPr/>
        </p:nvGraphicFramePr>
        <p:xfrm>
          <a:off x="1828800" y="593935"/>
          <a:ext cx="9052560" cy="457200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Expected Estimate of 31.5% Inpatient/29% Outpatient Within-Plan Steerage and a Commercial Margin of 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Expected Estimate of 31.5% Inpatient/29% Outpatient Within-Plan Steerage and a Commercial Margin of 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Expected Estimate of 31.5% Inpatient/29% Outpatient Within-Plan Steerage and a Commercial Margin of 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Expected Estimate of 31.5% Inpatient/29% Outpatient Within-Plan Steerage and a Commercial Margin of 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Expected Estimate of 31.5% Inpatient/29% Outpatient Within-Plan Steerage and a Commercial Margin of 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Expected Estimate of 31.5% Inpatient/29% Outpatient Within-Plan Steerage and a Commercial Margin of 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Expected Estimate of 31.5% Inpatient/29% Outpatient Within-Plan Steerage and a Commercial Margin of 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Expected Estimate of 31.5% Inpatient/29% Outpatient Within-Plan Steerage and a Commercial Margin of 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330K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-107K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$ 1,110K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386K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$ 1,652K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543K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492K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-20K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$ 2,219K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$ 3,305K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984K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212K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$ 5,549K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$ 1,929K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$ 8,262K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$ 2,713K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$ 2,459K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530K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413K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$22,194K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$ 7,716K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$33,046K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$10,852K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$ 9,836K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$2,120K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$2,039K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$44,388K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$15,432K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$66,093K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$21,704K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$19,673K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$4,241K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dirty="0">
                          <a:solidFill>
                            <a:srgbClr val="FFFFFF">
                              <a:alpha val="100000"/>
                            </a:srgbClr>
                          </a:solidFill>
                          <a:latin typeface="Arial"/>
                          <a:cs typeface="Arial"/>
                          <a:sym typeface="Arial"/>
                        </a:rPr>
                        <a:t>$4,206K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B5D2E5F-7796-4A80-A1F0-244E8AA938D3}"/>
              </a:ext>
            </a:extLst>
          </p:cNvPr>
          <p:cNvSpPr/>
          <p:nvPr/>
        </p:nvSpPr>
        <p:spPr>
          <a:xfrm>
            <a:off x="0" y="0"/>
            <a:ext cx="3095625" cy="6845654"/>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172" name="Picture 4" descr="Key Benefit Administrators Office Photos | Glassdoor">
            <a:extLst>
              <a:ext uri="{FF2B5EF4-FFF2-40B4-BE49-F238E27FC236}">
                <a16:creationId xmlns:a16="http://schemas.microsoft.com/office/drawing/2014/main" id="{6CEA05B0-D867-49BD-BC20-745975B6F4C1}"/>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828926" y="0"/>
            <a:ext cx="936307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F9E7BDA1-C2F0-47FC-8E35-E6C155FA11C4}"/>
              </a:ext>
            </a:extLst>
          </p:cNvPr>
          <p:cNvPicPr>
            <a:picLocks noChangeAspect="1"/>
          </p:cNvPicPr>
          <p:nvPr/>
        </p:nvPicPr>
        <p:blipFill>
          <a:blip r:embed="rId3"/>
          <a:stretch>
            <a:fillRect/>
          </a:stretch>
        </p:blipFill>
        <p:spPr>
          <a:xfrm rot="10800000">
            <a:off x="0" y="-4227"/>
            <a:ext cx="3000375" cy="1000125"/>
          </a:xfrm>
          <a:prstGeom prst="rect">
            <a:avLst/>
          </a:prstGeom>
        </p:spPr>
      </p:pic>
      <p:sp>
        <p:nvSpPr>
          <p:cNvPr id="4"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fld id="{3AFC719D-C4A7-4544-876E-D411D11AF6C9}" type="slidenum">
              <a:rPr lang="en-US" smtClean="0"/>
              <a:t>9</a:t>
            </a:fld>
            <a:endParaRPr lang="en-US" dirty="0"/>
          </a:p>
        </p:txBody>
      </p:sp>
      <p:sp>
        <p:nvSpPr>
          <p:cNvPr id="24" name="Rectangle 23">
            <a:extLst>
              <a:ext uri="{FF2B5EF4-FFF2-40B4-BE49-F238E27FC236}">
                <a16:creationId xmlns:a16="http://schemas.microsoft.com/office/drawing/2014/main" id="{88F9B5E8-D3C0-4885-9F6B-379525D51687}"/>
              </a:ext>
            </a:extLst>
          </p:cNvPr>
          <p:cNvSpPr/>
          <p:nvPr/>
        </p:nvSpPr>
        <p:spPr>
          <a:xfrm>
            <a:off x="-3796" y="1415180"/>
            <a:ext cx="7385671" cy="5439997"/>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Single Corner Rounded 4">
            <a:extLst>
              <a:ext uri="{FF2B5EF4-FFF2-40B4-BE49-F238E27FC236}">
                <a16:creationId xmlns:a16="http://schemas.microsoft.com/office/drawing/2014/main" id="{AD1D7B3D-91CE-4826-90BB-5F92F8BB9481}"/>
              </a:ext>
            </a:extLst>
          </p:cNvPr>
          <p:cNvSpPr/>
          <p:nvPr/>
        </p:nvSpPr>
        <p:spPr>
          <a:xfrm>
            <a:off x="0" y="1009650"/>
            <a:ext cx="7477760" cy="5845528"/>
          </a:xfrm>
          <a:prstGeom prst="round1Rect">
            <a:avLst>
              <a:gd name="adj" fmla="val 12082"/>
            </a:avLst>
          </a:prstGeom>
          <a:solidFill>
            <a:srgbClr val="254F9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lvl="1" defTabSz="914411" fontAlgn="base">
              <a:defRPr/>
            </a:pPr>
            <a:endParaRPr lang="en-US" dirty="0">
              <a:solidFill>
                <a:prstClr val="white"/>
              </a:solidFill>
              <a:latin typeface="Arial" panose="020B0604020202020204" pitchFamily="34" charset="0"/>
              <a:cs typeface="Arial" panose="020B0604020202020204" pitchFamily="34" charset="0"/>
            </a:endParaRPr>
          </a:p>
        </p:txBody>
      </p:sp>
      <p:sp>
        <p:nvSpPr>
          <p:cNvPr id="6" name="Freeform: Shape 5">
            <a:extLst>
              <a:ext uri="{FF2B5EF4-FFF2-40B4-BE49-F238E27FC236}">
                <a16:creationId xmlns:a16="http://schemas.microsoft.com/office/drawing/2014/main" id="{D616A404-B324-4680-9ED6-0746BB2B3A16}"/>
              </a:ext>
            </a:extLst>
          </p:cNvPr>
          <p:cNvSpPr/>
          <p:nvPr/>
        </p:nvSpPr>
        <p:spPr>
          <a:xfrm rot="16200000">
            <a:off x="5385400" y="4759020"/>
            <a:ext cx="1873602" cy="2318710"/>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7" name="TextBox 6">
            <a:extLst>
              <a:ext uri="{FF2B5EF4-FFF2-40B4-BE49-F238E27FC236}">
                <a16:creationId xmlns:a16="http://schemas.microsoft.com/office/drawing/2014/main" id="{B009B747-65C4-4EA6-8340-1E1EB3FE580D}"/>
              </a:ext>
            </a:extLst>
          </p:cNvPr>
          <p:cNvSpPr txBox="1"/>
          <p:nvPr/>
        </p:nvSpPr>
        <p:spPr>
          <a:xfrm>
            <a:off x="452402" y="2374741"/>
            <a:ext cx="6650809" cy="3785652"/>
          </a:xfrm>
          <a:prstGeom prst="rect">
            <a:avLst/>
          </a:prstGeom>
          <a:noFill/>
        </p:spPr>
        <p:txBody>
          <a:bodyPr wrap="square" rtlCol="0">
            <a:spAutoFit/>
          </a:bodyPr>
          <a:lstStyle/>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Founded in 1979 and headquartered in Indianapolis, IN​</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Full-service TPA specializing in the administration of self-funded health plans and population health management​</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One of the country’s largest independently-owned TPAs </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The Key Family is a commonly-held group of benefits related organizations with:​</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3,000+ corporate clients​</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 million members under management​</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700 Employees</a:t>
            </a:r>
          </a:p>
          <a:p>
            <a:pPr marL="285753" indent="-285753" defTabSz="914411">
              <a:lnSpc>
                <a:spcPct val="150000"/>
              </a:lnSpc>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Exclusive Relationships</a:t>
            </a:r>
          </a:p>
          <a:p>
            <a:pPr marL="285753" indent="-285753" defTabSz="914411">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We know The Market – Agents, Networks, and MGAs</a:t>
            </a:r>
          </a:p>
        </p:txBody>
      </p:sp>
      <p:sp>
        <p:nvSpPr>
          <p:cNvPr id="3" name="Footer Placeholder 2">
            <a:extLst>
              <a:ext uri="{FF2B5EF4-FFF2-40B4-BE49-F238E27FC236}">
                <a16:creationId xmlns:a16="http://schemas.microsoft.com/office/drawing/2014/main" id="{EFB33B55-1AEB-4BBC-9F3F-C887F0C42EF5}"/>
              </a:ext>
            </a:extLst>
          </p:cNvPr>
          <p:cNvSpPr>
            <a:spLocks noGrp="1"/>
          </p:cNvSpPr>
          <p:nvPr>
            <p:ph type="ftr" sz="quarter" idx="11"/>
          </p:nvPr>
        </p:nvSpPr>
        <p:spPr>
          <a:xfrm>
            <a:off x="1307458" y="6360415"/>
            <a:ext cx="4114800" cy="365125"/>
          </a:xfrm>
        </p:spPr>
        <p:txBody>
          <a:bodyPr/>
          <a:lstStyle/>
          <a:p>
            <a:r>
              <a:rPr lang="en-US" dirty="0"/>
              <a:t>Key Benefit Administrators</a:t>
            </a:r>
          </a:p>
        </p:txBody>
      </p:sp>
      <p:pic>
        <p:nvPicPr>
          <p:cNvPr id="9220" name="Picture 4">
            <a:extLst>
              <a:ext uri="{FF2B5EF4-FFF2-40B4-BE49-F238E27FC236}">
                <a16:creationId xmlns:a16="http://schemas.microsoft.com/office/drawing/2014/main" id="{BA081F8A-34EF-4672-9370-DBC0CA8BE7A3}"/>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52402" y="1312679"/>
            <a:ext cx="3951647" cy="767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91351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BB9A266-2718-4687-903B-B87AB1E45652}"/>
              </a:ext>
            </a:extLst>
          </p:cNvPr>
          <p:cNvSpPr>
            <a:spLocks noGrp="1"/>
          </p:cNvSpPr>
          <p:nvPr>
            <p:ph type="title"/>
          </p:nvPr>
        </p:nvSpPr>
        <p:spPr>
          <a:xfrm>
            <a:off x="532266" y="560444"/>
            <a:ext cx="6850224" cy="782540"/>
          </a:xfrm>
        </p:spPr>
        <p:txBody>
          <a:bodyPr/>
          <a:lstStyle/>
          <a:p>
            <a:r>
              <a:rPr lang="en-US" dirty="0">
                <a:solidFill>
                  <a:schemeClr val="bg1"/>
                </a:solidFill>
              </a:rPr>
              <a:t>A Partner You Can Trust</a:t>
            </a:r>
          </a:p>
        </p:txBody>
      </p:sp>
      <p:sp>
        <p:nvSpPr>
          <p:cNvPr id="3"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dirty="0">
                <a:solidFill>
                  <a:schemeClr val="bg1"/>
                </a:solidFill>
              </a:rPr>
              <a:t>Key Benefit Administrators</a:t>
            </a:r>
          </a:p>
        </p:txBody>
      </p:sp>
      <p:sp>
        <p:nvSpPr>
          <p:cNvPr id="4"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mtClean="0">
                <a:solidFill>
                  <a:schemeClr val="bg1"/>
                </a:solidFill>
              </a:rPr>
              <a:t>10</a:t>
            </a:fld>
            <a:endParaRPr lang="en-US" dirty="0">
              <a:solidFill>
                <a:schemeClr val="bg1"/>
              </a:solidFill>
            </a:endParaRPr>
          </a:p>
        </p:txBody>
      </p:sp>
      <p:grpSp>
        <p:nvGrpSpPr>
          <p:cNvPr id="27" name="Group 26">
            <a:extLst>
              <a:ext uri="{FF2B5EF4-FFF2-40B4-BE49-F238E27FC236}">
                <a16:creationId xmlns:a16="http://schemas.microsoft.com/office/drawing/2014/main" id="{CE5A4C1D-715F-46F5-A80B-647078B97ADE}"/>
              </a:ext>
            </a:extLst>
          </p:cNvPr>
          <p:cNvGrpSpPr/>
          <p:nvPr/>
        </p:nvGrpSpPr>
        <p:grpSpPr>
          <a:xfrm>
            <a:off x="667280" y="3021140"/>
            <a:ext cx="10857442" cy="1200329"/>
            <a:chOff x="908754" y="2695500"/>
            <a:chExt cx="10558665" cy="1200329"/>
          </a:xfrm>
        </p:grpSpPr>
        <p:sp>
          <p:nvSpPr>
            <p:cNvPr id="22" name="Rectangle 21">
              <a:extLst>
                <a:ext uri="{FF2B5EF4-FFF2-40B4-BE49-F238E27FC236}">
                  <a16:creationId xmlns:a16="http://schemas.microsoft.com/office/drawing/2014/main" id="{E53A35DC-3649-45F8-BE1C-71234D1F47FC}"/>
                </a:ext>
              </a:extLst>
            </p:cNvPr>
            <p:cNvSpPr/>
            <p:nvPr/>
          </p:nvSpPr>
          <p:spPr>
            <a:xfrm>
              <a:off x="908754" y="2695500"/>
              <a:ext cx="2058812" cy="646331"/>
            </a:xfrm>
            <a:prstGeom prst="rect">
              <a:avLst/>
            </a:prstGeom>
          </p:spPr>
          <p:txBody>
            <a:bodyPr wrap="square">
              <a:spAutoFit/>
            </a:bodyPr>
            <a:lstStyle/>
            <a:p>
              <a:r>
                <a:rPr lang="en-US" b="1" dirty="0">
                  <a:solidFill>
                    <a:schemeClr val="bg1"/>
                  </a:solidFill>
                </a:rPr>
                <a:t>OUR OBJECTIVES ARE ALIGNED</a:t>
              </a:r>
            </a:p>
          </p:txBody>
        </p:sp>
        <p:sp>
          <p:nvSpPr>
            <p:cNvPr id="24" name="Rectangle 23">
              <a:extLst>
                <a:ext uri="{FF2B5EF4-FFF2-40B4-BE49-F238E27FC236}">
                  <a16:creationId xmlns:a16="http://schemas.microsoft.com/office/drawing/2014/main" id="{9BB7B37B-58E4-4EF5-8BCD-B5AFD3FF7576}"/>
                </a:ext>
              </a:extLst>
            </p:cNvPr>
            <p:cNvSpPr/>
            <p:nvPr/>
          </p:nvSpPr>
          <p:spPr>
            <a:xfrm>
              <a:off x="3464860" y="2695500"/>
              <a:ext cx="2096575" cy="646331"/>
            </a:xfrm>
            <a:prstGeom prst="rect">
              <a:avLst/>
            </a:prstGeom>
          </p:spPr>
          <p:txBody>
            <a:bodyPr wrap="square">
              <a:spAutoFit/>
            </a:bodyPr>
            <a:lstStyle/>
            <a:p>
              <a:r>
                <a:rPr lang="en-US" b="1" dirty="0">
                  <a:solidFill>
                    <a:schemeClr val="bg1"/>
                  </a:solidFill>
                </a:rPr>
                <a:t>WE KNOW THE </a:t>
              </a:r>
            </a:p>
            <a:p>
              <a:r>
                <a:rPr lang="en-US" b="1" dirty="0">
                  <a:solidFill>
                    <a:schemeClr val="bg1"/>
                  </a:solidFill>
                </a:rPr>
                <a:t>MARKET</a:t>
              </a:r>
            </a:p>
          </p:txBody>
        </p:sp>
        <p:sp>
          <p:nvSpPr>
            <p:cNvPr id="25" name="Rectangle 24">
              <a:extLst>
                <a:ext uri="{FF2B5EF4-FFF2-40B4-BE49-F238E27FC236}">
                  <a16:creationId xmlns:a16="http://schemas.microsoft.com/office/drawing/2014/main" id="{712D71E1-CFC6-401F-B564-C6DB174E5C25}"/>
                </a:ext>
              </a:extLst>
            </p:cNvPr>
            <p:cNvSpPr/>
            <p:nvPr/>
          </p:nvSpPr>
          <p:spPr>
            <a:xfrm>
              <a:off x="6105045" y="2695500"/>
              <a:ext cx="1861517" cy="646331"/>
            </a:xfrm>
            <a:prstGeom prst="rect">
              <a:avLst/>
            </a:prstGeom>
          </p:spPr>
          <p:txBody>
            <a:bodyPr wrap="square">
              <a:spAutoFit/>
            </a:bodyPr>
            <a:lstStyle/>
            <a:p>
              <a:r>
                <a:rPr lang="en-US" b="1" dirty="0">
                  <a:solidFill>
                    <a:schemeClr val="bg1"/>
                  </a:solidFill>
                </a:rPr>
                <a:t>COMPLETELY TRANSPARENT</a:t>
              </a:r>
            </a:p>
          </p:txBody>
        </p:sp>
        <p:sp>
          <p:nvSpPr>
            <p:cNvPr id="26" name="Rectangle 25">
              <a:extLst>
                <a:ext uri="{FF2B5EF4-FFF2-40B4-BE49-F238E27FC236}">
                  <a16:creationId xmlns:a16="http://schemas.microsoft.com/office/drawing/2014/main" id="{3219F81E-41A2-4D21-B41F-E66CCE1EAA9D}"/>
                </a:ext>
              </a:extLst>
            </p:cNvPr>
            <p:cNvSpPr/>
            <p:nvPr/>
          </p:nvSpPr>
          <p:spPr>
            <a:xfrm>
              <a:off x="9062157" y="2695500"/>
              <a:ext cx="2405262" cy="1200329"/>
            </a:xfrm>
            <a:prstGeom prst="rect">
              <a:avLst/>
            </a:prstGeom>
          </p:spPr>
          <p:txBody>
            <a:bodyPr wrap="square">
              <a:spAutoFit/>
            </a:bodyPr>
            <a:lstStyle/>
            <a:p>
              <a:r>
                <a:rPr lang="en-US" b="1" dirty="0">
                  <a:solidFill>
                    <a:schemeClr val="bg1"/>
                  </a:solidFill>
                </a:rPr>
                <a:t>WE HAVE THE SOPHISTICATION AND INFRASTRUCTURE TO EFFECTIVELY COMPETE</a:t>
              </a:r>
            </a:p>
          </p:txBody>
        </p:sp>
      </p:grpSp>
      <p:cxnSp>
        <p:nvCxnSpPr>
          <p:cNvPr id="29"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3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38"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42"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48"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8"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646331"/>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dirty="0">
                <a:solidFill>
                  <a:schemeClr val="bg1"/>
                </a:solidFill>
                <a:latin typeface="Arial" panose="020B0604020202020204" pitchFamily="34" charset="0"/>
                <a:cs typeface="Arial" panose="020B0604020202020204" pitchFamily="34" charset="0"/>
              </a:rPr>
              <a:t>Derek Moore, Senior Vice President – KBA</a:t>
            </a:r>
          </a:p>
          <a:p>
            <a:pPr algn="ctr"/>
            <a:r>
              <a:rPr lang="en-US" dirty="0">
                <a:solidFill>
                  <a:schemeClr val="bg1"/>
                </a:solidFill>
                <a:latin typeface="Arial" panose="020B0604020202020204" pitchFamily="34"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2.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3.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38418</TotalTime>
  <Words>975</Words>
  <Application>Microsoft Office PowerPoint</Application>
  <PresentationFormat>Widescreen</PresentationFormat>
  <Paragraphs>325</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 Narrow</vt:lpstr>
      <vt:lpstr>Arial</vt:lpstr>
      <vt:lpstr>Arial Black</vt:lpstr>
      <vt:lpstr>Calibri</vt:lpstr>
      <vt:lpstr>Calibri Light</vt:lpstr>
      <vt:lpstr>Wingdings</vt:lpstr>
      <vt:lpstr>Office Theme</vt:lpstr>
      <vt:lpstr>PowerPoint Presentation</vt:lpstr>
      <vt:lpstr>Healthcare Leader in Private Labeled DTE Plans</vt:lpstr>
      <vt:lpstr>Direct-to-Employer (DTE)  Your health plan focused on a direct relationship with self-funded employers in Your market</vt:lpstr>
      <vt:lpstr>Significant Opportunity for Plan Growth Researched for Roanoke and Lynchburg Hospital Referral Regions*</vt:lpstr>
      <vt:lpstr>Direct-to-Employer Strategy: Only Available to Premier Health Systems</vt:lpstr>
      <vt:lpstr>Critical for Success: Strong Brand and Care Quality</vt:lpstr>
      <vt:lpstr>Estimated Financial Returns and Assumptions</vt:lpstr>
      <vt:lpstr>SINGLE YEAR SUMMARY</vt:lpstr>
      <vt:lpstr>PowerPoint Presentation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101</cp:revision>
  <cp:lastPrinted>2023-07-13T10:24:43Z</cp:lastPrinted>
  <dcterms:created xsi:type="dcterms:W3CDTF">2021-01-20T14:12:11Z</dcterms:created>
  <dcterms:modified xsi:type="dcterms:W3CDTF">2024-08-09T20:12:14Z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