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2145726874" r:id="rId12"/>
    <p:sldId id="2145726912" r:id="rId13"/>
    <p:sldId id="2145726869" r:id="rId14"/>
    <p:sldId id="466" r:id="rId15"/>
    <p:sldId id="2145726867" r:id="rId16"/>
    <p:sldId id="559" r:id="rId17"/>
    <p:sldId id="580" r:id="rId18"/>
    <p:sldId id="582" r:id="rId19"/>
    <p:sldId id="558" r:id="rId20"/>
    <p:sldId id="548" r:id="rId21"/>
    <p:sldId id="521" r:id="rId22"/>
    <p:sldId id="564" r:id="rId23"/>
    <p:sldId id="2145726872" r:id="rId24"/>
    <p:sldId id="2145726911" r:id="rId25"/>
    <p:sldId id="499" r:id="rId26"/>
    <p:sldId id="613" r:id="rId27"/>
    <p:sldId id="458" r:id="rId28"/>
    <p:sldId id="2145726859" r:id="rId29"/>
    <p:sldId id="2145726857" r:id="rId30"/>
    <p:sldId id="469" r:id="rId31"/>
    <p:sldId id="2145726856" r:id="rId32"/>
    <p:sldId id="614" r:id="rId33"/>
    <p:sldId id="459" r:id="rId34"/>
    <p:sldId id="2145726870" r:id="rId35"/>
    <p:sldId id="281"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4E0F36-F2DA-447B-B307-2676224F3389}" v="4" dt="2026-01-27T00:01:04.09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1/26/2026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1/26/2026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1/26/2026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1/26/2026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1/26/2026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1/26/2026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1/26/2026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1/26/2026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Inova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8610601" y="348830"/>
            <a:ext cx="2885224" cy="469507"/>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Inova</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65100" y="1405224"/>
            <a:ext cx="11737910" cy="523220"/>
          </a:xfrm>
          <a:prstGeom prst="rect">
            <a:avLst/>
          </a:prstGeom>
          <a:noFill/>
        </p:spPr>
        <p:txBody>
          <a:bodyPr wrap="square">
            <a:spAutoFit/>
          </a:bodyPr>
          <a:lstStyle/>
          <a:p>
            <a:pPr algn="ctr"/>
            <a:r>
              <a:rPr lang="en-US" sz="1400" b="1" spc="200" dirty="0">
                <a:solidFill>
                  <a:schemeClr val="accent2">
                    <a:lumMod val="75000"/>
                  </a:schemeClr>
                </a:solidFill>
                <a:latin typeface="Montserrat" panose="00000500000000000000" pitchFamily="2" charset="0"/>
                <a:cs typeface="+mj-cs"/>
              </a:rPr>
              <a:t>Target Market</a:t>
            </a:r>
            <a:br>
              <a:rPr lang="en-US" sz="1400" spc="200" dirty="0">
                <a:latin typeface="Montserrat" panose="00000500000000000000" pitchFamily="2" charset="0"/>
                <a:cs typeface="+mj-cs"/>
              </a:rPr>
            </a:br>
            <a:r>
              <a:rPr lang="en-US" sz="1400" spc="200" dirty="0">
                <a:latin typeface="Montserrat" panose="00000500000000000000" pitchFamily="2" charset="0"/>
                <a:cs typeface="+mj-cs"/>
              </a:rPr>
              <a:t>12,000+ Employers       2,100,000</a:t>
            </a:r>
            <a:r>
              <a:rPr lang="en-US" sz="1400" spc="200" dirty="0">
                <a:latin typeface="Montserrat" panose="00000500000000000000" pitchFamily="2" charset="0"/>
                <a:cs typeface="+mj-cs"/>
                <a:sym typeface="Wingdings" panose="05000000000000000000" pitchFamily="2" charset="2"/>
              </a:rPr>
              <a:t>+ Employees       3,800,000+ Members</a:t>
            </a:r>
            <a:endParaRPr lang="en-US" sz="14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56177251"/>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6,354</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2,920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1,816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996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365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239</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476,600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438,000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544,800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697,200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730,000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1,434,000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857,900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788,400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980,600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1,255,000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1,314,000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2,581,200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673763" y="1899516"/>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Inova service area in Charles, Frederick, Howard, Montgomery, Prince George's, Washington, Arlington, Clarke, Fairfax, Fauquier, Loudoun, Prince William, Stafford, Alexandria, Falls Church, Manassas, and Jefferson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4,943K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3,004K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2,294K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1,185K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$79.97M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$28.3M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$479.28M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$170.49M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$986.23M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$350.77M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Inova has 24% inpatient market share, and 16% outpatient market compared to hospitals/clinics in the Inova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Inova 44%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30.2%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35.2%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40.2%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8,959.6K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18,073.7K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33,757.5K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54,404.9K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230.4K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8,699.2K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18,034.1K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33,807.9K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54,571.7K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12,358.1K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24,716.2K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46,416.6K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74,736.2K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12,124.1K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24,728.2K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46,553.4K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75,032.6K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5,561.1K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11,276.8K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21,098.5K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33,885.4K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5,274.3K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11,184.4K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21,062.5K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33,921.4K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555318"/>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INOVA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Inova has the strongest brand quality in Charles, Frederick, Howard, Montgomery, Prince George's, Washington, Arlington, Clarke, Fairfax, Fauquier, Loudoun, Prince William, Stafford, Alexandria, Falls Church, Manassas, and Jefferson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664591013"/>
              </p:ext>
            </p:extLst>
          </p:nvPr>
        </p:nvGraphicFramePr>
        <p:xfrm>
          <a:off x="622645" y="1381648"/>
          <a:ext cx="8782612" cy="4790555"/>
        </p:xfrm>
        <a:graphic>
          <a:graphicData uri="http://schemas.openxmlformats.org/drawingml/2006/table">
            <a:tbl>
              <a:tblPr/>
              <a:tblGrid>
                <a:gridCol w="2455859">
                  <a:extLst>
                    <a:ext uri="{9D8B030D-6E8A-4147-A177-3AD203B41FA5}">
                      <a16:colId xmlns:a16="http://schemas.microsoft.com/office/drawing/2014/main" val="20000"/>
                    </a:ext>
                  </a:extLst>
                </a:gridCol>
                <a:gridCol w="1615195">
                  <a:extLst>
                    <a:ext uri="{9D8B030D-6E8A-4147-A177-3AD203B41FA5}">
                      <a16:colId xmlns:a16="http://schemas.microsoft.com/office/drawing/2014/main" val="20001"/>
                    </a:ext>
                  </a:extLst>
                </a:gridCol>
                <a:gridCol w="1081562">
                  <a:extLst>
                    <a:ext uri="{9D8B030D-6E8A-4147-A177-3AD203B41FA5}">
                      <a16:colId xmlns:a16="http://schemas.microsoft.com/office/drawing/2014/main" val="20002"/>
                    </a:ext>
                  </a:extLst>
                </a:gridCol>
                <a:gridCol w="1046731">
                  <a:extLst>
                    <a:ext uri="{9D8B030D-6E8A-4147-A177-3AD203B41FA5}">
                      <a16:colId xmlns:a16="http://schemas.microsoft.com/office/drawing/2014/main" val="20003"/>
                    </a:ext>
                  </a:extLst>
                </a:gridCol>
                <a:gridCol w="1274101">
                  <a:extLst>
                    <a:ext uri="{9D8B030D-6E8A-4147-A177-3AD203B41FA5}">
                      <a16:colId xmlns:a16="http://schemas.microsoft.com/office/drawing/2014/main" val="20004"/>
                    </a:ext>
                  </a:extLst>
                </a:gridCol>
                <a:gridCol w="1309164">
                  <a:extLst>
                    <a:ext uri="{9D8B030D-6E8A-4147-A177-3AD203B41FA5}">
                      <a16:colId xmlns:a16="http://schemas.microsoft.com/office/drawing/2014/main" val="20005"/>
                    </a:ext>
                  </a:extLst>
                </a:gridCol>
              </a:tblGrid>
              <a:tr h="658736">
                <a:tc>
                  <a:txBody>
                    <a:bodyPr/>
                    <a:lstStyle/>
                    <a:p>
                      <a:pPr marL="63500" marR="63500" algn="l">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HCAHPS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Recommendation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CMS Stars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Mortality</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Readmission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KBA Brand</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VHC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1"/>
                  </a:ext>
                </a:extLst>
              </a:tr>
              <a:tr h="305513">
                <a:tc>
                  <a:txBody>
                    <a:bodyPr/>
                    <a:lstStyle/>
                    <a:p>
                      <a:pPr marL="63500" marR="63500" algn="l">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Inova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96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85E9F">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2"/>
                  </a:ext>
                </a:extLst>
              </a:tr>
              <a:tr h="32090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Johns Hopkins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3"/>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86CA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4"/>
                  </a:ext>
                </a:extLst>
              </a:tr>
              <a:tr h="32366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Adventist HealthCare (MD)</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8C6D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5"/>
                  </a:ext>
                </a:extLst>
              </a:tr>
              <a:tr h="32366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UVA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extLst>
                  <a:ext uri="{0D108BD9-81ED-4DB2-BD59-A6C34878D82A}">
                    <a16:rowId xmlns:a16="http://schemas.microsoft.com/office/drawing/2014/main" val="10006"/>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MedStar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BD5E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7"/>
                  </a:ext>
                </a:extLst>
              </a:tr>
              <a:tr h="381815">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8"/>
                  </a:ext>
                </a:extLst>
              </a:tr>
              <a:tr h="32090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Frederick Health Hospital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9"/>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Sentara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5B7D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10"/>
                  </a:ext>
                </a:extLst>
              </a:tr>
              <a:tr h="32225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BE2E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11"/>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Universal Health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EF1F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12"/>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Luminis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Inova’s approved site(s) with network integration, and development of Inova’s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$ 1,157K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442K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$ 2,315K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$ 1,533K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$ 1,215K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$ 5,555K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$ 1,955K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$10,886K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$ 3,832K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$ 3,532K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$22,221K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$ 7,822K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$ 65,765K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$43,544K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$23,149K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$15,328K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$15,118K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$44,442K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$15,644K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$131,531K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$87,089K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$46,299K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$30,655K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$30,565K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Inova’s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Inova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Inova’s managed care with KBA’s programs positions Inova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Inova’s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Inova’s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Inova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Inova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extLst>
              <p:ext uri="{D42A27DB-BD31-4B8C-83A1-F6EECF244321}">
                <p14:modId xmlns:p14="http://schemas.microsoft.com/office/powerpoint/2010/main" val="3679949462"/>
              </p:ext>
            </p:extLst>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89829">
                <a:tc>
                  <a:txBody>
                    <a:bodyPr/>
                    <a:lstStyle/>
                    <a:p>
                      <a:pPr algn="l" fontAlgn="b">
                        <a:buNone/>
                      </a:pPr>
                      <a:r>
                        <a:rPr lang="en-US" sz="1400" b="1" i="0" u="none" strike="noStrike" dirty="0">
                          <a:solidFill>
                            <a:srgbClr val="000000"/>
                          </a:solidFill>
                          <a:effectLst/>
                          <a:latin typeface="Aptos Narrow" panose="020B0004020202020204" pitchFamily="34" charset="0"/>
                        </a:rPr>
                        <a:t>Balance Paid </a:t>
                      </a:r>
                      <a:r>
                        <a:rPr lang="en-US" sz="1400" b="1" i="0" u="none" strike="noStrike">
                          <a:solidFill>
                            <a:srgbClr val="000000"/>
                          </a:solidFill>
                          <a:effectLst/>
                          <a:latin typeface="Aptos Narrow" panose="020B0004020202020204" pitchFamily="34" charset="0"/>
                        </a:rPr>
                        <a:t>to HSA</a:t>
                      </a:r>
                      <a:endParaRPr lang="en-US" sz="1400" b="1" i="0" u="none" strike="noStrike" dirty="0">
                        <a:solidFill>
                          <a:srgbClr val="000000"/>
                        </a:solidFill>
                        <a:effectLst/>
                        <a:latin typeface="Aptos Narrow" panose="020B00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INOVA</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INOVA</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Inova</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468,492</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$5,023,823K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129,219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$669,212K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27%</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51,790</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$636,488K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12%</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26,091</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-$297,370K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261,392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$3,719,662K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56%</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Inova estimates commercial insurance reimbursements at 226%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3,719,662K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226%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2,953,076K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6,672,739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3,715,491</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$2,957,247K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44%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226%</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1,644,645K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1,305,699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2,950,344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3,715,491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-765,147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-26%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24%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16%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69649375"/>
              </p:ext>
            </p:extLst>
          </p:nvPr>
        </p:nvGraphicFramePr>
        <p:xfrm>
          <a:off x="265176" y="914400"/>
          <a:ext cx="9829800" cy="4923845"/>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27217">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449438">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Inova Alexandria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303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615,845.1K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$1,078,337.5K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49438">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Inova Loudoun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189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636,879.8K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$1,040,939.6K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449438">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Inova Fairfax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$3,804,591.4K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$3,736,265.5K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449438">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Inova Fair Oaks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432,141.7K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823,885.3K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449438">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Inova Mount Vernon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332,215.6K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558,225.7K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449438">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Inova Specialty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53,638.2K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B84BFE-A66C-EE28-0B82-3FC2737525CB}"/>
              </a:ext>
            </a:extLst>
          </p:cNvPr>
          <p:cNvSpPr txBox="1"/>
          <p:nvPr/>
        </p:nvSpPr>
        <p:spPr>
          <a:xfrm>
            <a:off x="6989935" y="5967464"/>
            <a:ext cx="5202065" cy="276999"/>
          </a:xfrm>
          <a:prstGeom prst="rect">
            <a:avLst/>
          </a:prstGeom>
          <a:noFill/>
        </p:spPr>
        <p:txBody>
          <a:bodyPr wrap="none" rtlCol="0">
            <a:spAutoFit/>
          </a:bodyPr>
          <a:lstStyle/>
          <a:p>
            <a:r>
              <a:rPr lang="en-US" sz="1200" dirty="0">
                <a:solidFill/>
                <a:latin typeface="Montserrat" panose="00000500000000000000" pitchFamily="2" charset="0"/>
              </a:rPr>
              <a:t>Hospitals droped due to insufficient data:Inova Specialty Hospital</a:t>
            </a:r>
          </a:p>
        </p:txBody>
      </p:sp>
      <p:graphicFrame>
        <p:nvGraphicFramePr>
          <p:cNvPr id="3" name="Table 2"/>
          <p:cNvGraphicFramePr>
            <a:graphicFrameLocks noGrp="1"/>
          </p:cNvGraphicFramePr>
          <p:nvPr>
            <p:extLst>
              <p:ext uri="{D42A27DB-BD31-4B8C-83A1-F6EECF244321}">
                <p14:modId xmlns:p14="http://schemas.microsoft.com/office/powerpoint/2010/main" val="543479032"/>
              </p:ext>
            </p:extLst>
          </p:nvPr>
        </p:nvGraphicFramePr>
        <p:xfrm>
          <a:off x="0" y="0"/>
          <a:ext cx="12192000" cy="6859011"/>
        </p:xfrm>
        <a:graphic>
          <a:graphicData uri="http://schemas.openxmlformats.org/drawingml/2006/table">
            <a:tbl>
              <a:tblPr/>
              <a:tblGrid>
                <a:gridCol w="3081109">
                  <a:extLst>
                    <a:ext uri="{9D8B030D-6E8A-4147-A177-3AD203B41FA5}">
                      <a16:colId xmlns:a16="http://schemas.microsoft.com/office/drawing/2014/main" val="20000"/>
                    </a:ext>
                  </a:extLst>
                </a:gridCol>
                <a:gridCol w="1865512">
                  <a:extLst>
                    <a:ext uri="{9D8B030D-6E8A-4147-A177-3AD203B41FA5}">
                      <a16:colId xmlns:a16="http://schemas.microsoft.com/office/drawing/2014/main" val="20001"/>
                    </a:ext>
                  </a:extLst>
                </a:gridCol>
                <a:gridCol w="1753420">
                  <a:extLst>
                    <a:ext uri="{9D8B030D-6E8A-4147-A177-3AD203B41FA5}">
                      <a16:colId xmlns:a16="http://schemas.microsoft.com/office/drawing/2014/main" val="20002"/>
                    </a:ext>
                  </a:extLst>
                </a:gridCol>
                <a:gridCol w="1620021">
                  <a:extLst>
                    <a:ext uri="{9D8B030D-6E8A-4147-A177-3AD203B41FA5}">
                      <a16:colId xmlns:a16="http://schemas.microsoft.com/office/drawing/2014/main" val="20003"/>
                    </a:ext>
                  </a:extLst>
                </a:gridCol>
                <a:gridCol w="1791198">
                  <a:extLst>
                    <a:ext uri="{9D8B030D-6E8A-4147-A177-3AD203B41FA5}">
                      <a16:colId xmlns:a16="http://schemas.microsoft.com/office/drawing/2014/main" val="20004"/>
                    </a:ext>
                  </a:extLst>
                </a:gridCol>
                <a:gridCol w="2080740">
                  <a:extLst>
                    <a:ext uri="{9D8B030D-6E8A-4147-A177-3AD203B41FA5}">
                      <a16:colId xmlns:a16="http://schemas.microsoft.com/office/drawing/2014/main" val="20005"/>
                    </a:ext>
                  </a:extLst>
                </a:gridCol>
              </a:tblGrid>
              <a:tr h="316152">
                <a:tc gridSpan="6">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89537">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Inova Alexandria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Inova Loudoun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Inova Fairfax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Inova Fair Oaks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Inova Mount Vernon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884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$205,076K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$221,634K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$1,556,078K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$162,053K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$119,598K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9239">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$359,086K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$362,247K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$1,528,133K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$308,957K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$200,961K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884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$73,984K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$71,616K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$421,502K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$57,928K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$44,181K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4134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$70,370K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$49,691K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$439,807K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$44,705K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$31,915K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9884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$419,289K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$461,657K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$2,225,375K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$368,923K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$244,418K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919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$40,598K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$35,892K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$166,956K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$21,718K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$32,206K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9919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$132,761K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$148,418K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$1,221,821K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$102,257K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$89,675K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99239">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$232,463K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$242,580K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$1,199,879K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$194,954K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$150,682K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00416">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$365,225K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$390,998K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$2,421,700K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$297,211K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$240,358K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884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$198,419K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$191,966K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$664,984K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$174,345K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$80,157K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914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33.8%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45.7%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914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30358">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9914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0036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52.5%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64.6%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0036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51.0%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46.9%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42.0%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42.3%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96777">
                <a:tc gridSpan="6">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96777">
                <a:tc gridSpan="6">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96777">
                <a:tc gridSpan="6">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96777">
                <a:tc gridSpan="6">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Inova has 24% inpatient market share, and 16% outpatient market compared to hospitals/clinics in the Inova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Inova.</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214311818"/>
              </p:ext>
            </p:extLst>
          </p:nvPr>
        </p:nvGraphicFramePr>
        <p:xfrm>
          <a:off x="482600" y="805940"/>
          <a:ext cx="7554975" cy="5246119"/>
        </p:xfrm>
        <a:graphic>
          <a:graphicData uri="http://schemas.openxmlformats.org/drawingml/2006/table">
            <a:tbl>
              <a:tblPr/>
              <a:tblGrid>
                <a:gridCol w="1510995">
                  <a:extLst>
                    <a:ext uri="{9D8B030D-6E8A-4147-A177-3AD203B41FA5}">
                      <a16:colId xmlns:a16="http://schemas.microsoft.com/office/drawing/2014/main" val="20000"/>
                    </a:ext>
                  </a:extLst>
                </a:gridCol>
                <a:gridCol w="1510995">
                  <a:extLst>
                    <a:ext uri="{9D8B030D-6E8A-4147-A177-3AD203B41FA5}">
                      <a16:colId xmlns:a16="http://schemas.microsoft.com/office/drawing/2014/main" val="20001"/>
                    </a:ext>
                  </a:extLst>
                </a:gridCol>
                <a:gridCol w="1510995">
                  <a:extLst>
                    <a:ext uri="{9D8B030D-6E8A-4147-A177-3AD203B41FA5}">
                      <a16:colId xmlns:a16="http://schemas.microsoft.com/office/drawing/2014/main" val="20002"/>
                    </a:ext>
                  </a:extLst>
                </a:gridCol>
                <a:gridCol w="1510995">
                  <a:extLst>
                    <a:ext uri="{9D8B030D-6E8A-4147-A177-3AD203B41FA5}">
                      <a16:colId xmlns:a16="http://schemas.microsoft.com/office/drawing/2014/main" val="20003"/>
                    </a:ext>
                  </a:extLst>
                </a:gridCol>
                <a:gridCol w="1510995">
                  <a:extLst>
                    <a:ext uri="{9D8B030D-6E8A-4147-A177-3AD203B41FA5}">
                      <a16:colId xmlns:a16="http://schemas.microsoft.com/office/drawing/2014/main" val="20004"/>
                    </a:ext>
                  </a:extLst>
                </a:gridCol>
              </a:tblGrid>
              <a:tr h="8127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Inova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Inova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1667">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306,000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28,900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$ 23,216,209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$ 27,949,827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$ 13,052,332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$ 64,218,367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$ 8,172,106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$ 9,838,339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$ 4,594,421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$ 22,604,865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$ 54,058,128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$ 346,800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$ 54,404,928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$ 54,224,928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$ 65,987,968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$ 103,480,235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$ 48,324,390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$ 217,792,593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$ 23,227,765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$ 36,425,043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$ 17,010,185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$ 76,662,993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24% (inpatient) and 16%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35.2%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35.2%,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$20,083.2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$1,413.9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$7,069.3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$1,020.4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$10,204.0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$51,020.1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$17,959.1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$618.7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$1,237.5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$6,187.4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$30,936.9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$10,889.8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$483.6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$967.1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$4,835.6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$24,178.1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$8,510.7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$5,441.7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$27,208.3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$1,062.4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$10,623.7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$53,118.3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$3,739.5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$18,697.7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$225.8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$2,258.2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$11,290.9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$794.9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$12,706.1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$992.2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$4,961.2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$24,805.8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$349.3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$1,746.3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$8,731.6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$442.4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$1,214.8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$7,393.8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$38,289.1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727453094"/>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$1,111.0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$11,110.4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$55,552.2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$19,554.4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$6,576.5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$32,882.6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$164,413.2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$21,772.2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$108,861.0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$2,314.9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$11,574.7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$57,873.5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$766.4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$1,532.8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$7,663.8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$38,319.1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$1,214.8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$7,393.8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$38,289.1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4292621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$1,111.0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$11,110.4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$55,552.2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$19,554.4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$195,595.2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$2,800.9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$28,008.6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$140,043.0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$1,572.6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$3,145.2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$15,725.9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$78,629.3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$11,815.0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$59,074.9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$857.5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$2,045.0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$11,545.0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$59,044.9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21466702"/>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$1,111.0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$11,110.4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$55,552.2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$19,554.4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$26,646.2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$133,231.2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$1,553.6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$3,107.2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$15,535.8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$77,679.0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$8,047.2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$40,235.8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$4,136.3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$20,681.5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$89.6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$509.3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$3,866.3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$20,651.5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6066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Inova’s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Inova</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Inova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Inova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Inova</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Inova’s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46172</TotalTime>
  <Words>5256</Words>
  <Application>Microsoft Office PowerPoint</Application>
  <PresentationFormat>Widescreen</PresentationFormat>
  <Paragraphs>1393</Paragraphs>
  <Slides>44</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44</vt:i4>
      </vt:variant>
    </vt:vector>
  </HeadingPairs>
  <TitlesOfParts>
    <vt:vector size="58"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INOVA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INOVA’S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2026-01-27T00:07:13Z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