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24"/>
  </p:notesMasterIdLst>
  <p:sldIdLst>
    <p:sldId id="588" r:id="rId8"/>
    <p:sldId id="454" r:id="rId9"/>
    <p:sldId id="2145726874" r:id="rId10"/>
    <p:sldId id="2145726912" r:id="rId11"/>
    <p:sldId id="2145726869" r:id="rId12"/>
    <p:sldId id="559" r:id="rId13"/>
    <p:sldId id="580" r:id="rId14"/>
    <p:sldId id="582" r:id="rId15"/>
    <p:sldId id="548" r:id="rId16"/>
    <p:sldId id="521" r:id="rId17"/>
    <p:sldId id="564" r:id="rId18"/>
    <p:sldId id="459" r:id="rId19"/>
    <p:sldId id="2145726870" r:id="rId20"/>
    <p:sldId id="585" r:id="rId21"/>
    <p:sldId id="536" r:id="rId22"/>
    <p:sldId id="472" r:id="rId23"/>
  </p:sldIdLst>
  <p:sldSz cx="12192000" cy="6858000"/>
  <p:notesSz cx="7315200" cy="9601200"/>
  <p:custDataLst>
    <p:tags r:id="rId2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p:scale>
          <a:sx n="75" d="100"/>
          <a:sy n="75" d="100"/>
        </p:scale>
        <p:origin x="1710" y="57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1/26/2026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8</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12</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13</a:t>
            </a:fld>
            <a:endParaRPr lang="en-US" altLang="en-US">
              <a:solidFill>
                <a:srgbClr val="000000"/>
              </a:solidFill>
              <a:latin typeface="Montserrat" panose="00000500000000000000" pitchFamily="2"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1/26/2026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1/26/2026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1/26/2026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1/26/2026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1/26/2026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1/26/2026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1/26/2026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1/26/2026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1/26/2026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1/26/2026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1/26/2026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1/26/2026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1/26/2026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1/26/2026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1/26/2026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1/26/2026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1/26/2026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3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7.svg"/><Relationship Id="rId11" Type="http://schemas.openxmlformats.org/officeDocument/2006/relationships/image" Target="../media/image10.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Inova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3">
            <a:extLst>
              <a:ext uri="{FF2B5EF4-FFF2-40B4-BE49-F238E27FC236}">
                <a16:creationId xmlns:a16="http://schemas.microsoft.com/office/drawing/2014/main" id="{E9585457-04EC-9F2F-1461-7D06991F1111}"/>
              </a:ext>
            </a:extLst>
          </p:cNvPr>
          <p:cNvPicPr>
            <a:picLocks noChangeAspect="1"/>
          </p:cNvPicPr>
          <p:nvPr/>
        </p:nvPicPr>
        <p:blipFill>
          <a:blip r:embed="rId2"/>
          <a:stretch>
            <a:fillRect/>
          </a:stretch>
        </p:blipFill>
        <p:spPr>
          <a:xfrm>
            <a:off x="121226" y="691197"/>
            <a:ext cx="8657166" cy="5455920"/>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396923" y="3710892"/>
            <a:ext cx="2304822"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Bentonville, AR</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39551" y="460543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Fort Myers, FL</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Cincinnati, OH</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3058516"/>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Louisville, KY</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p:txBody>
      </p:sp>
    </p:spTree>
    <p:extLst>
      <p:ext uri="{BB962C8B-B14F-4D97-AF65-F5344CB8AC3E}">
        <p14:creationId xmlns:p14="http://schemas.microsoft.com/office/powerpoint/2010/main" val="358070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8610601" y="348830"/>
            <a:ext cx="2885224" cy="469507"/>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65100" y="1405224"/>
            <a:ext cx="11737910" cy="523220"/>
          </a:xfrm>
          <a:prstGeom prst="rect">
            <a:avLst/>
          </a:prstGeom>
          <a:noFill/>
        </p:spPr>
        <p:txBody>
          <a:bodyPr wrap="square">
            <a:spAutoFit/>
          </a:bodyPr>
          <a:lstStyle/>
          <a:p>
            <a:pPr algn="ctr"/>
            <a:r>
              <a:rPr lang="en-US" sz="1400" b="1" spc="200" dirty="0">
                <a:solidFill>
                  <a:schemeClr val="accent2">
                    <a:lumMod val="75000"/>
                  </a:schemeClr>
                </a:solidFill>
                <a:latin typeface="Montserrat" panose="00000500000000000000" pitchFamily="2" charset="0"/>
                <a:cs typeface="+mj-cs"/>
              </a:rPr>
              <a:t>Target Market</a:t>
            </a:r>
            <a:br>
              <a:rPr lang="en-US" sz="1400" spc="200" dirty="0">
                <a:latin typeface="Montserrat" panose="00000500000000000000" pitchFamily="2" charset="0"/>
                <a:cs typeface="+mj-cs"/>
              </a:rPr>
            </a:br>
            <a:r>
              <a:rPr lang="en-US" sz="1400" spc="200" dirty="0">
                <a:latin typeface="Montserrat" panose="00000500000000000000" pitchFamily="2" charset="0"/>
                <a:cs typeface="+mj-cs"/>
              </a:rPr>
              <a:t>12,000+ Employers       2,100,000</a:t>
            </a:r>
            <a:r>
              <a:rPr lang="en-US" sz="1400" spc="200" dirty="0">
                <a:latin typeface="Montserrat" panose="00000500000000000000" pitchFamily="2" charset="0"/>
                <a:cs typeface="+mj-cs"/>
                <a:sym typeface="Wingdings" panose="05000000000000000000" pitchFamily="2" charset="2"/>
              </a:rPr>
              <a:t>+ Employees       3,800,000+ Members</a:t>
            </a:r>
            <a:endParaRPr lang="en-US" sz="14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56177251"/>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6,354</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2,920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1,816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996</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365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239</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476,600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438,000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544,800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697,200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730,000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1,434,000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857,900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788,400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980,600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1,255,000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1,314,000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2,581,200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clrChange>
              <a:clrFrom>
                <a:srgbClr val="FFFFFF"/>
              </a:clrFrom>
              <a:clrTo>
                <a:srgbClr val="FFFFFF">
                  <a:alpha val="0"/>
                </a:srgbClr>
              </a:clrTo>
            </a:clrChange>
          </a:blip>
          <a:stretch>
            <a:fillRect/>
          </a:stretch>
        </p:blipFill>
        <p:spPr>
          <a:xfrm>
            <a:off x="-673763" y="1899516"/>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Inova service area in Charles, Frederick, Howard, Montgomery, Prince George's, Washington, Arlington, Clarke, Fairfax, Fauquier, Loudoun, Prince William, Stafford, Alexandria, Falls Church, Manassas, and Jefferson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4,943K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3,004K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2,294K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1,185K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$79.97M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$28.3M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$479.28M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$170.49M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$986.23M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$350.77M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28,900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8,959.6K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18,073.7K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33,757.5K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54,404.9K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230.4K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346.8K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8,699.2K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18,034.1K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33,807.9K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54,571.7K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16,000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26,400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39,700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12,358.1K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24,716.2K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46,416.6K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74,736.2K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192.0K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316.8K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476.4K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12,124.1K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24,728.2K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46,553.4K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75,032.6K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5,561.1K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11,276.8K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21,098.5K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33,885.4K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216.0K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5,274.3K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11,184.4K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21,062.5K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33,921.4K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555318"/>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INOVA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Inova has the strongest brand quality in Charles, Frederick, Howard, Montgomery, Prince George's, Washington, Arlington, Clarke, Fairfax, Fauquier, Loudoun, Prince William, Stafford, Alexandria, Falls Church, Manassas, and Jefferson Counties.</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2664591013"/>
              </p:ext>
            </p:extLst>
          </p:nvPr>
        </p:nvGraphicFramePr>
        <p:xfrm>
          <a:off x="622645" y="1381648"/>
          <a:ext cx="8782612" cy="4790555"/>
        </p:xfrm>
        <a:graphic>
          <a:graphicData uri="http://schemas.openxmlformats.org/drawingml/2006/table">
            <a:tbl>
              <a:tblPr/>
              <a:tblGrid>
                <a:gridCol w="2455859">
                  <a:extLst>
                    <a:ext uri="{9D8B030D-6E8A-4147-A177-3AD203B41FA5}">
                      <a16:colId xmlns:a16="http://schemas.microsoft.com/office/drawing/2014/main" val="20000"/>
                    </a:ext>
                  </a:extLst>
                </a:gridCol>
                <a:gridCol w="1615195">
                  <a:extLst>
                    <a:ext uri="{9D8B030D-6E8A-4147-A177-3AD203B41FA5}">
                      <a16:colId xmlns:a16="http://schemas.microsoft.com/office/drawing/2014/main" val="20001"/>
                    </a:ext>
                  </a:extLst>
                </a:gridCol>
                <a:gridCol w="1081562">
                  <a:extLst>
                    <a:ext uri="{9D8B030D-6E8A-4147-A177-3AD203B41FA5}">
                      <a16:colId xmlns:a16="http://schemas.microsoft.com/office/drawing/2014/main" val="20002"/>
                    </a:ext>
                  </a:extLst>
                </a:gridCol>
                <a:gridCol w="1046731">
                  <a:extLst>
                    <a:ext uri="{9D8B030D-6E8A-4147-A177-3AD203B41FA5}">
                      <a16:colId xmlns:a16="http://schemas.microsoft.com/office/drawing/2014/main" val="20003"/>
                    </a:ext>
                  </a:extLst>
                </a:gridCol>
                <a:gridCol w="1274101">
                  <a:extLst>
                    <a:ext uri="{9D8B030D-6E8A-4147-A177-3AD203B41FA5}">
                      <a16:colId xmlns:a16="http://schemas.microsoft.com/office/drawing/2014/main" val="20004"/>
                    </a:ext>
                  </a:extLst>
                </a:gridCol>
                <a:gridCol w="1309164">
                  <a:extLst>
                    <a:ext uri="{9D8B030D-6E8A-4147-A177-3AD203B41FA5}">
                      <a16:colId xmlns:a16="http://schemas.microsoft.com/office/drawing/2014/main" val="20005"/>
                    </a:ext>
                  </a:extLst>
                </a:gridCol>
              </a:tblGrid>
              <a:tr h="658736">
                <a:tc>
                  <a:txBody>
                    <a:bodyPr/>
                    <a:lstStyle/>
                    <a:p>
                      <a:pPr marL="63500" marR="63500" algn="l">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HCAHPS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Recommendation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CMS Stars</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Mortality</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Readmission</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KBA Brand</a:t>
                      </a:r>
                      <a:br>
                        <a:rPr sz="1100" b="1" i="0" u="none" strike="noStrike" cap="none">
                          <a:solidFill>
                            <a:srgbClr val="000000">
                              <a:alpha val="100000"/>
                            </a:srgbClr>
                          </a:solidFill>
                          <a:latin typeface="Montserrat"/>
                          <a:cs typeface="Arial"/>
                          <a:sym typeface="Arial"/>
                        </a:rPr>
                      </a:br>
                      <a:r>
                        <a:rPr sz="1100" b="1" i="0" u="none" strike="noStrik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VHC Health</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76</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180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C88B8">
                        <a:alpha val="100000"/>
                      </a:srgbClr>
                    </a:solidFill>
                  </a:tcPr>
                </a:tc>
                <a:extLst>
                  <a:ext uri="{0D108BD9-81ED-4DB2-BD59-A6C34878D82A}">
                    <a16:rowId xmlns:a16="http://schemas.microsoft.com/office/drawing/2014/main" val="10001"/>
                  </a:ext>
                </a:extLst>
              </a:tr>
              <a:tr h="305513">
                <a:tc>
                  <a:txBody>
                    <a:bodyPr/>
                    <a:lstStyle/>
                    <a:p>
                      <a:pPr marL="63500" marR="63500" algn="l">
                        <a:lnSpc>
                          <a:spcPct val="100000"/>
                        </a:lnSpc>
                        <a:spcBef>
                          <a:spcPts val="500"/>
                        </a:spcBef>
                        <a:spcAft>
                          <a:spcPts val="500"/>
                        </a:spcAft>
                        <a:buNone/>
                      </a:pPr>
                      <a:r>
                        <a:rPr sz="1100" b="1" i="0" u="none" strike="noStrike" cap="none" dirty="0">
                          <a:solidFill>
                            <a:srgbClr val="000000">
                              <a:alpha val="100000"/>
                            </a:srgbClr>
                          </a:solidFill>
                          <a:latin typeface="Montserrat"/>
                          <a:cs typeface="Arial"/>
                          <a:sym typeface="Arial"/>
                        </a:rPr>
                        <a:t>Inova</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96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385E9F">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71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C88B8">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1" i="0" u="none" strike="noStrike" cap="none" dirty="0">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extLst>
                  <a:ext uri="{0D108BD9-81ED-4DB2-BD59-A6C34878D82A}">
                    <a16:rowId xmlns:a16="http://schemas.microsoft.com/office/drawing/2014/main" val="10002"/>
                  </a:ext>
                </a:extLst>
              </a:tr>
              <a:tr h="32090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Johns Hopkins Medicine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28DBB">
                        <a:alpha val="100000"/>
                      </a:srgbClr>
                    </a:solidFill>
                  </a:tcPr>
                </a:tc>
                <a:extLst>
                  <a:ext uri="{0D108BD9-81ED-4DB2-BD59-A6C34878D82A}">
                    <a16:rowId xmlns:a16="http://schemas.microsoft.com/office/drawing/2014/main" val="10003"/>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FB2D1">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88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86CA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4"/>
                  </a:ext>
                </a:extLst>
              </a:tr>
              <a:tr h="32366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Adventist HealthCare (MD)</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8C6D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5"/>
                  </a:ext>
                </a:extLst>
              </a:tr>
              <a:tr h="32366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UVA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2C1D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90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468A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06"/>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MedStar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BD5E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7"/>
                  </a:ext>
                </a:extLst>
              </a:tr>
              <a:tr h="381815">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Department of Veterans Affairs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24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DD6E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5F7EB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extLst>
                  <a:ext uri="{0D108BD9-81ED-4DB2-BD59-A6C34878D82A}">
                    <a16:rowId xmlns:a16="http://schemas.microsoft.com/office/drawing/2014/main" val="10008"/>
                  </a:ext>
                </a:extLst>
              </a:tr>
              <a:tr h="320908">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Frederick Health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583B4">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09"/>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Sentara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9E0ED">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5B7D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5A9CB">
                        <a:alpha val="100000"/>
                      </a:srgbClr>
                    </a:solidFill>
                  </a:tcPr>
                </a:tc>
                <a:extLst>
                  <a:ext uri="{0D108BD9-81ED-4DB2-BD59-A6C34878D82A}">
                    <a16:rowId xmlns:a16="http://schemas.microsoft.com/office/drawing/2014/main" val="10010"/>
                  </a:ext>
                </a:extLst>
              </a:tr>
              <a:tr h="322259">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Trinity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BE2EE">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1A6CA">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50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7ABCD">
                        <a:alpha val="100000"/>
                      </a:srgbClr>
                    </a:solidFill>
                  </a:tcPr>
                </a:tc>
                <a:extLst>
                  <a:ext uri="{0D108BD9-81ED-4DB2-BD59-A6C34878D82A}">
                    <a16:rowId xmlns:a16="http://schemas.microsoft.com/office/drawing/2014/main" val="10011"/>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Universal Health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DDE4EF">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EF1F7">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49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9ADCE">
                        <a:alpha val="100000"/>
                      </a:srgbClr>
                    </a:solidFill>
                  </a:tcPr>
                </a:tc>
                <a:extLst>
                  <a:ext uri="{0D108BD9-81ED-4DB2-BD59-A6C34878D82A}">
                    <a16:rowId xmlns:a16="http://schemas.microsoft.com/office/drawing/2014/main" val="10012"/>
                  </a:ext>
                </a:extLst>
              </a:tr>
              <a:tr h="305513">
                <a:tc>
                  <a:txBody>
                    <a:bodyPr/>
                    <a:lstStyle/>
                    <a:p>
                      <a:pPr marL="63500" marR="63500" algn="l">
                        <a:lnSpc>
                          <a:spcPct val="100000"/>
                        </a:lnSpc>
                        <a:spcBef>
                          <a:spcPts val="500"/>
                        </a:spcBef>
                        <a:spcAft>
                          <a:spcPts val="500"/>
                        </a:spcAft>
                        <a:buNone/>
                      </a:pPr>
                      <a:r>
                        <a:rPr sz="1100" b="0" i="0" u="none" strike="noStrike" cap="none">
                          <a:solidFill>
                            <a:srgbClr val="000000">
                              <a:alpha val="100000"/>
                            </a:srgbClr>
                          </a:solidFill>
                          <a:latin typeface="Montserrat"/>
                          <a:cs typeface="Arial"/>
                          <a:sym typeface="Arial"/>
                        </a:rPr>
                        <a:t>Luminis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strike="noStrik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strike="noStrike" cap="none" dirty="0">
                          <a:solidFill>
                            <a:srgbClr val="30589B">
                              <a:alpha val="100000"/>
                            </a:srgbClr>
                          </a:solidFill>
                          <a:latin typeface="Montserrat"/>
                          <a:cs typeface="Arial"/>
                          <a:sym typeface="Arial"/>
                        </a:rPr>
                        <a:t>48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9BAECF">
                        <a:alpha val="10000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12</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Healthcare </a:t>
                      </a:r>
                      <a:r>
                        <a:rPr lang="en-US" sz="1100" b="0" i="1" u="none" strike="noStrike" dirty="0" err="1">
                          <a:solidFill>
                            <a:srgbClr val="000000"/>
                          </a:solidFill>
                          <a:effectLst/>
                          <a:latin typeface="Arial" panose="020B0604020202020204" pitchFamily="34" charset="0"/>
                        </a:rPr>
                        <a:t>Convience</a:t>
                      </a:r>
                      <a:r>
                        <a:rPr lang="en-US" sz="1100" b="0" i="1" u="none" strike="noStrike" dirty="0">
                          <a:solidFill>
                            <a:srgbClr val="000000"/>
                          </a:solidFill>
                          <a:effectLst/>
                          <a:latin typeface="Arial" panose="020B0604020202020204" pitchFamily="34" charset="0"/>
                        </a:rPr>
                        <a:t> 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13</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Inova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extLst>
              <p:ext uri="{D42A27DB-BD31-4B8C-83A1-F6EECF244321}">
                <p14:modId xmlns:p14="http://schemas.microsoft.com/office/powerpoint/2010/main" val="3770134656"/>
              </p:ext>
            </p:extLst>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to HSA</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INOVA</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Inova has 24% inpatient market share, and 16% outpatient market compared to hospitals/clinics in the Inova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Inova.</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214311818"/>
              </p:ext>
            </p:extLst>
          </p:nvPr>
        </p:nvGraphicFramePr>
        <p:xfrm>
          <a:off x="482600" y="805940"/>
          <a:ext cx="7554975" cy="5246119"/>
        </p:xfrm>
        <a:graphic>
          <a:graphicData uri="http://schemas.openxmlformats.org/drawingml/2006/table">
            <a:tbl>
              <a:tblPr/>
              <a:tblGrid>
                <a:gridCol w="1510995">
                  <a:extLst>
                    <a:ext uri="{9D8B030D-6E8A-4147-A177-3AD203B41FA5}">
                      <a16:colId xmlns:a16="http://schemas.microsoft.com/office/drawing/2014/main" val="20000"/>
                    </a:ext>
                  </a:extLst>
                </a:gridCol>
                <a:gridCol w="1510995">
                  <a:extLst>
                    <a:ext uri="{9D8B030D-6E8A-4147-A177-3AD203B41FA5}">
                      <a16:colId xmlns:a16="http://schemas.microsoft.com/office/drawing/2014/main" val="20001"/>
                    </a:ext>
                  </a:extLst>
                </a:gridCol>
                <a:gridCol w="1510995">
                  <a:extLst>
                    <a:ext uri="{9D8B030D-6E8A-4147-A177-3AD203B41FA5}">
                      <a16:colId xmlns:a16="http://schemas.microsoft.com/office/drawing/2014/main" val="20002"/>
                    </a:ext>
                  </a:extLst>
                </a:gridCol>
                <a:gridCol w="1510995">
                  <a:extLst>
                    <a:ext uri="{9D8B030D-6E8A-4147-A177-3AD203B41FA5}">
                      <a16:colId xmlns:a16="http://schemas.microsoft.com/office/drawing/2014/main" val="20003"/>
                    </a:ext>
                  </a:extLst>
                </a:gridCol>
                <a:gridCol w="1510995">
                  <a:extLst>
                    <a:ext uri="{9D8B030D-6E8A-4147-A177-3AD203B41FA5}">
                      <a16:colId xmlns:a16="http://schemas.microsoft.com/office/drawing/2014/main" val="20004"/>
                    </a:ext>
                  </a:extLst>
                </a:gridCol>
              </a:tblGrid>
              <a:tr h="812779">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Inova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Inova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1667">
                <a:tc>
                  <a:txBody>
                    <a:bodyPr/>
                    <a:lstStyle/>
                    <a:p>
                      <a:pPr marL="0" marR="0" algn="ctr">
                        <a:lnSpc>
                          <a:spcPct val="100000"/>
                        </a:lnSpc>
                        <a:spcBef>
                          <a:spcPts val="0"/>
                        </a:spcBef>
                        <a:spcAft>
                          <a:spcPts val="0"/>
                        </a:spcAft>
                        <a:buNone/>
                      </a:pPr>
                      <a:r>
                        <a:rPr sz="1100" b="1" i="0" u="none" strike="noStrike" cap="none" dirty="0">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198,400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222,700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135,800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244,400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146,000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262,800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154,400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277,900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289,800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306,000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21667">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172,900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311,200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28,900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$ 23,216,209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$ 27,949,827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$ 13,052,332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$ 64,218,367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$ 8,172,106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$ 9,838,339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$ 4,594,421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$ 22,604,865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$ 54,058,128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$ 346,800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$ 54,404,928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$ 54,224,928</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$ 65,987,968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$ 103,480,235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$ 48,324,390</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$ 217,792,593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$ 23,227,765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$ 36,425,043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$ 17,010,185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$ 76,662,993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24% (inpatient) and 16%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35.2%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35.2%,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16</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56F5604B-F201-4300-A086-2482203EA6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46174</TotalTime>
  <Words>1687</Words>
  <Application>Microsoft Office PowerPoint</Application>
  <PresentationFormat>Widescreen</PresentationFormat>
  <Paragraphs>570</Paragraphs>
  <Slides>16</Slides>
  <Notes>4</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16</vt:i4>
      </vt:variant>
    </vt:vector>
  </HeadingPairs>
  <TitlesOfParts>
    <vt:vector size="25" baseType="lpstr">
      <vt:lpstr>Aptos</vt:lpstr>
      <vt:lpstr>Aptos Narrow</vt:lpstr>
      <vt:lpstr>Arial</vt:lpstr>
      <vt:lpstr>Book Antiqua</vt:lpstr>
      <vt:lpstr>Montserrat</vt:lpstr>
      <vt:lpstr>Office Theme</vt:lpstr>
      <vt:lpstr>1_Office Theme</vt:lpstr>
      <vt:lpstr>2_Office Theme</vt:lpstr>
      <vt:lpstr>3_Office Theme</vt:lpstr>
      <vt:lpstr>PowerPoint Presentation</vt:lpstr>
      <vt:lpstr>PowerPoint Presentation</vt:lpstr>
      <vt:lpstr>Our Founding and Heritage: 46 Years of Striving for Honesty in Healthcare</vt:lpstr>
      <vt:lpstr>PowerPoint Presentation</vt:lpstr>
      <vt:lpstr>DIRECT-TO-EMPLOYER (DTE)  </vt:lpstr>
      <vt:lpstr>SIGNIFICANT OPPORTUNITY FOR PLAN GROWTH Researched for the below highlighted service area</vt:lpstr>
      <vt:lpstr>PLAN POTENTIAL GROWTH PATHS</vt:lpstr>
      <vt:lpstr>GROWING POWERFUL, LASTING PROFITABILITY</vt:lpstr>
      <vt:lpstr>FOUR-YEAR PROJECTIONS</vt:lpstr>
      <vt:lpstr>DIRECT-TO-EMPLOYER STRATEGY: ONLY AVAILABLE TO PREMIER HEALTH SYSTEMS</vt:lpstr>
      <vt:lpstr>INOVA IS PATIENT RECOMMENDED</vt:lpstr>
      <vt:lpstr>PowerPoint Presentation</vt:lpstr>
      <vt:lpstr>PowerPoint Presentation</vt:lpstr>
      <vt:lpstr>PROJECTED PLAN GROWTH</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2026-01-27T00:05:54Z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