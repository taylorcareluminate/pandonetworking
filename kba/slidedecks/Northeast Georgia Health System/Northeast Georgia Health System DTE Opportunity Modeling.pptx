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comments/modernComment_7FE53189_F808901F.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Lst>
  <p:notesMasterIdLst>
    <p:notesMasterId r:id="rId51"/>
  </p:notesMasterIdLst>
  <p:sldIdLst>
    <p:sldId id="588" r:id="rId9"/>
    <p:sldId id="454" r:id="rId10"/>
    <p:sldId id="2145726874" r:id="rId11"/>
    <p:sldId id="2145726912" r:id="rId12"/>
    <p:sldId id="2145726869" r:id="rId13"/>
    <p:sldId id="466" r:id="rId14"/>
    <p:sldId id="2145726867" r:id="rId15"/>
    <p:sldId id="559" r:id="rId16"/>
    <p:sldId id="580" r:id="rId17"/>
    <p:sldId id="582" r:id="rId18"/>
    <p:sldId id="558" r:id="rId19"/>
    <p:sldId id="548" r:id="rId20"/>
    <p:sldId id="469" r:id="rId21"/>
    <p:sldId id="2145726856" r:id="rId22"/>
    <p:sldId id="614" r:id="rId23"/>
    <p:sldId id="2145726872" r:id="rId24"/>
    <p:sldId id="2145726911" r:id="rId25"/>
    <p:sldId id="499" r:id="rId26"/>
    <p:sldId id="613" r:id="rId27"/>
    <p:sldId id="458" r:id="rId28"/>
    <p:sldId id="2145726859" r:id="rId29"/>
    <p:sldId id="2145726857" r:id="rId30"/>
    <p:sldId id="459" r:id="rId31"/>
    <p:sldId id="2145726870" r:id="rId32"/>
    <p:sldId id="281" r:id="rId33"/>
    <p:sldId id="2145726866" r:id="rId34"/>
    <p:sldId id="583" r:id="rId35"/>
    <p:sldId id="525" r:id="rId36"/>
    <p:sldId id="2145726868" r:id="rId37"/>
    <p:sldId id="571" r:id="rId38"/>
    <p:sldId id="2145726864" r:id="rId39"/>
    <p:sldId id="585" r:id="rId40"/>
    <p:sldId id="536" r:id="rId41"/>
    <p:sldId id="256" r:id="rId42"/>
    <p:sldId id="574" r:id="rId43"/>
    <p:sldId id="572" r:id="rId44"/>
    <p:sldId id="575" r:id="rId45"/>
    <p:sldId id="498" r:id="rId46"/>
    <p:sldId id="325"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4BB582-7427-4DF9-878B-EB01B1980362}" v="5" dt="2026-02-11T05:13:08.93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88609" autoAdjust="0"/>
  </p:normalViewPr>
  <p:slideViewPr>
    <p:cSldViewPr snapToGrid="0">
      <p:cViewPr>
        <p:scale>
          <a:sx n="66" d="100"/>
          <a:sy n="66" d="100"/>
        </p:scale>
        <p:origin x="840"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microsoft.com/office/2018/10/relationships/authors" Target="author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2/10/2026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19999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16</a:t>
            </a:fld>
            <a:endParaRPr lang="en-US" altLang="en-US">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23</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24</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2/10/2026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2/10/2026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2/10/2026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2/10/2026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2/10/2026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715217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2/10/2026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ags" Target="../tags/tag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3.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ags" Target="../tags/tag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5.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2/10/2026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5"/>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 id="2147483813" r:id="rId13"/>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16.xml"/><Relationship Id="rId1" Type="http://schemas.openxmlformats.org/officeDocument/2006/relationships/tags" Target="../tags/tag5.xml"/><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2.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NGHS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5970658" y="265298"/>
            <a:ext cx="5978769"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Northeast Georgia Health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79229800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939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258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136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27</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70,400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95,200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162,000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126,700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139,300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171,400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205,200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291,600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290793" y="2140949"/>
            <a:ext cx="5591997" cy="4478471"/>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Northeast Georgia Health System service area in Banks, Barrow, Cherokee, Clarke, Dawson, Forsyth, Franklin, Fulton, Gwinnett, Habersham, Hall, Jackson, Lumpkin, Oconee, Rabun, Stephens, Union, Walton, and White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1,363K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819K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583K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331K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$9.53M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$3.35M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$57.23M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$21.16M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$117.89M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$43.73M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Northeast Georgia Health System has 30% inpatient market share, and 14% outpatient market compared to hospitals/clinics in the Northeast Georgia Health System service area (see slide 8). The DTE tiered structure will create immediate steerage, with additional steerage over time from patient bonus benefits and the patient convenience card (see slide 32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NGHS 46%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31.8%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36.8%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41.8%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2,195.4K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4,230.1K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6,724.1K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2,034.6K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4,082.5K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6,592.1K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1,649.4K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3,293.2K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6,266.9K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10,254.3K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3,142.0K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6,134.9K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10,147.5K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2,036.7K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927.3K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1,872.3K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3,206.1K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13</a:t>
            </a:fld>
            <a:endParaRPr lang="en-US" dirty="0"/>
          </a:p>
        </p:txBody>
      </p:sp>
    </p:spTree>
    <p:extLst>
      <p:ext uri="{BB962C8B-B14F-4D97-AF65-F5344CB8AC3E}">
        <p14:creationId xmlns:p14="http://schemas.microsoft.com/office/powerpoint/2010/main" val="3413502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50905968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342680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16</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26.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NGHS’s approved site(s) with network integration, and development of NGHS’s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357K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$ 3,702K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$ 1,044K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$ 5,053K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$ 14,309K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$ 9,256K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$ 3,106K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$37,024K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$21,063K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$13,625K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$13,415K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$40,423K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$14,876K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$114,471K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$74,048K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$42,125K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$27,250K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$27,160K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NGHS’s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NGHS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NGHS’s managed care with KBA’s programs positions NGHS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NGHS’s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NGHS’s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NGHS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23</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24</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NGHS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NGHS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NGHS</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NGHS</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233,361</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$1,975,718K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65,026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$266,875K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28%</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15,735</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$168,322K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12,645</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-$112,893K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139,955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$1,538,848K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60%</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NGHS estimates commercial insurance reimbursements at 398%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1,538,848K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398%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1,733,462K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3,272,310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1,775,636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$1,496,673K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398%</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386,338K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435,197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821,535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1,775,636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-954,101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-116%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30%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14%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nvGraphicFramePr>
        <p:xfrm>
          <a:off x="265176" y="914400"/>
          <a:ext cx="9829800" cy="54762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Northeast Georgia Medical Center Gainesville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$4,202,584.6K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$3,863,085.6K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Northeast Georgia Medical Center Habersham</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81,162.8K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290,043.5K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Northeast Georgia Medical Center Barrow</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63,754.5K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278,371.4K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Northeast Georgia Medical Center Lumpkin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34,698.7K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152,061.1K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Northside Hospital Forsyth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$1,640,435.1K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$2,305,237.5K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St Marys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475,486.5K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555,204.0K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Stephens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96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21,440.4K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111,715.5K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Piedmont Walton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261,516.1K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512,877.3K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Piedmont Athens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$1,814,880.4K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$1,987,912.1K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Northside Hospital Gwinnett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$2,693,793.0K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$2,722,110.7K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Piedmont Eastside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$1,001,489.2K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882,716.0K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Wellstar North Fulton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$1,109,568.4K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766,154.9K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Emory Johns Creek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499,013.4K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502,348.4K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Northside Hospital Duluth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94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457,770.6K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797,208.9K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Landmark Hospital of Athens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51,779.1K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Encompass Health Rehabilitation Hospital of Cumming</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46,649.9K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SummitRidge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80,740.0K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3,751.8K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32603846"/>
              </p:ext>
            </p:extLst>
          </p:nvPr>
        </p:nvGraphicFramePr>
        <p:xfrm>
          <a:off x="0" y="0"/>
          <a:ext cx="12192001" cy="7183120"/>
        </p:xfrm>
        <a:graphic>
          <a:graphicData uri="http://schemas.openxmlformats.org/drawingml/2006/table">
            <a:tbl>
              <a:tblPr/>
              <a:tblGrid>
                <a:gridCol w="2466610">
                  <a:extLst>
                    <a:ext uri="{9D8B030D-6E8A-4147-A177-3AD203B41FA5}">
                      <a16:colId xmlns:a16="http://schemas.microsoft.com/office/drawing/2014/main" val="20000"/>
                    </a:ext>
                  </a:extLst>
                </a:gridCol>
                <a:gridCol w="2505923">
                  <a:extLst>
                    <a:ext uri="{9D8B030D-6E8A-4147-A177-3AD203B41FA5}">
                      <a16:colId xmlns:a16="http://schemas.microsoft.com/office/drawing/2014/main" val="20001"/>
                    </a:ext>
                  </a:extLst>
                </a:gridCol>
                <a:gridCol w="2523713">
                  <a:extLst>
                    <a:ext uri="{9D8B030D-6E8A-4147-A177-3AD203B41FA5}">
                      <a16:colId xmlns:a16="http://schemas.microsoft.com/office/drawing/2014/main" val="20002"/>
                    </a:ext>
                  </a:extLst>
                </a:gridCol>
                <a:gridCol w="2309236">
                  <a:extLst>
                    <a:ext uri="{9D8B030D-6E8A-4147-A177-3AD203B41FA5}">
                      <a16:colId xmlns:a16="http://schemas.microsoft.com/office/drawing/2014/main" val="20003"/>
                    </a:ext>
                  </a:extLst>
                </a:gridCol>
                <a:gridCol w="2386519">
                  <a:extLst>
                    <a:ext uri="{9D8B030D-6E8A-4147-A177-3AD203B41FA5}">
                      <a16:colId xmlns:a16="http://schemas.microsoft.com/office/drawing/2014/main" val="20004"/>
                    </a:ext>
                  </a:extLst>
                </a:gridCol>
              </a:tblGrid>
              <a:tr h="180142">
                <a:tc gridSpan="5">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86456">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Northeast Georgia Medical Center Gainesville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Northeast Georgia Medical Center Habersham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Northeast Georgia Medical Center Barrow</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Northeast Georgia Medical Center Lumpkin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$941,379K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$15,015K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$11,667K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$7,009K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$865,331K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$53,658K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$50,942K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$30,716K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$249,528K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$147,089K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$9,399K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$7,082K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$1,408,640K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$52,587K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$48,718K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$28,903K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$97,112K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$5,715K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$846,103K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$14,268K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$9,988K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$777,752K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$50,989K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$43,609K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$26,811K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$1,623,855K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$65,257K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$53,596K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$32,929K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$181,403K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$8,982K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26.7%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162423">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 9.8%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58.2%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55.8%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51018">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45.7%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43.7%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0">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0">
                <a:tc gridSpan="5">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Northeast Georgia Health System has 30% inpatient market share, and 14% outpatient market compared to hospitals/clinics in the Northeast Georgia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Northeast Georgia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758110014"/>
              </p:ext>
            </p:extLst>
          </p:nvPr>
        </p:nvGraphicFramePr>
        <p:xfrm>
          <a:off x="713232" y="813816"/>
          <a:ext cx="7324345" cy="5181603"/>
        </p:xfrm>
        <a:graphic>
          <a:graphicData uri="http://schemas.openxmlformats.org/drawingml/2006/table">
            <a:tbl>
              <a:tblPr/>
              <a:tblGrid>
                <a:gridCol w="1464869">
                  <a:extLst>
                    <a:ext uri="{9D8B030D-6E8A-4147-A177-3AD203B41FA5}">
                      <a16:colId xmlns:a16="http://schemas.microsoft.com/office/drawing/2014/main" val="20000"/>
                    </a:ext>
                  </a:extLst>
                </a:gridCol>
                <a:gridCol w="1464869">
                  <a:extLst>
                    <a:ext uri="{9D8B030D-6E8A-4147-A177-3AD203B41FA5}">
                      <a16:colId xmlns:a16="http://schemas.microsoft.com/office/drawing/2014/main" val="20001"/>
                    </a:ext>
                  </a:extLst>
                </a:gridCol>
                <a:gridCol w="1464869">
                  <a:extLst>
                    <a:ext uri="{9D8B030D-6E8A-4147-A177-3AD203B41FA5}">
                      <a16:colId xmlns:a16="http://schemas.microsoft.com/office/drawing/2014/main" val="20002"/>
                    </a:ext>
                  </a:extLst>
                </a:gridCol>
                <a:gridCol w="1464869">
                  <a:extLst>
                    <a:ext uri="{9D8B030D-6E8A-4147-A177-3AD203B41FA5}">
                      <a16:colId xmlns:a16="http://schemas.microsoft.com/office/drawing/2014/main" val="20003"/>
                    </a:ext>
                  </a:extLst>
                </a:gridCol>
                <a:gridCol w="1464869">
                  <a:extLst>
                    <a:ext uri="{9D8B030D-6E8A-4147-A177-3AD203B41FA5}">
                      <a16:colId xmlns:a16="http://schemas.microsoft.com/office/drawing/2014/main" val="20004"/>
                    </a:ext>
                  </a:extLst>
                </a:gridCol>
              </a:tblGrid>
              <a:tr h="802783">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NGHS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NGHS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8941">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$ 3,568,238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$ 3,078,663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$ 1,437,709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$ 8,084,610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$ 1,313,112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$ 1,132,948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$ 529,077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$ 2,975,137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$ 6,676,136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$ 6,724,136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$ 6,544,136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$ 7,947,474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$ 12,460,065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$ 5,818,745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$ 26,226,284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$ 2,924,670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$ 4,585,304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$ 2,141,298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$ 9,651,272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30% (inpatient) and 14%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36.8%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36.8%,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80468607"/>
              </p:ext>
            </p:extLst>
          </p:nvPr>
        </p:nvGraphicFramePr>
        <p:xfrm>
          <a:off x="0" y="0"/>
          <a:ext cx="12198096" cy="6531392"/>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68149">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41334">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88542">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$4,460.3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$22,301.5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$8,206.9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$8,887.3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$44,436.6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$16,352.7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$22,135.1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$8,145.7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$3,848.3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$19,241.6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$7,080.9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$67,247.8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$24,747.2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$960.1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$9,601.2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$48,006.2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$706.7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$3,533.3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$17,666.3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$359.4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$1,797.1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$8,985.7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$3,306.7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88542">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$11,556.7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$22,418.5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754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$8,250.0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88542">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$357.2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$1,044.5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$6,542.4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$34,032.0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66562181"/>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$2,021.2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$50,528.8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$143,088.6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$3,702.4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$92,559.8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$10,531.3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$52,656.6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$1,362.5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$6,812.4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$34,062.0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$1,044.5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$6,542.4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$34,032.0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37371185"/>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$2,021.2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$50,528.8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$170,269.7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$23,948.2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$119,740.9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$2,846.9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$14,234.5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$71,172.7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$52,578.1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$727.6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$1,785.1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$10,245.6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$52,548.1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3587804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$2,021.2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$50,528.8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$115,998.5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$13,093.9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$65,469.7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$36,887.5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$18,292.9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$413.7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$3,388.6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$18,262.9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38</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7840" y="26270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NGHS’s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Northeast Georgia Health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Northeast Georgia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NGHS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NGHS</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NGHS’s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46197</TotalTime>
  <Words>5196</Words>
  <Application>Microsoft Office PowerPoint</Application>
  <PresentationFormat>Widescreen</PresentationFormat>
  <Paragraphs>1350</Paragraphs>
  <Slides>42</Slides>
  <Notes>11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42</vt:i4>
      </vt:variant>
    </vt:vector>
  </HeadingPairs>
  <TitlesOfParts>
    <vt:vector size="55"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DTE  PROGRAM MARKETING  &amp; SALES</vt:lpstr>
      <vt:lpstr>COMMUNITY BASED SALES STRATEGY</vt:lpstr>
      <vt:lpstr>Complete Marketing System</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PowerPoint Presentation</vt:lpstr>
      <vt:lpstr>PowerPoint Presentation</vt:lpstr>
      <vt:lpstr>PowerPoint Presentation</vt:lpstr>
      <vt:lpstr>PowerPoint Presentation</vt:lpstr>
      <vt:lpstr>ESTIMATION OF NGHS’S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2026-02-11T05:26:06Z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