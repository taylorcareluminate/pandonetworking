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9"/>
  </p:notesMasterIdLst>
  <p:sldIdLst>
    <p:sldId id="588" r:id="rId8"/>
    <p:sldId id="454" r:id="rId9"/>
    <p:sldId id="2145726874" r:id="rId10"/>
    <p:sldId id="2145726912" r:id="rId11"/>
    <p:sldId id="559" r:id="rId12"/>
    <p:sldId id="580" r:id="rId13"/>
    <p:sldId id="582" r:id="rId14"/>
    <p:sldId id="548" r:id="rId15"/>
    <p:sldId id="614" r:id="rId16"/>
    <p:sldId id="585" r:id="rId17"/>
    <p:sldId id="472" r:id="rId18"/>
  </p:sldIdLst>
  <p:sldSz cx="12192000" cy="6858000"/>
  <p:notesSz cx="7315200" cy="96012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88609" autoAdjust="0"/>
  </p:normalViewPr>
  <p:slideViewPr>
    <p:cSldViewPr snapToGrid="0">
      <p:cViewPr>
        <p:scale>
          <a:sx n="66" d="100"/>
          <a:sy n="66" d="100"/>
        </p:scale>
        <p:origin x="840"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2/10/2026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2/10/2026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2/10/2026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2/10/2026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2/10/2026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2/10/2026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2/10/2026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2/10/2026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2/10/2026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2/10/2026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2/10/2026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2/10/2026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2/10/2026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2/10/2026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2/10/2026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2/10/2026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2/10/2026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2/10/2026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2/10/2026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10.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NGHS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79229800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939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258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136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27</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70,400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95,200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162,000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126,700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139,300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171,400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205,200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291,600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290793" y="2140949"/>
            <a:ext cx="5591997" cy="4478471"/>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Northeast Georgia Health System service area in Banks, Barrow, Cherokee, Clarke, Dawson, Forsyth, Franklin, Fulton, Gwinnett, Habersham, Hall, Jackson, Lumpkin, Oconee, Rabun, Stephens, Union, Walton, and White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1,363K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819K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583K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331K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$9.53M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$3.35M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$57.23M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$21.16M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$117.89M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$43.73M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2,195.4K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4,230.1K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6,724.1K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2,034.6K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4,082.5K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6,592.1K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1,649.4K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3,293.2K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6,266.9K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10,254.3K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3,142.0K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6,134.9K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10,147.5K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2,036.7K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927.3K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1,872.3K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3,206.1K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3426803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Northeast Georgia Health System has 30% inpatient market share, and 14% outpatient market compared to hospitals/clinics in the Northeast Georgia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Northeast Georgia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758110014"/>
              </p:ext>
            </p:extLst>
          </p:nvPr>
        </p:nvGraphicFramePr>
        <p:xfrm>
          <a:off x="713232" y="813816"/>
          <a:ext cx="7324345" cy="5181603"/>
        </p:xfrm>
        <a:graphic>
          <a:graphicData uri="http://schemas.openxmlformats.org/drawingml/2006/table">
            <a:tbl>
              <a:tblPr/>
              <a:tblGrid>
                <a:gridCol w="1464869">
                  <a:extLst>
                    <a:ext uri="{9D8B030D-6E8A-4147-A177-3AD203B41FA5}">
                      <a16:colId xmlns:a16="http://schemas.microsoft.com/office/drawing/2014/main" val="20000"/>
                    </a:ext>
                  </a:extLst>
                </a:gridCol>
                <a:gridCol w="1464869">
                  <a:extLst>
                    <a:ext uri="{9D8B030D-6E8A-4147-A177-3AD203B41FA5}">
                      <a16:colId xmlns:a16="http://schemas.microsoft.com/office/drawing/2014/main" val="20001"/>
                    </a:ext>
                  </a:extLst>
                </a:gridCol>
                <a:gridCol w="1464869">
                  <a:extLst>
                    <a:ext uri="{9D8B030D-6E8A-4147-A177-3AD203B41FA5}">
                      <a16:colId xmlns:a16="http://schemas.microsoft.com/office/drawing/2014/main" val="20002"/>
                    </a:ext>
                  </a:extLst>
                </a:gridCol>
                <a:gridCol w="1464869">
                  <a:extLst>
                    <a:ext uri="{9D8B030D-6E8A-4147-A177-3AD203B41FA5}">
                      <a16:colId xmlns:a16="http://schemas.microsoft.com/office/drawing/2014/main" val="20003"/>
                    </a:ext>
                  </a:extLst>
                </a:gridCol>
                <a:gridCol w="1464869">
                  <a:extLst>
                    <a:ext uri="{9D8B030D-6E8A-4147-A177-3AD203B41FA5}">
                      <a16:colId xmlns:a16="http://schemas.microsoft.com/office/drawing/2014/main" val="20004"/>
                    </a:ext>
                  </a:extLst>
                </a:gridCol>
              </a:tblGrid>
              <a:tr h="802783">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NGHS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NGHS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8941">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8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46198</TotalTime>
  <Words>863</Words>
  <Application>Microsoft Office PowerPoint</Application>
  <PresentationFormat>Widescreen</PresentationFormat>
  <Paragraphs>345</Paragraphs>
  <Slides>11</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11</vt:i4>
      </vt:variant>
    </vt:vector>
  </HeadingPairs>
  <TitlesOfParts>
    <vt:vector size="18"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Our Founding and Heritage: 46 Years of Striving for Honesty in Healthcare</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Complete Marketing System</vt:lpstr>
      <vt:lpstr>PROJECTED PLAN GROWTH</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2026-02-11T05:27:11Z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