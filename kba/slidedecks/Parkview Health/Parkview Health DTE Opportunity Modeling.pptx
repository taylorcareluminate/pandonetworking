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1"/>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7B23A2-8E78-4223-8F91-E84BC2222577}" v="8" dt="2025-06-28T15:26:03.88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8/10/relationships/authors" Target="author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6/27/2025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6/27/2025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6/27/2025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6/27/2025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6/27/2025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6/27/2025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6/27/2025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6/27/2025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6/27/2025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6/27/2025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6/27/2025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6/27/2025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6/27/2025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6/27/2025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6/27/2025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6/27/2025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6/27/2025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6/27/2025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8.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jpeg"/><Relationship Id="rId1" Type="http://schemas.openxmlformats.org/officeDocument/2006/relationships/slideLayout" Target="../slideLayouts/slideLayout6.xml"/><Relationship Id="rId6" Type="http://schemas.openxmlformats.org/officeDocument/2006/relationships/image" Target="../media/image73.svg"/><Relationship Id="rId11" Type="http://schemas.openxmlformats.org/officeDocument/2006/relationships/image" Target="../media/image10.pn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Parkview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513877" y="429717"/>
            <a:ext cx="2936647"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PARKVIEW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Parkview Health is the quality and access leader in this service area (see slide 8). Parkview Health has a very strong quality brand, but market size will limit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Parkview 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Parkview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603096385"/>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517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218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131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82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11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38,800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32,700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39,300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66,000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69,800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58,900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103,300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118,800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7522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Parkview Health service area in Adams, Allen, DeKalb, Elkhart, Grant, Huntington, Kosciusko, LaGrange, Miami, Noble, Steuben, Wabash, Wells, Whitley, St. Joseph, Defiance, Paulding, Van Wert, and Williams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878K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499K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349K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230K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$14.21M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$2.37M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$84.75M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$15.12M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$173.93M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$31.17M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Parkview Health has 9% inpatient market share, and 18% outpatient market compared to hospitals/clinics in the Parkview Health service area (see slide 8). The DTE tiered structure will create immediate steerage, with additional steerage over time from patient bonus benefits and the patient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Parkview Health 22%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12.6%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17.6%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22.6%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1,658.9K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4,860.6K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1,506.5K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2,877.5K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4,747.8K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2,235.9K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4,153.2K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6,683.3K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2,093.1K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4,034.4K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6,595.7K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1,873.0K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3,037.8K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846.5K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2,899.8K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83494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PARKVIEW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ontserrat" panose="00000500000000000000" pitchFamily="2" charset="0"/>
              </a:rPr>
              <a:t>Based on quality measures and HCAHPS feedback, KBA estimates that Parkview Health has the strongest brand quality in Adams, Allen, DeKalb, Elkhart, Grant, Huntington, Kosciusko, LaGrange, Miami, Noble, Steuben, Wabash, Wells, Whitley, St. Joseph, Defiance, Paulding, Van Wert, and Williams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427311756"/>
              </p:ext>
            </p:extLst>
          </p:nvPr>
        </p:nvGraphicFramePr>
        <p:xfrm>
          <a:off x="356227" y="2330041"/>
          <a:ext cx="8486216" cy="2465695"/>
        </p:xfrm>
        <a:graphic>
          <a:graphicData uri="http://schemas.openxmlformats.org/drawingml/2006/table">
            <a:tbl>
              <a:tblPr/>
              <a:tblGrid>
                <a:gridCol w="2372979">
                  <a:extLst>
                    <a:ext uri="{9D8B030D-6E8A-4147-A177-3AD203B41FA5}">
                      <a16:colId xmlns:a16="http://schemas.microsoft.com/office/drawing/2014/main" val="20000"/>
                    </a:ext>
                  </a:extLst>
                </a:gridCol>
                <a:gridCol w="1560685">
                  <a:extLst>
                    <a:ext uri="{9D8B030D-6E8A-4147-A177-3AD203B41FA5}">
                      <a16:colId xmlns:a16="http://schemas.microsoft.com/office/drawing/2014/main" val="20001"/>
                    </a:ext>
                  </a:extLst>
                </a:gridCol>
                <a:gridCol w="1045062">
                  <a:extLst>
                    <a:ext uri="{9D8B030D-6E8A-4147-A177-3AD203B41FA5}">
                      <a16:colId xmlns:a16="http://schemas.microsoft.com/office/drawing/2014/main" val="20002"/>
                    </a:ext>
                  </a:extLst>
                </a:gridCol>
                <a:gridCol w="1011406">
                  <a:extLst>
                    <a:ext uri="{9D8B030D-6E8A-4147-A177-3AD203B41FA5}">
                      <a16:colId xmlns:a16="http://schemas.microsoft.com/office/drawing/2014/main" val="20003"/>
                    </a:ext>
                  </a:extLst>
                </a:gridCol>
                <a:gridCol w="1231102">
                  <a:extLst>
                    <a:ext uri="{9D8B030D-6E8A-4147-A177-3AD203B41FA5}">
                      <a16:colId xmlns:a16="http://schemas.microsoft.com/office/drawing/2014/main" val="20004"/>
                    </a:ext>
                  </a:extLst>
                </a:gridCol>
                <a:gridCol w="1264982">
                  <a:extLst>
                    <a:ext uri="{9D8B030D-6E8A-4147-A177-3AD203B41FA5}">
                      <a16:colId xmlns:a16="http://schemas.microsoft.com/office/drawing/2014/main" val="20005"/>
                    </a:ext>
                  </a:extLst>
                </a:gridCol>
              </a:tblGrid>
              <a:tr h="976108">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442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Parkview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1"/>
                  </a:ext>
                </a:extLst>
              </a:tr>
              <a:tr h="47960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Community Health Systems</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35</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6C4DC">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3"/>
                  </a:ext>
                </a:extLst>
              </a:tr>
              <a:tr h="56576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Parkview Health’s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Parkview Health’s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Parkview Health</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275895"/>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Parkview Health’s approved site(s) with network integration, and development of Parkview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$ 4,231K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$ 14,305K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$ 1,473K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$16,922K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$2,978K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$40,298K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$ 7,092K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$ 6,882K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$33,845K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$5,957K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$114,441K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$80,596K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$20,142K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$14,095K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Parkview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Parkview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Parkview Health’s managed care with KBA’s programs positions Parkview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Parkview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Parkview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Parkview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PARKVIEW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Parkview Health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PARKVIEW HEALTH’S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Parkview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221,931</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$2,180,053K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46,628</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$212,587K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8,574</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$64,569K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7,639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-$90,242K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159,090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$1,902,893K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Parkview Health estimates commercial insurance reimbursements at 283%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1,902,893K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283%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784,518K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2,687,411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2,105,501</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$581,910K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283%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672,257K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277,156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949,413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2,105,501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-1,156,088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-122%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18%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623837883"/>
              </p:ext>
            </p:extLst>
          </p:nvPr>
        </p:nvGraphicFramePr>
        <p:xfrm>
          <a:off x="265176" y="914400"/>
          <a:ext cx="9829800" cy="4908442"/>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611107">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DeKalb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48,554.6K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250,907.6K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Huntington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54,835.1K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228,787.4K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Whitley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54,078.4K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320,151.0K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Noble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51,033.3K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212,981.8K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Ortho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96,594.4K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578,101.6K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Wabash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22,446.4K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217,018.0K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23318">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Parkview LaGrange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21,944.2K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  129,773.3K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23318">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Marion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106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103,867.0K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456,530.7K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Lutheran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783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$2,186,930.6K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$1,380,841.0K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Fort Wayne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23318">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Lutheran Downtown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87,489.2K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235,627.3K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Marion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75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Bluffton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47,146.3K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177,933.6K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Lutheran Kosciusko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72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241,503.5K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637,312.3K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Dupont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340,992.9K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694,436.8K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The Orthopedic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323,862.7K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776,762.0K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Cameron Memorial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28,805.2K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  214,887.2K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Dukes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58,372.6K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126,619.4K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Adams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21,001.3K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138,623.4K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Select Medical Rehabilitation Hospital at Lutheran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36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69,204.9K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1,416.3K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Bowen Inpatient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8,936.1K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142,621.2K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Radiant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7,655.6K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4,232.3K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Northeastern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5,319.4K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13,376.9K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Maple Heights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120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18,657.5K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Sturgis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4,196.3K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35,815.5K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Paulding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3,822.5K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50,216.5K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123318">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Community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3,376.6K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700" b="0" i="0" u="none" cap="none">
                          <a:solidFill>
                            <a:srgbClr val="000000">
                              <a:alpha val="100000"/>
                            </a:srgbClr>
                          </a:solidFill>
                          <a:latin typeface="Montserrat"/>
                          <a:cs typeface="Arial"/>
                          <a:sym typeface="Arial"/>
                        </a:rPr>
                        <a:t>$   44,207.3K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7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197474749"/>
              </p:ext>
            </p:extLst>
          </p:nvPr>
        </p:nvGraphicFramePr>
        <p:xfrm>
          <a:off x="0" y="0"/>
          <a:ext cx="12192000" cy="7045960"/>
        </p:xfrm>
        <a:graphic>
          <a:graphicData uri="http://schemas.openxmlformats.org/drawingml/2006/table">
            <a:tbl>
              <a:tblPr/>
              <a:tblGrid>
                <a:gridCol w="1988540">
                  <a:extLst>
                    <a:ext uri="{9D8B030D-6E8A-4147-A177-3AD203B41FA5}">
                      <a16:colId xmlns:a16="http://schemas.microsoft.com/office/drawing/2014/main" val="20000"/>
                    </a:ext>
                  </a:extLst>
                </a:gridCol>
                <a:gridCol w="1549768">
                  <a:extLst>
                    <a:ext uri="{9D8B030D-6E8A-4147-A177-3AD203B41FA5}">
                      <a16:colId xmlns:a16="http://schemas.microsoft.com/office/drawing/2014/main" val="20001"/>
                    </a:ext>
                  </a:extLst>
                </a:gridCol>
                <a:gridCol w="1208889">
                  <a:extLst>
                    <a:ext uri="{9D8B030D-6E8A-4147-A177-3AD203B41FA5}">
                      <a16:colId xmlns:a16="http://schemas.microsoft.com/office/drawing/2014/main" val="20002"/>
                    </a:ext>
                  </a:extLst>
                </a:gridCol>
                <a:gridCol w="1371799">
                  <a:extLst>
                    <a:ext uri="{9D8B030D-6E8A-4147-A177-3AD203B41FA5}">
                      <a16:colId xmlns:a16="http://schemas.microsoft.com/office/drawing/2014/main" val="20003"/>
                    </a:ext>
                  </a:extLst>
                </a:gridCol>
                <a:gridCol w="1218422">
                  <a:extLst>
                    <a:ext uri="{9D8B030D-6E8A-4147-A177-3AD203B41FA5}">
                      <a16:colId xmlns:a16="http://schemas.microsoft.com/office/drawing/2014/main" val="20004"/>
                    </a:ext>
                  </a:extLst>
                </a:gridCol>
                <a:gridCol w="1151226">
                  <a:extLst>
                    <a:ext uri="{9D8B030D-6E8A-4147-A177-3AD203B41FA5}">
                      <a16:colId xmlns:a16="http://schemas.microsoft.com/office/drawing/2014/main" val="20005"/>
                    </a:ext>
                  </a:extLst>
                </a:gridCol>
                <a:gridCol w="1146374">
                  <a:extLst>
                    <a:ext uri="{9D8B030D-6E8A-4147-A177-3AD203B41FA5}">
                      <a16:colId xmlns:a16="http://schemas.microsoft.com/office/drawing/2014/main" val="20006"/>
                    </a:ext>
                  </a:extLst>
                </a:gridCol>
                <a:gridCol w="1242467">
                  <a:extLst>
                    <a:ext uri="{9D8B030D-6E8A-4147-A177-3AD203B41FA5}">
                      <a16:colId xmlns:a16="http://schemas.microsoft.com/office/drawing/2014/main" val="20007"/>
                    </a:ext>
                  </a:extLst>
                </a:gridCol>
                <a:gridCol w="1314515">
                  <a:extLst>
                    <a:ext uri="{9D8B030D-6E8A-4147-A177-3AD203B41FA5}">
                      <a16:colId xmlns:a16="http://schemas.microsoft.com/office/drawing/2014/main" val="20008"/>
                    </a:ext>
                  </a:extLst>
                </a:gridCol>
              </a:tblGrid>
              <a:tr h="232707">
                <a:tc gridSpan="9">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92186">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DeKalb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Huntington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Whitley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Noble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Ortho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Wabash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Parkview LaGrange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5532">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$710,128K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$11,653K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$14,805K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$14,655K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$14,238K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$27,240K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$6,352K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$6,035K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$846,645K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$60,218K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$61,773K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$86,761K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$59,422K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$163,025K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$61,416K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$35,688K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05532">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$163,053K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$6,701K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$7,787K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$7,881K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$15,139K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$49,217K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$3,012K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05532">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$1,344,503K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$62,759K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$66,825K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$91,046K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$62,765K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$173,687K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$62,900K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$38,408K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05769">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$43,109K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$6,577K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$10,601K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$6,896K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$3,350K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$8,297K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$5,380K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05769">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$720,443K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$11,461K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$13,665K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$13,434K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$13,073K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$17,033K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$6,105K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$5,793K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05803">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$858,944K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$57,015K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$79,531K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$54,558K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$101,941K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$59,023K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$34,259K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06612">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$1,579,388K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$70,684K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$70,680K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$92,965K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$67,631K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$118,975K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$65,128K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$40,052K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05532">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$-22,615K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$8,490K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$71,166K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$1,615K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0573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72.5%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64.4%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83.2%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60.0%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59.2%</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09851">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18.8%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22.9%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46.0%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80420">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80420">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80420">
                <a:tc gridSpan="9">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80420">
                <a:tc gridSpan="9">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Parkview Health has 9% inpatient market share, and 18% outpatient market compared to hospitals/clinics in the Parkview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Parkview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823041608"/>
              </p:ext>
            </p:extLst>
          </p:nvPr>
        </p:nvGraphicFramePr>
        <p:xfrm>
          <a:off x="666750" y="1330964"/>
          <a:ext cx="7370825" cy="4832101"/>
        </p:xfrm>
        <a:graphic>
          <a:graphicData uri="http://schemas.openxmlformats.org/drawingml/2006/table">
            <a:tbl>
              <a:tblPr/>
              <a:tblGrid>
                <a:gridCol w="1474165">
                  <a:extLst>
                    <a:ext uri="{9D8B030D-6E8A-4147-A177-3AD203B41FA5}">
                      <a16:colId xmlns:a16="http://schemas.microsoft.com/office/drawing/2014/main" val="20000"/>
                    </a:ext>
                  </a:extLst>
                </a:gridCol>
                <a:gridCol w="1474165">
                  <a:extLst>
                    <a:ext uri="{9D8B030D-6E8A-4147-A177-3AD203B41FA5}">
                      <a16:colId xmlns:a16="http://schemas.microsoft.com/office/drawing/2014/main" val="20001"/>
                    </a:ext>
                  </a:extLst>
                </a:gridCol>
                <a:gridCol w="1474165">
                  <a:extLst>
                    <a:ext uri="{9D8B030D-6E8A-4147-A177-3AD203B41FA5}">
                      <a16:colId xmlns:a16="http://schemas.microsoft.com/office/drawing/2014/main" val="20002"/>
                    </a:ext>
                  </a:extLst>
                </a:gridCol>
                <a:gridCol w="1474165">
                  <a:extLst>
                    <a:ext uri="{9D8B030D-6E8A-4147-A177-3AD203B41FA5}">
                      <a16:colId xmlns:a16="http://schemas.microsoft.com/office/drawing/2014/main" val="20003"/>
                    </a:ext>
                  </a:extLst>
                </a:gridCol>
                <a:gridCol w="1474165">
                  <a:extLst>
                    <a:ext uri="{9D8B030D-6E8A-4147-A177-3AD203B41FA5}">
                      <a16:colId xmlns:a16="http://schemas.microsoft.com/office/drawing/2014/main" val="20004"/>
                    </a:ext>
                  </a:extLst>
                </a:gridCol>
              </a:tblGrid>
              <a:tr h="87136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Parkview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Parkview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5,600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$ 1,480,953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$ 5,450,325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$ 2,545,256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$ 9,476,534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$ 260,647.7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$ 959,257.3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$ 447,965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$ 1,667,870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$ 4,793,356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$ 67,200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$ 4,798,156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$ 4,680,556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$ 11,122,054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$ 17,443,495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$ 8,145,964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$ 36,711,513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$ 1,957,482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$ 3,070,055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$ 1,433,690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$ 6,461,226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9% (inpatient) and 18%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17.6%,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$8,879.8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$44,399.2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$7,814.3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$37,787.9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$1,330.1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$6,650.7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$4,866.4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$24,331.8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$4,282.4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$67,247.8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$42,916.0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$11,362.7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$20,041.4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$30.6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$391.2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$3,276.2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$17,701.2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6817869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$1,692.2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$42,306.0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$28,610.3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$143,051.3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$2,014.9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$4,029.8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$20,149.1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$100,745.3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$25,177.0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$3,546.2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$17,731.2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$391.2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$3,276.2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$17,701.2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3052481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$1,692.2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$42,306.0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$6,814.6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$170,364.8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$128,058.8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$38,502.4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$6,211.3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$31,056.6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$297.1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$924.3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$5,941.3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$31,026.6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3890842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$1,692.2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$42,306.0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$1,489.2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$7,445.8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$1,470.1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$14,701.0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$14,592.2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$-181.1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$1,159.3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$7,116.3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Parkview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Parkview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47098</TotalTime>
  <Words>4983</Words>
  <Application>Microsoft Office PowerPoint</Application>
  <PresentationFormat>Widescreen</PresentationFormat>
  <Paragraphs>1425</Paragraphs>
  <Slides>41</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41</vt:i4>
      </vt:variant>
    </vt:vector>
  </HeadingPairs>
  <TitlesOfParts>
    <vt:vector size="51"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PARKVIEW HEALTH</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PARKVIEW HEALTH IS PATIENT RECOMMENDED</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PARKVIEW HEALTH’S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2025-06-28T15:28:34Z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