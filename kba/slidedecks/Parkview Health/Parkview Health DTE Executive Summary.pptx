
<file path=[Content_Types].xml><?xml version="1.0" encoding="utf-8"?>
<Types xmlns="http://schemas.openxmlformats.org/package/2006/content-types">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56" r:id="rId5"/>
    <p:sldMasterId id="2147483758" r:id="rId6"/>
    <p:sldMasterId id="2147483773" r:id="rId7"/>
  </p:sldMasterIdLst>
  <p:notesMasterIdLst>
    <p:notesMasterId r:id="rId19"/>
  </p:notesMasterIdLst>
  <p:sldIdLst>
    <p:sldId id="588" r:id="rId8"/>
    <p:sldId id="454" r:id="rId9"/>
    <p:sldId id="549" r:id="rId10"/>
    <p:sldId id="2145726869" r:id="rId11"/>
    <p:sldId id="559" r:id="rId12"/>
    <p:sldId id="580" r:id="rId13"/>
    <p:sldId id="582" r:id="rId14"/>
    <p:sldId id="548" r:id="rId15"/>
    <p:sldId id="585" r:id="rId16"/>
    <p:sldId id="536" r:id="rId17"/>
    <p:sldId id="472" r:id="rId18"/>
  </p:sldIdLst>
  <p:sldSz cx="12192000" cy="6858000"/>
  <p:notesSz cx="7315200" cy="9601200"/>
  <p:custDataLst>
    <p:tags r:id="rId20"/>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 id="{6244F3C6-ED6E-17B5-41BE-FE4DD862B991}" name="Taylor Davis" initials="TD" userId="S::taylordavis@careluminate.com::5c9e72a0-c39f-4aa1-9d7d-64125e78cbe6" providerId="AD"/>
  <p188:author id="{66F9D3D0-34A3-8F09-07C8-70124CEFC9C1}" name="Guest User" initials="GU" userId="S::urn:spo:anon#24b610c975cf575f85befe109f115faf394b3198ecce54128fd3ac5d0276f2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9F"/>
    <a:srgbClr val="244F9A"/>
    <a:srgbClr val="30589B"/>
    <a:srgbClr val="2F5597"/>
    <a:srgbClr val="6087CE"/>
    <a:srgbClr val="4468A5"/>
    <a:srgbClr val="F2F2F2"/>
    <a:srgbClr val="C55A11"/>
    <a:srgbClr val="F424AA"/>
    <a:srgbClr val="E234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14" autoAdjust="0"/>
    <p:restoredTop sz="88609" autoAdjust="0"/>
  </p:normalViewPr>
  <p:slideViewPr>
    <p:cSldViewPr snapToGrid="0">
      <p:cViewPr varScale="1">
        <p:scale>
          <a:sx n="98" d="100"/>
          <a:sy n="98" d="100"/>
        </p:scale>
        <p:origin x="828" y="84"/>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viewProps" Target="viewProps.xml"/><Relationship Id="rId10" Type="http://schemas.openxmlformats.org/officeDocument/2006/relationships/slide" Target="slides/slide3.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presProps" Target="presProps.xml"/><Relationship Id="rId2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E3843F5A-4706-4064-B8D6-84935850803A}"/>
    <pc:docChg chg="delSld delMainMaster">
      <pc:chgData name="Taylor Davis" userId="5c9e72a0-c39f-4aa1-9d7d-64125e78cbe6" providerId="ADAL" clId="{E3843F5A-4706-4064-B8D6-84935850803A}" dt="2025-06-28T15:29:34.462" v="3" actId="47"/>
      <pc:docMkLst>
        <pc:docMk/>
      </pc:docMkLst>
      <pc:sldChg chg="del">
        <pc:chgData name="Taylor Davis" userId="5c9e72a0-c39f-4aa1-9d7d-64125e78cbe6" providerId="ADAL" clId="{E3843F5A-4706-4064-B8D6-84935850803A}" dt="2025-06-28T15:29:34.462" v="3" actId="47"/>
        <pc:sldMkLst>
          <pc:docMk/>
          <pc:sldMk cId="0" sldId="256"/>
        </pc:sldMkLst>
      </pc:sldChg>
      <pc:sldChg chg="del">
        <pc:chgData name="Taylor Davis" userId="5c9e72a0-c39f-4aa1-9d7d-64125e78cbe6" providerId="ADAL" clId="{E3843F5A-4706-4064-B8D6-84935850803A}" dt="2025-06-28T15:29:30.942" v="2" actId="47"/>
        <pc:sldMkLst>
          <pc:docMk/>
          <pc:sldMk cId="3543401867" sldId="281"/>
        </pc:sldMkLst>
      </pc:sldChg>
      <pc:sldChg chg="del">
        <pc:chgData name="Taylor Davis" userId="5c9e72a0-c39f-4aa1-9d7d-64125e78cbe6" providerId="ADAL" clId="{E3843F5A-4706-4064-B8D6-84935850803A}" dt="2025-06-28T15:29:30.942" v="2" actId="47"/>
        <pc:sldMkLst>
          <pc:docMk/>
          <pc:sldMk cId="2605732402" sldId="283"/>
        </pc:sldMkLst>
      </pc:sldChg>
      <pc:sldChg chg="del">
        <pc:chgData name="Taylor Davis" userId="5c9e72a0-c39f-4aa1-9d7d-64125e78cbe6" providerId="ADAL" clId="{E3843F5A-4706-4064-B8D6-84935850803A}" dt="2025-06-28T15:29:30.942" v="2" actId="47"/>
        <pc:sldMkLst>
          <pc:docMk/>
          <pc:sldMk cId="514031403" sldId="285"/>
        </pc:sldMkLst>
      </pc:sldChg>
      <pc:sldChg chg="del">
        <pc:chgData name="Taylor Davis" userId="5c9e72a0-c39f-4aa1-9d7d-64125e78cbe6" providerId="ADAL" clId="{E3843F5A-4706-4064-B8D6-84935850803A}" dt="2025-06-28T15:29:34.462" v="3" actId="47"/>
        <pc:sldMkLst>
          <pc:docMk/>
          <pc:sldMk cId="225422285" sldId="326"/>
        </pc:sldMkLst>
      </pc:sldChg>
      <pc:sldChg chg="del">
        <pc:chgData name="Taylor Davis" userId="5c9e72a0-c39f-4aa1-9d7d-64125e78cbe6" providerId="ADAL" clId="{E3843F5A-4706-4064-B8D6-84935850803A}" dt="2025-06-28T15:29:16.473" v="0" actId="47"/>
        <pc:sldMkLst>
          <pc:docMk/>
          <pc:sldMk cId="4059548579" sldId="452"/>
        </pc:sldMkLst>
      </pc:sldChg>
      <pc:sldChg chg="del">
        <pc:chgData name="Taylor Davis" userId="5c9e72a0-c39f-4aa1-9d7d-64125e78cbe6" providerId="ADAL" clId="{E3843F5A-4706-4064-B8D6-84935850803A}" dt="2025-06-28T15:29:30.942" v="2" actId="47"/>
        <pc:sldMkLst>
          <pc:docMk/>
          <pc:sldMk cId="1700621358" sldId="456"/>
        </pc:sldMkLst>
      </pc:sldChg>
      <pc:sldChg chg="del">
        <pc:chgData name="Taylor Davis" userId="5c9e72a0-c39f-4aa1-9d7d-64125e78cbe6" providerId="ADAL" clId="{E3843F5A-4706-4064-B8D6-84935850803A}" dt="2025-06-28T15:29:30.942" v="2" actId="47"/>
        <pc:sldMkLst>
          <pc:docMk/>
          <pc:sldMk cId="3958060990" sldId="458"/>
        </pc:sldMkLst>
      </pc:sldChg>
      <pc:sldChg chg="del">
        <pc:chgData name="Taylor Davis" userId="5c9e72a0-c39f-4aa1-9d7d-64125e78cbe6" providerId="ADAL" clId="{E3843F5A-4706-4064-B8D6-84935850803A}" dt="2025-06-28T15:29:16.473" v="0" actId="47"/>
        <pc:sldMkLst>
          <pc:docMk/>
          <pc:sldMk cId="1714126014" sldId="466"/>
        </pc:sldMkLst>
      </pc:sldChg>
      <pc:sldChg chg="del">
        <pc:chgData name="Taylor Davis" userId="5c9e72a0-c39f-4aa1-9d7d-64125e78cbe6" providerId="ADAL" clId="{E3843F5A-4706-4064-B8D6-84935850803A}" dt="2025-06-28T15:29:30.942" v="2" actId="47"/>
        <pc:sldMkLst>
          <pc:docMk/>
          <pc:sldMk cId="2680122054" sldId="469"/>
        </pc:sldMkLst>
      </pc:sldChg>
      <pc:sldChg chg="del">
        <pc:chgData name="Taylor Davis" userId="5c9e72a0-c39f-4aa1-9d7d-64125e78cbe6" providerId="ADAL" clId="{E3843F5A-4706-4064-B8D6-84935850803A}" dt="2025-06-28T15:29:34.462" v="3" actId="47"/>
        <pc:sldMkLst>
          <pc:docMk/>
          <pc:sldMk cId="2660124243" sldId="491"/>
        </pc:sldMkLst>
      </pc:sldChg>
      <pc:sldChg chg="del">
        <pc:chgData name="Taylor Davis" userId="5c9e72a0-c39f-4aa1-9d7d-64125e78cbe6" providerId="ADAL" clId="{E3843F5A-4706-4064-B8D6-84935850803A}" dt="2025-06-28T15:29:30.942" v="2" actId="47"/>
        <pc:sldMkLst>
          <pc:docMk/>
          <pc:sldMk cId="2203540903" sldId="499"/>
        </pc:sldMkLst>
      </pc:sldChg>
      <pc:sldChg chg="del">
        <pc:chgData name="Taylor Davis" userId="5c9e72a0-c39f-4aa1-9d7d-64125e78cbe6" providerId="ADAL" clId="{E3843F5A-4706-4064-B8D6-84935850803A}" dt="2025-06-28T15:29:30.942" v="2" actId="47"/>
        <pc:sldMkLst>
          <pc:docMk/>
          <pc:sldMk cId="500461553" sldId="521"/>
        </pc:sldMkLst>
      </pc:sldChg>
      <pc:sldChg chg="del">
        <pc:chgData name="Taylor Davis" userId="5c9e72a0-c39f-4aa1-9d7d-64125e78cbe6" providerId="ADAL" clId="{E3843F5A-4706-4064-B8D6-84935850803A}" dt="2025-06-28T15:29:30.942" v="2" actId="47"/>
        <pc:sldMkLst>
          <pc:docMk/>
          <pc:sldMk cId="36791873" sldId="525"/>
        </pc:sldMkLst>
      </pc:sldChg>
      <pc:sldChg chg="del">
        <pc:chgData name="Taylor Davis" userId="5c9e72a0-c39f-4aa1-9d7d-64125e78cbe6" providerId="ADAL" clId="{E3843F5A-4706-4064-B8D6-84935850803A}" dt="2025-06-28T15:29:21.763" v="1" actId="47"/>
        <pc:sldMkLst>
          <pc:docMk/>
          <pc:sldMk cId="3470905217" sldId="558"/>
        </pc:sldMkLst>
      </pc:sldChg>
      <pc:sldChg chg="del">
        <pc:chgData name="Taylor Davis" userId="5c9e72a0-c39f-4aa1-9d7d-64125e78cbe6" providerId="ADAL" clId="{E3843F5A-4706-4064-B8D6-84935850803A}" dt="2025-06-28T15:29:30.942" v="2" actId="47"/>
        <pc:sldMkLst>
          <pc:docMk/>
          <pc:sldMk cId="4064752386" sldId="564"/>
        </pc:sldMkLst>
      </pc:sldChg>
      <pc:sldChg chg="del">
        <pc:chgData name="Taylor Davis" userId="5c9e72a0-c39f-4aa1-9d7d-64125e78cbe6" providerId="ADAL" clId="{E3843F5A-4706-4064-B8D6-84935850803A}" dt="2025-06-28T15:29:30.942" v="2" actId="47"/>
        <pc:sldMkLst>
          <pc:docMk/>
          <pc:sldMk cId="0" sldId="571"/>
        </pc:sldMkLst>
      </pc:sldChg>
      <pc:sldChg chg="del">
        <pc:chgData name="Taylor Davis" userId="5c9e72a0-c39f-4aa1-9d7d-64125e78cbe6" providerId="ADAL" clId="{E3843F5A-4706-4064-B8D6-84935850803A}" dt="2025-06-28T15:29:34.462" v="3" actId="47"/>
        <pc:sldMkLst>
          <pc:docMk/>
          <pc:sldMk cId="0" sldId="572"/>
        </pc:sldMkLst>
      </pc:sldChg>
      <pc:sldChg chg="del">
        <pc:chgData name="Taylor Davis" userId="5c9e72a0-c39f-4aa1-9d7d-64125e78cbe6" providerId="ADAL" clId="{E3843F5A-4706-4064-B8D6-84935850803A}" dt="2025-06-28T15:29:34.462" v="3" actId="47"/>
        <pc:sldMkLst>
          <pc:docMk/>
          <pc:sldMk cId="1064222983" sldId="574"/>
        </pc:sldMkLst>
      </pc:sldChg>
      <pc:sldChg chg="del">
        <pc:chgData name="Taylor Davis" userId="5c9e72a0-c39f-4aa1-9d7d-64125e78cbe6" providerId="ADAL" clId="{E3843F5A-4706-4064-B8D6-84935850803A}" dt="2025-06-28T15:29:34.462" v="3" actId="47"/>
        <pc:sldMkLst>
          <pc:docMk/>
          <pc:sldMk cId="3790917938" sldId="575"/>
        </pc:sldMkLst>
      </pc:sldChg>
      <pc:sldChg chg="del">
        <pc:chgData name="Taylor Davis" userId="5c9e72a0-c39f-4aa1-9d7d-64125e78cbe6" providerId="ADAL" clId="{E3843F5A-4706-4064-B8D6-84935850803A}" dt="2025-06-28T15:29:30.942" v="2" actId="47"/>
        <pc:sldMkLst>
          <pc:docMk/>
          <pc:sldMk cId="838631500" sldId="583"/>
        </pc:sldMkLst>
      </pc:sldChg>
      <pc:sldChg chg="del">
        <pc:chgData name="Taylor Davis" userId="5c9e72a0-c39f-4aa1-9d7d-64125e78cbe6" providerId="ADAL" clId="{E3843F5A-4706-4064-B8D6-84935850803A}" dt="2025-06-28T15:29:30.942" v="2" actId="47"/>
        <pc:sldMkLst>
          <pc:docMk/>
          <pc:sldMk cId="4042275972" sldId="613"/>
        </pc:sldMkLst>
      </pc:sldChg>
      <pc:sldChg chg="del">
        <pc:chgData name="Taylor Davis" userId="5c9e72a0-c39f-4aa1-9d7d-64125e78cbe6" providerId="ADAL" clId="{E3843F5A-4706-4064-B8D6-84935850803A}" dt="2025-06-28T15:29:30.942" v="2" actId="47"/>
        <pc:sldMkLst>
          <pc:docMk/>
          <pc:sldMk cId="1281542618" sldId="614"/>
        </pc:sldMkLst>
      </pc:sldChg>
      <pc:sldChg chg="del">
        <pc:chgData name="Taylor Davis" userId="5c9e72a0-c39f-4aa1-9d7d-64125e78cbe6" providerId="ADAL" clId="{E3843F5A-4706-4064-B8D6-84935850803A}" dt="2025-06-28T15:29:30.942" v="2" actId="47"/>
        <pc:sldMkLst>
          <pc:docMk/>
          <pc:sldMk cId="2174952421" sldId="2145726856"/>
        </pc:sldMkLst>
      </pc:sldChg>
      <pc:sldChg chg="del">
        <pc:chgData name="Taylor Davis" userId="5c9e72a0-c39f-4aa1-9d7d-64125e78cbe6" providerId="ADAL" clId="{E3843F5A-4706-4064-B8D6-84935850803A}" dt="2025-06-28T15:29:30.942" v="2" actId="47"/>
        <pc:sldMkLst>
          <pc:docMk/>
          <pc:sldMk cId="4161310751" sldId="2145726857"/>
        </pc:sldMkLst>
      </pc:sldChg>
      <pc:sldChg chg="del">
        <pc:chgData name="Taylor Davis" userId="5c9e72a0-c39f-4aa1-9d7d-64125e78cbe6" providerId="ADAL" clId="{E3843F5A-4706-4064-B8D6-84935850803A}" dt="2025-06-28T15:29:30.942" v="2" actId="47"/>
        <pc:sldMkLst>
          <pc:docMk/>
          <pc:sldMk cId="1389453819" sldId="2145726859"/>
        </pc:sldMkLst>
      </pc:sldChg>
      <pc:sldChg chg="del">
        <pc:chgData name="Taylor Davis" userId="5c9e72a0-c39f-4aa1-9d7d-64125e78cbe6" providerId="ADAL" clId="{E3843F5A-4706-4064-B8D6-84935850803A}" dt="2025-06-28T15:29:30.942" v="2" actId="47"/>
        <pc:sldMkLst>
          <pc:docMk/>
          <pc:sldMk cId="0" sldId="2145726864"/>
        </pc:sldMkLst>
      </pc:sldChg>
      <pc:sldChg chg="del">
        <pc:chgData name="Taylor Davis" userId="5c9e72a0-c39f-4aa1-9d7d-64125e78cbe6" providerId="ADAL" clId="{E3843F5A-4706-4064-B8D6-84935850803A}" dt="2025-06-28T15:29:30.942" v="2" actId="47"/>
        <pc:sldMkLst>
          <pc:docMk/>
          <pc:sldMk cId="1010235892" sldId="2145726866"/>
        </pc:sldMkLst>
      </pc:sldChg>
      <pc:sldChg chg="del">
        <pc:chgData name="Taylor Davis" userId="5c9e72a0-c39f-4aa1-9d7d-64125e78cbe6" providerId="ADAL" clId="{E3843F5A-4706-4064-B8D6-84935850803A}" dt="2025-06-28T15:29:16.473" v="0" actId="47"/>
        <pc:sldMkLst>
          <pc:docMk/>
          <pc:sldMk cId="0" sldId="2145726867"/>
        </pc:sldMkLst>
      </pc:sldChg>
      <pc:sldChg chg="del">
        <pc:chgData name="Taylor Davis" userId="5c9e72a0-c39f-4aa1-9d7d-64125e78cbe6" providerId="ADAL" clId="{E3843F5A-4706-4064-B8D6-84935850803A}" dt="2025-06-28T15:29:30.942" v="2" actId="47"/>
        <pc:sldMkLst>
          <pc:docMk/>
          <pc:sldMk cId="4087636236" sldId="2145726868"/>
        </pc:sldMkLst>
      </pc:sldChg>
      <pc:sldMasterChg chg="del delSldLayout">
        <pc:chgData name="Taylor Davis" userId="5c9e72a0-c39f-4aa1-9d7d-64125e78cbe6" providerId="ADAL" clId="{E3843F5A-4706-4064-B8D6-84935850803A}" dt="2025-06-28T15:29:30.942" v="2" actId="47"/>
        <pc:sldMasterMkLst>
          <pc:docMk/>
          <pc:sldMasterMk cId="1265540980" sldId="2147483785"/>
        </pc:sldMasterMkLst>
        <pc:sldLayoutChg chg="del">
          <pc:chgData name="Taylor Davis" userId="5c9e72a0-c39f-4aa1-9d7d-64125e78cbe6" providerId="ADAL" clId="{E3843F5A-4706-4064-B8D6-84935850803A}" dt="2025-06-28T15:29:30.942" v="2" actId="47"/>
          <pc:sldLayoutMkLst>
            <pc:docMk/>
            <pc:sldMasterMk cId="1265540980" sldId="2147483785"/>
            <pc:sldLayoutMk cId="2498378428" sldId="2147483786"/>
          </pc:sldLayoutMkLst>
        </pc:sldLayoutChg>
        <pc:sldLayoutChg chg="del">
          <pc:chgData name="Taylor Davis" userId="5c9e72a0-c39f-4aa1-9d7d-64125e78cbe6" providerId="ADAL" clId="{E3843F5A-4706-4064-B8D6-84935850803A}" dt="2025-06-28T15:29:30.942" v="2" actId="47"/>
          <pc:sldLayoutMkLst>
            <pc:docMk/>
            <pc:sldMasterMk cId="1265540980" sldId="2147483785"/>
            <pc:sldLayoutMk cId="2601881731" sldId="2147483787"/>
          </pc:sldLayoutMkLst>
        </pc:sldLayoutChg>
        <pc:sldLayoutChg chg="del">
          <pc:chgData name="Taylor Davis" userId="5c9e72a0-c39f-4aa1-9d7d-64125e78cbe6" providerId="ADAL" clId="{E3843F5A-4706-4064-B8D6-84935850803A}" dt="2025-06-28T15:29:30.942" v="2" actId="47"/>
          <pc:sldLayoutMkLst>
            <pc:docMk/>
            <pc:sldMasterMk cId="1265540980" sldId="2147483785"/>
            <pc:sldLayoutMk cId="1562686733" sldId="2147483788"/>
          </pc:sldLayoutMkLst>
        </pc:sldLayoutChg>
        <pc:sldLayoutChg chg="del">
          <pc:chgData name="Taylor Davis" userId="5c9e72a0-c39f-4aa1-9d7d-64125e78cbe6" providerId="ADAL" clId="{E3843F5A-4706-4064-B8D6-84935850803A}" dt="2025-06-28T15:29:30.942" v="2" actId="47"/>
          <pc:sldLayoutMkLst>
            <pc:docMk/>
            <pc:sldMasterMk cId="1265540980" sldId="2147483785"/>
            <pc:sldLayoutMk cId="4003081434" sldId="2147483789"/>
          </pc:sldLayoutMkLst>
        </pc:sldLayoutChg>
        <pc:sldLayoutChg chg="del">
          <pc:chgData name="Taylor Davis" userId="5c9e72a0-c39f-4aa1-9d7d-64125e78cbe6" providerId="ADAL" clId="{E3843F5A-4706-4064-B8D6-84935850803A}" dt="2025-06-28T15:29:30.942" v="2" actId="47"/>
          <pc:sldLayoutMkLst>
            <pc:docMk/>
            <pc:sldMasterMk cId="1265540980" sldId="2147483785"/>
            <pc:sldLayoutMk cId="1910118790" sldId="2147483790"/>
          </pc:sldLayoutMkLst>
        </pc:sldLayoutChg>
        <pc:sldLayoutChg chg="del">
          <pc:chgData name="Taylor Davis" userId="5c9e72a0-c39f-4aa1-9d7d-64125e78cbe6" providerId="ADAL" clId="{E3843F5A-4706-4064-B8D6-84935850803A}" dt="2025-06-28T15:29:30.942" v="2" actId="47"/>
          <pc:sldLayoutMkLst>
            <pc:docMk/>
            <pc:sldMasterMk cId="1265540980" sldId="2147483785"/>
            <pc:sldLayoutMk cId="3711328393" sldId="2147483791"/>
          </pc:sldLayoutMkLst>
        </pc:sldLayoutChg>
        <pc:sldLayoutChg chg="del">
          <pc:chgData name="Taylor Davis" userId="5c9e72a0-c39f-4aa1-9d7d-64125e78cbe6" providerId="ADAL" clId="{E3843F5A-4706-4064-B8D6-84935850803A}" dt="2025-06-28T15:29:30.942" v="2" actId="47"/>
          <pc:sldLayoutMkLst>
            <pc:docMk/>
            <pc:sldMasterMk cId="1265540980" sldId="2147483785"/>
            <pc:sldLayoutMk cId="1423940963" sldId="2147483792"/>
          </pc:sldLayoutMkLst>
        </pc:sldLayoutChg>
        <pc:sldLayoutChg chg="del">
          <pc:chgData name="Taylor Davis" userId="5c9e72a0-c39f-4aa1-9d7d-64125e78cbe6" providerId="ADAL" clId="{E3843F5A-4706-4064-B8D6-84935850803A}" dt="2025-06-28T15:29:30.942" v="2" actId="47"/>
          <pc:sldLayoutMkLst>
            <pc:docMk/>
            <pc:sldMasterMk cId="1265540980" sldId="2147483785"/>
            <pc:sldLayoutMk cId="4032606110" sldId="2147483793"/>
          </pc:sldLayoutMkLst>
        </pc:sldLayoutChg>
        <pc:sldLayoutChg chg="del">
          <pc:chgData name="Taylor Davis" userId="5c9e72a0-c39f-4aa1-9d7d-64125e78cbe6" providerId="ADAL" clId="{E3843F5A-4706-4064-B8D6-84935850803A}" dt="2025-06-28T15:29:30.942" v="2" actId="47"/>
          <pc:sldLayoutMkLst>
            <pc:docMk/>
            <pc:sldMasterMk cId="1265540980" sldId="2147483785"/>
            <pc:sldLayoutMk cId="2254392230" sldId="2147483794"/>
          </pc:sldLayoutMkLst>
        </pc:sldLayoutChg>
        <pc:sldLayoutChg chg="del">
          <pc:chgData name="Taylor Davis" userId="5c9e72a0-c39f-4aa1-9d7d-64125e78cbe6" providerId="ADAL" clId="{E3843F5A-4706-4064-B8D6-84935850803A}" dt="2025-06-28T15:29:30.942" v="2" actId="47"/>
          <pc:sldLayoutMkLst>
            <pc:docMk/>
            <pc:sldMasterMk cId="1265540980" sldId="2147483785"/>
            <pc:sldLayoutMk cId="1920540095" sldId="2147483795"/>
          </pc:sldLayoutMkLst>
        </pc:sldLayoutChg>
        <pc:sldLayoutChg chg="del">
          <pc:chgData name="Taylor Davis" userId="5c9e72a0-c39f-4aa1-9d7d-64125e78cbe6" providerId="ADAL" clId="{E3843F5A-4706-4064-B8D6-84935850803A}" dt="2025-06-28T15:29:30.942" v="2" actId="47"/>
          <pc:sldLayoutMkLst>
            <pc:docMk/>
            <pc:sldMasterMk cId="1265540980" sldId="2147483785"/>
            <pc:sldLayoutMk cId="4278865784" sldId="2147483796"/>
          </pc:sldLayoutMkLst>
        </pc:sldLayoutChg>
      </pc:sldMasterChg>
      <pc:sldMasterChg chg="del delSldLayout">
        <pc:chgData name="Taylor Davis" userId="5c9e72a0-c39f-4aa1-9d7d-64125e78cbe6" providerId="ADAL" clId="{E3843F5A-4706-4064-B8D6-84935850803A}" dt="2025-06-28T15:29:30.942" v="2" actId="47"/>
        <pc:sldMasterMkLst>
          <pc:docMk/>
          <pc:sldMasterMk cId="3563936643" sldId="2147483797"/>
        </pc:sldMasterMkLst>
        <pc:sldLayoutChg chg="del">
          <pc:chgData name="Taylor Davis" userId="5c9e72a0-c39f-4aa1-9d7d-64125e78cbe6" providerId="ADAL" clId="{E3843F5A-4706-4064-B8D6-84935850803A}" dt="2025-06-28T15:29:30.942" v="2" actId="47"/>
          <pc:sldLayoutMkLst>
            <pc:docMk/>
            <pc:sldMasterMk cId="3563936643" sldId="2147483797"/>
            <pc:sldLayoutMk cId="2824293841" sldId="2147483798"/>
          </pc:sldLayoutMkLst>
        </pc:sldLayoutChg>
        <pc:sldLayoutChg chg="del">
          <pc:chgData name="Taylor Davis" userId="5c9e72a0-c39f-4aa1-9d7d-64125e78cbe6" providerId="ADAL" clId="{E3843F5A-4706-4064-B8D6-84935850803A}" dt="2025-06-28T15:29:30.942" v="2" actId="47"/>
          <pc:sldLayoutMkLst>
            <pc:docMk/>
            <pc:sldMasterMk cId="3563936643" sldId="2147483797"/>
            <pc:sldLayoutMk cId="150421858" sldId="2147483799"/>
          </pc:sldLayoutMkLst>
        </pc:sldLayoutChg>
        <pc:sldLayoutChg chg="del">
          <pc:chgData name="Taylor Davis" userId="5c9e72a0-c39f-4aa1-9d7d-64125e78cbe6" providerId="ADAL" clId="{E3843F5A-4706-4064-B8D6-84935850803A}" dt="2025-06-28T15:29:30.942" v="2" actId="47"/>
          <pc:sldLayoutMkLst>
            <pc:docMk/>
            <pc:sldMasterMk cId="3563936643" sldId="2147483797"/>
            <pc:sldLayoutMk cId="2298163207" sldId="2147483800"/>
          </pc:sldLayoutMkLst>
        </pc:sldLayoutChg>
        <pc:sldLayoutChg chg="del">
          <pc:chgData name="Taylor Davis" userId="5c9e72a0-c39f-4aa1-9d7d-64125e78cbe6" providerId="ADAL" clId="{E3843F5A-4706-4064-B8D6-84935850803A}" dt="2025-06-28T15:29:30.942" v="2" actId="47"/>
          <pc:sldLayoutMkLst>
            <pc:docMk/>
            <pc:sldMasterMk cId="3563936643" sldId="2147483797"/>
            <pc:sldLayoutMk cId="1991304296" sldId="2147483801"/>
          </pc:sldLayoutMkLst>
        </pc:sldLayoutChg>
        <pc:sldLayoutChg chg="del">
          <pc:chgData name="Taylor Davis" userId="5c9e72a0-c39f-4aa1-9d7d-64125e78cbe6" providerId="ADAL" clId="{E3843F5A-4706-4064-B8D6-84935850803A}" dt="2025-06-28T15:29:30.942" v="2" actId="47"/>
          <pc:sldLayoutMkLst>
            <pc:docMk/>
            <pc:sldMasterMk cId="3563936643" sldId="2147483797"/>
            <pc:sldLayoutMk cId="1121920882" sldId="2147483802"/>
          </pc:sldLayoutMkLst>
        </pc:sldLayoutChg>
        <pc:sldLayoutChg chg="del">
          <pc:chgData name="Taylor Davis" userId="5c9e72a0-c39f-4aa1-9d7d-64125e78cbe6" providerId="ADAL" clId="{E3843F5A-4706-4064-B8D6-84935850803A}" dt="2025-06-28T15:29:30.942" v="2" actId="47"/>
          <pc:sldLayoutMkLst>
            <pc:docMk/>
            <pc:sldMasterMk cId="3563936643" sldId="2147483797"/>
            <pc:sldLayoutMk cId="2885874120" sldId="2147483803"/>
          </pc:sldLayoutMkLst>
        </pc:sldLayoutChg>
        <pc:sldLayoutChg chg="del">
          <pc:chgData name="Taylor Davis" userId="5c9e72a0-c39f-4aa1-9d7d-64125e78cbe6" providerId="ADAL" clId="{E3843F5A-4706-4064-B8D6-84935850803A}" dt="2025-06-28T15:29:30.942" v="2" actId="47"/>
          <pc:sldLayoutMkLst>
            <pc:docMk/>
            <pc:sldMasterMk cId="3563936643" sldId="2147483797"/>
            <pc:sldLayoutMk cId="1906534417" sldId="2147483804"/>
          </pc:sldLayoutMkLst>
        </pc:sldLayoutChg>
        <pc:sldLayoutChg chg="del">
          <pc:chgData name="Taylor Davis" userId="5c9e72a0-c39f-4aa1-9d7d-64125e78cbe6" providerId="ADAL" clId="{E3843F5A-4706-4064-B8D6-84935850803A}" dt="2025-06-28T15:29:30.942" v="2" actId="47"/>
          <pc:sldLayoutMkLst>
            <pc:docMk/>
            <pc:sldMasterMk cId="3563936643" sldId="2147483797"/>
            <pc:sldLayoutMk cId="491300616" sldId="2147483805"/>
          </pc:sldLayoutMkLst>
        </pc:sldLayoutChg>
        <pc:sldLayoutChg chg="del">
          <pc:chgData name="Taylor Davis" userId="5c9e72a0-c39f-4aa1-9d7d-64125e78cbe6" providerId="ADAL" clId="{E3843F5A-4706-4064-B8D6-84935850803A}" dt="2025-06-28T15:29:30.942" v="2" actId="47"/>
          <pc:sldLayoutMkLst>
            <pc:docMk/>
            <pc:sldMasterMk cId="3563936643" sldId="2147483797"/>
            <pc:sldLayoutMk cId="2921565179" sldId="2147483806"/>
          </pc:sldLayoutMkLst>
        </pc:sldLayoutChg>
        <pc:sldLayoutChg chg="del">
          <pc:chgData name="Taylor Davis" userId="5c9e72a0-c39f-4aa1-9d7d-64125e78cbe6" providerId="ADAL" clId="{E3843F5A-4706-4064-B8D6-84935850803A}" dt="2025-06-28T15:29:30.942" v="2" actId="47"/>
          <pc:sldLayoutMkLst>
            <pc:docMk/>
            <pc:sldMasterMk cId="3563936643" sldId="2147483797"/>
            <pc:sldLayoutMk cId="1159210513" sldId="2147483807"/>
          </pc:sldLayoutMkLst>
        </pc:sldLayoutChg>
        <pc:sldLayoutChg chg="del">
          <pc:chgData name="Taylor Davis" userId="5c9e72a0-c39f-4aa1-9d7d-64125e78cbe6" providerId="ADAL" clId="{E3843F5A-4706-4064-B8D6-84935850803A}" dt="2025-06-28T15:29:30.942" v="2" actId="47"/>
          <pc:sldLayoutMkLst>
            <pc:docMk/>
            <pc:sldMasterMk cId="3563936643" sldId="2147483797"/>
            <pc:sldLayoutMk cId="1217176151" sldId="2147483808"/>
          </pc:sldLayoutMkLst>
        </pc:sldLayoutChg>
        <pc:sldLayoutChg chg="del">
          <pc:chgData name="Taylor Davis" userId="5c9e72a0-c39f-4aa1-9d7d-64125e78cbe6" providerId="ADAL" clId="{E3843F5A-4706-4064-B8D6-84935850803A}" dt="2025-06-28T15:29:30.942" v="2" actId="47"/>
          <pc:sldLayoutMkLst>
            <pc:docMk/>
            <pc:sldMasterMk cId="3563936643" sldId="2147483797"/>
            <pc:sldLayoutMk cId="895843817" sldId="2147483809"/>
          </pc:sldLayoutMkLst>
        </pc:sldLayoutChg>
        <pc:sldLayoutChg chg="del">
          <pc:chgData name="Taylor Davis" userId="5c9e72a0-c39f-4aa1-9d7d-64125e78cbe6" providerId="ADAL" clId="{E3843F5A-4706-4064-B8D6-84935850803A}" dt="2025-06-28T15:29:30.942" v="2" actId="47"/>
          <pc:sldLayoutMkLst>
            <pc:docMk/>
            <pc:sldMasterMk cId="3563936643" sldId="2147483797"/>
            <pc:sldLayoutMk cId="684719445" sldId="2147483810"/>
          </pc:sldLayoutMkLst>
        </pc:sldLayoutChg>
        <pc:sldLayoutChg chg="del">
          <pc:chgData name="Taylor Davis" userId="5c9e72a0-c39f-4aa1-9d7d-64125e78cbe6" providerId="ADAL" clId="{E3843F5A-4706-4064-B8D6-84935850803A}" dt="2025-06-28T15:29:30.942" v="2" actId="47"/>
          <pc:sldLayoutMkLst>
            <pc:docMk/>
            <pc:sldMasterMk cId="3563936643" sldId="2147483797"/>
            <pc:sldLayoutMk cId="2530460957" sldId="214748381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atin typeface="Montserrat" panose="00000500000000000000" pitchFamily="2" charset="0"/>
              </a:defRPr>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atin typeface="Montserrat" panose="00000500000000000000" pitchFamily="2" charset="0"/>
              </a:defRPr>
            </a:lvl1pPr>
          </a:lstStyle>
          <a:p>
            <a:fld id="{7444AE22-21A2-46C1-A42F-3B4E8AE858E0}" type="datetimeFigureOut">
              <a:rPr lang="en-US" smtClean="0"/>
              <a:pPr/>
              <a:t>6/27/2025</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atin typeface="Montserrat" panose="00000500000000000000" pitchFamily="2" charset="0"/>
              </a:defRPr>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atin typeface="Montserrat" panose="00000500000000000000" pitchFamily="2" charset="0"/>
              </a:defRPr>
            </a:lvl1pPr>
          </a:lstStyle>
          <a:p>
            <a:fld id="{4139CA89-B4B2-4050-B038-8DF8E3A33516}" type="slidenum">
              <a:rPr lang="en-US" smtClean="0"/>
              <a:pPr/>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7</a:t>
            </a:fld>
            <a:endParaRPr lang="en-US" dirty="0"/>
          </a:p>
        </p:txBody>
      </p:sp>
    </p:spTree>
    <p:extLst>
      <p:ext uri="{BB962C8B-B14F-4D97-AF65-F5344CB8AC3E}">
        <p14:creationId xmlns:p14="http://schemas.microsoft.com/office/powerpoint/2010/main" val="3189351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6/27/2025</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6/27/2025</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6/27/2025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6/27/2025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6/27/2025</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6/27/2025</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6/27/2025</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6/27/2025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6/27/2025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6/27/2025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6/27/2025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7378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6/27/2025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1289658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6/27/2025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3121576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6/27/2025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578834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6/27/2025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86899206"/>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6/27/2025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928250306"/>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6/27/2025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8255796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6/27/2025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8090479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6/27/2025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9986902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6/27/2025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884915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6/27/2025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84491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6/27/2025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7721078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6/27/2025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33502895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1686739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30184788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333A-D7F4-8BF6-7FE6-B245E061DF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AFD55F-2B6A-BC81-01A1-E169ABA4D220}"/>
              </a:ext>
            </a:extLst>
          </p:cNvPr>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BAAA2D5-089E-22AF-3D0B-4F19067E8217}"/>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6/27/2025</a:t>
            </a:fld>
            <a:endParaRPr lang="en-US"/>
          </a:p>
        </p:txBody>
      </p:sp>
      <p:sp>
        <p:nvSpPr>
          <p:cNvPr id="5" name="Footer Placeholder 4">
            <a:extLst>
              <a:ext uri="{FF2B5EF4-FFF2-40B4-BE49-F238E27FC236}">
                <a16:creationId xmlns:a16="http://schemas.microsoft.com/office/drawing/2014/main" id="{589894B4-59C2-ED48-02F2-59E034C4F88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9D461B42-85D1-521C-676B-AEF121AD5CB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5687261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24B23-3A0F-2FFB-F140-0ED21664BD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127193-0571-3183-9568-FBC2C4C41923}"/>
              </a:ext>
            </a:extLst>
          </p:cNvPr>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4BE860-C86D-39CD-1793-0B867B627B8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6/27/2025</a:t>
            </a:fld>
            <a:endParaRPr lang="en-US"/>
          </a:p>
        </p:txBody>
      </p:sp>
      <p:sp>
        <p:nvSpPr>
          <p:cNvPr id="5" name="Footer Placeholder 4">
            <a:extLst>
              <a:ext uri="{FF2B5EF4-FFF2-40B4-BE49-F238E27FC236}">
                <a16:creationId xmlns:a16="http://schemas.microsoft.com/office/drawing/2014/main" id="{D959902B-89A3-6032-AD27-5B2747726C70}"/>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C4B0BC3B-8A86-AA5A-AD97-AFE05C11E31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2644058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9683-D972-023F-219D-7BB60D6790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FBF06F-33B9-F6B7-D0B0-58368CF72D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Montserrat" panose="00000500000000000000"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0D591E4-3B21-B2C2-F89D-019DFA1351E6}"/>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6/27/2025</a:t>
            </a:fld>
            <a:endParaRPr lang="en-US"/>
          </a:p>
        </p:txBody>
      </p:sp>
      <p:sp>
        <p:nvSpPr>
          <p:cNvPr id="5" name="Footer Placeholder 4">
            <a:extLst>
              <a:ext uri="{FF2B5EF4-FFF2-40B4-BE49-F238E27FC236}">
                <a16:creationId xmlns:a16="http://schemas.microsoft.com/office/drawing/2014/main" id="{578F9B1F-218C-4099-354A-77985CA88E63}"/>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BB87B7BA-EB30-276C-F6A4-57FBE4B1BA2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7161209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3683-51F3-237C-28D3-307EE44F33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A447C5-37A5-7576-DF3F-A03DBF5DC6D7}"/>
              </a:ext>
            </a:extLst>
          </p:cNvPr>
          <p:cNvSpPr>
            <a:spLocks noGrp="1"/>
          </p:cNvSpPr>
          <p:nvPr>
            <p:ph sz="half" idx="1"/>
          </p:nvPr>
        </p:nvSpPr>
        <p:spPr>
          <a:xfrm>
            <a:off x="838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53D1057-0101-3CB8-D158-2EAE2463F32A}"/>
              </a:ext>
            </a:extLst>
          </p:cNvPr>
          <p:cNvSpPr>
            <a:spLocks noGrp="1"/>
          </p:cNvSpPr>
          <p:nvPr>
            <p:ph sz="half" idx="2"/>
          </p:nvPr>
        </p:nvSpPr>
        <p:spPr>
          <a:xfrm>
            <a:off x="6172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F9A133-63CE-4F37-E482-EA1EECCAB0CF}"/>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6/27/2025</a:t>
            </a:fld>
            <a:endParaRPr lang="en-US"/>
          </a:p>
        </p:txBody>
      </p:sp>
      <p:sp>
        <p:nvSpPr>
          <p:cNvPr id="6" name="Footer Placeholder 5">
            <a:extLst>
              <a:ext uri="{FF2B5EF4-FFF2-40B4-BE49-F238E27FC236}">
                <a16:creationId xmlns:a16="http://schemas.microsoft.com/office/drawing/2014/main" id="{E2DC3D78-6D9B-64CF-B7D6-AEEA3A6E0ECC}"/>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97CD38F0-00C1-C0D4-F298-433BE1D17D12}"/>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5057716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A98D-65C1-1E26-EDD7-90B5F4CAF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DBA72-820B-660B-EB15-EF77956BD268}"/>
              </a:ext>
            </a:extLst>
          </p:cNvPr>
          <p:cNvSpPr>
            <a:spLocks noGrp="1"/>
          </p:cNvSpPr>
          <p:nvPr>
            <p:ph type="body" idx="1"/>
          </p:nvPr>
        </p:nvSpPr>
        <p:spPr>
          <a:xfrm>
            <a:off x="839788" y="1681163"/>
            <a:ext cx="5157787"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159EE162-1C58-9826-D133-1AD84A30AF1E}"/>
              </a:ext>
            </a:extLst>
          </p:cNvPr>
          <p:cNvSpPr>
            <a:spLocks noGrp="1"/>
          </p:cNvSpPr>
          <p:nvPr>
            <p:ph sz="half" idx="2"/>
          </p:nvPr>
        </p:nvSpPr>
        <p:spPr>
          <a:xfrm>
            <a:off x="839788" y="2505075"/>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7950119-C4BF-8D07-DED7-073F40FB57DA}"/>
              </a:ext>
            </a:extLst>
          </p:cNvPr>
          <p:cNvSpPr>
            <a:spLocks noGrp="1"/>
          </p:cNvSpPr>
          <p:nvPr>
            <p:ph type="body" sz="quarter" idx="3"/>
          </p:nvPr>
        </p:nvSpPr>
        <p:spPr>
          <a:xfrm>
            <a:off x="6172200" y="1681163"/>
            <a:ext cx="5183188"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0C9C018-AAE1-01C5-C4E7-1C69A018EB1A}"/>
              </a:ext>
            </a:extLst>
          </p:cNvPr>
          <p:cNvSpPr>
            <a:spLocks noGrp="1"/>
          </p:cNvSpPr>
          <p:nvPr>
            <p:ph sz="quarter" idx="4"/>
          </p:nvPr>
        </p:nvSpPr>
        <p:spPr>
          <a:xfrm>
            <a:off x="6172200" y="2505075"/>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C6C6F45-ECE2-F081-F98C-EECF3EBF428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6/27/2025</a:t>
            </a:fld>
            <a:endParaRPr lang="en-US"/>
          </a:p>
        </p:txBody>
      </p:sp>
      <p:sp>
        <p:nvSpPr>
          <p:cNvPr id="8" name="Footer Placeholder 7">
            <a:extLst>
              <a:ext uri="{FF2B5EF4-FFF2-40B4-BE49-F238E27FC236}">
                <a16:creationId xmlns:a16="http://schemas.microsoft.com/office/drawing/2014/main" id="{81C19771-6EC0-7828-5F14-219FFD629621}"/>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9" name="Slide Number Placeholder 8">
            <a:extLst>
              <a:ext uri="{FF2B5EF4-FFF2-40B4-BE49-F238E27FC236}">
                <a16:creationId xmlns:a16="http://schemas.microsoft.com/office/drawing/2014/main" id="{A1AFBBDB-D016-3519-189F-C3EF7A0A34F9}"/>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7731658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90F4-6BF3-9A05-11B0-CFDC94F6AB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32DC46-DA37-DBBE-5107-914E8DF19A4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6/27/2025</a:t>
            </a:fld>
            <a:endParaRPr lang="en-US"/>
          </a:p>
        </p:txBody>
      </p:sp>
      <p:sp>
        <p:nvSpPr>
          <p:cNvPr id="4" name="Footer Placeholder 3">
            <a:extLst>
              <a:ext uri="{FF2B5EF4-FFF2-40B4-BE49-F238E27FC236}">
                <a16:creationId xmlns:a16="http://schemas.microsoft.com/office/drawing/2014/main" id="{500D90FD-81A9-E6FB-27D3-24713EF14A15}"/>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5" name="Slide Number Placeholder 4">
            <a:extLst>
              <a:ext uri="{FF2B5EF4-FFF2-40B4-BE49-F238E27FC236}">
                <a16:creationId xmlns:a16="http://schemas.microsoft.com/office/drawing/2014/main" id="{29316EA0-D473-AC28-DECA-DEAEF6567180}"/>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65606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7604C-AB91-78A2-2DA4-6D1088A321F1}"/>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6/27/2025</a:t>
            </a:fld>
            <a:endParaRPr lang="en-US"/>
          </a:p>
        </p:txBody>
      </p:sp>
      <p:sp>
        <p:nvSpPr>
          <p:cNvPr id="3" name="Footer Placeholder 2">
            <a:extLst>
              <a:ext uri="{FF2B5EF4-FFF2-40B4-BE49-F238E27FC236}">
                <a16:creationId xmlns:a16="http://schemas.microsoft.com/office/drawing/2014/main" id="{E4C85361-F6B7-FAAB-4738-E0ADE5E1C7C4}"/>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4" name="Slide Number Placeholder 3">
            <a:extLst>
              <a:ext uri="{FF2B5EF4-FFF2-40B4-BE49-F238E27FC236}">
                <a16:creationId xmlns:a16="http://schemas.microsoft.com/office/drawing/2014/main" id="{F923D6D1-624B-8B3C-90BE-2C90B19A71DF}"/>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4423574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B8A9-03E2-CC5E-A121-E5984E9AE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A13174-A575-A915-92B0-207B93D1FE50}"/>
              </a:ext>
            </a:extLst>
          </p:cNvPr>
          <p:cNvSpPr>
            <a:spLocks noGrp="1"/>
          </p:cNvSpPr>
          <p:nvPr>
            <p:ph idx="1"/>
          </p:nvPr>
        </p:nvSpPr>
        <p:spPr>
          <a:xfrm>
            <a:off x="5183188" y="987425"/>
            <a:ext cx="6172200"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EF26E49-3074-8C94-B0CC-8EFA1B8250BC}"/>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A89E3CC-7C4A-D7EC-E46C-5A842B8A1384}"/>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6/27/2025</a:t>
            </a:fld>
            <a:endParaRPr lang="en-US"/>
          </a:p>
        </p:txBody>
      </p:sp>
      <p:sp>
        <p:nvSpPr>
          <p:cNvPr id="6" name="Footer Placeholder 5">
            <a:extLst>
              <a:ext uri="{FF2B5EF4-FFF2-40B4-BE49-F238E27FC236}">
                <a16:creationId xmlns:a16="http://schemas.microsoft.com/office/drawing/2014/main" id="{0CF330E3-0B96-933C-829B-04B30C41D7D7}"/>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14757A92-1BAA-DAA4-E90F-EDFBED3D782C}"/>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732848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A07BE-FE86-FD17-6855-F4BBD305C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EFE0AE-B8E3-6453-74A9-2CCBC448EB45}"/>
              </a:ext>
            </a:extLst>
          </p:cNvPr>
          <p:cNvSpPr>
            <a:spLocks noGrp="1"/>
          </p:cNvSpPr>
          <p:nvPr>
            <p:ph type="pic" idx="1"/>
          </p:nvPr>
        </p:nvSpPr>
        <p:spPr>
          <a:xfrm>
            <a:off x="5183188" y="987425"/>
            <a:ext cx="6172200" cy="4873625"/>
          </a:xfrm>
        </p:spPr>
        <p:txBody>
          <a:bodyPr/>
          <a:lstStyle>
            <a:lvl1pPr marL="0" indent="0">
              <a:buNone/>
              <a:defRPr sz="3200">
                <a:latin typeface="Montserrat" panose="000005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C1BFAC6-51C3-1D27-7E41-47878F27E0A5}"/>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F198224-E0A8-36C0-DDF7-27FA70A43C0C}"/>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6/27/2025</a:t>
            </a:fld>
            <a:endParaRPr lang="en-US"/>
          </a:p>
        </p:txBody>
      </p:sp>
      <p:sp>
        <p:nvSpPr>
          <p:cNvPr id="6" name="Footer Placeholder 5">
            <a:extLst>
              <a:ext uri="{FF2B5EF4-FFF2-40B4-BE49-F238E27FC236}">
                <a16:creationId xmlns:a16="http://schemas.microsoft.com/office/drawing/2014/main" id="{BB34AEAA-95D8-5BA2-2F25-047DDCC1DE29}"/>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5A686F25-6C70-7C4B-DFD4-192375D55DA3}"/>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17645199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03B00-617F-6CDB-FC05-71E366A0DE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7BB096-36EC-BC27-3A10-9065A2B11C2F}"/>
              </a:ext>
            </a:extLst>
          </p:cNvPr>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44F6E8-F910-F328-584A-CA901BB3A3E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6/27/2025</a:t>
            </a:fld>
            <a:endParaRPr lang="en-US"/>
          </a:p>
        </p:txBody>
      </p:sp>
      <p:sp>
        <p:nvSpPr>
          <p:cNvPr id="5" name="Footer Placeholder 4">
            <a:extLst>
              <a:ext uri="{FF2B5EF4-FFF2-40B4-BE49-F238E27FC236}">
                <a16:creationId xmlns:a16="http://schemas.microsoft.com/office/drawing/2014/main" id="{3D93A474-10C6-034E-0576-8B73F4B7084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2CD4C70E-6DC2-4298-EEB8-A2AC6AD76BE8}"/>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17292695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08DBE0-CED9-F7B0-5642-5731DA249B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47D136-9913-226C-7C14-436B6CF99CC4}"/>
              </a:ext>
            </a:extLst>
          </p:cNvPr>
          <p:cNvSpPr>
            <a:spLocks noGrp="1"/>
          </p:cNvSpPr>
          <p:nvPr>
            <p:ph type="body" orient="vert" idx="1"/>
          </p:nvPr>
        </p:nvSpPr>
        <p:spPr>
          <a:xfrm>
            <a:off x="838200"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E3D2C8-E528-BF1F-C711-971E74B5E8A5}"/>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6/27/2025</a:t>
            </a:fld>
            <a:endParaRPr lang="en-US"/>
          </a:p>
        </p:txBody>
      </p:sp>
      <p:sp>
        <p:nvSpPr>
          <p:cNvPr id="5" name="Footer Placeholder 4">
            <a:extLst>
              <a:ext uri="{FF2B5EF4-FFF2-40B4-BE49-F238E27FC236}">
                <a16:creationId xmlns:a16="http://schemas.microsoft.com/office/drawing/2014/main" id="{30DD753D-C084-2ADF-0E12-AA92D30C6A36}"/>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32C82D8B-8E1E-F47C-7C0F-AEDE48C2DDF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3481090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tags" Target="../tags/tag3.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3.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4.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6/27/2025</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145033"/>
      </p:ext>
    </p:extLst>
  </p:cSld>
  <p:clrMap bg1="lt1" tx1="dk1" bg2="lt2" tx2="dk2" accent1="accent1" accent2="accent2" accent3="accent3" accent4="accent4" accent5="accent5" accent6="accent6" hlink="hlink" folHlink="folHlink"/>
  <p:sldLayoutIdLst>
    <p:sldLayoutId id="21474837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6/27/2025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2931359225"/>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28BEE0-7577-10C8-2F70-A988114D83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ED88FE-EDC7-60BB-7A69-AF9890EA0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C56E3C9-054B-7BB4-0692-08B96E994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41804935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b="1" i="0" kern="1200">
          <a:solidFill>
            <a:schemeClr val="tx2"/>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Montserrat" panose="00000500000000000000"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jpeg"/><Relationship Id="rId1" Type="http://schemas.openxmlformats.org/officeDocument/2006/relationships/slideLayout" Target="../slideLayouts/slideLayout6.xml"/><Relationship Id="rId6" Type="http://schemas.openxmlformats.org/officeDocument/2006/relationships/image" Target="../media/image23.svg"/><Relationship Id="rId11" Type="http://schemas.openxmlformats.org/officeDocument/2006/relationships/image" Target="../media/image10.png"/><Relationship Id="rId5" Type="http://schemas.openxmlformats.org/officeDocument/2006/relationships/image" Target="../media/image22.png"/><Relationship Id="rId10" Type="http://schemas.openxmlformats.org/officeDocument/2006/relationships/image" Target="../media/image27.svg"/><Relationship Id="rId4" Type="http://schemas.openxmlformats.org/officeDocument/2006/relationships/image" Target="../media/image21.svg"/><Relationship Id="rId9"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627"/>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14271" cy="6856286"/>
          </a:xfrm>
          <a:prstGeom prst="rect">
            <a:avLst/>
          </a:prstGeom>
        </p:spPr>
      </p:pic>
      <p:sp>
        <p:nvSpPr>
          <p:cNvPr id="3" name="Object 2"/>
          <p:cNvSpPr/>
          <p:nvPr/>
        </p:nvSpPr>
        <p:spPr>
          <a:xfrm>
            <a:off x="2180680" y="1196279"/>
            <a:ext cx="5761184" cy="248332"/>
          </a:xfrm>
          <a:prstGeom prst="rect">
            <a:avLst/>
          </a:prstGeom>
          <a:noFill/>
        </p:spPr>
        <p:txBody>
          <a:bodyPr wrap="square" lIns="0" tIns="0" rIns="0" bIns="0" rtlCol="0" anchor="t"/>
          <a:lstStyle/>
          <a:p>
            <a:pPr marL="0" marR="0" lvl="0" indent="0" algn="r" defTabSz="914400" rtl="0" eaLnBrk="1" fontAlgn="auto" latinLnBrk="0" hangingPunct="1">
              <a:lnSpc>
                <a:spcPts val="1956"/>
              </a:lnSpc>
              <a:spcBef>
                <a:spcPts val="0"/>
              </a:spcBef>
              <a:spcAft>
                <a:spcPts val="0"/>
              </a:spcAft>
              <a:buClrTx/>
              <a:buSzTx/>
              <a:buFontTx/>
              <a:buNone/>
              <a:tabLst/>
              <a:defRPr/>
            </a:pPr>
            <a:r>
              <a:rPr kumimoji="0" lang="en-US" sz="1552" b="0" i="0" u="none" strike="noStrike" kern="0" cap="none" spc="47" normalizeH="0" baseline="0" noProof="0">
                <a:ln>
                  <a:noFill/>
                </a:ln>
                <a:solidFill>
                  <a:srgbClr val="FFFFFF">
                    <a:alpha val="80000"/>
                  </a:srgbClr>
                </a:solidFill>
                <a:effectLst/>
                <a:uLnTx/>
                <a:uFillTx/>
                <a:latin typeface="Montserrat" panose="00000500000000000000" pitchFamily="2" charset="0"/>
                <a:ea typeface="Jost*" pitchFamily="34" charset="-122"/>
                <a:cs typeface="Jost*" pitchFamily="34" charset="-120"/>
              </a:rPr>
              <a:t>OPPORTUNITY REVIEW</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3"/>
          <p:cNvSpPr/>
          <p:nvPr/>
        </p:nvSpPr>
        <p:spPr>
          <a:xfrm>
            <a:off x="1178743" y="1685802"/>
            <a:ext cx="6953573" cy="1151790"/>
          </a:xfrm>
          <a:prstGeom prst="rect">
            <a:avLst/>
          </a:prstGeom>
          <a:noFill/>
        </p:spPr>
        <p:txBody>
          <a:bodyPr wrap="square" lIns="0" tIns="0" rIns="0" bIns="0" rtlCol="0" anchor="t"/>
          <a:lstStyle/>
          <a:p>
            <a:pPr marL="0" marR="0" lvl="0" indent="0" algn="r" defTabSz="914400" rtl="0" eaLnBrk="1" fontAlgn="auto" latinLnBrk="0" hangingPunct="1">
              <a:lnSpc>
                <a:spcPts val="9072"/>
              </a:lnSpc>
              <a:spcBef>
                <a:spcPts val="975"/>
              </a:spcBef>
              <a:spcAft>
                <a:spcPts val="0"/>
              </a:spcAft>
              <a:buClrTx/>
              <a:buSzTx/>
              <a:buFontTx/>
              <a:buNone/>
              <a:tabLst/>
              <a:defRPr/>
            </a:pPr>
            <a:r>
              <a:rPr kumimoji="0" lang="en-US" sz="6600" b="0" i="0" u="none" strike="noStrike" kern="0" cap="none" spc="243" normalizeH="0" baseline="0" noProof="0" dirty="0">
                <a:ln>
                  <a:noFill/>
                </a:ln>
                <a:solidFill>
                  <a:srgbClr val="FFFFFF"/>
                </a:solidFill>
                <a:effectLst/>
                <a:uLnTx/>
                <a:uFillTx/>
                <a:latin typeface="Montserrat"/>
                <a:ea typeface="Jost*"/>
                <a:cs typeface="Jost*" pitchFamily="34" charset="-120"/>
              </a:rPr>
              <a:t>DIRECT-TO-EMPLOYER GTM STRATEGY</a:t>
            </a:r>
            <a:endParaRPr kumimoji="0" lang="en-US" sz="1200" b="0" i="0" u="none" strike="noStrike" kern="1200" cap="none" spc="0" normalizeH="0" baseline="0" noProof="0" dirty="0">
              <a:ln>
                <a:noFill/>
              </a:ln>
              <a:solidFill>
                <a:prstClr val="black"/>
              </a:solidFill>
              <a:effectLst/>
              <a:uLnTx/>
              <a:uFillTx/>
              <a:latin typeface="Montserrat"/>
              <a:ea typeface="Jost*"/>
              <a:cs typeface="+mn-cs"/>
            </a:endParaRPr>
          </a:p>
        </p:txBody>
      </p:sp>
      <p:sp>
        <p:nvSpPr>
          <p:cNvPr id="5" name="Object 6"/>
          <p:cNvSpPr/>
          <p:nvPr/>
        </p:nvSpPr>
        <p:spPr>
          <a:xfrm>
            <a:off x="218209" y="5372101"/>
            <a:ext cx="7723655" cy="311118"/>
          </a:xfrm>
          <a:prstGeom prst="rect">
            <a:avLst/>
          </a:prstGeom>
          <a:noFill/>
        </p:spPr>
        <p:txBody>
          <a:bodyPr wrap="square" lIns="0" tIns="0" rIns="0" bIns="0" rtlCol="0" anchor="t"/>
          <a:lstStyle/>
          <a:p>
            <a:pPr marL="0" marR="0" lvl="0" indent="0" algn="r" defTabSz="914400" rtl="0" eaLnBrk="1" fontAlgn="auto" latinLnBrk="0" hangingPunct="1">
              <a:lnSpc>
                <a:spcPts val="2370"/>
              </a:lnSpc>
              <a:spcBef>
                <a:spcPts val="599"/>
              </a:spcBef>
              <a:spcAft>
                <a:spcPts val="0"/>
              </a:spcAft>
              <a:buClrTx/>
              <a:buSzTx/>
              <a:buFontTx/>
              <a:buNone/>
              <a:tabLst/>
              <a:defRPr/>
            </a:pPr>
            <a:r>
              <a:rPr kumimoji="0" lang="en-US" sz="1750" b="0" i="0" u="none" strike="noStrike" kern="0" cap="none" spc="53" normalizeH="0" baseline="0" noProof="0" dirty="0">
                <a:ln>
                  <a:noFill/>
                </a:ln>
                <a:solidFill>
                  <a:srgbClr val="FFFFFF">
                    <a:alpha val="80000"/>
                  </a:srgbClr>
                </a:solidFill>
                <a:effectLst/>
                <a:uLnTx/>
                <a:uFillTx/>
                <a:latin typeface="Montserrat"/>
                <a:ea typeface="Jost*"/>
                <a:cs typeface="Jost*" pitchFamily="34" charset="-120"/>
              </a:rPr>
              <a:t>Exploring a Parkview Health DTE Health Plan</a:t>
            </a:r>
            <a:endParaRPr kumimoji="0" lang="en-US" sz="175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6" name="Object 7"/>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322769" y="0"/>
            <a:ext cx="3866183" cy="6856286"/>
          </a:xfrm>
          <a:prstGeom prst="rect">
            <a:avLst/>
          </a:prstGeom>
        </p:spPr>
      </p:pic>
      <p:sp>
        <p:nvSpPr>
          <p:cNvPr id="7" name="Object 8"/>
          <p:cNvSpPr/>
          <p:nvPr/>
        </p:nvSpPr>
        <p:spPr>
          <a:xfrm>
            <a:off x="495176" y="285679"/>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8" name="Object 9"/>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47538" y="380905"/>
            <a:ext cx="1700304" cy="285679"/>
          </a:xfrm>
          <a:prstGeom prst="rect">
            <a:avLst/>
          </a:prstGeom>
        </p:spPr>
      </p:pic>
      <p:pic>
        <p:nvPicPr>
          <p:cNvPr id="9" name="Content Placeholder 8"/>
          <p:cNvPicPr>
            <a:picLocks noGrp="1"/>
          </p:cNvPicPr>
          <p:nvPr>
            <p:ph/>
          </p:nvPr>
        </p:nvPicPr>
        <p:blipFill>
          <a:blip r:embed="rId7" cstate="print"/>
          <a:stretch>
            <a:fillRect/>
          </a:stretch>
        </p:blipFill>
        <p:spPr>
          <a:xfrm>
            <a:off x="8321040" y="0"/>
            <a:ext cx="386791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9" descr="A large white monument in a city&#10;&#10;Description automatically generated">
            <a:extLst>
              <a:ext uri="{FF2B5EF4-FFF2-40B4-BE49-F238E27FC236}">
                <a16:creationId xmlns:a16="http://schemas.microsoft.com/office/drawing/2014/main" id="{BE8CB555-2013-D606-CB39-161E7EAEF5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1"/>
            <a:ext cx="12192000" cy="6858000"/>
          </a:xfrm>
          <a:prstGeom prst="rect">
            <a:avLst/>
          </a:prstGeom>
        </p:spPr>
      </p:pic>
      <p:sp>
        <p:nvSpPr>
          <p:cNvPr id="3"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4" name="Rectangle: Single Corner Rounded 4">
            <a:extLst>
              <a:ext uri="{FF2B5EF4-FFF2-40B4-BE49-F238E27FC236}">
                <a16:creationId xmlns:a16="http://schemas.microsoft.com/office/drawing/2014/main" id="{90B02A10-01E7-2494-66B5-078DDFE69A60}"/>
              </a:ext>
            </a:extLst>
          </p:cNvPr>
          <p:cNvSpPr/>
          <p:nvPr/>
        </p:nvSpPr>
        <p:spPr>
          <a:xfrm>
            <a:off x="-8238" y="1163706"/>
            <a:ext cx="5843847" cy="5702531"/>
          </a:xfrm>
          <a:prstGeom prst="round1Rect">
            <a:avLst>
              <a:gd name="adj" fmla="val 12082"/>
            </a:avLst>
          </a:prstGeom>
          <a:solidFill>
            <a:srgbClr val="0053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marR="0" lvl="1" indent="0" algn="l" defTabSz="914411"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extBox 6">
            <a:extLst>
              <a:ext uri="{FF2B5EF4-FFF2-40B4-BE49-F238E27FC236}">
                <a16:creationId xmlns:a16="http://schemas.microsoft.com/office/drawing/2014/main" id="{C3359629-7405-5BED-0491-4C3A6C6FF755}"/>
              </a:ext>
            </a:extLst>
          </p:cNvPr>
          <p:cNvSpPr txBox="1"/>
          <p:nvPr/>
        </p:nvSpPr>
        <p:spPr>
          <a:xfrm>
            <a:off x="81069" y="2184943"/>
            <a:ext cx="5681708" cy="4016484"/>
          </a:xfrm>
          <a:prstGeom prst="rect">
            <a:avLst/>
          </a:prstGeom>
          <a:noFill/>
        </p:spPr>
        <p:txBody>
          <a:bodyPr wrap="square" lIns="91440" tIns="45720" rIns="91440" bIns="45720" rtlCol="0" anchor="t">
            <a:spAutoFit/>
          </a:bodyPr>
          <a:lstStyle/>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Founded in 1979, headquartered in Indianapolis</a:t>
            </a:r>
            <a:endParaRPr kumimoji="0" lang="en-US" sz="1800" b="0" i="0" u="none" strike="noStrike" kern="1200" cap="none" spc="0" normalizeH="0" baseline="0" noProof="0" dirty="0">
              <a:ln>
                <a:noFill/>
              </a:ln>
              <a:solidFill>
                <a:prstClr val="white"/>
              </a:solidFill>
              <a:effectLst/>
              <a:uLnTx/>
              <a:uFillTx/>
              <a:latin typeface="Montserrat"/>
              <a:ea typeface="+mn-ea"/>
              <a:cs typeface="Arial"/>
            </a:endParaRP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Largest Independently-Owned Full-Service Third-Party Administrator</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Specialize in Administration of Self-Funded Plans and Population Health Management​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Leader in the Direct-to-Employer Movement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We Know and Understand the Market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Experience Working with All Professional Teams: Agents, Networks, MGAs</a:t>
            </a:r>
          </a:p>
          <a:p>
            <a:pPr marL="285750" marR="0" lvl="0" indent="-285750" algn="l" defTabSz="914411"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The Key Family of Companies is a Vertically Integrated group of benefit related organizations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3,000+ Corporate Clients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 Million Members under Management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700 Employees</a:t>
            </a:r>
          </a:p>
        </p:txBody>
      </p:sp>
      <p:pic>
        <p:nvPicPr>
          <p:cNvPr id="6" name="Picture 4">
            <a:extLst>
              <a:ext uri="{FF2B5EF4-FFF2-40B4-BE49-F238E27FC236}">
                <a16:creationId xmlns:a16="http://schemas.microsoft.com/office/drawing/2014/main" id="{E7533ABB-0CFF-7B45-D905-4C9D58558C6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70497" y="1415781"/>
            <a:ext cx="3302852" cy="641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9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154871" y="759389"/>
            <a:ext cx="8455729" cy="5111065"/>
          </a:xfrm>
          <a:prstGeom prst="rect">
            <a:avLst/>
          </a:prstGeom>
          <a:ln>
            <a:noFill/>
          </a:ln>
          <a:effectLst>
            <a:outerShdw blurRad="292100" dist="139700" dir="2700000" sx="1000" sy="1000" algn="tl" rotWithShape="0">
              <a:srgbClr val="333333">
                <a:alpha val="65000"/>
              </a:srgbClr>
            </a:outerShdw>
          </a:effectLst>
        </p:spPr>
      </p:pic>
      <p:sp>
        <p:nvSpPr>
          <p:cNvPr id="3" name="Rectangle 5">
            <a:extLst>
              <a:ext uri="{FF2B5EF4-FFF2-40B4-BE49-F238E27FC236}">
                <a16:creationId xmlns:a16="http://schemas.microsoft.com/office/drawing/2014/main" id="{F34C8217-D749-4511-B7B5-02F77484B378}"/>
              </a:ext>
            </a:extLst>
          </p:cNvPr>
          <p:cNvSpPr/>
          <p:nvPr/>
        </p:nvSpPr>
        <p:spPr>
          <a:xfrm>
            <a:off x="8816521" y="0"/>
            <a:ext cx="3375480" cy="6872068"/>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sp>
        <p:nvSpPr>
          <p:cNvPr id="5" name="Rectangle: Rounded Corners 7">
            <a:extLst>
              <a:ext uri="{FF2B5EF4-FFF2-40B4-BE49-F238E27FC236}">
                <a16:creationId xmlns:a16="http://schemas.microsoft.com/office/drawing/2014/main" id="{880AE72B-2936-B7FD-B16B-B7DDE61C48BF}"/>
              </a:ext>
            </a:extLst>
          </p:cNvPr>
          <p:cNvSpPr/>
          <p:nvPr/>
        </p:nvSpPr>
        <p:spPr>
          <a:xfrm>
            <a:off x="2592372" y="3693371"/>
            <a:ext cx="2053120"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Bentonville, AR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Northwest Health Plan</a:t>
            </a:r>
          </a:p>
        </p:txBody>
      </p:sp>
      <p:sp>
        <p:nvSpPr>
          <p:cNvPr id="6" name="Rectangle: Rounded Corners 9">
            <a:extLst>
              <a:ext uri="{FF2B5EF4-FFF2-40B4-BE49-F238E27FC236}">
                <a16:creationId xmlns:a16="http://schemas.microsoft.com/office/drawing/2014/main" id="{83BAAF75-9BFE-8A09-84C8-29127AD11CC8}"/>
              </a:ext>
            </a:extLst>
          </p:cNvPr>
          <p:cNvSpPr/>
          <p:nvPr/>
        </p:nvSpPr>
        <p:spPr>
          <a:xfrm>
            <a:off x="3384431" y="4574952"/>
            <a:ext cx="1781467"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Meridian, MS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Affinity Health Plan</a:t>
            </a:r>
          </a:p>
        </p:txBody>
      </p:sp>
      <p:sp>
        <p:nvSpPr>
          <p:cNvPr id="7" name="Rectangle: Rounded Corners 10">
            <a:extLst>
              <a:ext uri="{FF2B5EF4-FFF2-40B4-BE49-F238E27FC236}">
                <a16:creationId xmlns:a16="http://schemas.microsoft.com/office/drawing/2014/main" id="{F7F76DEC-1B86-5F34-4522-EE137E2BEDC5}"/>
              </a:ext>
            </a:extLst>
          </p:cNvPr>
          <p:cNvSpPr/>
          <p:nvPr/>
        </p:nvSpPr>
        <p:spPr>
          <a:xfrm>
            <a:off x="4645491" y="5362115"/>
            <a:ext cx="2132682"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Fort Myers, FL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Lee Health Care Partners</a:t>
            </a:r>
          </a:p>
        </p:txBody>
      </p:sp>
      <p:sp>
        <p:nvSpPr>
          <p:cNvPr id="8" name="Rectangle: Rounded Corners 11">
            <a:extLst>
              <a:ext uri="{FF2B5EF4-FFF2-40B4-BE49-F238E27FC236}">
                <a16:creationId xmlns:a16="http://schemas.microsoft.com/office/drawing/2014/main" id="{B522D9FB-03E8-0475-A3A5-AF33059EA7E6}"/>
              </a:ext>
            </a:extLst>
          </p:cNvPr>
          <p:cNvSpPr/>
          <p:nvPr/>
        </p:nvSpPr>
        <p:spPr>
          <a:xfrm>
            <a:off x="5957116" y="4048009"/>
            <a:ext cx="2272613"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Knoxville, TN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East Tennessee Health Plan</a:t>
            </a:r>
          </a:p>
        </p:txBody>
      </p:sp>
      <p:sp>
        <p:nvSpPr>
          <p:cNvPr id="9" name="Rectangle: Rounded Corners 12">
            <a:extLst>
              <a:ext uri="{FF2B5EF4-FFF2-40B4-BE49-F238E27FC236}">
                <a16:creationId xmlns:a16="http://schemas.microsoft.com/office/drawing/2014/main" id="{F3AB3343-FA0C-E9FA-637F-E45BB11DFFC1}"/>
              </a:ext>
            </a:extLst>
          </p:cNvPr>
          <p:cNvSpPr/>
          <p:nvPr/>
        </p:nvSpPr>
        <p:spPr>
          <a:xfrm>
            <a:off x="6678138" y="3093352"/>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Cincinnati, OH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TCH Optimal</a:t>
            </a:r>
          </a:p>
        </p:txBody>
      </p:sp>
      <p:sp>
        <p:nvSpPr>
          <p:cNvPr id="10" name="Rectangle: Rounded Corners 13">
            <a:extLst>
              <a:ext uri="{FF2B5EF4-FFF2-40B4-BE49-F238E27FC236}">
                <a16:creationId xmlns:a16="http://schemas.microsoft.com/office/drawing/2014/main" id="{A5F1AA97-617E-DEDA-E780-8518ACB143FB}"/>
              </a:ext>
            </a:extLst>
          </p:cNvPr>
          <p:cNvSpPr/>
          <p:nvPr/>
        </p:nvSpPr>
        <p:spPr>
          <a:xfrm>
            <a:off x="4102202" y="2976014"/>
            <a:ext cx="1854914"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Louisville, KY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white"/>
                </a:solidFill>
                <a:effectLst/>
                <a:uLnTx/>
                <a:uFillTx/>
                <a:latin typeface="Montserrat" panose="00000500000000000000" pitchFamily="2" charset="0"/>
                <a:ea typeface="+mn-ea"/>
                <a:cs typeface="Arial" panose="020B0604020202020204" pitchFamily="34" charset="0"/>
              </a:rPr>
              <a:t>OneHealth</a:t>
            </a: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Plan</a:t>
            </a:r>
          </a:p>
        </p:txBody>
      </p:sp>
      <p:pic>
        <p:nvPicPr>
          <p:cNvPr id="11" name="Picture 13">
            <a:extLst>
              <a:ext uri="{FF2B5EF4-FFF2-40B4-BE49-F238E27FC236}">
                <a16:creationId xmlns:a16="http://schemas.microsoft.com/office/drawing/2014/main" id="{1FBDB55F-E2EE-D357-32A6-FEC23D86FA8B}"/>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2" name="Title 4">
            <a:extLst>
              <a:ext uri="{FF2B5EF4-FFF2-40B4-BE49-F238E27FC236}">
                <a16:creationId xmlns:a16="http://schemas.microsoft.com/office/drawing/2014/main" id="{7C6371C7-344C-3C21-F253-96E09F12864E}"/>
              </a:ext>
            </a:extLst>
          </p:cNvPr>
          <p:cNvSpPr txBox="1">
            <a:spLocks/>
          </p:cNvSpPr>
          <p:nvPr/>
        </p:nvSpPr>
        <p:spPr>
          <a:xfrm>
            <a:off x="8881352" y="1661020"/>
            <a:ext cx="3245817" cy="3307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chemeClr val="tx2"/>
                </a:solidFill>
                <a:latin typeface="Book Antiqua" panose="02040602050305030304" pitchFamily="18"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MARKET LEADER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IN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PRIVATE LABELED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DTE PLANS</a:t>
            </a:r>
          </a:p>
        </p:txBody>
      </p:sp>
    </p:spTree>
    <p:extLst>
      <p:ext uri="{BB962C8B-B14F-4D97-AF65-F5344CB8AC3E}">
        <p14:creationId xmlns:p14="http://schemas.microsoft.com/office/powerpoint/2010/main" val="263972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43908" y="818337"/>
            <a:ext cx="3397612" cy="3043929"/>
          </a:xfrm>
        </p:spPr>
        <p:txBody>
          <a:bodyPr>
            <a:noAutofit/>
          </a:bodyPr>
          <a:lstStyle/>
          <a:p>
            <a:pPr>
              <a:lnSpc>
                <a:spcPct val="100000"/>
              </a:lnSpc>
              <a:spcBef>
                <a:spcPts val="1800"/>
              </a:spcBef>
              <a:spcAft>
                <a:spcPts val="600"/>
              </a:spcAft>
            </a:pPr>
            <a:r>
              <a:rPr lang="en-US" sz="4000" dirty="0">
                <a:solidFill>
                  <a:srgbClr val="000B2E"/>
                </a:solidFill>
                <a:cs typeface="Arial" panose="020B0604020202020204" pitchFamily="34" charset="0"/>
              </a:rPr>
              <a:t>DIRECT-TO-EMPLOYER</a:t>
            </a:r>
            <a:br>
              <a:rPr lang="en-US" sz="4000" b="1" dirty="0">
                <a:solidFill>
                  <a:srgbClr val="000B2E"/>
                </a:solidFill>
                <a:cs typeface="Arial" panose="020B0604020202020204" pitchFamily="34" charset="0"/>
              </a:rPr>
            </a:br>
            <a:r>
              <a:rPr lang="en-US" sz="2800" dirty="0">
                <a:solidFill>
                  <a:srgbClr val="000B2E"/>
                </a:solidFill>
                <a:cs typeface="Arial" panose="020B0604020202020204" pitchFamily="34" charset="0"/>
              </a:rPr>
              <a:t>(DTE)</a:t>
            </a:r>
            <a:br>
              <a:rPr lang="en-US" sz="1600" dirty="0">
                <a:solidFill>
                  <a:srgbClr val="000B2E"/>
                </a:solidFill>
                <a:cs typeface="Arial" panose="020B0604020202020204" pitchFamily="34" charset="0"/>
              </a:rPr>
            </a:br>
            <a:br>
              <a:rPr lang="en-US" sz="1600" b="1" dirty="0">
                <a:solidFill>
                  <a:srgbClr val="000B2E"/>
                </a:solidFill>
                <a:cs typeface="Arial" panose="020B0604020202020204" pitchFamily="34" charset="0"/>
              </a:rPr>
            </a:b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461078" y="1468132"/>
            <a:ext cx="6697847" cy="4660901"/>
          </a:xfrm>
        </p:spPr>
        <p:txBody>
          <a:bodyPr>
            <a:normAutofit fontScale="92500"/>
          </a:bodyPr>
          <a:lstStyle/>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Pick the Name of the Health Plan</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Determine the Fees Charged</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Practice the Medicine </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Receive the Profits  </a:t>
            </a:r>
          </a:p>
          <a:p>
            <a:pPr marL="0" indent="0">
              <a:lnSpc>
                <a:spcPct val="150000"/>
              </a:lnSpc>
              <a:spcAft>
                <a:spcPts val="1200"/>
              </a:spcAft>
              <a:buNone/>
            </a:pPr>
            <a:r>
              <a:rPr lang="en-US" sz="3000" b="1" dirty="0">
                <a:solidFill>
                  <a:srgbClr val="59CAE8"/>
                </a:solidFill>
                <a:latin typeface="Montserrat" panose="00000500000000000000" pitchFamily="2" charset="0"/>
              </a:rPr>
              <a:t>WE</a:t>
            </a:r>
            <a:r>
              <a:rPr lang="en-US" dirty="0">
                <a:solidFill>
                  <a:srgbClr val="9900CC"/>
                </a:solidFill>
              </a:rPr>
              <a:t> </a:t>
            </a:r>
            <a:r>
              <a:rPr lang="en-US"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grpSp>
        <p:nvGrpSpPr>
          <p:cNvPr id="7" name="Group 41">
            <a:extLst>
              <a:ext uri="{FF2B5EF4-FFF2-40B4-BE49-F238E27FC236}">
                <a16:creationId xmlns:a16="http://schemas.microsoft.com/office/drawing/2014/main" id="{C3A11C0D-6225-4F5F-9034-762253C251A2}"/>
              </a:ext>
            </a:extLst>
          </p:cNvPr>
          <p:cNvGrpSpPr/>
          <p:nvPr/>
        </p:nvGrpSpPr>
        <p:grpSpPr>
          <a:xfrm>
            <a:off x="4632939" y="1468132"/>
            <a:ext cx="640080" cy="4254692"/>
            <a:chOff x="5315974" y="943768"/>
            <a:chExt cx="640080" cy="4254692"/>
          </a:xfrm>
          <a:noFill/>
        </p:grpSpPr>
        <p:pic>
          <p:nvPicPr>
            <p:cNvPr id="8"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9"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10"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11"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12"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sp>
        <p:nvSpPr>
          <p:cNvPr id="13" name="TextBox 14">
            <a:extLst>
              <a:ext uri="{FF2B5EF4-FFF2-40B4-BE49-F238E27FC236}">
                <a16:creationId xmlns:a16="http://schemas.microsoft.com/office/drawing/2014/main" id="{B8E36735-A0E0-6123-117C-3DE9AA3B9518}"/>
              </a:ext>
            </a:extLst>
          </p:cNvPr>
          <p:cNvSpPr txBox="1"/>
          <p:nvPr/>
        </p:nvSpPr>
        <p:spPr>
          <a:xfrm>
            <a:off x="1148436" y="3085346"/>
            <a:ext cx="2478684" cy="1477328"/>
          </a:xfrm>
          <a:prstGeom prst="rect">
            <a:avLst/>
          </a:prstGeom>
          <a:noFill/>
        </p:spPr>
        <p:txBody>
          <a:bodyPr wrap="square">
            <a:spAutoFit/>
          </a:bodyPr>
          <a:lstStyle/>
          <a:p>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Health Plan Focused on a Direct Relationship with Self-Funded Employers in </a:t>
            </a:r>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Market</a:t>
            </a:r>
            <a:endParaRPr lang="en-US" dirty="0"/>
          </a:p>
        </p:txBody>
      </p:sp>
      <p:pic>
        <p:nvPicPr>
          <p:cNvPr id="14" name="Content Placeholder 13"/>
          <p:cNvPicPr>
            <a:picLocks noGrp="1"/>
          </p:cNvPicPr>
          <p:nvPr>
            <p:ph/>
          </p:nvPr>
        </p:nvPicPr>
        <p:blipFill>
          <a:blip r:embed="rId3" cstate="print"/>
          <a:stretch>
            <a:fillRect/>
          </a:stretch>
        </p:blipFill>
        <p:spPr>
          <a:xfrm>
            <a:off x="8513877" y="429717"/>
            <a:ext cx="2936647" cy="777240"/>
          </a:xfrm>
          <a:prstGeom prst="rect">
            <a:avLst/>
          </a:prstGeom>
        </p:spPr>
      </p:pic>
    </p:spTree>
    <p:extLst>
      <p:ext uri="{BB962C8B-B14F-4D97-AF65-F5344CB8AC3E}">
        <p14:creationId xmlns:p14="http://schemas.microsoft.com/office/powerpoint/2010/main" val="33067487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5</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227045" y="1330559"/>
            <a:ext cx="11737910" cy="584775"/>
          </a:xfrm>
          <a:prstGeom prst="rect">
            <a:avLst/>
          </a:prstGeom>
          <a:noFill/>
        </p:spPr>
        <p:txBody>
          <a:bodyPr wrap="square">
            <a:spAutoFit/>
          </a:bodyPr>
          <a:lstStyle/>
          <a:p>
            <a:pPr algn="ctr"/>
            <a:r>
              <a:rPr lang="en-US" sz="1600" b="1" spc="200" dirty="0">
                <a:solidFill>
                  <a:schemeClr val="accent2">
                    <a:lumMod val="75000"/>
                  </a:schemeClr>
                </a:solidFill>
                <a:latin typeface="Montserrat" panose="00000500000000000000" pitchFamily="2" charset="0"/>
                <a:cs typeface="+mj-cs"/>
              </a:rPr>
              <a:t>Target Market</a:t>
            </a:r>
            <a:br>
              <a:rPr lang="en-US" sz="1600" spc="200" dirty="0">
                <a:latin typeface="Montserrat" panose="00000500000000000000" pitchFamily="2" charset="0"/>
                <a:cs typeface="+mj-cs"/>
              </a:rPr>
            </a:br>
            <a:r>
              <a:rPr lang="en-US" sz="1600" spc="200" dirty="0">
                <a:latin typeface="Montserrat" panose="00000500000000000000" pitchFamily="2" charset="0"/>
                <a:cs typeface="+mj-cs"/>
              </a:rPr>
              <a:t>900+ Employers       120,000</a:t>
            </a:r>
            <a:r>
              <a:rPr lang="en-US" sz="1600" spc="200" dirty="0">
                <a:latin typeface="Montserrat" panose="00000500000000000000" pitchFamily="2" charset="0"/>
                <a:cs typeface="+mj-cs"/>
                <a:sym typeface="Wingdings" panose="05000000000000000000" pitchFamily="2" charset="2"/>
              </a:rPr>
              <a:t>+ Employees       190,000+ Members</a:t>
            </a:r>
            <a:endParaRPr lang="en-US" sz="1600" dirty="0">
              <a:latin typeface="Montserrat" panose="00000500000000000000" pitchFamily="2" charset="0"/>
            </a:endParaRPr>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ontserrat" panose="00000500000000000000" pitchFamily="2" charset="0"/>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ontserrat" panose="00000500000000000000" pitchFamily="2" charset="0"/>
              </a:rPr>
              <a:t>     </a:t>
            </a: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81786" y="43143"/>
            <a:ext cx="12028428" cy="1325563"/>
          </a:xfrm>
        </p:spPr>
        <p:txBody>
          <a:bodyPr>
            <a:noAutofit/>
          </a:bodyPr>
          <a:lstStyle/>
          <a:p>
            <a:pPr>
              <a:lnSpc>
                <a:spcPct val="100000"/>
              </a:lnSpc>
              <a:spcBef>
                <a:spcPts val="1800"/>
              </a:spcBef>
              <a:spcAft>
                <a:spcPts val="600"/>
              </a:spcAft>
            </a:pPr>
            <a:r>
              <a:rPr lang="en-US" sz="3200" b="0" dirty="0">
                <a:solidFill>
                  <a:srgbClr val="000B2E"/>
                </a:solidFill>
              </a:rPr>
              <a:t>SIGNIFICANT OPPORTUNITY FOR PLAN GROWTH</a:t>
            </a:r>
            <a:br>
              <a:rPr lang="en-US" sz="3200" dirty="0">
                <a:solidFill>
                  <a:srgbClr val="000B2E"/>
                </a:solidFill>
              </a:rPr>
            </a:br>
            <a:r>
              <a:rPr lang="en-US" sz="2000" b="0" dirty="0">
                <a:solidFill>
                  <a:srgbClr val="000B2E"/>
                </a:solidFill>
              </a:rPr>
              <a:t>Researched for the below highlighted service area</a:t>
            </a:r>
            <a:endParaRPr lang="en-US" sz="1400" b="0" dirty="0">
              <a:solidFill>
                <a:schemeClr val="tx1">
                  <a:lumMod val="75000"/>
                  <a:lumOff val="25000"/>
                </a:schemeClr>
              </a:solidFill>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extLst>
              <p:ext uri="{D42A27DB-BD31-4B8C-83A1-F6EECF244321}">
                <p14:modId xmlns:p14="http://schemas.microsoft.com/office/powerpoint/2010/main" val="2603096385"/>
              </p:ext>
            </p:extLst>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Montserrat" panose="00000500000000000000" pitchFamily="2"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Montserrat" panose="00000500000000000000" pitchFamily="2"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Montserrat" panose="00000500000000000000" pitchFamily="2" charset="0"/>
                        </a:rPr>
                        <a:t>In Catchment Area</a:t>
                      </a:r>
                    </a:p>
                  </a:txBody>
                  <a:tcPr marL="9525" marR="9525" marT="9525" marB="0">
                    <a:lnL>
                      <a:noFill/>
                    </a:lnL>
                    <a:lnR>
                      <a:noFill/>
                    </a:lnR>
                    <a:lnT>
                      <a:noFill/>
                    </a:lnT>
                    <a:lnB>
                      <a:noFill/>
                    </a:lnB>
                    <a:noFill/>
                  </a:tcPr>
                </a:tc>
                <a:tc>
                  <a:txBody>
                    <a:bodyPr/>
                    <a:lstStyle/>
                    <a:p>
                      <a:pPr algn="ctr" rtl="0" fontAlgn="b"/>
                      <a:r>
                        <a:rPr lang="en-US" sz="1100" b="0" i="0" u="none" strike="noStrike">
                          <a:solidFill>
                            <a:srgbClr val="000000"/>
                          </a:solidFill>
                          <a:effectLst/>
                          <a:latin typeface="Aptos Narrow" panose="020B0004020202020204" pitchFamily="34" charset="0"/>
                        </a:rPr>
                        <a:t>517</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218</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131</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82</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23</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11</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38,800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32,700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39,300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57,400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46,000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dirty="0">
                          <a:solidFill>
                            <a:srgbClr val="000000"/>
                          </a:solidFill>
                          <a:effectLst/>
                          <a:latin typeface="Aptos Narrow" panose="020B0004020202020204" pitchFamily="34" charset="0"/>
                        </a:rPr>
                        <a:t>66,000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69,800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58,900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70,700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103,300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82,800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dirty="0">
                          <a:solidFill>
                            <a:srgbClr val="000000"/>
                          </a:solidFill>
                          <a:effectLst/>
                          <a:latin typeface="Aptos Narrow" panose="020B0004020202020204" pitchFamily="34" charset="0"/>
                        </a:rPr>
                        <a:t>118,800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9" name="Content Placeholder 8"/>
          <p:cNvPicPr>
            <a:picLocks noGrp="1"/>
          </p:cNvPicPr>
          <p:nvPr>
            <p:ph/>
          </p:nvPr>
        </p:nvPicPr>
        <p:blipFill>
          <a:blip r:embed="rId2" cstate="print"/>
          <a:stretch>
            <a:fillRect/>
          </a:stretch>
        </p:blipFill>
        <p:spPr>
          <a:xfrm>
            <a:off x="-795866" y="1752255"/>
            <a:ext cx="6096000" cy="4876800"/>
          </a:xfrm>
          <a:prstGeom prst="rect">
            <a:avLst/>
          </a:prstGeom>
        </p:spPr>
      </p:pic>
    </p:spTree>
    <p:extLst>
      <p:ext uri="{BB962C8B-B14F-4D97-AF65-F5344CB8AC3E}">
        <p14:creationId xmlns:p14="http://schemas.microsoft.com/office/powerpoint/2010/main" val="16600605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b="0" dirty="0"/>
              <a:t>PLAN POTENTIAL GROWTH PATHS</a:t>
            </a:r>
          </a:p>
        </p:txBody>
      </p:sp>
      <p:grpSp>
        <p:nvGrpSpPr>
          <p:cNvPr id="3" name="Group 28">
            <a:extLst>
              <a:ext uri="{FF2B5EF4-FFF2-40B4-BE49-F238E27FC236}">
                <a16:creationId xmlns:a16="http://schemas.microsoft.com/office/drawing/2014/main" id="{69A10699-B4B2-AF88-E1A1-1EF0A88AB471}"/>
              </a:ext>
            </a:extLst>
          </p:cNvPr>
          <p:cNvGrpSpPr/>
          <p:nvPr/>
        </p:nvGrpSpPr>
        <p:grpSpPr>
          <a:xfrm>
            <a:off x="315991" y="1915224"/>
            <a:ext cx="4179295" cy="3636786"/>
            <a:chOff x="1267778" y="2161521"/>
            <a:chExt cx="8731885" cy="4307840"/>
          </a:xfrm>
        </p:grpSpPr>
        <p:grpSp>
          <p:nvGrpSpPr>
            <p:cNvPr id="4" name="Group 29">
              <a:extLst>
                <a:ext uri="{FF2B5EF4-FFF2-40B4-BE49-F238E27FC236}">
                  <a16:creationId xmlns:a16="http://schemas.microsoft.com/office/drawing/2014/main" id="{11C874E5-E3B4-BAE0-4E2D-2C86D4E7E53A}"/>
                </a:ext>
              </a:extLst>
            </p:cNvPr>
            <p:cNvGrpSpPr/>
            <p:nvPr/>
          </p:nvGrpSpPr>
          <p:grpSpPr>
            <a:xfrm>
              <a:off x="1267778" y="5494001"/>
              <a:ext cx="7329805" cy="975360"/>
              <a:chOff x="1267778" y="5494001"/>
              <a:chExt cx="7329805" cy="975360"/>
            </a:xfrm>
          </p:grpSpPr>
          <p:sp>
            <p:nvSpPr>
              <p:cNvPr id="5"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6" name="TextBox 73">
                <a:extLst>
                  <a:ext uri="{FF2B5EF4-FFF2-40B4-BE49-F238E27FC236}">
                    <a16:creationId xmlns:a16="http://schemas.microsoft.com/office/drawing/2014/main" id="{AEAD331A-F2F6-E5AA-6FA8-43463612A331}"/>
                  </a:ext>
                </a:extLst>
              </p:cNvPr>
              <p:cNvSpPr txBox="1"/>
              <p:nvPr/>
            </p:nvSpPr>
            <p:spPr>
              <a:xfrm>
                <a:off x="1267778" y="5759838"/>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Population</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7" name="Group 30">
              <a:extLst>
                <a:ext uri="{FF2B5EF4-FFF2-40B4-BE49-F238E27FC236}">
                  <a16:creationId xmlns:a16="http://schemas.microsoft.com/office/drawing/2014/main" id="{689474B3-12FA-8E66-D71F-53822C9C68C9}"/>
                </a:ext>
              </a:extLst>
            </p:cNvPr>
            <p:cNvGrpSpPr/>
            <p:nvPr/>
          </p:nvGrpSpPr>
          <p:grpSpPr>
            <a:xfrm>
              <a:off x="1724978" y="2161521"/>
              <a:ext cx="8274685" cy="3197014"/>
              <a:chOff x="3170556" y="1830493"/>
              <a:chExt cx="8274685" cy="3197014"/>
            </a:xfrm>
          </p:grpSpPr>
          <p:grpSp>
            <p:nvGrpSpPr>
              <p:cNvPr id="8" name="Group 58">
                <a:extLst>
                  <a:ext uri="{FF2B5EF4-FFF2-40B4-BE49-F238E27FC236}">
                    <a16:creationId xmlns:a16="http://schemas.microsoft.com/office/drawing/2014/main" id="{51ED3EA0-1B18-EEE0-293E-BB00AD4DE764}"/>
                  </a:ext>
                </a:extLst>
              </p:cNvPr>
              <p:cNvGrpSpPr/>
              <p:nvPr/>
            </p:nvGrpSpPr>
            <p:grpSpPr>
              <a:xfrm>
                <a:off x="3170556" y="4052147"/>
                <a:ext cx="7339965" cy="975360"/>
                <a:chOff x="3170556" y="4052147"/>
                <a:chExt cx="7339965" cy="975360"/>
              </a:xfrm>
            </p:grpSpPr>
            <p:sp>
              <p:nvSpPr>
                <p:cNvPr id="9"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0" name="TextBox 63">
                  <a:extLst>
                    <a:ext uri="{FF2B5EF4-FFF2-40B4-BE49-F238E27FC236}">
                      <a16:creationId xmlns:a16="http://schemas.microsoft.com/office/drawing/2014/main" id="{89D49C14-1775-066C-353B-1ACCC4D24138}"/>
                    </a:ext>
                  </a:extLst>
                </p:cNvPr>
                <p:cNvSpPr txBox="1"/>
                <p:nvPr/>
              </p:nvSpPr>
              <p:spPr>
                <a:xfrm>
                  <a:off x="3170556" y="4317984"/>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Working Age</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1" name="Group 52">
                <a:extLst>
                  <a:ext uri="{FF2B5EF4-FFF2-40B4-BE49-F238E27FC236}">
                    <a16:creationId xmlns:a16="http://schemas.microsoft.com/office/drawing/2014/main" id="{1DBB449D-FFE3-79BF-CC4B-CBC0A3F03B29}"/>
                  </a:ext>
                </a:extLst>
              </p:cNvPr>
              <p:cNvGrpSpPr/>
              <p:nvPr/>
            </p:nvGrpSpPr>
            <p:grpSpPr>
              <a:xfrm>
                <a:off x="3612748" y="2930285"/>
                <a:ext cx="7365133" cy="975360"/>
                <a:chOff x="3612747" y="2930285"/>
                <a:chExt cx="7365133" cy="975360"/>
              </a:xfrm>
            </p:grpSpPr>
            <p:sp>
              <p:nvSpPr>
                <p:cNvPr id="12"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3" name="TextBox 57">
                  <a:extLst>
                    <a:ext uri="{FF2B5EF4-FFF2-40B4-BE49-F238E27FC236}">
                      <a16:creationId xmlns:a16="http://schemas.microsoft.com/office/drawing/2014/main" id="{3C6B2C41-D61E-2C7A-3D82-5A90E06CEE5A}"/>
                    </a:ext>
                  </a:extLst>
                </p:cNvPr>
                <p:cNvSpPr txBox="1"/>
                <p:nvPr/>
              </p:nvSpPr>
              <p:spPr>
                <a:xfrm>
                  <a:off x="3612747" y="3206963"/>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Insured</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4" name="Group 46">
                <a:extLst>
                  <a:ext uri="{FF2B5EF4-FFF2-40B4-BE49-F238E27FC236}">
                    <a16:creationId xmlns:a16="http://schemas.microsoft.com/office/drawing/2014/main" id="{F80321D4-B659-65A7-5D2E-CFE404DB4D8E}"/>
                  </a:ext>
                </a:extLst>
              </p:cNvPr>
              <p:cNvGrpSpPr/>
              <p:nvPr/>
            </p:nvGrpSpPr>
            <p:grpSpPr>
              <a:xfrm>
                <a:off x="4104006" y="1830493"/>
                <a:ext cx="7341235" cy="975360"/>
                <a:chOff x="4104006" y="1830493"/>
                <a:chExt cx="7341235" cy="975360"/>
              </a:xfrm>
            </p:grpSpPr>
            <p:sp>
              <p:nvSpPr>
                <p:cNvPr id="15"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6" name="TextBox 51">
                  <a:extLst>
                    <a:ext uri="{FF2B5EF4-FFF2-40B4-BE49-F238E27FC236}">
                      <a16:creationId xmlns:a16="http://schemas.microsoft.com/office/drawing/2014/main" id="{2AE87841-825C-FE4F-1AB9-6CC03862C17F}"/>
                    </a:ext>
                  </a:extLst>
                </p:cNvPr>
                <p:cNvSpPr txBox="1"/>
                <p:nvPr/>
              </p:nvSpPr>
              <p:spPr>
                <a:xfrm>
                  <a:off x="4104006" y="2096329"/>
                  <a:ext cx="3705005"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Self Funded</a:t>
                  </a:r>
                  <a:endParaRPr lang="en-IN" sz="1600" b="1" i="1" dirty="0">
                    <a:solidFill>
                      <a:schemeClr val="bg1"/>
                    </a:solidFill>
                    <a:latin typeface="Montserrat" panose="00000500000000000000" pitchFamily="2" charset="0"/>
                    <a:cs typeface="Arial" panose="020B0604020202020204" pitchFamily="34" charset="0"/>
                  </a:endParaRPr>
                </a:p>
              </p:txBody>
            </p:sp>
          </p:grpSp>
        </p:grpSp>
        <p:sp>
          <p:nvSpPr>
            <p:cNvPr id="17"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nvGrpSpPr>
            <p:cNvPr id="18"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19"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0"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1"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2"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3"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grpSp>
        <p:sp>
          <p:nvSpPr>
            <p:cNvPr id="24"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sp>
          <p:nvSpPr>
            <p:cNvPr id="25"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sp>
        <p:nvSpPr>
          <p:cNvPr id="26" name="TextBox 75">
            <a:extLst>
              <a:ext uri="{FF2B5EF4-FFF2-40B4-BE49-F238E27FC236}">
                <a16:creationId xmlns:a16="http://schemas.microsoft.com/office/drawing/2014/main" id="{02AD65D6-9504-23E6-E4FD-CC294F4A3C64}"/>
              </a:ext>
            </a:extLst>
          </p:cNvPr>
          <p:cNvSpPr txBox="1"/>
          <p:nvPr/>
        </p:nvSpPr>
        <p:spPr>
          <a:xfrm>
            <a:off x="981590" y="5731169"/>
            <a:ext cx="9514366" cy="276999"/>
          </a:xfrm>
          <a:prstGeom prst="rect">
            <a:avLst/>
          </a:prstGeom>
          <a:noFill/>
        </p:spPr>
        <p:txBody>
          <a:bodyPr wrap="square" rtlCol="0">
            <a:spAutoFit/>
          </a:bodyPr>
          <a:lstStyle/>
          <a:p>
            <a:r>
              <a:rPr lang="en-US" sz="1200" dirty="0">
                <a:solidFill/>
                <a:latin typeface="Montserrat" panose="00000500000000000000" pitchFamily="2" charset="0"/>
              </a:rPr>
              <a:t>Estimates includes the Parkview Health service area in Adams, Allen, DeKalb, Elkhart, Grant, Huntington, Kosciusko, LaGrange, Miami, Noble, Steuben, Wabash, Wells, Whitley, St. Joseph, Defiance, Paulding, Van Wert, and Williams Counties</a:t>
            </a:r>
          </a:p>
        </p:txBody>
      </p:sp>
      <p:sp>
        <p:nvSpPr>
          <p:cNvPr id="27" name="TextBox 76">
            <a:extLst>
              <a:ext uri="{FF2B5EF4-FFF2-40B4-BE49-F238E27FC236}">
                <a16:creationId xmlns:a16="http://schemas.microsoft.com/office/drawing/2014/main" id="{F3A378C3-B669-3EE2-B76D-98EDB44E8CDF}"/>
              </a:ext>
            </a:extLst>
          </p:cNvPr>
          <p:cNvSpPr txBox="1"/>
          <p:nvPr/>
        </p:nvSpPr>
        <p:spPr>
          <a:xfrm>
            <a:off x="2326255" y="4909050"/>
            <a:ext cx="1752403" cy="461665"/>
          </a:xfrm>
          <a:prstGeom prst="rect">
            <a:avLst/>
          </a:prstGeom>
          <a:noFill/>
        </p:spPr>
        <p:txBody>
          <a:bodyPr wrap="none" rtlCol="0">
            <a:spAutoFit/>
          </a:bodyPr>
          <a:lstStyle/>
          <a:p>
            <a:r>
              <a:rPr lang="en-US" sz="2400" dirty="0">
                <a:solidFill/>
                <a:latin typeface="Montserrat" panose="00000500000000000000" pitchFamily="2" charset="0"/>
              </a:rPr>
              <a:t>878K</a:t>
            </a:r>
          </a:p>
        </p:txBody>
      </p:sp>
      <p:sp>
        <p:nvSpPr>
          <p:cNvPr id="28" name="TextBox 77">
            <a:extLst>
              <a:ext uri="{FF2B5EF4-FFF2-40B4-BE49-F238E27FC236}">
                <a16:creationId xmlns:a16="http://schemas.microsoft.com/office/drawing/2014/main" id="{F24CF5B8-0E02-1AF3-2A3D-F14253B44FE8}"/>
              </a:ext>
            </a:extLst>
          </p:cNvPr>
          <p:cNvSpPr txBox="1"/>
          <p:nvPr/>
        </p:nvSpPr>
        <p:spPr>
          <a:xfrm>
            <a:off x="2549188" y="3983995"/>
            <a:ext cx="1162498" cy="461665"/>
          </a:xfrm>
          <a:prstGeom prst="rect">
            <a:avLst/>
          </a:prstGeom>
          <a:noFill/>
        </p:spPr>
        <p:txBody>
          <a:bodyPr wrap="none" rtlCol="0">
            <a:spAutoFit/>
          </a:bodyPr>
          <a:lstStyle/>
          <a:p>
            <a:r>
              <a:rPr lang="en-US" sz="2400" dirty="0">
                <a:solidFill/>
                <a:latin typeface="Montserrat" panose="00000500000000000000" pitchFamily="2" charset="0"/>
              </a:rPr>
              <a:t>499K</a:t>
            </a:r>
          </a:p>
        </p:txBody>
      </p:sp>
      <p:sp>
        <p:nvSpPr>
          <p:cNvPr id="29" name="TextBox 78">
            <a:extLst>
              <a:ext uri="{FF2B5EF4-FFF2-40B4-BE49-F238E27FC236}">
                <a16:creationId xmlns:a16="http://schemas.microsoft.com/office/drawing/2014/main" id="{509B3348-F2D5-63CE-B5D5-5FB7263B3D0F}"/>
              </a:ext>
            </a:extLst>
          </p:cNvPr>
          <p:cNvSpPr txBox="1"/>
          <p:nvPr/>
        </p:nvSpPr>
        <p:spPr>
          <a:xfrm>
            <a:off x="2768644" y="3041250"/>
            <a:ext cx="1132041" cy="461665"/>
          </a:xfrm>
          <a:prstGeom prst="rect">
            <a:avLst/>
          </a:prstGeom>
          <a:noFill/>
        </p:spPr>
        <p:txBody>
          <a:bodyPr wrap="none" rtlCol="0">
            <a:spAutoFit/>
          </a:bodyPr>
          <a:lstStyle/>
          <a:p>
            <a:r>
              <a:rPr lang="en-US" sz="2400" dirty="0">
                <a:solidFill/>
                <a:latin typeface="Montserrat" panose="00000500000000000000" pitchFamily="2" charset="0"/>
              </a:rPr>
              <a:t>349K</a:t>
            </a:r>
          </a:p>
        </p:txBody>
      </p:sp>
      <p:sp>
        <p:nvSpPr>
          <p:cNvPr id="30" name="TextBox 79">
            <a:extLst>
              <a:ext uri="{FF2B5EF4-FFF2-40B4-BE49-F238E27FC236}">
                <a16:creationId xmlns:a16="http://schemas.microsoft.com/office/drawing/2014/main" id="{7E24246C-24ED-62DA-EA2E-6EA4A6ADAEAC}"/>
              </a:ext>
            </a:extLst>
          </p:cNvPr>
          <p:cNvSpPr txBox="1"/>
          <p:nvPr/>
        </p:nvSpPr>
        <p:spPr>
          <a:xfrm>
            <a:off x="2988100" y="2109715"/>
            <a:ext cx="984565" cy="461665"/>
          </a:xfrm>
          <a:prstGeom prst="rect">
            <a:avLst/>
          </a:prstGeom>
          <a:noFill/>
        </p:spPr>
        <p:txBody>
          <a:bodyPr wrap="none" rtlCol="0">
            <a:spAutoFit/>
          </a:bodyPr>
          <a:lstStyle/>
          <a:p>
            <a:r>
              <a:rPr lang="en-US" sz="2400" dirty="0">
                <a:solidFill/>
                <a:latin typeface="Montserrat" panose="00000500000000000000" pitchFamily="2" charset="0"/>
              </a:rPr>
              <a:t>230K</a:t>
            </a:r>
          </a:p>
        </p:txBody>
      </p:sp>
      <p:pic>
        <p:nvPicPr>
          <p:cNvPr id="31" name="Picture 4">
            <a:extLst>
              <a:ext uri="{FF2B5EF4-FFF2-40B4-BE49-F238E27FC236}">
                <a16:creationId xmlns:a16="http://schemas.microsoft.com/office/drawing/2014/main" id="{0D8A2093-EE63-6F98-17FC-8FA2F27D269E}"/>
              </a:ext>
            </a:extLst>
          </p:cNvPr>
          <p:cNvPicPr>
            <a:picLocks noChangeAspect="1"/>
          </p:cNvPicPr>
          <p:nvPr/>
        </p:nvPicPr>
        <p:blipFill>
          <a:blip r:embed="rId2"/>
          <a:stretch>
            <a:fillRect/>
          </a:stretch>
        </p:blipFill>
        <p:spPr>
          <a:xfrm>
            <a:off x="215573" y="6356350"/>
            <a:ext cx="2125097" cy="463658"/>
          </a:xfrm>
          <a:prstGeom prst="rect">
            <a:avLst/>
          </a:prstGeom>
        </p:spPr>
      </p:pic>
      <p:sp>
        <p:nvSpPr>
          <p:cNvPr id="32" name="Freeform 13">
            <a:extLst>
              <a:ext uri="{FF2B5EF4-FFF2-40B4-BE49-F238E27FC236}">
                <a16:creationId xmlns:a16="http://schemas.microsoft.com/office/drawing/2014/main" id="{28524B04-16FE-D5D9-4125-86AD5B994E0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33" name="Content Placeholder 32"/>
          <p:cNvPicPr>
            <a:picLocks noGrp="1"/>
          </p:cNvPicPr>
          <p:nvPr>
            <p:ph/>
          </p:nvPr>
        </p:nvPicPr>
        <p:blipFill>
          <a:blip r:embed="rId3" cstate="print"/>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C0C1C4CA-44D9-9691-E058-46CEB5C35DF2}"/>
              </a:ext>
            </a:extLst>
          </p:cNvPr>
          <p:cNvSpPr/>
          <p:nvPr/>
        </p:nvSpPr>
        <p:spPr>
          <a:xfrm>
            <a:off x="5541867" y="1756658"/>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1">
            <a:extLst>
              <a:ext uri="{FF2B5EF4-FFF2-40B4-BE49-F238E27FC236}">
                <a16:creationId xmlns:a16="http://schemas.microsoft.com/office/drawing/2014/main" id="{8DCAE5A5-11EC-16C5-5F5F-C5DF9E3B0859}"/>
              </a:ext>
            </a:extLst>
          </p:cNvPr>
          <p:cNvSpPr/>
          <p:nvPr/>
        </p:nvSpPr>
        <p:spPr>
          <a:xfrm>
            <a:off x="7456600" y="1756656"/>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Rectangle 12">
            <a:extLst>
              <a:ext uri="{FF2B5EF4-FFF2-40B4-BE49-F238E27FC236}">
                <a16:creationId xmlns:a16="http://schemas.microsoft.com/office/drawing/2014/main" id="{98C73641-C807-1985-E19A-CA79DA10785E}"/>
              </a:ext>
            </a:extLst>
          </p:cNvPr>
          <p:cNvSpPr/>
          <p:nvPr/>
        </p:nvSpPr>
        <p:spPr>
          <a:xfrm>
            <a:off x="9371334" y="1756655"/>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3">
            <a:extLst>
              <a:ext uri="{FF2B5EF4-FFF2-40B4-BE49-F238E27FC236}">
                <a16:creationId xmlns:a16="http://schemas.microsoft.com/office/drawing/2014/main" id="{8546D6DB-89F3-8B35-A9E8-670CED022928}"/>
              </a:ext>
            </a:extLst>
          </p:cNvPr>
          <p:cNvSpPr txBox="1"/>
          <p:nvPr/>
        </p:nvSpPr>
        <p:spPr>
          <a:xfrm>
            <a:off x="1447022" y="1524619"/>
            <a:ext cx="3100529" cy="630942"/>
          </a:xfrm>
          <a:prstGeom prst="rect">
            <a:avLst/>
          </a:prstGeom>
          <a:noFill/>
        </p:spPr>
        <p:txBody>
          <a:bodyPr wrap="none" rtlCol="0">
            <a:spAutoFit/>
          </a:bodyPr>
          <a:lstStyle/>
          <a:p>
            <a:pPr algn="ctr"/>
            <a:r>
              <a:rPr lang="en-US" sz="2400" b="1" dirty="0">
                <a:solidFill>
                  <a:srgbClr val="6087CE"/>
                </a:solidFill>
                <a:latin typeface="Montserrat" panose="00000500000000000000" pitchFamily="2" charset="0"/>
              </a:rPr>
              <a:t>Early Stage</a:t>
            </a:r>
          </a:p>
          <a:p>
            <a:pPr algn="ctr"/>
            <a:r>
              <a:rPr lang="en-US" sz="1100" dirty="0">
                <a:solidFill>
                  <a:srgbClr val="6087CE"/>
                </a:solidFill>
                <a:latin typeface="Montserrat" panose="00000500000000000000" pitchFamily="2" charset="0"/>
              </a:rPr>
              <a:t>Gaining Name Recognition, Early Growth</a:t>
            </a:r>
          </a:p>
        </p:txBody>
      </p:sp>
      <p:sp>
        <p:nvSpPr>
          <p:cNvPr id="6" name="TextBox 6">
            <a:extLst>
              <a:ext uri="{FF2B5EF4-FFF2-40B4-BE49-F238E27FC236}">
                <a16:creationId xmlns:a16="http://schemas.microsoft.com/office/drawing/2014/main" id="{0C35DE11-AC92-1958-1813-38A8A86CBCE8}"/>
              </a:ext>
            </a:extLst>
          </p:cNvPr>
          <p:cNvSpPr txBox="1"/>
          <p:nvPr/>
        </p:nvSpPr>
        <p:spPr>
          <a:xfrm>
            <a:off x="1275976" y="2181545"/>
            <a:ext cx="1624165"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Revenue:</a:t>
            </a:r>
          </a:p>
        </p:txBody>
      </p:sp>
      <p:sp>
        <p:nvSpPr>
          <p:cNvPr id="7" name="TextBox 7">
            <a:extLst>
              <a:ext uri="{FF2B5EF4-FFF2-40B4-BE49-F238E27FC236}">
                <a16:creationId xmlns:a16="http://schemas.microsoft.com/office/drawing/2014/main" id="{2E2DA353-8032-9A29-CBFC-5E2CAB8FA818}"/>
              </a:ext>
            </a:extLst>
          </p:cNvPr>
          <p:cNvSpPr txBox="1"/>
          <p:nvPr/>
        </p:nvSpPr>
        <p:spPr>
          <a:xfrm>
            <a:off x="3224011" y="2181545"/>
            <a:ext cx="1412759"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Profit:</a:t>
            </a:r>
          </a:p>
        </p:txBody>
      </p:sp>
      <p:sp>
        <p:nvSpPr>
          <p:cNvPr id="8" name="TextBox 9">
            <a:extLst>
              <a:ext uri="{FF2B5EF4-FFF2-40B4-BE49-F238E27FC236}">
                <a16:creationId xmlns:a16="http://schemas.microsoft.com/office/drawing/2014/main" id="{2EE70FCE-698F-980C-DE5B-A5E0DD82F2B7}"/>
              </a:ext>
            </a:extLst>
          </p:cNvPr>
          <p:cNvSpPr txBox="1"/>
          <p:nvPr/>
        </p:nvSpPr>
        <p:spPr>
          <a:xfrm>
            <a:off x="1269691"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$14.21M</a:t>
            </a:r>
            <a:endParaRPr lang="en-US" sz="2000" dirty="0">
              <a:latin typeface="Montserrat" panose="00000500000000000000" pitchFamily="2" charset="0"/>
            </a:endParaRPr>
          </a:p>
        </p:txBody>
      </p:sp>
      <p:sp>
        <p:nvSpPr>
          <p:cNvPr id="9" name="TextBox 14">
            <a:extLst>
              <a:ext uri="{FF2B5EF4-FFF2-40B4-BE49-F238E27FC236}">
                <a16:creationId xmlns:a16="http://schemas.microsoft.com/office/drawing/2014/main" id="{DBAF8120-09F6-4EB0-E666-C1CBDC5CF295}"/>
              </a:ext>
            </a:extLst>
          </p:cNvPr>
          <p:cNvSpPr txBox="1"/>
          <p:nvPr/>
        </p:nvSpPr>
        <p:spPr>
          <a:xfrm>
            <a:off x="3063240"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$2.37M</a:t>
            </a:r>
            <a:endParaRPr lang="en-US" sz="2000" dirty="0">
              <a:latin typeface="Montserrat" panose="00000500000000000000" pitchFamily="2" charset="0"/>
            </a:endParaRPr>
          </a:p>
        </p:txBody>
      </p:sp>
      <p:sp>
        <p:nvSpPr>
          <p:cNvPr id="10" name="TextBox 15">
            <a:extLst>
              <a:ext uri="{FF2B5EF4-FFF2-40B4-BE49-F238E27FC236}">
                <a16:creationId xmlns:a16="http://schemas.microsoft.com/office/drawing/2014/main" id="{5B374298-411A-3F68-B672-E1DC32DEA9AE}"/>
              </a:ext>
            </a:extLst>
          </p:cNvPr>
          <p:cNvSpPr txBox="1"/>
          <p:nvPr/>
        </p:nvSpPr>
        <p:spPr>
          <a:xfrm>
            <a:off x="1679267" y="3039035"/>
            <a:ext cx="261802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Growth Stage</a:t>
            </a:r>
          </a:p>
          <a:p>
            <a:pPr algn="ctr"/>
            <a:r>
              <a:rPr lang="en-US" sz="1100" dirty="0">
                <a:solidFill>
                  <a:srgbClr val="2F5597"/>
                </a:solidFill>
                <a:latin typeface="Montserrat" panose="00000500000000000000" pitchFamily="2" charset="0"/>
              </a:rPr>
              <a:t>Strong Reputation, Strong Growth</a:t>
            </a:r>
          </a:p>
        </p:txBody>
      </p:sp>
      <p:sp>
        <p:nvSpPr>
          <p:cNvPr id="11" name="TextBox 16">
            <a:extLst>
              <a:ext uri="{FF2B5EF4-FFF2-40B4-BE49-F238E27FC236}">
                <a16:creationId xmlns:a16="http://schemas.microsoft.com/office/drawing/2014/main" id="{734215D0-1B81-9E25-D893-D1A81A7D90DE}"/>
              </a:ext>
            </a:extLst>
          </p:cNvPr>
          <p:cNvSpPr txBox="1"/>
          <p:nvPr/>
        </p:nvSpPr>
        <p:spPr>
          <a:xfrm>
            <a:off x="1266967" y="3695961"/>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2" name="TextBox 17">
            <a:extLst>
              <a:ext uri="{FF2B5EF4-FFF2-40B4-BE49-F238E27FC236}">
                <a16:creationId xmlns:a16="http://schemas.microsoft.com/office/drawing/2014/main" id="{44D03DDF-E57A-E22B-A334-B0D6BAD568C1}"/>
              </a:ext>
            </a:extLst>
          </p:cNvPr>
          <p:cNvSpPr txBox="1"/>
          <p:nvPr/>
        </p:nvSpPr>
        <p:spPr>
          <a:xfrm>
            <a:off x="3215002" y="3695961"/>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3" name="TextBox 20">
            <a:extLst>
              <a:ext uri="{FF2B5EF4-FFF2-40B4-BE49-F238E27FC236}">
                <a16:creationId xmlns:a16="http://schemas.microsoft.com/office/drawing/2014/main" id="{2F96F890-CA85-53B4-4C86-B02186E9E89E}"/>
              </a:ext>
            </a:extLst>
          </p:cNvPr>
          <p:cNvSpPr txBox="1"/>
          <p:nvPr/>
        </p:nvSpPr>
        <p:spPr>
          <a:xfrm>
            <a:off x="1260682"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$84.75M</a:t>
            </a:r>
            <a:endParaRPr lang="en-US" sz="2000" dirty="0">
              <a:solidFill>
                <a:srgbClr val="2F5597"/>
              </a:solidFill>
              <a:latin typeface="Montserrat" panose="00000500000000000000" pitchFamily="2" charset="0"/>
            </a:endParaRPr>
          </a:p>
        </p:txBody>
      </p:sp>
      <p:sp>
        <p:nvSpPr>
          <p:cNvPr id="14" name="TextBox 21">
            <a:extLst>
              <a:ext uri="{FF2B5EF4-FFF2-40B4-BE49-F238E27FC236}">
                <a16:creationId xmlns:a16="http://schemas.microsoft.com/office/drawing/2014/main" id="{BD5125C9-83DD-4D9F-DE79-D476BE3F058D}"/>
              </a:ext>
            </a:extLst>
          </p:cNvPr>
          <p:cNvSpPr txBox="1"/>
          <p:nvPr/>
        </p:nvSpPr>
        <p:spPr>
          <a:xfrm>
            <a:off x="3054231"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$15.12M</a:t>
            </a:r>
            <a:endParaRPr lang="en-US" sz="2000" dirty="0">
              <a:solidFill>
                <a:srgbClr val="2F5597"/>
              </a:solidFill>
              <a:latin typeface="Montserrat" panose="00000500000000000000" pitchFamily="2" charset="0"/>
            </a:endParaRPr>
          </a:p>
        </p:txBody>
      </p:sp>
      <p:sp>
        <p:nvSpPr>
          <p:cNvPr id="15" name="TextBox 22">
            <a:extLst>
              <a:ext uri="{FF2B5EF4-FFF2-40B4-BE49-F238E27FC236}">
                <a16:creationId xmlns:a16="http://schemas.microsoft.com/office/drawing/2014/main" id="{DEBB9E11-84A3-58F8-237D-4A265C29D49C}"/>
              </a:ext>
            </a:extLst>
          </p:cNvPr>
          <p:cNvSpPr txBox="1"/>
          <p:nvPr/>
        </p:nvSpPr>
        <p:spPr>
          <a:xfrm>
            <a:off x="1629765" y="4659602"/>
            <a:ext cx="273504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Mature Stage</a:t>
            </a:r>
          </a:p>
          <a:p>
            <a:pPr algn="ctr"/>
            <a:r>
              <a:rPr lang="en-US" sz="1100" dirty="0">
                <a:solidFill>
                  <a:srgbClr val="2F5597"/>
                </a:solidFill>
                <a:latin typeface="Montserrat" panose="00000500000000000000" pitchFamily="2" charset="0"/>
              </a:rPr>
              <a:t>High Profitability, Market Saturation</a:t>
            </a:r>
          </a:p>
        </p:txBody>
      </p:sp>
      <p:sp>
        <p:nvSpPr>
          <p:cNvPr id="16" name="TextBox 23">
            <a:extLst>
              <a:ext uri="{FF2B5EF4-FFF2-40B4-BE49-F238E27FC236}">
                <a16:creationId xmlns:a16="http://schemas.microsoft.com/office/drawing/2014/main" id="{E4C2D887-78BC-455D-E84B-4706DBDF3CA1}"/>
              </a:ext>
            </a:extLst>
          </p:cNvPr>
          <p:cNvSpPr txBox="1"/>
          <p:nvPr/>
        </p:nvSpPr>
        <p:spPr>
          <a:xfrm>
            <a:off x="1275976" y="5316528"/>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7" name="TextBox 24">
            <a:extLst>
              <a:ext uri="{FF2B5EF4-FFF2-40B4-BE49-F238E27FC236}">
                <a16:creationId xmlns:a16="http://schemas.microsoft.com/office/drawing/2014/main" id="{FC3AFD72-934E-C314-76C9-3BD3C3ADC5D7}"/>
              </a:ext>
            </a:extLst>
          </p:cNvPr>
          <p:cNvSpPr txBox="1"/>
          <p:nvPr/>
        </p:nvSpPr>
        <p:spPr>
          <a:xfrm>
            <a:off x="3224011" y="5316528"/>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8" name="TextBox 25">
            <a:extLst>
              <a:ext uri="{FF2B5EF4-FFF2-40B4-BE49-F238E27FC236}">
                <a16:creationId xmlns:a16="http://schemas.microsoft.com/office/drawing/2014/main" id="{AFC7E587-98BA-0E7B-D632-50ECCC546F0C}"/>
              </a:ext>
            </a:extLst>
          </p:cNvPr>
          <p:cNvSpPr txBox="1"/>
          <p:nvPr/>
        </p:nvSpPr>
        <p:spPr>
          <a:xfrm>
            <a:off x="1269691"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$173.93M</a:t>
            </a:r>
            <a:endParaRPr lang="en-US" sz="2000" dirty="0">
              <a:solidFill>
                <a:srgbClr val="2F5597"/>
              </a:solidFill>
              <a:latin typeface="Montserrat" panose="00000500000000000000" pitchFamily="2" charset="0"/>
            </a:endParaRPr>
          </a:p>
        </p:txBody>
      </p:sp>
      <p:sp>
        <p:nvSpPr>
          <p:cNvPr id="19" name="TextBox 26">
            <a:extLst>
              <a:ext uri="{FF2B5EF4-FFF2-40B4-BE49-F238E27FC236}">
                <a16:creationId xmlns:a16="http://schemas.microsoft.com/office/drawing/2014/main" id="{CDADE326-124A-38EC-26DF-B19515A72278}"/>
              </a:ext>
            </a:extLst>
          </p:cNvPr>
          <p:cNvSpPr txBox="1"/>
          <p:nvPr/>
        </p:nvSpPr>
        <p:spPr>
          <a:xfrm>
            <a:off x="3063240"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$31.17M</a:t>
            </a:r>
            <a:endParaRPr lang="en-US" sz="2000" dirty="0">
              <a:solidFill>
                <a:srgbClr val="2F5597"/>
              </a:solidFill>
              <a:latin typeface="Montserrat" panose="00000500000000000000" pitchFamily="2" charset="0"/>
            </a:endParaRPr>
          </a:p>
        </p:txBody>
      </p:sp>
      <p:sp>
        <p:nvSpPr>
          <p:cNvPr id="20" name="Title 1">
            <a:extLst>
              <a:ext uri="{FF2B5EF4-FFF2-40B4-BE49-F238E27FC236}">
                <a16:creationId xmlns:a16="http://schemas.microsoft.com/office/drawing/2014/main" id="{BC0B4224-A0CC-AD78-8E24-07E538135775}"/>
              </a:ext>
            </a:extLst>
          </p:cNvPr>
          <p:cNvSpPr>
            <a:spLocks noGrp="1"/>
          </p:cNvSpPr>
          <p:nvPr>
            <p:ph type="title"/>
          </p:nvPr>
        </p:nvSpPr>
        <p:spPr>
          <a:xfrm>
            <a:off x="295590" y="144962"/>
            <a:ext cx="11431354" cy="979057"/>
          </a:xfrm>
        </p:spPr>
        <p:txBody>
          <a:bodyPr>
            <a:normAutofit/>
          </a:bodyPr>
          <a:lstStyle/>
          <a:p>
            <a:r>
              <a:rPr lang="en-US" sz="3200" b="0" dirty="0"/>
              <a:t>GROWING POWERFUL, LASTING PROFITABILITY</a:t>
            </a:r>
          </a:p>
        </p:txBody>
      </p:sp>
      <p:pic>
        <p:nvPicPr>
          <p:cNvPr id="21" name="Picture 27">
            <a:extLst>
              <a:ext uri="{FF2B5EF4-FFF2-40B4-BE49-F238E27FC236}">
                <a16:creationId xmlns:a16="http://schemas.microsoft.com/office/drawing/2014/main" id="{DBDCCE94-7BFC-4E15-1810-1983169DBDE0}"/>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2" name="Freeform 13">
            <a:extLst>
              <a:ext uri="{FF2B5EF4-FFF2-40B4-BE49-F238E27FC236}">
                <a16:creationId xmlns:a16="http://schemas.microsoft.com/office/drawing/2014/main" id="{C4AAE38D-C93C-25B4-95B9-199DADB77C3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Content Placeholder 22"/>
          <p:cNvPicPr>
            <a:picLocks noGrp="1"/>
          </p:cNvPicPr>
          <p:nvPr>
            <p:ph/>
          </p:nvPr>
        </p:nvPicPr>
        <p:blipFill>
          <a:blip r:embed="rId4" cstate="print"/>
          <a:stretch>
            <a:fillRect/>
          </a:stretch>
        </p:blipFill>
        <p:spPr>
          <a:xfrm>
            <a:off x="5202936" y="1353312"/>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2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793.4K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1,658.9K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3,013.1K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4,860.6K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27.6K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44.4K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67.2K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476.6K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1,506.5K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2,877.5K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4,747.8K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1,154.0K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2,235.9K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4,153.2K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6,683.3K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37.2K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92.4K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843.2K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2,093.1K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4,034.4K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6,595.7K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504.9K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1,009.7K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1,873.0K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3,037.8K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27.6K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183.3K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846.5K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1,720.6K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2,899.8K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cstate="print"/>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2">
            <a:extLst>
              <a:ext uri="{FF2B5EF4-FFF2-40B4-BE49-F238E27FC236}">
                <a16:creationId xmlns:a16="http://schemas.microsoft.com/office/drawing/2014/main" id="{E799F91A-3FD1-47AB-858A-263DC729BC42}"/>
              </a:ext>
            </a:extLst>
          </p:cNvPr>
          <p:cNvSpPr txBox="1"/>
          <p:nvPr/>
        </p:nvSpPr>
        <p:spPr>
          <a:xfrm>
            <a:off x="8932985" y="1054579"/>
            <a:ext cx="2868171" cy="4832092"/>
          </a:xfrm>
          <a:prstGeom prst="rect">
            <a:avLst/>
          </a:prstGeom>
          <a:noFill/>
        </p:spPr>
        <p:txBody>
          <a:bodyPr wrap="square" rtlCol="0">
            <a:spAutoFit/>
          </a:bodyPr>
          <a:lstStyle/>
          <a:p>
            <a:r>
              <a:rPr lang="en-US" sz="1400" dirty="0">
                <a:solidFill/>
                <a:latin typeface="Montserrat" panose="00000500000000000000" pitchFamily="2" charset="0"/>
              </a:rPr>
              <a:t>KBA currently estimates that Parkview Health has 9% inpatient market share, and 18% outpatient market compared to hospitals/clinics in the Parkview Health service area (see slide 8). </a:t>
            </a:r>
          </a:p>
          <a:p>
            <a:endParaRPr lang="en-US" sz="1400" dirty="0">
              <a:solidFill/>
              <a:latin typeface="Montserrat" panose="00000500000000000000" pitchFamily="2" charset="0"/>
            </a:endParaRPr>
          </a:p>
          <a:p>
            <a:r>
              <a:rPr lang="en-US" sz="1400" dirty="0">
                <a:solidFill/>
                <a:latin typeface="Montserrat" panose="00000500000000000000" pitchFamily="2" charset="0"/>
              </a:rPr>
              <a:t>Based on previous DTE experience, KBA expects a significant bump in patient steerage to Parkview Health.</a:t>
            </a:r>
          </a:p>
          <a:p>
            <a:endParaRPr lang="en-US" sz="1400" dirty="0">
              <a:solidFill/>
              <a:latin typeface="Montserrat" panose="00000500000000000000" pitchFamily="2" charset="0"/>
            </a:endParaRPr>
          </a:p>
          <a:p>
            <a:r>
              <a:rPr lang="en-US" sz="1400" dirty="0">
                <a:solidFill/>
                <a:latin typeface="Montserrat" panose="00000500000000000000" pitchFamily="2" charset="0"/>
              </a:rPr>
              <a:t>Additional steerage will occur from additional steerage patient benefits and the patient card.  </a:t>
            </a:r>
          </a:p>
          <a:p>
            <a:endParaRPr lang="en-US" sz="1400" dirty="0">
              <a:solidFill/>
              <a:latin typeface="Montserrat" panose="00000500000000000000" pitchFamily="2" charset="0"/>
            </a:endParaRPr>
          </a:p>
          <a:p>
            <a:r>
              <a:rPr lang="en-US" sz="1400" dirty="0">
                <a:solidFill/>
                <a:latin typeface="Montserrat" panose="00000500000000000000" pitchFamily="2" charset="0"/>
              </a:rPr>
              <a:t>High estimates start nearly 10% higher than target with low estimates at 10% lower than target</a:t>
            </a:r>
          </a:p>
        </p:txBody>
      </p:sp>
      <p:sp>
        <p:nvSpPr>
          <p:cNvPr id="3" name="Title 1">
            <a:extLst>
              <a:ext uri="{FF2B5EF4-FFF2-40B4-BE49-F238E27FC236}">
                <a16:creationId xmlns:a16="http://schemas.microsoft.com/office/drawing/2014/main" id="{B908E53A-80EF-253B-70F2-1B864197EF25}"/>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PROJECTED PLAN GROWTH</a:t>
            </a:r>
          </a:p>
        </p:txBody>
      </p:sp>
      <p:pic>
        <p:nvPicPr>
          <p:cNvPr id="4" name="Picture 5">
            <a:extLst>
              <a:ext uri="{FF2B5EF4-FFF2-40B4-BE49-F238E27FC236}">
                <a16:creationId xmlns:a16="http://schemas.microsoft.com/office/drawing/2014/main" id="{600A413C-9879-29A5-B50B-ADCD0DEFEC3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46D19D72-B714-CC67-EEAD-28291439C72F}"/>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2823041608"/>
              </p:ext>
            </p:extLst>
          </p:nvPr>
        </p:nvGraphicFramePr>
        <p:xfrm>
          <a:off x="666750" y="1330964"/>
          <a:ext cx="7370825" cy="4832101"/>
        </p:xfrm>
        <a:graphic>
          <a:graphicData uri="http://schemas.openxmlformats.org/drawingml/2006/table">
            <a:tbl>
              <a:tblPr/>
              <a:tblGrid>
                <a:gridCol w="1474165">
                  <a:extLst>
                    <a:ext uri="{9D8B030D-6E8A-4147-A177-3AD203B41FA5}">
                      <a16:colId xmlns:a16="http://schemas.microsoft.com/office/drawing/2014/main" val="20000"/>
                    </a:ext>
                  </a:extLst>
                </a:gridCol>
                <a:gridCol w="1474165">
                  <a:extLst>
                    <a:ext uri="{9D8B030D-6E8A-4147-A177-3AD203B41FA5}">
                      <a16:colId xmlns:a16="http://schemas.microsoft.com/office/drawing/2014/main" val="20001"/>
                    </a:ext>
                  </a:extLst>
                </a:gridCol>
                <a:gridCol w="1474165">
                  <a:extLst>
                    <a:ext uri="{9D8B030D-6E8A-4147-A177-3AD203B41FA5}">
                      <a16:colId xmlns:a16="http://schemas.microsoft.com/office/drawing/2014/main" val="20002"/>
                    </a:ext>
                  </a:extLst>
                </a:gridCol>
                <a:gridCol w="1474165">
                  <a:extLst>
                    <a:ext uri="{9D8B030D-6E8A-4147-A177-3AD203B41FA5}">
                      <a16:colId xmlns:a16="http://schemas.microsoft.com/office/drawing/2014/main" val="20003"/>
                    </a:ext>
                  </a:extLst>
                </a:gridCol>
                <a:gridCol w="1474165">
                  <a:extLst>
                    <a:ext uri="{9D8B030D-6E8A-4147-A177-3AD203B41FA5}">
                      <a16:colId xmlns:a16="http://schemas.microsoft.com/office/drawing/2014/main" val="20004"/>
                    </a:ext>
                  </a:extLst>
                </a:gridCol>
              </a:tblGrid>
              <a:tr h="87136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Parkview Health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Parkview Health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1,100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11,000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14,400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10,300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18,500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12,900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23,200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15,700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28,300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18,600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33,500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21,400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38,500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24,000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43,200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26,400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47,500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28,300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30,000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54,000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31,200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56,200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32,200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58,000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33,000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59,400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33,600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287256461"/>
              </p:ext>
            </p:extLst>
          </p:nvPr>
        </p:nvGraphicFramePr>
        <p:xfrm>
          <a:off x="418056" y="764777"/>
          <a:ext cx="6972297" cy="119888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200" b="1" dirty="0">
                          <a:solidFill>
                            <a:schemeClr val="bg1"/>
                          </a:solidFill>
                          <a:latin typeface="Montserrat" panose="00000500000000000000" pitchFamily="2" charset="0"/>
                        </a:rPr>
                        <a:t>Pre-DTE Cohort of 5,600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400" dirty="0">
                          <a:latin typeface="Montserrat" panose="00000500000000000000" pitchFamily="2" charset="0"/>
                        </a:rPr>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$ 1,480,953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$ 5,450,325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$ 2,545,256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$ 9,476,534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$ 260,647.7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$ 959,257.3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$ 447,965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$ 1,667,870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3"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484940483"/>
              </p:ext>
            </p:extLst>
          </p:nvPr>
        </p:nvGraphicFramePr>
        <p:xfrm>
          <a:off x="462503" y="4085951"/>
          <a:ext cx="7134051" cy="2225040"/>
        </p:xfrm>
        <a:graphic>
          <a:graphicData uri="http://schemas.openxmlformats.org/drawingml/2006/table">
            <a:tbl>
              <a:tblPr firstRow="1" bandRow="1">
                <a:tableStyleId>{5940675A-B579-460E-94D1-54222C63F5DA}</a:tableStyleId>
              </a:tblPr>
              <a:tblGrid>
                <a:gridCol w="5375589">
                  <a:extLst>
                    <a:ext uri="{9D8B030D-6E8A-4147-A177-3AD203B41FA5}">
                      <a16:colId xmlns:a16="http://schemas.microsoft.com/office/drawing/2014/main" val="1938271373"/>
                    </a:ext>
                  </a:extLst>
                </a:gridCol>
                <a:gridCol w="1758462">
                  <a:extLst>
                    <a:ext uri="{9D8B030D-6E8A-4147-A177-3AD203B41FA5}">
                      <a16:colId xmlns:a16="http://schemas.microsoft.com/office/drawing/2014/main" val="232002059"/>
                    </a:ext>
                  </a:extLst>
                </a:gridCol>
              </a:tblGrid>
              <a:tr h="370840">
                <a:tc>
                  <a:txBody>
                    <a:bodyPr/>
                    <a:lstStyle/>
                    <a:p>
                      <a:r>
                        <a:rPr lang="en-US" sz="1600" dirty="0">
                          <a:latin typeface="Montserrat" panose="00000500000000000000" pitchFamily="2" charset="0"/>
                        </a:rPr>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$ 4,793,356</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sz="1600" dirty="0">
                          <a:latin typeface="Montserrat" panose="00000500000000000000" pitchFamily="2" charset="0"/>
                        </a:rPr>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$ 67,200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sz="1600" dirty="0">
                          <a:latin typeface="Montserrat" panose="00000500000000000000" pitchFamily="2" charset="0"/>
                        </a:rPr>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$ 4,798,156</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sz="1600" dirty="0">
                          <a:solidFill/>
                          <a:latin typeface="Montserrat" panose="00000500000000000000" pitchFamily="2" charset="0"/>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sz="1600" dirty="0">
                          <a:latin typeface="Montserrat" panose="00000500000000000000" pitchFamily="2" charset="0"/>
                        </a:rPr>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sz="1600" b="1" dirty="0">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b="1" dirty="0">
                          <a:solidFill>
                            <a:schemeClr val="accent6">
                              <a:lumMod val="75000"/>
                            </a:schemeClr>
                          </a:solidFill>
                          <a:latin typeface="Montserrat" panose="00000500000000000000" pitchFamily="2" charset="0"/>
                        </a:rPr>
                        <a:t>$ 4,680,556</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5"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1967198922"/>
              </p:ext>
            </p:extLst>
          </p:nvPr>
        </p:nvGraphicFramePr>
        <p:xfrm>
          <a:off x="418055" y="2234768"/>
          <a:ext cx="6972296" cy="88392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200" b="1" dirty="0">
                          <a:solidFill>
                            <a:schemeClr val="bg1"/>
                          </a:solidFill>
                          <a:latin typeface="Montserrat" panose="00000500000000000000" pitchFamily="2" charset="0"/>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400" dirty="0">
                          <a:latin typeface="Montserrat" panose="00000500000000000000" pitchFamily="2" charset="0"/>
                        </a:rPr>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$ 11,122,054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$ 17,443,495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$ 8,145,964</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$ 36,711,513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$ 1,957,482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$ 3,070,055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$ 1,433,690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$ 6,461,226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6"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Assuming proportional revenues from market shares of 9% (inpatient) and 18% (outpatient)</a:t>
            </a:r>
          </a:p>
        </p:txBody>
      </p:sp>
      <p:sp>
        <p:nvSpPr>
          <p:cNvPr id="7" name="TextBox 2">
            <a:extLst>
              <a:ext uri="{FF2B5EF4-FFF2-40B4-BE49-F238E27FC236}">
                <a16:creationId xmlns:a16="http://schemas.microsoft.com/office/drawing/2014/main" id="{6CDBA057-BBD2-8F54-E977-26B782E37F88}"/>
              </a:ext>
            </a:extLst>
          </p:cNvPr>
          <p:cNvSpPr txBox="1"/>
          <p:nvPr/>
        </p:nvSpPr>
        <p:spPr>
          <a:xfrm>
            <a:off x="7752549" y="1801103"/>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17.6% (80% of the estimated commercial margin)</a:t>
            </a:r>
          </a:p>
        </p:txBody>
      </p:sp>
      <p:sp>
        <p:nvSpPr>
          <p:cNvPr id="8"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⁰ Assuming 67% inpatient and 58%  market steerage based on KBA narrow network DTE experience (see previous slide)</a:t>
            </a:r>
          </a:p>
        </p:txBody>
      </p:sp>
      <p:sp>
        <p:nvSpPr>
          <p:cNvPr id="9" name="TextBox 7">
            <a:extLst>
              <a:ext uri="{FF2B5EF4-FFF2-40B4-BE49-F238E27FC236}">
                <a16:creationId xmlns:a16="http://schemas.microsoft.com/office/drawing/2014/main" id="{A897897D-C568-B204-6568-514AD4B71A5C}"/>
              </a:ext>
            </a:extLst>
          </p:cNvPr>
          <p:cNvSpPr txBox="1"/>
          <p:nvPr/>
        </p:nvSpPr>
        <p:spPr>
          <a:xfrm>
            <a:off x="7752548" y="3324229"/>
            <a:ext cx="4318001" cy="1600438"/>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17.6%, with a 10 percentage-point reduction to reflect competitive-edge rates and a 10 percentage-point increase due to lower billing costs and higher patient responsibility collections because of the member credit card. </a:t>
            </a:r>
          </a:p>
        </p:txBody>
      </p:sp>
      <p:sp>
        <p:nvSpPr>
          <p:cNvPr id="10" name="TextBox 8">
            <a:extLst>
              <a:ext uri="{FF2B5EF4-FFF2-40B4-BE49-F238E27FC236}">
                <a16:creationId xmlns:a16="http://schemas.microsoft.com/office/drawing/2014/main" id="{1BBEE831-0583-9B2A-D9B8-C57C918E4C3C}"/>
              </a:ext>
            </a:extLst>
          </p:cNvPr>
          <p:cNvSpPr txBox="1"/>
          <p:nvPr/>
        </p:nvSpPr>
        <p:spPr>
          <a:xfrm>
            <a:off x="316454" y="34749"/>
            <a:ext cx="10286695" cy="584775"/>
          </a:xfrm>
          <a:prstGeom prst="rect">
            <a:avLst/>
          </a:prstGeom>
          <a:noFill/>
        </p:spPr>
        <p:txBody>
          <a:bodyPr wrap="square" rtlCol="0">
            <a:spAutoFit/>
          </a:bodyPr>
          <a:lstStyle/>
          <a:p>
            <a:r>
              <a:rPr lang="en-US" sz="3200" dirty="0">
                <a:latin typeface="Montserrat" panose="00000500000000000000" pitchFamily="2" charset="0"/>
                <a:cs typeface="Calibri" panose="020F0502020204030204" pitchFamily="34" charset="0"/>
              </a:rPr>
              <a:t>YEAR 4 PROJECTED REVENUE AND PROFIT</a:t>
            </a:r>
          </a:p>
        </p:txBody>
      </p:sp>
      <p:pic>
        <p:nvPicPr>
          <p:cNvPr id="11" name="Picture 9">
            <a:extLst>
              <a:ext uri="{FF2B5EF4-FFF2-40B4-BE49-F238E27FC236}">
                <a16:creationId xmlns:a16="http://schemas.microsoft.com/office/drawing/2014/main" id="{7D073370-D0BE-1A39-1DCE-8896BD0D4C9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2" name="Freeform 13">
            <a:extLst>
              <a:ext uri="{FF2B5EF4-FFF2-40B4-BE49-F238E27FC236}">
                <a16:creationId xmlns:a16="http://schemas.microsoft.com/office/drawing/2014/main" id="{47B20ECB-E742-CAF7-0C94-E491C5D3F04B}"/>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4198165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Montserrat" panose="00000500000000000000" pitchFamily="2" charset="0"/>
            </a:endParaRPr>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5" y="560444"/>
            <a:ext cx="10479445" cy="782540"/>
          </a:xfrm>
        </p:spPr>
        <p:txBody>
          <a:bodyPr>
            <a:normAutofit/>
          </a:bodyPr>
          <a:lstStyle/>
          <a:p>
            <a:r>
              <a:rPr lang="en-US" sz="3600"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sz="1100"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z="1100" smtClean="0">
                <a:solidFill>
                  <a:schemeClr val="bg1"/>
                </a:solidFill>
              </a:rPr>
              <a:t>11</a:t>
            </a:fld>
            <a:endParaRPr lang="en-US" sz="1100"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569660"/>
            <a:chOff x="908754" y="2695500"/>
            <a:chExt cx="10558665" cy="1569660"/>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584775"/>
            </a:xfrm>
            <a:prstGeom prst="rect">
              <a:avLst/>
            </a:prstGeom>
          </p:spPr>
          <p:txBody>
            <a:bodyPr wrap="square">
              <a:spAutoFit/>
            </a:bodyPr>
            <a:lstStyle/>
            <a:p>
              <a:r>
                <a:rPr lang="en-US" sz="1600" b="1" dirty="0">
                  <a:solidFill>
                    <a:schemeClr val="bg1"/>
                  </a:solidFill>
                  <a:latin typeface="Montserrat" panose="00000500000000000000" pitchFamily="2" charset="0"/>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584775"/>
            </a:xfrm>
            <a:prstGeom prst="rect">
              <a:avLst/>
            </a:prstGeom>
          </p:spPr>
          <p:txBody>
            <a:bodyPr wrap="square">
              <a:spAutoFit/>
            </a:bodyPr>
            <a:lstStyle/>
            <a:p>
              <a:r>
                <a:rPr lang="en-US" sz="1600" b="1" dirty="0">
                  <a:solidFill>
                    <a:schemeClr val="bg1"/>
                  </a:solidFill>
                  <a:latin typeface="Montserrat" panose="00000500000000000000" pitchFamily="2" charset="0"/>
                </a:rPr>
                <a:t>WE KNOW THE </a:t>
              </a:r>
            </a:p>
            <a:p>
              <a:r>
                <a:rPr lang="en-US" sz="1600" b="1" dirty="0">
                  <a:solidFill>
                    <a:schemeClr val="bg1"/>
                  </a:solidFill>
                  <a:latin typeface="Montserrat" panose="00000500000000000000" pitchFamily="2" charset="0"/>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584775"/>
            </a:xfrm>
            <a:prstGeom prst="rect">
              <a:avLst/>
            </a:prstGeom>
          </p:spPr>
          <p:txBody>
            <a:bodyPr wrap="square">
              <a:spAutoFit/>
            </a:bodyPr>
            <a:lstStyle/>
            <a:p>
              <a:r>
                <a:rPr lang="en-US" sz="1600" b="1" dirty="0">
                  <a:solidFill>
                    <a:schemeClr val="bg1"/>
                  </a:solidFill>
                  <a:latin typeface="Montserrat" panose="00000500000000000000" pitchFamily="2" charset="0"/>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569660"/>
            </a:xfrm>
            <a:prstGeom prst="rect">
              <a:avLst/>
            </a:prstGeom>
          </p:spPr>
          <p:txBody>
            <a:bodyPr wrap="square">
              <a:spAutoFit/>
            </a:bodyPr>
            <a:lstStyle/>
            <a:p>
              <a:r>
                <a:rPr lang="en-US" sz="1600" b="1" dirty="0">
                  <a:solidFill>
                    <a:schemeClr val="bg1"/>
                  </a:solidFill>
                  <a:latin typeface="Montserrat" panose="00000500000000000000" pitchFamily="2" charset="0"/>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584775"/>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1600" dirty="0">
                <a:solidFill>
                  <a:schemeClr val="bg1"/>
                </a:solidFill>
                <a:latin typeface="Montserrat" panose="00000500000000000000" pitchFamily="2" charset="0"/>
                <a:cs typeface="Arial" panose="020B0604020202020204" pitchFamily="34" charset="0"/>
              </a:rPr>
              <a:t>Derek Moore, Senior Vice President – KBA</a:t>
            </a:r>
          </a:p>
          <a:p>
            <a:pPr algn="ctr"/>
            <a:r>
              <a:rPr lang="en-US" sz="1600" dirty="0">
                <a:solidFill>
                  <a:schemeClr val="bg1"/>
                </a:solidFill>
                <a:latin typeface="Montserrat" panose="00000500000000000000" pitchFamily="2"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Custom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2.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3.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47099</TotalTime>
  <Words>1103</Words>
  <Application>Microsoft Office PowerPoint</Application>
  <PresentationFormat>Widescreen</PresentationFormat>
  <Paragraphs>398</Paragraphs>
  <Slides>11</Slides>
  <Notes>2</Notes>
  <HiddenSlides>0</HiddenSlides>
  <MMClips>0</MMClips>
  <ScaleCrop>false</ScaleCrop>
  <HeadingPairs>
    <vt:vector size="6" baseType="variant">
      <vt:variant>
        <vt:lpstr>Fonts Used</vt:lpstr>
      </vt:variant>
      <vt:variant>
        <vt:i4>3</vt:i4>
      </vt:variant>
      <vt:variant>
        <vt:lpstr>Theme</vt:lpstr>
      </vt:variant>
      <vt:variant>
        <vt:i4>4</vt:i4>
      </vt:variant>
      <vt:variant>
        <vt:lpstr>Slide Titles</vt:lpstr>
      </vt:variant>
      <vt:variant>
        <vt:i4>11</vt:i4>
      </vt:variant>
    </vt:vector>
  </HeadingPairs>
  <TitlesOfParts>
    <vt:vector size="18" baseType="lpstr">
      <vt:lpstr>Aptos Narrow</vt:lpstr>
      <vt:lpstr>Arial</vt:lpstr>
      <vt:lpstr>Montserrat</vt:lpstr>
      <vt:lpstr>Office Theme</vt:lpstr>
      <vt:lpstr>1_Office Theme</vt:lpstr>
      <vt:lpstr>2_Office Theme</vt:lpstr>
      <vt:lpstr>3_Office Theme</vt:lpstr>
      <vt:lpstr>PowerPoint Presentation</vt:lpstr>
      <vt:lpstr>PowerPoint Presentation</vt:lpstr>
      <vt:lpstr>PowerPoint Presentation</vt:lpstr>
      <vt:lpstr>DIRECT-TO-EMPLOYER (DTE)  </vt:lpstr>
      <vt:lpstr>SIGNIFICANT OPPORTUNITY FOR PLAN GROWTH Researched for the below highlighted service area</vt:lpstr>
      <vt:lpstr>PLAN POTENTIAL GROWTH PATHS</vt:lpstr>
      <vt:lpstr>GROWING POWERFUL, LASTING PROFITABILITY</vt:lpstr>
      <vt:lpstr>FOUR-YEAR PROJECTIONS</vt:lpstr>
      <vt:lpstr>PROJECTED PLAN GROWTH</vt:lpstr>
      <vt:lpstr>PowerPoint Presentation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111</cp:revision>
  <cp:lastPrinted>2023-07-13T10:24:43Z</cp:lastPrinted>
  <dcterms:created xsi:type="dcterms:W3CDTF">2021-01-20T14:12:11Z</dcterms:created>
  <dcterms:modified xsi:type="dcterms:W3CDTF">2025-06-28T15:29:35Z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