
<file path=[Content_Types].xml><?xml version="1.0" encoding="utf-8"?>
<Types xmlns="http://schemas.openxmlformats.org/package/2006/content-types">
  <Default Extension="jpeg" ContentType="image/jpeg"/>
  <Default Extension="jpg" ContentType="application/octet-stream"/>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Lst>
  <p:notesMasterIdLst>
    <p:notesMasterId r:id="rId14"/>
  </p:notesMasterIdLst>
  <p:sldIdLst>
    <p:sldId id="577" r:id="rId5"/>
    <p:sldId id="454" r:id="rId6"/>
    <p:sldId id="549" r:id="rId7"/>
    <p:sldId id="559" r:id="rId8"/>
    <p:sldId id="589" r:id="rId9"/>
    <p:sldId id="582" r:id="rId10"/>
    <p:sldId id="548" r:id="rId11"/>
    <p:sldId id="536" r:id="rId12"/>
    <p:sldId id="472" r:id="rId13"/>
  </p:sldIdLst>
  <p:sldSz cx="12192000" cy="6858000"/>
  <p:notesSz cx="7315200" cy="9601200"/>
  <p:custDataLst>
    <p:tags r:id="rId15"/>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0589B"/>
    <a:srgbClr val="2F5597"/>
    <a:srgbClr val="6087CE"/>
    <a:srgbClr val="4468A5"/>
    <a:srgbClr val="F2F2F2"/>
    <a:srgbClr val="C55A11"/>
    <a:srgbClr val="F424AA"/>
    <a:srgbClr val="E23440"/>
    <a:srgbClr val="027587"/>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8609" autoAdjust="0"/>
  </p:normalViewPr>
  <p:slideViewPr>
    <p:cSldViewPr snapToGrid="0">
      <p:cViewPr varScale="1">
        <p:scale>
          <a:sx n="95" d="100"/>
          <a:sy n="95" d="100"/>
        </p:scale>
        <p:origin x="1110" y="96"/>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ags" Target="tags/tag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ylor Davis" userId="5c9e72a0-c39f-4aa1-9d7d-64125e78cbe6" providerId="ADAL" clId="{B7667FAB-7DAE-4323-860D-6A38B2DA3CD8}"/>
    <pc:docChg chg="delSld modSld">
      <pc:chgData name="Taylor Davis" userId="5c9e72a0-c39f-4aa1-9d7d-64125e78cbe6" providerId="ADAL" clId="{B7667FAB-7DAE-4323-860D-6A38B2DA3CD8}" dt="2024-10-29T03:47:23.439" v="8"/>
      <pc:docMkLst>
        <pc:docMk/>
      </pc:docMkLst>
      <pc:sldChg chg="del">
        <pc:chgData name="Taylor Davis" userId="5c9e72a0-c39f-4aa1-9d7d-64125e78cbe6" providerId="ADAL" clId="{B7667FAB-7DAE-4323-860D-6A38B2DA3CD8}" dt="2024-10-22T21:52:38.838" v="6" actId="47"/>
        <pc:sldMkLst>
          <pc:docMk/>
          <pc:sldMk cId="0" sldId="256"/>
        </pc:sldMkLst>
      </pc:sldChg>
      <pc:sldChg chg="del">
        <pc:chgData name="Taylor Davis" userId="5c9e72a0-c39f-4aa1-9d7d-64125e78cbe6" providerId="ADAL" clId="{B7667FAB-7DAE-4323-860D-6A38B2DA3CD8}" dt="2024-10-22T21:52:38.838" v="6" actId="47"/>
        <pc:sldMkLst>
          <pc:docMk/>
          <pc:sldMk cId="211951504" sldId="325"/>
        </pc:sldMkLst>
      </pc:sldChg>
      <pc:sldChg chg="del">
        <pc:chgData name="Taylor Davis" userId="5c9e72a0-c39f-4aa1-9d7d-64125e78cbe6" providerId="ADAL" clId="{B7667FAB-7DAE-4323-860D-6A38B2DA3CD8}" dt="2024-10-22T21:52:38.838" v="6" actId="47"/>
        <pc:sldMkLst>
          <pc:docMk/>
          <pc:sldMk cId="225422285" sldId="326"/>
        </pc:sldMkLst>
      </pc:sldChg>
      <pc:sldChg chg="del">
        <pc:chgData name="Taylor Davis" userId="5c9e72a0-c39f-4aa1-9d7d-64125e78cbe6" providerId="ADAL" clId="{B7667FAB-7DAE-4323-860D-6A38B2DA3CD8}" dt="2024-10-22T21:52:34.477" v="5" actId="47"/>
        <pc:sldMkLst>
          <pc:docMk/>
          <pc:sldMk cId="619324413" sldId="336"/>
        </pc:sldMkLst>
      </pc:sldChg>
      <pc:sldChg chg="del">
        <pc:chgData name="Taylor Davis" userId="5c9e72a0-c39f-4aa1-9d7d-64125e78cbe6" providerId="ADAL" clId="{B7667FAB-7DAE-4323-860D-6A38B2DA3CD8}" dt="2024-10-22T21:52:34.477" v="5" actId="47"/>
        <pc:sldMkLst>
          <pc:docMk/>
          <pc:sldMk cId="420959824" sldId="337"/>
        </pc:sldMkLst>
      </pc:sldChg>
      <pc:sldChg chg="del">
        <pc:chgData name="Taylor Davis" userId="5c9e72a0-c39f-4aa1-9d7d-64125e78cbe6" providerId="ADAL" clId="{B7667FAB-7DAE-4323-860D-6A38B2DA3CD8}" dt="2024-10-22T21:52:34.477" v="5" actId="47"/>
        <pc:sldMkLst>
          <pc:docMk/>
          <pc:sldMk cId="2984433661" sldId="446"/>
        </pc:sldMkLst>
      </pc:sldChg>
      <pc:sldChg chg="del">
        <pc:chgData name="Taylor Davis" userId="5c9e72a0-c39f-4aa1-9d7d-64125e78cbe6" providerId="ADAL" clId="{B7667FAB-7DAE-4323-860D-6A38B2DA3CD8}" dt="2024-10-22T21:52:34.477" v="5" actId="47"/>
        <pc:sldMkLst>
          <pc:docMk/>
          <pc:sldMk cId="1700621358" sldId="456"/>
        </pc:sldMkLst>
      </pc:sldChg>
      <pc:sldChg chg="del">
        <pc:chgData name="Taylor Davis" userId="5c9e72a0-c39f-4aa1-9d7d-64125e78cbe6" providerId="ADAL" clId="{B7667FAB-7DAE-4323-860D-6A38B2DA3CD8}" dt="2024-10-22T21:52:34.477" v="5" actId="47"/>
        <pc:sldMkLst>
          <pc:docMk/>
          <pc:sldMk cId="3958060990" sldId="458"/>
        </pc:sldMkLst>
      </pc:sldChg>
      <pc:sldChg chg="del">
        <pc:chgData name="Taylor Davis" userId="5c9e72a0-c39f-4aa1-9d7d-64125e78cbe6" providerId="ADAL" clId="{B7667FAB-7DAE-4323-860D-6A38B2DA3CD8}" dt="2024-10-22T21:52:34.477" v="5" actId="47"/>
        <pc:sldMkLst>
          <pc:docMk/>
          <pc:sldMk cId="902706633" sldId="461"/>
        </pc:sldMkLst>
      </pc:sldChg>
      <pc:sldChg chg="del">
        <pc:chgData name="Taylor Davis" userId="5c9e72a0-c39f-4aa1-9d7d-64125e78cbe6" providerId="ADAL" clId="{B7667FAB-7DAE-4323-860D-6A38B2DA3CD8}" dt="2024-10-22T21:52:34.477" v="5" actId="47"/>
        <pc:sldMkLst>
          <pc:docMk/>
          <pc:sldMk cId="3804806607" sldId="462"/>
        </pc:sldMkLst>
      </pc:sldChg>
      <pc:sldChg chg="del">
        <pc:chgData name="Taylor Davis" userId="5c9e72a0-c39f-4aa1-9d7d-64125e78cbe6" providerId="ADAL" clId="{B7667FAB-7DAE-4323-860D-6A38B2DA3CD8}" dt="2024-10-22T21:52:12.728" v="3" actId="47"/>
        <pc:sldMkLst>
          <pc:docMk/>
          <pc:sldMk cId="1714126014" sldId="466"/>
        </pc:sldMkLst>
      </pc:sldChg>
      <pc:sldChg chg="del">
        <pc:chgData name="Taylor Davis" userId="5c9e72a0-c39f-4aa1-9d7d-64125e78cbe6" providerId="ADAL" clId="{B7667FAB-7DAE-4323-860D-6A38B2DA3CD8}" dt="2024-10-22T21:52:34.477" v="5" actId="47"/>
        <pc:sldMkLst>
          <pc:docMk/>
          <pc:sldMk cId="2680122054" sldId="469"/>
        </pc:sldMkLst>
      </pc:sldChg>
      <pc:sldChg chg="del">
        <pc:chgData name="Taylor Davis" userId="5c9e72a0-c39f-4aa1-9d7d-64125e78cbe6" providerId="ADAL" clId="{B7667FAB-7DAE-4323-860D-6A38B2DA3CD8}" dt="2024-10-22T21:52:10.877" v="0" actId="47"/>
        <pc:sldMkLst>
          <pc:docMk/>
          <pc:sldMk cId="1552833548" sldId="487"/>
        </pc:sldMkLst>
      </pc:sldChg>
      <pc:sldChg chg="del">
        <pc:chgData name="Taylor Davis" userId="5c9e72a0-c39f-4aa1-9d7d-64125e78cbe6" providerId="ADAL" clId="{B7667FAB-7DAE-4323-860D-6A38B2DA3CD8}" dt="2024-10-22T21:52:34.477" v="5" actId="47"/>
        <pc:sldMkLst>
          <pc:docMk/>
          <pc:sldMk cId="3325436177" sldId="489"/>
        </pc:sldMkLst>
      </pc:sldChg>
      <pc:sldChg chg="del">
        <pc:chgData name="Taylor Davis" userId="5c9e72a0-c39f-4aa1-9d7d-64125e78cbe6" providerId="ADAL" clId="{B7667FAB-7DAE-4323-860D-6A38B2DA3CD8}" dt="2024-10-22T21:52:38.838" v="6" actId="47"/>
        <pc:sldMkLst>
          <pc:docMk/>
          <pc:sldMk cId="2660124243" sldId="491"/>
        </pc:sldMkLst>
      </pc:sldChg>
      <pc:sldChg chg="del">
        <pc:chgData name="Taylor Davis" userId="5c9e72a0-c39f-4aa1-9d7d-64125e78cbe6" providerId="ADAL" clId="{B7667FAB-7DAE-4323-860D-6A38B2DA3CD8}" dt="2024-10-22T21:52:38.838" v="6" actId="47"/>
        <pc:sldMkLst>
          <pc:docMk/>
          <pc:sldMk cId="3144192130" sldId="498"/>
        </pc:sldMkLst>
      </pc:sldChg>
      <pc:sldChg chg="del">
        <pc:chgData name="Taylor Davis" userId="5c9e72a0-c39f-4aa1-9d7d-64125e78cbe6" providerId="ADAL" clId="{B7667FAB-7DAE-4323-860D-6A38B2DA3CD8}" dt="2024-10-22T21:52:34.477" v="5" actId="47"/>
        <pc:sldMkLst>
          <pc:docMk/>
          <pc:sldMk cId="2203540903" sldId="499"/>
        </pc:sldMkLst>
      </pc:sldChg>
      <pc:sldChg chg="del">
        <pc:chgData name="Taylor Davis" userId="5c9e72a0-c39f-4aa1-9d7d-64125e78cbe6" providerId="ADAL" clId="{B7667FAB-7DAE-4323-860D-6A38B2DA3CD8}" dt="2024-10-22T21:52:12.027" v="2" actId="47"/>
        <pc:sldMkLst>
          <pc:docMk/>
          <pc:sldMk cId="3348736581" sldId="518"/>
        </pc:sldMkLst>
      </pc:sldChg>
      <pc:sldChg chg="del">
        <pc:chgData name="Taylor Davis" userId="5c9e72a0-c39f-4aa1-9d7d-64125e78cbe6" providerId="ADAL" clId="{B7667FAB-7DAE-4323-860D-6A38B2DA3CD8}" dt="2024-10-22T21:52:34.477" v="5" actId="47"/>
        <pc:sldMkLst>
          <pc:docMk/>
          <pc:sldMk cId="500461553" sldId="521"/>
        </pc:sldMkLst>
      </pc:sldChg>
      <pc:sldChg chg="del">
        <pc:chgData name="Taylor Davis" userId="5c9e72a0-c39f-4aa1-9d7d-64125e78cbe6" providerId="ADAL" clId="{B7667FAB-7DAE-4323-860D-6A38B2DA3CD8}" dt="2024-10-22T21:52:34.477" v="5" actId="47"/>
        <pc:sldMkLst>
          <pc:docMk/>
          <pc:sldMk cId="36791873" sldId="525"/>
        </pc:sldMkLst>
      </pc:sldChg>
      <pc:sldChg chg="del">
        <pc:chgData name="Taylor Davis" userId="5c9e72a0-c39f-4aa1-9d7d-64125e78cbe6" providerId="ADAL" clId="{B7667FAB-7DAE-4323-860D-6A38B2DA3CD8}" dt="2024-10-22T21:52:34.477" v="5" actId="47"/>
        <pc:sldMkLst>
          <pc:docMk/>
          <pc:sldMk cId="3034923006" sldId="527"/>
        </pc:sldMkLst>
      </pc:sldChg>
      <pc:sldChg chg="modSp mod">
        <pc:chgData name="Taylor Davis" userId="5c9e72a0-c39f-4aa1-9d7d-64125e78cbe6" providerId="ADAL" clId="{B7667FAB-7DAE-4323-860D-6A38B2DA3CD8}" dt="2024-10-29T03:47:23.439" v="8"/>
        <pc:sldMkLst>
          <pc:docMk/>
          <pc:sldMk cId="1419816550" sldId="536"/>
        </pc:sldMkLst>
        <pc:spChg chg="mod">
          <ac:chgData name="Taylor Davis" userId="5c9e72a0-c39f-4aa1-9d7d-64125e78cbe6" providerId="ADAL" clId="{B7667FAB-7DAE-4323-860D-6A38B2DA3CD8}" dt="2024-10-29T03:47:23.439" v="8"/>
          <ac:spMkLst>
            <pc:docMk/>
            <pc:sldMk cId="1419816550" sldId="536"/>
            <ac:spMk id="11" creationId="{A897897D-C568-B204-6568-514AD4B71A5C}"/>
          </ac:spMkLst>
        </pc:spChg>
      </pc:sldChg>
      <pc:sldChg chg="del">
        <pc:chgData name="Taylor Davis" userId="5c9e72a0-c39f-4aa1-9d7d-64125e78cbe6" providerId="ADAL" clId="{B7667FAB-7DAE-4323-860D-6A38B2DA3CD8}" dt="2024-10-22T21:52:34.477" v="5" actId="47"/>
        <pc:sldMkLst>
          <pc:docMk/>
          <pc:sldMk cId="94944115" sldId="546"/>
        </pc:sldMkLst>
      </pc:sldChg>
      <pc:sldChg chg="del">
        <pc:chgData name="Taylor Davis" userId="5c9e72a0-c39f-4aa1-9d7d-64125e78cbe6" providerId="ADAL" clId="{B7667FAB-7DAE-4323-860D-6A38B2DA3CD8}" dt="2024-10-22T21:52:34.477" v="5" actId="47"/>
        <pc:sldMkLst>
          <pc:docMk/>
          <pc:sldMk cId="3616502281" sldId="547"/>
        </pc:sldMkLst>
      </pc:sldChg>
      <pc:sldChg chg="del">
        <pc:chgData name="Taylor Davis" userId="5c9e72a0-c39f-4aa1-9d7d-64125e78cbe6" providerId="ADAL" clId="{B7667FAB-7DAE-4323-860D-6A38B2DA3CD8}" dt="2024-10-22T21:52:16.364" v="4" actId="47"/>
        <pc:sldMkLst>
          <pc:docMk/>
          <pc:sldMk cId="3470905217" sldId="558"/>
        </pc:sldMkLst>
      </pc:sldChg>
      <pc:sldChg chg="del">
        <pc:chgData name="Taylor Davis" userId="5c9e72a0-c39f-4aa1-9d7d-64125e78cbe6" providerId="ADAL" clId="{B7667FAB-7DAE-4323-860D-6A38B2DA3CD8}" dt="2024-10-22T21:52:34.477" v="5" actId="47"/>
        <pc:sldMkLst>
          <pc:docMk/>
          <pc:sldMk cId="4064752386" sldId="564"/>
        </pc:sldMkLst>
      </pc:sldChg>
      <pc:sldChg chg="del">
        <pc:chgData name="Taylor Davis" userId="5c9e72a0-c39f-4aa1-9d7d-64125e78cbe6" providerId="ADAL" clId="{B7667FAB-7DAE-4323-860D-6A38B2DA3CD8}" dt="2024-10-22T21:52:34.477" v="5" actId="47"/>
        <pc:sldMkLst>
          <pc:docMk/>
          <pc:sldMk cId="0" sldId="571"/>
        </pc:sldMkLst>
      </pc:sldChg>
      <pc:sldChg chg="del">
        <pc:chgData name="Taylor Davis" userId="5c9e72a0-c39f-4aa1-9d7d-64125e78cbe6" providerId="ADAL" clId="{B7667FAB-7DAE-4323-860D-6A38B2DA3CD8}" dt="2024-10-22T21:52:38.838" v="6" actId="47"/>
        <pc:sldMkLst>
          <pc:docMk/>
          <pc:sldMk cId="0" sldId="572"/>
        </pc:sldMkLst>
      </pc:sldChg>
      <pc:sldChg chg="del">
        <pc:chgData name="Taylor Davis" userId="5c9e72a0-c39f-4aa1-9d7d-64125e78cbe6" providerId="ADAL" clId="{B7667FAB-7DAE-4323-860D-6A38B2DA3CD8}" dt="2024-10-22T21:52:38.838" v="6" actId="47"/>
        <pc:sldMkLst>
          <pc:docMk/>
          <pc:sldMk cId="1064222983" sldId="574"/>
        </pc:sldMkLst>
      </pc:sldChg>
      <pc:sldChg chg="del">
        <pc:chgData name="Taylor Davis" userId="5c9e72a0-c39f-4aa1-9d7d-64125e78cbe6" providerId="ADAL" clId="{B7667FAB-7DAE-4323-860D-6A38B2DA3CD8}" dt="2024-10-22T21:52:38.838" v="6" actId="47"/>
        <pc:sldMkLst>
          <pc:docMk/>
          <pc:sldMk cId="3790917938" sldId="575"/>
        </pc:sldMkLst>
      </pc:sldChg>
      <pc:sldChg chg="del">
        <pc:chgData name="Taylor Davis" userId="5c9e72a0-c39f-4aa1-9d7d-64125e78cbe6" providerId="ADAL" clId="{B7667FAB-7DAE-4323-860D-6A38B2DA3CD8}" dt="2024-10-22T21:52:34.477" v="5" actId="47"/>
        <pc:sldMkLst>
          <pc:docMk/>
          <pc:sldMk cId="3277395919" sldId="578"/>
        </pc:sldMkLst>
      </pc:sldChg>
      <pc:sldChg chg="del">
        <pc:chgData name="Taylor Davis" userId="5c9e72a0-c39f-4aa1-9d7d-64125e78cbe6" providerId="ADAL" clId="{B7667FAB-7DAE-4323-860D-6A38B2DA3CD8}" dt="2024-10-22T21:52:34.477" v="5" actId="47"/>
        <pc:sldMkLst>
          <pc:docMk/>
          <pc:sldMk cId="838631500" sldId="583"/>
        </pc:sldMkLst>
      </pc:sldChg>
      <pc:sldChg chg="del">
        <pc:chgData name="Taylor Davis" userId="5c9e72a0-c39f-4aa1-9d7d-64125e78cbe6" providerId="ADAL" clId="{B7667FAB-7DAE-4323-860D-6A38B2DA3CD8}" dt="2024-10-22T21:52:34.477" v="5" actId="47"/>
        <pc:sldMkLst>
          <pc:docMk/>
          <pc:sldMk cId="2011724879" sldId="585"/>
        </pc:sldMkLst>
      </pc:sldChg>
      <pc:sldChg chg="del">
        <pc:chgData name="Taylor Davis" userId="5c9e72a0-c39f-4aa1-9d7d-64125e78cbe6" providerId="ADAL" clId="{B7667FAB-7DAE-4323-860D-6A38B2DA3CD8}" dt="2024-10-22T21:52:11.517" v="1" actId="47"/>
        <pc:sldMkLst>
          <pc:docMk/>
          <pc:sldMk cId="2146868214" sldId="588"/>
        </pc:sldMkLst>
      </pc:sldChg>
      <pc:sldChg chg="del">
        <pc:chgData name="Taylor Davis" userId="5c9e72a0-c39f-4aa1-9d7d-64125e78cbe6" providerId="ADAL" clId="{B7667FAB-7DAE-4323-860D-6A38B2DA3CD8}" dt="2024-10-22T21:52:34.477" v="5" actId="47"/>
        <pc:sldMkLst>
          <pc:docMk/>
          <pc:sldMk cId="2451980996" sldId="590"/>
        </pc:sldMkLst>
      </pc:sldChg>
      <pc:sldChg chg="del">
        <pc:chgData name="Taylor Davis" userId="5c9e72a0-c39f-4aa1-9d7d-64125e78cbe6" providerId="ADAL" clId="{B7667FAB-7DAE-4323-860D-6A38B2DA3CD8}" dt="2024-10-22T21:52:34.477" v="5" actId="47"/>
        <pc:sldMkLst>
          <pc:docMk/>
          <pc:sldMk cId="1152282843" sldId="59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vl1pPr>
          </a:lstStyle>
          <a:p>
            <a:fld id="{7444AE22-21A2-46C1-A42F-3B4E8AE858E0}" type="datetimeFigureOut">
              <a:rPr lang="en-US" smtClean="0"/>
              <a:t>10/28/2024</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vl1pPr>
          </a:lstStyle>
          <a:p>
            <a:fld id="{4139CA89-B4B2-4050-B038-8DF8E3A33516}" type="slidenum">
              <a:rPr lang="en-US" smtClean="0"/>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4139CA89-B4B2-4050-B038-8DF8E3A33516}" type="slidenum">
              <a:rPr lang="en-US" smtClean="0"/>
              <a:t>6</a:t>
            </a:fld>
            <a:endParaRPr lang="en-US" dirty="0"/>
          </a:p>
        </p:txBody>
      </p:sp>
    </p:spTree>
    <p:extLst>
      <p:ext uri="{BB962C8B-B14F-4D97-AF65-F5344CB8AC3E}">
        <p14:creationId xmlns:p14="http://schemas.microsoft.com/office/powerpoint/2010/main" val="31893513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10/28/2024</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10/28/2024</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10/28/2024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10/28/2024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10/28/2024</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10/28/2024</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10/28/2024</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10/28/2024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10/28/2024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10/28/2024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10/28/2024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D48873-4569-48AE-9711-BF92EE297A77}" type="datetime1">
              <a:rPr lang="en-US" smtClean="0"/>
              <a:t>10/28/2024</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FC719D-C4A7-4544-876E-D411D11AF6C9}" type="slidenum">
              <a:rPr lang="en-US" smtClean="0"/>
              <a:t>‹#›</a:t>
            </a:fld>
            <a:endParaRPr lang="en-US" dirty="0"/>
          </a:p>
        </p:txBody>
      </p:sp>
    </p:spTree>
    <p:custDataLst>
      <p:tags r:id="rId13"/>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dt="0"/>
  <p:txStyles>
    <p:titleStyle>
      <a:lvl1pPr algn="l" defTabSz="914411"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jpeg"/><Relationship Id="rId1" Type="http://schemas.openxmlformats.org/officeDocument/2006/relationships/slideLayout" Target="../slideLayouts/slideLayout6.xml"/><Relationship Id="rId6" Type="http://schemas.openxmlformats.org/officeDocument/2006/relationships/image" Target="../media/image18.svg"/><Relationship Id="rId11" Type="http://schemas.openxmlformats.org/officeDocument/2006/relationships/image" Target="../media/image6.png"/><Relationship Id="rId5" Type="http://schemas.openxmlformats.org/officeDocument/2006/relationships/image" Target="../media/image17.png"/><Relationship Id="rId10" Type="http://schemas.openxmlformats.org/officeDocument/2006/relationships/image" Target="../media/image22.svg"/><Relationship Id="rId4" Type="http://schemas.openxmlformats.org/officeDocument/2006/relationships/image" Target="../media/image16.svg"/><Relationship Id="rId9"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3"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1</a:t>
            </a:fld>
            <a:endParaRPr lang="en-US" dirty="0"/>
          </a:p>
        </p:txBody>
      </p:sp>
      <p:sp>
        <p:nvSpPr>
          <p:cNvPr id="4"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9">
            <a:extLst>
              <a:ext uri="{FF2B5EF4-FFF2-40B4-BE49-F238E27FC236}">
                <a16:creationId xmlns:a16="http://schemas.microsoft.com/office/drawing/2014/main" id="{B981BBA2-A3ED-6F7B-693B-880E5B031B26}"/>
              </a:ext>
            </a:extLst>
          </p:cNvPr>
          <p:cNvSpPr txBox="1"/>
          <p:nvPr/>
        </p:nvSpPr>
        <p:spPr>
          <a:xfrm>
            <a:off x="896984" y="0"/>
            <a:ext cx="11295016" cy="707886"/>
          </a:xfrm>
          <a:prstGeom prst="rect">
            <a:avLst/>
          </a:prstGeom>
          <a:solidFill>
            <a:srgbClr val="30589B"/>
          </a:solidFill>
          <a:ln>
            <a:noFill/>
          </a:ln>
        </p:spPr>
        <p:txBody>
          <a:bodyPr wrap="square" rtlCol="0">
            <a:spAutoFit/>
          </a:bodyPr>
          <a:lstStyle/>
          <a:p>
            <a:r>
              <a:rPr lang="en-US" sz="2000" b="1" dirty="0">
                <a:solidFill>
                  <a:schemeClr val="bg1"/>
                </a:solidFill>
              </a:rPr>
              <a:t>WVU MEDICINE DIRECT-TO-EMPLOYER OPPORTUNITY</a:t>
            </a:r>
          </a:p>
          <a:p>
            <a:r>
              <a:rPr lang="en-US" sz="2000" b="1" dirty="0">
                <a:solidFill>
                  <a:schemeClr val="bg1"/>
                </a:solidFill>
              </a:rPr>
              <a:t>October 22, 2024</a:t>
            </a:r>
          </a:p>
        </p:txBody>
      </p:sp>
      <p:pic>
        <p:nvPicPr>
          <p:cNvPr id="6" name="Picture 5" descr="A close-up of a logo&#10;&#10;Description automatically generated with medium confidence">
            <a:extLst>
              <a:ext uri="{FF2B5EF4-FFF2-40B4-BE49-F238E27FC236}">
                <a16:creationId xmlns:a16="http://schemas.microsoft.com/office/drawing/2014/main" id="{F66A7945-0E55-35D5-B6B3-1588521B85C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16318" y="735756"/>
            <a:ext cx="1493520" cy="818092"/>
          </a:xfrm>
          <a:prstGeom prst="rect">
            <a:avLst/>
          </a:prstGeom>
        </p:spPr>
      </p:pic>
      <p:pic>
        <p:nvPicPr>
          <p:cNvPr id="7" name="Content Placeholder 6"/>
          <p:cNvPicPr>
            <a:picLocks noGrp="1"/>
          </p:cNvPicPr>
          <p:nvPr>
            <p:ph/>
          </p:nvPr>
        </p:nvPicPr>
        <p:blipFill>
          <a:blip r:embed="rId3" cstate="print"/>
          <a:stretch>
            <a:fillRect/>
          </a:stretch>
        </p:blipFill>
        <p:spPr>
          <a:xfrm>
            <a:off x="987552" y="1636776"/>
            <a:ext cx="11201400" cy="5221224"/>
          </a:xfrm>
          <a:prstGeom prst="rect">
            <a:avLst/>
          </a:prstGeom>
        </p:spPr>
      </p:pic>
      <p:pic>
        <p:nvPicPr>
          <p:cNvPr id="8" name="Content Placeholder 7"/>
          <p:cNvPicPr>
            <a:picLocks noGrp="1"/>
          </p:cNvPicPr>
          <p:nvPr>
            <p:ph/>
          </p:nvPr>
        </p:nvPicPr>
        <p:blipFill>
          <a:blip r:embed="rId4" cstate="print"/>
          <a:stretch>
            <a:fillRect/>
          </a:stretch>
        </p:blipFill>
        <p:spPr>
          <a:xfrm>
            <a:off x="9739766" y="796163"/>
            <a:ext cx="2217600" cy="704088"/>
          </a:xfrm>
          <a:prstGeom prst="rect">
            <a:avLst/>
          </a:prstGeom>
        </p:spPr>
      </p:pic>
    </p:spTree>
    <p:extLst>
      <p:ext uri="{BB962C8B-B14F-4D97-AF65-F5344CB8AC3E}">
        <p14:creationId xmlns:p14="http://schemas.microsoft.com/office/powerpoint/2010/main" val="6367270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6">
            <a:extLst>
              <a:ext uri="{FF2B5EF4-FFF2-40B4-BE49-F238E27FC236}">
                <a16:creationId xmlns:a16="http://schemas.microsoft.com/office/drawing/2014/main" id="{BB5D2E5F-7796-4A80-A1F0-244E8AA938D3}"/>
              </a:ext>
            </a:extLst>
          </p:cNvPr>
          <p:cNvSpPr/>
          <p:nvPr/>
        </p:nvSpPr>
        <p:spPr>
          <a:xfrm>
            <a:off x="0" y="0"/>
            <a:ext cx="3095625" cy="6845654"/>
          </a:xfrm>
          <a:prstGeom prst="rect">
            <a:avLst/>
          </a:prstGeom>
          <a:gradFill flip="none" rotWithShape="1">
            <a:gsLst>
              <a:gs pos="0">
                <a:srgbClr val="C6C5C5"/>
              </a:gs>
              <a:gs pos="68000">
                <a:srgbClr val="B7B6B6"/>
              </a:gs>
              <a:gs pos="43000">
                <a:srgbClr val="A8A7A7"/>
              </a:gs>
              <a:gs pos="93000">
                <a:srgbClr val="A8A7A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4" descr="Key Benefit Administrators Office Photos | Glassdoor">
            <a:extLst>
              <a:ext uri="{FF2B5EF4-FFF2-40B4-BE49-F238E27FC236}">
                <a16:creationId xmlns:a16="http://schemas.microsoft.com/office/drawing/2014/main" id="{6CEA05B0-D867-49BD-BC20-745975B6F4C1}"/>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a:stretch/>
        </p:blipFill>
        <p:spPr bwMode="auto">
          <a:xfrm>
            <a:off x="2828926" y="0"/>
            <a:ext cx="9363075" cy="68580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1">
            <a:extLst>
              <a:ext uri="{FF2B5EF4-FFF2-40B4-BE49-F238E27FC236}">
                <a16:creationId xmlns:a16="http://schemas.microsoft.com/office/drawing/2014/main" id="{F9E7BDA1-C2F0-47FC-8E35-E6C155FA11C4}"/>
              </a:ext>
            </a:extLst>
          </p:cNvPr>
          <p:cNvPicPr>
            <a:picLocks noChangeAspect="1"/>
          </p:cNvPicPr>
          <p:nvPr/>
        </p:nvPicPr>
        <p:blipFill>
          <a:blip r:embed="rId3"/>
          <a:stretch>
            <a:fillRect/>
          </a:stretch>
        </p:blipFill>
        <p:spPr>
          <a:xfrm rot="10800000">
            <a:off x="0" y="-4227"/>
            <a:ext cx="3000375" cy="1000125"/>
          </a:xfrm>
          <a:prstGeom prst="rect">
            <a:avLst/>
          </a:prstGeom>
        </p:spPr>
      </p:pic>
      <p:sp>
        <p:nvSpPr>
          <p:cNvPr id="5"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fld id="{3AFC719D-C4A7-4544-876E-D411D11AF6C9}" type="slidenum">
              <a:rPr lang="en-US" smtClean="0"/>
              <a:t>2</a:t>
            </a:fld>
            <a:endParaRPr lang="en-US" dirty="0"/>
          </a:p>
        </p:txBody>
      </p:sp>
      <p:sp>
        <p:nvSpPr>
          <p:cNvPr id="6" name="Rectangle 23">
            <a:extLst>
              <a:ext uri="{FF2B5EF4-FFF2-40B4-BE49-F238E27FC236}">
                <a16:creationId xmlns:a16="http://schemas.microsoft.com/office/drawing/2014/main" id="{88F9B5E8-D3C0-4885-9F6B-379525D51687}"/>
              </a:ext>
            </a:extLst>
          </p:cNvPr>
          <p:cNvSpPr/>
          <p:nvPr/>
        </p:nvSpPr>
        <p:spPr>
          <a:xfrm>
            <a:off x="-3796" y="1415180"/>
            <a:ext cx="7385671" cy="5439997"/>
          </a:xfrm>
          <a:prstGeom prst="rect">
            <a:avLst/>
          </a:prstGeom>
          <a:gradFill flip="none" rotWithShape="1">
            <a:gsLst>
              <a:gs pos="0">
                <a:srgbClr val="C6C5C5"/>
              </a:gs>
              <a:gs pos="68000">
                <a:srgbClr val="B7B6B6"/>
              </a:gs>
              <a:gs pos="43000">
                <a:srgbClr val="A8A7A7"/>
              </a:gs>
              <a:gs pos="93000">
                <a:srgbClr val="A8A7A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Single Corner Rounded 4">
            <a:extLst>
              <a:ext uri="{FF2B5EF4-FFF2-40B4-BE49-F238E27FC236}">
                <a16:creationId xmlns:a16="http://schemas.microsoft.com/office/drawing/2014/main" id="{AD1D7B3D-91CE-4826-90BB-5F92F8BB9481}"/>
              </a:ext>
            </a:extLst>
          </p:cNvPr>
          <p:cNvSpPr/>
          <p:nvPr/>
        </p:nvSpPr>
        <p:spPr>
          <a:xfrm>
            <a:off x="0" y="1009650"/>
            <a:ext cx="7477760" cy="5845528"/>
          </a:xfrm>
          <a:prstGeom prst="round1Rect">
            <a:avLst>
              <a:gd name="adj" fmla="val 12082"/>
            </a:avLst>
          </a:prstGeom>
          <a:solidFill>
            <a:srgbClr val="254F96">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lvl="1" defTabSz="914411" fontAlgn="base">
              <a:defRPr/>
            </a:pPr>
            <a:endParaRPr lang="en-US" dirty="0">
              <a:solidFill>
                <a:prstClr val="white"/>
              </a:solidFill>
              <a:latin typeface="Arial" panose="020B0604020202020204" pitchFamily="34" charset="0"/>
              <a:cs typeface="Arial" panose="020B0604020202020204" pitchFamily="34" charset="0"/>
            </a:endParaRPr>
          </a:p>
        </p:txBody>
      </p:sp>
      <p:sp>
        <p:nvSpPr>
          <p:cNvPr id="8" name="Freeform: Shape 5">
            <a:extLst>
              <a:ext uri="{FF2B5EF4-FFF2-40B4-BE49-F238E27FC236}">
                <a16:creationId xmlns:a16="http://schemas.microsoft.com/office/drawing/2014/main" id="{D616A404-B324-4680-9ED6-0746BB2B3A16}"/>
              </a:ext>
            </a:extLst>
          </p:cNvPr>
          <p:cNvSpPr/>
          <p:nvPr/>
        </p:nvSpPr>
        <p:spPr>
          <a:xfrm rot="16200000">
            <a:off x="5385400" y="4759020"/>
            <a:ext cx="1873602" cy="2318710"/>
          </a:xfrm>
          <a:custGeom>
            <a:avLst/>
            <a:gdLst>
              <a:gd name="connsiteX0" fmla="*/ 2160577 w 2160577"/>
              <a:gd name="connsiteY0" fmla="*/ 3114245 h 3114245"/>
              <a:gd name="connsiteX1" fmla="*/ 0 w 2160577"/>
              <a:gd name="connsiteY1" fmla="*/ 3114245 h 3114245"/>
              <a:gd name="connsiteX2" fmla="*/ 0 w 2160577"/>
              <a:gd name="connsiteY2" fmla="*/ 0 h 3114245"/>
              <a:gd name="connsiteX3" fmla="*/ 40185 w 2160577"/>
              <a:gd name="connsiteY3" fmla="*/ 231682 h 3114245"/>
              <a:gd name="connsiteX4" fmla="*/ 2101086 w 2160577"/>
              <a:gd name="connsiteY4" fmla="*/ 3114244 h 3114245"/>
              <a:gd name="connsiteX5" fmla="*/ 2158168 w 2160577"/>
              <a:gd name="connsiteY5" fmla="*/ 3108162 h 311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60577" h="3114245">
                <a:moveTo>
                  <a:pt x="2160577" y="3114245"/>
                </a:moveTo>
                <a:lnTo>
                  <a:pt x="0" y="3114245"/>
                </a:lnTo>
                <a:lnTo>
                  <a:pt x="0" y="0"/>
                </a:lnTo>
                <a:lnTo>
                  <a:pt x="40185" y="231682"/>
                </a:lnTo>
                <a:cubicBezTo>
                  <a:pt x="379730" y="1925643"/>
                  <a:pt x="1174627" y="3114244"/>
                  <a:pt x="2101086" y="3114244"/>
                </a:cubicBezTo>
                <a:lnTo>
                  <a:pt x="2158168" y="3108162"/>
                </a:lnTo>
                <a:close/>
              </a:path>
            </a:pathLst>
          </a:custGeom>
          <a:solidFill>
            <a:srgbClr val="59CAE8">
              <a:alpha val="5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11">
              <a:defRPr/>
            </a:pPr>
            <a:endParaRPr lang="en-US" dirty="0">
              <a:solidFill>
                <a:prstClr val="white"/>
              </a:solidFill>
              <a:latin typeface="Calibri" panose="020F0502020204030204"/>
            </a:endParaRPr>
          </a:p>
        </p:txBody>
      </p:sp>
      <p:sp>
        <p:nvSpPr>
          <p:cNvPr id="9" name="TextBox 6">
            <a:extLst>
              <a:ext uri="{FF2B5EF4-FFF2-40B4-BE49-F238E27FC236}">
                <a16:creationId xmlns:a16="http://schemas.microsoft.com/office/drawing/2014/main" id="{B009B747-65C4-4EA6-8340-1E1EB3FE580D}"/>
              </a:ext>
            </a:extLst>
          </p:cNvPr>
          <p:cNvSpPr txBox="1"/>
          <p:nvPr/>
        </p:nvSpPr>
        <p:spPr>
          <a:xfrm>
            <a:off x="452402" y="2374741"/>
            <a:ext cx="6650809" cy="3785652"/>
          </a:xfrm>
          <a:prstGeom prst="rect">
            <a:avLst/>
          </a:prstGeom>
          <a:noFill/>
        </p:spPr>
        <p:txBody>
          <a:bodyPr wrap="square" rtlCol="0">
            <a:spAutoFit/>
          </a:bodyPr>
          <a:lstStyle/>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Founded in 1979 and headquartered in Indianapolis, IN​</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Full-service TPA specializing in the administration of self-funded health plans and population health management​</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One of the country’s largest independently-owned TPAs </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The Key Family is a commonly-held group of benefits related organizations with:​</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3,000+ corporate clients​</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3.0 million members under management​</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700 Employees</a:t>
            </a:r>
          </a:p>
          <a:p>
            <a:pPr marL="285753" indent="-285753" defTabSz="914411">
              <a:lnSpc>
                <a:spcPct val="150000"/>
              </a:lnSpc>
              <a:spcAft>
                <a:spcPts val="600"/>
              </a:spcAft>
              <a:buFont typeface="Wingdings" panose="05000000000000000000" pitchFamily="2" charset="2"/>
              <a:buChar char="§"/>
            </a:pPr>
            <a:r>
              <a:rPr lang="en-US" sz="1600" spc="150" dirty="0">
                <a:solidFill>
                  <a:schemeClr val="bg1"/>
                </a:solidFill>
                <a:latin typeface="Arial" panose="020B0604020202020204" pitchFamily="34" charset="0"/>
                <a:cs typeface="Arial" panose="020B0604020202020204" pitchFamily="34" charset="0"/>
              </a:rPr>
              <a:t>Exclusive Relationships</a:t>
            </a:r>
          </a:p>
          <a:p>
            <a:pPr marL="285753" indent="-285753" defTabSz="914411">
              <a:spcAft>
                <a:spcPts val="600"/>
              </a:spcAft>
              <a:buFont typeface="Wingdings" panose="05000000000000000000" pitchFamily="2" charset="2"/>
              <a:buChar char="§"/>
            </a:pPr>
            <a:r>
              <a:rPr lang="en-US" sz="1600" spc="150" dirty="0">
                <a:solidFill>
                  <a:schemeClr val="bg1"/>
                </a:solidFill>
                <a:latin typeface="Arial" panose="020B0604020202020204" pitchFamily="34" charset="0"/>
                <a:cs typeface="Arial" panose="020B0604020202020204" pitchFamily="34" charset="0"/>
              </a:rPr>
              <a:t>We know The Market – Agents, Networks, and MGAs</a:t>
            </a:r>
          </a:p>
        </p:txBody>
      </p:sp>
      <p:sp>
        <p:nvSpPr>
          <p:cNvPr id="10" name="Footer Placeholder 2">
            <a:extLst>
              <a:ext uri="{FF2B5EF4-FFF2-40B4-BE49-F238E27FC236}">
                <a16:creationId xmlns:a16="http://schemas.microsoft.com/office/drawing/2014/main" id="{EFB33B55-1AEB-4BBC-9F3F-C887F0C42EF5}"/>
              </a:ext>
            </a:extLst>
          </p:cNvPr>
          <p:cNvSpPr>
            <a:spLocks noGrp="1"/>
          </p:cNvSpPr>
          <p:nvPr>
            <p:ph type="ftr" sz="quarter" idx="11"/>
          </p:nvPr>
        </p:nvSpPr>
        <p:spPr>
          <a:xfrm>
            <a:off x="1307458" y="6360415"/>
            <a:ext cx="4114800" cy="365125"/>
          </a:xfrm>
        </p:spPr>
        <p:txBody>
          <a:bodyPr/>
          <a:lstStyle/>
          <a:p>
            <a:r>
              <a:rPr lang="en-US" dirty="0"/>
              <a:t>Key Benefit Administrators</a:t>
            </a:r>
          </a:p>
        </p:txBody>
      </p:sp>
      <p:pic>
        <p:nvPicPr>
          <p:cNvPr id="11" name="Picture 4">
            <a:extLst>
              <a:ext uri="{FF2B5EF4-FFF2-40B4-BE49-F238E27FC236}">
                <a16:creationId xmlns:a16="http://schemas.microsoft.com/office/drawing/2014/main" id="{BA081F8A-34EF-4672-9370-DBC0CA8BE7A3}"/>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52402" y="1312679"/>
            <a:ext cx="3951647" cy="7677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15615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5">
            <a:extLst>
              <a:ext uri="{FF2B5EF4-FFF2-40B4-BE49-F238E27FC236}">
                <a16:creationId xmlns:a16="http://schemas.microsoft.com/office/drawing/2014/main" id="{E4D4BA5E-072E-BFC4-86A7-A8EC0FA16D37}"/>
              </a:ext>
            </a:extLst>
          </p:cNvPr>
          <p:cNvPicPr>
            <a:picLocks noChangeAspect="1"/>
          </p:cNvPicPr>
          <p:nvPr/>
        </p:nvPicPr>
        <p:blipFill>
          <a:blip r:embed="rId2"/>
          <a:stretch>
            <a:fillRect/>
          </a:stretch>
        </p:blipFill>
        <p:spPr>
          <a:xfrm>
            <a:off x="983975" y="1574349"/>
            <a:ext cx="7705725" cy="4657725"/>
          </a:xfrm>
          <a:prstGeom prst="rect">
            <a:avLst/>
          </a:prstGeom>
        </p:spPr>
      </p:pic>
      <p:sp>
        <p:nvSpPr>
          <p:cNvPr id="3" name="Footer Placeholder 3">
            <a:extLst>
              <a:ext uri="{FF2B5EF4-FFF2-40B4-BE49-F238E27FC236}">
                <a16:creationId xmlns:a16="http://schemas.microsoft.com/office/drawing/2014/main" id="{226CABA5-B853-4CE2-9D0B-B062457265F2}"/>
              </a:ext>
            </a:extLst>
          </p:cNvPr>
          <p:cNvSpPr>
            <a:spLocks noGrp="1"/>
          </p:cNvSpPr>
          <p:nvPr>
            <p:ph type="ftr" sz="quarter" idx="11"/>
          </p:nvPr>
        </p:nvSpPr>
        <p:spPr>
          <a:xfrm>
            <a:off x="396376" y="6471095"/>
            <a:ext cx="4114800" cy="250380"/>
          </a:xfrm>
        </p:spPr>
        <p:txBody>
          <a:bodyPr/>
          <a:lstStyle/>
          <a:p>
            <a:r>
              <a:rPr lang="en-US" dirty="0"/>
              <a:t>Key Benefit Administrators</a:t>
            </a:r>
          </a:p>
        </p:txBody>
      </p:sp>
      <p:sp>
        <p:nvSpPr>
          <p:cNvPr id="4" name="Rectangle 5">
            <a:extLst>
              <a:ext uri="{FF2B5EF4-FFF2-40B4-BE49-F238E27FC236}">
                <a16:creationId xmlns:a16="http://schemas.microsoft.com/office/drawing/2014/main" id="{F34C8217-D749-4511-B7B5-02F77484B378}"/>
              </a:ext>
            </a:extLst>
          </p:cNvPr>
          <p:cNvSpPr/>
          <p:nvPr/>
        </p:nvSpPr>
        <p:spPr>
          <a:xfrm>
            <a:off x="10887075" y="0"/>
            <a:ext cx="1304925"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fld id="{3AFC719D-C4A7-4544-876E-D411D11AF6C9}" type="slidenum">
              <a:rPr lang="en-US" smtClean="0"/>
              <a:t>3</a:t>
            </a:fld>
            <a:endParaRPr lang="en-US" dirty="0"/>
          </a:p>
        </p:txBody>
      </p:sp>
      <p:sp>
        <p:nvSpPr>
          <p:cNvPr id="6" name="Title 1">
            <a:extLst>
              <a:ext uri="{FF2B5EF4-FFF2-40B4-BE49-F238E27FC236}">
                <a16:creationId xmlns:a16="http://schemas.microsoft.com/office/drawing/2014/main" id="{553571B1-9896-47E3-8ADF-78C38648412E}"/>
              </a:ext>
            </a:extLst>
          </p:cNvPr>
          <p:cNvSpPr>
            <a:spLocks noGrp="1"/>
          </p:cNvSpPr>
          <p:nvPr>
            <p:ph type="title"/>
          </p:nvPr>
        </p:nvSpPr>
        <p:spPr>
          <a:xfrm>
            <a:off x="396376" y="1023915"/>
            <a:ext cx="9984796" cy="502882"/>
          </a:xfrm>
          <a:noFill/>
        </p:spPr>
        <p:txBody>
          <a:bodyPr vert="horz" lIns="91440" tIns="45720" rIns="91440" bIns="45720" rtlCol="0" anchor="t">
            <a:normAutofit/>
          </a:bodyPr>
          <a:lstStyle/>
          <a:p>
            <a:r>
              <a:rPr lang="en-US" sz="2800" b="1" spc="150" dirty="0">
                <a:solidFill>
                  <a:srgbClr val="0F5DA6"/>
                </a:solidFill>
                <a:latin typeface="Arial" panose="020B0604020202020204" pitchFamily="34" charset="0"/>
                <a:cs typeface="Arial" panose="020B0604020202020204" pitchFamily="34" charset="0"/>
              </a:rPr>
              <a:t>Market Leader in Private Labeled DTE Plans</a:t>
            </a:r>
            <a:endParaRPr lang="en-US" sz="2800" b="1" cap="all" spc="150" dirty="0">
              <a:solidFill>
                <a:srgbClr val="0F5DA6"/>
              </a:solidFill>
              <a:latin typeface="Arial" panose="020B0604020202020204" pitchFamily="34" charset="0"/>
              <a:cs typeface="Arial" panose="020B0604020202020204" pitchFamily="34" charset="0"/>
            </a:endParaRPr>
          </a:p>
        </p:txBody>
      </p:sp>
      <p:pic>
        <p:nvPicPr>
          <p:cNvPr id="7" name="Picture 2">
            <a:extLst>
              <a:ext uri="{FF2B5EF4-FFF2-40B4-BE49-F238E27FC236}">
                <a16:creationId xmlns:a16="http://schemas.microsoft.com/office/drawing/2014/main" id="{654A305B-9BE0-4449-826C-ACCCBB29F8D4}"/>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96376" y="293729"/>
            <a:ext cx="3645898" cy="629962"/>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Rounded Corners 7">
            <a:extLst>
              <a:ext uri="{FF2B5EF4-FFF2-40B4-BE49-F238E27FC236}">
                <a16:creationId xmlns:a16="http://schemas.microsoft.com/office/drawing/2014/main" id="{880AE72B-2936-B7FD-B16B-B7DDE61C48BF}"/>
              </a:ext>
            </a:extLst>
          </p:cNvPr>
          <p:cNvSpPr/>
          <p:nvPr/>
        </p:nvSpPr>
        <p:spPr>
          <a:xfrm>
            <a:off x="2659533" y="397404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Bentonville, AR</a:t>
            </a:r>
          </a:p>
          <a:p>
            <a:pPr algn="ctr"/>
            <a:r>
              <a:rPr lang="en-US" sz="1200" dirty="0">
                <a:latin typeface="Arial" panose="020B0604020202020204" pitchFamily="34" charset="0"/>
                <a:cs typeface="Arial" panose="020B0604020202020204" pitchFamily="34" charset="0"/>
              </a:rPr>
              <a:t>Northwest Health Plan</a:t>
            </a:r>
          </a:p>
        </p:txBody>
      </p:sp>
      <p:sp>
        <p:nvSpPr>
          <p:cNvPr id="9" name="Rectangle: Rounded Corners 9">
            <a:extLst>
              <a:ext uri="{FF2B5EF4-FFF2-40B4-BE49-F238E27FC236}">
                <a16:creationId xmlns:a16="http://schemas.microsoft.com/office/drawing/2014/main" id="{83BAAF75-9BFE-8A09-84C8-29127AD11CC8}"/>
              </a:ext>
            </a:extLst>
          </p:cNvPr>
          <p:cNvSpPr/>
          <p:nvPr/>
        </p:nvSpPr>
        <p:spPr>
          <a:xfrm>
            <a:off x="3572730" y="525764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Meridian, MS</a:t>
            </a:r>
          </a:p>
          <a:p>
            <a:pPr algn="ctr"/>
            <a:r>
              <a:rPr lang="en-US" sz="1200" dirty="0">
                <a:latin typeface="Arial" panose="020B0604020202020204" pitchFamily="34" charset="0"/>
                <a:cs typeface="Arial" panose="020B0604020202020204" pitchFamily="34" charset="0"/>
              </a:rPr>
              <a:t>Affinity Health Plan</a:t>
            </a:r>
          </a:p>
        </p:txBody>
      </p:sp>
      <p:sp>
        <p:nvSpPr>
          <p:cNvPr id="10" name="Rectangle: Rounded Corners 10">
            <a:extLst>
              <a:ext uri="{FF2B5EF4-FFF2-40B4-BE49-F238E27FC236}">
                <a16:creationId xmlns:a16="http://schemas.microsoft.com/office/drawing/2014/main" id="{F7F76DEC-1B86-5F34-4522-EE137E2BEDC5}"/>
              </a:ext>
            </a:extLst>
          </p:cNvPr>
          <p:cNvSpPr/>
          <p:nvPr/>
        </p:nvSpPr>
        <p:spPr>
          <a:xfrm>
            <a:off x="7452111" y="5382713"/>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Fort Myers, FL</a:t>
            </a:r>
          </a:p>
          <a:p>
            <a:pPr algn="ctr"/>
            <a:r>
              <a:rPr lang="en-US" sz="1200" dirty="0">
                <a:latin typeface="Arial" panose="020B0604020202020204" pitchFamily="34" charset="0"/>
                <a:cs typeface="Arial" panose="020B0604020202020204" pitchFamily="34" charset="0"/>
              </a:rPr>
              <a:t>Lee Health Care Partners</a:t>
            </a:r>
          </a:p>
        </p:txBody>
      </p:sp>
      <p:sp>
        <p:nvSpPr>
          <p:cNvPr id="11" name="Rectangle: Rounded Corners 11">
            <a:extLst>
              <a:ext uri="{FF2B5EF4-FFF2-40B4-BE49-F238E27FC236}">
                <a16:creationId xmlns:a16="http://schemas.microsoft.com/office/drawing/2014/main" id="{B522D9FB-03E8-0475-A3A5-AF33059EA7E6}"/>
              </a:ext>
            </a:extLst>
          </p:cNvPr>
          <p:cNvSpPr/>
          <p:nvPr/>
        </p:nvSpPr>
        <p:spPr>
          <a:xfrm>
            <a:off x="7208737" y="4373211"/>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Knoxville, TN</a:t>
            </a:r>
          </a:p>
          <a:p>
            <a:pPr algn="ctr"/>
            <a:r>
              <a:rPr lang="en-US" sz="1200" dirty="0">
                <a:latin typeface="Arial" panose="020B0604020202020204" pitchFamily="34" charset="0"/>
                <a:cs typeface="Arial" panose="020B0604020202020204" pitchFamily="34" charset="0"/>
              </a:rPr>
              <a:t>East Tennessee Health Plan</a:t>
            </a:r>
          </a:p>
        </p:txBody>
      </p:sp>
      <p:sp>
        <p:nvSpPr>
          <p:cNvPr id="12" name="Rectangle: Rounded Corners 12">
            <a:extLst>
              <a:ext uri="{FF2B5EF4-FFF2-40B4-BE49-F238E27FC236}">
                <a16:creationId xmlns:a16="http://schemas.microsoft.com/office/drawing/2014/main" id="{F3AB3343-FA0C-E9FA-637F-E45BB11DFFC1}"/>
              </a:ext>
            </a:extLst>
          </p:cNvPr>
          <p:cNvSpPr/>
          <p:nvPr/>
        </p:nvSpPr>
        <p:spPr>
          <a:xfrm>
            <a:off x="7047737" y="336370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Cincinnati, OH</a:t>
            </a:r>
          </a:p>
          <a:p>
            <a:pPr algn="ctr"/>
            <a:r>
              <a:rPr lang="en-US" sz="1200" dirty="0">
                <a:latin typeface="Arial" panose="020B0604020202020204" pitchFamily="34" charset="0"/>
                <a:cs typeface="Arial" panose="020B0604020202020204" pitchFamily="34" charset="0"/>
              </a:rPr>
              <a:t>TCH Optimal</a:t>
            </a:r>
          </a:p>
        </p:txBody>
      </p:sp>
      <p:sp>
        <p:nvSpPr>
          <p:cNvPr id="13" name="Rectangle: Rounded Corners 13">
            <a:extLst>
              <a:ext uri="{FF2B5EF4-FFF2-40B4-BE49-F238E27FC236}">
                <a16:creationId xmlns:a16="http://schemas.microsoft.com/office/drawing/2014/main" id="{A5F1AA97-617E-DEDA-E780-8518ACB143FB}"/>
              </a:ext>
            </a:extLst>
          </p:cNvPr>
          <p:cNvSpPr/>
          <p:nvPr/>
        </p:nvSpPr>
        <p:spPr>
          <a:xfrm>
            <a:off x="3870663" y="2934468"/>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Louisville, KY</a:t>
            </a:r>
          </a:p>
          <a:p>
            <a:pPr algn="ctr"/>
            <a:r>
              <a:rPr lang="en-US" sz="1200" dirty="0" err="1">
                <a:latin typeface="Arial" panose="020B0604020202020204" pitchFamily="34" charset="0"/>
                <a:cs typeface="Arial" panose="020B0604020202020204" pitchFamily="34" charset="0"/>
              </a:rPr>
              <a:t>OneHealth</a:t>
            </a:r>
            <a:r>
              <a:rPr lang="en-US" sz="1200" dirty="0">
                <a:latin typeface="Arial" panose="020B0604020202020204" pitchFamily="34" charset="0"/>
                <a:cs typeface="Arial" panose="020B0604020202020204" pitchFamily="34" charset="0"/>
              </a:rPr>
              <a:t> Plan</a:t>
            </a:r>
          </a:p>
        </p:txBody>
      </p:sp>
    </p:spTree>
    <p:extLst>
      <p:ext uri="{BB962C8B-B14F-4D97-AF65-F5344CB8AC3E}">
        <p14:creationId xmlns:p14="http://schemas.microsoft.com/office/powerpoint/2010/main" val="263972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6E917A82-FACC-9CE3-5CE6-640CE6087212}"/>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3">
            <a:extLst>
              <a:ext uri="{FF2B5EF4-FFF2-40B4-BE49-F238E27FC236}">
                <a16:creationId xmlns:a16="http://schemas.microsoft.com/office/drawing/2014/main" id="{77BEE2C0-9C88-E3B0-3307-08132DDFD6E0}"/>
              </a:ext>
            </a:extLst>
          </p:cNvPr>
          <p:cNvSpPr>
            <a:spLocks noGrp="1"/>
          </p:cNvSpPr>
          <p:nvPr>
            <p:ph type="sldNum" sz="quarter" idx="12"/>
          </p:nvPr>
        </p:nvSpPr>
        <p:spPr/>
        <p:txBody>
          <a:bodyPr/>
          <a:lstStyle/>
          <a:p>
            <a:fld id="{3AFC719D-C4A7-4544-876E-D411D11AF6C9}" type="slidenum">
              <a:rPr lang="en-US" smtClean="0"/>
              <a:t>4</a:t>
            </a:fld>
            <a:endParaRPr lang="en-US" dirty="0"/>
          </a:p>
        </p:txBody>
      </p:sp>
      <p:sp>
        <p:nvSpPr>
          <p:cNvPr id="4" name="TextBox 5">
            <a:extLst>
              <a:ext uri="{FF2B5EF4-FFF2-40B4-BE49-F238E27FC236}">
                <a16:creationId xmlns:a16="http://schemas.microsoft.com/office/drawing/2014/main" id="{C9963971-9E27-D1D8-44A6-33EAA3782592}"/>
              </a:ext>
            </a:extLst>
          </p:cNvPr>
          <p:cNvSpPr txBox="1"/>
          <p:nvPr/>
        </p:nvSpPr>
        <p:spPr>
          <a:xfrm>
            <a:off x="227045" y="1275695"/>
            <a:ext cx="11737910" cy="646331"/>
          </a:xfrm>
          <a:prstGeom prst="rect">
            <a:avLst/>
          </a:prstGeom>
          <a:noFill/>
        </p:spPr>
        <p:txBody>
          <a:bodyPr wrap="square">
            <a:spAutoFit/>
          </a:bodyPr>
          <a:lstStyle/>
          <a:p>
            <a:pPr algn="ctr"/>
            <a:r>
              <a:rPr lang="en-US" sz="1800" b="1" spc="200" dirty="0">
                <a:solidFill>
                  <a:schemeClr val="accent2">
                    <a:lumMod val="75000"/>
                  </a:schemeClr>
                </a:solidFill>
                <a:latin typeface="+mj-lt"/>
                <a:cs typeface="+mj-cs"/>
              </a:rPr>
              <a:t>Target Market</a:t>
            </a:r>
            <a:br>
              <a:rPr lang="en-US" sz="1800" spc="200" dirty="0">
                <a:latin typeface="+mj-lt"/>
                <a:cs typeface="+mj-cs"/>
              </a:rPr>
            </a:br>
            <a:r>
              <a:rPr lang="en-US" sz="1800" spc="200" dirty="0">
                <a:latin typeface="+mj-lt"/>
                <a:cs typeface="+mj-cs"/>
              </a:rPr>
              <a:t>9</a:t>
            </a:r>
            <a:r>
              <a:rPr lang="en-US" spc="200" dirty="0">
                <a:latin typeface="+mj-lt"/>
                <a:cs typeface="+mj-cs"/>
              </a:rPr>
              <a:t>00+</a:t>
            </a:r>
            <a:r>
              <a:rPr lang="en-US" sz="1800" spc="200" dirty="0">
                <a:latin typeface="+mj-lt"/>
                <a:cs typeface="+mj-cs"/>
              </a:rPr>
              <a:t> Employers       120,000</a:t>
            </a:r>
            <a:r>
              <a:rPr lang="en-US" sz="1800" spc="200" dirty="0">
                <a:latin typeface="+mj-lt"/>
                <a:cs typeface="+mj-cs"/>
                <a:sym typeface="Wingdings" panose="05000000000000000000" pitchFamily="2" charset="2"/>
              </a:rPr>
              <a:t>+ Employees       190,000+ Members</a:t>
            </a:r>
            <a:endParaRPr lang="en-US" dirty="0"/>
          </a:p>
        </p:txBody>
      </p:sp>
      <p:sp>
        <p:nvSpPr>
          <p:cNvPr id="5" name="Arrow: Chevron 8">
            <a:extLst>
              <a:ext uri="{FF2B5EF4-FFF2-40B4-BE49-F238E27FC236}">
                <a16:creationId xmlns:a16="http://schemas.microsoft.com/office/drawing/2014/main" id="{CCED4F75-71FE-39B7-D7A7-16E95303FB5C}"/>
              </a:ext>
            </a:extLst>
          </p:cNvPr>
          <p:cNvSpPr/>
          <p:nvPr/>
        </p:nvSpPr>
        <p:spPr>
          <a:xfrm>
            <a:off x="4333487" y="1656396"/>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Arrow: Chevron 9">
            <a:extLst>
              <a:ext uri="{FF2B5EF4-FFF2-40B4-BE49-F238E27FC236}">
                <a16:creationId xmlns:a16="http://schemas.microsoft.com/office/drawing/2014/main" id="{340F1AD2-D85A-D177-8D19-AC9B027C53E2}"/>
              </a:ext>
            </a:extLst>
          </p:cNvPr>
          <p:cNvSpPr/>
          <p:nvPr/>
        </p:nvSpPr>
        <p:spPr>
          <a:xfrm>
            <a:off x="7280031" y="1647719"/>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     </a:t>
            </a:r>
            <a:endParaRPr lang="en-US" dirty="0">
              <a:solidFill>
                <a:schemeClr val="tx1"/>
              </a:solidFill>
            </a:endParaRPr>
          </a:p>
        </p:txBody>
      </p:sp>
      <p:sp>
        <p:nvSpPr>
          <p:cNvPr id="7" name="Title 1">
            <a:extLst>
              <a:ext uri="{FF2B5EF4-FFF2-40B4-BE49-F238E27FC236}">
                <a16:creationId xmlns:a16="http://schemas.microsoft.com/office/drawing/2014/main" id="{012C7A76-8C4C-0C17-C582-24A807F19DA5}"/>
              </a:ext>
            </a:extLst>
          </p:cNvPr>
          <p:cNvSpPr>
            <a:spLocks noGrp="1"/>
          </p:cNvSpPr>
          <p:nvPr>
            <p:ph type="title"/>
          </p:nvPr>
        </p:nvSpPr>
        <p:spPr>
          <a:xfrm>
            <a:off x="163572" y="43143"/>
            <a:ext cx="11801383" cy="1325563"/>
          </a:xfrm>
        </p:spPr>
        <p:txBody>
          <a:bodyPr>
            <a:noAutofit/>
          </a:bodyPr>
          <a:lstStyle/>
          <a:p>
            <a:pPr>
              <a:lnSpc>
                <a:spcPct val="100000"/>
              </a:lnSpc>
              <a:spcBef>
                <a:spcPts val="1800"/>
              </a:spcBef>
              <a:spcAft>
                <a:spcPts val="600"/>
              </a:spcAft>
            </a:pPr>
            <a:r>
              <a:rPr lang="en-US" sz="3600" dirty="0">
                <a:solidFill>
                  <a:srgbClr val="000B2E"/>
                </a:solidFill>
                <a:latin typeface="Arial" panose="020B0604020202020204" pitchFamily="34" charset="0"/>
                <a:cs typeface="Arial" panose="020B0604020202020204" pitchFamily="34" charset="0"/>
              </a:rPr>
              <a:t>Significant Opportunity for </a:t>
            </a:r>
            <a:r>
              <a:rPr lang="en-US" sz="3600" dirty="0">
                <a:solidFill>
                  <a:srgbClr val="000B2E"/>
                </a:solidFill>
              </a:rPr>
              <a:t>Plan Growth</a:t>
            </a:r>
            <a:br>
              <a:rPr lang="en-US" sz="3600" dirty="0">
                <a:solidFill>
                  <a:srgbClr val="000B2E"/>
                </a:solidFill>
              </a:rPr>
            </a:b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graphicFrame>
        <p:nvGraphicFramePr>
          <p:cNvPr id="8" name="Table 12">
            <a:extLst>
              <a:ext uri="{FF2B5EF4-FFF2-40B4-BE49-F238E27FC236}">
                <a16:creationId xmlns:a16="http://schemas.microsoft.com/office/drawing/2014/main" id="{B9E0A44D-EDC5-EBD5-4D77-F30FF46B060F}"/>
              </a:ext>
            </a:extLst>
          </p:cNvPr>
          <p:cNvGraphicFramePr>
            <a:graphicFrameLocks noGrp="1"/>
          </p:cNvGraphicFramePr>
          <p:nvPr>
            <p:extLst>
              <p:ext uri="{D42A27DB-BD31-4B8C-83A1-F6EECF244321}">
                <p14:modId xmlns:p14="http://schemas.microsoft.com/office/powerpoint/2010/main" val="1044511853"/>
              </p:ext>
            </p:extLst>
          </p:nvPr>
        </p:nvGraphicFramePr>
        <p:xfrm>
          <a:off x="4889297" y="2140949"/>
          <a:ext cx="6949427" cy="3441355"/>
        </p:xfrm>
        <a:graphic>
          <a:graphicData uri="http://schemas.openxmlformats.org/drawingml/2006/table">
            <a:tbl>
              <a:tblPr/>
              <a:tblGrid>
                <a:gridCol w="2681975">
                  <a:extLst>
                    <a:ext uri="{9D8B030D-6E8A-4147-A177-3AD203B41FA5}">
                      <a16:colId xmlns:a16="http://schemas.microsoft.com/office/drawing/2014/main" val="1559488425"/>
                    </a:ext>
                  </a:extLst>
                </a:gridCol>
                <a:gridCol w="711242">
                  <a:extLst>
                    <a:ext uri="{9D8B030D-6E8A-4147-A177-3AD203B41FA5}">
                      <a16:colId xmlns:a16="http://schemas.microsoft.com/office/drawing/2014/main" val="3447311937"/>
                    </a:ext>
                  </a:extLst>
                </a:gridCol>
                <a:gridCol w="711242">
                  <a:extLst>
                    <a:ext uri="{9D8B030D-6E8A-4147-A177-3AD203B41FA5}">
                      <a16:colId xmlns:a16="http://schemas.microsoft.com/office/drawing/2014/main" val="3754037008"/>
                    </a:ext>
                  </a:extLst>
                </a:gridCol>
                <a:gridCol w="711242">
                  <a:extLst>
                    <a:ext uri="{9D8B030D-6E8A-4147-A177-3AD203B41FA5}">
                      <a16:colId xmlns:a16="http://schemas.microsoft.com/office/drawing/2014/main" val="1458190780"/>
                    </a:ext>
                  </a:extLst>
                </a:gridCol>
                <a:gridCol w="711242">
                  <a:extLst>
                    <a:ext uri="{9D8B030D-6E8A-4147-A177-3AD203B41FA5}">
                      <a16:colId xmlns:a16="http://schemas.microsoft.com/office/drawing/2014/main" val="957112869"/>
                    </a:ext>
                  </a:extLst>
                </a:gridCol>
                <a:gridCol w="711242">
                  <a:extLst>
                    <a:ext uri="{9D8B030D-6E8A-4147-A177-3AD203B41FA5}">
                      <a16:colId xmlns:a16="http://schemas.microsoft.com/office/drawing/2014/main" val="257020552"/>
                    </a:ext>
                  </a:extLst>
                </a:gridCol>
                <a:gridCol w="711242">
                  <a:extLst>
                    <a:ext uri="{9D8B030D-6E8A-4147-A177-3AD203B41FA5}">
                      <a16:colId xmlns:a16="http://schemas.microsoft.com/office/drawing/2014/main" val="3699895334"/>
                    </a:ext>
                  </a:extLst>
                </a:gridCol>
              </a:tblGrid>
              <a:tr h="333130">
                <a:tc>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gridSpan="6">
                  <a:txBody>
                    <a:bodyPr/>
                    <a:lstStyle/>
                    <a:p>
                      <a:pPr algn="ctr" fontAlgn="b"/>
                      <a:r>
                        <a:rPr lang="en-US" sz="1100" b="0" i="0" u="none" strike="noStrike" dirty="0">
                          <a:solidFill>
                            <a:srgbClr val="000000"/>
                          </a:solidFill>
                          <a:effectLst/>
                          <a:latin typeface="Aptos Narrow" panose="020B0004020202020204" pitchFamily="34" charset="0"/>
                        </a:rPr>
                        <a:t>Employer Size Group (# of Employees)</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381166579"/>
                  </a:ext>
                </a:extLst>
              </a:tr>
              <a:tr h="539395">
                <a:tc>
                  <a:txBody>
                    <a:bodyPr/>
                    <a:lstStyle/>
                    <a:p>
                      <a:pPr algn="ctr" fontAlgn="b"/>
                      <a:r>
                        <a:rPr lang="en-US" sz="1100" b="1" i="0" u="none" strike="noStrike" dirty="0">
                          <a:solidFill>
                            <a:srgbClr val="000000"/>
                          </a:solidFill>
                          <a:effectLst/>
                          <a:latin typeface="Aptos Narrow" panose="020B0004020202020204" pitchFamily="34" charset="0"/>
                        </a:rPr>
                        <a:t>Commercial Employers With Headquarters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2831961423"/>
                  </a:ext>
                </a:extLst>
              </a:tr>
              <a:tr h="298008">
                <a:tc>
                  <a:txBody>
                    <a:bodyPr/>
                    <a:lstStyle/>
                    <a:p>
                      <a:pPr algn="ctr" fontAlgn="b"/>
                      <a:r>
                        <a:rPr lang="en-US" sz="1100" b="1" i="0" u="none" strike="noStrike" dirty="0">
                          <a:solidFill>
                            <a:srgbClr val="000000"/>
                          </a:solidFill>
                          <a:effectLst/>
                          <a:latin typeface="Aptos Narrow" panose="020B0004020202020204" pitchFamily="34" charset="0"/>
                        </a:rPr>
                        <a:t>In Catchment Area</a:t>
                      </a:r>
                    </a:p>
                  </a:txBody>
                  <a:tcPr marL="9525" marR="9525" marT="9525" marB="0">
                    <a:lnL>
                      <a:noFill/>
                    </a:lnL>
                    <a:lnR>
                      <a:noFill/>
                    </a:lnR>
                    <a:lnT>
                      <a:noFill/>
                    </a:lnT>
                    <a:lnB>
                      <a:noFill/>
                    </a:lnB>
                    <a:no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635</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286</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195</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84</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33</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12</a:t>
                      </a:r>
                    </a:p>
                  </a:txBody>
                  <a:tcPr marL="9525" marR="9525" marT="9525" marB="0" anchor="b">
                    <a:lnL>
                      <a:noFill/>
                    </a:lnL>
                    <a:lnR>
                      <a:noFill/>
                    </a:lnR>
                    <a:lnT>
                      <a:noFill/>
                    </a:lnT>
                    <a:lnB>
                      <a:noFill/>
                    </a:lnB>
                    <a:noFill/>
                  </a:tcPr>
                </a:tc>
                <a:extLst>
                  <a:ext uri="{0D108BD9-81ED-4DB2-BD59-A6C34878D82A}">
                    <a16:rowId xmlns:a16="http://schemas.microsoft.com/office/drawing/2014/main" val="4059977521"/>
                  </a:ext>
                </a:extLst>
              </a:tr>
              <a:tr h="298008">
                <a:tc>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60967609"/>
                  </a:ext>
                </a:extLst>
              </a:tr>
              <a:tr h="539395">
                <a:tc>
                  <a:txBody>
                    <a:bodyPr/>
                    <a:lstStyle/>
                    <a:p>
                      <a:pPr algn="ctr" fontAlgn="b"/>
                      <a:r>
                        <a:rPr lang="en-US" sz="1100" b="1" i="0" u="none" strike="noStrike" dirty="0">
                          <a:solidFill>
                            <a:srgbClr val="000000"/>
                          </a:solidFill>
                          <a:effectLst/>
                          <a:latin typeface="Aptos Narrow" panose="020B0004020202020204" pitchFamily="34" charset="0"/>
                        </a:rPr>
                        <a:t>Total Employees at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1072000535"/>
                  </a:ext>
                </a:extLst>
              </a:tr>
              <a:tr h="298008">
                <a:tc>
                  <a:txBody>
                    <a:bodyPr/>
                    <a:lstStyle/>
                    <a:p>
                      <a:pPr algn="ctr" fontAlgn="b"/>
                      <a:r>
                        <a:rPr lang="en-US" sz="1100" b="1" i="0" u="none" strike="noStrike" dirty="0">
                          <a:solidFill>
                            <a:srgbClr val="000000"/>
                          </a:solidFill>
                          <a:effectLst/>
                          <a:latin typeface="Aptos Narrow" panose="020B0004020202020204" pitchFamily="34" charset="0"/>
                        </a:rPr>
                        <a:t>Headquartered in Catchment Area</a:t>
                      </a:r>
                    </a:p>
                  </a:txBody>
                  <a:tcPr marL="9525" marR="9525" marT="9525" marB="0">
                    <a:lnL>
                      <a:noFill/>
                    </a:lnL>
                    <a:lnR>
                      <a:noFill/>
                    </a:lnR>
                    <a:lnT>
                      <a:noFill/>
                    </a:lnT>
                    <a:lnB>
                      <a:noFill/>
                    </a:lnB>
                    <a:noFill/>
                  </a:tcPr>
                </a:tc>
                <a:tc>
                  <a:txBody>
                    <a:bodyPr/>
                    <a:lstStyle/>
                    <a:p>
                      <a:pPr algn="ctr" rtl="0" fontAlgn="b"/>
                      <a:r>
                        <a:rPr lang="en-US" sz="1100" b="0" i="0" u="none" strike="noStrike">
                          <a:solidFill>
                            <a:srgbClr val="000000"/>
                          </a:solidFill>
                          <a:effectLst/>
                          <a:latin typeface="Aptos Narrow" panose="020B0004020202020204" pitchFamily="34" charset="0"/>
                        </a:rPr>
                        <a:t>47,625</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42,900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58,500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58,800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66,000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72,000</a:t>
                      </a:r>
                    </a:p>
                  </a:txBody>
                  <a:tcPr marL="9525" marR="9525" marT="9525" marB="0" anchor="b">
                    <a:lnL>
                      <a:noFill/>
                    </a:lnL>
                    <a:lnR>
                      <a:noFill/>
                    </a:lnR>
                    <a:lnT>
                      <a:noFill/>
                    </a:lnT>
                    <a:lnB>
                      <a:noFill/>
                    </a:lnB>
                    <a:noFill/>
                  </a:tcPr>
                </a:tc>
                <a:extLst>
                  <a:ext uri="{0D108BD9-81ED-4DB2-BD59-A6C34878D82A}">
                    <a16:rowId xmlns:a16="http://schemas.microsoft.com/office/drawing/2014/main" val="486299110"/>
                  </a:ext>
                </a:extLst>
              </a:tr>
              <a:tr h="298008">
                <a:tc>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54517032"/>
                  </a:ext>
                </a:extLst>
              </a:tr>
              <a:tr h="539395">
                <a:tc>
                  <a:txBody>
                    <a:bodyPr/>
                    <a:lstStyle/>
                    <a:p>
                      <a:pPr algn="ctr" fontAlgn="b"/>
                      <a:r>
                        <a:rPr lang="en-US" sz="1100" b="1" i="0" u="none" strike="noStrike" dirty="0">
                          <a:solidFill>
                            <a:srgbClr val="000000"/>
                          </a:solidFill>
                          <a:effectLst/>
                          <a:latin typeface="Aptos Narrow" panose="020B0004020202020204" pitchFamily="34" charset="0"/>
                        </a:rPr>
                        <a:t>Total Members with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306436592"/>
                  </a:ext>
                </a:extLst>
              </a:tr>
              <a:tr h="298008">
                <a:tc>
                  <a:txBody>
                    <a:bodyPr/>
                    <a:lstStyle/>
                    <a:p>
                      <a:pPr algn="ctr" fontAlgn="b"/>
                      <a:r>
                        <a:rPr lang="en-US" sz="1100" b="1" i="0" u="none" strike="noStrike" dirty="0">
                          <a:solidFill>
                            <a:srgbClr val="000000"/>
                          </a:solidFill>
                          <a:effectLst/>
                          <a:latin typeface="Aptos Narrow" panose="020B0004020202020204" pitchFamily="34" charset="0"/>
                        </a:rPr>
                        <a:t>Headquartered in Catchment Area</a:t>
                      </a:r>
                    </a:p>
                  </a:txBody>
                  <a:tcPr marL="9525" marR="9525" marT="9525" marB="0">
                    <a:lnL>
                      <a:noFill/>
                    </a:lnL>
                    <a:lnR>
                      <a:noFill/>
                    </a:lnR>
                    <a:lnT>
                      <a:noFill/>
                    </a:lnT>
                    <a:lnB>
                      <a:noFill/>
                    </a:lnB>
                    <a:noFill/>
                  </a:tcPr>
                </a:tc>
                <a:tc>
                  <a:txBody>
                    <a:bodyPr/>
                    <a:lstStyle/>
                    <a:p>
                      <a:pPr algn="ctr" rtl="0" fontAlgn="b"/>
                      <a:r>
                        <a:rPr lang="en-US" sz="1100" b="0" i="0" u="none" strike="noStrike">
                          <a:solidFill>
                            <a:srgbClr val="000000"/>
                          </a:solidFill>
                          <a:effectLst/>
                          <a:latin typeface="Aptos Narrow" panose="020B0004020202020204" pitchFamily="34" charset="0"/>
                        </a:rPr>
                        <a:t>56,198</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50,622</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69,030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69,384</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77,880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84,960</a:t>
                      </a:r>
                    </a:p>
                  </a:txBody>
                  <a:tcPr marL="9525" marR="9525" marT="9525" marB="0" anchor="b">
                    <a:lnL>
                      <a:noFill/>
                    </a:lnL>
                    <a:lnR>
                      <a:noFill/>
                    </a:lnR>
                    <a:lnT>
                      <a:noFill/>
                    </a:lnT>
                    <a:lnB>
                      <a:noFill/>
                    </a:lnB>
                    <a:noFill/>
                  </a:tcPr>
                </a:tc>
                <a:extLst>
                  <a:ext uri="{0D108BD9-81ED-4DB2-BD59-A6C34878D82A}">
                    <a16:rowId xmlns:a16="http://schemas.microsoft.com/office/drawing/2014/main" val="1581610804"/>
                  </a:ext>
                </a:extLst>
              </a:tr>
            </a:tbl>
          </a:graphicData>
        </a:graphic>
      </p:graphicFrame>
      <p:pic>
        <p:nvPicPr>
          <p:cNvPr id="9" name="Content Placeholder 8"/>
          <p:cNvPicPr>
            <a:picLocks noGrp="1"/>
          </p:cNvPicPr>
          <p:nvPr>
            <p:ph/>
          </p:nvPr>
        </p:nvPicPr>
        <p:blipFill>
          <a:blip r:embed="rId2" cstate="print"/>
          <a:srcRect l="30798" t="32355" r="21845" b="27189"/>
          <a:stretch/>
        </p:blipFill>
        <p:spPr>
          <a:xfrm>
            <a:off x="0" y="2266932"/>
            <a:ext cx="4668975" cy="3329420"/>
          </a:xfrm>
          <a:prstGeom prst="rect">
            <a:avLst/>
          </a:prstGeom>
        </p:spPr>
      </p:pic>
      <p:sp>
        <p:nvSpPr>
          <p:cNvPr id="11" name="TextBox 10">
            <a:extLst>
              <a:ext uri="{FF2B5EF4-FFF2-40B4-BE49-F238E27FC236}">
                <a16:creationId xmlns:a16="http://schemas.microsoft.com/office/drawing/2014/main" id="{AF47A92E-A03C-8B71-F10A-1266F434EB9E}"/>
              </a:ext>
            </a:extLst>
          </p:cNvPr>
          <p:cNvSpPr txBox="1"/>
          <p:nvPr/>
        </p:nvSpPr>
        <p:spPr>
          <a:xfrm>
            <a:off x="593878" y="5766036"/>
            <a:ext cx="11244846" cy="738664"/>
          </a:xfrm>
          <a:prstGeom prst="rect">
            <a:avLst/>
          </a:prstGeom>
          <a:noFill/>
        </p:spPr>
        <p:txBody>
          <a:bodyPr wrap="square">
            <a:spAutoFit/>
          </a:bodyPr>
          <a:lstStyle/>
          <a:p>
            <a:r>
              <a:rPr lang="en-US" sz="1400" dirty="0">
                <a:solidFill>
                  <a:srgbClr val="000B2E"/>
                </a:solidFill>
              </a:rPr>
              <a:t>Researched for Lewis, Allegany, Clay, Garrett, Washington, Belmont, Fayette, Harrison, Jefferson, Marion, Monroe, Mercer, Bland, Barbour, Berkeley, Braxton, Brooke, Calhoun, Doddridge, Gilmer, Grant, Hardy, Kanawha, McDowell, Marshall, Mineral, Monongalia, Nicholas, Ohio, Pleasants, Pocahontas, Preston, Randolph, Ritchie, Roane, Summers, Taylor, Tucker, Tyler, Upshur, Webster, Wetzel, Wirt, and Wood Counties</a:t>
            </a:r>
            <a:endParaRPr lang="en-US" sz="1400" dirty="0"/>
          </a:p>
        </p:txBody>
      </p:sp>
    </p:spTree>
    <p:extLst>
      <p:ext uri="{BB962C8B-B14F-4D97-AF65-F5344CB8AC3E}">
        <p14:creationId xmlns:p14="http://schemas.microsoft.com/office/powerpoint/2010/main" val="16600605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588DF-56D9-837C-AA1C-128F048C493A}"/>
              </a:ext>
            </a:extLst>
          </p:cNvPr>
          <p:cNvSpPr>
            <a:spLocks noGrp="1"/>
          </p:cNvSpPr>
          <p:nvPr>
            <p:ph type="title"/>
          </p:nvPr>
        </p:nvSpPr>
        <p:spPr>
          <a:xfrm>
            <a:off x="1772698" y="235398"/>
            <a:ext cx="10515600" cy="1325563"/>
          </a:xfrm>
        </p:spPr>
        <p:txBody>
          <a:bodyPr/>
          <a:lstStyle/>
          <a:p>
            <a:r>
              <a:rPr lang="en-US" dirty="0"/>
              <a:t>Plan Potential Growth Paths</a:t>
            </a:r>
          </a:p>
        </p:txBody>
      </p:sp>
      <p:sp>
        <p:nvSpPr>
          <p:cNvPr id="3" name="Footer Placeholder 2">
            <a:extLst>
              <a:ext uri="{FF2B5EF4-FFF2-40B4-BE49-F238E27FC236}">
                <a16:creationId xmlns:a16="http://schemas.microsoft.com/office/drawing/2014/main" id="{69C057C1-F13C-F6D8-AD44-F92FA29D30D9}"/>
              </a:ext>
            </a:extLst>
          </p:cNvPr>
          <p:cNvSpPr>
            <a:spLocks noGrp="1"/>
          </p:cNvSpPr>
          <p:nvPr>
            <p:ph type="ftr" sz="quarter" idx="11"/>
          </p:nvPr>
        </p:nvSpPr>
        <p:spPr/>
        <p:txBody>
          <a:bodyPr/>
          <a:lstStyle/>
          <a:p>
            <a:r>
              <a:rPr lang="en-US"/>
              <a:t>Key Benefit Administrators</a:t>
            </a:r>
            <a:endParaRPr lang="en-US" dirty="0"/>
          </a:p>
        </p:txBody>
      </p:sp>
      <p:sp>
        <p:nvSpPr>
          <p:cNvPr id="4" name="Slide Number Placeholder 3">
            <a:extLst>
              <a:ext uri="{FF2B5EF4-FFF2-40B4-BE49-F238E27FC236}">
                <a16:creationId xmlns:a16="http://schemas.microsoft.com/office/drawing/2014/main" id="{BF46B415-80AF-26A8-45D6-1254179BD411}"/>
              </a:ext>
            </a:extLst>
          </p:cNvPr>
          <p:cNvSpPr>
            <a:spLocks noGrp="1"/>
          </p:cNvSpPr>
          <p:nvPr>
            <p:ph type="sldNum" sz="quarter" idx="12"/>
          </p:nvPr>
        </p:nvSpPr>
        <p:spPr/>
        <p:txBody>
          <a:bodyPr/>
          <a:lstStyle/>
          <a:p>
            <a:fld id="{3AFC719D-C4A7-4544-876E-D411D11AF6C9}" type="slidenum">
              <a:rPr lang="en-US" smtClean="0"/>
              <a:t>5</a:t>
            </a:fld>
            <a:endParaRPr lang="en-US" dirty="0"/>
          </a:p>
        </p:txBody>
      </p:sp>
      <p:sp>
        <p:nvSpPr>
          <p:cNvPr id="5" name="Rectangle 6">
            <a:extLst>
              <a:ext uri="{FF2B5EF4-FFF2-40B4-BE49-F238E27FC236}">
                <a16:creationId xmlns:a16="http://schemas.microsoft.com/office/drawing/2014/main" id="{F102BEAF-097D-41B4-20FD-56D98AD0F034}"/>
              </a:ext>
            </a:extLst>
          </p:cNvPr>
          <p:cNvSpPr/>
          <p:nvPr/>
        </p:nvSpPr>
        <p:spPr>
          <a:xfrm>
            <a:off x="0" y="-777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6" name="Title 1">
            <a:extLst>
              <a:ext uri="{FF2B5EF4-FFF2-40B4-BE49-F238E27FC236}">
                <a16:creationId xmlns:a16="http://schemas.microsoft.com/office/drawing/2014/main" id="{93706D05-011F-D6E5-AB62-168509A0E779}"/>
              </a:ext>
            </a:extLst>
          </p:cNvPr>
          <p:cNvSpPr txBox="1">
            <a:spLocks/>
          </p:cNvSpPr>
          <p:nvPr/>
        </p:nvSpPr>
        <p:spPr>
          <a:xfrm rot="16200000">
            <a:off x="-2814764" y="2993452"/>
            <a:ext cx="6553884" cy="752041"/>
          </a:xfrm>
          <a:prstGeom prst="rect">
            <a:avLst/>
          </a:prstGeom>
        </p:spPr>
        <p:txBody>
          <a:bodyPr vert="horz" lIns="91440" tIns="45720" rIns="91440" bIns="45720" rtlCol="0" anchor="ctr">
            <a:no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600"/>
              </a:spcBef>
            </a:pPr>
            <a:r>
              <a:rPr lang="en-US" sz="3600" dirty="0">
                <a:solidFill>
                  <a:schemeClr val="bg1"/>
                </a:solidFill>
                <a:latin typeface="Arial" panose="020B0604020202020204" pitchFamily="34" charset="0"/>
                <a:cs typeface="Arial" panose="020B0604020202020204" pitchFamily="34" charset="0"/>
              </a:rPr>
              <a:t>PLAN GROWTH POTENTIAL</a:t>
            </a:r>
          </a:p>
        </p:txBody>
      </p:sp>
      <p:grpSp>
        <p:nvGrpSpPr>
          <p:cNvPr id="7" name="Group 28">
            <a:extLst>
              <a:ext uri="{FF2B5EF4-FFF2-40B4-BE49-F238E27FC236}">
                <a16:creationId xmlns:a16="http://schemas.microsoft.com/office/drawing/2014/main" id="{69A10699-B4B2-AF88-E1A1-1EF0A88AB471}"/>
              </a:ext>
            </a:extLst>
          </p:cNvPr>
          <p:cNvGrpSpPr/>
          <p:nvPr/>
        </p:nvGrpSpPr>
        <p:grpSpPr>
          <a:xfrm>
            <a:off x="1359766" y="1855590"/>
            <a:ext cx="3960468" cy="3636786"/>
            <a:chOff x="1724978" y="2161521"/>
            <a:chExt cx="8274685" cy="4307840"/>
          </a:xfrm>
        </p:grpSpPr>
        <p:grpSp>
          <p:nvGrpSpPr>
            <p:cNvPr id="8" name="Group 29">
              <a:extLst>
                <a:ext uri="{FF2B5EF4-FFF2-40B4-BE49-F238E27FC236}">
                  <a16:creationId xmlns:a16="http://schemas.microsoft.com/office/drawing/2014/main" id="{11C874E5-E3B4-BAE0-4E2D-2C86D4E7E53A}"/>
                </a:ext>
              </a:extLst>
            </p:cNvPr>
            <p:cNvGrpSpPr/>
            <p:nvPr/>
          </p:nvGrpSpPr>
          <p:grpSpPr>
            <a:xfrm>
              <a:off x="1724978" y="5494001"/>
              <a:ext cx="6872605" cy="975360"/>
              <a:chOff x="1724978" y="5494001"/>
              <a:chExt cx="6872605" cy="975360"/>
            </a:xfrm>
          </p:grpSpPr>
          <p:sp>
            <p:nvSpPr>
              <p:cNvPr id="9" name="Freeform: Shape 72">
                <a:extLst>
                  <a:ext uri="{FF2B5EF4-FFF2-40B4-BE49-F238E27FC236}">
                    <a16:creationId xmlns:a16="http://schemas.microsoft.com/office/drawing/2014/main" id="{C2AD90F2-700F-581B-540A-D6A10D5F84F2}"/>
                  </a:ext>
                </a:extLst>
              </p:cNvPr>
              <p:cNvSpPr/>
              <p:nvPr/>
            </p:nvSpPr>
            <p:spPr>
              <a:xfrm flipV="1">
                <a:off x="2339023" y="5494001"/>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98060"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p>
            </p:txBody>
          </p:sp>
          <p:sp>
            <p:nvSpPr>
              <p:cNvPr id="10" name="TextBox 73">
                <a:extLst>
                  <a:ext uri="{FF2B5EF4-FFF2-40B4-BE49-F238E27FC236}">
                    <a16:creationId xmlns:a16="http://schemas.microsoft.com/office/drawing/2014/main" id="{AEAD331A-F2F6-E5AA-6FA8-43463612A331}"/>
                  </a:ext>
                </a:extLst>
              </p:cNvPr>
              <p:cNvSpPr txBox="1"/>
              <p:nvPr/>
            </p:nvSpPr>
            <p:spPr>
              <a:xfrm>
                <a:off x="1724978" y="5759838"/>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Population</a:t>
                </a:r>
                <a:endParaRPr lang="en-IN" sz="1600" b="1" i="1" dirty="0">
                  <a:solidFill>
                    <a:schemeClr val="bg1"/>
                  </a:solidFill>
                  <a:latin typeface="Arial" panose="020B0604020202020204" pitchFamily="34" charset="0"/>
                  <a:cs typeface="Arial" panose="020B0604020202020204" pitchFamily="34" charset="0"/>
                </a:endParaRPr>
              </a:p>
            </p:txBody>
          </p:sp>
        </p:grpSp>
        <p:grpSp>
          <p:nvGrpSpPr>
            <p:cNvPr id="11" name="Group 30">
              <a:extLst>
                <a:ext uri="{FF2B5EF4-FFF2-40B4-BE49-F238E27FC236}">
                  <a16:creationId xmlns:a16="http://schemas.microsoft.com/office/drawing/2014/main" id="{689474B3-12FA-8E66-D71F-53822C9C68C9}"/>
                </a:ext>
              </a:extLst>
            </p:cNvPr>
            <p:cNvGrpSpPr/>
            <p:nvPr/>
          </p:nvGrpSpPr>
          <p:grpSpPr>
            <a:xfrm>
              <a:off x="2182178" y="2161521"/>
              <a:ext cx="7817485" cy="3197014"/>
              <a:chOff x="3627756" y="1830493"/>
              <a:chExt cx="7817485" cy="3197014"/>
            </a:xfrm>
          </p:grpSpPr>
          <p:grpSp>
            <p:nvGrpSpPr>
              <p:cNvPr id="12" name="Group 58">
                <a:extLst>
                  <a:ext uri="{FF2B5EF4-FFF2-40B4-BE49-F238E27FC236}">
                    <a16:creationId xmlns:a16="http://schemas.microsoft.com/office/drawing/2014/main" id="{51ED3EA0-1B18-EEE0-293E-BB00AD4DE764}"/>
                  </a:ext>
                </a:extLst>
              </p:cNvPr>
              <p:cNvGrpSpPr/>
              <p:nvPr/>
            </p:nvGrpSpPr>
            <p:grpSpPr>
              <a:xfrm>
                <a:off x="3627756" y="4052147"/>
                <a:ext cx="6882765" cy="975360"/>
                <a:chOff x="3627756" y="4052147"/>
                <a:chExt cx="6882765" cy="975360"/>
              </a:xfrm>
            </p:grpSpPr>
            <p:sp>
              <p:nvSpPr>
                <p:cNvPr id="13" name="Freeform: Shape 62">
                  <a:extLst>
                    <a:ext uri="{FF2B5EF4-FFF2-40B4-BE49-F238E27FC236}">
                      <a16:creationId xmlns:a16="http://schemas.microsoft.com/office/drawing/2014/main" id="{BC70B6BA-E51B-5756-ABB1-C97D21E56F2F}"/>
                    </a:ext>
                  </a:extLst>
                </p:cNvPr>
                <p:cNvSpPr/>
                <p:nvPr/>
              </p:nvSpPr>
              <p:spPr>
                <a:xfrm flipV="1">
                  <a:off x="4251961" y="4052147"/>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a:p>
              </p:txBody>
            </p:sp>
            <p:sp>
              <p:nvSpPr>
                <p:cNvPr id="14" name="TextBox 63">
                  <a:extLst>
                    <a:ext uri="{FF2B5EF4-FFF2-40B4-BE49-F238E27FC236}">
                      <a16:creationId xmlns:a16="http://schemas.microsoft.com/office/drawing/2014/main" id="{89D49C14-1775-066C-353B-1ACCC4D24138}"/>
                    </a:ext>
                  </a:extLst>
                </p:cNvPr>
                <p:cNvSpPr txBox="1"/>
                <p:nvPr/>
              </p:nvSpPr>
              <p:spPr>
                <a:xfrm>
                  <a:off x="3627756" y="4317984"/>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Working Age</a:t>
                  </a:r>
                  <a:endParaRPr lang="en-IN" sz="1600" b="1" i="1" dirty="0">
                    <a:solidFill>
                      <a:schemeClr val="bg1"/>
                    </a:solidFill>
                    <a:latin typeface="Arial" panose="020B0604020202020204" pitchFamily="34" charset="0"/>
                    <a:cs typeface="Arial" panose="020B0604020202020204" pitchFamily="34" charset="0"/>
                  </a:endParaRPr>
                </a:p>
              </p:txBody>
            </p:sp>
          </p:grpSp>
          <p:grpSp>
            <p:nvGrpSpPr>
              <p:cNvPr id="15" name="Group 52">
                <a:extLst>
                  <a:ext uri="{FF2B5EF4-FFF2-40B4-BE49-F238E27FC236}">
                    <a16:creationId xmlns:a16="http://schemas.microsoft.com/office/drawing/2014/main" id="{1DBB449D-FFE3-79BF-CC4B-CBC0A3F03B29}"/>
                  </a:ext>
                </a:extLst>
              </p:cNvPr>
              <p:cNvGrpSpPr/>
              <p:nvPr/>
            </p:nvGrpSpPr>
            <p:grpSpPr>
              <a:xfrm>
                <a:off x="4069948" y="2930285"/>
                <a:ext cx="6907933" cy="975360"/>
                <a:chOff x="4069947" y="2930285"/>
                <a:chExt cx="6907933" cy="975360"/>
              </a:xfrm>
            </p:grpSpPr>
            <p:sp>
              <p:nvSpPr>
                <p:cNvPr id="16" name="Freeform: Shape 56">
                  <a:extLst>
                    <a:ext uri="{FF2B5EF4-FFF2-40B4-BE49-F238E27FC236}">
                      <a16:creationId xmlns:a16="http://schemas.microsoft.com/office/drawing/2014/main" id="{2D2231FB-5290-0F34-19A4-B0491233CE27}"/>
                    </a:ext>
                  </a:extLst>
                </p:cNvPr>
                <p:cNvSpPr/>
                <p:nvPr/>
              </p:nvSpPr>
              <p:spPr>
                <a:xfrm flipV="1">
                  <a:off x="4719320" y="2930285"/>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p>
              </p:txBody>
            </p:sp>
            <p:sp>
              <p:nvSpPr>
                <p:cNvPr id="17" name="TextBox 57">
                  <a:extLst>
                    <a:ext uri="{FF2B5EF4-FFF2-40B4-BE49-F238E27FC236}">
                      <a16:creationId xmlns:a16="http://schemas.microsoft.com/office/drawing/2014/main" id="{3C6B2C41-D61E-2C7A-3D82-5A90E06CEE5A}"/>
                    </a:ext>
                  </a:extLst>
                </p:cNvPr>
                <p:cNvSpPr txBox="1"/>
                <p:nvPr/>
              </p:nvSpPr>
              <p:spPr>
                <a:xfrm>
                  <a:off x="4069947" y="3206963"/>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Insured</a:t>
                  </a:r>
                  <a:endParaRPr lang="en-IN" sz="1600" b="1" i="1" dirty="0">
                    <a:solidFill>
                      <a:schemeClr val="bg1"/>
                    </a:solidFill>
                    <a:latin typeface="Arial" panose="020B0604020202020204" pitchFamily="34" charset="0"/>
                    <a:cs typeface="Arial" panose="020B0604020202020204" pitchFamily="34" charset="0"/>
                  </a:endParaRPr>
                </a:p>
              </p:txBody>
            </p:sp>
          </p:grpSp>
          <p:grpSp>
            <p:nvGrpSpPr>
              <p:cNvPr id="18" name="Group 46">
                <a:extLst>
                  <a:ext uri="{FF2B5EF4-FFF2-40B4-BE49-F238E27FC236}">
                    <a16:creationId xmlns:a16="http://schemas.microsoft.com/office/drawing/2014/main" id="{F80321D4-B659-65A7-5D2E-CFE404DB4D8E}"/>
                  </a:ext>
                </a:extLst>
              </p:cNvPr>
              <p:cNvGrpSpPr/>
              <p:nvPr/>
            </p:nvGrpSpPr>
            <p:grpSpPr>
              <a:xfrm>
                <a:off x="4561206" y="1830493"/>
                <a:ext cx="6884035" cy="975360"/>
                <a:chOff x="4561206" y="1830493"/>
                <a:chExt cx="6884035" cy="975360"/>
              </a:xfrm>
            </p:grpSpPr>
            <p:sp>
              <p:nvSpPr>
                <p:cNvPr id="19" name="Freeform: Shape 50">
                  <a:extLst>
                    <a:ext uri="{FF2B5EF4-FFF2-40B4-BE49-F238E27FC236}">
                      <a16:creationId xmlns:a16="http://schemas.microsoft.com/office/drawing/2014/main" id="{19C69411-1E7E-AB74-D150-B508F4902A7E}"/>
                    </a:ext>
                  </a:extLst>
                </p:cNvPr>
                <p:cNvSpPr/>
                <p:nvPr/>
              </p:nvSpPr>
              <p:spPr>
                <a:xfrm flipV="1">
                  <a:off x="5186681" y="1830493"/>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p>
              </p:txBody>
            </p:sp>
            <p:sp>
              <p:nvSpPr>
                <p:cNvPr id="20" name="TextBox 51">
                  <a:extLst>
                    <a:ext uri="{FF2B5EF4-FFF2-40B4-BE49-F238E27FC236}">
                      <a16:creationId xmlns:a16="http://schemas.microsoft.com/office/drawing/2014/main" id="{2AE87841-825C-FE4F-1AB9-6CC03862C17F}"/>
                    </a:ext>
                  </a:extLst>
                </p:cNvPr>
                <p:cNvSpPr txBox="1"/>
                <p:nvPr/>
              </p:nvSpPr>
              <p:spPr>
                <a:xfrm>
                  <a:off x="4561206" y="2096329"/>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Self Funded</a:t>
                  </a:r>
                  <a:endParaRPr lang="en-IN" sz="1600" b="1" i="1" dirty="0">
                    <a:solidFill>
                      <a:schemeClr val="bg1"/>
                    </a:solidFill>
                    <a:latin typeface="Arial" panose="020B0604020202020204" pitchFamily="34" charset="0"/>
                    <a:cs typeface="Arial" panose="020B0604020202020204" pitchFamily="34" charset="0"/>
                  </a:endParaRPr>
                </a:p>
              </p:txBody>
            </p:sp>
          </p:grpSp>
        </p:grpSp>
        <p:sp>
          <p:nvSpPr>
            <p:cNvPr id="21" name="Freeform: Shape 31">
              <a:extLst>
                <a:ext uri="{FF2B5EF4-FFF2-40B4-BE49-F238E27FC236}">
                  <a16:creationId xmlns:a16="http://schemas.microsoft.com/office/drawing/2014/main" id="{93803CD4-6355-5262-37E3-213F86A67BEA}"/>
                </a:ext>
              </a:extLst>
            </p:cNvPr>
            <p:cNvSpPr/>
            <p:nvPr/>
          </p:nvSpPr>
          <p:spPr>
            <a:xfrm flipV="1">
              <a:off x="7997252" y="517548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a:p>
          </p:txBody>
        </p:sp>
        <p:grpSp>
          <p:nvGrpSpPr>
            <p:cNvPr id="22" name="Group 32">
              <a:extLst>
                <a:ext uri="{FF2B5EF4-FFF2-40B4-BE49-F238E27FC236}">
                  <a16:creationId xmlns:a16="http://schemas.microsoft.com/office/drawing/2014/main" id="{C15EBE08-F14E-85B7-24FB-021AE8C94BA3}"/>
                </a:ext>
              </a:extLst>
            </p:cNvPr>
            <p:cNvGrpSpPr/>
            <p:nvPr/>
          </p:nvGrpSpPr>
          <p:grpSpPr>
            <a:xfrm>
              <a:off x="8755080" y="3384449"/>
              <a:ext cx="568098" cy="706284"/>
              <a:chOff x="3970882" y="2311049"/>
              <a:chExt cx="704850" cy="876300"/>
            </a:xfrm>
          </p:grpSpPr>
          <p:sp>
            <p:nvSpPr>
              <p:cNvPr id="23" name="Freeform: Shape 36">
                <a:extLst>
                  <a:ext uri="{FF2B5EF4-FFF2-40B4-BE49-F238E27FC236}">
                    <a16:creationId xmlns:a16="http://schemas.microsoft.com/office/drawing/2014/main" id="{99971868-A4E7-F273-D79D-9C20F2C9304D}"/>
                  </a:ext>
                </a:extLst>
              </p:cNvPr>
              <p:cNvSpPr/>
              <p:nvPr/>
            </p:nvSpPr>
            <p:spPr>
              <a:xfrm>
                <a:off x="3970882" y="2311049"/>
                <a:ext cx="704850" cy="876300"/>
              </a:xfrm>
              <a:custGeom>
                <a:avLst/>
                <a:gdLst>
                  <a:gd name="connsiteX0" fmla="*/ 7144 w 704850"/>
                  <a:gd name="connsiteY0" fmla="*/ 410166 h 876300"/>
                  <a:gd name="connsiteX1" fmla="*/ 7144 w 704850"/>
                  <a:gd name="connsiteY1" fmla="*/ 312791 h 876300"/>
                  <a:gd name="connsiteX2" fmla="*/ 164497 w 704850"/>
                  <a:gd name="connsiteY2" fmla="*/ 221942 h 876300"/>
                  <a:gd name="connsiteX3" fmla="*/ 164497 w 704850"/>
                  <a:gd name="connsiteY3" fmla="*/ 220266 h 876300"/>
                  <a:gd name="connsiteX4" fmla="*/ 164497 w 704850"/>
                  <a:gd name="connsiteY4" fmla="*/ 218589 h 876300"/>
                  <a:gd name="connsiteX5" fmla="*/ 140141 w 704850"/>
                  <a:gd name="connsiteY5" fmla="*/ 162935 h 876300"/>
                  <a:gd name="connsiteX6" fmla="*/ 140141 w 704850"/>
                  <a:gd name="connsiteY6" fmla="*/ 91459 h 876300"/>
                  <a:gd name="connsiteX7" fmla="*/ 156782 w 704850"/>
                  <a:gd name="connsiteY7" fmla="*/ 138608 h 876300"/>
                  <a:gd name="connsiteX8" fmla="*/ 140160 w 704850"/>
                  <a:gd name="connsiteY8" fmla="*/ 91478 h 876300"/>
                  <a:gd name="connsiteX9" fmla="*/ 237554 w 704850"/>
                  <a:gd name="connsiteY9" fmla="*/ 7144 h 876300"/>
                  <a:gd name="connsiteX10" fmla="*/ 334937 w 704850"/>
                  <a:gd name="connsiteY10" fmla="*/ 91488 h 876300"/>
                  <a:gd name="connsiteX11" fmla="*/ 334909 w 704850"/>
                  <a:gd name="connsiteY11" fmla="*/ 91964 h 876300"/>
                  <a:gd name="connsiteX12" fmla="*/ 334909 w 704850"/>
                  <a:gd name="connsiteY12" fmla="*/ 162963 h 876300"/>
                  <a:gd name="connsiteX13" fmla="*/ 334756 w 704850"/>
                  <a:gd name="connsiteY13" fmla="*/ 165440 h 876300"/>
                  <a:gd name="connsiteX14" fmla="*/ 334499 w 704850"/>
                  <a:gd name="connsiteY14" fmla="*/ 170240 h 876300"/>
                  <a:gd name="connsiteX15" fmla="*/ 334261 w 704850"/>
                  <a:gd name="connsiteY15" fmla="*/ 172488 h 876300"/>
                  <a:gd name="connsiteX16" fmla="*/ 332975 w 704850"/>
                  <a:gd name="connsiteY16" fmla="*/ 179756 h 876300"/>
                  <a:gd name="connsiteX17" fmla="*/ 332899 w 704850"/>
                  <a:gd name="connsiteY17" fmla="*/ 180051 h 876300"/>
                  <a:gd name="connsiteX18" fmla="*/ 332261 w 704850"/>
                  <a:gd name="connsiteY18" fmla="*/ 182204 h 876300"/>
                  <a:gd name="connsiteX19" fmla="*/ 467963 w 704850"/>
                  <a:gd name="connsiteY19" fmla="*/ 338880 h 876300"/>
                  <a:gd name="connsiteX20" fmla="*/ 467963 w 704850"/>
                  <a:gd name="connsiteY20" fmla="*/ 436274 h 876300"/>
                  <a:gd name="connsiteX21" fmla="*/ 175803 w 704850"/>
                  <a:gd name="connsiteY21" fmla="*/ 604923 h 876300"/>
                  <a:gd name="connsiteX22" fmla="*/ 7144 w 704850"/>
                  <a:gd name="connsiteY22" fmla="*/ 410166 h 876300"/>
                  <a:gd name="connsiteX23" fmla="*/ 695516 w 704850"/>
                  <a:gd name="connsiteY23" fmla="*/ 699859 h 876300"/>
                  <a:gd name="connsiteX24" fmla="*/ 403384 w 704850"/>
                  <a:gd name="connsiteY24" fmla="*/ 868518 h 876300"/>
                  <a:gd name="connsiteX25" fmla="*/ 401003 w 704850"/>
                  <a:gd name="connsiteY25" fmla="*/ 869156 h 876300"/>
                  <a:gd name="connsiteX26" fmla="*/ 397402 w 704850"/>
                  <a:gd name="connsiteY26" fmla="*/ 867508 h 876300"/>
                  <a:gd name="connsiteX27" fmla="*/ 228724 w 704850"/>
                  <a:gd name="connsiteY27" fmla="*/ 672770 h 876300"/>
                  <a:gd name="connsiteX28" fmla="*/ 227628 w 704850"/>
                  <a:gd name="connsiteY28" fmla="*/ 668865 h 876300"/>
                  <a:gd name="connsiteX29" fmla="*/ 229943 w 704850"/>
                  <a:gd name="connsiteY29" fmla="*/ 665531 h 876300"/>
                  <a:gd name="connsiteX30" fmla="*/ 522094 w 704850"/>
                  <a:gd name="connsiteY30" fmla="*/ 496853 h 876300"/>
                  <a:gd name="connsiteX31" fmla="*/ 528076 w 704850"/>
                  <a:gd name="connsiteY31" fmla="*/ 497853 h 876300"/>
                  <a:gd name="connsiteX32" fmla="*/ 696735 w 704850"/>
                  <a:gd name="connsiteY32" fmla="*/ 692610 h 876300"/>
                  <a:gd name="connsiteX33" fmla="*/ 697830 w 704850"/>
                  <a:gd name="connsiteY33" fmla="*/ 696516 h 876300"/>
                  <a:gd name="connsiteX34" fmla="*/ 695516 w 704850"/>
                  <a:gd name="connsiteY34" fmla="*/ 699859 h 87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04850" h="876300">
                    <a:moveTo>
                      <a:pt x="7144" y="410166"/>
                    </a:moveTo>
                    <a:lnTo>
                      <a:pt x="7144" y="312791"/>
                    </a:lnTo>
                    <a:lnTo>
                      <a:pt x="164497" y="221942"/>
                    </a:lnTo>
                    <a:lnTo>
                      <a:pt x="164497" y="220266"/>
                    </a:lnTo>
                    <a:lnTo>
                      <a:pt x="164497" y="218589"/>
                    </a:lnTo>
                    <a:cubicBezTo>
                      <a:pt x="149390" y="203730"/>
                      <a:pt x="140141" y="184290"/>
                      <a:pt x="140141" y="162935"/>
                    </a:cubicBezTo>
                    <a:lnTo>
                      <a:pt x="140141" y="91459"/>
                    </a:lnTo>
                    <a:cubicBezTo>
                      <a:pt x="140141" y="108918"/>
                      <a:pt x="146275" y="125149"/>
                      <a:pt x="156782" y="138608"/>
                    </a:cubicBezTo>
                    <a:cubicBezTo>
                      <a:pt x="146285" y="125149"/>
                      <a:pt x="140160" y="108937"/>
                      <a:pt x="140160" y="91478"/>
                    </a:cubicBezTo>
                    <a:cubicBezTo>
                      <a:pt x="140160" y="44901"/>
                      <a:pt x="183775" y="7144"/>
                      <a:pt x="237554" y="7144"/>
                    </a:cubicBezTo>
                    <a:cubicBezTo>
                      <a:pt x="291313" y="7144"/>
                      <a:pt x="334918" y="44901"/>
                      <a:pt x="334937" y="91488"/>
                    </a:cubicBezTo>
                    <a:cubicBezTo>
                      <a:pt x="334937" y="91650"/>
                      <a:pt x="334909" y="91802"/>
                      <a:pt x="334909" y="91964"/>
                    </a:cubicBezTo>
                    <a:lnTo>
                      <a:pt x="334909" y="162963"/>
                    </a:lnTo>
                    <a:cubicBezTo>
                      <a:pt x="334909" y="163792"/>
                      <a:pt x="334794" y="164602"/>
                      <a:pt x="334756" y="165440"/>
                    </a:cubicBezTo>
                    <a:cubicBezTo>
                      <a:pt x="334699" y="167040"/>
                      <a:pt x="334632" y="168650"/>
                      <a:pt x="334499" y="170240"/>
                    </a:cubicBezTo>
                    <a:cubicBezTo>
                      <a:pt x="334413" y="170983"/>
                      <a:pt x="334356" y="171736"/>
                      <a:pt x="334261" y="172488"/>
                    </a:cubicBezTo>
                    <a:cubicBezTo>
                      <a:pt x="333927" y="174936"/>
                      <a:pt x="333537" y="177375"/>
                      <a:pt x="332975" y="179756"/>
                    </a:cubicBezTo>
                    <a:cubicBezTo>
                      <a:pt x="332956" y="179851"/>
                      <a:pt x="332918" y="179946"/>
                      <a:pt x="332899" y="180051"/>
                    </a:cubicBezTo>
                    <a:cubicBezTo>
                      <a:pt x="332718" y="180785"/>
                      <a:pt x="332461" y="181480"/>
                      <a:pt x="332261" y="182204"/>
                    </a:cubicBezTo>
                    <a:lnTo>
                      <a:pt x="467963" y="338880"/>
                    </a:lnTo>
                    <a:lnTo>
                      <a:pt x="467963" y="436274"/>
                    </a:lnTo>
                    <a:lnTo>
                      <a:pt x="175803" y="604923"/>
                    </a:lnTo>
                    <a:lnTo>
                      <a:pt x="7144" y="410166"/>
                    </a:lnTo>
                    <a:close/>
                    <a:moveTo>
                      <a:pt x="695516" y="699859"/>
                    </a:moveTo>
                    <a:lnTo>
                      <a:pt x="403384" y="868518"/>
                    </a:lnTo>
                    <a:cubicBezTo>
                      <a:pt x="402641" y="868956"/>
                      <a:pt x="401822" y="869156"/>
                      <a:pt x="401003" y="869156"/>
                    </a:cubicBezTo>
                    <a:cubicBezTo>
                      <a:pt x="399660" y="869156"/>
                      <a:pt x="398336" y="868585"/>
                      <a:pt x="397402" y="867508"/>
                    </a:cubicBezTo>
                    <a:lnTo>
                      <a:pt x="228724" y="672770"/>
                    </a:lnTo>
                    <a:cubicBezTo>
                      <a:pt x="227790" y="671703"/>
                      <a:pt x="227390" y="670265"/>
                      <a:pt x="227628" y="668865"/>
                    </a:cubicBezTo>
                    <a:cubicBezTo>
                      <a:pt x="227867" y="667464"/>
                      <a:pt x="228714" y="666245"/>
                      <a:pt x="229943" y="665531"/>
                    </a:cubicBezTo>
                    <a:lnTo>
                      <a:pt x="522094" y="496853"/>
                    </a:lnTo>
                    <a:cubicBezTo>
                      <a:pt x="524056" y="495700"/>
                      <a:pt x="526590" y="496119"/>
                      <a:pt x="528076" y="497853"/>
                    </a:cubicBezTo>
                    <a:lnTo>
                      <a:pt x="696735" y="692610"/>
                    </a:lnTo>
                    <a:cubicBezTo>
                      <a:pt x="697668" y="693677"/>
                      <a:pt x="698068" y="695115"/>
                      <a:pt x="697830" y="696516"/>
                    </a:cubicBezTo>
                    <a:cubicBezTo>
                      <a:pt x="697592" y="697916"/>
                      <a:pt x="696744" y="699145"/>
                      <a:pt x="695516" y="699859"/>
                    </a:cubicBezTo>
                    <a:close/>
                  </a:path>
                </a:pathLst>
              </a:custGeom>
              <a:noFill/>
              <a:ln w="9525" cap="flat">
                <a:noFill/>
                <a:prstDash val="solid"/>
                <a:miter/>
              </a:ln>
            </p:spPr>
            <p:txBody>
              <a:bodyPr rtlCol="0" anchor="ctr"/>
              <a:lstStyle/>
              <a:p>
                <a:endParaRPr lang="en-IN">
                  <a:solidFill>
                    <a:schemeClr val="bg1"/>
                  </a:solidFill>
                </a:endParaRPr>
              </a:p>
            </p:txBody>
          </p:sp>
          <p:sp>
            <p:nvSpPr>
              <p:cNvPr id="24" name="Freeform: Shape 37">
                <a:extLst>
                  <a:ext uri="{FF2B5EF4-FFF2-40B4-BE49-F238E27FC236}">
                    <a16:creationId xmlns:a16="http://schemas.microsoft.com/office/drawing/2014/main" id="{26D4449C-E24F-47A1-0BA9-B4D1231EE90A}"/>
                  </a:ext>
                </a:extLst>
              </p:cNvPr>
              <p:cNvSpPr/>
              <p:nvPr/>
            </p:nvSpPr>
            <p:spPr>
              <a:xfrm>
                <a:off x="4272815" y="2536792"/>
                <a:ext cx="9525" cy="9525"/>
              </a:xfrm>
              <a:custGeom>
                <a:avLst/>
                <a:gdLst>
                  <a:gd name="connsiteX0" fmla="*/ 7182 w 9525"/>
                  <a:gd name="connsiteY0" fmla="*/ 7144 h 9525"/>
                  <a:gd name="connsiteX1" fmla="*/ 7144 w 9525"/>
                  <a:gd name="connsiteY1" fmla="*/ 7296 h 9525"/>
                  <a:gd name="connsiteX2" fmla="*/ 7182 w 9525"/>
                  <a:gd name="connsiteY2" fmla="*/ 7172 h 9525"/>
                </a:gdLst>
                <a:ahLst/>
                <a:cxnLst>
                  <a:cxn ang="0">
                    <a:pos x="connsiteX0" y="connsiteY0"/>
                  </a:cxn>
                  <a:cxn ang="0">
                    <a:pos x="connsiteX1" y="connsiteY1"/>
                  </a:cxn>
                  <a:cxn ang="0">
                    <a:pos x="connsiteX2" y="connsiteY2"/>
                  </a:cxn>
                </a:cxnLst>
                <a:rect l="l" t="t" r="r" b="b"/>
                <a:pathLst>
                  <a:path w="9525" h="9525">
                    <a:moveTo>
                      <a:pt x="7182" y="7144"/>
                    </a:moveTo>
                    <a:lnTo>
                      <a:pt x="7144" y="7296"/>
                    </a:lnTo>
                    <a:lnTo>
                      <a:pt x="7182" y="7172"/>
                    </a:lnTo>
                    <a:close/>
                  </a:path>
                </a:pathLst>
              </a:custGeom>
              <a:solidFill>
                <a:srgbClr val="000000"/>
              </a:solidFill>
              <a:ln w="9525" cap="flat">
                <a:noFill/>
                <a:prstDash val="solid"/>
                <a:miter/>
              </a:ln>
            </p:spPr>
            <p:txBody>
              <a:bodyPr rtlCol="0" anchor="ctr"/>
              <a:lstStyle/>
              <a:p>
                <a:endParaRPr lang="en-IN">
                  <a:solidFill>
                    <a:schemeClr val="bg1"/>
                  </a:solidFill>
                </a:endParaRPr>
              </a:p>
            </p:txBody>
          </p:sp>
          <p:sp>
            <p:nvSpPr>
              <p:cNvPr id="25" name="Freeform: Shape 38">
                <a:extLst>
                  <a:ext uri="{FF2B5EF4-FFF2-40B4-BE49-F238E27FC236}">
                    <a16:creationId xmlns:a16="http://schemas.microsoft.com/office/drawing/2014/main" id="{380CB4F0-D598-949F-D94F-54D7DBD5CD13}"/>
                  </a:ext>
                </a:extLst>
              </p:cNvPr>
              <p:cNvSpPr/>
              <p:nvPr/>
            </p:nvSpPr>
            <p:spPr>
              <a:xfrm>
                <a:off x="4234039" y="2448019"/>
                <a:ext cx="38100" cy="28575"/>
              </a:xfrm>
              <a:custGeom>
                <a:avLst/>
                <a:gdLst>
                  <a:gd name="connsiteX0" fmla="*/ 7144 w 38100"/>
                  <a:gd name="connsiteY0" fmla="*/ 23879 h 28575"/>
                  <a:gd name="connsiteX1" fmla="*/ 9049 w 38100"/>
                  <a:gd name="connsiteY1" fmla="*/ 23241 h 28575"/>
                  <a:gd name="connsiteX2" fmla="*/ 9896 w 38100"/>
                  <a:gd name="connsiteY2" fmla="*/ 22927 h 28575"/>
                  <a:gd name="connsiteX3" fmla="*/ 17659 w 38100"/>
                  <a:gd name="connsiteY3" fmla="*/ 19555 h 28575"/>
                  <a:gd name="connsiteX4" fmla="*/ 19040 w 38100"/>
                  <a:gd name="connsiteY4" fmla="*/ 18831 h 28575"/>
                  <a:gd name="connsiteX5" fmla="*/ 20241 w 38100"/>
                  <a:gd name="connsiteY5" fmla="*/ 18202 h 28575"/>
                  <a:gd name="connsiteX6" fmla="*/ 25803 w 38100"/>
                  <a:gd name="connsiteY6" fmla="*/ 15069 h 28575"/>
                  <a:gd name="connsiteX7" fmla="*/ 29518 w 38100"/>
                  <a:gd name="connsiteY7" fmla="*/ 12649 h 28575"/>
                  <a:gd name="connsiteX8" fmla="*/ 30413 w 38100"/>
                  <a:gd name="connsiteY8" fmla="*/ 12049 h 28575"/>
                  <a:gd name="connsiteX9" fmla="*/ 31423 w 38100"/>
                  <a:gd name="connsiteY9" fmla="*/ 11354 h 28575"/>
                  <a:gd name="connsiteX10" fmla="*/ 36376 w 38100"/>
                  <a:gd name="connsiteY10" fmla="*/ 7439 h 28575"/>
                  <a:gd name="connsiteX11" fmla="*/ 36119 w 38100"/>
                  <a:gd name="connsiteY11" fmla="*/ 7144 h 28575"/>
                  <a:gd name="connsiteX12" fmla="*/ 7144 w 38100"/>
                  <a:gd name="connsiteY12" fmla="*/ 23879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00" h="28575">
                    <a:moveTo>
                      <a:pt x="7144" y="23879"/>
                    </a:moveTo>
                    <a:cubicBezTo>
                      <a:pt x="7772" y="23670"/>
                      <a:pt x="8458" y="23460"/>
                      <a:pt x="9049" y="23241"/>
                    </a:cubicBezTo>
                    <a:lnTo>
                      <a:pt x="9896" y="22927"/>
                    </a:lnTo>
                    <a:cubicBezTo>
                      <a:pt x="12449" y="21955"/>
                      <a:pt x="15059" y="20822"/>
                      <a:pt x="17659" y="19555"/>
                    </a:cubicBezTo>
                    <a:cubicBezTo>
                      <a:pt x="18117" y="19336"/>
                      <a:pt x="18583" y="19079"/>
                      <a:pt x="19040" y="18831"/>
                    </a:cubicBezTo>
                    <a:lnTo>
                      <a:pt x="20241" y="18202"/>
                    </a:lnTo>
                    <a:cubicBezTo>
                      <a:pt x="22117" y="17221"/>
                      <a:pt x="23993" y="16164"/>
                      <a:pt x="25803" y="15069"/>
                    </a:cubicBezTo>
                    <a:cubicBezTo>
                      <a:pt x="27022" y="14316"/>
                      <a:pt x="28270" y="13506"/>
                      <a:pt x="29518" y="12649"/>
                    </a:cubicBezTo>
                    <a:lnTo>
                      <a:pt x="30413" y="12049"/>
                    </a:lnTo>
                    <a:lnTo>
                      <a:pt x="31423" y="11354"/>
                    </a:lnTo>
                    <a:cubicBezTo>
                      <a:pt x="33090" y="10135"/>
                      <a:pt x="34757" y="8820"/>
                      <a:pt x="36376" y="7439"/>
                    </a:cubicBezTo>
                    <a:lnTo>
                      <a:pt x="36119" y="7144"/>
                    </a:lnTo>
                    <a:lnTo>
                      <a:pt x="7144" y="23879"/>
                    </a:lnTo>
                    <a:close/>
                  </a:path>
                </a:pathLst>
              </a:custGeom>
              <a:solidFill>
                <a:srgbClr val="000000"/>
              </a:solidFill>
              <a:ln w="9525" cap="flat">
                <a:noFill/>
                <a:prstDash val="solid"/>
                <a:miter/>
              </a:ln>
            </p:spPr>
            <p:txBody>
              <a:bodyPr rtlCol="0" anchor="ctr"/>
              <a:lstStyle/>
              <a:p>
                <a:endParaRPr lang="en-IN">
                  <a:solidFill>
                    <a:schemeClr val="bg1"/>
                  </a:solidFill>
                </a:endParaRPr>
              </a:p>
            </p:txBody>
          </p:sp>
          <p:sp>
            <p:nvSpPr>
              <p:cNvPr id="26" name="Freeform: Shape 39">
                <a:extLst>
                  <a:ext uri="{FF2B5EF4-FFF2-40B4-BE49-F238E27FC236}">
                    <a16:creationId xmlns:a16="http://schemas.microsoft.com/office/drawing/2014/main" id="{71E01EC1-04E0-F00A-E7D0-A3570350B0AE}"/>
                  </a:ext>
                </a:extLst>
              </p:cNvPr>
              <p:cNvSpPr/>
              <p:nvPr/>
            </p:nvSpPr>
            <p:spPr>
              <a:xfrm>
                <a:off x="4266357" y="2417310"/>
                <a:ext cx="19050" cy="38100"/>
              </a:xfrm>
              <a:custGeom>
                <a:avLst/>
                <a:gdLst>
                  <a:gd name="connsiteX0" fmla="*/ 14792 w 19050"/>
                  <a:gd name="connsiteY0" fmla="*/ 12287 h 38100"/>
                  <a:gd name="connsiteX1" fmla="*/ 14621 w 19050"/>
                  <a:gd name="connsiteY1" fmla="*/ 13954 h 38100"/>
                  <a:gd name="connsiteX2" fmla="*/ 13649 w 19050"/>
                  <a:gd name="connsiteY2" fmla="*/ 19469 h 38100"/>
                  <a:gd name="connsiteX3" fmla="*/ 13611 w 19050"/>
                  <a:gd name="connsiteY3" fmla="*/ 19583 h 38100"/>
                  <a:gd name="connsiteX4" fmla="*/ 12011 w 19050"/>
                  <a:gd name="connsiteY4" fmla="*/ 25003 h 38100"/>
                  <a:gd name="connsiteX5" fmla="*/ 11430 w 19050"/>
                  <a:gd name="connsiteY5" fmla="*/ 26565 h 38100"/>
                  <a:gd name="connsiteX6" fmla="*/ 9754 w 19050"/>
                  <a:gd name="connsiteY6" fmla="*/ 30490 h 38100"/>
                  <a:gd name="connsiteX7" fmla="*/ 9106 w 19050"/>
                  <a:gd name="connsiteY7" fmla="*/ 31899 h 38100"/>
                  <a:gd name="connsiteX8" fmla="*/ 7144 w 19050"/>
                  <a:gd name="connsiteY8" fmla="*/ 35433 h 38100"/>
                  <a:gd name="connsiteX9" fmla="*/ 9830 w 19050"/>
                  <a:gd name="connsiteY9" fmla="*/ 32766 h 38100"/>
                  <a:gd name="connsiteX10" fmla="*/ 10925 w 19050"/>
                  <a:gd name="connsiteY10" fmla="*/ 31566 h 38100"/>
                  <a:gd name="connsiteX11" fmla="*/ 10992 w 19050"/>
                  <a:gd name="connsiteY11" fmla="*/ 31490 h 38100"/>
                  <a:gd name="connsiteX12" fmla="*/ 11316 w 19050"/>
                  <a:gd name="connsiteY12" fmla="*/ 31128 h 38100"/>
                  <a:gd name="connsiteX13" fmla="*/ 14535 w 19050"/>
                  <a:gd name="connsiteY13" fmla="*/ 27403 h 38100"/>
                  <a:gd name="connsiteX14" fmla="*/ 15088 w 19050"/>
                  <a:gd name="connsiteY14" fmla="*/ 26708 h 38100"/>
                  <a:gd name="connsiteX15" fmla="*/ 15088 w 19050"/>
                  <a:gd name="connsiteY15" fmla="*/ 7144 h 38100"/>
                  <a:gd name="connsiteX16" fmla="*/ 14792 w 19050"/>
                  <a:gd name="connsiteY16" fmla="*/ 1228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0" h="38100">
                    <a:moveTo>
                      <a:pt x="14792" y="12287"/>
                    </a:moveTo>
                    <a:cubicBezTo>
                      <a:pt x="14735" y="12849"/>
                      <a:pt x="14697" y="13402"/>
                      <a:pt x="14621" y="13954"/>
                    </a:cubicBezTo>
                    <a:cubicBezTo>
                      <a:pt x="14373" y="15811"/>
                      <a:pt x="14059" y="17669"/>
                      <a:pt x="13649" y="19469"/>
                    </a:cubicBezTo>
                    <a:cubicBezTo>
                      <a:pt x="13630" y="19507"/>
                      <a:pt x="13630" y="19545"/>
                      <a:pt x="13611" y="19583"/>
                    </a:cubicBezTo>
                    <a:cubicBezTo>
                      <a:pt x="13183" y="21422"/>
                      <a:pt x="12621" y="23222"/>
                      <a:pt x="12011" y="25003"/>
                    </a:cubicBezTo>
                    <a:cubicBezTo>
                      <a:pt x="11820" y="25537"/>
                      <a:pt x="11620" y="26041"/>
                      <a:pt x="11430" y="26565"/>
                    </a:cubicBezTo>
                    <a:cubicBezTo>
                      <a:pt x="10906" y="27899"/>
                      <a:pt x="10363" y="29194"/>
                      <a:pt x="9754" y="30490"/>
                    </a:cubicBezTo>
                    <a:cubicBezTo>
                      <a:pt x="9554" y="30947"/>
                      <a:pt x="9325" y="31432"/>
                      <a:pt x="9106" y="31899"/>
                    </a:cubicBezTo>
                    <a:cubicBezTo>
                      <a:pt x="8506" y="33099"/>
                      <a:pt x="7820" y="34271"/>
                      <a:pt x="7144" y="35433"/>
                    </a:cubicBezTo>
                    <a:cubicBezTo>
                      <a:pt x="7991" y="34623"/>
                      <a:pt x="8887" y="33738"/>
                      <a:pt x="9830" y="32766"/>
                    </a:cubicBezTo>
                    <a:cubicBezTo>
                      <a:pt x="10211" y="32366"/>
                      <a:pt x="10563" y="31966"/>
                      <a:pt x="10925" y="31566"/>
                    </a:cubicBezTo>
                    <a:lnTo>
                      <a:pt x="10992" y="31490"/>
                    </a:lnTo>
                    <a:lnTo>
                      <a:pt x="11316" y="31128"/>
                    </a:lnTo>
                    <a:cubicBezTo>
                      <a:pt x="12440" y="29918"/>
                      <a:pt x="13516" y="28689"/>
                      <a:pt x="14535" y="27403"/>
                    </a:cubicBezTo>
                    <a:lnTo>
                      <a:pt x="15088" y="26708"/>
                    </a:lnTo>
                    <a:lnTo>
                      <a:pt x="15088" y="7144"/>
                    </a:lnTo>
                    <a:cubicBezTo>
                      <a:pt x="15078" y="8868"/>
                      <a:pt x="14973" y="10592"/>
                      <a:pt x="14792" y="12287"/>
                    </a:cubicBezTo>
                    <a:close/>
                  </a:path>
                </a:pathLst>
              </a:custGeom>
              <a:solidFill>
                <a:srgbClr val="000000"/>
              </a:solidFill>
              <a:ln w="9525" cap="flat">
                <a:noFill/>
                <a:prstDash val="solid"/>
                <a:miter/>
              </a:ln>
            </p:spPr>
            <p:txBody>
              <a:bodyPr rtlCol="0" anchor="ctr"/>
              <a:lstStyle/>
              <a:p>
                <a:endParaRPr lang="en-IN">
                  <a:solidFill>
                    <a:schemeClr val="bg1"/>
                  </a:solidFill>
                </a:endParaRPr>
              </a:p>
            </p:txBody>
          </p:sp>
          <p:sp>
            <p:nvSpPr>
              <p:cNvPr id="27" name="Freeform: Shape 40">
                <a:extLst>
                  <a:ext uri="{FF2B5EF4-FFF2-40B4-BE49-F238E27FC236}">
                    <a16:creationId xmlns:a16="http://schemas.microsoft.com/office/drawing/2014/main" id="{3D3A0C0B-3028-02AB-45A9-5AC22941B397}"/>
                  </a:ext>
                </a:extLst>
              </p:cNvPr>
              <p:cNvSpPr/>
              <p:nvPr/>
            </p:nvSpPr>
            <p:spPr>
              <a:xfrm>
                <a:off x="4266319" y="2416967"/>
                <a:ext cx="19050" cy="38100"/>
              </a:xfrm>
              <a:custGeom>
                <a:avLst/>
                <a:gdLst>
                  <a:gd name="connsiteX0" fmla="*/ 9792 w 19050"/>
                  <a:gd name="connsiteY0" fmla="*/ 30832 h 38100"/>
                  <a:gd name="connsiteX1" fmla="*/ 11468 w 19050"/>
                  <a:gd name="connsiteY1" fmla="*/ 26908 h 38100"/>
                  <a:gd name="connsiteX2" fmla="*/ 12049 w 19050"/>
                  <a:gd name="connsiteY2" fmla="*/ 25346 h 38100"/>
                  <a:gd name="connsiteX3" fmla="*/ 13649 w 19050"/>
                  <a:gd name="connsiteY3" fmla="*/ 19926 h 38100"/>
                  <a:gd name="connsiteX4" fmla="*/ 13687 w 19050"/>
                  <a:gd name="connsiteY4" fmla="*/ 19812 h 38100"/>
                  <a:gd name="connsiteX5" fmla="*/ 14659 w 19050"/>
                  <a:gd name="connsiteY5" fmla="*/ 14297 h 38100"/>
                  <a:gd name="connsiteX6" fmla="*/ 14830 w 19050"/>
                  <a:gd name="connsiteY6" fmla="*/ 12630 h 38100"/>
                  <a:gd name="connsiteX7" fmla="*/ 15126 w 19050"/>
                  <a:gd name="connsiteY7" fmla="*/ 7487 h 38100"/>
                  <a:gd name="connsiteX8" fmla="*/ 15126 w 19050"/>
                  <a:gd name="connsiteY8" fmla="*/ 7144 h 38100"/>
                  <a:gd name="connsiteX9" fmla="*/ 14811 w 19050"/>
                  <a:gd name="connsiteY9" fmla="*/ 12621 h 38100"/>
                  <a:gd name="connsiteX10" fmla="*/ 14640 w 19050"/>
                  <a:gd name="connsiteY10" fmla="*/ 14288 h 38100"/>
                  <a:gd name="connsiteX11" fmla="*/ 13668 w 19050"/>
                  <a:gd name="connsiteY11" fmla="*/ 19802 h 38100"/>
                  <a:gd name="connsiteX12" fmla="*/ 13630 w 19050"/>
                  <a:gd name="connsiteY12" fmla="*/ 19917 h 38100"/>
                  <a:gd name="connsiteX13" fmla="*/ 12030 w 19050"/>
                  <a:gd name="connsiteY13" fmla="*/ 25336 h 38100"/>
                  <a:gd name="connsiteX14" fmla="*/ 11449 w 19050"/>
                  <a:gd name="connsiteY14" fmla="*/ 26899 h 38100"/>
                  <a:gd name="connsiteX15" fmla="*/ 9773 w 19050"/>
                  <a:gd name="connsiteY15" fmla="*/ 30823 h 38100"/>
                  <a:gd name="connsiteX16" fmla="*/ 9125 w 19050"/>
                  <a:gd name="connsiteY16" fmla="*/ 32233 h 38100"/>
                  <a:gd name="connsiteX17" fmla="*/ 7144 w 19050"/>
                  <a:gd name="connsiteY17" fmla="*/ 35814 h 38100"/>
                  <a:gd name="connsiteX18" fmla="*/ 7191 w 19050"/>
                  <a:gd name="connsiteY18" fmla="*/ 35776 h 38100"/>
                  <a:gd name="connsiteX19" fmla="*/ 9154 w 19050"/>
                  <a:gd name="connsiteY19" fmla="*/ 32242 h 38100"/>
                  <a:gd name="connsiteX20" fmla="*/ 9792 w 19050"/>
                  <a:gd name="connsiteY20" fmla="*/ 30832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050" h="38100">
                    <a:moveTo>
                      <a:pt x="9792" y="30832"/>
                    </a:moveTo>
                    <a:cubicBezTo>
                      <a:pt x="10401" y="29537"/>
                      <a:pt x="10944" y="28242"/>
                      <a:pt x="11468" y="26908"/>
                    </a:cubicBezTo>
                    <a:cubicBezTo>
                      <a:pt x="11659" y="26384"/>
                      <a:pt x="11859" y="25879"/>
                      <a:pt x="12049" y="25346"/>
                    </a:cubicBezTo>
                    <a:cubicBezTo>
                      <a:pt x="12659" y="23555"/>
                      <a:pt x="13221" y="21765"/>
                      <a:pt x="13649" y="19926"/>
                    </a:cubicBezTo>
                    <a:cubicBezTo>
                      <a:pt x="13668" y="19888"/>
                      <a:pt x="13668" y="19850"/>
                      <a:pt x="13687" y="19812"/>
                    </a:cubicBezTo>
                    <a:cubicBezTo>
                      <a:pt x="14097" y="18012"/>
                      <a:pt x="14411" y="16154"/>
                      <a:pt x="14659" y="14297"/>
                    </a:cubicBezTo>
                    <a:cubicBezTo>
                      <a:pt x="14735" y="13745"/>
                      <a:pt x="14773" y="13192"/>
                      <a:pt x="14830" y="12630"/>
                    </a:cubicBezTo>
                    <a:cubicBezTo>
                      <a:pt x="15011" y="10935"/>
                      <a:pt x="15116" y="9220"/>
                      <a:pt x="15126" y="7487"/>
                    </a:cubicBezTo>
                    <a:lnTo>
                      <a:pt x="15126" y="7144"/>
                    </a:lnTo>
                    <a:cubicBezTo>
                      <a:pt x="15135" y="8992"/>
                      <a:pt x="15002" y="10820"/>
                      <a:pt x="14811" y="12621"/>
                    </a:cubicBezTo>
                    <a:cubicBezTo>
                      <a:pt x="14754" y="13183"/>
                      <a:pt x="14716" y="13735"/>
                      <a:pt x="14640" y="14288"/>
                    </a:cubicBezTo>
                    <a:cubicBezTo>
                      <a:pt x="14402" y="16145"/>
                      <a:pt x="14078" y="18002"/>
                      <a:pt x="13668" y="19802"/>
                    </a:cubicBezTo>
                    <a:cubicBezTo>
                      <a:pt x="13649" y="19841"/>
                      <a:pt x="13649" y="19879"/>
                      <a:pt x="13630" y="19917"/>
                    </a:cubicBezTo>
                    <a:cubicBezTo>
                      <a:pt x="13202" y="21755"/>
                      <a:pt x="12640" y="23565"/>
                      <a:pt x="12030" y="25336"/>
                    </a:cubicBezTo>
                    <a:cubicBezTo>
                      <a:pt x="11840" y="25870"/>
                      <a:pt x="11640" y="26375"/>
                      <a:pt x="11449" y="26899"/>
                    </a:cubicBezTo>
                    <a:cubicBezTo>
                      <a:pt x="10925" y="28232"/>
                      <a:pt x="10392" y="29527"/>
                      <a:pt x="9773" y="30823"/>
                    </a:cubicBezTo>
                    <a:cubicBezTo>
                      <a:pt x="9573" y="31290"/>
                      <a:pt x="9344" y="31775"/>
                      <a:pt x="9125" y="32233"/>
                    </a:cubicBezTo>
                    <a:cubicBezTo>
                      <a:pt x="8515" y="33452"/>
                      <a:pt x="7820" y="34633"/>
                      <a:pt x="7144" y="35814"/>
                    </a:cubicBezTo>
                    <a:cubicBezTo>
                      <a:pt x="7153" y="35804"/>
                      <a:pt x="7172" y="35785"/>
                      <a:pt x="7191" y="35776"/>
                    </a:cubicBezTo>
                    <a:cubicBezTo>
                      <a:pt x="7868" y="34604"/>
                      <a:pt x="8553" y="33442"/>
                      <a:pt x="9154" y="32242"/>
                    </a:cubicBezTo>
                    <a:cubicBezTo>
                      <a:pt x="9363" y="31775"/>
                      <a:pt x="9592" y="31290"/>
                      <a:pt x="9792" y="30832"/>
                    </a:cubicBezTo>
                    <a:close/>
                  </a:path>
                </a:pathLst>
              </a:custGeom>
              <a:solidFill>
                <a:srgbClr val="000000"/>
              </a:solidFill>
              <a:ln w="9525" cap="flat">
                <a:noFill/>
                <a:prstDash val="solid"/>
                <a:miter/>
              </a:ln>
            </p:spPr>
            <p:txBody>
              <a:bodyPr rtlCol="0" anchor="ctr"/>
              <a:lstStyle/>
              <a:p>
                <a:endParaRPr lang="en-IN">
                  <a:solidFill>
                    <a:schemeClr val="bg1"/>
                  </a:solidFill>
                </a:endParaRPr>
              </a:p>
            </p:txBody>
          </p:sp>
        </p:grpSp>
        <p:sp>
          <p:nvSpPr>
            <p:cNvPr id="28" name="Freeform: Shape 33">
              <a:extLst>
                <a:ext uri="{FF2B5EF4-FFF2-40B4-BE49-F238E27FC236}">
                  <a16:creationId xmlns:a16="http://schemas.microsoft.com/office/drawing/2014/main" id="{F62C5FEE-739C-5CD8-3480-47AFBD4B137D}"/>
                </a:ext>
              </a:extLst>
            </p:cNvPr>
            <p:cNvSpPr/>
            <p:nvPr/>
          </p:nvSpPr>
          <p:spPr>
            <a:xfrm flipV="1">
              <a:off x="8573407" y="4059813"/>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a:p>
          </p:txBody>
        </p:sp>
        <p:sp>
          <p:nvSpPr>
            <p:cNvPr id="29" name="Freeform: Shape 34">
              <a:extLst>
                <a:ext uri="{FF2B5EF4-FFF2-40B4-BE49-F238E27FC236}">
                  <a16:creationId xmlns:a16="http://schemas.microsoft.com/office/drawing/2014/main" id="{BCD906C9-9D1F-D350-D161-F4D9B4B287D1}"/>
                </a:ext>
              </a:extLst>
            </p:cNvPr>
            <p:cNvSpPr/>
            <p:nvPr/>
          </p:nvSpPr>
          <p:spPr>
            <a:xfrm flipV="1">
              <a:off x="9021642" y="293743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a:p>
          </p:txBody>
        </p:sp>
      </p:grpSp>
      <p:sp>
        <p:nvSpPr>
          <p:cNvPr id="30" name="TextBox 75">
            <a:extLst>
              <a:ext uri="{FF2B5EF4-FFF2-40B4-BE49-F238E27FC236}">
                <a16:creationId xmlns:a16="http://schemas.microsoft.com/office/drawing/2014/main" id="{02AD65D6-9504-23E6-E4FD-CC294F4A3C64}"/>
              </a:ext>
            </a:extLst>
          </p:cNvPr>
          <p:cNvSpPr txBox="1"/>
          <p:nvPr/>
        </p:nvSpPr>
        <p:spPr>
          <a:xfrm>
            <a:off x="1699594" y="5848141"/>
            <a:ext cx="9514366" cy="646331"/>
          </a:xfrm>
          <a:prstGeom prst="rect">
            <a:avLst/>
          </a:prstGeom>
          <a:noFill/>
        </p:spPr>
        <p:txBody>
          <a:bodyPr wrap="square" rtlCol="0">
            <a:spAutoFit/>
          </a:bodyPr>
          <a:lstStyle/>
          <a:p>
            <a:r>
              <a:rPr lang="en-US" sz="1200" dirty="0">
                <a:solidFill/>
              </a:rPr>
              <a:t>Estimates include Allegany, Garrett, Washington, Belmont, Harrison, Jefferson, Monroe, Fayette, Bland, Barbour, Berkeley, Braxton, Brooke, Calhoun, Clay, Doddridge, Gilmer, Grant, Hardy, Kanawha, Lewis, McDowell, Marion, Marshall, Mercer, Mineral, Monongalia, Nicholas, Ohio, Pleasants, Pocahontas, Preston, Randolph, Ritchie, Roane, Summers, Taylor, Tucker, Tyler, Upshur, Webster, Wetzel, Wirt, and Wood Counties</a:t>
            </a:r>
          </a:p>
        </p:txBody>
      </p:sp>
      <p:sp>
        <p:nvSpPr>
          <p:cNvPr id="31" name="TextBox 76">
            <a:extLst>
              <a:ext uri="{FF2B5EF4-FFF2-40B4-BE49-F238E27FC236}">
                <a16:creationId xmlns:a16="http://schemas.microsoft.com/office/drawing/2014/main" id="{F3A378C3-B669-3EE2-B76D-98EDB44E8CDF}"/>
              </a:ext>
            </a:extLst>
          </p:cNvPr>
          <p:cNvSpPr txBox="1"/>
          <p:nvPr/>
        </p:nvSpPr>
        <p:spPr>
          <a:xfrm>
            <a:off x="3297507" y="4821984"/>
            <a:ext cx="1613199" cy="523220"/>
          </a:xfrm>
          <a:prstGeom prst="rect">
            <a:avLst/>
          </a:prstGeom>
          <a:noFill/>
        </p:spPr>
        <p:txBody>
          <a:bodyPr wrap="none" rtlCol="0">
            <a:spAutoFit/>
          </a:bodyPr>
          <a:lstStyle/>
          <a:p>
            <a:r>
              <a:rPr lang="en-US" sz="2800" dirty="0">
                <a:solidFill/>
              </a:rPr>
              <a:t>2,063K</a:t>
            </a:r>
          </a:p>
        </p:txBody>
      </p:sp>
      <p:sp>
        <p:nvSpPr>
          <p:cNvPr id="32" name="TextBox 77">
            <a:extLst>
              <a:ext uri="{FF2B5EF4-FFF2-40B4-BE49-F238E27FC236}">
                <a16:creationId xmlns:a16="http://schemas.microsoft.com/office/drawing/2014/main" id="{F24CF5B8-0E02-1AF3-2A3D-F14253B44FE8}"/>
              </a:ext>
            </a:extLst>
          </p:cNvPr>
          <p:cNvSpPr txBox="1"/>
          <p:nvPr/>
        </p:nvSpPr>
        <p:spPr>
          <a:xfrm>
            <a:off x="3520440" y="3896929"/>
            <a:ext cx="1096775" cy="523220"/>
          </a:xfrm>
          <a:prstGeom prst="rect">
            <a:avLst/>
          </a:prstGeom>
          <a:noFill/>
        </p:spPr>
        <p:txBody>
          <a:bodyPr wrap="none" rtlCol="0">
            <a:spAutoFit/>
          </a:bodyPr>
          <a:lstStyle/>
          <a:p>
            <a:r>
              <a:rPr lang="en-US" sz="2800" dirty="0">
                <a:solidFill/>
              </a:rPr>
              <a:t>1,172K</a:t>
            </a:r>
          </a:p>
        </p:txBody>
      </p:sp>
      <p:sp>
        <p:nvSpPr>
          <p:cNvPr id="33" name="TextBox 78">
            <a:extLst>
              <a:ext uri="{FF2B5EF4-FFF2-40B4-BE49-F238E27FC236}">
                <a16:creationId xmlns:a16="http://schemas.microsoft.com/office/drawing/2014/main" id="{509B3348-F2D5-63CE-B5D5-5FB7263B3D0F}"/>
              </a:ext>
            </a:extLst>
          </p:cNvPr>
          <p:cNvSpPr txBox="1"/>
          <p:nvPr/>
        </p:nvSpPr>
        <p:spPr>
          <a:xfrm>
            <a:off x="3739896" y="2954184"/>
            <a:ext cx="1079142" cy="523220"/>
          </a:xfrm>
          <a:prstGeom prst="rect">
            <a:avLst/>
          </a:prstGeom>
          <a:noFill/>
        </p:spPr>
        <p:txBody>
          <a:bodyPr wrap="none" rtlCol="0">
            <a:spAutoFit/>
          </a:bodyPr>
          <a:lstStyle/>
          <a:p>
            <a:r>
              <a:rPr lang="en-US" sz="2800" dirty="0">
                <a:solidFill/>
              </a:rPr>
              <a:t>751K</a:t>
            </a:r>
          </a:p>
        </p:txBody>
      </p:sp>
      <p:sp>
        <p:nvSpPr>
          <p:cNvPr id="34" name="TextBox 79">
            <a:extLst>
              <a:ext uri="{FF2B5EF4-FFF2-40B4-BE49-F238E27FC236}">
                <a16:creationId xmlns:a16="http://schemas.microsoft.com/office/drawing/2014/main" id="{7E24246C-24ED-62DA-EA2E-6EA4A6ADAEAC}"/>
              </a:ext>
            </a:extLst>
          </p:cNvPr>
          <p:cNvSpPr txBox="1"/>
          <p:nvPr/>
        </p:nvSpPr>
        <p:spPr>
          <a:xfrm>
            <a:off x="3959352" y="2022649"/>
            <a:ext cx="922047" cy="523220"/>
          </a:xfrm>
          <a:prstGeom prst="rect">
            <a:avLst/>
          </a:prstGeom>
          <a:noFill/>
        </p:spPr>
        <p:txBody>
          <a:bodyPr wrap="none" rtlCol="0">
            <a:spAutoFit/>
          </a:bodyPr>
          <a:lstStyle/>
          <a:p>
            <a:r>
              <a:rPr lang="en-US" sz="2800" dirty="0">
                <a:solidFill/>
              </a:rPr>
              <a:t>358K</a:t>
            </a:r>
          </a:p>
        </p:txBody>
      </p:sp>
      <p:pic>
        <p:nvPicPr>
          <p:cNvPr id="35" name="Content Placeholder 34"/>
          <p:cNvPicPr>
            <a:picLocks noGrp="1"/>
          </p:cNvPicPr>
          <p:nvPr>
            <p:ph/>
          </p:nvPr>
        </p:nvPicPr>
        <p:blipFill>
          <a:blip r:embed="rId2" cstate="print"/>
          <a:stretch>
            <a:fillRect/>
          </a:stretch>
        </p:blipFill>
        <p:spPr>
          <a:xfrm>
            <a:off x="5705856" y="1911096"/>
            <a:ext cx="6364224" cy="3813048"/>
          </a:xfrm>
          <a:prstGeom prst="rect">
            <a:avLst/>
          </a:prstGeom>
        </p:spPr>
      </p:pic>
    </p:spTree>
    <p:extLst>
      <p:ext uri="{BB962C8B-B14F-4D97-AF65-F5344CB8AC3E}">
        <p14:creationId xmlns:p14="http://schemas.microsoft.com/office/powerpoint/2010/main" val="41016220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Royalty-Free photo: Green tall trees near on the lake with overlooking  mountain during daytime | PickPik">
            <a:extLst>
              <a:ext uri="{FF2B5EF4-FFF2-40B4-BE49-F238E27FC236}">
                <a16:creationId xmlns:a16="http://schemas.microsoft.com/office/drawing/2014/main" id="{2478D38F-2055-3BED-F325-F30BC9616D52}"/>
              </a:ext>
            </a:extLst>
          </p:cNvPr>
          <p:cNvPicPr>
            <a:picLocks noChangeAspect="1" noChangeArrowheads="1"/>
          </p:cNvPicPr>
          <p:nvPr/>
        </p:nvPicPr>
        <p:blipFill rotWithShape="1">
          <a:blip r:embed="rId3">
            <a:duotone>
              <a:schemeClr val="bg2">
                <a:shade val="45000"/>
                <a:satMod val="135000"/>
              </a:schemeClr>
              <a:prstClr val="white"/>
            </a:duotone>
            <a:alphaModFix amt="28000"/>
            <a:extLst>
              <a:ext uri="{28A0092B-C50C-407E-A947-70E740481C1C}">
                <a14:useLocalDpi xmlns:a14="http://schemas.microsoft.com/office/drawing/2010/main" val="0"/>
              </a:ext>
            </a:extLst>
          </a:blip>
          <a:srcRect b="5528"/>
          <a:stretch/>
        </p:blipFill>
        <p:spPr bwMode="auto">
          <a:xfrm>
            <a:off x="-31771" y="1"/>
            <a:ext cx="10918845" cy="6872068"/>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C03588DF-56D9-837C-AA1C-128F048C493A}"/>
              </a:ext>
            </a:extLst>
          </p:cNvPr>
          <p:cNvSpPr>
            <a:spLocks noGrp="1"/>
          </p:cNvSpPr>
          <p:nvPr>
            <p:ph type="title"/>
          </p:nvPr>
        </p:nvSpPr>
        <p:spPr>
          <a:xfrm>
            <a:off x="295590" y="144962"/>
            <a:ext cx="10515600" cy="1325563"/>
          </a:xfrm>
        </p:spPr>
        <p:txBody>
          <a:bodyPr/>
          <a:lstStyle/>
          <a:p>
            <a:r>
              <a:rPr lang="en-US" dirty="0"/>
              <a:t>Growing Powerful, Lasting Profitability</a:t>
            </a:r>
          </a:p>
        </p:txBody>
      </p:sp>
      <p:sp>
        <p:nvSpPr>
          <p:cNvPr id="4" name="Footer Placeholder 2">
            <a:extLst>
              <a:ext uri="{FF2B5EF4-FFF2-40B4-BE49-F238E27FC236}">
                <a16:creationId xmlns:a16="http://schemas.microsoft.com/office/drawing/2014/main" id="{69C057C1-F13C-F6D8-AD44-F92FA29D30D9}"/>
              </a:ext>
            </a:extLst>
          </p:cNvPr>
          <p:cNvSpPr>
            <a:spLocks noGrp="1"/>
          </p:cNvSpPr>
          <p:nvPr>
            <p:ph type="ftr" sz="quarter" idx="11"/>
          </p:nvPr>
        </p:nvSpPr>
        <p:spPr>
          <a:xfrm>
            <a:off x="2752413" y="6480529"/>
            <a:ext cx="4114800" cy="365125"/>
          </a:xfrm>
        </p:spPr>
        <p:txBody>
          <a:bodyPr/>
          <a:lstStyle/>
          <a:p>
            <a:r>
              <a:rPr lang="en-US" dirty="0"/>
              <a:t>Key Benefit Administrators</a:t>
            </a:r>
          </a:p>
        </p:txBody>
      </p:sp>
      <p:sp>
        <p:nvSpPr>
          <p:cNvPr id="5" name="Slide Number Placeholder 3">
            <a:extLst>
              <a:ext uri="{FF2B5EF4-FFF2-40B4-BE49-F238E27FC236}">
                <a16:creationId xmlns:a16="http://schemas.microsoft.com/office/drawing/2014/main" id="{BF46B415-80AF-26A8-45D6-1254179BD411}"/>
              </a:ext>
            </a:extLst>
          </p:cNvPr>
          <p:cNvSpPr>
            <a:spLocks noGrp="1"/>
          </p:cNvSpPr>
          <p:nvPr>
            <p:ph type="sldNum" sz="quarter" idx="12"/>
          </p:nvPr>
        </p:nvSpPr>
        <p:spPr/>
        <p:txBody>
          <a:bodyPr/>
          <a:lstStyle/>
          <a:p>
            <a:fld id="{3AFC719D-C4A7-4544-876E-D411D11AF6C9}" type="slidenum">
              <a:rPr lang="en-US" smtClean="0"/>
              <a:t>6</a:t>
            </a:fld>
            <a:endParaRPr lang="en-US" dirty="0"/>
          </a:p>
        </p:txBody>
      </p:sp>
      <p:sp>
        <p:nvSpPr>
          <p:cNvPr id="6" name="Rectangle 4">
            <a:extLst>
              <a:ext uri="{FF2B5EF4-FFF2-40B4-BE49-F238E27FC236}">
                <a16:creationId xmlns:a16="http://schemas.microsoft.com/office/drawing/2014/main" id="{239038F2-C307-DC75-4AEA-316E0211A3AE}"/>
              </a:ext>
            </a:extLst>
          </p:cNvPr>
          <p:cNvSpPr/>
          <p:nvPr/>
        </p:nvSpPr>
        <p:spPr>
          <a:xfrm>
            <a:off x="10887075" y="0"/>
            <a:ext cx="1304925"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10">
            <a:extLst>
              <a:ext uri="{FF2B5EF4-FFF2-40B4-BE49-F238E27FC236}">
                <a16:creationId xmlns:a16="http://schemas.microsoft.com/office/drawing/2014/main" id="{C0C1C4CA-44D9-9691-E058-46CEB5C35DF2}"/>
              </a:ext>
            </a:extLst>
          </p:cNvPr>
          <p:cNvSpPr/>
          <p:nvPr/>
        </p:nvSpPr>
        <p:spPr>
          <a:xfrm>
            <a:off x="4401177" y="1868993"/>
            <a:ext cx="1914733" cy="411982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11">
            <a:extLst>
              <a:ext uri="{FF2B5EF4-FFF2-40B4-BE49-F238E27FC236}">
                <a16:creationId xmlns:a16="http://schemas.microsoft.com/office/drawing/2014/main" id="{8DCAE5A5-11EC-16C5-5F5F-C5DF9E3B0859}"/>
              </a:ext>
            </a:extLst>
          </p:cNvPr>
          <p:cNvSpPr/>
          <p:nvPr/>
        </p:nvSpPr>
        <p:spPr>
          <a:xfrm>
            <a:off x="6315910" y="1868991"/>
            <a:ext cx="1914733" cy="411982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12">
            <a:extLst>
              <a:ext uri="{FF2B5EF4-FFF2-40B4-BE49-F238E27FC236}">
                <a16:creationId xmlns:a16="http://schemas.microsoft.com/office/drawing/2014/main" id="{98C73641-C807-1985-E19A-CA79DA10785E}"/>
              </a:ext>
            </a:extLst>
          </p:cNvPr>
          <p:cNvSpPr/>
          <p:nvPr/>
        </p:nvSpPr>
        <p:spPr>
          <a:xfrm>
            <a:off x="8230644" y="1868990"/>
            <a:ext cx="1914732" cy="411982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3">
            <a:extLst>
              <a:ext uri="{FF2B5EF4-FFF2-40B4-BE49-F238E27FC236}">
                <a16:creationId xmlns:a16="http://schemas.microsoft.com/office/drawing/2014/main" id="{8546D6DB-89F3-8B35-A9E8-670CED022928}"/>
              </a:ext>
            </a:extLst>
          </p:cNvPr>
          <p:cNvSpPr txBox="1"/>
          <p:nvPr/>
        </p:nvSpPr>
        <p:spPr>
          <a:xfrm>
            <a:off x="572430" y="1636954"/>
            <a:ext cx="2568332" cy="630942"/>
          </a:xfrm>
          <a:prstGeom prst="rect">
            <a:avLst/>
          </a:prstGeom>
          <a:noFill/>
        </p:spPr>
        <p:txBody>
          <a:bodyPr wrap="none" rtlCol="0">
            <a:spAutoFit/>
          </a:bodyPr>
          <a:lstStyle/>
          <a:p>
            <a:pPr algn="ctr"/>
            <a:r>
              <a:rPr lang="en-US" sz="2400" b="1" dirty="0">
                <a:solidFill>
                  <a:srgbClr val="6087CE"/>
                </a:solidFill>
              </a:rPr>
              <a:t>Early Stage</a:t>
            </a:r>
          </a:p>
          <a:p>
            <a:pPr algn="ctr"/>
            <a:r>
              <a:rPr lang="en-US" sz="1100" dirty="0">
                <a:solidFill>
                  <a:srgbClr val="6087CE"/>
                </a:solidFill>
              </a:rPr>
              <a:t>Gaining Name Recognition, Early Growth</a:t>
            </a:r>
          </a:p>
        </p:txBody>
      </p:sp>
      <p:sp>
        <p:nvSpPr>
          <p:cNvPr id="11" name="TextBox 6">
            <a:extLst>
              <a:ext uri="{FF2B5EF4-FFF2-40B4-BE49-F238E27FC236}">
                <a16:creationId xmlns:a16="http://schemas.microsoft.com/office/drawing/2014/main" id="{0C35DE11-AC92-1958-1813-38A8A86CBCE8}"/>
              </a:ext>
            </a:extLst>
          </p:cNvPr>
          <p:cNvSpPr txBox="1"/>
          <p:nvPr/>
        </p:nvSpPr>
        <p:spPr>
          <a:xfrm>
            <a:off x="135286" y="2293880"/>
            <a:ext cx="1624165" cy="307777"/>
          </a:xfrm>
          <a:prstGeom prst="rect">
            <a:avLst/>
          </a:prstGeom>
          <a:noFill/>
        </p:spPr>
        <p:txBody>
          <a:bodyPr wrap="square">
            <a:spAutoFit/>
          </a:bodyPr>
          <a:lstStyle/>
          <a:p>
            <a:pPr algn="ctr"/>
            <a:r>
              <a:rPr lang="en-US" sz="1400" dirty="0">
                <a:solidFill>
                  <a:srgbClr val="6087CE"/>
                </a:solidFill>
              </a:rPr>
              <a:t>New Revenue:</a:t>
            </a:r>
          </a:p>
        </p:txBody>
      </p:sp>
      <p:sp>
        <p:nvSpPr>
          <p:cNvPr id="12" name="TextBox 7">
            <a:extLst>
              <a:ext uri="{FF2B5EF4-FFF2-40B4-BE49-F238E27FC236}">
                <a16:creationId xmlns:a16="http://schemas.microsoft.com/office/drawing/2014/main" id="{2E2DA353-8032-9A29-CBFC-5E2CAB8FA818}"/>
              </a:ext>
            </a:extLst>
          </p:cNvPr>
          <p:cNvSpPr txBox="1"/>
          <p:nvPr/>
        </p:nvSpPr>
        <p:spPr>
          <a:xfrm>
            <a:off x="2219510" y="2293880"/>
            <a:ext cx="1118086" cy="307777"/>
          </a:xfrm>
          <a:prstGeom prst="rect">
            <a:avLst/>
          </a:prstGeom>
          <a:noFill/>
        </p:spPr>
        <p:txBody>
          <a:bodyPr wrap="square">
            <a:spAutoFit/>
          </a:bodyPr>
          <a:lstStyle/>
          <a:p>
            <a:pPr algn="ctr"/>
            <a:r>
              <a:rPr lang="en-US" sz="1400" dirty="0">
                <a:solidFill>
                  <a:srgbClr val="6087CE"/>
                </a:solidFill>
              </a:rPr>
              <a:t>New Profit:</a:t>
            </a:r>
          </a:p>
        </p:txBody>
      </p:sp>
      <p:sp>
        <p:nvSpPr>
          <p:cNvPr id="13" name="TextBox 9">
            <a:extLst>
              <a:ext uri="{FF2B5EF4-FFF2-40B4-BE49-F238E27FC236}">
                <a16:creationId xmlns:a16="http://schemas.microsoft.com/office/drawing/2014/main" id="{2EE70FCE-698F-980C-DE5B-A5E0DD82F2B7}"/>
              </a:ext>
            </a:extLst>
          </p:cNvPr>
          <p:cNvSpPr txBox="1"/>
          <p:nvPr/>
        </p:nvSpPr>
        <p:spPr>
          <a:xfrm>
            <a:off x="129001" y="2539605"/>
            <a:ext cx="1588535" cy="400110"/>
          </a:xfrm>
          <a:prstGeom prst="rect">
            <a:avLst/>
          </a:prstGeom>
          <a:noFill/>
        </p:spPr>
        <p:txBody>
          <a:bodyPr wrap="square">
            <a:spAutoFit/>
          </a:bodyPr>
          <a:lstStyle/>
          <a:p>
            <a:pPr algn="ctr"/>
            <a:r>
              <a:rPr lang="en-US" sz="2000" b="1" dirty="0">
                <a:solidFill>
                  <a:srgbClr val="6087CE"/>
                </a:solidFill>
              </a:rPr>
              <a:t>$5.93M</a:t>
            </a:r>
            <a:endParaRPr lang="en-US" sz="2000" dirty="0"/>
          </a:p>
        </p:txBody>
      </p:sp>
      <p:sp>
        <p:nvSpPr>
          <p:cNvPr id="14" name="TextBox 14">
            <a:extLst>
              <a:ext uri="{FF2B5EF4-FFF2-40B4-BE49-F238E27FC236}">
                <a16:creationId xmlns:a16="http://schemas.microsoft.com/office/drawing/2014/main" id="{DBAF8120-09F6-4EB0-E666-C1CBDC5CF295}"/>
              </a:ext>
            </a:extLst>
          </p:cNvPr>
          <p:cNvSpPr txBox="1"/>
          <p:nvPr/>
        </p:nvSpPr>
        <p:spPr>
          <a:xfrm>
            <a:off x="1922550" y="2539605"/>
            <a:ext cx="1588535" cy="400110"/>
          </a:xfrm>
          <a:prstGeom prst="rect">
            <a:avLst/>
          </a:prstGeom>
          <a:noFill/>
        </p:spPr>
        <p:txBody>
          <a:bodyPr wrap="square">
            <a:spAutoFit/>
          </a:bodyPr>
          <a:lstStyle/>
          <a:p>
            <a:pPr algn="ctr"/>
            <a:r>
              <a:rPr lang="en-US" sz="2000" b="1" dirty="0">
                <a:solidFill>
                  <a:srgbClr val="6087CE"/>
                </a:solidFill>
              </a:rPr>
              <a:t>$1.32M</a:t>
            </a:r>
            <a:endParaRPr lang="en-US" sz="2000" dirty="0"/>
          </a:p>
        </p:txBody>
      </p:sp>
      <p:sp>
        <p:nvSpPr>
          <p:cNvPr id="15" name="TextBox 15">
            <a:extLst>
              <a:ext uri="{FF2B5EF4-FFF2-40B4-BE49-F238E27FC236}">
                <a16:creationId xmlns:a16="http://schemas.microsoft.com/office/drawing/2014/main" id="{5B374298-411A-3F68-B672-E1DC32DEA9AE}"/>
              </a:ext>
            </a:extLst>
          </p:cNvPr>
          <p:cNvSpPr txBox="1"/>
          <p:nvPr/>
        </p:nvSpPr>
        <p:spPr>
          <a:xfrm>
            <a:off x="781431" y="3151370"/>
            <a:ext cx="2132315" cy="630942"/>
          </a:xfrm>
          <a:prstGeom prst="rect">
            <a:avLst/>
          </a:prstGeom>
          <a:noFill/>
        </p:spPr>
        <p:txBody>
          <a:bodyPr wrap="none" rtlCol="0">
            <a:spAutoFit/>
          </a:bodyPr>
          <a:lstStyle/>
          <a:p>
            <a:pPr algn="ctr"/>
            <a:r>
              <a:rPr lang="en-US" sz="2400" b="1" dirty="0">
                <a:solidFill>
                  <a:srgbClr val="2F5597"/>
                </a:solidFill>
              </a:rPr>
              <a:t>Growth Stage</a:t>
            </a:r>
          </a:p>
          <a:p>
            <a:pPr algn="ctr"/>
            <a:r>
              <a:rPr lang="en-US" sz="1100" dirty="0">
                <a:solidFill>
                  <a:srgbClr val="2F5597"/>
                </a:solidFill>
              </a:rPr>
              <a:t>Strong Reputation, Strong Growth</a:t>
            </a:r>
          </a:p>
        </p:txBody>
      </p:sp>
      <p:sp>
        <p:nvSpPr>
          <p:cNvPr id="16" name="TextBox 16">
            <a:extLst>
              <a:ext uri="{FF2B5EF4-FFF2-40B4-BE49-F238E27FC236}">
                <a16:creationId xmlns:a16="http://schemas.microsoft.com/office/drawing/2014/main" id="{734215D0-1B81-9E25-D893-D1A81A7D90DE}"/>
              </a:ext>
            </a:extLst>
          </p:cNvPr>
          <p:cNvSpPr txBox="1"/>
          <p:nvPr/>
        </p:nvSpPr>
        <p:spPr>
          <a:xfrm>
            <a:off x="126277" y="3808296"/>
            <a:ext cx="1624165" cy="307777"/>
          </a:xfrm>
          <a:prstGeom prst="rect">
            <a:avLst/>
          </a:prstGeom>
          <a:noFill/>
        </p:spPr>
        <p:txBody>
          <a:bodyPr wrap="square">
            <a:spAutoFit/>
          </a:bodyPr>
          <a:lstStyle/>
          <a:p>
            <a:pPr algn="ctr"/>
            <a:r>
              <a:rPr lang="en-US" sz="1400" dirty="0">
                <a:solidFill>
                  <a:srgbClr val="2F5597"/>
                </a:solidFill>
              </a:rPr>
              <a:t>New Revenue:</a:t>
            </a:r>
          </a:p>
        </p:txBody>
      </p:sp>
      <p:sp>
        <p:nvSpPr>
          <p:cNvPr id="17" name="TextBox 17">
            <a:extLst>
              <a:ext uri="{FF2B5EF4-FFF2-40B4-BE49-F238E27FC236}">
                <a16:creationId xmlns:a16="http://schemas.microsoft.com/office/drawing/2014/main" id="{44D03DDF-E57A-E22B-A334-B0D6BAD568C1}"/>
              </a:ext>
            </a:extLst>
          </p:cNvPr>
          <p:cNvSpPr txBox="1"/>
          <p:nvPr/>
        </p:nvSpPr>
        <p:spPr>
          <a:xfrm>
            <a:off x="2210501" y="3808296"/>
            <a:ext cx="1118086" cy="307777"/>
          </a:xfrm>
          <a:prstGeom prst="rect">
            <a:avLst/>
          </a:prstGeom>
          <a:noFill/>
        </p:spPr>
        <p:txBody>
          <a:bodyPr wrap="square">
            <a:spAutoFit/>
          </a:bodyPr>
          <a:lstStyle/>
          <a:p>
            <a:pPr algn="ctr"/>
            <a:r>
              <a:rPr lang="en-US" sz="1400" dirty="0">
                <a:solidFill>
                  <a:srgbClr val="2F5597"/>
                </a:solidFill>
              </a:rPr>
              <a:t>New Profit:</a:t>
            </a:r>
          </a:p>
        </p:txBody>
      </p:sp>
      <p:sp>
        <p:nvSpPr>
          <p:cNvPr id="18" name="TextBox 20">
            <a:extLst>
              <a:ext uri="{FF2B5EF4-FFF2-40B4-BE49-F238E27FC236}">
                <a16:creationId xmlns:a16="http://schemas.microsoft.com/office/drawing/2014/main" id="{2F96F890-CA85-53B4-4C86-B02186E9E89E}"/>
              </a:ext>
            </a:extLst>
          </p:cNvPr>
          <p:cNvSpPr txBox="1"/>
          <p:nvPr/>
        </p:nvSpPr>
        <p:spPr>
          <a:xfrm>
            <a:off x="119992" y="4054021"/>
            <a:ext cx="1588535" cy="400110"/>
          </a:xfrm>
          <a:prstGeom prst="rect">
            <a:avLst/>
          </a:prstGeom>
          <a:noFill/>
        </p:spPr>
        <p:txBody>
          <a:bodyPr wrap="square">
            <a:spAutoFit/>
          </a:bodyPr>
          <a:lstStyle/>
          <a:p>
            <a:pPr algn="ctr"/>
            <a:r>
              <a:rPr lang="en-US" sz="2000" b="1" dirty="0">
                <a:solidFill>
                  <a:srgbClr val="2F5597"/>
                </a:solidFill>
              </a:rPr>
              <a:t>$43.48M</a:t>
            </a:r>
            <a:endParaRPr lang="en-US" sz="2000" dirty="0">
              <a:solidFill>
                <a:srgbClr val="2F5597"/>
              </a:solidFill>
            </a:endParaRPr>
          </a:p>
        </p:txBody>
      </p:sp>
      <p:sp>
        <p:nvSpPr>
          <p:cNvPr id="19" name="TextBox 21">
            <a:extLst>
              <a:ext uri="{FF2B5EF4-FFF2-40B4-BE49-F238E27FC236}">
                <a16:creationId xmlns:a16="http://schemas.microsoft.com/office/drawing/2014/main" id="{BD5125C9-83DD-4D9F-DE79-D476BE3F058D}"/>
              </a:ext>
            </a:extLst>
          </p:cNvPr>
          <p:cNvSpPr txBox="1"/>
          <p:nvPr/>
        </p:nvSpPr>
        <p:spPr>
          <a:xfrm>
            <a:off x="1913541" y="4054021"/>
            <a:ext cx="1588535" cy="400110"/>
          </a:xfrm>
          <a:prstGeom prst="rect">
            <a:avLst/>
          </a:prstGeom>
          <a:noFill/>
        </p:spPr>
        <p:txBody>
          <a:bodyPr wrap="square">
            <a:spAutoFit/>
          </a:bodyPr>
          <a:lstStyle/>
          <a:p>
            <a:pPr algn="ctr"/>
            <a:r>
              <a:rPr lang="en-US" sz="2000" b="1" dirty="0">
                <a:solidFill>
                  <a:srgbClr val="2F5597"/>
                </a:solidFill>
              </a:rPr>
              <a:t>$10.91M</a:t>
            </a:r>
            <a:endParaRPr lang="en-US" sz="2000" dirty="0">
              <a:solidFill>
                <a:srgbClr val="2F5597"/>
              </a:solidFill>
            </a:endParaRPr>
          </a:p>
        </p:txBody>
      </p:sp>
      <p:sp>
        <p:nvSpPr>
          <p:cNvPr id="20" name="TextBox 22">
            <a:extLst>
              <a:ext uri="{FF2B5EF4-FFF2-40B4-BE49-F238E27FC236}">
                <a16:creationId xmlns:a16="http://schemas.microsoft.com/office/drawing/2014/main" id="{DEBB9E11-84A3-58F8-237D-4A265C29D49C}"/>
              </a:ext>
            </a:extLst>
          </p:cNvPr>
          <p:cNvSpPr txBox="1"/>
          <p:nvPr/>
        </p:nvSpPr>
        <p:spPr>
          <a:xfrm>
            <a:off x="729525" y="4771937"/>
            <a:ext cx="2254143" cy="630942"/>
          </a:xfrm>
          <a:prstGeom prst="rect">
            <a:avLst/>
          </a:prstGeom>
          <a:noFill/>
        </p:spPr>
        <p:txBody>
          <a:bodyPr wrap="none" rtlCol="0">
            <a:spAutoFit/>
          </a:bodyPr>
          <a:lstStyle/>
          <a:p>
            <a:pPr algn="ctr"/>
            <a:r>
              <a:rPr lang="en-US" sz="2400" b="1" dirty="0">
                <a:solidFill>
                  <a:srgbClr val="2F5597"/>
                </a:solidFill>
              </a:rPr>
              <a:t>Mature Stage</a:t>
            </a:r>
          </a:p>
          <a:p>
            <a:pPr algn="ctr"/>
            <a:r>
              <a:rPr lang="en-US" sz="1100" dirty="0">
                <a:solidFill>
                  <a:srgbClr val="2F5597"/>
                </a:solidFill>
              </a:rPr>
              <a:t>High Profitability, Market Saturation</a:t>
            </a:r>
          </a:p>
        </p:txBody>
      </p:sp>
      <p:sp>
        <p:nvSpPr>
          <p:cNvPr id="21" name="TextBox 23">
            <a:extLst>
              <a:ext uri="{FF2B5EF4-FFF2-40B4-BE49-F238E27FC236}">
                <a16:creationId xmlns:a16="http://schemas.microsoft.com/office/drawing/2014/main" id="{E4C2D887-78BC-455D-E84B-4706DBDF3CA1}"/>
              </a:ext>
            </a:extLst>
          </p:cNvPr>
          <p:cNvSpPr txBox="1"/>
          <p:nvPr/>
        </p:nvSpPr>
        <p:spPr>
          <a:xfrm>
            <a:off x="135286" y="5428863"/>
            <a:ext cx="1624165" cy="307777"/>
          </a:xfrm>
          <a:prstGeom prst="rect">
            <a:avLst/>
          </a:prstGeom>
          <a:noFill/>
        </p:spPr>
        <p:txBody>
          <a:bodyPr wrap="square">
            <a:spAutoFit/>
          </a:bodyPr>
          <a:lstStyle/>
          <a:p>
            <a:pPr algn="ctr"/>
            <a:r>
              <a:rPr lang="en-US" sz="1400" dirty="0">
                <a:solidFill>
                  <a:srgbClr val="2F5597"/>
                </a:solidFill>
              </a:rPr>
              <a:t>New Revenue:</a:t>
            </a:r>
          </a:p>
        </p:txBody>
      </p:sp>
      <p:sp>
        <p:nvSpPr>
          <p:cNvPr id="22" name="TextBox 24">
            <a:extLst>
              <a:ext uri="{FF2B5EF4-FFF2-40B4-BE49-F238E27FC236}">
                <a16:creationId xmlns:a16="http://schemas.microsoft.com/office/drawing/2014/main" id="{FC3AFD72-934E-C314-76C9-3BD3C3ADC5D7}"/>
              </a:ext>
            </a:extLst>
          </p:cNvPr>
          <p:cNvSpPr txBox="1"/>
          <p:nvPr/>
        </p:nvSpPr>
        <p:spPr>
          <a:xfrm>
            <a:off x="2219510" y="5428863"/>
            <a:ext cx="1118086" cy="307777"/>
          </a:xfrm>
          <a:prstGeom prst="rect">
            <a:avLst/>
          </a:prstGeom>
          <a:noFill/>
        </p:spPr>
        <p:txBody>
          <a:bodyPr wrap="square">
            <a:spAutoFit/>
          </a:bodyPr>
          <a:lstStyle/>
          <a:p>
            <a:pPr algn="ctr"/>
            <a:r>
              <a:rPr lang="en-US" sz="1400" dirty="0">
                <a:solidFill>
                  <a:srgbClr val="2F5597"/>
                </a:solidFill>
              </a:rPr>
              <a:t>New Profit:</a:t>
            </a:r>
          </a:p>
        </p:txBody>
      </p:sp>
      <p:sp>
        <p:nvSpPr>
          <p:cNvPr id="23" name="TextBox 25">
            <a:extLst>
              <a:ext uri="{FF2B5EF4-FFF2-40B4-BE49-F238E27FC236}">
                <a16:creationId xmlns:a16="http://schemas.microsoft.com/office/drawing/2014/main" id="{AFC7E587-98BA-0E7B-D632-50ECCC546F0C}"/>
              </a:ext>
            </a:extLst>
          </p:cNvPr>
          <p:cNvSpPr txBox="1"/>
          <p:nvPr/>
        </p:nvSpPr>
        <p:spPr>
          <a:xfrm>
            <a:off x="129001" y="5674588"/>
            <a:ext cx="1588535" cy="400110"/>
          </a:xfrm>
          <a:prstGeom prst="rect">
            <a:avLst/>
          </a:prstGeom>
          <a:noFill/>
        </p:spPr>
        <p:txBody>
          <a:bodyPr wrap="square">
            <a:spAutoFit/>
          </a:bodyPr>
          <a:lstStyle/>
          <a:p>
            <a:pPr algn="ctr"/>
            <a:r>
              <a:rPr lang="en-US" sz="2000" b="1" dirty="0">
                <a:solidFill>
                  <a:srgbClr val="2F5597"/>
                </a:solidFill>
              </a:rPr>
              <a:t>$89.96M</a:t>
            </a:r>
            <a:endParaRPr lang="en-US" sz="2000" dirty="0">
              <a:solidFill>
                <a:srgbClr val="2F5597"/>
              </a:solidFill>
            </a:endParaRPr>
          </a:p>
        </p:txBody>
      </p:sp>
      <p:sp>
        <p:nvSpPr>
          <p:cNvPr id="24" name="TextBox 26">
            <a:extLst>
              <a:ext uri="{FF2B5EF4-FFF2-40B4-BE49-F238E27FC236}">
                <a16:creationId xmlns:a16="http://schemas.microsoft.com/office/drawing/2014/main" id="{CDADE326-124A-38EC-26DF-B19515A72278}"/>
              </a:ext>
            </a:extLst>
          </p:cNvPr>
          <p:cNvSpPr txBox="1"/>
          <p:nvPr/>
        </p:nvSpPr>
        <p:spPr>
          <a:xfrm>
            <a:off x="1922550" y="5674588"/>
            <a:ext cx="1588535" cy="400110"/>
          </a:xfrm>
          <a:prstGeom prst="rect">
            <a:avLst/>
          </a:prstGeom>
          <a:noFill/>
        </p:spPr>
        <p:txBody>
          <a:bodyPr wrap="square">
            <a:spAutoFit/>
          </a:bodyPr>
          <a:lstStyle/>
          <a:p>
            <a:pPr algn="ctr"/>
            <a:r>
              <a:rPr lang="en-US" sz="2000" b="1" dirty="0">
                <a:solidFill>
                  <a:srgbClr val="2F5597"/>
                </a:solidFill>
              </a:rPr>
              <a:t>$22.73M</a:t>
            </a:r>
            <a:endParaRPr lang="en-US" sz="2000" dirty="0">
              <a:solidFill>
                <a:srgbClr val="2F5597"/>
              </a:solidFill>
            </a:endParaRPr>
          </a:p>
        </p:txBody>
      </p:sp>
      <p:pic>
        <p:nvPicPr>
          <p:cNvPr id="25" name="Content Placeholder 24"/>
          <p:cNvPicPr>
            <a:picLocks noGrp="1"/>
          </p:cNvPicPr>
          <p:nvPr>
            <p:ph/>
          </p:nvPr>
        </p:nvPicPr>
        <p:blipFill>
          <a:blip r:embed="rId4" cstate="print"/>
          <a:stretch>
            <a:fillRect/>
          </a:stretch>
        </p:blipFill>
        <p:spPr>
          <a:xfrm>
            <a:off x="4078224" y="1472184"/>
            <a:ext cx="6364224" cy="4773168"/>
          </a:xfrm>
          <a:prstGeom prst="rect">
            <a:avLst/>
          </a:prstGeom>
        </p:spPr>
      </p:pic>
    </p:spTree>
    <p:extLst>
      <p:ext uri="{BB962C8B-B14F-4D97-AF65-F5344CB8AC3E}">
        <p14:creationId xmlns:p14="http://schemas.microsoft.com/office/powerpoint/2010/main" val="42940513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DEBD79AC-6896-6E13-B0EE-8405AC1D8926}"/>
              </a:ext>
            </a:extLst>
          </p:cNvPr>
          <p:cNvSpPr/>
          <p:nvPr/>
        </p:nvSpPr>
        <p:spPr>
          <a:xfrm>
            <a:off x="0" y="-777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600" b="0" dirty="0">
                <a:solidFill>
                  <a:schemeClr val="bg1"/>
                </a:solidFill>
              </a:rPr>
              <a:t>FOUR-YEAR PROJECTIONS</a:t>
            </a:r>
          </a:p>
        </p:txBody>
      </p:sp>
      <p:graphicFrame>
        <p:nvGraphicFramePr>
          <p:cNvPr id="4" name="Table 3"/>
          <p:cNvGraphicFramePr>
            <a:graphicFrameLocks noGrp="1"/>
          </p:cNvGraphicFramePr>
          <p:nvPr/>
        </p:nvGraphicFramePr>
        <p:xfrm>
          <a:off x="6135624" y="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250.7K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567.2K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1,044.6K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1,744.7K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16.8K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26.4K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-74.5K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398.0K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881.4K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1,591.1K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5" name="Table 4"/>
          <p:cNvGraphicFramePr>
            <a:graphicFrameLocks noGrp="1"/>
          </p:cNvGraphicFramePr>
          <p:nvPr/>
        </p:nvGraphicFramePr>
        <p:xfrm>
          <a:off x="6135624" y="2286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2,100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376.0K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819.3K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1,566.9K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2,617.1K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25.2K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39.6K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53.2K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654.9K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1,412.1K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2,476.7K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6" name="Table 5"/>
          <p:cNvGraphicFramePr>
            <a:graphicFrameLocks noGrp="1"/>
          </p:cNvGraphicFramePr>
          <p:nvPr/>
        </p:nvGraphicFramePr>
        <p:xfrm>
          <a:off x="6135624" y="4572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125.3K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252.1K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522.3K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872.4K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-202.3K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76.9K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350.7K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705.6K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pic>
        <p:nvPicPr>
          <p:cNvPr id="7" name="Content Placeholder 6"/>
          <p:cNvPicPr>
            <a:picLocks noGrp="1"/>
          </p:cNvPicPr>
          <p:nvPr>
            <p:ph/>
          </p:nvPr>
        </p:nvPicPr>
        <p:blipFill>
          <a:blip r:embed="rId2" cstate="print"/>
          <a:stretch>
            <a:fillRect/>
          </a:stretch>
        </p:blipFill>
        <p:spPr>
          <a:xfrm>
            <a:off x="1179576" y="0"/>
            <a:ext cx="4572000" cy="6858000"/>
          </a:xfrm>
          <a:prstGeom prst="rect">
            <a:avLst/>
          </a:prstGeom>
        </p:spPr>
      </p:pic>
    </p:spTree>
    <p:extLst>
      <p:ext uri="{BB962C8B-B14F-4D97-AF65-F5344CB8AC3E}">
        <p14:creationId xmlns:p14="http://schemas.microsoft.com/office/powerpoint/2010/main" val="3157945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3E4D1330-6559-4480-ECC7-66909D09D0BD}"/>
              </a:ext>
            </a:extLst>
          </p:cNvPr>
          <p:cNvSpPr>
            <a:spLocks noGrp="1"/>
          </p:cNvSpPr>
          <p:nvPr>
            <p:ph type="ftr" sz="quarter" idx="11"/>
          </p:nvPr>
        </p:nvSpPr>
        <p:spPr/>
        <p:txBody>
          <a:bodyPr/>
          <a:lstStyle/>
          <a:p>
            <a:r>
              <a:rPr lang="en-US">
                <a:latin typeface="Arial" panose="020B0604020202020204" pitchFamily="34" charset="0"/>
                <a:cs typeface="Arial" panose="020B0604020202020204" pitchFamily="34" charset="0"/>
              </a:rPr>
              <a:t>Key Benefit Administrators</a:t>
            </a:r>
            <a:endParaRPr lang="en-US" dirty="0">
              <a:latin typeface="Arial" panose="020B0604020202020204" pitchFamily="34" charset="0"/>
              <a:cs typeface="Arial" panose="020B0604020202020204" pitchFamily="34" charset="0"/>
            </a:endParaRPr>
          </a:p>
        </p:txBody>
      </p:sp>
      <p:sp>
        <p:nvSpPr>
          <p:cNvPr id="3" name="Slide Number Placeholder 4">
            <a:extLst>
              <a:ext uri="{FF2B5EF4-FFF2-40B4-BE49-F238E27FC236}">
                <a16:creationId xmlns:a16="http://schemas.microsoft.com/office/drawing/2014/main" id="{FAD03FEC-C905-CEF4-1EA9-88A1334154D0}"/>
              </a:ext>
            </a:extLst>
          </p:cNvPr>
          <p:cNvSpPr>
            <a:spLocks noGrp="1"/>
          </p:cNvSpPr>
          <p:nvPr>
            <p:ph type="sldNum" sz="quarter" idx="12"/>
          </p:nvPr>
        </p:nvSpPr>
        <p:spPr/>
        <p:txBody>
          <a:bodyPr/>
          <a:lstStyle/>
          <a:p>
            <a:fld id="{3AFC719D-C4A7-4544-876E-D411D11AF6C9}" type="slidenum">
              <a:rPr lang="en-US" smtClean="0">
                <a:latin typeface="Arial" panose="020B0604020202020204" pitchFamily="34" charset="0"/>
                <a:cs typeface="Arial" panose="020B0604020202020204" pitchFamily="34" charset="0"/>
              </a:rPr>
              <a:t>8</a:t>
            </a:fld>
            <a:endParaRPr lang="en-US" dirty="0">
              <a:latin typeface="Arial" panose="020B0604020202020204" pitchFamily="34" charset="0"/>
              <a:cs typeface="Arial" panose="020B0604020202020204" pitchFamily="34" charset="0"/>
            </a:endParaRPr>
          </a:p>
        </p:txBody>
      </p:sp>
      <p:graphicFrame>
        <p:nvGraphicFramePr>
          <p:cNvPr id="4" name="Table 5">
            <a:extLst>
              <a:ext uri="{FF2B5EF4-FFF2-40B4-BE49-F238E27FC236}">
                <a16:creationId xmlns:a16="http://schemas.microsoft.com/office/drawing/2014/main" id="{176BAF2A-5136-E457-9AAC-D0878752F10C}"/>
              </a:ext>
            </a:extLst>
          </p:cNvPr>
          <p:cNvGraphicFramePr>
            <a:graphicFrameLocks noGrp="1"/>
          </p:cNvGraphicFramePr>
          <p:nvPr>
            <p:extLst>
              <p:ext uri="{D42A27DB-BD31-4B8C-83A1-F6EECF244321}">
                <p14:modId xmlns:p14="http://schemas.microsoft.com/office/powerpoint/2010/main" val="1212883613"/>
              </p:ext>
            </p:extLst>
          </p:nvPr>
        </p:nvGraphicFramePr>
        <p:xfrm>
          <a:off x="418056" y="764777"/>
          <a:ext cx="6972297" cy="132080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600" b="1" dirty="0">
                          <a:solidFill>
                            <a:schemeClr val="bg1"/>
                          </a:solidFill>
                        </a:rPr>
                        <a:t>Pre-DTE Cohort of 2,200 Employees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32424019"/>
                  </a:ext>
                </a:extLst>
              </a:tr>
              <a:tr h="370840">
                <a:tc>
                  <a:txBody>
                    <a:bodyPr/>
                    <a:lstStyle/>
                    <a:p>
                      <a:r>
                        <a:rPr lang="en-US" sz="1600" dirty="0"/>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$ 4,501,889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$ 3,405,149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$ 1,590,176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$ 9,497,214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600" dirty="0"/>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$ 1,116,468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$ 844,477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$ 394,363.6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$ 2,355,309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5" name="Straight Connector 13">
            <a:extLst>
              <a:ext uri="{FF2B5EF4-FFF2-40B4-BE49-F238E27FC236}">
                <a16:creationId xmlns:a16="http://schemas.microsoft.com/office/drawing/2014/main" id="{8EA958C5-E105-8A94-794A-7A8EB2DFEBDC}"/>
              </a:ext>
            </a:extLst>
          </p:cNvPr>
          <p:cNvCxnSpPr/>
          <p:nvPr/>
        </p:nvCxnSpPr>
        <p:spPr>
          <a:xfrm>
            <a:off x="316454" y="3716618"/>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6" name="Table 14">
            <a:extLst>
              <a:ext uri="{FF2B5EF4-FFF2-40B4-BE49-F238E27FC236}">
                <a16:creationId xmlns:a16="http://schemas.microsoft.com/office/drawing/2014/main" id="{FF3ACACB-7F38-7EAA-4BDF-1A816CA00AAE}"/>
              </a:ext>
            </a:extLst>
          </p:cNvPr>
          <p:cNvGraphicFramePr>
            <a:graphicFrameLocks noGrp="1"/>
          </p:cNvGraphicFramePr>
          <p:nvPr>
            <p:extLst>
              <p:ext uri="{D42A27DB-BD31-4B8C-83A1-F6EECF244321}">
                <p14:modId xmlns:p14="http://schemas.microsoft.com/office/powerpoint/2010/main" val="4095924731"/>
              </p:ext>
            </p:extLst>
          </p:nvPr>
        </p:nvGraphicFramePr>
        <p:xfrm>
          <a:off x="462503" y="4085951"/>
          <a:ext cx="6927847" cy="2225040"/>
        </p:xfrm>
        <a:graphic>
          <a:graphicData uri="http://schemas.openxmlformats.org/drawingml/2006/table">
            <a:tbl>
              <a:tblPr firstRow="1" bandRow="1">
                <a:tableStyleId>{5940675A-B579-460E-94D1-54222C63F5DA}</a:tableStyleId>
              </a:tblPr>
              <a:tblGrid>
                <a:gridCol w="5622925">
                  <a:extLst>
                    <a:ext uri="{9D8B030D-6E8A-4147-A177-3AD203B41FA5}">
                      <a16:colId xmlns:a16="http://schemas.microsoft.com/office/drawing/2014/main" val="1938271373"/>
                    </a:ext>
                  </a:extLst>
                </a:gridCol>
                <a:gridCol w="1304922">
                  <a:extLst>
                    <a:ext uri="{9D8B030D-6E8A-4147-A177-3AD203B41FA5}">
                      <a16:colId xmlns:a16="http://schemas.microsoft.com/office/drawing/2014/main" val="232002059"/>
                    </a:ext>
                  </a:extLst>
                </a:gridCol>
              </a:tblGrid>
              <a:tr h="370840">
                <a:tc>
                  <a:txBody>
                    <a:bodyPr/>
                    <a:lstStyle/>
                    <a:p>
                      <a:r>
                        <a:rPr lang="en-US" dirty="0"/>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$ 1,718,303</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dirty="0"/>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$ 26,400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dirty="0"/>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$ 1,723,103</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dirty="0">
                          <a:solidFill/>
                        </a:rPr>
                        <a:t>Minus Implementation Fee (One-Time)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2"/>
                          </a:solidFill>
                        </a:rPr>
                        <a:t>-$ 0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dirty="0"/>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2"/>
                          </a:solidFill>
                        </a:rPr>
                        <a:t>-$ 180,000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b="1" dirty="0"/>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b="1" dirty="0">
                          <a:solidFill>
                            <a:schemeClr val="accent6">
                              <a:lumMod val="75000"/>
                            </a:schemeClr>
                          </a:solidFill>
                        </a:rPr>
                        <a:t>$ 1,564,703</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7" name="Table 15">
            <a:extLst>
              <a:ext uri="{FF2B5EF4-FFF2-40B4-BE49-F238E27FC236}">
                <a16:creationId xmlns:a16="http://schemas.microsoft.com/office/drawing/2014/main" id="{32A51F3A-032C-30E2-F635-DD59B5A29A34}"/>
              </a:ext>
            </a:extLst>
          </p:cNvPr>
          <p:cNvGraphicFramePr>
            <a:graphicFrameLocks noGrp="1"/>
          </p:cNvGraphicFramePr>
          <p:nvPr>
            <p:extLst>
              <p:ext uri="{D42A27DB-BD31-4B8C-83A1-F6EECF244321}">
                <p14:modId xmlns:p14="http://schemas.microsoft.com/office/powerpoint/2010/main" val="1435280258"/>
              </p:ext>
            </p:extLst>
          </p:nvPr>
        </p:nvGraphicFramePr>
        <p:xfrm>
          <a:off x="418055" y="2234768"/>
          <a:ext cx="6972296" cy="100584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600" b="1" dirty="0">
                          <a:solidFill>
                            <a:schemeClr val="bg1"/>
                          </a:solidFill>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extLst>
                  <a:ext uri="{0D108BD9-81ED-4DB2-BD59-A6C34878D82A}">
                    <a16:rowId xmlns:a16="http://schemas.microsoft.com/office/drawing/2014/main" val="2532424019"/>
                  </a:ext>
                </a:extLst>
              </a:tr>
              <a:tr h="299554">
                <a:tc>
                  <a:txBody>
                    <a:bodyPr/>
                    <a:lstStyle/>
                    <a:p>
                      <a:r>
                        <a:rPr lang="en-US" sz="1600" dirty="0"/>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$ 4,798,371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$ 7,926,073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$ 3,701,409</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$ 16,425,853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600" dirty="0"/>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$ 1,189,996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$ 1,965,666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$ 917,949.4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$ 4,073,612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8" name="TextBox 1">
            <a:extLst>
              <a:ext uri="{FF2B5EF4-FFF2-40B4-BE49-F238E27FC236}">
                <a16:creationId xmlns:a16="http://schemas.microsoft.com/office/drawing/2014/main" id="{60820A86-1B9D-21A4-BBB6-DDFB73605882}"/>
              </a:ext>
            </a:extLst>
          </p:cNvPr>
          <p:cNvSpPr txBox="1"/>
          <p:nvPr/>
        </p:nvSpPr>
        <p:spPr>
          <a:xfrm>
            <a:off x="7752549" y="953947"/>
            <a:ext cx="4318001" cy="738664"/>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 Assuming proportional revenues from market shares of 69% (inpatient) and 29% (outpatient)</a:t>
            </a:r>
          </a:p>
        </p:txBody>
      </p:sp>
      <p:sp>
        <p:nvSpPr>
          <p:cNvPr id="9" name="TextBox 2">
            <a:extLst>
              <a:ext uri="{FF2B5EF4-FFF2-40B4-BE49-F238E27FC236}">
                <a16:creationId xmlns:a16="http://schemas.microsoft.com/office/drawing/2014/main" id="{6CDBA057-BBD2-8F54-E977-26B782E37F88}"/>
              </a:ext>
            </a:extLst>
          </p:cNvPr>
          <p:cNvSpPr txBox="1"/>
          <p:nvPr/>
        </p:nvSpPr>
        <p:spPr>
          <a:xfrm>
            <a:off x="7752549" y="1801103"/>
            <a:ext cx="4318001" cy="523220"/>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 Conservatively assuming a commercial margin of 24.8% (80% of the estimated commercial margin)</a:t>
            </a:r>
          </a:p>
        </p:txBody>
      </p:sp>
      <p:sp>
        <p:nvSpPr>
          <p:cNvPr id="10" name="TextBox 6">
            <a:extLst>
              <a:ext uri="{FF2B5EF4-FFF2-40B4-BE49-F238E27FC236}">
                <a16:creationId xmlns:a16="http://schemas.microsoft.com/office/drawing/2014/main" id="{C690F22E-C9CA-61DC-5584-149573110610}"/>
              </a:ext>
            </a:extLst>
          </p:cNvPr>
          <p:cNvSpPr txBox="1"/>
          <p:nvPr/>
        </p:nvSpPr>
        <p:spPr>
          <a:xfrm>
            <a:off x="7752549" y="2535638"/>
            <a:ext cx="4318001" cy="738664"/>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⁰ Assuming </a:t>
            </a:r>
            <a:r>
              <a:rPr lang="en-US" sz="1400" dirty="0">
                <a:solidFill/>
                <a:latin typeface="Arial" panose="020B0604020202020204" pitchFamily="34" charset="0"/>
                <a:cs typeface="Arial" panose="020B0604020202020204" pitchFamily="34" charset="0"/>
              </a:rPr>
              <a:t>74% inpatient and 67%  </a:t>
            </a:r>
            <a:r>
              <a:rPr lang="en-US" sz="1400" dirty="0">
                <a:latin typeface="Arial" panose="020B0604020202020204" pitchFamily="34" charset="0"/>
                <a:cs typeface="Arial" panose="020B0604020202020204" pitchFamily="34" charset="0"/>
              </a:rPr>
              <a:t>market steerage based on KBA narrow network DTE experience </a:t>
            </a:r>
            <a:r>
              <a:rPr lang="en-US" sz="1400" dirty="0">
                <a:solidFill/>
                <a:latin typeface="Arial" panose="020B0604020202020204" pitchFamily="34" charset="0"/>
                <a:cs typeface="Arial" panose="020B0604020202020204" pitchFamily="34" charset="0"/>
              </a:rPr>
              <a:t>(see previous slide)</a:t>
            </a:r>
            <a:endParaRPr lang="en-US" sz="1400" dirty="0">
              <a:latin typeface="Arial" panose="020B0604020202020204" pitchFamily="34" charset="0"/>
              <a:cs typeface="Arial" panose="020B0604020202020204" pitchFamily="34" charset="0"/>
            </a:endParaRPr>
          </a:p>
        </p:txBody>
      </p:sp>
      <p:sp>
        <p:nvSpPr>
          <p:cNvPr id="11" name="TextBox 7">
            <a:extLst>
              <a:ext uri="{FF2B5EF4-FFF2-40B4-BE49-F238E27FC236}">
                <a16:creationId xmlns:a16="http://schemas.microsoft.com/office/drawing/2014/main" id="{A897897D-C568-B204-6568-514AD4B71A5C}"/>
              </a:ext>
            </a:extLst>
          </p:cNvPr>
          <p:cNvSpPr txBox="1"/>
          <p:nvPr/>
        </p:nvSpPr>
        <p:spPr>
          <a:xfrm>
            <a:off x="7752548" y="3324229"/>
            <a:ext cx="4318001" cy="1384995"/>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 Conservatively assuming a commercial </a:t>
            </a:r>
            <a:r>
              <a:rPr lang="en-US" sz="1400" dirty="0">
                <a:solidFill/>
                <a:latin typeface="Arial" panose="020B0604020202020204" pitchFamily="34" charset="0"/>
                <a:cs typeface="Arial" panose="020B0604020202020204" pitchFamily="34" charset="0"/>
              </a:rPr>
              <a:t>margin of </a:t>
            </a:r>
            <a:r>
              <a:rPr lang="en-US" sz="1400">
                <a:solidFill/>
                <a:latin typeface="Arial" panose="020B0604020202020204" pitchFamily="34" charset="0"/>
                <a:cs typeface="Arial" panose="020B0604020202020204" pitchFamily="34" charset="0"/>
              </a:rPr>
              <a:t>24.8%, with a 10 percentage-point reduction to reflect competitive-edge rates and a 10 percentage-point increase due to lower billing costs and higher patient responsibility collections because of the member credit card. </a:t>
            </a:r>
            <a:endParaRPr lang="en-US" sz="1400" dirty="0">
              <a:latin typeface="Arial" panose="020B0604020202020204" pitchFamily="34" charset="0"/>
              <a:cs typeface="Arial" panose="020B0604020202020204" pitchFamily="34" charset="0"/>
            </a:endParaRPr>
          </a:p>
        </p:txBody>
      </p:sp>
      <p:sp>
        <p:nvSpPr>
          <p:cNvPr id="12" name="TextBox 8">
            <a:extLst>
              <a:ext uri="{FF2B5EF4-FFF2-40B4-BE49-F238E27FC236}">
                <a16:creationId xmlns:a16="http://schemas.microsoft.com/office/drawing/2014/main" id="{1BBEE831-0583-9B2A-D9B8-C57C918E4C3C}"/>
              </a:ext>
            </a:extLst>
          </p:cNvPr>
          <p:cNvSpPr txBox="1"/>
          <p:nvPr/>
        </p:nvSpPr>
        <p:spPr>
          <a:xfrm>
            <a:off x="316454" y="34749"/>
            <a:ext cx="6286914" cy="584775"/>
          </a:xfrm>
          <a:prstGeom prst="rect">
            <a:avLst/>
          </a:prstGeom>
          <a:noFill/>
        </p:spPr>
        <p:txBody>
          <a:bodyPr wrap="none" rtlCol="0">
            <a:spAutoFit/>
          </a:bodyPr>
          <a:lstStyle/>
          <a:p>
            <a:r>
              <a:rPr lang="en-US" sz="3200" b="1" dirty="0">
                <a:latin typeface="Calibri" panose="020F0502020204030204" pitchFamily="34" charset="0"/>
                <a:cs typeface="Calibri" panose="020F0502020204030204" pitchFamily="34" charset="0"/>
              </a:rPr>
              <a:t>Year </a:t>
            </a:r>
            <a:r>
              <a:rPr lang="en-US" sz="3200" b="1">
                <a:latin typeface="Calibri" panose="020F0502020204030204" pitchFamily="34" charset="0"/>
                <a:cs typeface="Calibri" panose="020F0502020204030204" pitchFamily="34" charset="0"/>
              </a:rPr>
              <a:t>4 Projected </a:t>
            </a:r>
            <a:r>
              <a:rPr lang="en-US" sz="3200" b="1" dirty="0">
                <a:latin typeface="Calibri" panose="020F0502020204030204" pitchFamily="34" charset="0"/>
                <a:cs typeface="Calibri" panose="020F0502020204030204" pitchFamily="34" charset="0"/>
              </a:rPr>
              <a:t>Revenue and Profit</a:t>
            </a:r>
          </a:p>
        </p:txBody>
      </p:sp>
    </p:spTree>
    <p:extLst>
      <p:ext uri="{BB962C8B-B14F-4D97-AF65-F5344CB8AC3E}">
        <p14:creationId xmlns:p14="http://schemas.microsoft.com/office/powerpoint/2010/main" val="14198165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FBB9A266-2718-4687-903B-B87AB1E45652}"/>
              </a:ext>
            </a:extLst>
          </p:cNvPr>
          <p:cNvSpPr>
            <a:spLocks noGrp="1"/>
          </p:cNvSpPr>
          <p:nvPr>
            <p:ph type="title"/>
          </p:nvPr>
        </p:nvSpPr>
        <p:spPr>
          <a:xfrm>
            <a:off x="532266" y="560444"/>
            <a:ext cx="6850224" cy="782540"/>
          </a:xfrm>
        </p:spPr>
        <p:txBody>
          <a:bodyPr/>
          <a:lstStyle/>
          <a:p>
            <a:r>
              <a:rPr lang="en-US" dirty="0">
                <a:solidFill>
                  <a:schemeClr val="bg1"/>
                </a:solidFill>
              </a:rPr>
              <a:t>A Partner You Can Trust</a:t>
            </a:r>
          </a:p>
        </p:txBody>
      </p:sp>
      <p:sp>
        <p:nvSpPr>
          <p:cNvPr id="5"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dirty="0">
                <a:solidFill>
                  <a:schemeClr val="bg1"/>
                </a:solidFill>
              </a:rPr>
              <a:t>Key Benefit Administrators</a:t>
            </a:r>
          </a:p>
        </p:txBody>
      </p:sp>
      <p:sp>
        <p:nvSpPr>
          <p:cNvPr id="6"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mtClean="0">
                <a:solidFill>
                  <a:schemeClr val="bg1"/>
                </a:solidFill>
              </a:rPr>
              <a:t>9</a:t>
            </a:fld>
            <a:endParaRPr lang="en-US" dirty="0">
              <a:solidFill>
                <a:schemeClr val="bg1"/>
              </a:solidFill>
            </a:endParaRPr>
          </a:p>
        </p:txBody>
      </p:sp>
      <p:grpSp>
        <p:nvGrpSpPr>
          <p:cNvPr id="7" name="Group 26">
            <a:extLst>
              <a:ext uri="{FF2B5EF4-FFF2-40B4-BE49-F238E27FC236}">
                <a16:creationId xmlns:a16="http://schemas.microsoft.com/office/drawing/2014/main" id="{CE5A4C1D-715F-46F5-A80B-647078B97ADE}"/>
              </a:ext>
            </a:extLst>
          </p:cNvPr>
          <p:cNvGrpSpPr/>
          <p:nvPr/>
        </p:nvGrpSpPr>
        <p:grpSpPr>
          <a:xfrm>
            <a:off x="667280" y="3021140"/>
            <a:ext cx="10857442" cy="1200329"/>
            <a:chOff x="908754" y="2695500"/>
            <a:chExt cx="10558665" cy="1200329"/>
          </a:xfrm>
        </p:grpSpPr>
        <p:sp>
          <p:nvSpPr>
            <p:cNvPr id="8" name="Rectangle 21">
              <a:extLst>
                <a:ext uri="{FF2B5EF4-FFF2-40B4-BE49-F238E27FC236}">
                  <a16:creationId xmlns:a16="http://schemas.microsoft.com/office/drawing/2014/main" id="{E53A35DC-3649-45F8-BE1C-71234D1F47FC}"/>
                </a:ext>
              </a:extLst>
            </p:cNvPr>
            <p:cNvSpPr/>
            <p:nvPr/>
          </p:nvSpPr>
          <p:spPr>
            <a:xfrm>
              <a:off x="908754" y="2695500"/>
              <a:ext cx="2058812" cy="646331"/>
            </a:xfrm>
            <a:prstGeom prst="rect">
              <a:avLst/>
            </a:prstGeom>
          </p:spPr>
          <p:txBody>
            <a:bodyPr wrap="square">
              <a:spAutoFit/>
            </a:bodyPr>
            <a:lstStyle/>
            <a:p>
              <a:r>
                <a:rPr lang="en-US" b="1" dirty="0">
                  <a:solidFill>
                    <a:schemeClr val="bg1"/>
                  </a:solidFill>
                </a:rPr>
                <a:t>OUR OBJECTIVES ARE ALIGNED</a:t>
              </a:r>
            </a:p>
          </p:txBody>
        </p:sp>
        <p:sp>
          <p:nvSpPr>
            <p:cNvPr id="9" name="Rectangle 23">
              <a:extLst>
                <a:ext uri="{FF2B5EF4-FFF2-40B4-BE49-F238E27FC236}">
                  <a16:creationId xmlns:a16="http://schemas.microsoft.com/office/drawing/2014/main" id="{9BB7B37B-58E4-4EF5-8BCD-B5AFD3FF7576}"/>
                </a:ext>
              </a:extLst>
            </p:cNvPr>
            <p:cNvSpPr/>
            <p:nvPr/>
          </p:nvSpPr>
          <p:spPr>
            <a:xfrm>
              <a:off x="3464860" y="2695500"/>
              <a:ext cx="2096575" cy="646331"/>
            </a:xfrm>
            <a:prstGeom prst="rect">
              <a:avLst/>
            </a:prstGeom>
          </p:spPr>
          <p:txBody>
            <a:bodyPr wrap="square">
              <a:spAutoFit/>
            </a:bodyPr>
            <a:lstStyle/>
            <a:p>
              <a:r>
                <a:rPr lang="en-US" b="1" dirty="0">
                  <a:solidFill>
                    <a:schemeClr val="bg1"/>
                  </a:solidFill>
                </a:rPr>
                <a:t>WE KNOW THE </a:t>
              </a:r>
            </a:p>
            <a:p>
              <a:r>
                <a:rPr lang="en-US" b="1" dirty="0">
                  <a:solidFill>
                    <a:schemeClr val="bg1"/>
                  </a:solidFill>
                </a:rPr>
                <a:t>MARKET</a:t>
              </a:r>
            </a:p>
          </p:txBody>
        </p:sp>
        <p:sp>
          <p:nvSpPr>
            <p:cNvPr id="10" name="Rectangle 24">
              <a:extLst>
                <a:ext uri="{FF2B5EF4-FFF2-40B4-BE49-F238E27FC236}">
                  <a16:creationId xmlns:a16="http://schemas.microsoft.com/office/drawing/2014/main" id="{712D71E1-CFC6-401F-B564-C6DB174E5C25}"/>
                </a:ext>
              </a:extLst>
            </p:cNvPr>
            <p:cNvSpPr/>
            <p:nvPr/>
          </p:nvSpPr>
          <p:spPr>
            <a:xfrm>
              <a:off x="6105045" y="2695500"/>
              <a:ext cx="1861517" cy="646331"/>
            </a:xfrm>
            <a:prstGeom prst="rect">
              <a:avLst/>
            </a:prstGeom>
          </p:spPr>
          <p:txBody>
            <a:bodyPr wrap="square">
              <a:spAutoFit/>
            </a:bodyPr>
            <a:lstStyle/>
            <a:p>
              <a:r>
                <a:rPr lang="en-US" b="1" dirty="0">
                  <a:solidFill>
                    <a:schemeClr val="bg1"/>
                  </a:solidFill>
                </a:rPr>
                <a:t>COMPLETELY TRANSPARENT</a:t>
              </a:r>
            </a:p>
          </p:txBody>
        </p:sp>
        <p:sp>
          <p:nvSpPr>
            <p:cNvPr id="11" name="Rectangle 25">
              <a:extLst>
                <a:ext uri="{FF2B5EF4-FFF2-40B4-BE49-F238E27FC236}">
                  <a16:creationId xmlns:a16="http://schemas.microsoft.com/office/drawing/2014/main" id="{3219F81E-41A2-4D21-B41F-E66CCE1EAA9D}"/>
                </a:ext>
              </a:extLst>
            </p:cNvPr>
            <p:cNvSpPr/>
            <p:nvPr/>
          </p:nvSpPr>
          <p:spPr>
            <a:xfrm>
              <a:off x="9062157" y="2695500"/>
              <a:ext cx="2405262" cy="1200329"/>
            </a:xfrm>
            <a:prstGeom prst="rect">
              <a:avLst/>
            </a:prstGeom>
          </p:spPr>
          <p:txBody>
            <a:bodyPr wrap="square">
              <a:spAutoFit/>
            </a:bodyPr>
            <a:lstStyle/>
            <a:p>
              <a:r>
                <a:rPr lang="en-US" b="1" dirty="0">
                  <a:solidFill>
                    <a:schemeClr val="bg1"/>
                  </a:solidFill>
                </a:rPr>
                <a:t>WE HAVE THE SOPHISTICATION AND INFRASTRUCTURE TO EFFECTIVELY COMPETE</a:t>
              </a:r>
            </a:p>
          </p:txBody>
        </p:sp>
      </p:grpSp>
      <p:cxnSp>
        <p:nvCxnSpPr>
          <p:cNvPr id="12"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1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1119" y="1877065"/>
              <a:ext cx="723514" cy="723514"/>
            </a:xfrm>
            <a:prstGeom prst="rect">
              <a:avLst/>
            </a:prstGeom>
          </p:spPr>
        </p:pic>
        <p:pic>
          <p:nvPicPr>
            <p:cNvPr id="17"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2481" y="1952990"/>
              <a:ext cx="571664" cy="571664"/>
            </a:xfrm>
            <a:prstGeom prst="rect">
              <a:avLst/>
            </a:prstGeom>
          </p:spPr>
        </p:pic>
        <p:pic>
          <p:nvPicPr>
            <p:cNvPr id="18" name="Graphic 41" descr="Research">
              <a:extLst>
                <a:ext uri="{FF2B5EF4-FFF2-40B4-BE49-F238E27FC236}">
                  <a16:creationId xmlns:a16="http://schemas.microsoft.com/office/drawing/2014/main" id="{EB5D0031-3DC4-4608-96CB-BE0770B191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7105" y="1930239"/>
              <a:ext cx="617166" cy="617166"/>
            </a:xfrm>
            <a:prstGeom prst="rect">
              <a:avLst/>
            </a:prstGeom>
          </p:spPr>
        </p:pic>
        <p:pic>
          <p:nvPicPr>
            <p:cNvPr id="19" name="Graphic 47" descr="Bullseye">
              <a:extLst>
                <a:ext uri="{FF2B5EF4-FFF2-40B4-BE49-F238E27FC236}">
                  <a16:creationId xmlns:a16="http://schemas.microsoft.com/office/drawing/2014/main" id="{F0079980-31B3-4896-9D2D-D82AEDFA3E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85554" y="1920753"/>
              <a:ext cx="636140" cy="636140"/>
            </a:xfrm>
            <a:prstGeom prst="rect">
              <a:avLst/>
            </a:prstGeom>
          </p:spPr>
        </p:pic>
      </p:grpSp>
      <p:pic>
        <p:nvPicPr>
          <p:cNvPr id="20"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646331"/>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dirty="0">
                <a:solidFill>
                  <a:schemeClr val="bg1"/>
                </a:solidFill>
                <a:latin typeface="Arial" panose="020B0604020202020204" pitchFamily="34" charset="0"/>
                <a:cs typeface="Arial" panose="020B0604020202020204" pitchFamily="34" charset="0"/>
              </a:rPr>
              <a:t>Derek Moore, Senior Vice President – KBA</a:t>
            </a:r>
          </a:p>
          <a:p>
            <a:pPr algn="ctr"/>
            <a:r>
              <a:rPr lang="en-US" dirty="0">
                <a:solidFill>
                  <a:schemeClr val="bg1"/>
                </a:solidFill>
                <a:latin typeface="Arial" panose="020B0604020202020204" pitchFamily="34" charset="0"/>
                <a:cs typeface="Arial" panose="020B0604020202020204" pitchFamily="34" charset="0"/>
              </a:rPr>
              <a:t>845-283-9973 * derek.moore@keybenefit.com</a:t>
            </a: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customXml/itemProps2.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6F5604B-F201-4300-A086-2482203EA6B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46101</TotalTime>
  <Words>953</Words>
  <Application>Microsoft Office PowerPoint</Application>
  <PresentationFormat>Widescreen</PresentationFormat>
  <Paragraphs>282</Paragraphs>
  <Slides>9</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Aptos Narrow</vt:lpstr>
      <vt:lpstr>Arial</vt:lpstr>
      <vt:lpstr>Calibri</vt:lpstr>
      <vt:lpstr>Calibri Light</vt:lpstr>
      <vt:lpstr>Wingdings</vt:lpstr>
      <vt:lpstr>Office Theme</vt:lpstr>
      <vt:lpstr>PowerPoint Presentation</vt:lpstr>
      <vt:lpstr>PowerPoint Presentation</vt:lpstr>
      <vt:lpstr>Market Leader in Private Labeled DTE Plans</vt:lpstr>
      <vt:lpstr>Significant Opportunity for Plan Growth </vt:lpstr>
      <vt:lpstr>Plan Potential Growth Paths</vt:lpstr>
      <vt:lpstr>Growing Powerful, Lasting Profitability</vt:lpstr>
      <vt:lpstr>FOUR-YEAR PROJECTIONS</vt:lpstr>
      <vt:lpstr>PowerPoint Presentation</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112</cp:revision>
  <cp:lastPrinted>2023-07-13T10:24:43Z</cp:lastPrinted>
  <dcterms:created xsi:type="dcterms:W3CDTF">2021-01-20T14:12:11Z</dcterms:created>
  <dcterms:modified xsi:type="dcterms:W3CDTF">2024-10-29T03:47:27Z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