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9"/>
  </p:notesMasterIdLst>
  <p:sldIdLst>
    <p:sldId id="577" r:id="rId5"/>
    <p:sldId id="454" r:id="rId6"/>
    <p:sldId id="549" r:id="rId7"/>
    <p:sldId id="487" r:id="rId8"/>
    <p:sldId id="588" r:id="rId9"/>
    <p:sldId id="518" r:id="rId10"/>
    <p:sldId id="466" r:id="rId11"/>
    <p:sldId id="559" r:id="rId12"/>
    <p:sldId id="589" r:id="rId13"/>
    <p:sldId id="582" r:id="rId14"/>
    <p:sldId id="558" r:id="rId15"/>
    <p:sldId id="548" r:id="rId16"/>
    <p:sldId id="521" r:id="rId17"/>
    <p:sldId id="564" r:id="rId18"/>
    <p:sldId id="456" r:id="rId19"/>
    <p:sldId id="489" r:id="rId20"/>
    <p:sldId id="499" r:id="rId21"/>
    <p:sldId id="458" r:id="rId22"/>
    <p:sldId id="446" r:id="rId23"/>
    <p:sldId id="461" r:id="rId24"/>
    <p:sldId id="462" r:id="rId25"/>
    <p:sldId id="469" r:id="rId26"/>
    <p:sldId id="336" r:id="rId27"/>
    <p:sldId id="337" r:id="rId28"/>
    <p:sldId id="578" r:id="rId29"/>
    <p:sldId id="583" r:id="rId30"/>
    <p:sldId id="525" r:id="rId31"/>
    <p:sldId id="527" r:id="rId32"/>
    <p:sldId id="590" r:id="rId33"/>
    <p:sldId id="571" r:id="rId34"/>
    <p:sldId id="591" r:id="rId35"/>
    <p:sldId id="546" r:id="rId36"/>
    <p:sldId id="547" r:id="rId37"/>
    <p:sldId id="585" r:id="rId38"/>
    <p:sldId id="536" r:id="rId39"/>
    <p:sldId id="256" r:id="rId40"/>
    <p:sldId id="574" r:id="rId41"/>
    <p:sldId id="572" r:id="rId42"/>
    <p:sldId id="575" r:id="rId43"/>
    <p:sldId id="498" r:id="rId44"/>
    <p:sldId id="325" r:id="rId45"/>
    <p:sldId id="326" r:id="rId46"/>
    <p:sldId id="491" r:id="rId47"/>
    <p:sldId id="472" r:id="rId48"/>
  </p:sldIdLst>
  <p:sldSz cx="12192000" cy="6858000"/>
  <p:notesSz cx="7315200" cy="9601200"/>
  <p:custDataLst>
    <p:tags r:id="rId5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5DBCC4-B261-4B6C-9363-5CE1D8545618}" v="8" dt="2024-10-22T21:43:52.933"/>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D55DBCC4-B261-4B6C-9363-5CE1D8545618}"/>
    <pc:docChg chg="undo custSel addSld delSld modSld">
      <pc:chgData name="Taylor Davis" userId="5c9e72a0-c39f-4aa1-9d7d-64125e78cbe6" providerId="ADAL" clId="{D55DBCC4-B261-4B6C-9363-5CE1D8545618}" dt="2024-10-29T03:47:47.250" v="318"/>
      <pc:docMkLst>
        <pc:docMk/>
      </pc:docMkLst>
      <pc:sldChg chg="modSp mod">
        <pc:chgData name="Taylor Davis" userId="5c9e72a0-c39f-4aa1-9d7d-64125e78cbe6" providerId="ADAL" clId="{D55DBCC4-B261-4B6C-9363-5CE1D8545618}" dt="2024-10-22T21:48:12.632" v="282" actId="14100"/>
        <pc:sldMkLst>
          <pc:docMk/>
          <pc:sldMk cId="0" sldId="256"/>
        </pc:sldMkLst>
        <pc:graphicFrameChg chg="modGraphic">
          <ac:chgData name="Taylor Davis" userId="5c9e72a0-c39f-4aa1-9d7d-64125e78cbe6" providerId="ADAL" clId="{D55DBCC4-B261-4B6C-9363-5CE1D8545618}" dt="2024-10-22T21:48:12.632" v="282" actId="14100"/>
          <ac:graphicFrameMkLst>
            <pc:docMk/>
            <pc:sldMk cId="0" sldId="256"/>
            <ac:graphicFrameMk id="2" creationId="{00000000-0000-0000-0000-000000000000}"/>
          </ac:graphicFrameMkLst>
        </pc:graphicFrameChg>
      </pc:sldChg>
      <pc:sldChg chg="del">
        <pc:chgData name="Taylor Davis" userId="5c9e72a0-c39f-4aa1-9d7d-64125e78cbe6" providerId="ADAL" clId="{D55DBCC4-B261-4B6C-9363-5CE1D8545618}" dt="2024-10-22T21:25:38.854" v="19" actId="47"/>
        <pc:sldMkLst>
          <pc:docMk/>
          <pc:sldMk cId="4059548579" sldId="452"/>
        </pc:sldMkLst>
      </pc:sldChg>
      <pc:sldChg chg="addSp delSp modSp mod">
        <pc:chgData name="Taylor Davis" userId="5c9e72a0-c39f-4aa1-9d7d-64125e78cbe6" providerId="ADAL" clId="{D55DBCC4-B261-4B6C-9363-5CE1D8545618}" dt="2024-10-22T21:49:57.277" v="303" actId="478"/>
        <pc:sldMkLst>
          <pc:docMk/>
          <pc:sldMk cId="1700621358" sldId="456"/>
        </pc:sldMkLst>
        <pc:spChg chg="del">
          <ac:chgData name="Taylor Davis" userId="5c9e72a0-c39f-4aa1-9d7d-64125e78cbe6" providerId="ADAL" clId="{D55DBCC4-B261-4B6C-9363-5CE1D8545618}" dt="2024-10-22T21:49:55.162" v="302" actId="478"/>
          <ac:spMkLst>
            <pc:docMk/>
            <pc:sldMk cId="1700621358" sldId="456"/>
            <ac:spMk id="7" creationId="{A044C7C1-57D3-4F0B-A71A-0CA303FF3DB8}"/>
          </ac:spMkLst>
        </pc:spChg>
        <pc:spChg chg="add del mod">
          <ac:chgData name="Taylor Davis" userId="5c9e72a0-c39f-4aa1-9d7d-64125e78cbe6" providerId="ADAL" clId="{D55DBCC4-B261-4B6C-9363-5CE1D8545618}" dt="2024-10-22T21:49:57.277" v="303" actId="478"/>
          <ac:spMkLst>
            <pc:docMk/>
            <pc:sldMk cId="1700621358" sldId="456"/>
            <ac:spMk id="11" creationId="{75413C3E-E83D-F442-12B2-B49965415075}"/>
          </ac:spMkLst>
        </pc:spChg>
        <pc:picChg chg="mod">
          <ac:chgData name="Taylor Davis" userId="5c9e72a0-c39f-4aa1-9d7d-64125e78cbe6" providerId="ADAL" clId="{D55DBCC4-B261-4B6C-9363-5CE1D8545618}" dt="2024-10-22T21:28:21.587" v="108" actId="1076"/>
          <ac:picMkLst>
            <pc:docMk/>
            <pc:sldMk cId="1700621358" sldId="456"/>
            <ac:picMk id="9" creationId="{00000000-0000-0000-0000-000000000000}"/>
          </ac:picMkLst>
        </pc:picChg>
      </pc:sldChg>
      <pc:sldChg chg="modSp mod">
        <pc:chgData name="Taylor Davis" userId="5c9e72a0-c39f-4aa1-9d7d-64125e78cbe6" providerId="ADAL" clId="{D55DBCC4-B261-4B6C-9363-5CE1D8545618}" dt="2024-10-22T21:25:26.351" v="17" actId="1076"/>
        <pc:sldMkLst>
          <pc:docMk/>
          <pc:sldMk cId="1552833548" sldId="487"/>
        </pc:sldMkLst>
        <pc:picChg chg="mod">
          <ac:chgData name="Taylor Davis" userId="5c9e72a0-c39f-4aa1-9d7d-64125e78cbe6" providerId="ADAL" clId="{D55DBCC4-B261-4B6C-9363-5CE1D8545618}" dt="2024-10-22T21:25:26.351" v="17" actId="1076"/>
          <ac:picMkLst>
            <pc:docMk/>
            <pc:sldMk cId="1552833548" sldId="487"/>
            <ac:picMk id="13" creationId="{00000000-0000-0000-0000-000000000000}"/>
          </ac:picMkLst>
        </pc:picChg>
      </pc:sldChg>
      <pc:sldChg chg="modSp mod">
        <pc:chgData name="Taylor Davis" userId="5c9e72a0-c39f-4aa1-9d7d-64125e78cbe6" providerId="ADAL" clId="{D55DBCC4-B261-4B6C-9363-5CE1D8545618}" dt="2024-10-22T21:48:45.814" v="290" actId="20577"/>
        <pc:sldMkLst>
          <pc:docMk/>
          <pc:sldMk cId="3144192130" sldId="498"/>
        </pc:sldMkLst>
        <pc:spChg chg="mod">
          <ac:chgData name="Taylor Davis" userId="5c9e72a0-c39f-4aa1-9d7d-64125e78cbe6" providerId="ADAL" clId="{D55DBCC4-B261-4B6C-9363-5CE1D8545618}" dt="2024-10-22T21:48:45.814" v="290" actId="20577"/>
          <ac:spMkLst>
            <pc:docMk/>
            <pc:sldMk cId="3144192130" sldId="498"/>
            <ac:spMk id="9" creationId="{1588ACF9-8E0F-4A2C-A1CE-0329366276D0}"/>
          </ac:spMkLst>
        </pc:spChg>
        <pc:spChg chg="mod">
          <ac:chgData name="Taylor Davis" userId="5c9e72a0-c39f-4aa1-9d7d-64125e78cbe6" providerId="ADAL" clId="{D55DBCC4-B261-4B6C-9363-5CE1D8545618}" dt="2024-10-22T21:48:44.145" v="289" actId="20577"/>
          <ac:spMkLst>
            <pc:docMk/>
            <pc:sldMk cId="3144192130" sldId="498"/>
            <ac:spMk id="12" creationId="{706CA18C-73A5-4798-ADEA-6A91A9CA3E3F}"/>
          </ac:spMkLst>
        </pc:spChg>
        <pc:spChg chg="mod">
          <ac:chgData name="Taylor Davis" userId="5c9e72a0-c39f-4aa1-9d7d-64125e78cbe6" providerId="ADAL" clId="{D55DBCC4-B261-4B6C-9363-5CE1D8545618}" dt="2024-10-22T21:48:33.583" v="286" actId="1076"/>
          <ac:spMkLst>
            <pc:docMk/>
            <pc:sldMk cId="3144192130" sldId="498"/>
            <ac:spMk id="17" creationId="{9E0B445C-F723-D2CD-7458-1C791D6F47F3}"/>
          </ac:spMkLst>
        </pc:spChg>
      </pc:sldChg>
      <pc:sldChg chg="modSp mod">
        <pc:chgData name="Taylor Davis" userId="5c9e72a0-c39f-4aa1-9d7d-64125e78cbe6" providerId="ADAL" clId="{D55DBCC4-B261-4B6C-9363-5CE1D8545618}" dt="2024-10-22T21:50:59.432" v="304" actId="20577"/>
        <pc:sldMkLst>
          <pc:docMk/>
          <pc:sldMk cId="2203540903" sldId="499"/>
        </pc:sldMkLst>
        <pc:spChg chg="mod">
          <ac:chgData name="Taylor Davis" userId="5c9e72a0-c39f-4aa1-9d7d-64125e78cbe6" providerId="ADAL" clId="{D55DBCC4-B261-4B6C-9363-5CE1D8545618}" dt="2024-10-22T21:50:59.432" v="304" actId="20577"/>
          <ac:spMkLst>
            <pc:docMk/>
            <pc:sldMk cId="2203540903" sldId="499"/>
            <ac:spMk id="7" creationId="{AB8821D0-DEDE-002D-E87D-13E033D5D75F}"/>
          </ac:spMkLst>
        </pc:spChg>
      </pc:sldChg>
      <pc:sldChg chg="del">
        <pc:chgData name="Taylor Davis" userId="5c9e72a0-c39f-4aa1-9d7d-64125e78cbe6" providerId="ADAL" clId="{D55DBCC4-B261-4B6C-9363-5CE1D8545618}" dt="2024-10-22T21:25:41.967" v="20" actId="47"/>
        <pc:sldMkLst>
          <pc:docMk/>
          <pc:sldMk cId="2103269747" sldId="520"/>
        </pc:sldMkLst>
      </pc:sldChg>
      <pc:sldChg chg="modSp mod">
        <pc:chgData name="Taylor Davis" userId="5c9e72a0-c39f-4aa1-9d7d-64125e78cbe6" providerId="ADAL" clId="{D55DBCC4-B261-4B6C-9363-5CE1D8545618}" dt="2024-10-22T21:30:20.997" v="110" actId="21"/>
        <pc:sldMkLst>
          <pc:docMk/>
          <pc:sldMk cId="3034923006" sldId="527"/>
        </pc:sldMkLst>
        <pc:graphicFrameChg chg="modGraphic">
          <ac:chgData name="Taylor Davis" userId="5c9e72a0-c39f-4aa1-9d7d-64125e78cbe6" providerId="ADAL" clId="{D55DBCC4-B261-4B6C-9363-5CE1D8545618}" dt="2024-10-22T21:30:20.997" v="110" actId="21"/>
          <ac:graphicFrameMkLst>
            <pc:docMk/>
            <pc:sldMk cId="3034923006" sldId="527"/>
            <ac:graphicFrameMk id="6" creationId="{00000000-0000-0000-0000-000000000000}"/>
          </ac:graphicFrameMkLst>
        </pc:graphicFrameChg>
      </pc:sldChg>
      <pc:sldChg chg="modSp mod">
        <pc:chgData name="Taylor Davis" userId="5c9e72a0-c39f-4aa1-9d7d-64125e78cbe6" providerId="ADAL" clId="{D55DBCC4-B261-4B6C-9363-5CE1D8545618}" dt="2024-10-29T03:47:47.250" v="318"/>
        <pc:sldMkLst>
          <pc:docMk/>
          <pc:sldMk cId="1419816550" sldId="536"/>
        </pc:sldMkLst>
        <pc:spChg chg="mod">
          <ac:chgData name="Taylor Davis" userId="5c9e72a0-c39f-4aa1-9d7d-64125e78cbe6" providerId="ADAL" clId="{D55DBCC4-B261-4B6C-9363-5CE1D8545618}" dt="2024-10-29T03:47:47.250" v="318"/>
          <ac:spMkLst>
            <pc:docMk/>
            <pc:sldMk cId="1419816550" sldId="536"/>
            <ac:spMk id="11" creationId="{A897897D-C568-B204-6568-514AD4B71A5C}"/>
          </ac:spMkLst>
        </pc:spChg>
      </pc:sldChg>
      <pc:sldChg chg="modSp mod">
        <pc:chgData name="Taylor Davis" userId="5c9e72a0-c39f-4aa1-9d7d-64125e78cbe6" providerId="ADAL" clId="{D55DBCC4-B261-4B6C-9363-5CE1D8545618}" dt="2024-10-22T21:47:23.912" v="265" actId="20577"/>
        <pc:sldMkLst>
          <pc:docMk/>
          <pc:sldMk cId="94944115" sldId="546"/>
        </pc:sldMkLst>
        <pc:graphicFrameChg chg="modGraphic">
          <ac:chgData name="Taylor Davis" userId="5c9e72a0-c39f-4aa1-9d7d-64125e78cbe6" providerId="ADAL" clId="{D55DBCC4-B261-4B6C-9363-5CE1D8545618}" dt="2024-10-22T21:47:23.912" v="265" actId="20577"/>
          <ac:graphicFrameMkLst>
            <pc:docMk/>
            <pc:sldMk cId="94944115" sldId="546"/>
            <ac:graphicFrameMk id="4" creationId="{3C07E302-CC45-B04C-2C2D-C436C7863084}"/>
          </ac:graphicFrameMkLst>
        </pc:graphicFrameChg>
      </pc:sldChg>
      <pc:sldChg chg="modSp mod">
        <pc:chgData name="Taylor Davis" userId="5c9e72a0-c39f-4aa1-9d7d-64125e78cbe6" providerId="ADAL" clId="{D55DBCC4-B261-4B6C-9363-5CE1D8545618}" dt="2024-10-22T21:49:32.494" v="301" actId="20577"/>
        <pc:sldMkLst>
          <pc:docMk/>
          <pc:sldMk cId="3470905217" sldId="558"/>
        </pc:sldMkLst>
        <pc:spChg chg="mod">
          <ac:chgData name="Taylor Davis" userId="5c9e72a0-c39f-4aa1-9d7d-64125e78cbe6" providerId="ADAL" clId="{D55DBCC4-B261-4B6C-9363-5CE1D8545618}" dt="2024-10-22T21:26:38.135" v="50" actId="20577"/>
          <ac:spMkLst>
            <pc:docMk/>
            <pc:sldMk cId="3470905217" sldId="558"/>
            <ac:spMk id="8" creationId="{025AE6BF-C458-13D4-626E-DAD4C1439055}"/>
          </ac:spMkLst>
        </pc:spChg>
        <pc:spChg chg="mod">
          <ac:chgData name="Taylor Davis" userId="5c9e72a0-c39f-4aa1-9d7d-64125e78cbe6" providerId="ADAL" clId="{D55DBCC4-B261-4B6C-9363-5CE1D8545618}" dt="2024-10-22T21:26:51.152" v="66" actId="1035"/>
          <ac:spMkLst>
            <pc:docMk/>
            <pc:sldMk cId="3470905217" sldId="558"/>
            <ac:spMk id="9" creationId="{620CA171-241C-9006-DA4D-7174E70B2EF3}"/>
          </ac:spMkLst>
        </pc:spChg>
        <pc:spChg chg="mod">
          <ac:chgData name="Taylor Davis" userId="5c9e72a0-c39f-4aa1-9d7d-64125e78cbe6" providerId="ADAL" clId="{D55DBCC4-B261-4B6C-9363-5CE1D8545618}" dt="2024-10-22T21:49:32.494" v="301" actId="20577"/>
          <ac:spMkLst>
            <pc:docMk/>
            <pc:sldMk cId="3470905217" sldId="558"/>
            <ac:spMk id="13" creationId="{32C9D62D-25B0-6CD9-8AD7-E6855B1B1B26}"/>
          </ac:spMkLst>
        </pc:spChg>
        <pc:spChg chg="mod">
          <ac:chgData name="Taylor Davis" userId="5c9e72a0-c39f-4aa1-9d7d-64125e78cbe6" providerId="ADAL" clId="{D55DBCC4-B261-4B6C-9363-5CE1D8545618}" dt="2024-10-22T21:26:51.152" v="66" actId="1035"/>
          <ac:spMkLst>
            <pc:docMk/>
            <pc:sldMk cId="3470905217" sldId="558"/>
            <ac:spMk id="14" creationId="{A76920ED-352E-9285-CC83-BDA6AB18978D}"/>
          </ac:spMkLst>
        </pc:spChg>
        <pc:spChg chg="mod">
          <ac:chgData name="Taylor Davis" userId="5c9e72a0-c39f-4aa1-9d7d-64125e78cbe6" providerId="ADAL" clId="{D55DBCC4-B261-4B6C-9363-5CE1D8545618}" dt="2024-10-22T21:26:51.152" v="66" actId="1035"/>
          <ac:spMkLst>
            <pc:docMk/>
            <pc:sldMk cId="3470905217" sldId="558"/>
            <ac:spMk id="15" creationId="{2559AB8C-6F23-81D3-4546-DE75EBD91879}"/>
          </ac:spMkLst>
        </pc:spChg>
        <pc:spChg chg="mod">
          <ac:chgData name="Taylor Davis" userId="5c9e72a0-c39f-4aa1-9d7d-64125e78cbe6" providerId="ADAL" clId="{D55DBCC4-B261-4B6C-9363-5CE1D8545618}" dt="2024-10-22T21:26:51.152" v="66" actId="1035"/>
          <ac:spMkLst>
            <pc:docMk/>
            <pc:sldMk cId="3470905217" sldId="558"/>
            <ac:spMk id="16" creationId="{314AFF5C-ABDA-A82B-40C8-14E2DB160036}"/>
          </ac:spMkLst>
        </pc:spChg>
        <pc:spChg chg="mod">
          <ac:chgData name="Taylor Davis" userId="5c9e72a0-c39f-4aa1-9d7d-64125e78cbe6" providerId="ADAL" clId="{D55DBCC4-B261-4B6C-9363-5CE1D8545618}" dt="2024-10-22T21:26:51.152" v="66" actId="1035"/>
          <ac:spMkLst>
            <pc:docMk/>
            <pc:sldMk cId="3470905217" sldId="558"/>
            <ac:spMk id="17" creationId="{2C03026B-6D1E-F7B1-9995-7D9DC1019C60}"/>
          </ac:spMkLst>
        </pc:spChg>
        <pc:spChg chg="mod">
          <ac:chgData name="Taylor Davis" userId="5c9e72a0-c39f-4aa1-9d7d-64125e78cbe6" providerId="ADAL" clId="{D55DBCC4-B261-4B6C-9363-5CE1D8545618}" dt="2024-10-22T21:26:51.152" v="66" actId="1035"/>
          <ac:spMkLst>
            <pc:docMk/>
            <pc:sldMk cId="3470905217" sldId="558"/>
            <ac:spMk id="18" creationId="{9C64CEEB-E16A-926D-5DF0-DC8275443A40}"/>
          </ac:spMkLst>
        </pc:spChg>
        <pc:spChg chg="mod">
          <ac:chgData name="Taylor Davis" userId="5c9e72a0-c39f-4aa1-9d7d-64125e78cbe6" providerId="ADAL" clId="{D55DBCC4-B261-4B6C-9363-5CE1D8545618}" dt="2024-10-22T21:26:51.152" v="66" actId="1035"/>
          <ac:spMkLst>
            <pc:docMk/>
            <pc:sldMk cId="3470905217" sldId="558"/>
            <ac:spMk id="19" creationId="{716000A2-AFB1-117D-BFF0-2BDA3EA8A77D}"/>
          </ac:spMkLst>
        </pc:spChg>
      </pc:sldChg>
      <pc:sldChg chg="modSp add del mod">
        <pc:chgData name="Taylor Davis" userId="5c9e72a0-c39f-4aa1-9d7d-64125e78cbe6" providerId="ADAL" clId="{D55DBCC4-B261-4B6C-9363-5CE1D8545618}" dt="2024-10-22T21:43:52.933" v="224"/>
        <pc:sldMkLst>
          <pc:docMk/>
          <pc:sldMk cId="1660060508" sldId="559"/>
        </pc:sldMkLst>
        <pc:graphicFrameChg chg="mod modGraphic">
          <ac:chgData name="Taylor Davis" userId="5c9e72a0-c39f-4aa1-9d7d-64125e78cbe6" providerId="ADAL" clId="{D55DBCC4-B261-4B6C-9363-5CE1D8545618}" dt="2024-10-22T21:43:52.933" v="224"/>
          <ac:graphicFrameMkLst>
            <pc:docMk/>
            <pc:sldMk cId="1660060508" sldId="559"/>
            <ac:graphicFrameMk id="8" creationId="{B9E0A44D-EDC5-EBD5-4D77-F30FF46B060F}"/>
          </ac:graphicFrameMkLst>
        </pc:graphicFrameChg>
      </pc:sldChg>
      <pc:sldChg chg="modSp mod">
        <pc:chgData name="Taylor Davis" userId="5c9e72a0-c39f-4aa1-9d7d-64125e78cbe6" providerId="ADAL" clId="{D55DBCC4-B261-4B6C-9363-5CE1D8545618}" dt="2024-10-22T21:45:10.695" v="225" actId="2165"/>
        <pc:sldMkLst>
          <pc:docMk/>
          <pc:sldMk cId="4064752386" sldId="564"/>
        </pc:sldMkLst>
        <pc:spChg chg="mod">
          <ac:chgData name="Taylor Davis" userId="5c9e72a0-c39f-4aa1-9d7d-64125e78cbe6" providerId="ADAL" clId="{D55DBCC4-B261-4B6C-9363-5CE1D8545618}" dt="2024-10-22T21:27:48.241" v="106" actId="1076"/>
          <ac:spMkLst>
            <pc:docMk/>
            <pc:sldMk cId="4064752386" sldId="564"/>
            <ac:spMk id="6" creationId="{3E0219A2-C97D-9E0E-9C52-C5207AB41BD4}"/>
          </ac:spMkLst>
        </pc:spChg>
        <pc:graphicFrameChg chg="mod modGraphic">
          <ac:chgData name="Taylor Davis" userId="5c9e72a0-c39f-4aa1-9d7d-64125e78cbe6" providerId="ADAL" clId="{D55DBCC4-B261-4B6C-9363-5CE1D8545618}" dt="2024-10-22T21:45:10.695" v="225" actId="2165"/>
          <ac:graphicFrameMkLst>
            <pc:docMk/>
            <pc:sldMk cId="4064752386" sldId="564"/>
            <ac:graphicFrameMk id="7" creationId="{00000000-0000-0000-0000-000000000000}"/>
          </ac:graphicFrameMkLst>
        </pc:graphicFrameChg>
      </pc:sldChg>
      <pc:sldChg chg="delSp modSp mod">
        <pc:chgData name="Taylor Davis" userId="5c9e72a0-c39f-4aa1-9d7d-64125e78cbe6" providerId="ADAL" clId="{D55DBCC4-B261-4B6C-9363-5CE1D8545618}" dt="2024-10-22T21:35:44.634" v="201" actId="14734"/>
        <pc:sldMkLst>
          <pc:docMk/>
          <pc:sldMk cId="0" sldId="571"/>
        </pc:sldMkLst>
        <pc:spChg chg="del">
          <ac:chgData name="Taylor Davis" userId="5c9e72a0-c39f-4aa1-9d7d-64125e78cbe6" providerId="ADAL" clId="{D55DBCC4-B261-4B6C-9363-5CE1D8545618}" dt="2024-10-22T21:34:26.399" v="187" actId="478"/>
          <ac:spMkLst>
            <pc:docMk/>
            <pc:sldMk cId="0" sldId="571"/>
            <ac:spMk id="2" creationId="{81B84BFE-A66C-EE28-0B82-3FC2737525CB}"/>
          </ac:spMkLst>
        </pc:spChg>
        <pc:graphicFrameChg chg="mod modGraphic">
          <ac:chgData name="Taylor Davis" userId="5c9e72a0-c39f-4aa1-9d7d-64125e78cbe6" providerId="ADAL" clId="{D55DBCC4-B261-4B6C-9363-5CE1D8545618}" dt="2024-10-22T21:35:44.634" v="201" actId="14734"/>
          <ac:graphicFrameMkLst>
            <pc:docMk/>
            <pc:sldMk cId="0" sldId="571"/>
            <ac:graphicFrameMk id="3" creationId="{00000000-0000-0000-0000-000000000000}"/>
          </ac:graphicFrameMkLst>
        </pc:graphicFrameChg>
      </pc:sldChg>
      <pc:sldChg chg="modSp mod">
        <pc:chgData name="Taylor Davis" userId="5c9e72a0-c39f-4aa1-9d7d-64125e78cbe6" providerId="ADAL" clId="{D55DBCC4-B261-4B6C-9363-5CE1D8545618}" dt="2024-10-22T21:48:20.874" v="284" actId="14100"/>
        <pc:sldMkLst>
          <pc:docMk/>
          <pc:sldMk cId="0" sldId="572"/>
        </pc:sldMkLst>
        <pc:graphicFrameChg chg="modGraphic">
          <ac:chgData name="Taylor Davis" userId="5c9e72a0-c39f-4aa1-9d7d-64125e78cbe6" providerId="ADAL" clId="{D55DBCC4-B261-4B6C-9363-5CE1D8545618}" dt="2024-10-22T21:48:20.874" v="284" actId="14100"/>
          <ac:graphicFrameMkLst>
            <pc:docMk/>
            <pc:sldMk cId="0" sldId="572"/>
            <ac:graphicFrameMk id="2" creationId="{00000000-0000-0000-0000-000000000000}"/>
          </ac:graphicFrameMkLst>
        </pc:graphicFrameChg>
      </pc:sldChg>
      <pc:sldChg chg="modSp mod">
        <pc:chgData name="Taylor Davis" userId="5c9e72a0-c39f-4aa1-9d7d-64125e78cbe6" providerId="ADAL" clId="{D55DBCC4-B261-4B6C-9363-5CE1D8545618}" dt="2024-10-22T21:48:16.632" v="283" actId="14100"/>
        <pc:sldMkLst>
          <pc:docMk/>
          <pc:sldMk cId="1064222983" sldId="574"/>
        </pc:sldMkLst>
        <pc:graphicFrameChg chg="modGraphic">
          <ac:chgData name="Taylor Davis" userId="5c9e72a0-c39f-4aa1-9d7d-64125e78cbe6" providerId="ADAL" clId="{D55DBCC4-B261-4B6C-9363-5CE1D8545618}" dt="2024-10-22T21:48:16.632" v="283" actId="14100"/>
          <ac:graphicFrameMkLst>
            <pc:docMk/>
            <pc:sldMk cId="1064222983" sldId="574"/>
            <ac:graphicFrameMk id="2" creationId="{00000000-0000-0000-0000-000000000000}"/>
          </ac:graphicFrameMkLst>
        </pc:graphicFrameChg>
      </pc:sldChg>
      <pc:sldChg chg="modSp mod">
        <pc:chgData name="Taylor Davis" userId="5c9e72a0-c39f-4aa1-9d7d-64125e78cbe6" providerId="ADAL" clId="{D55DBCC4-B261-4B6C-9363-5CE1D8545618}" dt="2024-10-22T21:48:25.485" v="285" actId="14100"/>
        <pc:sldMkLst>
          <pc:docMk/>
          <pc:sldMk cId="3790917938" sldId="575"/>
        </pc:sldMkLst>
        <pc:graphicFrameChg chg="modGraphic">
          <ac:chgData name="Taylor Davis" userId="5c9e72a0-c39f-4aa1-9d7d-64125e78cbe6" providerId="ADAL" clId="{D55DBCC4-B261-4B6C-9363-5CE1D8545618}" dt="2024-10-22T21:48:25.485" v="285" actId="14100"/>
          <ac:graphicFrameMkLst>
            <pc:docMk/>
            <pc:sldMk cId="3790917938" sldId="575"/>
            <ac:graphicFrameMk id="2" creationId="{00000000-0000-0000-0000-000000000000}"/>
          </ac:graphicFrameMkLst>
        </pc:graphicFrameChg>
      </pc:sldChg>
      <pc:sldChg chg="modSp mod">
        <pc:chgData name="Taylor Davis" userId="5c9e72a0-c39f-4aa1-9d7d-64125e78cbe6" providerId="ADAL" clId="{D55DBCC4-B261-4B6C-9363-5CE1D8545618}" dt="2024-10-22T21:51:36.144" v="315" actId="20577"/>
        <pc:sldMkLst>
          <pc:docMk/>
          <pc:sldMk cId="636727059" sldId="577"/>
        </pc:sldMkLst>
        <pc:spChg chg="mod">
          <ac:chgData name="Taylor Davis" userId="5c9e72a0-c39f-4aa1-9d7d-64125e78cbe6" providerId="ADAL" clId="{D55DBCC4-B261-4B6C-9363-5CE1D8545618}" dt="2024-10-22T21:51:36.144" v="315" actId="20577"/>
          <ac:spMkLst>
            <pc:docMk/>
            <pc:sldMk cId="636727059" sldId="577"/>
            <ac:spMk id="5" creationId="{B981BBA2-A3ED-6F7B-693B-880E5B031B26}"/>
          </ac:spMkLst>
        </pc:spChg>
        <pc:picChg chg="mod">
          <ac:chgData name="Taylor Davis" userId="5c9e72a0-c39f-4aa1-9d7d-64125e78cbe6" providerId="ADAL" clId="{D55DBCC4-B261-4B6C-9363-5CE1D8545618}" dt="2024-10-22T21:25:21.075" v="16" actId="1076"/>
          <ac:picMkLst>
            <pc:docMk/>
            <pc:sldMk cId="636727059" sldId="577"/>
            <ac:picMk id="8" creationId="{00000000-0000-0000-0000-000000000000}"/>
          </ac:picMkLst>
        </pc:picChg>
      </pc:sldChg>
      <pc:sldChg chg="del">
        <pc:chgData name="Taylor Davis" userId="5c9e72a0-c39f-4aa1-9d7d-64125e78cbe6" providerId="ADAL" clId="{D55DBCC4-B261-4B6C-9363-5CE1D8545618}" dt="2024-10-22T21:26:06.133" v="24" actId="47"/>
        <pc:sldMkLst>
          <pc:docMk/>
          <pc:sldMk cId="1082327325" sldId="580"/>
        </pc:sldMkLst>
      </pc:sldChg>
      <pc:sldChg chg="del">
        <pc:chgData name="Taylor Davis" userId="5c9e72a0-c39f-4aa1-9d7d-64125e78cbe6" providerId="ADAL" clId="{D55DBCC4-B261-4B6C-9363-5CE1D8545618}" dt="2024-10-22T21:28:35.912" v="109" actId="47"/>
        <pc:sldMkLst>
          <pc:docMk/>
          <pc:sldMk cId="3618341172" sldId="584"/>
        </pc:sldMkLst>
      </pc:sldChg>
      <pc:sldChg chg="modSp mod">
        <pc:chgData name="Taylor Davis" userId="5c9e72a0-c39f-4aa1-9d7d-64125e78cbe6" providerId="ADAL" clId="{D55DBCC4-B261-4B6C-9363-5CE1D8545618}" dt="2024-10-22T21:47:57.944" v="281" actId="20577"/>
        <pc:sldMkLst>
          <pc:docMk/>
          <pc:sldMk cId="2011724879" sldId="585"/>
        </pc:sldMkLst>
        <pc:spChg chg="mod">
          <ac:chgData name="Taylor Davis" userId="5c9e72a0-c39f-4aa1-9d7d-64125e78cbe6" providerId="ADAL" clId="{D55DBCC4-B261-4B6C-9363-5CE1D8545618}" dt="2024-10-22T21:47:57.944" v="281" actId="20577"/>
          <ac:spMkLst>
            <pc:docMk/>
            <pc:sldMk cId="2011724879" sldId="585"/>
            <ac:spMk id="6" creationId="{E799F91A-3FD1-47AB-858A-263DC729BC42}"/>
          </ac:spMkLst>
        </pc:spChg>
        <pc:graphicFrameChg chg="modGraphic">
          <ac:chgData name="Taylor Davis" userId="5c9e72a0-c39f-4aa1-9d7d-64125e78cbe6" providerId="ADAL" clId="{D55DBCC4-B261-4B6C-9363-5CE1D8545618}" dt="2024-10-22T21:47:40.711" v="266" actId="14100"/>
          <ac:graphicFrameMkLst>
            <pc:docMk/>
            <pc:sldMk cId="2011724879" sldId="585"/>
            <ac:graphicFrameMk id="7" creationId="{00000000-0000-0000-0000-000000000000}"/>
          </ac:graphicFrameMkLst>
        </pc:graphicFrameChg>
      </pc:sldChg>
      <pc:sldChg chg="del">
        <pc:chgData name="Taylor Davis" userId="5c9e72a0-c39f-4aa1-9d7d-64125e78cbe6" providerId="ADAL" clId="{D55DBCC4-B261-4B6C-9363-5CE1D8545618}" dt="2024-10-22T21:28:11.994" v="107" actId="47"/>
        <pc:sldMkLst>
          <pc:docMk/>
          <pc:sldMk cId="4222550375" sldId="587"/>
        </pc:sldMkLst>
      </pc:sldChg>
      <pc:sldChg chg="add">
        <pc:chgData name="Taylor Davis" userId="5c9e72a0-c39f-4aa1-9d7d-64125e78cbe6" providerId="ADAL" clId="{D55DBCC4-B261-4B6C-9363-5CE1D8545618}" dt="2024-10-22T21:25:37.067" v="18"/>
        <pc:sldMkLst>
          <pc:docMk/>
          <pc:sldMk cId="2146868214" sldId="588"/>
        </pc:sldMkLst>
      </pc:sldChg>
      <pc:sldChg chg="add">
        <pc:chgData name="Taylor Davis" userId="5c9e72a0-c39f-4aa1-9d7d-64125e78cbe6" providerId="ADAL" clId="{D55DBCC4-B261-4B6C-9363-5CE1D8545618}" dt="2024-10-22T21:26:04.834" v="23"/>
        <pc:sldMkLst>
          <pc:docMk/>
          <pc:sldMk cId="4101622014" sldId="589"/>
        </pc:sldMkLst>
      </pc:sldChg>
      <pc:sldChg chg="addSp delSp modSp new mod">
        <pc:chgData name="Taylor Davis" userId="5c9e72a0-c39f-4aa1-9d7d-64125e78cbe6" providerId="ADAL" clId="{D55DBCC4-B261-4B6C-9363-5CE1D8545618}" dt="2024-10-22T21:32:20.249" v="181" actId="1076"/>
        <pc:sldMkLst>
          <pc:docMk/>
          <pc:sldMk cId="2451980996" sldId="590"/>
        </pc:sldMkLst>
        <pc:spChg chg="mod">
          <ac:chgData name="Taylor Davis" userId="5c9e72a0-c39f-4aa1-9d7d-64125e78cbe6" providerId="ADAL" clId="{D55DBCC4-B261-4B6C-9363-5CE1D8545618}" dt="2024-10-22T21:32:20.249" v="181" actId="1076"/>
          <ac:spMkLst>
            <pc:docMk/>
            <pc:sldMk cId="2451980996" sldId="590"/>
            <ac:spMk id="2" creationId="{BE34A216-D092-937A-C528-DE15FD1FFC0D}"/>
          </ac:spMkLst>
        </pc:spChg>
        <pc:spChg chg="del mod">
          <ac:chgData name="Taylor Davis" userId="5c9e72a0-c39f-4aa1-9d7d-64125e78cbe6" providerId="ADAL" clId="{D55DBCC4-B261-4B6C-9363-5CE1D8545618}" dt="2024-10-22T21:30:47.276" v="168"/>
          <ac:spMkLst>
            <pc:docMk/>
            <pc:sldMk cId="2451980996" sldId="590"/>
            <ac:spMk id="3" creationId="{BDA544C7-5B28-E63C-8DE8-DC2C337A4A8A}"/>
          </ac:spMkLst>
        </pc:spChg>
        <pc:graphicFrameChg chg="add mod modGraphic">
          <ac:chgData name="Taylor Davis" userId="5c9e72a0-c39f-4aa1-9d7d-64125e78cbe6" providerId="ADAL" clId="{D55DBCC4-B261-4B6C-9363-5CE1D8545618}" dt="2024-10-22T21:32:17.766" v="180" actId="1076"/>
          <ac:graphicFrameMkLst>
            <pc:docMk/>
            <pc:sldMk cId="2451980996" sldId="590"/>
            <ac:graphicFrameMk id="6" creationId="{BA6C78F6-3421-5D04-0415-38DC9B6F5E61}"/>
          </ac:graphicFrameMkLst>
        </pc:graphicFrameChg>
      </pc:sldChg>
      <pc:sldChg chg="delSp modSp add mod">
        <pc:chgData name="Taylor Davis" userId="5c9e72a0-c39f-4aa1-9d7d-64125e78cbe6" providerId="ADAL" clId="{D55DBCC4-B261-4B6C-9363-5CE1D8545618}" dt="2024-10-22T21:36:11.068" v="206" actId="14734"/>
        <pc:sldMkLst>
          <pc:docMk/>
          <pc:sldMk cId="1152282843" sldId="591"/>
        </pc:sldMkLst>
        <pc:spChg chg="del">
          <ac:chgData name="Taylor Davis" userId="5c9e72a0-c39f-4aa1-9d7d-64125e78cbe6" providerId="ADAL" clId="{D55DBCC4-B261-4B6C-9363-5CE1D8545618}" dt="2024-10-22T21:35:06.669" v="194" actId="478"/>
          <ac:spMkLst>
            <pc:docMk/>
            <pc:sldMk cId="1152282843" sldId="591"/>
            <ac:spMk id="2" creationId="{81B84BFE-A66C-EE28-0B82-3FC2737525CB}"/>
          </ac:spMkLst>
        </pc:spChg>
        <pc:graphicFrameChg chg="mod modGraphic">
          <ac:chgData name="Taylor Davis" userId="5c9e72a0-c39f-4aa1-9d7d-64125e78cbe6" providerId="ADAL" clId="{D55DBCC4-B261-4B6C-9363-5CE1D8545618}" dt="2024-10-22T21:36:11.068" v="206" actId="14734"/>
          <ac:graphicFrameMkLst>
            <pc:docMk/>
            <pc:sldMk cId="1152282843" sldId="591"/>
            <ac:graphicFrameMk id="3" creationId="{00000000-0000-0000-0000-000000000000}"/>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4.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jpeg"/><Relationship Id="rId4" Type="http://schemas.openxmlformats.org/officeDocument/2006/relationships/image" Target="../media/image30.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microsoft.com/office/2007/relationships/hdphoto" Target="../media/hdphoto2.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6.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WVU MEDICINE DIRECT-TO-EMPLOYER OPPORTUNITY</a:t>
            </a:r>
          </a:p>
          <a:p>
            <a:r>
              <a:rPr lang="en-US" sz="2000" b="1" dirty="0">
                <a:solidFill>
                  <a:schemeClr val="bg1"/>
                </a:solidFill>
              </a:rPr>
              <a:t>October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9739766" y="796163"/>
            <a:ext cx="2217600" cy="704088"/>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3" name="Content Placeholder 12"/>
          <p:cNvPicPr>
            <a:picLocks noGrp="1"/>
          </p:cNvPicPr>
          <p:nvPr>
            <p:ph/>
          </p:nvPr>
        </p:nvPicPr>
        <p:blipFill>
          <a:blip r:embed="rId3" cstate="print"/>
          <a:stretch>
            <a:fillRect/>
          </a:stretch>
        </p:blipFill>
        <p:spPr>
          <a:xfrm>
            <a:off x="9203327" y="348830"/>
            <a:ext cx="2448000" cy="777240"/>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WVU Medicine</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646605"/>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WVU Medicine is a quality leader in West Virginia and has a strong brand that would sell well.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WVU Medicine.</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2146868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~$1.13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~$0.31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4" name="Content Placeholder 13"/>
          <p:cNvPicPr>
            <a:picLocks noGrp="1"/>
          </p:cNvPicPr>
          <p:nvPr>
            <p:ph/>
          </p:nvPr>
        </p:nvPicPr>
        <p:blipFill>
          <a:blip r:embed="rId2" cstate="print"/>
          <a:stretch>
            <a:fillRect/>
          </a:stretch>
        </p:blipFill>
        <p:spPr>
          <a:xfrm>
            <a:off x="9646920" y="347472"/>
            <a:ext cx="2448000" cy="777240"/>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WVU Medicine</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04451185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635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84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47,625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42,900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58,500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58,800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72,000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56,198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50,622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69,030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69,384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77,880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84,960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0798" t="32355" r="21845" b="27189"/>
          <a:stretch/>
        </p:blipFill>
        <p:spPr>
          <a:xfrm>
            <a:off x="0" y="2266932"/>
            <a:ext cx="4668975" cy="3329420"/>
          </a:xfrm>
          <a:prstGeom prst="rect">
            <a:avLst/>
          </a:prstGeom>
        </p:spPr>
      </p:pic>
      <p:sp>
        <p:nvSpPr>
          <p:cNvPr id="11" name="TextBox 10">
            <a:extLst>
              <a:ext uri="{FF2B5EF4-FFF2-40B4-BE49-F238E27FC236}">
                <a16:creationId xmlns:a16="http://schemas.microsoft.com/office/drawing/2014/main" id="{AF47A92E-A03C-8B71-F10A-1266F434EB9E}"/>
              </a:ext>
            </a:extLst>
          </p:cNvPr>
          <p:cNvSpPr txBox="1"/>
          <p:nvPr/>
        </p:nvSpPr>
        <p:spPr>
          <a:xfrm>
            <a:off x="593878" y="5766036"/>
            <a:ext cx="11244846" cy="738664"/>
          </a:xfrm>
          <a:prstGeom prst="rect">
            <a:avLst/>
          </a:prstGeom>
          <a:noFill/>
        </p:spPr>
        <p:txBody>
          <a:bodyPr wrap="square">
            <a:spAutoFit/>
          </a:bodyPr>
          <a:lstStyle/>
          <a:p>
            <a:r>
              <a:rPr lang="en-US" sz="1400" dirty="0">
                <a:solidFill>
                  <a:srgbClr val="000B2E"/>
                </a:solidFill>
              </a:rPr>
              <a:t>Researched for Lewis, Allegany, Clay, Garrett, Washington, Belmont, Fayette, Harrison, Jefferson, Marion, Monroe, Mercer, Bland, Barbour, Berkeley, Braxton, Brooke, Calhoun, Doddridge, Gilmer, Grant, Hardy, Kanawha, McDowell, Marshall, Mineral, Monongalia, Nicholas, Ohio, Pleasants, Pocahontas, Preston, Randolph, Ritchie, Roane, Summers, Taylor, Tucker, Tyler, Upshur, Webster, Wetzel, Wirt, and Wood Counties</a:t>
            </a:r>
            <a:endParaRPr lang="en-US" sz="1400" dirty="0"/>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646331"/>
          </a:xfrm>
          <a:prstGeom prst="rect">
            <a:avLst/>
          </a:prstGeom>
          <a:noFill/>
        </p:spPr>
        <p:txBody>
          <a:bodyPr wrap="square" rtlCol="0">
            <a:spAutoFit/>
          </a:bodyPr>
          <a:lstStyle/>
          <a:p>
            <a:r>
              <a:rPr lang="en-US" sz="1200" dirty="0">
                <a:solidFill/>
              </a:rPr>
              <a:t>Estimates include Allegany, Garrett, Washington, Belmont, Harrison, Jefferson, Monroe, Fayette, Bland, Barbour, Berkeley, Braxton, Brooke, Calhoun, Clay, Doddridge, Gilmer, Grant, Hardy, Kanawha, Lewis, McDowell, Marion, Marshall, Mercer, Mineral, Monongalia, Nicholas, Ohio, Pleasants, Pocahontas, Preston, Randolph, Ritchie, Roane, Summers, Taylor, Tucker, Tyler, Upshur, Webster, Wetzel, Wirt, and Wood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2,063K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1,172K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751K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358K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4101622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$5.93M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$1.32M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$43.48M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$10.91M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$89.96M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$22.73M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WVU Medicine has 69% inpatient market share, and 29% outpatient market compared to hospitals/clinics in WVU’s catchment area. The DTE tiered structure will create immediate steerage, with additional steerage over time from patient bonus benefits and the patient card (see slide 33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57927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40938"/>
            <a:ext cx="4616389" cy="738664"/>
          </a:xfrm>
          <a:prstGeom prst="rect">
            <a:avLst/>
          </a:prstGeom>
          <a:noFill/>
        </p:spPr>
        <p:txBody>
          <a:bodyPr wrap="square" rtlCol="0">
            <a:spAutoFit/>
          </a:bodyPr>
          <a:lstStyle/>
          <a:p>
            <a:r>
              <a:rPr lang="en-US" sz="1050" dirty="0">
                <a:solidFill/>
              </a:rPr>
              <a:t>KBA observes a WVU Medicine 31% commercial margin. Conservatively, we model the DTE to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31860"/>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31860"/>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31860"/>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790713"/>
            <a:ext cx="785793" cy="369332"/>
          </a:xfrm>
          <a:prstGeom prst="rect">
            <a:avLst/>
          </a:prstGeom>
          <a:noFill/>
        </p:spPr>
        <p:txBody>
          <a:bodyPr wrap="none" rtlCol="0">
            <a:spAutoFit/>
          </a:bodyPr>
          <a:lstStyle/>
          <a:p>
            <a:r>
              <a:rPr lang="en-US" dirty="0">
                <a:solidFill/>
              </a:rPr>
              <a:t>19.8%</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02685"/>
            <a:ext cx="885179" cy="369332"/>
          </a:xfrm>
          <a:prstGeom prst="rect">
            <a:avLst/>
          </a:prstGeom>
          <a:noFill/>
        </p:spPr>
        <p:txBody>
          <a:bodyPr wrap="none" rtlCol="0">
            <a:spAutoFit/>
          </a:bodyPr>
          <a:lstStyle/>
          <a:p>
            <a:r>
              <a:rPr lang="en-US" dirty="0">
                <a:solidFill/>
              </a:rPr>
              <a:t>24.8%</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02685"/>
            <a:ext cx="832279" cy="369332"/>
          </a:xfrm>
          <a:prstGeom prst="rect">
            <a:avLst/>
          </a:prstGeom>
          <a:noFill/>
        </p:spPr>
        <p:txBody>
          <a:bodyPr wrap="none" rtlCol="0">
            <a:spAutoFit/>
          </a:bodyPr>
          <a:lstStyle/>
          <a:p>
            <a:r>
              <a:rPr lang="en-US" dirty="0">
                <a:solidFill/>
              </a:rPr>
              <a:t>29.8%</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27" name="Content Placeholder 26"/>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1,744.7K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398.0K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881.4K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1,591.1K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2,617.1K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654.9K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1,412.1K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2,476.7K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-202.3K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350.7K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1001611"/>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WVU Medicine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578528" y="2059911"/>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WVU Medicine has the strongest brand quality in the catchment area.</a:t>
            </a:r>
          </a:p>
        </p:txBody>
      </p:sp>
      <p:graphicFrame>
        <p:nvGraphicFramePr>
          <p:cNvPr id="7" name="Table 6"/>
          <p:cNvGraphicFramePr>
            <a:graphicFrameLocks noGrp="1"/>
          </p:cNvGraphicFramePr>
          <p:nvPr>
            <p:extLst>
              <p:ext uri="{D42A27DB-BD31-4B8C-83A1-F6EECF244321}">
                <p14:modId xmlns:p14="http://schemas.microsoft.com/office/powerpoint/2010/main" val="804827219"/>
              </p:ext>
            </p:extLst>
          </p:nvPr>
        </p:nvGraphicFramePr>
        <p:xfrm>
          <a:off x="1290485" y="1694268"/>
          <a:ext cx="8288043" cy="3676067"/>
        </p:xfrm>
        <a:graphic>
          <a:graphicData uri="http://schemas.openxmlformats.org/drawingml/2006/table">
            <a:tbl>
              <a:tblPr/>
              <a:tblGrid>
                <a:gridCol w="2675441">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Readmission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Vandalia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1"/>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WVU Medicine</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A3B5D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35</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6C4D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3"/>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Washington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4"/>
                  </a:ext>
                </a:extLst>
              </a:tr>
              <a:tr h="391947">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Memorial Health System (Marietta OH)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CBCD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5"/>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Meritus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extLst>
                  <a:ext uri="{0D108BD9-81ED-4DB2-BD59-A6C34878D82A}">
                    <a16:rowId xmlns:a16="http://schemas.microsoft.com/office/drawing/2014/main" val="10006"/>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University of Pittsburgh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EF1F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extLst>
                  <a:ext uri="{0D108BD9-81ED-4DB2-BD59-A6C34878D82A}">
                    <a16:rowId xmlns:a16="http://schemas.microsoft.com/office/drawing/2014/main" val="10007"/>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8F9F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08"/>
                  </a:ext>
                </a:extLst>
              </a:tr>
              <a:tr h="39017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Penn Highlands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AFBF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3B5D3">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WVU Medicine’s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WVU Medicine’s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WVU Medicine</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27691" y="4230758"/>
            <a:ext cx="1042416" cy="330967"/>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WVU MEDICINE</a:t>
            </a:r>
          </a:p>
        </p:txBody>
      </p:sp>
      <p:pic>
        <p:nvPicPr>
          <p:cNvPr id="9" name="Content Placeholder 8"/>
          <p:cNvPicPr>
            <a:picLocks noGrp="1"/>
          </p:cNvPicPr>
          <p:nvPr>
            <p:ph/>
          </p:nvPr>
        </p:nvPicPr>
        <p:blipFill>
          <a:blip r:embed="rId3" cstate="print"/>
          <a:stretch>
            <a:fillRect/>
          </a:stretch>
        </p:blipFill>
        <p:spPr>
          <a:xfrm>
            <a:off x="9089136" y="5239512"/>
            <a:ext cx="2880000"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25.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WVU Medicine’s approved site(s) with network integration, and development of WVU Medicine’s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24.8%.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6,796K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$ 2,479K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$10,792K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$ 16,989K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$43,169K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$10,706K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$ 67,955K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$24,786K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$ 5,937K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$86,338K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$21,412K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$135,910K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$49,572K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$33,706K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$12,294K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$12,204K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18</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WVU Medicine’s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WVU Medicine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WVU Medicine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WVU Medicine’s managed care processes to KBA’s patented care management programs will turbocharge results – Positioning WVU Medicine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WVU Medicine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19</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WVU Medicine’s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WVU Medicine’s 340B drug pricing program</a:t>
            </a:r>
          </a:p>
          <a:p>
            <a:pPr marL="285753" indent="-285753">
              <a:spcBef>
                <a:spcPts val="600"/>
              </a:spcBef>
              <a:buFont typeface="Wingdings" panose="05000000000000000000" pitchFamily="2" charset="2"/>
              <a:buChar char="§"/>
            </a:pPr>
            <a:r>
              <a:rPr lang="en-US" sz="2000" dirty="0">
                <a:solidFill>
                  <a:schemeClr val="bg1"/>
                </a:solidFill>
              </a:rPr>
              <a:t>Allows WVU Medicine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21</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23</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WVU Medicine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25</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WVU Medicine</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653538269"/>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WVU Medicine</a:t>
                      </a:r>
                    </a:p>
                  </a:txBody>
                  <a:tcPr>
                    <a:solidFill>
                      <a:schemeClr val="accent3">
                        <a:lumMod val="20000"/>
                        <a:lumOff val="80000"/>
                      </a:schemeClr>
                    </a:solidFill>
                  </a:tcPr>
                </a:tc>
                <a:tc>
                  <a:txBody>
                    <a:bodyPr/>
                    <a:lstStyle/>
                    <a:p>
                      <a:pPr algn="ctr"/>
                      <a:r>
                        <a:rPr lang="en-US" sz="1400" dirty="0">
                          <a:solidFill>
                            <a:schemeClr val="accent1">
                              <a:lumMod val="75000"/>
                            </a:schemeClr>
                          </a:solidFill>
                        </a:rPr>
                        <a:t>532,816</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$4,752,992K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160,861</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$645,859K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29%</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37,077</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$512,756K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7%</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34,916</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-$327,944K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7%</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299,962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$3,594,258K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WVU Medicine estimates commercial insurance reimbursements at 301%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3,594,258K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301%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3,487,761K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7,082,019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4,893,045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$2,188,974K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301%</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1,193,993K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1,158,615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2,352,608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4,893,045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-2,540,438</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-108%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49.1%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489750935"/>
              </p:ext>
            </p:extLst>
          </p:nvPr>
        </p:nvGraphicFramePr>
        <p:xfrm>
          <a:off x="914400" y="914400"/>
          <a:ext cx="9829800" cy="469900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JW Ruby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$2,817,815.6K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$2,333,083.1K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United Hospital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527,198.9K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$1,189,967.9K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Berkeley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286,919.8K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624,950.3K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Reynolds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94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62,291.7K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333,291.2K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Thomas Health - Thomas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327,474.8K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679,629.9K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Thomas Health - Saint Francis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24,456.9K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184,020.1K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Princeton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251,422.0K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576,143.8K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WVU Medicine Wheeling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189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445,391.5K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969,872.2K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Camden Clark Medical Center - Memorial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562,539.8K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801,794.7K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Wetzel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26,396.4K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113,389.6K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Braxton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3,059.7K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46,908.4K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Potomac Valley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21,961.2K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159,392.6K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Grant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23,044.2K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69,737.2K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Jefferson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27,816.4K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162,849.8K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St Josephs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20,895.3K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243,634.4K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Summersville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33,137.2K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144,986.3K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4A216-D092-937A-C528-DE15FD1FFC0D}"/>
              </a:ext>
            </a:extLst>
          </p:cNvPr>
          <p:cNvSpPr>
            <a:spLocks noGrp="1"/>
          </p:cNvSpPr>
          <p:nvPr>
            <p:ph type="title"/>
          </p:nvPr>
        </p:nvSpPr>
        <p:spPr>
          <a:xfrm>
            <a:off x="838199" y="0"/>
            <a:ext cx="10515600" cy="1325563"/>
          </a:xfrm>
        </p:spPr>
        <p:txBody>
          <a:bodyPr/>
          <a:lstStyle/>
          <a:p>
            <a:r>
              <a:rPr lang="en-US" dirty="0"/>
              <a:t>Competitive Hospitals in the Catchment Area</a:t>
            </a:r>
          </a:p>
        </p:txBody>
      </p:sp>
      <p:graphicFrame>
        <p:nvGraphicFramePr>
          <p:cNvPr id="6" name="Content Placeholder 5">
            <a:extLst>
              <a:ext uri="{FF2B5EF4-FFF2-40B4-BE49-F238E27FC236}">
                <a16:creationId xmlns:a16="http://schemas.microsoft.com/office/drawing/2014/main" id="{BA6C78F6-3421-5D04-0415-38DC9B6F5E61}"/>
              </a:ext>
            </a:extLst>
          </p:cNvPr>
          <p:cNvGraphicFramePr>
            <a:graphicFrameLocks noGrp="1"/>
          </p:cNvGraphicFramePr>
          <p:nvPr>
            <p:ph idx="1"/>
            <p:extLst>
              <p:ext uri="{D42A27DB-BD31-4B8C-83A1-F6EECF244321}">
                <p14:modId xmlns:p14="http://schemas.microsoft.com/office/powerpoint/2010/main" val="3738168795"/>
              </p:ext>
            </p:extLst>
          </p:nvPr>
        </p:nvGraphicFramePr>
        <p:xfrm>
          <a:off x="838199" y="1157288"/>
          <a:ext cx="9829800" cy="5062870"/>
        </p:xfrm>
        <a:graphic>
          <a:graphicData uri="http://schemas.openxmlformats.org/drawingml/2006/table">
            <a:tbl>
              <a:tblPr/>
              <a:tblGrid>
                <a:gridCol w="2743200">
                  <a:extLst>
                    <a:ext uri="{9D8B030D-6E8A-4147-A177-3AD203B41FA5}">
                      <a16:colId xmlns:a16="http://schemas.microsoft.com/office/drawing/2014/main" val="3210444362"/>
                    </a:ext>
                  </a:extLst>
                </a:gridCol>
                <a:gridCol w="1143000">
                  <a:extLst>
                    <a:ext uri="{9D8B030D-6E8A-4147-A177-3AD203B41FA5}">
                      <a16:colId xmlns:a16="http://schemas.microsoft.com/office/drawing/2014/main" val="356330888"/>
                    </a:ext>
                  </a:extLst>
                </a:gridCol>
                <a:gridCol w="1371600">
                  <a:extLst>
                    <a:ext uri="{9D8B030D-6E8A-4147-A177-3AD203B41FA5}">
                      <a16:colId xmlns:a16="http://schemas.microsoft.com/office/drawing/2014/main" val="94383219"/>
                    </a:ext>
                  </a:extLst>
                </a:gridCol>
                <a:gridCol w="1371600">
                  <a:extLst>
                    <a:ext uri="{9D8B030D-6E8A-4147-A177-3AD203B41FA5}">
                      <a16:colId xmlns:a16="http://schemas.microsoft.com/office/drawing/2014/main" val="1460320465"/>
                    </a:ext>
                  </a:extLst>
                </a:gridCol>
                <a:gridCol w="1600200">
                  <a:extLst>
                    <a:ext uri="{9D8B030D-6E8A-4147-A177-3AD203B41FA5}">
                      <a16:colId xmlns:a16="http://schemas.microsoft.com/office/drawing/2014/main" val="3160992359"/>
                    </a:ext>
                  </a:extLst>
                </a:gridCol>
                <a:gridCol w="1600200">
                  <a:extLst>
                    <a:ext uri="{9D8B030D-6E8A-4147-A177-3AD203B41FA5}">
                      <a16:colId xmlns:a16="http://schemas.microsoft.com/office/drawing/2014/main" val="1348688596"/>
                    </a:ext>
                  </a:extLst>
                </a:gridCol>
              </a:tblGrid>
              <a:tr h="0">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Arial"/>
                          <a:cs typeface="Arial"/>
                          <a:sym typeface="Arial"/>
                        </a:rPr>
                        <a:t>Outpatient Percent of Market Total (Assuming 49.1% of Physicians Employed by Hospitals)</a:t>
                      </a:r>
                    </a:p>
                  </a:txBody>
                  <a:tcPr marL="0" marR="0" marT="63500" marB="63500"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018748007"/>
                  </a:ext>
                </a:extLst>
              </a:tr>
              <a:tr h="143490">
                <a:tc>
                  <a:txBody>
                    <a:bodyPr/>
                    <a:lstStyle/>
                    <a:p>
                      <a:pPr marL="63500" marR="63500" algn="l">
                        <a:lnSpc>
                          <a:spcPct val="100000"/>
                        </a:lnSpc>
                        <a:spcBef>
                          <a:spcPts val="0"/>
                        </a:spcBef>
                        <a:spcAft>
                          <a:spcPts val="0"/>
                        </a:spcAft>
                        <a:buNone/>
                      </a:pPr>
                      <a:r>
                        <a:rPr sz="700" b="0" i="0" u="none" cap="none" dirty="0" err="1">
                          <a:solidFill>
                            <a:srgbClr val="000000">
                              <a:alpha val="100000"/>
                            </a:srgbClr>
                          </a:solidFill>
                          <a:latin typeface="Arial"/>
                          <a:cs typeface="Arial"/>
                          <a:sym typeface="Arial"/>
                        </a:rPr>
                        <a:t>Meritus</a:t>
                      </a:r>
                      <a:r>
                        <a:rPr sz="700" b="0" i="0" u="none" cap="none" dirty="0">
                          <a:solidFill>
                            <a:srgbClr val="000000">
                              <a:alpha val="100000"/>
                            </a:srgbClr>
                          </a:solidFill>
                          <a:latin typeface="Arial"/>
                          <a:cs typeface="Arial"/>
                          <a:sym typeface="Arial"/>
                        </a:rPr>
                        <a: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232,193.3K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255,326.1K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91253887"/>
                  </a:ext>
                </a:extLst>
              </a:tr>
              <a:tr h="143490">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Garrett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30,222.8K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78,769.3K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647211140"/>
                  </a:ext>
                </a:extLst>
              </a:tr>
              <a:tr h="143490">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UPMC Western Maryland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200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181,478.0K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224,312.5K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575789691"/>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East Ohio Regional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44,551.5K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116,649.2K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921770560"/>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Marietta Memorial Hospital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369,645.1K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$1,381,663.3K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718636780"/>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Trinity Medical Center West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162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174,888.8K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618,675.0K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318311825"/>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Harrison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2,185.4K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33,658.2K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217690291"/>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Selby General Hospital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67,962.6K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128,675.2K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202756186"/>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Barnesville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3,681.4K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51,144.3K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374685434"/>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Uniontown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178,692.8K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311,058.6K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466627342"/>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Washington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192,796.7K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400,248.1K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289634971"/>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Penn Highlands Mon Valley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184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143,751.3K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262,009.8K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400629004"/>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Canonsburg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79,883.9K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226,387.0K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404738803"/>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Penn Highlands Connellsville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11,921.2K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56,052.4K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355836480"/>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Advanced Surgical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12,001.8K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65,716.1K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728840169"/>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Mon Health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534,614.5K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854,465.1K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271384116"/>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Davis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45,238.0K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197,687.3K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629465743"/>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Stonewall Jackson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43,187.6K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141,655.3K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352045197"/>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CAMC Charleston Surgical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3,046.0K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63,190.7K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052551127"/>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Mon Health Marion Neighborhood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3,431.0K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33,518.1K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677627803"/>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Broaddus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8,289.8K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18,975.7K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248942733"/>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Webster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1,257.6K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21,486.1K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181511144"/>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Minnie Hamilton Health Care Center CAH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6,406.8K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29,266.6K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51494275"/>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Sistersville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1,582.4K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23,750.6K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799721460"/>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Roane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12,092.2K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122,688.7K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726831122"/>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Grafton City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1,934.6K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24,341.4K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926243914"/>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Summers County ARH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9,380.5K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dirty="0">
                          <a:solidFill>
                            <a:srgbClr val="000000">
                              <a:alpha val="100000"/>
                            </a:srgbClr>
                          </a:solidFill>
                          <a:latin typeface="Arial"/>
                          <a:cs typeface="Arial"/>
                          <a:sym typeface="Arial"/>
                        </a:rPr>
                        <a:t>$   45,653.1K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10644542"/>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Preston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6,778.6K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84,029.3K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229759840"/>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Pocahontas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2,719.3K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27,371.4K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494989555"/>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CAMC Plateau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18,878.5K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150,740.1K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211627231"/>
                  </a:ext>
                </a:extLst>
              </a:tr>
              <a:tr h="143490">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Montgomery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a:solidFill>
                            <a:srgbClr val="000000">
                              <a:alpha val="100000"/>
                            </a:srgbClr>
                          </a:solidFill>
                          <a:latin typeface="Arial"/>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11,804.5K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700" b="0" i="0" u="none" cap="none">
                          <a:solidFill>
                            <a:srgbClr val="000000">
                              <a:alpha val="100000"/>
                            </a:srgbClr>
                          </a:solidFill>
                          <a:latin typeface="Arial"/>
                          <a:cs typeface="Arial"/>
                          <a:sym typeface="Arial"/>
                        </a:rPr>
                        <a:t>$   51,531.5K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7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615160398"/>
                  </a:ext>
                </a:extLst>
              </a:tr>
            </a:tbl>
          </a:graphicData>
        </a:graphic>
      </p:graphicFrame>
      <p:sp>
        <p:nvSpPr>
          <p:cNvPr id="4" name="Footer Placeholder 3">
            <a:extLst>
              <a:ext uri="{FF2B5EF4-FFF2-40B4-BE49-F238E27FC236}">
                <a16:creationId xmlns:a16="http://schemas.microsoft.com/office/drawing/2014/main" id="{49F67BE5-3911-2AF2-A166-7556C79CA58E}"/>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69C086A-98A7-BC09-E608-71D51F4B6803}"/>
              </a:ext>
            </a:extLst>
          </p:cNvPr>
          <p:cNvSpPr>
            <a:spLocks noGrp="1"/>
          </p:cNvSpPr>
          <p:nvPr>
            <p:ph type="sldNum" sz="quarter" idx="12"/>
          </p:nvPr>
        </p:nvSpPr>
        <p:spPr/>
        <p:txBody>
          <a:bodyPr/>
          <a:lstStyle/>
          <a:p>
            <a:fld id="{3AFC719D-C4A7-4544-876E-D411D11AF6C9}" type="slidenum">
              <a:rPr lang="en-US" smtClean="0"/>
              <a:t>29</a:t>
            </a:fld>
            <a:endParaRPr lang="en-US" dirty="0"/>
          </a:p>
        </p:txBody>
      </p:sp>
    </p:spTree>
    <p:extLst>
      <p:ext uri="{BB962C8B-B14F-4D97-AF65-F5344CB8AC3E}">
        <p14:creationId xmlns:p14="http://schemas.microsoft.com/office/powerpoint/2010/main" val="2451980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909389808"/>
              </p:ext>
            </p:extLst>
          </p:nvPr>
        </p:nvGraphicFramePr>
        <p:xfrm>
          <a:off x="1" y="0"/>
          <a:ext cx="12191999" cy="6811479"/>
        </p:xfrm>
        <a:graphic>
          <a:graphicData uri="http://schemas.openxmlformats.org/drawingml/2006/table">
            <a:tbl>
              <a:tblPr/>
              <a:tblGrid>
                <a:gridCol w="1703074">
                  <a:extLst>
                    <a:ext uri="{9D8B030D-6E8A-4147-A177-3AD203B41FA5}">
                      <a16:colId xmlns:a16="http://schemas.microsoft.com/office/drawing/2014/main" val="20000"/>
                    </a:ext>
                  </a:extLst>
                </a:gridCol>
                <a:gridCol w="1440175">
                  <a:extLst>
                    <a:ext uri="{9D8B030D-6E8A-4147-A177-3AD203B41FA5}">
                      <a16:colId xmlns:a16="http://schemas.microsoft.com/office/drawing/2014/main" val="20009"/>
                    </a:ext>
                  </a:extLst>
                </a:gridCol>
                <a:gridCol w="1382576">
                  <a:extLst>
                    <a:ext uri="{9D8B030D-6E8A-4147-A177-3AD203B41FA5}">
                      <a16:colId xmlns:a16="http://schemas.microsoft.com/office/drawing/2014/main" val="20010"/>
                    </a:ext>
                  </a:extLst>
                </a:gridCol>
                <a:gridCol w="1339321">
                  <a:extLst>
                    <a:ext uri="{9D8B030D-6E8A-4147-A177-3AD203B41FA5}">
                      <a16:colId xmlns:a16="http://schemas.microsoft.com/office/drawing/2014/main" val="20011"/>
                    </a:ext>
                  </a:extLst>
                </a:gridCol>
                <a:gridCol w="985960">
                  <a:extLst>
                    <a:ext uri="{9D8B030D-6E8A-4147-A177-3AD203B41FA5}">
                      <a16:colId xmlns:a16="http://schemas.microsoft.com/office/drawing/2014/main" val="20012"/>
                    </a:ext>
                  </a:extLst>
                </a:gridCol>
                <a:gridCol w="981733">
                  <a:extLst>
                    <a:ext uri="{9D8B030D-6E8A-4147-A177-3AD203B41FA5}">
                      <a16:colId xmlns:a16="http://schemas.microsoft.com/office/drawing/2014/main" val="20013"/>
                    </a:ext>
                  </a:extLst>
                </a:gridCol>
                <a:gridCol w="1006517">
                  <a:extLst>
                    <a:ext uri="{9D8B030D-6E8A-4147-A177-3AD203B41FA5}">
                      <a16:colId xmlns:a16="http://schemas.microsoft.com/office/drawing/2014/main" val="20014"/>
                    </a:ext>
                  </a:extLst>
                </a:gridCol>
                <a:gridCol w="1031264">
                  <a:extLst>
                    <a:ext uri="{9D8B030D-6E8A-4147-A177-3AD203B41FA5}">
                      <a16:colId xmlns:a16="http://schemas.microsoft.com/office/drawing/2014/main" val="20015"/>
                    </a:ext>
                  </a:extLst>
                </a:gridCol>
                <a:gridCol w="833757">
                  <a:extLst>
                    <a:ext uri="{9D8B030D-6E8A-4147-A177-3AD203B41FA5}">
                      <a16:colId xmlns:a16="http://schemas.microsoft.com/office/drawing/2014/main" val="20016"/>
                    </a:ext>
                  </a:extLst>
                </a:gridCol>
                <a:gridCol w="1487622">
                  <a:extLst>
                    <a:ext uri="{9D8B030D-6E8A-4147-A177-3AD203B41FA5}">
                      <a16:colId xmlns:a16="http://schemas.microsoft.com/office/drawing/2014/main" val="20017"/>
                    </a:ext>
                  </a:extLst>
                </a:gridCol>
              </a:tblGrid>
              <a:tr h="230231">
                <a:tc gridSpan="10">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01979">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Camden Clark Medical Center - Memorial Campus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Wetzel County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Braxton County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Potomac Valley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Grant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Jefferson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Jackson General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Josephs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Summersville Regional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2081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Inpatient Patient Revenue</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$169,324K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$6,889K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$1,487K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$9,685K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$11,891K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$13,074K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$3,944K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$8,881K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$10,703K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208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$241,340K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$29,595K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$22,797K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$70,292K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$35,984K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$76,539K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$43,561K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$103,545K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$46,831K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075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$65,808K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$3,505K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$2,034K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$10,356K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$7,231K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$7,960K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$2,330K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$7,439K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$5,119K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34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$37,924K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$3,745K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$5,516K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$9,181K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$7,616K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$12,810K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$9,038K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$18,468K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$9,860K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208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$307,216K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$29,275K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$16,733K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$60,386K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$32,982K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$68,869K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$36,134K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$86,426K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$42,584K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075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$30,209K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$1,495K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$623K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$5,998K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$5,306K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$3,579K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$1,594K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$2,294K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$4,235K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075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$180,322K</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$6,595K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$8,648K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$12,213K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$11,778K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$3,701K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$7,626K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$12,772K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075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$257,015K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$28,331K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$24,617K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$62,766K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$36,961K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$68,955K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$40,877K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$88,921K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$55,880K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075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$437,337K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$34,926K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$26,223K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$71,414K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$49,174K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$80,733K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$44,579K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$96,547K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$68,651K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075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$-26,389K</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$1,599K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$-1,941K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$8,509K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$2,923K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$15,786K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$-11,089K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208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36.2%</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30.0%</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208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4340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075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208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53.5%</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35.2%</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51.5%</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2081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29.4%</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38.6%</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36.6%</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41.3%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84940">
                <a:tc gridSpan="1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84940">
                <a:tc gridSpan="1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84940">
                <a:tc gridSpan="1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84940">
                <a:tc gridSpan="1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67369521"/>
              </p:ext>
            </p:extLst>
          </p:nvPr>
        </p:nvGraphicFramePr>
        <p:xfrm>
          <a:off x="0" y="1"/>
          <a:ext cx="12191999" cy="6889042"/>
        </p:xfrm>
        <a:graphic>
          <a:graphicData uri="http://schemas.openxmlformats.org/drawingml/2006/table">
            <a:tbl>
              <a:tblPr/>
              <a:tblGrid>
                <a:gridCol w="1703074">
                  <a:extLst>
                    <a:ext uri="{9D8B030D-6E8A-4147-A177-3AD203B41FA5}">
                      <a16:colId xmlns:a16="http://schemas.microsoft.com/office/drawing/2014/main" val="20000"/>
                    </a:ext>
                  </a:extLst>
                </a:gridCol>
                <a:gridCol w="1497326">
                  <a:extLst>
                    <a:ext uri="{9D8B030D-6E8A-4147-A177-3AD203B41FA5}">
                      <a16:colId xmlns:a16="http://schemas.microsoft.com/office/drawing/2014/main" val="20009"/>
                    </a:ext>
                  </a:extLst>
                </a:gridCol>
                <a:gridCol w="1325425">
                  <a:extLst>
                    <a:ext uri="{9D8B030D-6E8A-4147-A177-3AD203B41FA5}">
                      <a16:colId xmlns:a16="http://schemas.microsoft.com/office/drawing/2014/main" val="20010"/>
                    </a:ext>
                  </a:extLst>
                </a:gridCol>
                <a:gridCol w="1339321">
                  <a:extLst>
                    <a:ext uri="{9D8B030D-6E8A-4147-A177-3AD203B41FA5}">
                      <a16:colId xmlns:a16="http://schemas.microsoft.com/office/drawing/2014/main" val="20011"/>
                    </a:ext>
                  </a:extLst>
                </a:gridCol>
                <a:gridCol w="985960">
                  <a:extLst>
                    <a:ext uri="{9D8B030D-6E8A-4147-A177-3AD203B41FA5}">
                      <a16:colId xmlns:a16="http://schemas.microsoft.com/office/drawing/2014/main" val="20012"/>
                    </a:ext>
                  </a:extLst>
                </a:gridCol>
                <a:gridCol w="981733">
                  <a:extLst>
                    <a:ext uri="{9D8B030D-6E8A-4147-A177-3AD203B41FA5}">
                      <a16:colId xmlns:a16="http://schemas.microsoft.com/office/drawing/2014/main" val="20013"/>
                    </a:ext>
                  </a:extLst>
                </a:gridCol>
                <a:gridCol w="1006517">
                  <a:extLst>
                    <a:ext uri="{9D8B030D-6E8A-4147-A177-3AD203B41FA5}">
                      <a16:colId xmlns:a16="http://schemas.microsoft.com/office/drawing/2014/main" val="20014"/>
                    </a:ext>
                  </a:extLst>
                </a:gridCol>
                <a:gridCol w="1031264">
                  <a:extLst>
                    <a:ext uri="{9D8B030D-6E8A-4147-A177-3AD203B41FA5}">
                      <a16:colId xmlns:a16="http://schemas.microsoft.com/office/drawing/2014/main" val="20015"/>
                    </a:ext>
                  </a:extLst>
                </a:gridCol>
                <a:gridCol w="833757">
                  <a:extLst>
                    <a:ext uri="{9D8B030D-6E8A-4147-A177-3AD203B41FA5}">
                      <a16:colId xmlns:a16="http://schemas.microsoft.com/office/drawing/2014/main" val="20016"/>
                    </a:ext>
                  </a:extLst>
                </a:gridCol>
                <a:gridCol w="1487622">
                  <a:extLst>
                    <a:ext uri="{9D8B030D-6E8A-4147-A177-3AD203B41FA5}">
                      <a16:colId xmlns:a16="http://schemas.microsoft.com/office/drawing/2014/main" val="20017"/>
                    </a:ext>
                  </a:extLst>
                </a:gridCol>
              </a:tblGrid>
              <a:tr h="233699">
                <a:tc gridSpan="10">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89745">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Camden Clark Medical Center - Memorial Campus</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Wetzel County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Braxton County Memorial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Potomac Valley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Grant Memorial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Jefferson Medical Center</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Jackson General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Josephs Hospital</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Summersville Regional Medical Center</a:t>
                      </a:r>
                    </a:p>
                  </a:txBody>
                  <a:tcPr marL="0" marR="0" marT="18288" marB="18288"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574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$169,324K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$6,889K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$1,487K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$9,685K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$11,891K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$13,074K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$3,944K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$8,881K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$10,703K</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46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$241,340K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$29,595K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$22,797K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$70,292K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$35,984K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$76,539K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$43,561K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$103,545K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$46,831K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336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$65,808K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$3,505K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$2,034K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$10,356K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$7,231K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$7,960K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$2,330K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$7,439K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$5,119K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7238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$37,924K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$3,745K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$5,516K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$9,181K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$7,616K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$12,810K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$9,038K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$18,468K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$9,860K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574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$307,216K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$29,275K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$16,733K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$60,386K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$32,982K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$68,869K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$36,134K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$86,426K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$42,584K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336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$30,209K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$1,495K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$623K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$5,998K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$5,306K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$1,594K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$2,294K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$4,235K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336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$180,322K</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$6,595K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$8,648K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$12,213K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$11,778K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$3,701K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$7,626K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$12,772K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336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$257,015K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$28,331K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$24,617K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$62,766K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$36,961K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$68,955K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$40,877K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$88,921K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$55,880K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336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$437,337K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$34,926K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$26,223K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$71,414K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$49,174K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$80,733K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$44,579K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$96,547K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$68,651K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1891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$-26,389K</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$1,599K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$-1,941K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$8,509K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$2,923K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$15,786K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$-11,089K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46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36.2%</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30.0%</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46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7238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336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6.9%</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9466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53.5%</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35.2%</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64.3%</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51.5%</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574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29.4%</a:t>
                      </a:r>
                    </a:p>
                  </a:txBody>
                  <a:tcPr marL="0" marR="0" marT="18288" marB="18288"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33.5%</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40.1%</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38.6%</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36.6%</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41.3%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87726">
                <a:tc gridSpan="1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87726">
                <a:tc gridSpan="10">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87726">
                <a:tc gridSpan="10">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87726">
                <a:tc gridSpan="1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152282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947773215"/>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dirty="0">
                          <a:solidFill/>
                          <a:effectLst/>
                        </a:rPr>
                        <a:t>to Northern West Virginia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$ 2,959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$ 5,380</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$ 2,512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33</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34</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WVU Medicine has 69% inpatient market share, and 29% outpatient market compared to hospitals/clinics in the catchment area.</a:t>
            </a:r>
          </a:p>
          <a:p>
            <a:endParaRPr lang="en-US" sz="1400" dirty="0">
              <a:solidFill/>
            </a:endParaRPr>
          </a:p>
          <a:p>
            <a:r>
              <a:rPr lang="en-US" sz="1400" dirty="0">
                <a:solidFill/>
              </a:rPr>
              <a:t>Based on previous DTE experience, KBA expects a significant bump in patient steerage to WVU Medicine.</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1158246297"/>
              </p:ext>
            </p:extLst>
          </p:nvPr>
        </p:nvGraphicFramePr>
        <p:xfrm>
          <a:off x="1316736" y="384048"/>
          <a:ext cx="6858000" cy="567021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866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WVU Medicine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WVU Medicine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199986">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35</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2,200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$ 4,501,889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$ 3,405,149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$ 1,590,176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$ 9,497,214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$ 1,116,468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$ 844,477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$ 394,363.6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$ 2,355,309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095924731"/>
              </p:ext>
            </p:extLst>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$ 1,718,303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$ 26,400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$ 1,723,103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$ 1,564,703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$ 4,798,371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$ 7,926,073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$ 3,701,409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$ 16,425,853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$ 1,189,996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$ 1,965,666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$ 917,949.4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$ 4,073,612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69% (inpatient) and 29%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24.8%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74% inpatient and 67%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a:t>
            </a:r>
            <a:r>
              <a:rPr lang="en-US" sz="1400" dirty="0">
                <a:solidFill/>
                <a:latin typeface="Arial" panose="020B0604020202020204" pitchFamily="34" charset="0"/>
                <a:cs typeface="Arial" panose="020B0604020202020204" pitchFamily="34" charset="0"/>
              </a:rPr>
              <a:t>margin of </a:t>
            </a:r>
            <a:r>
              <a:rPr lang="en-US" sz="1400">
                <a:solidFill/>
                <a:latin typeface="Arial" panose="020B0604020202020204" pitchFamily="34" charset="0"/>
                <a:cs typeface="Arial" panose="020B0604020202020204" pitchFamily="34" charset="0"/>
              </a:rPr>
              <a:t>24.8%, 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705239749"/>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$4,316.9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$26,764.9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$6,795.5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$33,977.6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$169,888.0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$12,393.0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$61,965.2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$1,685.3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$8,426.4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$42,132.2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$614.7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$3,073.5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$15,367.4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$2,803.5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$15,337.4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78057566"/>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50%+ Within-Plan Steerage and a Commercial Margin of 24.8%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$10,231.6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$51,157.8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$12,687.1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$51,754.3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$12,835.1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$773.9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$1,547.8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$7,739.0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$38,694.9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$9,596.3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$16,105.6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$80,527.9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$3,994.2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$19,970.9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$836.7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$1,673.3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$8,366.6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$41,833.0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$415.0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$2,074.9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$10,374.6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$722.8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$3,614.0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$18,070.2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$7,521.2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$37,605.8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$19,535.7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$969.0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$4,844.8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$296.7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$2,803.5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$15,337.4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20021574"/>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60%+ Within-Plan Steerage and a Commercial Margin of 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$4,316.9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$26,764.9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$7,904.3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$39,521.6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$197,607.9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$17,937.0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$89,685.0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$2,355.5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$11,777.4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$58,887.1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$1,284.9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$32,122.3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$318.4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$966.9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$6,154.5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$32,092.3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78046126"/>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40%+ Within-Plan Steerage and a Commercial Margin of 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$4,316.9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$21,584.6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$107,922.9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$1,070.6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$5,353.0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$26,764.9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$5,724.1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$28,620.3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$143,101.7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$1,407.2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$7,035.8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$35,178.8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$5,666.8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$28,334.1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$1,569.3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$-292.6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$-255.2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$43.9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$1,539.3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a:p>
            <a:endParaRPr lang="en-US" b="1" spc="300" dirty="0"/>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a:p>
            <a:endParaRPr lang="en-US" b="1" spc="300" dirty="0"/>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40</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87840" y="2291017"/>
            <a:ext cx="2743200" cy="369332"/>
          </a:xfrm>
          <a:prstGeom prst="rect">
            <a:avLst/>
          </a:prstGeom>
          <a:noFill/>
        </p:spPr>
        <p:txBody>
          <a:bodyPr wrap="square">
            <a:spAutoFit/>
          </a:bodyPr>
          <a:lstStyle/>
          <a:p>
            <a:r>
              <a:rPr lang="en-US" b="1" spc="300" dirty="0">
                <a:solidFill>
                  <a:schemeClr val="bg1"/>
                </a:solidFill>
              </a:rPr>
              <a:t>WVU Medicine’s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WVU Medicine</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WVU Medicine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WVU Medicine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WVU Medicine</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WVU Medicine’s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43</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44</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46100</TotalTime>
  <Words>6693</Words>
  <Application>Microsoft Office PowerPoint</Application>
  <PresentationFormat>Widescreen</PresentationFormat>
  <Paragraphs>2024</Paragraphs>
  <Slides>44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WVU Medicine</vt:lpstr>
      <vt:lpstr>Every $1 of Care</vt:lpstr>
      <vt:lpstr>Direct-to-Employer Strategy: Powerful Employer Value</vt:lpstr>
      <vt:lpstr>Significant Opportunity for Plan Growth </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WVU Medicine is Patient Recommended</vt:lpstr>
      <vt:lpstr>PowerPoint Presentation</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WVU Medicine’s 2022 Payer Mix</vt:lpstr>
      <vt:lpstr>Estimation of Margin for Commercial vs. Government Pay</vt:lpstr>
      <vt:lpstr>Estimating Market Share</vt:lpstr>
      <vt:lpstr>Competitive Hospitals in the Catchment Area</vt:lpstr>
      <vt:lpstr>PowerPoint Presentation</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2024-10-29T03:47:51Z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