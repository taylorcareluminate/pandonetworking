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comments/modernComment_7FE53189_F808901F.xml" ContentType="application/vnd.ms-powerpoint.comments+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7FE53192_3C36F9F4.xml" ContentType="application/vnd.ms-powerpoint.comments+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44"/>
  </p:notesMasterIdLst>
  <p:sldIdLst>
    <p:sldId id="588" r:id="rId10"/>
    <p:sldId id="454" r:id="rId11"/>
    <p:sldId id="549" r:id="rId12"/>
    <p:sldId id="2145726870" r:id="rId13"/>
    <p:sldId id="580" r:id="rId14"/>
    <p:sldId id="582" r:id="rId15"/>
    <p:sldId id="558" r:id="rId16"/>
    <p:sldId id="548" r:id="rId17"/>
    <p:sldId id="521" r:id="rId18"/>
    <p:sldId id="456" r:id="rId19"/>
    <p:sldId id="499" r:id="rId20"/>
    <p:sldId id="613" r:id="rId21"/>
    <p:sldId id="458" r:id="rId22"/>
    <p:sldId id="2145726859" r:id="rId23"/>
    <p:sldId id="2145726857" r:id="rId24"/>
    <p:sldId id="469" r:id="rId25"/>
    <p:sldId id="2145726856" r:id="rId26"/>
    <p:sldId id="614" r:id="rId27"/>
    <p:sldId id="281" r:id="rId28"/>
    <p:sldId id="283" r:id="rId29"/>
    <p:sldId id="285" r:id="rId30"/>
    <p:sldId id="2145726866" r:id="rId31"/>
    <p:sldId id="583" r:id="rId32"/>
    <p:sldId id="525" r:id="rId33"/>
    <p:sldId id="2145726868" r:id="rId34"/>
    <p:sldId id="571" r:id="rId35"/>
    <p:sldId id="2145726864" r:id="rId36"/>
    <p:sldId id="585" r:id="rId37"/>
    <p:sldId id="536" r:id="rId38"/>
    <p:sldId id="256" r:id="rId39"/>
    <p:sldId id="574" r:id="rId40"/>
    <p:sldId id="572" r:id="rId41"/>
    <p:sldId id="575" r:id="rId42"/>
    <p:sldId id="472" r:id="rId43"/>
  </p:sldIdLst>
  <p:sldSz cx="12192000" cy="6858000"/>
  <p:notesSz cx="7315200" cy="9601200"/>
  <p:custDataLst>
    <p:tags r:id="rId4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97D4A5-6CD3-4D81-98FD-25DAB5772961}" v="1" dt="2025-06-12T15:13:13.107"/>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50" d="100"/>
          <a:sy n="50" d="100"/>
        </p:scale>
        <p:origin x="1742" y="802"/>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theme" Target="theme/theme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notesMaster" Target="notesMasters/notesMaster1.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Master" Target="slideMasters/slideMaster5.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commentAuthors" Target="commentAuthors.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customXml" Target="../customXml/item1.xml"/><Relationship Id="rId6" Type="http://schemas.openxmlformats.org/officeDocument/2006/relationships/slideMaster" Target="slideMasters/slideMaster3.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6/12/2025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6</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6/12/2025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6/12/2025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6/12/2025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6/12/2025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6/12/2025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6/12/2025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6/12/2025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6/12/2025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6/12/2025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6/12/2025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6/12/2025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6/12/2025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6/12/2025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6/12/2025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6/12/2025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6/12/2025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6/12/2025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6/12/2025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6/12/2025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6/12/2025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6/12/2025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6/12/2025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6/12/2025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6/12/2025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6/12/2025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6/12/2025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6/12/2025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6/12/2025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6/12/2025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6/12/2025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6/12/2025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6/12/2025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6/12/2025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6/12/2025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6/12/2025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6/12/2025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6/12/2025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6/12/2025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6/12/2025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6/12/2025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6/12/2025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6/12/2025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6/12/2025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8.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6.xml"/><Relationship Id="rId1" Type="http://schemas.openxmlformats.org/officeDocument/2006/relationships/slideLayout" Target="../slideLayouts/slideLayout28.xml"/><Relationship Id="rId6" Type="http://schemas.openxmlformats.org/officeDocument/2006/relationships/image" Target="../media/image41.emf"/><Relationship Id="rId5" Type="http://schemas.openxmlformats.org/officeDocument/2006/relationships/image" Target="../media/image40.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jpe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image" Target="../media/image50.svg"/><Relationship Id="rId11" Type="http://schemas.openxmlformats.org/officeDocument/2006/relationships/image" Target="../media/image10.pn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lang="en-US" sz="6600" kern="0" spc="243" dirty="0">
                <a:solidFill>
                  <a:srgbClr val="FFFFFF"/>
                </a:solidFill>
                <a:latin typeface="Montserrat"/>
                <a:ea typeface="Jost*"/>
              </a:rPr>
              <a:t>HIGH-VALUE OHIO HEALTHCARE</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University Hospitals Health System Growth Projections for Regional Employer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3,000+ Employers       900,000</a:t>
            </a:r>
            <a:r>
              <a:rPr lang="en-US" sz="1600" spc="200" dirty="0">
                <a:latin typeface="Montserrat" panose="00000500000000000000" pitchFamily="2" charset="0"/>
                <a:cs typeface="+mj-cs"/>
                <a:sym typeface="Wingdings" panose="05000000000000000000" pitchFamily="2" charset="2"/>
              </a:rPr>
              <a:t>+ Employees       1,600,000+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2,348</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1,001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625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362</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112</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82</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176,100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150,200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187,500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253,400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224,000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492,000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317,000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270,400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337,500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456,100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403,200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885,600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529574" y="1752255"/>
            <a:ext cx="6096000" cy="4876800"/>
          </a:xfrm>
          <a:prstGeom prst="rect">
            <a:avLst/>
          </a:prstGeom>
        </p:spPr>
      </p:pic>
    </p:spTree>
    <p:extLst>
      <p:ext uri="{BB962C8B-B14F-4D97-AF65-F5344CB8AC3E}">
        <p14:creationId xmlns:p14="http://schemas.microsoft.com/office/powerpoint/2010/main" val="38670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University Hospitals Health System OH service area in Ashland, Ashtabula, Cuyahoga, Erie, Geauga, Holmes, Huron, Lake, Lorain, Mahoning, Medina, Portage, Richland, Stark, Summit, Trumbull, Wayne, and Crawford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3,162K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1,839K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1,284K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899K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$44.14M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$5.13M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$126.91M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$15.13M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$214.19M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$25.67M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University Hospitals Health System OH has 23% inpatient market share, and 13% outpatient market compared to hospitals/clinics in the University Hospitals Health System OH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University Hospitals Health System OH 14%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6.2%</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11.2%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16.2%</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1,933.4K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5,343.9K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8,049.0K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10,721.1K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1,703.0K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5,363.1K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8,169.0K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10,940.7K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2,911.8K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12,041.3K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16,065.5K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448.8K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598.8K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2,731.8K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8,168.0K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12,310.1K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16,484.3K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978.4K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2,671.9K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4,024.5K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5,344.4K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698.8K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2,591.5K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3,994.5K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5,363.6K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3154680"/>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University Hospitals Health System OH’s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University Hospitals Health System OH’s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University Hospitals Health System OH</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38360" y="4059936"/>
            <a:ext cx="1042416" cy="1042416"/>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23.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University Hospitals Health System OH’s approved site(s) with network integration, and development of University Hospitals Health System OH’s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$ 4,846K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$ 9,778K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$ 4,932K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$19,383K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$2,171K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$39,111K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$19,727K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$4,380K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$2,209K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$1,999K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$38,767K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$4,342K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$78,221K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$39,454K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$8,761K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$4,419K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$4,329K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lnSpcReduction="10000"/>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University Hospitals Health System OH’s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University Hospitals Health System OH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University Hospitals Health System OH’s managed care with KBA’s programs positions University Hospitals Health System OH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University Hospitals Health System OH’s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University Hospitals Health System OH’s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University Hospitals Health System OH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16</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University Hospitals Health System OH</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University Hospitals Health System OH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fontScale="90000"/>
          </a:bodyPr>
          <a:lstStyle/>
          <a:p>
            <a:r>
              <a:rPr lang="en-US" sz="2800" dirty="0">
                <a:solidFill/>
                <a:latin typeface="Montserrat" panose="00000500000000000000" pitchFamily="2" charset="0"/>
                <a:cs typeface="Arial" panose="020B0604020202020204" pitchFamily="34" charset="0"/>
              </a:rPr>
              <a:t>ESTIMATION OF UNIVERSITY HOSPITALS HEALTH SYSTEM OH’S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562772"/>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University Hospitals Health System OH</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526,866</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$6,738,216K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121,279</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$592,050K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15%</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25,539</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$340,723K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6%</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25</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32,153</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-$286,581K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347,870</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$5,806,529K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76%</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fontScale="92500"/>
          </a:bodyPr>
          <a:lstStyle/>
          <a:p>
            <a:pPr marL="0" indent="0">
              <a:buNone/>
            </a:pPr>
            <a:r>
              <a:rPr lang="en-US" sz="2400" dirty="0">
                <a:solidFill/>
                <a:cs typeface="Arial" panose="020B0604020202020204" pitchFamily="34" charset="0"/>
              </a:rPr>
              <a:t>The RAND data for University Hospitals Health System OH estimates commercial insurance reimbursements at 242%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5,806,529K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242%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2,260,263K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8,066,793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6,900,395</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$1,166,398K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14%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242%</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2,396,260K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932,774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3,329,034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6,900,395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-3,571,361</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-107%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23%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13%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1622722657"/>
              </p:ext>
            </p:extLst>
          </p:nvPr>
        </p:nvGraphicFramePr>
        <p:xfrm>
          <a:off x="265176" y="914400"/>
          <a:ext cx="9829800" cy="49428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Samaritan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44,774.7K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187,531.0K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Parma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179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372,212.3K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516,979.3K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Portage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223,221.5K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443,215.9K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TriPoint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495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537,073.6K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823,021.8K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St John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316,363.0K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479,232.0K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Cleveland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869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$3,322,611.7K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$ 3,816,400.9K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Elyria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197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307,772.7K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645,225.8K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Southwest General Health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604,486.3K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$ 1,019,654.4K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Ahuja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153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412,691.1K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580,047.7K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Beachwood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13,793.3K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142,984.3K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Geneva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28,233.0K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182,255.0K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Conneaut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10,412.7K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59,895.6K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UH Rainbow Babies &amp; Childrens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208977977"/>
              </p:ext>
            </p:extLst>
          </p:nvPr>
        </p:nvGraphicFramePr>
        <p:xfrm>
          <a:off x="0" y="0"/>
          <a:ext cx="12192001" cy="7609498"/>
        </p:xfrm>
        <a:graphic>
          <a:graphicData uri="http://schemas.openxmlformats.org/drawingml/2006/table">
            <a:tbl>
              <a:tblPr/>
              <a:tblGrid>
                <a:gridCol w="894046">
                  <a:extLst>
                    <a:ext uri="{9D8B030D-6E8A-4147-A177-3AD203B41FA5}">
                      <a16:colId xmlns:a16="http://schemas.microsoft.com/office/drawing/2014/main" val="20000"/>
                    </a:ext>
                  </a:extLst>
                </a:gridCol>
                <a:gridCol w="925573">
                  <a:extLst>
                    <a:ext uri="{9D8B030D-6E8A-4147-A177-3AD203B41FA5}">
                      <a16:colId xmlns:a16="http://schemas.microsoft.com/office/drawing/2014/main" val="20001"/>
                    </a:ext>
                  </a:extLst>
                </a:gridCol>
                <a:gridCol w="856520">
                  <a:extLst>
                    <a:ext uri="{9D8B030D-6E8A-4147-A177-3AD203B41FA5}">
                      <a16:colId xmlns:a16="http://schemas.microsoft.com/office/drawing/2014/main" val="20002"/>
                    </a:ext>
                  </a:extLst>
                </a:gridCol>
                <a:gridCol w="882370">
                  <a:extLst>
                    <a:ext uri="{9D8B030D-6E8A-4147-A177-3AD203B41FA5}">
                      <a16:colId xmlns:a16="http://schemas.microsoft.com/office/drawing/2014/main" val="20003"/>
                    </a:ext>
                  </a:extLst>
                </a:gridCol>
                <a:gridCol w="884475">
                  <a:extLst>
                    <a:ext uri="{9D8B030D-6E8A-4147-A177-3AD203B41FA5}">
                      <a16:colId xmlns:a16="http://schemas.microsoft.com/office/drawing/2014/main" val="20004"/>
                    </a:ext>
                  </a:extLst>
                </a:gridCol>
                <a:gridCol w="880170">
                  <a:extLst>
                    <a:ext uri="{9D8B030D-6E8A-4147-A177-3AD203B41FA5}">
                      <a16:colId xmlns:a16="http://schemas.microsoft.com/office/drawing/2014/main" val="20005"/>
                    </a:ext>
                  </a:extLst>
                </a:gridCol>
                <a:gridCol w="921249">
                  <a:extLst>
                    <a:ext uri="{9D8B030D-6E8A-4147-A177-3AD203B41FA5}">
                      <a16:colId xmlns:a16="http://schemas.microsoft.com/office/drawing/2014/main" val="20006"/>
                    </a:ext>
                  </a:extLst>
                </a:gridCol>
                <a:gridCol w="843567">
                  <a:extLst>
                    <a:ext uri="{9D8B030D-6E8A-4147-A177-3AD203B41FA5}">
                      <a16:colId xmlns:a16="http://schemas.microsoft.com/office/drawing/2014/main" val="20007"/>
                    </a:ext>
                  </a:extLst>
                </a:gridCol>
                <a:gridCol w="681583">
                  <a:extLst>
                    <a:ext uri="{9D8B030D-6E8A-4147-A177-3AD203B41FA5}">
                      <a16:colId xmlns:a16="http://schemas.microsoft.com/office/drawing/2014/main" val="20008"/>
                    </a:ext>
                  </a:extLst>
                </a:gridCol>
                <a:gridCol w="845653">
                  <a:extLst>
                    <a:ext uri="{9D8B030D-6E8A-4147-A177-3AD203B41FA5}">
                      <a16:colId xmlns:a16="http://schemas.microsoft.com/office/drawing/2014/main" val="20009"/>
                    </a:ext>
                  </a:extLst>
                </a:gridCol>
                <a:gridCol w="955727">
                  <a:extLst>
                    <a:ext uri="{9D8B030D-6E8A-4147-A177-3AD203B41FA5}">
                      <a16:colId xmlns:a16="http://schemas.microsoft.com/office/drawing/2014/main" val="20010"/>
                    </a:ext>
                  </a:extLst>
                </a:gridCol>
                <a:gridCol w="878102">
                  <a:extLst>
                    <a:ext uri="{9D8B030D-6E8A-4147-A177-3AD203B41FA5}">
                      <a16:colId xmlns:a16="http://schemas.microsoft.com/office/drawing/2014/main" val="20011"/>
                    </a:ext>
                  </a:extLst>
                </a:gridCol>
                <a:gridCol w="916848">
                  <a:extLst>
                    <a:ext uri="{9D8B030D-6E8A-4147-A177-3AD203B41FA5}">
                      <a16:colId xmlns:a16="http://schemas.microsoft.com/office/drawing/2014/main" val="20012"/>
                    </a:ext>
                  </a:extLst>
                </a:gridCol>
                <a:gridCol w="826118">
                  <a:extLst>
                    <a:ext uri="{9D8B030D-6E8A-4147-A177-3AD203B41FA5}">
                      <a16:colId xmlns:a16="http://schemas.microsoft.com/office/drawing/2014/main" val="20013"/>
                    </a:ext>
                  </a:extLst>
                </a:gridCol>
              </a:tblGrid>
              <a:tr h="276480">
                <a:tc gridSpan="14">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40927">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Samaritan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University Hospitals Parma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Portage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TriPoint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University Hospitals St John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Cleveland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Elyria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Southwest General Health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Ahuja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University Hospitals Beachwood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University Hospitals Geneva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University Hospitals Conneaut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UH Rainbow Babies &amp; </a:t>
                      </a:r>
                      <a:r>
                        <a:rPr sz="1050" b="1" i="0" u="none" cap="none" dirty="0" err="1">
                          <a:solidFill>
                            <a:srgbClr val="000000">
                              <a:alpha val="100000"/>
                            </a:srgbClr>
                          </a:solidFill>
                          <a:latin typeface="Montserrat"/>
                          <a:cs typeface="Arial"/>
                          <a:sym typeface="Arial"/>
                        </a:rPr>
                        <a:t>Childrens</a:t>
                      </a:r>
                      <a:r>
                        <a:rPr sz="1050" b="1" i="0" u="none" cap="none" dirty="0">
                          <a:solidFill>
                            <a:srgbClr val="000000">
                              <a:alpha val="100000"/>
                            </a:srgbClr>
                          </a:solidFill>
                          <a:latin typeface="Montserrat"/>
                          <a:cs typeface="Arial"/>
                          <a:sym typeface="Arial"/>
                        </a:rPr>
                        <a: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509230">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$16,656K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$84,864K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$52,234K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$122,453K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$87,949K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$1,166,237K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$68,018K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$154,144K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$103,585K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$4,428K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$8,724K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$3,853K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$1,090,828K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5092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$69,762K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$117,871K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$103,713K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$187,649K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$133,226K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$1,339,557K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$142,595K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$260,012K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$145,592K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$45,898K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$56,317K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$22,161K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$1,149,891K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403872">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$12,301K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$36,953K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$19,122K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$41,698K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$60,854K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$268,511K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$31,144K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$60,822K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$43,179K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$6,717K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$6,347K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$4,403K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719946">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$8,124K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$11,289K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$14,615K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$26,410K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$8,494K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$208,530K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$22,411K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$15,988K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$13,484K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$6,520K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$3,924K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403872">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$65,923K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$154,611K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$122,070K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$241,253K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$152,019K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$2,031,282K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$156,605K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$336,699K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$192,745K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$42,734K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$52,178K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$17,693K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$2,240,719K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403872">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$7,401K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$18,684K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$16,523K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$37,732K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$14,424K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$106,768K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$21,661K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$23,285K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$23,949K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$5,944K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$6,528K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$3,683K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403872">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$18,399K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$95,198K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$57,512K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$169,111K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$82,011K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$1,196,872K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$72,410K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$152,888K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$100,251K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$5,661K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$8,530K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$4,836K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$1,052,967K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403872">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$77,061K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$132,223K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$114,193K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$259,149K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$124,231K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$1,374,745K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$151,803K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$257,893K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$140,905K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$58,688K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$55,062K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$27,817K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$1,109,980K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403872">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$95,460K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$227,421K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$171,705K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$428,260K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$206,242K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$2,571,618K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$224,213K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$410,780K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$241,156K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$64,350K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$63,592K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$32,653K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$2,162,947K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61346">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$-9,112K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$-24,568K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$-15,898K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$-118,898K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$15,125K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$-63,294K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$-14,053K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$2,728K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$8,252K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$-13,965K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$1,453K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$-6,634K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$77,772K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5092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35.6%</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19.3%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13.8%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3.5%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72085">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72085">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2. Medicare costs are taken from the Medicare Provider Analysis and Review (</a:t>
                      </a:r>
                      <a:r>
                        <a:rPr sz="600" b="0" i="0" u="none" cap="none" dirty="0" err="1">
                          <a:solidFill>
                            <a:srgbClr val="666666">
                              <a:alpha val="100000"/>
                            </a:srgbClr>
                          </a:solidFill>
                          <a:latin typeface="Montserrat"/>
                          <a:cs typeface="Arial"/>
                          <a:sym typeface="Arial"/>
                        </a:rPr>
                        <a:t>MedPAR</a:t>
                      </a:r>
                      <a:r>
                        <a:rPr sz="600" b="0" i="0" u="none" cap="none" dirty="0">
                          <a:solidFill>
                            <a:srgbClr val="666666">
                              <a:alpha val="100000"/>
                            </a:srgbClr>
                          </a:solidFill>
                          <a:latin typeface="Montserrat"/>
                          <a:cs typeface="Arial"/>
                          <a:sym typeface="Arial"/>
                        </a:rPr>
                        <a: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72085">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72085">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University Hospitals Health System OH has 23% inpatient market share, and 13% outpatient market compared to hospitals/clinics in the University Hospitals Health System OH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University Hospitals Health System OH.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461073609"/>
              </p:ext>
            </p:extLst>
          </p:nvPr>
        </p:nvGraphicFramePr>
        <p:xfrm>
          <a:off x="266700" y="1054578"/>
          <a:ext cx="7770875" cy="5047512"/>
        </p:xfrm>
        <a:graphic>
          <a:graphicData uri="http://schemas.openxmlformats.org/drawingml/2006/table">
            <a:tbl>
              <a:tblPr/>
              <a:tblGrid>
                <a:gridCol w="1554175">
                  <a:extLst>
                    <a:ext uri="{9D8B030D-6E8A-4147-A177-3AD203B41FA5}">
                      <a16:colId xmlns:a16="http://schemas.microsoft.com/office/drawing/2014/main" val="20000"/>
                    </a:ext>
                  </a:extLst>
                </a:gridCol>
                <a:gridCol w="1554175">
                  <a:extLst>
                    <a:ext uri="{9D8B030D-6E8A-4147-A177-3AD203B41FA5}">
                      <a16:colId xmlns:a16="http://schemas.microsoft.com/office/drawing/2014/main" val="20001"/>
                    </a:ext>
                  </a:extLst>
                </a:gridCol>
                <a:gridCol w="1554175">
                  <a:extLst>
                    <a:ext uri="{9D8B030D-6E8A-4147-A177-3AD203B41FA5}">
                      <a16:colId xmlns:a16="http://schemas.microsoft.com/office/drawing/2014/main" val="20002"/>
                    </a:ext>
                  </a:extLst>
                </a:gridCol>
                <a:gridCol w="1554175">
                  <a:extLst>
                    <a:ext uri="{9D8B030D-6E8A-4147-A177-3AD203B41FA5}">
                      <a16:colId xmlns:a16="http://schemas.microsoft.com/office/drawing/2014/main" val="20003"/>
                    </a:ext>
                  </a:extLst>
                </a:gridCol>
                <a:gridCol w="1554175">
                  <a:extLst>
                    <a:ext uri="{9D8B030D-6E8A-4147-A177-3AD203B41FA5}">
                      <a16:colId xmlns:a16="http://schemas.microsoft.com/office/drawing/2014/main" val="20004"/>
                    </a:ext>
                  </a:extLst>
                </a:gridCol>
              </a:tblGrid>
              <a:tr h="107364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Percent of Members Choosing University Hospitals Health System OH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University Hospitals Health System OH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98,800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33,300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$ 26,212,183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$ 26,131,259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$ 12,203,076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$ 64,546,517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$ 2,935,764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$ 2,926,701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$ 1,366,744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$ 7,229,210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$ 10,321,453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$ 399,600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$ 10,326,253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$ 10,541,053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$ 50,969,693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$ 72,074,483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$ 33,658,171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$ 156,702,346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$ 5,708,606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$ 8,072,342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$ 3,769,715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$ 17,550,663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23% (inpatient) and 13%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11.2%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45% inpatient and 35%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11.2%,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07804759"/>
              </p:ext>
            </p:extLst>
          </p:nvPr>
        </p:nvGraphicFramePr>
        <p:xfrm>
          <a:off x="0" y="0"/>
          <a:ext cx="12198096" cy="6858005"/>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0259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68974">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89512">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7339">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$787.2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$19,678.8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0173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0173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$595.1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$1,190.2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$5,951.1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$29,755.3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0173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$666.5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03462">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$403.1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$2,015.3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$10,076.5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03462">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$225.7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$1,128.6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77339">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$392.4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$784.7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$3,923.6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$19,618.1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77339">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$2,197.2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0173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$927.4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$1,854.7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$9,273.6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$46,367.8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0173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$5,193.2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03462">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$1,070.0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$5,349.9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$26,749.7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03462">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$59.9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$599.2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$2,996.0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77339">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$366.5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$1,832.3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$9,161.5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77339">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$1,026.1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77339">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$866.1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$21,653.4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0173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$485.0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$2,425.2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03462">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$2,498.4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$12,491.9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03462">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$56.0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$1,399.1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01731">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$-213.5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$-97.1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$834.7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$5,493.6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543630775"/>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$1,938.3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$9,691.7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$48,458.3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$19,555.3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$97,776.4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$1,972.7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$9,863.6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$49,318.1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$2,190.2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$10,951.0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$1,104.7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$5,523.6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$-213.5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$-97.1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$834.7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$5,493.6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21053741"/>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$1,938.3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$9,691.7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$48,458.3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$2,267.8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$4,535.5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$22,677.7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$113,388.6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$2,597.2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$12,986.0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$64,930.2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$18,369.0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$517.7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$-65.2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$199.7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$2,318.3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$12,911.6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72145359"/>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$1,938.3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$9,691.7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$48,458.3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$1,764.4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$17,643.8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$88,219.1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$795.2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$1,590.4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$7,952.1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$39,760.7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$5,469.6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$-323.2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$-316.3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$-261.6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$12.2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34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46150</TotalTime>
  <Words>4470</Words>
  <Application>Microsoft Office PowerPoint</Application>
  <PresentationFormat>Widescreen</PresentationFormat>
  <Paragraphs>1259</Paragraphs>
  <Slides>34</Slides>
  <Notes>8</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34</vt:i4>
      </vt:variant>
    </vt:vector>
  </HeadingPairs>
  <TitlesOfParts>
    <vt:vector size="44"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UNIVERSITY HOSPITALS HEALTH SYSTEM OH’S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2025-06-12T15:14:04Z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