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3"/>
  </p:notesMasterIdLst>
  <p:sldIdLst>
    <p:sldId id="588" r:id="rId10"/>
    <p:sldId id="454" r:id="rId11"/>
    <p:sldId id="549" r:id="rId12"/>
    <p:sldId id="2145726869" r:id="rId13"/>
    <p:sldId id="452" r:id="rId14"/>
    <p:sldId id="466" r:id="rId15"/>
    <p:sldId id="2145726867" r:id="rId16"/>
    <p:sldId id="2145726870" r:id="rId17"/>
    <p:sldId id="580" r:id="rId18"/>
    <p:sldId id="582" r:id="rId19"/>
    <p:sldId id="558" r:id="rId20"/>
    <p:sldId id="548" r:id="rId21"/>
    <p:sldId id="521" r:id="rId22"/>
    <p:sldId id="456" r:id="rId23"/>
    <p:sldId id="489" r:id="rId24"/>
    <p:sldId id="499" r:id="rId25"/>
    <p:sldId id="613" r:id="rId26"/>
    <p:sldId id="458" r:id="rId27"/>
    <p:sldId id="2145726859" r:id="rId28"/>
    <p:sldId id="2145726857" r:id="rId29"/>
    <p:sldId id="469" r:id="rId30"/>
    <p:sldId id="2145726856" r:id="rId31"/>
    <p:sldId id="614" r:id="rId32"/>
    <p:sldId id="281" r:id="rId33"/>
    <p:sldId id="283" r:id="rId34"/>
    <p:sldId id="285" r:id="rId35"/>
    <p:sldId id="2145726866" r:id="rId36"/>
    <p:sldId id="583" r:id="rId37"/>
    <p:sldId id="525" r:id="rId38"/>
    <p:sldId id="2145726868" r:id="rId39"/>
    <p:sldId id="571" r:id="rId40"/>
    <p:sldId id="2145726864" r:id="rId41"/>
    <p:sldId id="585" r:id="rId42"/>
    <p:sldId id="536" r:id="rId43"/>
    <p:sldId id="256" r:id="rId44"/>
    <p:sldId id="574" r:id="rId45"/>
    <p:sldId id="572" r:id="rId46"/>
    <p:sldId id="575" r:id="rId47"/>
    <p:sldId id="498" r:id="rId48"/>
    <p:sldId id="325" r:id="rId49"/>
    <p:sldId id="326" r:id="rId50"/>
    <p:sldId id="491" r:id="rId51"/>
    <p:sldId id="472" r:id="rId52"/>
  </p:sldIdLst>
  <p:sldSz cx="12192000" cy="6858000"/>
  <p:notesSz cx="7315200" cy="96012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3DA478-B264-45DF-99D0-03A793869A4A}" v="1" dt="2025-02-12T17:50:42.550"/>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varScale="1">
        <p:scale>
          <a:sx n="84" d="100"/>
          <a:sy n="84" d="100"/>
        </p:scale>
        <p:origin x="461" y="82"/>
      </p:cViewPr>
      <p:guideLst/>
    </p:cSldViewPr>
  </p:slideViewPr>
  <p:notesTextViewPr>
    <p:cViewPr>
      <p:scale>
        <a:sx n="75" d="100"/>
        <a:sy n="75"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ableStyles" Target="tableStyle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tags" Target="tags/tag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viewProps" Target="view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0B3DA478-B264-45DF-99D0-03A793869A4A}"/>
    <pc:docChg chg="addSld delSld modSld">
      <pc:chgData name="Taylor Davis" userId="5c9e72a0-c39f-4aa1-9d7d-64125e78cbe6" providerId="ADAL" clId="{0B3DA478-B264-45DF-99D0-03A793869A4A}" dt="2025-02-12T17:50:45.276" v="1" actId="47"/>
      <pc:docMkLst>
        <pc:docMk/>
      </pc:docMkLst>
      <pc:sldChg chg="del">
        <pc:chgData name="Taylor Davis" userId="5c9e72a0-c39f-4aa1-9d7d-64125e78cbe6" providerId="ADAL" clId="{0B3DA478-B264-45DF-99D0-03A793869A4A}" dt="2025-02-12T17:50:45.276" v="1" actId="47"/>
        <pc:sldMkLst>
          <pc:docMk/>
          <pc:sldMk cId="1660060508" sldId="559"/>
        </pc:sldMkLst>
      </pc:sldChg>
      <pc:sldChg chg="add">
        <pc:chgData name="Taylor Davis" userId="5c9e72a0-c39f-4aa1-9d7d-64125e78cbe6" providerId="ADAL" clId="{0B3DA478-B264-45DF-99D0-03A793869A4A}" dt="2025-02-12T17:50:42.536" v="0"/>
        <pc:sldMkLst>
          <pc:docMk/>
          <pc:sldMk cId="38670968" sldId="2145726870"/>
        </pc:sldMkLst>
      </pc:sldChg>
    </pc:docChg>
  </pc:docChgLst>
</pc:chgInfo>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2/12/2025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2/12/2025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2/12/2025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2/12/2025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2/12/2025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2/12/2025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2/12/2025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2/12/2025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2/12/2025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2/12/2025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2/12/2025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2/12/2025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2/12/2025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2/12/2025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2/12/2025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2/12/2025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2/12/2025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2/12/2025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2/12/2025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2/12/2025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2/12/2025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2/12/2025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2/12/2025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2/12/2025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2/12/2025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2/12/2025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2/12/2025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2/12/2025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2/12/2025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2/12/2025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2/12/2025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2/12/2025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2/12/2025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2/12/2025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2/12/2025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2/12/2025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2/12/2025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2/12/2025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2/12/2025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2/12/2025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2/12/2025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4.emf"/><Relationship Id="rId5" Type="http://schemas.openxmlformats.org/officeDocument/2006/relationships/image" Target="../media/image6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UHHS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9671766" y="66124"/>
            <a:ext cx="1401172" cy="1325685"/>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UHHS</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2200602"/>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UHHS is the quality and access leader in this service area (see slide 8). Market size and brand quality are likelty to negatively impact plan growth</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UHHS.</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UHHS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3,000+ Employers       900,000</a:t>
            </a:r>
            <a:r>
              <a:rPr lang="en-US" sz="1600" spc="200" dirty="0">
                <a:latin typeface="Montserrat" panose="00000500000000000000" pitchFamily="2" charset="0"/>
                <a:cs typeface="+mj-cs"/>
                <a:sym typeface="Wingdings" panose="05000000000000000000" pitchFamily="2" charset="2"/>
              </a:rPr>
              <a:t>+ Employees       1,600,000+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2,348</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1,001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625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362</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112</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82</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176,100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150,200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187,500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253,400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224,000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492,000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317,000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270,400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337,500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456,100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403,200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885,600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529574" y="1752255"/>
            <a:ext cx="6096000" cy="4876800"/>
          </a:xfrm>
          <a:prstGeom prst="rect">
            <a:avLst/>
          </a:prstGeom>
        </p:spPr>
      </p:pic>
    </p:spTree>
    <p:extLst>
      <p:ext uri="{BB962C8B-B14F-4D97-AF65-F5344CB8AC3E}">
        <p14:creationId xmlns:p14="http://schemas.microsoft.com/office/powerpoint/2010/main" val="38670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461665"/>
          </a:xfrm>
          <a:prstGeom prst="rect">
            <a:avLst/>
          </a:prstGeom>
          <a:noFill/>
        </p:spPr>
        <p:txBody>
          <a:bodyPr wrap="square" rtlCol="0">
            <a:spAutoFit/>
          </a:bodyPr>
          <a:lstStyle/>
          <a:p>
            <a:r>
              <a:rPr lang="en-US" sz="1200" dirty="0">
                <a:solidFill/>
                <a:latin typeface="Montserrat" panose="00000500000000000000" pitchFamily="2" charset="0"/>
              </a:rPr>
              <a:t>Estimates includes the UHHS service area in Ashland, Ashtabula, Cuyahoga, Erie, Geauga, Holmes, Huron, Lake, Lorain, Mahoning, Medina, Portage, Richland, Stark, Summit, Trumbull, Wayne, and Crawford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3,162K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1,839K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1,284K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899K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$15.84M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$1.64M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$94.54M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$10.78M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$194.1M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$22.28M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UHHS has 25% inpatient market share, and 13% outpatient market compared to hospitals/clinics in the UHHS service area (see slide 8). The DTE tiered structure will create immediate steerage, with additional steerage over time from patient bonus benefits and the patient card (see slide 33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861774"/>
          </a:xfrm>
          <a:prstGeom prst="rect">
            <a:avLst/>
          </a:prstGeom>
          <a:noFill/>
        </p:spPr>
        <p:txBody>
          <a:bodyPr wrap="square" rtlCol="0">
            <a:spAutoFit/>
          </a:bodyPr>
          <a:lstStyle/>
          <a:p>
            <a:r>
              <a:rPr lang="en-US" sz="1000" dirty="0">
                <a:solidFill/>
                <a:latin typeface="Montserrat" panose="00000500000000000000" pitchFamily="2" charset="0"/>
              </a:rPr>
              <a:t>KBA observes a UHHS 14%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6.2%</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11.2%</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16.2%</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578.7K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1,156.1K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2,138.4K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3,485.3K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261.9K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1,002.5K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2,001.6K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3,371.3K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789.2K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1,629.1K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3,029.4K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4,879.4K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477.2K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1,486.3K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2,910.6K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4,791.8K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683.2K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2,091.2K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46.7K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1,153.2K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1,950.8K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479577" y="1968878"/>
            <a:ext cx="3154680" cy="3154680"/>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016758"/>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UHHS’s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UHHS’s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UHHS</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38360" y="4059936"/>
            <a:ext cx="1042416" cy="1042416"/>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15</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latin typeface="Montserrat" panose="00000500000000000000" pitchFamily="2" charset="0"/>
            </a:endParaRPr>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dirty="0">
                <a:latin typeface="Montserrat" panose="00000500000000000000" pitchFamily="2" charset="0"/>
              </a:rPr>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00539F">
              <a:alpha val="9490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latin typeface="Montserrat" panose="00000500000000000000" pitchFamily="2" charset="0"/>
            </a:endParaRPr>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71860"/>
            <a:ext cx="11877152" cy="523220"/>
          </a:xfrm>
          <a:prstGeom prst="rect">
            <a:avLst/>
          </a:prstGeom>
          <a:noFill/>
        </p:spPr>
        <p:txBody>
          <a:bodyPr wrap="square">
            <a:spAutoFit/>
          </a:bodyPr>
          <a:lstStyle/>
          <a:p>
            <a:pPr algn="ctr"/>
            <a:r>
              <a:rPr lang="en-US" sz="2800" dirty="0">
                <a:solidFill>
                  <a:schemeClr val="bg1"/>
                </a:solidFill>
                <a:latin typeface="Montserrat" panose="00000500000000000000" pitchFamily="2" charset="0"/>
              </a:rPr>
              <a:t>BENEFIT PLAN DESIGNS THAT OPTIMIZE STEERAGE TO UHHS</a:t>
            </a:r>
          </a:p>
        </p:txBody>
      </p:sp>
      <p:pic>
        <p:nvPicPr>
          <p:cNvPr id="9" name="Content Placeholder 8"/>
          <p:cNvPicPr>
            <a:picLocks noGrp="1"/>
          </p:cNvPicPr>
          <p:nvPr>
            <p:ph/>
          </p:nvPr>
        </p:nvPicPr>
        <p:blipFill>
          <a:blip r:embed="rId3" cstate="print"/>
          <a:stretch>
            <a:fillRect/>
          </a:stretch>
        </p:blipFill>
        <p:spPr>
          <a:xfrm>
            <a:off x="9026136" y="4832073"/>
            <a:ext cx="1776660" cy="1543812"/>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23.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UHHS’s approved site(s) with network integration, and development of UHHS’s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3,289K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$ 4,590K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$ 4,967K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$ 16,443K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$11,476K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$ 1,842K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985K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$19,868K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$2,225K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$ 65,771K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$45,903K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$ 7,366K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$ 5,141K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$ 4,931K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$39,736K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$4,450K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$131,542K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$91,805K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$14,733K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$10,282K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$10,192K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UHHS’s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UHHS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UHHS’s managed care with KBA’s programs positions UHHS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708160"/>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UHHS’s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UHHS’s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UHHS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2"/>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UHHS</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UHHS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UHHS’S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13286911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UHHS</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526,866</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$6,738,216K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121,279</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$592,050K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15%</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25,539</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$340,723K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6%</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25</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32,153</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-$286,581K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347,870</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$5,806,529K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76%</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24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UHHS estimates commercial insurance reimbursements at 242%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5,806,529K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242%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2,260,263K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8,066,793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6,900,395</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$1,166,398K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14%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242%</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2,396,260K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932,774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3,329,034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6,900,395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-3,571,361</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-107%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272546"/>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66%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25%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13%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812920948"/>
              </p:ext>
            </p:extLst>
          </p:nvPr>
        </p:nvGraphicFramePr>
        <p:xfrm>
          <a:off x="266700" y="651510"/>
          <a:ext cx="9829800" cy="57048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1037308">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11639">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University Hospitals Samaritan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38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44,774.7K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187,531.0K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11639">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University Hospitals Parma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179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372,212.3K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dirty="0">
                          <a:solidFill>
                            <a:schemeClr val="accent1"/>
                          </a:solidFill>
                          <a:latin typeface="Montserrat"/>
                          <a:cs typeface="Arial"/>
                          <a:sym typeface="Arial"/>
                        </a:rPr>
                        <a:t>$   516,979.3K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11639">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University Hospitals Portage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223,221.5K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443,215.9K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11639">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University Hospitals TriPoint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495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dirty="0">
                          <a:solidFill>
                            <a:schemeClr val="accent1"/>
                          </a:solidFill>
                          <a:latin typeface="Montserrat"/>
                          <a:cs typeface="Arial"/>
                          <a:sym typeface="Arial"/>
                        </a:rPr>
                        <a:t>$  537,073.6K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dirty="0">
                          <a:solidFill>
                            <a:schemeClr val="accent1"/>
                          </a:solidFill>
                          <a:latin typeface="Montserrat"/>
                          <a:cs typeface="Arial"/>
                          <a:sym typeface="Arial"/>
                        </a:rPr>
                        <a:t>$   823,021.8K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11639">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University Hospitals St John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125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316,363.0K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479,232.0K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11639">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University Hospitals Cleveland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869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$3,322,611.7K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$ 3,816,400.9K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11639">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University Hospitals Elyria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197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dirty="0">
                          <a:solidFill>
                            <a:schemeClr val="accent1"/>
                          </a:solidFill>
                          <a:latin typeface="Montserrat"/>
                          <a:cs typeface="Arial"/>
                          <a:sym typeface="Arial"/>
                        </a:rPr>
                        <a:t>$  307,772.7K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645,225.8K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11639">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Southwest General Health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199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604,486.3K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$ 1,019,654.4K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11639">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University Hospitals Ahuja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153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412,691.1K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dirty="0">
                          <a:solidFill>
                            <a:schemeClr val="accent1"/>
                          </a:solidFill>
                          <a:latin typeface="Montserrat"/>
                          <a:cs typeface="Arial"/>
                          <a:sym typeface="Arial"/>
                        </a:rPr>
                        <a:t>$   580,047.7K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11639">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University Hospitals Beachwood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13,793.3K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142,984.3K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11639">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University Hospitals Geneva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28,233.0K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182,255.0K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111639">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University Hospitals Conneaut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10,412.7K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59,895.6K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11639">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UH Rainbow Babies &amp; Childrens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chemeClr val="accent1"/>
                          </a:solidFill>
                          <a:latin typeface="Montserrat"/>
                          <a:cs typeface="Arial"/>
                          <a:sym typeface="Arial"/>
                        </a:rPr>
                        <a:t>288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chemeClr val="accent1"/>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chemeClr val="accent1"/>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97684">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Summa Health System - Barberton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158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402,746.9K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717,567.5K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97684">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Summa Health System - Akron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560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$2,850,168.1K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$ 2,869,621.6K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97684">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Akron General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401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$1,247,284.0K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$ 1,889,319.5K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Wooster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136,462.9K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249,242.2K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MetroHealth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501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$1,512,498.5K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$ 3,187,045.0K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Fisher Titus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78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98,297.2K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279,748.1K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Fairview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466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$1,105,628.9K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$ 1,180,188.2K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Euclid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90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169,995.3K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285,905.4K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Lutheran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202,654.4K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351,343.6K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Medina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270,076.3K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398,838.4K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OhioHealth Mansfield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240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  575,457.7K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699,468.8K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Ashtabula County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105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121,564.8K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   426,651.8K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Aultman Alliance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35,208.7K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   257,028.4K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Marymount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188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291,922.7K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   414,326.5K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7"/>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South Pointe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138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252,116.2K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337,113.4K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8"/>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Western Reserve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83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308,790.5K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   796,987.8K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9"/>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Mercy Health - Lorain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149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468,496.4K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698,058.4K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0"/>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Cleveland Clinic Main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1,299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$6,174,513.8K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$17,984,513.8K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1"/>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Hillcrest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483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$1,130,806.2K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$ 1,155,445.7K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2"/>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Glenbeigh Hospital of Rock Creek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78,086.0K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12,428.3K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3"/>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Crystal Clinic Orthopaedic Center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59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172,315.5K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704,306.4K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4"/>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Avon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126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245,616.2K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518,736.9K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5"/>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Ontario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49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70,998.0K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252,865.3K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6"/>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Akron General Lodi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11,677.7K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63,576.8K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7"/>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Mercy Health - Allen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24,793.3K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114,343.2K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8"/>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OhioHealth Shelby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21,564.1K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58,908.0K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9"/>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Akron Childrens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310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$1,063,493.5K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$ 1,434,047.0K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0"/>
                  </a:ext>
                </a:extLst>
              </a:tr>
              <a:tr h="97684">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Cleveland Clinic Childrens Hospital for Rehabilitation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52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1"/>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525976205"/>
              </p:ext>
            </p:extLst>
          </p:nvPr>
        </p:nvGraphicFramePr>
        <p:xfrm>
          <a:off x="-1" y="0"/>
          <a:ext cx="12192001" cy="7015480"/>
        </p:xfrm>
        <a:graphic>
          <a:graphicData uri="http://schemas.openxmlformats.org/drawingml/2006/table">
            <a:tbl>
              <a:tblPr/>
              <a:tblGrid>
                <a:gridCol w="894046">
                  <a:extLst>
                    <a:ext uri="{9D8B030D-6E8A-4147-A177-3AD203B41FA5}">
                      <a16:colId xmlns:a16="http://schemas.microsoft.com/office/drawing/2014/main" val="20000"/>
                    </a:ext>
                  </a:extLst>
                </a:gridCol>
                <a:gridCol w="925573">
                  <a:extLst>
                    <a:ext uri="{9D8B030D-6E8A-4147-A177-3AD203B41FA5}">
                      <a16:colId xmlns:a16="http://schemas.microsoft.com/office/drawing/2014/main" val="20001"/>
                    </a:ext>
                  </a:extLst>
                </a:gridCol>
                <a:gridCol w="856520">
                  <a:extLst>
                    <a:ext uri="{9D8B030D-6E8A-4147-A177-3AD203B41FA5}">
                      <a16:colId xmlns:a16="http://schemas.microsoft.com/office/drawing/2014/main" val="20002"/>
                    </a:ext>
                  </a:extLst>
                </a:gridCol>
                <a:gridCol w="882370">
                  <a:extLst>
                    <a:ext uri="{9D8B030D-6E8A-4147-A177-3AD203B41FA5}">
                      <a16:colId xmlns:a16="http://schemas.microsoft.com/office/drawing/2014/main" val="20003"/>
                    </a:ext>
                  </a:extLst>
                </a:gridCol>
                <a:gridCol w="884475">
                  <a:extLst>
                    <a:ext uri="{9D8B030D-6E8A-4147-A177-3AD203B41FA5}">
                      <a16:colId xmlns:a16="http://schemas.microsoft.com/office/drawing/2014/main" val="20004"/>
                    </a:ext>
                  </a:extLst>
                </a:gridCol>
                <a:gridCol w="880170">
                  <a:extLst>
                    <a:ext uri="{9D8B030D-6E8A-4147-A177-3AD203B41FA5}">
                      <a16:colId xmlns:a16="http://schemas.microsoft.com/office/drawing/2014/main" val="20005"/>
                    </a:ext>
                  </a:extLst>
                </a:gridCol>
                <a:gridCol w="921249">
                  <a:extLst>
                    <a:ext uri="{9D8B030D-6E8A-4147-A177-3AD203B41FA5}">
                      <a16:colId xmlns:a16="http://schemas.microsoft.com/office/drawing/2014/main" val="20006"/>
                    </a:ext>
                  </a:extLst>
                </a:gridCol>
                <a:gridCol w="843567">
                  <a:extLst>
                    <a:ext uri="{9D8B030D-6E8A-4147-A177-3AD203B41FA5}">
                      <a16:colId xmlns:a16="http://schemas.microsoft.com/office/drawing/2014/main" val="20007"/>
                    </a:ext>
                  </a:extLst>
                </a:gridCol>
                <a:gridCol w="681583">
                  <a:extLst>
                    <a:ext uri="{9D8B030D-6E8A-4147-A177-3AD203B41FA5}">
                      <a16:colId xmlns:a16="http://schemas.microsoft.com/office/drawing/2014/main" val="20008"/>
                    </a:ext>
                  </a:extLst>
                </a:gridCol>
                <a:gridCol w="845653">
                  <a:extLst>
                    <a:ext uri="{9D8B030D-6E8A-4147-A177-3AD203B41FA5}">
                      <a16:colId xmlns:a16="http://schemas.microsoft.com/office/drawing/2014/main" val="20009"/>
                    </a:ext>
                  </a:extLst>
                </a:gridCol>
                <a:gridCol w="955727">
                  <a:extLst>
                    <a:ext uri="{9D8B030D-6E8A-4147-A177-3AD203B41FA5}">
                      <a16:colId xmlns:a16="http://schemas.microsoft.com/office/drawing/2014/main" val="20010"/>
                    </a:ext>
                  </a:extLst>
                </a:gridCol>
                <a:gridCol w="878102">
                  <a:extLst>
                    <a:ext uri="{9D8B030D-6E8A-4147-A177-3AD203B41FA5}">
                      <a16:colId xmlns:a16="http://schemas.microsoft.com/office/drawing/2014/main" val="20011"/>
                    </a:ext>
                  </a:extLst>
                </a:gridCol>
                <a:gridCol w="916848">
                  <a:extLst>
                    <a:ext uri="{9D8B030D-6E8A-4147-A177-3AD203B41FA5}">
                      <a16:colId xmlns:a16="http://schemas.microsoft.com/office/drawing/2014/main" val="20012"/>
                    </a:ext>
                  </a:extLst>
                </a:gridCol>
                <a:gridCol w="826118">
                  <a:extLst>
                    <a:ext uri="{9D8B030D-6E8A-4147-A177-3AD203B41FA5}">
                      <a16:colId xmlns:a16="http://schemas.microsoft.com/office/drawing/2014/main" val="20013"/>
                    </a:ext>
                  </a:extLst>
                </a:gridCol>
              </a:tblGrid>
              <a:tr h="264990">
                <a:tc gridSpan="14">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855940">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Samaritan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Parma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Portage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TriPoint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St John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Cleveland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Elyria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Southwest General Health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Ahuja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Beachwood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Geneva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University Hospitals Conneaut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UH Rainbow Babies &amp; Childrens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454938">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$16,656K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$84,864K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$52,234K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$122,453K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$87,949K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$1,166,237K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$68,018K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$154,144K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$103,585K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$4,428K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$8,724K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$3,853K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$1,090,828K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56750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$69,762K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$117,871K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$103,713K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$187,649K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$133,226K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$1,339,557K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$142,595K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$260,012K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$145,592K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$45,898K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$56,317K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$22,161K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$1,149,891K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42376">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$12,301K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$36,953K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$19,122K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$41,698K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$60,854K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$268,511K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$31,144K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$60,822K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$43,179K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$6,717K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$6,347K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$4,403K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680062">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$8,124K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$11,289K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$14,615K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$26,410K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$8,494K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$208,530K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$22,411K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$15,988K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$13,484K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$934K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$6,520K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$3,924K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454938">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$65,923K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$154,611K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$122,070K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$241,253K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$152,019K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$2,031,282K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$156,605K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$336,699K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$192,745K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$42,734K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$52,178K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$17,693K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$2,240,719K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454938">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$7,401K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$18,684K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$16,523K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$37,732K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$14,424K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$106,768K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$21,661K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$23,285K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$23,949K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$5,944K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$6,528K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$3,683K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454938">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$18,399K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$95,198K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$57,512K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$169,111K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$82,011K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$1,196,872K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$72,410K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$152,888K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$100,251K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$5,661K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$8,530K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$4,836K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$1,052,967K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454938">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$77,061K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$132,223K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$114,193K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$259,149K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$124,231K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$1,374,745K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$151,803K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$257,893K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$140,905K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$58,688K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$55,062K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$27,817K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$1,109,980K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454938">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$95,460K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$227,421K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$171,705K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$428,260K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$206,242K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$2,571,618K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$224,213K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$410,780K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$241,156K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$64,350K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$63,592K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$32,653K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$2,162,947K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29814">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$-9,112K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$-24,568K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$-15,898K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$-118,898K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$15,125K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$-63,294K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$-14,053K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$2,728K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$8,252K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$-13,965K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$1,453K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$-6,634K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$77,772K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01673">
                <a:tc gridSpan="14">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01673">
                <a:tc gridSpan="14">
                  <a:txBody>
                    <a:bodyPr/>
                    <a:lstStyle/>
                    <a:p>
                      <a:pPr marL="63500" marR="63500" algn="l">
                        <a:lnSpc>
                          <a:spcPct val="100000"/>
                        </a:lnSpc>
                        <a:spcBef>
                          <a:spcPts val="500"/>
                        </a:spcBef>
                        <a:spcAft>
                          <a:spcPts val="500"/>
                        </a:spcAft>
                        <a:buNone/>
                      </a:pPr>
                      <a:r>
                        <a:rPr sz="6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01673">
                <a:tc gridSpan="14">
                  <a:txBody>
                    <a:bodyPr/>
                    <a:lstStyle/>
                    <a:p>
                      <a:pPr marL="63500" marR="63500" algn="l">
                        <a:lnSpc>
                          <a:spcPct val="100000"/>
                        </a:lnSpc>
                        <a:spcBef>
                          <a:spcPts val="500"/>
                        </a:spcBef>
                        <a:spcAft>
                          <a:spcPts val="500"/>
                        </a:spcAft>
                        <a:buNone/>
                      </a:pPr>
                      <a:r>
                        <a:rPr sz="6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01673">
                <a:tc gridSpan="14">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UHHS has 25% inpatient market share, and 13% outpatient market compared to hospitals/clinics in the UHHS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UHHS.</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496848233"/>
              </p:ext>
            </p:extLst>
          </p:nvPr>
        </p:nvGraphicFramePr>
        <p:xfrm>
          <a:off x="1170843" y="936963"/>
          <a:ext cx="6858000" cy="5190133"/>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1060053">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Percent of Members Choosing </a:t>
                      </a:r>
                      <a:r>
                        <a:rPr lang="en-US" sz="1100" b="1" i="0" u="none" cap="none" dirty="0">
                          <a:solidFill>
                            <a:srgbClr val="000000">
                              <a:alpha val="100000"/>
                            </a:srgbClr>
                          </a:solidFill>
                          <a:latin typeface="Montserrat"/>
                          <a:cs typeface="Arial"/>
                          <a:sym typeface="Arial"/>
                        </a:rPr>
                        <a:t>UHHS</a:t>
                      </a:r>
                      <a:r>
                        <a:rPr sz="1100" b="1" i="0" u="none" cap="none" dirty="0">
                          <a:solidFill>
                            <a:srgbClr val="000000">
                              <a:alpha val="100000"/>
                            </a:srgbClr>
                          </a:solidFill>
                          <a:latin typeface="Montserrat"/>
                          <a:cs typeface="Arial"/>
                          <a:sym typeface="Arial"/>
                        </a:rPr>
                        <a:t>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Percent of Members Choosing </a:t>
                      </a:r>
                      <a:r>
                        <a:rPr lang="en-US" sz="1100" b="1" i="0" u="none" cap="none" dirty="0">
                          <a:solidFill>
                            <a:srgbClr val="000000">
                              <a:alpha val="100000"/>
                            </a:srgbClr>
                          </a:solidFill>
                          <a:latin typeface="Montserrat"/>
                          <a:cs typeface="Arial"/>
                          <a:sym typeface="Arial"/>
                        </a:rPr>
                        <a:t>UHHS</a:t>
                      </a:r>
                      <a:r>
                        <a:rPr sz="1100" b="1" i="0" u="none" cap="none" dirty="0">
                          <a:solidFill>
                            <a:srgbClr val="000000">
                              <a:alpha val="100000"/>
                            </a:srgbClr>
                          </a:solidFill>
                          <a:latin typeface="Montserrat"/>
                          <a:cs typeface="Arial"/>
                          <a:sym typeface="Arial"/>
                        </a:rPr>
                        <a:t>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650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5,500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$ 4,591,171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$ 4,319,267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$ 2,017,061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$ 10,927,499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$ 514,211.1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$ 483,757.9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$ 225,910.8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$ 1,223,880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$ 3,419,292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$ 66,000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$ 3,424,092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$ 3,305,292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$ 12,557,676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$ 19,699,649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$ 9,199,569</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$ 41,456,894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$ 1,406,460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$ 2,206,361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$ 1,030,352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$ 4,643,172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25% (inpatient) and 13%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11.2%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11.2%,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844478499"/>
              </p:ext>
            </p:extLst>
          </p:nvPr>
        </p:nvGraphicFramePr>
        <p:xfrm>
          <a:off x="0" y="0"/>
          <a:ext cx="12198096" cy="6858003"/>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81932">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53739">
                <a:tc gridSpan="5">
                  <a:txBody>
                    <a:bodyPr/>
                    <a:lstStyle/>
                    <a:p>
                      <a:pPr marL="63500" marR="63500" algn="l">
                        <a:lnSpc>
                          <a:spcPct val="100000"/>
                        </a:lnSpc>
                        <a:spcBef>
                          <a:spcPts val="5"/>
                        </a:spcBef>
                        <a:spcAft>
                          <a:spcPts val="5"/>
                        </a:spcAft>
                        <a:buNone/>
                      </a:pPr>
                      <a:r>
                        <a:rPr sz="16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98234">
                <a:tc>
                  <a:txBody>
                    <a:bodyPr/>
                    <a:lstStyle/>
                    <a:p>
                      <a:pPr marL="63500" marR="63500" algn="l">
                        <a:lnSpc>
                          <a:spcPct val="100000"/>
                        </a:lnSpc>
                        <a:spcBef>
                          <a:spcPts val="5"/>
                        </a:spcBef>
                        <a:spcAft>
                          <a:spcPts val="5"/>
                        </a:spcAft>
                        <a:buNone/>
                      </a:pPr>
                      <a:r>
                        <a:rPr sz="105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$417.4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$834.8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$4,173.8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$20,869.0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1982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$467.5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$2,337.3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1982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$1,020.7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$2,041.4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$10,206.8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$51,033.9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1982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$1,143.2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$5,715.8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$603.3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$1,206.6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$6,033.0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$30,165.0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$135.1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$675.7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$3,378.5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$392.7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$785.3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$3,926.6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$19,633.0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$439.8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$2,198.9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1982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$3,091.9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$15,459.3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$77,296.4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1982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$346.3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$1,731.4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$8,657.2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$2,306.5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$11,532.7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$57,663.3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$129.2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$258.3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$1,291.7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$6,458.3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$183.4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$366.7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$1,833.7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$9,168.5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$1,026.9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$721.9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$1,443.9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$7,219.4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$36,096.8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1982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$808.6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$4,042.8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$1,077.1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$5,385.7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$26,928.3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$60.3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$120.6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$603.2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$3,016.0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198234">
                <a:tc>
                  <a:txBody>
                    <a:bodyPr/>
                    <a:lstStyle/>
                    <a:p>
                      <a:pPr marL="63500" marR="63500" algn="l">
                        <a:lnSpc>
                          <a:spcPct val="100000"/>
                        </a:lnSpc>
                        <a:spcBef>
                          <a:spcPts val="5"/>
                        </a:spcBef>
                        <a:spcAft>
                          <a:spcPts val="5"/>
                        </a:spcAft>
                        <a:buNone/>
                      </a:pPr>
                      <a:r>
                        <a:rPr sz="12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$-66.9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$196.1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$2,300.5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dirty="0">
                          <a:solidFill>
                            <a:srgbClr val="000000">
                              <a:alpha val="100000"/>
                            </a:srgbClr>
                          </a:solidFill>
                          <a:latin typeface="Montserrat"/>
                          <a:cs typeface="Arial"/>
                          <a:sym typeface="Arial"/>
                        </a:rPr>
                        <a:t>$12,822.7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181431109"/>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$993.4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$1,986.8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$9,934.1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$49,670.4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$5,563.1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$3,288.5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$6,577.1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$32,885.4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$164,427.1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$2,295.1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$4,590.3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$22,951.3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$114,756.6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$736.6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$3,683.2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$18,415.8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$257.1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$514.1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$2,570.5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$12,852.7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$196.1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$2,300.5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$12,822.7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21358044"/>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$993.4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$1,986.8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$9,934.1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$49,670.4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$5,563.1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$3,911.9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$7,823.8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$39,119.0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$195,595.2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$2,918.5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$5,837.0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$29,185.0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$145,924.8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$1,267.5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$6,337.3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$31,686.4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$522.5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$1,044.9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$5,224.7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$26,123.3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$198.5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$726.9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$4,954.7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$26,093.3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120252930"/>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$993.4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$1,986.8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$9,934.1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$49,670.4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$5,563.1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$2,670.6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$5,341.3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$26,706.3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$133,531.7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$1,677.2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$16,772.2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$83,861.2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$1,655.8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$8,279.0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$2,715.9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$-269.7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$-209.4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$273.2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$2,685.9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39</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UHHS’s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538883"/>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UHHS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760856885"/>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UHHS</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UHHS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41</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UHHS</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UHHS’s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43</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46281</TotalTime>
  <Words>5452</Words>
  <Application>Microsoft Office PowerPoint</Application>
  <PresentationFormat>Widescreen</PresentationFormat>
  <Paragraphs>1565</Paragraphs>
  <Slides>43</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43</vt:i4>
      </vt:variant>
    </vt:vector>
  </HeadingPairs>
  <TitlesOfParts>
    <vt:vector size="53"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DTE KEYS TO SUCCESS FOR UHHS</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UHHS’S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2025-02-12T17:50:53Z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