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E53192_3C36F9F4.xml" ContentType="application/vnd.ms-powerpoint.comment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44"/>
  </p:notesMasterIdLst>
  <p:sldIdLst>
    <p:sldId id="588" r:id="rId10"/>
    <p:sldId id="454" r:id="rId11"/>
    <p:sldId id="549" r:id="rId12"/>
    <p:sldId id="2145726870" r:id="rId13"/>
    <p:sldId id="580" r:id="rId14"/>
    <p:sldId id="2145726871" r:id="rId15"/>
    <p:sldId id="2145726872" r:id="rId16"/>
    <p:sldId id="2145726874" r:id="rId17"/>
    <p:sldId id="521" r:id="rId18"/>
    <p:sldId id="456" r:id="rId19"/>
    <p:sldId id="499" r:id="rId20"/>
    <p:sldId id="613" r:id="rId21"/>
    <p:sldId id="458" r:id="rId22"/>
    <p:sldId id="2145726859" r:id="rId23"/>
    <p:sldId id="2145726857" r:id="rId24"/>
    <p:sldId id="469" r:id="rId25"/>
    <p:sldId id="2145726856" r:id="rId26"/>
    <p:sldId id="614" r:id="rId27"/>
    <p:sldId id="281" r:id="rId28"/>
    <p:sldId id="283" r:id="rId29"/>
    <p:sldId id="285" r:id="rId30"/>
    <p:sldId id="2145726866" r:id="rId31"/>
    <p:sldId id="583" r:id="rId32"/>
    <p:sldId id="525" r:id="rId33"/>
    <p:sldId id="2145726868" r:id="rId34"/>
    <p:sldId id="571" r:id="rId35"/>
    <p:sldId id="2145726864" r:id="rId36"/>
    <p:sldId id="585" r:id="rId37"/>
    <p:sldId id="2145726873" r:id="rId38"/>
    <p:sldId id="256" r:id="rId39"/>
    <p:sldId id="574" r:id="rId40"/>
    <p:sldId id="572" r:id="rId41"/>
    <p:sldId id="575" r:id="rId42"/>
    <p:sldId id="472" r:id="rId43"/>
  </p:sldIdLst>
  <p:sldSz cx="12192000" cy="6858000"/>
  <p:notesSz cx="7315200" cy="960120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72605B-C4DA-445A-92C0-7CDFEE689156}" v="10" dt="2025-06-18T19:40:43.523"/>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tags" Target="tags/tag1.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commentAuthors" Target="commentAuthors.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FB72605B-C4DA-445A-92C0-7CDFEE689156}"/>
    <pc:docChg chg="addSld delSld modSld">
      <pc:chgData name="Taylor Davis" userId="5c9e72a0-c39f-4aa1-9d7d-64125e78cbe6" providerId="ADAL" clId="{FB72605B-C4DA-445A-92C0-7CDFEE689156}" dt="2025-06-18T19:41:19.001" v="82" actId="1076"/>
      <pc:docMkLst>
        <pc:docMk/>
      </pc:docMkLst>
      <pc:sldChg chg="modSp add del mod">
        <pc:chgData name="Taylor Davis" userId="5c9e72a0-c39f-4aa1-9d7d-64125e78cbe6" providerId="ADAL" clId="{FB72605B-C4DA-445A-92C0-7CDFEE689156}" dt="2025-06-18T17:43:25.456" v="73" actId="14100"/>
        <pc:sldMkLst>
          <pc:docMk/>
          <pc:sldMk cId="0" sldId="256"/>
        </pc:sldMkLst>
        <pc:graphicFrameChg chg="modGraphic">
          <ac:chgData name="Taylor Davis" userId="5c9e72a0-c39f-4aa1-9d7d-64125e78cbe6" providerId="ADAL" clId="{FB72605B-C4DA-445A-92C0-7CDFEE689156}" dt="2025-06-18T17:43:25.456" v="73" actId="14100"/>
          <ac:graphicFrameMkLst>
            <pc:docMk/>
            <pc:sldMk cId="0" sldId="256"/>
            <ac:graphicFrameMk id="2" creationId="{00000000-0000-0000-0000-000000000000}"/>
          </ac:graphicFrameMkLst>
        </pc:graphicFrameChg>
      </pc:sldChg>
      <pc:sldChg chg="add del setBg">
        <pc:chgData name="Taylor Davis" userId="5c9e72a0-c39f-4aa1-9d7d-64125e78cbe6" providerId="ADAL" clId="{FB72605B-C4DA-445A-92C0-7CDFEE689156}" dt="2025-06-18T17:41:48.647" v="27"/>
        <pc:sldMkLst>
          <pc:docMk/>
          <pc:sldMk cId="2203540903" sldId="499"/>
        </pc:sldMkLst>
      </pc:sldChg>
      <pc:sldChg chg="modSp add del mod">
        <pc:chgData name="Taylor Davis" userId="5c9e72a0-c39f-4aa1-9d7d-64125e78cbe6" providerId="ADAL" clId="{FB72605B-C4DA-445A-92C0-7CDFEE689156}" dt="2025-06-18T17:42:15.552" v="30" actId="47"/>
        <pc:sldMkLst>
          <pc:docMk/>
          <pc:sldMk cId="1419816550" sldId="536"/>
        </pc:sldMkLst>
        <pc:graphicFrameChg chg="modGraphic">
          <ac:chgData name="Taylor Davis" userId="5c9e72a0-c39f-4aa1-9d7d-64125e78cbe6" providerId="ADAL" clId="{FB72605B-C4DA-445A-92C0-7CDFEE689156}" dt="2025-06-18T04:35:21.270" v="19" actId="2165"/>
          <ac:graphicFrameMkLst>
            <pc:docMk/>
            <pc:sldMk cId="1419816550" sldId="536"/>
            <ac:graphicFrameMk id="4" creationId="{FF3ACACB-7F38-7EAA-4BDF-1A816CA00AAE}"/>
          </ac:graphicFrameMkLst>
        </pc:graphicFrameChg>
      </pc:sldChg>
      <pc:sldChg chg="add del">
        <pc:chgData name="Taylor Davis" userId="5c9e72a0-c39f-4aa1-9d7d-64125e78cbe6" providerId="ADAL" clId="{FB72605B-C4DA-445A-92C0-7CDFEE689156}" dt="2025-06-18T19:40:47.040" v="78" actId="47"/>
        <pc:sldMkLst>
          <pc:docMk/>
          <pc:sldMk cId="315794589" sldId="548"/>
        </pc:sldMkLst>
      </pc:sldChg>
      <pc:sldChg chg="del">
        <pc:chgData name="Taylor Davis" userId="5c9e72a0-c39f-4aa1-9d7d-64125e78cbe6" providerId="ADAL" clId="{FB72605B-C4DA-445A-92C0-7CDFEE689156}" dt="2025-06-18T04:32:15.776" v="3" actId="47"/>
        <pc:sldMkLst>
          <pc:docMk/>
          <pc:sldMk cId="3470905217" sldId="558"/>
        </pc:sldMkLst>
      </pc:sldChg>
      <pc:sldChg chg="modSp add del mod">
        <pc:chgData name="Taylor Davis" userId="5c9e72a0-c39f-4aa1-9d7d-64125e78cbe6" providerId="ADAL" clId="{FB72605B-C4DA-445A-92C0-7CDFEE689156}" dt="2025-06-18T17:43:32.858" v="75" actId="14100"/>
        <pc:sldMkLst>
          <pc:docMk/>
          <pc:sldMk cId="0" sldId="572"/>
        </pc:sldMkLst>
        <pc:graphicFrameChg chg="modGraphic">
          <ac:chgData name="Taylor Davis" userId="5c9e72a0-c39f-4aa1-9d7d-64125e78cbe6" providerId="ADAL" clId="{FB72605B-C4DA-445A-92C0-7CDFEE689156}" dt="2025-06-18T17:43:32.858" v="75"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FB72605B-C4DA-445A-92C0-7CDFEE689156}" dt="2025-06-18T17:43:29.006" v="74" actId="14100"/>
        <pc:sldMkLst>
          <pc:docMk/>
          <pc:sldMk cId="1064222983" sldId="574"/>
        </pc:sldMkLst>
        <pc:graphicFrameChg chg="modGraphic">
          <ac:chgData name="Taylor Davis" userId="5c9e72a0-c39f-4aa1-9d7d-64125e78cbe6" providerId="ADAL" clId="{FB72605B-C4DA-445A-92C0-7CDFEE689156}" dt="2025-06-18T17:43:29.006" v="74"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FB72605B-C4DA-445A-92C0-7CDFEE689156}" dt="2025-06-18T17:43:36.584" v="76" actId="14100"/>
        <pc:sldMkLst>
          <pc:docMk/>
          <pc:sldMk cId="3790917938" sldId="575"/>
        </pc:sldMkLst>
        <pc:graphicFrameChg chg="modGraphic">
          <ac:chgData name="Taylor Davis" userId="5c9e72a0-c39f-4aa1-9d7d-64125e78cbe6" providerId="ADAL" clId="{FB72605B-C4DA-445A-92C0-7CDFEE689156}" dt="2025-06-18T17:43:36.584" v="76" actId="14100"/>
          <ac:graphicFrameMkLst>
            <pc:docMk/>
            <pc:sldMk cId="3790917938" sldId="575"/>
            <ac:graphicFrameMk id="2" creationId="{00000000-0000-0000-0000-000000000000}"/>
          </ac:graphicFrameMkLst>
        </pc:graphicFrameChg>
      </pc:sldChg>
      <pc:sldChg chg="del">
        <pc:chgData name="Taylor Davis" userId="5c9e72a0-c39f-4aa1-9d7d-64125e78cbe6" providerId="ADAL" clId="{FB72605B-C4DA-445A-92C0-7CDFEE689156}" dt="2025-06-18T04:31:53.108" v="1" actId="47"/>
        <pc:sldMkLst>
          <pc:docMk/>
          <pc:sldMk cId="4294051359" sldId="582"/>
        </pc:sldMkLst>
      </pc:sldChg>
      <pc:sldChg chg="add">
        <pc:chgData name="Taylor Davis" userId="5c9e72a0-c39f-4aa1-9d7d-64125e78cbe6" providerId="ADAL" clId="{FB72605B-C4DA-445A-92C0-7CDFEE689156}" dt="2025-06-18T04:31:51.313" v="0"/>
        <pc:sldMkLst>
          <pc:docMk/>
          <pc:sldMk cId="3677360801" sldId="2145726871"/>
        </pc:sldMkLst>
      </pc:sldChg>
      <pc:sldChg chg="addSp modSp add mod">
        <pc:chgData name="Taylor Davis" userId="5c9e72a0-c39f-4aa1-9d7d-64125e78cbe6" providerId="ADAL" clId="{FB72605B-C4DA-445A-92C0-7CDFEE689156}" dt="2025-06-18T04:33:47.984" v="11" actId="20577"/>
        <pc:sldMkLst>
          <pc:docMk/>
          <pc:sldMk cId="138911592" sldId="2145726872"/>
        </pc:sldMkLst>
        <pc:spChg chg="mod">
          <ac:chgData name="Taylor Davis" userId="5c9e72a0-c39f-4aa1-9d7d-64125e78cbe6" providerId="ADAL" clId="{FB72605B-C4DA-445A-92C0-7CDFEE689156}" dt="2025-06-18T04:33:47.984" v="11" actId="20577"/>
          <ac:spMkLst>
            <pc:docMk/>
            <pc:sldMk cId="138911592" sldId="2145726872"/>
            <ac:spMk id="6" creationId="{025AE6BF-C458-13D4-626E-DAD4C1439055}"/>
          </ac:spMkLst>
        </pc:spChg>
        <pc:spChg chg="add mod">
          <ac:chgData name="Taylor Davis" userId="5c9e72a0-c39f-4aa1-9d7d-64125e78cbe6" providerId="ADAL" clId="{FB72605B-C4DA-445A-92C0-7CDFEE689156}" dt="2025-06-18T04:33:08.075" v="7" actId="2085"/>
          <ac:spMkLst>
            <pc:docMk/>
            <pc:sldMk cId="138911592" sldId="2145726872"/>
            <ac:spMk id="26" creationId="{F1282AFE-E100-88AF-3856-37FC6E0555AF}"/>
          </ac:spMkLst>
        </pc:spChg>
        <pc:picChg chg="mod">
          <ac:chgData name="Taylor Davis" userId="5c9e72a0-c39f-4aa1-9d7d-64125e78cbe6" providerId="ADAL" clId="{FB72605B-C4DA-445A-92C0-7CDFEE689156}" dt="2025-06-18T04:32:49.144" v="4" actId="1076"/>
          <ac:picMkLst>
            <pc:docMk/>
            <pc:sldMk cId="138911592" sldId="2145726872"/>
            <ac:picMk id="25" creationId="{00000000-0000-0000-0000-000000000000}"/>
          </ac:picMkLst>
        </pc:picChg>
      </pc:sldChg>
      <pc:sldChg chg="add del">
        <pc:chgData name="Taylor Davis" userId="5c9e72a0-c39f-4aa1-9d7d-64125e78cbe6" providerId="ADAL" clId="{FB72605B-C4DA-445A-92C0-7CDFEE689156}" dt="2025-06-18T17:41:38.208" v="26" actId="47"/>
        <pc:sldMkLst>
          <pc:docMk/>
          <pc:sldMk cId="341742845" sldId="2145726873"/>
        </pc:sldMkLst>
      </pc:sldChg>
      <pc:sldChg chg="modSp add mod">
        <pc:chgData name="Taylor Davis" userId="5c9e72a0-c39f-4aa1-9d7d-64125e78cbe6" providerId="ADAL" clId="{FB72605B-C4DA-445A-92C0-7CDFEE689156}" dt="2025-06-18T17:43:02.561" v="69" actId="1035"/>
        <pc:sldMkLst>
          <pc:docMk/>
          <pc:sldMk cId="2688952372" sldId="2145726873"/>
        </pc:sldMkLst>
        <pc:spChg chg="mod">
          <ac:chgData name="Taylor Davis" userId="5c9e72a0-c39f-4aa1-9d7d-64125e78cbe6" providerId="ADAL" clId="{FB72605B-C4DA-445A-92C0-7CDFEE689156}" dt="2025-06-18T17:43:02.561" v="69" actId="1035"/>
          <ac:spMkLst>
            <pc:docMk/>
            <pc:sldMk cId="2688952372" sldId="2145726873"/>
            <ac:spMk id="6" creationId="{60820A86-1B9D-21A4-BBB6-DDFB73605882}"/>
          </ac:spMkLst>
        </pc:spChg>
        <pc:spChg chg="mod">
          <ac:chgData name="Taylor Davis" userId="5c9e72a0-c39f-4aa1-9d7d-64125e78cbe6" providerId="ADAL" clId="{FB72605B-C4DA-445A-92C0-7CDFEE689156}" dt="2025-06-18T17:43:02.561" v="69" actId="1035"/>
          <ac:spMkLst>
            <pc:docMk/>
            <pc:sldMk cId="2688952372" sldId="2145726873"/>
            <ac:spMk id="7" creationId="{6CDBA057-BBD2-8F54-E977-26B782E37F88}"/>
          </ac:spMkLst>
        </pc:spChg>
        <pc:spChg chg="mod">
          <ac:chgData name="Taylor Davis" userId="5c9e72a0-c39f-4aa1-9d7d-64125e78cbe6" providerId="ADAL" clId="{FB72605B-C4DA-445A-92C0-7CDFEE689156}" dt="2025-06-18T17:43:02.561" v="69" actId="1035"/>
          <ac:spMkLst>
            <pc:docMk/>
            <pc:sldMk cId="2688952372" sldId="2145726873"/>
            <ac:spMk id="8" creationId="{C690F22E-C9CA-61DC-5584-149573110610}"/>
          </ac:spMkLst>
        </pc:spChg>
        <pc:spChg chg="mod">
          <ac:chgData name="Taylor Davis" userId="5c9e72a0-c39f-4aa1-9d7d-64125e78cbe6" providerId="ADAL" clId="{FB72605B-C4DA-445A-92C0-7CDFEE689156}" dt="2025-06-18T17:43:02.561" v="69" actId="1035"/>
          <ac:spMkLst>
            <pc:docMk/>
            <pc:sldMk cId="2688952372" sldId="2145726873"/>
            <ac:spMk id="9" creationId="{A897897D-C568-B204-6568-514AD4B71A5C}"/>
          </ac:spMkLst>
        </pc:spChg>
        <pc:spChg chg="mod">
          <ac:chgData name="Taylor Davis" userId="5c9e72a0-c39f-4aa1-9d7d-64125e78cbe6" providerId="ADAL" clId="{FB72605B-C4DA-445A-92C0-7CDFEE689156}" dt="2025-06-18T17:42:56.640" v="42" actId="1036"/>
          <ac:spMkLst>
            <pc:docMk/>
            <pc:sldMk cId="2688952372" sldId="2145726873"/>
            <ac:spMk id="10" creationId="{1BBEE831-0583-9B2A-D9B8-C57C918E4C3C}"/>
          </ac:spMkLst>
        </pc:spChg>
        <pc:graphicFrameChg chg="mod">
          <ac:chgData name="Taylor Davis" userId="5c9e72a0-c39f-4aa1-9d7d-64125e78cbe6" providerId="ADAL" clId="{FB72605B-C4DA-445A-92C0-7CDFEE689156}" dt="2025-06-18T17:43:02.561" v="69" actId="1035"/>
          <ac:graphicFrameMkLst>
            <pc:docMk/>
            <pc:sldMk cId="2688952372" sldId="2145726873"/>
            <ac:graphicFrameMk id="2" creationId="{176BAF2A-5136-E457-9AAC-D0878752F10C}"/>
          </ac:graphicFrameMkLst>
        </pc:graphicFrameChg>
        <pc:graphicFrameChg chg="mod modGraphic">
          <ac:chgData name="Taylor Davis" userId="5c9e72a0-c39f-4aa1-9d7d-64125e78cbe6" providerId="ADAL" clId="{FB72605B-C4DA-445A-92C0-7CDFEE689156}" dt="2025-06-18T17:43:02.561" v="69" actId="1035"/>
          <ac:graphicFrameMkLst>
            <pc:docMk/>
            <pc:sldMk cId="2688952372" sldId="2145726873"/>
            <ac:graphicFrameMk id="4" creationId="{FF3ACACB-7F38-7EAA-4BDF-1A816CA00AAE}"/>
          </ac:graphicFrameMkLst>
        </pc:graphicFrameChg>
        <pc:graphicFrameChg chg="mod">
          <ac:chgData name="Taylor Davis" userId="5c9e72a0-c39f-4aa1-9d7d-64125e78cbe6" providerId="ADAL" clId="{FB72605B-C4DA-445A-92C0-7CDFEE689156}" dt="2025-06-18T17:43:02.561" v="69" actId="1035"/>
          <ac:graphicFrameMkLst>
            <pc:docMk/>
            <pc:sldMk cId="2688952372" sldId="2145726873"/>
            <ac:graphicFrameMk id="5" creationId="{32A51F3A-032C-30E2-F635-DD59B5A29A34}"/>
          </ac:graphicFrameMkLst>
        </pc:graphicFrameChg>
        <pc:cxnChg chg="mod">
          <ac:chgData name="Taylor Davis" userId="5c9e72a0-c39f-4aa1-9d7d-64125e78cbe6" providerId="ADAL" clId="{FB72605B-C4DA-445A-92C0-7CDFEE689156}" dt="2025-06-18T17:43:02.561" v="69" actId="1035"/>
          <ac:cxnSpMkLst>
            <pc:docMk/>
            <pc:sldMk cId="2688952372" sldId="2145726873"/>
            <ac:cxnSpMk id="3" creationId="{8EA958C5-E105-8A94-794A-7A8EB2DFEBDC}"/>
          </ac:cxnSpMkLst>
        </pc:cxnChg>
      </pc:sldChg>
      <pc:sldChg chg="add del setBg">
        <pc:chgData name="Taylor Davis" userId="5c9e72a0-c39f-4aa1-9d7d-64125e78cbe6" providerId="ADAL" clId="{FB72605B-C4DA-445A-92C0-7CDFEE689156}" dt="2025-06-18T17:41:51.307" v="28" actId="47"/>
        <pc:sldMkLst>
          <pc:docMk/>
          <pc:sldMk cId="1240143195" sldId="2145726874"/>
        </pc:sldMkLst>
      </pc:sldChg>
      <pc:sldChg chg="modSp add mod">
        <pc:chgData name="Taylor Davis" userId="5c9e72a0-c39f-4aa1-9d7d-64125e78cbe6" providerId="ADAL" clId="{FB72605B-C4DA-445A-92C0-7CDFEE689156}" dt="2025-06-18T19:41:19.001" v="82" actId="1076"/>
        <pc:sldMkLst>
          <pc:docMk/>
          <pc:sldMk cId="3626261451" sldId="2145726874"/>
        </pc:sldMkLst>
        <pc:graphicFrameChg chg="mod modGraphic">
          <ac:chgData name="Taylor Davis" userId="5c9e72a0-c39f-4aa1-9d7d-64125e78cbe6" providerId="ADAL" clId="{FB72605B-C4DA-445A-92C0-7CDFEE689156}" dt="2025-06-18T19:41:19.001" v="82" actId="1076"/>
          <ac:graphicFrameMkLst>
            <pc:docMk/>
            <pc:sldMk cId="3626261451" sldId="2145726874"/>
            <ac:graphicFrameMk id="4" creationId="{00000000-0000-0000-0000-000000000000}"/>
          </ac:graphicFrameMkLst>
        </pc:graphicFrameChg>
        <pc:graphicFrameChg chg="mod modGraphic">
          <ac:chgData name="Taylor Davis" userId="5c9e72a0-c39f-4aa1-9d7d-64125e78cbe6" providerId="ADAL" clId="{FB72605B-C4DA-445A-92C0-7CDFEE689156}" dt="2025-06-18T19:41:19.001" v="82" actId="1076"/>
          <ac:graphicFrameMkLst>
            <pc:docMk/>
            <pc:sldMk cId="3626261451" sldId="2145726874"/>
            <ac:graphicFrameMk id="5" creationId="{00000000-0000-0000-0000-000000000000}"/>
          </ac:graphicFrameMkLst>
        </pc:graphicFrameChg>
        <pc:graphicFrameChg chg="mod modGraphic">
          <ac:chgData name="Taylor Davis" userId="5c9e72a0-c39f-4aa1-9d7d-64125e78cbe6" providerId="ADAL" clId="{FB72605B-C4DA-445A-92C0-7CDFEE689156}" dt="2025-06-18T19:41:19.001" v="82" actId="1076"/>
          <ac:graphicFrameMkLst>
            <pc:docMk/>
            <pc:sldMk cId="3626261451" sldId="2145726874"/>
            <ac:graphicFrameMk id="6" creationId="{00000000-0000-0000-0000-000000000000}"/>
          </ac:graphicFrameMkLst>
        </pc:graphicFrame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6/18/2025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6/18/2025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6/18/2025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6/18/2025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6/18/2025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6/18/2025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6/18/2025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6/18/2025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6/18/2025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6/18/2025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6/18/2025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6/18/2025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6/18/2025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6/18/2025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41.emf"/><Relationship Id="rId5" Type="http://schemas.openxmlformats.org/officeDocument/2006/relationships/image" Target="../media/image40.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jpe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50.svg"/><Relationship Id="rId11" Type="http://schemas.openxmlformats.org/officeDocument/2006/relationships/image" Target="../media/image10.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lang="en-US" sz="6600" kern="0" spc="243" dirty="0">
                <a:solidFill>
                  <a:srgbClr val="FFFFFF"/>
                </a:solidFill>
                <a:latin typeface="Montserrat"/>
                <a:ea typeface="Jost*"/>
              </a:rPr>
              <a:t>HIGH-VALUE OHIO HEALTHCARE</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University Hospitals Health System Growth Projections for Regional Employer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3,000+ Employers       900,000</a:t>
            </a:r>
            <a:r>
              <a:rPr lang="en-US" sz="1600" spc="200" dirty="0">
                <a:latin typeface="Montserrat" panose="00000500000000000000" pitchFamily="2" charset="0"/>
                <a:cs typeface="+mj-cs"/>
                <a:sym typeface="Wingdings" panose="05000000000000000000" pitchFamily="2" charset="2"/>
              </a:rPr>
              <a:t>+ Employees       1,600,000+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2,348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1,001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625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112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176,100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150,200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187,500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253,400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492,000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317,000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270,400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337,500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456,100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403,200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885,600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29574" y="1752255"/>
            <a:ext cx="6096000" cy="4876800"/>
          </a:xfrm>
          <a:prstGeom prst="rect">
            <a:avLst/>
          </a:prstGeom>
        </p:spPr>
      </p:pic>
    </p:spTree>
    <p:extLst>
      <p:ext uri="{BB962C8B-B14F-4D97-AF65-F5344CB8AC3E}">
        <p14:creationId xmlns:p14="http://schemas.microsoft.com/office/powerpoint/2010/main" val="38670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University Hospitals Health System OH service area in Ashland, Ashtabula, Cuyahoga, Erie, Geauga, Holmes, Huron, Lake, Lorain, Mahoning, Medina, Portage, Richland, Stark, Summit, Trumbull, Wayne, and Crawford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3,162K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1,839K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1,284K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899K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$44.14M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$5.33M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$126.91M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$15.31M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$214.19M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$25.85M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367736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University Hospitals Health System OH has 23% inpatient market share, and 13% outpatient market compared to hospitals/clinics in the University Hospitals Health System OH service area (see slide 25). The DTE tiered structure will create immediate steerage, with additional steerage over time from patient bonus benefits and the patient card (see slide 28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University Hospitals Health System OH 14%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6.2%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11.2%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16.2%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200987" y="1686579"/>
            <a:ext cx="6382512" cy="4553712"/>
          </a:xfrm>
          <a:prstGeom prst="rect">
            <a:avLst/>
          </a:prstGeom>
        </p:spPr>
      </p:pic>
      <p:sp>
        <p:nvSpPr>
          <p:cNvPr id="26" name="Rectangle 25">
            <a:extLst>
              <a:ext uri="{FF2B5EF4-FFF2-40B4-BE49-F238E27FC236}">
                <a16:creationId xmlns:a16="http://schemas.microsoft.com/office/drawing/2014/main" id="{F1282AFE-E100-88AF-3856-37FC6E0555AF}"/>
              </a:ext>
            </a:extLst>
          </p:cNvPr>
          <p:cNvSpPr/>
          <p:nvPr/>
        </p:nvSpPr>
        <p:spPr>
          <a:xfrm>
            <a:off x="1636776" y="2167128"/>
            <a:ext cx="4459224" cy="329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911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extLst>
              <p:ext uri="{D42A27DB-BD31-4B8C-83A1-F6EECF244321}">
                <p14:modId xmlns:p14="http://schemas.microsoft.com/office/powerpoint/2010/main" val="3707960848"/>
              </p:ext>
            </p:extLst>
          </p:nvPr>
        </p:nvGraphicFramePr>
        <p:xfrm>
          <a:off x="6135218" y="429260"/>
          <a:ext cx="5943600" cy="14274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1,888.4K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5,253.7K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10,540.2K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1,988.0K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5,452.9K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8,213.2K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Montserrat"/>
                          <a:cs typeface="Montserrat"/>
                          <a:sym typeface="Montserrat"/>
                        </a:rPr>
                        <a:t>10,939.8K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31860536"/>
              </p:ext>
            </p:extLst>
          </p:nvPr>
        </p:nvGraphicFramePr>
        <p:xfrm>
          <a:off x="6135218" y="2715260"/>
          <a:ext cx="5943600" cy="14274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2,843.9K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7,912.2K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11,838.2K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15,794.5K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2,993.9K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8,212.2K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12,287.0K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Montserrat"/>
                          <a:cs typeface="Montserrat"/>
                          <a:sym typeface="Montserrat"/>
                        </a:rPr>
                        <a:t>16,393.3K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20029124"/>
              </p:ext>
            </p:extLst>
          </p:nvPr>
        </p:nvGraphicFramePr>
        <p:xfrm>
          <a:off x="6135218" y="5001260"/>
          <a:ext cx="5943600" cy="14274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955.6K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3,956.6K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5,254.3K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1,006.0K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2,726.5K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4,106.6K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Montserrat"/>
                          <a:cs typeface="Montserrat"/>
                          <a:sym typeface="Montserrat"/>
                        </a:rPr>
                        <a:t>5,453.5K</a:t>
                      </a:r>
                    </a:p>
                  </a:txBody>
                  <a:tcPr marL="0" marR="0" marT="63500" marB="63500" anchor="ctr">
                    <a:lnL w="12700" cap="flat" cmpd="sng" algn="ctr">
                      <a:solidFill>
                        <a:srgbClr val="BEBEBE"/>
                      </a:solidFill>
                      <a:prstDash val="solid"/>
                      <a:round/>
                      <a:headEnd type="none" w="med" len="med"/>
                      <a:tailEnd type="none" w="med" len="med"/>
                    </a:lnL>
                    <a:lnR w="12700" cap="flat" cmpd="sng" algn="ctr">
                      <a:solidFill>
                        <a:srgbClr val="BEBEBE">
                          <a:alpha val="100000"/>
                        </a:srgbClr>
                      </a:solidFill>
                      <a:prstDash val="solid"/>
                    </a:lnR>
                    <a:lnT w="12700" cap="flat" cmpd="sng" algn="ctr">
                      <a:solidFill>
                        <a:srgbClr val="BEBEBE"/>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626261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315468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University Hospitals Health System OH’s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University Hospitals Health System OH’s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University Hospitals Health System OH</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104241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University Hospitals Health System OH’s approved site(s) with network integration, and development of University Hospitals Health System OH’s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$ 4,846K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$ 4,932K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552K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$38,767K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$78,221K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$39,454K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$8,761K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University Hospitals Health System OH’s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University Hospitals Health System OH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University Hospitals Health System OH’s managed care with KBA’s programs positions University Hospitals Health System OH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University Hospitals Health System OH’s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University Hospitals Health System OH’s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University Hospitals Health System OH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16</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University Hospitals Health System OH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University Hospitals Health System OH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UNIVERSITY HOSPITALS HEALTH SYSTEM OH’S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University Hospitals Health System OH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526,866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$6,738,216K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121,279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$592,050K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25,539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$340,723K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32,153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-$286,581K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347,870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$5,806,529K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76%</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fontScale="92500"/>
          </a:bodyPr>
          <a:lstStyle/>
          <a:p>
            <a:pPr marL="0" indent="0">
              <a:buNone/>
            </a:pPr>
            <a:r>
              <a:rPr lang="en-US" sz="2400" dirty="0">
                <a:solidFill/>
                <a:cs typeface="Arial" panose="020B0604020202020204" pitchFamily="34" charset="0"/>
              </a:rPr>
              <a:t>The RAND data for University Hospitals Health System OH estimates commercial insurance reimbursements at 242%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5,806,529K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242%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2,260,263K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8,066,793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$1,166,398K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242%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2,396,260K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932,774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3,329,034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-3,571,361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23%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622722657"/>
              </p:ext>
            </p:extLst>
          </p:nvPr>
        </p:nvGraphicFramePr>
        <p:xfrm>
          <a:off x="265176" y="914400"/>
          <a:ext cx="9829800" cy="49428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Samaritan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44,774.7K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187,531.0K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Parma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372,212.3K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516,979.3K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Portage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223,221.5K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443,215.9K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TriPoint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537,073.6K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823,021.8K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St John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316,363.0K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479,232.0K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Cleveland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$3,322,611.7K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$ 3,816,400.9K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Elyria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307,772.7K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645,225.8K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Southwest General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604,486.3K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$ 1,019,654.4K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Ahuja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412,691.1K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580,047.7K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Beachwood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13,793.3K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142,984.3K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Geneva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28,233.0K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182,255.0K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Conneaut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10,412.7K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59,895.6K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UH Rainbow Babies &amp;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208977977"/>
              </p:ext>
            </p:extLst>
          </p:nvPr>
        </p:nvGraphicFramePr>
        <p:xfrm>
          <a:off x="0" y="0"/>
          <a:ext cx="12192001" cy="7609498"/>
        </p:xfrm>
        <a:graphic>
          <a:graphicData uri="http://schemas.openxmlformats.org/drawingml/2006/table">
            <a:tbl>
              <a:tblPr/>
              <a:tblGrid>
                <a:gridCol w="894046">
                  <a:extLst>
                    <a:ext uri="{9D8B030D-6E8A-4147-A177-3AD203B41FA5}">
                      <a16:colId xmlns:a16="http://schemas.microsoft.com/office/drawing/2014/main" val="20000"/>
                    </a:ext>
                  </a:extLst>
                </a:gridCol>
                <a:gridCol w="925573">
                  <a:extLst>
                    <a:ext uri="{9D8B030D-6E8A-4147-A177-3AD203B41FA5}">
                      <a16:colId xmlns:a16="http://schemas.microsoft.com/office/drawing/2014/main" val="20001"/>
                    </a:ext>
                  </a:extLst>
                </a:gridCol>
                <a:gridCol w="856520">
                  <a:extLst>
                    <a:ext uri="{9D8B030D-6E8A-4147-A177-3AD203B41FA5}">
                      <a16:colId xmlns:a16="http://schemas.microsoft.com/office/drawing/2014/main" val="20002"/>
                    </a:ext>
                  </a:extLst>
                </a:gridCol>
                <a:gridCol w="882370">
                  <a:extLst>
                    <a:ext uri="{9D8B030D-6E8A-4147-A177-3AD203B41FA5}">
                      <a16:colId xmlns:a16="http://schemas.microsoft.com/office/drawing/2014/main" val="20003"/>
                    </a:ext>
                  </a:extLst>
                </a:gridCol>
                <a:gridCol w="884475">
                  <a:extLst>
                    <a:ext uri="{9D8B030D-6E8A-4147-A177-3AD203B41FA5}">
                      <a16:colId xmlns:a16="http://schemas.microsoft.com/office/drawing/2014/main" val="20004"/>
                    </a:ext>
                  </a:extLst>
                </a:gridCol>
                <a:gridCol w="880170">
                  <a:extLst>
                    <a:ext uri="{9D8B030D-6E8A-4147-A177-3AD203B41FA5}">
                      <a16:colId xmlns:a16="http://schemas.microsoft.com/office/drawing/2014/main" val="20005"/>
                    </a:ext>
                  </a:extLst>
                </a:gridCol>
                <a:gridCol w="921249">
                  <a:extLst>
                    <a:ext uri="{9D8B030D-6E8A-4147-A177-3AD203B41FA5}">
                      <a16:colId xmlns:a16="http://schemas.microsoft.com/office/drawing/2014/main" val="20006"/>
                    </a:ext>
                  </a:extLst>
                </a:gridCol>
                <a:gridCol w="843567">
                  <a:extLst>
                    <a:ext uri="{9D8B030D-6E8A-4147-A177-3AD203B41FA5}">
                      <a16:colId xmlns:a16="http://schemas.microsoft.com/office/drawing/2014/main" val="20007"/>
                    </a:ext>
                  </a:extLst>
                </a:gridCol>
                <a:gridCol w="681583">
                  <a:extLst>
                    <a:ext uri="{9D8B030D-6E8A-4147-A177-3AD203B41FA5}">
                      <a16:colId xmlns:a16="http://schemas.microsoft.com/office/drawing/2014/main" val="20008"/>
                    </a:ext>
                  </a:extLst>
                </a:gridCol>
                <a:gridCol w="845653">
                  <a:extLst>
                    <a:ext uri="{9D8B030D-6E8A-4147-A177-3AD203B41FA5}">
                      <a16:colId xmlns:a16="http://schemas.microsoft.com/office/drawing/2014/main" val="20009"/>
                    </a:ext>
                  </a:extLst>
                </a:gridCol>
                <a:gridCol w="955727">
                  <a:extLst>
                    <a:ext uri="{9D8B030D-6E8A-4147-A177-3AD203B41FA5}">
                      <a16:colId xmlns:a16="http://schemas.microsoft.com/office/drawing/2014/main" val="20010"/>
                    </a:ext>
                  </a:extLst>
                </a:gridCol>
                <a:gridCol w="878102">
                  <a:extLst>
                    <a:ext uri="{9D8B030D-6E8A-4147-A177-3AD203B41FA5}">
                      <a16:colId xmlns:a16="http://schemas.microsoft.com/office/drawing/2014/main" val="20011"/>
                    </a:ext>
                  </a:extLst>
                </a:gridCol>
                <a:gridCol w="916848">
                  <a:extLst>
                    <a:ext uri="{9D8B030D-6E8A-4147-A177-3AD203B41FA5}">
                      <a16:colId xmlns:a16="http://schemas.microsoft.com/office/drawing/2014/main" val="20012"/>
                    </a:ext>
                  </a:extLst>
                </a:gridCol>
                <a:gridCol w="826118">
                  <a:extLst>
                    <a:ext uri="{9D8B030D-6E8A-4147-A177-3AD203B41FA5}">
                      <a16:colId xmlns:a16="http://schemas.microsoft.com/office/drawing/2014/main" val="20013"/>
                    </a:ext>
                  </a:extLst>
                </a:gridCol>
              </a:tblGrid>
              <a:tr h="276480">
                <a:tc gridSpan="1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40927">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Samaritan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Parma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Portage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TriPoint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St John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Cleveland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Elyria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Southwest General Health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Ahuja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Beachwood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Geneva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University Hospitals Conneaut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dirty="0">
                          <a:solidFill>
                            <a:srgbClr val="000000">
                              <a:alpha val="100000"/>
                            </a:srgbClr>
                          </a:solidFill>
                          <a:latin typeface="Montserrat"/>
                          <a:cs typeface="Arial"/>
                          <a:sym typeface="Arial"/>
                        </a:rPr>
                        <a:t>UH Rainbow Babies &amp; </a:t>
                      </a:r>
                      <a:r>
                        <a:rPr sz="1050" b="1" i="0" u="none" cap="none" dirty="0" err="1">
                          <a:solidFill>
                            <a:srgbClr val="000000">
                              <a:alpha val="100000"/>
                            </a:srgbClr>
                          </a:solidFill>
                          <a:latin typeface="Montserrat"/>
                          <a:cs typeface="Arial"/>
                          <a:sym typeface="Arial"/>
                        </a:rPr>
                        <a:t>Childrens</a:t>
                      </a:r>
                      <a:r>
                        <a:rPr sz="1050" b="1" i="0" u="none" cap="none" dirty="0">
                          <a:solidFill>
                            <a:srgbClr val="000000">
                              <a:alpha val="100000"/>
                            </a:srgbClr>
                          </a:solidFill>
                          <a:latin typeface="Montserrat"/>
                          <a:cs typeface="Arial"/>
                          <a:sym typeface="Arial"/>
                        </a:rPr>
                        <a: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509230">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$16,656K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$84,864K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$52,234K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$122,453K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$87,949K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$1,166,237K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$68,018K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$154,144K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$103,585K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$8,724K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$3,853K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$1,090,828K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509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$69,762K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$117,871K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$103,713K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$187,649K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$133,226K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$1,339,557K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$142,595K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$260,012K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$145,592K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$45,898K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$56,317K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$22,161K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$1,149,891K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$19,122K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$268,511K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$31,144K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$43,179K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$6,717K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71994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$14,615K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$8,494K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$208,530K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$15,988K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$13,484K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$154,611K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$241,253K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$152,019K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$2,031,282K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$156,605K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$336,699K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$192,745K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$42,734K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$52,178K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$17,693K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$2,240,719K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$7,401K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$18,684K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$16,523K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$37,732K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$14,424K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$106,768K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$23,285K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$5,944K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03872">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$18,399K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$95,198K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$57,512K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$169,111K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$82,011K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$1,196,872K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$72,410K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$152,888K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$100,251K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$5,661K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$8,530K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$4,836K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$1,052,967K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$77,061K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$132,223K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$114,193K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$259,149K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$124,231K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$1,374,745K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$151,803K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$257,893K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$140,905K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$58,688K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$55,062K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$27,817K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$1,109,980K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0387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$227,421K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$171,705K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$428,260K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$206,242K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$2,571,618K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$410,780K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$241,156K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$64,350K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$63,592K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$32,653K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$2,162,947K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6134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$-9,112K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$-24,568K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$-118,898K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$-63,294K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$-13,965K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$-6,634K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$77,772K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509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35.6%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13.8%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2. Medicare costs are taken from the Medicare Provider Analysis and Review (</a:t>
                      </a:r>
                      <a:r>
                        <a:rPr sz="600" b="0" i="0" u="none" cap="none" dirty="0" err="1">
                          <a:solidFill>
                            <a:srgbClr val="666666">
                              <a:alpha val="100000"/>
                            </a:srgbClr>
                          </a:solidFill>
                          <a:latin typeface="Montserrat"/>
                          <a:cs typeface="Arial"/>
                          <a:sym typeface="Arial"/>
                        </a:rPr>
                        <a:t>MedPAR</a:t>
                      </a:r>
                      <a:r>
                        <a:rPr sz="600" b="0" i="0" u="non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72085">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University Hospitals Health System OH has 23% inpatient market share, and 13% outpatient market compared to hospitals/clinics in the University Hospitals Health System OH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University Hospitals Health System OH.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461073609"/>
              </p:ext>
            </p:extLst>
          </p:nvPr>
        </p:nvGraphicFramePr>
        <p:xfrm>
          <a:off x="266700" y="1054578"/>
          <a:ext cx="7770875" cy="5047512"/>
        </p:xfrm>
        <a:graphic>
          <a:graphicData uri="http://schemas.openxmlformats.org/drawingml/2006/table">
            <a:tbl>
              <a:tblPr/>
              <a:tblGrid>
                <a:gridCol w="1554175">
                  <a:extLst>
                    <a:ext uri="{9D8B030D-6E8A-4147-A177-3AD203B41FA5}">
                      <a16:colId xmlns:a16="http://schemas.microsoft.com/office/drawing/2014/main" val="20000"/>
                    </a:ext>
                  </a:extLst>
                </a:gridCol>
                <a:gridCol w="1554175">
                  <a:extLst>
                    <a:ext uri="{9D8B030D-6E8A-4147-A177-3AD203B41FA5}">
                      <a16:colId xmlns:a16="http://schemas.microsoft.com/office/drawing/2014/main" val="20001"/>
                    </a:ext>
                  </a:extLst>
                </a:gridCol>
                <a:gridCol w="1554175">
                  <a:extLst>
                    <a:ext uri="{9D8B030D-6E8A-4147-A177-3AD203B41FA5}">
                      <a16:colId xmlns:a16="http://schemas.microsoft.com/office/drawing/2014/main" val="20002"/>
                    </a:ext>
                  </a:extLst>
                </a:gridCol>
                <a:gridCol w="1554175">
                  <a:extLst>
                    <a:ext uri="{9D8B030D-6E8A-4147-A177-3AD203B41FA5}">
                      <a16:colId xmlns:a16="http://schemas.microsoft.com/office/drawing/2014/main" val="20003"/>
                    </a:ext>
                  </a:extLst>
                </a:gridCol>
                <a:gridCol w="1554175">
                  <a:extLst>
                    <a:ext uri="{9D8B030D-6E8A-4147-A177-3AD203B41FA5}">
                      <a16:colId xmlns:a16="http://schemas.microsoft.com/office/drawing/2014/main" val="20004"/>
                    </a:ext>
                  </a:extLst>
                </a:gridCol>
              </a:tblGrid>
              <a:tr h="107364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University Hospitals Health System OH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University Hospitals Health System OH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15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35%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521944614"/>
              </p:ext>
            </p:extLst>
          </p:nvPr>
        </p:nvGraphicFramePr>
        <p:xfrm>
          <a:off x="418056" y="1397076"/>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33,300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$ 26,212,183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$ 26,131,259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$ 12,203,076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$ 64,546,517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$ 2,935,764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$ 2,926,701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$ 1,366,744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$ 7,229,210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4348917"/>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666860868"/>
              </p:ext>
            </p:extLst>
          </p:nvPr>
        </p:nvGraphicFramePr>
        <p:xfrm>
          <a:off x="462503" y="4718250"/>
          <a:ext cx="7134051" cy="3708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b="1"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$ 10,321,453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2230701687"/>
              </p:ext>
            </p:extLst>
          </p:nvPr>
        </p:nvGraphicFramePr>
        <p:xfrm>
          <a:off x="418055" y="2867067"/>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$ 50,969,693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$ 72,074,483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$ 33,658,171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$ 156,702,346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$ 5,708,606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$ 8,072,342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$ 3,769,715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$ 17,550,663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1586246"/>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23%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2433402"/>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316793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45% inpatient and 35%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956528"/>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190392"/>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688952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8814731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$29,755.3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$2,015.3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$392.4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$19,618.1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$46,367.8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$26,749.7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$9,161.5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$21,653.4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$220.9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$1,104.7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$5,523.6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3113086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$97,776.4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$49,318.1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$5,523.6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4686448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$113,388.6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$64,930.2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$517.7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$2,588.3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$12,941.6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50610805"/>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$48,458.3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$88,219.1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$1,590.4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$7,952.1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$39,760.7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$42.2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34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46423</TotalTime>
  <Words>4341</Words>
  <Application>Microsoft Office PowerPoint</Application>
  <PresentationFormat>Widescreen</PresentationFormat>
  <Paragraphs>1204</Paragraphs>
  <Slides>34</Slides>
  <Notes>8</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34</vt:i4>
      </vt:variant>
    </vt:vector>
  </HeadingPairs>
  <TitlesOfParts>
    <vt:vector size="44"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UNIVERSITY HOSPITALS HEALTH SYSTEM OH’S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2025-06-18T19:41:23Z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