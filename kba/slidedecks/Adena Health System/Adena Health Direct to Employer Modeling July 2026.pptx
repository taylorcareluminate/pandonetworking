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97" r:id="rId8"/>
  </p:sldMasterIdLst>
  <p:notesMasterIdLst>
    <p:notesMasterId r:id="rId50"/>
  </p:notesMasterIdLst>
  <p:sldIdLst>
    <p:sldId id="588" r:id="rId9"/>
    <p:sldId id="454" r:id="rId10"/>
    <p:sldId id="2145726874" r:id="rId11"/>
    <p:sldId id="2145726912" r:id="rId12"/>
    <p:sldId id="2145726869" r:id="rId13"/>
    <p:sldId id="466" r:id="rId14"/>
    <p:sldId id="2145726867" r:id="rId15"/>
    <p:sldId id="559" r:id="rId16"/>
    <p:sldId id="2145726914" r:id="rId17"/>
    <p:sldId id="2145726915" r:id="rId18"/>
    <p:sldId id="2145726916" r:id="rId19"/>
    <p:sldId id="521" r:id="rId20"/>
    <p:sldId id="2145726913" r:id="rId21"/>
    <p:sldId id="2145726911" r:id="rId22"/>
    <p:sldId id="2145726917" r:id="rId23"/>
    <p:sldId id="458" r:id="rId24"/>
    <p:sldId id="2145726859" r:id="rId25"/>
    <p:sldId id="2145726857" r:id="rId26"/>
    <p:sldId id="469" r:id="rId27"/>
    <p:sldId id="2145726856" r:id="rId28"/>
    <p:sldId id="614" r:id="rId29"/>
    <p:sldId id="459" r:id="rId30"/>
    <p:sldId id="2145726870" r:id="rId31"/>
    <p:sldId id="281" r:id="rId32"/>
    <p:sldId id="2145726866" r:id="rId33"/>
    <p:sldId id="583" r:id="rId34"/>
    <p:sldId id="525" r:id="rId35"/>
    <p:sldId id="2145726868" r:id="rId36"/>
    <p:sldId id="571" r:id="rId37"/>
    <p:sldId id="2145726864" r:id="rId38"/>
    <p:sldId id="585" r:id="rId39"/>
    <p:sldId id="2145726918" r:id="rId40"/>
    <p:sldId id="256" r:id="rId41"/>
    <p:sldId id="574" r:id="rId42"/>
    <p:sldId id="572" r:id="rId43"/>
    <p:sldId id="575" r:id="rId44"/>
    <p:sldId id="498" r:id="rId45"/>
    <p:sldId id="325" r:id="rId46"/>
    <p:sldId id="326" r:id="rId47"/>
    <p:sldId id="491" r:id="rId48"/>
    <p:sldId id="472" r:id="rId49"/>
  </p:sldIdLst>
  <p:sldSz cx="12192000" cy="6858000"/>
  <p:notesSz cx="7315200" cy="9601200"/>
  <p:custDataLst>
    <p:tags r:id="rId5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368D98-33AD-4FA3-8E21-F6D20EA0D5F3}" v="3" dt="2026-07-11T01:59:10.97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97" autoAdjust="0"/>
    <p:restoredTop sz="96247" autoAdjust="0"/>
  </p:normalViewPr>
  <p:slideViewPr>
    <p:cSldViewPr snapToGrid="0">
      <p:cViewPr>
        <p:scale>
          <a:sx n="66" d="100"/>
          <a:sy n="66" d="100"/>
        </p:scale>
        <p:origin x="2076" y="106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presProps" Target="pres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microsoft.com/office/2015/10/relationships/revisionInfo" Target="revisionInfo.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commentAuthors" Target="commentAuthors.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image" Target="../media/image39.svg"/><Relationship Id="rId5" Type="http://schemas.openxmlformats.org/officeDocument/2006/relationships/image" Target="../media/image43.svg"/><Relationship Id="rId4"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image" Target="../media/image39.svg"/><Relationship Id="rId5" Type="http://schemas.openxmlformats.org/officeDocument/2006/relationships/image" Target="../media/image43.sv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7/21/2026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9</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13</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22</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23</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7/21/2026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7/21/2026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7/21/2026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7/21/2026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7/21/2026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7/21/2026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7/21/2026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7/21/2026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7/21/2026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7/21/2026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7/21/2026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7/21/2026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7/21/2026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7/21/2026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7/21/2026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7/21/2026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7/21/2026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7/21/2026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7/21/2026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7/21/2026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7/21/2026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7/21/2026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7/21/2026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7/21/2026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7/21/2026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7/21/2026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7/21/2026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7/21/2026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7/21/2026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7/21/2026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7/21/2026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7/21/2026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7/21/2026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7/21/2026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7/21/2026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7/21/2026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7/21/2026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7/21/2026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7/21/2026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7/21/2026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7/21/2026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7/21/2026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7/21/2026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7/21/2026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7/21/2026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7/21/2026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7/21/2026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tags" Target="../tags/tag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4.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5.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7/21/2026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25"/>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 id="2147483786" r:id="rId13"/>
    <p:sldLayoutId id="2147483787" r:id="rId14"/>
    <p:sldLayoutId id="2147483788" r:id="rId15"/>
    <p:sldLayoutId id="2147483789" r:id="rId16"/>
    <p:sldLayoutId id="2147483790" r:id="rId17"/>
    <p:sldLayoutId id="2147483791" r:id="rId18"/>
    <p:sldLayoutId id="2147483792" r:id="rId19"/>
    <p:sldLayoutId id="2147483793" r:id="rId20"/>
    <p:sldLayoutId id="2147483794" r:id="rId21"/>
    <p:sldLayoutId id="2147483795" r:id="rId22"/>
    <p:sldLayoutId id="2147483796" r:id="rId23"/>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7/21/2026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7/21/2026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4.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4.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3" Type="http://schemas.openxmlformats.org/officeDocument/2006/relationships/image" Target="../media/image17.pn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13.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svg"/><Relationship Id="rId14" Type="http://schemas.openxmlformats.org/officeDocument/2006/relationships/image" Target="../media/image28.svg"/></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7.png"/><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7FE53189_F808901F.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3.png"/><Relationship Id="rId1" Type="http://schemas.openxmlformats.org/officeDocument/2006/relationships/slideLayout" Target="../slideLayouts/slideLayout30.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40.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40.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24.xml"/><Relationship Id="rId5" Type="http://schemas.openxmlformats.org/officeDocument/2006/relationships/image" Target="../media/image50.svg"/><Relationship Id="rId4" Type="http://schemas.openxmlformats.org/officeDocument/2006/relationships/image" Target="../media/image49.jpe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2.xml"/><Relationship Id="rId6" Type="http://schemas.openxmlformats.org/officeDocument/2006/relationships/image" Target="../media/image55.jpeg"/><Relationship Id="rId5" Type="http://schemas.openxmlformats.org/officeDocument/2006/relationships/image" Target="../media/image54.jpeg"/><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6.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6.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8.svg"/><Relationship Id="rId7" Type="http://schemas.openxmlformats.org/officeDocument/2006/relationships/image" Target="../media/image8.png"/><Relationship Id="rId2" Type="http://schemas.openxmlformats.org/officeDocument/2006/relationships/image" Target="../media/image57.jpeg"/><Relationship Id="rId1" Type="http://schemas.openxmlformats.org/officeDocument/2006/relationships/slideLayout" Target="../slideLayouts/slideLayout6.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Adena Health System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6"/>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9646920" y="347472"/>
            <a:ext cx="1211868"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Adena Health System</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pic>
        <p:nvPicPr>
          <p:cNvPr id="9" name="Content Placeholder 8"/>
          <p:cNvPicPr>
            <a:picLocks noGrp="1"/>
          </p:cNvPicPr>
          <p:nvPr>
            <p:ph/>
          </p:nvPr>
        </p:nvPicPr>
        <p:blipFill>
          <a:blip r:embed="rId2"/>
          <a:stretch>
            <a:fillRect/>
          </a:stretch>
        </p:blipFill>
        <p:spPr>
          <a:xfrm>
            <a:off x="5417261" y="1368706"/>
            <a:ext cx="5785648" cy="4120588"/>
          </a:xfrm>
          <a:prstGeom prst="rect">
            <a:avLst/>
          </a:prstGeom>
        </p:spPr>
      </p:pic>
      <p:grpSp>
        <p:nvGrpSpPr>
          <p:cNvPr id="10" name="Group 28">
            <a:extLst>
              <a:ext uri="{FF2B5EF4-FFF2-40B4-BE49-F238E27FC236}">
                <a16:creationId xmlns:a16="http://schemas.microsoft.com/office/drawing/2014/main" id="{81728E2C-BA6A-2234-ADB7-A76986E6A0E9}"/>
              </a:ext>
            </a:extLst>
          </p:cNvPr>
          <p:cNvGrpSpPr/>
          <p:nvPr/>
        </p:nvGrpSpPr>
        <p:grpSpPr>
          <a:xfrm>
            <a:off x="989091" y="1852508"/>
            <a:ext cx="4179295" cy="3636786"/>
            <a:chOff x="1267778" y="2161521"/>
            <a:chExt cx="8731885" cy="4307840"/>
          </a:xfrm>
        </p:grpSpPr>
        <p:grpSp>
          <p:nvGrpSpPr>
            <p:cNvPr id="11" name="Group 29">
              <a:extLst>
                <a:ext uri="{FF2B5EF4-FFF2-40B4-BE49-F238E27FC236}">
                  <a16:creationId xmlns:a16="http://schemas.microsoft.com/office/drawing/2014/main" id="{143AC5A5-FA7F-818B-CE76-63EED3B2FE22}"/>
                </a:ext>
              </a:extLst>
            </p:cNvPr>
            <p:cNvGrpSpPr/>
            <p:nvPr/>
          </p:nvGrpSpPr>
          <p:grpSpPr>
            <a:xfrm>
              <a:off x="1267778" y="5494001"/>
              <a:ext cx="7329805" cy="975360"/>
              <a:chOff x="1267778" y="5494001"/>
              <a:chExt cx="7329805" cy="975360"/>
            </a:xfrm>
          </p:grpSpPr>
          <p:sp>
            <p:nvSpPr>
              <p:cNvPr id="31" name="Freeform: Shape 72">
                <a:extLst>
                  <a:ext uri="{FF2B5EF4-FFF2-40B4-BE49-F238E27FC236}">
                    <a16:creationId xmlns:a16="http://schemas.microsoft.com/office/drawing/2014/main" id="{323E5298-72E4-9A37-5B7A-FD09D62FC12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32" name="TextBox 73">
                <a:extLst>
                  <a:ext uri="{FF2B5EF4-FFF2-40B4-BE49-F238E27FC236}">
                    <a16:creationId xmlns:a16="http://schemas.microsoft.com/office/drawing/2014/main" id="{41963BAD-73B5-CB34-3319-21731E70A487}"/>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2" name="Group 30">
              <a:extLst>
                <a:ext uri="{FF2B5EF4-FFF2-40B4-BE49-F238E27FC236}">
                  <a16:creationId xmlns:a16="http://schemas.microsoft.com/office/drawing/2014/main" id="{00AE5F81-628B-5445-83E4-D08383E904EF}"/>
                </a:ext>
              </a:extLst>
            </p:cNvPr>
            <p:cNvGrpSpPr/>
            <p:nvPr/>
          </p:nvGrpSpPr>
          <p:grpSpPr>
            <a:xfrm>
              <a:off x="1724978" y="2161521"/>
              <a:ext cx="8274685" cy="3197014"/>
              <a:chOff x="3170556" y="1830493"/>
              <a:chExt cx="8274685" cy="3197014"/>
            </a:xfrm>
          </p:grpSpPr>
          <p:grpSp>
            <p:nvGrpSpPr>
              <p:cNvPr id="22" name="Group 58">
                <a:extLst>
                  <a:ext uri="{FF2B5EF4-FFF2-40B4-BE49-F238E27FC236}">
                    <a16:creationId xmlns:a16="http://schemas.microsoft.com/office/drawing/2014/main" id="{BAFA0EFE-7791-6845-ACA1-CE8460466BDA}"/>
                  </a:ext>
                </a:extLst>
              </p:cNvPr>
              <p:cNvGrpSpPr/>
              <p:nvPr/>
            </p:nvGrpSpPr>
            <p:grpSpPr>
              <a:xfrm>
                <a:off x="3170556" y="4052147"/>
                <a:ext cx="7339965" cy="975360"/>
                <a:chOff x="3170556" y="4052147"/>
                <a:chExt cx="7339965" cy="975360"/>
              </a:xfrm>
            </p:grpSpPr>
            <p:sp>
              <p:nvSpPr>
                <p:cNvPr id="29" name="Freeform: Shape 62">
                  <a:extLst>
                    <a:ext uri="{FF2B5EF4-FFF2-40B4-BE49-F238E27FC236}">
                      <a16:creationId xmlns:a16="http://schemas.microsoft.com/office/drawing/2014/main" id="{55537ED5-FE99-03F0-EAA5-77B05183F090}"/>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30" name="TextBox 63">
                  <a:extLst>
                    <a:ext uri="{FF2B5EF4-FFF2-40B4-BE49-F238E27FC236}">
                      <a16:creationId xmlns:a16="http://schemas.microsoft.com/office/drawing/2014/main" id="{F33A0EC3-5C11-CD68-7169-64E42618B7E6}"/>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23" name="Group 52">
                <a:extLst>
                  <a:ext uri="{FF2B5EF4-FFF2-40B4-BE49-F238E27FC236}">
                    <a16:creationId xmlns:a16="http://schemas.microsoft.com/office/drawing/2014/main" id="{1D14ABAD-FF26-76C4-CB77-5EBC77779FED}"/>
                  </a:ext>
                </a:extLst>
              </p:cNvPr>
              <p:cNvGrpSpPr/>
              <p:nvPr/>
            </p:nvGrpSpPr>
            <p:grpSpPr>
              <a:xfrm>
                <a:off x="3612748" y="2930285"/>
                <a:ext cx="7365133" cy="975360"/>
                <a:chOff x="3612747" y="2930285"/>
                <a:chExt cx="7365133" cy="975360"/>
              </a:xfrm>
            </p:grpSpPr>
            <p:sp>
              <p:nvSpPr>
                <p:cNvPr id="27" name="Freeform: Shape 56">
                  <a:extLst>
                    <a:ext uri="{FF2B5EF4-FFF2-40B4-BE49-F238E27FC236}">
                      <a16:creationId xmlns:a16="http://schemas.microsoft.com/office/drawing/2014/main" id="{888E0DDC-BC95-95D3-1FE4-6C6A28485AE9}"/>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28" name="TextBox 57">
                  <a:extLst>
                    <a:ext uri="{FF2B5EF4-FFF2-40B4-BE49-F238E27FC236}">
                      <a16:creationId xmlns:a16="http://schemas.microsoft.com/office/drawing/2014/main" id="{799D952F-2020-42BE-3513-497344FA35B5}"/>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24" name="Group 46">
                <a:extLst>
                  <a:ext uri="{FF2B5EF4-FFF2-40B4-BE49-F238E27FC236}">
                    <a16:creationId xmlns:a16="http://schemas.microsoft.com/office/drawing/2014/main" id="{21C29D0F-34A3-3C7E-716A-8AFD35BCBB95}"/>
                  </a:ext>
                </a:extLst>
              </p:cNvPr>
              <p:cNvGrpSpPr/>
              <p:nvPr/>
            </p:nvGrpSpPr>
            <p:grpSpPr>
              <a:xfrm>
                <a:off x="4104006" y="1830493"/>
                <a:ext cx="7341235" cy="975360"/>
                <a:chOff x="4104006" y="1830493"/>
                <a:chExt cx="7341235" cy="975360"/>
              </a:xfrm>
            </p:grpSpPr>
            <p:sp>
              <p:nvSpPr>
                <p:cNvPr id="25" name="Freeform: Shape 50">
                  <a:extLst>
                    <a:ext uri="{FF2B5EF4-FFF2-40B4-BE49-F238E27FC236}">
                      <a16:creationId xmlns:a16="http://schemas.microsoft.com/office/drawing/2014/main" id="{3A6A8417-E7EC-F81B-D8D0-7BEBA4B93E0F}"/>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26" name="TextBox 51">
                  <a:extLst>
                    <a:ext uri="{FF2B5EF4-FFF2-40B4-BE49-F238E27FC236}">
                      <a16:creationId xmlns:a16="http://schemas.microsoft.com/office/drawing/2014/main" id="{646A418A-44F2-C412-A84F-6A0685D885EE}"/>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3" name="Freeform: Shape 31">
              <a:extLst>
                <a:ext uri="{FF2B5EF4-FFF2-40B4-BE49-F238E27FC236}">
                  <a16:creationId xmlns:a16="http://schemas.microsoft.com/office/drawing/2014/main" id="{C7C57236-28DB-CE57-7FEC-366370411355}"/>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4" name="Group 32">
              <a:extLst>
                <a:ext uri="{FF2B5EF4-FFF2-40B4-BE49-F238E27FC236}">
                  <a16:creationId xmlns:a16="http://schemas.microsoft.com/office/drawing/2014/main" id="{ED39C29F-1918-35DD-1CBE-3D35E6F35883}"/>
                </a:ext>
              </a:extLst>
            </p:cNvPr>
            <p:cNvGrpSpPr/>
            <p:nvPr/>
          </p:nvGrpSpPr>
          <p:grpSpPr>
            <a:xfrm>
              <a:off x="8755080" y="3384449"/>
              <a:ext cx="568098" cy="706284"/>
              <a:chOff x="3970882" y="2311049"/>
              <a:chExt cx="704850" cy="876300"/>
            </a:xfrm>
          </p:grpSpPr>
          <p:sp>
            <p:nvSpPr>
              <p:cNvPr id="17" name="Freeform: Shape 36">
                <a:extLst>
                  <a:ext uri="{FF2B5EF4-FFF2-40B4-BE49-F238E27FC236}">
                    <a16:creationId xmlns:a16="http://schemas.microsoft.com/office/drawing/2014/main" id="{A1EA33A4-372A-0011-1302-B257CF7E2E6E}"/>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18" name="Freeform: Shape 37">
                <a:extLst>
                  <a:ext uri="{FF2B5EF4-FFF2-40B4-BE49-F238E27FC236}">
                    <a16:creationId xmlns:a16="http://schemas.microsoft.com/office/drawing/2014/main" id="{14EDBC71-5ADE-D3A3-26DA-598AC4A3D487}"/>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19" name="Freeform: Shape 38">
                <a:extLst>
                  <a:ext uri="{FF2B5EF4-FFF2-40B4-BE49-F238E27FC236}">
                    <a16:creationId xmlns:a16="http://schemas.microsoft.com/office/drawing/2014/main" id="{0A5BBAA6-C562-04FE-1B9C-833CEB0289EA}"/>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9">
                <a:extLst>
                  <a:ext uri="{FF2B5EF4-FFF2-40B4-BE49-F238E27FC236}">
                    <a16:creationId xmlns:a16="http://schemas.microsoft.com/office/drawing/2014/main" id="{C847EC01-9946-74E9-96CC-1DB363BDCC8D}"/>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40">
                <a:extLst>
                  <a:ext uri="{FF2B5EF4-FFF2-40B4-BE49-F238E27FC236}">
                    <a16:creationId xmlns:a16="http://schemas.microsoft.com/office/drawing/2014/main" id="{A0D707B2-7E64-D30D-D0D1-854BC8C2FD56}"/>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15" name="Freeform: Shape 33">
              <a:extLst>
                <a:ext uri="{FF2B5EF4-FFF2-40B4-BE49-F238E27FC236}">
                  <a16:creationId xmlns:a16="http://schemas.microsoft.com/office/drawing/2014/main" id="{37797B50-C9D9-45FE-1B00-62DC1BD2ADF2}"/>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16" name="Freeform: Shape 34">
              <a:extLst>
                <a:ext uri="{FF2B5EF4-FFF2-40B4-BE49-F238E27FC236}">
                  <a16:creationId xmlns:a16="http://schemas.microsoft.com/office/drawing/2014/main" id="{9AF2B906-6355-B332-BB0E-0B7382A2D23E}"/>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33" name="TextBox 75">
            <a:extLst>
              <a:ext uri="{FF2B5EF4-FFF2-40B4-BE49-F238E27FC236}">
                <a16:creationId xmlns:a16="http://schemas.microsoft.com/office/drawing/2014/main" id="{58817BA2-6A18-EB03-BD2C-698AEB8602E2}"/>
              </a:ext>
            </a:extLst>
          </p:cNvPr>
          <p:cNvSpPr txBox="1"/>
          <p:nvPr/>
        </p:nvSpPr>
        <p:spPr>
          <a:xfrm>
            <a:off x="1654690" y="5668453"/>
            <a:ext cx="9514366" cy="461665"/>
          </a:xfrm>
          <a:prstGeom prst="rect">
            <a:avLst/>
          </a:prstGeom>
          <a:noFill/>
        </p:spPr>
        <p:txBody>
          <a:bodyPr wrap="square" rtlCol="0">
            <a:spAutoFit/>
          </a:bodyPr>
          <a:lstStyle/>
          <a:p>
            <a:r>
              <a:rPr lang="en-US" sz="1200" dirty="0">
                <a:solidFill/>
                <a:latin typeface="Montserrat" panose="00000500000000000000" pitchFamily="2" charset="0"/>
              </a:rPr>
              <a:t>Estimates includes the Adena Health System service area in Adams, Clinton, Fairfield, Fayette, Highland, Hocking, Jackson, Madison, Pickaway, Pike, Ross, and Scioto Counties</a:t>
            </a:r>
          </a:p>
        </p:txBody>
      </p:sp>
      <p:sp>
        <p:nvSpPr>
          <p:cNvPr id="34" name="TextBox 76">
            <a:extLst>
              <a:ext uri="{FF2B5EF4-FFF2-40B4-BE49-F238E27FC236}">
                <a16:creationId xmlns:a16="http://schemas.microsoft.com/office/drawing/2014/main" id="{0504AFC4-0C7D-F5E6-60F2-6CBA68805000}"/>
              </a:ext>
            </a:extLst>
          </p:cNvPr>
          <p:cNvSpPr txBox="1"/>
          <p:nvPr/>
        </p:nvSpPr>
        <p:spPr>
          <a:xfrm>
            <a:off x="2999355" y="4846334"/>
            <a:ext cx="1752403" cy="461665"/>
          </a:xfrm>
          <a:prstGeom prst="rect">
            <a:avLst/>
          </a:prstGeom>
          <a:noFill/>
        </p:spPr>
        <p:txBody>
          <a:bodyPr wrap="none" rtlCol="0">
            <a:spAutoFit/>
          </a:bodyPr>
          <a:lstStyle/>
          <a:p>
            <a:r>
              <a:rPr lang="en-US" sz="2400" dirty="0">
                <a:solidFill/>
                <a:latin typeface="Montserrat" panose="00000500000000000000" pitchFamily="2" charset="0"/>
              </a:rPr>
              <a:t>241K</a:t>
            </a:r>
          </a:p>
        </p:txBody>
      </p:sp>
      <p:sp>
        <p:nvSpPr>
          <p:cNvPr id="35" name="TextBox 77">
            <a:extLst>
              <a:ext uri="{FF2B5EF4-FFF2-40B4-BE49-F238E27FC236}">
                <a16:creationId xmlns:a16="http://schemas.microsoft.com/office/drawing/2014/main" id="{2295B7E7-94F4-63A1-63F9-BA973EDBFEF7}"/>
              </a:ext>
            </a:extLst>
          </p:cNvPr>
          <p:cNvSpPr txBox="1"/>
          <p:nvPr/>
        </p:nvSpPr>
        <p:spPr>
          <a:xfrm>
            <a:off x="3222288" y="3921279"/>
            <a:ext cx="1162498" cy="461665"/>
          </a:xfrm>
          <a:prstGeom prst="rect">
            <a:avLst/>
          </a:prstGeom>
          <a:noFill/>
        </p:spPr>
        <p:txBody>
          <a:bodyPr wrap="none" rtlCol="0">
            <a:spAutoFit/>
          </a:bodyPr>
          <a:lstStyle/>
          <a:p>
            <a:r>
              <a:rPr lang="en-US" sz="2400" dirty="0">
                <a:solidFill/>
                <a:latin typeface="Montserrat" panose="00000500000000000000" pitchFamily="2" charset="0"/>
              </a:rPr>
              <a:t>135K</a:t>
            </a:r>
          </a:p>
        </p:txBody>
      </p:sp>
      <p:sp>
        <p:nvSpPr>
          <p:cNvPr id="36" name="TextBox 78">
            <a:extLst>
              <a:ext uri="{FF2B5EF4-FFF2-40B4-BE49-F238E27FC236}">
                <a16:creationId xmlns:a16="http://schemas.microsoft.com/office/drawing/2014/main" id="{FA22F6E7-C1F4-998F-49A7-4A485680B769}"/>
              </a:ext>
            </a:extLst>
          </p:cNvPr>
          <p:cNvSpPr txBox="1"/>
          <p:nvPr/>
        </p:nvSpPr>
        <p:spPr>
          <a:xfrm>
            <a:off x="3441744" y="2978534"/>
            <a:ext cx="1132041" cy="461665"/>
          </a:xfrm>
          <a:prstGeom prst="rect">
            <a:avLst/>
          </a:prstGeom>
          <a:noFill/>
        </p:spPr>
        <p:txBody>
          <a:bodyPr wrap="none" rtlCol="0">
            <a:spAutoFit/>
          </a:bodyPr>
          <a:lstStyle/>
          <a:p>
            <a:r>
              <a:rPr lang="en-US" sz="2400" dirty="0">
                <a:solidFill/>
                <a:latin typeface="Montserrat" panose="00000500000000000000" pitchFamily="2" charset="0"/>
              </a:rPr>
              <a:t>84K</a:t>
            </a:r>
          </a:p>
        </p:txBody>
      </p:sp>
      <p:sp>
        <p:nvSpPr>
          <p:cNvPr id="37" name="TextBox 79">
            <a:extLst>
              <a:ext uri="{FF2B5EF4-FFF2-40B4-BE49-F238E27FC236}">
                <a16:creationId xmlns:a16="http://schemas.microsoft.com/office/drawing/2014/main" id="{0F03EE9D-B383-35EF-A1CA-1C76AF33FA9D}"/>
              </a:ext>
            </a:extLst>
          </p:cNvPr>
          <p:cNvSpPr txBox="1"/>
          <p:nvPr/>
        </p:nvSpPr>
        <p:spPr>
          <a:xfrm>
            <a:off x="3661200" y="2046999"/>
            <a:ext cx="984565" cy="461665"/>
          </a:xfrm>
          <a:prstGeom prst="rect">
            <a:avLst/>
          </a:prstGeom>
          <a:noFill/>
        </p:spPr>
        <p:txBody>
          <a:bodyPr wrap="none" rtlCol="0">
            <a:spAutoFit/>
          </a:bodyPr>
          <a:lstStyle/>
          <a:p>
            <a:r>
              <a:rPr lang="en-US" sz="2400" dirty="0">
                <a:solidFill/>
                <a:latin typeface="Montserrat" panose="00000500000000000000" pitchFamily="2" charset="0"/>
              </a:rPr>
              <a:t>59K</a:t>
            </a:r>
          </a:p>
        </p:txBody>
      </p:sp>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$0.66M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$0.21M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$4.43M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$1.51M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$9.67M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$3.32M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1289848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Adena Health System OH has 55% inpatient market share, and 40% outpatient market compared to hospitals/clinics in the Adena Health System OH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Adena Health System OH 42%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28.6%</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33.6%</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38.6%</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2305407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420.9K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239.9K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404.3K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661.4K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345.8K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649.6K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220.3K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657730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2023276"/>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13</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dirty="0">
                <a:solidFill>
                  <a:srgbClr val="C00000"/>
                </a:solidFill>
                <a:cs typeface="Arial" panose="020B0604020202020204" pitchFamily="34" charset="0"/>
              </a:rPr>
              <a:t>Affordability Without Compromise</a:t>
            </a:r>
          </a:p>
          <a:p>
            <a:r>
              <a:rPr lang="en-US" altLang="en-US" sz="2600" dirty="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dirty="0">
                <a:solidFill>
                  <a:srgbClr val="FFFFFF"/>
                </a:solidFill>
                <a:cs typeface="Arial" panose="020B0604020202020204" pitchFamily="34" charset="0"/>
              </a:rPr>
              <a:t>*Daily Inpatient Hospital Benefit, OP Surgery/Anesthesia,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7" y="231140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B9513E0E-7997-5087-8A07-209BA195F47F}"/>
              </a:ext>
            </a:extLst>
          </p:cNvPr>
          <p:cNvSpPr txBox="1"/>
          <p:nvPr/>
        </p:nvSpPr>
        <p:spPr>
          <a:xfrm>
            <a:off x="571062" y="2690336"/>
            <a:ext cx="3326860" cy="738664"/>
          </a:xfrm>
          <a:prstGeom prst="rect">
            <a:avLst/>
          </a:prstGeom>
          <a:solidFill>
            <a:schemeClr val="bg1"/>
          </a:solidFill>
        </p:spPr>
        <p:txBody>
          <a:bodyPr wrap="square" rtlCol="0">
            <a:spAutoFit/>
          </a:bodyPr>
          <a:lstStyle/>
          <a:p>
            <a:pPr algn="r"/>
            <a:r>
              <a:rPr lang="en-US" b="1" dirty="0">
                <a:solidFill>
                  <a:srgbClr val="00529F"/>
                </a:solidFill>
              </a:rPr>
              <a:t>Basic Medical Benefit</a:t>
            </a:r>
          </a:p>
          <a:p>
            <a:pPr algn="r"/>
            <a:r>
              <a:rPr lang="en-US" sz="1200" dirty="0"/>
              <a:t>Customized major medical plan with access to a broad network of providers</a:t>
            </a:r>
          </a:p>
        </p:txBody>
      </p:sp>
      <p:sp>
        <p:nvSpPr>
          <p:cNvPr id="12" name="TextBox 11">
            <a:extLst>
              <a:ext uri="{FF2B5EF4-FFF2-40B4-BE49-F238E27FC236}">
                <a16:creationId xmlns:a16="http://schemas.microsoft.com/office/drawing/2014/main" id="{B30CC588-ADF1-8271-E978-1C05B8F21774}"/>
              </a:ext>
            </a:extLst>
          </p:cNvPr>
          <p:cNvSpPr txBox="1"/>
          <p:nvPr/>
        </p:nvSpPr>
        <p:spPr>
          <a:xfrm>
            <a:off x="571062" y="3721139"/>
            <a:ext cx="3326860" cy="1107996"/>
          </a:xfrm>
          <a:prstGeom prst="rect">
            <a:avLst/>
          </a:prstGeom>
          <a:solidFill>
            <a:schemeClr val="bg1"/>
          </a:solidFill>
        </p:spPr>
        <p:txBody>
          <a:bodyPr wrap="square" rtlCol="0">
            <a:spAutoFit/>
          </a:bodyPr>
          <a:lstStyle/>
          <a:p>
            <a:pPr algn="r"/>
            <a:r>
              <a:rPr lang="en-US" b="1" dirty="0">
                <a:solidFill>
                  <a:srgbClr val="E86D01"/>
                </a:solidFill>
              </a:rPr>
              <a:t>Health Guardian Account</a:t>
            </a:r>
          </a:p>
          <a:p>
            <a:pPr algn="r"/>
            <a:r>
              <a:rPr lang="en-US" sz="1200" dirty="0"/>
              <a:t>You get the care you need. We do the work to track and administer your Preferred Plus Benefits, Out-of-Pocket Expenses, and Healthcare Convenience Card</a:t>
            </a:r>
          </a:p>
        </p:txBody>
      </p:sp>
      <p:sp>
        <p:nvSpPr>
          <p:cNvPr id="13" name="TextBox 12">
            <a:extLst>
              <a:ext uri="{FF2B5EF4-FFF2-40B4-BE49-F238E27FC236}">
                <a16:creationId xmlns:a16="http://schemas.microsoft.com/office/drawing/2014/main" id="{6330D609-9D4F-4462-7DFB-73AFB229B6DF}"/>
              </a:ext>
            </a:extLst>
          </p:cNvPr>
          <p:cNvSpPr txBox="1"/>
          <p:nvPr/>
        </p:nvSpPr>
        <p:spPr>
          <a:xfrm>
            <a:off x="166688" y="4926349"/>
            <a:ext cx="3818783" cy="1015663"/>
          </a:xfrm>
          <a:prstGeom prst="rect">
            <a:avLst/>
          </a:prstGeom>
          <a:solidFill>
            <a:schemeClr val="bg1"/>
          </a:solidFill>
        </p:spPr>
        <p:txBody>
          <a:bodyPr wrap="square" rtlCol="0">
            <a:spAutoFit/>
          </a:bodyPr>
          <a:lstStyle/>
          <a:p>
            <a:pPr algn="r"/>
            <a:r>
              <a:rPr lang="en-US" b="1" dirty="0">
                <a:solidFill>
                  <a:srgbClr val="F3B03C"/>
                </a:solidFill>
              </a:rPr>
              <a:t>Chronic Disease and Acute Illness Management</a:t>
            </a:r>
          </a:p>
          <a:p>
            <a:pPr algn="r"/>
            <a:r>
              <a:rPr lang="en-US" sz="1200" dirty="0"/>
              <a:t>Patented and proven program focusing on 28 chronic illnesses with a proven 11%-17% savings and a $14:$1 ROI</a:t>
            </a:r>
          </a:p>
        </p:txBody>
      </p:sp>
      <p:sp>
        <p:nvSpPr>
          <p:cNvPr id="14" name="TextBox 13">
            <a:extLst>
              <a:ext uri="{FF2B5EF4-FFF2-40B4-BE49-F238E27FC236}">
                <a16:creationId xmlns:a16="http://schemas.microsoft.com/office/drawing/2014/main" id="{D5A7278E-5F43-01FB-27CE-523F5D70FFF8}"/>
              </a:ext>
            </a:extLst>
          </p:cNvPr>
          <p:cNvSpPr txBox="1"/>
          <p:nvPr/>
        </p:nvSpPr>
        <p:spPr>
          <a:xfrm>
            <a:off x="8496840" y="2967335"/>
            <a:ext cx="3326860" cy="923330"/>
          </a:xfrm>
          <a:prstGeom prst="rect">
            <a:avLst/>
          </a:prstGeom>
          <a:solidFill>
            <a:schemeClr val="bg1"/>
          </a:solidFill>
        </p:spPr>
        <p:txBody>
          <a:bodyPr wrap="square" rtlCol="0">
            <a:spAutoFit/>
          </a:bodyPr>
          <a:lstStyle/>
          <a:p>
            <a:r>
              <a:rPr lang="en-US" b="1" dirty="0">
                <a:solidFill>
                  <a:srgbClr val="00529F"/>
                </a:solidFill>
              </a:rPr>
              <a:t>Preferred Plus Benefits*</a:t>
            </a:r>
          </a:p>
          <a:p>
            <a:r>
              <a:rPr lang="en-US" sz="1200" dirty="0"/>
              <a:t>Benefits payable at KIP preferred providers, offering real dollars to members who get the are they need, when they need it!*</a:t>
            </a:r>
          </a:p>
        </p:txBody>
      </p:sp>
      <p:sp>
        <p:nvSpPr>
          <p:cNvPr id="15" name="TextBox 14">
            <a:extLst>
              <a:ext uri="{FF2B5EF4-FFF2-40B4-BE49-F238E27FC236}">
                <a16:creationId xmlns:a16="http://schemas.microsoft.com/office/drawing/2014/main" id="{A3BA68FB-A0A4-0328-8E6A-0F114DC881F6}"/>
              </a:ext>
            </a:extLst>
          </p:cNvPr>
          <p:cNvSpPr txBox="1"/>
          <p:nvPr/>
        </p:nvSpPr>
        <p:spPr>
          <a:xfrm>
            <a:off x="8496840" y="4054772"/>
            <a:ext cx="3326860" cy="923330"/>
          </a:xfrm>
          <a:prstGeom prst="rect">
            <a:avLst/>
          </a:prstGeom>
          <a:solidFill>
            <a:schemeClr val="bg1"/>
          </a:solidFill>
        </p:spPr>
        <p:txBody>
          <a:bodyPr wrap="square" rtlCol="0">
            <a:spAutoFit/>
          </a:bodyPr>
          <a:lstStyle/>
          <a:p>
            <a:r>
              <a:rPr lang="en-US" b="1" dirty="0">
                <a:solidFill>
                  <a:srgbClr val="C0CF31"/>
                </a:solidFill>
              </a:rPr>
              <a:t>Healthcare Convenience Card</a:t>
            </a:r>
          </a:p>
          <a:p>
            <a:r>
              <a:rPr lang="en-US" sz="1200" dirty="0"/>
              <a:t>0% interest, no-fee Convenience Card, giving members a simple and convenient way to pay for out-of-pocket expenses at Preferred Providers</a:t>
            </a:r>
          </a:p>
        </p:txBody>
      </p:sp>
      <p:sp>
        <p:nvSpPr>
          <p:cNvPr id="16" name="TextBox 15">
            <a:extLst>
              <a:ext uri="{FF2B5EF4-FFF2-40B4-BE49-F238E27FC236}">
                <a16:creationId xmlns:a16="http://schemas.microsoft.com/office/drawing/2014/main" id="{26B6C314-B6EE-234A-324E-DD5719029ACB}"/>
              </a:ext>
            </a:extLst>
          </p:cNvPr>
          <p:cNvSpPr txBox="1"/>
          <p:nvPr/>
        </p:nvSpPr>
        <p:spPr>
          <a:xfrm>
            <a:off x="8116111" y="5113874"/>
            <a:ext cx="4060808" cy="1323439"/>
          </a:xfrm>
          <a:prstGeom prst="rect">
            <a:avLst/>
          </a:prstGeom>
          <a:solidFill>
            <a:schemeClr val="bg1"/>
          </a:solidFill>
        </p:spPr>
        <p:txBody>
          <a:bodyPr wrap="square" rtlCol="0">
            <a:spAutoFit/>
          </a:bodyPr>
          <a:lstStyle/>
          <a:p>
            <a:r>
              <a:rPr lang="en-US" sz="1600" b="1" dirty="0">
                <a:solidFill>
                  <a:srgbClr val="3C4EAD"/>
                </a:solidFill>
              </a:rPr>
              <a:t>Pharmacy Benefit Manager, Specialty Rx, and Obesity Management Program (GLP-1)</a:t>
            </a:r>
          </a:p>
          <a:p>
            <a:r>
              <a:rPr lang="en-US" sz="1200" dirty="0"/>
              <a:t>Truly transparent and innovative Rx programs that offer real savings and 1-on-1, personalized coaching for members. ~20%+ savings on Rx spend, 10% savings on overall claims spend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Adena Health System OH’s approved site(s) with network integration, and development of Adena Health System OH’s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2,764K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$ 4,454K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$ 1,497K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5,528K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$ 1,073K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348K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$11,136K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$ 3,742K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$ 13,820K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$ 2,684K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$ 4,643K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907K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$44,544K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$14,967K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$ 55,279K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$10,734K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$18,574K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$3,607K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$3,702K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$89,089K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$29,934K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$110,558K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$21,469K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$37,147K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$7,214K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$7,429K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45172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Adena Health System’s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Adena Health System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Adena Health System’s managed care with KBA’s programs positions Adena Health System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2262158"/>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Adena Health System’s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Adena Health System’s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Adena Health System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19</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22</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extLst>
              <p:ext uri="{D42A27DB-BD31-4B8C-83A1-F6EECF244321}">
                <p14:modId xmlns:p14="http://schemas.microsoft.com/office/powerpoint/2010/main" val="2112605938"/>
              </p:ext>
            </p:extLst>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Convenience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23</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Adena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ADENA</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ADENA HEALTH SYSTEM’S </a:t>
            </a:r>
            <a:r>
              <a:rPr lang="en-US" sz="2800" dirty="0">
                <a:latin typeface="Montserrat" panose="00000500000000000000" pitchFamily="2" charset="0"/>
                <a:cs typeface="Arial" panose="020B0604020202020204" pitchFamily="34" charset="0"/>
              </a:rPr>
              <a:t>2024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097849558"/>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Adena Health System</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56,884</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$597,828K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20,015</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$66,292K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1,292</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$97,803K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2,078</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-$20,128K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33,499</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$433,324K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62%</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2024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Adena Health System estimates commercial insurance reimbursements at 330%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433,324K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330%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541,376K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974,699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568,537</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$406,162K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42%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330%</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131,344K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164,096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295,440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568,537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-273,097</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-92%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9296400" y="4551680"/>
            <a:ext cx="2792185" cy="147732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9296400" y="1461128"/>
            <a:ext cx="2628900" cy="2939266"/>
          </a:xfrm>
          <a:prstGeom prst="rect">
            <a:avLst/>
          </a:prstGeom>
          <a:noFill/>
        </p:spPr>
        <p:txBody>
          <a:bodyPr wrap="square" rtlCol="0">
            <a:spAutoFit/>
          </a:bodyPr>
          <a:lstStyle/>
          <a:p>
            <a:pPr algn="ctr"/>
            <a:r>
              <a:rPr lang="en-US" sz="1100" b="1" dirty="0">
                <a:solidFill>
                  <a:schemeClr val="accent1"/>
                </a:solidFill>
                <a:latin typeface="Montserrat" panose="00000500000000000000" pitchFamily="2" charset="0"/>
              </a:rPr>
              <a:t>While local market share is significant (89%/50%), Adena Health System Loses Market Share to Larger Surrounding Systems</a:t>
            </a:r>
            <a:br>
              <a:rPr lang="en-US" sz="1100" b="1" dirty="0">
                <a:solidFill>
                  <a:schemeClr val="accent1"/>
                </a:solidFill>
                <a:latin typeface="Montserrat" panose="00000500000000000000" pitchFamily="2" charset="0"/>
              </a:rPr>
            </a:br>
            <a:r>
              <a:rPr lang="en-US" sz="1100" b="1" dirty="0">
                <a:solidFill>
                  <a:schemeClr val="accent1"/>
                </a:solidFill>
                <a:latin typeface="Montserrat" panose="00000500000000000000" pitchFamily="2" charset="0"/>
              </a:rPr>
              <a:t>Because of this leakage, we estimate:</a:t>
            </a:r>
            <a:br>
              <a:rPr lang="en-US" b="1" dirty="0">
                <a:solidFill>
                  <a:schemeClr val="accent1"/>
                </a:solidFill>
                <a:latin typeface="Montserrat" panose="00000500000000000000" pitchFamily="2" charset="0"/>
              </a:rPr>
            </a:br>
            <a:br>
              <a:rPr lang="en-US" b="1" dirty="0">
                <a:solidFill>
                  <a:schemeClr val="accent1"/>
                </a:solidFill>
                <a:latin typeface="Montserrat" panose="00000500000000000000" pitchFamily="2" charset="0"/>
              </a:rPr>
            </a:br>
            <a:r>
              <a:rPr lang="en-US" b="1" dirty="0">
                <a:solidFill>
                  <a:schemeClr val="accent1"/>
                </a:solidFill>
                <a:latin typeface="Montserrat" panose="00000500000000000000" pitchFamily="2" charset="0"/>
              </a:rPr>
              <a:t>55%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40%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929917869"/>
              </p:ext>
            </p:extLst>
          </p:nvPr>
        </p:nvGraphicFramePr>
        <p:xfrm>
          <a:off x="265176" y="914400"/>
          <a:ext cx="8858504" cy="4572003"/>
        </p:xfrm>
        <a:graphic>
          <a:graphicData uri="http://schemas.openxmlformats.org/drawingml/2006/table">
            <a:tbl>
              <a:tblPr/>
              <a:tblGrid>
                <a:gridCol w="2472141">
                  <a:extLst>
                    <a:ext uri="{9D8B030D-6E8A-4147-A177-3AD203B41FA5}">
                      <a16:colId xmlns:a16="http://schemas.microsoft.com/office/drawing/2014/main" val="20000"/>
                    </a:ext>
                  </a:extLst>
                </a:gridCol>
                <a:gridCol w="1030059">
                  <a:extLst>
                    <a:ext uri="{9D8B030D-6E8A-4147-A177-3AD203B41FA5}">
                      <a16:colId xmlns:a16="http://schemas.microsoft.com/office/drawing/2014/main" val="20001"/>
                    </a:ext>
                  </a:extLst>
                </a:gridCol>
                <a:gridCol w="1236070">
                  <a:extLst>
                    <a:ext uri="{9D8B030D-6E8A-4147-A177-3AD203B41FA5}">
                      <a16:colId xmlns:a16="http://schemas.microsoft.com/office/drawing/2014/main" val="20002"/>
                    </a:ext>
                  </a:extLst>
                </a:gridCol>
                <a:gridCol w="1236070">
                  <a:extLst>
                    <a:ext uri="{9D8B030D-6E8A-4147-A177-3AD203B41FA5}">
                      <a16:colId xmlns:a16="http://schemas.microsoft.com/office/drawing/2014/main" val="20003"/>
                    </a:ext>
                  </a:extLst>
                </a:gridCol>
                <a:gridCol w="1442082">
                  <a:extLst>
                    <a:ext uri="{9D8B030D-6E8A-4147-A177-3AD203B41FA5}">
                      <a16:colId xmlns:a16="http://schemas.microsoft.com/office/drawing/2014/main" val="20004"/>
                    </a:ext>
                  </a:extLst>
                </a:gridCol>
                <a:gridCol w="1442082">
                  <a:extLst>
                    <a:ext uri="{9D8B030D-6E8A-4147-A177-3AD203B41FA5}">
                      <a16:colId xmlns:a16="http://schemas.microsoft.com/office/drawing/2014/main" val="20005"/>
                    </a:ext>
                  </a:extLst>
                </a:gridCol>
              </a:tblGrid>
              <a:tr h="2068065">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417323">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Adena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$764,402.9K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$1,198,982.4K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17323">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Adena Greenfield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$ 18,354.2K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57,158.5K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417323">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Adena Fayette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$ 29,208.4K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163,018.5K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417323">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Adena Pike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$ 29,978.9K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70,397.1K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417323">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Berger Hospital</a:t>
                      </a:r>
                    </a:p>
                  </a:txBody>
                  <a:tcPr marL="0" marR="0" marT="0" marB="0" anchor="ctr">
                    <a:lnL w="12700" cap="flat" cmpd="sng" algn="ctr">
                      <a:solidFill>
                        <a:srgbClr val="666666">
                          <a:alpha val="100000"/>
                        </a:srgbClr>
                      </a:solidFill>
                      <a:prstDash val="soli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83</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$ 84,283.9K</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302,316.4K</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9%</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10%</a:t>
                      </a:r>
                    </a:p>
                  </a:txBody>
                  <a:tcPr marL="0" marR="0" marT="0" marB="0" anchor="ctr">
                    <a:lnL w="12700" cap="flat" cmpd="sng" algn="ctr">
                      <a:solidFill>
                        <a:srgbClr val="666666"/>
                      </a:solidFill>
                      <a:prstDash val="solid"/>
                      <a:round/>
                      <a:headEnd type="none" w="med" len="med"/>
                      <a:tailEnd type="none" w="med" len="me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417323">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Highland District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$ 15,500.4K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155,776.1K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178738490"/>
              </p:ext>
            </p:extLst>
          </p:nvPr>
        </p:nvGraphicFramePr>
        <p:xfrm>
          <a:off x="0" y="0"/>
          <a:ext cx="12191999" cy="6857992"/>
        </p:xfrm>
        <a:graphic>
          <a:graphicData uri="http://schemas.openxmlformats.org/drawingml/2006/table">
            <a:tbl>
              <a:tblPr/>
              <a:tblGrid>
                <a:gridCol w="3207641">
                  <a:extLst>
                    <a:ext uri="{9D8B030D-6E8A-4147-A177-3AD203B41FA5}">
                      <a16:colId xmlns:a16="http://schemas.microsoft.com/office/drawing/2014/main" val="20000"/>
                    </a:ext>
                  </a:extLst>
                </a:gridCol>
                <a:gridCol w="2321465">
                  <a:extLst>
                    <a:ext uri="{9D8B030D-6E8A-4147-A177-3AD203B41FA5}">
                      <a16:colId xmlns:a16="http://schemas.microsoft.com/office/drawing/2014/main" val="20001"/>
                    </a:ext>
                  </a:extLst>
                </a:gridCol>
                <a:gridCol w="2422237">
                  <a:extLst>
                    <a:ext uri="{9D8B030D-6E8A-4147-A177-3AD203B41FA5}">
                      <a16:colId xmlns:a16="http://schemas.microsoft.com/office/drawing/2014/main" val="20002"/>
                    </a:ext>
                  </a:extLst>
                </a:gridCol>
                <a:gridCol w="2220964">
                  <a:extLst>
                    <a:ext uri="{9D8B030D-6E8A-4147-A177-3AD203B41FA5}">
                      <a16:colId xmlns:a16="http://schemas.microsoft.com/office/drawing/2014/main" val="20003"/>
                    </a:ext>
                  </a:extLst>
                </a:gridCol>
                <a:gridCol w="2019692">
                  <a:extLst>
                    <a:ext uri="{9D8B030D-6E8A-4147-A177-3AD203B41FA5}">
                      <a16:colId xmlns:a16="http://schemas.microsoft.com/office/drawing/2014/main" val="20004"/>
                    </a:ext>
                  </a:extLst>
                </a:gridCol>
              </a:tblGrid>
              <a:tr h="323291">
                <a:tc gridSpan="5">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14085">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Adena Regional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Adena Greenfield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Adena Fayette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Adena Pike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$185,750K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$6,094K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$9,639K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$9,623K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$291,353K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$18,977K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$53,796K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$22,597K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$59,041K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$3,850K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$2,341K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50487">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$77,651K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$3,379K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$11,711K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$340,004K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$20,638K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$47,906K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$24,776K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$12,406K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$2,443K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$2,772K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$2,507K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$178,985K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$5,808K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$8,343K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$8,962K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$280,742K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$18,086K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$46,566K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$21,045K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$459,727K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$23,894K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$54,909K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$30,008K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$16,968K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$8,559K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$2,171K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29.7%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49.7%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59.6%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450487">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65.0%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41.0%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53.5%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91491">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41.9%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44.7%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39.0%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59692">
                <a:tc gridSpan="5">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59692">
                <a:tc gridSpan="5">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59692">
                <a:tc gridSpan="5">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59692">
                <a:tc gridSpan="5">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5047536"/>
          </a:xfrm>
          <a:prstGeom prst="rect">
            <a:avLst/>
          </a:prstGeom>
          <a:noFill/>
        </p:spPr>
        <p:txBody>
          <a:bodyPr wrap="square" rtlCol="0">
            <a:spAutoFit/>
          </a:bodyPr>
          <a:lstStyle/>
          <a:p>
            <a:r>
              <a:rPr lang="en-US" sz="1400" dirty="0">
                <a:solidFill/>
                <a:latin typeface="Montserrat" panose="00000500000000000000" pitchFamily="2" charset="0"/>
              </a:rPr>
              <a:t>KBA currently estimates that Adena Health System has 55% inpatient market share, and 40% outpatient market compared to hospitals/clinics in the Adena Health System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Adena Health System.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969143727"/>
              </p:ext>
            </p:extLst>
          </p:nvPr>
        </p:nvGraphicFramePr>
        <p:xfrm>
          <a:off x="552450" y="1054578"/>
          <a:ext cx="7485125" cy="4940842"/>
        </p:xfrm>
        <a:graphic>
          <a:graphicData uri="http://schemas.openxmlformats.org/drawingml/2006/table">
            <a:tbl>
              <a:tblPr/>
              <a:tblGrid>
                <a:gridCol w="1497025">
                  <a:extLst>
                    <a:ext uri="{9D8B030D-6E8A-4147-A177-3AD203B41FA5}">
                      <a16:colId xmlns:a16="http://schemas.microsoft.com/office/drawing/2014/main" val="20000"/>
                    </a:ext>
                  </a:extLst>
                </a:gridCol>
                <a:gridCol w="1497025">
                  <a:extLst>
                    <a:ext uri="{9D8B030D-6E8A-4147-A177-3AD203B41FA5}">
                      <a16:colId xmlns:a16="http://schemas.microsoft.com/office/drawing/2014/main" val="20001"/>
                    </a:ext>
                  </a:extLst>
                </a:gridCol>
                <a:gridCol w="1497025">
                  <a:extLst>
                    <a:ext uri="{9D8B030D-6E8A-4147-A177-3AD203B41FA5}">
                      <a16:colId xmlns:a16="http://schemas.microsoft.com/office/drawing/2014/main" val="20002"/>
                    </a:ext>
                  </a:extLst>
                </a:gridCol>
                <a:gridCol w="1497025">
                  <a:extLst>
                    <a:ext uri="{9D8B030D-6E8A-4147-A177-3AD203B41FA5}">
                      <a16:colId xmlns:a16="http://schemas.microsoft.com/office/drawing/2014/main" val="20003"/>
                    </a:ext>
                  </a:extLst>
                </a:gridCol>
                <a:gridCol w="1497025">
                  <a:extLst>
                    <a:ext uri="{9D8B030D-6E8A-4147-A177-3AD203B41FA5}">
                      <a16:colId xmlns:a16="http://schemas.microsoft.com/office/drawing/2014/main" val="20004"/>
                    </a:ext>
                  </a:extLst>
                </a:gridCol>
              </a:tblGrid>
              <a:tr h="765482">
                <a:tc>
                  <a:txBody>
                    <a:bodyPr/>
                    <a:lstStyle/>
                    <a:p>
                      <a:pPr marL="0" marR="0" algn="ctr">
                        <a:lnSpc>
                          <a:spcPct val="100000"/>
                        </a:lnSpc>
                        <a:spcBef>
                          <a:spcPts val="0"/>
                        </a:spcBef>
                        <a:spcAft>
                          <a:spcPts val="0"/>
                        </a:spcAft>
                        <a:buNone/>
                      </a:pPr>
                      <a:r>
                        <a:rPr sz="1100" b="1" i="0" u="none" strike="noStrik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dirty="0">
                          <a:solidFill>
                            <a:srgbClr val="000000">
                              <a:alpha val="100000"/>
                            </a:srgbClr>
                          </a:solidFill>
                          <a:latin typeface="Montserrat"/>
                          <a:cs typeface="Arial"/>
                          <a:sym typeface="Arial"/>
                        </a:rPr>
                        <a:t>Percent of Members Choosing Adena </a:t>
                      </a:r>
                      <a:r>
                        <a:rPr lang="en-US" sz="1100" b="1" i="0" u="none" strike="noStrike" cap="none" dirty="0">
                          <a:solidFill>
                            <a:srgbClr val="000000">
                              <a:alpha val="100000"/>
                            </a:srgbClr>
                          </a:solidFill>
                          <a:latin typeface="Montserrat"/>
                          <a:cs typeface="Arial"/>
                          <a:sym typeface="Arial"/>
                        </a:rPr>
                        <a:t>Health System</a:t>
                      </a:r>
                      <a:r>
                        <a:rPr sz="1100" b="1" i="0" u="none" strike="noStrike" cap="none" dirty="0">
                          <a:solidFill>
                            <a:srgbClr val="000000">
                              <a:alpha val="100000"/>
                            </a:srgbClr>
                          </a:solidFill>
                          <a:latin typeface="Montserrat"/>
                          <a:cs typeface="Arial"/>
                          <a:sym typeface="Arial"/>
                        </a:rPr>
                        <a:t>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dirty="0">
                          <a:solidFill>
                            <a:srgbClr val="000000">
                              <a:alpha val="100000"/>
                            </a:srgbClr>
                          </a:solidFill>
                          <a:latin typeface="Montserrat"/>
                          <a:cs typeface="Arial"/>
                          <a:sym typeface="Arial"/>
                        </a:rPr>
                        <a:t>Percent of Members Choosing Adena </a:t>
                      </a:r>
                      <a:r>
                        <a:rPr lang="en-US" sz="1100" b="1" i="0" u="none" strike="noStrike" cap="none" dirty="0">
                          <a:solidFill>
                            <a:srgbClr val="000000">
                              <a:alpha val="100000"/>
                            </a:srgbClr>
                          </a:solidFill>
                          <a:latin typeface="Montserrat"/>
                          <a:cs typeface="Arial"/>
                          <a:sym typeface="Arial"/>
                        </a:rPr>
                        <a:t>Health System</a:t>
                      </a:r>
                      <a:r>
                        <a:rPr sz="1100" b="1" i="0" u="none" strike="noStrike" cap="none" dirty="0">
                          <a:solidFill>
                            <a:srgbClr val="000000">
                              <a:alpha val="100000"/>
                            </a:srgbClr>
                          </a:solidFill>
                          <a:latin typeface="Montserrat"/>
                          <a:cs typeface="Arial"/>
                          <a:sym typeface="Arial"/>
                        </a:rPr>
                        <a:t>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3687789465"/>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700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$ 1,060,708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$ 1,402,465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$ 654,939.4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$ 3,118,113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$ 356,397.8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$ 471,228.4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$ 220,059.6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$ 1,047,686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3183399941"/>
              </p:ext>
            </p:extLst>
          </p:nvPr>
        </p:nvGraphicFramePr>
        <p:xfrm>
          <a:off x="462503" y="4085951"/>
          <a:ext cx="7134051" cy="185420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$ 412,468.8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$ 8,400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$ 420,868.8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-$ 25,000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$ 395,868.8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$ 1,367,876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$ 2,029,884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$ 947,938.7</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$ 4,345,699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$ 459,606.2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$ 682,041.1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$ 318,507.4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$ 1,460,155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55% (inpatient) and 40%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33.6%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71%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33.6%,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8049126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41190456"/>
              </p:ext>
            </p:extLst>
          </p:nvPr>
        </p:nvGraphicFramePr>
        <p:xfrm>
          <a:off x="0" y="0"/>
          <a:ext cx="12198096" cy="6858005"/>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9247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59974">
                <a:tc gridSpan="5">
                  <a:txBody>
                    <a:bodyPr/>
                    <a:lstStyle/>
                    <a:p>
                      <a:pPr marL="63500" marR="63500" algn="l">
                        <a:lnSpc>
                          <a:spcPct val="100000"/>
                        </a:lnSpc>
                        <a:spcBef>
                          <a:spcPts val="5"/>
                        </a:spcBef>
                        <a:spcAft>
                          <a:spcPts val="5"/>
                        </a:spcAft>
                        <a:buNone/>
                      </a:pPr>
                      <a:r>
                        <a:rPr sz="16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7708">
                <a:tc>
                  <a:txBody>
                    <a:bodyPr/>
                    <a:lstStyle/>
                    <a:p>
                      <a:pPr marL="63500" marR="63500" algn="l">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$757.6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$1,515.3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$7,576.5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$37,882.4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77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$254.6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$509.1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$2,545.7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$12,728.5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77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$9,040.1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$45,200.6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77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$607.5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$3,037.5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$15,187.4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$7,318.2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$49.2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$98.4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$491.8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$2,458.9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dirty="0">
                          <a:solidFill>
                            <a:srgbClr val="000000">
                              <a:alpha val="100000"/>
                            </a:srgbClr>
                          </a:solidFill>
                          <a:latin typeface="Montserrat"/>
                          <a:cs typeface="Arial"/>
                          <a:sym typeface="Arial"/>
                        </a:rPr>
                        <a:t>$1,001.8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$2,003.5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$10,017.6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$50,088.1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$673.2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$3,365.9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$16,829.6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77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$1,267.9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$2,535.7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$12,678.5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$63,392.7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77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$426.0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$4,260.0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$21,299.9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$532.2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$2,660.9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$13,304.6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$89.4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$894.1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$4,470.4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$467.8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$935.6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$4,678.1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$23,390.7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$7,859.3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$592.1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$1,184.2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$5,920.8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$29,603.8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770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$397.9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$1,989.4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$9,946.9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$248.5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$1,242.6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$6,213.2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936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$417.5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$2,087.6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7708">
                <a:tc>
                  <a:txBody>
                    <a:bodyPr/>
                    <a:lstStyle/>
                    <a:p>
                      <a:pPr marL="63500" marR="63500" algn="l">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$161.3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$347.7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$1,838.4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dirty="0">
                          <a:solidFill>
                            <a:srgbClr val="000000">
                              <a:alpha val="100000"/>
                            </a:srgbClr>
                          </a:solidFill>
                          <a:latin typeface="Montserrat"/>
                          <a:cs typeface="Arial"/>
                          <a:sym typeface="Arial"/>
                        </a:rPr>
                        <a:t>$9,291.9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36436725"/>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61%+ Within-Plan Steerage and a Commercial Margin of 33.6%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$2,227.2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$4,454.4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$22,272.2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$111,361.2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$7,483.5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$37,417.4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$2,763.9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$5,527.9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$27,639.4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$138,197.2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$1,073.4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$5,367.2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$26,836.0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$1,857.4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$9,286.8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$46,434.2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$360.7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$9,016.9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$161.3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$347.7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$1,838.4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$9,291.9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38163480"/>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$2,227.2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$4,454.4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$22,272.2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$111,361.2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$7,483.5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$37,417.4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$3,163.3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$6,326.7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$31,633.3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$158,166.4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$936.1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$1,872.2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$9,361.1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$46,805.3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$1,221.0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$2,442.1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$12,210.4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$61,052.2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$945.4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$4,727.0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$23,634.9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$453.7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$932.4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$4,762.0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$23,909.9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6981701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61%+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61%+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61%+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61%+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61%+ Within-Plan Steerage and a Commercial Margin of 28.6%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$2,227.2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$4,454.4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$22,272.2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$111,361.2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$7,483.5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$37,417.4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$2,732.4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$5,464.7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$27,323.7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$136,618.6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$5,051.5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$25,257.4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$7,814.6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$39,072.9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$1,655.6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$14.1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$366.1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$1,930.6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37</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523220"/>
          </a:xfrm>
          <a:prstGeom prst="rect">
            <a:avLst/>
          </a:prstGeom>
          <a:noFill/>
        </p:spPr>
        <p:txBody>
          <a:bodyPr wrap="square">
            <a:spAutoFit/>
          </a:bodyPr>
          <a:lstStyle/>
          <a:p>
            <a:r>
              <a:rPr lang="en-US" sz="1400" b="1" spc="300" dirty="0">
                <a:solidFill>
                  <a:schemeClr val="bg1"/>
                </a:solidFill>
                <a:latin typeface="Montserrat" panose="00000500000000000000" pitchFamily="2" charset="0"/>
              </a:rPr>
              <a:t>Adena Health System’s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Adena Health System</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127842908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Adena Health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Adena Health System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38</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39</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Adena Health System</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Adena Health System’s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40</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48105</TotalTime>
  <Words>5164</Words>
  <Application>Microsoft Office PowerPoint</Application>
  <PresentationFormat>Widescreen</PresentationFormat>
  <Paragraphs>1249</Paragraphs>
  <Slides>41</Slides>
  <Notes>11</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41</vt:i4>
      </vt:variant>
    </vt:vector>
  </HeadingPairs>
  <TitlesOfParts>
    <vt:vector size="54"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GROWING POWERFUL, LASTING PROFITABILITY</vt:lpstr>
      <vt:lpstr>MODEL ASSUMPTIONS AND BREAK EVEN</vt:lpstr>
      <vt:lpstr>FOUR-YEAR PROJECTIONS</vt:lpstr>
      <vt:lpstr>DIRECT-TO-EMPLOYER STRATEGY: ONLY AVAILABLE TO PREMIER HEALTH SYSTEMS</vt:lpstr>
      <vt:lpstr>PowerPoint Presentation</vt:lpstr>
      <vt:lpstr>PowerPoint Presentation</vt:lpstr>
      <vt:lpstr>SINGLE YEAR SUMMARY</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ADENA HEALTH SYSTEM’S 2024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2026-07-22T23:06:40Z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