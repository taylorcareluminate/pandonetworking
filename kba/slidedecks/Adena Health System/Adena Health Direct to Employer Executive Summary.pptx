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9"/>
  </p:notesMasterIdLst>
  <p:sldIdLst>
    <p:sldId id="588" r:id="rId8"/>
    <p:sldId id="454" r:id="rId9"/>
    <p:sldId id="2145726874" r:id="rId10"/>
    <p:sldId id="2145726912" r:id="rId11"/>
    <p:sldId id="2145726869" r:id="rId12"/>
    <p:sldId id="559" r:id="rId13"/>
    <p:sldId id="2145726914" r:id="rId14"/>
    <p:sldId id="2145726916" r:id="rId15"/>
    <p:sldId id="585" r:id="rId16"/>
    <p:sldId id="2145726918" r:id="rId17"/>
    <p:sldId id="472" r:id="rId18"/>
  </p:sldIdLst>
  <p:sldSz cx="12192000" cy="6858000"/>
  <p:notesSz cx="7315200" cy="96012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97" autoAdjust="0"/>
    <p:restoredTop sz="88609" autoAdjust="0"/>
  </p:normalViewPr>
  <p:slideViewPr>
    <p:cSldViewPr snapToGrid="0">
      <p:cViewPr varScale="1">
        <p:scale>
          <a:sx n="98" d="100"/>
          <a:sy n="98" d="100"/>
        </p:scale>
        <p:origin x="83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7/22/2026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78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1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86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81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18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283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409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06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922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400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657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24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  <p:sldLayoutId id="2147483793" r:id="rId19"/>
    <p:sldLayoutId id="2147483794" r:id="rId20"/>
    <p:sldLayoutId id="2147483795" r:id="rId21"/>
    <p:sldLayoutId id="2147483796" r:id="rId22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8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Adena Health System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9CFD-1D5C-FF21-4A1E-7AB392E8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39B371-73B9-408F-674E-7CD4D0AB597E}"/>
              </a:ext>
            </a:extLst>
          </p:cNvPr>
          <p:cNvSpPr/>
          <p:nvPr/>
        </p:nvSpPr>
        <p:spPr>
          <a:xfrm>
            <a:off x="1" y="0"/>
            <a:ext cx="4846964" cy="6870346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9C9EE-93FE-78B8-4BCD-C09DECB3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9520" y="6421464"/>
            <a:ext cx="4114800" cy="365125"/>
          </a:xfrm>
        </p:spPr>
        <p:txBody>
          <a:bodyPr/>
          <a:lstStyle/>
          <a:p>
            <a:r>
              <a:rPr lang="en-US"/>
              <a:t>Key Benefit Administrators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966400-D608-A464-A105-DE053AB4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655" y="683306"/>
            <a:ext cx="5957965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000">
                <a:solidFill>
                  <a:srgbClr val="000B2E"/>
                </a:solidFill>
              </a:rPr>
              <a:t>Our Founding and Heritage:</a:t>
            </a:r>
            <a:br>
              <a:rPr lang="en-US" sz="4000" b="1">
                <a:solidFill>
                  <a:srgbClr val="000B2E"/>
                </a:solidFill>
              </a:rPr>
            </a:br>
            <a:r>
              <a:rPr lang="en-US" sz="3600" b="0">
                <a:solidFill>
                  <a:srgbClr val="000B2E"/>
                </a:solidFill>
              </a:rPr>
              <a:t>46 Years of Striving for Honesty in Healthcare</a:t>
            </a:r>
            <a:endParaRPr lang="en-US" sz="16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 descr="Larry Dust - Crunchbase Person Profile">
            <a:extLst>
              <a:ext uri="{FF2B5EF4-FFF2-40B4-BE49-F238E27FC236}">
                <a16:creationId xmlns:a16="http://schemas.microsoft.com/office/drawing/2014/main" id="{F7A901A5-A0C2-992D-8392-CF98ABD42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42" y="1049081"/>
            <a:ext cx="2498081" cy="2498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4" descr="Working at Key Benefit Administrators | Top Workplaces">
            <a:extLst>
              <a:ext uri="{FF2B5EF4-FFF2-40B4-BE49-F238E27FC236}">
                <a16:creationId xmlns:a16="http://schemas.microsoft.com/office/drawing/2014/main" id="{F140746C-3B1E-D8A0-5BED-E05A5C3DA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57" y="3913332"/>
            <a:ext cx="29908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>
            <a:extLst>
              <a:ext uri="{FF2B5EF4-FFF2-40B4-BE49-F238E27FC236}">
                <a16:creationId xmlns:a16="http://schemas.microsoft.com/office/drawing/2014/main" id="{0CBFE08E-E446-CB70-FF81-2CC0C8485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206" y="2298120"/>
            <a:ext cx="5863414" cy="398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8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>
            <a:extLst>
              <a:ext uri="{FF2B5EF4-FFF2-40B4-BE49-F238E27FC236}">
                <a16:creationId xmlns:a16="http://schemas.microsoft.com/office/drawing/2014/main" id="{E9585457-04EC-9F2F-1461-7D06991F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6" y="691197"/>
            <a:ext cx="8657166" cy="545592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396923" y="3710892"/>
            <a:ext cx="2304822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2439551" y="460543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Dallas Fort Worth, TX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3058516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4CD584-8CF7-DD3D-64A2-A93AEE54754C}"/>
              </a:ext>
            </a:extLst>
          </p:cNvPr>
          <p:cNvSpPr/>
          <p:nvPr/>
        </p:nvSpPr>
        <p:spPr>
          <a:xfrm>
            <a:off x="6962035" y="2256594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Cleveland, OH</a:t>
            </a:r>
          </a:p>
        </p:txBody>
      </p:sp>
    </p:spTree>
    <p:extLst>
      <p:ext uri="{BB962C8B-B14F-4D97-AF65-F5344CB8AC3E}">
        <p14:creationId xmlns:p14="http://schemas.microsoft.com/office/powerpoint/2010/main" val="35807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9646920" y="347472"/>
            <a:ext cx="1211868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5417261" y="1368706"/>
            <a:ext cx="5785648" cy="4120588"/>
          </a:xfrm>
          <a:prstGeom prst="rect">
            <a:avLst/>
          </a:prstGeom>
        </p:spPr>
      </p:pic>
      <p:grpSp>
        <p:nvGrpSpPr>
          <p:cNvPr id="10" name="Group 28">
            <a:extLst>
              <a:ext uri="{FF2B5EF4-FFF2-40B4-BE49-F238E27FC236}">
                <a16:creationId xmlns:a16="http://schemas.microsoft.com/office/drawing/2014/main" id="{81728E2C-BA6A-2234-ADB7-A76986E6A0E9}"/>
              </a:ext>
            </a:extLst>
          </p:cNvPr>
          <p:cNvGrpSpPr/>
          <p:nvPr/>
        </p:nvGrpSpPr>
        <p:grpSpPr>
          <a:xfrm>
            <a:off x="989091" y="1852508"/>
            <a:ext cx="4179295" cy="3636786"/>
            <a:chOff x="1267778" y="2161521"/>
            <a:chExt cx="8731885" cy="4307840"/>
          </a:xfrm>
        </p:grpSpPr>
        <p:grpSp>
          <p:nvGrpSpPr>
            <p:cNvPr id="11" name="Group 29">
              <a:extLst>
                <a:ext uri="{FF2B5EF4-FFF2-40B4-BE49-F238E27FC236}">
                  <a16:creationId xmlns:a16="http://schemas.microsoft.com/office/drawing/2014/main" id="{143AC5A5-FA7F-818B-CE76-63EED3B2FE22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31" name="Freeform: Shape 72">
                <a:extLst>
                  <a:ext uri="{FF2B5EF4-FFF2-40B4-BE49-F238E27FC236}">
                    <a16:creationId xmlns:a16="http://schemas.microsoft.com/office/drawing/2014/main" id="{323E5298-72E4-9A37-5B7A-FD09D62FC12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TextBox 73">
                <a:extLst>
                  <a:ext uri="{FF2B5EF4-FFF2-40B4-BE49-F238E27FC236}">
                    <a16:creationId xmlns:a16="http://schemas.microsoft.com/office/drawing/2014/main" id="{41963BAD-73B5-CB34-3319-21731E70A487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Group 30">
              <a:extLst>
                <a:ext uri="{FF2B5EF4-FFF2-40B4-BE49-F238E27FC236}">
                  <a16:creationId xmlns:a16="http://schemas.microsoft.com/office/drawing/2014/main" id="{00AE5F81-628B-5445-83E4-D08383E904EF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22" name="Group 58">
                <a:extLst>
                  <a:ext uri="{FF2B5EF4-FFF2-40B4-BE49-F238E27FC236}">
                    <a16:creationId xmlns:a16="http://schemas.microsoft.com/office/drawing/2014/main" id="{BAFA0EFE-7791-6845-ACA1-CE8460466BDA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29" name="Freeform: Shape 62">
                  <a:extLst>
                    <a:ext uri="{FF2B5EF4-FFF2-40B4-BE49-F238E27FC236}">
                      <a16:creationId xmlns:a16="http://schemas.microsoft.com/office/drawing/2014/main" id="{55537ED5-FE99-03F0-EAA5-77B05183F090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0" name="TextBox 63">
                  <a:extLst>
                    <a:ext uri="{FF2B5EF4-FFF2-40B4-BE49-F238E27FC236}">
                      <a16:creationId xmlns:a16="http://schemas.microsoft.com/office/drawing/2014/main" id="{F33A0EC3-5C11-CD68-7169-64E42618B7E6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" name="Group 52">
                <a:extLst>
                  <a:ext uri="{FF2B5EF4-FFF2-40B4-BE49-F238E27FC236}">
                    <a16:creationId xmlns:a16="http://schemas.microsoft.com/office/drawing/2014/main" id="{1D14ABAD-FF26-76C4-CB77-5EBC77779FED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27" name="Freeform: Shape 56">
                  <a:extLst>
                    <a:ext uri="{FF2B5EF4-FFF2-40B4-BE49-F238E27FC236}">
                      <a16:creationId xmlns:a16="http://schemas.microsoft.com/office/drawing/2014/main" id="{888E0DDC-BC95-95D3-1FE4-6C6A28485AE9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" name="TextBox 57">
                  <a:extLst>
                    <a:ext uri="{FF2B5EF4-FFF2-40B4-BE49-F238E27FC236}">
                      <a16:creationId xmlns:a16="http://schemas.microsoft.com/office/drawing/2014/main" id="{799D952F-2020-42BE-3513-497344FA35B5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" name="Group 46">
                <a:extLst>
                  <a:ext uri="{FF2B5EF4-FFF2-40B4-BE49-F238E27FC236}">
                    <a16:creationId xmlns:a16="http://schemas.microsoft.com/office/drawing/2014/main" id="{21C29D0F-34A3-3C7E-716A-8AFD35BCBB95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25" name="Freeform: Shape 50">
                  <a:extLst>
                    <a:ext uri="{FF2B5EF4-FFF2-40B4-BE49-F238E27FC236}">
                      <a16:creationId xmlns:a16="http://schemas.microsoft.com/office/drawing/2014/main" id="{3A6A8417-E7EC-F81B-D8D0-7BEBA4B93E0F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" name="TextBox 51">
                  <a:extLst>
                    <a:ext uri="{FF2B5EF4-FFF2-40B4-BE49-F238E27FC236}">
                      <a16:creationId xmlns:a16="http://schemas.microsoft.com/office/drawing/2014/main" id="{646A418A-44F2-C412-A84F-6A0685D885EE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3" name="Freeform: Shape 31">
              <a:extLst>
                <a:ext uri="{FF2B5EF4-FFF2-40B4-BE49-F238E27FC236}">
                  <a16:creationId xmlns:a16="http://schemas.microsoft.com/office/drawing/2014/main" id="{C7C57236-28DB-CE57-7FEC-366370411355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ED39C29F-1918-35DD-1CBE-3D35E6F3588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7" name="Freeform: Shape 36">
                <a:extLst>
                  <a:ext uri="{FF2B5EF4-FFF2-40B4-BE49-F238E27FC236}">
                    <a16:creationId xmlns:a16="http://schemas.microsoft.com/office/drawing/2014/main" id="{A1EA33A4-372A-0011-1302-B257CF7E2E6E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8" name="Freeform: Shape 37">
                <a:extLst>
                  <a:ext uri="{FF2B5EF4-FFF2-40B4-BE49-F238E27FC236}">
                    <a16:creationId xmlns:a16="http://schemas.microsoft.com/office/drawing/2014/main" id="{14EDBC71-5ADE-D3A3-26DA-598AC4A3D487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9" name="Freeform: Shape 38">
                <a:extLst>
                  <a:ext uri="{FF2B5EF4-FFF2-40B4-BE49-F238E27FC236}">
                    <a16:creationId xmlns:a16="http://schemas.microsoft.com/office/drawing/2014/main" id="{0A5BBAA6-C562-04FE-1B9C-833CEB0289EA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9">
                <a:extLst>
                  <a:ext uri="{FF2B5EF4-FFF2-40B4-BE49-F238E27FC236}">
                    <a16:creationId xmlns:a16="http://schemas.microsoft.com/office/drawing/2014/main" id="{C847EC01-9946-74E9-96CC-1DB363BDCC8D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40">
                <a:extLst>
                  <a:ext uri="{FF2B5EF4-FFF2-40B4-BE49-F238E27FC236}">
                    <a16:creationId xmlns:a16="http://schemas.microsoft.com/office/drawing/2014/main" id="{A0D707B2-7E64-D30D-D0D1-854BC8C2FD56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15" name="Freeform: Shape 33">
              <a:extLst>
                <a:ext uri="{FF2B5EF4-FFF2-40B4-BE49-F238E27FC236}">
                  <a16:creationId xmlns:a16="http://schemas.microsoft.com/office/drawing/2014/main" id="{37797B50-C9D9-45FE-1B00-62DC1BD2ADF2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16" name="Freeform: Shape 34">
              <a:extLst>
                <a:ext uri="{FF2B5EF4-FFF2-40B4-BE49-F238E27FC236}">
                  <a16:creationId xmlns:a16="http://schemas.microsoft.com/office/drawing/2014/main" id="{9AF2B906-6355-B332-BB0E-0B7382A2D23E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3" name="TextBox 75">
            <a:extLst>
              <a:ext uri="{FF2B5EF4-FFF2-40B4-BE49-F238E27FC236}">
                <a16:creationId xmlns:a16="http://schemas.microsoft.com/office/drawing/2014/main" id="{58817BA2-6A18-EB03-BD2C-698AEB8602E2}"/>
              </a:ext>
            </a:extLst>
          </p:cNvPr>
          <p:cNvSpPr txBox="1"/>
          <p:nvPr/>
        </p:nvSpPr>
        <p:spPr>
          <a:xfrm>
            <a:off x="1654690" y="5668453"/>
            <a:ext cx="9514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Adena Health System service area in Adams, Clinton, Fairfield, Fayette, Highland, Hocking, Jackson, Madison, Pickaway, Pike, Ross, and Scioto Counties</a:t>
            </a:r>
          </a:p>
        </p:txBody>
      </p:sp>
      <p:sp>
        <p:nvSpPr>
          <p:cNvPr id="34" name="TextBox 76">
            <a:extLst>
              <a:ext uri="{FF2B5EF4-FFF2-40B4-BE49-F238E27FC236}">
                <a16:creationId xmlns:a16="http://schemas.microsoft.com/office/drawing/2014/main" id="{0504AFC4-0C7D-F5E6-60F2-6CBA68805000}"/>
              </a:ext>
            </a:extLst>
          </p:cNvPr>
          <p:cNvSpPr txBox="1"/>
          <p:nvPr/>
        </p:nvSpPr>
        <p:spPr>
          <a:xfrm>
            <a:off x="2999355" y="4846334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241K</a:t>
            </a:r>
          </a:p>
        </p:txBody>
      </p:sp>
      <p:sp>
        <p:nvSpPr>
          <p:cNvPr id="35" name="TextBox 77">
            <a:extLst>
              <a:ext uri="{FF2B5EF4-FFF2-40B4-BE49-F238E27FC236}">
                <a16:creationId xmlns:a16="http://schemas.microsoft.com/office/drawing/2014/main" id="{2295B7E7-94F4-63A1-63F9-BA973EDBFEF7}"/>
              </a:ext>
            </a:extLst>
          </p:cNvPr>
          <p:cNvSpPr txBox="1"/>
          <p:nvPr/>
        </p:nvSpPr>
        <p:spPr>
          <a:xfrm>
            <a:off x="3222288" y="3921279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135K</a:t>
            </a:r>
          </a:p>
        </p:txBody>
      </p:sp>
      <p:sp>
        <p:nvSpPr>
          <p:cNvPr id="36" name="TextBox 78">
            <a:extLst>
              <a:ext uri="{FF2B5EF4-FFF2-40B4-BE49-F238E27FC236}">
                <a16:creationId xmlns:a16="http://schemas.microsoft.com/office/drawing/2014/main" id="{FA22F6E7-C1F4-998F-49A7-4A485680B769}"/>
              </a:ext>
            </a:extLst>
          </p:cNvPr>
          <p:cNvSpPr txBox="1"/>
          <p:nvPr/>
        </p:nvSpPr>
        <p:spPr>
          <a:xfrm>
            <a:off x="3441744" y="2978534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84K</a:t>
            </a:r>
          </a:p>
        </p:txBody>
      </p:sp>
      <p:sp>
        <p:nvSpPr>
          <p:cNvPr id="37" name="TextBox 79">
            <a:extLst>
              <a:ext uri="{FF2B5EF4-FFF2-40B4-BE49-F238E27FC236}">
                <a16:creationId xmlns:a16="http://schemas.microsoft.com/office/drawing/2014/main" id="{0F03EE9D-B383-35EF-A1CA-1C76AF33FA9D}"/>
              </a:ext>
            </a:extLst>
          </p:cNvPr>
          <p:cNvSpPr txBox="1"/>
          <p:nvPr/>
        </p:nvSpPr>
        <p:spPr>
          <a:xfrm>
            <a:off x="3661200" y="2046999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59K</a:t>
            </a:r>
          </a:p>
        </p:txBody>
      </p:sp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$0.66M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$0.21M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$4.43M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$1.51M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$9.67M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$3.32M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48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37.3K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108.3K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258.9K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420.9K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86.9K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239.9K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362.4K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661.4K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345.8K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649.6K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37.3K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80.9K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220.3K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30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Adena Health System has 55% inpatient market share, and 40% outpatient market compared to hospitals/clinics in the Adena Health System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Adena Health System.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convenience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143727"/>
              </p:ext>
            </p:extLst>
          </p:nvPr>
        </p:nvGraphicFramePr>
        <p:xfrm>
          <a:off x="552450" y="1054578"/>
          <a:ext cx="7485125" cy="4940842"/>
        </p:xfrm>
        <a:graphic>
          <a:graphicData uri="http://schemas.openxmlformats.org/drawingml/2006/table">
            <a:tbl>
              <a:tblPr/>
              <a:tblGrid>
                <a:gridCol w="149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7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54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Adena </a:t>
                      </a:r>
                      <a:r>
                        <a:rPr lang="en-US" sz="11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  <a:r>
                        <a:rPr sz="11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Adena </a:t>
                      </a:r>
                      <a:r>
                        <a:rPr lang="en-US" sz="11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  <a:r>
                        <a:rPr sz="11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700 Members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$ 1,060,708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$ 1,402,465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$ 654,939.4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$ 3,118,113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$ 356,397.8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$ 471,228.4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$ 220,059.6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$ 1,047,686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713405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$ 412,468.8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$ 8,400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$ 420,868.8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-$ 25,000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$ 395,868.8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$ 1,367,876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$ 2,029,884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$ 947,938.7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$ 4,345,699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$ 459,606.2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$ 682,041.1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$ 318,507.4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$ 1,460,155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55% (inpatient) and 40%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33.6%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71%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33.6%, with a 10 percentage-point reduction to reflect competitive-edge rates and a 10 percentage-point increase due to lower billing costs and higher patient responsibility collections because of the member convenience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912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11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46185</TotalTime>
  <Words>1001</Words>
  <Application>Microsoft Office PowerPoint</Application>
  <PresentationFormat>Widescreen</PresentationFormat>
  <Paragraphs>347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Our Founding and Heritage: 46 Years of Striving for Honesty in Healthcare</vt:lpstr>
      <vt:lpstr>PowerPoint Presentation</vt:lpstr>
      <vt:lpstr>DIRECT-TO-EMPLOYER (DTE)  </vt:lpstr>
      <vt:lpstr>SIGNIFICANT OPPORTUNITY FOR PLAN GROWTH Researched for the below highlighted service area</vt:lpstr>
      <vt:lpstr>GROWING POWERFUL, LASTING PROFITABILITY</vt:lpstr>
      <vt:lpstr>FOUR-YEAR PROJECTIONS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114</cp:revision>
  <cp:lastPrinted>2023-07-13T10:24:43Z</cp:lastPrinted>
  <dcterms:created xsi:type="dcterms:W3CDTF">2021-01-20T14:12:11Z</dcterms:created>
  <dcterms:modified xsi:type="dcterms:W3CDTF">2026-07-22T23:07:35Z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