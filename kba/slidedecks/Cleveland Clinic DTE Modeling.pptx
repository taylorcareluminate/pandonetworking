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7"/>
  </p:notesMasterIdLst>
  <p:sldIdLst>
    <p:sldId id="577" r:id="rId5"/>
    <p:sldId id="454" r:id="rId6"/>
    <p:sldId id="549" r:id="rId7"/>
    <p:sldId id="487" r:id="rId8"/>
    <p:sldId id="452" r:id="rId9"/>
    <p:sldId id="518" r:id="rId10"/>
    <p:sldId id="466" r:id="rId11"/>
    <p:sldId id="559" r:id="rId12"/>
    <p:sldId id="590" r:id="rId13"/>
    <p:sldId id="591" r:id="rId14"/>
    <p:sldId id="558" r:id="rId15"/>
    <p:sldId id="548" r:id="rId16"/>
    <p:sldId id="521" r:id="rId17"/>
    <p:sldId id="456" r:id="rId18"/>
    <p:sldId id="489" r:id="rId19"/>
    <p:sldId id="499" r:id="rId20"/>
    <p:sldId id="458" r:id="rId21"/>
    <p:sldId id="446" r:id="rId22"/>
    <p:sldId id="461" r:id="rId23"/>
    <p:sldId id="462" r:id="rId24"/>
    <p:sldId id="469" r:id="rId25"/>
    <p:sldId id="336" r:id="rId26"/>
    <p:sldId id="337" r:id="rId27"/>
    <p:sldId id="578" r:id="rId28"/>
    <p:sldId id="589" r:id="rId29"/>
    <p:sldId id="525" r:id="rId30"/>
    <p:sldId id="527" r:id="rId31"/>
    <p:sldId id="571" r:id="rId32"/>
    <p:sldId id="588" r:id="rId33"/>
    <p:sldId id="546" r:id="rId34"/>
    <p:sldId id="547" r:id="rId35"/>
    <p:sldId id="592" r:id="rId36"/>
    <p:sldId id="536" r:id="rId37"/>
    <p:sldId id="256" r:id="rId38"/>
    <p:sldId id="574" r:id="rId39"/>
    <p:sldId id="572" r:id="rId40"/>
    <p:sldId id="575" r:id="rId41"/>
    <p:sldId id="498" r:id="rId42"/>
    <p:sldId id="325" r:id="rId43"/>
    <p:sldId id="326" r:id="rId44"/>
    <p:sldId id="491" r:id="rId45"/>
    <p:sldId id="472" r:id="rId46"/>
  </p:sldIdLst>
  <p:sldSz cx="12192000" cy="6858000"/>
  <p:notesSz cx="7315200" cy="96012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2F5597"/>
    <a:srgbClr val="6087CE"/>
    <a:srgbClr val="4468A5"/>
    <a:srgbClr val="F2F2F2"/>
    <a:srgbClr val="C55A11"/>
    <a:srgbClr val="F424AA"/>
    <a:srgbClr val="E23440"/>
    <a:srgbClr val="027587"/>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C0F47F-2B0D-4A27-B95A-A9D6B407C8CB}" v="13" dt="2024-10-22T03:31:58.92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609" autoAdjust="0"/>
  </p:normalViewPr>
  <p:slideViewPr>
    <p:cSldViewPr snapToGrid="0">
      <p:cViewPr>
        <p:scale>
          <a:sx n="66" d="100"/>
          <a:sy n="66" d="100"/>
        </p:scale>
        <p:origin x="1506" y="72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E9C0F47F-2B0D-4A27-B95A-A9D6B407C8CB}"/>
    <pc:docChg chg="custSel addSld delSld modSld">
      <pc:chgData name="Taylor Davis" userId="5c9e72a0-c39f-4aa1-9d7d-64125e78cbe6" providerId="ADAL" clId="{E9C0F47F-2B0D-4A27-B95A-A9D6B407C8CB}" dt="2024-10-22T03:34:12.975" v="239" actId="20577"/>
      <pc:docMkLst>
        <pc:docMk/>
      </pc:docMkLst>
      <pc:sldChg chg="modSp add del mod">
        <pc:chgData name="Taylor Davis" userId="5c9e72a0-c39f-4aa1-9d7d-64125e78cbe6" providerId="ADAL" clId="{E9C0F47F-2B0D-4A27-B95A-A9D6B407C8CB}" dt="2024-10-22T03:29:39.150" v="127" actId="14100"/>
        <pc:sldMkLst>
          <pc:docMk/>
          <pc:sldMk cId="0" sldId="256"/>
        </pc:sldMkLst>
        <pc:graphicFrameChg chg="modGraphic">
          <ac:chgData name="Taylor Davis" userId="5c9e72a0-c39f-4aa1-9d7d-64125e78cbe6" providerId="ADAL" clId="{E9C0F47F-2B0D-4A27-B95A-A9D6B407C8CB}" dt="2024-10-22T03:29:39.150" v="127" actId="14100"/>
          <ac:graphicFrameMkLst>
            <pc:docMk/>
            <pc:sldMk cId="0" sldId="256"/>
            <ac:graphicFrameMk id="2" creationId="{00000000-0000-0000-0000-000000000000}"/>
          </ac:graphicFrameMkLst>
        </pc:graphicFrameChg>
      </pc:sldChg>
      <pc:sldChg chg="addSp delSp modSp mod">
        <pc:chgData name="Taylor Davis" userId="5c9e72a0-c39f-4aa1-9d7d-64125e78cbe6" providerId="ADAL" clId="{E9C0F47F-2B0D-4A27-B95A-A9D6B407C8CB}" dt="2024-10-22T03:28:37.875" v="101" actId="14100"/>
        <pc:sldMkLst>
          <pc:docMk/>
          <pc:sldMk cId="3034923006" sldId="527"/>
        </pc:sldMkLst>
        <pc:graphicFrameChg chg="del">
          <ac:chgData name="Taylor Davis" userId="5c9e72a0-c39f-4aa1-9d7d-64125e78cbe6" providerId="ADAL" clId="{E9C0F47F-2B0D-4A27-B95A-A9D6B407C8CB}" dt="2024-10-22T03:28:27.781" v="98" actId="478"/>
          <ac:graphicFrameMkLst>
            <pc:docMk/>
            <pc:sldMk cId="3034923006" sldId="527"/>
            <ac:graphicFrameMk id="6" creationId="{00000000-0000-0000-0000-000000000000}"/>
          </ac:graphicFrameMkLst>
        </pc:graphicFrameChg>
        <pc:graphicFrameChg chg="add mod modGraphic">
          <ac:chgData name="Taylor Davis" userId="5c9e72a0-c39f-4aa1-9d7d-64125e78cbe6" providerId="ADAL" clId="{E9C0F47F-2B0D-4A27-B95A-A9D6B407C8CB}" dt="2024-10-22T03:28:37.875" v="101" actId="14100"/>
          <ac:graphicFrameMkLst>
            <pc:docMk/>
            <pc:sldMk cId="3034923006" sldId="527"/>
            <ac:graphicFrameMk id="9" creationId="{28623B24-5252-F148-CB1F-44A65D6328FB}"/>
          </ac:graphicFrameMkLst>
        </pc:graphicFrameChg>
      </pc:sldChg>
      <pc:sldChg chg="modSp add del mod">
        <pc:chgData name="Taylor Davis" userId="5c9e72a0-c39f-4aa1-9d7d-64125e78cbe6" providerId="ADAL" clId="{E9C0F47F-2B0D-4A27-B95A-A9D6B407C8CB}" dt="2024-10-22T03:29:28.779" v="126"/>
        <pc:sldMkLst>
          <pc:docMk/>
          <pc:sldMk cId="1419816550" sldId="536"/>
        </pc:sldMkLst>
        <pc:spChg chg="mod">
          <ac:chgData name="Taylor Davis" userId="5c9e72a0-c39f-4aa1-9d7d-64125e78cbe6" providerId="ADAL" clId="{E9C0F47F-2B0D-4A27-B95A-A9D6B407C8CB}" dt="2024-10-22T03:01:58.095" v="62" actId="20577"/>
          <ac:spMkLst>
            <pc:docMk/>
            <pc:sldMk cId="1419816550" sldId="536"/>
            <ac:spMk id="10" creationId="{C690F22E-C9CA-61DC-5584-149573110610}"/>
          </ac:spMkLst>
        </pc:spChg>
      </pc:sldChg>
      <pc:sldChg chg="modSp mod">
        <pc:chgData name="Taylor Davis" userId="5c9e72a0-c39f-4aa1-9d7d-64125e78cbe6" providerId="ADAL" clId="{E9C0F47F-2B0D-4A27-B95A-A9D6B407C8CB}" dt="2024-10-22T03:29:00.409" v="124" actId="20577"/>
        <pc:sldMkLst>
          <pc:docMk/>
          <pc:sldMk cId="94944115" sldId="546"/>
        </pc:sldMkLst>
        <pc:graphicFrameChg chg="modGraphic">
          <ac:chgData name="Taylor Davis" userId="5c9e72a0-c39f-4aa1-9d7d-64125e78cbe6" providerId="ADAL" clId="{E9C0F47F-2B0D-4A27-B95A-A9D6B407C8CB}" dt="2024-10-22T03:29:00.409" v="124" actId="20577"/>
          <ac:graphicFrameMkLst>
            <pc:docMk/>
            <pc:sldMk cId="94944115" sldId="546"/>
            <ac:graphicFrameMk id="4" creationId="{3C07E302-CC45-B04C-2C2D-C436C7863084}"/>
          </ac:graphicFrameMkLst>
        </pc:graphicFrameChg>
      </pc:sldChg>
      <pc:sldChg chg="add del">
        <pc:chgData name="Taylor Davis" userId="5c9e72a0-c39f-4aa1-9d7d-64125e78cbe6" providerId="ADAL" clId="{E9C0F47F-2B0D-4A27-B95A-A9D6B407C8CB}" dt="2024-10-22T03:27:24.127" v="93"/>
        <pc:sldMkLst>
          <pc:docMk/>
          <pc:sldMk cId="315794589" sldId="548"/>
        </pc:sldMkLst>
      </pc:sldChg>
      <pc:sldChg chg="addSp delSp modSp mod">
        <pc:chgData name="Taylor Davis" userId="5c9e72a0-c39f-4aa1-9d7d-64125e78cbe6" providerId="ADAL" clId="{E9C0F47F-2B0D-4A27-B95A-A9D6B407C8CB}" dt="2024-10-22T03:27:14.351" v="92"/>
        <pc:sldMkLst>
          <pc:docMk/>
          <pc:sldMk cId="3470905217" sldId="558"/>
        </pc:sldMkLst>
        <pc:spChg chg="mod">
          <ac:chgData name="Taylor Davis" userId="5c9e72a0-c39f-4aa1-9d7d-64125e78cbe6" providerId="ADAL" clId="{E9C0F47F-2B0D-4A27-B95A-A9D6B407C8CB}" dt="2024-10-22T03:00:02.429" v="35" actId="20577"/>
          <ac:spMkLst>
            <pc:docMk/>
            <pc:sldMk cId="3470905217" sldId="558"/>
            <ac:spMk id="8" creationId="{025AE6BF-C458-13D4-626E-DAD4C1439055}"/>
          </ac:spMkLst>
        </pc:spChg>
        <pc:spChg chg="mod">
          <ac:chgData name="Taylor Davis" userId="5c9e72a0-c39f-4aa1-9d7d-64125e78cbe6" providerId="ADAL" clId="{E9C0F47F-2B0D-4A27-B95A-A9D6B407C8CB}" dt="2024-10-22T03:00:23.738" v="57" actId="1036"/>
          <ac:spMkLst>
            <pc:docMk/>
            <pc:sldMk cId="3470905217" sldId="558"/>
            <ac:spMk id="9" creationId="{620CA171-241C-9006-DA4D-7174E70B2EF3}"/>
          </ac:spMkLst>
        </pc:spChg>
        <pc:spChg chg="mod">
          <ac:chgData name="Taylor Davis" userId="5c9e72a0-c39f-4aa1-9d7d-64125e78cbe6" providerId="ADAL" clId="{E9C0F47F-2B0D-4A27-B95A-A9D6B407C8CB}" dt="2024-10-22T03:00:14.094" v="45" actId="20577"/>
          <ac:spMkLst>
            <pc:docMk/>
            <pc:sldMk cId="3470905217" sldId="558"/>
            <ac:spMk id="13" creationId="{32C9D62D-25B0-6CD9-8AD7-E6855B1B1B26}"/>
          </ac:spMkLst>
        </pc:spChg>
        <pc:spChg chg="mod">
          <ac:chgData name="Taylor Davis" userId="5c9e72a0-c39f-4aa1-9d7d-64125e78cbe6" providerId="ADAL" clId="{E9C0F47F-2B0D-4A27-B95A-A9D6B407C8CB}" dt="2024-10-22T03:00:23.738" v="57" actId="1036"/>
          <ac:spMkLst>
            <pc:docMk/>
            <pc:sldMk cId="3470905217" sldId="558"/>
            <ac:spMk id="14" creationId="{A76920ED-352E-9285-CC83-BDA6AB18978D}"/>
          </ac:spMkLst>
        </pc:spChg>
        <pc:spChg chg="mod">
          <ac:chgData name="Taylor Davis" userId="5c9e72a0-c39f-4aa1-9d7d-64125e78cbe6" providerId="ADAL" clId="{E9C0F47F-2B0D-4A27-B95A-A9D6B407C8CB}" dt="2024-10-22T03:00:23.738" v="57" actId="1036"/>
          <ac:spMkLst>
            <pc:docMk/>
            <pc:sldMk cId="3470905217" sldId="558"/>
            <ac:spMk id="15" creationId="{2559AB8C-6F23-81D3-4546-DE75EBD91879}"/>
          </ac:spMkLst>
        </pc:spChg>
        <pc:spChg chg="mod">
          <ac:chgData name="Taylor Davis" userId="5c9e72a0-c39f-4aa1-9d7d-64125e78cbe6" providerId="ADAL" clId="{E9C0F47F-2B0D-4A27-B95A-A9D6B407C8CB}" dt="2024-10-22T03:00:23.738" v="57" actId="1036"/>
          <ac:spMkLst>
            <pc:docMk/>
            <pc:sldMk cId="3470905217" sldId="558"/>
            <ac:spMk id="16" creationId="{314AFF5C-ABDA-A82B-40C8-14E2DB160036}"/>
          </ac:spMkLst>
        </pc:spChg>
        <pc:spChg chg="mod">
          <ac:chgData name="Taylor Davis" userId="5c9e72a0-c39f-4aa1-9d7d-64125e78cbe6" providerId="ADAL" clId="{E9C0F47F-2B0D-4A27-B95A-A9D6B407C8CB}" dt="2024-10-22T03:00:23.738" v="57" actId="1036"/>
          <ac:spMkLst>
            <pc:docMk/>
            <pc:sldMk cId="3470905217" sldId="558"/>
            <ac:spMk id="17" creationId="{2C03026B-6D1E-F7B1-9995-7D9DC1019C60}"/>
          </ac:spMkLst>
        </pc:spChg>
        <pc:spChg chg="mod">
          <ac:chgData name="Taylor Davis" userId="5c9e72a0-c39f-4aa1-9d7d-64125e78cbe6" providerId="ADAL" clId="{E9C0F47F-2B0D-4A27-B95A-A9D6B407C8CB}" dt="2024-10-22T03:00:23.738" v="57" actId="1036"/>
          <ac:spMkLst>
            <pc:docMk/>
            <pc:sldMk cId="3470905217" sldId="558"/>
            <ac:spMk id="18" creationId="{9C64CEEB-E16A-926D-5DF0-DC8275443A40}"/>
          </ac:spMkLst>
        </pc:spChg>
        <pc:spChg chg="mod">
          <ac:chgData name="Taylor Davis" userId="5c9e72a0-c39f-4aa1-9d7d-64125e78cbe6" providerId="ADAL" clId="{E9C0F47F-2B0D-4A27-B95A-A9D6B407C8CB}" dt="2024-10-22T03:00:23.738" v="57" actId="1036"/>
          <ac:spMkLst>
            <pc:docMk/>
            <pc:sldMk cId="3470905217" sldId="558"/>
            <ac:spMk id="19" creationId="{716000A2-AFB1-117D-BFF0-2BDA3EA8A77D}"/>
          </ac:spMkLst>
        </pc:spChg>
        <pc:spChg chg="add del mod">
          <ac:chgData name="Taylor Davis" userId="5c9e72a0-c39f-4aa1-9d7d-64125e78cbe6" providerId="ADAL" clId="{E9C0F47F-2B0D-4A27-B95A-A9D6B407C8CB}" dt="2024-10-22T02:58:06.687" v="3" actId="478"/>
          <ac:spMkLst>
            <pc:docMk/>
            <pc:sldMk cId="3470905217" sldId="558"/>
            <ac:spMk id="29" creationId="{65D0CCE4-3B81-C726-8858-CDA37E97BFE3}"/>
          </ac:spMkLst>
        </pc:spChg>
        <pc:picChg chg="del">
          <ac:chgData name="Taylor Davis" userId="5c9e72a0-c39f-4aa1-9d7d-64125e78cbe6" providerId="ADAL" clId="{E9C0F47F-2B0D-4A27-B95A-A9D6B407C8CB}" dt="2024-10-22T02:58:04.105" v="2" actId="478"/>
          <ac:picMkLst>
            <pc:docMk/>
            <pc:sldMk cId="3470905217" sldId="558"/>
            <ac:picMk id="27" creationId="{00000000-0000-0000-0000-000000000000}"/>
          </ac:picMkLst>
        </pc:picChg>
        <pc:picChg chg="add del mod">
          <ac:chgData name="Taylor Davis" userId="5c9e72a0-c39f-4aa1-9d7d-64125e78cbe6" providerId="ADAL" clId="{E9C0F47F-2B0D-4A27-B95A-A9D6B407C8CB}" dt="2024-10-22T03:27:13.180" v="91" actId="478"/>
          <ac:picMkLst>
            <pc:docMk/>
            <pc:sldMk cId="3470905217" sldId="558"/>
            <ac:picMk id="31" creationId="{EDE73F13-C8A9-92A4-EB1C-71B7E54867A1}"/>
          </ac:picMkLst>
        </pc:picChg>
        <pc:picChg chg="add mod">
          <ac:chgData name="Taylor Davis" userId="5c9e72a0-c39f-4aa1-9d7d-64125e78cbe6" providerId="ADAL" clId="{E9C0F47F-2B0D-4A27-B95A-A9D6B407C8CB}" dt="2024-10-22T03:27:14.351" v="92"/>
          <ac:picMkLst>
            <pc:docMk/>
            <pc:sldMk cId="3470905217" sldId="558"/>
            <ac:picMk id="32" creationId="{8B25DFBB-10A0-8654-97B6-EEB7CD6D4561}"/>
          </ac:picMkLst>
        </pc:picChg>
      </pc:sldChg>
      <pc:sldChg chg="modSp mod">
        <pc:chgData name="Taylor Davis" userId="5c9e72a0-c39f-4aa1-9d7d-64125e78cbe6" providerId="ADAL" clId="{E9C0F47F-2B0D-4A27-B95A-A9D6B407C8CB}" dt="2024-10-22T03:33:55.951" v="223" actId="1038"/>
        <pc:sldMkLst>
          <pc:docMk/>
          <pc:sldMk cId="1660060508" sldId="559"/>
        </pc:sldMkLst>
        <pc:spChg chg="mod">
          <ac:chgData name="Taylor Davis" userId="5c9e72a0-c39f-4aa1-9d7d-64125e78cbe6" providerId="ADAL" clId="{E9C0F47F-2B0D-4A27-B95A-A9D6B407C8CB}" dt="2024-10-22T03:33:43.315" v="206" actId="20577"/>
          <ac:spMkLst>
            <pc:docMk/>
            <pc:sldMk cId="1660060508" sldId="559"/>
            <ac:spMk id="4" creationId="{C9963971-9E27-D1D8-44A6-33EAA3782592}"/>
          </ac:spMkLst>
        </pc:spChg>
        <pc:spChg chg="mod">
          <ac:chgData name="Taylor Davis" userId="5c9e72a0-c39f-4aa1-9d7d-64125e78cbe6" providerId="ADAL" clId="{E9C0F47F-2B0D-4A27-B95A-A9D6B407C8CB}" dt="2024-10-22T03:33:55.951" v="223" actId="1038"/>
          <ac:spMkLst>
            <pc:docMk/>
            <pc:sldMk cId="1660060508" sldId="559"/>
            <ac:spMk id="5" creationId="{CCED4F75-71FE-39B7-D7A7-16E95303FB5C}"/>
          </ac:spMkLst>
        </pc:spChg>
        <pc:spChg chg="mod">
          <ac:chgData name="Taylor Davis" userId="5c9e72a0-c39f-4aa1-9d7d-64125e78cbe6" providerId="ADAL" clId="{E9C0F47F-2B0D-4A27-B95A-A9D6B407C8CB}" dt="2024-10-22T03:33:55.951" v="223" actId="1038"/>
          <ac:spMkLst>
            <pc:docMk/>
            <pc:sldMk cId="1660060508" sldId="559"/>
            <ac:spMk id="6" creationId="{340F1AD2-D85A-D177-8D19-AC9B027C53E2}"/>
          </ac:spMkLst>
        </pc:spChg>
        <pc:graphicFrameChg chg="mod modGraphic">
          <ac:chgData name="Taylor Davis" userId="5c9e72a0-c39f-4aa1-9d7d-64125e78cbe6" providerId="ADAL" clId="{E9C0F47F-2B0D-4A27-B95A-A9D6B407C8CB}" dt="2024-10-22T03:32:40.899" v="174" actId="20577"/>
          <ac:graphicFrameMkLst>
            <pc:docMk/>
            <pc:sldMk cId="1660060508" sldId="559"/>
            <ac:graphicFrameMk id="8" creationId="{B9E0A44D-EDC5-EBD5-4D77-F30FF46B060F}"/>
          </ac:graphicFrameMkLst>
        </pc:graphicFrameChg>
      </pc:sldChg>
      <pc:sldChg chg="del">
        <pc:chgData name="Taylor Davis" userId="5c9e72a0-c39f-4aa1-9d7d-64125e78cbe6" providerId="ADAL" clId="{E9C0F47F-2B0D-4A27-B95A-A9D6B407C8CB}" dt="2024-10-22T02:59:33.722" v="33" actId="47"/>
        <pc:sldMkLst>
          <pc:docMk/>
          <pc:sldMk cId="4064752386" sldId="564"/>
        </pc:sldMkLst>
      </pc:sldChg>
      <pc:sldChg chg="modSp add del mod">
        <pc:chgData name="Taylor Davis" userId="5c9e72a0-c39f-4aa1-9d7d-64125e78cbe6" providerId="ADAL" clId="{E9C0F47F-2B0D-4A27-B95A-A9D6B407C8CB}" dt="2024-10-22T03:29:45.574" v="129" actId="14100"/>
        <pc:sldMkLst>
          <pc:docMk/>
          <pc:sldMk cId="0" sldId="572"/>
        </pc:sldMkLst>
        <pc:graphicFrameChg chg="modGraphic">
          <ac:chgData name="Taylor Davis" userId="5c9e72a0-c39f-4aa1-9d7d-64125e78cbe6" providerId="ADAL" clId="{E9C0F47F-2B0D-4A27-B95A-A9D6B407C8CB}" dt="2024-10-22T03:29:45.574" v="129" actId="14100"/>
          <ac:graphicFrameMkLst>
            <pc:docMk/>
            <pc:sldMk cId="0" sldId="572"/>
            <ac:graphicFrameMk id="2" creationId="{00000000-0000-0000-0000-000000000000}"/>
          </ac:graphicFrameMkLst>
        </pc:graphicFrameChg>
      </pc:sldChg>
      <pc:sldChg chg="modSp add del mod">
        <pc:chgData name="Taylor Davis" userId="5c9e72a0-c39f-4aa1-9d7d-64125e78cbe6" providerId="ADAL" clId="{E9C0F47F-2B0D-4A27-B95A-A9D6B407C8CB}" dt="2024-10-22T03:29:42.349" v="128" actId="14100"/>
        <pc:sldMkLst>
          <pc:docMk/>
          <pc:sldMk cId="1064222983" sldId="574"/>
        </pc:sldMkLst>
        <pc:graphicFrameChg chg="modGraphic">
          <ac:chgData name="Taylor Davis" userId="5c9e72a0-c39f-4aa1-9d7d-64125e78cbe6" providerId="ADAL" clId="{E9C0F47F-2B0D-4A27-B95A-A9D6B407C8CB}" dt="2024-10-22T03:29:42.349" v="128" actId="14100"/>
          <ac:graphicFrameMkLst>
            <pc:docMk/>
            <pc:sldMk cId="1064222983" sldId="574"/>
            <ac:graphicFrameMk id="2" creationId="{00000000-0000-0000-0000-000000000000}"/>
          </ac:graphicFrameMkLst>
        </pc:graphicFrameChg>
      </pc:sldChg>
      <pc:sldChg chg="modSp add del mod">
        <pc:chgData name="Taylor Davis" userId="5c9e72a0-c39f-4aa1-9d7d-64125e78cbe6" providerId="ADAL" clId="{E9C0F47F-2B0D-4A27-B95A-A9D6B407C8CB}" dt="2024-10-22T03:29:49.607" v="130" actId="14100"/>
        <pc:sldMkLst>
          <pc:docMk/>
          <pc:sldMk cId="3790917938" sldId="575"/>
        </pc:sldMkLst>
        <pc:graphicFrameChg chg="modGraphic">
          <ac:chgData name="Taylor Davis" userId="5c9e72a0-c39f-4aa1-9d7d-64125e78cbe6" providerId="ADAL" clId="{E9C0F47F-2B0D-4A27-B95A-A9D6B407C8CB}" dt="2024-10-22T03:29:49.607" v="130" actId="14100"/>
          <ac:graphicFrameMkLst>
            <pc:docMk/>
            <pc:sldMk cId="3790917938" sldId="575"/>
            <ac:graphicFrameMk id="2" creationId="{00000000-0000-0000-0000-000000000000}"/>
          </ac:graphicFrameMkLst>
        </pc:graphicFrameChg>
      </pc:sldChg>
      <pc:sldChg chg="modSp mod">
        <pc:chgData name="Taylor Davis" userId="5c9e72a0-c39f-4aa1-9d7d-64125e78cbe6" providerId="ADAL" clId="{E9C0F47F-2B0D-4A27-B95A-A9D6B407C8CB}" dt="2024-10-22T03:34:12.975" v="239" actId="20577"/>
        <pc:sldMkLst>
          <pc:docMk/>
          <pc:sldMk cId="636727059" sldId="577"/>
        </pc:sldMkLst>
        <pc:spChg chg="mod">
          <ac:chgData name="Taylor Davis" userId="5c9e72a0-c39f-4aa1-9d7d-64125e78cbe6" providerId="ADAL" clId="{E9C0F47F-2B0D-4A27-B95A-A9D6B407C8CB}" dt="2024-10-22T03:34:12.975" v="239" actId="20577"/>
          <ac:spMkLst>
            <pc:docMk/>
            <pc:sldMk cId="636727059" sldId="577"/>
            <ac:spMk id="5" creationId="{B981BBA2-A3ED-6F7B-693B-880E5B031B26}"/>
          </ac:spMkLst>
        </pc:spChg>
      </pc:sldChg>
      <pc:sldChg chg="del">
        <pc:chgData name="Taylor Davis" userId="5c9e72a0-c39f-4aa1-9d7d-64125e78cbe6" providerId="ADAL" clId="{E9C0F47F-2B0D-4A27-B95A-A9D6B407C8CB}" dt="2024-10-22T03:10:45.034" v="86" actId="47"/>
        <pc:sldMkLst>
          <pc:docMk/>
          <pc:sldMk cId="1082327325" sldId="580"/>
        </pc:sldMkLst>
      </pc:sldChg>
      <pc:sldChg chg="del">
        <pc:chgData name="Taylor Davis" userId="5c9e72a0-c39f-4aa1-9d7d-64125e78cbe6" providerId="ADAL" clId="{E9C0F47F-2B0D-4A27-B95A-A9D6B407C8CB}" dt="2024-10-22T03:10:55.680" v="88" actId="47"/>
        <pc:sldMkLst>
          <pc:docMk/>
          <pc:sldMk cId="4294051359" sldId="582"/>
        </pc:sldMkLst>
      </pc:sldChg>
      <pc:sldChg chg="del">
        <pc:chgData name="Taylor Davis" userId="5c9e72a0-c39f-4aa1-9d7d-64125e78cbe6" providerId="ADAL" clId="{E9C0F47F-2B0D-4A27-B95A-A9D6B407C8CB}" dt="2024-10-22T02:44:27.137" v="1" actId="47"/>
        <pc:sldMkLst>
          <pc:docMk/>
          <pc:sldMk cId="838631500" sldId="583"/>
        </pc:sldMkLst>
      </pc:sldChg>
      <pc:sldChg chg="del">
        <pc:chgData name="Taylor Davis" userId="5c9e72a0-c39f-4aa1-9d7d-64125e78cbe6" providerId="ADAL" clId="{E9C0F47F-2B0D-4A27-B95A-A9D6B407C8CB}" dt="2024-10-22T03:27:45.519" v="96" actId="47"/>
        <pc:sldMkLst>
          <pc:docMk/>
          <pc:sldMk cId="2011724879" sldId="585"/>
        </pc:sldMkLst>
      </pc:sldChg>
      <pc:sldChg chg="del">
        <pc:chgData name="Taylor Davis" userId="5c9e72a0-c39f-4aa1-9d7d-64125e78cbe6" providerId="ADAL" clId="{E9C0F47F-2B0D-4A27-B95A-A9D6B407C8CB}" dt="2024-10-22T02:59:37.047" v="34" actId="47"/>
        <pc:sldMkLst>
          <pc:docMk/>
          <pc:sldMk cId="4222550375" sldId="587"/>
        </pc:sldMkLst>
      </pc:sldChg>
      <pc:sldChg chg="add">
        <pc:chgData name="Taylor Davis" userId="5c9e72a0-c39f-4aa1-9d7d-64125e78cbe6" providerId="ADAL" clId="{E9C0F47F-2B0D-4A27-B95A-A9D6B407C8CB}" dt="2024-10-22T02:44:24.951" v="0"/>
        <pc:sldMkLst>
          <pc:docMk/>
          <pc:sldMk cId="4086872322" sldId="589"/>
        </pc:sldMkLst>
      </pc:sldChg>
      <pc:sldChg chg="add">
        <pc:chgData name="Taylor Davis" userId="5c9e72a0-c39f-4aa1-9d7d-64125e78cbe6" providerId="ADAL" clId="{E9C0F47F-2B0D-4A27-B95A-A9D6B407C8CB}" dt="2024-10-22T03:10:34.429" v="85"/>
        <pc:sldMkLst>
          <pc:docMk/>
          <pc:sldMk cId="1117270418" sldId="590"/>
        </pc:sldMkLst>
      </pc:sldChg>
      <pc:sldChg chg="add">
        <pc:chgData name="Taylor Davis" userId="5c9e72a0-c39f-4aa1-9d7d-64125e78cbe6" providerId="ADAL" clId="{E9C0F47F-2B0D-4A27-B95A-A9D6B407C8CB}" dt="2024-10-22T03:10:53.777" v="87"/>
        <pc:sldMkLst>
          <pc:docMk/>
          <pc:sldMk cId="163312798" sldId="591"/>
        </pc:sldMkLst>
      </pc:sldChg>
      <pc:sldChg chg="modSp add mod">
        <pc:chgData name="Taylor Davis" userId="5c9e72a0-c39f-4aa1-9d7d-64125e78cbe6" providerId="ADAL" clId="{E9C0F47F-2B0D-4A27-B95A-A9D6B407C8CB}" dt="2024-10-22T03:27:48.726" v="97" actId="14100"/>
        <pc:sldMkLst>
          <pc:docMk/>
          <pc:sldMk cId="2150531706" sldId="592"/>
        </pc:sldMkLst>
        <pc:graphicFrameChg chg="modGraphic">
          <ac:chgData name="Taylor Davis" userId="5c9e72a0-c39f-4aa1-9d7d-64125e78cbe6" providerId="ADAL" clId="{E9C0F47F-2B0D-4A27-B95A-A9D6B407C8CB}" dt="2024-10-22T03:27:48.726" v="97" actId="14100"/>
          <ac:graphicFrameMkLst>
            <pc:docMk/>
            <pc:sldMk cId="2150531706" sldId="592"/>
            <ac:graphicFrameMk id="7" creationId="{00000000-0000-0000-0000-000000000000}"/>
          </ac:graphicFrameMkLst>
        </pc:graphicFrameChg>
      </pc:sldChg>
      <pc:sldChg chg="add del">
        <pc:chgData name="Taylor Davis" userId="5c9e72a0-c39f-4aa1-9d7d-64125e78cbe6" providerId="ADAL" clId="{E9C0F47F-2B0D-4A27-B95A-A9D6B407C8CB}" dt="2024-10-22T03:27:26.016" v="94" actId="47"/>
        <pc:sldMkLst>
          <pc:docMk/>
          <pc:sldMk cId="3769745712" sldId="592"/>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image" Target="../media/image25.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endParaRPr lang="en-US" sz="1800" b="0" dirty="0"/>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54060E05-1455-499C-A6BB-E47A1C8EFC1A}" type="presOf" srcId="{B1FA3D48-7F41-4C46-99D6-6C8591F4198C}" destId="{8C4E3136-41AF-48D5-891D-C7A5263CF655}" srcOrd="0" destOrd="1" presId="urn:microsoft.com/office/officeart/2005/8/layout/bList2"/>
    <dgm:cxn modelId="{EBF30808-A408-4F9D-B9C2-E5FC4507A989}" srcId="{137481BD-655E-4B21-9249-6EBB92970AA3}" destId="{B1FA3D48-7F41-4C46-99D6-6C8591F4198C}" srcOrd="1" destOrd="0" parTransId="{012C922E-7A6C-43B7-A753-53C75D0CB07F}" sibTransId="{4E6B45C1-37A8-43E1-8B00-EA4364BA9A53}"/>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1"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92EAACA0-EC69-4A7A-A0D6-B767ABABFD4D}" type="presOf" srcId="{8AA02574-A625-4CCB-B607-53FB332909CE}" destId="{9E8AA967-F63D-4462-B3DF-2E61DCE37D82}" srcOrd="0" destOrd="0" presId="urn:microsoft.com/office/officeart/2005/8/layout/bList2"/>
    <dgm:cxn modelId="{FB851ADA-FDC3-4AC9-B5D1-634F1680EA45}" type="presOf" srcId="{D23E581B-AA16-403B-8AF5-1BB3E719881C}" destId="{5F2862EE-15F0-400F-BA0C-7A5864BA0266}" srcOrd="0" destOrd="0" presId="urn:microsoft.com/office/officeart/2005/8/layout/bList2"/>
    <dgm:cxn modelId="{D5EF1BE8-567B-4AEB-9931-155FFDAC15D1}" srcId="{8AA02574-A625-4CCB-B607-53FB332909CE}" destId="{5E564713-3E5C-4216-AC76-2C8D569707A1}" srcOrd="1" destOrd="0" parTransId="{0C8DA182-D421-4374-AA69-62A4033F8D61}" sibTransId="{C594015F-2B43-47FD-9E44-22D00FC6EB48}"/>
    <dgm:cxn modelId="{AECB39EB-1DBA-434A-8146-CF9B196B8451}" type="presOf" srcId="{8F0095CA-0C27-493A-9874-D794A8A73536}" destId="{35B06EAE-30F4-4745-ACED-5452905F1416}" srcOrd="0" destOrd="0" presId="urn:microsoft.com/office/officeart/2005/8/layout/bList2"/>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endParaRPr lang="en-US" sz="18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10/21/2024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10/21/2024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10/21/2024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10/21/2024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10/21/2024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10/21/2024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10/21/2024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10/21/2024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10/21/2024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10/21/2024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10/21/2024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10/21/2024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10/21/2024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4.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jpeg"/><Relationship Id="rId4" Type="http://schemas.openxmlformats.org/officeDocument/2006/relationships/image" Target="../media/image30.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microsoft.com/office/2007/relationships/hdphoto" Target="../media/hdphoto2.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jpeg"/><Relationship Id="rId1" Type="http://schemas.openxmlformats.org/officeDocument/2006/relationships/slideLayout" Target="../slideLayouts/slideLayout6.xml"/><Relationship Id="rId6" Type="http://schemas.openxmlformats.org/officeDocument/2006/relationships/image" Target="../media/image48.svg"/><Relationship Id="rId11" Type="http://schemas.openxmlformats.org/officeDocument/2006/relationships/image" Target="../media/image6.pn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3"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4"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CLEVELAND CLINIC DIRECT-TO-EMPLOYER PLAN </a:t>
            </a:r>
          </a:p>
          <a:p>
            <a:r>
              <a:rPr lang="en-US" sz="2000" b="1" dirty="0">
                <a:solidFill>
                  <a:schemeClr val="bg1"/>
                </a:solidFill>
              </a:rPr>
              <a:t>October 22,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7" name="Content Placeholder 6"/>
          <p:cNvPicPr>
            <a:picLocks noGrp="1"/>
          </p:cNvPicPr>
          <p:nvPr>
            <p:ph/>
          </p:nvPr>
        </p:nvPicPr>
        <p:blipFill>
          <a:blip r:embed="rId3" cstate="print"/>
          <a:stretch>
            <a:fillRect/>
          </a:stretch>
        </p:blipFill>
        <p:spPr>
          <a:xfrm>
            <a:off x="987552" y="1636776"/>
            <a:ext cx="11201400" cy="5221224"/>
          </a:xfrm>
          <a:prstGeom prst="rect">
            <a:avLst/>
          </a:prstGeom>
        </p:spPr>
      </p:pic>
      <p:pic>
        <p:nvPicPr>
          <p:cNvPr id="8" name="Content Placeholder 7"/>
          <p:cNvPicPr>
            <a:picLocks noGrp="1" noChangeAspect="1"/>
          </p:cNvPicPr>
          <p:nvPr>
            <p:ph/>
          </p:nvPr>
        </p:nvPicPr>
        <p:blipFill>
          <a:blip r:embed="rId4" cstate="print"/>
          <a:stretch>
            <a:fillRect/>
          </a:stretch>
        </p:blipFill>
        <p:spPr>
          <a:xfrm>
            <a:off x="9002825" y="892412"/>
            <a:ext cx="2936914" cy="468071"/>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5"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6"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8"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9"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10"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11"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1561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3"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4"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9"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0"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1"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2"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3"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Health Plan Focused on a Direct Relationship with Self-Funded Employers in </a:t>
            </a:r>
            <a:r>
              <a:rPr lang="en-US" sz="1600" b="1" i="1" dirty="0">
                <a:solidFill>
                  <a:srgbClr val="000B2E"/>
                </a:solidFill>
                <a:latin typeface="Arial" panose="020B0604020202020204" pitchFamily="34" charset="0"/>
                <a:cs typeface="Arial" panose="020B0604020202020204" pitchFamily="34" charset="0"/>
              </a:rPr>
              <a:t>Your</a:t>
            </a:r>
            <a:r>
              <a:rPr lang="en-US" sz="1600" b="1" dirty="0">
                <a:solidFill>
                  <a:srgbClr val="000B2E"/>
                </a:solidFill>
                <a:latin typeface="Arial" panose="020B0604020202020204" pitchFamily="34" charset="0"/>
                <a:cs typeface="Arial" panose="020B0604020202020204" pitchFamily="34" charset="0"/>
              </a:rPr>
              <a:t> Market</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16" name="Content Placeholder 7">
            <a:extLst>
              <a:ext uri="{FF2B5EF4-FFF2-40B4-BE49-F238E27FC236}">
                <a16:creationId xmlns:a16="http://schemas.microsoft.com/office/drawing/2014/main" id="{6D80BE2C-037F-70BF-BC71-21812EE77A64}"/>
              </a:ext>
            </a:extLst>
          </p:cNvPr>
          <p:cNvPicPr>
            <a:picLocks noChangeAspect="1"/>
          </p:cNvPicPr>
          <p:nvPr/>
        </p:nvPicPr>
        <p:blipFill>
          <a:blip r:embed="rId3" cstate="print"/>
          <a:stretch>
            <a:fillRect/>
          </a:stretch>
        </p:blipFill>
        <p:spPr>
          <a:xfrm>
            <a:off x="9020511" y="494931"/>
            <a:ext cx="2936914" cy="468071"/>
          </a:xfrm>
          <a:prstGeom prst="rect">
            <a:avLst/>
          </a:prstGeom>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dirty="0">
                <a:solidFill>
                  <a:schemeClr val="tx1">
                    <a:lumMod val="75000"/>
                    <a:lumOff val="25000"/>
                  </a:schemeClr>
                </a:solidFill>
              </a:rPr>
              <a:t>DTE Keys to Success for Cleveland Clinic Health System</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646605"/>
          </a:xfrm>
          <a:prstGeom prst="rect">
            <a:avLst/>
          </a:prstGeom>
        </p:spPr>
        <p:txBody>
          <a:bodyPr wrap="square">
            <a:spAutoFit/>
          </a:bodyPr>
          <a:lstStyle/>
          <a:p>
            <a:pPr algn="ctr" defTabSz="914411">
              <a:lnSpc>
                <a:spcPct val="90000"/>
              </a:lnSpc>
              <a:spcAft>
                <a:spcPts val="1200"/>
              </a:spcAft>
              <a:buClr>
                <a:schemeClr val="tx1"/>
              </a:buClr>
            </a:pPr>
            <a:r>
              <a:rPr lang="en-US" b="1" dirty="0"/>
              <a:t>DTE Plan Sells</a:t>
            </a:r>
          </a:p>
          <a:p>
            <a:pPr algn="ctr" defTabSz="914411">
              <a:lnSpc>
                <a:spcPct val="90000"/>
              </a:lnSpc>
              <a:spcAft>
                <a:spcPts val="1200"/>
              </a:spcAft>
              <a:buClr>
                <a:schemeClr val="tx1"/>
              </a:buClr>
            </a:pPr>
            <a:r>
              <a:rPr lang="en-US" dirty="0"/>
              <a:t>DTE plans only work when the network is built around a strong brand with good access and competitive costs. </a:t>
            </a:r>
          </a:p>
          <a:p>
            <a:pPr algn="ctr" defTabSz="914411">
              <a:lnSpc>
                <a:spcPct val="90000"/>
              </a:lnSpc>
              <a:spcAft>
                <a:spcPts val="1200"/>
              </a:spcAft>
              <a:buClr>
                <a:schemeClr val="tx1"/>
              </a:buClr>
            </a:pPr>
            <a:r>
              <a:rPr lang="en-US" dirty="0">
                <a:solidFill/>
              </a:rPr>
              <a:t>Cleveland Clinic Health System has a strong brand in Northern Ohio. KBA expects this plan will sell very well.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895904"/>
          </a:xfrm>
          <a:prstGeom prst="rect">
            <a:avLst/>
          </a:prstGeom>
        </p:spPr>
        <p:txBody>
          <a:bodyPr wrap="square">
            <a:spAutoFit/>
          </a:bodyPr>
          <a:lstStyle/>
          <a:p>
            <a:pPr algn="ctr" defTabSz="914411">
              <a:lnSpc>
                <a:spcPct val="90000"/>
              </a:lnSpc>
              <a:spcAft>
                <a:spcPts val="1200"/>
              </a:spcAft>
              <a:buClr>
                <a:schemeClr val="tx1"/>
              </a:buClr>
            </a:pPr>
            <a:r>
              <a:rPr lang="en-US" b="1" dirty="0"/>
              <a:t>Estimates for Margin and Steerage Hold</a:t>
            </a:r>
          </a:p>
          <a:p>
            <a:pPr algn="ctr" defTabSz="914411">
              <a:lnSpc>
                <a:spcPct val="90000"/>
              </a:lnSpc>
              <a:spcAft>
                <a:spcPts val="1200"/>
              </a:spcAft>
              <a:buClr>
                <a:schemeClr val="tx1"/>
              </a:buClr>
            </a:pPr>
            <a:r>
              <a:rPr lang="en-US" dirty="0"/>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dirty="0">
                <a:solidFill/>
              </a:rPr>
              <a:t>Profit growth will hold if these assumptions accurately play out as expected for Cleveland Clinic Health System.</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4"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5"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2">
            <a:extLst>
              <a:ext uri="{FF2B5EF4-FFF2-40B4-BE49-F238E27FC236}">
                <a16:creationId xmlns:a16="http://schemas.microsoft.com/office/drawing/2014/main" id="{061C4F0D-14E1-8EB9-6313-04B404BF313E}"/>
              </a:ext>
            </a:extLst>
          </p:cNvPr>
          <p:cNvSpPr txBox="1"/>
          <p:nvPr/>
        </p:nvSpPr>
        <p:spPr>
          <a:xfrm>
            <a:off x="1036930" y="3444621"/>
            <a:ext cx="3034331" cy="1938992"/>
          </a:xfrm>
          <a:prstGeom prst="rect">
            <a:avLst/>
          </a:prstGeom>
          <a:noFill/>
        </p:spPr>
        <p:txBody>
          <a:bodyPr wrap="square">
            <a:spAutoFit/>
          </a:bodyPr>
          <a:lstStyle/>
          <a:p>
            <a:pPr algn="ctr"/>
            <a:r>
              <a:rPr lang="en-US" sz="4000" dirty="0">
                <a:solidFill>
                  <a:schemeClr val="accent2"/>
                </a:solidFill>
              </a:rPr>
              <a:t>Results in</a:t>
            </a:r>
          </a:p>
          <a:p>
            <a:pPr algn="ctr"/>
            <a:r>
              <a:rPr lang="en-US" sz="4000" dirty="0">
                <a:solidFill>
                  <a:schemeClr val="accent2"/>
                </a:solidFill>
              </a:rPr>
              <a:t>~$1.11 of loss</a:t>
            </a:r>
          </a:p>
        </p:txBody>
      </p:sp>
      <p:sp>
        <p:nvSpPr>
          <p:cNvPr id="7"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9"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0"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2"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~$0.17 of profit</a:t>
            </a:r>
          </a:p>
        </p:txBody>
      </p:sp>
      <p:sp>
        <p:nvSpPr>
          <p:cNvPr id="13" name="TextBox 6">
            <a:extLst>
              <a:ext uri="{FF2B5EF4-FFF2-40B4-BE49-F238E27FC236}">
                <a16:creationId xmlns:a16="http://schemas.microsoft.com/office/drawing/2014/main" id="{820D1BA4-6D19-00FD-17FF-A0AD0AAAF7EE}"/>
              </a:ext>
            </a:extLst>
          </p:cNvPr>
          <p:cNvSpPr txBox="1"/>
          <p:nvPr/>
        </p:nvSpPr>
        <p:spPr>
          <a:xfrm>
            <a:off x="1973943" y="5562552"/>
            <a:ext cx="9132180" cy="369332"/>
          </a:xfrm>
          <a:prstGeom prst="rect">
            <a:avLst/>
          </a:prstGeom>
          <a:noFill/>
        </p:spPr>
        <p:txBody>
          <a:bodyPr wrap="none" rtlCol="0">
            <a:spAutoFit/>
          </a:bodyPr>
          <a:lstStyle/>
          <a:p>
            <a:r>
              <a:rPr lang="en-US" dirty="0"/>
              <a:t>See slide 24 for more details on the calculation of commercial and government-pay net income.</a:t>
            </a:r>
          </a:p>
        </p:txBody>
      </p:sp>
      <p:pic>
        <p:nvPicPr>
          <p:cNvPr id="17" name="Content Placeholder 7">
            <a:extLst>
              <a:ext uri="{FF2B5EF4-FFF2-40B4-BE49-F238E27FC236}">
                <a16:creationId xmlns:a16="http://schemas.microsoft.com/office/drawing/2014/main" id="{12DB7264-85B1-DF60-9E19-1397A0A88CEC}"/>
              </a:ext>
            </a:extLst>
          </p:cNvPr>
          <p:cNvPicPr>
            <a:picLocks noChangeAspect="1"/>
          </p:cNvPicPr>
          <p:nvPr/>
        </p:nvPicPr>
        <p:blipFill>
          <a:blip r:embed="rId2" cstate="print"/>
          <a:stretch>
            <a:fillRect/>
          </a:stretch>
        </p:blipFill>
        <p:spPr>
          <a:xfrm>
            <a:off x="8942941" y="585528"/>
            <a:ext cx="2936914" cy="468071"/>
          </a:xfrm>
          <a:prstGeom prst="rect">
            <a:avLst/>
          </a:prstGeom>
        </p:spPr>
      </p:pic>
    </p:spTree>
    <p:extLst>
      <p:ext uri="{BB962C8B-B14F-4D97-AF65-F5344CB8AC3E}">
        <p14:creationId xmlns:p14="http://schemas.microsoft.com/office/powerpoint/2010/main" val="3348736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086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dirty="0">
                <a:solidFill/>
              </a:rPr>
              <a:t>“At the table” with Cleveland Clinic Health System</a:t>
            </a:r>
          </a:p>
          <a:p>
            <a:pPr marL="514356" indent="-342905" defTabSz="914411">
              <a:lnSpc>
                <a:spcPct val="90000"/>
              </a:lnSpc>
              <a:spcAft>
                <a:spcPts val="1200"/>
              </a:spcAft>
              <a:buClr>
                <a:srgbClr val="244F9A"/>
              </a:buClr>
              <a:buFont typeface="Wingdings" panose="05000000000000000000" pitchFamily="2" charset="2"/>
              <a:buChar char="§"/>
            </a:pPr>
            <a:r>
              <a:rPr lang="en-US" dirty="0"/>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dirty="0"/>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dirty="0"/>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dirty="0">
                <a:solidFill>
                  <a:srgbClr val="000B2E"/>
                </a:solidFill>
              </a:rPr>
              <a:t>Powerful Employer Value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2756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5,000</a:t>
            </a:r>
            <a:r>
              <a:rPr lang="en-US" spc="200" dirty="0">
                <a:latin typeface="+mj-lt"/>
                <a:cs typeface="+mj-cs"/>
              </a:rPr>
              <a:t>+</a:t>
            </a:r>
            <a:r>
              <a:rPr lang="en-US" sz="1800" spc="200" dirty="0">
                <a:latin typeface="+mj-lt"/>
                <a:cs typeface="+mj-cs"/>
              </a:rPr>
              <a:t> Employers          1M</a:t>
            </a:r>
            <a:r>
              <a:rPr lang="en-US" sz="1800" spc="200" dirty="0">
                <a:latin typeface="+mj-lt"/>
                <a:cs typeface="+mj-cs"/>
                <a:sym typeface="Wingdings" panose="05000000000000000000" pitchFamily="2" charset="2"/>
              </a:rPr>
              <a:t>+ Employees                 1.8M+ Members</a:t>
            </a:r>
            <a:endParaRPr lang="en-US" dirty="0"/>
          </a:p>
        </p:txBody>
      </p:sp>
      <p:sp>
        <p:nvSpPr>
          <p:cNvPr id="5" name="Arrow: Chevron 8">
            <a:extLst>
              <a:ext uri="{FF2B5EF4-FFF2-40B4-BE49-F238E27FC236}">
                <a16:creationId xmlns:a16="http://schemas.microsoft.com/office/drawing/2014/main" id="{CCED4F75-71FE-39B7-D7A7-16E95303FB5C}"/>
              </a:ext>
            </a:extLst>
          </p:cNvPr>
          <p:cNvSpPr/>
          <p:nvPr/>
        </p:nvSpPr>
        <p:spPr>
          <a:xfrm>
            <a:off x="45239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4705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827984277"/>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2,809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1,199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772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92</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210,675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179,850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231,600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308,000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246,000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552,000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Aptos Narrow" panose="020B0004020202020204" pitchFamily="34"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Aptos Narrow" panose="020B0004020202020204" pitchFamily="34" charset="0"/>
                        </a:rPr>
                        <a:t>Headquartered in Catchment Area</a:t>
                      </a:r>
                    </a:p>
                  </a:txBody>
                  <a:tcPr marL="9525" marR="9525" marT="9525" marB="0">
                    <a:lnL>
                      <a:noFill/>
                    </a:lnL>
                    <a:lnR>
                      <a:noFill/>
                    </a:lnR>
                    <a:lnT>
                      <a:noFill/>
                    </a:lnT>
                    <a:lnB>
                      <a:noFill/>
                    </a:lnB>
                    <a:noFill/>
                  </a:tcPr>
                </a:tc>
                <a:tc>
                  <a:txBody>
                    <a:bodyPr/>
                    <a:lstStyle/>
                    <a:p>
                      <a:pPr algn="ctr" rtl="0" fontAlgn="b"/>
                      <a:r>
                        <a:rPr lang="en-US" sz="1100" b="0" i="0" u="none" strike="noStrike" dirty="0">
                          <a:solidFill>
                            <a:srgbClr val="000000"/>
                          </a:solidFill>
                          <a:effectLst/>
                          <a:latin typeface="Aptos Narrow" panose="020B0004020202020204" pitchFamily="34" charset="0"/>
                        </a:rPr>
                        <a:t>248,000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212,000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273,000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363,000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290,000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651,000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rcRect l="39800" t="39576" r="31371" b="29282"/>
          <a:stretch/>
        </p:blipFill>
        <p:spPr>
          <a:xfrm>
            <a:off x="0" y="2496620"/>
            <a:ext cx="3783691" cy="3334978"/>
          </a:xfrm>
          <a:prstGeom prst="rect">
            <a:avLst/>
          </a:prstGeom>
        </p:spPr>
      </p:pic>
      <p:sp>
        <p:nvSpPr>
          <p:cNvPr id="11" name="TextBox 10">
            <a:extLst>
              <a:ext uri="{FF2B5EF4-FFF2-40B4-BE49-F238E27FC236}">
                <a16:creationId xmlns:a16="http://schemas.microsoft.com/office/drawing/2014/main" id="{359E4393-BC7D-708E-6E04-491EFD2AE698}"/>
              </a:ext>
            </a:extLst>
          </p:cNvPr>
          <p:cNvSpPr txBox="1"/>
          <p:nvPr/>
        </p:nvSpPr>
        <p:spPr>
          <a:xfrm>
            <a:off x="1170633" y="5934670"/>
            <a:ext cx="9671538" cy="523220"/>
          </a:xfrm>
          <a:prstGeom prst="rect">
            <a:avLst/>
          </a:prstGeom>
          <a:noFill/>
        </p:spPr>
        <p:txBody>
          <a:bodyPr wrap="square">
            <a:spAutoFit/>
          </a:bodyPr>
          <a:lstStyle/>
          <a:p>
            <a:r>
              <a:rPr lang="en-US" sz="1400" dirty="0">
                <a:solidFill>
                  <a:srgbClr val="000B2E"/>
                </a:solidFill>
              </a:rPr>
              <a:t>Researched for Wayne, Ashtabula, Carroll, Cuyahoga, Erie, Geauga, Holmes, Huron, Lake, Lorain, Medina, Stark, Summit, and Tuscarawas Counties</a:t>
            </a:r>
            <a:endParaRPr lang="en-US" sz="1400" dirty="0"/>
          </a:p>
        </p:txBody>
      </p:sp>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dirty="0"/>
              <a:t>Plan Potential Growth Paths</a:t>
            </a:r>
          </a:p>
        </p:txBody>
      </p:sp>
      <p:sp>
        <p:nvSpPr>
          <p:cNvPr id="3"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5" name="Rectangle 6">
            <a:extLst>
              <a:ext uri="{FF2B5EF4-FFF2-40B4-BE49-F238E27FC236}">
                <a16:creationId xmlns:a16="http://schemas.microsoft.com/office/drawing/2014/main" id="{F102BEAF-097D-41B4-20FD-56D98AD0F034}"/>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93706D05-011F-D6E5-AB62-168509A0E77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PLAN GROWTH POTENTIAL</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Population</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2182178" y="2161521"/>
              <a:ext cx="7817485" cy="3197014"/>
              <a:chOff x="3627756" y="1830493"/>
              <a:chExt cx="7817485"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627756" y="4052147"/>
                <a:ext cx="6882765" cy="975360"/>
                <a:chOff x="3627756" y="4052147"/>
                <a:chExt cx="6882765"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a:p>
              </p:txBody>
            </p:sp>
            <p:sp>
              <p:nvSpPr>
                <p:cNvPr id="14" name="TextBox 63">
                  <a:extLst>
                    <a:ext uri="{FF2B5EF4-FFF2-40B4-BE49-F238E27FC236}">
                      <a16:creationId xmlns:a16="http://schemas.microsoft.com/office/drawing/2014/main" id="{89D49C14-1775-066C-353B-1ACCC4D24138}"/>
                    </a:ext>
                  </a:extLst>
                </p:cNvPr>
                <p:cNvSpPr txBox="1"/>
                <p:nvPr/>
              </p:nvSpPr>
              <p:spPr>
                <a:xfrm>
                  <a:off x="3627756" y="4317984"/>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Working Age</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Insured</a:t>
                  </a:r>
                  <a:endParaRPr lang="en-IN" sz="1600" b="1" i="1" dirty="0">
                    <a:solidFill>
                      <a:schemeClr val="bg1"/>
                    </a:solidFill>
                    <a:latin typeface="Arial" panose="020B0604020202020204" pitchFamily="34" charset="0"/>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algn="ctr"/>
                  <a:r>
                    <a:rPr lang="en-US" sz="1600" b="1" i="1" dirty="0">
                      <a:solidFill>
                        <a:schemeClr val="bg1"/>
                      </a:solidFill>
                      <a:latin typeface="Arial" panose="020B0604020202020204" pitchFamily="34" charset="0"/>
                      <a:cs typeface="Arial" panose="020B0604020202020204" pitchFamily="34" charset="0"/>
                    </a:rPr>
                    <a:t>Self Funded</a:t>
                  </a:r>
                  <a:endParaRPr lang="en-IN" sz="1600" b="1" i="1" dirty="0">
                    <a:solidFill>
                      <a:schemeClr val="bg1"/>
                    </a:solidFill>
                    <a:latin typeface="Arial" panose="020B0604020202020204" pitchFamily="34" charset="0"/>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a:solidFill>
                    <a:schemeClr val="bg1"/>
                  </a:solidFill>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a:solidFill>
                    <a:schemeClr val="bg1"/>
                  </a:solidFill>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r>
              <a:rPr lang="en-US" dirty="0">
                <a:solidFill/>
              </a:rPr>
              <a:t>Estimates include Ashtabula, Carroll, Cuyahoga, Erie, Geauga, Holmes, Huron, Lake, Lorain, Medina, Stark, Summit, Tuscarawas, and Wayne Counties</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613199" cy="523220"/>
          </a:xfrm>
          <a:prstGeom prst="rect">
            <a:avLst/>
          </a:prstGeom>
          <a:noFill/>
        </p:spPr>
        <p:txBody>
          <a:bodyPr wrap="none" rtlCol="0">
            <a:spAutoFit/>
          </a:bodyPr>
          <a:lstStyle/>
          <a:p>
            <a:r>
              <a:rPr lang="en-US" sz="2800" dirty="0">
                <a:solidFill/>
              </a:rPr>
              <a:t>3,776K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096775" cy="523220"/>
          </a:xfrm>
          <a:prstGeom prst="rect">
            <a:avLst/>
          </a:prstGeom>
          <a:noFill/>
        </p:spPr>
        <p:txBody>
          <a:bodyPr wrap="none" rtlCol="0">
            <a:spAutoFit/>
          </a:bodyPr>
          <a:lstStyle/>
          <a:p>
            <a:r>
              <a:rPr lang="en-US" sz="2800" dirty="0">
                <a:solidFill/>
              </a:rPr>
              <a:t>2,186K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079142" cy="523220"/>
          </a:xfrm>
          <a:prstGeom prst="rect">
            <a:avLst/>
          </a:prstGeom>
          <a:noFill/>
        </p:spPr>
        <p:txBody>
          <a:bodyPr wrap="none" rtlCol="0">
            <a:spAutoFit/>
          </a:bodyPr>
          <a:lstStyle/>
          <a:p>
            <a:r>
              <a:rPr lang="en-US" sz="2800" dirty="0">
                <a:solidFill/>
              </a:rPr>
              <a:t>1,515K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922047" cy="523220"/>
          </a:xfrm>
          <a:prstGeom prst="rect">
            <a:avLst/>
          </a:prstGeom>
          <a:noFill/>
        </p:spPr>
        <p:txBody>
          <a:bodyPr wrap="none" rtlCol="0">
            <a:spAutoFit/>
          </a:bodyPr>
          <a:lstStyle/>
          <a:p>
            <a:r>
              <a:rPr lang="en-US" sz="2800" dirty="0">
                <a:solidFill/>
              </a:rPr>
              <a:t>1,062K</a:t>
            </a:r>
          </a:p>
        </p:txBody>
      </p:sp>
      <p:pic>
        <p:nvPicPr>
          <p:cNvPr id="35" name="Content Placeholder 34"/>
          <p:cNvPicPr>
            <a:picLocks noGrp="1"/>
          </p:cNvPicPr>
          <p:nvPr>
            <p:ph/>
          </p:nvPr>
        </p:nvPicPr>
        <p:blipFill>
          <a:blip r:embed="rId2"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117270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Royalty-Free photo: Green tall trees near on the lake with overlooking  mountain during daytime | PickPik">
            <a:extLst>
              <a:ext uri="{FF2B5EF4-FFF2-40B4-BE49-F238E27FC236}">
                <a16:creationId xmlns:a16="http://schemas.microsoft.com/office/drawing/2014/main" id="{2478D38F-2055-3BED-F325-F30BC9616D52}"/>
              </a:ext>
            </a:extLst>
          </p:cNvPr>
          <p:cNvPicPr>
            <a:picLocks noChangeAspect="1" noChangeArrowheads="1"/>
          </p:cNvPicPr>
          <p:nvPr/>
        </p:nvPicPr>
        <p:blipFill rotWithShape="1">
          <a:blip r:embed="rId3">
            <a:duotone>
              <a:schemeClr val="bg2">
                <a:shade val="45000"/>
                <a:satMod val="135000"/>
              </a:schemeClr>
              <a:prstClr val="white"/>
            </a:duotone>
            <a:alphaModFix amt="28000"/>
            <a:extLst>
              <a:ext uri="{28A0092B-C50C-407E-A947-70E740481C1C}">
                <a14:useLocalDpi xmlns:a14="http://schemas.microsoft.com/office/drawing/2010/main" val="0"/>
              </a:ext>
            </a:extLst>
          </a:blip>
          <a:srcRect b="5528"/>
          <a:stretch/>
        </p:blipFill>
        <p:spPr bwMode="auto">
          <a:xfrm>
            <a:off x="-31771" y="1"/>
            <a:ext cx="10918845" cy="687206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0515600" cy="1325563"/>
          </a:xfrm>
        </p:spPr>
        <p:txBody>
          <a:bodyPr/>
          <a:lstStyle/>
          <a:p>
            <a:r>
              <a:rPr lang="en-US" dirty="0"/>
              <a:t>Growing Powerful, Lasting Profitability</a:t>
            </a:r>
          </a:p>
        </p:txBody>
      </p:sp>
      <p:sp>
        <p:nvSpPr>
          <p:cNvPr id="4" name="Footer Placeholder 2">
            <a:extLst>
              <a:ext uri="{FF2B5EF4-FFF2-40B4-BE49-F238E27FC236}">
                <a16:creationId xmlns:a16="http://schemas.microsoft.com/office/drawing/2014/main" id="{69C057C1-F13C-F6D8-AD44-F92FA29D30D9}"/>
              </a:ext>
            </a:extLst>
          </p:cNvPr>
          <p:cNvSpPr>
            <a:spLocks noGrp="1"/>
          </p:cNvSpPr>
          <p:nvPr>
            <p:ph type="ftr" sz="quarter" idx="11"/>
          </p:nvPr>
        </p:nvSpPr>
        <p:spPr>
          <a:xfrm>
            <a:off x="2752413" y="6480529"/>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F46B415-80AF-26A8-45D6-1254179BD411}"/>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6" name="Rectangle 4">
            <a:extLst>
              <a:ext uri="{FF2B5EF4-FFF2-40B4-BE49-F238E27FC236}">
                <a16:creationId xmlns:a16="http://schemas.microsoft.com/office/drawing/2014/main" id="{239038F2-C307-DC75-4AEA-316E0211A3AE}"/>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10">
            <a:extLst>
              <a:ext uri="{FF2B5EF4-FFF2-40B4-BE49-F238E27FC236}">
                <a16:creationId xmlns:a16="http://schemas.microsoft.com/office/drawing/2014/main" id="{C0C1C4CA-44D9-9691-E058-46CEB5C35DF2}"/>
              </a:ext>
            </a:extLst>
          </p:cNvPr>
          <p:cNvSpPr/>
          <p:nvPr/>
        </p:nvSpPr>
        <p:spPr>
          <a:xfrm>
            <a:off x="4401177" y="1868993"/>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DCAE5A5-11EC-16C5-5F5F-C5DF9E3B0859}"/>
              </a:ext>
            </a:extLst>
          </p:cNvPr>
          <p:cNvSpPr/>
          <p:nvPr/>
        </p:nvSpPr>
        <p:spPr>
          <a:xfrm>
            <a:off x="6315910" y="1868991"/>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
            <a:extLst>
              <a:ext uri="{FF2B5EF4-FFF2-40B4-BE49-F238E27FC236}">
                <a16:creationId xmlns:a16="http://schemas.microsoft.com/office/drawing/2014/main" id="{98C73641-C807-1985-E19A-CA79DA10785E}"/>
              </a:ext>
            </a:extLst>
          </p:cNvPr>
          <p:cNvSpPr/>
          <p:nvPr/>
        </p:nvSpPr>
        <p:spPr>
          <a:xfrm>
            <a:off x="8230644" y="1868990"/>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13">
            <a:extLst>
              <a:ext uri="{FF2B5EF4-FFF2-40B4-BE49-F238E27FC236}">
                <a16:creationId xmlns:a16="http://schemas.microsoft.com/office/drawing/2014/main" id="{8546D6DB-89F3-8B35-A9E8-670CED022928}"/>
              </a:ext>
            </a:extLst>
          </p:cNvPr>
          <p:cNvSpPr txBox="1"/>
          <p:nvPr/>
        </p:nvSpPr>
        <p:spPr>
          <a:xfrm>
            <a:off x="572430" y="1636954"/>
            <a:ext cx="2568332" cy="630942"/>
          </a:xfrm>
          <a:prstGeom prst="rect">
            <a:avLst/>
          </a:prstGeom>
          <a:noFill/>
        </p:spPr>
        <p:txBody>
          <a:bodyPr wrap="none" rtlCol="0">
            <a:spAutoFit/>
          </a:bodyPr>
          <a:lstStyle/>
          <a:p>
            <a:pPr algn="ctr"/>
            <a:r>
              <a:rPr lang="en-US" sz="2400" b="1" dirty="0">
                <a:solidFill>
                  <a:srgbClr val="6087CE"/>
                </a:solidFill>
              </a:rPr>
              <a:t>Early Stage</a:t>
            </a:r>
          </a:p>
          <a:p>
            <a:pPr algn="ctr"/>
            <a:r>
              <a:rPr lang="en-US" sz="1100" dirty="0">
                <a:solidFill>
                  <a:srgbClr val="6087CE"/>
                </a:solidFill>
              </a:rPr>
              <a:t>Gaining Name Recognition, Early Growth</a:t>
            </a:r>
          </a:p>
        </p:txBody>
      </p:sp>
      <p:sp>
        <p:nvSpPr>
          <p:cNvPr id="11" name="TextBox 6">
            <a:extLst>
              <a:ext uri="{FF2B5EF4-FFF2-40B4-BE49-F238E27FC236}">
                <a16:creationId xmlns:a16="http://schemas.microsoft.com/office/drawing/2014/main" id="{0C35DE11-AC92-1958-1813-38A8A86CBCE8}"/>
              </a:ext>
            </a:extLst>
          </p:cNvPr>
          <p:cNvSpPr txBox="1"/>
          <p:nvPr/>
        </p:nvSpPr>
        <p:spPr>
          <a:xfrm>
            <a:off x="135286" y="2293880"/>
            <a:ext cx="1624165" cy="307777"/>
          </a:xfrm>
          <a:prstGeom prst="rect">
            <a:avLst/>
          </a:prstGeom>
          <a:noFill/>
        </p:spPr>
        <p:txBody>
          <a:bodyPr wrap="square">
            <a:spAutoFit/>
          </a:bodyPr>
          <a:lstStyle/>
          <a:p>
            <a:pPr algn="ctr"/>
            <a:r>
              <a:rPr lang="en-US" sz="1400" dirty="0">
                <a:solidFill>
                  <a:srgbClr val="6087CE"/>
                </a:solidFill>
              </a:rPr>
              <a:t>New Revenue:</a:t>
            </a:r>
          </a:p>
        </p:txBody>
      </p:sp>
      <p:sp>
        <p:nvSpPr>
          <p:cNvPr id="12" name="TextBox 7">
            <a:extLst>
              <a:ext uri="{FF2B5EF4-FFF2-40B4-BE49-F238E27FC236}">
                <a16:creationId xmlns:a16="http://schemas.microsoft.com/office/drawing/2014/main" id="{2E2DA353-8032-9A29-CBFC-5E2CAB8FA818}"/>
              </a:ext>
            </a:extLst>
          </p:cNvPr>
          <p:cNvSpPr txBox="1"/>
          <p:nvPr/>
        </p:nvSpPr>
        <p:spPr>
          <a:xfrm>
            <a:off x="2219510" y="2293880"/>
            <a:ext cx="1118086" cy="307777"/>
          </a:xfrm>
          <a:prstGeom prst="rect">
            <a:avLst/>
          </a:prstGeom>
          <a:noFill/>
        </p:spPr>
        <p:txBody>
          <a:bodyPr wrap="square">
            <a:spAutoFit/>
          </a:bodyPr>
          <a:lstStyle/>
          <a:p>
            <a:pPr algn="ctr"/>
            <a:r>
              <a:rPr lang="en-US" sz="1400" dirty="0">
                <a:solidFill>
                  <a:srgbClr val="6087CE"/>
                </a:solidFill>
              </a:rPr>
              <a:t>New Profit:</a:t>
            </a:r>
          </a:p>
        </p:txBody>
      </p:sp>
      <p:sp>
        <p:nvSpPr>
          <p:cNvPr id="13" name="TextBox 9">
            <a:extLst>
              <a:ext uri="{FF2B5EF4-FFF2-40B4-BE49-F238E27FC236}">
                <a16:creationId xmlns:a16="http://schemas.microsoft.com/office/drawing/2014/main" id="{2EE70FCE-698F-980C-DE5B-A5E0DD82F2B7}"/>
              </a:ext>
            </a:extLst>
          </p:cNvPr>
          <p:cNvSpPr txBox="1"/>
          <p:nvPr/>
        </p:nvSpPr>
        <p:spPr>
          <a:xfrm>
            <a:off x="129001" y="2539605"/>
            <a:ext cx="1588535" cy="400110"/>
          </a:xfrm>
          <a:prstGeom prst="rect">
            <a:avLst/>
          </a:prstGeom>
          <a:noFill/>
        </p:spPr>
        <p:txBody>
          <a:bodyPr wrap="square">
            <a:spAutoFit/>
          </a:bodyPr>
          <a:lstStyle/>
          <a:p>
            <a:pPr algn="ctr"/>
            <a:r>
              <a:rPr lang="en-US" sz="2000" b="1" dirty="0">
                <a:solidFill>
                  <a:srgbClr val="6087CE"/>
                </a:solidFill>
              </a:rPr>
              <a:t>$36.15M</a:t>
            </a:r>
            <a:endParaRPr lang="en-US" sz="2000" dirty="0"/>
          </a:p>
        </p:txBody>
      </p:sp>
      <p:sp>
        <p:nvSpPr>
          <p:cNvPr id="14" name="TextBox 14">
            <a:extLst>
              <a:ext uri="{FF2B5EF4-FFF2-40B4-BE49-F238E27FC236}">
                <a16:creationId xmlns:a16="http://schemas.microsoft.com/office/drawing/2014/main" id="{DBAF8120-09F6-4EB0-E666-C1CBDC5CF295}"/>
              </a:ext>
            </a:extLst>
          </p:cNvPr>
          <p:cNvSpPr txBox="1"/>
          <p:nvPr/>
        </p:nvSpPr>
        <p:spPr>
          <a:xfrm>
            <a:off x="1922550" y="2539605"/>
            <a:ext cx="1588535" cy="400110"/>
          </a:xfrm>
          <a:prstGeom prst="rect">
            <a:avLst/>
          </a:prstGeom>
          <a:noFill/>
        </p:spPr>
        <p:txBody>
          <a:bodyPr wrap="square">
            <a:spAutoFit/>
          </a:bodyPr>
          <a:lstStyle/>
          <a:p>
            <a:pPr algn="ctr"/>
            <a:r>
              <a:rPr lang="en-US" sz="2000" b="1" dirty="0">
                <a:solidFill>
                  <a:srgbClr val="6087CE"/>
                </a:solidFill>
              </a:rPr>
              <a:t>$4.98M</a:t>
            </a:r>
            <a:endParaRPr lang="en-US" sz="2000" dirty="0"/>
          </a:p>
        </p:txBody>
      </p:sp>
      <p:sp>
        <p:nvSpPr>
          <p:cNvPr id="15" name="TextBox 15">
            <a:extLst>
              <a:ext uri="{FF2B5EF4-FFF2-40B4-BE49-F238E27FC236}">
                <a16:creationId xmlns:a16="http://schemas.microsoft.com/office/drawing/2014/main" id="{5B374298-411A-3F68-B672-E1DC32DEA9AE}"/>
              </a:ext>
            </a:extLst>
          </p:cNvPr>
          <p:cNvSpPr txBox="1"/>
          <p:nvPr/>
        </p:nvSpPr>
        <p:spPr>
          <a:xfrm>
            <a:off x="781431" y="3151370"/>
            <a:ext cx="2132315" cy="630942"/>
          </a:xfrm>
          <a:prstGeom prst="rect">
            <a:avLst/>
          </a:prstGeom>
          <a:noFill/>
        </p:spPr>
        <p:txBody>
          <a:bodyPr wrap="none" rtlCol="0">
            <a:spAutoFit/>
          </a:bodyPr>
          <a:lstStyle/>
          <a:p>
            <a:pPr algn="ctr"/>
            <a:r>
              <a:rPr lang="en-US" sz="2400" b="1" dirty="0">
                <a:solidFill>
                  <a:srgbClr val="2F5597"/>
                </a:solidFill>
              </a:rPr>
              <a:t>Growth Stage</a:t>
            </a:r>
          </a:p>
          <a:p>
            <a:pPr algn="ctr"/>
            <a:r>
              <a:rPr lang="en-US" sz="1100" dirty="0">
                <a:solidFill>
                  <a:srgbClr val="2F5597"/>
                </a:solidFill>
              </a:rPr>
              <a:t>Strong Reputation, Strong Growth</a:t>
            </a:r>
          </a:p>
        </p:txBody>
      </p:sp>
      <p:sp>
        <p:nvSpPr>
          <p:cNvPr id="16" name="TextBox 16">
            <a:extLst>
              <a:ext uri="{FF2B5EF4-FFF2-40B4-BE49-F238E27FC236}">
                <a16:creationId xmlns:a16="http://schemas.microsoft.com/office/drawing/2014/main" id="{734215D0-1B81-9E25-D893-D1A81A7D90DE}"/>
              </a:ext>
            </a:extLst>
          </p:cNvPr>
          <p:cNvSpPr txBox="1"/>
          <p:nvPr/>
        </p:nvSpPr>
        <p:spPr>
          <a:xfrm>
            <a:off x="126277" y="3808296"/>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17" name="TextBox 17">
            <a:extLst>
              <a:ext uri="{FF2B5EF4-FFF2-40B4-BE49-F238E27FC236}">
                <a16:creationId xmlns:a16="http://schemas.microsoft.com/office/drawing/2014/main" id="{44D03DDF-E57A-E22B-A334-B0D6BAD568C1}"/>
              </a:ext>
            </a:extLst>
          </p:cNvPr>
          <p:cNvSpPr txBox="1"/>
          <p:nvPr/>
        </p:nvSpPr>
        <p:spPr>
          <a:xfrm>
            <a:off x="2210501" y="3808296"/>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18" name="TextBox 20">
            <a:extLst>
              <a:ext uri="{FF2B5EF4-FFF2-40B4-BE49-F238E27FC236}">
                <a16:creationId xmlns:a16="http://schemas.microsoft.com/office/drawing/2014/main" id="{2F96F890-CA85-53B4-4C86-B02186E9E89E}"/>
              </a:ext>
            </a:extLst>
          </p:cNvPr>
          <p:cNvSpPr txBox="1"/>
          <p:nvPr/>
        </p:nvSpPr>
        <p:spPr>
          <a:xfrm>
            <a:off x="119992" y="4054021"/>
            <a:ext cx="1588535" cy="400110"/>
          </a:xfrm>
          <a:prstGeom prst="rect">
            <a:avLst/>
          </a:prstGeom>
          <a:noFill/>
        </p:spPr>
        <p:txBody>
          <a:bodyPr wrap="square">
            <a:spAutoFit/>
          </a:bodyPr>
          <a:lstStyle/>
          <a:p>
            <a:pPr algn="ctr"/>
            <a:r>
              <a:rPr lang="en-US" sz="2000" b="1" dirty="0">
                <a:solidFill>
                  <a:srgbClr val="2F5597"/>
                </a:solidFill>
              </a:rPr>
              <a:t>$281.31M</a:t>
            </a:r>
            <a:endParaRPr lang="en-US" sz="2000" dirty="0">
              <a:solidFill>
                <a:srgbClr val="2F5597"/>
              </a:solidFill>
            </a:endParaRPr>
          </a:p>
        </p:txBody>
      </p:sp>
      <p:sp>
        <p:nvSpPr>
          <p:cNvPr id="19" name="TextBox 21">
            <a:extLst>
              <a:ext uri="{FF2B5EF4-FFF2-40B4-BE49-F238E27FC236}">
                <a16:creationId xmlns:a16="http://schemas.microsoft.com/office/drawing/2014/main" id="{BD5125C9-83DD-4D9F-DE79-D476BE3F058D}"/>
              </a:ext>
            </a:extLst>
          </p:cNvPr>
          <p:cNvSpPr txBox="1"/>
          <p:nvPr/>
        </p:nvSpPr>
        <p:spPr>
          <a:xfrm>
            <a:off x="1913541" y="4054021"/>
            <a:ext cx="1588535" cy="400110"/>
          </a:xfrm>
          <a:prstGeom prst="rect">
            <a:avLst/>
          </a:prstGeom>
          <a:noFill/>
        </p:spPr>
        <p:txBody>
          <a:bodyPr wrap="square">
            <a:spAutoFit/>
          </a:bodyPr>
          <a:lstStyle/>
          <a:p>
            <a:pPr algn="ctr"/>
            <a:r>
              <a:rPr lang="en-US" sz="2000" b="1" dirty="0">
                <a:solidFill>
                  <a:srgbClr val="2F5597"/>
                </a:solidFill>
              </a:rPr>
              <a:t>$39.89M</a:t>
            </a:r>
            <a:endParaRPr lang="en-US" sz="2000" dirty="0">
              <a:solidFill>
                <a:srgbClr val="2F5597"/>
              </a:solidFill>
            </a:endParaRPr>
          </a:p>
        </p:txBody>
      </p:sp>
      <p:sp>
        <p:nvSpPr>
          <p:cNvPr id="20" name="TextBox 22">
            <a:extLst>
              <a:ext uri="{FF2B5EF4-FFF2-40B4-BE49-F238E27FC236}">
                <a16:creationId xmlns:a16="http://schemas.microsoft.com/office/drawing/2014/main" id="{DEBB9E11-84A3-58F8-237D-4A265C29D49C}"/>
              </a:ext>
            </a:extLst>
          </p:cNvPr>
          <p:cNvSpPr txBox="1"/>
          <p:nvPr/>
        </p:nvSpPr>
        <p:spPr>
          <a:xfrm>
            <a:off x="729525" y="4771937"/>
            <a:ext cx="2254143" cy="630942"/>
          </a:xfrm>
          <a:prstGeom prst="rect">
            <a:avLst/>
          </a:prstGeom>
          <a:noFill/>
        </p:spPr>
        <p:txBody>
          <a:bodyPr wrap="none" rtlCol="0">
            <a:spAutoFit/>
          </a:bodyPr>
          <a:lstStyle/>
          <a:p>
            <a:pPr algn="ctr"/>
            <a:r>
              <a:rPr lang="en-US" sz="2400" b="1" dirty="0">
                <a:solidFill>
                  <a:srgbClr val="2F5597"/>
                </a:solidFill>
              </a:rPr>
              <a:t>Mature Stage</a:t>
            </a:r>
          </a:p>
          <a:p>
            <a:pPr algn="ctr"/>
            <a:r>
              <a:rPr lang="en-US" sz="1100" dirty="0">
                <a:solidFill>
                  <a:srgbClr val="2F5597"/>
                </a:solidFill>
              </a:rPr>
              <a:t>High Profitability, Market Saturation</a:t>
            </a:r>
          </a:p>
        </p:txBody>
      </p:sp>
      <p:sp>
        <p:nvSpPr>
          <p:cNvPr id="21" name="TextBox 23">
            <a:extLst>
              <a:ext uri="{FF2B5EF4-FFF2-40B4-BE49-F238E27FC236}">
                <a16:creationId xmlns:a16="http://schemas.microsoft.com/office/drawing/2014/main" id="{E4C2D887-78BC-455D-E84B-4706DBDF3CA1}"/>
              </a:ext>
            </a:extLst>
          </p:cNvPr>
          <p:cNvSpPr txBox="1"/>
          <p:nvPr/>
        </p:nvSpPr>
        <p:spPr>
          <a:xfrm>
            <a:off x="135286" y="5428863"/>
            <a:ext cx="1624165" cy="307777"/>
          </a:xfrm>
          <a:prstGeom prst="rect">
            <a:avLst/>
          </a:prstGeom>
          <a:noFill/>
        </p:spPr>
        <p:txBody>
          <a:bodyPr wrap="square">
            <a:spAutoFit/>
          </a:bodyPr>
          <a:lstStyle/>
          <a:p>
            <a:pPr algn="ctr"/>
            <a:r>
              <a:rPr lang="en-US" sz="1400" dirty="0">
                <a:solidFill>
                  <a:srgbClr val="2F5597"/>
                </a:solidFill>
              </a:rPr>
              <a:t>New Revenue:</a:t>
            </a:r>
          </a:p>
        </p:txBody>
      </p:sp>
      <p:sp>
        <p:nvSpPr>
          <p:cNvPr id="22" name="TextBox 24">
            <a:extLst>
              <a:ext uri="{FF2B5EF4-FFF2-40B4-BE49-F238E27FC236}">
                <a16:creationId xmlns:a16="http://schemas.microsoft.com/office/drawing/2014/main" id="{FC3AFD72-934E-C314-76C9-3BD3C3ADC5D7}"/>
              </a:ext>
            </a:extLst>
          </p:cNvPr>
          <p:cNvSpPr txBox="1"/>
          <p:nvPr/>
        </p:nvSpPr>
        <p:spPr>
          <a:xfrm>
            <a:off x="2219510" y="5428863"/>
            <a:ext cx="1118086" cy="307777"/>
          </a:xfrm>
          <a:prstGeom prst="rect">
            <a:avLst/>
          </a:prstGeom>
          <a:noFill/>
        </p:spPr>
        <p:txBody>
          <a:bodyPr wrap="square">
            <a:spAutoFit/>
          </a:bodyPr>
          <a:lstStyle/>
          <a:p>
            <a:pPr algn="ctr"/>
            <a:r>
              <a:rPr lang="en-US" sz="1400" dirty="0">
                <a:solidFill>
                  <a:srgbClr val="2F5597"/>
                </a:solidFill>
              </a:rPr>
              <a:t>New Profit:</a:t>
            </a:r>
          </a:p>
        </p:txBody>
      </p:sp>
      <p:sp>
        <p:nvSpPr>
          <p:cNvPr id="23" name="TextBox 25">
            <a:extLst>
              <a:ext uri="{FF2B5EF4-FFF2-40B4-BE49-F238E27FC236}">
                <a16:creationId xmlns:a16="http://schemas.microsoft.com/office/drawing/2014/main" id="{AFC7E587-98BA-0E7B-D632-50ECCC546F0C}"/>
              </a:ext>
            </a:extLst>
          </p:cNvPr>
          <p:cNvSpPr txBox="1"/>
          <p:nvPr/>
        </p:nvSpPr>
        <p:spPr>
          <a:xfrm>
            <a:off x="129001" y="5674588"/>
            <a:ext cx="1588535" cy="400110"/>
          </a:xfrm>
          <a:prstGeom prst="rect">
            <a:avLst/>
          </a:prstGeom>
          <a:noFill/>
        </p:spPr>
        <p:txBody>
          <a:bodyPr wrap="square">
            <a:spAutoFit/>
          </a:bodyPr>
          <a:lstStyle/>
          <a:p>
            <a:pPr algn="ctr"/>
            <a:r>
              <a:rPr lang="en-US" sz="2000" b="1" dirty="0">
                <a:solidFill>
                  <a:srgbClr val="2F5597"/>
                </a:solidFill>
              </a:rPr>
              <a:t>$610.87M</a:t>
            </a:r>
            <a:endParaRPr lang="en-US" sz="2000" dirty="0">
              <a:solidFill>
                <a:srgbClr val="2F5597"/>
              </a:solidFill>
            </a:endParaRPr>
          </a:p>
        </p:txBody>
      </p:sp>
      <p:sp>
        <p:nvSpPr>
          <p:cNvPr id="24" name="TextBox 26">
            <a:extLst>
              <a:ext uri="{FF2B5EF4-FFF2-40B4-BE49-F238E27FC236}">
                <a16:creationId xmlns:a16="http://schemas.microsoft.com/office/drawing/2014/main" id="{CDADE326-124A-38EC-26DF-B19515A72278}"/>
              </a:ext>
            </a:extLst>
          </p:cNvPr>
          <p:cNvSpPr txBox="1"/>
          <p:nvPr/>
        </p:nvSpPr>
        <p:spPr>
          <a:xfrm>
            <a:off x="1922550" y="5674588"/>
            <a:ext cx="1588535" cy="400110"/>
          </a:xfrm>
          <a:prstGeom prst="rect">
            <a:avLst/>
          </a:prstGeom>
          <a:noFill/>
        </p:spPr>
        <p:txBody>
          <a:bodyPr wrap="square">
            <a:spAutoFit/>
          </a:bodyPr>
          <a:lstStyle/>
          <a:p>
            <a:pPr algn="ctr"/>
            <a:r>
              <a:rPr lang="en-US" sz="2000" b="1" dirty="0">
                <a:solidFill>
                  <a:srgbClr val="2F5597"/>
                </a:solidFill>
              </a:rPr>
              <a:t>$86.47M</a:t>
            </a:r>
            <a:endParaRPr lang="en-US" sz="2000" dirty="0">
              <a:solidFill>
                <a:srgbClr val="2F5597"/>
              </a:solidFill>
            </a:endParaRPr>
          </a:p>
        </p:txBody>
      </p:sp>
      <p:pic>
        <p:nvPicPr>
          <p:cNvPr id="25" name="Content Placeholder 24"/>
          <p:cNvPicPr>
            <a:picLocks noGrp="1"/>
          </p:cNvPicPr>
          <p:nvPr>
            <p:ph/>
          </p:nvPr>
        </p:nvPicPr>
        <p:blipFill>
          <a:blip r:embed="rId4" cstate="print"/>
          <a:stretch>
            <a:fillRect/>
          </a:stretch>
        </p:blipFill>
        <p:spPr>
          <a:xfrm>
            <a:off x="4078224" y="1472184"/>
            <a:ext cx="6364224" cy="4773168"/>
          </a:xfrm>
          <a:prstGeom prst="rect">
            <a:avLst/>
          </a:prstGeom>
        </p:spPr>
      </p:pic>
    </p:spTree>
    <p:extLst>
      <p:ext uri="{BB962C8B-B14F-4D97-AF65-F5344CB8AC3E}">
        <p14:creationId xmlns:p14="http://schemas.microsoft.com/office/powerpoint/2010/main" val="163312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3"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11</a:t>
            </a:fld>
            <a:endParaRPr lang="en-US" dirty="0"/>
          </a:p>
        </p:txBody>
      </p:sp>
      <p:sp>
        <p:nvSpPr>
          <p:cNvPr id="5"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8" name="TextBox 12">
            <a:extLst>
              <a:ext uri="{FF2B5EF4-FFF2-40B4-BE49-F238E27FC236}">
                <a16:creationId xmlns:a16="http://schemas.microsoft.com/office/drawing/2014/main" id="{025AE6BF-C458-13D4-626E-DAD4C1439055}"/>
              </a:ext>
            </a:extLst>
          </p:cNvPr>
          <p:cNvSpPr txBox="1"/>
          <p:nvPr/>
        </p:nvSpPr>
        <p:spPr>
          <a:xfrm>
            <a:off x="7466120" y="2250333"/>
            <a:ext cx="4616389" cy="900246"/>
          </a:xfrm>
          <a:prstGeom prst="rect">
            <a:avLst/>
          </a:prstGeom>
          <a:noFill/>
        </p:spPr>
        <p:txBody>
          <a:bodyPr wrap="square" rtlCol="0">
            <a:spAutoFit/>
          </a:bodyPr>
          <a:lstStyle/>
          <a:p>
            <a:r>
              <a:rPr lang="en-US" sz="1050" dirty="0">
                <a:solidFill/>
              </a:rPr>
              <a:t>KBA currently estimates that Cleveland Clinic Health System has 29% inpatient market share, and 26% outpatient market compared to hospitals/clinics in Northern Ohio. The DTE tiered structure will create immediate steerage, with additional steerage over time from patient bonus benefits and the patient card (see slide 32 for estimates of target steerage). </a:t>
            </a:r>
            <a:endParaRPr lang="en-US" sz="1050" dirty="0"/>
          </a:p>
        </p:txBody>
      </p:sp>
      <p:sp>
        <p:nvSpPr>
          <p:cNvPr id="9" name="Rectangle 20">
            <a:extLst>
              <a:ext uri="{FF2B5EF4-FFF2-40B4-BE49-F238E27FC236}">
                <a16:creationId xmlns:a16="http://schemas.microsoft.com/office/drawing/2014/main" id="{620CA171-241C-9006-DA4D-7174E70B2EF3}"/>
              </a:ext>
            </a:extLst>
          </p:cNvPr>
          <p:cNvSpPr/>
          <p:nvPr/>
        </p:nvSpPr>
        <p:spPr>
          <a:xfrm>
            <a:off x="7597806" y="562393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13" name="TextBox 24">
            <a:extLst>
              <a:ext uri="{FF2B5EF4-FFF2-40B4-BE49-F238E27FC236}">
                <a16:creationId xmlns:a16="http://schemas.microsoft.com/office/drawing/2014/main" id="{32C9D62D-25B0-6CD9-8AD7-E6855B1B1B26}"/>
              </a:ext>
            </a:extLst>
          </p:cNvPr>
          <p:cNvSpPr txBox="1"/>
          <p:nvPr/>
        </p:nvSpPr>
        <p:spPr>
          <a:xfrm>
            <a:off x="7509029" y="4771081"/>
            <a:ext cx="4616389" cy="738664"/>
          </a:xfrm>
          <a:prstGeom prst="rect">
            <a:avLst/>
          </a:prstGeom>
          <a:noFill/>
        </p:spPr>
        <p:txBody>
          <a:bodyPr wrap="square" rtlCol="0">
            <a:spAutoFit/>
          </a:bodyPr>
          <a:lstStyle/>
          <a:p>
            <a:r>
              <a:rPr lang="en-US" sz="1050" dirty="0">
                <a:solidFill/>
              </a:rPr>
              <a:t>KBA observes a Cleveland Clinic 17% commercial margin. Conservatively, we model the DTE to level with commercial rates given prices 10% below market, but with a 10 percentage-point increase through friendlier billing practices and improved patient collections with the patient card.</a:t>
            </a:r>
          </a:p>
        </p:txBody>
      </p:sp>
      <p:sp>
        <p:nvSpPr>
          <p:cNvPr id="14" name="TextBox 25">
            <a:extLst>
              <a:ext uri="{FF2B5EF4-FFF2-40B4-BE49-F238E27FC236}">
                <a16:creationId xmlns:a16="http://schemas.microsoft.com/office/drawing/2014/main" id="{A76920ED-352E-9285-CC83-BDA6AB18978D}"/>
              </a:ext>
            </a:extLst>
          </p:cNvPr>
          <p:cNvSpPr txBox="1"/>
          <p:nvPr/>
        </p:nvSpPr>
        <p:spPr>
          <a:xfrm>
            <a:off x="7707395" y="5576519"/>
            <a:ext cx="488916" cy="307777"/>
          </a:xfrm>
          <a:prstGeom prst="rect">
            <a:avLst/>
          </a:prstGeom>
          <a:noFill/>
        </p:spPr>
        <p:txBody>
          <a:bodyPr wrap="none" rtlCol="0">
            <a:spAutoFit/>
          </a:bodyPr>
          <a:lstStyle/>
          <a:p>
            <a:r>
              <a:rPr lang="en-US" sz="1400" b="1" dirty="0"/>
              <a:t>Low</a:t>
            </a:r>
          </a:p>
        </p:txBody>
      </p:sp>
      <p:sp>
        <p:nvSpPr>
          <p:cNvPr id="15" name="TextBox 26">
            <a:extLst>
              <a:ext uri="{FF2B5EF4-FFF2-40B4-BE49-F238E27FC236}">
                <a16:creationId xmlns:a16="http://schemas.microsoft.com/office/drawing/2014/main" id="{2559AB8C-6F23-81D3-4546-DE75EBD91879}"/>
              </a:ext>
            </a:extLst>
          </p:cNvPr>
          <p:cNvSpPr txBox="1"/>
          <p:nvPr/>
        </p:nvSpPr>
        <p:spPr>
          <a:xfrm>
            <a:off x="9572765" y="5576519"/>
            <a:ext cx="643509" cy="307777"/>
          </a:xfrm>
          <a:prstGeom prst="rect">
            <a:avLst/>
          </a:prstGeom>
          <a:noFill/>
        </p:spPr>
        <p:txBody>
          <a:bodyPr wrap="none" rtlCol="0">
            <a:spAutoFit/>
          </a:bodyPr>
          <a:lstStyle/>
          <a:p>
            <a:r>
              <a:rPr lang="en-US" sz="1400" b="1" dirty="0"/>
              <a:t>Target</a:t>
            </a:r>
          </a:p>
        </p:txBody>
      </p:sp>
      <p:sp>
        <p:nvSpPr>
          <p:cNvPr id="16" name="TextBox 27">
            <a:extLst>
              <a:ext uri="{FF2B5EF4-FFF2-40B4-BE49-F238E27FC236}">
                <a16:creationId xmlns:a16="http://schemas.microsoft.com/office/drawing/2014/main" id="{314AFF5C-ABDA-A82B-40C8-14E2DB160036}"/>
              </a:ext>
            </a:extLst>
          </p:cNvPr>
          <p:cNvSpPr txBox="1"/>
          <p:nvPr/>
        </p:nvSpPr>
        <p:spPr>
          <a:xfrm>
            <a:off x="11436788" y="5576519"/>
            <a:ext cx="524503" cy="307777"/>
          </a:xfrm>
          <a:prstGeom prst="rect">
            <a:avLst/>
          </a:prstGeom>
          <a:noFill/>
        </p:spPr>
        <p:txBody>
          <a:bodyPr wrap="none" rtlCol="0">
            <a:spAutoFit/>
          </a:bodyPr>
          <a:lstStyle/>
          <a:p>
            <a:r>
              <a:rPr lang="en-US" sz="1400" b="1" dirty="0"/>
              <a:t>High</a:t>
            </a:r>
          </a:p>
        </p:txBody>
      </p:sp>
      <p:sp>
        <p:nvSpPr>
          <p:cNvPr id="17" name="TextBox 28">
            <a:extLst>
              <a:ext uri="{FF2B5EF4-FFF2-40B4-BE49-F238E27FC236}">
                <a16:creationId xmlns:a16="http://schemas.microsoft.com/office/drawing/2014/main" id="{2C03026B-6D1E-F7B1-9995-7D9DC1019C60}"/>
              </a:ext>
            </a:extLst>
          </p:cNvPr>
          <p:cNvSpPr txBox="1"/>
          <p:nvPr/>
        </p:nvSpPr>
        <p:spPr>
          <a:xfrm>
            <a:off x="7659946" y="5835372"/>
            <a:ext cx="758541" cy="369332"/>
          </a:xfrm>
          <a:prstGeom prst="rect">
            <a:avLst/>
          </a:prstGeom>
          <a:noFill/>
        </p:spPr>
        <p:txBody>
          <a:bodyPr wrap="none" rtlCol="0">
            <a:spAutoFit/>
          </a:bodyPr>
          <a:lstStyle/>
          <a:p>
            <a:r>
              <a:rPr lang="en-US" dirty="0">
                <a:solidFill/>
              </a:rPr>
              <a:t>10.6%</a:t>
            </a:r>
          </a:p>
        </p:txBody>
      </p:sp>
      <p:sp>
        <p:nvSpPr>
          <p:cNvPr id="18" name="TextBox 29">
            <a:extLst>
              <a:ext uri="{FF2B5EF4-FFF2-40B4-BE49-F238E27FC236}">
                <a16:creationId xmlns:a16="http://schemas.microsoft.com/office/drawing/2014/main" id="{9C64CEEB-E16A-926D-5DF0-DC8275443A40}"/>
              </a:ext>
            </a:extLst>
          </p:cNvPr>
          <p:cNvSpPr txBox="1"/>
          <p:nvPr/>
        </p:nvSpPr>
        <p:spPr>
          <a:xfrm>
            <a:off x="9580061" y="5847344"/>
            <a:ext cx="885179" cy="369332"/>
          </a:xfrm>
          <a:prstGeom prst="rect">
            <a:avLst/>
          </a:prstGeom>
          <a:noFill/>
        </p:spPr>
        <p:txBody>
          <a:bodyPr wrap="none" rtlCol="0">
            <a:spAutoFit/>
          </a:bodyPr>
          <a:lstStyle/>
          <a:p>
            <a:r>
              <a:rPr lang="en-US" dirty="0">
                <a:solidFill/>
              </a:rPr>
              <a:t>13.6%</a:t>
            </a:r>
          </a:p>
        </p:txBody>
      </p:sp>
      <p:sp>
        <p:nvSpPr>
          <p:cNvPr id="19" name="TextBox 30">
            <a:extLst>
              <a:ext uri="{FF2B5EF4-FFF2-40B4-BE49-F238E27FC236}">
                <a16:creationId xmlns:a16="http://schemas.microsoft.com/office/drawing/2014/main" id="{716000A2-AFB1-117D-BFF0-2BDA3EA8A77D}"/>
              </a:ext>
            </a:extLst>
          </p:cNvPr>
          <p:cNvSpPr txBox="1"/>
          <p:nvPr/>
        </p:nvSpPr>
        <p:spPr>
          <a:xfrm>
            <a:off x="11389339" y="5847344"/>
            <a:ext cx="758541" cy="369332"/>
          </a:xfrm>
          <a:prstGeom prst="rect">
            <a:avLst/>
          </a:prstGeom>
          <a:noFill/>
        </p:spPr>
        <p:txBody>
          <a:bodyPr wrap="none" rtlCol="0">
            <a:spAutoFit/>
          </a:bodyPr>
          <a:lstStyle/>
          <a:p>
            <a:r>
              <a:rPr lang="en-US" dirty="0">
                <a:solidFill/>
              </a:rPr>
              <a:t>16.6%</a:t>
            </a:r>
          </a:p>
        </p:txBody>
      </p:sp>
      <p:sp>
        <p:nvSpPr>
          <p:cNvPr id="20" name="Rectangle 2">
            <a:extLst>
              <a:ext uri="{FF2B5EF4-FFF2-40B4-BE49-F238E27FC236}">
                <a16:creationId xmlns:a16="http://schemas.microsoft.com/office/drawing/2014/main" id="{E854312B-28D3-E83C-2C75-6E860911BB50}"/>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1"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22" name="Rectangle 19">
            <a:extLst>
              <a:ext uri="{FF2B5EF4-FFF2-40B4-BE49-F238E27FC236}">
                <a16:creationId xmlns:a16="http://schemas.microsoft.com/office/drawing/2014/main" id="{F6627BBC-E6C5-1195-07E5-6C53EE01CC8B}"/>
              </a:ext>
            </a:extLst>
          </p:cNvPr>
          <p:cNvSpPr/>
          <p:nvPr/>
        </p:nvSpPr>
        <p:spPr>
          <a:xfrm>
            <a:off x="7597806" y="320341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5">
            <a:extLst>
              <a:ext uri="{FF2B5EF4-FFF2-40B4-BE49-F238E27FC236}">
                <a16:creationId xmlns:a16="http://schemas.microsoft.com/office/drawing/2014/main" id="{C22B0D02-4198-9ACE-8A8D-89E646CD21E5}"/>
              </a:ext>
            </a:extLst>
          </p:cNvPr>
          <p:cNvSpPr txBox="1"/>
          <p:nvPr/>
        </p:nvSpPr>
        <p:spPr>
          <a:xfrm>
            <a:off x="8366143" y="3171997"/>
            <a:ext cx="488916" cy="307777"/>
          </a:xfrm>
          <a:prstGeom prst="rect">
            <a:avLst/>
          </a:prstGeom>
          <a:noFill/>
        </p:spPr>
        <p:txBody>
          <a:bodyPr wrap="none" rtlCol="0">
            <a:spAutoFit/>
          </a:bodyPr>
          <a:lstStyle/>
          <a:p>
            <a:r>
              <a:rPr lang="en-US" sz="1400" b="1" dirty="0"/>
              <a:t>Low</a:t>
            </a:r>
          </a:p>
        </p:txBody>
      </p:sp>
      <p:sp>
        <p:nvSpPr>
          <p:cNvPr id="24" name="TextBox 27">
            <a:extLst>
              <a:ext uri="{FF2B5EF4-FFF2-40B4-BE49-F238E27FC236}">
                <a16:creationId xmlns:a16="http://schemas.microsoft.com/office/drawing/2014/main" id="{E8084D42-778C-82F6-630D-9D8469AFEE15}"/>
              </a:ext>
            </a:extLst>
          </p:cNvPr>
          <p:cNvSpPr txBox="1"/>
          <p:nvPr/>
        </p:nvSpPr>
        <p:spPr>
          <a:xfrm>
            <a:off x="10950749" y="3163290"/>
            <a:ext cx="524503" cy="307777"/>
          </a:xfrm>
          <a:prstGeom prst="rect">
            <a:avLst/>
          </a:prstGeom>
          <a:noFill/>
        </p:spPr>
        <p:txBody>
          <a:bodyPr wrap="none" rtlCol="0">
            <a:spAutoFit/>
          </a:bodyPr>
          <a:lstStyle/>
          <a:p>
            <a:r>
              <a:rPr lang="en-US" sz="1400" b="1" dirty="0"/>
              <a:t>High</a:t>
            </a:r>
          </a:p>
        </p:txBody>
      </p:sp>
      <p:sp>
        <p:nvSpPr>
          <p:cNvPr id="25" name="TextBox 28">
            <a:extLst>
              <a:ext uri="{FF2B5EF4-FFF2-40B4-BE49-F238E27FC236}">
                <a16:creationId xmlns:a16="http://schemas.microsoft.com/office/drawing/2014/main" id="{F168AC10-2BD6-A49E-428D-30E6B39D197A}"/>
              </a:ext>
            </a:extLst>
          </p:cNvPr>
          <p:cNvSpPr txBox="1"/>
          <p:nvPr/>
        </p:nvSpPr>
        <p:spPr>
          <a:xfrm>
            <a:off x="7647303" y="3407458"/>
            <a:ext cx="1825756" cy="369332"/>
          </a:xfrm>
          <a:prstGeom prst="rect">
            <a:avLst/>
          </a:prstGeom>
          <a:noFill/>
        </p:spPr>
        <p:txBody>
          <a:bodyPr wrap="none" rtlCol="0">
            <a:spAutoFit/>
          </a:bodyPr>
          <a:lstStyle/>
          <a:p>
            <a:r>
              <a:rPr lang="en-US" dirty="0">
                <a:solidFill/>
              </a:rPr>
              <a:t>10% below target</a:t>
            </a:r>
          </a:p>
        </p:txBody>
      </p:sp>
      <p:sp>
        <p:nvSpPr>
          <p:cNvPr id="26" name="TextBox 30">
            <a:extLst>
              <a:ext uri="{FF2B5EF4-FFF2-40B4-BE49-F238E27FC236}">
                <a16:creationId xmlns:a16="http://schemas.microsoft.com/office/drawing/2014/main" id="{85A3284B-C2CB-7693-6750-302A3F66B386}"/>
              </a:ext>
            </a:extLst>
          </p:cNvPr>
          <p:cNvSpPr txBox="1"/>
          <p:nvPr/>
        </p:nvSpPr>
        <p:spPr>
          <a:xfrm>
            <a:off x="10299672" y="3405178"/>
            <a:ext cx="1820178" cy="369332"/>
          </a:xfrm>
          <a:prstGeom prst="rect">
            <a:avLst/>
          </a:prstGeom>
          <a:noFill/>
        </p:spPr>
        <p:txBody>
          <a:bodyPr wrap="none" rtlCol="0">
            <a:spAutoFit/>
          </a:bodyPr>
          <a:lstStyle/>
          <a:p>
            <a:r>
              <a:rPr lang="en-US" dirty="0">
                <a:solidFill/>
              </a:rPr>
              <a:t>10% above target</a:t>
            </a:r>
          </a:p>
        </p:txBody>
      </p:sp>
      <p:pic>
        <p:nvPicPr>
          <p:cNvPr id="32" name="Content Placeholder 26">
            <a:extLst>
              <a:ext uri="{FF2B5EF4-FFF2-40B4-BE49-F238E27FC236}">
                <a16:creationId xmlns:a16="http://schemas.microsoft.com/office/drawing/2014/main" id="{8B25DFBB-10A0-8654-97B6-EEB7CD6D4561}"/>
              </a:ext>
            </a:extLst>
          </p:cNvPr>
          <p:cNvPicPr>
            <a:picLocks/>
          </p:cNvPicPr>
          <p:nvPr/>
        </p:nvPicPr>
        <p:blipFill>
          <a:blip r:embed="rId2" cstate="print"/>
          <a:stretch>
            <a:fillRect/>
          </a:stretch>
        </p:blipFill>
        <p:spPr>
          <a:xfrm>
            <a:off x="1024128"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5,652.6K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467.9K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1,447.6K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3,224.0K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5,628.6K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4,545.2K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7,783.2K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787.0K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2,054.0K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4,505.6K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7,818.0K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982.9K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2,058.9K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3,522.0K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180.6K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841.3K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1,942.5K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Arial"/>
                          <a:cs typeface="Arial"/>
                          <a:sym typeface="Arial"/>
                        </a:rPr>
                        <a:t>3,439.2K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829480"/>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13</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Content Placeholder 6"/>
          <p:cNvPicPr>
            <a:picLocks noGrp="1"/>
          </p:cNvPicPr>
          <p:nvPr>
            <p:ph/>
          </p:nvPr>
        </p:nvPicPr>
        <p:blipFill>
          <a:blip r:embed="rId2" cstate="print"/>
          <a:stretch>
            <a:fillRect/>
          </a:stretch>
        </p:blipFill>
        <p:spPr>
          <a:xfrm>
            <a:off x="1508760" y="2834640"/>
            <a:ext cx="3154680" cy="502777"/>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14</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Cleveland Clinic’s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Cleveland Clinic Health System’s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Cleveland Clinic Health System</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7"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400" cap="all" spc="-150" dirty="0">
                <a:solidFill>
                  <a:schemeClr val="bg1"/>
                </a:solidFill>
              </a:rPr>
              <a:t>Cleveland Clinic N</a:t>
            </a:r>
            <a:r>
              <a:rPr lang="en-US" sz="2400" spc="-150" dirty="0">
                <a:solidFill>
                  <a:schemeClr val="bg1"/>
                </a:solidFill>
              </a:rPr>
              <a:t>ETWORK</a:t>
            </a:r>
            <a:r>
              <a:rPr lang="en-US" sz="2400" cap="all" spc="-150" dirty="0">
                <a:solidFill>
                  <a:schemeClr val="bg1"/>
                </a:solidFill>
              </a:rPr>
              <a:t> </a:t>
            </a:r>
          </a:p>
        </p:txBody>
      </p:sp>
      <p:graphicFrame>
        <p:nvGraphicFramePr>
          <p:cNvPr id="8"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Content Placeholder 8"/>
          <p:cNvPicPr>
            <a:picLocks noGrp="1"/>
          </p:cNvPicPr>
          <p:nvPr>
            <p:ph/>
          </p:nvPr>
        </p:nvPicPr>
        <p:blipFill>
          <a:blip r:embed="rId7" cstate="print"/>
          <a:stretch>
            <a:fillRect/>
          </a:stretch>
        </p:blipFill>
        <p:spPr>
          <a:xfrm>
            <a:off x="9738360" y="4311144"/>
            <a:ext cx="1042416" cy="166135"/>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3"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15</a:t>
            </a:fld>
            <a:endParaRPr lang="en-US" dirty="0"/>
          </a:p>
        </p:txBody>
      </p:sp>
      <p:pic>
        <p:nvPicPr>
          <p:cNvPr id="4"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5"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6"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p>
        </p:txBody>
      </p:sp>
      <p:sp>
        <p:nvSpPr>
          <p:cNvPr id="8" name="TextBox 7">
            <a:extLst>
              <a:ext uri="{FF2B5EF4-FFF2-40B4-BE49-F238E27FC236}">
                <a16:creationId xmlns:a16="http://schemas.microsoft.com/office/drawing/2014/main" id="{FF7C74A4-33A6-F02F-D22F-33835E639085}"/>
              </a:ext>
            </a:extLst>
          </p:cNvPr>
          <p:cNvSpPr txBox="1"/>
          <p:nvPr/>
        </p:nvSpPr>
        <p:spPr>
          <a:xfrm>
            <a:off x="157424" y="257546"/>
            <a:ext cx="11877152" cy="523220"/>
          </a:xfrm>
          <a:prstGeom prst="rect">
            <a:avLst/>
          </a:prstGeom>
          <a:noFill/>
        </p:spPr>
        <p:txBody>
          <a:bodyPr wrap="square">
            <a:spAutoFit/>
          </a:bodyPr>
          <a:lstStyle/>
          <a:p>
            <a:pPr algn="ctr"/>
            <a:r>
              <a:rPr lang="en-US" sz="2800" b="1" dirty="0">
                <a:solidFill>
                  <a:schemeClr val="bg1"/>
                </a:solidFill>
              </a:rPr>
              <a:t>BENEFIT PLAN DESIGNS THAT OPTIMIZE STEERAGE TO CLEVELAND CLINIC</a:t>
            </a:r>
          </a:p>
        </p:txBody>
      </p:sp>
      <p:sp>
        <p:nvSpPr>
          <p:cNvPr id="11" name="Title 10">
            <a:extLst>
              <a:ext uri="{FF2B5EF4-FFF2-40B4-BE49-F238E27FC236}">
                <a16:creationId xmlns:a16="http://schemas.microsoft.com/office/drawing/2014/main" id="{0AF27A57-B768-A371-FCED-8810CAEBC992}"/>
              </a:ext>
            </a:extLst>
          </p:cNvPr>
          <p:cNvSpPr>
            <a:spLocks noGrp="1"/>
          </p:cNvSpPr>
          <p:nvPr>
            <p:ph type="title"/>
          </p:nvPr>
        </p:nvSpPr>
        <p:spPr/>
        <p:txBody>
          <a:bodyPr/>
          <a:lstStyle/>
          <a:p>
            <a:endParaRPr lang="en-US"/>
          </a:p>
        </p:txBody>
      </p:sp>
      <p:pic>
        <p:nvPicPr>
          <p:cNvPr id="12" name="Content Placeholder 7">
            <a:extLst>
              <a:ext uri="{FF2B5EF4-FFF2-40B4-BE49-F238E27FC236}">
                <a16:creationId xmlns:a16="http://schemas.microsoft.com/office/drawing/2014/main" id="{D79AB4D5-0B0F-EFA6-7472-FCE67B868FD3}"/>
              </a:ext>
            </a:extLst>
          </p:cNvPr>
          <p:cNvPicPr>
            <a:picLocks noChangeAspect="1"/>
          </p:cNvPicPr>
          <p:nvPr/>
        </p:nvPicPr>
        <p:blipFill>
          <a:blip r:embed="rId3" cstate="print"/>
          <a:stretch>
            <a:fillRect/>
          </a:stretch>
        </p:blipFill>
        <p:spPr>
          <a:xfrm>
            <a:off x="8686824" y="5424218"/>
            <a:ext cx="2936914" cy="468071"/>
          </a:xfrm>
          <a:prstGeom prst="rect">
            <a:avLst/>
          </a:prstGeom>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23.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Cleveland Clinic’s approved site(s) with network integration, and development of Cleveland Clinic’s proprietary PBM program.</a:t>
            </a:r>
            <a:r>
              <a:rPr lang="en-US" sz="1600" dirty="0">
                <a:highlight>
                  <a:srgbClr val="FFFF00"/>
                </a:highlight>
              </a:rPr>
              <a:t>   </a:t>
            </a:r>
          </a:p>
        </p:txBody>
      </p:sp>
      <p:graphicFrame>
        <p:nvGraphicFramePr>
          <p:cNvPr id="8" name="Table 7"/>
          <p:cNvGraphicFramePr>
            <a:graphicFrameLocks noGrp="1"/>
          </p:cNvGraphicFramePr>
          <p:nvPr/>
        </p:nvGraphicFramePr>
        <p:xfrm>
          <a:off x="2176272" y="704088"/>
          <a:ext cx="9052560" cy="43586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Assuming 20%+ Within-Plan Steerage and a Commercial Margin of 13.6%.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$ 3,328K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$ 8,122K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$ 2,236K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$33,277K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$4,526K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$ 65,765K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$32,489K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$ 8,944K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$4,208K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$66,553K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$9,051K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$131,531K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$64,977K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$17,888K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$8,837K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$8,747K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17</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Cleveland Clinic’s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DTE strategy positions Cleveland Clinic Health System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Cleveland Clinic Health System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Cleveland Clinic’s managed care processes to KBA’s patented care management programs will turbocharge results – Positioning Cleveland Clinic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Cleveland Clinic Health System </a:t>
            </a:r>
            <a:r>
              <a:rPr lang="en-US" sz="2400" b="1" cap="small" dirty="0">
                <a:solidFill>
                  <a:srgbClr val="000B2E"/>
                </a:solidFill>
              </a:rPr>
              <a:t>CAN PROMOTE THESE RESULTS FROM DAY ONE!!</a:t>
            </a:r>
          </a:p>
        </p:txBody>
      </p:sp>
      <p:pic>
        <p:nvPicPr>
          <p:cNvPr id="8"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3"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4"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5"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18</a:t>
            </a:fld>
            <a:endParaRPr lang="en-US" dirty="0"/>
          </a:p>
        </p:txBody>
      </p:sp>
      <p:sp>
        <p:nvSpPr>
          <p:cNvPr id="6"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7"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9"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10"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11"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5"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19</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Cleveland Clinic’s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Cleveland Clinic’s 340B drug pricing program</a:t>
            </a:r>
          </a:p>
          <a:p>
            <a:pPr marL="285753" indent="-285753">
              <a:spcBef>
                <a:spcPts val="600"/>
              </a:spcBef>
              <a:buFont typeface="Wingdings" panose="05000000000000000000" pitchFamily="2" charset="2"/>
              <a:buChar char="§"/>
            </a:pPr>
            <a:r>
              <a:rPr lang="en-US" sz="2000" dirty="0">
                <a:solidFill>
                  <a:schemeClr val="bg1"/>
                </a:solidFill>
              </a:rPr>
              <a:t>Allows Cleveland Clinic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3"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4"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20</a:t>
            </a:fld>
            <a:endParaRPr lang="en-US" dirty="0"/>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4"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1186276558"/>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22</a:t>
            </a:fld>
            <a:endParaRPr lang="en-US" sz="1100" dirty="0">
              <a:solidFill>
                <a:schemeClr val="tx1">
                  <a:lumMod val="50000"/>
                  <a:lumOff val="50000"/>
                </a:schemeClr>
              </a:solidFill>
            </a:endParaRPr>
          </a:p>
        </p:txBody>
      </p:sp>
      <p:sp>
        <p:nvSpPr>
          <p:cNvPr id="6"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
        <p:nvSpPr>
          <p:cNvPr id="7" name="TextBox 3">
            <a:extLst>
              <a:ext uri="{FF2B5EF4-FFF2-40B4-BE49-F238E27FC236}">
                <a16:creationId xmlns:a16="http://schemas.microsoft.com/office/drawing/2014/main" id="{812A6EF0-F485-2EBB-BDEB-7A43025A5A29}"/>
              </a:ext>
            </a:extLst>
          </p:cNvPr>
          <p:cNvSpPr txBox="1"/>
          <p:nvPr/>
        </p:nvSpPr>
        <p:spPr>
          <a:xfrm>
            <a:off x="856622" y="2494128"/>
            <a:ext cx="2811026" cy="1515800"/>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Distribution Agents</a:t>
            </a:r>
          </a:p>
          <a:p>
            <a:pPr marL="285750" lvl="0" indent="-285750">
              <a:lnSpc>
                <a:spcPct val="100000"/>
              </a:lnSpc>
              <a:spcAft>
                <a:spcPts val="300"/>
              </a:spcAft>
              <a:buFont typeface="Arial" panose="020B0604020202020204" pitchFamily="34" charset="0"/>
              <a:buChar char="•"/>
            </a:pPr>
            <a:r>
              <a:rPr lang="en-US" sz="1700" b="0" dirty="0"/>
              <a:t>Training and Development</a:t>
            </a:r>
          </a:p>
          <a:p>
            <a:pPr marL="285750" lvl="0" indent="-285750">
              <a:lnSpc>
                <a:spcPct val="100000"/>
              </a:lnSpc>
              <a:spcAft>
                <a:spcPts val="300"/>
              </a:spcAft>
              <a:buFont typeface="Arial" panose="020B0604020202020204" pitchFamily="34" charset="0"/>
              <a:buChar char="•"/>
            </a:pPr>
            <a:r>
              <a:rPr lang="en-US" sz="1700" b="0" dirty="0"/>
              <a:t>Quote Evaluation</a:t>
            </a:r>
          </a:p>
          <a:p>
            <a:pPr marL="285750" lvl="0" indent="-285750">
              <a:lnSpc>
                <a:spcPct val="100000"/>
              </a:lnSpc>
              <a:spcAft>
                <a:spcPts val="300"/>
              </a:spcAft>
              <a:buFont typeface="Arial" panose="020B0604020202020204" pitchFamily="34" charset="0"/>
              <a:buChar char="•"/>
            </a:pPr>
            <a:r>
              <a:rPr lang="en-US" sz="1700" b="0" dirty="0"/>
              <a:t>Compensation</a:t>
            </a:r>
          </a:p>
        </p:txBody>
      </p:sp>
      <p:sp>
        <p:nvSpPr>
          <p:cNvPr id="8" name="TextBox 9">
            <a:extLst>
              <a:ext uri="{FF2B5EF4-FFF2-40B4-BE49-F238E27FC236}">
                <a16:creationId xmlns:a16="http://schemas.microsoft.com/office/drawing/2014/main" id="{537397C7-FB49-032A-7017-50CDF43FA202}"/>
              </a:ext>
            </a:extLst>
          </p:cNvPr>
          <p:cNvSpPr txBox="1"/>
          <p:nvPr/>
        </p:nvSpPr>
        <p:spPr>
          <a:xfrm>
            <a:off x="4499567" y="2525884"/>
            <a:ext cx="2885971" cy="207749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Identification of Key Targets</a:t>
            </a:r>
          </a:p>
          <a:p>
            <a:pPr marL="285750" lvl="0" indent="-285750">
              <a:lnSpc>
                <a:spcPct val="100000"/>
              </a:lnSpc>
              <a:spcAft>
                <a:spcPts val="300"/>
              </a:spcAft>
              <a:buFont typeface="Arial" panose="020B0604020202020204" pitchFamily="34" charset="0"/>
              <a:buChar char="•"/>
            </a:pPr>
            <a:r>
              <a:rPr lang="en-US" sz="1700" b="0" dirty="0">
                <a:solidFill/>
              </a:rPr>
              <a:t>Working with Cleveland Clinic to Engage Specific Employers</a:t>
            </a:r>
          </a:p>
          <a:p>
            <a:pPr marL="285750" lvl="0" indent="-285750">
              <a:lnSpc>
                <a:spcPct val="100000"/>
              </a:lnSpc>
              <a:spcAft>
                <a:spcPts val="300"/>
              </a:spcAft>
              <a:buFont typeface="Arial" panose="020B0604020202020204" pitchFamily="34" charset="0"/>
              <a:buChar char="•"/>
            </a:pPr>
            <a:r>
              <a:rPr lang="en-US" sz="1700" b="0" dirty="0"/>
              <a:t>Meet and Greet</a:t>
            </a:r>
          </a:p>
          <a:p>
            <a:pPr marL="285750" lvl="0" indent="-285750">
              <a:lnSpc>
                <a:spcPct val="100000"/>
              </a:lnSpc>
              <a:spcAft>
                <a:spcPts val="300"/>
              </a:spcAft>
              <a:buFont typeface="Arial" panose="020B0604020202020204" pitchFamily="34" charset="0"/>
              <a:buChar char="•"/>
            </a:pPr>
            <a:r>
              <a:rPr lang="en-US" sz="1700" b="0" dirty="0"/>
              <a:t>Sales Process</a:t>
            </a:r>
          </a:p>
          <a:p>
            <a:pPr marL="285750" lvl="0" indent="-285750">
              <a:lnSpc>
                <a:spcPct val="100000"/>
              </a:lnSpc>
              <a:spcAft>
                <a:spcPts val="300"/>
              </a:spcAft>
              <a:buFont typeface="Arial" panose="020B0604020202020204" pitchFamily="34" charset="0"/>
              <a:buChar char="•"/>
            </a:pPr>
            <a:r>
              <a:rPr lang="en-US" sz="1700" b="0" dirty="0"/>
              <a:t>Closing</a:t>
            </a:r>
          </a:p>
        </p:txBody>
      </p:sp>
      <p:sp>
        <p:nvSpPr>
          <p:cNvPr id="9" name="TextBox 11">
            <a:extLst>
              <a:ext uri="{FF2B5EF4-FFF2-40B4-BE49-F238E27FC236}">
                <a16:creationId xmlns:a16="http://schemas.microsoft.com/office/drawing/2014/main" id="{32AE8163-8376-4B77-CD83-691410ECD2AE}"/>
              </a:ext>
            </a:extLst>
          </p:cNvPr>
          <p:cNvSpPr txBox="1"/>
          <p:nvPr/>
        </p:nvSpPr>
        <p:spPr>
          <a:xfrm>
            <a:off x="8217457" y="2525884"/>
            <a:ext cx="2690445" cy="1554272"/>
          </a:xfrm>
          <a:prstGeom prst="rect">
            <a:avLst/>
          </a:prstGeom>
          <a:noFill/>
        </p:spPr>
        <p:txBody>
          <a:bodyPr wrap="square">
            <a:spAutoFit/>
          </a:bodyPr>
          <a:lstStyle/>
          <a:p>
            <a:pPr marL="285750" lvl="0" indent="-285750">
              <a:lnSpc>
                <a:spcPct val="100000"/>
              </a:lnSpc>
              <a:spcAft>
                <a:spcPts val="300"/>
              </a:spcAft>
              <a:buFont typeface="Arial" panose="020B0604020202020204" pitchFamily="34" charset="0"/>
              <a:buChar char="•"/>
            </a:pPr>
            <a:r>
              <a:rPr lang="en-US" sz="1700" b="0" dirty="0"/>
              <a:t>Quote System</a:t>
            </a:r>
          </a:p>
          <a:p>
            <a:pPr marL="285750" lvl="0" indent="-285750">
              <a:lnSpc>
                <a:spcPct val="100000"/>
              </a:lnSpc>
              <a:spcAft>
                <a:spcPts val="300"/>
              </a:spcAft>
              <a:buFont typeface="Arial" panose="020B0604020202020204" pitchFamily="34" charset="0"/>
              <a:buChar char="•"/>
            </a:pPr>
            <a:r>
              <a:rPr lang="en-US" sz="1700" b="0" dirty="0"/>
              <a:t>Proposal Development</a:t>
            </a:r>
          </a:p>
          <a:p>
            <a:pPr marL="285750" lvl="0" indent="-285750">
              <a:lnSpc>
                <a:spcPct val="100000"/>
              </a:lnSpc>
              <a:spcAft>
                <a:spcPts val="300"/>
              </a:spcAft>
              <a:buFont typeface="Arial" panose="020B0604020202020204" pitchFamily="34" charset="0"/>
              <a:buChar char="•"/>
            </a:pPr>
            <a:r>
              <a:rPr lang="en-US" sz="1700" b="0" dirty="0"/>
              <a:t>Stop Loss Negotiations</a:t>
            </a:r>
          </a:p>
          <a:p>
            <a:pPr marL="285750" lvl="0" indent="-285750">
              <a:lnSpc>
                <a:spcPct val="100000"/>
              </a:lnSpc>
              <a:spcAft>
                <a:spcPts val="300"/>
              </a:spcAft>
              <a:buFont typeface="Arial" panose="020B0604020202020204" pitchFamily="34" charset="0"/>
              <a:buChar char="•"/>
            </a:pPr>
            <a:r>
              <a:rPr lang="en-US" sz="1700" b="0" dirty="0"/>
              <a:t>Reporting &amp; Analysis</a:t>
            </a:r>
          </a:p>
          <a:p>
            <a:pPr marL="342900" lvl="0" indent="-342900">
              <a:lnSpc>
                <a:spcPct val="100000"/>
              </a:lnSpc>
              <a:spcAft>
                <a:spcPts val="300"/>
              </a:spcAft>
              <a:buFont typeface="Arial" panose="020B0604020202020204" pitchFamily="34" charset="0"/>
              <a:buChar char="•"/>
            </a:pPr>
            <a:endParaRPr lang="en-US" sz="1700" b="0" dirty="0"/>
          </a:p>
        </p:txBody>
      </p:sp>
    </p:spTree>
    <p:extLst>
      <p:ext uri="{BB962C8B-B14F-4D97-AF65-F5344CB8AC3E}">
        <p14:creationId xmlns:p14="http://schemas.microsoft.com/office/powerpoint/2010/main" val="6193244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5"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6"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7"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8"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9"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0"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1"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2"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3"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23</a:t>
            </a:fld>
            <a:endParaRPr lang="en-US" sz="1100" dirty="0">
              <a:solidFill>
                <a:schemeClr val="tx1">
                  <a:lumMod val="50000"/>
                  <a:lumOff val="50000"/>
                </a:schemeClr>
              </a:solidFill>
            </a:endParaRPr>
          </a:p>
        </p:txBody>
      </p:sp>
      <p:sp>
        <p:nvSpPr>
          <p:cNvPr id="14"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1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24</a:t>
            </a:fld>
            <a:endParaRPr lang="en-US"/>
          </a:p>
        </p:txBody>
      </p:sp>
      <p:pic>
        <p:nvPicPr>
          <p:cNvPr id="4"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3277395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Cleveland Clinic</a:t>
            </a:r>
            <a:r>
              <a:rPr lang="en-US" sz="4000" b="1">
                <a:latin typeface="+mn-lt"/>
                <a:cs typeface="Arial" panose="020B0604020202020204" pitchFamily="34" charset="0"/>
              </a:rPr>
              <a:t>’s 2022 </a:t>
            </a:r>
            <a:r>
              <a:rPr lang="en-US" sz="4000" b="1" dirty="0">
                <a:latin typeface="+mn-lt"/>
                <a:cs typeface="Arial" panose="020B0604020202020204" pitchFamily="34" charset="0"/>
              </a:rPr>
              <a:t>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Cleveland Clinic</a:t>
                      </a:r>
                    </a:p>
                  </a:txBody>
                  <a:tcPr>
                    <a:solidFill>
                      <a:schemeClr val="accent3">
                        <a:lumMod val="20000"/>
                        <a:lumOff val="80000"/>
                      </a:schemeClr>
                    </a:solidFill>
                  </a:tcPr>
                </a:tc>
                <a:tc>
                  <a:txBody>
                    <a:bodyPr/>
                    <a:lstStyle/>
                    <a:p>
                      <a:pPr algn="ctr"/>
                      <a:r>
                        <a:rPr lang="en-US" sz="1400" dirty="0">
                          <a:solidFill>
                            <a:schemeClr val="accent1">
                              <a:lumMod val="75000"/>
                            </a:schemeClr>
                          </a:solidFill>
                        </a:rPr>
                        <a:t>1,005,841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$10,703,206K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241,635</a:t>
                      </a:r>
                    </a:p>
                  </a:txBody>
                  <a:tcPr anchor="ctr">
                    <a:solidFill>
                      <a:schemeClr val="accent3">
                        <a:lumMod val="20000"/>
                        <a:lumOff val="80000"/>
                      </a:schemeClr>
                    </a:solidFill>
                  </a:tcPr>
                </a:tc>
                <a:tc>
                  <a:txBody>
                    <a:bodyPr/>
                    <a:lstStyle/>
                    <a:p>
                      <a:pPr algn="ctr"/>
                      <a:r>
                        <a:rPr lang="en-US" sz="1400" dirty="0">
                          <a:solidFill>
                            <a:schemeClr val="accent4">
                              <a:lumMod val="75000"/>
                            </a:schemeClr>
                          </a:solidFill>
                        </a:rPr>
                        <a:t>$1,291,247K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24%</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36,929</a:t>
                      </a:r>
                    </a:p>
                  </a:txBody>
                  <a:tcPr anchor="ctr">
                    <a:solidFill>
                      <a:schemeClr val="accent3">
                        <a:lumMod val="20000"/>
                        <a:lumOff val="80000"/>
                      </a:schemeClr>
                    </a:solidFill>
                  </a:tcPr>
                </a:tc>
                <a:tc rowSpan="2">
                  <a:txBody>
                    <a:bodyPr/>
                    <a:lstStyle/>
                    <a:p>
                      <a:pPr algn="ctr"/>
                      <a:r>
                        <a:rPr lang="en-US" sz="1400" dirty="0">
                          <a:solidFill>
                            <a:schemeClr val="accent4">
                              <a:lumMod val="75000"/>
                            </a:schemeClr>
                          </a:solidFill>
                        </a:rPr>
                        <a:t>$856,914K</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4%</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1</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40,511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-$342,133K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686,765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$8,556,662K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69%</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8" name="TextBox 11">
            <a:extLst>
              <a:ext uri="{FF2B5EF4-FFF2-40B4-BE49-F238E27FC236}">
                <a16:creationId xmlns:a16="http://schemas.microsoft.com/office/drawing/2014/main" id="{B06F8AA7-185E-8401-4C51-579C44EE0B64}"/>
              </a:ext>
            </a:extLst>
          </p:cNvPr>
          <p:cNvSpPr txBox="1"/>
          <p:nvPr/>
        </p:nvSpPr>
        <p:spPr>
          <a:xfrm>
            <a:off x="416560" y="4435821"/>
            <a:ext cx="516128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hlinkClick r:id="rId2"/>
              </a:rPr>
              <a:t>https://data.cms.gov/provider-compliance/cost-report/hospital-provider-cost-report/data</a:t>
            </a: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endParaRPr>
          </a:p>
        </p:txBody>
      </p:sp>
      <p:sp>
        <p:nvSpPr>
          <p:cNvPr id="9" name="TextBox 12">
            <a:extLst>
              <a:ext uri="{FF2B5EF4-FFF2-40B4-BE49-F238E27FC236}">
                <a16:creationId xmlns:a16="http://schemas.microsoft.com/office/drawing/2014/main" id="{CF495B2A-50EF-4B94-1C1C-99E3DB78B211}"/>
              </a:ext>
            </a:extLst>
          </p:cNvPr>
          <p:cNvSpPr txBox="1"/>
          <p:nvPr/>
        </p:nvSpPr>
        <p:spPr>
          <a:xfrm>
            <a:off x="416560" y="5446530"/>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0" name="Rectangle 16">
            <a:extLst>
              <a:ext uri="{FF2B5EF4-FFF2-40B4-BE49-F238E27FC236}">
                <a16:creationId xmlns:a16="http://schemas.microsoft.com/office/drawing/2014/main" id="{802290A3-B694-4505-9BF2-D6CD7AF07C8B}"/>
              </a:ext>
            </a:extLst>
          </p:cNvPr>
          <p:cNvSpPr/>
          <p:nvPr/>
        </p:nvSpPr>
        <p:spPr>
          <a:xfrm>
            <a:off x="675642" y="6276083"/>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
        <p:nvSpPr>
          <p:cNvPr id="11" name="TextBox 12">
            <a:extLst>
              <a:ext uri="{FF2B5EF4-FFF2-40B4-BE49-F238E27FC236}">
                <a16:creationId xmlns:a16="http://schemas.microsoft.com/office/drawing/2014/main" id="{4D7BD8F7-B0DB-8CCC-E477-F7ABE50AAD26}"/>
              </a:ext>
            </a:extLst>
          </p:cNvPr>
          <p:cNvSpPr txBox="1"/>
          <p:nvPr/>
        </p:nvSpPr>
        <p:spPr>
          <a:xfrm>
            <a:off x="416560" y="5101049"/>
            <a:ext cx="5161280"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accent4">
                    <a:lumMod val="75000"/>
                  </a:schemeClr>
                </a:solidFill>
                <a:effectLst/>
                <a:uLnTx/>
                <a:uFillTx/>
                <a:latin typeface="Arial" panose="020B0604020202020204" pitchFamily="34" charset="0"/>
                <a:cs typeface="Arial" panose="020B0604020202020204" pitchFamily="34" charset="0"/>
              </a:rPr>
              <a:t>Values in yellow are taken from Definitive Healthcare data. </a:t>
            </a:r>
          </a:p>
        </p:txBody>
      </p:sp>
    </p:spTree>
    <p:extLst>
      <p:ext uri="{BB962C8B-B14F-4D97-AF65-F5344CB8AC3E}">
        <p14:creationId xmlns:p14="http://schemas.microsoft.com/office/powerpoint/2010/main" val="4086872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Cleveland Clinic estimates commercial insurance reimbursements at 262%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69413001"/>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8,584,226K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262%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5,661,988K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14,246,214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11,851,735</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$2,394,479K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17%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39838490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262%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3,273,964K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2,159,443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5,433,407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11,851,735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-6,418,328</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-118%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3"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27</a:t>
            </a:fld>
            <a:endParaRPr lang="en-US" dirty="0"/>
          </a:p>
        </p:txBody>
      </p:sp>
      <p:sp>
        <p:nvSpPr>
          <p:cNvPr id="5" name="TextBox 9">
            <a:extLst>
              <a:ext uri="{FF2B5EF4-FFF2-40B4-BE49-F238E27FC236}">
                <a16:creationId xmlns:a16="http://schemas.microsoft.com/office/drawing/2014/main" id="{DD333F58-1E5B-D213-65EE-BB627B8B12A8}"/>
              </a:ext>
            </a:extLst>
          </p:cNvPr>
          <p:cNvSpPr txBox="1"/>
          <p:nvPr/>
        </p:nvSpPr>
        <p:spPr>
          <a:xfrm>
            <a:off x="838199" y="6088454"/>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66%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sp>
        <p:nvSpPr>
          <p:cNvPr id="8" name="TextBox 7">
            <a:extLst>
              <a:ext uri="{FF2B5EF4-FFF2-40B4-BE49-F238E27FC236}">
                <a16:creationId xmlns:a16="http://schemas.microsoft.com/office/drawing/2014/main" id="{9B6D3A3D-F7F6-795A-A6C2-53FD734A446C}"/>
              </a:ext>
            </a:extLst>
          </p:cNvPr>
          <p:cNvSpPr txBox="1"/>
          <p:nvPr/>
        </p:nvSpPr>
        <p:spPr>
          <a:xfrm>
            <a:off x="914400" y="5368075"/>
            <a:ext cx="10325100" cy="646331"/>
          </a:xfrm>
          <a:prstGeom prst="rect">
            <a:avLst/>
          </a:prstGeom>
          <a:noFill/>
        </p:spPr>
        <p:txBody>
          <a:bodyPr wrap="square">
            <a:spAutoFit/>
          </a:bodyPr>
          <a:lstStyle/>
          <a:p>
            <a:r>
              <a:rPr lang="en-US" sz="1800" dirty="0">
                <a:solidFill>
                  <a:srgbClr val="000B2E"/>
                </a:solidFill>
              </a:rPr>
              <a:t>Market share for providers in Wayne, Ashtabula, Carroll, Cuyahoga, Erie, Geauga, Holmes, Huron, Lake, Lorain, Medina, Stark, Summit, and Tuscarawas Counties</a:t>
            </a:r>
            <a:endParaRPr lang="en-US" dirty="0"/>
          </a:p>
        </p:txBody>
      </p:sp>
      <p:graphicFrame>
        <p:nvGraphicFramePr>
          <p:cNvPr id="9" name="Table 8">
            <a:extLst>
              <a:ext uri="{FF2B5EF4-FFF2-40B4-BE49-F238E27FC236}">
                <a16:creationId xmlns:a16="http://schemas.microsoft.com/office/drawing/2014/main" id="{28623B24-5252-F148-CB1F-44A65D6328FB}"/>
              </a:ext>
            </a:extLst>
          </p:cNvPr>
          <p:cNvGraphicFramePr>
            <a:graphicFrameLocks noGrp="1"/>
          </p:cNvGraphicFramePr>
          <p:nvPr>
            <p:extLst>
              <p:ext uri="{D42A27DB-BD31-4B8C-83A1-F6EECF244321}">
                <p14:modId xmlns:p14="http://schemas.microsoft.com/office/powerpoint/2010/main" val="1025064753"/>
              </p:ext>
            </p:extLst>
          </p:nvPr>
        </p:nvGraphicFramePr>
        <p:xfrm>
          <a:off x="952500" y="973875"/>
          <a:ext cx="10287000" cy="4394200"/>
        </p:xfrm>
        <a:graphic>
          <a:graphicData uri="http://schemas.openxmlformats.org/drawingml/2006/table">
            <a:tbl>
              <a:tblPr/>
              <a:tblGrid>
                <a:gridCol w="2870791">
                  <a:extLst>
                    <a:ext uri="{9D8B030D-6E8A-4147-A177-3AD203B41FA5}">
                      <a16:colId xmlns:a16="http://schemas.microsoft.com/office/drawing/2014/main" val="1853640356"/>
                    </a:ext>
                  </a:extLst>
                </a:gridCol>
                <a:gridCol w="1196163">
                  <a:extLst>
                    <a:ext uri="{9D8B030D-6E8A-4147-A177-3AD203B41FA5}">
                      <a16:colId xmlns:a16="http://schemas.microsoft.com/office/drawing/2014/main" val="3462247610"/>
                    </a:ext>
                  </a:extLst>
                </a:gridCol>
                <a:gridCol w="1435395">
                  <a:extLst>
                    <a:ext uri="{9D8B030D-6E8A-4147-A177-3AD203B41FA5}">
                      <a16:colId xmlns:a16="http://schemas.microsoft.com/office/drawing/2014/main" val="647419793"/>
                    </a:ext>
                  </a:extLst>
                </a:gridCol>
                <a:gridCol w="1435395">
                  <a:extLst>
                    <a:ext uri="{9D8B030D-6E8A-4147-A177-3AD203B41FA5}">
                      <a16:colId xmlns:a16="http://schemas.microsoft.com/office/drawing/2014/main" val="905257831"/>
                    </a:ext>
                  </a:extLst>
                </a:gridCol>
                <a:gridCol w="1674628">
                  <a:extLst>
                    <a:ext uri="{9D8B030D-6E8A-4147-A177-3AD203B41FA5}">
                      <a16:colId xmlns:a16="http://schemas.microsoft.com/office/drawing/2014/main" val="1375162443"/>
                    </a:ext>
                  </a:extLst>
                </a:gridCol>
                <a:gridCol w="1674628">
                  <a:extLst>
                    <a:ext uri="{9D8B030D-6E8A-4147-A177-3AD203B41FA5}">
                      <a16:colId xmlns:a16="http://schemas.microsoft.com/office/drawing/2014/main" val="109614787"/>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742027755"/>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Union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77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92,671.2K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237,197.0K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64617657"/>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Akron General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401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$1,247,284.0K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$ 1,889,319.5K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419242255"/>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Cleveland Clinic Mercy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317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537,074.5K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969,083.9K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573894312"/>
                  </a:ext>
                </a:extLst>
              </a:tr>
              <a:tr h="228600">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Fairview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466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$1,105,628.9K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$ 1,180,188.2K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694059681"/>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Euclid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169,995.3K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285,905.4K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817309853"/>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Lutheran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110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202,654.4K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351,343.6K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48365730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Medina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270,076.3K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398,838.4K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576915437"/>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Ashtabula County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105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121,564.8K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426,651.8K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638611404"/>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Marymount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291,922.7K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414,326.5K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708239736"/>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South Pointe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138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  252,116.2K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337,113.4K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3259959056"/>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Cleveland Clinic Main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1,299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dirty="0">
                          <a:solidFill>
                            <a:srgbClr val="000000">
                              <a:alpha val="100000"/>
                            </a:srgbClr>
                          </a:solidFill>
                          <a:latin typeface="Arial"/>
                          <a:cs typeface="Arial"/>
                          <a:sym typeface="Arial"/>
                        </a:rPr>
                        <a:t>$6,174,513.8K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$17,984,513.8K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6518057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Hillcrest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483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$1,130,806.2K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$ 1,155,445.7K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93297626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Glenbeigh Hospital of Rock Creek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78,086.0K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12,428.3K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283584369"/>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Avon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245,616.2K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518,736.9K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2539664502"/>
                  </a:ext>
                </a:extLst>
              </a:tr>
              <a:tr h="228600">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Akron General Lodi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11,677.7K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Arial"/>
                          <a:cs typeface="Arial"/>
                          <a:sym typeface="Arial"/>
                        </a:rPr>
                        <a:t>$    63,576.8K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000" b="0" i="0" u="none" cap="none" dirty="0">
                          <a:solidFill>
                            <a:srgbClr val="000000">
                              <a:alpha val="100000"/>
                            </a:srgbClr>
                          </a:solidFill>
                          <a:latin typeface="Arial"/>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4223692613"/>
                  </a:ext>
                </a:extLst>
              </a:tr>
            </a:tbl>
          </a:graphicData>
        </a:graphic>
      </p:graphicFrame>
    </p:spTree>
    <p:extLst>
      <p:ext uri="{BB962C8B-B14F-4D97-AF65-F5344CB8AC3E}">
        <p14:creationId xmlns:p14="http://schemas.microsoft.com/office/powerpoint/2010/main" val="3034923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38982226"/>
              </p:ext>
            </p:extLst>
          </p:nvPr>
        </p:nvGraphicFramePr>
        <p:xfrm>
          <a:off x="-2" y="1"/>
          <a:ext cx="12192001" cy="6874332"/>
        </p:xfrm>
        <a:graphic>
          <a:graphicData uri="http://schemas.openxmlformats.org/drawingml/2006/table">
            <a:tbl>
              <a:tblPr/>
              <a:tblGrid>
                <a:gridCol w="2476244">
                  <a:extLst>
                    <a:ext uri="{9D8B030D-6E8A-4147-A177-3AD203B41FA5}">
                      <a16:colId xmlns:a16="http://schemas.microsoft.com/office/drawing/2014/main" val="20000"/>
                    </a:ext>
                  </a:extLst>
                </a:gridCol>
                <a:gridCol w="943061">
                  <a:extLst>
                    <a:ext uri="{9D8B030D-6E8A-4147-A177-3AD203B41FA5}">
                      <a16:colId xmlns:a16="http://schemas.microsoft.com/office/drawing/2014/main" val="20001"/>
                    </a:ext>
                  </a:extLst>
                </a:gridCol>
                <a:gridCol w="925412">
                  <a:extLst>
                    <a:ext uri="{9D8B030D-6E8A-4147-A177-3AD203B41FA5}">
                      <a16:colId xmlns:a16="http://schemas.microsoft.com/office/drawing/2014/main" val="20002"/>
                    </a:ext>
                  </a:extLst>
                </a:gridCol>
                <a:gridCol w="1257799">
                  <a:extLst>
                    <a:ext uri="{9D8B030D-6E8A-4147-A177-3AD203B41FA5}">
                      <a16:colId xmlns:a16="http://schemas.microsoft.com/office/drawing/2014/main" val="20003"/>
                    </a:ext>
                  </a:extLst>
                </a:gridCol>
                <a:gridCol w="1262743">
                  <a:extLst>
                    <a:ext uri="{9D8B030D-6E8A-4147-A177-3AD203B41FA5}">
                      <a16:colId xmlns:a16="http://schemas.microsoft.com/office/drawing/2014/main" val="20004"/>
                    </a:ext>
                  </a:extLst>
                </a:gridCol>
                <a:gridCol w="1088572">
                  <a:extLst>
                    <a:ext uri="{9D8B030D-6E8A-4147-A177-3AD203B41FA5}">
                      <a16:colId xmlns:a16="http://schemas.microsoft.com/office/drawing/2014/main" val="20005"/>
                    </a:ext>
                  </a:extLst>
                </a:gridCol>
                <a:gridCol w="1329633">
                  <a:extLst>
                    <a:ext uri="{9D8B030D-6E8A-4147-A177-3AD203B41FA5}">
                      <a16:colId xmlns:a16="http://schemas.microsoft.com/office/drawing/2014/main" val="20006"/>
                    </a:ext>
                  </a:extLst>
                </a:gridCol>
                <a:gridCol w="1008932">
                  <a:extLst>
                    <a:ext uri="{9D8B030D-6E8A-4147-A177-3AD203B41FA5}">
                      <a16:colId xmlns:a16="http://schemas.microsoft.com/office/drawing/2014/main" val="20007"/>
                    </a:ext>
                  </a:extLst>
                </a:gridCol>
                <a:gridCol w="1899605">
                  <a:extLst>
                    <a:ext uri="{9D8B030D-6E8A-4147-A177-3AD203B41FA5}">
                      <a16:colId xmlns:a16="http://schemas.microsoft.com/office/drawing/2014/main" val="20008"/>
                    </a:ext>
                  </a:extLst>
                </a:gridCol>
              </a:tblGrid>
              <a:tr h="267655">
                <a:tc gridSpan="9">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83575">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Union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Akron General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Cleveland Clinic Mercy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Fairview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Euclid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Lutheran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Medina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Ashtabula County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5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$31,416K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$329,283K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$126,213K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$325,055K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$38,419K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$58,364K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$74,001K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$33,430K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507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$80,410K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$498,780K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$227,735K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$346,975K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$64,615K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$101,187K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$109,282K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$117,329K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5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$117,596K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$50,712K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$89,951K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$12,531K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$28,162K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$33,083K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2663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$10,588K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$88,002K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$76,190K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$20,402K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$26,140K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$19,654K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5045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$87,086K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$622,595K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$259,091K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$504,771K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$70,216K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$114,735K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$145,840K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$98,181K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5074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$10,110K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$28,543K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$30,400K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$31,186K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$16,271K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$22,981K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$6,337K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50744">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$35,445K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$283,759K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$145,563K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$266,933K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$45,364K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$53,382K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$66,407K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$36,348K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5078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$90,722K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$429,824K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$262,650K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$284,934K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$76,295K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$92,549K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$98,067K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$127,570K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517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$126,167K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$713,583K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$408,213K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$551,868K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$121,659K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$145,931K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$164,475K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$163,918K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3836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$-14,280K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$114,610K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$-54,070K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$119,044K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$-18,509K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$13,450K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$18,740K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$-12,999K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507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507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729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5070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251729">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72.3%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55.8%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3836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37.0%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15001">
                <a:tc gridSpan="9">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5001">
                <a:tc gridSpan="9">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5001">
                <a:tc gridSpan="9">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15001">
                <a:tc gridSpan="9">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415716176"/>
              </p:ext>
            </p:extLst>
          </p:nvPr>
        </p:nvGraphicFramePr>
        <p:xfrm>
          <a:off x="-1" y="-43542"/>
          <a:ext cx="12192000" cy="6969452"/>
        </p:xfrm>
        <a:graphic>
          <a:graphicData uri="http://schemas.openxmlformats.org/drawingml/2006/table">
            <a:tbl>
              <a:tblPr/>
              <a:tblGrid>
                <a:gridCol w="2461560">
                  <a:extLst>
                    <a:ext uri="{9D8B030D-6E8A-4147-A177-3AD203B41FA5}">
                      <a16:colId xmlns:a16="http://schemas.microsoft.com/office/drawing/2014/main" val="20000"/>
                    </a:ext>
                  </a:extLst>
                </a:gridCol>
                <a:gridCol w="1210876">
                  <a:extLst>
                    <a:ext uri="{9D8B030D-6E8A-4147-A177-3AD203B41FA5}">
                      <a16:colId xmlns:a16="http://schemas.microsoft.com/office/drawing/2014/main" val="20009"/>
                    </a:ext>
                  </a:extLst>
                </a:gridCol>
                <a:gridCol w="1293954">
                  <a:extLst>
                    <a:ext uri="{9D8B030D-6E8A-4147-A177-3AD203B41FA5}">
                      <a16:colId xmlns:a16="http://schemas.microsoft.com/office/drawing/2014/main" val="20010"/>
                    </a:ext>
                  </a:extLst>
                </a:gridCol>
                <a:gridCol w="1376354">
                  <a:extLst>
                    <a:ext uri="{9D8B030D-6E8A-4147-A177-3AD203B41FA5}">
                      <a16:colId xmlns:a16="http://schemas.microsoft.com/office/drawing/2014/main" val="20011"/>
                    </a:ext>
                  </a:extLst>
                </a:gridCol>
                <a:gridCol w="1414208">
                  <a:extLst>
                    <a:ext uri="{9D8B030D-6E8A-4147-A177-3AD203B41FA5}">
                      <a16:colId xmlns:a16="http://schemas.microsoft.com/office/drawing/2014/main" val="20012"/>
                    </a:ext>
                  </a:extLst>
                </a:gridCol>
                <a:gridCol w="1503163">
                  <a:extLst>
                    <a:ext uri="{9D8B030D-6E8A-4147-A177-3AD203B41FA5}">
                      <a16:colId xmlns:a16="http://schemas.microsoft.com/office/drawing/2014/main" val="20013"/>
                    </a:ext>
                  </a:extLst>
                </a:gridCol>
                <a:gridCol w="1304996">
                  <a:extLst>
                    <a:ext uri="{9D8B030D-6E8A-4147-A177-3AD203B41FA5}">
                      <a16:colId xmlns:a16="http://schemas.microsoft.com/office/drawing/2014/main" val="20014"/>
                    </a:ext>
                  </a:extLst>
                </a:gridCol>
                <a:gridCol w="1626889">
                  <a:extLst>
                    <a:ext uri="{9D8B030D-6E8A-4147-A177-3AD203B41FA5}">
                      <a16:colId xmlns:a16="http://schemas.microsoft.com/office/drawing/2014/main" val="20015"/>
                    </a:ext>
                  </a:extLst>
                </a:gridCol>
              </a:tblGrid>
              <a:tr h="283051">
                <a:tc gridSpan="8">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Hospital Metrics</a:t>
                      </a:r>
                      <a:r>
                        <a:rPr lang="en-US" sz="1200" b="1" i="0" u="none" cap="none" dirty="0">
                          <a:solidFill>
                            <a:srgbClr val="000000">
                              <a:alpha val="100000"/>
                            </a:srgbClr>
                          </a:solidFill>
                          <a:latin typeface="Arial"/>
                          <a:cs typeface="Arial"/>
                          <a:sym typeface="Arial"/>
                        </a:rPr>
                        <a:t> (Continued)</a:t>
                      </a:r>
                      <a:endParaRPr sz="1200" b="1"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solidFill>
                      <a:prstDash val="solid"/>
                      <a:round/>
                      <a:headEnd type="none" w="med" len="med"/>
                      <a:tailEnd type="none" w="med" len="me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617143">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Marymount Hospital</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19050" cap="flat" cmpd="sng" algn="ctr">
                      <a:solidFill>
                        <a:srgbClr val="666666"/>
                      </a:solidFill>
                      <a:prstDash val="solid"/>
                      <a:round/>
                      <a:headEnd type="none" w="med" len="med"/>
                      <a:tailEnd type="none" w="med" len="me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South Pointe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Cleveland Clinic Main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a:solidFill>
                            <a:srgbClr val="000000">
                              <a:alpha val="100000"/>
                            </a:srgbClr>
                          </a:solidFill>
                          <a:latin typeface="Arial"/>
                          <a:cs typeface="Arial"/>
                          <a:sym typeface="Arial"/>
                        </a:rPr>
                        <a:t>Hillcrest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dirty="0" err="1">
                          <a:solidFill>
                            <a:srgbClr val="000000">
                              <a:alpha val="100000"/>
                            </a:srgbClr>
                          </a:solidFill>
                          <a:latin typeface="Arial"/>
                          <a:cs typeface="Arial"/>
                          <a:sym typeface="Arial"/>
                        </a:rPr>
                        <a:t>Glenbeigh</a:t>
                      </a:r>
                      <a:r>
                        <a:rPr sz="1200" b="1" i="0" u="none" cap="none" dirty="0">
                          <a:solidFill>
                            <a:srgbClr val="000000">
                              <a:alpha val="100000"/>
                            </a:srgbClr>
                          </a:solidFill>
                          <a:latin typeface="Arial"/>
                          <a:cs typeface="Arial"/>
                          <a:sym typeface="Arial"/>
                        </a:rPr>
                        <a:t> Hospital of Rock Creek</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Avon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Akron General Lodi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$76,484K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$61,264K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$1,778,260K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$313,233K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$18,897K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$64,106K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$6,026K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$108,554K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$81,919K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$5,179,540K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$320,058K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$135,390K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$32,806K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$23,300K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$25,881K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$737,789K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$107,900K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2876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$27,102K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$23,187K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$443,418K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$48,924K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$9,270K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$10,484K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$9,661K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$134,381K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$93,793K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$5,779,321K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$476,577K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$158,910K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$27,563K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$20,289K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$9,298K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$122,003K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$22,854K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$11,110K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$81,689K</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$66,089K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$2,127,427K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$286,478K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$19,244K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$50,569K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$3,255K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$115,941K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$88,371K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$6,196,559K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$292,720K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$106,801K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$17,719K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$197,630K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$154,460K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$8,323,986K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$579,197K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$22,306K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$157,370K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$20,973K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$-12,847K</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$-11,599K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$-1,363,458K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$54,204K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$42,183K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$17,872K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 9.5%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9441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3e-04%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5521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 9.9%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9441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solidFill>
                      <a:prstDash val="solid"/>
                      <a:round/>
                      <a:headEnd type="none" w="med" len="med"/>
                      <a:tailEnd type="none" w="med" len="me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69.7%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64.1%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NA%</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4005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27369">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27369">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27369">
                <a:tc gridSpan="8">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27369">
                <a:tc gridSpan="8">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3803316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4"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342252091"/>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a:t>
                      </a:r>
                      <a:r>
                        <a:rPr lang="en-US" sz="1400" b="1" u="none" strike="noStrike" dirty="0">
                          <a:solidFill/>
                          <a:effectLst/>
                        </a:rPr>
                        <a:t>to Northern Ohio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$ 3,401</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$ 6,184</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$ 2,888</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5"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6"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30</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4953670C-7BD0-B908-CA73-21D945CCB08B}"/>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Estimating Expected Steerage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31</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3741339683"/>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Callout: Bent Line 2">
            <a:extLst>
              <a:ext uri="{FF2B5EF4-FFF2-40B4-BE49-F238E27FC236}">
                <a16:creationId xmlns:a16="http://schemas.microsoft.com/office/drawing/2014/main" id="{26207AF0-B0E9-F90C-AD44-E16816462440}"/>
              </a:ext>
            </a:extLst>
          </p:cNvPr>
          <p:cNvSpPr/>
          <p:nvPr/>
        </p:nvSpPr>
        <p:spPr>
          <a:xfrm>
            <a:off x="9911595" y="1690688"/>
            <a:ext cx="1950205" cy="1325563"/>
          </a:xfrm>
          <a:prstGeom prst="borderCallout2">
            <a:avLst>
              <a:gd name="adj1" fmla="val 18750"/>
              <a:gd name="adj2" fmla="val -8333"/>
              <a:gd name="adj3" fmla="val 18750"/>
              <a:gd name="adj4" fmla="val -16667"/>
              <a:gd name="adj5" fmla="val 127829"/>
              <a:gd name="adj6" fmla="val -1091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Arial" panose="020B0604020202020204" pitchFamily="34" charset="0"/>
                <a:cs typeface="Arial" panose="020B0604020202020204" pitchFamily="34" charset="0"/>
              </a:rPr>
              <a:t>DTE Steerage Impact on an EPO Plan Structure</a:t>
            </a:r>
            <a:endParaRPr lang="en-US" dirty="0">
              <a:solidFill>
                <a:schemeClr val="bg1"/>
              </a:solidFill>
              <a:latin typeface="Arial" panose="020B0604020202020204" pitchFamily="34" charset="0"/>
              <a:cs typeface="Arial" panose="020B0604020202020204" pitchFamily="34" charset="0"/>
            </a:endParaRPr>
          </a:p>
        </p:txBody>
      </p:sp>
      <p:sp>
        <p:nvSpPr>
          <p:cNvPr id="8" name="Rectangle 9">
            <a:extLst>
              <a:ext uri="{FF2B5EF4-FFF2-40B4-BE49-F238E27FC236}">
                <a16:creationId xmlns:a16="http://schemas.microsoft.com/office/drawing/2014/main" id="{1F3C1433-AC36-92EF-BE3F-FF3E9903B966}"/>
              </a:ext>
            </a:extLst>
          </p:cNvPr>
          <p:cNvSpPr/>
          <p:nvPr/>
        </p:nvSpPr>
        <p:spPr>
          <a:xfrm>
            <a:off x="7213600" y="3381376"/>
            <a:ext cx="1066800" cy="2447924"/>
          </a:xfrm>
          <a:prstGeom prst="rect">
            <a:avLst/>
          </a:prstGeom>
          <a:no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19A2854E-BB8B-2CAE-F670-0D2E7447BA42}"/>
              </a:ext>
            </a:extLst>
          </p:cNvPr>
          <p:cNvSpPr/>
          <p:nvPr/>
        </p:nvSpPr>
        <p:spPr>
          <a:xfrm>
            <a:off x="9804400" y="3429000"/>
            <a:ext cx="2197100" cy="244792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rPr>
              <a:t>KBA is modeling steerage in line with other observed DTE networks.</a:t>
            </a:r>
          </a:p>
        </p:txBody>
      </p:sp>
    </p:spTree>
    <p:extLst>
      <p:ext uri="{BB962C8B-B14F-4D97-AF65-F5344CB8AC3E}">
        <p14:creationId xmlns:p14="http://schemas.microsoft.com/office/powerpoint/2010/main" val="3616502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AD3DCB03-C008-AD89-6957-4E05EFDE3F7B}"/>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4">
            <a:extLst>
              <a:ext uri="{FF2B5EF4-FFF2-40B4-BE49-F238E27FC236}">
                <a16:creationId xmlns:a16="http://schemas.microsoft.com/office/drawing/2014/main" id="{45156905-E918-9971-55DA-1B3D3593A1EC}"/>
              </a:ext>
            </a:extLst>
          </p:cNvPr>
          <p:cNvSpPr>
            <a:spLocks noGrp="1"/>
          </p:cNvSpPr>
          <p:nvPr>
            <p:ph type="sldNum" sz="quarter" idx="12"/>
          </p:nvPr>
        </p:nvSpPr>
        <p:spPr/>
        <p:txBody>
          <a:bodyPr/>
          <a:lstStyle/>
          <a:p>
            <a:fld id="{3AFC719D-C4A7-4544-876E-D411D11AF6C9}" type="slidenum">
              <a:rPr lang="en-US" smtClean="0"/>
              <a:t>32</a:t>
            </a:fld>
            <a:endParaRPr lang="en-US" dirty="0"/>
          </a:p>
        </p:txBody>
      </p:sp>
      <p:sp>
        <p:nvSpPr>
          <p:cNvPr id="4" name="Rectangle 6">
            <a:extLst>
              <a:ext uri="{FF2B5EF4-FFF2-40B4-BE49-F238E27FC236}">
                <a16:creationId xmlns:a16="http://schemas.microsoft.com/office/drawing/2014/main" id="{8E28090C-2F27-C065-17C4-ABD81529AB09}"/>
              </a:ext>
            </a:extLst>
          </p:cNvPr>
          <p:cNvSpPr/>
          <p:nvPr/>
        </p:nvSpPr>
        <p:spPr>
          <a:xfrm>
            <a:off x="0" y="-777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A1043D87-228F-7EE7-994A-5E1D92DA9012}"/>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PROJECTED PLAN GROWTH</a:t>
            </a:r>
          </a:p>
        </p:txBody>
      </p:sp>
      <p:sp>
        <p:nvSpPr>
          <p:cNvPr id="6" name="TextBox 12">
            <a:extLst>
              <a:ext uri="{FF2B5EF4-FFF2-40B4-BE49-F238E27FC236}">
                <a16:creationId xmlns:a16="http://schemas.microsoft.com/office/drawing/2014/main" id="{E799F91A-3FD1-47AB-858A-263DC729BC42}"/>
              </a:ext>
            </a:extLst>
          </p:cNvPr>
          <p:cNvSpPr txBox="1"/>
          <p:nvPr/>
        </p:nvSpPr>
        <p:spPr>
          <a:xfrm>
            <a:off x="8932985" y="1054579"/>
            <a:ext cx="2868171" cy="3754874"/>
          </a:xfrm>
          <a:prstGeom prst="rect">
            <a:avLst/>
          </a:prstGeom>
          <a:noFill/>
        </p:spPr>
        <p:txBody>
          <a:bodyPr wrap="square" rtlCol="0">
            <a:spAutoFit/>
          </a:bodyPr>
          <a:lstStyle/>
          <a:p>
            <a:r>
              <a:rPr lang="en-US" sz="1400" dirty="0">
                <a:solidFill/>
              </a:rPr>
              <a:t>KBA currently estimates that Cleveland Clinic Health System has 41% inpatient market share, and 33% outpatient market compared to hospitals/clinics in the Wayne, Ashtabula, Carroll, Cuyahoga, Erie, Geauga, Holmes, Huron, Lake, Lorain, Medina, Stark, Summit, and Tuscarawas Counties.</a:t>
            </a:r>
          </a:p>
          <a:p>
            <a:endParaRPr lang="en-US" sz="1400" dirty="0">
              <a:solidFill/>
            </a:endParaRPr>
          </a:p>
          <a:p>
            <a:r>
              <a:rPr lang="en-US" sz="1400" dirty="0">
                <a:solidFill/>
              </a:rPr>
              <a:t>Based on previous DTE experience, KBA expects a significant bump in patient steerage to Cleveland Clinic Health System.</a:t>
            </a:r>
          </a:p>
          <a:p>
            <a:endParaRPr lang="en-US" sz="1400" dirty="0">
              <a:solidFill/>
            </a:endParaRPr>
          </a:p>
          <a:p>
            <a:r>
              <a:rPr lang="en-US" sz="1400" dirty="0">
                <a:solidFill/>
              </a:rPr>
              <a:t>Additional steerage will occur from additional steerage patient benefits and the patient card.  </a:t>
            </a:r>
          </a:p>
          <a:p>
            <a:endParaRPr lang="en-US" sz="1400" dirty="0">
              <a:solidFill/>
            </a:endParaRPr>
          </a:p>
          <a:p>
            <a:r>
              <a:rPr lang="en-US" sz="1400" dirty="0">
                <a:solidFill/>
              </a:rPr>
              <a:t>High estimates start nearly 10% higher than target with low estimates at 10% lower than target</a:t>
            </a:r>
          </a:p>
        </p:txBody>
      </p:sp>
      <p:graphicFrame>
        <p:nvGraphicFramePr>
          <p:cNvPr id="7" name="Table 6"/>
          <p:cNvGraphicFramePr>
            <a:graphicFrameLocks noGrp="1"/>
          </p:cNvGraphicFramePr>
          <p:nvPr>
            <p:extLst>
              <p:ext uri="{D42A27DB-BD31-4B8C-83A1-F6EECF244321}">
                <p14:modId xmlns:p14="http://schemas.microsoft.com/office/powerpoint/2010/main" val="2076423269"/>
              </p:ext>
            </p:extLst>
          </p:nvPr>
        </p:nvGraphicFramePr>
        <p:xfrm>
          <a:off x="1316736" y="384048"/>
          <a:ext cx="6858000" cy="5912585"/>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615065">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Cleveland Clinic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Percent of Members Choosing Cleveland Clinic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35,000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44,800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55,900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81,300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94,400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106,900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192,400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118,200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212,800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128,100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230,600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136,300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245,300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257,400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148,100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266,600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0"/>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273,800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1"/>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279,200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2"/>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3"/>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158,900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24"/>
                  </a:ext>
                </a:extLst>
              </a:tr>
              <a:tr h="2096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Arial"/>
                          <a:cs typeface="Arial"/>
                          <a:sym typeface="Arial"/>
                        </a:rPr>
                        <a:t>25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160,100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288,200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Arial"/>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Arial"/>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2150531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33</a:t>
            </a:fld>
            <a:endParaRPr lang="en-US" dirty="0">
              <a:latin typeface="Arial" panose="020B0604020202020204" pitchFamily="34" charset="0"/>
              <a:cs typeface="Arial" panose="020B0604020202020204" pitchFamily="34" charset="0"/>
            </a:endParaRPr>
          </a:p>
        </p:txBody>
      </p:sp>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13,000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$ 17,917,182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$ 26,829,854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$ 12,529,314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$ 57,276,350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$ 2,436,737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$ 3,648,860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$ 1,703,987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$ 7,789,584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$ 5,496,573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$ 156,000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$ 5,501,373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$ 5,472,573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$ 29,616,925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$ 46,404,770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$ 21,670,633</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$ 97,692,328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$ 4,027,902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$ 6,311,049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$ 2,947,206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$ 13,286,157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41% (inpatient) and 33%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1801103"/>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13.6% (80%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⁰ Assuming </a:t>
            </a:r>
            <a:r>
              <a:rPr lang="en-US" sz="1400" dirty="0">
                <a:solidFill/>
                <a:latin typeface="Arial" panose="020B0604020202020204" pitchFamily="34" charset="0"/>
                <a:cs typeface="Arial" panose="020B0604020202020204" pitchFamily="34" charset="0"/>
              </a:rPr>
              <a:t>67% inpatient and 58%  </a:t>
            </a:r>
            <a:r>
              <a:rPr lang="en-US" sz="1400" dirty="0">
                <a:latin typeface="Arial" panose="020B0604020202020204" pitchFamily="34" charset="0"/>
                <a:cs typeface="Arial" panose="020B0604020202020204" pitchFamily="34" charset="0"/>
              </a:rPr>
              <a:t>market steerage based on KBA narrow network DTE experience </a:t>
            </a:r>
            <a:r>
              <a:rPr lang="en-US" sz="1400" dirty="0">
                <a:solidFill/>
                <a:latin typeface="Arial" panose="020B0604020202020204" pitchFamily="34" charset="0"/>
                <a:cs typeface="Arial" panose="020B0604020202020204" pitchFamily="34" charset="0"/>
              </a:rPr>
              <a:t>(see previous slide)</a:t>
            </a:r>
            <a:endParaRPr lang="en-US" sz="1400" dirty="0">
              <a:latin typeface="Arial" panose="020B0604020202020204" pitchFamily="34" charset="0"/>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324229"/>
            <a:ext cx="4318001" cy="1384995"/>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 Conservatively assuming a commercial </a:t>
            </a:r>
            <a:r>
              <a:rPr lang="en-US" sz="1400">
                <a:solidFill/>
                <a:latin typeface="Arial" panose="020B0604020202020204" pitchFamily="34" charset="0"/>
                <a:cs typeface="Arial" panose="020B0604020202020204" pitchFamily="34" charset="0"/>
              </a:rPr>
              <a:t>margin of 13.6%, </a:t>
            </a:r>
            <a:r>
              <a:rPr lang="en-US" sz="1400" dirty="0">
                <a:solidFill/>
                <a:latin typeface="Arial" panose="020B0604020202020204" pitchFamily="34" charset="0"/>
                <a:cs typeface="Arial" panose="020B0604020202020204" pitchFamily="34" charset="0"/>
              </a:rPr>
              <a:t>with a 10 percentage-point reduction to reflect competitive-edge rates and a 10 percentage-point increase to reflect lower billing costs and better patient-responsibility collections because of the plan patient card. </a:t>
            </a:r>
            <a:endParaRPr lang="en-US" sz="1400" dirty="0">
              <a:latin typeface="Arial" panose="020B0604020202020204" pitchFamily="34" charset="0"/>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34749"/>
            <a:ext cx="6286914" cy="584775"/>
          </a:xfrm>
          <a:prstGeom prst="rect">
            <a:avLst/>
          </a:prstGeom>
          <a:noFill/>
        </p:spPr>
        <p:txBody>
          <a:bodyPr wrap="none" rtlCol="0">
            <a:spAutoFit/>
          </a:bodyPr>
          <a:lstStyle/>
          <a:p>
            <a:r>
              <a:rPr lang="en-US" sz="3200" b="1" dirty="0">
                <a:latin typeface="Calibri" panose="020F0502020204030204" pitchFamily="34" charset="0"/>
                <a:cs typeface="Calibri" panose="020F0502020204030204" pitchFamily="34" charset="0"/>
              </a:rPr>
              <a:t>Year </a:t>
            </a:r>
            <a:r>
              <a:rPr lang="en-US" sz="3200" b="1">
                <a:latin typeface="Calibri" panose="020F0502020204030204" pitchFamily="34" charset="0"/>
                <a:cs typeface="Calibri" panose="020F0502020204030204" pitchFamily="34" charset="0"/>
              </a:rPr>
              <a:t>4 Projected </a:t>
            </a:r>
            <a:r>
              <a:rPr lang="en-US" sz="3200" b="1" dirty="0">
                <a:latin typeface="Calibri" panose="020F0502020204030204" pitchFamily="34" charset="0"/>
                <a:cs typeface="Calibri" panose="020F0502020204030204" pitchFamily="34" charset="0"/>
              </a:rPr>
              <a:t>Revenue and Profit</a:t>
            </a: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07296554"/>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84592">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613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11042">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$110,146.8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$3,288.0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$6,576.0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$32,880.2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$164,401.2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$2,170.2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$10,850.9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$54,254.4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81842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$894.3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$22,358.6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$147.6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$1,475.7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$7,378.6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11042">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11042">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$1,205.7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$7,348.6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49478667"/>
              </p:ext>
            </p:extLst>
          </p:nvPr>
        </p:nvGraphicFramePr>
        <p:xfrm>
          <a:off x="0" y="0"/>
          <a:ext cx="12198096" cy="6858003"/>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068">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Target Estimate Assuming 20%+ Within-Plan Steerage and a Commercial Margin of 13.6%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6162">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31377">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$6,891.2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$34,456.1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$937.2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$4,686.0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$2,040.3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$10,201.6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$51,008.1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$277.5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$6,937.1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$3,310.4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$16,551.9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$450.2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$2,251.1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$2,063.8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$10,319.2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$51,595.9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$1,403.4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$7,017.0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$420.5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$2,102.5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$10,512.3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$1,028.0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$5,140.1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$25,700.5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$139.8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$3,495.3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$963.8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$4,819.0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$24,094.8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$131.1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$3,276.9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31377">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$981.8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$4,909.2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$480.1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$2,400.4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$12,001.9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60696">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$1,632.3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31377">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$-176.4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$-22.9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$1,205.7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$7,348.6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98184988"/>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High Estimate Assuming 20%+ Within-Plan Steerage and a Commercial Margin of 16.6%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$110,146.8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$3,911.1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$7,822.2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$39,110.9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$195,554.3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$3,416.3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$17,081.5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$85,407.5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$1,298.5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$6,492.4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$32,462.0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$699.3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$17,482.1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$381.3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$3,226.4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$17,452.1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617234884"/>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49550">
                <a:tc gridSpan="5">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2000" b="1" i="0" u="none" cap="none">
                          <a:solidFill>
                            <a:srgbClr val="FFFFFF">
                              <a:alpha val="100000"/>
                            </a:srgbClr>
                          </a:solidFill>
                          <a:latin typeface="Arial"/>
                          <a:cs typeface="Arial"/>
                          <a:sym typeface="Arial"/>
                        </a:rPr>
                        <a:t>Low Estimate Assuming 20%+ Within-Plan Steerage and a Commercial Margin of 10.6%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84595">
                <a:tc gridSpan="5">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0"/>
                        </a:spcBef>
                        <a:spcAft>
                          <a:spcPts val="0"/>
                        </a:spcAft>
                        <a:buNone/>
                      </a:pPr>
                      <a:r>
                        <a:rPr sz="1800" b="1" i="0" u="none" cap="none">
                          <a:solidFill>
                            <a:srgbClr val="FFFFFF">
                              <a:alpha val="100000"/>
                            </a:srgbClr>
                          </a:solidFill>
                          <a:latin typeface="Arial"/>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1448">
                <a:tc>
                  <a:txBody>
                    <a:bodyPr/>
                    <a:lstStyle/>
                    <a:p>
                      <a:pPr marL="63500" marR="63500" algn="l">
                        <a:lnSpc>
                          <a:spcPct val="100000"/>
                        </a:lnSpc>
                        <a:spcBef>
                          <a:spcPts val="0"/>
                        </a:spcBef>
                        <a:spcAft>
                          <a:spcPts val="0"/>
                        </a:spcAft>
                        <a:buNone/>
                      </a:pPr>
                      <a:r>
                        <a:rPr sz="1100" b="1" i="0" u="none" cap="none">
                          <a:solidFill>
                            <a:srgbClr val="000000">
                              <a:alpha val="100000"/>
                            </a:srgbClr>
                          </a:solidFill>
                          <a:latin typeface="Arial"/>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Arial"/>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$4,405.9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$22,029.4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$110,146.8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$5,659.1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$28,295.7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$141,478.5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909371">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$6,266.3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$31,331.7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$599.9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$2,999.3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$14,996.7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dirty="0">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71448">
                <a:tc>
                  <a:txBody>
                    <a:bodyPr/>
                    <a:lstStyle/>
                    <a:p>
                      <a:pPr marL="63500" marR="63500" algn="l">
                        <a:lnSpc>
                          <a:spcPct val="100000"/>
                        </a:lnSpc>
                        <a:spcBef>
                          <a:spcPts val="0"/>
                        </a:spcBef>
                        <a:spcAft>
                          <a:spcPts val="0"/>
                        </a:spcAft>
                        <a:buNone/>
                      </a:pPr>
                      <a:r>
                        <a:rPr sz="1400" b="0" i="0" u="none" cap="none">
                          <a:solidFill>
                            <a:srgbClr val="000000">
                              <a:alpha val="100000"/>
                            </a:srgbClr>
                          </a:solidFill>
                          <a:latin typeface="Arial"/>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0" i="0" u="none" cap="none">
                          <a:solidFill>
                            <a:srgbClr val="000000">
                              <a:alpha val="100000"/>
                            </a:srgbClr>
                          </a:solidFill>
                          <a:latin typeface="Arial"/>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71448">
                <a:tc>
                  <a:txBody>
                    <a:bodyPr/>
                    <a:lstStyle/>
                    <a:p>
                      <a:pPr marL="63500" marR="63500" algn="l">
                        <a:lnSpc>
                          <a:spcPct val="100000"/>
                        </a:lnSpc>
                        <a:spcBef>
                          <a:spcPts val="0"/>
                        </a:spcBef>
                        <a:spcAft>
                          <a:spcPts val="0"/>
                        </a:spcAft>
                        <a:buNone/>
                      </a:pPr>
                      <a:r>
                        <a:rPr sz="1400" b="1" i="0" u="none" cap="none">
                          <a:solidFill>
                            <a:srgbClr val="000000">
                              <a:alpha val="100000"/>
                            </a:srgbClr>
                          </a:solidFill>
                          <a:latin typeface="Arial"/>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$-323.7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$-317.3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a:solidFill>
                            <a:srgbClr val="000000">
                              <a:alpha val="100000"/>
                            </a:srgbClr>
                          </a:solidFill>
                          <a:latin typeface="Arial"/>
                          <a:cs typeface="Arial"/>
                          <a:sym typeface="Arial"/>
                        </a:rPr>
                        <a:t>$-266.6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400" b="1" i="0" u="none" cap="none" dirty="0">
                          <a:solidFill>
                            <a:srgbClr val="000000">
                              <a:alpha val="100000"/>
                            </a:srgbClr>
                          </a:solidFill>
                          <a:latin typeface="Arial"/>
                          <a:cs typeface="Arial"/>
                          <a:sym typeface="Arial"/>
                        </a:rPr>
                        <a:t>$-13.2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Relationship with Self-Funded Employers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b="1" spc="300" dirty="0"/>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&amp; Navigation of Care </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500" spc="70" dirty="0">
              <a:latin typeface="+mj-lt"/>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38</a:t>
            </a:fld>
            <a:endParaRPr lang="en-US"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69332"/>
          </a:xfrm>
          <a:prstGeom prst="rect">
            <a:avLst/>
          </a:prstGeom>
          <a:noFill/>
        </p:spPr>
        <p:txBody>
          <a:bodyPr wrap="square">
            <a:spAutoFit/>
          </a:bodyPr>
          <a:lstStyle/>
          <a:p>
            <a:r>
              <a:rPr lang="en-US" b="1" spc="300" dirty="0">
                <a:solidFill>
                  <a:schemeClr val="bg1"/>
                </a:solidFill>
              </a:rPr>
              <a:t>Cleveland Clinic’s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2092881"/>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500" spc="70" dirty="0">
                <a:solidFill>
                  <a:schemeClr val="bg1"/>
                </a:solidFill>
                <a:latin typeface="+mj-lt"/>
              </a:rPr>
              <a:t>Reduced Spend</a:t>
            </a:r>
          </a:p>
          <a:p>
            <a:pPr marL="285753" indent="-285753">
              <a:spcAft>
                <a:spcPts val="200"/>
              </a:spcAft>
              <a:buFont typeface="Wingdings" panose="05000000000000000000" pitchFamily="2" charset="2"/>
              <a:buChar char="§"/>
            </a:pPr>
            <a:r>
              <a:rPr lang="en-US" sz="1500" spc="70" dirty="0">
                <a:solidFill>
                  <a:schemeClr val="bg1"/>
                </a:solidFill>
                <a:latin typeface="+mj-lt"/>
              </a:rPr>
              <a:t>“At The Table” with Cleveland Clinic Health System</a:t>
            </a:r>
          </a:p>
          <a:p>
            <a:pPr marL="285753" indent="-285753">
              <a:spcAft>
                <a:spcPts val="200"/>
              </a:spcAft>
              <a:buFont typeface="Wingdings" panose="05000000000000000000" pitchFamily="2" charset="2"/>
              <a:buChar char="§"/>
            </a:pPr>
            <a:r>
              <a:rPr lang="en-US" sz="1500" spc="70" dirty="0">
                <a:solidFill>
                  <a:schemeClr val="bg1"/>
                </a:solidFill>
                <a:latin typeface="+mj-lt"/>
              </a:rPr>
              <a:t>Improved Analytics</a:t>
            </a:r>
          </a:p>
          <a:p>
            <a:pPr marL="285753" indent="-285753">
              <a:spcAft>
                <a:spcPts val="200"/>
              </a:spcAft>
              <a:buFont typeface="Wingdings" panose="05000000000000000000" pitchFamily="2" charset="2"/>
              <a:buChar char="§"/>
            </a:pPr>
            <a:r>
              <a:rPr lang="en-US" sz="1500" spc="70" dirty="0">
                <a:solidFill>
                  <a:schemeClr val="bg1"/>
                </a:solidFill>
                <a:latin typeface="+mj-lt"/>
              </a:rPr>
              <a:t>Complete Transparency</a:t>
            </a:r>
          </a:p>
          <a:p>
            <a:pPr marL="285753" indent="-285753">
              <a:spcAft>
                <a:spcPts val="200"/>
              </a:spcAft>
              <a:buFont typeface="Wingdings" panose="05000000000000000000" pitchFamily="2" charset="2"/>
              <a:buChar char="§"/>
            </a:pPr>
            <a:r>
              <a:rPr lang="en-US" sz="1500" spc="70" dirty="0">
                <a:solidFill>
                  <a:schemeClr val="bg1"/>
                </a:solidFill>
                <a:latin typeface="+mj-lt"/>
              </a:rPr>
              <a:t>Lower Stop-Loss</a:t>
            </a:r>
          </a:p>
          <a:p>
            <a:pPr marL="285753" indent="-285753">
              <a:spcAft>
                <a:spcPts val="200"/>
              </a:spcAft>
              <a:buFont typeface="Wingdings" panose="05000000000000000000" pitchFamily="2" charset="2"/>
              <a:buChar char="§"/>
            </a:pPr>
            <a:r>
              <a:rPr lang="en-US" sz="1500" spc="70" dirty="0">
                <a:solidFill>
                  <a:schemeClr val="bg1"/>
                </a:solidFill>
                <a:latin typeface="+mj-lt"/>
              </a:rPr>
              <a:t>Benefit Plan Stabilization </a:t>
            </a:r>
          </a:p>
          <a:p>
            <a:pPr marL="285753" indent="-285753">
              <a:spcAft>
                <a:spcPts val="200"/>
              </a:spcAft>
              <a:buFont typeface="Wingdings" panose="05000000000000000000" pitchFamily="2" charset="2"/>
              <a:buChar char="§"/>
            </a:pPr>
            <a:r>
              <a:rPr lang="en-US" sz="1500" spc="70" dirty="0">
                <a:solidFill>
                  <a:schemeClr val="bg1"/>
                </a:solidFill>
                <a:latin typeface="+mj-lt"/>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Cleveland Clinic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Cleveland Clinic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235786818"/>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200329"/>
          </a:xfrm>
          <a:prstGeom prst="rect">
            <a:avLst/>
          </a:prstGeom>
          <a:noFill/>
        </p:spPr>
        <p:txBody>
          <a:bodyPr wrap="square">
            <a:spAutoFit/>
          </a:bodyPr>
          <a:lstStyle/>
          <a:p>
            <a:pPr marL="285750" lvl="0" indent="-285750">
              <a:buFont typeface="Arial" panose="020B0604020202020204" pitchFamily="34" charset="0"/>
              <a:buChar char="•"/>
            </a:pPr>
            <a:r>
              <a:rPr lang="en-US" sz="1800" dirty="0"/>
              <a:t>Determine Gaps in Medical Service Delivery</a:t>
            </a:r>
          </a:p>
          <a:p>
            <a:pPr marL="285750" lvl="0" indent="-285750">
              <a:buFont typeface="Arial" panose="020B0604020202020204" pitchFamily="34" charset="0"/>
              <a:buChar char="•"/>
            </a:pPr>
            <a:r>
              <a:rPr lang="en-US" sz="1800" dirty="0">
                <a:solidFill/>
              </a:rPr>
              <a:t>Identify Other Key Providers to Potentially Contract with on Behalf of Cleveland Clinic</a:t>
            </a:r>
          </a:p>
          <a:p>
            <a:pPr marL="285750" lvl="0" indent="-285750">
              <a:buFont typeface="Arial" panose="020B0604020202020204" pitchFamily="34" charset="0"/>
              <a:buChar char="•"/>
            </a:pPr>
            <a:r>
              <a:rPr lang="en-US" sz="1800" dirty="0"/>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923330"/>
          </a:xfrm>
          <a:prstGeom prst="rect">
            <a:avLst/>
          </a:prstGeom>
          <a:noFill/>
        </p:spPr>
        <p:txBody>
          <a:bodyPr wrap="square">
            <a:spAutoFit/>
          </a:bodyPr>
          <a:lstStyle/>
          <a:p>
            <a:pPr marL="285750" lvl="0" indent="-285750">
              <a:buFont typeface="Arial" panose="020B0604020202020204" pitchFamily="34" charset="0"/>
              <a:buChar char="•"/>
            </a:pPr>
            <a:r>
              <a:rPr lang="en-US" sz="1800" dirty="0">
                <a:solidFill/>
              </a:rPr>
              <a:t>To Dial in Competitive Stop-Loss Rates and Cleveland Clinic’s Net Revenues/Margins</a:t>
            </a:r>
          </a:p>
          <a:p>
            <a:pPr marL="285750" lvl="0" indent="-285750">
              <a:buFont typeface="Arial" panose="020B0604020202020204" pitchFamily="34" charset="0"/>
              <a:buChar char="•"/>
            </a:pPr>
            <a:r>
              <a:rPr lang="en-US" sz="1800" dirty="0"/>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42</a:t>
            </a:fld>
            <a:endParaRPr lang="en-US"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46148</TotalTime>
  <Words>5931</Words>
  <Application>Microsoft Office PowerPoint</Application>
  <PresentationFormat>Widescreen</PresentationFormat>
  <Paragraphs>1716</Paragraphs>
  <Slides>42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 Narrow</vt:lpstr>
      <vt:lpstr>Arial</vt:lpstr>
      <vt:lpstr>Arial Black</vt:lpstr>
      <vt:lpstr>Calibri</vt:lpstr>
      <vt:lpstr>Calibri Light</vt:lpstr>
      <vt:lpstr>Century Gothic</vt:lpstr>
      <vt:lpstr>Wingdings</vt:lpstr>
      <vt:lpstr>Office Theme</vt:lpstr>
      <vt:lpstr>PowerPoint Presentation</vt:lpstr>
      <vt:lpstr>PowerPoint Presentation</vt:lpstr>
      <vt:lpstr>Market Leader in Private Labeled DTE Plans</vt:lpstr>
      <vt:lpstr>Direct-to-Employer (DTE)  Your Health Plan Focused on a Direct Relationship with Self-Funded Employers in Your Market</vt:lpstr>
      <vt:lpstr>DTE Keys to Success for Cleveland Clinic Health System</vt:lpstr>
      <vt:lpstr>Every $1 of Care</vt:lpstr>
      <vt:lpstr>Direct-to-Employer Strategy: Powerful Employer Value</vt:lpstr>
      <vt:lpstr>Significant Opportunity for Plan Growth </vt:lpstr>
      <vt:lpstr>Plan Potential Growth Paths</vt:lpstr>
      <vt:lpstr>Growing Powerful, Lasting Profitability</vt:lpstr>
      <vt:lpstr>Estimated Financial Returns and Assumptions</vt:lpstr>
      <vt:lpstr>FOUR-YEAR PROJECTIONS</vt:lpstr>
      <vt:lpstr>Direct-to-Employer Strategy: Only Available to Premier Health Systems</vt:lpstr>
      <vt:lpstr>Cleveland Clinic NETWORK </vt:lpstr>
      <vt:lpstr>PowerPoint Presentation</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 </vt:lpstr>
      <vt:lpstr>Estimation of Cleveland Clinic’s 2022 Payer Mix</vt:lpstr>
      <vt:lpstr>Estimation of Margin for Commercial vs. Government Pay</vt:lpstr>
      <vt:lpstr>Estimating Market Share</vt:lpstr>
      <vt:lpstr>PowerPoint Presentation</vt:lpstr>
      <vt:lpstr>PowerPoint Presentation</vt:lpstr>
      <vt:lpstr>Estimating PMPY Spend (KBA Data)</vt:lpstr>
      <vt:lpstr>Estimating Expected Steerage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2024-10-22T03:34:20Z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