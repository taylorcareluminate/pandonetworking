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23"/>
  </p:notesMasterIdLst>
  <p:sldIdLst>
    <p:sldId id="588" r:id="rId5"/>
    <p:sldId id="604" r:id="rId6"/>
    <p:sldId id="580" r:id="rId7"/>
    <p:sldId id="564" r:id="rId8"/>
    <p:sldId id="598" r:id="rId9"/>
    <p:sldId id="594" r:id="rId10"/>
    <p:sldId id="597" r:id="rId11"/>
    <p:sldId id="601" r:id="rId12"/>
    <p:sldId id="602" r:id="rId13"/>
    <p:sldId id="547" r:id="rId14"/>
    <p:sldId id="548" r:id="rId15"/>
    <p:sldId id="558" r:id="rId16"/>
    <p:sldId id="613" r:id="rId17"/>
    <p:sldId id="499" r:id="rId18"/>
    <p:sldId id="536" r:id="rId19"/>
    <p:sldId id="612" r:id="rId20"/>
    <p:sldId id="609" r:id="rId21"/>
    <p:sldId id="611" r:id="rId22"/>
  </p:sldIdLst>
  <p:sldSz cx="12192000" cy="6858000"/>
  <p:notesSz cx="7315200" cy="9601200"/>
  <p:custDataLst>
    <p:tags r:id="rId2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C5E0B4"/>
    <a:srgbClr val="254F96"/>
    <a:srgbClr val="59CAE8"/>
    <a:srgbClr val="2F5597"/>
    <a:srgbClr val="6087CE"/>
    <a:srgbClr val="4468A5"/>
    <a:srgbClr val="F2F2F2"/>
    <a:srgbClr val="C55A11"/>
    <a:srgbClr val="F424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77BE19-4B2E-4E5C-A76B-7A35EF97426C}" v="33" dt="2024-11-07T17:08:50.662"/>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609" autoAdjust="0"/>
  </p:normalViewPr>
  <p:slideViewPr>
    <p:cSldViewPr snapToGrid="0">
      <p:cViewPr varScale="1">
        <p:scale>
          <a:sx n="95" d="100"/>
          <a:sy n="95" d="100"/>
        </p:scale>
        <p:origin x="1110" y="90"/>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1F77BE19-4B2E-4E5C-A76B-7A35EF97426C}"/>
    <pc:docChg chg="undo custSel addSld delSld modSld sldOrd">
      <pc:chgData name="Taylor Davis" userId="5c9e72a0-c39f-4aa1-9d7d-64125e78cbe6" providerId="ADAL" clId="{1F77BE19-4B2E-4E5C-A76B-7A35EF97426C}" dt="2024-11-07T21:30:07.578" v="2266" actId="478"/>
      <pc:docMkLst>
        <pc:docMk/>
      </pc:docMkLst>
      <pc:sldChg chg="del">
        <pc:chgData name="Taylor Davis" userId="5c9e72a0-c39f-4aa1-9d7d-64125e78cbe6" providerId="ADAL" clId="{1F77BE19-4B2E-4E5C-A76B-7A35EF97426C}" dt="2024-11-07T16:27:01.460" v="1518" actId="47"/>
        <pc:sldMkLst>
          <pc:docMk/>
          <pc:sldMk cId="0" sldId="256"/>
        </pc:sldMkLst>
      </pc:sldChg>
      <pc:sldChg chg="del">
        <pc:chgData name="Taylor Davis" userId="5c9e72a0-c39f-4aa1-9d7d-64125e78cbe6" providerId="ADAL" clId="{1F77BE19-4B2E-4E5C-A76B-7A35EF97426C}" dt="2024-11-07T16:27:01.460" v="1518" actId="47"/>
        <pc:sldMkLst>
          <pc:docMk/>
          <pc:sldMk cId="0" sldId="257"/>
        </pc:sldMkLst>
      </pc:sldChg>
      <pc:sldChg chg="del">
        <pc:chgData name="Taylor Davis" userId="5c9e72a0-c39f-4aa1-9d7d-64125e78cbe6" providerId="ADAL" clId="{1F77BE19-4B2E-4E5C-A76B-7A35EF97426C}" dt="2024-11-07T16:27:01.460" v="1518" actId="47"/>
        <pc:sldMkLst>
          <pc:docMk/>
          <pc:sldMk cId="0" sldId="258"/>
        </pc:sldMkLst>
      </pc:sldChg>
      <pc:sldChg chg="del">
        <pc:chgData name="Taylor Davis" userId="5c9e72a0-c39f-4aa1-9d7d-64125e78cbe6" providerId="ADAL" clId="{1F77BE19-4B2E-4E5C-A76B-7A35EF97426C}" dt="2024-11-07T16:27:01.460" v="1518" actId="47"/>
        <pc:sldMkLst>
          <pc:docMk/>
          <pc:sldMk cId="0" sldId="259"/>
        </pc:sldMkLst>
      </pc:sldChg>
      <pc:sldChg chg="del">
        <pc:chgData name="Taylor Davis" userId="5c9e72a0-c39f-4aa1-9d7d-64125e78cbe6" providerId="ADAL" clId="{1F77BE19-4B2E-4E5C-A76B-7A35EF97426C}" dt="2024-11-07T16:27:01.460" v="1518" actId="47"/>
        <pc:sldMkLst>
          <pc:docMk/>
          <pc:sldMk cId="0" sldId="260"/>
        </pc:sldMkLst>
      </pc:sldChg>
      <pc:sldChg chg="del">
        <pc:chgData name="Taylor Davis" userId="5c9e72a0-c39f-4aa1-9d7d-64125e78cbe6" providerId="ADAL" clId="{1F77BE19-4B2E-4E5C-A76B-7A35EF97426C}" dt="2024-11-07T16:27:01.460" v="1518" actId="47"/>
        <pc:sldMkLst>
          <pc:docMk/>
          <pc:sldMk cId="0" sldId="261"/>
        </pc:sldMkLst>
      </pc:sldChg>
      <pc:sldChg chg="del">
        <pc:chgData name="Taylor Davis" userId="5c9e72a0-c39f-4aa1-9d7d-64125e78cbe6" providerId="ADAL" clId="{1F77BE19-4B2E-4E5C-A76B-7A35EF97426C}" dt="2024-11-07T16:27:01.460" v="1518" actId="47"/>
        <pc:sldMkLst>
          <pc:docMk/>
          <pc:sldMk cId="0" sldId="262"/>
        </pc:sldMkLst>
      </pc:sldChg>
      <pc:sldChg chg="del">
        <pc:chgData name="Taylor Davis" userId="5c9e72a0-c39f-4aa1-9d7d-64125e78cbe6" providerId="ADAL" clId="{1F77BE19-4B2E-4E5C-A76B-7A35EF97426C}" dt="2024-11-07T16:27:01.460" v="1518" actId="47"/>
        <pc:sldMkLst>
          <pc:docMk/>
          <pc:sldMk cId="0" sldId="263"/>
        </pc:sldMkLst>
      </pc:sldChg>
      <pc:sldChg chg="del">
        <pc:chgData name="Taylor Davis" userId="5c9e72a0-c39f-4aa1-9d7d-64125e78cbe6" providerId="ADAL" clId="{1F77BE19-4B2E-4E5C-A76B-7A35EF97426C}" dt="2024-11-07T16:27:01.460" v="1518" actId="47"/>
        <pc:sldMkLst>
          <pc:docMk/>
          <pc:sldMk cId="0" sldId="264"/>
        </pc:sldMkLst>
      </pc:sldChg>
      <pc:sldChg chg="del">
        <pc:chgData name="Taylor Davis" userId="5c9e72a0-c39f-4aa1-9d7d-64125e78cbe6" providerId="ADAL" clId="{1F77BE19-4B2E-4E5C-A76B-7A35EF97426C}" dt="2024-11-07T16:27:01.460" v="1518" actId="47"/>
        <pc:sldMkLst>
          <pc:docMk/>
          <pc:sldMk cId="0" sldId="265"/>
        </pc:sldMkLst>
      </pc:sldChg>
      <pc:sldChg chg="del">
        <pc:chgData name="Taylor Davis" userId="5c9e72a0-c39f-4aa1-9d7d-64125e78cbe6" providerId="ADAL" clId="{1F77BE19-4B2E-4E5C-A76B-7A35EF97426C}" dt="2024-11-07T16:27:01.460" v="1518" actId="47"/>
        <pc:sldMkLst>
          <pc:docMk/>
          <pc:sldMk cId="0" sldId="266"/>
        </pc:sldMkLst>
      </pc:sldChg>
      <pc:sldChg chg="del">
        <pc:chgData name="Taylor Davis" userId="5c9e72a0-c39f-4aa1-9d7d-64125e78cbe6" providerId="ADAL" clId="{1F77BE19-4B2E-4E5C-A76B-7A35EF97426C}" dt="2024-11-07T16:27:01.460" v="1518" actId="47"/>
        <pc:sldMkLst>
          <pc:docMk/>
          <pc:sldMk cId="0" sldId="267"/>
        </pc:sldMkLst>
      </pc:sldChg>
      <pc:sldChg chg="del">
        <pc:chgData name="Taylor Davis" userId="5c9e72a0-c39f-4aa1-9d7d-64125e78cbe6" providerId="ADAL" clId="{1F77BE19-4B2E-4E5C-A76B-7A35EF97426C}" dt="2024-11-07T16:27:01.460" v="1518" actId="47"/>
        <pc:sldMkLst>
          <pc:docMk/>
          <pc:sldMk cId="2044987477" sldId="268"/>
        </pc:sldMkLst>
      </pc:sldChg>
      <pc:sldChg chg="del">
        <pc:chgData name="Taylor Davis" userId="5c9e72a0-c39f-4aa1-9d7d-64125e78cbe6" providerId="ADAL" clId="{1F77BE19-4B2E-4E5C-A76B-7A35EF97426C}" dt="2024-11-07T16:27:01.460" v="1518" actId="47"/>
        <pc:sldMkLst>
          <pc:docMk/>
          <pc:sldMk cId="3566148452" sldId="269"/>
        </pc:sldMkLst>
      </pc:sldChg>
      <pc:sldChg chg="del">
        <pc:chgData name="Taylor Davis" userId="5c9e72a0-c39f-4aa1-9d7d-64125e78cbe6" providerId="ADAL" clId="{1F77BE19-4B2E-4E5C-A76B-7A35EF97426C}" dt="2024-11-07T16:27:01.460" v="1518" actId="47"/>
        <pc:sldMkLst>
          <pc:docMk/>
          <pc:sldMk cId="3117314496" sldId="270"/>
        </pc:sldMkLst>
      </pc:sldChg>
      <pc:sldChg chg="del">
        <pc:chgData name="Taylor Davis" userId="5c9e72a0-c39f-4aa1-9d7d-64125e78cbe6" providerId="ADAL" clId="{1F77BE19-4B2E-4E5C-A76B-7A35EF97426C}" dt="2024-11-07T16:27:01.460" v="1518" actId="47"/>
        <pc:sldMkLst>
          <pc:docMk/>
          <pc:sldMk cId="861965111" sldId="271"/>
        </pc:sldMkLst>
      </pc:sldChg>
      <pc:sldChg chg="del">
        <pc:chgData name="Taylor Davis" userId="5c9e72a0-c39f-4aa1-9d7d-64125e78cbe6" providerId="ADAL" clId="{1F77BE19-4B2E-4E5C-A76B-7A35EF97426C}" dt="2024-11-07T16:27:01.460" v="1518" actId="47"/>
        <pc:sldMkLst>
          <pc:docMk/>
          <pc:sldMk cId="1569237220" sldId="272"/>
        </pc:sldMkLst>
      </pc:sldChg>
      <pc:sldChg chg="del">
        <pc:chgData name="Taylor Davis" userId="5c9e72a0-c39f-4aa1-9d7d-64125e78cbe6" providerId="ADAL" clId="{1F77BE19-4B2E-4E5C-A76B-7A35EF97426C}" dt="2024-11-07T16:27:01.460" v="1518" actId="47"/>
        <pc:sldMkLst>
          <pc:docMk/>
          <pc:sldMk cId="3412937353" sldId="273"/>
        </pc:sldMkLst>
      </pc:sldChg>
      <pc:sldChg chg="del">
        <pc:chgData name="Taylor Davis" userId="5c9e72a0-c39f-4aa1-9d7d-64125e78cbe6" providerId="ADAL" clId="{1F77BE19-4B2E-4E5C-A76B-7A35EF97426C}" dt="2024-11-07T16:27:01.460" v="1518" actId="47"/>
        <pc:sldMkLst>
          <pc:docMk/>
          <pc:sldMk cId="160920289" sldId="274"/>
        </pc:sldMkLst>
      </pc:sldChg>
      <pc:sldChg chg="delSp modSp add del mod setBg">
        <pc:chgData name="Taylor Davis" userId="5c9e72a0-c39f-4aa1-9d7d-64125e78cbe6" providerId="ADAL" clId="{1F77BE19-4B2E-4E5C-A76B-7A35EF97426C}" dt="2024-11-07T16:54:08.854" v="2239" actId="404"/>
        <pc:sldMkLst>
          <pc:docMk/>
          <pc:sldMk cId="2203540903" sldId="499"/>
        </pc:sldMkLst>
        <pc:spChg chg="mod">
          <ac:chgData name="Taylor Davis" userId="5c9e72a0-c39f-4aa1-9d7d-64125e78cbe6" providerId="ADAL" clId="{1F77BE19-4B2E-4E5C-A76B-7A35EF97426C}" dt="2024-11-07T16:53:49.523" v="2232" actId="122"/>
          <ac:spMkLst>
            <pc:docMk/>
            <pc:sldMk cId="2203540903" sldId="499"/>
            <ac:spMk id="6" creationId="{11A9C655-FF92-49E3-BB7D-E5BBC008C671}"/>
          </ac:spMkLst>
        </pc:spChg>
        <pc:spChg chg="del mod">
          <ac:chgData name="Taylor Davis" userId="5c9e72a0-c39f-4aa1-9d7d-64125e78cbe6" providerId="ADAL" clId="{1F77BE19-4B2E-4E5C-A76B-7A35EF97426C}" dt="2024-11-07T16:53:25.800" v="2206" actId="478"/>
          <ac:spMkLst>
            <pc:docMk/>
            <pc:sldMk cId="2203540903" sldId="499"/>
            <ac:spMk id="7" creationId="{AB8821D0-DEDE-002D-E87D-13E033D5D75F}"/>
          </ac:spMkLst>
        </pc:spChg>
        <pc:graphicFrameChg chg="mod modGraphic">
          <ac:chgData name="Taylor Davis" userId="5c9e72a0-c39f-4aa1-9d7d-64125e78cbe6" providerId="ADAL" clId="{1F77BE19-4B2E-4E5C-A76B-7A35EF97426C}" dt="2024-11-07T16:54:08.854" v="2239" actId="404"/>
          <ac:graphicFrameMkLst>
            <pc:docMk/>
            <pc:sldMk cId="2203540903" sldId="499"/>
            <ac:graphicFrameMk id="8" creationId="{00000000-0000-0000-0000-000000000000}"/>
          </ac:graphicFrameMkLst>
        </pc:graphicFrameChg>
      </pc:sldChg>
      <pc:sldChg chg="modSp add del mod">
        <pc:chgData name="Taylor Davis" userId="5c9e72a0-c39f-4aa1-9d7d-64125e78cbe6" providerId="ADAL" clId="{1F77BE19-4B2E-4E5C-A76B-7A35EF97426C}" dt="2024-11-07T16:54:52.948" v="2245" actId="207"/>
        <pc:sldMkLst>
          <pc:docMk/>
          <pc:sldMk cId="1419816550" sldId="536"/>
        </pc:sldMkLst>
        <pc:spChg chg="mod">
          <ac:chgData name="Taylor Davis" userId="5c9e72a0-c39f-4aa1-9d7d-64125e78cbe6" providerId="ADAL" clId="{1F77BE19-4B2E-4E5C-A76B-7A35EF97426C}" dt="2024-11-07T16:54:36.952" v="2243" actId="403"/>
          <ac:spMkLst>
            <pc:docMk/>
            <pc:sldMk cId="1419816550" sldId="536"/>
            <ac:spMk id="12" creationId="{1BBEE831-0583-9B2A-D9B8-C57C918E4C3C}"/>
          </ac:spMkLst>
        </pc:spChg>
        <pc:graphicFrameChg chg="modGraphic">
          <ac:chgData name="Taylor Davis" userId="5c9e72a0-c39f-4aa1-9d7d-64125e78cbe6" providerId="ADAL" clId="{1F77BE19-4B2E-4E5C-A76B-7A35EF97426C}" dt="2024-11-07T16:54:47.114" v="2244" actId="207"/>
          <ac:graphicFrameMkLst>
            <pc:docMk/>
            <pc:sldMk cId="1419816550" sldId="536"/>
            <ac:graphicFrameMk id="4" creationId="{176BAF2A-5136-E457-9AAC-D0878752F10C}"/>
          </ac:graphicFrameMkLst>
        </pc:graphicFrameChg>
        <pc:graphicFrameChg chg="modGraphic">
          <ac:chgData name="Taylor Davis" userId="5c9e72a0-c39f-4aa1-9d7d-64125e78cbe6" providerId="ADAL" clId="{1F77BE19-4B2E-4E5C-A76B-7A35EF97426C}" dt="2024-11-07T16:54:52.948" v="2245" actId="207"/>
          <ac:graphicFrameMkLst>
            <pc:docMk/>
            <pc:sldMk cId="1419816550" sldId="536"/>
            <ac:graphicFrameMk id="7" creationId="{32A51F3A-032C-30E2-F635-DD59B5A29A34}"/>
          </ac:graphicFrameMkLst>
        </pc:graphicFrameChg>
      </pc:sldChg>
      <pc:sldChg chg="modSp add mod">
        <pc:chgData name="Taylor Davis" userId="5c9e72a0-c39f-4aa1-9d7d-64125e78cbe6" providerId="ADAL" clId="{1F77BE19-4B2E-4E5C-A76B-7A35EF97426C}" dt="2024-11-07T16:27:42.843" v="1521" actId="122"/>
        <pc:sldMkLst>
          <pc:docMk/>
          <pc:sldMk cId="3892560184" sldId="547"/>
        </pc:sldMkLst>
        <pc:spChg chg="mod">
          <ac:chgData name="Taylor Davis" userId="5c9e72a0-c39f-4aa1-9d7d-64125e78cbe6" providerId="ADAL" clId="{1F77BE19-4B2E-4E5C-A76B-7A35EF97426C}" dt="2024-11-07T16:27:42.843" v="1521" actId="122"/>
          <ac:spMkLst>
            <pc:docMk/>
            <pc:sldMk cId="3892560184" sldId="547"/>
            <ac:spMk id="2" creationId="{29D06256-72DC-B631-BBA3-69573AD2A8ED}"/>
          </ac:spMkLst>
        </pc:spChg>
      </pc:sldChg>
      <pc:sldChg chg="modSp add mod">
        <pc:chgData name="Taylor Davis" userId="5c9e72a0-c39f-4aa1-9d7d-64125e78cbe6" providerId="ADAL" clId="{1F77BE19-4B2E-4E5C-A76B-7A35EF97426C}" dt="2024-11-07T16:27:58.422" v="1529" actId="404"/>
        <pc:sldMkLst>
          <pc:docMk/>
          <pc:sldMk cId="304424432" sldId="548"/>
        </pc:sldMkLst>
        <pc:spChg chg="mod">
          <ac:chgData name="Taylor Davis" userId="5c9e72a0-c39f-4aa1-9d7d-64125e78cbe6" providerId="ADAL" clId="{1F77BE19-4B2E-4E5C-A76B-7A35EF97426C}" dt="2024-11-07T16:27:58.422" v="1529" actId="404"/>
          <ac:spMkLst>
            <pc:docMk/>
            <pc:sldMk cId="304424432" sldId="548"/>
            <ac:spMk id="2" creationId="{85B1AD69-803F-89AE-EE38-2B87E7EF50D3}"/>
          </ac:spMkLst>
        </pc:spChg>
      </pc:sldChg>
      <pc:sldChg chg="add del">
        <pc:chgData name="Taylor Davis" userId="5c9e72a0-c39f-4aa1-9d7d-64125e78cbe6" providerId="ADAL" clId="{1F77BE19-4B2E-4E5C-A76B-7A35EF97426C}" dt="2024-11-07T16:26:44.987" v="1516" actId="47"/>
        <pc:sldMkLst>
          <pc:docMk/>
          <pc:sldMk cId="315794589" sldId="548"/>
        </pc:sldMkLst>
      </pc:sldChg>
      <pc:sldChg chg="modSp add del mod">
        <pc:chgData name="Taylor Davis" userId="5c9e72a0-c39f-4aa1-9d7d-64125e78cbe6" providerId="ADAL" clId="{1F77BE19-4B2E-4E5C-A76B-7A35EF97426C}" dt="2024-11-07T16:51:50.959" v="2199" actId="1036"/>
        <pc:sldMkLst>
          <pc:docMk/>
          <pc:sldMk cId="3470905217" sldId="558"/>
        </pc:sldMkLst>
        <pc:spChg chg="mod">
          <ac:chgData name="Taylor Davis" userId="5c9e72a0-c39f-4aa1-9d7d-64125e78cbe6" providerId="ADAL" clId="{1F77BE19-4B2E-4E5C-A76B-7A35EF97426C}" dt="2024-11-07T16:51:21.880" v="2179" actId="2711"/>
          <ac:spMkLst>
            <pc:docMk/>
            <pc:sldMk cId="3470905217" sldId="558"/>
            <ac:spMk id="2" creationId="{CE020CCE-F739-8633-848E-AA7349974A46}"/>
          </ac:spMkLst>
        </pc:spChg>
        <pc:spChg chg="mod">
          <ac:chgData name="Taylor Davis" userId="5c9e72a0-c39f-4aa1-9d7d-64125e78cbe6" providerId="ADAL" clId="{1F77BE19-4B2E-4E5C-A76B-7A35EF97426C}" dt="2024-11-07T16:51:50.959" v="2199" actId="1036"/>
          <ac:spMkLst>
            <pc:docMk/>
            <pc:sldMk cId="3470905217" sldId="558"/>
            <ac:spMk id="7" creationId="{7B828AB6-CD3A-4CD3-8950-2942DDBEAC0D}"/>
          </ac:spMkLst>
        </pc:spChg>
        <pc:spChg chg="mod">
          <ac:chgData name="Taylor Davis" userId="5c9e72a0-c39f-4aa1-9d7d-64125e78cbe6" providerId="ADAL" clId="{1F77BE19-4B2E-4E5C-A76B-7A35EF97426C}" dt="2024-11-07T16:25:22.534" v="1515" actId="20577"/>
          <ac:spMkLst>
            <pc:docMk/>
            <pc:sldMk cId="3470905217" sldId="558"/>
            <ac:spMk id="8" creationId="{025AE6BF-C458-13D4-626E-DAD4C1439055}"/>
          </ac:spMkLst>
        </pc:spChg>
        <pc:spChg chg="mod">
          <ac:chgData name="Taylor Davis" userId="5c9e72a0-c39f-4aa1-9d7d-64125e78cbe6" providerId="ADAL" clId="{1F77BE19-4B2E-4E5C-A76B-7A35EF97426C}" dt="2024-11-07T16:51:50.959" v="2199" actId="1036"/>
          <ac:spMkLst>
            <pc:docMk/>
            <pc:sldMk cId="3470905217" sldId="558"/>
            <ac:spMk id="12" creationId="{950E697A-C380-A6EE-50AE-8B3DED34929F}"/>
          </ac:spMkLst>
        </pc:spChg>
        <pc:spChg chg="mod">
          <ac:chgData name="Taylor Davis" userId="5c9e72a0-c39f-4aa1-9d7d-64125e78cbe6" providerId="ADAL" clId="{1F77BE19-4B2E-4E5C-A76B-7A35EF97426C}" dt="2024-11-07T16:51:34.815" v="2183" actId="14100"/>
          <ac:spMkLst>
            <pc:docMk/>
            <pc:sldMk cId="3470905217" sldId="558"/>
            <ac:spMk id="21" creationId="{2DAB5DAF-375F-8C08-74DE-3B9B1A009F39}"/>
          </ac:spMkLst>
        </pc:spChg>
      </pc:sldChg>
      <pc:sldChg chg="del">
        <pc:chgData name="Taylor Davis" userId="5c9e72a0-c39f-4aa1-9d7d-64125e78cbe6" providerId="ADAL" clId="{1F77BE19-4B2E-4E5C-A76B-7A35EF97426C}" dt="2024-11-07T16:26:50.968" v="1517" actId="47"/>
        <pc:sldMkLst>
          <pc:docMk/>
          <pc:sldMk cId="636727059" sldId="577"/>
        </pc:sldMkLst>
      </pc:sldChg>
      <pc:sldChg chg="delSp modSp mod">
        <pc:chgData name="Taylor Davis" userId="5c9e72a0-c39f-4aa1-9d7d-64125e78cbe6" providerId="ADAL" clId="{1F77BE19-4B2E-4E5C-A76B-7A35EF97426C}" dt="2024-11-07T21:30:07.578" v="2266" actId="478"/>
        <pc:sldMkLst>
          <pc:docMk/>
          <pc:sldMk cId="4226387632" sldId="588"/>
        </pc:sldMkLst>
        <pc:spChg chg="del">
          <ac:chgData name="Taylor Davis" userId="5c9e72a0-c39f-4aa1-9d7d-64125e78cbe6" providerId="ADAL" clId="{1F77BE19-4B2E-4E5C-A76B-7A35EF97426C}" dt="2024-11-07T21:30:07.578" v="2266" actId="478"/>
          <ac:spMkLst>
            <pc:docMk/>
            <pc:sldMk cId="4226387632" sldId="588"/>
            <ac:spMk id="4" creationId="{5B7ED6C0-8F5A-E466-1292-3B4C11CCB9F1}"/>
          </ac:spMkLst>
        </pc:spChg>
        <pc:spChg chg="mod">
          <ac:chgData name="Taylor Davis" userId="5c9e72a0-c39f-4aa1-9d7d-64125e78cbe6" providerId="ADAL" clId="{1F77BE19-4B2E-4E5C-A76B-7A35EF97426C}" dt="2024-11-07T16:58:47.875" v="2262" actId="1076"/>
          <ac:spMkLst>
            <pc:docMk/>
            <pc:sldMk cId="4226387632" sldId="588"/>
            <ac:spMk id="6" creationId="{6086B112-27E4-3EA1-B673-36BBD6EF784A}"/>
          </ac:spMkLst>
        </pc:spChg>
      </pc:sldChg>
      <pc:sldChg chg="modSp mod">
        <pc:chgData name="Taylor Davis" userId="5c9e72a0-c39f-4aa1-9d7d-64125e78cbe6" providerId="ADAL" clId="{1F77BE19-4B2E-4E5C-A76B-7A35EF97426C}" dt="2024-11-07T16:52:48.294" v="2204" actId="20577"/>
        <pc:sldMkLst>
          <pc:docMk/>
          <pc:sldMk cId="4166728828" sldId="597"/>
        </pc:sldMkLst>
        <pc:graphicFrameChg chg="mod modGraphic">
          <ac:chgData name="Taylor Davis" userId="5c9e72a0-c39f-4aa1-9d7d-64125e78cbe6" providerId="ADAL" clId="{1F77BE19-4B2E-4E5C-A76B-7A35EF97426C}" dt="2024-11-07T16:52:48.294" v="2204" actId="20577"/>
          <ac:graphicFrameMkLst>
            <pc:docMk/>
            <pc:sldMk cId="4166728828" sldId="597"/>
            <ac:graphicFrameMk id="8" creationId="{0074741D-2B9A-0122-543B-08154EC422A8}"/>
          </ac:graphicFrameMkLst>
        </pc:graphicFrameChg>
      </pc:sldChg>
      <pc:sldChg chg="modSp add del mod">
        <pc:chgData name="Taylor Davis" userId="5c9e72a0-c39f-4aa1-9d7d-64125e78cbe6" providerId="ADAL" clId="{1F77BE19-4B2E-4E5C-A76B-7A35EF97426C}" dt="2024-11-07T17:08:58.299" v="2265" actId="2711"/>
        <pc:sldMkLst>
          <pc:docMk/>
          <pc:sldMk cId="3874698132" sldId="598"/>
        </pc:sldMkLst>
        <pc:spChg chg="mod">
          <ac:chgData name="Taylor Davis" userId="5c9e72a0-c39f-4aa1-9d7d-64125e78cbe6" providerId="ADAL" clId="{1F77BE19-4B2E-4E5C-A76B-7A35EF97426C}" dt="2024-11-07T17:08:58.299" v="2265" actId="2711"/>
          <ac:spMkLst>
            <pc:docMk/>
            <pc:sldMk cId="3874698132" sldId="598"/>
            <ac:spMk id="5" creationId="{A51C7283-DD26-DFEE-3866-33D92B2775BB}"/>
          </ac:spMkLst>
        </pc:spChg>
      </pc:sldChg>
      <pc:sldChg chg="del">
        <pc:chgData name="Taylor Davis" userId="5c9e72a0-c39f-4aa1-9d7d-64125e78cbe6" providerId="ADAL" clId="{1F77BE19-4B2E-4E5C-A76B-7A35EF97426C}" dt="2024-11-07T16:27:01.460" v="1518" actId="47"/>
        <pc:sldMkLst>
          <pc:docMk/>
          <pc:sldMk cId="2370177083" sldId="600"/>
        </pc:sldMkLst>
      </pc:sldChg>
      <pc:sldChg chg="del">
        <pc:chgData name="Taylor Davis" userId="5c9e72a0-c39f-4aa1-9d7d-64125e78cbe6" providerId="ADAL" clId="{1F77BE19-4B2E-4E5C-A76B-7A35EF97426C}" dt="2024-11-07T16:27:01.460" v="1518" actId="47"/>
        <pc:sldMkLst>
          <pc:docMk/>
          <pc:sldMk cId="3818184213" sldId="603"/>
        </pc:sldMkLst>
      </pc:sldChg>
      <pc:sldChg chg="addSp modSp mod">
        <pc:chgData name="Taylor Davis" userId="5c9e72a0-c39f-4aa1-9d7d-64125e78cbe6" providerId="ADAL" clId="{1F77BE19-4B2E-4E5C-A76B-7A35EF97426C}" dt="2024-11-07T16:46:03.657" v="2176" actId="255"/>
        <pc:sldMkLst>
          <pc:docMk/>
          <pc:sldMk cId="787795134" sldId="604"/>
        </pc:sldMkLst>
        <pc:spChg chg="add mod">
          <ac:chgData name="Taylor Davis" userId="5c9e72a0-c39f-4aa1-9d7d-64125e78cbe6" providerId="ADAL" clId="{1F77BE19-4B2E-4E5C-A76B-7A35EF97426C}" dt="2024-11-07T16:46:03.657" v="2176" actId="255"/>
          <ac:spMkLst>
            <pc:docMk/>
            <pc:sldMk cId="787795134" sldId="604"/>
            <ac:spMk id="6" creationId="{2B118C58-151E-FF56-DD04-B1A9B911A18D}"/>
          </ac:spMkLst>
        </pc:spChg>
        <pc:spChg chg="add mod">
          <ac:chgData name="Taylor Davis" userId="5c9e72a0-c39f-4aa1-9d7d-64125e78cbe6" providerId="ADAL" clId="{1F77BE19-4B2E-4E5C-A76B-7A35EF97426C}" dt="2024-11-07T16:45:39.470" v="2173" actId="1076"/>
          <ac:spMkLst>
            <pc:docMk/>
            <pc:sldMk cId="787795134" sldId="604"/>
            <ac:spMk id="7" creationId="{2E38E1D0-4228-A5B4-2D03-270E49C5AC78}"/>
          </ac:spMkLst>
        </pc:spChg>
        <pc:picChg chg="mod modCrop">
          <ac:chgData name="Taylor Davis" userId="5c9e72a0-c39f-4aa1-9d7d-64125e78cbe6" providerId="ADAL" clId="{1F77BE19-4B2E-4E5C-A76B-7A35EF97426C}" dt="2024-11-07T16:45:45.638" v="2174" actId="1076"/>
          <ac:picMkLst>
            <pc:docMk/>
            <pc:sldMk cId="787795134" sldId="604"/>
            <ac:picMk id="14" creationId="{5B798B96-2688-86C0-9572-C8CEBF77ED26}"/>
          </ac:picMkLst>
        </pc:picChg>
      </pc:sldChg>
      <pc:sldChg chg="del">
        <pc:chgData name="Taylor Davis" userId="5c9e72a0-c39f-4aa1-9d7d-64125e78cbe6" providerId="ADAL" clId="{1F77BE19-4B2E-4E5C-A76B-7A35EF97426C}" dt="2024-11-07T16:27:01.460" v="1518" actId="47"/>
        <pc:sldMkLst>
          <pc:docMk/>
          <pc:sldMk cId="1045611956" sldId="605"/>
        </pc:sldMkLst>
      </pc:sldChg>
      <pc:sldChg chg="del">
        <pc:chgData name="Taylor Davis" userId="5c9e72a0-c39f-4aa1-9d7d-64125e78cbe6" providerId="ADAL" clId="{1F77BE19-4B2E-4E5C-A76B-7A35EF97426C}" dt="2024-11-07T16:27:01.460" v="1518" actId="47"/>
        <pc:sldMkLst>
          <pc:docMk/>
          <pc:sldMk cId="170902686" sldId="606"/>
        </pc:sldMkLst>
      </pc:sldChg>
      <pc:sldChg chg="del">
        <pc:chgData name="Taylor Davis" userId="5c9e72a0-c39f-4aa1-9d7d-64125e78cbe6" providerId="ADAL" clId="{1F77BE19-4B2E-4E5C-A76B-7A35EF97426C}" dt="2024-11-07T16:27:01.460" v="1518" actId="47"/>
        <pc:sldMkLst>
          <pc:docMk/>
          <pc:sldMk cId="1584477107" sldId="607"/>
        </pc:sldMkLst>
      </pc:sldChg>
      <pc:sldChg chg="del">
        <pc:chgData name="Taylor Davis" userId="5c9e72a0-c39f-4aa1-9d7d-64125e78cbe6" providerId="ADAL" clId="{1F77BE19-4B2E-4E5C-A76B-7A35EF97426C}" dt="2024-11-07T16:27:01.460" v="1518" actId="47"/>
        <pc:sldMkLst>
          <pc:docMk/>
          <pc:sldMk cId="883083240" sldId="608"/>
        </pc:sldMkLst>
      </pc:sldChg>
      <pc:sldChg chg="addSp delSp modSp mod">
        <pc:chgData name="Taylor Davis" userId="5c9e72a0-c39f-4aa1-9d7d-64125e78cbe6" providerId="ADAL" clId="{1F77BE19-4B2E-4E5C-A76B-7A35EF97426C}" dt="2024-11-07T16:20:50.779" v="1321" actId="20577"/>
        <pc:sldMkLst>
          <pc:docMk/>
          <pc:sldMk cId="1361868271" sldId="609"/>
        </pc:sldMkLst>
        <pc:spChg chg="add del mod">
          <ac:chgData name="Taylor Davis" userId="5c9e72a0-c39f-4aa1-9d7d-64125e78cbe6" providerId="ADAL" clId="{1F77BE19-4B2E-4E5C-A76B-7A35EF97426C}" dt="2024-11-07T16:20:50.779" v="1321" actId="20577"/>
          <ac:spMkLst>
            <pc:docMk/>
            <pc:sldMk cId="1361868271" sldId="609"/>
            <ac:spMk id="4" creationId="{7F8FCB88-EDD7-4D7E-5A9B-AC06F9343283}"/>
          </ac:spMkLst>
        </pc:spChg>
        <pc:spChg chg="add del mod">
          <ac:chgData name="Taylor Davis" userId="5c9e72a0-c39f-4aa1-9d7d-64125e78cbe6" providerId="ADAL" clId="{1F77BE19-4B2E-4E5C-A76B-7A35EF97426C}" dt="2024-11-07T16:12:10.571" v="584" actId="478"/>
          <ac:spMkLst>
            <pc:docMk/>
            <pc:sldMk cId="1361868271" sldId="609"/>
            <ac:spMk id="6" creationId="{070E9459-6621-D2B5-185E-68BC7538BE0D}"/>
          </ac:spMkLst>
        </pc:spChg>
        <pc:spChg chg="add del mod">
          <ac:chgData name="Taylor Davis" userId="5c9e72a0-c39f-4aa1-9d7d-64125e78cbe6" providerId="ADAL" clId="{1F77BE19-4B2E-4E5C-A76B-7A35EF97426C}" dt="2024-11-07T16:15:52.981" v="641" actId="478"/>
          <ac:spMkLst>
            <pc:docMk/>
            <pc:sldMk cId="1361868271" sldId="609"/>
            <ac:spMk id="9" creationId="{1341AFA3-5ADB-EA29-F8F9-9723290E9B2A}"/>
          </ac:spMkLst>
        </pc:spChg>
        <pc:spChg chg="add del mod">
          <ac:chgData name="Taylor Davis" userId="5c9e72a0-c39f-4aa1-9d7d-64125e78cbe6" providerId="ADAL" clId="{1F77BE19-4B2E-4E5C-A76B-7A35EF97426C}" dt="2024-11-07T16:15:52.981" v="641" actId="478"/>
          <ac:spMkLst>
            <pc:docMk/>
            <pc:sldMk cId="1361868271" sldId="609"/>
            <ac:spMk id="11" creationId="{0914407C-041E-1915-BC17-35F6B8646036}"/>
          </ac:spMkLst>
        </pc:spChg>
        <pc:spChg chg="add del mod">
          <ac:chgData name="Taylor Davis" userId="5c9e72a0-c39f-4aa1-9d7d-64125e78cbe6" providerId="ADAL" clId="{1F77BE19-4B2E-4E5C-A76B-7A35EF97426C}" dt="2024-11-07T16:15:52.981" v="641" actId="478"/>
          <ac:spMkLst>
            <pc:docMk/>
            <pc:sldMk cId="1361868271" sldId="609"/>
            <ac:spMk id="12" creationId="{6735E5C1-8E0A-615C-EBCB-30D761089511}"/>
          </ac:spMkLst>
        </pc:spChg>
        <pc:spChg chg="add del mod">
          <ac:chgData name="Taylor Davis" userId="5c9e72a0-c39f-4aa1-9d7d-64125e78cbe6" providerId="ADAL" clId="{1F77BE19-4B2E-4E5C-A76B-7A35EF97426C}" dt="2024-11-07T16:15:52.981" v="641" actId="478"/>
          <ac:spMkLst>
            <pc:docMk/>
            <pc:sldMk cId="1361868271" sldId="609"/>
            <ac:spMk id="13" creationId="{ED56DD61-4A4B-7DC8-C65F-45959E916F27}"/>
          </ac:spMkLst>
        </pc:spChg>
        <pc:spChg chg="add del mod">
          <ac:chgData name="Taylor Davis" userId="5c9e72a0-c39f-4aa1-9d7d-64125e78cbe6" providerId="ADAL" clId="{1F77BE19-4B2E-4E5C-A76B-7A35EF97426C}" dt="2024-11-07T16:15:52.981" v="641" actId="478"/>
          <ac:spMkLst>
            <pc:docMk/>
            <pc:sldMk cId="1361868271" sldId="609"/>
            <ac:spMk id="14" creationId="{B53CDEC5-6AA0-02FD-FC2F-59BB57DC57A2}"/>
          </ac:spMkLst>
        </pc:spChg>
        <pc:spChg chg="add del mod">
          <ac:chgData name="Taylor Davis" userId="5c9e72a0-c39f-4aa1-9d7d-64125e78cbe6" providerId="ADAL" clId="{1F77BE19-4B2E-4E5C-A76B-7A35EF97426C}" dt="2024-11-07T16:15:52.981" v="641" actId="478"/>
          <ac:spMkLst>
            <pc:docMk/>
            <pc:sldMk cId="1361868271" sldId="609"/>
            <ac:spMk id="15" creationId="{8F66DE75-A7E2-222E-2AED-614893D3D74B}"/>
          </ac:spMkLst>
        </pc:spChg>
        <pc:graphicFrameChg chg="add del">
          <ac:chgData name="Taylor Davis" userId="5c9e72a0-c39f-4aa1-9d7d-64125e78cbe6" providerId="ADAL" clId="{1F77BE19-4B2E-4E5C-A76B-7A35EF97426C}" dt="2024-11-07T16:11:45.189" v="581" actId="26606"/>
          <ac:graphicFrameMkLst>
            <pc:docMk/>
            <pc:sldMk cId="1361868271" sldId="609"/>
            <ac:graphicFrameMk id="29" creationId="{1B6E3392-E614-9282-2E4F-1F38A17A053B}"/>
          </ac:graphicFrameMkLst>
        </pc:graphicFrameChg>
      </pc:sldChg>
      <pc:sldChg chg="new del">
        <pc:chgData name="Taylor Davis" userId="5c9e72a0-c39f-4aa1-9d7d-64125e78cbe6" providerId="ADAL" clId="{1F77BE19-4B2E-4E5C-A76B-7A35EF97426C}" dt="2024-11-07T16:27:01.460" v="1518" actId="47"/>
        <pc:sldMkLst>
          <pc:docMk/>
          <pc:sldMk cId="2330798045" sldId="610"/>
        </pc:sldMkLst>
      </pc:sldChg>
      <pc:sldChg chg="modSp add del mod">
        <pc:chgData name="Taylor Davis" userId="5c9e72a0-c39f-4aa1-9d7d-64125e78cbe6" providerId="ADAL" clId="{1F77BE19-4B2E-4E5C-A76B-7A35EF97426C}" dt="2024-11-07T16:16:20.946" v="644" actId="47"/>
        <pc:sldMkLst>
          <pc:docMk/>
          <pc:sldMk cId="2356723564" sldId="611"/>
        </pc:sldMkLst>
        <pc:spChg chg="mod">
          <ac:chgData name="Taylor Davis" userId="5c9e72a0-c39f-4aa1-9d7d-64125e78cbe6" providerId="ADAL" clId="{1F77BE19-4B2E-4E5C-A76B-7A35EF97426C}" dt="2024-11-07T16:10:43.955" v="574" actId="20577"/>
          <ac:spMkLst>
            <pc:docMk/>
            <pc:sldMk cId="2356723564" sldId="611"/>
            <ac:spMk id="4" creationId="{E064383A-1E78-765F-8E29-EAA31C0B2BF1}"/>
          </ac:spMkLst>
        </pc:spChg>
        <pc:spChg chg="mod">
          <ac:chgData name="Taylor Davis" userId="5c9e72a0-c39f-4aa1-9d7d-64125e78cbe6" providerId="ADAL" clId="{1F77BE19-4B2E-4E5C-A76B-7A35EF97426C}" dt="2024-11-07T16:07:53.770" v="487" actId="20577"/>
          <ac:spMkLst>
            <pc:docMk/>
            <pc:sldMk cId="2356723564" sldId="611"/>
            <ac:spMk id="27" creationId="{39B742E9-C374-0163-F2EA-1F0A255CAF28}"/>
          </ac:spMkLst>
        </pc:spChg>
      </pc:sldChg>
      <pc:sldChg chg="modSp add mod">
        <pc:chgData name="Taylor Davis" userId="5c9e72a0-c39f-4aa1-9d7d-64125e78cbe6" providerId="ADAL" clId="{1F77BE19-4B2E-4E5C-A76B-7A35EF97426C}" dt="2024-11-07T16:22:02.906" v="1477" actId="20577"/>
        <pc:sldMkLst>
          <pc:docMk/>
          <pc:sldMk cId="3625059093" sldId="611"/>
        </pc:sldMkLst>
        <pc:spChg chg="mod">
          <ac:chgData name="Taylor Davis" userId="5c9e72a0-c39f-4aa1-9d7d-64125e78cbe6" providerId="ADAL" clId="{1F77BE19-4B2E-4E5C-A76B-7A35EF97426C}" dt="2024-11-07T16:21:47.820" v="1440" actId="20577"/>
          <ac:spMkLst>
            <pc:docMk/>
            <pc:sldMk cId="3625059093" sldId="611"/>
            <ac:spMk id="4" creationId="{389B951D-D08A-15C7-84CC-4C257CECE26B}"/>
          </ac:spMkLst>
        </pc:spChg>
        <pc:spChg chg="mod">
          <ac:chgData name="Taylor Davis" userId="5c9e72a0-c39f-4aa1-9d7d-64125e78cbe6" providerId="ADAL" clId="{1F77BE19-4B2E-4E5C-A76B-7A35EF97426C}" dt="2024-11-07T16:22:02.906" v="1477" actId="20577"/>
          <ac:spMkLst>
            <pc:docMk/>
            <pc:sldMk cId="3625059093" sldId="611"/>
            <ac:spMk id="27" creationId="{0468DCD4-62FF-8537-00B9-EEF51653A3CF}"/>
          </ac:spMkLst>
        </pc:spChg>
      </pc:sldChg>
      <pc:sldChg chg="addSp delSp modSp add mod ord">
        <pc:chgData name="Taylor Davis" userId="5c9e72a0-c39f-4aa1-9d7d-64125e78cbe6" providerId="ADAL" clId="{1F77BE19-4B2E-4E5C-A76B-7A35EF97426C}" dt="2024-11-07T17:06:31.426" v="2263" actId="14100"/>
        <pc:sldMkLst>
          <pc:docMk/>
          <pc:sldMk cId="4246493365" sldId="612"/>
        </pc:sldMkLst>
        <pc:spChg chg="del">
          <ac:chgData name="Taylor Davis" userId="5c9e72a0-c39f-4aa1-9d7d-64125e78cbe6" providerId="ADAL" clId="{1F77BE19-4B2E-4E5C-A76B-7A35EF97426C}" dt="2024-11-07T16:29:52.047" v="1705" actId="478"/>
          <ac:spMkLst>
            <pc:docMk/>
            <pc:sldMk cId="4246493365" sldId="612"/>
            <ac:spMk id="4" creationId="{92D536BD-8329-BA37-7608-162B44C87486}"/>
          </ac:spMkLst>
        </pc:spChg>
        <pc:spChg chg="add del mod">
          <ac:chgData name="Taylor Davis" userId="5c9e72a0-c39f-4aa1-9d7d-64125e78cbe6" providerId="ADAL" clId="{1F77BE19-4B2E-4E5C-A76B-7A35EF97426C}" dt="2024-11-07T16:29:53.947" v="1706" actId="478"/>
          <ac:spMkLst>
            <pc:docMk/>
            <pc:sldMk cId="4246493365" sldId="612"/>
            <ac:spMk id="7" creationId="{13A8FE9D-5D86-72D4-64D1-5A44A336693A}"/>
          </ac:spMkLst>
        </pc:spChg>
        <pc:spChg chg="add mod">
          <ac:chgData name="Taylor Davis" userId="5c9e72a0-c39f-4aa1-9d7d-64125e78cbe6" providerId="ADAL" clId="{1F77BE19-4B2E-4E5C-A76B-7A35EF97426C}" dt="2024-11-07T16:42:45.644" v="1978" actId="1076"/>
          <ac:spMkLst>
            <pc:docMk/>
            <pc:sldMk cId="4246493365" sldId="612"/>
            <ac:spMk id="19" creationId="{93D759F0-ABBE-F1D2-1FE5-BBA5813AC202}"/>
          </ac:spMkLst>
        </pc:spChg>
        <pc:spChg chg="add mod">
          <ac:chgData name="Taylor Davis" userId="5c9e72a0-c39f-4aa1-9d7d-64125e78cbe6" providerId="ADAL" clId="{1F77BE19-4B2E-4E5C-A76B-7A35EF97426C}" dt="2024-11-07T16:42:41.674" v="1977" actId="1076"/>
          <ac:spMkLst>
            <pc:docMk/>
            <pc:sldMk cId="4246493365" sldId="612"/>
            <ac:spMk id="20" creationId="{90E960F9-80CD-9B92-C447-18EE3C1476C8}"/>
          </ac:spMkLst>
        </pc:spChg>
        <pc:spChg chg="mod">
          <ac:chgData name="Taylor Davis" userId="5c9e72a0-c39f-4aa1-9d7d-64125e78cbe6" providerId="ADAL" clId="{1F77BE19-4B2E-4E5C-A76B-7A35EF97426C}" dt="2024-11-07T16:43:36.916" v="2000" actId="20577"/>
          <ac:spMkLst>
            <pc:docMk/>
            <pc:sldMk cId="4246493365" sldId="612"/>
            <ac:spMk id="27" creationId="{A363FE8B-56C4-6B32-3042-FA1039A4CDF7}"/>
          </ac:spMkLst>
        </pc:spChg>
        <pc:graphicFrameChg chg="add del mod">
          <ac:chgData name="Taylor Davis" userId="5c9e72a0-c39f-4aa1-9d7d-64125e78cbe6" providerId="ADAL" clId="{1F77BE19-4B2E-4E5C-A76B-7A35EF97426C}" dt="2024-11-07T16:35:48.857" v="1748" actId="478"/>
          <ac:graphicFrameMkLst>
            <pc:docMk/>
            <pc:sldMk cId="4246493365" sldId="612"/>
            <ac:graphicFrameMk id="10" creationId="{15959190-4C0D-8775-398B-182462578D0C}"/>
          </ac:graphicFrameMkLst>
        </pc:graphicFrameChg>
        <pc:graphicFrameChg chg="add mod">
          <ac:chgData name="Taylor Davis" userId="5c9e72a0-c39f-4aa1-9d7d-64125e78cbe6" providerId="ADAL" clId="{1F77BE19-4B2E-4E5C-A76B-7A35EF97426C}" dt="2024-11-07T16:40:03.976" v="1781" actId="1076"/>
          <ac:graphicFrameMkLst>
            <pc:docMk/>
            <pc:sldMk cId="4246493365" sldId="612"/>
            <ac:graphicFrameMk id="13" creationId="{2FDC37FB-F9CB-CB51-3444-07C987959459}"/>
          </ac:graphicFrameMkLst>
        </pc:graphicFrameChg>
        <pc:cxnChg chg="add mod">
          <ac:chgData name="Taylor Davis" userId="5c9e72a0-c39f-4aa1-9d7d-64125e78cbe6" providerId="ADAL" clId="{1F77BE19-4B2E-4E5C-A76B-7A35EF97426C}" dt="2024-11-07T16:42:55.561" v="1979" actId="14100"/>
          <ac:cxnSpMkLst>
            <pc:docMk/>
            <pc:sldMk cId="4246493365" sldId="612"/>
            <ac:cxnSpMk id="15" creationId="{4F7F9C2D-FC89-FE2F-3E35-0FD7EF539AB6}"/>
          </ac:cxnSpMkLst>
        </pc:cxnChg>
        <pc:cxnChg chg="add mod">
          <ac:chgData name="Taylor Davis" userId="5c9e72a0-c39f-4aa1-9d7d-64125e78cbe6" providerId="ADAL" clId="{1F77BE19-4B2E-4E5C-A76B-7A35EF97426C}" dt="2024-11-07T17:06:31.426" v="2263" actId="14100"/>
          <ac:cxnSpMkLst>
            <pc:docMk/>
            <pc:sldMk cId="4246493365" sldId="612"/>
            <ac:cxnSpMk id="17" creationId="{47344484-8402-A263-F466-E2DCFDA5D226}"/>
          </ac:cxnSpMkLst>
        </pc:cxnChg>
      </pc:sldChg>
      <pc:sldChg chg="modSp add mod">
        <pc:chgData name="Taylor Davis" userId="5c9e72a0-c39f-4aa1-9d7d-64125e78cbe6" providerId="ADAL" clId="{1F77BE19-4B2E-4E5C-A76B-7A35EF97426C}" dt="2024-11-07T16:54:18.309" v="2240" actId="2711"/>
        <pc:sldMkLst>
          <pc:docMk/>
          <pc:sldMk cId="315794589" sldId="613"/>
        </pc:sldMkLst>
        <pc:spChg chg="mod">
          <ac:chgData name="Taylor Davis" userId="5c9e72a0-c39f-4aa1-9d7d-64125e78cbe6" providerId="ADAL" clId="{1F77BE19-4B2E-4E5C-A76B-7A35EF97426C}" dt="2024-11-07T16:54:18.309" v="2240" actId="2711"/>
          <ac:spMkLst>
            <pc:docMk/>
            <pc:sldMk cId="315794589" sldId="613"/>
            <ac:spMk id="3" creationId="{C0B88E4A-751F-FB75-BED6-F09D9D7F21CD}"/>
          </ac:spMkLst>
        </pc:spChg>
      </pc:sldChg>
      <pc:sldChg chg="delSp add del mod">
        <pc:chgData name="Taylor Davis" userId="5c9e72a0-c39f-4aa1-9d7d-64125e78cbe6" providerId="ADAL" clId="{1F77BE19-4B2E-4E5C-A76B-7A35EF97426C}" dt="2024-11-07T16:44:02.887" v="2001" actId="47"/>
        <pc:sldMkLst>
          <pc:docMk/>
          <pc:sldMk cId="3983728823" sldId="613"/>
        </pc:sldMkLst>
        <pc:graphicFrameChg chg="del">
          <ac:chgData name="Taylor Davis" userId="5c9e72a0-c39f-4aa1-9d7d-64125e78cbe6" providerId="ADAL" clId="{1F77BE19-4B2E-4E5C-A76B-7A35EF97426C}" dt="2024-11-07T16:33:41.733" v="1736" actId="478"/>
          <ac:graphicFrameMkLst>
            <pc:docMk/>
            <pc:sldMk cId="3983728823" sldId="613"/>
            <ac:graphicFrameMk id="10" creationId="{1C6A8044-CA65-4328-7E45-549B0549D152}"/>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6380782480314967E-2"/>
          <c:y val="3.5195562684424579E-2"/>
          <c:w val="0.88955671751968501"/>
          <c:h val="0.80700208686079467"/>
        </c:manualLayout>
      </c:layout>
      <c:barChart>
        <c:barDir val="col"/>
        <c:grouping val="stacked"/>
        <c:varyColors val="0"/>
        <c:ser>
          <c:idx val="0"/>
          <c:order val="0"/>
          <c:tx>
            <c:strRef>
              <c:f>Sheet1!$B$1</c:f>
              <c:strCache>
                <c:ptCount val="1"/>
                <c:pt idx="0">
                  <c:v>Medical Costs</c:v>
                </c:pt>
              </c:strCache>
            </c:strRef>
          </c:tx>
          <c:spPr>
            <a:solidFill>
              <a:schemeClr val="accent1"/>
            </a:solidFill>
            <a:ln>
              <a:noFill/>
            </a:ln>
            <a:effectLst/>
          </c:spPr>
          <c:invertIfNegative val="0"/>
          <c:cat>
            <c:strRef>
              <c:f>Sheet1!$A$2:$A$8</c:f>
              <c:strCache>
                <c:ptCount val="7"/>
                <c:pt idx="0">
                  <c:v>Year T-4</c:v>
                </c:pt>
                <c:pt idx="1">
                  <c:v>Year T-3</c:v>
                </c:pt>
                <c:pt idx="2">
                  <c:v>Year T-2</c:v>
                </c:pt>
                <c:pt idx="3">
                  <c:v>Year T-1</c:v>
                </c:pt>
                <c:pt idx="4">
                  <c:v>Year 1</c:v>
                </c:pt>
                <c:pt idx="5">
                  <c:v>Year 2</c:v>
                </c:pt>
                <c:pt idx="6">
                  <c:v>Year 3</c:v>
                </c:pt>
              </c:strCache>
            </c:strRef>
          </c:cat>
          <c:val>
            <c:numRef>
              <c:f>Sheet1!$B$2:$B$8</c:f>
              <c:numCache>
                <c:formatCode>"$"#,##0.00_);[Red]\("$"#,##0.00\)</c:formatCode>
                <c:ptCount val="7"/>
                <c:pt idx="0" formatCode="&quot;$&quot;#,##0_);[Red]\(&quot;$&quot;#,##0\)">
                  <c:v>8500</c:v>
                </c:pt>
                <c:pt idx="1">
                  <c:v>8925</c:v>
                </c:pt>
                <c:pt idx="2">
                  <c:v>9371.25</c:v>
                </c:pt>
                <c:pt idx="3">
                  <c:v>9839.8125</c:v>
                </c:pt>
                <c:pt idx="4">
                  <c:v>10331.803125</c:v>
                </c:pt>
                <c:pt idx="5">
                  <c:v>10848.393281250001</c:v>
                </c:pt>
                <c:pt idx="6">
                  <c:v>11390.812945312502</c:v>
                </c:pt>
              </c:numCache>
            </c:numRef>
          </c:val>
          <c:extLst>
            <c:ext xmlns:c16="http://schemas.microsoft.com/office/drawing/2014/chart" uri="{C3380CC4-5D6E-409C-BE32-E72D297353CC}">
              <c16:uniqueId val="{00000000-68F1-4C61-B132-10C59C3B3835}"/>
            </c:ext>
          </c:extLst>
        </c:ser>
        <c:ser>
          <c:idx val="1"/>
          <c:order val="1"/>
          <c:tx>
            <c:strRef>
              <c:f>Sheet1!$C$1</c:f>
              <c:strCache>
                <c:ptCount val="1"/>
                <c:pt idx="0">
                  <c:v>Administrative Fees</c:v>
                </c:pt>
              </c:strCache>
            </c:strRef>
          </c:tx>
          <c:spPr>
            <a:solidFill>
              <a:schemeClr val="accent2"/>
            </a:solidFill>
            <a:ln>
              <a:noFill/>
            </a:ln>
            <a:effectLst/>
          </c:spPr>
          <c:invertIfNegative val="0"/>
          <c:cat>
            <c:strRef>
              <c:f>Sheet1!$A$2:$A$8</c:f>
              <c:strCache>
                <c:ptCount val="7"/>
                <c:pt idx="0">
                  <c:v>Year T-4</c:v>
                </c:pt>
                <c:pt idx="1">
                  <c:v>Year T-3</c:v>
                </c:pt>
                <c:pt idx="2">
                  <c:v>Year T-2</c:v>
                </c:pt>
                <c:pt idx="3">
                  <c:v>Year T-1</c:v>
                </c:pt>
                <c:pt idx="4">
                  <c:v>Year 1</c:v>
                </c:pt>
                <c:pt idx="5">
                  <c:v>Year 2</c:v>
                </c:pt>
                <c:pt idx="6">
                  <c:v>Year 3</c:v>
                </c:pt>
              </c:strCache>
            </c:strRef>
          </c:cat>
          <c:val>
            <c:numRef>
              <c:f>Sheet1!$C$2:$C$8</c:f>
              <c:numCache>
                <c:formatCode>"$"#,##0.0_);[Red]\("$"#,##0.0\)</c:formatCode>
                <c:ptCount val="7"/>
                <c:pt idx="0" formatCode="&quot;$&quot;#,##0_);[Red]\(&quot;$&quot;#,##0\)">
                  <c:v>3500</c:v>
                </c:pt>
                <c:pt idx="1">
                  <c:v>3850.0000000000005</c:v>
                </c:pt>
                <c:pt idx="2">
                  <c:v>4235.0000000000009</c:v>
                </c:pt>
                <c:pt idx="3">
                  <c:v>4658.5000000000018</c:v>
                </c:pt>
                <c:pt idx="4" formatCode="&quot;$&quot;#,##0_);[Red]\(&quot;$&quot;#,##0\)">
                  <c:v>600</c:v>
                </c:pt>
                <c:pt idx="5" formatCode="&quot;$&quot;#,##0.00_);[Red]\(&quot;$&quot;#,##0.00\)">
                  <c:v>630</c:v>
                </c:pt>
                <c:pt idx="6" formatCode="&quot;$&quot;#,##0.00_);[Red]\(&quot;$&quot;#,##0.00\)">
                  <c:v>661.5</c:v>
                </c:pt>
              </c:numCache>
            </c:numRef>
          </c:val>
          <c:extLst>
            <c:ext xmlns:c16="http://schemas.microsoft.com/office/drawing/2014/chart" uri="{C3380CC4-5D6E-409C-BE32-E72D297353CC}">
              <c16:uniqueId val="{00000001-68F1-4C61-B132-10C59C3B3835}"/>
            </c:ext>
          </c:extLst>
        </c:ser>
        <c:dLbls>
          <c:showLegendKey val="0"/>
          <c:showVal val="0"/>
          <c:showCatName val="0"/>
          <c:showSerName val="0"/>
          <c:showPercent val="0"/>
          <c:showBubbleSize val="0"/>
        </c:dLbls>
        <c:gapWidth val="150"/>
        <c:overlap val="100"/>
        <c:axId val="2088025103"/>
        <c:axId val="2088025583"/>
      </c:barChart>
      <c:catAx>
        <c:axId val="20880251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88025583"/>
        <c:crosses val="autoZero"/>
        <c:auto val="1"/>
        <c:lblAlgn val="ctr"/>
        <c:lblOffset val="100"/>
        <c:noMultiLvlLbl val="0"/>
      </c:catAx>
      <c:valAx>
        <c:axId val="2088025583"/>
        <c:scaling>
          <c:orientation val="minMax"/>
        </c:scaling>
        <c:delete val="0"/>
        <c:axPos val="l"/>
        <c:majorGridlines>
          <c:spPr>
            <a:ln w="9525" cap="flat" cmpd="sng" algn="ctr">
              <a:solidFill>
                <a:schemeClr val="tx1">
                  <a:lumMod val="15000"/>
                  <a:lumOff val="85000"/>
                </a:schemeClr>
              </a:solidFill>
              <a:round/>
            </a:ln>
            <a:effectLst/>
          </c:spPr>
        </c:majorGridlines>
        <c:numFmt formatCode="&quot;$&quot;#,##0_);[Red]\(&quot;$&quot;#,##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880251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11/7/2024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11/7/2024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11/7/2024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11/7/2024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11/7/2024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11/7/2024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11/7/2024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11/7/2024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11/7/2024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11/7/2024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11/7/2024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11/7/2024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11/7/2024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Explore Downtown - Portland Downtown">
            <a:extLst>
              <a:ext uri="{FF2B5EF4-FFF2-40B4-BE49-F238E27FC236}">
                <a16:creationId xmlns:a16="http://schemas.microsoft.com/office/drawing/2014/main" id="{B6DE48AF-9511-DAEA-9431-56A06FFBF3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469" r="16784"/>
          <a:stretch/>
        </p:blipFill>
        <p:spPr bwMode="auto">
          <a:xfrm>
            <a:off x="6096000" y="0"/>
            <a:ext cx="626745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FE9385F4-6849-73EA-0BE2-48EEEB3666C9}"/>
              </a:ext>
            </a:extLst>
          </p:cNvPr>
          <p:cNvSpPr>
            <a:spLocks noGrp="1"/>
          </p:cNvSpPr>
          <p:nvPr>
            <p:ph type="sldNum" sz="quarter" idx="12"/>
          </p:nvPr>
        </p:nvSpPr>
        <p:spPr/>
        <p:txBody>
          <a:bodyPr/>
          <a:lstStyle/>
          <a:p>
            <a:fld id="{3AFC719D-C4A7-4544-876E-D411D11AF6C9}" type="slidenum">
              <a:rPr lang="en-US" smtClean="0"/>
              <a:t>1</a:t>
            </a:fld>
            <a:endParaRPr lang="en-US" dirty="0"/>
          </a:p>
        </p:txBody>
      </p:sp>
      <p:pic>
        <p:nvPicPr>
          <p:cNvPr id="1028" name="Picture 4" descr="Wall Street Explained: History, Naming &amp; Importance | Plus500">
            <a:extLst>
              <a:ext uri="{FF2B5EF4-FFF2-40B4-BE49-F238E27FC236}">
                <a16:creationId xmlns:a16="http://schemas.microsoft.com/office/drawing/2014/main" id="{439035C1-3CCB-8153-117E-F43024EA6A3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3391"/>
          <a:stretch/>
        </p:blipFill>
        <p:spPr bwMode="auto">
          <a:xfrm>
            <a:off x="0" y="0"/>
            <a:ext cx="6096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6086B112-27E4-3EA1-B673-36BBD6EF784A}"/>
              </a:ext>
            </a:extLst>
          </p:cNvPr>
          <p:cNvSpPr/>
          <p:nvPr/>
        </p:nvSpPr>
        <p:spPr>
          <a:xfrm>
            <a:off x="2622061" y="2933002"/>
            <a:ext cx="6947877" cy="1320800"/>
          </a:xfrm>
          <a:prstGeom prst="rect">
            <a:avLst/>
          </a:prstGeom>
          <a:solidFill>
            <a:srgbClr val="30589B">
              <a:alpha val="7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Economics of Moving Local Healthcare</a:t>
            </a:r>
          </a:p>
          <a:p>
            <a:pPr algn="ctr"/>
            <a:r>
              <a:rPr lang="en-US" sz="3200" dirty="0"/>
              <a:t>From Wall Street to </a:t>
            </a:r>
            <a:r>
              <a:rPr lang="en-US" sz="3200" i="1" dirty="0"/>
              <a:t>Maine</a:t>
            </a:r>
            <a:r>
              <a:rPr lang="en-US" sz="3200" dirty="0"/>
              <a:t> Street</a:t>
            </a:r>
          </a:p>
        </p:txBody>
      </p:sp>
    </p:spTree>
    <p:extLst>
      <p:ext uri="{BB962C8B-B14F-4D97-AF65-F5344CB8AC3E}">
        <p14:creationId xmlns:p14="http://schemas.microsoft.com/office/powerpoint/2010/main" val="4226387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469119A-7331-1CCD-9641-F328B8155817}"/>
              </a:ext>
            </a:extLst>
          </p:cNvPr>
          <p:cNvSpPr>
            <a:spLocks noGrp="1"/>
          </p:cNvSpPr>
          <p:nvPr>
            <p:ph type="ftr" sz="quarter" idx="11"/>
          </p:nvPr>
        </p:nvSpPr>
        <p:spPr>
          <a:xfrm>
            <a:off x="1012392" y="6369998"/>
            <a:ext cx="4114800" cy="365125"/>
          </a:xfrm>
        </p:spPr>
        <p:txBody>
          <a:bodyPr/>
          <a:lstStyle/>
          <a:p>
            <a:r>
              <a:rPr lang="en-US" dirty="0"/>
              <a:t>Key Benefit Administrators</a:t>
            </a:r>
          </a:p>
        </p:txBody>
      </p:sp>
      <p:pic>
        <p:nvPicPr>
          <p:cNvPr id="14" name="Picture 13">
            <a:extLst>
              <a:ext uri="{FF2B5EF4-FFF2-40B4-BE49-F238E27FC236}">
                <a16:creationId xmlns:a16="http://schemas.microsoft.com/office/drawing/2014/main" id="{5B798B96-2688-86C0-9572-C8CEBF77ED26}"/>
              </a:ext>
            </a:extLst>
          </p:cNvPr>
          <p:cNvPicPr>
            <a:picLocks noChangeAspect="1"/>
          </p:cNvPicPr>
          <p:nvPr/>
        </p:nvPicPr>
        <p:blipFill>
          <a:blip r:embed="rId2"/>
          <a:srcRect l="3727" t="15911" r="88732" b="3603"/>
          <a:stretch/>
        </p:blipFill>
        <p:spPr>
          <a:xfrm>
            <a:off x="2124669" y="3987660"/>
            <a:ext cx="225162" cy="1934943"/>
          </a:xfrm>
          <a:prstGeom prst="rect">
            <a:avLst/>
          </a:prstGeom>
        </p:spPr>
      </p:pic>
      <p:pic>
        <p:nvPicPr>
          <p:cNvPr id="22" name="Picture 21">
            <a:extLst>
              <a:ext uri="{FF2B5EF4-FFF2-40B4-BE49-F238E27FC236}">
                <a16:creationId xmlns:a16="http://schemas.microsoft.com/office/drawing/2014/main" id="{3D40B7C0-6877-2AA5-5AB2-B0DC8309EEE9}"/>
              </a:ext>
            </a:extLst>
          </p:cNvPr>
          <p:cNvPicPr>
            <a:picLocks noChangeAspect="1"/>
          </p:cNvPicPr>
          <p:nvPr/>
        </p:nvPicPr>
        <p:blipFill>
          <a:blip r:embed="rId3"/>
          <a:stretch>
            <a:fillRect/>
          </a:stretch>
        </p:blipFill>
        <p:spPr>
          <a:xfrm>
            <a:off x="6343877" y="12345"/>
            <a:ext cx="5369608" cy="6858000"/>
          </a:xfrm>
          <a:prstGeom prst="rect">
            <a:avLst/>
          </a:prstGeom>
        </p:spPr>
      </p:pic>
      <p:sp>
        <p:nvSpPr>
          <p:cNvPr id="2" name="Rectangle 6">
            <a:extLst>
              <a:ext uri="{FF2B5EF4-FFF2-40B4-BE49-F238E27FC236}">
                <a16:creationId xmlns:a16="http://schemas.microsoft.com/office/drawing/2014/main" id="{748F1600-91B2-19AD-E7CB-E3DD87C15148}"/>
              </a:ext>
            </a:extLst>
          </p:cNvPr>
          <p:cNvSpPr/>
          <p:nvPr/>
        </p:nvSpPr>
        <p:spPr>
          <a:xfrm>
            <a:off x="0" y="0"/>
            <a:ext cx="981075" cy="6858000"/>
          </a:xfrm>
          <a:prstGeom prst="rect">
            <a:avLst/>
          </a:prstGeom>
          <a:solidFill>
            <a:srgbClr val="254F96">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3E6683D6-E3F8-7E6D-D3C9-14E5F9DB6EDF}"/>
              </a:ext>
            </a:extLst>
          </p:cNvPr>
          <p:cNvSpPr>
            <a:spLocks noGrp="1"/>
          </p:cNvSpPr>
          <p:nvPr>
            <p:ph type="title"/>
          </p:nvPr>
        </p:nvSpPr>
        <p:spPr>
          <a:xfrm>
            <a:off x="1290485" y="699233"/>
            <a:ext cx="4557639" cy="1325563"/>
          </a:xfrm>
        </p:spPr>
        <p:txBody>
          <a:bodyPr>
            <a:noAutofit/>
          </a:bodyPr>
          <a:lstStyle/>
          <a:p>
            <a:pPr algn="ctr">
              <a:lnSpc>
                <a:spcPct val="100000"/>
              </a:lnSpc>
              <a:spcBef>
                <a:spcPts val="1800"/>
              </a:spcBef>
              <a:spcAft>
                <a:spcPts val="600"/>
              </a:spcAft>
            </a:pPr>
            <a:r>
              <a:rPr lang="en-US" dirty="0">
                <a:solidFill>
                  <a:srgbClr val="000B2E"/>
                </a:solidFill>
                <a:latin typeface="Garamond" panose="02020404030301010803" pitchFamily="18" charset="0"/>
                <a:cs typeface="Times New Roman" panose="02020603050405020304" pitchFamily="18" charset="0"/>
              </a:rPr>
              <a:t>Market Share by Zip Code</a:t>
            </a:r>
            <a:endParaRPr lang="en-US" sz="1600" dirty="0">
              <a:solidFill>
                <a:schemeClr val="tx1">
                  <a:lumMod val="75000"/>
                  <a:lumOff val="25000"/>
                </a:schemeClr>
              </a:solidFill>
              <a:latin typeface="Garamond" panose="02020404030301010803"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14B693F-1953-7666-8CB0-D85E90ED5D9F}"/>
              </a:ext>
            </a:extLst>
          </p:cNvPr>
          <p:cNvSpPr txBox="1"/>
          <p:nvPr/>
        </p:nvSpPr>
        <p:spPr>
          <a:xfrm>
            <a:off x="1290485" y="2314488"/>
            <a:ext cx="3074796" cy="646331"/>
          </a:xfrm>
          <a:prstGeom prst="rect">
            <a:avLst/>
          </a:prstGeom>
          <a:noFill/>
        </p:spPr>
        <p:txBody>
          <a:bodyPr wrap="square" rtlCol="0">
            <a:spAutoFit/>
          </a:bodyPr>
          <a:lstStyle/>
          <a:p>
            <a:r>
              <a:rPr lang="en-US" dirty="0"/>
              <a:t>Modeled from Medicare Patient Zip Code Data</a:t>
            </a:r>
          </a:p>
        </p:txBody>
      </p:sp>
      <p:sp>
        <p:nvSpPr>
          <p:cNvPr id="6" name="TextBox 5">
            <a:extLst>
              <a:ext uri="{FF2B5EF4-FFF2-40B4-BE49-F238E27FC236}">
                <a16:creationId xmlns:a16="http://schemas.microsoft.com/office/drawing/2014/main" id="{2B118C58-151E-FF56-DD04-B1A9B911A18D}"/>
              </a:ext>
            </a:extLst>
          </p:cNvPr>
          <p:cNvSpPr txBox="1"/>
          <p:nvPr/>
        </p:nvSpPr>
        <p:spPr>
          <a:xfrm>
            <a:off x="2349831" y="3930252"/>
            <a:ext cx="2716128" cy="2139047"/>
          </a:xfrm>
          <a:prstGeom prst="rect">
            <a:avLst/>
          </a:prstGeom>
          <a:noFill/>
        </p:spPr>
        <p:txBody>
          <a:bodyPr wrap="none" rtlCol="0">
            <a:spAutoFit/>
          </a:bodyPr>
          <a:lstStyle/>
          <a:p>
            <a:r>
              <a:rPr lang="en-US" sz="1830" dirty="0"/>
              <a:t>Stand Alone/Other</a:t>
            </a:r>
          </a:p>
          <a:p>
            <a:r>
              <a:rPr lang="en-US" sz="1830" dirty="0"/>
              <a:t>Central Maine Healthcare</a:t>
            </a:r>
          </a:p>
          <a:p>
            <a:r>
              <a:rPr lang="en-US" sz="1830" dirty="0"/>
              <a:t>Covenant Health</a:t>
            </a:r>
          </a:p>
          <a:p>
            <a:r>
              <a:rPr lang="en-US" sz="1830" dirty="0"/>
              <a:t>DECH and CCH</a:t>
            </a:r>
          </a:p>
          <a:p>
            <a:r>
              <a:rPr lang="en-US" sz="1830" dirty="0" err="1"/>
              <a:t>MaineGeneral</a:t>
            </a:r>
            <a:r>
              <a:rPr lang="en-US" sz="1830" dirty="0"/>
              <a:t> Health</a:t>
            </a:r>
          </a:p>
          <a:p>
            <a:r>
              <a:rPr lang="en-US" sz="1830" dirty="0" err="1"/>
              <a:t>MaineHealth</a:t>
            </a:r>
            <a:endParaRPr lang="en-US" sz="1830" dirty="0"/>
          </a:p>
          <a:p>
            <a:r>
              <a:rPr lang="en-US" sz="1830" dirty="0"/>
              <a:t>Northern Light Health</a:t>
            </a:r>
          </a:p>
        </p:txBody>
      </p:sp>
      <p:sp>
        <p:nvSpPr>
          <p:cNvPr id="7" name="TextBox 6">
            <a:extLst>
              <a:ext uri="{FF2B5EF4-FFF2-40B4-BE49-F238E27FC236}">
                <a16:creationId xmlns:a16="http://schemas.microsoft.com/office/drawing/2014/main" id="{2E38E1D0-4228-A5B4-2D03-270E49C5AC78}"/>
              </a:ext>
            </a:extLst>
          </p:cNvPr>
          <p:cNvSpPr txBox="1"/>
          <p:nvPr/>
        </p:nvSpPr>
        <p:spPr>
          <a:xfrm>
            <a:off x="1476828" y="3560920"/>
            <a:ext cx="3723455" cy="369332"/>
          </a:xfrm>
          <a:prstGeom prst="rect">
            <a:avLst/>
          </a:prstGeom>
          <a:noFill/>
        </p:spPr>
        <p:txBody>
          <a:bodyPr wrap="none" rtlCol="0">
            <a:spAutoFit/>
          </a:bodyPr>
          <a:lstStyle/>
          <a:p>
            <a:r>
              <a:rPr lang="en-US" b="1" dirty="0"/>
              <a:t>Dominant Health System by Zip Code</a:t>
            </a:r>
          </a:p>
        </p:txBody>
      </p:sp>
    </p:spTree>
    <p:extLst>
      <p:ext uri="{BB962C8B-B14F-4D97-AF65-F5344CB8AC3E}">
        <p14:creationId xmlns:p14="http://schemas.microsoft.com/office/powerpoint/2010/main" val="787795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normAutofit/>
          </a:bodyPr>
          <a:lstStyle/>
          <a:p>
            <a:pPr algn="ctr"/>
            <a:r>
              <a:rPr lang="en-US" sz="4400" dirty="0" err="1">
                <a:latin typeface="Garamond" panose="02020404030301010803" pitchFamily="18" charset="0"/>
              </a:rPr>
              <a:t>MaineHealth</a:t>
            </a:r>
            <a:r>
              <a:rPr lang="en-US" sz="4400" dirty="0">
                <a:latin typeface="Garamond" panose="02020404030301010803" pitchFamily="18" charset="0"/>
              </a:rPr>
              <a:t> is at the Center of Employer Demand</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919417" y="3013344"/>
            <a:ext cx="6837886" cy="826737"/>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4000" dirty="0">
                <a:solidFill>
                  <a:schemeClr val="bg1"/>
                </a:solidFill>
                <a:latin typeface="Garamond" panose="02020404030301010803" pitchFamily="18" charset="0"/>
                <a:cs typeface="Arial" panose="020B0604020202020204" pitchFamily="34" charset="0"/>
              </a:rPr>
              <a:t>PLAN GROWTH POTENTIAL</a:t>
            </a:r>
          </a:p>
        </p:txBody>
      </p:sp>
      <p:grpSp>
        <p:nvGrpSpPr>
          <p:cNvPr id="84" name="Group 28">
            <a:extLst>
              <a:ext uri="{FF2B5EF4-FFF2-40B4-BE49-F238E27FC236}">
                <a16:creationId xmlns:a16="http://schemas.microsoft.com/office/drawing/2014/main" id="{F56A4691-D57B-93A3-EEBD-7ECEBA41F9B6}"/>
              </a:ext>
            </a:extLst>
          </p:cNvPr>
          <p:cNvGrpSpPr/>
          <p:nvPr/>
        </p:nvGrpSpPr>
        <p:grpSpPr>
          <a:xfrm>
            <a:off x="6852884" y="2007657"/>
            <a:ext cx="3960468" cy="3636786"/>
            <a:chOff x="1724978" y="2161521"/>
            <a:chExt cx="8274685" cy="4307840"/>
          </a:xfrm>
        </p:grpSpPr>
        <p:grpSp>
          <p:nvGrpSpPr>
            <p:cNvPr id="85" name="Group 29">
              <a:extLst>
                <a:ext uri="{FF2B5EF4-FFF2-40B4-BE49-F238E27FC236}">
                  <a16:creationId xmlns:a16="http://schemas.microsoft.com/office/drawing/2014/main" id="{853BC148-CA55-8045-C7CA-F5265438BE8D}"/>
                </a:ext>
              </a:extLst>
            </p:cNvPr>
            <p:cNvGrpSpPr/>
            <p:nvPr/>
          </p:nvGrpSpPr>
          <p:grpSpPr>
            <a:xfrm>
              <a:off x="1724978" y="5494001"/>
              <a:ext cx="6872605" cy="975360"/>
              <a:chOff x="1724978" y="5494001"/>
              <a:chExt cx="6872605" cy="975360"/>
            </a:xfrm>
          </p:grpSpPr>
          <p:sp>
            <p:nvSpPr>
              <p:cNvPr id="105" name="Freeform: Shape 72">
                <a:extLst>
                  <a:ext uri="{FF2B5EF4-FFF2-40B4-BE49-F238E27FC236}">
                    <a16:creationId xmlns:a16="http://schemas.microsoft.com/office/drawing/2014/main" id="{8113AEDC-8737-8ED5-B205-A33C46E87BDA}"/>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6" name="TextBox 73">
                <a:extLst>
                  <a:ext uri="{FF2B5EF4-FFF2-40B4-BE49-F238E27FC236}">
                    <a16:creationId xmlns:a16="http://schemas.microsoft.com/office/drawing/2014/main" id="{B3A2534F-FADB-72C4-53DB-DDB09C8E0B25}"/>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86" name="Group 30">
              <a:extLst>
                <a:ext uri="{FF2B5EF4-FFF2-40B4-BE49-F238E27FC236}">
                  <a16:creationId xmlns:a16="http://schemas.microsoft.com/office/drawing/2014/main" id="{94DF976E-052F-8025-7A4D-6A7DF92D296C}"/>
                </a:ext>
              </a:extLst>
            </p:cNvPr>
            <p:cNvGrpSpPr/>
            <p:nvPr/>
          </p:nvGrpSpPr>
          <p:grpSpPr>
            <a:xfrm>
              <a:off x="2182178" y="2161521"/>
              <a:ext cx="7817485" cy="3197014"/>
              <a:chOff x="3627756" y="1830493"/>
              <a:chExt cx="7817485" cy="3197014"/>
            </a:xfrm>
          </p:grpSpPr>
          <p:grpSp>
            <p:nvGrpSpPr>
              <p:cNvPr id="96" name="Group 58">
                <a:extLst>
                  <a:ext uri="{FF2B5EF4-FFF2-40B4-BE49-F238E27FC236}">
                    <a16:creationId xmlns:a16="http://schemas.microsoft.com/office/drawing/2014/main" id="{495C1129-9D60-62AF-BD5E-2E067FD28B05}"/>
                  </a:ext>
                </a:extLst>
              </p:cNvPr>
              <p:cNvGrpSpPr/>
              <p:nvPr/>
            </p:nvGrpSpPr>
            <p:grpSpPr>
              <a:xfrm>
                <a:off x="3627756" y="4052147"/>
                <a:ext cx="6882765" cy="975360"/>
                <a:chOff x="3627756" y="4052147"/>
                <a:chExt cx="6882765" cy="975360"/>
              </a:xfrm>
            </p:grpSpPr>
            <p:sp>
              <p:nvSpPr>
                <p:cNvPr id="103" name="Freeform: Shape 62">
                  <a:extLst>
                    <a:ext uri="{FF2B5EF4-FFF2-40B4-BE49-F238E27FC236}">
                      <a16:creationId xmlns:a16="http://schemas.microsoft.com/office/drawing/2014/main" id="{A8A8BEF3-43B8-271B-7BE7-1D8929C9DB4E}"/>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04" name="TextBox 63">
                  <a:extLst>
                    <a:ext uri="{FF2B5EF4-FFF2-40B4-BE49-F238E27FC236}">
                      <a16:creationId xmlns:a16="http://schemas.microsoft.com/office/drawing/2014/main" id="{6CFF5C8A-E563-AAC1-20CA-6AB3A5E0F502}"/>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97" name="Group 52">
                <a:extLst>
                  <a:ext uri="{FF2B5EF4-FFF2-40B4-BE49-F238E27FC236}">
                    <a16:creationId xmlns:a16="http://schemas.microsoft.com/office/drawing/2014/main" id="{535AB27C-DE14-DA9A-0852-083703A3BB93}"/>
                  </a:ext>
                </a:extLst>
              </p:cNvPr>
              <p:cNvGrpSpPr/>
              <p:nvPr/>
            </p:nvGrpSpPr>
            <p:grpSpPr>
              <a:xfrm>
                <a:off x="4069948" y="2930285"/>
                <a:ext cx="6907933" cy="975360"/>
                <a:chOff x="4069947" y="2930285"/>
                <a:chExt cx="6907933" cy="975360"/>
              </a:xfrm>
            </p:grpSpPr>
            <p:sp>
              <p:nvSpPr>
                <p:cNvPr id="101" name="Freeform: Shape 56">
                  <a:extLst>
                    <a:ext uri="{FF2B5EF4-FFF2-40B4-BE49-F238E27FC236}">
                      <a16:creationId xmlns:a16="http://schemas.microsoft.com/office/drawing/2014/main" id="{D3D96B64-B074-1F70-3652-577768126858}"/>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2" name="TextBox 57">
                  <a:extLst>
                    <a:ext uri="{FF2B5EF4-FFF2-40B4-BE49-F238E27FC236}">
                      <a16:creationId xmlns:a16="http://schemas.microsoft.com/office/drawing/2014/main" id="{D5F8C043-1CF6-CBD8-3BAB-9EC706B369E5}"/>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98" name="Group 46">
                <a:extLst>
                  <a:ext uri="{FF2B5EF4-FFF2-40B4-BE49-F238E27FC236}">
                    <a16:creationId xmlns:a16="http://schemas.microsoft.com/office/drawing/2014/main" id="{05B40F6D-6490-CA6A-004B-C70C0C8A7326}"/>
                  </a:ext>
                </a:extLst>
              </p:cNvPr>
              <p:cNvGrpSpPr/>
              <p:nvPr/>
            </p:nvGrpSpPr>
            <p:grpSpPr>
              <a:xfrm>
                <a:off x="4561206" y="1830493"/>
                <a:ext cx="6884035" cy="975360"/>
                <a:chOff x="4561206" y="1830493"/>
                <a:chExt cx="6884035" cy="975360"/>
              </a:xfrm>
            </p:grpSpPr>
            <p:sp>
              <p:nvSpPr>
                <p:cNvPr id="99" name="Freeform: Shape 50">
                  <a:extLst>
                    <a:ext uri="{FF2B5EF4-FFF2-40B4-BE49-F238E27FC236}">
                      <a16:creationId xmlns:a16="http://schemas.microsoft.com/office/drawing/2014/main" id="{FB0CA160-F9B2-35AE-54EA-9B79D04A3B0B}"/>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0" name="TextBox 51">
                  <a:extLst>
                    <a:ext uri="{FF2B5EF4-FFF2-40B4-BE49-F238E27FC236}">
                      <a16:creationId xmlns:a16="http://schemas.microsoft.com/office/drawing/2014/main" id="{4EF06C7F-BE16-F529-7ADD-0D5758BA7FB8}"/>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87" name="Freeform: Shape 31">
              <a:extLst>
                <a:ext uri="{FF2B5EF4-FFF2-40B4-BE49-F238E27FC236}">
                  <a16:creationId xmlns:a16="http://schemas.microsoft.com/office/drawing/2014/main" id="{49B92453-23EE-91D3-5991-4EB911C010AF}"/>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88" name="Group 32">
              <a:extLst>
                <a:ext uri="{FF2B5EF4-FFF2-40B4-BE49-F238E27FC236}">
                  <a16:creationId xmlns:a16="http://schemas.microsoft.com/office/drawing/2014/main" id="{A7C4C6DC-C6A7-4381-C72B-A958B0A53CE5}"/>
                </a:ext>
              </a:extLst>
            </p:cNvPr>
            <p:cNvGrpSpPr/>
            <p:nvPr/>
          </p:nvGrpSpPr>
          <p:grpSpPr>
            <a:xfrm>
              <a:off x="8755080" y="3384449"/>
              <a:ext cx="568098" cy="706284"/>
              <a:chOff x="3970882" y="2311049"/>
              <a:chExt cx="704850" cy="876300"/>
            </a:xfrm>
          </p:grpSpPr>
          <p:sp>
            <p:nvSpPr>
              <p:cNvPr id="91" name="Freeform: Shape 36">
                <a:extLst>
                  <a:ext uri="{FF2B5EF4-FFF2-40B4-BE49-F238E27FC236}">
                    <a16:creationId xmlns:a16="http://schemas.microsoft.com/office/drawing/2014/main" id="{865FD44F-795F-DFD2-9163-52529273D291}"/>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92" name="Freeform: Shape 37">
                <a:extLst>
                  <a:ext uri="{FF2B5EF4-FFF2-40B4-BE49-F238E27FC236}">
                    <a16:creationId xmlns:a16="http://schemas.microsoft.com/office/drawing/2014/main" id="{55CD8276-1F89-26F8-8C2D-27FFCC62C9AC}"/>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93" name="Freeform: Shape 38">
                <a:extLst>
                  <a:ext uri="{FF2B5EF4-FFF2-40B4-BE49-F238E27FC236}">
                    <a16:creationId xmlns:a16="http://schemas.microsoft.com/office/drawing/2014/main" id="{32B077F7-E76D-F9B2-910E-5245E864A6AF}"/>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94" name="Freeform: Shape 39">
                <a:extLst>
                  <a:ext uri="{FF2B5EF4-FFF2-40B4-BE49-F238E27FC236}">
                    <a16:creationId xmlns:a16="http://schemas.microsoft.com/office/drawing/2014/main" id="{A1FB5C07-78A0-A3F6-FB6A-E49DF5E5E4D0}"/>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95" name="Freeform: Shape 40">
                <a:extLst>
                  <a:ext uri="{FF2B5EF4-FFF2-40B4-BE49-F238E27FC236}">
                    <a16:creationId xmlns:a16="http://schemas.microsoft.com/office/drawing/2014/main" id="{4BA5890D-91F6-D305-1A4B-B8DA0C4CE22A}"/>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89" name="Freeform: Shape 33">
              <a:extLst>
                <a:ext uri="{FF2B5EF4-FFF2-40B4-BE49-F238E27FC236}">
                  <a16:creationId xmlns:a16="http://schemas.microsoft.com/office/drawing/2014/main" id="{BEE27C82-2712-9E2B-5D95-0E5C3E2E24B1}"/>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90" name="Freeform: Shape 34">
              <a:extLst>
                <a:ext uri="{FF2B5EF4-FFF2-40B4-BE49-F238E27FC236}">
                  <a16:creationId xmlns:a16="http://schemas.microsoft.com/office/drawing/2014/main" id="{466748B4-59BC-D797-9396-F6F9FB6FFAC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107" name="TextBox 76">
            <a:extLst>
              <a:ext uri="{FF2B5EF4-FFF2-40B4-BE49-F238E27FC236}">
                <a16:creationId xmlns:a16="http://schemas.microsoft.com/office/drawing/2014/main" id="{8C5A1F4B-9C79-EEF3-81A7-56B4C271B4AB}"/>
              </a:ext>
            </a:extLst>
          </p:cNvPr>
          <p:cNvSpPr txBox="1"/>
          <p:nvPr/>
        </p:nvSpPr>
        <p:spPr>
          <a:xfrm>
            <a:off x="8790625" y="4974051"/>
            <a:ext cx="1613199" cy="523220"/>
          </a:xfrm>
          <a:prstGeom prst="rect">
            <a:avLst/>
          </a:prstGeom>
          <a:noFill/>
        </p:spPr>
        <p:txBody>
          <a:bodyPr wrap="none" rtlCol="0">
            <a:spAutoFit/>
          </a:bodyPr>
          <a:lstStyle/>
          <a:p>
            <a:r>
              <a:rPr lang="en-US" sz="2800" dirty="0">
                <a:solidFill/>
              </a:rPr>
              <a:t>1,367K</a:t>
            </a:r>
          </a:p>
        </p:txBody>
      </p:sp>
      <p:sp>
        <p:nvSpPr>
          <p:cNvPr id="108" name="TextBox 77">
            <a:extLst>
              <a:ext uri="{FF2B5EF4-FFF2-40B4-BE49-F238E27FC236}">
                <a16:creationId xmlns:a16="http://schemas.microsoft.com/office/drawing/2014/main" id="{7F2065DC-17E9-123C-1811-2208689E1F04}"/>
              </a:ext>
            </a:extLst>
          </p:cNvPr>
          <p:cNvSpPr txBox="1"/>
          <p:nvPr/>
        </p:nvSpPr>
        <p:spPr>
          <a:xfrm>
            <a:off x="9013558" y="4048996"/>
            <a:ext cx="1096775" cy="523220"/>
          </a:xfrm>
          <a:prstGeom prst="rect">
            <a:avLst/>
          </a:prstGeom>
          <a:noFill/>
        </p:spPr>
        <p:txBody>
          <a:bodyPr wrap="none" rtlCol="0">
            <a:spAutoFit/>
          </a:bodyPr>
          <a:lstStyle/>
          <a:p>
            <a:r>
              <a:rPr lang="en-US" sz="2800" dirty="0">
                <a:solidFill/>
              </a:rPr>
              <a:t>798K</a:t>
            </a:r>
          </a:p>
        </p:txBody>
      </p:sp>
      <p:sp>
        <p:nvSpPr>
          <p:cNvPr id="109" name="TextBox 78">
            <a:extLst>
              <a:ext uri="{FF2B5EF4-FFF2-40B4-BE49-F238E27FC236}">
                <a16:creationId xmlns:a16="http://schemas.microsoft.com/office/drawing/2014/main" id="{D918460D-1FBD-9FB5-065E-9F2E70CD5139}"/>
              </a:ext>
            </a:extLst>
          </p:cNvPr>
          <p:cNvSpPr txBox="1"/>
          <p:nvPr/>
        </p:nvSpPr>
        <p:spPr>
          <a:xfrm>
            <a:off x="9233014" y="3106251"/>
            <a:ext cx="1079142" cy="523220"/>
          </a:xfrm>
          <a:prstGeom prst="rect">
            <a:avLst/>
          </a:prstGeom>
          <a:noFill/>
        </p:spPr>
        <p:txBody>
          <a:bodyPr wrap="none" rtlCol="0">
            <a:spAutoFit/>
          </a:bodyPr>
          <a:lstStyle/>
          <a:p>
            <a:r>
              <a:rPr lang="en-US" sz="2800" dirty="0">
                <a:solidFill/>
              </a:rPr>
              <a:t>548K</a:t>
            </a:r>
          </a:p>
        </p:txBody>
      </p:sp>
      <p:sp>
        <p:nvSpPr>
          <p:cNvPr id="110" name="TextBox 79">
            <a:extLst>
              <a:ext uri="{FF2B5EF4-FFF2-40B4-BE49-F238E27FC236}">
                <a16:creationId xmlns:a16="http://schemas.microsoft.com/office/drawing/2014/main" id="{9FA474D1-2E07-9491-02F2-256F07E9251B}"/>
              </a:ext>
            </a:extLst>
          </p:cNvPr>
          <p:cNvSpPr txBox="1"/>
          <p:nvPr/>
        </p:nvSpPr>
        <p:spPr>
          <a:xfrm>
            <a:off x="9452470" y="2174716"/>
            <a:ext cx="922047" cy="523220"/>
          </a:xfrm>
          <a:prstGeom prst="rect">
            <a:avLst/>
          </a:prstGeom>
          <a:noFill/>
        </p:spPr>
        <p:txBody>
          <a:bodyPr wrap="none" rtlCol="0">
            <a:spAutoFit/>
          </a:bodyPr>
          <a:lstStyle/>
          <a:p>
            <a:r>
              <a:rPr lang="en-US" sz="2800" dirty="0">
                <a:solidFill/>
              </a:rPr>
              <a:t>273K</a:t>
            </a:r>
          </a:p>
        </p:txBody>
      </p:sp>
      <p:grpSp>
        <p:nvGrpSpPr>
          <p:cNvPr id="7" name="Content Placeholder 2">
            <a:extLst>
              <a:ext uri="{FF2B5EF4-FFF2-40B4-BE49-F238E27FC236}">
                <a16:creationId xmlns:a16="http://schemas.microsoft.com/office/drawing/2014/main" id="{40DC6C42-2A68-028B-C2FA-FAAA548005AE}"/>
              </a:ext>
            </a:extLst>
          </p:cNvPr>
          <p:cNvGrpSpPr/>
          <p:nvPr/>
        </p:nvGrpSpPr>
        <p:grpSpPr>
          <a:xfrm>
            <a:off x="1741437" y="1649914"/>
            <a:ext cx="3383452" cy="4458451"/>
            <a:chOff x="2766771" y="1505013"/>
            <a:chExt cx="3383452" cy="4458451"/>
          </a:xfrm>
        </p:grpSpPr>
        <p:sp>
          <p:nvSpPr>
            <p:cNvPr id="9" name="pg4">
              <a:extLst>
                <a:ext uri="{FF2B5EF4-FFF2-40B4-BE49-F238E27FC236}">
                  <a16:creationId xmlns:a16="http://schemas.microsoft.com/office/drawing/2014/main" id="{C05F896B-9AA9-2812-7F9B-F933C5EB55E1}"/>
                </a:ext>
              </a:extLst>
            </p:cNvPr>
            <p:cNvSpPr/>
            <p:nvPr/>
          </p:nvSpPr>
          <p:spPr>
            <a:xfrm>
              <a:off x="3872291" y="4223939"/>
              <a:ext cx="241881" cy="392976"/>
            </a:xfrm>
            <a:custGeom>
              <a:avLst/>
              <a:gdLst/>
              <a:ahLst/>
              <a:cxnLst/>
              <a:rect l="0" t="0" r="0" b="0"/>
              <a:pathLst>
                <a:path w="241881" h="392976">
                  <a:moveTo>
                    <a:pt x="125207" y="11964"/>
                  </a:moveTo>
                  <a:lnTo>
                    <a:pt x="182125" y="0"/>
                  </a:lnTo>
                  <a:lnTo>
                    <a:pt x="196350" y="55803"/>
                  </a:lnTo>
                  <a:lnTo>
                    <a:pt x="182125" y="71730"/>
                  </a:lnTo>
                  <a:lnTo>
                    <a:pt x="207732" y="123459"/>
                  </a:lnTo>
                  <a:lnTo>
                    <a:pt x="207732" y="187036"/>
                  </a:lnTo>
                  <a:lnTo>
                    <a:pt x="241881" y="202914"/>
                  </a:lnTo>
                  <a:lnTo>
                    <a:pt x="233344" y="238619"/>
                  </a:lnTo>
                  <a:lnTo>
                    <a:pt x="241881" y="242584"/>
                  </a:lnTo>
                  <a:lnTo>
                    <a:pt x="224807" y="313892"/>
                  </a:lnTo>
                  <a:lnTo>
                    <a:pt x="224807" y="325762"/>
                  </a:lnTo>
                  <a:lnTo>
                    <a:pt x="219115" y="341587"/>
                  </a:lnTo>
                  <a:lnTo>
                    <a:pt x="224807" y="353452"/>
                  </a:lnTo>
                  <a:lnTo>
                    <a:pt x="202041" y="381122"/>
                  </a:lnTo>
                  <a:lnTo>
                    <a:pt x="196350" y="377171"/>
                  </a:lnTo>
                  <a:lnTo>
                    <a:pt x="184967" y="392976"/>
                  </a:lnTo>
                  <a:lnTo>
                    <a:pt x="139439" y="369266"/>
                  </a:lnTo>
                  <a:lnTo>
                    <a:pt x="136594" y="361359"/>
                  </a:lnTo>
                  <a:lnTo>
                    <a:pt x="85367" y="305972"/>
                  </a:lnTo>
                  <a:lnTo>
                    <a:pt x="54068" y="337631"/>
                  </a:lnTo>
                  <a:lnTo>
                    <a:pt x="45531" y="329719"/>
                  </a:lnTo>
                  <a:lnTo>
                    <a:pt x="34148" y="341587"/>
                  </a:lnTo>
                  <a:lnTo>
                    <a:pt x="17074" y="325762"/>
                  </a:lnTo>
                  <a:lnTo>
                    <a:pt x="11382" y="325762"/>
                  </a:lnTo>
                  <a:lnTo>
                    <a:pt x="2845" y="305972"/>
                  </a:lnTo>
                  <a:lnTo>
                    <a:pt x="0" y="286173"/>
                  </a:lnTo>
                  <a:lnTo>
                    <a:pt x="25611" y="251833"/>
                  </a:lnTo>
                  <a:lnTo>
                    <a:pt x="51222" y="217463"/>
                  </a:lnTo>
                  <a:lnTo>
                    <a:pt x="76834" y="183065"/>
                  </a:lnTo>
                  <a:lnTo>
                    <a:pt x="82521" y="183065"/>
                  </a:lnTo>
                  <a:lnTo>
                    <a:pt x="95327" y="135387"/>
                  </a:lnTo>
                  <a:lnTo>
                    <a:pt x="108133" y="87654"/>
                  </a:lnTo>
                  <a:lnTo>
                    <a:pt x="102441" y="51820"/>
                  </a:lnTo>
                  <a:lnTo>
                    <a:pt x="108133" y="47836"/>
                  </a:lnTo>
                  <a:lnTo>
                    <a:pt x="108133" y="31897"/>
                  </a:lnTo>
                  <a:close/>
                </a:path>
              </a:pathLst>
            </a:custGeom>
            <a:solidFill>
              <a:srgbClr val="99B2D7">
                <a:alpha val="100000"/>
              </a:srgbClr>
            </a:solidFill>
            <a:ln w="13550" cap="flat">
              <a:solidFill>
                <a:srgbClr val="FFFFFF">
                  <a:alpha val="100000"/>
                </a:srgbClr>
              </a:solidFill>
              <a:prstDash val="solid"/>
              <a:round/>
            </a:ln>
          </p:spPr>
          <p:txBody>
            <a:bodyPr/>
            <a:lstStyle/>
            <a:p>
              <a:endParaRPr/>
            </a:p>
          </p:txBody>
        </p:sp>
        <p:sp>
          <p:nvSpPr>
            <p:cNvPr id="10" name="pg5">
              <a:extLst>
                <a:ext uri="{FF2B5EF4-FFF2-40B4-BE49-F238E27FC236}">
                  <a16:creationId xmlns:a16="http://schemas.microsoft.com/office/drawing/2014/main" id="{53C81E99-9231-0D26-8E55-BD45BDFCF93F}"/>
                </a:ext>
              </a:extLst>
            </p:cNvPr>
            <p:cNvSpPr/>
            <p:nvPr/>
          </p:nvSpPr>
          <p:spPr>
            <a:xfrm>
              <a:off x="4097099" y="2089798"/>
              <a:ext cx="1126881" cy="1365026"/>
            </a:xfrm>
            <a:custGeom>
              <a:avLst/>
              <a:gdLst/>
              <a:ahLst/>
              <a:cxnLst/>
              <a:rect l="0" t="0" r="0" b="0"/>
              <a:pathLst>
                <a:path w="1126881" h="1365026">
                  <a:moveTo>
                    <a:pt x="998828" y="1328418"/>
                  </a:moveTo>
                  <a:lnTo>
                    <a:pt x="956143" y="1335200"/>
                  </a:lnTo>
                  <a:lnTo>
                    <a:pt x="913457" y="1341980"/>
                  </a:lnTo>
                  <a:lnTo>
                    <a:pt x="870771" y="1348760"/>
                  </a:lnTo>
                  <a:lnTo>
                    <a:pt x="870771" y="1356894"/>
                  </a:lnTo>
                  <a:lnTo>
                    <a:pt x="811015" y="1365026"/>
                  </a:lnTo>
                  <a:lnTo>
                    <a:pt x="796783" y="1356894"/>
                  </a:lnTo>
                  <a:lnTo>
                    <a:pt x="796783" y="1315530"/>
                  </a:lnTo>
                  <a:lnTo>
                    <a:pt x="796783" y="1274122"/>
                  </a:lnTo>
                  <a:lnTo>
                    <a:pt x="796783" y="1232672"/>
                  </a:lnTo>
                  <a:lnTo>
                    <a:pt x="796783" y="1191178"/>
                  </a:lnTo>
                  <a:lnTo>
                    <a:pt x="796783" y="1149641"/>
                  </a:lnTo>
                  <a:lnTo>
                    <a:pt x="796783" y="1108060"/>
                  </a:lnTo>
                  <a:lnTo>
                    <a:pt x="796783" y="1099878"/>
                  </a:lnTo>
                  <a:lnTo>
                    <a:pt x="796783" y="1056001"/>
                  </a:lnTo>
                  <a:lnTo>
                    <a:pt x="796783" y="1012076"/>
                  </a:lnTo>
                  <a:lnTo>
                    <a:pt x="796783" y="968101"/>
                  </a:lnTo>
                  <a:lnTo>
                    <a:pt x="796783" y="924078"/>
                  </a:lnTo>
                  <a:lnTo>
                    <a:pt x="796783" y="880006"/>
                  </a:lnTo>
                  <a:lnTo>
                    <a:pt x="796783" y="835884"/>
                  </a:lnTo>
                  <a:lnTo>
                    <a:pt x="796783" y="791713"/>
                  </a:lnTo>
                  <a:lnTo>
                    <a:pt x="754099" y="790338"/>
                  </a:lnTo>
                  <a:lnTo>
                    <a:pt x="711414" y="788962"/>
                  </a:lnTo>
                  <a:lnTo>
                    <a:pt x="668730" y="787587"/>
                  </a:lnTo>
                  <a:lnTo>
                    <a:pt x="663038" y="783459"/>
                  </a:lnTo>
                  <a:lnTo>
                    <a:pt x="603279" y="783459"/>
                  </a:lnTo>
                  <a:lnTo>
                    <a:pt x="599484" y="740803"/>
                  </a:lnTo>
                  <a:lnTo>
                    <a:pt x="595690" y="698101"/>
                  </a:lnTo>
                  <a:lnTo>
                    <a:pt x="591896" y="655352"/>
                  </a:lnTo>
                  <a:lnTo>
                    <a:pt x="548073" y="655766"/>
                  </a:lnTo>
                  <a:lnTo>
                    <a:pt x="504249" y="656180"/>
                  </a:lnTo>
                  <a:lnTo>
                    <a:pt x="460426" y="656594"/>
                  </a:lnTo>
                  <a:lnTo>
                    <a:pt x="416603" y="657008"/>
                  </a:lnTo>
                  <a:lnTo>
                    <a:pt x="372780" y="657422"/>
                  </a:lnTo>
                  <a:lnTo>
                    <a:pt x="328957" y="657836"/>
                  </a:lnTo>
                  <a:lnTo>
                    <a:pt x="285134" y="658250"/>
                  </a:lnTo>
                  <a:lnTo>
                    <a:pt x="241310" y="658664"/>
                  </a:lnTo>
                  <a:lnTo>
                    <a:pt x="197487" y="659077"/>
                  </a:lnTo>
                  <a:lnTo>
                    <a:pt x="153664" y="659491"/>
                  </a:lnTo>
                  <a:lnTo>
                    <a:pt x="102443" y="659491"/>
                  </a:lnTo>
                  <a:lnTo>
                    <a:pt x="51221" y="659491"/>
                  </a:lnTo>
                  <a:lnTo>
                    <a:pt x="0" y="659491"/>
                  </a:lnTo>
                  <a:lnTo>
                    <a:pt x="2845" y="622223"/>
                  </a:lnTo>
                  <a:lnTo>
                    <a:pt x="19916" y="551730"/>
                  </a:lnTo>
                  <a:lnTo>
                    <a:pt x="44104" y="515744"/>
                  </a:lnTo>
                  <a:lnTo>
                    <a:pt x="68293" y="479725"/>
                  </a:lnTo>
                  <a:lnTo>
                    <a:pt x="92481" y="443672"/>
                  </a:lnTo>
                  <a:lnTo>
                    <a:pt x="116670" y="407586"/>
                  </a:lnTo>
                  <a:lnTo>
                    <a:pt x="140858" y="371467"/>
                  </a:lnTo>
                  <a:lnTo>
                    <a:pt x="165047" y="335314"/>
                  </a:lnTo>
                  <a:lnTo>
                    <a:pt x="194215" y="292514"/>
                  </a:lnTo>
                  <a:lnTo>
                    <a:pt x="223384" y="249666"/>
                  </a:lnTo>
                  <a:lnTo>
                    <a:pt x="252552" y="206771"/>
                  </a:lnTo>
                  <a:lnTo>
                    <a:pt x="281721" y="163829"/>
                  </a:lnTo>
                  <a:lnTo>
                    <a:pt x="313971" y="117690"/>
                  </a:lnTo>
                  <a:lnTo>
                    <a:pt x="346221" y="71496"/>
                  </a:lnTo>
                  <a:lnTo>
                    <a:pt x="378471" y="25247"/>
                  </a:lnTo>
                  <a:lnTo>
                    <a:pt x="392700" y="8415"/>
                  </a:lnTo>
                  <a:lnTo>
                    <a:pt x="406932" y="0"/>
                  </a:lnTo>
                  <a:lnTo>
                    <a:pt x="424003" y="0"/>
                  </a:lnTo>
                  <a:lnTo>
                    <a:pt x="441077" y="8415"/>
                  </a:lnTo>
                  <a:lnTo>
                    <a:pt x="472380" y="16832"/>
                  </a:lnTo>
                  <a:lnTo>
                    <a:pt x="486608" y="16832"/>
                  </a:lnTo>
                  <a:lnTo>
                    <a:pt x="489450" y="29456"/>
                  </a:lnTo>
                  <a:lnTo>
                    <a:pt x="480917" y="100899"/>
                  </a:lnTo>
                  <a:lnTo>
                    <a:pt x="486608" y="151251"/>
                  </a:lnTo>
                  <a:lnTo>
                    <a:pt x="509374" y="172209"/>
                  </a:lnTo>
                  <a:lnTo>
                    <a:pt x="552056" y="197347"/>
                  </a:lnTo>
                  <a:lnTo>
                    <a:pt x="577667" y="193159"/>
                  </a:lnTo>
                  <a:lnTo>
                    <a:pt x="628890" y="163829"/>
                  </a:lnTo>
                  <a:lnTo>
                    <a:pt x="671576" y="151251"/>
                  </a:lnTo>
                  <a:lnTo>
                    <a:pt x="697187" y="151251"/>
                  </a:lnTo>
                  <a:lnTo>
                    <a:pt x="722798" y="126080"/>
                  </a:lnTo>
                  <a:lnTo>
                    <a:pt x="748410" y="117690"/>
                  </a:lnTo>
                  <a:lnTo>
                    <a:pt x="805320" y="126080"/>
                  </a:lnTo>
                  <a:lnTo>
                    <a:pt x="813861" y="121884"/>
                  </a:lnTo>
                  <a:lnTo>
                    <a:pt x="816703" y="84100"/>
                  </a:lnTo>
                  <a:lnTo>
                    <a:pt x="822394" y="79899"/>
                  </a:lnTo>
                  <a:lnTo>
                    <a:pt x="873617" y="71496"/>
                  </a:lnTo>
                  <a:lnTo>
                    <a:pt x="910611" y="79899"/>
                  </a:lnTo>
                  <a:lnTo>
                    <a:pt x="930531" y="96700"/>
                  </a:lnTo>
                  <a:lnTo>
                    <a:pt x="970369" y="134473"/>
                  </a:lnTo>
                  <a:lnTo>
                    <a:pt x="1010207" y="172209"/>
                  </a:lnTo>
                  <a:lnTo>
                    <a:pt x="1038668" y="201535"/>
                  </a:lnTo>
                  <a:lnTo>
                    <a:pt x="1061434" y="243392"/>
                  </a:lnTo>
                  <a:lnTo>
                    <a:pt x="1072813" y="255940"/>
                  </a:lnTo>
                  <a:lnTo>
                    <a:pt x="1095579" y="276844"/>
                  </a:lnTo>
                  <a:lnTo>
                    <a:pt x="1112653" y="297737"/>
                  </a:lnTo>
                  <a:lnTo>
                    <a:pt x="1121190" y="335314"/>
                  </a:lnTo>
                  <a:lnTo>
                    <a:pt x="1121664" y="378416"/>
                  </a:lnTo>
                  <a:lnTo>
                    <a:pt x="1122139" y="421470"/>
                  </a:lnTo>
                  <a:lnTo>
                    <a:pt x="1122613" y="464476"/>
                  </a:lnTo>
                  <a:lnTo>
                    <a:pt x="1123087" y="507435"/>
                  </a:lnTo>
                  <a:lnTo>
                    <a:pt x="1123561" y="550347"/>
                  </a:lnTo>
                  <a:lnTo>
                    <a:pt x="1124036" y="593212"/>
                  </a:lnTo>
                  <a:lnTo>
                    <a:pt x="1123680" y="636202"/>
                  </a:lnTo>
                  <a:lnTo>
                    <a:pt x="1123324" y="679145"/>
                  </a:lnTo>
                  <a:lnTo>
                    <a:pt x="1122969" y="722041"/>
                  </a:lnTo>
                  <a:lnTo>
                    <a:pt x="1122613" y="764891"/>
                  </a:lnTo>
                  <a:lnTo>
                    <a:pt x="1122257" y="807693"/>
                  </a:lnTo>
                  <a:lnTo>
                    <a:pt x="1121901" y="850449"/>
                  </a:lnTo>
                  <a:lnTo>
                    <a:pt x="1121546" y="893159"/>
                  </a:lnTo>
                  <a:lnTo>
                    <a:pt x="1121190" y="935822"/>
                  </a:lnTo>
                  <a:lnTo>
                    <a:pt x="1123087" y="987846"/>
                  </a:lnTo>
                  <a:lnTo>
                    <a:pt x="1124984" y="1039801"/>
                  </a:lnTo>
                  <a:lnTo>
                    <a:pt x="1126881" y="1091688"/>
                  </a:lnTo>
                  <a:lnTo>
                    <a:pt x="1126881" y="1112155"/>
                  </a:lnTo>
                  <a:lnTo>
                    <a:pt x="1121190" y="1132608"/>
                  </a:lnTo>
                  <a:lnTo>
                    <a:pt x="1112653" y="1153048"/>
                  </a:lnTo>
                  <a:lnTo>
                    <a:pt x="1112653" y="1169394"/>
                  </a:lnTo>
                  <a:lnTo>
                    <a:pt x="1124036" y="1181649"/>
                  </a:lnTo>
                  <a:lnTo>
                    <a:pt x="1126881" y="1189818"/>
                  </a:lnTo>
                  <a:lnTo>
                    <a:pt x="1112653" y="1206149"/>
                  </a:lnTo>
                  <a:lnTo>
                    <a:pt x="1104116" y="1251023"/>
                  </a:lnTo>
                  <a:lnTo>
                    <a:pt x="1106961" y="1275482"/>
                  </a:lnTo>
                  <a:lnTo>
                    <a:pt x="1118344" y="1291779"/>
                  </a:lnTo>
                  <a:lnTo>
                    <a:pt x="1078506" y="1303995"/>
                  </a:lnTo>
                  <a:lnTo>
                    <a:pt x="1038667" y="1316208"/>
                  </a:lnTo>
                  <a:close/>
                </a:path>
              </a:pathLst>
            </a:custGeom>
            <a:solidFill>
              <a:srgbClr val="A2C3DD">
                <a:alpha val="100000"/>
              </a:srgbClr>
            </a:solidFill>
            <a:ln w="13550" cap="flat">
              <a:solidFill>
                <a:srgbClr val="FFFFFF">
                  <a:alpha val="100000"/>
                </a:srgbClr>
              </a:solidFill>
              <a:prstDash val="solid"/>
              <a:round/>
            </a:ln>
          </p:spPr>
          <p:txBody>
            <a:bodyPr/>
            <a:lstStyle/>
            <a:p>
              <a:endParaRPr/>
            </a:p>
          </p:txBody>
        </p:sp>
        <p:sp>
          <p:nvSpPr>
            <p:cNvPr id="11" name="pg6">
              <a:extLst>
                <a:ext uri="{FF2B5EF4-FFF2-40B4-BE49-F238E27FC236}">
                  <a16:creationId xmlns:a16="http://schemas.microsoft.com/office/drawing/2014/main" id="{0E994EA3-C6E0-2295-83B1-0F745F39F94C}"/>
                </a:ext>
              </a:extLst>
            </p:cNvPr>
            <p:cNvSpPr/>
            <p:nvPr/>
          </p:nvSpPr>
          <p:spPr>
            <a:xfrm>
              <a:off x="3681633" y="4438756"/>
              <a:ext cx="503679" cy="434137"/>
            </a:xfrm>
            <a:custGeom>
              <a:avLst/>
              <a:gdLst/>
              <a:ahLst/>
              <a:cxnLst/>
              <a:rect l="0" t="0" r="0" b="0"/>
              <a:pathLst>
                <a:path w="503679" h="434137">
                  <a:moveTo>
                    <a:pt x="415465" y="138635"/>
                  </a:moveTo>
                  <a:lnTo>
                    <a:pt x="424003" y="150496"/>
                  </a:lnTo>
                  <a:lnTo>
                    <a:pt x="435382" y="158399"/>
                  </a:lnTo>
                  <a:lnTo>
                    <a:pt x="449614" y="166305"/>
                  </a:lnTo>
                  <a:lnTo>
                    <a:pt x="466688" y="170254"/>
                  </a:lnTo>
                  <a:lnTo>
                    <a:pt x="475225" y="170254"/>
                  </a:lnTo>
                  <a:lnTo>
                    <a:pt x="486608" y="158399"/>
                  </a:lnTo>
                  <a:lnTo>
                    <a:pt x="492300" y="146542"/>
                  </a:lnTo>
                  <a:lnTo>
                    <a:pt x="500833" y="150496"/>
                  </a:lnTo>
                  <a:lnTo>
                    <a:pt x="503679" y="154449"/>
                  </a:lnTo>
                  <a:lnTo>
                    <a:pt x="492300" y="182109"/>
                  </a:lnTo>
                  <a:lnTo>
                    <a:pt x="480913" y="217642"/>
                  </a:lnTo>
                  <a:lnTo>
                    <a:pt x="466688" y="221588"/>
                  </a:lnTo>
                  <a:lnTo>
                    <a:pt x="443923" y="245259"/>
                  </a:lnTo>
                  <a:lnTo>
                    <a:pt x="441077" y="225537"/>
                  </a:lnTo>
                  <a:lnTo>
                    <a:pt x="435382" y="221588"/>
                  </a:lnTo>
                  <a:lnTo>
                    <a:pt x="421157" y="225537"/>
                  </a:lnTo>
                  <a:lnTo>
                    <a:pt x="395546" y="249203"/>
                  </a:lnTo>
                  <a:lnTo>
                    <a:pt x="369934" y="257090"/>
                  </a:lnTo>
                  <a:lnTo>
                    <a:pt x="350018" y="276800"/>
                  </a:lnTo>
                  <a:lnTo>
                    <a:pt x="330098" y="284681"/>
                  </a:lnTo>
                  <a:lnTo>
                    <a:pt x="324403" y="296500"/>
                  </a:lnTo>
                  <a:lnTo>
                    <a:pt x="321557" y="308316"/>
                  </a:lnTo>
                  <a:lnTo>
                    <a:pt x="304487" y="320128"/>
                  </a:lnTo>
                  <a:lnTo>
                    <a:pt x="298791" y="339808"/>
                  </a:lnTo>
                  <a:lnTo>
                    <a:pt x="290258" y="355542"/>
                  </a:lnTo>
                  <a:lnTo>
                    <a:pt x="307332" y="375205"/>
                  </a:lnTo>
                  <a:lnTo>
                    <a:pt x="321557" y="402717"/>
                  </a:lnTo>
                  <a:lnTo>
                    <a:pt x="315866" y="418430"/>
                  </a:lnTo>
                  <a:lnTo>
                    <a:pt x="298791" y="426284"/>
                  </a:lnTo>
                  <a:lnTo>
                    <a:pt x="270338" y="430211"/>
                  </a:lnTo>
                  <a:lnTo>
                    <a:pt x="253260" y="434137"/>
                  </a:lnTo>
                  <a:lnTo>
                    <a:pt x="213424" y="410577"/>
                  </a:lnTo>
                  <a:lnTo>
                    <a:pt x="204887" y="394861"/>
                  </a:lnTo>
                  <a:lnTo>
                    <a:pt x="190658" y="383067"/>
                  </a:lnTo>
                  <a:lnTo>
                    <a:pt x="204887" y="363411"/>
                  </a:lnTo>
                  <a:lnTo>
                    <a:pt x="156510" y="312251"/>
                  </a:lnTo>
                  <a:lnTo>
                    <a:pt x="142281" y="327998"/>
                  </a:lnTo>
                  <a:lnTo>
                    <a:pt x="133744" y="324065"/>
                  </a:lnTo>
                  <a:lnTo>
                    <a:pt x="128056" y="335873"/>
                  </a:lnTo>
                  <a:lnTo>
                    <a:pt x="108133" y="316191"/>
                  </a:lnTo>
                  <a:lnTo>
                    <a:pt x="110978" y="304378"/>
                  </a:lnTo>
                  <a:lnTo>
                    <a:pt x="110978" y="276800"/>
                  </a:lnTo>
                  <a:lnTo>
                    <a:pt x="102445" y="264975"/>
                  </a:lnTo>
                  <a:lnTo>
                    <a:pt x="91058" y="257090"/>
                  </a:lnTo>
                  <a:lnTo>
                    <a:pt x="76830" y="257090"/>
                  </a:lnTo>
                  <a:lnTo>
                    <a:pt x="65451" y="257090"/>
                  </a:lnTo>
                  <a:lnTo>
                    <a:pt x="48373" y="257090"/>
                  </a:lnTo>
                  <a:lnTo>
                    <a:pt x="42685" y="257090"/>
                  </a:lnTo>
                  <a:lnTo>
                    <a:pt x="34148" y="229480"/>
                  </a:lnTo>
                  <a:lnTo>
                    <a:pt x="36994" y="217642"/>
                  </a:lnTo>
                  <a:lnTo>
                    <a:pt x="36994" y="205800"/>
                  </a:lnTo>
                  <a:lnTo>
                    <a:pt x="65451" y="190006"/>
                  </a:lnTo>
                  <a:lnTo>
                    <a:pt x="54064" y="178159"/>
                  </a:lnTo>
                  <a:lnTo>
                    <a:pt x="71138" y="150496"/>
                  </a:lnTo>
                  <a:lnTo>
                    <a:pt x="68293" y="146542"/>
                  </a:lnTo>
                  <a:lnTo>
                    <a:pt x="76830" y="138635"/>
                  </a:lnTo>
                  <a:lnTo>
                    <a:pt x="36994" y="91155"/>
                  </a:lnTo>
                  <a:lnTo>
                    <a:pt x="5687" y="79277"/>
                  </a:lnTo>
                  <a:lnTo>
                    <a:pt x="5687" y="71356"/>
                  </a:lnTo>
                  <a:lnTo>
                    <a:pt x="0" y="63434"/>
                  </a:lnTo>
                  <a:lnTo>
                    <a:pt x="5687" y="59472"/>
                  </a:lnTo>
                  <a:lnTo>
                    <a:pt x="22765" y="59472"/>
                  </a:lnTo>
                  <a:lnTo>
                    <a:pt x="85371" y="19836"/>
                  </a:lnTo>
                  <a:lnTo>
                    <a:pt x="88213" y="19836"/>
                  </a:lnTo>
                  <a:lnTo>
                    <a:pt x="122361" y="0"/>
                  </a:lnTo>
                  <a:lnTo>
                    <a:pt x="128056" y="7937"/>
                  </a:lnTo>
                  <a:lnTo>
                    <a:pt x="136590" y="3970"/>
                  </a:lnTo>
                  <a:lnTo>
                    <a:pt x="145127" y="7937"/>
                  </a:lnTo>
                  <a:lnTo>
                    <a:pt x="156510" y="7937"/>
                  </a:lnTo>
                  <a:lnTo>
                    <a:pt x="179275" y="35696"/>
                  </a:lnTo>
                  <a:lnTo>
                    <a:pt x="190658" y="71356"/>
                  </a:lnTo>
                  <a:lnTo>
                    <a:pt x="193504" y="91155"/>
                  </a:lnTo>
                  <a:lnTo>
                    <a:pt x="202041" y="110945"/>
                  </a:lnTo>
                  <a:lnTo>
                    <a:pt x="207732" y="110945"/>
                  </a:lnTo>
                  <a:lnTo>
                    <a:pt x="224807" y="126770"/>
                  </a:lnTo>
                  <a:lnTo>
                    <a:pt x="236190" y="114902"/>
                  </a:lnTo>
                  <a:lnTo>
                    <a:pt x="244727" y="122814"/>
                  </a:lnTo>
                  <a:lnTo>
                    <a:pt x="276026" y="91155"/>
                  </a:lnTo>
                  <a:lnTo>
                    <a:pt x="327252" y="146542"/>
                  </a:lnTo>
                  <a:lnTo>
                    <a:pt x="330098" y="154449"/>
                  </a:lnTo>
                  <a:lnTo>
                    <a:pt x="375626" y="178159"/>
                  </a:lnTo>
                  <a:lnTo>
                    <a:pt x="387008" y="162354"/>
                  </a:lnTo>
                  <a:lnTo>
                    <a:pt x="392700" y="166305"/>
                  </a:lnTo>
                  <a:close/>
                </a:path>
              </a:pathLst>
            </a:custGeom>
            <a:solidFill>
              <a:srgbClr val="00008B">
                <a:alpha val="100000"/>
              </a:srgbClr>
            </a:solidFill>
            <a:ln w="13550" cap="flat">
              <a:solidFill>
                <a:srgbClr val="FFFFFF">
                  <a:alpha val="100000"/>
                </a:srgbClr>
              </a:solidFill>
              <a:prstDash val="solid"/>
              <a:round/>
            </a:ln>
          </p:spPr>
          <p:txBody>
            <a:bodyPr/>
            <a:lstStyle/>
            <a:p>
              <a:endParaRPr/>
            </a:p>
          </p:txBody>
        </p:sp>
        <p:sp>
          <p:nvSpPr>
            <p:cNvPr id="12" name="pg7">
              <a:extLst>
                <a:ext uri="{FF2B5EF4-FFF2-40B4-BE49-F238E27FC236}">
                  <a16:creationId xmlns:a16="http://schemas.microsoft.com/office/drawing/2014/main" id="{9A6925C8-CA18-3E41-98A2-59F6F912BE48}"/>
                </a:ext>
              </a:extLst>
            </p:cNvPr>
            <p:cNvSpPr/>
            <p:nvPr/>
          </p:nvSpPr>
          <p:spPr>
            <a:xfrm>
              <a:off x="3695861" y="3393795"/>
              <a:ext cx="452460" cy="842108"/>
            </a:xfrm>
            <a:custGeom>
              <a:avLst/>
              <a:gdLst/>
              <a:ahLst/>
              <a:cxnLst/>
              <a:rect l="0" t="0" r="0" b="0"/>
              <a:pathLst>
                <a:path w="452460" h="842108">
                  <a:moveTo>
                    <a:pt x="358555" y="830144"/>
                  </a:moveTo>
                  <a:lnTo>
                    <a:pt x="301637" y="842108"/>
                  </a:lnTo>
                  <a:lnTo>
                    <a:pt x="284563" y="802213"/>
                  </a:lnTo>
                  <a:lnTo>
                    <a:pt x="278871" y="802213"/>
                  </a:lnTo>
                  <a:lnTo>
                    <a:pt x="267492" y="786247"/>
                  </a:lnTo>
                  <a:lnTo>
                    <a:pt x="264643" y="786247"/>
                  </a:lnTo>
                  <a:lnTo>
                    <a:pt x="276030" y="770272"/>
                  </a:lnTo>
                  <a:lnTo>
                    <a:pt x="232395" y="760950"/>
                  </a:lnTo>
                  <a:lnTo>
                    <a:pt x="188761" y="751626"/>
                  </a:lnTo>
                  <a:lnTo>
                    <a:pt x="145127" y="742300"/>
                  </a:lnTo>
                  <a:lnTo>
                    <a:pt x="153664" y="726307"/>
                  </a:lnTo>
                  <a:lnTo>
                    <a:pt x="130898" y="674288"/>
                  </a:lnTo>
                  <a:lnTo>
                    <a:pt x="108133" y="622201"/>
                  </a:lnTo>
                  <a:lnTo>
                    <a:pt x="39836" y="650256"/>
                  </a:lnTo>
                  <a:lnTo>
                    <a:pt x="38413" y="604155"/>
                  </a:lnTo>
                  <a:lnTo>
                    <a:pt x="36990" y="558002"/>
                  </a:lnTo>
                  <a:lnTo>
                    <a:pt x="31302" y="525867"/>
                  </a:lnTo>
                  <a:lnTo>
                    <a:pt x="22765" y="525867"/>
                  </a:lnTo>
                  <a:lnTo>
                    <a:pt x="11382" y="469567"/>
                  </a:lnTo>
                  <a:lnTo>
                    <a:pt x="11382" y="461514"/>
                  </a:lnTo>
                  <a:lnTo>
                    <a:pt x="17070" y="453466"/>
                  </a:lnTo>
                  <a:lnTo>
                    <a:pt x="31302" y="449440"/>
                  </a:lnTo>
                  <a:lnTo>
                    <a:pt x="23477" y="408147"/>
                  </a:lnTo>
                  <a:lnTo>
                    <a:pt x="15651" y="366812"/>
                  </a:lnTo>
                  <a:lnTo>
                    <a:pt x="7825" y="325435"/>
                  </a:lnTo>
                  <a:lnTo>
                    <a:pt x="0" y="284014"/>
                  </a:lnTo>
                  <a:lnTo>
                    <a:pt x="5691" y="275930"/>
                  </a:lnTo>
                  <a:lnTo>
                    <a:pt x="8537" y="235471"/>
                  </a:lnTo>
                  <a:lnTo>
                    <a:pt x="11382" y="186865"/>
                  </a:lnTo>
                  <a:lnTo>
                    <a:pt x="14224" y="174705"/>
                  </a:lnTo>
                  <a:lnTo>
                    <a:pt x="22765" y="166595"/>
                  </a:lnTo>
                  <a:lnTo>
                    <a:pt x="39836" y="174705"/>
                  </a:lnTo>
                  <a:lnTo>
                    <a:pt x="88216" y="190918"/>
                  </a:lnTo>
                  <a:lnTo>
                    <a:pt x="99596" y="186865"/>
                  </a:lnTo>
                  <a:lnTo>
                    <a:pt x="105287" y="178761"/>
                  </a:lnTo>
                  <a:lnTo>
                    <a:pt x="99596" y="174705"/>
                  </a:lnTo>
                  <a:lnTo>
                    <a:pt x="71142" y="134145"/>
                  </a:lnTo>
                  <a:lnTo>
                    <a:pt x="59756" y="101666"/>
                  </a:lnTo>
                  <a:lnTo>
                    <a:pt x="62601" y="85416"/>
                  </a:lnTo>
                  <a:lnTo>
                    <a:pt x="73984" y="69160"/>
                  </a:lnTo>
                  <a:lnTo>
                    <a:pt x="99596" y="36629"/>
                  </a:lnTo>
                  <a:lnTo>
                    <a:pt x="125207" y="4071"/>
                  </a:lnTo>
                  <a:lnTo>
                    <a:pt x="139435" y="0"/>
                  </a:lnTo>
                  <a:lnTo>
                    <a:pt x="152241" y="50865"/>
                  </a:lnTo>
                  <a:lnTo>
                    <a:pt x="165047" y="101666"/>
                  </a:lnTo>
                  <a:lnTo>
                    <a:pt x="162201" y="109785"/>
                  </a:lnTo>
                  <a:lnTo>
                    <a:pt x="170738" y="150372"/>
                  </a:lnTo>
                  <a:lnTo>
                    <a:pt x="179275" y="190917"/>
                  </a:lnTo>
                  <a:lnTo>
                    <a:pt x="187813" y="231421"/>
                  </a:lnTo>
                  <a:lnTo>
                    <a:pt x="196350" y="271884"/>
                  </a:lnTo>
                  <a:lnTo>
                    <a:pt x="204887" y="312307"/>
                  </a:lnTo>
                  <a:lnTo>
                    <a:pt x="213424" y="352688"/>
                  </a:lnTo>
                  <a:lnTo>
                    <a:pt x="230498" y="352688"/>
                  </a:lnTo>
                  <a:lnTo>
                    <a:pt x="230498" y="344615"/>
                  </a:lnTo>
                  <a:lnTo>
                    <a:pt x="267492" y="336540"/>
                  </a:lnTo>
                  <a:lnTo>
                    <a:pt x="278871" y="380931"/>
                  </a:lnTo>
                  <a:lnTo>
                    <a:pt x="335789" y="376898"/>
                  </a:lnTo>
                  <a:lnTo>
                    <a:pt x="343378" y="418557"/>
                  </a:lnTo>
                  <a:lnTo>
                    <a:pt x="350967" y="460174"/>
                  </a:lnTo>
                  <a:lnTo>
                    <a:pt x="358555" y="501747"/>
                  </a:lnTo>
                  <a:lnTo>
                    <a:pt x="344323" y="505768"/>
                  </a:lnTo>
                  <a:lnTo>
                    <a:pt x="344323" y="533904"/>
                  </a:lnTo>
                  <a:lnTo>
                    <a:pt x="341477" y="533904"/>
                  </a:lnTo>
                  <a:lnTo>
                    <a:pt x="341477" y="541939"/>
                  </a:lnTo>
                  <a:lnTo>
                    <a:pt x="347168" y="541939"/>
                  </a:lnTo>
                  <a:lnTo>
                    <a:pt x="350014" y="562020"/>
                  </a:lnTo>
                  <a:lnTo>
                    <a:pt x="395546" y="558002"/>
                  </a:lnTo>
                  <a:lnTo>
                    <a:pt x="398391" y="582091"/>
                  </a:lnTo>
                  <a:lnTo>
                    <a:pt x="395546" y="582091"/>
                  </a:lnTo>
                  <a:lnTo>
                    <a:pt x="398391" y="594129"/>
                  </a:lnTo>
                  <a:lnTo>
                    <a:pt x="406928" y="594129"/>
                  </a:lnTo>
                  <a:lnTo>
                    <a:pt x="415465" y="630219"/>
                  </a:lnTo>
                  <a:lnTo>
                    <a:pt x="406928" y="634227"/>
                  </a:lnTo>
                  <a:lnTo>
                    <a:pt x="421153" y="686298"/>
                  </a:lnTo>
                  <a:lnTo>
                    <a:pt x="432540" y="686298"/>
                  </a:lnTo>
                  <a:lnTo>
                    <a:pt x="452460" y="742300"/>
                  </a:lnTo>
                  <a:lnTo>
                    <a:pt x="452460" y="758286"/>
                  </a:lnTo>
                  <a:lnTo>
                    <a:pt x="432540" y="762279"/>
                  </a:lnTo>
                  <a:lnTo>
                    <a:pt x="404083" y="758286"/>
                  </a:lnTo>
                  <a:lnTo>
                    <a:pt x="384163" y="782254"/>
                  </a:lnTo>
                  <a:lnTo>
                    <a:pt x="378471" y="790237"/>
                  </a:lnTo>
                  <a:lnTo>
                    <a:pt x="378471" y="798224"/>
                  </a:lnTo>
                  <a:lnTo>
                    <a:pt x="395546" y="806204"/>
                  </a:lnTo>
                  <a:lnTo>
                    <a:pt x="392700" y="826155"/>
                  </a:lnTo>
                  <a:close/>
                </a:path>
              </a:pathLst>
            </a:custGeom>
            <a:solidFill>
              <a:srgbClr val="ACD6E5">
                <a:alpha val="100000"/>
              </a:srgbClr>
            </a:solidFill>
            <a:ln w="13550" cap="flat">
              <a:solidFill>
                <a:srgbClr val="FFFFFF">
                  <a:alpha val="100000"/>
                </a:srgbClr>
              </a:solidFill>
              <a:prstDash val="solid"/>
              <a:round/>
            </a:ln>
          </p:spPr>
          <p:txBody>
            <a:bodyPr/>
            <a:lstStyle/>
            <a:p>
              <a:endParaRPr/>
            </a:p>
          </p:txBody>
        </p:sp>
        <p:sp>
          <p:nvSpPr>
            <p:cNvPr id="13" name="pg8">
              <a:extLst>
                <a:ext uri="{FF2B5EF4-FFF2-40B4-BE49-F238E27FC236}">
                  <a16:creationId xmlns:a16="http://schemas.microsoft.com/office/drawing/2014/main" id="{AA1C04F0-470E-E8E4-D875-ACE05E88A277}"/>
                </a:ext>
              </a:extLst>
            </p:cNvPr>
            <p:cNvSpPr/>
            <p:nvPr/>
          </p:nvSpPr>
          <p:spPr>
            <a:xfrm>
              <a:off x="4683307" y="3681852"/>
              <a:ext cx="429694" cy="701320"/>
            </a:xfrm>
            <a:custGeom>
              <a:avLst/>
              <a:gdLst/>
              <a:ahLst/>
              <a:cxnLst/>
              <a:rect l="0" t="0" r="0" b="0"/>
              <a:pathLst>
                <a:path w="429694" h="701320">
                  <a:moveTo>
                    <a:pt x="14224" y="398240"/>
                  </a:moveTo>
                  <a:lnTo>
                    <a:pt x="42681" y="398240"/>
                  </a:lnTo>
                  <a:lnTo>
                    <a:pt x="42681" y="414249"/>
                  </a:lnTo>
                  <a:lnTo>
                    <a:pt x="56910" y="414249"/>
                  </a:lnTo>
                  <a:lnTo>
                    <a:pt x="62601" y="390234"/>
                  </a:lnTo>
                  <a:lnTo>
                    <a:pt x="85367" y="374216"/>
                  </a:lnTo>
                  <a:lnTo>
                    <a:pt x="108129" y="382225"/>
                  </a:lnTo>
                  <a:lnTo>
                    <a:pt x="122361" y="354187"/>
                  </a:lnTo>
                  <a:lnTo>
                    <a:pt x="199192" y="342161"/>
                  </a:lnTo>
                  <a:lnTo>
                    <a:pt x="193501" y="294032"/>
                  </a:lnTo>
                  <a:lnTo>
                    <a:pt x="187811" y="245845"/>
                  </a:lnTo>
                  <a:lnTo>
                    <a:pt x="182121" y="197601"/>
                  </a:lnTo>
                  <a:lnTo>
                    <a:pt x="239032" y="181509"/>
                  </a:lnTo>
                  <a:lnTo>
                    <a:pt x="227652" y="121097"/>
                  </a:lnTo>
                  <a:lnTo>
                    <a:pt x="287409" y="100939"/>
                  </a:lnTo>
                  <a:lnTo>
                    <a:pt x="278871" y="32328"/>
                  </a:lnTo>
                  <a:lnTo>
                    <a:pt x="331517" y="16167"/>
                  </a:lnTo>
                  <a:lnTo>
                    <a:pt x="384163" y="0"/>
                  </a:lnTo>
                  <a:lnTo>
                    <a:pt x="390992" y="41213"/>
                  </a:lnTo>
                  <a:lnTo>
                    <a:pt x="397821" y="82384"/>
                  </a:lnTo>
                  <a:lnTo>
                    <a:pt x="404650" y="123514"/>
                  </a:lnTo>
                  <a:lnTo>
                    <a:pt x="411478" y="164601"/>
                  </a:lnTo>
                  <a:lnTo>
                    <a:pt x="418307" y="205646"/>
                  </a:lnTo>
                  <a:lnTo>
                    <a:pt x="372780" y="221731"/>
                  </a:lnTo>
                  <a:lnTo>
                    <a:pt x="379182" y="266934"/>
                  </a:lnTo>
                  <a:lnTo>
                    <a:pt x="385584" y="312088"/>
                  </a:lnTo>
                  <a:lnTo>
                    <a:pt x="391986" y="357190"/>
                  </a:lnTo>
                  <a:lnTo>
                    <a:pt x="398387" y="402243"/>
                  </a:lnTo>
                  <a:lnTo>
                    <a:pt x="412620" y="402243"/>
                  </a:lnTo>
                  <a:lnTo>
                    <a:pt x="423999" y="462236"/>
                  </a:lnTo>
                  <a:lnTo>
                    <a:pt x="418307" y="466232"/>
                  </a:lnTo>
                  <a:lnTo>
                    <a:pt x="429694" y="538097"/>
                  </a:lnTo>
                  <a:lnTo>
                    <a:pt x="421153" y="538097"/>
                  </a:lnTo>
                  <a:lnTo>
                    <a:pt x="415462" y="554050"/>
                  </a:lnTo>
                  <a:lnTo>
                    <a:pt x="423999" y="597890"/>
                  </a:lnTo>
                  <a:lnTo>
                    <a:pt x="398387" y="605855"/>
                  </a:lnTo>
                  <a:lnTo>
                    <a:pt x="398387" y="629740"/>
                  </a:lnTo>
                  <a:lnTo>
                    <a:pt x="381317" y="645658"/>
                  </a:lnTo>
                  <a:lnTo>
                    <a:pt x="378467" y="625763"/>
                  </a:lnTo>
                  <a:lnTo>
                    <a:pt x="381317" y="601870"/>
                  </a:lnTo>
                  <a:lnTo>
                    <a:pt x="358551" y="581954"/>
                  </a:lnTo>
                  <a:lnTo>
                    <a:pt x="369934" y="566011"/>
                  </a:lnTo>
                  <a:lnTo>
                    <a:pt x="358551" y="550063"/>
                  </a:lnTo>
                  <a:lnTo>
                    <a:pt x="338631" y="558038"/>
                  </a:lnTo>
                  <a:lnTo>
                    <a:pt x="327248" y="538097"/>
                  </a:lnTo>
                  <a:lnTo>
                    <a:pt x="321557" y="522137"/>
                  </a:lnTo>
                  <a:lnTo>
                    <a:pt x="307329" y="522137"/>
                  </a:lnTo>
                  <a:lnTo>
                    <a:pt x="301637" y="534108"/>
                  </a:lnTo>
                  <a:lnTo>
                    <a:pt x="301637" y="550063"/>
                  </a:lnTo>
                  <a:lnTo>
                    <a:pt x="293100" y="558038"/>
                  </a:lnTo>
                  <a:lnTo>
                    <a:pt x="284563" y="550063"/>
                  </a:lnTo>
                  <a:lnTo>
                    <a:pt x="276026" y="534108"/>
                  </a:lnTo>
                  <a:lnTo>
                    <a:pt x="267489" y="526131"/>
                  </a:lnTo>
                  <a:lnTo>
                    <a:pt x="264643" y="534108"/>
                  </a:lnTo>
                  <a:lnTo>
                    <a:pt x="267489" y="554050"/>
                  </a:lnTo>
                  <a:lnTo>
                    <a:pt x="247572" y="573983"/>
                  </a:lnTo>
                  <a:lnTo>
                    <a:pt x="236186" y="573983"/>
                  </a:lnTo>
                  <a:lnTo>
                    <a:pt x="219112" y="593906"/>
                  </a:lnTo>
                  <a:lnTo>
                    <a:pt x="210574" y="593906"/>
                  </a:lnTo>
                  <a:lnTo>
                    <a:pt x="199192" y="585935"/>
                  </a:lnTo>
                  <a:lnTo>
                    <a:pt x="196346" y="577969"/>
                  </a:lnTo>
                  <a:lnTo>
                    <a:pt x="207732" y="558038"/>
                  </a:lnTo>
                  <a:lnTo>
                    <a:pt x="196346" y="538097"/>
                  </a:lnTo>
                  <a:lnTo>
                    <a:pt x="184967" y="546074"/>
                  </a:lnTo>
                  <a:lnTo>
                    <a:pt x="182121" y="573983"/>
                  </a:lnTo>
                  <a:lnTo>
                    <a:pt x="165047" y="589922"/>
                  </a:lnTo>
                  <a:lnTo>
                    <a:pt x="153660" y="597890"/>
                  </a:lnTo>
                  <a:lnTo>
                    <a:pt x="145127" y="601870"/>
                  </a:lnTo>
                  <a:lnTo>
                    <a:pt x="128053" y="605855"/>
                  </a:lnTo>
                  <a:lnTo>
                    <a:pt x="136590" y="625763"/>
                  </a:lnTo>
                  <a:lnTo>
                    <a:pt x="128053" y="645658"/>
                  </a:lnTo>
                  <a:lnTo>
                    <a:pt x="130895" y="661569"/>
                  </a:lnTo>
                  <a:lnTo>
                    <a:pt x="142281" y="673498"/>
                  </a:lnTo>
                  <a:lnTo>
                    <a:pt x="153660" y="681449"/>
                  </a:lnTo>
                  <a:lnTo>
                    <a:pt x="145127" y="701320"/>
                  </a:lnTo>
                  <a:lnTo>
                    <a:pt x="130895" y="701320"/>
                  </a:lnTo>
                  <a:lnTo>
                    <a:pt x="99596" y="685424"/>
                  </a:lnTo>
                  <a:lnTo>
                    <a:pt x="93904" y="697346"/>
                  </a:lnTo>
                  <a:lnTo>
                    <a:pt x="82521" y="697346"/>
                  </a:lnTo>
                  <a:lnTo>
                    <a:pt x="73984" y="665546"/>
                  </a:lnTo>
                  <a:lnTo>
                    <a:pt x="59756" y="661569"/>
                  </a:lnTo>
                  <a:lnTo>
                    <a:pt x="42681" y="657592"/>
                  </a:lnTo>
                  <a:lnTo>
                    <a:pt x="14224" y="657592"/>
                  </a:lnTo>
                  <a:lnTo>
                    <a:pt x="5687" y="649636"/>
                  </a:lnTo>
                  <a:lnTo>
                    <a:pt x="5687" y="637702"/>
                  </a:lnTo>
                  <a:lnTo>
                    <a:pt x="14224" y="633720"/>
                  </a:lnTo>
                  <a:lnTo>
                    <a:pt x="28453" y="633720"/>
                  </a:lnTo>
                  <a:lnTo>
                    <a:pt x="25611" y="613817"/>
                  </a:lnTo>
                  <a:lnTo>
                    <a:pt x="34144" y="601870"/>
                  </a:lnTo>
                  <a:lnTo>
                    <a:pt x="48373" y="605855"/>
                  </a:lnTo>
                  <a:lnTo>
                    <a:pt x="73984" y="613817"/>
                  </a:lnTo>
                  <a:lnTo>
                    <a:pt x="73984" y="605855"/>
                  </a:lnTo>
                  <a:lnTo>
                    <a:pt x="62601" y="593906"/>
                  </a:lnTo>
                  <a:lnTo>
                    <a:pt x="65447" y="577969"/>
                  </a:lnTo>
                  <a:lnTo>
                    <a:pt x="54064" y="573983"/>
                  </a:lnTo>
                  <a:lnTo>
                    <a:pt x="39836" y="573983"/>
                  </a:lnTo>
                  <a:lnTo>
                    <a:pt x="25611" y="593906"/>
                  </a:lnTo>
                  <a:lnTo>
                    <a:pt x="14224" y="589922"/>
                  </a:lnTo>
                  <a:lnTo>
                    <a:pt x="19916" y="573983"/>
                  </a:lnTo>
                  <a:lnTo>
                    <a:pt x="36990" y="538097"/>
                  </a:lnTo>
                  <a:lnTo>
                    <a:pt x="36990" y="514155"/>
                  </a:lnTo>
                  <a:lnTo>
                    <a:pt x="28453" y="494196"/>
                  </a:lnTo>
                  <a:lnTo>
                    <a:pt x="22765" y="486206"/>
                  </a:lnTo>
                  <a:lnTo>
                    <a:pt x="14224" y="466232"/>
                  </a:lnTo>
                  <a:lnTo>
                    <a:pt x="2845" y="454242"/>
                  </a:lnTo>
                  <a:lnTo>
                    <a:pt x="0" y="446246"/>
                  </a:lnTo>
                  <a:lnTo>
                    <a:pt x="2845" y="434250"/>
                  </a:lnTo>
                  <a:lnTo>
                    <a:pt x="5687" y="418250"/>
                  </a:lnTo>
                  <a:lnTo>
                    <a:pt x="11379" y="406245"/>
                  </a:lnTo>
                  <a:close/>
                </a:path>
              </a:pathLst>
            </a:custGeom>
            <a:solidFill>
              <a:srgbClr val="A5C9E0">
                <a:alpha val="100000"/>
              </a:srgbClr>
            </a:solidFill>
            <a:ln w="13550" cap="flat">
              <a:solidFill>
                <a:srgbClr val="FFFFFF">
                  <a:alpha val="100000"/>
                </a:srgbClr>
              </a:solidFill>
              <a:prstDash val="solid"/>
              <a:round/>
            </a:ln>
          </p:spPr>
          <p:txBody>
            <a:bodyPr/>
            <a:lstStyle/>
            <a:p>
              <a:endParaRPr/>
            </a:p>
          </p:txBody>
        </p:sp>
        <p:sp>
          <p:nvSpPr>
            <p:cNvPr id="14" name="pg9">
              <a:extLst>
                <a:ext uri="{FF2B5EF4-FFF2-40B4-BE49-F238E27FC236}">
                  <a16:creationId xmlns:a16="http://schemas.microsoft.com/office/drawing/2014/main" id="{EED374D1-5EC7-E61B-D871-DB8146BABB1B}"/>
                </a:ext>
              </a:extLst>
            </p:cNvPr>
            <p:cNvSpPr/>
            <p:nvPr/>
          </p:nvSpPr>
          <p:spPr>
            <a:xfrm>
              <a:off x="4054417" y="4056069"/>
              <a:ext cx="367088" cy="422347"/>
            </a:xfrm>
            <a:custGeom>
              <a:avLst/>
              <a:gdLst/>
              <a:ahLst/>
              <a:cxnLst/>
              <a:rect l="0" t="0" r="0" b="0"/>
              <a:pathLst>
                <a:path w="367088" h="422347">
                  <a:moveTo>
                    <a:pt x="0" y="167870"/>
                  </a:moveTo>
                  <a:lnTo>
                    <a:pt x="34144" y="163881"/>
                  </a:lnTo>
                  <a:lnTo>
                    <a:pt x="36990" y="143930"/>
                  </a:lnTo>
                  <a:lnTo>
                    <a:pt x="19916" y="135950"/>
                  </a:lnTo>
                  <a:lnTo>
                    <a:pt x="19916" y="127963"/>
                  </a:lnTo>
                  <a:lnTo>
                    <a:pt x="25607" y="119980"/>
                  </a:lnTo>
                  <a:lnTo>
                    <a:pt x="45527" y="96012"/>
                  </a:lnTo>
                  <a:lnTo>
                    <a:pt x="73984" y="100005"/>
                  </a:lnTo>
                  <a:lnTo>
                    <a:pt x="93904" y="96012"/>
                  </a:lnTo>
                  <a:lnTo>
                    <a:pt x="93904" y="80026"/>
                  </a:lnTo>
                  <a:lnTo>
                    <a:pt x="122361" y="68029"/>
                  </a:lnTo>
                  <a:lnTo>
                    <a:pt x="139435" y="72030"/>
                  </a:lnTo>
                  <a:lnTo>
                    <a:pt x="150815" y="80026"/>
                  </a:lnTo>
                  <a:lnTo>
                    <a:pt x="147969" y="92016"/>
                  </a:lnTo>
                  <a:lnTo>
                    <a:pt x="159355" y="100005"/>
                  </a:lnTo>
                  <a:lnTo>
                    <a:pt x="173580" y="80026"/>
                  </a:lnTo>
                  <a:lnTo>
                    <a:pt x="184963" y="80026"/>
                  </a:lnTo>
                  <a:lnTo>
                    <a:pt x="190654" y="84020"/>
                  </a:lnTo>
                  <a:lnTo>
                    <a:pt x="256106" y="96012"/>
                  </a:lnTo>
                  <a:lnTo>
                    <a:pt x="264643" y="88020"/>
                  </a:lnTo>
                  <a:lnTo>
                    <a:pt x="267489" y="64033"/>
                  </a:lnTo>
                  <a:lnTo>
                    <a:pt x="264643" y="48034"/>
                  </a:lnTo>
                  <a:lnTo>
                    <a:pt x="250414" y="40032"/>
                  </a:lnTo>
                  <a:lnTo>
                    <a:pt x="241877" y="24024"/>
                  </a:lnTo>
                  <a:lnTo>
                    <a:pt x="241877" y="12014"/>
                  </a:lnTo>
                  <a:lnTo>
                    <a:pt x="321557" y="0"/>
                  </a:lnTo>
                  <a:lnTo>
                    <a:pt x="330090" y="8009"/>
                  </a:lnTo>
                  <a:lnTo>
                    <a:pt x="332936" y="28027"/>
                  </a:lnTo>
                  <a:lnTo>
                    <a:pt x="327248" y="48034"/>
                  </a:lnTo>
                  <a:lnTo>
                    <a:pt x="352856" y="52035"/>
                  </a:lnTo>
                  <a:lnTo>
                    <a:pt x="347168" y="111989"/>
                  </a:lnTo>
                  <a:lnTo>
                    <a:pt x="367088" y="119980"/>
                  </a:lnTo>
                  <a:lnTo>
                    <a:pt x="352856" y="175846"/>
                  </a:lnTo>
                  <a:lnTo>
                    <a:pt x="330090" y="175846"/>
                  </a:lnTo>
                  <a:lnTo>
                    <a:pt x="317287" y="215705"/>
                  </a:lnTo>
                  <a:lnTo>
                    <a:pt x="304483" y="255524"/>
                  </a:lnTo>
                  <a:lnTo>
                    <a:pt x="290254" y="311208"/>
                  </a:lnTo>
                  <a:lnTo>
                    <a:pt x="227649" y="303258"/>
                  </a:lnTo>
                  <a:lnTo>
                    <a:pt x="221957" y="335049"/>
                  </a:lnTo>
                  <a:lnTo>
                    <a:pt x="224807" y="374753"/>
                  </a:lnTo>
                  <a:lnTo>
                    <a:pt x="230494" y="410454"/>
                  </a:lnTo>
                  <a:lnTo>
                    <a:pt x="179275" y="402523"/>
                  </a:lnTo>
                  <a:lnTo>
                    <a:pt x="176426" y="390624"/>
                  </a:lnTo>
                  <a:lnTo>
                    <a:pt x="122361" y="378721"/>
                  </a:lnTo>
                  <a:lnTo>
                    <a:pt x="108129" y="422347"/>
                  </a:lnTo>
                  <a:lnTo>
                    <a:pt x="59756" y="410454"/>
                  </a:lnTo>
                  <a:lnTo>
                    <a:pt x="51218" y="406489"/>
                  </a:lnTo>
                  <a:lnTo>
                    <a:pt x="59756" y="370784"/>
                  </a:lnTo>
                  <a:lnTo>
                    <a:pt x="25607" y="354906"/>
                  </a:lnTo>
                  <a:lnTo>
                    <a:pt x="25607" y="291329"/>
                  </a:lnTo>
                  <a:lnTo>
                    <a:pt x="0" y="239601"/>
                  </a:lnTo>
                  <a:lnTo>
                    <a:pt x="14224" y="223673"/>
                  </a:lnTo>
                  <a:close/>
                </a:path>
              </a:pathLst>
            </a:custGeom>
            <a:solidFill>
              <a:srgbClr val="93A7D2">
                <a:alpha val="100000"/>
              </a:srgbClr>
            </a:solidFill>
            <a:ln w="13550" cap="flat">
              <a:solidFill>
                <a:srgbClr val="FFFFFF">
                  <a:alpha val="100000"/>
                </a:srgbClr>
              </a:solidFill>
              <a:prstDash val="solid"/>
              <a:round/>
            </a:ln>
          </p:spPr>
          <p:txBody>
            <a:bodyPr/>
            <a:lstStyle/>
            <a:p>
              <a:endParaRPr/>
            </a:p>
          </p:txBody>
        </p:sp>
        <p:sp>
          <p:nvSpPr>
            <p:cNvPr id="15" name="pg10">
              <a:extLst>
                <a:ext uri="{FF2B5EF4-FFF2-40B4-BE49-F238E27FC236}">
                  <a16:creationId xmlns:a16="http://schemas.microsoft.com/office/drawing/2014/main" id="{28807FD2-8661-0428-C0F7-BE64CCF67FF8}"/>
                </a:ext>
              </a:extLst>
            </p:cNvPr>
            <p:cNvSpPr/>
            <p:nvPr/>
          </p:nvSpPr>
          <p:spPr>
            <a:xfrm>
              <a:off x="4384508" y="4303635"/>
              <a:ext cx="207736" cy="305375"/>
            </a:xfrm>
            <a:custGeom>
              <a:avLst/>
              <a:gdLst/>
              <a:ahLst/>
              <a:cxnLst/>
              <a:rect l="0" t="0" r="0" b="0"/>
              <a:pathLst>
                <a:path w="207736" h="305375">
                  <a:moveTo>
                    <a:pt x="17078" y="19899"/>
                  </a:moveTo>
                  <a:lnTo>
                    <a:pt x="28460" y="7958"/>
                  </a:lnTo>
                  <a:lnTo>
                    <a:pt x="51226" y="27854"/>
                  </a:lnTo>
                  <a:lnTo>
                    <a:pt x="91062" y="0"/>
                  </a:lnTo>
                  <a:lnTo>
                    <a:pt x="130902" y="37799"/>
                  </a:lnTo>
                  <a:lnTo>
                    <a:pt x="170742" y="75564"/>
                  </a:lnTo>
                  <a:lnTo>
                    <a:pt x="184971" y="75564"/>
                  </a:lnTo>
                  <a:lnTo>
                    <a:pt x="193508" y="67616"/>
                  </a:lnTo>
                  <a:lnTo>
                    <a:pt x="207736" y="75564"/>
                  </a:lnTo>
                  <a:lnTo>
                    <a:pt x="196353" y="107340"/>
                  </a:lnTo>
                  <a:lnTo>
                    <a:pt x="187816" y="119249"/>
                  </a:lnTo>
                  <a:lnTo>
                    <a:pt x="179279" y="147025"/>
                  </a:lnTo>
                  <a:lnTo>
                    <a:pt x="170742" y="158923"/>
                  </a:lnTo>
                  <a:lnTo>
                    <a:pt x="165051" y="170817"/>
                  </a:lnTo>
                  <a:lnTo>
                    <a:pt x="165051" y="182705"/>
                  </a:lnTo>
                  <a:lnTo>
                    <a:pt x="179279" y="194593"/>
                  </a:lnTo>
                  <a:lnTo>
                    <a:pt x="176433" y="218361"/>
                  </a:lnTo>
                  <a:lnTo>
                    <a:pt x="165051" y="226276"/>
                  </a:lnTo>
                  <a:lnTo>
                    <a:pt x="147976" y="234196"/>
                  </a:lnTo>
                  <a:lnTo>
                    <a:pt x="145131" y="242109"/>
                  </a:lnTo>
                  <a:lnTo>
                    <a:pt x="145131" y="250023"/>
                  </a:lnTo>
                  <a:lnTo>
                    <a:pt x="133748" y="257935"/>
                  </a:lnTo>
                  <a:lnTo>
                    <a:pt x="119523" y="265846"/>
                  </a:lnTo>
                  <a:lnTo>
                    <a:pt x="108136" y="297475"/>
                  </a:lnTo>
                  <a:lnTo>
                    <a:pt x="96757" y="305375"/>
                  </a:lnTo>
                  <a:lnTo>
                    <a:pt x="85371" y="301426"/>
                  </a:lnTo>
                  <a:lnTo>
                    <a:pt x="79679" y="281663"/>
                  </a:lnTo>
                  <a:lnTo>
                    <a:pt x="96757" y="265846"/>
                  </a:lnTo>
                  <a:lnTo>
                    <a:pt x="99603" y="257935"/>
                  </a:lnTo>
                  <a:lnTo>
                    <a:pt x="79679" y="257935"/>
                  </a:lnTo>
                  <a:lnTo>
                    <a:pt x="62605" y="257935"/>
                  </a:lnTo>
                  <a:lnTo>
                    <a:pt x="65451" y="234196"/>
                  </a:lnTo>
                  <a:lnTo>
                    <a:pt x="71142" y="218361"/>
                  </a:lnTo>
                  <a:lnTo>
                    <a:pt x="76837" y="210438"/>
                  </a:lnTo>
                  <a:lnTo>
                    <a:pt x="85371" y="194593"/>
                  </a:lnTo>
                  <a:lnTo>
                    <a:pt x="82525" y="186671"/>
                  </a:lnTo>
                  <a:lnTo>
                    <a:pt x="71142" y="178742"/>
                  </a:lnTo>
                  <a:lnTo>
                    <a:pt x="71142" y="139091"/>
                  </a:lnTo>
                  <a:lnTo>
                    <a:pt x="62605" y="123218"/>
                  </a:lnTo>
                  <a:lnTo>
                    <a:pt x="54072" y="107340"/>
                  </a:lnTo>
                  <a:lnTo>
                    <a:pt x="48377" y="107340"/>
                  </a:lnTo>
                  <a:lnTo>
                    <a:pt x="31306" y="103369"/>
                  </a:lnTo>
                  <a:lnTo>
                    <a:pt x="28460" y="95427"/>
                  </a:lnTo>
                  <a:lnTo>
                    <a:pt x="17078" y="87483"/>
                  </a:lnTo>
                  <a:lnTo>
                    <a:pt x="5695" y="75564"/>
                  </a:lnTo>
                  <a:lnTo>
                    <a:pt x="0" y="63641"/>
                  </a:lnTo>
                  <a:lnTo>
                    <a:pt x="5695" y="43763"/>
                  </a:lnTo>
                  <a:lnTo>
                    <a:pt x="0" y="35809"/>
                  </a:lnTo>
                  <a:lnTo>
                    <a:pt x="2845" y="23875"/>
                  </a:lnTo>
                  <a:close/>
                </a:path>
              </a:pathLst>
            </a:custGeom>
            <a:solidFill>
              <a:srgbClr val="A4C7DF">
                <a:alpha val="100000"/>
              </a:srgbClr>
            </a:solidFill>
            <a:ln w="13550" cap="flat">
              <a:solidFill>
                <a:srgbClr val="FFFFFF">
                  <a:alpha val="100000"/>
                </a:srgbClr>
              </a:solidFill>
              <a:prstDash val="solid"/>
              <a:round/>
            </a:ln>
          </p:spPr>
          <p:txBody>
            <a:bodyPr/>
            <a:lstStyle/>
            <a:p>
              <a:endParaRPr/>
            </a:p>
          </p:txBody>
        </p:sp>
        <p:sp>
          <p:nvSpPr>
            <p:cNvPr id="16" name="pg11">
              <a:extLst>
                <a:ext uri="{FF2B5EF4-FFF2-40B4-BE49-F238E27FC236}">
                  <a16:creationId xmlns:a16="http://schemas.microsoft.com/office/drawing/2014/main" id="{F1B6C87C-2519-F2C1-56ED-48243C30735E}"/>
                </a:ext>
              </a:extLst>
            </p:cNvPr>
            <p:cNvSpPr/>
            <p:nvPr/>
          </p:nvSpPr>
          <p:spPr>
            <a:xfrm>
              <a:off x="4208077" y="4311593"/>
              <a:ext cx="261801" cy="356643"/>
            </a:xfrm>
            <a:custGeom>
              <a:avLst/>
              <a:gdLst/>
              <a:ahLst/>
              <a:cxnLst/>
              <a:rect l="0" t="0" r="0" b="0"/>
              <a:pathLst>
                <a:path w="261801" h="356643">
                  <a:moveTo>
                    <a:pt x="150822" y="0"/>
                  </a:moveTo>
                  <a:lnTo>
                    <a:pt x="193508" y="11941"/>
                  </a:lnTo>
                  <a:lnTo>
                    <a:pt x="179275" y="15917"/>
                  </a:lnTo>
                  <a:lnTo>
                    <a:pt x="176430" y="27851"/>
                  </a:lnTo>
                  <a:lnTo>
                    <a:pt x="182125" y="35805"/>
                  </a:lnTo>
                  <a:lnTo>
                    <a:pt x="176430" y="55683"/>
                  </a:lnTo>
                  <a:lnTo>
                    <a:pt x="182125" y="67605"/>
                  </a:lnTo>
                  <a:lnTo>
                    <a:pt x="193508" y="79524"/>
                  </a:lnTo>
                  <a:lnTo>
                    <a:pt x="204891" y="87468"/>
                  </a:lnTo>
                  <a:lnTo>
                    <a:pt x="207736" y="95411"/>
                  </a:lnTo>
                  <a:lnTo>
                    <a:pt x="224807" y="99381"/>
                  </a:lnTo>
                  <a:lnTo>
                    <a:pt x="230502" y="99381"/>
                  </a:lnTo>
                  <a:lnTo>
                    <a:pt x="239035" y="115260"/>
                  </a:lnTo>
                  <a:lnTo>
                    <a:pt x="247572" y="131132"/>
                  </a:lnTo>
                  <a:lnTo>
                    <a:pt x="247572" y="170784"/>
                  </a:lnTo>
                  <a:lnTo>
                    <a:pt x="258955" y="178713"/>
                  </a:lnTo>
                  <a:lnTo>
                    <a:pt x="261801" y="186635"/>
                  </a:lnTo>
                  <a:lnTo>
                    <a:pt x="253268" y="202479"/>
                  </a:lnTo>
                  <a:lnTo>
                    <a:pt x="247572" y="210402"/>
                  </a:lnTo>
                  <a:lnTo>
                    <a:pt x="241881" y="226238"/>
                  </a:lnTo>
                  <a:lnTo>
                    <a:pt x="239035" y="249977"/>
                  </a:lnTo>
                  <a:lnTo>
                    <a:pt x="224807" y="265797"/>
                  </a:lnTo>
                  <a:lnTo>
                    <a:pt x="219115" y="265797"/>
                  </a:lnTo>
                  <a:lnTo>
                    <a:pt x="207736" y="257888"/>
                  </a:lnTo>
                  <a:lnTo>
                    <a:pt x="216270" y="230193"/>
                  </a:lnTo>
                  <a:lnTo>
                    <a:pt x="213428" y="218318"/>
                  </a:lnTo>
                  <a:lnTo>
                    <a:pt x="204891" y="218318"/>
                  </a:lnTo>
                  <a:lnTo>
                    <a:pt x="196350" y="226238"/>
                  </a:lnTo>
                  <a:lnTo>
                    <a:pt x="190662" y="253933"/>
                  </a:lnTo>
                  <a:lnTo>
                    <a:pt x="176430" y="257888"/>
                  </a:lnTo>
                  <a:lnTo>
                    <a:pt x="170742" y="305321"/>
                  </a:lnTo>
                  <a:lnTo>
                    <a:pt x="167896" y="309271"/>
                  </a:lnTo>
                  <a:lnTo>
                    <a:pt x="153664" y="321120"/>
                  </a:lnTo>
                  <a:lnTo>
                    <a:pt x="147976" y="348751"/>
                  </a:lnTo>
                  <a:lnTo>
                    <a:pt x="142285" y="352700"/>
                  </a:lnTo>
                  <a:lnTo>
                    <a:pt x="133744" y="348751"/>
                  </a:lnTo>
                  <a:lnTo>
                    <a:pt x="130902" y="321120"/>
                  </a:lnTo>
                  <a:lnTo>
                    <a:pt x="96754" y="297417"/>
                  </a:lnTo>
                  <a:lnTo>
                    <a:pt x="99599" y="344804"/>
                  </a:lnTo>
                  <a:lnTo>
                    <a:pt x="91062" y="356643"/>
                  </a:lnTo>
                  <a:lnTo>
                    <a:pt x="76834" y="356643"/>
                  </a:lnTo>
                  <a:lnTo>
                    <a:pt x="62605" y="344804"/>
                  </a:lnTo>
                  <a:lnTo>
                    <a:pt x="54068" y="329015"/>
                  </a:lnTo>
                  <a:lnTo>
                    <a:pt x="36994" y="325069"/>
                  </a:lnTo>
                  <a:lnTo>
                    <a:pt x="28460" y="325069"/>
                  </a:lnTo>
                  <a:lnTo>
                    <a:pt x="42685" y="277658"/>
                  </a:lnTo>
                  <a:lnTo>
                    <a:pt x="54068" y="242065"/>
                  </a:lnTo>
                  <a:lnTo>
                    <a:pt x="45531" y="234151"/>
                  </a:lnTo>
                  <a:lnTo>
                    <a:pt x="25615" y="230193"/>
                  </a:lnTo>
                  <a:lnTo>
                    <a:pt x="0" y="226238"/>
                  </a:lnTo>
                  <a:lnTo>
                    <a:pt x="8540" y="214359"/>
                  </a:lnTo>
                  <a:lnTo>
                    <a:pt x="14228" y="190596"/>
                  </a:lnTo>
                  <a:lnTo>
                    <a:pt x="25615" y="146999"/>
                  </a:lnTo>
                  <a:lnTo>
                    <a:pt x="76834" y="154929"/>
                  </a:lnTo>
                  <a:lnTo>
                    <a:pt x="71146" y="119229"/>
                  </a:lnTo>
                  <a:lnTo>
                    <a:pt x="68297" y="79524"/>
                  </a:lnTo>
                  <a:lnTo>
                    <a:pt x="73988" y="47733"/>
                  </a:lnTo>
                  <a:lnTo>
                    <a:pt x="136594" y="55683"/>
                  </a:lnTo>
                  <a:close/>
                </a:path>
              </a:pathLst>
            </a:custGeom>
            <a:solidFill>
              <a:srgbClr val="A9CFE3">
                <a:alpha val="100000"/>
              </a:srgbClr>
            </a:solidFill>
            <a:ln w="13550" cap="flat">
              <a:solidFill>
                <a:srgbClr val="FFFFFF">
                  <a:alpha val="100000"/>
                </a:srgbClr>
              </a:solidFill>
              <a:prstDash val="solid"/>
              <a:round/>
            </a:ln>
          </p:spPr>
          <p:txBody>
            <a:bodyPr/>
            <a:lstStyle/>
            <a:p>
              <a:endParaRPr/>
            </a:p>
          </p:txBody>
        </p:sp>
        <p:sp>
          <p:nvSpPr>
            <p:cNvPr id="17" name="pg12">
              <a:extLst>
                <a:ext uri="{FF2B5EF4-FFF2-40B4-BE49-F238E27FC236}">
                  <a16:creationId xmlns:a16="http://schemas.microsoft.com/office/drawing/2014/main" id="{BC89E6C9-D7EC-43B5-083D-A3C4B234C16D}"/>
                </a:ext>
              </a:extLst>
            </p:cNvPr>
            <p:cNvSpPr/>
            <p:nvPr/>
          </p:nvSpPr>
          <p:spPr>
            <a:xfrm>
              <a:off x="3579187" y="3613070"/>
              <a:ext cx="418311" cy="1090660"/>
            </a:xfrm>
            <a:custGeom>
              <a:avLst/>
              <a:gdLst/>
              <a:ahLst/>
              <a:cxnLst/>
              <a:rect l="0" t="0" r="0" b="0"/>
              <a:pathLst>
                <a:path w="418311" h="1090660">
                  <a:moveTo>
                    <a:pt x="0" y="28337"/>
                  </a:moveTo>
                  <a:lnTo>
                    <a:pt x="17074" y="24290"/>
                  </a:lnTo>
                  <a:lnTo>
                    <a:pt x="31302" y="4049"/>
                  </a:lnTo>
                  <a:lnTo>
                    <a:pt x="51222" y="0"/>
                  </a:lnTo>
                  <a:lnTo>
                    <a:pt x="68297" y="4049"/>
                  </a:lnTo>
                  <a:lnTo>
                    <a:pt x="76834" y="24290"/>
                  </a:lnTo>
                  <a:lnTo>
                    <a:pt x="85371" y="60698"/>
                  </a:lnTo>
                  <a:lnTo>
                    <a:pt x="99599" y="68781"/>
                  </a:lnTo>
                  <a:lnTo>
                    <a:pt x="116674" y="64739"/>
                  </a:lnTo>
                  <a:lnTo>
                    <a:pt x="124499" y="106159"/>
                  </a:lnTo>
                  <a:lnTo>
                    <a:pt x="132325" y="147536"/>
                  </a:lnTo>
                  <a:lnTo>
                    <a:pt x="140151" y="188871"/>
                  </a:lnTo>
                  <a:lnTo>
                    <a:pt x="147976" y="230164"/>
                  </a:lnTo>
                  <a:lnTo>
                    <a:pt x="133744" y="234190"/>
                  </a:lnTo>
                  <a:lnTo>
                    <a:pt x="128056" y="242239"/>
                  </a:lnTo>
                  <a:lnTo>
                    <a:pt x="128056" y="250291"/>
                  </a:lnTo>
                  <a:lnTo>
                    <a:pt x="139439" y="306591"/>
                  </a:lnTo>
                  <a:lnTo>
                    <a:pt x="147976" y="306591"/>
                  </a:lnTo>
                  <a:lnTo>
                    <a:pt x="153664" y="338726"/>
                  </a:lnTo>
                  <a:lnTo>
                    <a:pt x="155087" y="384880"/>
                  </a:lnTo>
                  <a:lnTo>
                    <a:pt x="156510" y="430980"/>
                  </a:lnTo>
                  <a:lnTo>
                    <a:pt x="224807" y="402925"/>
                  </a:lnTo>
                  <a:lnTo>
                    <a:pt x="247572" y="455012"/>
                  </a:lnTo>
                  <a:lnTo>
                    <a:pt x="270338" y="507031"/>
                  </a:lnTo>
                  <a:lnTo>
                    <a:pt x="261801" y="523024"/>
                  </a:lnTo>
                  <a:lnTo>
                    <a:pt x="305435" y="532350"/>
                  </a:lnTo>
                  <a:lnTo>
                    <a:pt x="349069" y="541674"/>
                  </a:lnTo>
                  <a:lnTo>
                    <a:pt x="392704" y="550996"/>
                  </a:lnTo>
                  <a:lnTo>
                    <a:pt x="381317" y="566971"/>
                  </a:lnTo>
                  <a:lnTo>
                    <a:pt x="384166" y="566971"/>
                  </a:lnTo>
                  <a:lnTo>
                    <a:pt x="395546" y="582937"/>
                  </a:lnTo>
                  <a:lnTo>
                    <a:pt x="401237" y="582937"/>
                  </a:lnTo>
                  <a:lnTo>
                    <a:pt x="418311" y="622832"/>
                  </a:lnTo>
                  <a:lnTo>
                    <a:pt x="401237" y="642765"/>
                  </a:lnTo>
                  <a:lnTo>
                    <a:pt x="401237" y="658704"/>
                  </a:lnTo>
                  <a:lnTo>
                    <a:pt x="395546" y="662688"/>
                  </a:lnTo>
                  <a:lnTo>
                    <a:pt x="401237" y="698522"/>
                  </a:lnTo>
                  <a:lnTo>
                    <a:pt x="388431" y="746256"/>
                  </a:lnTo>
                  <a:lnTo>
                    <a:pt x="375626" y="793933"/>
                  </a:lnTo>
                  <a:lnTo>
                    <a:pt x="369938" y="793933"/>
                  </a:lnTo>
                  <a:lnTo>
                    <a:pt x="344327" y="828332"/>
                  </a:lnTo>
                  <a:lnTo>
                    <a:pt x="318715" y="862701"/>
                  </a:lnTo>
                  <a:lnTo>
                    <a:pt x="293104" y="897042"/>
                  </a:lnTo>
                  <a:lnTo>
                    <a:pt x="281721" y="861381"/>
                  </a:lnTo>
                  <a:lnTo>
                    <a:pt x="258955" y="833622"/>
                  </a:lnTo>
                  <a:lnTo>
                    <a:pt x="247572" y="833622"/>
                  </a:lnTo>
                  <a:lnTo>
                    <a:pt x="239035" y="829655"/>
                  </a:lnTo>
                  <a:lnTo>
                    <a:pt x="230502" y="833622"/>
                  </a:lnTo>
                  <a:lnTo>
                    <a:pt x="224807" y="825685"/>
                  </a:lnTo>
                  <a:lnTo>
                    <a:pt x="190658" y="845521"/>
                  </a:lnTo>
                  <a:lnTo>
                    <a:pt x="187816" y="845521"/>
                  </a:lnTo>
                  <a:lnTo>
                    <a:pt x="125211" y="885157"/>
                  </a:lnTo>
                  <a:lnTo>
                    <a:pt x="108133" y="885157"/>
                  </a:lnTo>
                  <a:lnTo>
                    <a:pt x="102445" y="889119"/>
                  </a:lnTo>
                  <a:lnTo>
                    <a:pt x="108133" y="897042"/>
                  </a:lnTo>
                  <a:lnTo>
                    <a:pt x="108133" y="904962"/>
                  </a:lnTo>
                  <a:lnTo>
                    <a:pt x="139439" y="916841"/>
                  </a:lnTo>
                  <a:lnTo>
                    <a:pt x="179275" y="964320"/>
                  </a:lnTo>
                  <a:lnTo>
                    <a:pt x="170738" y="972228"/>
                  </a:lnTo>
                  <a:lnTo>
                    <a:pt x="173584" y="976181"/>
                  </a:lnTo>
                  <a:lnTo>
                    <a:pt x="156510" y="1003844"/>
                  </a:lnTo>
                  <a:lnTo>
                    <a:pt x="167896" y="1015691"/>
                  </a:lnTo>
                  <a:lnTo>
                    <a:pt x="139439" y="1031485"/>
                  </a:lnTo>
                  <a:lnTo>
                    <a:pt x="139439" y="1043327"/>
                  </a:lnTo>
                  <a:lnTo>
                    <a:pt x="136594" y="1055166"/>
                  </a:lnTo>
                  <a:lnTo>
                    <a:pt x="145131" y="1082775"/>
                  </a:lnTo>
                  <a:lnTo>
                    <a:pt x="125211" y="1074889"/>
                  </a:lnTo>
                  <a:lnTo>
                    <a:pt x="108133" y="1074889"/>
                  </a:lnTo>
                  <a:lnTo>
                    <a:pt x="76834" y="1082775"/>
                  </a:lnTo>
                  <a:lnTo>
                    <a:pt x="51222" y="1090660"/>
                  </a:lnTo>
                  <a:lnTo>
                    <a:pt x="48377" y="1047274"/>
                  </a:lnTo>
                  <a:lnTo>
                    <a:pt x="45531" y="1003843"/>
                  </a:lnTo>
                  <a:lnTo>
                    <a:pt x="42685" y="960365"/>
                  </a:lnTo>
                  <a:lnTo>
                    <a:pt x="39839" y="916841"/>
                  </a:lnTo>
                  <a:lnTo>
                    <a:pt x="36994" y="873271"/>
                  </a:lnTo>
                  <a:lnTo>
                    <a:pt x="34148" y="829654"/>
                  </a:lnTo>
                  <a:lnTo>
                    <a:pt x="31302" y="785990"/>
                  </a:lnTo>
                  <a:lnTo>
                    <a:pt x="28457" y="742280"/>
                  </a:lnTo>
                  <a:lnTo>
                    <a:pt x="26783" y="700630"/>
                  </a:lnTo>
                  <a:lnTo>
                    <a:pt x="25109" y="658938"/>
                  </a:lnTo>
                  <a:lnTo>
                    <a:pt x="23435" y="617202"/>
                  </a:lnTo>
                  <a:lnTo>
                    <a:pt x="21761" y="575424"/>
                  </a:lnTo>
                  <a:lnTo>
                    <a:pt x="20087" y="533602"/>
                  </a:lnTo>
                  <a:lnTo>
                    <a:pt x="18413" y="491738"/>
                  </a:lnTo>
                  <a:lnTo>
                    <a:pt x="16739" y="449830"/>
                  </a:lnTo>
                  <a:lnTo>
                    <a:pt x="15065" y="407878"/>
                  </a:lnTo>
                  <a:lnTo>
                    <a:pt x="13391" y="365883"/>
                  </a:lnTo>
                  <a:lnTo>
                    <a:pt x="11717" y="323845"/>
                  </a:lnTo>
                  <a:lnTo>
                    <a:pt x="10043" y="281762"/>
                  </a:lnTo>
                  <a:lnTo>
                    <a:pt x="8369" y="239635"/>
                  </a:lnTo>
                  <a:lnTo>
                    <a:pt x="6695" y="197464"/>
                  </a:lnTo>
                  <a:lnTo>
                    <a:pt x="5021" y="155249"/>
                  </a:lnTo>
                  <a:lnTo>
                    <a:pt x="3347" y="112990"/>
                  </a:lnTo>
                  <a:lnTo>
                    <a:pt x="1673" y="70686"/>
                  </a:lnTo>
                  <a:close/>
                </a:path>
              </a:pathLst>
            </a:custGeom>
            <a:solidFill>
              <a:srgbClr val="A6CAE0">
                <a:alpha val="100000"/>
              </a:srgbClr>
            </a:solidFill>
            <a:ln w="13550" cap="flat">
              <a:solidFill>
                <a:srgbClr val="FFFFFF">
                  <a:alpha val="100000"/>
                </a:srgbClr>
              </a:solidFill>
              <a:prstDash val="solid"/>
              <a:round/>
            </a:ln>
          </p:spPr>
          <p:txBody>
            <a:bodyPr/>
            <a:lstStyle/>
            <a:p>
              <a:endParaRPr/>
            </a:p>
          </p:txBody>
        </p:sp>
        <p:sp>
          <p:nvSpPr>
            <p:cNvPr id="18" name="pg13">
              <a:extLst>
                <a:ext uri="{FF2B5EF4-FFF2-40B4-BE49-F238E27FC236}">
                  <a16:creationId xmlns:a16="http://schemas.microsoft.com/office/drawing/2014/main" id="{B40BF050-6261-BD87-64DC-EDBDE1C56822}"/>
                </a:ext>
              </a:extLst>
            </p:cNvPr>
            <p:cNvSpPr/>
            <p:nvPr/>
          </p:nvSpPr>
          <p:spPr>
            <a:xfrm>
              <a:off x="4435734" y="2873257"/>
              <a:ext cx="685800" cy="1230846"/>
            </a:xfrm>
            <a:custGeom>
              <a:avLst/>
              <a:gdLst/>
              <a:ahLst/>
              <a:cxnLst/>
              <a:rect l="0" t="0" r="0" b="0"/>
              <a:pathLst>
                <a:path w="685800" h="1230846">
                  <a:moveTo>
                    <a:pt x="261797" y="1206835"/>
                  </a:moveTo>
                  <a:lnTo>
                    <a:pt x="253260" y="1194825"/>
                  </a:lnTo>
                  <a:lnTo>
                    <a:pt x="236186" y="1202832"/>
                  </a:lnTo>
                  <a:lnTo>
                    <a:pt x="185913" y="1212172"/>
                  </a:lnTo>
                  <a:lnTo>
                    <a:pt x="135640" y="1221510"/>
                  </a:lnTo>
                  <a:lnTo>
                    <a:pt x="85367" y="1230846"/>
                  </a:lnTo>
                  <a:lnTo>
                    <a:pt x="71138" y="1174800"/>
                  </a:lnTo>
                  <a:lnTo>
                    <a:pt x="39836" y="1182811"/>
                  </a:lnTo>
                  <a:lnTo>
                    <a:pt x="33196" y="1140735"/>
                  </a:lnTo>
                  <a:lnTo>
                    <a:pt x="26557" y="1098614"/>
                  </a:lnTo>
                  <a:lnTo>
                    <a:pt x="19918" y="1056450"/>
                  </a:lnTo>
                  <a:lnTo>
                    <a:pt x="13278" y="1014242"/>
                  </a:lnTo>
                  <a:lnTo>
                    <a:pt x="6639" y="971989"/>
                  </a:lnTo>
                  <a:lnTo>
                    <a:pt x="0" y="929692"/>
                  </a:lnTo>
                  <a:lnTo>
                    <a:pt x="39838" y="920958"/>
                  </a:lnTo>
                  <a:lnTo>
                    <a:pt x="79677" y="912223"/>
                  </a:lnTo>
                  <a:lnTo>
                    <a:pt x="119516" y="903485"/>
                  </a:lnTo>
                  <a:lnTo>
                    <a:pt x="159354" y="894746"/>
                  </a:lnTo>
                  <a:lnTo>
                    <a:pt x="199193" y="886005"/>
                  </a:lnTo>
                  <a:lnTo>
                    <a:pt x="239032" y="877261"/>
                  </a:lnTo>
                  <a:lnTo>
                    <a:pt x="233340" y="828806"/>
                  </a:lnTo>
                  <a:lnTo>
                    <a:pt x="284563" y="816682"/>
                  </a:lnTo>
                  <a:lnTo>
                    <a:pt x="276026" y="776243"/>
                  </a:lnTo>
                  <a:lnTo>
                    <a:pt x="267489" y="735763"/>
                  </a:lnTo>
                  <a:lnTo>
                    <a:pt x="258951" y="695242"/>
                  </a:lnTo>
                  <a:lnTo>
                    <a:pt x="250414" y="654680"/>
                  </a:lnTo>
                  <a:lnTo>
                    <a:pt x="241877" y="614077"/>
                  </a:lnTo>
                  <a:lnTo>
                    <a:pt x="199192" y="614077"/>
                  </a:lnTo>
                  <a:lnTo>
                    <a:pt x="202041" y="577501"/>
                  </a:lnTo>
                  <a:lnTo>
                    <a:pt x="199192" y="536821"/>
                  </a:lnTo>
                  <a:lnTo>
                    <a:pt x="196346" y="520537"/>
                  </a:lnTo>
                  <a:lnTo>
                    <a:pt x="256106" y="492023"/>
                  </a:lnTo>
                  <a:lnTo>
                    <a:pt x="256882" y="447545"/>
                  </a:lnTo>
                  <a:lnTo>
                    <a:pt x="257658" y="403018"/>
                  </a:lnTo>
                  <a:lnTo>
                    <a:pt x="258434" y="358440"/>
                  </a:lnTo>
                  <a:lnTo>
                    <a:pt x="259210" y="313813"/>
                  </a:lnTo>
                  <a:lnTo>
                    <a:pt x="259986" y="269135"/>
                  </a:lnTo>
                  <a:lnTo>
                    <a:pt x="260762" y="224406"/>
                  </a:lnTo>
                  <a:lnTo>
                    <a:pt x="261538" y="179627"/>
                  </a:lnTo>
                  <a:lnTo>
                    <a:pt x="262315" y="134797"/>
                  </a:lnTo>
                  <a:lnTo>
                    <a:pt x="263091" y="89916"/>
                  </a:lnTo>
                  <a:lnTo>
                    <a:pt x="263867" y="44983"/>
                  </a:lnTo>
                  <a:lnTo>
                    <a:pt x="264643" y="0"/>
                  </a:lnTo>
                  <a:lnTo>
                    <a:pt x="324403" y="0"/>
                  </a:lnTo>
                  <a:lnTo>
                    <a:pt x="330094" y="4128"/>
                  </a:lnTo>
                  <a:lnTo>
                    <a:pt x="372779" y="5503"/>
                  </a:lnTo>
                  <a:lnTo>
                    <a:pt x="415463" y="6878"/>
                  </a:lnTo>
                  <a:lnTo>
                    <a:pt x="458147" y="8253"/>
                  </a:lnTo>
                  <a:lnTo>
                    <a:pt x="458147" y="52425"/>
                  </a:lnTo>
                  <a:lnTo>
                    <a:pt x="458147" y="96546"/>
                  </a:lnTo>
                  <a:lnTo>
                    <a:pt x="458147" y="140619"/>
                  </a:lnTo>
                  <a:lnTo>
                    <a:pt x="458147" y="184642"/>
                  </a:lnTo>
                  <a:lnTo>
                    <a:pt x="458147" y="228616"/>
                  </a:lnTo>
                  <a:lnTo>
                    <a:pt x="458147" y="272542"/>
                  </a:lnTo>
                  <a:lnTo>
                    <a:pt x="458147" y="316418"/>
                  </a:lnTo>
                  <a:lnTo>
                    <a:pt x="458147" y="324601"/>
                  </a:lnTo>
                  <a:lnTo>
                    <a:pt x="458147" y="366181"/>
                  </a:lnTo>
                  <a:lnTo>
                    <a:pt x="458147" y="407719"/>
                  </a:lnTo>
                  <a:lnTo>
                    <a:pt x="458147" y="449212"/>
                  </a:lnTo>
                  <a:lnTo>
                    <a:pt x="458147" y="490663"/>
                  </a:lnTo>
                  <a:lnTo>
                    <a:pt x="458147" y="532070"/>
                  </a:lnTo>
                  <a:lnTo>
                    <a:pt x="458147" y="573434"/>
                  </a:lnTo>
                  <a:lnTo>
                    <a:pt x="472380" y="581567"/>
                  </a:lnTo>
                  <a:lnTo>
                    <a:pt x="532136" y="573434"/>
                  </a:lnTo>
                  <a:lnTo>
                    <a:pt x="532136" y="565301"/>
                  </a:lnTo>
                  <a:lnTo>
                    <a:pt x="574821" y="558521"/>
                  </a:lnTo>
                  <a:lnTo>
                    <a:pt x="617507" y="551740"/>
                  </a:lnTo>
                  <a:lnTo>
                    <a:pt x="660193" y="544958"/>
                  </a:lnTo>
                  <a:lnTo>
                    <a:pt x="664461" y="586987"/>
                  </a:lnTo>
                  <a:lnTo>
                    <a:pt x="668729" y="628971"/>
                  </a:lnTo>
                  <a:lnTo>
                    <a:pt x="672997" y="670911"/>
                  </a:lnTo>
                  <a:lnTo>
                    <a:pt x="677264" y="712807"/>
                  </a:lnTo>
                  <a:lnTo>
                    <a:pt x="681532" y="754659"/>
                  </a:lnTo>
                  <a:lnTo>
                    <a:pt x="685800" y="796468"/>
                  </a:lnTo>
                  <a:lnTo>
                    <a:pt x="631736" y="808595"/>
                  </a:lnTo>
                  <a:lnTo>
                    <a:pt x="579090" y="824762"/>
                  </a:lnTo>
                  <a:lnTo>
                    <a:pt x="526444" y="840923"/>
                  </a:lnTo>
                  <a:lnTo>
                    <a:pt x="534981" y="909535"/>
                  </a:lnTo>
                  <a:lnTo>
                    <a:pt x="475225" y="929692"/>
                  </a:lnTo>
                  <a:lnTo>
                    <a:pt x="486604" y="990104"/>
                  </a:lnTo>
                  <a:lnTo>
                    <a:pt x="429694" y="1006196"/>
                  </a:lnTo>
                  <a:lnTo>
                    <a:pt x="435384" y="1054440"/>
                  </a:lnTo>
                  <a:lnTo>
                    <a:pt x="441074" y="1102627"/>
                  </a:lnTo>
                  <a:lnTo>
                    <a:pt x="446765" y="1150756"/>
                  </a:lnTo>
                  <a:lnTo>
                    <a:pt x="369934" y="1162782"/>
                  </a:lnTo>
                  <a:lnTo>
                    <a:pt x="355702" y="1190821"/>
                  </a:lnTo>
                  <a:lnTo>
                    <a:pt x="332940" y="1182811"/>
                  </a:lnTo>
                  <a:lnTo>
                    <a:pt x="310174" y="1198829"/>
                  </a:lnTo>
                  <a:lnTo>
                    <a:pt x="304483" y="1222844"/>
                  </a:lnTo>
                  <a:lnTo>
                    <a:pt x="290254" y="1222844"/>
                  </a:lnTo>
                  <a:lnTo>
                    <a:pt x="290254" y="1206835"/>
                  </a:lnTo>
                  <a:close/>
                </a:path>
              </a:pathLst>
            </a:custGeom>
            <a:solidFill>
              <a:srgbClr val="8E9FCF">
                <a:alpha val="100000"/>
              </a:srgbClr>
            </a:solidFill>
            <a:ln w="13550" cap="flat">
              <a:solidFill>
                <a:srgbClr val="FFFFFF">
                  <a:alpha val="100000"/>
                </a:srgbClr>
              </a:solidFill>
              <a:prstDash val="solid"/>
              <a:round/>
            </a:ln>
          </p:spPr>
          <p:txBody>
            <a:bodyPr/>
            <a:lstStyle/>
            <a:p>
              <a:endParaRPr/>
            </a:p>
          </p:txBody>
        </p:sp>
        <p:sp>
          <p:nvSpPr>
            <p:cNvPr id="19" name="pg14">
              <a:extLst>
                <a:ext uri="{FF2B5EF4-FFF2-40B4-BE49-F238E27FC236}">
                  <a16:creationId xmlns:a16="http://schemas.microsoft.com/office/drawing/2014/main" id="{EE76D1CE-1776-27A7-E93F-486B7CFDC8F6}"/>
                </a:ext>
              </a:extLst>
            </p:cNvPr>
            <p:cNvSpPr/>
            <p:nvPr/>
          </p:nvSpPr>
          <p:spPr>
            <a:xfrm>
              <a:off x="4196698" y="2745150"/>
              <a:ext cx="523599" cy="1110159"/>
            </a:xfrm>
            <a:custGeom>
              <a:avLst/>
              <a:gdLst/>
              <a:ahLst/>
              <a:cxnLst/>
              <a:rect l="0" t="0" r="0" b="0"/>
              <a:pathLst>
                <a:path w="523599" h="1110159">
                  <a:moveTo>
                    <a:pt x="239035" y="1057799"/>
                  </a:moveTo>
                  <a:lnTo>
                    <a:pt x="165043" y="1073918"/>
                  </a:lnTo>
                  <a:lnTo>
                    <a:pt x="167889" y="1094054"/>
                  </a:lnTo>
                  <a:lnTo>
                    <a:pt x="105287" y="1110159"/>
                  </a:lnTo>
                  <a:lnTo>
                    <a:pt x="91058" y="1045706"/>
                  </a:lnTo>
                  <a:lnTo>
                    <a:pt x="85367" y="1041674"/>
                  </a:lnTo>
                  <a:lnTo>
                    <a:pt x="75881" y="997297"/>
                  </a:lnTo>
                  <a:lnTo>
                    <a:pt x="66396" y="952871"/>
                  </a:lnTo>
                  <a:lnTo>
                    <a:pt x="56910" y="908395"/>
                  </a:lnTo>
                  <a:lnTo>
                    <a:pt x="65447" y="904347"/>
                  </a:lnTo>
                  <a:lnTo>
                    <a:pt x="55487" y="860831"/>
                  </a:lnTo>
                  <a:lnTo>
                    <a:pt x="45527" y="817267"/>
                  </a:lnTo>
                  <a:lnTo>
                    <a:pt x="35567" y="773656"/>
                  </a:lnTo>
                  <a:lnTo>
                    <a:pt x="25607" y="729997"/>
                  </a:lnTo>
                  <a:lnTo>
                    <a:pt x="36994" y="721869"/>
                  </a:lnTo>
                  <a:lnTo>
                    <a:pt x="45527" y="709673"/>
                  </a:lnTo>
                  <a:lnTo>
                    <a:pt x="54064" y="693407"/>
                  </a:lnTo>
                  <a:lnTo>
                    <a:pt x="54064" y="681206"/>
                  </a:lnTo>
                  <a:lnTo>
                    <a:pt x="65447" y="668995"/>
                  </a:lnTo>
                  <a:lnTo>
                    <a:pt x="65447" y="660855"/>
                  </a:lnTo>
                  <a:lnTo>
                    <a:pt x="65447" y="652715"/>
                  </a:lnTo>
                  <a:lnTo>
                    <a:pt x="65447" y="648644"/>
                  </a:lnTo>
                  <a:lnTo>
                    <a:pt x="56910" y="648644"/>
                  </a:lnTo>
                  <a:lnTo>
                    <a:pt x="42681" y="652715"/>
                  </a:lnTo>
                  <a:lnTo>
                    <a:pt x="36994" y="648644"/>
                  </a:lnTo>
                  <a:lnTo>
                    <a:pt x="42681" y="640496"/>
                  </a:lnTo>
                  <a:lnTo>
                    <a:pt x="31299" y="636426"/>
                  </a:lnTo>
                  <a:lnTo>
                    <a:pt x="22761" y="624204"/>
                  </a:lnTo>
                  <a:lnTo>
                    <a:pt x="8533" y="595670"/>
                  </a:lnTo>
                  <a:lnTo>
                    <a:pt x="0" y="595670"/>
                  </a:lnTo>
                  <a:lnTo>
                    <a:pt x="5687" y="591595"/>
                  </a:lnTo>
                  <a:lnTo>
                    <a:pt x="14228" y="583439"/>
                  </a:lnTo>
                  <a:lnTo>
                    <a:pt x="17074" y="567121"/>
                  </a:lnTo>
                  <a:lnTo>
                    <a:pt x="19919" y="563040"/>
                  </a:lnTo>
                  <a:lnTo>
                    <a:pt x="25607" y="563040"/>
                  </a:lnTo>
                  <a:lnTo>
                    <a:pt x="34144" y="575281"/>
                  </a:lnTo>
                  <a:lnTo>
                    <a:pt x="45527" y="579360"/>
                  </a:lnTo>
                  <a:lnTo>
                    <a:pt x="51218" y="579360"/>
                  </a:lnTo>
                  <a:lnTo>
                    <a:pt x="51218" y="571201"/>
                  </a:lnTo>
                  <a:lnTo>
                    <a:pt x="45527" y="563040"/>
                  </a:lnTo>
                  <a:lnTo>
                    <a:pt x="56910" y="550796"/>
                  </a:lnTo>
                  <a:lnTo>
                    <a:pt x="62605" y="518127"/>
                  </a:lnTo>
                  <a:lnTo>
                    <a:pt x="48373" y="497695"/>
                  </a:lnTo>
                  <a:lnTo>
                    <a:pt x="65447" y="493607"/>
                  </a:lnTo>
                  <a:lnTo>
                    <a:pt x="71138" y="505872"/>
                  </a:lnTo>
                  <a:lnTo>
                    <a:pt x="99596" y="501782"/>
                  </a:lnTo>
                  <a:lnTo>
                    <a:pt x="76830" y="424055"/>
                  </a:lnTo>
                  <a:lnTo>
                    <a:pt x="54064" y="424055"/>
                  </a:lnTo>
                  <a:lnTo>
                    <a:pt x="53251" y="382498"/>
                  </a:lnTo>
                  <a:lnTo>
                    <a:pt x="52438" y="340898"/>
                  </a:lnTo>
                  <a:lnTo>
                    <a:pt x="51625" y="299253"/>
                  </a:lnTo>
                  <a:lnTo>
                    <a:pt x="50812" y="257565"/>
                  </a:lnTo>
                  <a:lnTo>
                    <a:pt x="49999" y="215833"/>
                  </a:lnTo>
                  <a:lnTo>
                    <a:pt x="49186" y="174056"/>
                  </a:lnTo>
                  <a:lnTo>
                    <a:pt x="48373" y="132235"/>
                  </a:lnTo>
                  <a:lnTo>
                    <a:pt x="51218" y="128106"/>
                  </a:lnTo>
                  <a:lnTo>
                    <a:pt x="52641" y="66171"/>
                  </a:lnTo>
                  <a:lnTo>
                    <a:pt x="54064" y="4139"/>
                  </a:lnTo>
                  <a:lnTo>
                    <a:pt x="97887" y="3725"/>
                  </a:lnTo>
                  <a:lnTo>
                    <a:pt x="141711" y="3311"/>
                  </a:lnTo>
                  <a:lnTo>
                    <a:pt x="185534" y="2897"/>
                  </a:lnTo>
                  <a:lnTo>
                    <a:pt x="229357" y="2483"/>
                  </a:lnTo>
                  <a:lnTo>
                    <a:pt x="273180" y="2069"/>
                  </a:lnTo>
                  <a:lnTo>
                    <a:pt x="317003" y="1655"/>
                  </a:lnTo>
                  <a:lnTo>
                    <a:pt x="360826" y="1241"/>
                  </a:lnTo>
                  <a:lnTo>
                    <a:pt x="404650" y="827"/>
                  </a:lnTo>
                  <a:lnTo>
                    <a:pt x="448473" y="413"/>
                  </a:lnTo>
                  <a:lnTo>
                    <a:pt x="492296" y="0"/>
                  </a:lnTo>
                  <a:lnTo>
                    <a:pt x="496090" y="42748"/>
                  </a:lnTo>
                  <a:lnTo>
                    <a:pt x="499884" y="85450"/>
                  </a:lnTo>
                  <a:lnTo>
                    <a:pt x="503679" y="128106"/>
                  </a:lnTo>
                  <a:lnTo>
                    <a:pt x="502903" y="173090"/>
                  </a:lnTo>
                  <a:lnTo>
                    <a:pt x="502126" y="218022"/>
                  </a:lnTo>
                  <a:lnTo>
                    <a:pt x="501350" y="262904"/>
                  </a:lnTo>
                  <a:lnTo>
                    <a:pt x="500574" y="307734"/>
                  </a:lnTo>
                  <a:lnTo>
                    <a:pt x="499798" y="352513"/>
                  </a:lnTo>
                  <a:lnTo>
                    <a:pt x="499022" y="397241"/>
                  </a:lnTo>
                  <a:lnTo>
                    <a:pt x="498246" y="441920"/>
                  </a:lnTo>
                  <a:lnTo>
                    <a:pt x="497470" y="486547"/>
                  </a:lnTo>
                  <a:lnTo>
                    <a:pt x="496694" y="531125"/>
                  </a:lnTo>
                  <a:lnTo>
                    <a:pt x="495918" y="575652"/>
                  </a:lnTo>
                  <a:lnTo>
                    <a:pt x="495142" y="620130"/>
                  </a:lnTo>
                  <a:lnTo>
                    <a:pt x="435382" y="648644"/>
                  </a:lnTo>
                  <a:lnTo>
                    <a:pt x="438227" y="664928"/>
                  </a:lnTo>
                  <a:lnTo>
                    <a:pt x="441077" y="705607"/>
                  </a:lnTo>
                  <a:lnTo>
                    <a:pt x="438227" y="742183"/>
                  </a:lnTo>
                  <a:lnTo>
                    <a:pt x="480913" y="742183"/>
                  </a:lnTo>
                  <a:lnTo>
                    <a:pt x="489450" y="782787"/>
                  </a:lnTo>
                  <a:lnTo>
                    <a:pt x="497987" y="823349"/>
                  </a:lnTo>
                  <a:lnTo>
                    <a:pt x="506524" y="863870"/>
                  </a:lnTo>
                  <a:lnTo>
                    <a:pt x="515062" y="904350"/>
                  </a:lnTo>
                  <a:lnTo>
                    <a:pt x="523599" y="944789"/>
                  </a:lnTo>
                  <a:lnTo>
                    <a:pt x="472376" y="956912"/>
                  </a:lnTo>
                  <a:lnTo>
                    <a:pt x="478067" y="1005368"/>
                  </a:lnTo>
                  <a:lnTo>
                    <a:pt x="438229" y="1014111"/>
                  </a:lnTo>
                  <a:lnTo>
                    <a:pt x="398390" y="1022853"/>
                  </a:lnTo>
                  <a:lnTo>
                    <a:pt x="358551" y="1031592"/>
                  </a:lnTo>
                  <a:lnTo>
                    <a:pt x="318713" y="1040330"/>
                  </a:lnTo>
                  <a:lnTo>
                    <a:pt x="278874" y="1049065"/>
                  </a:lnTo>
                  <a:close/>
                </a:path>
              </a:pathLst>
            </a:custGeom>
            <a:solidFill>
              <a:srgbClr val="ADD8E6">
                <a:alpha val="100000"/>
              </a:srgbClr>
            </a:solidFill>
            <a:ln w="13550" cap="flat">
              <a:solidFill>
                <a:srgbClr val="FFFFFF">
                  <a:alpha val="100000"/>
                </a:srgbClr>
              </a:solidFill>
              <a:prstDash val="solid"/>
              <a:round/>
            </a:ln>
          </p:spPr>
          <p:txBody>
            <a:bodyPr/>
            <a:lstStyle/>
            <a:p>
              <a:endParaRPr/>
            </a:p>
          </p:txBody>
        </p:sp>
        <p:sp>
          <p:nvSpPr>
            <p:cNvPr id="20" name="pg15">
              <a:extLst>
                <a:ext uri="{FF2B5EF4-FFF2-40B4-BE49-F238E27FC236}">
                  <a16:creationId xmlns:a16="http://schemas.microsoft.com/office/drawing/2014/main" id="{1BA10914-979B-F315-4D61-D9705C43C296}"/>
                </a:ext>
              </a:extLst>
            </p:cNvPr>
            <p:cNvSpPr/>
            <p:nvPr/>
          </p:nvSpPr>
          <p:spPr>
            <a:xfrm>
              <a:off x="4091407" y="4434791"/>
              <a:ext cx="170738" cy="328030"/>
            </a:xfrm>
            <a:custGeom>
              <a:avLst/>
              <a:gdLst/>
              <a:ahLst/>
              <a:cxnLst/>
              <a:rect l="0" t="0" r="0" b="0"/>
              <a:pathLst>
                <a:path w="170738" h="328030">
                  <a:moveTo>
                    <a:pt x="22765" y="31732"/>
                  </a:moveTo>
                  <a:lnTo>
                    <a:pt x="71138" y="43625"/>
                  </a:lnTo>
                  <a:lnTo>
                    <a:pt x="85371" y="0"/>
                  </a:lnTo>
                  <a:lnTo>
                    <a:pt x="139435" y="11902"/>
                  </a:lnTo>
                  <a:lnTo>
                    <a:pt x="142285" y="23801"/>
                  </a:lnTo>
                  <a:lnTo>
                    <a:pt x="130898" y="67399"/>
                  </a:lnTo>
                  <a:lnTo>
                    <a:pt x="125211" y="91162"/>
                  </a:lnTo>
                  <a:lnTo>
                    <a:pt x="116670" y="103040"/>
                  </a:lnTo>
                  <a:lnTo>
                    <a:pt x="142285" y="106996"/>
                  </a:lnTo>
                  <a:lnTo>
                    <a:pt x="162201" y="110953"/>
                  </a:lnTo>
                  <a:lnTo>
                    <a:pt x="170738" y="118867"/>
                  </a:lnTo>
                  <a:lnTo>
                    <a:pt x="159355" y="154461"/>
                  </a:lnTo>
                  <a:lnTo>
                    <a:pt x="145131" y="201872"/>
                  </a:lnTo>
                  <a:lnTo>
                    <a:pt x="128053" y="205817"/>
                  </a:lnTo>
                  <a:lnTo>
                    <a:pt x="113824" y="245281"/>
                  </a:lnTo>
                  <a:lnTo>
                    <a:pt x="105291" y="261055"/>
                  </a:lnTo>
                  <a:lnTo>
                    <a:pt x="113824" y="300465"/>
                  </a:lnTo>
                  <a:lnTo>
                    <a:pt x="102445" y="328030"/>
                  </a:lnTo>
                  <a:lnTo>
                    <a:pt x="93904" y="328030"/>
                  </a:lnTo>
                  <a:lnTo>
                    <a:pt x="85371" y="320156"/>
                  </a:lnTo>
                  <a:lnTo>
                    <a:pt x="85371" y="304404"/>
                  </a:lnTo>
                  <a:lnTo>
                    <a:pt x="76834" y="288646"/>
                  </a:lnTo>
                  <a:lnTo>
                    <a:pt x="76834" y="261055"/>
                  </a:lnTo>
                  <a:lnTo>
                    <a:pt x="79679" y="233446"/>
                  </a:lnTo>
                  <a:lnTo>
                    <a:pt x="71138" y="221607"/>
                  </a:lnTo>
                  <a:lnTo>
                    <a:pt x="82525" y="186074"/>
                  </a:lnTo>
                  <a:lnTo>
                    <a:pt x="93904" y="158414"/>
                  </a:lnTo>
                  <a:lnTo>
                    <a:pt x="91058" y="154461"/>
                  </a:lnTo>
                  <a:lnTo>
                    <a:pt x="82525" y="150508"/>
                  </a:lnTo>
                  <a:lnTo>
                    <a:pt x="76834" y="162364"/>
                  </a:lnTo>
                  <a:lnTo>
                    <a:pt x="65451" y="174219"/>
                  </a:lnTo>
                  <a:lnTo>
                    <a:pt x="56914" y="174219"/>
                  </a:lnTo>
                  <a:lnTo>
                    <a:pt x="39839" y="170271"/>
                  </a:lnTo>
                  <a:lnTo>
                    <a:pt x="25607" y="162364"/>
                  </a:lnTo>
                  <a:lnTo>
                    <a:pt x="14228" y="154461"/>
                  </a:lnTo>
                  <a:lnTo>
                    <a:pt x="5691" y="142600"/>
                  </a:lnTo>
                  <a:lnTo>
                    <a:pt x="0" y="130735"/>
                  </a:lnTo>
                  <a:lnTo>
                    <a:pt x="5691" y="114910"/>
                  </a:lnTo>
                  <a:lnTo>
                    <a:pt x="5691" y="103040"/>
                  </a:lnTo>
                  <a:close/>
                </a:path>
              </a:pathLst>
            </a:custGeom>
            <a:solidFill>
              <a:srgbClr val="A9D0E3">
                <a:alpha val="100000"/>
              </a:srgbClr>
            </a:solidFill>
            <a:ln w="13550" cap="flat">
              <a:solidFill>
                <a:srgbClr val="FFFFFF">
                  <a:alpha val="100000"/>
                </a:srgbClr>
              </a:solidFill>
              <a:prstDash val="solid"/>
              <a:round/>
            </a:ln>
          </p:spPr>
          <p:txBody>
            <a:bodyPr/>
            <a:lstStyle/>
            <a:p>
              <a:endParaRPr/>
            </a:p>
          </p:txBody>
        </p:sp>
        <p:sp>
          <p:nvSpPr>
            <p:cNvPr id="21" name="pg16">
              <a:extLst>
                <a:ext uri="{FF2B5EF4-FFF2-40B4-BE49-F238E27FC236}">
                  <a16:creationId xmlns:a16="http://schemas.microsoft.com/office/drawing/2014/main" id="{44257599-51FD-3316-60CB-5BC23A117393}"/>
                </a:ext>
              </a:extLst>
            </p:cNvPr>
            <p:cNvSpPr/>
            <p:nvPr/>
          </p:nvSpPr>
          <p:spPr>
            <a:xfrm>
              <a:off x="3835297" y="2749290"/>
              <a:ext cx="640273" cy="1406784"/>
            </a:xfrm>
            <a:custGeom>
              <a:avLst/>
              <a:gdLst/>
              <a:ahLst/>
              <a:cxnLst/>
              <a:rect l="0" t="0" r="0" b="0"/>
              <a:pathLst>
                <a:path w="640273" h="1406784">
                  <a:moveTo>
                    <a:pt x="549210" y="1314788"/>
                  </a:moveTo>
                  <a:lnTo>
                    <a:pt x="540677" y="1306778"/>
                  </a:lnTo>
                  <a:lnTo>
                    <a:pt x="460997" y="1318792"/>
                  </a:lnTo>
                  <a:lnTo>
                    <a:pt x="460997" y="1330803"/>
                  </a:lnTo>
                  <a:lnTo>
                    <a:pt x="469534" y="1346811"/>
                  </a:lnTo>
                  <a:lnTo>
                    <a:pt x="483763" y="1354813"/>
                  </a:lnTo>
                  <a:lnTo>
                    <a:pt x="486608" y="1370812"/>
                  </a:lnTo>
                  <a:lnTo>
                    <a:pt x="483763" y="1394799"/>
                  </a:lnTo>
                  <a:lnTo>
                    <a:pt x="475225" y="1402791"/>
                  </a:lnTo>
                  <a:lnTo>
                    <a:pt x="409774" y="1390799"/>
                  </a:lnTo>
                  <a:lnTo>
                    <a:pt x="404083" y="1386805"/>
                  </a:lnTo>
                  <a:lnTo>
                    <a:pt x="392700" y="1386805"/>
                  </a:lnTo>
                  <a:lnTo>
                    <a:pt x="378475" y="1406784"/>
                  </a:lnTo>
                  <a:lnTo>
                    <a:pt x="367088" y="1398795"/>
                  </a:lnTo>
                  <a:lnTo>
                    <a:pt x="369934" y="1386805"/>
                  </a:lnTo>
                  <a:lnTo>
                    <a:pt x="358555" y="1378809"/>
                  </a:lnTo>
                  <a:lnTo>
                    <a:pt x="341481" y="1374808"/>
                  </a:lnTo>
                  <a:lnTo>
                    <a:pt x="313024" y="1386805"/>
                  </a:lnTo>
                  <a:lnTo>
                    <a:pt x="293104" y="1330803"/>
                  </a:lnTo>
                  <a:lnTo>
                    <a:pt x="281717" y="1330803"/>
                  </a:lnTo>
                  <a:lnTo>
                    <a:pt x="267492" y="1278732"/>
                  </a:lnTo>
                  <a:lnTo>
                    <a:pt x="276030" y="1274724"/>
                  </a:lnTo>
                  <a:lnTo>
                    <a:pt x="267492" y="1238634"/>
                  </a:lnTo>
                  <a:lnTo>
                    <a:pt x="258955" y="1238634"/>
                  </a:lnTo>
                  <a:lnTo>
                    <a:pt x="256110" y="1226596"/>
                  </a:lnTo>
                  <a:lnTo>
                    <a:pt x="258955" y="1226596"/>
                  </a:lnTo>
                  <a:lnTo>
                    <a:pt x="256110" y="1202507"/>
                  </a:lnTo>
                  <a:lnTo>
                    <a:pt x="210578" y="1206525"/>
                  </a:lnTo>
                  <a:lnTo>
                    <a:pt x="207732" y="1186444"/>
                  </a:lnTo>
                  <a:lnTo>
                    <a:pt x="202041" y="1186444"/>
                  </a:lnTo>
                  <a:lnTo>
                    <a:pt x="202041" y="1178409"/>
                  </a:lnTo>
                  <a:lnTo>
                    <a:pt x="204887" y="1178409"/>
                  </a:lnTo>
                  <a:lnTo>
                    <a:pt x="204887" y="1150273"/>
                  </a:lnTo>
                  <a:lnTo>
                    <a:pt x="219119" y="1146252"/>
                  </a:lnTo>
                  <a:lnTo>
                    <a:pt x="211531" y="1104678"/>
                  </a:lnTo>
                  <a:lnTo>
                    <a:pt x="203942" y="1063062"/>
                  </a:lnTo>
                  <a:lnTo>
                    <a:pt x="196353" y="1021403"/>
                  </a:lnTo>
                  <a:lnTo>
                    <a:pt x="139435" y="1025436"/>
                  </a:lnTo>
                  <a:lnTo>
                    <a:pt x="128056" y="981045"/>
                  </a:lnTo>
                  <a:lnTo>
                    <a:pt x="91062" y="989120"/>
                  </a:lnTo>
                  <a:lnTo>
                    <a:pt x="91062" y="997193"/>
                  </a:lnTo>
                  <a:lnTo>
                    <a:pt x="73988" y="997193"/>
                  </a:lnTo>
                  <a:lnTo>
                    <a:pt x="65451" y="956811"/>
                  </a:lnTo>
                  <a:lnTo>
                    <a:pt x="56914" y="916389"/>
                  </a:lnTo>
                  <a:lnTo>
                    <a:pt x="48377" y="875926"/>
                  </a:lnTo>
                  <a:lnTo>
                    <a:pt x="39839" y="835422"/>
                  </a:lnTo>
                  <a:lnTo>
                    <a:pt x="31302" y="794877"/>
                  </a:lnTo>
                  <a:lnTo>
                    <a:pt x="22765" y="754290"/>
                  </a:lnTo>
                  <a:lnTo>
                    <a:pt x="25611" y="746171"/>
                  </a:lnTo>
                  <a:lnTo>
                    <a:pt x="12805" y="695370"/>
                  </a:lnTo>
                  <a:lnTo>
                    <a:pt x="0" y="644504"/>
                  </a:lnTo>
                  <a:lnTo>
                    <a:pt x="8537" y="636357"/>
                  </a:lnTo>
                  <a:lnTo>
                    <a:pt x="31302" y="632287"/>
                  </a:lnTo>
                  <a:lnTo>
                    <a:pt x="42685" y="615991"/>
                  </a:lnTo>
                  <a:lnTo>
                    <a:pt x="62605" y="603764"/>
                  </a:lnTo>
                  <a:lnTo>
                    <a:pt x="79676" y="587456"/>
                  </a:lnTo>
                  <a:lnTo>
                    <a:pt x="82525" y="575221"/>
                  </a:lnTo>
                  <a:lnTo>
                    <a:pt x="73988" y="558901"/>
                  </a:lnTo>
                  <a:lnTo>
                    <a:pt x="79676" y="538492"/>
                  </a:lnTo>
                  <a:lnTo>
                    <a:pt x="85371" y="518073"/>
                  </a:lnTo>
                  <a:lnTo>
                    <a:pt x="99596" y="505816"/>
                  </a:lnTo>
                  <a:lnTo>
                    <a:pt x="125207" y="497643"/>
                  </a:lnTo>
                  <a:lnTo>
                    <a:pt x="139435" y="481291"/>
                  </a:lnTo>
                  <a:lnTo>
                    <a:pt x="147973" y="440386"/>
                  </a:lnTo>
                  <a:lnTo>
                    <a:pt x="145127" y="432196"/>
                  </a:lnTo>
                  <a:lnTo>
                    <a:pt x="128056" y="419916"/>
                  </a:lnTo>
                  <a:lnTo>
                    <a:pt x="125207" y="378944"/>
                  </a:lnTo>
                  <a:lnTo>
                    <a:pt x="142281" y="354343"/>
                  </a:lnTo>
                  <a:lnTo>
                    <a:pt x="156514" y="296875"/>
                  </a:lnTo>
                  <a:lnTo>
                    <a:pt x="150822" y="288659"/>
                  </a:lnTo>
                  <a:lnTo>
                    <a:pt x="130902" y="259887"/>
                  </a:lnTo>
                  <a:lnTo>
                    <a:pt x="145127" y="222865"/>
                  </a:lnTo>
                  <a:lnTo>
                    <a:pt x="159355" y="202281"/>
                  </a:lnTo>
                  <a:lnTo>
                    <a:pt x="170738" y="177570"/>
                  </a:lnTo>
                  <a:lnTo>
                    <a:pt x="176433" y="161085"/>
                  </a:lnTo>
                  <a:lnTo>
                    <a:pt x="184967" y="152838"/>
                  </a:lnTo>
                  <a:lnTo>
                    <a:pt x="207732" y="136343"/>
                  </a:lnTo>
                  <a:lnTo>
                    <a:pt x="230498" y="119841"/>
                  </a:lnTo>
                  <a:lnTo>
                    <a:pt x="241881" y="99206"/>
                  </a:lnTo>
                  <a:lnTo>
                    <a:pt x="253264" y="66164"/>
                  </a:lnTo>
                  <a:lnTo>
                    <a:pt x="258955" y="16549"/>
                  </a:lnTo>
                  <a:lnTo>
                    <a:pt x="261801" y="0"/>
                  </a:lnTo>
                  <a:lnTo>
                    <a:pt x="313022" y="0"/>
                  </a:lnTo>
                  <a:lnTo>
                    <a:pt x="364244" y="0"/>
                  </a:lnTo>
                  <a:lnTo>
                    <a:pt x="415465" y="0"/>
                  </a:lnTo>
                  <a:lnTo>
                    <a:pt x="414043" y="62032"/>
                  </a:lnTo>
                  <a:lnTo>
                    <a:pt x="412620" y="123967"/>
                  </a:lnTo>
                  <a:lnTo>
                    <a:pt x="409774" y="128095"/>
                  </a:lnTo>
                  <a:lnTo>
                    <a:pt x="410587" y="169917"/>
                  </a:lnTo>
                  <a:lnTo>
                    <a:pt x="411400" y="211693"/>
                  </a:lnTo>
                  <a:lnTo>
                    <a:pt x="412213" y="253426"/>
                  </a:lnTo>
                  <a:lnTo>
                    <a:pt x="413026" y="295114"/>
                  </a:lnTo>
                  <a:lnTo>
                    <a:pt x="413839" y="336758"/>
                  </a:lnTo>
                  <a:lnTo>
                    <a:pt x="414652" y="378359"/>
                  </a:lnTo>
                  <a:lnTo>
                    <a:pt x="415465" y="419916"/>
                  </a:lnTo>
                  <a:lnTo>
                    <a:pt x="438231" y="419916"/>
                  </a:lnTo>
                  <a:lnTo>
                    <a:pt x="460997" y="497643"/>
                  </a:lnTo>
                  <a:lnTo>
                    <a:pt x="432540" y="501733"/>
                  </a:lnTo>
                  <a:lnTo>
                    <a:pt x="426848" y="489468"/>
                  </a:lnTo>
                  <a:lnTo>
                    <a:pt x="409774" y="493556"/>
                  </a:lnTo>
                  <a:lnTo>
                    <a:pt x="424006" y="513988"/>
                  </a:lnTo>
                  <a:lnTo>
                    <a:pt x="418311" y="546657"/>
                  </a:lnTo>
                  <a:lnTo>
                    <a:pt x="406928" y="558901"/>
                  </a:lnTo>
                  <a:lnTo>
                    <a:pt x="412620" y="567062"/>
                  </a:lnTo>
                  <a:lnTo>
                    <a:pt x="412620" y="575221"/>
                  </a:lnTo>
                  <a:lnTo>
                    <a:pt x="406928" y="575221"/>
                  </a:lnTo>
                  <a:lnTo>
                    <a:pt x="395546" y="571142"/>
                  </a:lnTo>
                  <a:lnTo>
                    <a:pt x="387008" y="558901"/>
                  </a:lnTo>
                  <a:lnTo>
                    <a:pt x="381321" y="558901"/>
                  </a:lnTo>
                  <a:lnTo>
                    <a:pt x="378475" y="562982"/>
                  </a:lnTo>
                  <a:lnTo>
                    <a:pt x="375629" y="579300"/>
                  </a:lnTo>
                  <a:lnTo>
                    <a:pt x="367088" y="587456"/>
                  </a:lnTo>
                  <a:lnTo>
                    <a:pt x="361401" y="591531"/>
                  </a:lnTo>
                  <a:lnTo>
                    <a:pt x="369934" y="591531"/>
                  </a:lnTo>
                  <a:lnTo>
                    <a:pt x="384163" y="620065"/>
                  </a:lnTo>
                  <a:lnTo>
                    <a:pt x="392700" y="632287"/>
                  </a:lnTo>
                  <a:lnTo>
                    <a:pt x="404083" y="636357"/>
                  </a:lnTo>
                  <a:lnTo>
                    <a:pt x="398395" y="644504"/>
                  </a:lnTo>
                  <a:lnTo>
                    <a:pt x="404083" y="648576"/>
                  </a:lnTo>
                  <a:lnTo>
                    <a:pt x="418311" y="644504"/>
                  </a:lnTo>
                  <a:lnTo>
                    <a:pt x="426848" y="644504"/>
                  </a:lnTo>
                  <a:lnTo>
                    <a:pt x="426848" y="648576"/>
                  </a:lnTo>
                  <a:lnTo>
                    <a:pt x="426848" y="656716"/>
                  </a:lnTo>
                  <a:lnTo>
                    <a:pt x="426848" y="664856"/>
                  </a:lnTo>
                  <a:lnTo>
                    <a:pt x="415465" y="677067"/>
                  </a:lnTo>
                  <a:lnTo>
                    <a:pt x="415465" y="689268"/>
                  </a:lnTo>
                  <a:lnTo>
                    <a:pt x="406928" y="705534"/>
                  </a:lnTo>
                  <a:lnTo>
                    <a:pt x="398395" y="717730"/>
                  </a:lnTo>
                  <a:lnTo>
                    <a:pt x="387008" y="725858"/>
                  </a:lnTo>
                  <a:lnTo>
                    <a:pt x="396968" y="769517"/>
                  </a:lnTo>
                  <a:lnTo>
                    <a:pt x="406928" y="813128"/>
                  </a:lnTo>
                  <a:lnTo>
                    <a:pt x="416888" y="856691"/>
                  </a:lnTo>
                  <a:lnTo>
                    <a:pt x="426848" y="900208"/>
                  </a:lnTo>
                  <a:lnTo>
                    <a:pt x="418311" y="904256"/>
                  </a:lnTo>
                  <a:lnTo>
                    <a:pt x="427797" y="948731"/>
                  </a:lnTo>
                  <a:lnTo>
                    <a:pt x="437283" y="993158"/>
                  </a:lnTo>
                  <a:lnTo>
                    <a:pt x="446768" y="1037534"/>
                  </a:lnTo>
                  <a:lnTo>
                    <a:pt x="452460" y="1041566"/>
                  </a:lnTo>
                  <a:lnTo>
                    <a:pt x="466688" y="1106019"/>
                  </a:lnTo>
                  <a:lnTo>
                    <a:pt x="529290" y="1089915"/>
                  </a:lnTo>
                  <a:lnTo>
                    <a:pt x="526444" y="1069778"/>
                  </a:lnTo>
                  <a:lnTo>
                    <a:pt x="600437" y="1053660"/>
                  </a:lnTo>
                  <a:lnTo>
                    <a:pt x="607076" y="1095957"/>
                  </a:lnTo>
                  <a:lnTo>
                    <a:pt x="613715" y="1138209"/>
                  </a:lnTo>
                  <a:lnTo>
                    <a:pt x="620355" y="1180418"/>
                  </a:lnTo>
                  <a:lnTo>
                    <a:pt x="626994" y="1222582"/>
                  </a:lnTo>
                  <a:lnTo>
                    <a:pt x="633633" y="1264702"/>
                  </a:lnTo>
                  <a:lnTo>
                    <a:pt x="640273" y="1306778"/>
                  </a:lnTo>
                  <a:lnTo>
                    <a:pt x="611816" y="1306778"/>
                  </a:lnTo>
                  <a:lnTo>
                    <a:pt x="603282" y="1274724"/>
                  </a:lnTo>
                  <a:lnTo>
                    <a:pt x="580517" y="1278732"/>
                  </a:lnTo>
                  <a:lnTo>
                    <a:pt x="569130" y="1290754"/>
                  </a:lnTo>
                  <a:lnTo>
                    <a:pt x="566288" y="1310784"/>
                  </a:lnTo>
                  <a:close/>
                </a:path>
              </a:pathLst>
            </a:custGeom>
            <a:solidFill>
              <a:srgbClr val="A8CEE2">
                <a:alpha val="100000"/>
              </a:srgbClr>
            </a:solidFill>
            <a:ln w="13550" cap="flat">
              <a:solidFill>
                <a:srgbClr val="FFFFFF">
                  <a:alpha val="100000"/>
                </a:srgbClr>
              </a:solidFill>
              <a:prstDash val="solid"/>
              <a:round/>
            </a:ln>
          </p:spPr>
          <p:txBody>
            <a:bodyPr/>
            <a:lstStyle/>
            <a:p>
              <a:endParaRPr/>
            </a:p>
          </p:txBody>
        </p:sp>
        <p:sp>
          <p:nvSpPr>
            <p:cNvPr id="22" name="pg17">
              <a:extLst>
                <a:ext uri="{FF2B5EF4-FFF2-40B4-BE49-F238E27FC236}">
                  <a16:creationId xmlns:a16="http://schemas.microsoft.com/office/drawing/2014/main" id="{AFFD4AAD-BA60-2909-533D-9D48DA8CF127}"/>
                </a:ext>
              </a:extLst>
            </p:cNvPr>
            <p:cNvSpPr/>
            <p:nvPr/>
          </p:nvSpPr>
          <p:spPr>
            <a:xfrm>
              <a:off x="4358900" y="4024014"/>
              <a:ext cx="347172" cy="355185"/>
            </a:xfrm>
            <a:custGeom>
              <a:avLst/>
              <a:gdLst/>
              <a:ahLst/>
              <a:cxnLst/>
              <a:rect l="0" t="0" r="0" b="0"/>
              <a:pathLst>
                <a:path w="347172" h="355185">
                  <a:moveTo>
                    <a:pt x="116670" y="32054"/>
                  </a:moveTo>
                  <a:lnTo>
                    <a:pt x="147973" y="24043"/>
                  </a:lnTo>
                  <a:lnTo>
                    <a:pt x="162201" y="80089"/>
                  </a:lnTo>
                  <a:lnTo>
                    <a:pt x="212474" y="70753"/>
                  </a:lnTo>
                  <a:lnTo>
                    <a:pt x="262747" y="61416"/>
                  </a:lnTo>
                  <a:lnTo>
                    <a:pt x="313020" y="52076"/>
                  </a:lnTo>
                  <a:lnTo>
                    <a:pt x="330094" y="44068"/>
                  </a:lnTo>
                  <a:lnTo>
                    <a:pt x="338631" y="56079"/>
                  </a:lnTo>
                  <a:lnTo>
                    <a:pt x="335786" y="64084"/>
                  </a:lnTo>
                  <a:lnTo>
                    <a:pt x="330094" y="76088"/>
                  </a:lnTo>
                  <a:lnTo>
                    <a:pt x="327252" y="92089"/>
                  </a:lnTo>
                  <a:lnTo>
                    <a:pt x="324407" y="104085"/>
                  </a:lnTo>
                  <a:lnTo>
                    <a:pt x="327252" y="112081"/>
                  </a:lnTo>
                  <a:lnTo>
                    <a:pt x="338631" y="124071"/>
                  </a:lnTo>
                  <a:lnTo>
                    <a:pt x="347172" y="144044"/>
                  </a:lnTo>
                  <a:lnTo>
                    <a:pt x="338631" y="144044"/>
                  </a:lnTo>
                  <a:lnTo>
                    <a:pt x="324407" y="211889"/>
                  </a:lnTo>
                  <a:lnTo>
                    <a:pt x="310174" y="223850"/>
                  </a:lnTo>
                  <a:lnTo>
                    <a:pt x="278875" y="223850"/>
                  </a:lnTo>
                  <a:lnTo>
                    <a:pt x="261801" y="235807"/>
                  </a:lnTo>
                  <a:lnTo>
                    <a:pt x="250414" y="247761"/>
                  </a:lnTo>
                  <a:lnTo>
                    <a:pt x="250414" y="263694"/>
                  </a:lnTo>
                  <a:lnTo>
                    <a:pt x="261801" y="283601"/>
                  </a:lnTo>
                  <a:lnTo>
                    <a:pt x="256110" y="315430"/>
                  </a:lnTo>
                  <a:lnTo>
                    <a:pt x="253260" y="331337"/>
                  </a:lnTo>
                  <a:lnTo>
                    <a:pt x="233344" y="355185"/>
                  </a:lnTo>
                  <a:lnTo>
                    <a:pt x="219115" y="347237"/>
                  </a:lnTo>
                  <a:lnTo>
                    <a:pt x="210578" y="355185"/>
                  </a:lnTo>
                  <a:lnTo>
                    <a:pt x="196350" y="355185"/>
                  </a:lnTo>
                  <a:lnTo>
                    <a:pt x="156510" y="317420"/>
                  </a:lnTo>
                  <a:lnTo>
                    <a:pt x="116670" y="279621"/>
                  </a:lnTo>
                  <a:lnTo>
                    <a:pt x="76834" y="307475"/>
                  </a:lnTo>
                  <a:lnTo>
                    <a:pt x="54068" y="287579"/>
                  </a:lnTo>
                  <a:lnTo>
                    <a:pt x="42685" y="299520"/>
                  </a:lnTo>
                  <a:lnTo>
                    <a:pt x="0" y="287579"/>
                  </a:lnTo>
                  <a:lnTo>
                    <a:pt x="12803" y="247760"/>
                  </a:lnTo>
                  <a:lnTo>
                    <a:pt x="25607" y="207901"/>
                  </a:lnTo>
                  <a:lnTo>
                    <a:pt x="48373" y="207901"/>
                  </a:lnTo>
                  <a:lnTo>
                    <a:pt x="62605" y="152034"/>
                  </a:lnTo>
                  <a:lnTo>
                    <a:pt x="42685" y="144044"/>
                  </a:lnTo>
                  <a:lnTo>
                    <a:pt x="48373" y="84089"/>
                  </a:lnTo>
                  <a:lnTo>
                    <a:pt x="22765" y="80089"/>
                  </a:lnTo>
                  <a:lnTo>
                    <a:pt x="28453" y="60082"/>
                  </a:lnTo>
                  <a:lnTo>
                    <a:pt x="25607" y="40064"/>
                  </a:lnTo>
                  <a:lnTo>
                    <a:pt x="42685" y="36059"/>
                  </a:lnTo>
                  <a:lnTo>
                    <a:pt x="45527" y="16030"/>
                  </a:lnTo>
                  <a:lnTo>
                    <a:pt x="56914" y="4008"/>
                  </a:lnTo>
                  <a:lnTo>
                    <a:pt x="79679" y="0"/>
                  </a:lnTo>
                  <a:lnTo>
                    <a:pt x="88213" y="32054"/>
                  </a:lnTo>
                  <a:close/>
                </a:path>
              </a:pathLst>
            </a:custGeom>
            <a:solidFill>
              <a:srgbClr val="A9D1E3">
                <a:alpha val="100000"/>
              </a:srgbClr>
            </a:solidFill>
            <a:ln w="13550" cap="flat">
              <a:solidFill>
                <a:srgbClr val="FFFFFF">
                  <a:alpha val="100000"/>
                </a:srgbClr>
              </a:solidFill>
              <a:prstDash val="solid"/>
              <a:round/>
            </a:ln>
          </p:spPr>
          <p:txBody>
            <a:bodyPr/>
            <a:lstStyle/>
            <a:p>
              <a:endParaRPr/>
            </a:p>
          </p:txBody>
        </p:sp>
        <p:sp>
          <p:nvSpPr>
            <p:cNvPr id="23" name="pg18">
              <a:extLst>
                <a:ext uri="{FF2B5EF4-FFF2-40B4-BE49-F238E27FC236}">
                  <a16:creationId xmlns:a16="http://schemas.microsoft.com/office/drawing/2014/main" id="{60D3FC80-E09D-3960-C256-0FE6C772D18F}"/>
                </a:ext>
              </a:extLst>
            </p:cNvPr>
            <p:cNvSpPr/>
            <p:nvPr/>
          </p:nvSpPr>
          <p:spPr>
            <a:xfrm>
              <a:off x="5056087" y="3377503"/>
              <a:ext cx="543519" cy="890284"/>
            </a:xfrm>
            <a:custGeom>
              <a:avLst/>
              <a:gdLst/>
              <a:ahLst/>
              <a:cxnLst/>
              <a:rect l="0" t="0" r="0" b="0"/>
              <a:pathLst>
                <a:path w="543519" h="890284">
                  <a:moveTo>
                    <a:pt x="159355" y="4073"/>
                  </a:moveTo>
                  <a:lnTo>
                    <a:pt x="170738" y="8143"/>
                  </a:lnTo>
                  <a:lnTo>
                    <a:pt x="184963" y="8143"/>
                  </a:lnTo>
                  <a:lnTo>
                    <a:pt x="202041" y="0"/>
                  </a:lnTo>
                  <a:lnTo>
                    <a:pt x="213424" y="28502"/>
                  </a:lnTo>
                  <a:lnTo>
                    <a:pt x="224807" y="40712"/>
                  </a:lnTo>
                  <a:lnTo>
                    <a:pt x="261801" y="56987"/>
                  </a:lnTo>
                  <a:lnTo>
                    <a:pt x="287409" y="69188"/>
                  </a:lnTo>
                  <a:lnTo>
                    <a:pt x="318711" y="56987"/>
                  </a:lnTo>
                  <a:lnTo>
                    <a:pt x="330094" y="61054"/>
                  </a:lnTo>
                  <a:lnTo>
                    <a:pt x="338631" y="77320"/>
                  </a:lnTo>
                  <a:lnTo>
                    <a:pt x="341477" y="117957"/>
                  </a:lnTo>
                  <a:lnTo>
                    <a:pt x="332940" y="134200"/>
                  </a:lnTo>
                  <a:lnTo>
                    <a:pt x="310174" y="138257"/>
                  </a:lnTo>
                  <a:lnTo>
                    <a:pt x="307329" y="150436"/>
                  </a:lnTo>
                  <a:lnTo>
                    <a:pt x="307329" y="158549"/>
                  </a:lnTo>
                  <a:lnTo>
                    <a:pt x="321557" y="199103"/>
                  </a:lnTo>
                  <a:lnTo>
                    <a:pt x="335786" y="215313"/>
                  </a:lnTo>
                  <a:lnTo>
                    <a:pt x="338631" y="231517"/>
                  </a:lnTo>
                  <a:lnTo>
                    <a:pt x="324403" y="284130"/>
                  </a:lnTo>
                  <a:lnTo>
                    <a:pt x="318711" y="292221"/>
                  </a:lnTo>
                  <a:lnTo>
                    <a:pt x="332940" y="316475"/>
                  </a:lnTo>
                  <a:lnTo>
                    <a:pt x="358551" y="368979"/>
                  </a:lnTo>
                  <a:lnTo>
                    <a:pt x="375626" y="381086"/>
                  </a:lnTo>
                  <a:lnTo>
                    <a:pt x="392700" y="373015"/>
                  </a:lnTo>
                  <a:lnTo>
                    <a:pt x="418311" y="344755"/>
                  </a:lnTo>
                  <a:lnTo>
                    <a:pt x="426848" y="352831"/>
                  </a:lnTo>
                  <a:lnTo>
                    <a:pt x="443923" y="360906"/>
                  </a:lnTo>
                  <a:lnTo>
                    <a:pt x="460997" y="364943"/>
                  </a:lnTo>
                  <a:lnTo>
                    <a:pt x="489454" y="397222"/>
                  </a:lnTo>
                  <a:lnTo>
                    <a:pt x="506528" y="421415"/>
                  </a:lnTo>
                  <a:lnTo>
                    <a:pt x="492296" y="441565"/>
                  </a:lnTo>
                  <a:lnTo>
                    <a:pt x="489454" y="453649"/>
                  </a:lnTo>
                  <a:lnTo>
                    <a:pt x="515062" y="493903"/>
                  </a:lnTo>
                  <a:lnTo>
                    <a:pt x="515062" y="518038"/>
                  </a:lnTo>
                  <a:lnTo>
                    <a:pt x="506528" y="534120"/>
                  </a:lnTo>
                  <a:lnTo>
                    <a:pt x="486608" y="534120"/>
                  </a:lnTo>
                  <a:lnTo>
                    <a:pt x="455302" y="534120"/>
                  </a:lnTo>
                  <a:lnTo>
                    <a:pt x="452456" y="574293"/>
                  </a:lnTo>
                  <a:lnTo>
                    <a:pt x="469534" y="578311"/>
                  </a:lnTo>
                  <a:lnTo>
                    <a:pt x="478067" y="586341"/>
                  </a:lnTo>
                  <a:lnTo>
                    <a:pt x="492296" y="574293"/>
                  </a:lnTo>
                  <a:lnTo>
                    <a:pt x="500833" y="574293"/>
                  </a:lnTo>
                  <a:lnTo>
                    <a:pt x="506528" y="586341"/>
                  </a:lnTo>
                  <a:lnTo>
                    <a:pt x="512216" y="602393"/>
                  </a:lnTo>
                  <a:lnTo>
                    <a:pt x="534981" y="598382"/>
                  </a:lnTo>
                  <a:lnTo>
                    <a:pt x="543519" y="598382"/>
                  </a:lnTo>
                  <a:lnTo>
                    <a:pt x="537827" y="614432"/>
                  </a:lnTo>
                  <a:lnTo>
                    <a:pt x="537827" y="638492"/>
                  </a:lnTo>
                  <a:lnTo>
                    <a:pt x="526444" y="646510"/>
                  </a:lnTo>
                  <a:lnTo>
                    <a:pt x="506528" y="650518"/>
                  </a:lnTo>
                  <a:lnTo>
                    <a:pt x="495142" y="662540"/>
                  </a:lnTo>
                  <a:lnTo>
                    <a:pt x="469534" y="706592"/>
                  </a:lnTo>
                  <a:lnTo>
                    <a:pt x="455302" y="722599"/>
                  </a:lnTo>
                  <a:lnTo>
                    <a:pt x="441077" y="726599"/>
                  </a:lnTo>
                  <a:lnTo>
                    <a:pt x="429694" y="742598"/>
                  </a:lnTo>
                  <a:lnTo>
                    <a:pt x="412616" y="730600"/>
                  </a:lnTo>
                  <a:lnTo>
                    <a:pt x="398391" y="734600"/>
                  </a:lnTo>
                  <a:lnTo>
                    <a:pt x="398391" y="718598"/>
                  </a:lnTo>
                  <a:lnTo>
                    <a:pt x="395546" y="702589"/>
                  </a:lnTo>
                  <a:lnTo>
                    <a:pt x="381317" y="694583"/>
                  </a:lnTo>
                  <a:lnTo>
                    <a:pt x="367088" y="694583"/>
                  </a:lnTo>
                  <a:lnTo>
                    <a:pt x="355706" y="698586"/>
                  </a:lnTo>
                  <a:lnTo>
                    <a:pt x="358551" y="722599"/>
                  </a:lnTo>
                  <a:lnTo>
                    <a:pt x="352860" y="746594"/>
                  </a:lnTo>
                  <a:lnTo>
                    <a:pt x="344323" y="762585"/>
                  </a:lnTo>
                  <a:lnTo>
                    <a:pt x="332940" y="758591"/>
                  </a:lnTo>
                  <a:lnTo>
                    <a:pt x="327252" y="758591"/>
                  </a:lnTo>
                  <a:lnTo>
                    <a:pt x="332940" y="734600"/>
                  </a:lnTo>
                  <a:lnTo>
                    <a:pt x="321557" y="730600"/>
                  </a:lnTo>
                  <a:lnTo>
                    <a:pt x="313020" y="734600"/>
                  </a:lnTo>
                  <a:lnTo>
                    <a:pt x="301637" y="758591"/>
                  </a:lnTo>
                  <a:lnTo>
                    <a:pt x="295946" y="750595"/>
                  </a:lnTo>
                  <a:lnTo>
                    <a:pt x="276026" y="742598"/>
                  </a:lnTo>
                  <a:lnTo>
                    <a:pt x="264647" y="738599"/>
                  </a:lnTo>
                  <a:lnTo>
                    <a:pt x="258955" y="758591"/>
                  </a:lnTo>
                  <a:lnTo>
                    <a:pt x="261801" y="786563"/>
                  </a:lnTo>
                  <a:lnTo>
                    <a:pt x="253260" y="806528"/>
                  </a:lnTo>
                  <a:lnTo>
                    <a:pt x="239035" y="810521"/>
                  </a:lnTo>
                  <a:lnTo>
                    <a:pt x="219115" y="798545"/>
                  </a:lnTo>
                  <a:lnTo>
                    <a:pt x="207729" y="798545"/>
                  </a:lnTo>
                  <a:lnTo>
                    <a:pt x="184963" y="826486"/>
                  </a:lnTo>
                  <a:lnTo>
                    <a:pt x="179275" y="822496"/>
                  </a:lnTo>
                  <a:lnTo>
                    <a:pt x="167893" y="814515"/>
                  </a:lnTo>
                  <a:lnTo>
                    <a:pt x="167893" y="786563"/>
                  </a:lnTo>
                  <a:lnTo>
                    <a:pt x="162201" y="782568"/>
                  </a:lnTo>
                  <a:lnTo>
                    <a:pt x="147973" y="790555"/>
                  </a:lnTo>
                  <a:lnTo>
                    <a:pt x="133744" y="790555"/>
                  </a:lnTo>
                  <a:lnTo>
                    <a:pt x="125207" y="786563"/>
                  </a:lnTo>
                  <a:lnTo>
                    <a:pt x="122365" y="802538"/>
                  </a:lnTo>
                  <a:lnTo>
                    <a:pt x="110978" y="814515"/>
                  </a:lnTo>
                  <a:lnTo>
                    <a:pt x="113824" y="838457"/>
                  </a:lnTo>
                  <a:lnTo>
                    <a:pt x="108133" y="854412"/>
                  </a:lnTo>
                  <a:lnTo>
                    <a:pt x="96750" y="870360"/>
                  </a:lnTo>
                  <a:lnTo>
                    <a:pt x="96750" y="886302"/>
                  </a:lnTo>
                  <a:lnTo>
                    <a:pt x="88213" y="890284"/>
                  </a:lnTo>
                  <a:lnTo>
                    <a:pt x="73984" y="870360"/>
                  </a:lnTo>
                  <a:lnTo>
                    <a:pt x="59759" y="866374"/>
                  </a:lnTo>
                  <a:lnTo>
                    <a:pt x="54068" y="854412"/>
                  </a:lnTo>
                  <a:lnTo>
                    <a:pt x="56914" y="842446"/>
                  </a:lnTo>
                  <a:lnTo>
                    <a:pt x="45527" y="770581"/>
                  </a:lnTo>
                  <a:lnTo>
                    <a:pt x="51218" y="766585"/>
                  </a:lnTo>
                  <a:lnTo>
                    <a:pt x="39839" y="706592"/>
                  </a:lnTo>
                  <a:lnTo>
                    <a:pt x="25607" y="706592"/>
                  </a:lnTo>
                  <a:lnTo>
                    <a:pt x="19205" y="661539"/>
                  </a:lnTo>
                  <a:lnTo>
                    <a:pt x="12803" y="616437"/>
                  </a:lnTo>
                  <a:lnTo>
                    <a:pt x="6401" y="571283"/>
                  </a:lnTo>
                  <a:lnTo>
                    <a:pt x="0" y="526080"/>
                  </a:lnTo>
                  <a:lnTo>
                    <a:pt x="45527" y="509995"/>
                  </a:lnTo>
                  <a:lnTo>
                    <a:pt x="38698" y="468950"/>
                  </a:lnTo>
                  <a:lnTo>
                    <a:pt x="31869" y="427862"/>
                  </a:lnTo>
                  <a:lnTo>
                    <a:pt x="25040" y="386733"/>
                  </a:lnTo>
                  <a:lnTo>
                    <a:pt x="18211" y="345562"/>
                  </a:lnTo>
                  <a:lnTo>
                    <a:pt x="11382" y="304348"/>
                  </a:lnTo>
                  <a:lnTo>
                    <a:pt x="65447" y="292221"/>
                  </a:lnTo>
                  <a:lnTo>
                    <a:pt x="61179" y="250413"/>
                  </a:lnTo>
                  <a:lnTo>
                    <a:pt x="56911" y="208561"/>
                  </a:lnTo>
                  <a:lnTo>
                    <a:pt x="52643" y="166665"/>
                  </a:lnTo>
                  <a:lnTo>
                    <a:pt x="48375" y="124725"/>
                  </a:lnTo>
                  <a:lnTo>
                    <a:pt x="44107" y="82741"/>
                  </a:lnTo>
                  <a:lnTo>
                    <a:pt x="39839" y="40712"/>
                  </a:lnTo>
                  <a:lnTo>
                    <a:pt x="79678" y="28503"/>
                  </a:lnTo>
                  <a:lnTo>
                    <a:pt x="119517" y="16290"/>
                  </a:lnTo>
                  <a:close/>
                </a:path>
              </a:pathLst>
            </a:custGeom>
            <a:solidFill>
              <a:srgbClr val="ACD5E5">
                <a:alpha val="100000"/>
              </a:srgbClr>
            </a:solidFill>
            <a:ln w="13550" cap="flat">
              <a:solidFill>
                <a:srgbClr val="FFFFFF">
                  <a:alpha val="100000"/>
                </a:srgbClr>
              </a:solidFill>
              <a:prstDash val="solid"/>
              <a:round/>
            </a:ln>
          </p:spPr>
          <p:txBody>
            <a:bodyPr/>
            <a:lstStyle/>
            <a:p>
              <a:endParaRPr/>
            </a:p>
          </p:txBody>
        </p:sp>
        <p:sp>
          <p:nvSpPr>
            <p:cNvPr id="24" name="pg19">
              <a:extLst>
                <a:ext uri="{FF2B5EF4-FFF2-40B4-BE49-F238E27FC236}">
                  <a16:creationId xmlns:a16="http://schemas.microsoft.com/office/drawing/2014/main" id="{41F461FB-7944-ABCB-09FC-2FB503E9DB26}"/>
                </a:ext>
              </a:extLst>
            </p:cNvPr>
            <p:cNvSpPr/>
            <p:nvPr/>
          </p:nvSpPr>
          <p:spPr>
            <a:xfrm>
              <a:off x="3630410" y="4687960"/>
              <a:ext cx="304483" cy="513404"/>
            </a:xfrm>
            <a:custGeom>
              <a:avLst/>
              <a:gdLst/>
              <a:ahLst/>
              <a:cxnLst/>
              <a:rect l="0" t="0" r="0" b="0"/>
              <a:pathLst>
                <a:path w="304483" h="513404">
                  <a:moveTo>
                    <a:pt x="79676" y="466640"/>
                  </a:moveTo>
                  <a:lnTo>
                    <a:pt x="73988" y="447138"/>
                  </a:lnTo>
                  <a:lnTo>
                    <a:pt x="76834" y="419820"/>
                  </a:lnTo>
                  <a:lnTo>
                    <a:pt x="76834" y="392487"/>
                  </a:lnTo>
                  <a:lnTo>
                    <a:pt x="71142" y="384674"/>
                  </a:lnTo>
                  <a:lnTo>
                    <a:pt x="56910" y="369042"/>
                  </a:lnTo>
                  <a:lnTo>
                    <a:pt x="19919" y="326026"/>
                  </a:lnTo>
                  <a:lnTo>
                    <a:pt x="2845" y="290797"/>
                  </a:lnTo>
                  <a:lnTo>
                    <a:pt x="0" y="263376"/>
                  </a:lnTo>
                  <a:lnTo>
                    <a:pt x="2845" y="224175"/>
                  </a:lnTo>
                  <a:lnTo>
                    <a:pt x="5691" y="208482"/>
                  </a:lnTo>
                  <a:lnTo>
                    <a:pt x="5691" y="173153"/>
                  </a:lnTo>
                  <a:lnTo>
                    <a:pt x="0" y="153513"/>
                  </a:lnTo>
                  <a:lnTo>
                    <a:pt x="0" y="107650"/>
                  </a:lnTo>
                  <a:lnTo>
                    <a:pt x="0" y="61736"/>
                  </a:lnTo>
                  <a:lnTo>
                    <a:pt x="0" y="15771"/>
                  </a:lnTo>
                  <a:lnTo>
                    <a:pt x="25611" y="7886"/>
                  </a:lnTo>
                  <a:lnTo>
                    <a:pt x="56910" y="0"/>
                  </a:lnTo>
                  <a:lnTo>
                    <a:pt x="73988" y="0"/>
                  </a:lnTo>
                  <a:lnTo>
                    <a:pt x="93908" y="7886"/>
                  </a:lnTo>
                  <a:lnTo>
                    <a:pt x="99596" y="7886"/>
                  </a:lnTo>
                  <a:lnTo>
                    <a:pt x="116674" y="7886"/>
                  </a:lnTo>
                  <a:lnTo>
                    <a:pt x="128053" y="7886"/>
                  </a:lnTo>
                  <a:lnTo>
                    <a:pt x="142281" y="7886"/>
                  </a:lnTo>
                  <a:lnTo>
                    <a:pt x="153668" y="15771"/>
                  </a:lnTo>
                  <a:lnTo>
                    <a:pt x="162201" y="27596"/>
                  </a:lnTo>
                  <a:lnTo>
                    <a:pt x="162201" y="55174"/>
                  </a:lnTo>
                  <a:lnTo>
                    <a:pt x="159355" y="66987"/>
                  </a:lnTo>
                  <a:lnTo>
                    <a:pt x="179279" y="86669"/>
                  </a:lnTo>
                  <a:lnTo>
                    <a:pt x="184967" y="74861"/>
                  </a:lnTo>
                  <a:lnTo>
                    <a:pt x="193504" y="78795"/>
                  </a:lnTo>
                  <a:lnTo>
                    <a:pt x="207732" y="63047"/>
                  </a:lnTo>
                  <a:lnTo>
                    <a:pt x="256110" y="114207"/>
                  </a:lnTo>
                  <a:lnTo>
                    <a:pt x="241881" y="133864"/>
                  </a:lnTo>
                  <a:lnTo>
                    <a:pt x="256110" y="145657"/>
                  </a:lnTo>
                  <a:lnTo>
                    <a:pt x="264647" y="161373"/>
                  </a:lnTo>
                  <a:lnTo>
                    <a:pt x="304483" y="184933"/>
                  </a:lnTo>
                  <a:lnTo>
                    <a:pt x="290258" y="220249"/>
                  </a:lnTo>
                  <a:lnTo>
                    <a:pt x="290258" y="232016"/>
                  </a:lnTo>
                  <a:lnTo>
                    <a:pt x="295949" y="263376"/>
                  </a:lnTo>
                  <a:lnTo>
                    <a:pt x="290258" y="275130"/>
                  </a:lnTo>
                  <a:lnTo>
                    <a:pt x="276030" y="286883"/>
                  </a:lnTo>
                  <a:lnTo>
                    <a:pt x="261797" y="310372"/>
                  </a:lnTo>
                  <a:lnTo>
                    <a:pt x="250418" y="326026"/>
                  </a:lnTo>
                  <a:lnTo>
                    <a:pt x="230498" y="326026"/>
                  </a:lnTo>
                  <a:lnTo>
                    <a:pt x="216270" y="326026"/>
                  </a:lnTo>
                  <a:lnTo>
                    <a:pt x="199199" y="357315"/>
                  </a:lnTo>
                  <a:lnTo>
                    <a:pt x="182121" y="404202"/>
                  </a:lnTo>
                  <a:lnTo>
                    <a:pt x="173584" y="443237"/>
                  </a:lnTo>
                  <a:lnTo>
                    <a:pt x="159355" y="466640"/>
                  </a:lnTo>
                  <a:lnTo>
                    <a:pt x="153668" y="490030"/>
                  </a:lnTo>
                  <a:lnTo>
                    <a:pt x="150818" y="505616"/>
                  </a:lnTo>
                  <a:lnTo>
                    <a:pt x="136594" y="513404"/>
                  </a:lnTo>
                  <a:lnTo>
                    <a:pt x="116674" y="497824"/>
                  </a:lnTo>
                  <a:lnTo>
                    <a:pt x="99596" y="486132"/>
                  </a:lnTo>
                  <a:lnTo>
                    <a:pt x="85371" y="474438"/>
                  </a:lnTo>
                  <a:close/>
                </a:path>
              </a:pathLst>
            </a:custGeom>
            <a:solidFill>
              <a:srgbClr val="8A98CC">
                <a:alpha val="100000"/>
              </a:srgbClr>
            </a:solidFill>
            <a:ln w="13550" cap="flat">
              <a:solidFill>
                <a:srgbClr val="FFFFFF">
                  <a:alpha val="100000"/>
                </a:srgbClr>
              </a:solidFill>
              <a:prstDash val="solid"/>
              <a:round/>
            </a:ln>
          </p:spPr>
          <p:txBody>
            <a:bodyPr/>
            <a:lstStyle/>
            <a:p>
              <a:endParaRPr/>
            </a:p>
          </p:txBody>
        </p:sp>
        <p:sp>
          <p:nvSpPr>
            <p:cNvPr id="25" name="tx20">
              <a:extLst>
                <a:ext uri="{FF2B5EF4-FFF2-40B4-BE49-F238E27FC236}">
                  <a16:creationId xmlns:a16="http://schemas.microsoft.com/office/drawing/2014/main" id="{A0D43B90-AC04-BE41-477B-CF7A53C52160}"/>
                </a:ext>
              </a:extLst>
            </p:cNvPr>
            <p:cNvSpPr/>
            <p:nvPr/>
          </p:nvSpPr>
          <p:spPr>
            <a:xfrm>
              <a:off x="3920541" y="4405825"/>
              <a:ext cx="180869" cy="77916"/>
            </a:xfrm>
            <a:prstGeom prst="rect">
              <a:avLst/>
            </a:prstGeom>
            <a:noFill/>
          </p:spPr>
          <p:txBody>
            <a:bodyPr wrap="none" lIns="0" tIns="0" rIns="0" bIns="0" anchor="ctr" anchorCtr="1"/>
            <a:lstStyle/>
            <a:p>
              <a:pPr>
                <a:lnSpc>
                  <a:spcPts val="853"/>
                </a:lnSpc>
              </a:pPr>
              <a:r>
                <a:rPr sz="853">
                  <a:solidFill>
                    <a:srgbClr val="FFFFFF">
                      <a:alpha val="100000"/>
                    </a:srgbClr>
                  </a:solidFill>
                  <a:latin typeface="Arial"/>
                  <a:cs typeface="Arial"/>
                </a:rPr>
                <a:t>117</a:t>
              </a:r>
            </a:p>
          </p:txBody>
        </p:sp>
        <p:sp>
          <p:nvSpPr>
            <p:cNvPr id="26" name="tx21">
              <a:extLst>
                <a:ext uri="{FF2B5EF4-FFF2-40B4-BE49-F238E27FC236}">
                  <a16:creationId xmlns:a16="http://schemas.microsoft.com/office/drawing/2014/main" id="{5ECD3CFB-B7B6-4377-70CE-AE7FE901FEB2}"/>
                </a:ext>
              </a:extLst>
            </p:cNvPr>
            <p:cNvSpPr/>
            <p:nvPr/>
          </p:nvSpPr>
          <p:spPr>
            <a:xfrm>
              <a:off x="4794288" y="2612267"/>
              <a:ext cx="120579" cy="77916"/>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75</a:t>
              </a:r>
            </a:p>
          </p:txBody>
        </p:sp>
        <p:sp>
          <p:nvSpPr>
            <p:cNvPr id="27" name="tx22">
              <a:extLst>
                <a:ext uri="{FF2B5EF4-FFF2-40B4-BE49-F238E27FC236}">
                  <a16:creationId xmlns:a16="http://schemas.microsoft.com/office/drawing/2014/main" id="{2E2A0D8B-4427-2D28-FB46-F5A513D85C74}"/>
                </a:ext>
              </a:extLst>
            </p:cNvPr>
            <p:cNvSpPr/>
            <p:nvPr/>
          </p:nvSpPr>
          <p:spPr>
            <a:xfrm>
              <a:off x="3829798" y="4602585"/>
              <a:ext cx="180869" cy="79239"/>
            </a:xfrm>
            <a:prstGeom prst="rect">
              <a:avLst/>
            </a:prstGeom>
            <a:noFill/>
          </p:spPr>
          <p:txBody>
            <a:bodyPr wrap="none" lIns="0" tIns="0" rIns="0" bIns="0" anchor="ctr" anchorCtr="1"/>
            <a:lstStyle/>
            <a:p>
              <a:pPr>
                <a:lnSpc>
                  <a:spcPts val="853"/>
                </a:lnSpc>
              </a:pPr>
              <a:r>
                <a:rPr sz="853">
                  <a:solidFill>
                    <a:srgbClr val="FFFFFF">
                      <a:alpha val="100000"/>
                    </a:srgbClr>
                  </a:solidFill>
                  <a:latin typeface="Arial"/>
                  <a:cs typeface="Arial"/>
                </a:rPr>
                <a:t>568</a:t>
              </a:r>
            </a:p>
          </p:txBody>
        </p:sp>
        <p:sp>
          <p:nvSpPr>
            <p:cNvPr id="28" name="tx23">
              <a:extLst>
                <a:ext uri="{FF2B5EF4-FFF2-40B4-BE49-F238E27FC236}">
                  <a16:creationId xmlns:a16="http://schemas.microsoft.com/office/drawing/2014/main" id="{7688EA3D-05E2-F090-E83D-21509795707F}"/>
                </a:ext>
              </a:extLst>
            </p:cNvPr>
            <p:cNvSpPr/>
            <p:nvPr/>
          </p:nvSpPr>
          <p:spPr>
            <a:xfrm>
              <a:off x="3862811" y="3845544"/>
              <a:ext cx="120579" cy="79239"/>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28</a:t>
              </a:r>
            </a:p>
          </p:txBody>
        </p:sp>
        <p:sp>
          <p:nvSpPr>
            <p:cNvPr id="29" name="tx24">
              <a:extLst>
                <a:ext uri="{FF2B5EF4-FFF2-40B4-BE49-F238E27FC236}">
                  <a16:creationId xmlns:a16="http://schemas.microsoft.com/office/drawing/2014/main" id="{C8C8E23D-B03B-C621-5D02-ACDDC30384D4}"/>
                </a:ext>
              </a:extLst>
            </p:cNvPr>
            <p:cNvSpPr/>
            <p:nvPr/>
          </p:nvSpPr>
          <p:spPr>
            <a:xfrm>
              <a:off x="4802206" y="4161994"/>
              <a:ext cx="120579" cy="79239"/>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60</a:t>
              </a:r>
            </a:p>
          </p:txBody>
        </p:sp>
        <p:sp>
          <p:nvSpPr>
            <p:cNvPr id="30" name="tx25">
              <a:extLst>
                <a:ext uri="{FF2B5EF4-FFF2-40B4-BE49-F238E27FC236}">
                  <a16:creationId xmlns:a16="http://schemas.microsoft.com/office/drawing/2014/main" id="{AA979FD0-F62E-541C-ACE3-4ACBE84D50CE}"/>
                </a:ext>
              </a:extLst>
            </p:cNvPr>
            <p:cNvSpPr/>
            <p:nvPr/>
          </p:nvSpPr>
          <p:spPr>
            <a:xfrm>
              <a:off x="4134828" y="4190805"/>
              <a:ext cx="180869" cy="77916"/>
            </a:xfrm>
            <a:prstGeom prst="rect">
              <a:avLst/>
            </a:prstGeom>
            <a:noFill/>
          </p:spPr>
          <p:txBody>
            <a:bodyPr wrap="none" lIns="0" tIns="0" rIns="0" bIns="0" anchor="ctr" anchorCtr="1"/>
            <a:lstStyle/>
            <a:p>
              <a:pPr>
                <a:lnSpc>
                  <a:spcPts val="853"/>
                </a:lnSpc>
              </a:pPr>
              <a:r>
                <a:rPr sz="853">
                  <a:solidFill>
                    <a:srgbClr val="FFFFFF">
                      <a:alpha val="100000"/>
                    </a:srgbClr>
                  </a:solidFill>
                  <a:latin typeface="Arial"/>
                  <a:cs typeface="Arial"/>
                </a:rPr>
                <a:t>144</a:t>
              </a:r>
            </a:p>
          </p:txBody>
        </p:sp>
        <p:sp>
          <p:nvSpPr>
            <p:cNvPr id="31" name="tx26">
              <a:extLst>
                <a:ext uri="{FF2B5EF4-FFF2-40B4-BE49-F238E27FC236}">
                  <a16:creationId xmlns:a16="http://schemas.microsoft.com/office/drawing/2014/main" id="{03AF02EA-77A5-B558-FD16-05D341F9DC82}"/>
                </a:ext>
              </a:extLst>
            </p:cNvPr>
            <p:cNvSpPr/>
            <p:nvPr/>
          </p:nvSpPr>
          <p:spPr>
            <a:xfrm>
              <a:off x="4420683" y="4418394"/>
              <a:ext cx="120579" cy="79239"/>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65</a:t>
              </a:r>
            </a:p>
          </p:txBody>
        </p:sp>
        <p:sp>
          <p:nvSpPr>
            <p:cNvPr id="32" name="tx27">
              <a:extLst>
                <a:ext uri="{FF2B5EF4-FFF2-40B4-BE49-F238E27FC236}">
                  <a16:creationId xmlns:a16="http://schemas.microsoft.com/office/drawing/2014/main" id="{2E590CC4-E8AB-EFC3-37B8-4532F8BFEF7B}"/>
                </a:ext>
              </a:extLst>
            </p:cNvPr>
            <p:cNvSpPr/>
            <p:nvPr/>
          </p:nvSpPr>
          <p:spPr>
            <a:xfrm>
              <a:off x="4296535" y="4470359"/>
              <a:ext cx="120579" cy="79292"/>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43</a:t>
              </a:r>
            </a:p>
          </p:txBody>
        </p:sp>
        <p:sp>
          <p:nvSpPr>
            <p:cNvPr id="33" name="tx28">
              <a:extLst>
                <a:ext uri="{FF2B5EF4-FFF2-40B4-BE49-F238E27FC236}">
                  <a16:creationId xmlns:a16="http://schemas.microsoft.com/office/drawing/2014/main" id="{C319C40D-722D-A6E7-571F-E9091B98A667}"/>
                </a:ext>
              </a:extLst>
            </p:cNvPr>
            <p:cNvSpPr/>
            <p:nvPr/>
          </p:nvSpPr>
          <p:spPr>
            <a:xfrm>
              <a:off x="3709236" y="4204503"/>
              <a:ext cx="120579" cy="77916"/>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57</a:t>
              </a:r>
            </a:p>
          </p:txBody>
        </p:sp>
        <p:sp>
          <p:nvSpPr>
            <p:cNvPr id="34" name="tx29">
              <a:extLst>
                <a:ext uri="{FF2B5EF4-FFF2-40B4-BE49-F238E27FC236}">
                  <a16:creationId xmlns:a16="http://schemas.microsoft.com/office/drawing/2014/main" id="{4039A644-F3E4-9B9D-6D96-0919432CB6CE}"/>
                </a:ext>
              </a:extLst>
            </p:cNvPr>
            <p:cNvSpPr/>
            <p:nvPr/>
          </p:nvSpPr>
          <p:spPr>
            <a:xfrm>
              <a:off x="4686710" y="3637371"/>
              <a:ext cx="180869" cy="79239"/>
            </a:xfrm>
            <a:prstGeom prst="rect">
              <a:avLst/>
            </a:prstGeom>
            <a:noFill/>
          </p:spPr>
          <p:txBody>
            <a:bodyPr wrap="none" lIns="0" tIns="0" rIns="0" bIns="0" anchor="ctr" anchorCtr="1"/>
            <a:lstStyle/>
            <a:p>
              <a:pPr>
                <a:lnSpc>
                  <a:spcPts val="853"/>
                </a:lnSpc>
              </a:pPr>
              <a:r>
                <a:rPr sz="853">
                  <a:solidFill>
                    <a:srgbClr val="FFFFFF">
                      <a:alpha val="100000"/>
                    </a:srgbClr>
                  </a:solidFill>
                  <a:latin typeface="Arial"/>
                  <a:cs typeface="Arial"/>
                </a:rPr>
                <a:t>164</a:t>
              </a:r>
            </a:p>
          </p:txBody>
        </p:sp>
        <p:sp>
          <p:nvSpPr>
            <p:cNvPr id="35" name="tx30">
              <a:extLst>
                <a:ext uri="{FF2B5EF4-FFF2-40B4-BE49-F238E27FC236}">
                  <a16:creationId xmlns:a16="http://schemas.microsoft.com/office/drawing/2014/main" id="{89E63593-F41D-2D97-1B87-3FC3CC5E2788}"/>
                </a:ext>
              </a:extLst>
            </p:cNvPr>
            <p:cNvSpPr/>
            <p:nvPr/>
          </p:nvSpPr>
          <p:spPr>
            <a:xfrm>
              <a:off x="4276629" y="3354746"/>
              <a:ext cx="120579" cy="77916"/>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22</a:t>
              </a:r>
            </a:p>
          </p:txBody>
        </p:sp>
        <p:sp>
          <p:nvSpPr>
            <p:cNvPr id="83" name="tx31">
              <a:extLst>
                <a:ext uri="{FF2B5EF4-FFF2-40B4-BE49-F238E27FC236}">
                  <a16:creationId xmlns:a16="http://schemas.microsoft.com/office/drawing/2014/main" id="{E95A8241-A23A-46F8-E43B-1EB0544F6A16}"/>
                </a:ext>
              </a:extLst>
            </p:cNvPr>
            <p:cNvSpPr/>
            <p:nvPr/>
          </p:nvSpPr>
          <p:spPr>
            <a:xfrm>
              <a:off x="4116487" y="4559127"/>
              <a:ext cx="120579" cy="77916"/>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42</a:t>
              </a:r>
            </a:p>
          </p:txBody>
        </p:sp>
        <p:sp>
          <p:nvSpPr>
            <p:cNvPr id="111" name="tx32">
              <a:extLst>
                <a:ext uri="{FF2B5EF4-FFF2-40B4-BE49-F238E27FC236}">
                  <a16:creationId xmlns:a16="http://schemas.microsoft.com/office/drawing/2014/main" id="{35594E09-EC42-92D4-96FA-7F984F4CFC92}"/>
                </a:ext>
              </a:extLst>
            </p:cNvPr>
            <p:cNvSpPr/>
            <p:nvPr/>
          </p:nvSpPr>
          <p:spPr>
            <a:xfrm>
              <a:off x="4091145" y="3511074"/>
              <a:ext cx="120579" cy="79239"/>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46</a:t>
              </a:r>
            </a:p>
          </p:txBody>
        </p:sp>
        <p:sp>
          <p:nvSpPr>
            <p:cNvPr id="112" name="tx33">
              <a:extLst>
                <a:ext uri="{FF2B5EF4-FFF2-40B4-BE49-F238E27FC236}">
                  <a16:creationId xmlns:a16="http://schemas.microsoft.com/office/drawing/2014/main" id="{98F34E55-CFA7-2E48-6AAA-DC5B3CF6AA5F}"/>
                </a:ext>
              </a:extLst>
            </p:cNvPr>
            <p:cNvSpPr/>
            <p:nvPr/>
          </p:nvSpPr>
          <p:spPr>
            <a:xfrm>
              <a:off x="4481412" y="4145796"/>
              <a:ext cx="120579" cy="79292"/>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39</a:t>
              </a:r>
            </a:p>
          </p:txBody>
        </p:sp>
        <p:sp>
          <p:nvSpPr>
            <p:cNvPr id="113" name="tx34">
              <a:extLst>
                <a:ext uri="{FF2B5EF4-FFF2-40B4-BE49-F238E27FC236}">
                  <a16:creationId xmlns:a16="http://schemas.microsoft.com/office/drawing/2014/main" id="{1C75449E-B730-837C-AB1C-71E916DBBC85}"/>
                </a:ext>
              </a:extLst>
            </p:cNvPr>
            <p:cNvSpPr/>
            <p:nvPr/>
          </p:nvSpPr>
          <p:spPr>
            <a:xfrm>
              <a:off x="5297540" y="3883423"/>
              <a:ext cx="120579" cy="79239"/>
            </a:xfrm>
            <a:prstGeom prst="rect">
              <a:avLst/>
            </a:prstGeom>
            <a:noFill/>
          </p:spPr>
          <p:txBody>
            <a:bodyPr wrap="none" lIns="0" tIns="0" rIns="0" bIns="0" anchor="ctr" anchorCtr="1"/>
            <a:lstStyle/>
            <a:p>
              <a:pPr>
                <a:lnSpc>
                  <a:spcPts val="853"/>
                </a:lnSpc>
              </a:pPr>
              <a:r>
                <a:rPr sz="853">
                  <a:solidFill>
                    <a:srgbClr val="000000">
                      <a:alpha val="100000"/>
                    </a:srgbClr>
                  </a:solidFill>
                  <a:latin typeface="Arial"/>
                  <a:cs typeface="Arial"/>
                </a:rPr>
                <a:t>29</a:t>
              </a:r>
            </a:p>
          </p:txBody>
        </p:sp>
        <p:sp>
          <p:nvSpPr>
            <p:cNvPr id="114" name="tx35">
              <a:extLst>
                <a:ext uri="{FF2B5EF4-FFF2-40B4-BE49-F238E27FC236}">
                  <a16:creationId xmlns:a16="http://schemas.microsoft.com/office/drawing/2014/main" id="{4D90A3CA-F759-472F-E470-68FC72B68B55}"/>
                </a:ext>
              </a:extLst>
            </p:cNvPr>
            <p:cNvSpPr/>
            <p:nvPr/>
          </p:nvSpPr>
          <p:spPr>
            <a:xfrm>
              <a:off x="3683138" y="4885383"/>
              <a:ext cx="180869" cy="79239"/>
            </a:xfrm>
            <a:prstGeom prst="rect">
              <a:avLst/>
            </a:prstGeom>
            <a:noFill/>
          </p:spPr>
          <p:txBody>
            <a:bodyPr wrap="none" lIns="0" tIns="0" rIns="0" bIns="0" anchor="ctr" anchorCtr="1"/>
            <a:lstStyle/>
            <a:p>
              <a:pPr>
                <a:lnSpc>
                  <a:spcPts val="853"/>
                </a:lnSpc>
              </a:pPr>
              <a:r>
                <a:rPr sz="853">
                  <a:solidFill>
                    <a:srgbClr val="FFFFFF">
                      <a:alpha val="100000"/>
                    </a:srgbClr>
                  </a:solidFill>
                  <a:latin typeface="Arial"/>
                  <a:cs typeface="Arial"/>
                </a:rPr>
                <a:t>182</a:t>
              </a:r>
            </a:p>
          </p:txBody>
        </p:sp>
        <p:sp>
          <p:nvSpPr>
            <p:cNvPr id="115" name="tx36">
              <a:extLst>
                <a:ext uri="{FF2B5EF4-FFF2-40B4-BE49-F238E27FC236}">
                  <a16:creationId xmlns:a16="http://schemas.microsoft.com/office/drawing/2014/main" id="{BE01F2A0-E76B-636F-58F8-B14AB11AEF01}"/>
                </a:ext>
              </a:extLst>
            </p:cNvPr>
            <p:cNvSpPr/>
            <p:nvPr/>
          </p:nvSpPr>
          <p:spPr>
            <a:xfrm>
              <a:off x="3307155" y="5711234"/>
              <a:ext cx="1397613" cy="129468"/>
            </a:xfrm>
            <a:prstGeom prst="rect">
              <a:avLst/>
            </a:prstGeom>
            <a:noFill/>
          </p:spPr>
          <p:txBody>
            <a:bodyPr wrap="none" lIns="0" tIns="0" rIns="0" bIns="0" anchor="ctr" anchorCtr="1"/>
            <a:lstStyle/>
            <a:p>
              <a:pPr>
                <a:lnSpc>
                  <a:spcPts val="1100"/>
                </a:lnSpc>
              </a:pPr>
              <a:r>
                <a:rPr sz="1100">
                  <a:solidFill>
                    <a:srgbClr val="000000">
                      <a:alpha val="100000"/>
                    </a:srgbClr>
                  </a:solidFill>
                  <a:latin typeface="Arial"/>
                  <a:cs typeface="Arial"/>
                </a:rPr>
                <a:t>Number of Companies</a:t>
              </a:r>
            </a:p>
          </p:txBody>
        </p:sp>
        <p:pic>
          <p:nvPicPr>
            <p:cNvPr id="116" name="pic37">
              <a:extLst>
                <a:ext uri="{FF2B5EF4-FFF2-40B4-BE49-F238E27FC236}">
                  <a16:creationId xmlns:a16="http://schemas.microsoft.com/office/drawing/2014/main" id="{CF84E738-AD2C-C45B-CBAC-F7AA707A1C24}"/>
                </a:ext>
              </a:extLst>
            </p:cNvPr>
            <p:cNvPicPr/>
            <p:nvPr/>
          </p:nvPicPr>
          <p:blipFill>
            <a:blip r:embed="rId2" cstate="print"/>
            <a:stretch>
              <a:fillRect/>
            </a:stretch>
          </p:blipFill>
          <p:spPr>
            <a:xfrm>
              <a:off x="4774358" y="5594419"/>
              <a:ext cx="1097280" cy="219455"/>
            </a:xfrm>
            <a:prstGeom prst="rect">
              <a:avLst/>
            </a:prstGeom>
          </p:spPr>
        </p:pic>
        <p:sp>
          <p:nvSpPr>
            <p:cNvPr id="117" name="pl38">
              <a:extLst>
                <a:ext uri="{FF2B5EF4-FFF2-40B4-BE49-F238E27FC236}">
                  <a16:creationId xmlns:a16="http://schemas.microsoft.com/office/drawing/2014/main" id="{6CD7ED6F-5514-DC66-6F2D-43FFEF5F83FB}"/>
                </a:ext>
              </a:extLst>
            </p:cNvPr>
            <p:cNvSpPr/>
            <p:nvPr/>
          </p:nvSpPr>
          <p:spPr>
            <a:xfrm>
              <a:off x="4932419" y="5769984"/>
              <a:ext cx="0" cy="43891"/>
            </a:xfrm>
            <a:custGeom>
              <a:avLst/>
              <a:gdLst/>
              <a:ahLst/>
              <a:cxnLst/>
              <a:rect l="0" t="0" r="0" b="0"/>
              <a:pathLst>
                <a:path h="43891">
                  <a:moveTo>
                    <a:pt x="0" y="0"/>
                  </a:moveTo>
                  <a:lnTo>
                    <a:pt x="0" y="43891"/>
                  </a:lnTo>
                </a:path>
              </a:pathLst>
            </a:custGeom>
            <a:ln w="4762" cap="flat">
              <a:solidFill>
                <a:srgbClr val="FFFFFF">
                  <a:alpha val="100000"/>
                </a:srgbClr>
              </a:solidFill>
              <a:prstDash val="solid"/>
              <a:round/>
            </a:ln>
          </p:spPr>
          <p:txBody>
            <a:bodyPr/>
            <a:lstStyle/>
            <a:p>
              <a:endParaRPr/>
            </a:p>
          </p:txBody>
        </p:sp>
        <p:sp>
          <p:nvSpPr>
            <p:cNvPr id="118" name="pl39">
              <a:extLst>
                <a:ext uri="{FF2B5EF4-FFF2-40B4-BE49-F238E27FC236}">
                  <a16:creationId xmlns:a16="http://schemas.microsoft.com/office/drawing/2014/main" id="{0B98D8BF-7C0A-19DB-73DE-6A6A4FB5A89B}"/>
                </a:ext>
              </a:extLst>
            </p:cNvPr>
            <p:cNvSpPr/>
            <p:nvPr/>
          </p:nvSpPr>
          <p:spPr>
            <a:xfrm>
              <a:off x="5132716" y="5769984"/>
              <a:ext cx="0" cy="43891"/>
            </a:xfrm>
            <a:custGeom>
              <a:avLst/>
              <a:gdLst/>
              <a:ahLst/>
              <a:cxnLst/>
              <a:rect l="0" t="0" r="0" b="0"/>
              <a:pathLst>
                <a:path h="43891">
                  <a:moveTo>
                    <a:pt x="0" y="0"/>
                  </a:moveTo>
                  <a:lnTo>
                    <a:pt x="0" y="43891"/>
                  </a:lnTo>
                </a:path>
              </a:pathLst>
            </a:custGeom>
            <a:ln w="4762" cap="flat">
              <a:solidFill>
                <a:srgbClr val="FFFFFF">
                  <a:alpha val="100000"/>
                </a:srgbClr>
              </a:solidFill>
              <a:prstDash val="solid"/>
              <a:round/>
            </a:ln>
          </p:spPr>
          <p:txBody>
            <a:bodyPr/>
            <a:lstStyle/>
            <a:p>
              <a:endParaRPr/>
            </a:p>
          </p:txBody>
        </p:sp>
        <p:sp>
          <p:nvSpPr>
            <p:cNvPr id="119" name="pl40">
              <a:extLst>
                <a:ext uri="{FF2B5EF4-FFF2-40B4-BE49-F238E27FC236}">
                  <a16:creationId xmlns:a16="http://schemas.microsoft.com/office/drawing/2014/main" id="{88E293B8-5CEA-977B-3E8A-8F44A9A659CA}"/>
                </a:ext>
              </a:extLst>
            </p:cNvPr>
            <p:cNvSpPr/>
            <p:nvPr/>
          </p:nvSpPr>
          <p:spPr>
            <a:xfrm>
              <a:off x="5333013" y="5769984"/>
              <a:ext cx="0" cy="43891"/>
            </a:xfrm>
            <a:custGeom>
              <a:avLst/>
              <a:gdLst/>
              <a:ahLst/>
              <a:cxnLst/>
              <a:rect l="0" t="0" r="0" b="0"/>
              <a:pathLst>
                <a:path h="43891">
                  <a:moveTo>
                    <a:pt x="0" y="0"/>
                  </a:moveTo>
                  <a:lnTo>
                    <a:pt x="0" y="43891"/>
                  </a:lnTo>
                </a:path>
              </a:pathLst>
            </a:custGeom>
            <a:ln w="4762" cap="flat">
              <a:solidFill>
                <a:srgbClr val="FFFFFF">
                  <a:alpha val="100000"/>
                </a:srgbClr>
              </a:solidFill>
              <a:prstDash val="solid"/>
              <a:round/>
            </a:ln>
          </p:spPr>
          <p:txBody>
            <a:bodyPr/>
            <a:lstStyle/>
            <a:p>
              <a:endParaRPr/>
            </a:p>
          </p:txBody>
        </p:sp>
        <p:sp>
          <p:nvSpPr>
            <p:cNvPr id="120" name="pl41">
              <a:extLst>
                <a:ext uri="{FF2B5EF4-FFF2-40B4-BE49-F238E27FC236}">
                  <a16:creationId xmlns:a16="http://schemas.microsoft.com/office/drawing/2014/main" id="{A76E92A0-70D7-FCBB-2E20-7D3F45DC8A25}"/>
                </a:ext>
              </a:extLst>
            </p:cNvPr>
            <p:cNvSpPr/>
            <p:nvPr/>
          </p:nvSpPr>
          <p:spPr>
            <a:xfrm>
              <a:off x="5533310" y="5769984"/>
              <a:ext cx="0" cy="43891"/>
            </a:xfrm>
            <a:custGeom>
              <a:avLst/>
              <a:gdLst/>
              <a:ahLst/>
              <a:cxnLst/>
              <a:rect l="0" t="0" r="0" b="0"/>
              <a:pathLst>
                <a:path h="43891">
                  <a:moveTo>
                    <a:pt x="0" y="0"/>
                  </a:moveTo>
                  <a:lnTo>
                    <a:pt x="0" y="43891"/>
                  </a:lnTo>
                </a:path>
              </a:pathLst>
            </a:custGeom>
            <a:ln w="4762" cap="flat">
              <a:solidFill>
                <a:srgbClr val="FFFFFF">
                  <a:alpha val="100000"/>
                </a:srgbClr>
              </a:solidFill>
              <a:prstDash val="solid"/>
              <a:round/>
            </a:ln>
          </p:spPr>
          <p:txBody>
            <a:bodyPr/>
            <a:lstStyle/>
            <a:p>
              <a:endParaRPr/>
            </a:p>
          </p:txBody>
        </p:sp>
        <p:sp>
          <p:nvSpPr>
            <p:cNvPr id="121" name="pl42">
              <a:extLst>
                <a:ext uri="{FF2B5EF4-FFF2-40B4-BE49-F238E27FC236}">
                  <a16:creationId xmlns:a16="http://schemas.microsoft.com/office/drawing/2014/main" id="{DB40B78D-3EAC-0018-E3E9-3F9C092EE173}"/>
                </a:ext>
              </a:extLst>
            </p:cNvPr>
            <p:cNvSpPr/>
            <p:nvPr/>
          </p:nvSpPr>
          <p:spPr>
            <a:xfrm>
              <a:off x="5733607" y="5769984"/>
              <a:ext cx="0" cy="43891"/>
            </a:xfrm>
            <a:custGeom>
              <a:avLst/>
              <a:gdLst/>
              <a:ahLst/>
              <a:cxnLst/>
              <a:rect l="0" t="0" r="0" b="0"/>
              <a:pathLst>
                <a:path h="43891">
                  <a:moveTo>
                    <a:pt x="0" y="0"/>
                  </a:moveTo>
                  <a:lnTo>
                    <a:pt x="0" y="43891"/>
                  </a:lnTo>
                </a:path>
              </a:pathLst>
            </a:custGeom>
            <a:ln w="4762" cap="flat">
              <a:solidFill>
                <a:srgbClr val="FFFFFF">
                  <a:alpha val="100000"/>
                </a:srgbClr>
              </a:solidFill>
              <a:prstDash val="solid"/>
              <a:round/>
            </a:ln>
          </p:spPr>
          <p:txBody>
            <a:bodyPr/>
            <a:lstStyle/>
            <a:p>
              <a:endParaRPr/>
            </a:p>
          </p:txBody>
        </p:sp>
        <p:sp>
          <p:nvSpPr>
            <p:cNvPr id="122" name="pl43">
              <a:extLst>
                <a:ext uri="{FF2B5EF4-FFF2-40B4-BE49-F238E27FC236}">
                  <a16:creationId xmlns:a16="http://schemas.microsoft.com/office/drawing/2014/main" id="{926AD2D4-99BC-3E36-9B58-5E7F40376297}"/>
                </a:ext>
              </a:extLst>
            </p:cNvPr>
            <p:cNvSpPr/>
            <p:nvPr/>
          </p:nvSpPr>
          <p:spPr>
            <a:xfrm>
              <a:off x="4932419" y="5594419"/>
              <a:ext cx="0" cy="43891"/>
            </a:xfrm>
            <a:custGeom>
              <a:avLst/>
              <a:gdLst/>
              <a:ahLst/>
              <a:cxnLst/>
              <a:rect l="0" t="0" r="0" b="0"/>
              <a:pathLst>
                <a:path h="43891">
                  <a:moveTo>
                    <a:pt x="0" y="43891"/>
                  </a:moveTo>
                  <a:lnTo>
                    <a:pt x="0" y="0"/>
                  </a:lnTo>
                </a:path>
              </a:pathLst>
            </a:custGeom>
            <a:ln w="4762" cap="flat">
              <a:solidFill>
                <a:srgbClr val="FFFFFF">
                  <a:alpha val="100000"/>
                </a:srgbClr>
              </a:solidFill>
              <a:prstDash val="solid"/>
              <a:round/>
            </a:ln>
          </p:spPr>
          <p:txBody>
            <a:bodyPr/>
            <a:lstStyle/>
            <a:p>
              <a:endParaRPr/>
            </a:p>
          </p:txBody>
        </p:sp>
        <p:sp>
          <p:nvSpPr>
            <p:cNvPr id="123" name="pl44">
              <a:extLst>
                <a:ext uri="{FF2B5EF4-FFF2-40B4-BE49-F238E27FC236}">
                  <a16:creationId xmlns:a16="http://schemas.microsoft.com/office/drawing/2014/main" id="{C07356C2-0227-10FA-A3CE-B64EEB0910FA}"/>
                </a:ext>
              </a:extLst>
            </p:cNvPr>
            <p:cNvSpPr/>
            <p:nvPr/>
          </p:nvSpPr>
          <p:spPr>
            <a:xfrm>
              <a:off x="5132716" y="5594419"/>
              <a:ext cx="0" cy="43891"/>
            </a:xfrm>
            <a:custGeom>
              <a:avLst/>
              <a:gdLst/>
              <a:ahLst/>
              <a:cxnLst/>
              <a:rect l="0" t="0" r="0" b="0"/>
              <a:pathLst>
                <a:path h="43891">
                  <a:moveTo>
                    <a:pt x="0" y="43891"/>
                  </a:moveTo>
                  <a:lnTo>
                    <a:pt x="0" y="0"/>
                  </a:lnTo>
                </a:path>
              </a:pathLst>
            </a:custGeom>
            <a:ln w="4762" cap="flat">
              <a:solidFill>
                <a:srgbClr val="FFFFFF">
                  <a:alpha val="100000"/>
                </a:srgbClr>
              </a:solidFill>
              <a:prstDash val="solid"/>
              <a:round/>
            </a:ln>
          </p:spPr>
          <p:txBody>
            <a:bodyPr/>
            <a:lstStyle/>
            <a:p>
              <a:endParaRPr/>
            </a:p>
          </p:txBody>
        </p:sp>
        <p:sp>
          <p:nvSpPr>
            <p:cNvPr id="124" name="pl45">
              <a:extLst>
                <a:ext uri="{FF2B5EF4-FFF2-40B4-BE49-F238E27FC236}">
                  <a16:creationId xmlns:a16="http://schemas.microsoft.com/office/drawing/2014/main" id="{921B93D3-5EC3-B41A-C72A-BC8BCB31931B}"/>
                </a:ext>
              </a:extLst>
            </p:cNvPr>
            <p:cNvSpPr/>
            <p:nvPr/>
          </p:nvSpPr>
          <p:spPr>
            <a:xfrm>
              <a:off x="5333013" y="5594419"/>
              <a:ext cx="0" cy="43891"/>
            </a:xfrm>
            <a:custGeom>
              <a:avLst/>
              <a:gdLst/>
              <a:ahLst/>
              <a:cxnLst/>
              <a:rect l="0" t="0" r="0" b="0"/>
              <a:pathLst>
                <a:path h="43891">
                  <a:moveTo>
                    <a:pt x="0" y="43891"/>
                  </a:moveTo>
                  <a:lnTo>
                    <a:pt x="0" y="0"/>
                  </a:lnTo>
                </a:path>
              </a:pathLst>
            </a:custGeom>
            <a:ln w="4762" cap="flat">
              <a:solidFill>
                <a:srgbClr val="FFFFFF">
                  <a:alpha val="100000"/>
                </a:srgbClr>
              </a:solidFill>
              <a:prstDash val="solid"/>
              <a:round/>
            </a:ln>
          </p:spPr>
          <p:txBody>
            <a:bodyPr/>
            <a:lstStyle/>
            <a:p>
              <a:endParaRPr/>
            </a:p>
          </p:txBody>
        </p:sp>
        <p:sp>
          <p:nvSpPr>
            <p:cNvPr id="125" name="pl46">
              <a:extLst>
                <a:ext uri="{FF2B5EF4-FFF2-40B4-BE49-F238E27FC236}">
                  <a16:creationId xmlns:a16="http://schemas.microsoft.com/office/drawing/2014/main" id="{3424479F-B902-86E8-60F7-4D9641C25CA0}"/>
                </a:ext>
              </a:extLst>
            </p:cNvPr>
            <p:cNvSpPr/>
            <p:nvPr/>
          </p:nvSpPr>
          <p:spPr>
            <a:xfrm>
              <a:off x="5533310" y="5594419"/>
              <a:ext cx="0" cy="43891"/>
            </a:xfrm>
            <a:custGeom>
              <a:avLst/>
              <a:gdLst/>
              <a:ahLst/>
              <a:cxnLst/>
              <a:rect l="0" t="0" r="0" b="0"/>
              <a:pathLst>
                <a:path h="43891">
                  <a:moveTo>
                    <a:pt x="0" y="43891"/>
                  </a:moveTo>
                  <a:lnTo>
                    <a:pt x="0" y="0"/>
                  </a:lnTo>
                </a:path>
              </a:pathLst>
            </a:custGeom>
            <a:ln w="4762" cap="flat">
              <a:solidFill>
                <a:srgbClr val="FFFFFF">
                  <a:alpha val="100000"/>
                </a:srgbClr>
              </a:solidFill>
              <a:prstDash val="solid"/>
              <a:round/>
            </a:ln>
          </p:spPr>
          <p:txBody>
            <a:bodyPr/>
            <a:lstStyle/>
            <a:p>
              <a:endParaRPr/>
            </a:p>
          </p:txBody>
        </p:sp>
        <p:sp>
          <p:nvSpPr>
            <p:cNvPr id="126" name="pl47">
              <a:extLst>
                <a:ext uri="{FF2B5EF4-FFF2-40B4-BE49-F238E27FC236}">
                  <a16:creationId xmlns:a16="http://schemas.microsoft.com/office/drawing/2014/main" id="{6D333F01-0AB9-5372-0BF4-9E11EB9410D0}"/>
                </a:ext>
              </a:extLst>
            </p:cNvPr>
            <p:cNvSpPr/>
            <p:nvPr/>
          </p:nvSpPr>
          <p:spPr>
            <a:xfrm>
              <a:off x="5733607" y="5594419"/>
              <a:ext cx="0" cy="43891"/>
            </a:xfrm>
            <a:custGeom>
              <a:avLst/>
              <a:gdLst/>
              <a:ahLst/>
              <a:cxnLst/>
              <a:rect l="0" t="0" r="0" b="0"/>
              <a:pathLst>
                <a:path h="43891">
                  <a:moveTo>
                    <a:pt x="0" y="43891"/>
                  </a:moveTo>
                  <a:lnTo>
                    <a:pt x="0" y="0"/>
                  </a:lnTo>
                </a:path>
              </a:pathLst>
            </a:custGeom>
            <a:ln w="4762" cap="flat">
              <a:solidFill>
                <a:srgbClr val="FFFFFF">
                  <a:alpha val="100000"/>
                </a:srgbClr>
              </a:solidFill>
              <a:prstDash val="solid"/>
              <a:round/>
            </a:ln>
          </p:spPr>
          <p:txBody>
            <a:bodyPr/>
            <a:lstStyle/>
            <a:p>
              <a:endParaRPr/>
            </a:p>
          </p:txBody>
        </p:sp>
        <p:sp>
          <p:nvSpPr>
            <p:cNvPr id="127" name="tx48">
              <a:extLst>
                <a:ext uri="{FF2B5EF4-FFF2-40B4-BE49-F238E27FC236}">
                  <a16:creationId xmlns:a16="http://schemas.microsoft.com/office/drawing/2014/main" id="{CD19411C-4550-A93F-4C48-5D515B2ACCD5}"/>
                </a:ext>
              </a:extLst>
            </p:cNvPr>
            <p:cNvSpPr/>
            <p:nvPr/>
          </p:nvSpPr>
          <p:spPr>
            <a:xfrm>
              <a:off x="4839185" y="5881773"/>
              <a:ext cx="186466" cy="81691"/>
            </a:xfrm>
            <a:prstGeom prst="rect">
              <a:avLst/>
            </a:prstGeom>
            <a:noFill/>
          </p:spPr>
          <p:txBody>
            <a:bodyPr wrap="none" lIns="0" tIns="0" rIns="0" bIns="0" anchor="ctr" anchorCtr="1"/>
            <a:lstStyle/>
            <a:p>
              <a:pPr>
                <a:lnSpc>
                  <a:spcPts val="880"/>
                </a:lnSpc>
              </a:pPr>
              <a:r>
                <a:rPr sz="880">
                  <a:solidFill>
                    <a:srgbClr val="000000">
                      <a:alpha val="100000"/>
                    </a:srgbClr>
                  </a:solidFill>
                  <a:latin typeface="Arial"/>
                  <a:cs typeface="Arial"/>
                </a:rPr>
                <a:t>100</a:t>
              </a:r>
            </a:p>
          </p:txBody>
        </p:sp>
        <p:sp>
          <p:nvSpPr>
            <p:cNvPr id="128" name="tx49">
              <a:extLst>
                <a:ext uri="{FF2B5EF4-FFF2-40B4-BE49-F238E27FC236}">
                  <a16:creationId xmlns:a16="http://schemas.microsoft.com/office/drawing/2014/main" id="{2607BB1F-331A-EC26-CE09-BF94EF205EF1}"/>
                </a:ext>
              </a:extLst>
            </p:cNvPr>
            <p:cNvSpPr/>
            <p:nvPr/>
          </p:nvSpPr>
          <p:spPr>
            <a:xfrm>
              <a:off x="5039483" y="5881773"/>
              <a:ext cx="186466" cy="81691"/>
            </a:xfrm>
            <a:prstGeom prst="rect">
              <a:avLst/>
            </a:prstGeom>
            <a:noFill/>
          </p:spPr>
          <p:txBody>
            <a:bodyPr wrap="none" lIns="0" tIns="0" rIns="0" bIns="0" anchor="ctr" anchorCtr="1"/>
            <a:lstStyle/>
            <a:p>
              <a:pPr>
                <a:lnSpc>
                  <a:spcPts val="880"/>
                </a:lnSpc>
              </a:pPr>
              <a:r>
                <a:rPr sz="880">
                  <a:solidFill>
                    <a:srgbClr val="000000">
                      <a:alpha val="100000"/>
                    </a:srgbClr>
                  </a:solidFill>
                  <a:latin typeface="Arial"/>
                  <a:cs typeface="Arial"/>
                </a:rPr>
                <a:t>200</a:t>
              </a:r>
            </a:p>
          </p:txBody>
        </p:sp>
        <p:sp>
          <p:nvSpPr>
            <p:cNvPr id="129" name="tx50">
              <a:extLst>
                <a:ext uri="{FF2B5EF4-FFF2-40B4-BE49-F238E27FC236}">
                  <a16:creationId xmlns:a16="http://schemas.microsoft.com/office/drawing/2014/main" id="{1C584B42-B7BE-D06F-2D2F-2D77A36D7E56}"/>
                </a:ext>
              </a:extLst>
            </p:cNvPr>
            <p:cNvSpPr/>
            <p:nvPr/>
          </p:nvSpPr>
          <p:spPr>
            <a:xfrm>
              <a:off x="5239780" y="5881718"/>
              <a:ext cx="186466" cy="81746"/>
            </a:xfrm>
            <a:prstGeom prst="rect">
              <a:avLst/>
            </a:prstGeom>
            <a:noFill/>
          </p:spPr>
          <p:txBody>
            <a:bodyPr wrap="none" lIns="0" tIns="0" rIns="0" bIns="0" anchor="ctr" anchorCtr="1"/>
            <a:lstStyle/>
            <a:p>
              <a:pPr>
                <a:lnSpc>
                  <a:spcPts val="880"/>
                </a:lnSpc>
              </a:pPr>
              <a:r>
                <a:rPr sz="880">
                  <a:solidFill>
                    <a:srgbClr val="000000">
                      <a:alpha val="100000"/>
                    </a:srgbClr>
                  </a:solidFill>
                  <a:latin typeface="Arial"/>
                  <a:cs typeface="Arial"/>
                </a:rPr>
                <a:t>300</a:t>
              </a:r>
            </a:p>
          </p:txBody>
        </p:sp>
        <p:sp>
          <p:nvSpPr>
            <p:cNvPr id="130" name="tx51">
              <a:extLst>
                <a:ext uri="{FF2B5EF4-FFF2-40B4-BE49-F238E27FC236}">
                  <a16:creationId xmlns:a16="http://schemas.microsoft.com/office/drawing/2014/main" id="{D1542726-CD34-993B-50BB-73FBABF2068B}"/>
                </a:ext>
              </a:extLst>
            </p:cNvPr>
            <p:cNvSpPr/>
            <p:nvPr/>
          </p:nvSpPr>
          <p:spPr>
            <a:xfrm>
              <a:off x="5440077" y="5881773"/>
              <a:ext cx="186466" cy="81691"/>
            </a:xfrm>
            <a:prstGeom prst="rect">
              <a:avLst/>
            </a:prstGeom>
            <a:noFill/>
          </p:spPr>
          <p:txBody>
            <a:bodyPr wrap="none" lIns="0" tIns="0" rIns="0" bIns="0" anchor="ctr" anchorCtr="1"/>
            <a:lstStyle/>
            <a:p>
              <a:pPr>
                <a:lnSpc>
                  <a:spcPts val="880"/>
                </a:lnSpc>
              </a:pPr>
              <a:r>
                <a:rPr sz="880">
                  <a:solidFill>
                    <a:srgbClr val="000000">
                      <a:alpha val="100000"/>
                    </a:srgbClr>
                  </a:solidFill>
                  <a:latin typeface="Arial"/>
                  <a:cs typeface="Arial"/>
                </a:rPr>
                <a:t>400</a:t>
              </a:r>
            </a:p>
          </p:txBody>
        </p:sp>
        <p:sp>
          <p:nvSpPr>
            <p:cNvPr id="131" name="tx52">
              <a:extLst>
                <a:ext uri="{FF2B5EF4-FFF2-40B4-BE49-F238E27FC236}">
                  <a16:creationId xmlns:a16="http://schemas.microsoft.com/office/drawing/2014/main" id="{13DB3CE1-0B27-F2DB-4DAE-A2C46069D8C9}"/>
                </a:ext>
              </a:extLst>
            </p:cNvPr>
            <p:cNvSpPr/>
            <p:nvPr/>
          </p:nvSpPr>
          <p:spPr>
            <a:xfrm>
              <a:off x="5640374" y="5881773"/>
              <a:ext cx="186466" cy="81691"/>
            </a:xfrm>
            <a:prstGeom prst="rect">
              <a:avLst/>
            </a:prstGeom>
            <a:noFill/>
          </p:spPr>
          <p:txBody>
            <a:bodyPr wrap="none" lIns="0" tIns="0" rIns="0" bIns="0" anchor="ctr" anchorCtr="1"/>
            <a:lstStyle/>
            <a:p>
              <a:pPr>
                <a:lnSpc>
                  <a:spcPts val="880"/>
                </a:lnSpc>
              </a:pPr>
              <a:r>
                <a:rPr sz="880">
                  <a:solidFill>
                    <a:srgbClr val="000000">
                      <a:alpha val="100000"/>
                    </a:srgbClr>
                  </a:solidFill>
                  <a:latin typeface="Arial"/>
                  <a:cs typeface="Arial"/>
                </a:rPr>
                <a:t>500</a:t>
              </a:r>
            </a:p>
          </p:txBody>
        </p:sp>
        <p:sp>
          <p:nvSpPr>
            <p:cNvPr id="132" name="tx53">
              <a:extLst>
                <a:ext uri="{FF2B5EF4-FFF2-40B4-BE49-F238E27FC236}">
                  <a16:creationId xmlns:a16="http://schemas.microsoft.com/office/drawing/2014/main" id="{84539B1A-BB65-AFD6-CBCE-EA2A8DC04BF0}"/>
                </a:ext>
              </a:extLst>
            </p:cNvPr>
            <p:cNvSpPr/>
            <p:nvPr/>
          </p:nvSpPr>
          <p:spPr>
            <a:xfrm>
              <a:off x="2766771" y="1505013"/>
              <a:ext cx="3383452" cy="545512"/>
            </a:xfrm>
            <a:prstGeom prst="rect">
              <a:avLst/>
            </a:prstGeom>
            <a:noFill/>
          </p:spPr>
          <p:txBody>
            <a:bodyPr wrap="none" lIns="0" tIns="0" rIns="0" bIns="0" anchor="ctr" anchorCtr="1"/>
            <a:lstStyle/>
            <a:p>
              <a:pPr>
                <a:lnSpc>
                  <a:spcPts val="1600"/>
                </a:lnSpc>
              </a:pPr>
              <a:r>
                <a:rPr sz="1600" b="1" dirty="0">
                  <a:solidFill>
                    <a:srgbClr val="000000">
                      <a:alpha val="100000"/>
                    </a:srgbClr>
                  </a:solidFill>
                  <a:latin typeface="Arial"/>
                  <a:cs typeface="Arial"/>
                </a:rPr>
                <a:t>Companies Headquartered by </a:t>
              </a:r>
              <a:endParaRPr lang="en-US" sz="1600" b="1" dirty="0">
                <a:solidFill>
                  <a:srgbClr val="000000">
                    <a:alpha val="100000"/>
                  </a:srgbClr>
                </a:solidFill>
                <a:latin typeface="Arial"/>
                <a:cs typeface="Arial"/>
              </a:endParaRPr>
            </a:p>
            <a:p>
              <a:pPr>
                <a:lnSpc>
                  <a:spcPts val="1600"/>
                </a:lnSpc>
              </a:pPr>
              <a:r>
                <a:rPr sz="1600" b="1" dirty="0">
                  <a:solidFill>
                    <a:srgbClr val="000000">
                      <a:alpha val="100000"/>
                    </a:srgbClr>
                  </a:solidFill>
                  <a:latin typeface="Arial"/>
                  <a:cs typeface="Arial"/>
                </a:rPr>
                <a:t>County With 50+ Employees</a:t>
              </a:r>
            </a:p>
          </p:txBody>
        </p:sp>
      </p:grpSp>
    </p:spTree>
    <p:extLst>
      <p:ext uri="{BB962C8B-B14F-4D97-AF65-F5344CB8AC3E}">
        <p14:creationId xmlns:p14="http://schemas.microsoft.com/office/powerpoint/2010/main" val="1082327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gn="ctr">
              <a:lnSpc>
                <a:spcPct val="100000"/>
              </a:lnSpc>
              <a:spcBef>
                <a:spcPts val="1800"/>
              </a:spcBef>
              <a:spcAft>
                <a:spcPts val="600"/>
              </a:spcAft>
            </a:pPr>
            <a:r>
              <a:rPr lang="en-US" b="1" dirty="0">
                <a:solidFill>
                  <a:srgbClr val="000B2E"/>
                </a:solidFill>
                <a:latin typeface="Garamond" panose="02020404030301010803" pitchFamily="18" charset="0"/>
                <a:cs typeface="Times New Roman" panose="02020603050405020304" pitchFamily="18" charset="0"/>
              </a:rPr>
              <a:t>MaineHealth is Patient Recommended</a:t>
            </a:r>
            <a:endParaRPr lang="en-US" sz="1800" b="1" dirty="0">
              <a:solidFill>
                <a:schemeClr val="tx1">
                  <a:lumMod val="75000"/>
                  <a:lumOff val="25000"/>
                </a:schemeClr>
              </a:solidFill>
              <a:latin typeface="Garamond" panose="02020404030301010803" pitchFamily="18" charset="0"/>
              <a:cs typeface="Times New Roman" panose="02020603050405020304" pitchFamily="18" charset="0"/>
            </a:endParaRPr>
          </a:p>
        </p:txBody>
      </p:sp>
      <p:graphicFrame>
        <p:nvGraphicFramePr>
          <p:cNvPr id="7" name="Table 6"/>
          <p:cNvGraphicFramePr>
            <a:graphicFrameLocks noGrp="1"/>
          </p:cNvGraphicFramePr>
          <p:nvPr/>
        </p:nvGraphicFramePr>
        <p:xfrm>
          <a:off x="1742686" y="1826790"/>
          <a:ext cx="9461226" cy="3699803"/>
        </p:xfrm>
        <a:graphic>
          <a:graphicData uri="http://schemas.openxmlformats.org/drawingml/2006/table">
            <a:tbl>
              <a:tblPr/>
              <a:tblGrid>
                <a:gridCol w="2521428">
                  <a:extLst>
                    <a:ext uri="{9D8B030D-6E8A-4147-A177-3AD203B41FA5}">
                      <a16:colId xmlns:a16="http://schemas.microsoft.com/office/drawing/2014/main" val="20000"/>
                    </a:ext>
                  </a:extLst>
                </a:gridCol>
                <a:gridCol w="1771703">
                  <a:extLst>
                    <a:ext uri="{9D8B030D-6E8A-4147-A177-3AD203B41FA5}">
                      <a16:colId xmlns:a16="http://schemas.microsoft.com/office/drawing/2014/main" val="20001"/>
                    </a:ext>
                  </a:extLst>
                </a:gridCol>
                <a:gridCol w="1186363">
                  <a:extLst>
                    <a:ext uri="{9D8B030D-6E8A-4147-A177-3AD203B41FA5}">
                      <a16:colId xmlns:a16="http://schemas.microsoft.com/office/drawing/2014/main" val="20002"/>
                    </a:ext>
                  </a:extLst>
                </a:gridCol>
                <a:gridCol w="1148156">
                  <a:extLst>
                    <a:ext uri="{9D8B030D-6E8A-4147-A177-3AD203B41FA5}">
                      <a16:colId xmlns:a16="http://schemas.microsoft.com/office/drawing/2014/main" val="20003"/>
                    </a:ext>
                  </a:extLst>
                </a:gridCol>
                <a:gridCol w="1397558">
                  <a:extLst>
                    <a:ext uri="{9D8B030D-6E8A-4147-A177-3AD203B41FA5}">
                      <a16:colId xmlns:a16="http://schemas.microsoft.com/office/drawing/2014/main" val="20004"/>
                    </a:ext>
                  </a:extLst>
                </a:gridCol>
                <a:gridCol w="1436018">
                  <a:extLst>
                    <a:ext uri="{9D8B030D-6E8A-4147-A177-3AD203B41FA5}">
                      <a16:colId xmlns:a16="http://schemas.microsoft.com/office/drawing/2014/main" val="20005"/>
                    </a:ext>
                  </a:extLst>
                </a:gridCol>
              </a:tblGrid>
              <a:tr h="797453">
                <a:tc>
                  <a:txBody>
                    <a:bodyPr/>
                    <a:lstStyle/>
                    <a:p>
                      <a:pPr marL="63500" marR="63500" algn="l">
                        <a:lnSpc>
                          <a:spcPct val="100000"/>
                        </a:lnSpc>
                        <a:spcBef>
                          <a:spcPts val="500"/>
                        </a:spcBef>
                        <a:spcAft>
                          <a:spcPts val="500"/>
                        </a:spcAft>
                        <a:buNone/>
                      </a:pPr>
                      <a:r>
                        <a:rPr sz="1400" b="1" i="0" u="none" cap="none">
                          <a:solidFill>
                            <a:srgbClr val="000000">
                              <a:alpha val="100000"/>
                            </a:srgbClr>
                          </a:solidFill>
                          <a:latin typeface="Arial"/>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HCAHPS</a:t>
                      </a:r>
                      <a:br>
                        <a:rPr sz="1400" b="1" i="0" u="none" cap="none">
                          <a:solidFill>
                            <a:srgbClr val="000000">
                              <a:alpha val="100000"/>
                            </a:srgbClr>
                          </a:solidFill>
                          <a:latin typeface="Arial"/>
                          <a:cs typeface="Arial"/>
                          <a:sym typeface="Arial"/>
                        </a:rPr>
                      </a:br>
                      <a:r>
                        <a:rPr sz="1400" b="1" i="0" u="none" cap="none">
                          <a:solidFill>
                            <a:srgbClr val="000000">
                              <a:alpha val="100000"/>
                            </a:srgbClr>
                          </a:solidFill>
                          <a:latin typeface="Arial"/>
                          <a:cs typeface="Arial"/>
                          <a:sym typeface="Arial"/>
                        </a:rPr>
                        <a:t>Recommendation</a:t>
                      </a:r>
                      <a:br>
                        <a:rPr sz="1400" b="1" i="0" u="none" cap="none">
                          <a:solidFill>
                            <a:srgbClr val="000000">
                              <a:alpha val="100000"/>
                            </a:srgbClr>
                          </a:solidFill>
                          <a:latin typeface="Arial"/>
                          <a:cs typeface="Arial"/>
                          <a:sym typeface="Arial"/>
                        </a:rPr>
                      </a:br>
                      <a:r>
                        <a:rPr sz="14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CMS Stars</a:t>
                      </a:r>
                      <a:br>
                        <a:rPr sz="1400" b="1" i="0" u="none" cap="none">
                          <a:solidFill>
                            <a:srgbClr val="000000">
                              <a:alpha val="100000"/>
                            </a:srgbClr>
                          </a:solidFill>
                          <a:latin typeface="Arial"/>
                          <a:cs typeface="Arial"/>
                          <a:sym typeface="Arial"/>
                        </a:rPr>
                      </a:br>
                      <a:r>
                        <a:rPr sz="14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Mortality</a:t>
                      </a:r>
                      <a:br>
                        <a:rPr sz="1400" b="1" i="0" u="none" cap="none">
                          <a:solidFill>
                            <a:srgbClr val="000000">
                              <a:alpha val="100000"/>
                            </a:srgbClr>
                          </a:solidFill>
                          <a:latin typeface="Arial"/>
                          <a:cs typeface="Arial"/>
                          <a:sym typeface="Arial"/>
                        </a:rPr>
                      </a:br>
                      <a:r>
                        <a:rPr sz="14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Readmission</a:t>
                      </a:r>
                      <a:br>
                        <a:rPr sz="1400" b="1" i="0" u="none" cap="none">
                          <a:solidFill>
                            <a:srgbClr val="000000">
                              <a:alpha val="100000"/>
                            </a:srgbClr>
                          </a:solidFill>
                          <a:latin typeface="Arial"/>
                          <a:cs typeface="Arial"/>
                          <a:sym typeface="Arial"/>
                        </a:rPr>
                      </a:br>
                      <a:r>
                        <a:rPr sz="14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400" b="1" i="0" u="none" cap="none">
                          <a:solidFill>
                            <a:srgbClr val="000000">
                              <a:alpha val="100000"/>
                            </a:srgbClr>
                          </a:solidFill>
                          <a:latin typeface="Arial"/>
                          <a:cs typeface="Arial"/>
                          <a:sym typeface="Arial"/>
                        </a:rPr>
                        <a:t>KBA Brand</a:t>
                      </a:r>
                      <a:br>
                        <a:rPr sz="1400" b="1" i="0" u="none" cap="none">
                          <a:solidFill>
                            <a:srgbClr val="000000">
                              <a:alpha val="100000"/>
                            </a:srgbClr>
                          </a:solidFill>
                          <a:latin typeface="Arial"/>
                          <a:cs typeface="Arial"/>
                          <a:sym typeface="Arial"/>
                        </a:rPr>
                      </a:br>
                      <a:r>
                        <a:rPr sz="1400" b="1" i="0" u="none" cap="none">
                          <a:solidFill>
                            <a:srgbClr val="000000">
                              <a:alpha val="100000"/>
                            </a:srgbClr>
                          </a:solidFill>
                          <a:latin typeface="Arial"/>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0"/>
                  </a:ext>
                </a:extLst>
              </a:tr>
              <a:tr h="496103">
                <a:tc>
                  <a:txBody>
                    <a:bodyPr/>
                    <a:lstStyle/>
                    <a:p>
                      <a:pPr marL="63500" marR="63500" algn="l">
                        <a:lnSpc>
                          <a:spcPct val="100000"/>
                        </a:lnSpc>
                        <a:spcBef>
                          <a:spcPts val="500"/>
                        </a:spcBef>
                        <a:spcAft>
                          <a:spcPts val="500"/>
                        </a:spcAft>
                        <a:buNone/>
                      </a:pPr>
                      <a:r>
                        <a:rPr sz="1400" b="0" i="0" u="none" cap="none" dirty="0" err="1">
                          <a:solidFill>
                            <a:srgbClr val="000000">
                              <a:alpha val="100000"/>
                            </a:srgbClr>
                          </a:solidFill>
                          <a:latin typeface="Arial"/>
                          <a:cs typeface="Arial"/>
                          <a:sym typeface="Arial"/>
                        </a:rPr>
                        <a:t>MaineHealth</a:t>
                      </a:r>
                      <a:endParaRPr sz="1400" b="0" i="0" u="none" cap="none" dirty="0">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400" b="0" i="0" u="none" cap="none" dirty="0">
                          <a:solidFill>
                            <a:srgbClr val="FFFFFF">
                              <a:alpha val="100000"/>
                            </a:srgbClr>
                          </a:solidFill>
                          <a:latin typeface="Arial"/>
                          <a:cs typeface="Arial"/>
                          <a:sym typeface="Arial"/>
                        </a:rPr>
                        <a:t>63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979AF">
                        <a:alpha val="100000"/>
                      </a:srgbClr>
                    </a:solidFill>
                  </a:tcPr>
                </a:tc>
                <a:tc>
                  <a:txBody>
                    <a:bodyPr/>
                    <a:lstStyle/>
                    <a:p>
                      <a:pPr marL="63500" marR="63500" algn="ctr">
                        <a:lnSpc>
                          <a:spcPct val="100000"/>
                        </a:lnSpc>
                        <a:spcBef>
                          <a:spcPts val="500"/>
                        </a:spcBef>
                        <a:spcAft>
                          <a:spcPts val="500"/>
                        </a:spcAft>
                        <a:buNone/>
                      </a:pPr>
                      <a:r>
                        <a:rPr sz="1400" b="0" i="0" u="none" cap="none" dirty="0">
                          <a:solidFill>
                            <a:srgbClr val="FFFFFF">
                              <a:alpha val="100000"/>
                            </a:srgbClr>
                          </a:solidFill>
                          <a:latin typeface="Arial"/>
                          <a:cs typeface="Arial"/>
                          <a:sym typeface="Arial"/>
                        </a:rPr>
                        <a:t>84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986B6">
                        <a:alpha val="100000"/>
                      </a:srgbClr>
                    </a:solidFill>
                  </a:tcPr>
                </a:tc>
                <a:tc>
                  <a:txBody>
                    <a:bodyPr/>
                    <a:lstStyle/>
                    <a:p>
                      <a:pPr marL="63500" marR="63500" algn="ctr">
                        <a:lnSpc>
                          <a:spcPct val="100000"/>
                        </a:lnSpc>
                        <a:spcBef>
                          <a:spcPts val="500"/>
                        </a:spcBef>
                        <a:spcAft>
                          <a:spcPts val="500"/>
                        </a:spcAft>
                        <a:buNone/>
                      </a:pPr>
                      <a:r>
                        <a:rPr sz="1400" b="0" i="0" u="none" cap="none" dirty="0">
                          <a:solidFill>
                            <a:srgbClr val="FFFFFF">
                              <a:alpha val="100000"/>
                            </a:srgbClr>
                          </a:solidFill>
                          <a:latin typeface="Arial"/>
                          <a:cs typeface="Arial"/>
                          <a:sym typeface="Arial"/>
                        </a:rPr>
                        <a:t>77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48FBB">
                        <a:alpha val="100000"/>
                      </a:srgbClr>
                    </a:solidFill>
                  </a:tcPr>
                </a:tc>
                <a:tc>
                  <a:txBody>
                    <a:bodyPr/>
                    <a:lstStyle/>
                    <a:p>
                      <a:pPr marL="63500" marR="63500" algn="ctr">
                        <a:lnSpc>
                          <a:spcPct val="100000"/>
                        </a:lnSpc>
                        <a:spcBef>
                          <a:spcPts val="500"/>
                        </a:spcBef>
                        <a:spcAft>
                          <a:spcPts val="500"/>
                        </a:spcAft>
                        <a:buNone/>
                      </a:pPr>
                      <a:r>
                        <a:rPr sz="1400" b="0" i="0" u="none" cap="none" dirty="0">
                          <a:solidFill>
                            <a:srgbClr val="FFFFFF">
                              <a:alpha val="100000"/>
                            </a:srgbClr>
                          </a:solidFill>
                          <a:latin typeface="Arial"/>
                          <a:cs typeface="Arial"/>
                          <a:sym typeface="Arial"/>
                        </a:rPr>
                        <a:t>80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C95C0">
                        <a:alpha val="100000"/>
                      </a:srgbClr>
                    </a:solidFill>
                  </a:tcPr>
                </a:tc>
                <a:tc>
                  <a:txBody>
                    <a:bodyPr/>
                    <a:lstStyle/>
                    <a:p>
                      <a:pPr marL="63500" marR="63500" algn="ctr">
                        <a:lnSpc>
                          <a:spcPct val="100000"/>
                        </a:lnSpc>
                        <a:spcBef>
                          <a:spcPts val="500"/>
                        </a:spcBef>
                        <a:spcAft>
                          <a:spcPts val="500"/>
                        </a:spcAft>
                        <a:buNone/>
                      </a:pPr>
                      <a:r>
                        <a:rPr sz="1400" b="0" i="0" u="none" cap="none" dirty="0">
                          <a:solidFill>
                            <a:srgbClr val="FFFFFF">
                              <a:alpha val="100000"/>
                            </a:srgbClr>
                          </a:solidFill>
                          <a:latin typeface="Arial"/>
                          <a:cs typeface="Arial"/>
                          <a:sym typeface="Arial"/>
                        </a:rPr>
                        <a:t>67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986B6">
                        <a:alpha val="100000"/>
                      </a:srgbClr>
                    </a:solidFill>
                  </a:tcPr>
                </a:tc>
                <a:extLst>
                  <a:ext uri="{0D108BD9-81ED-4DB2-BD59-A6C34878D82A}">
                    <a16:rowId xmlns:a16="http://schemas.microsoft.com/office/drawing/2014/main" val="3574097216"/>
                  </a:ext>
                </a:extLst>
              </a:tr>
              <a:tr h="496103">
                <a:tc>
                  <a:txBody>
                    <a:bodyPr/>
                    <a:lstStyle/>
                    <a:p>
                      <a:pPr marL="63500" marR="63500" algn="l">
                        <a:lnSpc>
                          <a:spcPct val="100000"/>
                        </a:lnSpc>
                        <a:spcBef>
                          <a:spcPts val="500"/>
                        </a:spcBef>
                        <a:spcAft>
                          <a:spcPts val="500"/>
                        </a:spcAft>
                        <a:buNone/>
                      </a:pPr>
                      <a:r>
                        <a:rPr sz="1400" b="0" i="0" u="none" cap="none" dirty="0">
                          <a:solidFill>
                            <a:srgbClr val="000000">
                              <a:alpha val="100000"/>
                            </a:srgbClr>
                          </a:solidFill>
                          <a:latin typeface="Arial"/>
                          <a:cs typeface="Arial"/>
                          <a:sym typeface="Arial"/>
                        </a:rPr>
                        <a:t>Covenant Health (MA)</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400" b="0" i="0" u="none" cap="none" dirty="0">
                          <a:solidFill>
                            <a:srgbClr val="FFFFFF">
                              <a:alpha val="100000"/>
                            </a:srgbClr>
                          </a:solidFill>
                          <a:latin typeface="Arial"/>
                          <a:cs typeface="Arial"/>
                          <a:sym typeface="Arial"/>
                        </a:rPr>
                        <a:t>80</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979AF">
                        <a:alpha val="100000"/>
                      </a:srgbClr>
                    </a:solidFill>
                  </a:tcPr>
                </a:tc>
                <a:tc>
                  <a:txBody>
                    <a:bodyPr/>
                    <a:lstStyle/>
                    <a:p>
                      <a:pPr marL="63500" marR="63500" algn="ctr">
                        <a:lnSpc>
                          <a:spcPct val="100000"/>
                        </a:lnSpc>
                        <a:spcBef>
                          <a:spcPts val="500"/>
                        </a:spcBef>
                        <a:spcAft>
                          <a:spcPts val="500"/>
                        </a:spcAft>
                        <a:buNone/>
                      </a:pPr>
                      <a:r>
                        <a:rPr sz="1400" b="0" i="0" u="none" cap="none" dirty="0">
                          <a:solidFill>
                            <a:srgbClr val="FFFFFF">
                              <a:alpha val="100000"/>
                            </a:srgbClr>
                          </a:solidFill>
                          <a:latin typeface="Arial"/>
                          <a:cs typeface="Arial"/>
                          <a:sym typeface="Arial"/>
                        </a:rPr>
                        <a:t>72</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986B6">
                        <a:alpha val="100000"/>
                      </a:srgbClr>
                    </a:solidFill>
                  </a:tcPr>
                </a:tc>
                <a:tc>
                  <a:txBody>
                    <a:bodyPr/>
                    <a:lstStyle/>
                    <a:p>
                      <a:pPr marL="63500" marR="63500" algn="ctr">
                        <a:lnSpc>
                          <a:spcPct val="100000"/>
                        </a:lnSpc>
                        <a:spcBef>
                          <a:spcPts val="500"/>
                        </a:spcBef>
                        <a:spcAft>
                          <a:spcPts val="500"/>
                        </a:spcAft>
                        <a:buNone/>
                      </a:pPr>
                      <a:r>
                        <a:rPr sz="1400" b="0" i="0" u="none" cap="none">
                          <a:solidFill>
                            <a:srgbClr val="FFFFFF">
                              <a:alpha val="100000"/>
                            </a:srgbClr>
                          </a:solidFill>
                          <a:latin typeface="Arial"/>
                          <a:cs typeface="Arial"/>
                          <a:sym typeface="Arial"/>
                        </a:rPr>
                        <a:t>67</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48FBB">
                        <a:alpha val="100000"/>
                      </a:srgbClr>
                    </a:solidFill>
                  </a:tcPr>
                </a:tc>
                <a:tc>
                  <a:txBody>
                    <a:bodyPr/>
                    <a:lstStyle/>
                    <a:p>
                      <a:pPr marL="63500" marR="63500" algn="ctr">
                        <a:lnSpc>
                          <a:spcPct val="100000"/>
                        </a:lnSpc>
                        <a:spcBef>
                          <a:spcPts val="500"/>
                        </a:spcBef>
                        <a:spcAft>
                          <a:spcPts val="500"/>
                        </a:spcAft>
                        <a:buNone/>
                      </a:pPr>
                      <a:r>
                        <a:rPr sz="1400" b="0" i="0" u="none" cap="none">
                          <a:solidFill>
                            <a:srgbClr val="FFFFFF">
                              <a:alpha val="100000"/>
                            </a:srgbClr>
                          </a:solidFill>
                          <a:latin typeface="Arial"/>
                          <a:cs typeface="Arial"/>
                          <a:sym typeface="Arial"/>
                        </a:rPr>
                        <a:t>63</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C95C0">
                        <a:alpha val="100000"/>
                      </a:srgbClr>
                    </a:solidFill>
                  </a:tcPr>
                </a:tc>
                <a:tc>
                  <a:txBody>
                    <a:bodyPr/>
                    <a:lstStyle/>
                    <a:p>
                      <a:pPr marL="63500" marR="63500" algn="ctr">
                        <a:lnSpc>
                          <a:spcPct val="100000"/>
                        </a:lnSpc>
                        <a:spcBef>
                          <a:spcPts val="500"/>
                        </a:spcBef>
                        <a:spcAft>
                          <a:spcPts val="500"/>
                        </a:spcAft>
                        <a:buNone/>
                      </a:pPr>
                      <a:r>
                        <a:rPr sz="1400" b="0" i="0" u="none" cap="none">
                          <a:solidFill>
                            <a:srgbClr val="FFFFFF">
                              <a:alpha val="100000"/>
                            </a:srgbClr>
                          </a:solidFill>
                          <a:latin typeface="Arial"/>
                          <a:cs typeface="Arial"/>
                          <a:sym typeface="Arial"/>
                        </a:rPr>
                        <a:t>72</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986B6">
                        <a:alpha val="100000"/>
                      </a:srgbClr>
                    </a:solidFill>
                  </a:tcPr>
                </a:tc>
                <a:extLst>
                  <a:ext uri="{0D108BD9-81ED-4DB2-BD59-A6C34878D82A}">
                    <a16:rowId xmlns:a16="http://schemas.microsoft.com/office/drawing/2014/main" val="10001"/>
                  </a:ext>
                </a:extLst>
              </a:tr>
              <a:tr h="494117">
                <a:tc>
                  <a:txBody>
                    <a:bodyPr/>
                    <a:lstStyle/>
                    <a:p>
                      <a:pPr marL="63500" marR="63500" algn="l">
                        <a:lnSpc>
                          <a:spcPct val="100000"/>
                        </a:lnSpc>
                        <a:spcBef>
                          <a:spcPts val="500"/>
                        </a:spcBef>
                        <a:spcAft>
                          <a:spcPts val="500"/>
                        </a:spcAft>
                        <a:buNone/>
                      </a:pPr>
                      <a:r>
                        <a:rPr sz="1400" b="0" i="0" u="none" cap="none">
                          <a:solidFill>
                            <a:srgbClr val="000000">
                              <a:alpha val="100000"/>
                            </a:srgbClr>
                          </a:solidFill>
                          <a:latin typeface="Arial"/>
                          <a:cs typeface="Arial"/>
                          <a:sym typeface="Arial"/>
                        </a:rPr>
                        <a:t>Other Independent Hospitals</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400" b="0" i="0" u="none" cap="none">
                          <a:solidFill>
                            <a:srgbClr val="FFFFFF">
                              <a:alpha val="100000"/>
                            </a:srgbClr>
                          </a:solidFill>
                          <a:latin typeface="Arial"/>
                          <a:cs typeface="Arial"/>
                          <a:sym typeface="Arial"/>
                        </a:rPr>
                        <a:t>70</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E8AB9">
                        <a:alpha val="100000"/>
                      </a:srgbClr>
                    </a:solidFill>
                  </a:tcPr>
                </a:tc>
                <a:tc>
                  <a:txBody>
                    <a:bodyPr/>
                    <a:lstStyle/>
                    <a:p>
                      <a:pPr marL="63500" marR="63500" algn="ctr">
                        <a:lnSpc>
                          <a:spcPct val="100000"/>
                        </a:lnSpc>
                        <a:spcBef>
                          <a:spcPts val="500"/>
                        </a:spcBef>
                        <a:spcAft>
                          <a:spcPts val="500"/>
                        </a:spcAft>
                        <a:buNone/>
                      </a:pPr>
                      <a:r>
                        <a:rPr sz="1400" b="0" i="0" u="none" cap="none">
                          <a:solidFill>
                            <a:srgbClr val="FFFFFF">
                              <a:alpha val="100000"/>
                            </a:srgbClr>
                          </a:solidFill>
                          <a:latin typeface="Arial"/>
                          <a:cs typeface="Arial"/>
                          <a:sym typeface="Arial"/>
                        </a:rPr>
                        <a:t>64</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A94BF">
                        <a:alpha val="100000"/>
                      </a:srgbClr>
                    </a:solidFill>
                  </a:tcPr>
                </a:tc>
                <a:tc>
                  <a:txBody>
                    <a:bodyPr/>
                    <a:lstStyle/>
                    <a:p>
                      <a:pPr marL="63500" marR="63500" algn="ctr">
                        <a:lnSpc>
                          <a:spcPct val="100000"/>
                        </a:lnSpc>
                        <a:spcBef>
                          <a:spcPts val="500"/>
                        </a:spcBef>
                        <a:spcAft>
                          <a:spcPts val="500"/>
                        </a:spcAft>
                        <a:buNone/>
                      </a:pPr>
                      <a:r>
                        <a:rPr sz="1400" b="0" i="0" u="none" cap="none" dirty="0">
                          <a:solidFill>
                            <a:srgbClr val="FFFFFF">
                              <a:alpha val="100000"/>
                            </a:srgbClr>
                          </a:solidFill>
                          <a:latin typeface="Arial"/>
                          <a:cs typeface="Arial"/>
                          <a:sym typeface="Arial"/>
                        </a:rPr>
                        <a:t>62</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E97C1">
                        <a:alpha val="100000"/>
                      </a:srgbClr>
                    </a:solidFill>
                  </a:tcPr>
                </a:tc>
                <a:tc>
                  <a:txBody>
                    <a:bodyPr/>
                    <a:lstStyle/>
                    <a:p>
                      <a:pPr marL="63500" marR="63500" algn="ctr">
                        <a:lnSpc>
                          <a:spcPct val="100000"/>
                        </a:lnSpc>
                        <a:spcBef>
                          <a:spcPts val="500"/>
                        </a:spcBef>
                        <a:spcAft>
                          <a:spcPts val="500"/>
                        </a:spcAft>
                        <a:buNone/>
                      </a:pPr>
                      <a:r>
                        <a:rPr sz="1400" b="0" i="0" u="none" cap="none">
                          <a:solidFill>
                            <a:srgbClr val="FFFFFF">
                              <a:alpha val="100000"/>
                            </a:srgbClr>
                          </a:solidFill>
                          <a:latin typeface="Arial"/>
                          <a:cs typeface="Arial"/>
                          <a:sym typeface="Arial"/>
                        </a:rPr>
                        <a:t>68</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28DBB">
                        <a:alpha val="100000"/>
                      </a:srgbClr>
                    </a:solidFill>
                  </a:tcPr>
                </a:tc>
                <a:tc>
                  <a:txBody>
                    <a:bodyPr/>
                    <a:lstStyle/>
                    <a:p>
                      <a:pPr marL="63500" marR="63500" algn="ctr">
                        <a:lnSpc>
                          <a:spcPct val="100000"/>
                        </a:lnSpc>
                        <a:spcBef>
                          <a:spcPts val="500"/>
                        </a:spcBef>
                        <a:spcAft>
                          <a:spcPts val="500"/>
                        </a:spcAft>
                        <a:buNone/>
                      </a:pPr>
                      <a:r>
                        <a:rPr sz="1400" b="0" i="0" u="none" cap="none">
                          <a:solidFill>
                            <a:srgbClr val="FFFFFF">
                              <a:alpha val="100000"/>
                            </a:srgbClr>
                          </a:solidFill>
                          <a:latin typeface="Arial"/>
                          <a:cs typeface="Arial"/>
                          <a:sym typeface="Arial"/>
                        </a:rPr>
                        <a:t>69</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8BBA">
                        <a:alpha val="100000"/>
                      </a:srgbClr>
                    </a:solidFill>
                  </a:tcPr>
                </a:tc>
                <a:extLst>
                  <a:ext uri="{0D108BD9-81ED-4DB2-BD59-A6C34878D82A}">
                    <a16:rowId xmlns:a16="http://schemas.microsoft.com/office/drawing/2014/main" val="10002"/>
                  </a:ext>
                </a:extLst>
              </a:tr>
              <a:tr h="461042">
                <a:tc>
                  <a:txBody>
                    <a:bodyPr/>
                    <a:lstStyle/>
                    <a:p>
                      <a:pPr marL="63500" marR="63500" algn="l">
                        <a:lnSpc>
                          <a:spcPct val="100000"/>
                        </a:lnSpc>
                        <a:spcBef>
                          <a:spcPts val="500"/>
                        </a:spcBef>
                        <a:spcAft>
                          <a:spcPts val="500"/>
                        </a:spcAft>
                        <a:buNone/>
                      </a:pPr>
                      <a:r>
                        <a:rPr sz="1400" b="0" i="0" u="none" cap="none" dirty="0" err="1">
                          <a:solidFill>
                            <a:srgbClr val="000000">
                              <a:alpha val="100000"/>
                            </a:srgbClr>
                          </a:solidFill>
                          <a:latin typeface="Arial"/>
                          <a:cs typeface="Arial"/>
                          <a:sym typeface="Arial"/>
                        </a:rPr>
                        <a:t>MaineGeneral</a:t>
                      </a:r>
                      <a:r>
                        <a:rPr sz="1400" b="0" i="0" u="none" cap="none" dirty="0">
                          <a:solidFill>
                            <a:srgbClr val="000000">
                              <a:alpha val="100000"/>
                            </a:srgbClr>
                          </a:solidFill>
                          <a:latin typeface="Arial"/>
                          <a:cs typeface="Arial"/>
                          <a:sym typeface="Arial"/>
                        </a:rPr>
                        <a:t> Health</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400" b="0" i="0" u="none" cap="none">
                          <a:solidFill>
                            <a:srgbClr val="FFFFFF">
                              <a:alpha val="100000"/>
                            </a:srgbClr>
                          </a:solidFill>
                          <a:latin typeface="Arial"/>
                          <a:cs typeface="Arial"/>
                          <a:sym typeface="Arial"/>
                        </a:rPr>
                        <a:t>59</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49CC3">
                        <a:alpha val="100000"/>
                      </a:srgbClr>
                    </a:solidFill>
                  </a:tcPr>
                </a:tc>
                <a:tc>
                  <a:txBody>
                    <a:bodyPr/>
                    <a:lstStyle/>
                    <a:p>
                      <a:pPr marL="63500" marR="63500" algn="ctr">
                        <a:lnSpc>
                          <a:spcPct val="100000"/>
                        </a:lnSpc>
                        <a:spcBef>
                          <a:spcPts val="500"/>
                        </a:spcBef>
                        <a:spcAft>
                          <a:spcPts val="500"/>
                        </a:spcAft>
                        <a:buNone/>
                      </a:pPr>
                      <a:r>
                        <a:rPr sz="1400" b="0" i="0" u="none" cap="none">
                          <a:solidFill>
                            <a:srgbClr val="FFFFFF">
                              <a:alpha val="100000"/>
                            </a:srgbClr>
                          </a:solidFill>
                          <a:latin typeface="Arial"/>
                          <a:cs typeface="Arial"/>
                          <a:sym typeface="Arial"/>
                        </a:rPr>
                        <a:t>100</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30589B">
                        <a:alpha val="100000"/>
                      </a:srgbClr>
                    </a:solidFill>
                  </a:tcPr>
                </a:tc>
                <a:tc>
                  <a:txBody>
                    <a:bodyPr/>
                    <a:lstStyle/>
                    <a:p>
                      <a:pPr marL="63500" marR="63500" algn="ctr">
                        <a:lnSpc>
                          <a:spcPct val="100000"/>
                        </a:lnSpc>
                        <a:spcBef>
                          <a:spcPts val="500"/>
                        </a:spcBef>
                        <a:spcAft>
                          <a:spcPts val="500"/>
                        </a:spcAft>
                        <a:buNone/>
                      </a:pPr>
                      <a:r>
                        <a:rPr sz="1400" b="0" i="0" u="none" cap="none" dirty="0">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99C2">
                        <a:alpha val="100000"/>
                      </a:srgbClr>
                    </a:solidFill>
                  </a:tcPr>
                </a:tc>
                <a:tc>
                  <a:txBody>
                    <a:bodyPr/>
                    <a:lstStyle/>
                    <a:p>
                      <a:pPr marL="63500" marR="63500" algn="ctr">
                        <a:lnSpc>
                          <a:spcPct val="100000"/>
                        </a:lnSpc>
                        <a:spcBef>
                          <a:spcPts val="500"/>
                        </a:spcBef>
                        <a:spcAft>
                          <a:spcPts val="500"/>
                        </a:spcAft>
                        <a:buNone/>
                      </a:pPr>
                      <a:r>
                        <a:rPr sz="1400" b="0" i="0" u="none" cap="none" dirty="0">
                          <a:solidFill>
                            <a:srgbClr val="FFFFFF">
                              <a:alpha val="100000"/>
                            </a:srgbClr>
                          </a:solidFill>
                          <a:latin typeface="Arial"/>
                          <a:cs typeface="Arial"/>
                          <a:sym typeface="Arial"/>
                        </a:rPr>
                        <a:t>87</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4A6DA7">
                        <a:alpha val="100000"/>
                      </a:srgbClr>
                    </a:solidFill>
                  </a:tcPr>
                </a:tc>
                <a:tc>
                  <a:txBody>
                    <a:bodyPr/>
                    <a:lstStyle/>
                    <a:p>
                      <a:pPr marL="63500" marR="63500" algn="ctr">
                        <a:lnSpc>
                          <a:spcPct val="100000"/>
                        </a:lnSpc>
                        <a:spcBef>
                          <a:spcPts val="500"/>
                        </a:spcBef>
                        <a:spcAft>
                          <a:spcPts val="500"/>
                        </a:spcAft>
                        <a:buNone/>
                      </a:pPr>
                      <a:r>
                        <a:rPr sz="1400" b="0" i="0" u="none" cap="none" dirty="0">
                          <a:solidFill>
                            <a:srgbClr val="FFFFFF">
                              <a:alpha val="100000"/>
                            </a:srgbClr>
                          </a:solidFill>
                          <a:latin typeface="Arial"/>
                          <a:cs typeface="Arial"/>
                          <a:sym typeface="Arial"/>
                        </a:rPr>
                        <a:t>64</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A94BF">
                        <a:alpha val="100000"/>
                      </a:srgbClr>
                    </a:solidFill>
                  </a:tcPr>
                </a:tc>
                <a:extLst>
                  <a:ext uri="{0D108BD9-81ED-4DB2-BD59-A6C34878D82A}">
                    <a16:rowId xmlns:a16="http://schemas.microsoft.com/office/drawing/2014/main" val="10004"/>
                  </a:ext>
                </a:extLst>
              </a:tr>
              <a:tr h="493943">
                <a:tc>
                  <a:txBody>
                    <a:bodyPr/>
                    <a:lstStyle/>
                    <a:p>
                      <a:pPr marL="63500" marR="63500" algn="l">
                        <a:lnSpc>
                          <a:spcPct val="100000"/>
                        </a:lnSpc>
                        <a:spcBef>
                          <a:spcPts val="500"/>
                        </a:spcBef>
                        <a:spcAft>
                          <a:spcPts val="500"/>
                        </a:spcAft>
                        <a:buNone/>
                      </a:pPr>
                      <a:r>
                        <a:rPr sz="1400" b="0" i="0" u="none" cap="none">
                          <a:solidFill>
                            <a:srgbClr val="000000">
                              <a:alpha val="100000"/>
                            </a:srgbClr>
                          </a:solidFill>
                          <a:latin typeface="Arial"/>
                          <a:cs typeface="Arial"/>
                          <a:sym typeface="Arial"/>
                        </a:rPr>
                        <a:t>Northern Light Health</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400" b="0" i="0" u="none" cap="none">
                          <a:solidFill>
                            <a:srgbClr val="30589B">
                              <a:alpha val="100000"/>
                            </a:srgbClr>
                          </a:solidFill>
                          <a:latin typeface="Arial"/>
                          <a:cs typeface="Arial"/>
                          <a:sym typeface="Arial"/>
                        </a:rPr>
                        <a:t>49</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9ADCE">
                        <a:alpha val="100000"/>
                      </a:srgbClr>
                    </a:solidFill>
                  </a:tcPr>
                </a:tc>
                <a:tc>
                  <a:txBody>
                    <a:bodyPr/>
                    <a:lstStyle/>
                    <a:p>
                      <a:pPr marL="63500" marR="63500" algn="ctr">
                        <a:lnSpc>
                          <a:spcPct val="100000"/>
                        </a:lnSpc>
                        <a:spcBef>
                          <a:spcPts val="500"/>
                        </a:spcBef>
                        <a:spcAft>
                          <a:spcPts val="500"/>
                        </a:spcAft>
                        <a:buNone/>
                      </a:pPr>
                      <a:r>
                        <a:rPr sz="1400" b="0" i="0" u="none" cap="none">
                          <a:solidFill>
                            <a:srgbClr val="FFFFFF">
                              <a:alpha val="100000"/>
                            </a:srgbClr>
                          </a:solidFill>
                          <a:latin typeface="Arial"/>
                          <a:cs typeface="Arial"/>
                          <a:sym typeface="Arial"/>
                        </a:rPr>
                        <a:t>78</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D7CB1">
                        <a:alpha val="100000"/>
                      </a:srgbClr>
                    </a:solidFill>
                  </a:tcPr>
                </a:tc>
                <a:tc>
                  <a:txBody>
                    <a:bodyPr/>
                    <a:lstStyle/>
                    <a:p>
                      <a:pPr marL="63500" marR="63500" algn="ctr">
                        <a:lnSpc>
                          <a:spcPct val="100000"/>
                        </a:lnSpc>
                        <a:spcBef>
                          <a:spcPts val="500"/>
                        </a:spcBef>
                        <a:spcAft>
                          <a:spcPts val="500"/>
                        </a:spcAft>
                        <a:buNone/>
                      </a:pPr>
                      <a:r>
                        <a:rPr sz="1400" b="0" i="0" u="none" cap="none">
                          <a:solidFill>
                            <a:srgbClr val="FFFFFF">
                              <a:alpha val="100000"/>
                            </a:srgbClr>
                          </a:solidFill>
                          <a:latin typeface="Arial"/>
                          <a:cs typeface="Arial"/>
                          <a:sym typeface="Arial"/>
                        </a:rPr>
                        <a:t>70</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E8AB9">
                        <a:alpha val="100000"/>
                      </a:srgbClr>
                    </a:solidFill>
                  </a:tcPr>
                </a:tc>
                <a:tc>
                  <a:txBody>
                    <a:bodyPr/>
                    <a:lstStyle/>
                    <a:p>
                      <a:pPr marL="63500" marR="63500" algn="ctr">
                        <a:lnSpc>
                          <a:spcPct val="100000"/>
                        </a:lnSpc>
                        <a:spcBef>
                          <a:spcPts val="500"/>
                        </a:spcBef>
                        <a:spcAft>
                          <a:spcPts val="500"/>
                        </a:spcAft>
                        <a:buNone/>
                      </a:pPr>
                      <a:r>
                        <a:rPr sz="1400" b="0" i="0" u="none" cap="none" dirty="0">
                          <a:solidFill>
                            <a:srgbClr val="FFFFFF">
                              <a:alpha val="100000"/>
                            </a:srgbClr>
                          </a:solidFill>
                          <a:latin typeface="Arial"/>
                          <a:cs typeface="Arial"/>
                          <a:sym typeface="Arial"/>
                        </a:rPr>
                        <a:t>80</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979AF">
                        <a:alpha val="100000"/>
                      </a:srgbClr>
                    </a:solidFill>
                  </a:tcPr>
                </a:tc>
                <a:tc>
                  <a:txBody>
                    <a:bodyPr/>
                    <a:lstStyle/>
                    <a:p>
                      <a:pPr marL="63500" marR="63500" algn="ctr">
                        <a:lnSpc>
                          <a:spcPct val="100000"/>
                        </a:lnSpc>
                        <a:spcBef>
                          <a:spcPts val="500"/>
                        </a:spcBef>
                        <a:spcAft>
                          <a:spcPts val="500"/>
                        </a:spcAft>
                        <a:buNone/>
                      </a:pPr>
                      <a:r>
                        <a:rPr sz="1400" b="0" i="0" u="none" cap="none" dirty="0">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99C2">
                        <a:alpha val="100000"/>
                      </a:srgbClr>
                    </a:solidFill>
                  </a:tcPr>
                </a:tc>
                <a:extLst>
                  <a:ext uri="{0D108BD9-81ED-4DB2-BD59-A6C34878D82A}">
                    <a16:rowId xmlns:a16="http://schemas.microsoft.com/office/drawing/2014/main" val="10005"/>
                  </a:ext>
                </a:extLst>
              </a:tr>
              <a:tr h="461042">
                <a:tc>
                  <a:txBody>
                    <a:bodyPr/>
                    <a:lstStyle/>
                    <a:p>
                      <a:pPr marL="63500" marR="63500" algn="l">
                        <a:lnSpc>
                          <a:spcPct val="100000"/>
                        </a:lnSpc>
                        <a:spcBef>
                          <a:spcPts val="500"/>
                        </a:spcBef>
                        <a:spcAft>
                          <a:spcPts val="500"/>
                        </a:spcAft>
                        <a:buNone/>
                      </a:pPr>
                      <a:r>
                        <a:rPr sz="1400" b="0" i="0" u="none" cap="none">
                          <a:solidFill>
                            <a:srgbClr val="000000">
                              <a:alpha val="100000"/>
                            </a:srgbClr>
                          </a:solidFill>
                          <a:latin typeface="Arial"/>
                          <a:cs typeface="Arial"/>
                          <a:sym typeface="Arial"/>
                        </a:rPr>
                        <a:t>Central Maine Healthcare</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400" b="0" i="0" u="none" cap="none">
                          <a:solidFill>
                            <a:srgbClr val="30589B">
                              <a:alpha val="100000"/>
                            </a:srgbClr>
                          </a:solidFill>
                          <a:latin typeface="Arial"/>
                          <a:cs typeface="Arial"/>
                          <a:sym typeface="Arial"/>
                        </a:rPr>
                        <a:t>37</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B2C1DA">
                        <a:alpha val="100000"/>
                      </a:srgbClr>
                    </a:solidFill>
                  </a:tcPr>
                </a:tc>
                <a:tc>
                  <a:txBody>
                    <a:bodyPr/>
                    <a:lstStyle/>
                    <a:p>
                      <a:pPr marL="63500" marR="63500" algn="ctr">
                        <a:lnSpc>
                          <a:spcPct val="100000"/>
                        </a:lnSpc>
                        <a:spcBef>
                          <a:spcPts val="500"/>
                        </a:spcBef>
                        <a:spcAft>
                          <a:spcPts val="500"/>
                        </a:spcAft>
                        <a:buNone/>
                      </a:pPr>
                      <a:r>
                        <a:rPr sz="14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99C2">
                        <a:alpha val="100000"/>
                      </a:srgbClr>
                    </a:solidFill>
                  </a:tcPr>
                </a:tc>
                <a:tc>
                  <a:txBody>
                    <a:bodyPr/>
                    <a:lstStyle/>
                    <a:p>
                      <a:pPr marL="63500" marR="63500" algn="ctr">
                        <a:lnSpc>
                          <a:spcPct val="100000"/>
                        </a:lnSpc>
                        <a:spcBef>
                          <a:spcPts val="500"/>
                        </a:spcBef>
                        <a:spcAft>
                          <a:spcPts val="500"/>
                        </a:spcAft>
                        <a:buNone/>
                      </a:pPr>
                      <a:r>
                        <a:rPr sz="1400" b="0" i="0" u="none" cap="none">
                          <a:solidFill>
                            <a:srgbClr val="FFFFFF">
                              <a:alpha val="100000"/>
                            </a:srgbClr>
                          </a:solidFill>
                          <a:latin typeface="Arial"/>
                          <a:cs typeface="Arial"/>
                          <a:sym typeface="Arial"/>
                        </a:rPr>
                        <a:t>57</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99FC6">
                        <a:alpha val="100000"/>
                      </a:srgbClr>
                    </a:solidFill>
                  </a:tcPr>
                </a:tc>
                <a:tc>
                  <a:txBody>
                    <a:bodyPr/>
                    <a:lstStyle/>
                    <a:p>
                      <a:pPr marL="63500" marR="63500" algn="ctr">
                        <a:lnSpc>
                          <a:spcPct val="100000"/>
                        </a:lnSpc>
                        <a:spcBef>
                          <a:spcPts val="500"/>
                        </a:spcBef>
                        <a:spcAft>
                          <a:spcPts val="500"/>
                        </a:spcAft>
                        <a:buNone/>
                      </a:pPr>
                      <a:r>
                        <a:rPr sz="1400" b="0" i="0" u="none" cap="none">
                          <a:solidFill>
                            <a:srgbClr val="FFFFFF">
                              <a:alpha val="100000"/>
                            </a:srgbClr>
                          </a:solidFill>
                          <a:latin typeface="Arial"/>
                          <a:cs typeface="Arial"/>
                          <a:sym typeface="Arial"/>
                        </a:rPr>
                        <a:t>85</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4F71AA">
                        <a:alpha val="100000"/>
                      </a:srgbClr>
                    </a:solidFill>
                  </a:tcPr>
                </a:tc>
                <a:tc>
                  <a:txBody>
                    <a:bodyPr/>
                    <a:lstStyle/>
                    <a:p>
                      <a:pPr marL="63500" marR="63500" algn="ctr">
                        <a:lnSpc>
                          <a:spcPct val="100000"/>
                        </a:lnSpc>
                        <a:spcBef>
                          <a:spcPts val="500"/>
                        </a:spcBef>
                        <a:spcAft>
                          <a:spcPts val="500"/>
                        </a:spcAft>
                        <a:buNone/>
                      </a:pPr>
                      <a:r>
                        <a:rPr sz="1400" b="0" i="0" u="none" cap="none" dirty="0">
                          <a:solidFill>
                            <a:srgbClr val="FFFFFF">
                              <a:alpha val="100000"/>
                            </a:srgbClr>
                          </a:solidFill>
                          <a:latin typeface="Arial"/>
                          <a:cs typeface="Arial"/>
                          <a:sym typeface="Arial"/>
                        </a:rPr>
                        <a:t>57</a:t>
                      </a:r>
                    </a:p>
                  </a:txBody>
                  <a:tcPr marL="0" marR="0" marT="63500" marB="63500" anchor="ctr">
                    <a:lnL w="0" cap="flat" cmpd="sng" algn="ctr">
                      <a:noFill/>
                      <a:prstDash val="solid"/>
                    </a:lnL>
                    <a:lnR w="0" cap="flat" cmpd="sng" algn="ctr">
                      <a:no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99FC6">
                        <a:alpha val="100000"/>
                      </a:srgb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02C88E-E45C-8BD0-E259-47F58B655236}"/>
              </a:ext>
            </a:extLst>
          </p:cNvPr>
          <p:cNvSpPr/>
          <p:nvPr/>
        </p:nvSpPr>
        <p:spPr>
          <a:xfrm>
            <a:off x="0" y="0"/>
            <a:ext cx="12192000" cy="6858000"/>
          </a:xfrm>
          <a:prstGeom prst="rect">
            <a:avLst/>
          </a:prstGeom>
          <a:solidFill>
            <a:srgbClr val="2230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7">
            <a:extLst>
              <a:ext uri="{FF2B5EF4-FFF2-40B4-BE49-F238E27FC236}">
                <a16:creationId xmlns:a16="http://schemas.microsoft.com/office/drawing/2014/main" id="{5AC771EF-729E-0DB3-69CD-F9BA251F24B6}"/>
              </a:ext>
            </a:extLst>
          </p:cNvPr>
          <p:cNvSpPr txBox="1"/>
          <p:nvPr/>
        </p:nvSpPr>
        <p:spPr>
          <a:xfrm>
            <a:off x="8681065" y="4863403"/>
            <a:ext cx="3231328" cy="830997"/>
          </a:xfrm>
          <a:prstGeom prst="rect">
            <a:avLst/>
          </a:prstGeom>
          <a:noFill/>
        </p:spPr>
        <p:txBody>
          <a:bodyPr wrap="square" rtlCol="0">
            <a:spAutoFit/>
          </a:bodyPr>
          <a:lstStyle/>
          <a:p>
            <a:r>
              <a:rPr lang="en-US" sz="1200" dirty="0">
                <a:solidFill>
                  <a:schemeClr val="bg1"/>
                </a:solidFill>
              </a:rPr>
              <a:t>A probabilistic model of patient zip codes in the Medicare HSAF data reveals that MaineHealth brand quality is attracting patients from farther away than expected.  </a:t>
            </a:r>
          </a:p>
        </p:txBody>
      </p:sp>
      <p:pic>
        <p:nvPicPr>
          <p:cNvPr id="4" name="Picture 8">
            <a:extLst>
              <a:ext uri="{FF2B5EF4-FFF2-40B4-BE49-F238E27FC236}">
                <a16:creationId xmlns:a16="http://schemas.microsoft.com/office/drawing/2014/main" id="{52C5A56F-440E-A2BD-90EC-6DA93AF9D7C3}"/>
              </a:ext>
            </a:extLst>
          </p:cNvPr>
          <p:cNvPicPr>
            <a:picLocks noChangeAspect="1"/>
          </p:cNvPicPr>
          <p:nvPr/>
        </p:nvPicPr>
        <p:blipFill>
          <a:blip r:embed="rId2">
            <a:alphaModFix amt="50000"/>
          </a:blip>
          <a:srcRect l="37418" t="4566" r="11438" b="21549"/>
          <a:stretch/>
        </p:blipFill>
        <p:spPr>
          <a:xfrm>
            <a:off x="10382" y="0"/>
            <a:ext cx="8468361" cy="6862916"/>
          </a:xfrm>
          <a:prstGeom prst="rect">
            <a:avLst/>
          </a:prstGeom>
        </p:spPr>
      </p:pic>
      <p:sp>
        <p:nvSpPr>
          <p:cNvPr id="5" name="TextBox 24">
            <a:extLst>
              <a:ext uri="{FF2B5EF4-FFF2-40B4-BE49-F238E27FC236}">
                <a16:creationId xmlns:a16="http://schemas.microsoft.com/office/drawing/2014/main" id="{A51C7283-DD26-DFEE-3866-33D92B2775BB}"/>
              </a:ext>
            </a:extLst>
          </p:cNvPr>
          <p:cNvSpPr txBox="1"/>
          <p:nvPr/>
        </p:nvSpPr>
        <p:spPr>
          <a:xfrm>
            <a:off x="212703" y="2154338"/>
            <a:ext cx="8500233" cy="4567137"/>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4400" b="1" kern="1200" dirty="0">
                <a:solidFill>
                  <a:srgbClr val="FFFFFF"/>
                </a:solidFill>
                <a:latin typeface="Garamond" panose="02020404030301010803" pitchFamily="18" charset="0"/>
                <a:ea typeface="+mj-ea"/>
                <a:cs typeface="+mj-cs"/>
              </a:rPr>
              <a:t>Patients are Driving </a:t>
            </a:r>
          </a:p>
          <a:p>
            <a:pPr defTabSz="914400">
              <a:lnSpc>
                <a:spcPct val="90000"/>
              </a:lnSpc>
              <a:spcBef>
                <a:spcPct val="0"/>
              </a:spcBef>
              <a:spcAft>
                <a:spcPts val="600"/>
              </a:spcAft>
            </a:pPr>
            <a:r>
              <a:rPr lang="en-US" sz="4400" b="1" kern="1200" dirty="0">
                <a:solidFill>
                  <a:srgbClr val="FFFFFF"/>
                </a:solidFill>
                <a:latin typeface="Garamond" panose="02020404030301010803" pitchFamily="18" charset="0"/>
                <a:ea typeface="+mj-ea"/>
                <a:cs typeface="+mj-cs"/>
              </a:rPr>
              <a:t>Further to</a:t>
            </a:r>
            <a:r>
              <a:rPr lang="en-US" sz="4400" b="1" dirty="0">
                <a:solidFill>
                  <a:srgbClr val="FFFFFF"/>
                </a:solidFill>
                <a:latin typeface="Garamond" panose="02020404030301010803" pitchFamily="18" charset="0"/>
                <a:ea typeface="+mj-ea"/>
                <a:cs typeface="+mj-cs"/>
              </a:rPr>
              <a:t> Reach</a:t>
            </a:r>
            <a:r>
              <a:rPr lang="en-US" sz="4400" b="1" kern="1200" dirty="0">
                <a:solidFill>
                  <a:srgbClr val="FFFFFF"/>
                </a:solidFill>
                <a:latin typeface="Garamond" panose="02020404030301010803" pitchFamily="18" charset="0"/>
                <a:ea typeface="+mj-ea"/>
                <a:cs typeface="+mj-cs"/>
              </a:rPr>
              <a:t> </a:t>
            </a:r>
          </a:p>
          <a:p>
            <a:pPr defTabSz="914400">
              <a:lnSpc>
                <a:spcPct val="90000"/>
              </a:lnSpc>
              <a:spcBef>
                <a:spcPct val="0"/>
              </a:spcBef>
              <a:spcAft>
                <a:spcPts val="600"/>
              </a:spcAft>
            </a:pPr>
            <a:r>
              <a:rPr lang="en-US" sz="4400" b="1" kern="1200" dirty="0">
                <a:solidFill>
                  <a:srgbClr val="FFFFFF"/>
                </a:solidFill>
                <a:latin typeface="Garamond" panose="02020404030301010803" pitchFamily="18" charset="0"/>
                <a:ea typeface="+mj-ea"/>
                <a:cs typeface="+mj-cs"/>
              </a:rPr>
              <a:t>MaineHealth</a:t>
            </a:r>
            <a:endParaRPr lang="en-US" sz="4400" kern="1200" dirty="0">
              <a:solidFill>
                <a:srgbClr val="FFFFFF"/>
              </a:solidFill>
              <a:latin typeface="Garamond" panose="02020404030301010803" pitchFamily="18" charset="0"/>
              <a:ea typeface="+mj-ea"/>
              <a:cs typeface="+mj-cs"/>
            </a:endParaRPr>
          </a:p>
        </p:txBody>
      </p:sp>
      <p:sp>
        <p:nvSpPr>
          <p:cNvPr id="6" name="TextBox 18">
            <a:extLst>
              <a:ext uri="{FF2B5EF4-FFF2-40B4-BE49-F238E27FC236}">
                <a16:creationId xmlns:a16="http://schemas.microsoft.com/office/drawing/2014/main" id="{87226688-32AA-707C-74FB-7F75CAC7E39F}"/>
              </a:ext>
            </a:extLst>
          </p:cNvPr>
          <p:cNvSpPr txBox="1"/>
          <p:nvPr/>
        </p:nvSpPr>
        <p:spPr>
          <a:xfrm>
            <a:off x="8714883" y="3784121"/>
            <a:ext cx="3466735" cy="834664"/>
          </a:xfrm>
          <a:prstGeom prst="rect">
            <a:avLst/>
          </a:prstGeom>
        </p:spPr>
        <p:txBody>
          <a:bodyPr vert="horz" lIns="91440" tIns="45720" rIns="91440" bIns="45720" rtlCol="0">
            <a:normAutofit fontScale="92500"/>
          </a:bodyPr>
          <a:lstStyle/>
          <a:p>
            <a:pPr defTabSz="914400">
              <a:lnSpc>
                <a:spcPct val="90000"/>
              </a:lnSpc>
              <a:spcBef>
                <a:spcPts val="1000"/>
              </a:spcBef>
            </a:pPr>
            <a:r>
              <a:rPr lang="en-US" sz="1900" kern="1200" dirty="0">
                <a:solidFill>
                  <a:srgbClr val="FFFFFF"/>
                </a:solidFill>
                <a:latin typeface="+mn-lt"/>
                <a:ea typeface="+mn-ea"/>
                <a:cs typeface="+mn-cs"/>
              </a:rPr>
              <a:t>14 patients (admissions) traveled 272.4 miles to Maine Medical Center despite 34 closer hospitals. </a:t>
            </a:r>
          </a:p>
        </p:txBody>
      </p:sp>
      <p:sp>
        <p:nvSpPr>
          <p:cNvPr id="7" name="Footer Placeholder 3">
            <a:extLst>
              <a:ext uri="{FF2B5EF4-FFF2-40B4-BE49-F238E27FC236}">
                <a16:creationId xmlns:a16="http://schemas.microsoft.com/office/drawing/2014/main" id="{FFAD2608-51CF-AA82-31AA-917E6BE33688}"/>
              </a:ext>
            </a:extLst>
          </p:cNvPr>
          <p:cNvSpPr>
            <a:spLocks noGrp="1"/>
          </p:cNvSpPr>
          <p:nvPr>
            <p:ph type="ftr" sz="quarter" idx="11"/>
          </p:nvPr>
        </p:nvSpPr>
        <p:spPr>
          <a:xfrm>
            <a:off x="8712937" y="6349039"/>
            <a:ext cx="3276600" cy="365125"/>
          </a:xfrm>
        </p:spPr>
        <p:txBody>
          <a:bodyPr vert="horz" lIns="91440" tIns="45720" rIns="91440" bIns="45720" rtlCol="0" anchor="ctr">
            <a:normAutofit/>
          </a:bodyPr>
          <a:lstStyle/>
          <a:p>
            <a:pPr marL="0" marR="0" lvl="0" indent="0"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300" normalizeH="0" baseline="0" noProof="0" dirty="0">
                <a:ln>
                  <a:noFill/>
                </a:ln>
                <a:solidFill>
                  <a:srgbClr val="FFFFFF"/>
                </a:solidFill>
                <a:effectLst/>
                <a:uLnTx/>
                <a:uFillTx/>
                <a:latin typeface="Calibri" panose="020F0502020204030204"/>
                <a:ea typeface="+mn-ea"/>
                <a:cs typeface="+mn-cs"/>
              </a:rPr>
              <a:t>Key Benefit Administrators</a:t>
            </a:r>
          </a:p>
        </p:txBody>
      </p:sp>
      <p:pic>
        <p:nvPicPr>
          <p:cNvPr id="8" name="Content Placeholder 7"/>
          <p:cNvPicPr>
            <a:picLocks noGrp="1"/>
          </p:cNvPicPr>
          <p:nvPr>
            <p:ph/>
          </p:nvPr>
        </p:nvPicPr>
        <p:blipFill>
          <a:blip r:embed="rId3" cstate="print"/>
          <a:stretch>
            <a:fillRect/>
          </a:stretch>
        </p:blipFill>
        <p:spPr>
          <a:xfrm>
            <a:off x="7168896" y="0"/>
            <a:ext cx="4809744" cy="3776472"/>
          </a:xfrm>
          <a:prstGeom prst="rect">
            <a:avLst/>
          </a:prstGeom>
        </p:spPr>
      </p:pic>
    </p:spTree>
    <p:extLst>
      <p:ext uri="{BB962C8B-B14F-4D97-AF65-F5344CB8AC3E}">
        <p14:creationId xmlns:p14="http://schemas.microsoft.com/office/powerpoint/2010/main" val="3874698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Rounded Corners 35">
            <a:extLst>
              <a:ext uri="{FF2B5EF4-FFF2-40B4-BE49-F238E27FC236}">
                <a16:creationId xmlns:a16="http://schemas.microsoft.com/office/drawing/2014/main" id="{F5CD47C0-7C74-2EAC-E7ED-2C59952511EC}"/>
              </a:ext>
            </a:extLst>
          </p:cNvPr>
          <p:cNvSpPr/>
          <p:nvPr/>
        </p:nvSpPr>
        <p:spPr>
          <a:xfrm>
            <a:off x="5041828" y="545891"/>
            <a:ext cx="2071648" cy="940546"/>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C75E05BF-E7BA-F584-D2FB-F9A25B6DFEBC}"/>
              </a:ext>
            </a:extLst>
          </p:cNvPr>
          <p:cNvSpPr/>
          <p:nvPr/>
        </p:nvSpPr>
        <p:spPr>
          <a:xfrm>
            <a:off x="8801976" y="5337245"/>
            <a:ext cx="2071648" cy="940546"/>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69DD2001-FAF3-1144-8AA3-35CBB7D471F4}"/>
              </a:ext>
            </a:extLst>
          </p:cNvPr>
          <p:cNvSpPr/>
          <p:nvPr/>
        </p:nvSpPr>
        <p:spPr>
          <a:xfrm>
            <a:off x="1174809" y="5330376"/>
            <a:ext cx="2071648" cy="940546"/>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765CE139-9C23-380F-F6D7-100846F86FD6}"/>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683D161C-4339-416A-6237-237802E83836}"/>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6" name="Isosceles Triangle 5">
            <a:extLst>
              <a:ext uri="{FF2B5EF4-FFF2-40B4-BE49-F238E27FC236}">
                <a16:creationId xmlns:a16="http://schemas.microsoft.com/office/drawing/2014/main" id="{5588CCFA-91B8-CD99-8F4F-2CB2B876CD2A}"/>
              </a:ext>
            </a:extLst>
          </p:cNvPr>
          <p:cNvSpPr/>
          <p:nvPr/>
        </p:nvSpPr>
        <p:spPr>
          <a:xfrm>
            <a:off x="3067259" y="1306287"/>
            <a:ext cx="6057481" cy="4481564"/>
          </a:xfrm>
          <a:prstGeom prst="triangle">
            <a:avLst/>
          </a:prstGeom>
          <a:solidFill>
            <a:schemeClr val="accent1">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FBC6BC2-5BF3-BF61-E867-814CA37C105F}"/>
              </a:ext>
            </a:extLst>
          </p:cNvPr>
          <p:cNvSpPr txBox="1"/>
          <p:nvPr/>
        </p:nvSpPr>
        <p:spPr>
          <a:xfrm>
            <a:off x="1158916" y="5409427"/>
            <a:ext cx="1929283" cy="830997"/>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Steerage to </a:t>
            </a:r>
            <a:r>
              <a:rPr lang="en-US" sz="2400" dirty="0" err="1">
                <a:latin typeface="Arial" panose="020B0604020202020204" pitchFamily="34" charset="0"/>
                <a:cs typeface="Arial" panose="020B0604020202020204" pitchFamily="34" charset="0"/>
              </a:rPr>
              <a:t>MaineHealth</a:t>
            </a:r>
            <a:endParaRPr 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7DC7EB02-7599-2040-66BC-16C80D327D21}"/>
              </a:ext>
            </a:extLst>
          </p:cNvPr>
          <p:cNvSpPr txBox="1"/>
          <p:nvPr/>
        </p:nvSpPr>
        <p:spPr>
          <a:xfrm>
            <a:off x="9017559" y="5372352"/>
            <a:ext cx="1929283" cy="830997"/>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Beneficial Pricing</a:t>
            </a:r>
          </a:p>
        </p:txBody>
      </p:sp>
      <p:sp>
        <p:nvSpPr>
          <p:cNvPr id="9" name="TextBox 8">
            <a:extLst>
              <a:ext uri="{FF2B5EF4-FFF2-40B4-BE49-F238E27FC236}">
                <a16:creationId xmlns:a16="http://schemas.microsoft.com/office/drawing/2014/main" id="{0EA6335E-1796-95DE-CEAB-0C05F3B03A86}"/>
              </a:ext>
            </a:extLst>
          </p:cNvPr>
          <p:cNvSpPr txBox="1"/>
          <p:nvPr/>
        </p:nvSpPr>
        <p:spPr>
          <a:xfrm>
            <a:off x="4900717" y="500684"/>
            <a:ext cx="2404907" cy="954107"/>
          </a:xfrm>
          <a:prstGeom prst="rect">
            <a:avLst/>
          </a:prstGeom>
          <a:noFill/>
        </p:spPr>
        <p:txBody>
          <a:bodyPr wrap="square" rtlCol="0">
            <a:spAutoFit/>
          </a:bodyPr>
          <a:lstStyle/>
          <a:p>
            <a:pPr algn="ctr"/>
            <a:r>
              <a:rPr lang="en-US" sz="2800" dirty="0">
                <a:latin typeface="Arial" panose="020B0604020202020204" pitchFamily="34" charset="0"/>
                <a:cs typeface="Arial" panose="020B0604020202020204" pitchFamily="34" charset="0"/>
              </a:rPr>
              <a:t>State-wide Plan Size</a:t>
            </a:r>
          </a:p>
        </p:txBody>
      </p:sp>
      <p:sp>
        <p:nvSpPr>
          <p:cNvPr id="10" name="TextBox 9">
            <a:extLst>
              <a:ext uri="{FF2B5EF4-FFF2-40B4-BE49-F238E27FC236}">
                <a16:creationId xmlns:a16="http://schemas.microsoft.com/office/drawing/2014/main" id="{473E28C2-5446-4C35-3ECA-D3797363348D}"/>
              </a:ext>
            </a:extLst>
          </p:cNvPr>
          <p:cNvSpPr txBox="1"/>
          <p:nvPr/>
        </p:nvSpPr>
        <p:spPr>
          <a:xfrm>
            <a:off x="3434307" y="4973934"/>
            <a:ext cx="535724" cy="923330"/>
          </a:xfrm>
          <a:prstGeom prst="rect">
            <a:avLst/>
          </a:prstGeom>
          <a:noFill/>
        </p:spPr>
        <p:txBody>
          <a:bodyPr wrap="none" rtlCol="0">
            <a:spAutoFit/>
          </a:bodyPr>
          <a:lstStyle/>
          <a:p>
            <a:r>
              <a:rPr lang="en-US" sz="5400" dirty="0">
                <a:solidFill>
                  <a:schemeClr val="accent6">
                    <a:lumMod val="75000"/>
                  </a:schemeClr>
                </a:solidFill>
              </a:rPr>
              <a:t>$</a:t>
            </a:r>
          </a:p>
        </p:txBody>
      </p:sp>
      <p:sp>
        <p:nvSpPr>
          <p:cNvPr id="11" name="TextBox 10">
            <a:extLst>
              <a:ext uri="{FF2B5EF4-FFF2-40B4-BE49-F238E27FC236}">
                <a16:creationId xmlns:a16="http://schemas.microsoft.com/office/drawing/2014/main" id="{135AF12C-AD28-B523-E442-38437E646DB9}"/>
              </a:ext>
            </a:extLst>
          </p:cNvPr>
          <p:cNvSpPr txBox="1"/>
          <p:nvPr/>
        </p:nvSpPr>
        <p:spPr>
          <a:xfrm>
            <a:off x="8221971" y="4973934"/>
            <a:ext cx="535724" cy="923330"/>
          </a:xfrm>
          <a:prstGeom prst="rect">
            <a:avLst/>
          </a:prstGeom>
          <a:noFill/>
        </p:spPr>
        <p:txBody>
          <a:bodyPr wrap="none" rtlCol="0">
            <a:spAutoFit/>
          </a:bodyPr>
          <a:lstStyle/>
          <a:p>
            <a:r>
              <a:rPr lang="en-US" sz="5400" dirty="0">
                <a:solidFill>
                  <a:schemeClr val="accent6">
                    <a:lumMod val="75000"/>
                  </a:schemeClr>
                </a:solidFill>
              </a:rPr>
              <a:t>$</a:t>
            </a:r>
          </a:p>
        </p:txBody>
      </p:sp>
      <p:sp>
        <p:nvSpPr>
          <p:cNvPr id="12" name="TextBox 11">
            <a:extLst>
              <a:ext uri="{FF2B5EF4-FFF2-40B4-BE49-F238E27FC236}">
                <a16:creationId xmlns:a16="http://schemas.microsoft.com/office/drawing/2014/main" id="{64BAC7F4-60C2-4B6A-B7AA-CD62BA3AF2AA}"/>
              </a:ext>
            </a:extLst>
          </p:cNvPr>
          <p:cNvSpPr txBox="1"/>
          <p:nvPr/>
        </p:nvSpPr>
        <p:spPr>
          <a:xfrm>
            <a:off x="5542705" y="1969508"/>
            <a:ext cx="1106585" cy="461665"/>
          </a:xfrm>
          <a:prstGeom prst="rect">
            <a:avLst/>
          </a:prstGeom>
          <a:noFill/>
        </p:spPr>
        <p:txBody>
          <a:bodyPr wrap="none" rtlCol="0">
            <a:spAutoFit/>
          </a:bodyPr>
          <a:lstStyle/>
          <a:p>
            <a:r>
              <a:rPr lang="en-US" sz="2400" dirty="0">
                <a:solidFill>
                  <a:schemeClr val="accent6">
                    <a:lumMod val="75000"/>
                  </a:schemeClr>
                </a:solidFill>
              </a:rPr>
              <a:t>Control</a:t>
            </a:r>
          </a:p>
        </p:txBody>
      </p:sp>
      <p:sp>
        <p:nvSpPr>
          <p:cNvPr id="13" name="Isosceles Triangle 12">
            <a:extLst>
              <a:ext uri="{FF2B5EF4-FFF2-40B4-BE49-F238E27FC236}">
                <a16:creationId xmlns:a16="http://schemas.microsoft.com/office/drawing/2014/main" id="{58DD9804-9476-00CE-F11D-E1C524E3221F}"/>
              </a:ext>
            </a:extLst>
          </p:cNvPr>
          <p:cNvSpPr/>
          <p:nvPr/>
        </p:nvSpPr>
        <p:spPr>
          <a:xfrm>
            <a:off x="4581627" y="1306287"/>
            <a:ext cx="3028734" cy="2240280"/>
          </a:xfrm>
          <a:prstGeom prst="triangle">
            <a:avLst/>
          </a:prstGeom>
          <a:solidFill>
            <a:schemeClr val="accent1">
              <a:lumMod val="75000"/>
            </a:schemeClr>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3920D1E6-4A78-6F6A-C3F3-8C4DC0150E38}"/>
              </a:ext>
            </a:extLst>
          </p:cNvPr>
          <p:cNvSpPr/>
          <p:nvPr/>
        </p:nvSpPr>
        <p:spPr>
          <a:xfrm>
            <a:off x="3067260" y="3547571"/>
            <a:ext cx="3028734" cy="2240280"/>
          </a:xfrm>
          <a:prstGeom prst="triangle">
            <a:avLst/>
          </a:prstGeom>
          <a:solidFill>
            <a:schemeClr val="bg2">
              <a:lumMod val="75000"/>
            </a:schemeClr>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EF8E3A1F-74ED-C2CE-5E31-AD23C8799D5B}"/>
              </a:ext>
            </a:extLst>
          </p:cNvPr>
          <p:cNvSpPr/>
          <p:nvPr/>
        </p:nvSpPr>
        <p:spPr>
          <a:xfrm>
            <a:off x="6106042" y="3562413"/>
            <a:ext cx="3028734" cy="2240280"/>
          </a:xfrm>
          <a:prstGeom prst="triangle">
            <a:avLst/>
          </a:prstGeom>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aphic 19">
            <a:extLst>
              <a:ext uri="{FF2B5EF4-FFF2-40B4-BE49-F238E27FC236}">
                <a16:creationId xmlns:a16="http://schemas.microsoft.com/office/drawing/2014/main" id="{EC490FEB-CE0A-8E00-02F5-7C3E47E4FAEC}"/>
              </a:ext>
            </a:extLst>
          </p:cNvPr>
          <p:cNvGrpSpPr/>
          <p:nvPr/>
        </p:nvGrpSpPr>
        <p:grpSpPr>
          <a:xfrm>
            <a:off x="7298450" y="4300222"/>
            <a:ext cx="785041" cy="764662"/>
            <a:chOff x="5389573" y="2759251"/>
            <a:chExt cx="1412519" cy="1320857"/>
          </a:xfrm>
          <a:solidFill>
            <a:schemeClr val="bg1"/>
          </a:solidFill>
        </p:grpSpPr>
        <p:sp>
          <p:nvSpPr>
            <p:cNvPr id="17" name="Freeform: Shape 194">
              <a:extLst>
                <a:ext uri="{FF2B5EF4-FFF2-40B4-BE49-F238E27FC236}">
                  <a16:creationId xmlns:a16="http://schemas.microsoft.com/office/drawing/2014/main" id="{A81AE90A-DB86-2337-9B66-04953506CFA0}"/>
                </a:ext>
              </a:extLst>
            </p:cNvPr>
            <p:cNvSpPr/>
            <p:nvPr/>
          </p:nvSpPr>
          <p:spPr>
            <a:xfrm>
              <a:off x="5660635" y="3560751"/>
              <a:ext cx="1141457" cy="519357"/>
            </a:xfrm>
            <a:custGeom>
              <a:avLst/>
              <a:gdLst>
                <a:gd name="connsiteX0" fmla="*/ 1112781 w 1141457"/>
                <a:gd name="connsiteY0" fmla="*/ 168578 h 519357"/>
                <a:gd name="connsiteX1" fmla="*/ 830852 w 1141457"/>
                <a:gd name="connsiteY1" fmla="*/ 293357 h 519357"/>
                <a:gd name="connsiteX2" fmla="*/ 628850 w 1141457"/>
                <a:gd name="connsiteY2" fmla="*/ 336262 h 519357"/>
                <a:gd name="connsiteX3" fmla="*/ 293405 w 1141457"/>
                <a:gd name="connsiteY3" fmla="*/ 336262 h 519357"/>
                <a:gd name="connsiteX4" fmla="*/ 248946 w 1141457"/>
                <a:gd name="connsiteY4" fmla="*/ 291727 h 519357"/>
                <a:gd name="connsiteX5" fmla="*/ 293405 w 1141457"/>
                <a:gd name="connsiteY5" fmla="*/ 247181 h 519357"/>
                <a:gd name="connsiteX6" fmla="*/ 624433 w 1141457"/>
                <a:gd name="connsiteY6" fmla="*/ 247181 h 519357"/>
                <a:gd name="connsiteX7" fmla="*/ 546588 w 1141457"/>
                <a:gd name="connsiteY7" fmla="*/ 110532 h 519357"/>
                <a:gd name="connsiteX8" fmla="*/ 398466 w 1141457"/>
                <a:gd name="connsiteY8" fmla="*/ 110532 h 519357"/>
                <a:gd name="connsiteX9" fmla="*/ 312846 w 1141457"/>
                <a:gd name="connsiteY9" fmla="*/ 61088 h 519357"/>
                <a:gd name="connsiteX10" fmla="*/ 177820 w 1141457"/>
                <a:gd name="connsiteY10" fmla="*/ 657 h 519357"/>
                <a:gd name="connsiteX11" fmla="*/ 598 w 1141457"/>
                <a:gd name="connsiteY11" fmla="*/ 31985 h 519357"/>
                <a:gd name="connsiteX12" fmla="*/ 598 w 1141457"/>
                <a:gd name="connsiteY12" fmla="*/ 518979 h 519357"/>
                <a:gd name="connsiteX13" fmla="*/ 602572 w 1141457"/>
                <a:gd name="connsiteY13" fmla="*/ 518979 h 519357"/>
                <a:gd name="connsiteX14" fmla="*/ 830833 w 1141457"/>
                <a:gd name="connsiteY14" fmla="*/ 457208 h 519357"/>
                <a:gd name="connsiteX15" fmla="*/ 1101463 w 1141457"/>
                <a:gd name="connsiteY15" fmla="*/ 299238 h 519357"/>
                <a:gd name="connsiteX16" fmla="*/ 1112781 w 1141457"/>
                <a:gd name="connsiteY16" fmla="*/ 168578 h 51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41457" h="519357">
                  <a:moveTo>
                    <a:pt x="1112781" y="168578"/>
                  </a:moveTo>
                  <a:lnTo>
                    <a:pt x="830852" y="293357"/>
                  </a:lnTo>
                  <a:cubicBezTo>
                    <a:pt x="766900" y="321833"/>
                    <a:pt x="698920" y="336262"/>
                    <a:pt x="628850" y="336262"/>
                  </a:cubicBezTo>
                  <a:lnTo>
                    <a:pt x="293405" y="336262"/>
                  </a:lnTo>
                  <a:cubicBezTo>
                    <a:pt x="268858" y="336262"/>
                    <a:pt x="248946" y="316341"/>
                    <a:pt x="248946" y="291727"/>
                  </a:cubicBezTo>
                  <a:cubicBezTo>
                    <a:pt x="248946" y="267135"/>
                    <a:pt x="268858" y="247181"/>
                    <a:pt x="293405" y="247181"/>
                  </a:cubicBezTo>
                  <a:lnTo>
                    <a:pt x="624433" y="247181"/>
                  </a:lnTo>
                  <a:cubicBezTo>
                    <a:pt x="659782" y="187645"/>
                    <a:pt x="616991" y="110532"/>
                    <a:pt x="546588" y="110532"/>
                  </a:cubicBezTo>
                  <a:lnTo>
                    <a:pt x="398466" y="110532"/>
                  </a:lnTo>
                  <a:cubicBezTo>
                    <a:pt x="363163" y="110532"/>
                    <a:pt x="331131" y="91313"/>
                    <a:pt x="312846" y="61088"/>
                  </a:cubicBezTo>
                  <a:cubicBezTo>
                    <a:pt x="287676" y="19423"/>
                    <a:pt x="236646" y="657"/>
                    <a:pt x="177820" y="657"/>
                  </a:cubicBezTo>
                  <a:cubicBezTo>
                    <a:pt x="133521" y="472"/>
                    <a:pt x="57691" y="-939"/>
                    <a:pt x="598" y="31985"/>
                  </a:cubicBezTo>
                  <a:lnTo>
                    <a:pt x="598" y="518979"/>
                  </a:lnTo>
                  <a:lnTo>
                    <a:pt x="602572" y="518979"/>
                  </a:lnTo>
                  <a:cubicBezTo>
                    <a:pt x="682763" y="518979"/>
                    <a:pt x="761504" y="497655"/>
                    <a:pt x="830833" y="457208"/>
                  </a:cubicBezTo>
                  <a:lnTo>
                    <a:pt x="1101463" y="299238"/>
                  </a:lnTo>
                  <a:cubicBezTo>
                    <a:pt x="1149153" y="271417"/>
                    <a:pt x="1155120" y="204480"/>
                    <a:pt x="1112781" y="168578"/>
                  </a:cubicBezTo>
                  <a:close/>
                </a:path>
              </a:pathLst>
            </a:custGeom>
            <a:grpFill/>
            <a:ln w="27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entury Gothic" panose="020F0302020204030204"/>
                <a:ea typeface="+mn-ea"/>
                <a:cs typeface="+mn-cs"/>
              </a:endParaRPr>
            </a:p>
          </p:txBody>
        </p:sp>
        <p:sp>
          <p:nvSpPr>
            <p:cNvPr id="18" name="Freeform: Shape 195">
              <a:extLst>
                <a:ext uri="{FF2B5EF4-FFF2-40B4-BE49-F238E27FC236}">
                  <a16:creationId xmlns:a16="http://schemas.microsoft.com/office/drawing/2014/main" id="{0D39D242-8EB9-D5D5-5FB8-AFEFF3283D8B}"/>
                </a:ext>
              </a:extLst>
            </p:cNvPr>
            <p:cNvSpPr/>
            <p:nvPr/>
          </p:nvSpPr>
          <p:spPr>
            <a:xfrm>
              <a:off x="5389573" y="3686535"/>
              <a:ext cx="181971" cy="392280"/>
            </a:xfrm>
            <a:custGeom>
              <a:avLst/>
              <a:gdLst>
                <a:gd name="connsiteX0" fmla="*/ 598 w 181971"/>
                <a:gd name="connsiteY0" fmla="*/ 599 h 392280"/>
                <a:gd name="connsiteX1" fmla="*/ 182741 w 181971"/>
                <a:gd name="connsiteY1" fmla="*/ 599 h 392280"/>
                <a:gd name="connsiteX2" fmla="*/ 182741 w 181971"/>
                <a:gd name="connsiteY2" fmla="*/ 393128 h 392280"/>
                <a:gd name="connsiteX3" fmla="*/ 598 w 181971"/>
                <a:gd name="connsiteY3" fmla="*/ 393128 h 392280"/>
              </a:gdLst>
              <a:ahLst/>
              <a:cxnLst>
                <a:cxn ang="0">
                  <a:pos x="connsiteX0" y="connsiteY0"/>
                </a:cxn>
                <a:cxn ang="0">
                  <a:pos x="connsiteX1" y="connsiteY1"/>
                </a:cxn>
                <a:cxn ang="0">
                  <a:pos x="connsiteX2" y="connsiteY2"/>
                </a:cxn>
                <a:cxn ang="0">
                  <a:pos x="connsiteX3" y="connsiteY3"/>
                </a:cxn>
              </a:cxnLst>
              <a:rect l="l" t="t" r="r" b="b"/>
              <a:pathLst>
                <a:path w="181971" h="392280">
                  <a:moveTo>
                    <a:pt x="598" y="599"/>
                  </a:moveTo>
                  <a:lnTo>
                    <a:pt x="182741" y="599"/>
                  </a:lnTo>
                  <a:lnTo>
                    <a:pt x="182741" y="393128"/>
                  </a:lnTo>
                  <a:lnTo>
                    <a:pt x="598" y="393128"/>
                  </a:lnTo>
                  <a:close/>
                </a:path>
              </a:pathLst>
            </a:custGeom>
            <a:grpFill/>
            <a:ln w="27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entury Gothic" panose="020F0302020204030204"/>
                <a:ea typeface="+mn-ea"/>
                <a:cs typeface="+mn-cs"/>
              </a:endParaRPr>
            </a:p>
          </p:txBody>
        </p:sp>
        <p:sp>
          <p:nvSpPr>
            <p:cNvPr id="19" name="Freeform: Shape 196">
              <a:extLst>
                <a:ext uri="{FF2B5EF4-FFF2-40B4-BE49-F238E27FC236}">
                  <a16:creationId xmlns:a16="http://schemas.microsoft.com/office/drawing/2014/main" id="{B1DEAFF9-FEE4-F1B1-7FE1-3B635E6C1D5D}"/>
                </a:ext>
              </a:extLst>
            </p:cNvPr>
            <p:cNvSpPr/>
            <p:nvPr/>
          </p:nvSpPr>
          <p:spPr>
            <a:xfrm>
              <a:off x="5724340" y="2759251"/>
              <a:ext cx="741671" cy="743123"/>
            </a:xfrm>
            <a:custGeom>
              <a:avLst/>
              <a:gdLst>
                <a:gd name="connsiteX0" fmla="*/ 371660 w 741671"/>
                <a:gd name="connsiteY0" fmla="*/ 744166 h 743122"/>
                <a:gd name="connsiteX1" fmla="*/ 742710 w 741671"/>
                <a:gd name="connsiteY1" fmla="*/ 372386 h 743122"/>
                <a:gd name="connsiteX2" fmla="*/ 371660 w 741671"/>
                <a:gd name="connsiteY2" fmla="*/ 599 h 743122"/>
                <a:gd name="connsiteX3" fmla="*/ 598 w 741671"/>
                <a:gd name="connsiteY3" fmla="*/ 372386 h 743122"/>
                <a:gd name="connsiteX4" fmla="*/ 371660 w 741671"/>
                <a:gd name="connsiteY4" fmla="*/ 744166 h 743122"/>
                <a:gd name="connsiteX5" fmla="*/ 336194 w 741671"/>
                <a:gd name="connsiteY5" fmla="*/ 222271 h 743122"/>
                <a:gd name="connsiteX6" fmla="*/ 340997 w 741671"/>
                <a:gd name="connsiteY6" fmla="*/ 222271 h 743122"/>
                <a:gd name="connsiteX7" fmla="*/ 340997 w 741671"/>
                <a:gd name="connsiteY7" fmla="*/ 200268 h 743122"/>
                <a:gd name="connsiteX8" fmla="*/ 382851 w 741671"/>
                <a:gd name="connsiteY8" fmla="*/ 158344 h 743122"/>
                <a:gd name="connsiteX9" fmla="*/ 424690 w 741671"/>
                <a:gd name="connsiteY9" fmla="*/ 200268 h 743122"/>
                <a:gd name="connsiteX10" fmla="*/ 424690 w 741671"/>
                <a:gd name="connsiteY10" fmla="*/ 222271 h 743122"/>
                <a:gd name="connsiteX11" fmla="*/ 463754 w 741671"/>
                <a:gd name="connsiteY11" fmla="*/ 222271 h 743122"/>
                <a:gd name="connsiteX12" fmla="*/ 505596 w 741671"/>
                <a:gd name="connsiteY12" fmla="*/ 264205 h 743122"/>
                <a:gd name="connsiteX13" fmla="*/ 463754 w 741671"/>
                <a:gd name="connsiteY13" fmla="*/ 306129 h 743122"/>
                <a:gd name="connsiteX14" fmla="*/ 336194 w 741671"/>
                <a:gd name="connsiteY14" fmla="*/ 306129 h 743122"/>
                <a:gd name="connsiteX15" fmla="*/ 321416 w 741671"/>
                <a:gd name="connsiteY15" fmla="*/ 320923 h 743122"/>
                <a:gd name="connsiteX16" fmla="*/ 336194 w 741671"/>
                <a:gd name="connsiteY16" fmla="*/ 335730 h 743122"/>
                <a:gd name="connsiteX17" fmla="*/ 407147 w 741671"/>
                <a:gd name="connsiteY17" fmla="*/ 335730 h 743122"/>
                <a:gd name="connsiteX18" fmla="*/ 505596 w 741671"/>
                <a:gd name="connsiteY18" fmla="*/ 434383 h 743122"/>
                <a:gd name="connsiteX19" fmla="*/ 424690 w 741671"/>
                <a:gd name="connsiteY19" fmla="*/ 531439 h 743122"/>
                <a:gd name="connsiteX20" fmla="*/ 424690 w 741671"/>
                <a:gd name="connsiteY20" fmla="*/ 555028 h 743122"/>
                <a:gd name="connsiteX21" fmla="*/ 382851 w 741671"/>
                <a:gd name="connsiteY21" fmla="*/ 596961 h 743122"/>
                <a:gd name="connsiteX22" fmla="*/ 340997 w 741671"/>
                <a:gd name="connsiteY22" fmla="*/ 555028 h 743122"/>
                <a:gd name="connsiteX23" fmla="*/ 340997 w 741671"/>
                <a:gd name="connsiteY23" fmla="*/ 533036 h 743122"/>
                <a:gd name="connsiteX24" fmla="*/ 280566 w 741671"/>
                <a:gd name="connsiteY24" fmla="*/ 533036 h 743122"/>
                <a:gd name="connsiteX25" fmla="*/ 238724 w 741671"/>
                <a:gd name="connsiteY25" fmla="*/ 491101 h 743122"/>
                <a:gd name="connsiteX26" fmla="*/ 280566 w 741671"/>
                <a:gd name="connsiteY26" fmla="*/ 449165 h 743122"/>
                <a:gd name="connsiteX27" fmla="*/ 407147 w 741671"/>
                <a:gd name="connsiteY27" fmla="*/ 449165 h 743122"/>
                <a:gd name="connsiteX28" fmla="*/ 421903 w 741671"/>
                <a:gd name="connsiteY28" fmla="*/ 434383 h 743122"/>
                <a:gd name="connsiteX29" fmla="*/ 407147 w 741671"/>
                <a:gd name="connsiteY29" fmla="*/ 419598 h 743122"/>
                <a:gd name="connsiteX30" fmla="*/ 336194 w 741671"/>
                <a:gd name="connsiteY30" fmla="*/ 419598 h 743122"/>
                <a:gd name="connsiteX31" fmla="*/ 237712 w 741671"/>
                <a:gd name="connsiteY31" fmla="*/ 320923 h 743122"/>
                <a:gd name="connsiteX32" fmla="*/ 336194 w 741671"/>
                <a:gd name="connsiteY32" fmla="*/ 222271 h 74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41671" h="743122">
                  <a:moveTo>
                    <a:pt x="371660" y="744166"/>
                  </a:moveTo>
                  <a:cubicBezTo>
                    <a:pt x="576270" y="744166"/>
                    <a:pt x="742710" y="577397"/>
                    <a:pt x="742710" y="372386"/>
                  </a:cubicBezTo>
                  <a:cubicBezTo>
                    <a:pt x="742710" y="167376"/>
                    <a:pt x="576270" y="599"/>
                    <a:pt x="371660" y="599"/>
                  </a:cubicBezTo>
                  <a:cubicBezTo>
                    <a:pt x="167071" y="599"/>
                    <a:pt x="598" y="167376"/>
                    <a:pt x="598" y="372386"/>
                  </a:cubicBezTo>
                  <a:cubicBezTo>
                    <a:pt x="598" y="577397"/>
                    <a:pt x="167071" y="744166"/>
                    <a:pt x="371660" y="744166"/>
                  </a:cubicBezTo>
                  <a:close/>
                  <a:moveTo>
                    <a:pt x="336194" y="222271"/>
                  </a:moveTo>
                  <a:lnTo>
                    <a:pt x="340997" y="222271"/>
                  </a:lnTo>
                  <a:lnTo>
                    <a:pt x="340997" y="200268"/>
                  </a:lnTo>
                  <a:cubicBezTo>
                    <a:pt x="340997" y="177121"/>
                    <a:pt x="359749" y="158344"/>
                    <a:pt x="382851" y="158344"/>
                  </a:cubicBezTo>
                  <a:cubicBezTo>
                    <a:pt x="405972" y="158344"/>
                    <a:pt x="424690" y="177121"/>
                    <a:pt x="424690" y="200268"/>
                  </a:cubicBezTo>
                  <a:lnTo>
                    <a:pt x="424690" y="222271"/>
                  </a:lnTo>
                  <a:lnTo>
                    <a:pt x="463754" y="222271"/>
                  </a:lnTo>
                  <a:cubicBezTo>
                    <a:pt x="486878" y="222271"/>
                    <a:pt x="505596" y="241027"/>
                    <a:pt x="505596" y="264205"/>
                  </a:cubicBezTo>
                  <a:cubicBezTo>
                    <a:pt x="505596" y="287341"/>
                    <a:pt x="486878" y="306129"/>
                    <a:pt x="463754" y="306129"/>
                  </a:cubicBezTo>
                  <a:lnTo>
                    <a:pt x="336194" y="306129"/>
                  </a:lnTo>
                  <a:cubicBezTo>
                    <a:pt x="328053" y="306129"/>
                    <a:pt x="321416" y="312754"/>
                    <a:pt x="321416" y="320923"/>
                  </a:cubicBezTo>
                  <a:cubicBezTo>
                    <a:pt x="321416" y="329083"/>
                    <a:pt x="328053" y="335730"/>
                    <a:pt x="336194" y="335730"/>
                  </a:cubicBezTo>
                  <a:lnTo>
                    <a:pt x="407147" y="335730"/>
                  </a:lnTo>
                  <a:cubicBezTo>
                    <a:pt x="461440" y="335730"/>
                    <a:pt x="505596" y="379983"/>
                    <a:pt x="505596" y="434383"/>
                  </a:cubicBezTo>
                  <a:cubicBezTo>
                    <a:pt x="505596" y="482769"/>
                    <a:pt x="470646" y="523107"/>
                    <a:pt x="424690" y="531439"/>
                  </a:cubicBezTo>
                  <a:lnTo>
                    <a:pt x="424690" y="555028"/>
                  </a:lnTo>
                  <a:cubicBezTo>
                    <a:pt x="424690" y="578176"/>
                    <a:pt x="405972" y="596961"/>
                    <a:pt x="382851" y="596961"/>
                  </a:cubicBezTo>
                  <a:cubicBezTo>
                    <a:pt x="359749" y="596961"/>
                    <a:pt x="340997" y="578176"/>
                    <a:pt x="340997" y="555028"/>
                  </a:cubicBezTo>
                  <a:lnTo>
                    <a:pt x="340997" y="533036"/>
                  </a:lnTo>
                  <a:lnTo>
                    <a:pt x="280566" y="533036"/>
                  </a:lnTo>
                  <a:cubicBezTo>
                    <a:pt x="257442" y="533036"/>
                    <a:pt x="238724" y="514270"/>
                    <a:pt x="238724" y="491101"/>
                  </a:cubicBezTo>
                  <a:cubicBezTo>
                    <a:pt x="238724" y="467953"/>
                    <a:pt x="257442" y="449165"/>
                    <a:pt x="280566" y="449165"/>
                  </a:cubicBezTo>
                  <a:lnTo>
                    <a:pt x="407147" y="449165"/>
                  </a:lnTo>
                  <a:cubicBezTo>
                    <a:pt x="415289" y="449165"/>
                    <a:pt x="421903" y="442541"/>
                    <a:pt x="421903" y="434383"/>
                  </a:cubicBezTo>
                  <a:cubicBezTo>
                    <a:pt x="421903" y="426225"/>
                    <a:pt x="415289" y="419598"/>
                    <a:pt x="407147" y="419598"/>
                  </a:cubicBezTo>
                  <a:lnTo>
                    <a:pt x="336194" y="419598"/>
                  </a:lnTo>
                  <a:cubicBezTo>
                    <a:pt x="281901" y="419598"/>
                    <a:pt x="237712" y="375323"/>
                    <a:pt x="237712" y="320923"/>
                  </a:cubicBezTo>
                  <a:cubicBezTo>
                    <a:pt x="237712" y="266526"/>
                    <a:pt x="281901" y="222271"/>
                    <a:pt x="336194" y="222271"/>
                  </a:cubicBezTo>
                  <a:close/>
                </a:path>
              </a:pathLst>
            </a:custGeom>
            <a:grpFill/>
            <a:ln w="27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entury Gothic" panose="020F0302020204030204"/>
                <a:ea typeface="+mn-ea"/>
                <a:cs typeface="+mn-cs"/>
              </a:endParaRPr>
            </a:p>
          </p:txBody>
        </p:sp>
      </p:grpSp>
      <p:pic>
        <p:nvPicPr>
          <p:cNvPr id="20" name="Graphic 309">
            <a:extLst>
              <a:ext uri="{FF2B5EF4-FFF2-40B4-BE49-F238E27FC236}">
                <a16:creationId xmlns:a16="http://schemas.microsoft.com/office/drawing/2014/main" id="{B9BB7BE8-2BDE-9A36-90A0-B9504CE70B5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85150" y="4334971"/>
            <a:ext cx="790913" cy="790910"/>
          </a:xfrm>
          <a:prstGeom prst="rect">
            <a:avLst/>
          </a:prstGeom>
        </p:spPr>
      </p:pic>
      <p:grpSp>
        <p:nvGrpSpPr>
          <p:cNvPr id="21" name="Group 20">
            <a:extLst>
              <a:ext uri="{FF2B5EF4-FFF2-40B4-BE49-F238E27FC236}">
                <a16:creationId xmlns:a16="http://schemas.microsoft.com/office/drawing/2014/main" id="{C1D29A41-3E3F-C795-D7DE-B8215116A53E}"/>
              </a:ext>
            </a:extLst>
          </p:cNvPr>
          <p:cNvGrpSpPr/>
          <p:nvPr/>
        </p:nvGrpSpPr>
        <p:grpSpPr>
          <a:xfrm>
            <a:off x="5706650" y="2065526"/>
            <a:ext cx="798783" cy="699848"/>
            <a:chOff x="5636339" y="2862738"/>
            <a:chExt cx="917337" cy="888629"/>
          </a:xfrm>
          <a:solidFill>
            <a:schemeClr val="bg1"/>
          </a:solidFill>
        </p:grpSpPr>
        <p:sp>
          <p:nvSpPr>
            <p:cNvPr id="22" name="Freeform: Shape 21">
              <a:extLst>
                <a:ext uri="{FF2B5EF4-FFF2-40B4-BE49-F238E27FC236}">
                  <a16:creationId xmlns:a16="http://schemas.microsoft.com/office/drawing/2014/main" id="{C1FE8C81-8315-C33B-7DD7-09E86EB565B2}"/>
                </a:ext>
              </a:extLst>
            </p:cNvPr>
            <p:cNvSpPr/>
            <p:nvPr/>
          </p:nvSpPr>
          <p:spPr>
            <a:xfrm>
              <a:off x="5932646" y="2862738"/>
              <a:ext cx="323850" cy="447675"/>
            </a:xfrm>
            <a:custGeom>
              <a:avLst/>
              <a:gdLst>
                <a:gd name="connsiteX0" fmla="*/ 33814 w 323850"/>
                <a:gd name="connsiteY0" fmla="*/ 448151 h 447675"/>
                <a:gd name="connsiteX1" fmla="*/ 291941 w 323850"/>
                <a:gd name="connsiteY1" fmla="*/ 448151 h 447675"/>
                <a:gd name="connsiteX2" fmla="*/ 318611 w 323850"/>
                <a:gd name="connsiteY2" fmla="*/ 421481 h 447675"/>
                <a:gd name="connsiteX3" fmla="*/ 318611 w 323850"/>
                <a:gd name="connsiteY3" fmla="*/ 240506 h 447675"/>
                <a:gd name="connsiteX4" fmla="*/ 214789 w 323850"/>
                <a:gd name="connsiteY4" fmla="*/ 115729 h 447675"/>
                <a:gd name="connsiteX5" fmla="*/ 214789 w 323850"/>
                <a:gd name="connsiteY5" fmla="*/ 74771 h 447675"/>
                <a:gd name="connsiteX6" fmla="*/ 216694 w 323850"/>
                <a:gd name="connsiteY6" fmla="*/ 74771 h 447675"/>
                <a:gd name="connsiteX7" fmla="*/ 244316 w 323850"/>
                <a:gd name="connsiteY7" fmla="*/ 47149 h 447675"/>
                <a:gd name="connsiteX8" fmla="*/ 244316 w 323850"/>
                <a:gd name="connsiteY8" fmla="*/ 34766 h 447675"/>
                <a:gd name="connsiteX9" fmla="*/ 216694 w 323850"/>
                <a:gd name="connsiteY9" fmla="*/ 7144 h 447675"/>
                <a:gd name="connsiteX10" fmla="*/ 109061 w 323850"/>
                <a:gd name="connsiteY10" fmla="*/ 7144 h 447675"/>
                <a:gd name="connsiteX11" fmla="*/ 81439 w 323850"/>
                <a:gd name="connsiteY11" fmla="*/ 34766 h 447675"/>
                <a:gd name="connsiteX12" fmla="*/ 81439 w 323850"/>
                <a:gd name="connsiteY12" fmla="*/ 47149 h 447675"/>
                <a:gd name="connsiteX13" fmla="*/ 109061 w 323850"/>
                <a:gd name="connsiteY13" fmla="*/ 74771 h 447675"/>
                <a:gd name="connsiteX14" fmla="*/ 110966 w 323850"/>
                <a:gd name="connsiteY14" fmla="*/ 74771 h 447675"/>
                <a:gd name="connsiteX15" fmla="*/ 110966 w 323850"/>
                <a:gd name="connsiteY15" fmla="*/ 115729 h 447675"/>
                <a:gd name="connsiteX16" fmla="*/ 7144 w 323850"/>
                <a:gd name="connsiteY16" fmla="*/ 240506 h 447675"/>
                <a:gd name="connsiteX17" fmla="*/ 7144 w 323850"/>
                <a:gd name="connsiteY17" fmla="*/ 421481 h 447675"/>
                <a:gd name="connsiteX18" fmla="*/ 33814 w 323850"/>
                <a:gd name="connsiteY18" fmla="*/ 448151 h 447675"/>
                <a:gd name="connsiteX19" fmla="*/ 89059 w 323850"/>
                <a:gd name="connsiteY19" fmla="*/ 214789 h 447675"/>
                <a:gd name="connsiteX20" fmla="*/ 237649 w 323850"/>
                <a:gd name="connsiteY20" fmla="*/ 214789 h 447675"/>
                <a:gd name="connsiteX21" fmla="*/ 237649 w 323850"/>
                <a:gd name="connsiteY21" fmla="*/ 363379 h 447675"/>
                <a:gd name="connsiteX22" fmla="*/ 89059 w 323850"/>
                <a:gd name="connsiteY22" fmla="*/ 363379 h 447675"/>
                <a:gd name="connsiteX23" fmla="*/ 89059 w 323850"/>
                <a:gd name="connsiteY23" fmla="*/ 214789 h 44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23850" h="447675">
                  <a:moveTo>
                    <a:pt x="33814" y="448151"/>
                  </a:moveTo>
                  <a:lnTo>
                    <a:pt x="291941" y="448151"/>
                  </a:lnTo>
                  <a:cubicBezTo>
                    <a:pt x="307181" y="448151"/>
                    <a:pt x="318611" y="435769"/>
                    <a:pt x="318611" y="421481"/>
                  </a:cubicBezTo>
                  <a:lnTo>
                    <a:pt x="318611" y="240506"/>
                  </a:lnTo>
                  <a:cubicBezTo>
                    <a:pt x="318611" y="178594"/>
                    <a:pt x="273844" y="127159"/>
                    <a:pt x="214789" y="115729"/>
                  </a:cubicBezTo>
                  <a:lnTo>
                    <a:pt x="214789" y="74771"/>
                  </a:lnTo>
                  <a:lnTo>
                    <a:pt x="216694" y="74771"/>
                  </a:lnTo>
                  <a:cubicBezTo>
                    <a:pt x="231934" y="74771"/>
                    <a:pt x="244316" y="62389"/>
                    <a:pt x="244316" y="47149"/>
                  </a:cubicBezTo>
                  <a:lnTo>
                    <a:pt x="244316" y="34766"/>
                  </a:lnTo>
                  <a:cubicBezTo>
                    <a:pt x="244316" y="19526"/>
                    <a:pt x="231934" y="7144"/>
                    <a:pt x="216694" y="7144"/>
                  </a:cubicBezTo>
                  <a:lnTo>
                    <a:pt x="109061" y="7144"/>
                  </a:lnTo>
                  <a:cubicBezTo>
                    <a:pt x="93821" y="7144"/>
                    <a:pt x="81439" y="19526"/>
                    <a:pt x="81439" y="34766"/>
                  </a:cubicBezTo>
                  <a:lnTo>
                    <a:pt x="81439" y="47149"/>
                  </a:lnTo>
                  <a:cubicBezTo>
                    <a:pt x="81439" y="62389"/>
                    <a:pt x="93821" y="74771"/>
                    <a:pt x="109061" y="74771"/>
                  </a:cubicBezTo>
                  <a:lnTo>
                    <a:pt x="110966" y="74771"/>
                  </a:lnTo>
                  <a:lnTo>
                    <a:pt x="110966" y="115729"/>
                  </a:lnTo>
                  <a:cubicBezTo>
                    <a:pt x="51911" y="126206"/>
                    <a:pt x="7144" y="178594"/>
                    <a:pt x="7144" y="240506"/>
                  </a:cubicBezTo>
                  <a:lnTo>
                    <a:pt x="7144" y="421481"/>
                  </a:lnTo>
                  <a:cubicBezTo>
                    <a:pt x="7144" y="435769"/>
                    <a:pt x="19526" y="448151"/>
                    <a:pt x="33814" y="448151"/>
                  </a:cubicBezTo>
                  <a:close/>
                  <a:moveTo>
                    <a:pt x="89059" y="214789"/>
                  </a:moveTo>
                  <a:lnTo>
                    <a:pt x="237649" y="214789"/>
                  </a:lnTo>
                  <a:lnTo>
                    <a:pt x="237649" y="363379"/>
                  </a:lnTo>
                  <a:lnTo>
                    <a:pt x="89059" y="363379"/>
                  </a:lnTo>
                  <a:lnTo>
                    <a:pt x="89059" y="214789"/>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 name="Freeform: Shape 22">
              <a:extLst>
                <a:ext uri="{FF2B5EF4-FFF2-40B4-BE49-F238E27FC236}">
                  <a16:creationId xmlns:a16="http://schemas.microsoft.com/office/drawing/2014/main" id="{A169EEBF-E4DA-CF14-3737-33DFF1E15E91}"/>
                </a:ext>
              </a:extLst>
            </p:cNvPr>
            <p:cNvSpPr/>
            <p:nvPr/>
          </p:nvSpPr>
          <p:spPr>
            <a:xfrm>
              <a:off x="6039326" y="3095148"/>
              <a:ext cx="104775" cy="104775"/>
            </a:xfrm>
            <a:custGeom>
              <a:avLst/>
              <a:gdLst>
                <a:gd name="connsiteX0" fmla="*/ 75724 w 104775"/>
                <a:gd name="connsiteY0" fmla="*/ 7144 h 104775"/>
                <a:gd name="connsiteX1" fmla="*/ 37624 w 104775"/>
                <a:gd name="connsiteY1" fmla="*/ 7144 h 104775"/>
                <a:gd name="connsiteX2" fmla="*/ 37624 w 104775"/>
                <a:gd name="connsiteY2" fmla="*/ 37624 h 104775"/>
                <a:gd name="connsiteX3" fmla="*/ 7144 w 104775"/>
                <a:gd name="connsiteY3" fmla="*/ 37624 h 104775"/>
                <a:gd name="connsiteX4" fmla="*/ 7144 w 104775"/>
                <a:gd name="connsiteY4" fmla="*/ 76676 h 104775"/>
                <a:gd name="connsiteX5" fmla="*/ 37624 w 104775"/>
                <a:gd name="connsiteY5" fmla="*/ 76676 h 104775"/>
                <a:gd name="connsiteX6" fmla="*/ 37624 w 104775"/>
                <a:gd name="connsiteY6" fmla="*/ 106204 h 104775"/>
                <a:gd name="connsiteX7" fmla="*/ 75724 w 104775"/>
                <a:gd name="connsiteY7" fmla="*/ 106204 h 104775"/>
                <a:gd name="connsiteX8" fmla="*/ 75724 w 104775"/>
                <a:gd name="connsiteY8" fmla="*/ 76676 h 104775"/>
                <a:gd name="connsiteX9" fmla="*/ 106204 w 104775"/>
                <a:gd name="connsiteY9" fmla="*/ 76676 h 104775"/>
                <a:gd name="connsiteX10" fmla="*/ 106204 w 104775"/>
                <a:gd name="connsiteY10" fmla="*/ 37624 h 104775"/>
                <a:gd name="connsiteX11" fmla="*/ 75724 w 104775"/>
                <a:gd name="connsiteY11" fmla="*/ 37624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4775" h="104775">
                  <a:moveTo>
                    <a:pt x="75724" y="7144"/>
                  </a:moveTo>
                  <a:lnTo>
                    <a:pt x="37624" y="7144"/>
                  </a:lnTo>
                  <a:lnTo>
                    <a:pt x="37624" y="37624"/>
                  </a:lnTo>
                  <a:lnTo>
                    <a:pt x="7144" y="37624"/>
                  </a:lnTo>
                  <a:lnTo>
                    <a:pt x="7144" y="76676"/>
                  </a:lnTo>
                  <a:lnTo>
                    <a:pt x="37624" y="76676"/>
                  </a:lnTo>
                  <a:lnTo>
                    <a:pt x="37624" y="106204"/>
                  </a:lnTo>
                  <a:lnTo>
                    <a:pt x="75724" y="106204"/>
                  </a:lnTo>
                  <a:lnTo>
                    <a:pt x="75724" y="76676"/>
                  </a:lnTo>
                  <a:lnTo>
                    <a:pt x="106204" y="76676"/>
                  </a:lnTo>
                  <a:lnTo>
                    <a:pt x="106204" y="37624"/>
                  </a:lnTo>
                  <a:lnTo>
                    <a:pt x="75724" y="3762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 name="Freeform: Shape 23">
              <a:extLst>
                <a:ext uri="{FF2B5EF4-FFF2-40B4-BE49-F238E27FC236}">
                  <a16:creationId xmlns:a16="http://schemas.microsoft.com/office/drawing/2014/main" id="{C39ED2F2-FA7D-48A9-D2F4-19B4F5F262FC}"/>
                </a:ext>
              </a:extLst>
            </p:cNvPr>
            <p:cNvSpPr/>
            <p:nvPr/>
          </p:nvSpPr>
          <p:spPr>
            <a:xfrm>
              <a:off x="5636339" y="3179692"/>
              <a:ext cx="409575" cy="571500"/>
            </a:xfrm>
            <a:custGeom>
              <a:avLst/>
              <a:gdLst>
                <a:gd name="connsiteX0" fmla="*/ 358697 w 409575"/>
                <a:gd name="connsiteY0" fmla="*/ 283597 h 571500"/>
                <a:gd name="connsiteX1" fmla="*/ 290117 w 409575"/>
                <a:gd name="connsiteY1" fmla="*/ 195967 h 571500"/>
                <a:gd name="connsiteX2" fmla="*/ 225346 w 409575"/>
                <a:gd name="connsiteY2" fmla="*/ 116910 h 571500"/>
                <a:gd name="connsiteX3" fmla="*/ 175817 w 409575"/>
                <a:gd name="connsiteY3" fmla="*/ 108337 h 571500"/>
                <a:gd name="connsiteX4" fmla="*/ 163434 w 409575"/>
                <a:gd name="connsiteY4" fmla="*/ 185490 h 571500"/>
                <a:gd name="connsiteX5" fmla="*/ 226299 w 409575"/>
                <a:gd name="connsiteY5" fmla="*/ 263595 h 571500"/>
                <a:gd name="connsiteX6" fmla="*/ 231062 w 409575"/>
                <a:gd name="connsiteY6" fmla="*/ 269310 h 571500"/>
                <a:gd name="connsiteX7" fmla="*/ 228204 w 409575"/>
                <a:gd name="connsiteY7" fmla="*/ 292170 h 571500"/>
                <a:gd name="connsiteX8" fmla="*/ 208202 w 409575"/>
                <a:gd name="connsiteY8" fmla="*/ 289312 h 571500"/>
                <a:gd name="connsiteX9" fmla="*/ 204392 w 409575"/>
                <a:gd name="connsiteY9" fmla="*/ 284550 h 571500"/>
                <a:gd name="connsiteX10" fmla="*/ 151052 w 409575"/>
                <a:gd name="connsiteY10" fmla="*/ 221685 h 571500"/>
                <a:gd name="connsiteX11" fmla="*/ 136764 w 409575"/>
                <a:gd name="connsiteY11" fmla="*/ 198825 h 571500"/>
                <a:gd name="connsiteX12" fmla="*/ 129144 w 409575"/>
                <a:gd name="connsiteY12" fmla="*/ 119767 h 571500"/>
                <a:gd name="connsiteX13" fmla="*/ 96759 w 409575"/>
                <a:gd name="connsiteY13" fmla="*/ 40710 h 571500"/>
                <a:gd name="connsiteX14" fmla="*/ 7224 w 409575"/>
                <a:gd name="connsiteY14" fmla="*/ 58807 h 571500"/>
                <a:gd name="connsiteX15" fmla="*/ 88186 w 409575"/>
                <a:gd name="connsiteY15" fmla="*/ 379800 h 571500"/>
                <a:gd name="connsiteX16" fmla="*/ 210106 w 409575"/>
                <a:gd name="connsiteY16" fmla="*/ 485527 h 571500"/>
                <a:gd name="connsiteX17" fmla="*/ 222489 w 409575"/>
                <a:gd name="connsiteY17" fmla="*/ 509340 h 571500"/>
                <a:gd name="connsiteX18" fmla="*/ 222489 w 409575"/>
                <a:gd name="connsiteY18" fmla="*/ 549345 h 571500"/>
                <a:gd name="connsiteX19" fmla="*/ 244396 w 409575"/>
                <a:gd name="connsiteY19" fmla="*/ 571252 h 571500"/>
                <a:gd name="connsiteX20" fmla="*/ 383462 w 409575"/>
                <a:gd name="connsiteY20" fmla="*/ 571252 h 571500"/>
                <a:gd name="connsiteX21" fmla="*/ 405369 w 409575"/>
                <a:gd name="connsiteY21" fmla="*/ 549345 h 571500"/>
                <a:gd name="connsiteX22" fmla="*/ 401559 w 409575"/>
                <a:gd name="connsiteY22" fmla="*/ 451237 h 571500"/>
                <a:gd name="connsiteX23" fmla="*/ 358697 w 409575"/>
                <a:gd name="connsiteY23" fmla="*/ 283597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9575" h="571500">
                  <a:moveTo>
                    <a:pt x="358697" y="283597"/>
                  </a:moveTo>
                  <a:cubicBezTo>
                    <a:pt x="343457" y="257880"/>
                    <a:pt x="316787" y="226447"/>
                    <a:pt x="290117" y="195967"/>
                  </a:cubicBezTo>
                  <a:cubicBezTo>
                    <a:pt x="267257" y="169297"/>
                    <a:pt x="242492" y="142627"/>
                    <a:pt x="225346" y="116910"/>
                  </a:cubicBezTo>
                  <a:cubicBezTo>
                    <a:pt x="212964" y="98812"/>
                    <a:pt x="191056" y="98812"/>
                    <a:pt x="175817" y="108337"/>
                  </a:cubicBezTo>
                  <a:cubicBezTo>
                    <a:pt x="156767" y="119767"/>
                    <a:pt x="142479" y="145485"/>
                    <a:pt x="163434" y="185490"/>
                  </a:cubicBezTo>
                  <a:cubicBezTo>
                    <a:pt x="173912" y="206445"/>
                    <a:pt x="199629" y="235020"/>
                    <a:pt x="226299" y="263595"/>
                  </a:cubicBezTo>
                  <a:cubicBezTo>
                    <a:pt x="228204" y="265500"/>
                    <a:pt x="229156" y="267405"/>
                    <a:pt x="231062" y="269310"/>
                  </a:cubicBezTo>
                  <a:cubicBezTo>
                    <a:pt x="237729" y="275977"/>
                    <a:pt x="235824" y="287407"/>
                    <a:pt x="228204" y="292170"/>
                  </a:cubicBezTo>
                  <a:cubicBezTo>
                    <a:pt x="221537" y="295980"/>
                    <a:pt x="213917" y="294075"/>
                    <a:pt x="208202" y="289312"/>
                  </a:cubicBezTo>
                  <a:cubicBezTo>
                    <a:pt x="206296" y="287407"/>
                    <a:pt x="205344" y="286455"/>
                    <a:pt x="204392" y="284550"/>
                  </a:cubicBezTo>
                  <a:cubicBezTo>
                    <a:pt x="183437" y="261690"/>
                    <a:pt x="164387" y="240735"/>
                    <a:pt x="151052" y="221685"/>
                  </a:cubicBezTo>
                  <a:cubicBezTo>
                    <a:pt x="145337" y="214065"/>
                    <a:pt x="140574" y="206445"/>
                    <a:pt x="136764" y="198825"/>
                  </a:cubicBezTo>
                  <a:cubicBezTo>
                    <a:pt x="120571" y="168345"/>
                    <a:pt x="120571" y="140722"/>
                    <a:pt x="129144" y="119767"/>
                  </a:cubicBezTo>
                  <a:cubicBezTo>
                    <a:pt x="114856" y="89287"/>
                    <a:pt x="102474" y="59760"/>
                    <a:pt x="96759" y="40710"/>
                  </a:cubicBezTo>
                  <a:cubicBezTo>
                    <a:pt x="78661" y="-12630"/>
                    <a:pt x="4366" y="705"/>
                    <a:pt x="7224" y="58807"/>
                  </a:cubicBezTo>
                  <a:cubicBezTo>
                    <a:pt x="10081" y="117862"/>
                    <a:pt x="31036" y="313125"/>
                    <a:pt x="88186" y="379800"/>
                  </a:cubicBezTo>
                  <a:cubicBezTo>
                    <a:pt x="113904" y="410280"/>
                    <a:pt x="160577" y="451237"/>
                    <a:pt x="210106" y="485527"/>
                  </a:cubicBezTo>
                  <a:cubicBezTo>
                    <a:pt x="217727" y="491242"/>
                    <a:pt x="222489" y="499815"/>
                    <a:pt x="222489" y="509340"/>
                  </a:cubicBezTo>
                  <a:lnTo>
                    <a:pt x="222489" y="549345"/>
                  </a:lnTo>
                  <a:cubicBezTo>
                    <a:pt x="222489" y="561727"/>
                    <a:pt x="232014" y="571252"/>
                    <a:pt x="244396" y="571252"/>
                  </a:cubicBezTo>
                  <a:lnTo>
                    <a:pt x="383462" y="571252"/>
                  </a:lnTo>
                  <a:cubicBezTo>
                    <a:pt x="395844" y="571252"/>
                    <a:pt x="405369" y="561727"/>
                    <a:pt x="405369" y="549345"/>
                  </a:cubicBezTo>
                  <a:cubicBezTo>
                    <a:pt x="404417" y="525532"/>
                    <a:pt x="403464" y="485527"/>
                    <a:pt x="401559" y="451237"/>
                  </a:cubicBezTo>
                  <a:cubicBezTo>
                    <a:pt x="396797" y="378847"/>
                    <a:pt x="374889" y="312172"/>
                    <a:pt x="358697" y="28359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 name="Freeform: Shape 24">
              <a:extLst>
                <a:ext uri="{FF2B5EF4-FFF2-40B4-BE49-F238E27FC236}">
                  <a16:creationId xmlns:a16="http://schemas.microsoft.com/office/drawing/2014/main" id="{1521FD29-EE92-080D-AE14-EAFB7606D99B}"/>
                </a:ext>
              </a:extLst>
            </p:cNvPr>
            <p:cNvSpPr/>
            <p:nvPr/>
          </p:nvSpPr>
          <p:spPr>
            <a:xfrm>
              <a:off x="6144101" y="3179867"/>
              <a:ext cx="409575" cy="571500"/>
            </a:xfrm>
            <a:custGeom>
              <a:avLst/>
              <a:gdLst>
                <a:gd name="connsiteX0" fmla="*/ 315754 w 409575"/>
                <a:gd name="connsiteY0" fmla="*/ 41487 h 571500"/>
                <a:gd name="connsiteX1" fmla="*/ 283369 w 409575"/>
                <a:gd name="connsiteY1" fmla="*/ 120545 h 571500"/>
                <a:gd name="connsiteX2" fmla="*/ 275749 w 409575"/>
                <a:gd name="connsiteY2" fmla="*/ 199602 h 571500"/>
                <a:gd name="connsiteX3" fmla="*/ 261461 w 409575"/>
                <a:gd name="connsiteY3" fmla="*/ 222462 h 571500"/>
                <a:gd name="connsiteX4" fmla="*/ 208121 w 409575"/>
                <a:gd name="connsiteY4" fmla="*/ 285327 h 571500"/>
                <a:gd name="connsiteX5" fmla="*/ 204311 w 409575"/>
                <a:gd name="connsiteY5" fmla="*/ 290090 h 571500"/>
                <a:gd name="connsiteX6" fmla="*/ 184309 w 409575"/>
                <a:gd name="connsiteY6" fmla="*/ 292947 h 571500"/>
                <a:gd name="connsiteX7" fmla="*/ 181451 w 409575"/>
                <a:gd name="connsiteY7" fmla="*/ 270087 h 571500"/>
                <a:gd name="connsiteX8" fmla="*/ 186214 w 409575"/>
                <a:gd name="connsiteY8" fmla="*/ 264372 h 571500"/>
                <a:gd name="connsiteX9" fmla="*/ 249079 w 409575"/>
                <a:gd name="connsiteY9" fmla="*/ 186267 h 571500"/>
                <a:gd name="connsiteX10" fmla="*/ 236696 w 409575"/>
                <a:gd name="connsiteY10" fmla="*/ 109115 h 571500"/>
                <a:gd name="connsiteX11" fmla="*/ 187166 w 409575"/>
                <a:gd name="connsiteY11" fmla="*/ 117687 h 571500"/>
                <a:gd name="connsiteX12" fmla="*/ 122396 w 409575"/>
                <a:gd name="connsiteY12" fmla="*/ 196745 h 571500"/>
                <a:gd name="connsiteX13" fmla="*/ 53816 w 409575"/>
                <a:gd name="connsiteY13" fmla="*/ 284375 h 571500"/>
                <a:gd name="connsiteX14" fmla="*/ 10954 w 409575"/>
                <a:gd name="connsiteY14" fmla="*/ 450110 h 571500"/>
                <a:gd name="connsiteX15" fmla="*/ 7144 w 409575"/>
                <a:gd name="connsiteY15" fmla="*/ 548217 h 571500"/>
                <a:gd name="connsiteX16" fmla="*/ 29051 w 409575"/>
                <a:gd name="connsiteY16" fmla="*/ 570125 h 571500"/>
                <a:gd name="connsiteX17" fmla="*/ 168116 w 409575"/>
                <a:gd name="connsiteY17" fmla="*/ 570125 h 571500"/>
                <a:gd name="connsiteX18" fmla="*/ 190024 w 409575"/>
                <a:gd name="connsiteY18" fmla="*/ 548217 h 571500"/>
                <a:gd name="connsiteX19" fmla="*/ 190024 w 409575"/>
                <a:gd name="connsiteY19" fmla="*/ 508212 h 571500"/>
                <a:gd name="connsiteX20" fmla="*/ 202406 w 409575"/>
                <a:gd name="connsiteY20" fmla="*/ 484400 h 571500"/>
                <a:gd name="connsiteX21" fmla="*/ 324326 w 409575"/>
                <a:gd name="connsiteY21" fmla="*/ 378672 h 571500"/>
                <a:gd name="connsiteX22" fmla="*/ 405289 w 409575"/>
                <a:gd name="connsiteY22" fmla="*/ 58632 h 571500"/>
                <a:gd name="connsiteX23" fmla="*/ 315754 w 409575"/>
                <a:gd name="connsiteY23" fmla="*/ 41487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9575" h="571500">
                  <a:moveTo>
                    <a:pt x="315754" y="41487"/>
                  </a:moveTo>
                  <a:cubicBezTo>
                    <a:pt x="310039" y="60537"/>
                    <a:pt x="297656" y="89112"/>
                    <a:pt x="283369" y="120545"/>
                  </a:cubicBezTo>
                  <a:cubicBezTo>
                    <a:pt x="291941" y="141500"/>
                    <a:pt x="290989" y="169122"/>
                    <a:pt x="275749" y="199602"/>
                  </a:cubicBezTo>
                  <a:cubicBezTo>
                    <a:pt x="271939" y="207222"/>
                    <a:pt x="267176" y="213890"/>
                    <a:pt x="261461" y="222462"/>
                  </a:cubicBezTo>
                  <a:cubicBezTo>
                    <a:pt x="247174" y="241512"/>
                    <a:pt x="229076" y="262467"/>
                    <a:pt x="208121" y="285327"/>
                  </a:cubicBezTo>
                  <a:cubicBezTo>
                    <a:pt x="207169" y="287232"/>
                    <a:pt x="205264" y="288185"/>
                    <a:pt x="204311" y="290090"/>
                  </a:cubicBezTo>
                  <a:cubicBezTo>
                    <a:pt x="199549" y="295805"/>
                    <a:pt x="190976" y="297710"/>
                    <a:pt x="184309" y="292947"/>
                  </a:cubicBezTo>
                  <a:cubicBezTo>
                    <a:pt x="176689" y="288185"/>
                    <a:pt x="174784" y="276755"/>
                    <a:pt x="181451" y="270087"/>
                  </a:cubicBezTo>
                  <a:cubicBezTo>
                    <a:pt x="183356" y="268182"/>
                    <a:pt x="184309" y="266277"/>
                    <a:pt x="186214" y="264372"/>
                  </a:cubicBezTo>
                  <a:cubicBezTo>
                    <a:pt x="212884" y="234845"/>
                    <a:pt x="238601" y="207222"/>
                    <a:pt x="249079" y="186267"/>
                  </a:cubicBezTo>
                  <a:cubicBezTo>
                    <a:pt x="269081" y="147215"/>
                    <a:pt x="255746" y="120545"/>
                    <a:pt x="236696" y="109115"/>
                  </a:cubicBezTo>
                  <a:cubicBezTo>
                    <a:pt x="220504" y="99590"/>
                    <a:pt x="198596" y="99590"/>
                    <a:pt x="187166" y="117687"/>
                  </a:cubicBezTo>
                  <a:cubicBezTo>
                    <a:pt x="170021" y="143405"/>
                    <a:pt x="146209" y="171027"/>
                    <a:pt x="122396" y="196745"/>
                  </a:cubicBezTo>
                  <a:cubicBezTo>
                    <a:pt x="95726" y="227225"/>
                    <a:pt x="69056" y="258657"/>
                    <a:pt x="53816" y="284375"/>
                  </a:cubicBezTo>
                  <a:cubicBezTo>
                    <a:pt x="36671" y="312950"/>
                    <a:pt x="15716" y="379625"/>
                    <a:pt x="10954" y="450110"/>
                  </a:cubicBezTo>
                  <a:cubicBezTo>
                    <a:pt x="9049" y="484400"/>
                    <a:pt x="8096" y="524405"/>
                    <a:pt x="7144" y="548217"/>
                  </a:cubicBezTo>
                  <a:cubicBezTo>
                    <a:pt x="7144" y="560600"/>
                    <a:pt x="16669" y="570125"/>
                    <a:pt x="29051" y="570125"/>
                  </a:cubicBezTo>
                  <a:lnTo>
                    <a:pt x="168116" y="570125"/>
                  </a:lnTo>
                  <a:cubicBezTo>
                    <a:pt x="180499" y="570125"/>
                    <a:pt x="190024" y="560600"/>
                    <a:pt x="190024" y="548217"/>
                  </a:cubicBezTo>
                  <a:lnTo>
                    <a:pt x="190024" y="508212"/>
                  </a:lnTo>
                  <a:cubicBezTo>
                    <a:pt x="190024" y="498687"/>
                    <a:pt x="194786" y="490115"/>
                    <a:pt x="202406" y="484400"/>
                  </a:cubicBezTo>
                  <a:cubicBezTo>
                    <a:pt x="251936" y="450110"/>
                    <a:pt x="298609" y="409152"/>
                    <a:pt x="324326" y="378672"/>
                  </a:cubicBezTo>
                  <a:cubicBezTo>
                    <a:pt x="381476" y="311997"/>
                    <a:pt x="401479" y="116735"/>
                    <a:pt x="405289" y="58632"/>
                  </a:cubicBezTo>
                  <a:cubicBezTo>
                    <a:pt x="407194" y="530"/>
                    <a:pt x="332899" y="-12805"/>
                    <a:pt x="315754" y="4148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26" name="TextBox 25">
            <a:extLst>
              <a:ext uri="{FF2B5EF4-FFF2-40B4-BE49-F238E27FC236}">
                <a16:creationId xmlns:a16="http://schemas.microsoft.com/office/drawing/2014/main" id="{14D4B05F-FA1E-D64A-D054-2B6C3F014F96}"/>
              </a:ext>
            </a:extLst>
          </p:cNvPr>
          <p:cNvSpPr txBox="1"/>
          <p:nvPr/>
        </p:nvSpPr>
        <p:spPr>
          <a:xfrm>
            <a:off x="5032494" y="2893831"/>
            <a:ext cx="2141355" cy="461665"/>
          </a:xfrm>
          <a:prstGeom prst="rect">
            <a:avLst/>
          </a:prstGeom>
          <a:noFill/>
        </p:spPr>
        <p:txBody>
          <a:bodyPr wrap="none" rtlCol="0">
            <a:spAutoFit/>
          </a:bodyPr>
          <a:lstStyle/>
          <a:p>
            <a:r>
              <a:rPr lang="en-US" sz="2400" b="1" dirty="0">
                <a:solidFill>
                  <a:schemeClr val="bg1"/>
                </a:solidFill>
              </a:rPr>
              <a:t>Transformation</a:t>
            </a:r>
          </a:p>
        </p:txBody>
      </p:sp>
      <p:sp>
        <p:nvSpPr>
          <p:cNvPr id="27" name="TextBox 26">
            <a:extLst>
              <a:ext uri="{FF2B5EF4-FFF2-40B4-BE49-F238E27FC236}">
                <a16:creationId xmlns:a16="http://schemas.microsoft.com/office/drawing/2014/main" id="{8EBEC1F6-6F3F-DF09-8F61-B4DFA6F2DBCF}"/>
              </a:ext>
            </a:extLst>
          </p:cNvPr>
          <p:cNvSpPr txBox="1"/>
          <p:nvPr/>
        </p:nvSpPr>
        <p:spPr>
          <a:xfrm>
            <a:off x="3472762" y="5150060"/>
            <a:ext cx="2011641" cy="461665"/>
          </a:xfrm>
          <a:prstGeom prst="rect">
            <a:avLst/>
          </a:prstGeom>
          <a:noFill/>
        </p:spPr>
        <p:txBody>
          <a:bodyPr wrap="none" rtlCol="0">
            <a:spAutoFit/>
          </a:bodyPr>
          <a:lstStyle/>
          <a:p>
            <a:r>
              <a:rPr lang="en-US" sz="2400" b="1" dirty="0">
                <a:solidFill>
                  <a:schemeClr val="bg1"/>
                </a:solidFill>
              </a:rPr>
              <a:t>Volume/Profit</a:t>
            </a:r>
          </a:p>
        </p:txBody>
      </p:sp>
      <p:sp>
        <p:nvSpPr>
          <p:cNvPr id="28" name="TextBox 27">
            <a:extLst>
              <a:ext uri="{FF2B5EF4-FFF2-40B4-BE49-F238E27FC236}">
                <a16:creationId xmlns:a16="http://schemas.microsoft.com/office/drawing/2014/main" id="{64AEEA99-AABD-715D-7A92-516BA10214C5}"/>
              </a:ext>
            </a:extLst>
          </p:cNvPr>
          <p:cNvSpPr txBox="1"/>
          <p:nvPr/>
        </p:nvSpPr>
        <p:spPr>
          <a:xfrm>
            <a:off x="7151215" y="5094954"/>
            <a:ext cx="1097993" cy="461665"/>
          </a:xfrm>
          <a:prstGeom prst="rect">
            <a:avLst/>
          </a:prstGeom>
          <a:noFill/>
        </p:spPr>
        <p:txBody>
          <a:bodyPr wrap="none" rtlCol="0">
            <a:spAutoFit/>
          </a:bodyPr>
          <a:lstStyle/>
          <a:p>
            <a:r>
              <a:rPr lang="en-US" sz="2400" b="1" dirty="0">
                <a:solidFill>
                  <a:schemeClr val="bg1"/>
                </a:solidFill>
              </a:rPr>
              <a:t>Margin</a:t>
            </a:r>
          </a:p>
        </p:txBody>
      </p:sp>
    </p:spTree>
    <p:extLst>
      <p:ext uri="{BB962C8B-B14F-4D97-AF65-F5344CB8AC3E}">
        <p14:creationId xmlns:p14="http://schemas.microsoft.com/office/powerpoint/2010/main" val="506321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B3B7911-4429-5620-651D-8CF02A22EE52}"/>
              </a:ext>
            </a:extLst>
          </p:cNvPr>
          <p:cNvSpPr>
            <a:spLocks noGrp="1"/>
          </p:cNvSpPr>
          <p:nvPr>
            <p:ph type="sldNum" sz="quarter" idx="12"/>
          </p:nvPr>
        </p:nvSpPr>
        <p:spPr>
          <a:xfrm>
            <a:off x="8610601" y="6258922"/>
            <a:ext cx="2743200" cy="250380"/>
          </a:xfrm>
        </p:spPr>
        <p:txBody>
          <a:bodyPr/>
          <a:lstStyle/>
          <a:p>
            <a:fld id="{3AFC719D-C4A7-4544-876E-D411D11AF6C9}" type="slidenum">
              <a:rPr lang="en-US" smtClean="0"/>
              <a:t>7</a:t>
            </a:fld>
            <a:endParaRPr lang="en-US" dirty="0"/>
          </a:p>
        </p:txBody>
      </p:sp>
      <p:graphicFrame>
        <p:nvGraphicFramePr>
          <p:cNvPr id="8" name="Table 7">
            <a:extLst>
              <a:ext uri="{FF2B5EF4-FFF2-40B4-BE49-F238E27FC236}">
                <a16:creationId xmlns:a16="http://schemas.microsoft.com/office/drawing/2014/main" id="{0074741D-2B9A-0122-543B-08154EC422A8}"/>
              </a:ext>
            </a:extLst>
          </p:cNvPr>
          <p:cNvGraphicFramePr>
            <a:graphicFrameLocks noGrp="1"/>
          </p:cNvGraphicFramePr>
          <p:nvPr>
            <p:extLst>
              <p:ext uri="{D42A27DB-BD31-4B8C-83A1-F6EECF244321}">
                <p14:modId xmlns:p14="http://schemas.microsoft.com/office/powerpoint/2010/main" val="2606549359"/>
              </p:ext>
            </p:extLst>
          </p:nvPr>
        </p:nvGraphicFramePr>
        <p:xfrm>
          <a:off x="8710838" y="338214"/>
          <a:ext cx="3228870" cy="5755496"/>
        </p:xfrm>
        <a:graphic>
          <a:graphicData uri="http://schemas.openxmlformats.org/drawingml/2006/table">
            <a:tbl>
              <a:tblPr/>
              <a:tblGrid>
                <a:gridCol w="1076290">
                  <a:extLst>
                    <a:ext uri="{9D8B030D-6E8A-4147-A177-3AD203B41FA5}">
                      <a16:colId xmlns:a16="http://schemas.microsoft.com/office/drawing/2014/main" val="747333909"/>
                    </a:ext>
                  </a:extLst>
                </a:gridCol>
                <a:gridCol w="1076290">
                  <a:extLst>
                    <a:ext uri="{9D8B030D-6E8A-4147-A177-3AD203B41FA5}">
                      <a16:colId xmlns:a16="http://schemas.microsoft.com/office/drawing/2014/main" val="3421697369"/>
                    </a:ext>
                  </a:extLst>
                </a:gridCol>
                <a:gridCol w="1076290">
                  <a:extLst>
                    <a:ext uri="{9D8B030D-6E8A-4147-A177-3AD203B41FA5}">
                      <a16:colId xmlns:a16="http://schemas.microsoft.com/office/drawing/2014/main" val="1427849391"/>
                    </a:ext>
                  </a:extLst>
                </a:gridCol>
              </a:tblGrid>
              <a:tr h="604396">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Year</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tc>
                  <a:txBody>
                    <a:bodyPr/>
                    <a:lstStyle/>
                    <a:p>
                      <a:pPr marL="0" marR="0" algn="ctr">
                        <a:lnSpc>
                          <a:spcPct val="100000"/>
                        </a:lnSpc>
                        <a:spcBef>
                          <a:spcPts val="0"/>
                        </a:spcBef>
                        <a:spcAft>
                          <a:spcPts val="0"/>
                        </a:spcAft>
                        <a:buNone/>
                      </a:pPr>
                      <a:r>
                        <a:rPr lang="en-US" sz="1100" b="1" i="0" u="none" cap="none" dirty="0">
                          <a:solidFill>
                            <a:srgbClr val="000000">
                              <a:alpha val="100000"/>
                            </a:srgbClr>
                          </a:solidFill>
                          <a:latin typeface="Arial"/>
                          <a:cs typeface="Arial"/>
                          <a:sym typeface="Arial"/>
                        </a:rPr>
                        <a:t>Target</a:t>
                      </a:r>
                    </a:p>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tc>
                  <a:txBody>
                    <a:bodyPr/>
                    <a:lstStyle/>
                    <a:p>
                      <a:pPr marL="0" marR="0" algn="ctr">
                        <a:lnSpc>
                          <a:spcPct val="100000"/>
                        </a:lnSpc>
                        <a:spcBef>
                          <a:spcPts val="0"/>
                        </a:spcBef>
                        <a:spcAft>
                          <a:spcPts val="0"/>
                        </a:spcAft>
                        <a:buNone/>
                      </a:pPr>
                      <a:r>
                        <a:rPr lang="en-US" sz="1100" b="1" i="0" u="none" cap="none" dirty="0">
                          <a:solidFill>
                            <a:srgbClr val="000000">
                              <a:alpha val="100000"/>
                            </a:srgbClr>
                          </a:solidFill>
                          <a:latin typeface="Arial"/>
                          <a:cs typeface="Arial"/>
                          <a:sym typeface="Arial"/>
                        </a:rPr>
                        <a:t>Target</a:t>
                      </a:r>
                    </a:p>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Members</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extLst>
                  <a:ext uri="{0D108BD9-81ED-4DB2-BD59-A6C34878D82A}">
                    <a16:rowId xmlns:a16="http://schemas.microsoft.com/office/drawing/2014/main" val="2737570731"/>
                  </a:ext>
                </a:extLst>
              </a:tr>
              <a:tr h="206044">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1</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lang="en-US" sz="1100" b="0" i="0" u="none" cap="none" dirty="0">
                          <a:solidFill>
                            <a:srgbClr val="000000">
                              <a:alpha val="100000"/>
                            </a:srgbClr>
                          </a:solidFill>
                          <a:latin typeface="Arial"/>
                          <a:cs typeface="Arial"/>
                          <a:sym typeface="Arial"/>
                        </a:rPr>
                        <a:t>1,0</a:t>
                      </a:r>
                      <a:r>
                        <a:rPr sz="1100" b="0" i="0" u="none" cap="none" dirty="0">
                          <a:solidFill>
                            <a:srgbClr val="000000">
                              <a:alpha val="100000"/>
                            </a:srgbClr>
                          </a:solidFill>
                          <a:latin typeface="Arial"/>
                          <a:cs typeface="Arial"/>
                          <a:sym typeface="Arial"/>
                        </a:rPr>
                        <a:t>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580220669"/>
                  </a:ext>
                </a:extLst>
              </a:tr>
              <a:tr h="206044">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2</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43036312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731343589"/>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796413393"/>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5</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685085520"/>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10,300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647458886"/>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417589541"/>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8</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18,500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8699144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24,300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932558393"/>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10</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31,100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46983780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21,600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38,900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67590060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12</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26,400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47,500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4029062366"/>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13</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56,500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657002496"/>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14</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36,400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65,500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618553573"/>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15</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74,200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83893595"/>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82,100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624918751"/>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17</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88,900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10869320"/>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94,700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69531247"/>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19</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99,400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38404874"/>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20</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103,000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342138655"/>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21</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105,700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4120445984"/>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107,600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172368928"/>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23</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109,300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4116833567"/>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24</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110,300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61966749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25</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chemeClr val="tx1"/>
                      </a:solidFill>
                      <a:prstDash val="solid"/>
                      <a:round/>
                      <a:headEnd type="none" w="med" len="med"/>
                      <a:tailEnd type="none" w="med" len="me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chemeClr val="tx1"/>
                      </a:solidFill>
                      <a:prstDash val="solid"/>
                      <a:round/>
                      <a:headEnd type="none" w="med" len="med"/>
                      <a:tailEnd type="none" w="med" len="me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111,200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chemeClr val="tx1"/>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388699002"/>
                  </a:ext>
                </a:extLst>
              </a:tr>
            </a:tbl>
          </a:graphicData>
        </a:graphic>
      </p:graphicFrame>
      <p:sp>
        <p:nvSpPr>
          <p:cNvPr id="9" name="TextBox 13">
            <a:extLst>
              <a:ext uri="{FF2B5EF4-FFF2-40B4-BE49-F238E27FC236}">
                <a16:creationId xmlns:a16="http://schemas.microsoft.com/office/drawing/2014/main" id="{3AA1946D-2370-3937-43B6-7AAAA0156EA5}"/>
              </a:ext>
            </a:extLst>
          </p:cNvPr>
          <p:cNvSpPr txBox="1"/>
          <p:nvPr/>
        </p:nvSpPr>
        <p:spPr>
          <a:xfrm>
            <a:off x="5585070" y="1224971"/>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10" name="TextBox 6">
            <a:extLst>
              <a:ext uri="{FF2B5EF4-FFF2-40B4-BE49-F238E27FC236}">
                <a16:creationId xmlns:a16="http://schemas.microsoft.com/office/drawing/2014/main" id="{C1427FCD-60BD-44A4-7EC8-0DA3A8B8AAB4}"/>
              </a:ext>
            </a:extLst>
          </p:cNvPr>
          <p:cNvSpPr txBox="1"/>
          <p:nvPr/>
        </p:nvSpPr>
        <p:spPr>
          <a:xfrm>
            <a:off x="5147926" y="1881897"/>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1" name="TextBox 7">
            <a:extLst>
              <a:ext uri="{FF2B5EF4-FFF2-40B4-BE49-F238E27FC236}">
                <a16:creationId xmlns:a16="http://schemas.microsoft.com/office/drawing/2014/main" id="{8AD15935-ECCD-D33E-6374-87A76F55473C}"/>
              </a:ext>
            </a:extLst>
          </p:cNvPr>
          <p:cNvSpPr txBox="1"/>
          <p:nvPr/>
        </p:nvSpPr>
        <p:spPr>
          <a:xfrm>
            <a:off x="7232150" y="1881897"/>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2" name="TextBox 9">
            <a:extLst>
              <a:ext uri="{FF2B5EF4-FFF2-40B4-BE49-F238E27FC236}">
                <a16:creationId xmlns:a16="http://schemas.microsoft.com/office/drawing/2014/main" id="{5F94E5B5-90A3-01DA-6460-61E0FBE73982}"/>
              </a:ext>
            </a:extLst>
          </p:cNvPr>
          <p:cNvSpPr txBox="1"/>
          <p:nvPr/>
        </p:nvSpPr>
        <p:spPr>
          <a:xfrm>
            <a:off x="5141641" y="2127622"/>
            <a:ext cx="1588535" cy="400110"/>
          </a:xfrm>
          <a:prstGeom prst="rect">
            <a:avLst/>
          </a:prstGeom>
          <a:noFill/>
        </p:spPr>
        <p:txBody>
          <a:bodyPr wrap="square">
            <a:spAutoFit/>
          </a:bodyPr>
          <a:lstStyle/>
          <a:p>
            <a:pPr algn="ctr"/>
            <a:r>
              <a:rPr lang="en-US" sz="2000" b="1" dirty="0">
                <a:solidFill>
                  <a:srgbClr val="6087CE"/>
                </a:solidFill>
              </a:rPr>
              <a:t>$15.31M</a:t>
            </a:r>
            <a:endParaRPr lang="en-US" sz="2000" dirty="0"/>
          </a:p>
        </p:txBody>
      </p:sp>
      <p:sp>
        <p:nvSpPr>
          <p:cNvPr id="13" name="TextBox 14">
            <a:extLst>
              <a:ext uri="{FF2B5EF4-FFF2-40B4-BE49-F238E27FC236}">
                <a16:creationId xmlns:a16="http://schemas.microsoft.com/office/drawing/2014/main" id="{81ED2F41-E94D-4EB7-140C-733A91ADF312}"/>
              </a:ext>
            </a:extLst>
          </p:cNvPr>
          <p:cNvSpPr txBox="1"/>
          <p:nvPr/>
        </p:nvSpPr>
        <p:spPr>
          <a:xfrm>
            <a:off x="6935190" y="2127622"/>
            <a:ext cx="1588535" cy="400110"/>
          </a:xfrm>
          <a:prstGeom prst="rect">
            <a:avLst/>
          </a:prstGeom>
          <a:noFill/>
        </p:spPr>
        <p:txBody>
          <a:bodyPr wrap="square">
            <a:spAutoFit/>
          </a:bodyPr>
          <a:lstStyle/>
          <a:p>
            <a:pPr algn="ctr"/>
            <a:r>
              <a:rPr lang="en-US" sz="2000" b="1" dirty="0">
                <a:solidFill>
                  <a:srgbClr val="6087CE"/>
                </a:solidFill>
              </a:rPr>
              <a:t>$1.73M</a:t>
            </a:r>
            <a:endParaRPr lang="en-US" sz="2000" dirty="0"/>
          </a:p>
        </p:txBody>
      </p:sp>
      <p:sp>
        <p:nvSpPr>
          <p:cNvPr id="14" name="TextBox 15">
            <a:extLst>
              <a:ext uri="{FF2B5EF4-FFF2-40B4-BE49-F238E27FC236}">
                <a16:creationId xmlns:a16="http://schemas.microsoft.com/office/drawing/2014/main" id="{2A316622-4106-CE16-17A4-8DC79524A1B9}"/>
              </a:ext>
            </a:extLst>
          </p:cNvPr>
          <p:cNvSpPr txBox="1"/>
          <p:nvPr/>
        </p:nvSpPr>
        <p:spPr>
          <a:xfrm>
            <a:off x="5794071" y="2739387"/>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5" name="TextBox 16">
            <a:extLst>
              <a:ext uri="{FF2B5EF4-FFF2-40B4-BE49-F238E27FC236}">
                <a16:creationId xmlns:a16="http://schemas.microsoft.com/office/drawing/2014/main" id="{CB5443F6-CBCE-0B5E-95A0-4546ACCCA0A2}"/>
              </a:ext>
            </a:extLst>
          </p:cNvPr>
          <p:cNvSpPr txBox="1"/>
          <p:nvPr/>
        </p:nvSpPr>
        <p:spPr>
          <a:xfrm>
            <a:off x="5138917" y="339631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6" name="TextBox 17">
            <a:extLst>
              <a:ext uri="{FF2B5EF4-FFF2-40B4-BE49-F238E27FC236}">
                <a16:creationId xmlns:a16="http://schemas.microsoft.com/office/drawing/2014/main" id="{51CA331C-EDBB-6424-3011-8BAA8071699E}"/>
              </a:ext>
            </a:extLst>
          </p:cNvPr>
          <p:cNvSpPr txBox="1"/>
          <p:nvPr/>
        </p:nvSpPr>
        <p:spPr>
          <a:xfrm>
            <a:off x="7223141" y="339631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7" name="TextBox 20">
            <a:extLst>
              <a:ext uri="{FF2B5EF4-FFF2-40B4-BE49-F238E27FC236}">
                <a16:creationId xmlns:a16="http://schemas.microsoft.com/office/drawing/2014/main" id="{31855B83-A62D-B4EB-698B-7A3D235EB37F}"/>
              </a:ext>
            </a:extLst>
          </p:cNvPr>
          <p:cNvSpPr txBox="1"/>
          <p:nvPr/>
        </p:nvSpPr>
        <p:spPr>
          <a:xfrm>
            <a:off x="5132632" y="3642038"/>
            <a:ext cx="1588535" cy="400110"/>
          </a:xfrm>
          <a:prstGeom prst="rect">
            <a:avLst/>
          </a:prstGeom>
          <a:noFill/>
        </p:spPr>
        <p:txBody>
          <a:bodyPr wrap="square">
            <a:spAutoFit/>
          </a:bodyPr>
          <a:lstStyle/>
          <a:p>
            <a:pPr algn="ctr"/>
            <a:r>
              <a:rPr lang="en-US" sz="2000" b="1" dirty="0">
                <a:solidFill>
                  <a:srgbClr val="2F5597"/>
                </a:solidFill>
              </a:rPr>
              <a:t>$106.68M</a:t>
            </a:r>
            <a:endParaRPr lang="en-US" sz="2000" dirty="0">
              <a:solidFill>
                <a:srgbClr val="2F5597"/>
              </a:solidFill>
            </a:endParaRPr>
          </a:p>
        </p:txBody>
      </p:sp>
      <p:sp>
        <p:nvSpPr>
          <p:cNvPr id="18" name="TextBox 21">
            <a:extLst>
              <a:ext uri="{FF2B5EF4-FFF2-40B4-BE49-F238E27FC236}">
                <a16:creationId xmlns:a16="http://schemas.microsoft.com/office/drawing/2014/main" id="{EE789833-C289-5294-8F2D-4D767E61DB81}"/>
              </a:ext>
            </a:extLst>
          </p:cNvPr>
          <p:cNvSpPr txBox="1"/>
          <p:nvPr/>
        </p:nvSpPr>
        <p:spPr>
          <a:xfrm>
            <a:off x="6926181" y="3642038"/>
            <a:ext cx="1588535" cy="400110"/>
          </a:xfrm>
          <a:prstGeom prst="rect">
            <a:avLst/>
          </a:prstGeom>
          <a:noFill/>
        </p:spPr>
        <p:txBody>
          <a:bodyPr wrap="square">
            <a:spAutoFit/>
          </a:bodyPr>
          <a:lstStyle/>
          <a:p>
            <a:pPr algn="ctr"/>
            <a:r>
              <a:rPr lang="en-US" sz="2000" b="1" dirty="0">
                <a:solidFill>
                  <a:srgbClr val="2F5597"/>
                </a:solidFill>
              </a:rPr>
              <a:t>$13.26M</a:t>
            </a:r>
            <a:endParaRPr lang="en-US" sz="2000" dirty="0">
              <a:solidFill>
                <a:srgbClr val="2F5597"/>
              </a:solidFill>
            </a:endParaRPr>
          </a:p>
        </p:txBody>
      </p:sp>
      <p:sp>
        <p:nvSpPr>
          <p:cNvPr id="19" name="TextBox 22">
            <a:extLst>
              <a:ext uri="{FF2B5EF4-FFF2-40B4-BE49-F238E27FC236}">
                <a16:creationId xmlns:a16="http://schemas.microsoft.com/office/drawing/2014/main" id="{C134E2B3-DCEE-CE93-C822-3E071F419FE3}"/>
              </a:ext>
            </a:extLst>
          </p:cNvPr>
          <p:cNvSpPr txBox="1"/>
          <p:nvPr/>
        </p:nvSpPr>
        <p:spPr>
          <a:xfrm>
            <a:off x="5742165" y="4359954"/>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0" name="TextBox 23">
            <a:extLst>
              <a:ext uri="{FF2B5EF4-FFF2-40B4-BE49-F238E27FC236}">
                <a16:creationId xmlns:a16="http://schemas.microsoft.com/office/drawing/2014/main" id="{3F4F68E6-2801-B9F2-EAD1-E82286699AA8}"/>
              </a:ext>
            </a:extLst>
          </p:cNvPr>
          <p:cNvSpPr txBox="1"/>
          <p:nvPr/>
        </p:nvSpPr>
        <p:spPr>
          <a:xfrm>
            <a:off x="5147926" y="5016880"/>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1" name="TextBox 24">
            <a:extLst>
              <a:ext uri="{FF2B5EF4-FFF2-40B4-BE49-F238E27FC236}">
                <a16:creationId xmlns:a16="http://schemas.microsoft.com/office/drawing/2014/main" id="{BC106FB7-5807-5278-7987-C1D6F675EFB8}"/>
              </a:ext>
            </a:extLst>
          </p:cNvPr>
          <p:cNvSpPr txBox="1"/>
          <p:nvPr/>
        </p:nvSpPr>
        <p:spPr>
          <a:xfrm>
            <a:off x="7232150" y="5016880"/>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2" name="TextBox 25">
            <a:extLst>
              <a:ext uri="{FF2B5EF4-FFF2-40B4-BE49-F238E27FC236}">
                <a16:creationId xmlns:a16="http://schemas.microsoft.com/office/drawing/2014/main" id="{9EBA24F1-3A8C-6150-D927-082474F79D22}"/>
              </a:ext>
            </a:extLst>
          </p:cNvPr>
          <p:cNvSpPr txBox="1"/>
          <p:nvPr/>
        </p:nvSpPr>
        <p:spPr>
          <a:xfrm>
            <a:off x="5141641" y="5262605"/>
            <a:ext cx="1588535" cy="400110"/>
          </a:xfrm>
          <a:prstGeom prst="rect">
            <a:avLst/>
          </a:prstGeom>
          <a:noFill/>
        </p:spPr>
        <p:txBody>
          <a:bodyPr wrap="square">
            <a:spAutoFit/>
          </a:bodyPr>
          <a:lstStyle/>
          <a:p>
            <a:pPr algn="ctr"/>
            <a:r>
              <a:rPr lang="en-US" sz="2000" b="1" dirty="0">
                <a:solidFill>
                  <a:srgbClr val="2F5597"/>
                </a:solidFill>
              </a:rPr>
              <a:t>$212.54M</a:t>
            </a:r>
            <a:endParaRPr lang="en-US" sz="2000" dirty="0">
              <a:solidFill>
                <a:srgbClr val="2F5597"/>
              </a:solidFill>
            </a:endParaRPr>
          </a:p>
        </p:txBody>
      </p:sp>
      <p:sp>
        <p:nvSpPr>
          <p:cNvPr id="23" name="TextBox 26">
            <a:extLst>
              <a:ext uri="{FF2B5EF4-FFF2-40B4-BE49-F238E27FC236}">
                <a16:creationId xmlns:a16="http://schemas.microsoft.com/office/drawing/2014/main" id="{681ACBDE-3D92-84E0-860E-5CE53753C151}"/>
              </a:ext>
            </a:extLst>
          </p:cNvPr>
          <p:cNvSpPr txBox="1"/>
          <p:nvPr/>
        </p:nvSpPr>
        <p:spPr>
          <a:xfrm>
            <a:off x="6935190" y="5262605"/>
            <a:ext cx="1588535" cy="400110"/>
          </a:xfrm>
          <a:prstGeom prst="rect">
            <a:avLst/>
          </a:prstGeom>
          <a:noFill/>
        </p:spPr>
        <p:txBody>
          <a:bodyPr wrap="square">
            <a:spAutoFit/>
          </a:bodyPr>
          <a:lstStyle/>
          <a:p>
            <a:pPr algn="ctr"/>
            <a:r>
              <a:rPr lang="en-US" sz="2000" b="1" dirty="0">
                <a:solidFill>
                  <a:srgbClr val="2F5597"/>
                </a:solidFill>
              </a:rPr>
              <a:t>$26.58M</a:t>
            </a:r>
            <a:endParaRPr lang="en-US" sz="2000" dirty="0">
              <a:solidFill>
                <a:srgbClr val="2F5597"/>
              </a:solidFill>
            </a:endParaRPr>
          </a:p>
        </p:txBody>
      </p:sp>
      <p:sp>
        <p:nvSpPr>
          <p:cNvPr id="27" name="Title 1">
            <a:extLst>
              <a:ext uri="{FF2B5EF4-FFF2-40B4-BE49-F238E27FC236}">
                <a16:creationId xmlns:a16="http://schemas.microsoft.com/office/drawing/2014/main" id="{5CB06021-EBF8-C602-9396-8BD2590988EA}"/>
              </a:ext>
            </a:extLst>
          </p:cNvPr>
          <p:cNvSpPr txBox="1">
            <a:spLocks/>
          </p:cNvSpPr>
          <p:nvPr/>
        </p:nvSpPr>
        <p:spPr>
          <a:xfrm>
            <a:off x="327270" y="74824"/>
            <a:ext cx="10515600"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Garamond" panose="02020404030301010803" pitchFamily="18" charset="0"/>
              </a:rPr>
              <a:t>Traditional Volume-Based DTE</a:t>
            </a:r>
          </a:p>
        </p:txBody>
      </p:sp>
      <p:pic>
        <p:nvPicPr>
          <p:cNvPr id="29" name="Picture 28">
            <a:extLst>
              <a:ext uri="{FF2B5EF4-FFF2-40B4-BE49-F238E27FC236}">
                <a16:creationId xmlns:a16="http://schemas.microsoft.com/office/drawing/2014/main" id="{A2EDBB93-332B-1AB6-EB1B-9C270F86291F}"/>
              </a:ext>
            </a:extLst>
          </p:cNvPr>
          <p:cNvPicPr>
            <a:picLocks noChangeAspect="1"/>
          </p:cNvPicPr>
          <p:nvPr/>
        </p:nvPicPr>
        <p:blipFill>
          <a:blip r:embed="rId2"/>
          <a:stretch>
            <a:fillRect/>
          </a:stretch>
        </p:blipFill>
        <p:spPr>
          <a:xfrm>
            <a:off x="274320" y="2743200"/>
            <a:ext cx="4313105" cy="2743200"/>
          </a:xfrm>
          <a:prstGeom prst="rect">
            <a:avLst/>
          </a:prstGeom>
        </p:spPr>
      </p:pic>
      <p:pic>
        <p:nvPicPr>
          <p:cNvPr id="1026" name="Picture 2" descr="Key Benefit Administrators Partners with Tennova Healthcare and UT Medical  Center to Provide Direct-to-Employer Health Plans for East Tennessee  Employers | Business Wire">
            <a:extLst>
              <a:ext uri="{FF2B5EF4-FFF2-40B4-BE49-F238E27FC236}">
                <a16:creationId xmlns:a16="http://schemas.microsoft.com/office/drawing/2014/main" id="{E784EB8F-FE7C-3931-B3B9-745064A058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001" t="37311" r="2234" b="36582"/>
          <a:stretch/>
        </p:blipFill>
        <p:spPr bwMode="auto">
          <a:xfrm>
            <a:off x="581967" y="6528043"/>
            <a:ext cx="1678913" cy="25513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6">
            <a:extLst>
              <a:ext uri="{FF2B5EF4-FFF2-40B4-BE49-F238E27FC236}">
                <a16:creationId xmlns:a16="http://schemas.microsoft.com/office/drawing/2014/main" id="{3242B65F-F983-BAE9-112C-59B9EA0096AD}"/>
              </a:ext>
            </a:extLst>
          </p:cNvPr>
          <p:cNvSpPr/>
          <p:nvPr/>
        </p:nvSpPr>
        <p:spPr>
          <a:xfrm>
            <a:off x="2732818" y="6622035"/>
            <a:ext cx="9459182" cy="25513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66728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B3B7911-4429-5620-651D-8CF02A22EE52}"/>
              </a:ext>
            </a:extLst>
          </p:cNvPr>
          <p:cNvSpPr>
            <a:spLocks noGrp="1"/>
          </p:cNvSpPr>
          <p:nvPr>
            <p:ph type="sldNum" sz="quarter" idx="12"/>
          </p:nvPr>
        </p:nvSpPr>
        <p:spPr>
          <a:xfrm>
            <a:off x="8610601" y="6199791"/>
            <a:ext cx="2743200" cy="250380"/>
          </a:xfrm>
        </p:spPr>
        <p:txBody>
          <a:bodyPr/>
          <a:lstStyle/>
          <a:p>
            <a:fld id="{3AFC719D-C4A7-4544-876E-D411D11AF6C9}" type="slidenum">
              <a:rPr lang="en-US" smtClean="0"/>
              <a:t>8</a:t>
            </a:fld>
            <a:endParaRPr lang="en-US" dirty="0"/>
          </a:p>
        </p:txBody>
      </p:sp>
      <p:graphicFrame>
        <p:nvGraphicFramePr>
          <p:cNvPr id="8" name="Table 7">
            <a:extLst>
              <a:ext uri="{FF2B5EF4-FFF2-40B4-BE49-F238E27FC236}">
                <a16:creationId xmlns:a16="http://schemas.microsoft.com/office/drawing/2014/main" id="{0074741D-2B9A-0122-543B-08154EC422A8}"/>
              </a:ext>
            </a:extLst>
          </p:cNvPr>
          <p:cNvGraphicFramePr>
            <a:graphicFrameLocks noGrp="1"/>
          </p:cNvGraphicFramePr>
          <p:nvPr>
            <p:extLst>
              <p:ext uri="{D42A27DB-BD31-4B8C-83A1-F6EECF244321}">
                <p14:modId xmlns:p14="http://schemas.microsoft.com/office/powerpoint/2010/main" val="3694134252"/>
              </p:ext>
            </p:extLst>
          </p:nvPr>
        </p:nvGraphicFramePr>
        <p:xfrm>
          <a:off x="8710838" y="338214"/>
          <a:ext cx="3228870" cy="5755496"/>
        </p:xfrm>
        <a:graphic>
          <a:graphicData uri="http://schemas.openxmlformats.org/drawingml/2006/table">
            <a:tbl>
              <a:tblPr/>
              <a:tblGrid>
                <a:gridCol w="1076290">
                  <a:extLst>
                    <a:ext uri="{9D8B030D-6E8A-4147-A177-3AD203B41FA5}">
                      <a16:colId xmlns:a16="http://schemas.microsoft.com/office/drawing/2014/main" val="747333909"/>
                    </a:ext>
                  </a:extLst>
                </a:gridCol>
                <a:gridCol w="1076290">
                  <a:extLst>
                    <a:ext uri="{9D8B030D-6E8A-4147-A177-3AD203B41FA5}">
                      <a16:colId xmlns:a16="http://schemas.microsoft.com/office/drawing/2014/main" val="3421697369"/>
                    </a:ext>
                  </a:extLst>
                </a:gridCol>
                <a:gridCol w="1076290">
                  <a:extLst>
                    <a:ext uri="{9D8B030D-6E8A-4147-A177-3AD203B41FA5}">
                      <a16:colId xmlns:a16="http://schemas.microsoft.com/office/drawing/2014/main" val="1427849391"/>
                    </a:ext>
                  </a:extLst>
                </a:gridCol>
              </a:tblGrid>
              <a:tr h="604396">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Year</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tc>
                  <a:txBody>
                    <a:bodyPr/>
                    <a:lstStyle/>
                    <a:p>
                      <a:pPr marL="0" marR="0" algn="ctr">
                        <a:lnSpc>
                          <a:spcPct val="100000"/>
                        </a:lnSpc>
                        <a:spcBef>
                          <a:spcPts val="0"/>
                        </a:spcBef>
                        <a:spcAft>
                          <a:spcPts val="0"/>
                        </a:spcAft>
                        <a:buNone/>
                      </a:pPr>
                      <a:r>
                        <a:rPr lang="en-US" sz="1100" b="1" i="0" u="none" cap="none" dirty="0">
                          <a:solidFill>
                            <a:srgbClr val="000000">
                              <a:alpha val="100000"/>
                            </a:srgbClr>
                          </a:solidFill>
                          <a:latin typeface="Arial"/>
                          <a:cs typeface="Arial"/>
                          <a:sym typeface="Arial"/>
                        </a:rPr>
                        <a:t>Target</a:t>
                      </a:r>
                    </a:p>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tc>
                  <a:txBody>
                    <a:bodyPr/>
                    <a:lstStyle/>
                    <a:p>
                      <a:pPr marL="0" marR="0" algn="ctr">
                        <a:lnSpc>
                          <a:spcPct val="100000"/>
                        </a:lnSpc>
                        <a:spcBef>
                          <a:spcPts val="0"/>
                        </a:spcBef>
                        <a:spcAft>
                          <a:spcPts val="0"/>
                        </a:spcAft>
                        <a:buNone/>
                      </a:pPr>
                      <a:r>
                        <a:rPr lang="en-US" sz="1100" b="1" i="0" u="none" cap="none" dirty="0">
                          <a:solidFill>
                            <a:srgbClr val="000000">
                              <a:alpha val="100000"/>
                            </a:srgbClr>
                          </a:solidFill>
                          <a:latin typeface="Arial"/>
                          <a:cs typeface="Arial"/>
                          <a:sym typeface="Arial"/>
                        </a:rPr>
                        <a:t>Target</a:t>
                      </a:r>
                    </a:p>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Members</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extLst>
                  <a:ext uri="{0D108BD9-81ED-4DB2-BD59-A6C34878D82A}">
                    <a16:rowId xmlns:a16="http://schemas.microsoft.com/office/drawing/2014/main" val="2737570731"/>
                  </a:ext>
                </a:extLst>
              </a:tr>
              <a:tr h="206044">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1</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580220669"/>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43036312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731343589"/>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796413393"/>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5</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685085520"/>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647458886"/>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417589541"/>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8</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8699144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932558393"/>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10</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46983780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67590060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12</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7,200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4029062366"/>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13</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8,600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657002496"/>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14</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618553573"/>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15</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11,300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83893595"/>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12,400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624918751"/>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17</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13,500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10869320"/>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14,400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69531247"/>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19</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15,100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38404874"/>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20</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15,700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342138655"/>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21</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16,000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4120445984"/>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16,400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172368928"/>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23</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16,600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4116833567"/>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24</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16,700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619667492"/>
                  </a:ext>
                </a:extLst>
              </a:tr>
              <a:tr h="20604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25</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chemeClr val="tx1"/>
                      </a:solidFill>
                      <a:prstDash val="solid"/>
                      <a:round/>
                      <a:headEnd type="none" w="med" len="med"/>
                      <a:tailEnd type="none" w="med" len="me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chemeClr val="tx1"/>
                      </a:solidFill>
                      <a:prstDash val="solid"/>
                      <a:round/>
                      <a:headEnd type="none" w="med" len="med"/>
                      <a:tailEnd type="none" w="med" len="me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16,900</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chemeClr val="tx1"/>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388699002"/>
                  </a:ext>
                </a:extLst>
              </a:tr>
            </a:tbl>
          </a:graphicData>
        </a:graphic>
      </p:graphicFrame>
      <p:sp>
        <p:nvSpPr>
          <p:cNvPr id="27" name="Title 1">
            <a:extLst>
              <a:ext uri="{FF2B5EF4-FFF2-40B4-BE49-F238E27FC236}">
                <a16:creationId xmlns:a16="http://schemas.microsoft.com/office/drawing/2014/main" id="{5CB06021-EBF8-C602-9396-8BD2590988EA}"/>
              </a:ext>
            </a:extLst>
          </p:cNvPr>
          <p:cNvSpPr txBox="1">
            <a:spLocks/>
          </p:cNvSpPr>
          <p:nvPr/>
        </p:nvSpPr>
        <p:spPr>
          <a:xfrm>
            <a:off x="327270" y="74824"/>
            <a:ext cx="10515600"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Garamond" panose="02020404030301010803" pitchFamily="18" charset="0"/>
              </a:rPr>
              <a:t>Margin-Focused DTE</a:t>
            </a:r>
          </a:p>
        </p:txBody>
      </p:sp>
      <p:sp>
        <p:nvSpPr>
          <p:cNvPr id="3" name="TextBox 13">
            <a:extLst>
              <a:ext uri="{FF2B5EF4-FFF2-40B4-BE49-F238E27FC236}">
                <a16:creationId xmlns:a16="http://schemas.microsoft.com/office/drawing/2014/main" id="{7C3C7598-6660-4FB4-EB3D-A0A45ADE6DD5}"/>
              </a:ext>
            </a:extLst>
          </p:cNvPr>
          <p:cNvSpPr txBox="1"/>
          <p:nvPr/>
        </p:nvSpPr>
        <p:spPr>
          <a:xfrm>
            <a:off x="5586890" y="1216553"/>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6" name="TextBox 6">
            <a:extLst>
              <a:ext uri="{FF2B5EF4-FFF2-40B4-BE49-F238E27FC236}">
                <a16:creationId xmlns:a16="http://schemas.microsoft.com/office/drawing/2014/main" id="{6E4B4D13-3141-F0D2-CEE7-0A4E14B0E7E3}"/>
              </a:ext>
            </a:extLst>
          </p:cNvPr>
          <p:cNvSpPr txBox="1"/>
          <p:nvPr/>
        </p:nvSpPr>
        <p:spPr>
          <a:xfrm>
            <a:off x="5149746" y="1873479"/>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24" name="TextBox 7">
            <a:extLst>
              <a:ext uri="{FF2B5EF4-FFF2-40B4-BE49-F238E27FC236}">
                <a16:creationId xmlns:a16="http://schemas.microsoft.com/office/drawing/2014/main" id="{9778C666-653F-5F1F-BF94-15501A5C22F6}"/>
              </a:ext>
            </a:extLst>
          </p:cNvPr>
          <p:cNvSpPr txBox="1"/>
          <p:nvPr/>
        </p:nvSpPr>
        <p:spPr>
          <a:xfrm>
            <a:off x="7233970" y="1873479"/>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25" name="TextBox 9">
            <a:extLst>
              <a:ext uri="{FF2B5EF4-FFF2-40B4-BE49-F238E27FC236}">
                <a16:creationId xmlns:a16="http://schemas.microsoft.com/office/drawing/2014/main" id="{84C48BCB-F206-200A-4FBC-326A716E90D7}"/>
              </a:ext>
            </a:extLst>
          </p:cNvPr>
          <p:cNvSpPr txBox="1"/>
          <p:nvPr/>
        </p:nvSpPr>
        <p:spPr>
          <a:xfrm>
            <a:off x="5143461" y="2119204"/>
            <a:ext cx="1588535" cy="400110"/>
          </a:xfrm>
          <a:prstGeom prst="rect">
            <a:avLst/>
          </a:prstGeom>
          <a:noFill/>
        </p:spPr>
        <p:txBody>
          <a:bodyPr wrap="square">
            <a:spAutoFit/>
          </a:bodyPr>
          <a:lstStyle/>
          <a:p>
            <a:pPr algn="ctr"/>
            <a:r>
              <a:rPr lang="en-US" sz="2000" b="1" dirty="0">
                <a:solidFill>
                  <a:srgbClr val="6087CE"/>
                </a:solidFill>
              </a:rPr>
              <a:t>$2.55M</a:t>
            </a:r>
            <a:endParaRPr lang="en-US" sz="2000" dirty="0"/>
          </a:p>
        </p:txBody>
      </p:sp>
      <p:sp>
        <p:nvSpPr>
          <p:cNvPr id="26" name="TextBox 14">
            <a:extLst>
              <a:ext uri="{FF2B5EF4-FFF2-40B4-BE49-F238E27FC236}">
                <a16:creationId xmlns:a16="http://schemas.microsoft.com/office/drawing/2014/main" id="{4701CB32-7002-50CC-E4FD-3B2BE3DED5A3}"/>
              </a:ext>
            </a:extLst>
          </p:cNvPr>
          <p:cNvSpPr txBox="1"/>
          <p:nvPr/>
        </p:nvSpPr>
        <p:spPr>
          <a:xfrm>
            <a:off x="6937010" y="2119204"/>
            <a:ext cx="1588535" cy="400110"/>
          </a:xfrm>
          <a:prstGeom prst="rect">
            <a:avLst/>
          </a:prstGeom>
          <a:noFill/>
        </p:spPr>
        <p:txBody>
          <a:bodyPr wrap="square">
            <a:spAutoFit/>
          </a:bodyPr>
          <a:lstStyle/>
          <a:p>
            <a:pPr algn="ctr"/>
            <a:r>
              <a:rPr lang="en-US" sz="2000" b="1" dirty="0">
                <a:solidFill>
                  <a:srgbClr val="6087CE"/>
                </a:solidFill>
              </a:rPr>
              <a:t>$0.37M</a:t>
            </a:r>
            <a:endParaRPr lang="en-US" sz="2000" dirty="0"/>
          </a:p>
        </p:txBody>
      </p:sp>
      <p:sp>
        <p:nvSpPr>
          <p:cNvPr id="28" name="TextBox 15">
            <a:extLst>
              <a:ext uri="{FF2B5EF4-FFF2-40B4-BE49-F238E27FC236}">
                <a16:creationId xmlns:a16="http://schemas.microsoft.com/office/drawing/2014/main" id="{20A0EF07-55BD-5BD1-D289-D769AF292463}"/>
              </a:ext>
            </a:extLst>
          </p:cNvPr>
          <p:cNvSpPr txBox="1"/>
          <p:nvPr/>
        </p:nvSpPr>
        <p:spPr>
          <a:xfrm>
            <a:off x="5795891" y="2730969"/>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29" name="TextBox 16">
            <a:extLst>
              <a:ext uri="{FF2B5EF4-FFF2-40B4-BE49-F238E27FC236}">
                <a16:creationId xmlns:a16="http://schemas.microsoft.com/office/drawing/2014/main" id="{5F35CCBE-D9AF-2C00-152C-29BC4213DD03}"/>
              </a:ext>
            </a:extLst>
          </p:cNvPr>
          <p:cNvSpPr txBox="1"/>
          <p:nvPr/>
        </p:nvSpPr>
        <p:spPr>
          <a:xfrm>
            <a:off x="5140737" y="3387895"/>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30" name="TextBox 17">
            <a:extLst>
              <a:ext uri="{FF2B5EF4-FFF2-40B4-BE49-F238E27FC236}">
                <a16:creationId xmlns:a16="http://schemas.microsoft.com/office/drawing/2014/main" id="{C1D3B1A8-FAAE-0B88-C29F-E85065B280D4}"/>
              </a:ext>
            </a:extLst>
          </p:cNvPr>
          <p:cNvSpPr txBox="1"/>
          <p:nvPr/>
        </p:nvSpPr>
        <p:spPr>
          <a:xfrm>
            <a:off x="7224961" y="3387895"/>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31" name="TextBox 20">
            <a:extLst>
              <a:ext uri="{FF2B5EF4-FFF2-40B4-BE49-F238E27FC236}">
                <a16:creationId xmlns:a16="http://schemas.microsoft.com/office/drawing/2014/main" id="{2874283C-CA06-5479-4602-EB0270C154E4}"/>
              </a:ext>
            </a:extLst>
          </p:cNvPr>
          <p:cNvSpPr txBox="1"/>
          <p:nvPr/>
        </p:nvSpPr>
        <p:spPr>
          <a:xfrm>
            <a:off x="5134452" y="3633620"/>
            <a:ext cx="1588535" cy="400110"/>
          </a:xfrm>
          <a:prstGeom prst="rect">
            <a:avLst/>
          </a:prstGeom>
          <a:noFill/>
        </p:spPr>
        <p:txBody>
          <a:bodyPr wrap="square">
            <a:spAutoFit/>
          </a:bodyPr>
          <a:lstStyle/>
          <a:p>
            <a:pPr algn="ctr"/>
            <a:r>
              <a:rPr lang="en-US" sz="2000" b="1" dirty="0">
                <a:solidFill>
                  <a:srgbClr val="2F5597"/>
                </a:solidFill>
              </a:rPr>
              <a:t>$17.78M</a:t>
            </a:r>
            <a:endParaRPr lang="en-US" sz="2000" dirty="0">
              <a:solidFill>
                <a:srgbClr val="2F5597"/>
              </a:solidFill>
            </a:endParaRPr>
          </a:p>
        </p:txBody>
      </p:sp>
      <p:sp>
        <p:nvSpPr>
          <p:cNvPr id="32" name="TextBox 21">
            <a:extLst>
              <a:ext uri="{FF2B5EF4-FFF2-40B4-BE49-F238E27FC236}">
                <a16:creationId xmlns:a16="http://schemas.microsoft.com/office/drawing/2014/main" id="{4D69DD81-2339-406D-F79D-43DD31A624AE}"/>
              </a:ext>
            </a:extLst>
          </p:cNvPr>
          <p:cNvSpPr txBox="1"/>
          <p:nvPr/>
        </p:nvSpPr>
        <p:spPr>
          <a:xfrm>
            <a:off x="6928001" y="3633620"/>
            <a:ext cx="1588535" cy="400110"/>
          </a:xfrm>
          <a:prstGeom prst="rect">
            <a:avLst/>
          </a:prstGeom>
          <a:noFill/>
        </p:spPr>
        <p:txBody>
          <a:bodyPr wrap="square">
            <a:spAutoFit/>
          </a:bodyPr>
          <a:lstStyle/>
          <a:p>
            <a:pPr algn="ctr"/>
            <a:r>
              <a:rPr lang="en-US" sz="2000" b="1" dirty="0">
                <a:solidFill>
                  <a:srgbClr val="2F5597"/>
                </a:solidFill>
              </a:rPr>
              <a:t>$3.75M</a:t>
            </a:r>
            <a:endParaRPr lang="en-US" sz="2000" dirty="0">
              <a:solidFill>
                <a:srgbClr val="2F5597"/>
              </a:solidFill>
            </a:endParaRPr>
          </a:p>
        </p:txBody>
      </p:sp>
      <p:sp>
        <p:nvSpPr>
          <p:cNvPr id="33" name="TextBox 22">
            <a:extLst>
              <a:ext uri="{FF2B5EF4-FFF2-40B4-BE49-F238E27FC236}">
                <a16:creationId xmlns:a16="http://schemas.microsoft.com/office/drawing/2014/main" id="{312B49EA-FDDE-9E1D-77A0-02F68C559BD9}"/>
              </a:ext>
            </a:extLst>
          </p:cNvPr>
          <p:cNvSpPr txBox="1"/>
          <p:nvPr/>
        </p:nvSpPr>
        <p:spPr>
          <a:xfrm>
            <a:off x="5743985" y="4351536"/>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34" name="TextBox 23">
            <a:extLst>
              <a:ext uri="{FF2B5EF4-FFF2-40B4-BE49-F238E27FC236}">
                <a16:creationId xmlns:a16="http://schemas.microsoft.com/office/drawing/2014/main" id="{A1A34FF8-3080-8575-C5C5-BC34F65F6E3C}"/>
              </a:ext>
            </a:extLst>
          </p:cNvPr>
          <p:cNvSpPr txBox="1"/>
          <p:nvPr/>
        </p:nvSpPr>
        <p:spPr>
          <a:xfrm>
            <a:off x="5149746" y="5008462"/>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35" name="TextBox 24">
            <a:extLst>
              <a:ext uri="{FF2B5EF4-FFF2-40B4-BE49-F238E27FC236}">
                <a16:creationId xmlns:a16="http://schemas.microsoft.com/office/drawing/2014/main" id="{B8C04B80-4154-902A-4A59-2F92CBA523E7}"/>
              </a:ext>
            </a:extLst>
          </p:cNvPr>
          <p:cNvSpPr txBox="1"/>
          <p:nvPr/>
        </p:nvSpPr>
        <p:spPr>
          <a:xfrm>
            <a:off x="7233970" y="5008462"/>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36" name="TextBox 25">
            <a:extLst>
              <a:ext uri="{FF2B5EF4-FFF2-40B4-BE49-F238E27FC236}">
                <a16:creationId xmlns:a16="http://schemas.microsoft.com/office/drawing/2014/main" id="{2C44FC3C-3343-4CC8-02C5-6DCA80215658}"/>
              </a:ext>
            </a:extLst>
          </p:cNvPr>
          <p:cNvSpPr txBox="1"/>
          <p:nvPr/>
        </p:nvSpPr>
        <p:spPr>
          <a:xfrm>
            <a:off x="5143461" y="5254187"/>
            <a:ext cx="1588535" cy="400110"/>
          </a:xfrm>
          <a:prstGeom prst="rect">
            <a:avLst/>
          </a:prstGeom>
          <a:noFill/>
        </p:spPr>
        <p:txBody>
          <a:bodyPr wrap="square">
            <a:spAutoFit/>
          </a:bodyPr>
          <a:lstStyle/>
          <a:p>
            <a:pPr algn="ctr"/>
            <a:r>
              <a:rPr lang="en-US" sz="2000" b="1" dirty="0">
                <a:solidFill>
                  <a:srgbClr val="2F5597"/>
                </a:solidFill>
              </a:rPr>
              <a:t>$35.42M</a:t>
            </a:r>
            <a:endParaRPr lang="en-US" sz="2000" dirty="0">
              <a:solidFill>
                <a:srgbClr val="2F5597"/>
              </a:solidFill>
            </a:endParaRPr>
          </a:p>
        </p:txBody>
      </p:sp>
      <p:sp>
        <p:nvSpPr>
          <p:cNvPr id="37" name="TextBox 26">
            <a:extLst>
              <a:ext uri="{FF2B5EF4-FFF2-40B4-BE49-F238E27FC236}">
                <a16:creationId xmlns:a16="http://schemas.microsoft.com/office/drawing/2014/main" id="{22C2A19F-FEC8-EE24-6C1A-DEC9F80CB3E3}"/>
              </a:ext>
            </a:extLst>
          </p:cNvPr>
          <p:cNvSpPr txBox="1"/>
          <p:nvPr/>
        </p:nvSpPr>
        <p:spPr>
          <a:xfrm>
            <a:off x="6937010" y="5254187"/>
            <a:ext cx="1588535" cy="400110"/>
          </a:xfrm>
          <a:prstGeom prst="rect">
            <a:avLst/>
          </a:prstGeom>
          <a:noFill/>
        </p:spPr>
        <p:txBody>
          <a:bodyPr wrap="square">
            <a:spAutoFit/>
          </a:bodyPr>
          <a:lstStyle/>
          <a:p>
            <a:pPr algn="ctr"/>
            <a:r>
              <a:rPr lang="en-US" sz="2000" b="1" dirty="0">
                <a:solidFill>
                  <a:srgbClr val="2F5597"/>
                </a:solidFill>
              </a:rPr>
              <a:t>$7.63M</a:t>
            </a:r>
            <a:endParaRPr lang="en-US" sz="2000" dirty="0">
              <a:solidFill>
                <a:srgbClr val="2F5597"/>
              </a:solidFill>
            </a:endParaRPr>
          </a:p>
        </p:txBody>
      </p:sp>
      <p:pic>
        <p:nvPicPr>
          <p:cNvPr id="38" name="Picture 37">
            <a:extLst>
              <a:ext uri="{FF2B5EF4-FFF2-40B4-BE49-F238E27FC236}">
                <a16:creationId xmlns:a16="http://schemas.microsoft.com/office/drawing/2014/main" id="{66E78E96-C838-C2C3-A09C-AF8AD995CAA5}"/>
              </a:ext>
            </a:extLst>
          </p:cNvPr>
          <p:cNvPicPr>
            <a:picLocks noChangeAspect="1"/>
          </p:cNvPicPr>
          <p:nvPr/>
        </p:nvPicPr>
        <p:blipFill>
          <a:blip r:embed="rId2"/>
          <a:stretch>
            <a:fillRect/>
          </a:stretch>
        </p:blipFill>
        <p:spPr>
          <a:xfrm>
            <a:off x="274320" y="2743200"/>
            <a:ext cx="4313104" cy="2743200"/>
          </a:xfrm>
          <a:prstGeom prst="rect">
            <a:avLst/>
          </a:prstGeom>
        </p:spPr>
      </p:pic>
      <p:pic>
        <p:nvPicPr>
          <p:cNvPr id="2" name="Picture 2" descr="Key Benefit Administrators Partners with Tennova Healthcare and UT Medical  Center to Provide Direct-to-Employer Health Plans for East Tennessee  Employers | Business Wire">
            <a:extLst>
              <a:ext uri="{FF2B5EF4-FFF2-40B4-BE49-F238E27FC236}">
                <a16:creationId xmlns:a16="http://schemas.microsoft.com/office/drawing/2014/main" id="{9B558DBB-66FB-BAD0-6D55-52E6FE24BA0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001" t="37311" r="2234" b="36582"/>
          <a:stretch/>
        </p:blipFill>
        <p:spPr bwMode="auto">
          <a:xfrm>
            <a:off x="581967" y="6528043"/>
            <a:ext cx="1678913" cy="25513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FC744B69-5E8A-3265-EE80-940EE2968AFE}"/>
              </a:ext>
            </a:extLst>
          </p:cNvPr>
          <p:cNvSpPr/>
          <p:nvPr/>
        </p:nvSpPr>
        <p:spPr>
          <a:xfrm>
            <a:off x="2732818" y="6622035"/>
            <a:ext cx="9459182" cy="25513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02863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B3B7911-4429-5620-651D-8CF02A22EE52}"/>
              </a:ext>
            </a:extLst>
          </p:cNvPr>
          <p:cNvSpPr>
            <a:spLocks noGrp="1"/>
          </p:cNvSpPr>
          <p:nvPr>
            <p:ph type="sldNum" sz="quarter" idx="12"/>
          </p:nvPr>
        </p:nvSpPr>
        <p:spPr>
          <a:xfrm>
            <a:off x="8610601" y="6209839"/>
            <a:ext cx="2743200" cy="250380"/>
          </a:xfrm>
        </p:spPr>
        <p:txBody>
          <a:bodyPr/>
          <a:lstStyle/>
          <a:p>
            <a:fld id="{3AFC719D-C4A7-4544-876E-D411D11AF6C9}" type="slidenum">
              <a:rPr lang="en-US" smtClean="0"/>
              <a:t>9</a:t>
            </a:fld>
            <a:endParaRPr lang="en-US" dirty="0"/>
          </a:p>
        </p:txBody>
      </p:sp>
      <p:graphicFrame>
        <p:nvGraphicFramePr>
          <p:cNvPr id="8" name="Table 7">
            <a:extLst>
              <a:ext uri="{FF2B5EF4-FFF2-40B4-BE49-F238E27FC236}">
                <a16:creationId xmlns:a16="http://schemas.microsoft.com/office/drawing/2014/main" id="{0074741D-2B9A-0122-543B-08154EC422A8}"/>
              </a:ext>
            </a:extLst>
          </p:cNvPr>
          <p:cNvGraphicFramePr>
            <a:graphicFrameLocks noGrp="1"/>
          </p:cNvGraphicFramePr>
          <p:nvPr>
            <p:extLst>
              <p:ext uri="{D42A27DB-BD31-4B8C-83A1-F6EECF244321}">
                <p14:modId xmlns:p14="http://schemas.microsoft.com/office/powerpoint/2010/main" val="2540639798"/>
              </p:ext>
            </p:extLst>
          </p:nvPr>
        </p:nvGraphicFramePr>
        <p:xfrm>
          <a:off x="8700415" y="1712788"/>
          <a:ext cx="3228870" cy="2664836"/>
        </p:xfrm>
        <a:graphic>
          <a:graphicData uri="http://schemas.openxmlformats.org/drawingml/2006/table">
            <a:tbl>
              <a:tblPr/>
              <a:tblGrid>
                <a:gridCol w="1076290">
                  <a:extLst>
                    <a:ext uri="{9D8B030D-6E8A-4147-A177-3AD203B41FA5}">
                      <a16:colId xmlns:a16="http://schemas.microsoft.com/office/drawing/2014/main" val="747333909"/>
                    </a:ext>
                  </a:extLst>
                </a:gridCol>
                <a:gridCol w="1076290">
                  <a:extLst>
                    <a:ext uri="{9D8B030D-6E8A-4147-A177-3AD203B41FA5}">
                      <a16:colId xmlns:a16="http://schemas.microsoft.com/office/drawing/2014/main" val="3421697369"/>
                    </a:ext>
                  </a:extLst>
                </a:gridCol>
                <a:gridCol w="1076290">
                  <a:extLst>
                    <a:ext uri="{9D8B030D-6E8A-4147-A177-3AD203B41FA5}">
                      <a16:colId xmlns:a16="http://schemas.microsoft.com/office/drawing/2014/main" val="1427849391"/>
                    </a:ext>
                  </a:extLst>
                </a:gridCol>
              </a:tblGrid>
              <a:tr h="604396">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Year</a:t>
                      </a:r>
                    </a:p>
                  </a:txBody>
                  <a:tcPr marL="0" marR="0" marT="0" marB="0" anchor="ctr">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Members</a:t>
                      </a:r>
                    </a:p>
                  </a:txBody>
                  <a:tcPr marL="0" marR="0" marT="0" marB="0" anchor="ctr">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2F2F2">
                        <a:alpha val="100000"/>
                      </a:srgbClr>
                    </a:solidFill>
                  </a:tcPr>
                </a:tc>
                <a:extLst>
                  <a:ext uri="{0D108BD9-81ED-4DB2-BD59-A6C34878D82A}">
                    <a16:rowId xmlns:a16="http://schemas.microsoft.com/office/drawing/2014/main" val="2737570731"/>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dirty="0">
                          <a:solidFill>
                            <a:srgbClr val="000000">
                              <a:alpha val="100000"/>
                            </a:srgbClr>
                          </a:solidFill>
                          <a:latin typeface="Arial"/>
                          <a:ea typeface="+mn-ea"/>
                          <a:cs typeface="Arial"/>
                        </a:rPr>
                        <a:t>1</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9,100</a:t>
                      </a:r>
                    </a:p>
                  </a:txBody>
                  <a:tcPr marL="9525" marR="9525" marT="9525" marB="0" anchor="b">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20,020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580220669"/>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dirty="0">
                          <a:solidFill>
                            <a:srgbClr val="000000">
                              <a:alpha val="100000"/>
                            </a:srgbClr>
                          </a:solidFill>
                          <a:latin typeface="Arial"/>
                          <a:ea typeface="+mn-ea"/>
                          <a:cs typeface="Arial"/>
                        </a:rPr>
                        <a:t>2</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18,300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40,260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430363122"/>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a:solidFill>
                            <a:srgbClr val="000000">
                              <a:alpha val="100000"/>
                            </a:srgbClr>
                          </a:solidFill>
                          <a:latin typeface="Arial"/>
                          <a:ea typeface="+mn-ea"/>
                          <a:cs typeface="Arial"/>
                        </a:rPr>
                        <a:t>3</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27,600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60,720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2731343589"/>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a:solidFill>
                            <a:srgbClr val="000000">
                              <a:alpha val="100000"/>
                            </a:srgbClr>
                          </a:solidFill>
                          <a:latin typeface="Arial"/>
                          <a:ea typeface="+mn-ea"/>
                          <a:cs typeface="Arial"/>
                        </a:rPr>
                        <a:t>4</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38,200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84,040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796413393"/>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a:solidFill>
                            <a:srgbClr val="000000">
                              <a:alpha val="100000"/>
                            </a:srgbClr>
                          </a:solidFill>
                          <a:latin typeface="Arial"/>
                          <a:ea typeface="+mn-ea"/>
                          <a:cs typeface="Arial"/>
                        </a:rPr>
                        <a:t>5</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49,600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109,120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685085520"/>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a:solidFill>
                            <a:srgbClr val="000000">
                              <a:alpha val="100000"/>
                            </a:srgbClr>
                          </a:solidFill>
                          <a:latin typeface="Arial"/>
                          <a:ea typeface="+mn-ea"/>
                          <a:cs typeface="Arial"/>
                        </a:rPr>
                        <a:t>6</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61,300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134,860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647458886"/>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a:solidFill>
                            <a:srgbClr val="000000">
                              <a:alpha val="100000"/>
                            </a:srgbClr>
                          </a:solidFill>
                          <a:latin typeface="Arial"/>
                          <a:ea typeface="+mn-ea"/>
                          <a:cs typeface="Arial"/>
                        </a:rPr>
                        <a:t>7</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72,900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160,380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417589541"/>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a:solidFill>
                            <a:srgbClr val="000000">
                              <a:alpha val="100000"/>
                            </a:srgbClr>
                          </a:solidFill>
                          <a:latin typeface="Arial"/>
                          <a:ea typeface="+mn-ea"/>
                          <a:cs typeface="Arial"/>
                        </a:rPr>
                        <a:t>8</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83,600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183,920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386991442"/>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a:solidFill>
                            <a:srgbClr val="000000">
                              <a:alpha val="100000"/>
                            </a:srgbClr>
                          </a:solidFill>
                          <a:latin typeface="Arial"/>
                          <a:ea typeface="+mn-ea"/>
                          <a:cs typeface="Arial"/>
                        </a:rPr>
                        <a:t>9</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93,200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205,040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932558393"/>
                  </a:ext>
                </a:extLst>
              </a:tr>
              <a:tr h="206044">
                <a:tc>
                  <a:txBody>
                    <a:bodyPr/>
                    <a:lstStyle/>
                    <a:p>
                      <a:pPr marL="0" marR="0" algn="ctr" defTabSz="914411" rtl="0" eaLnBrk="1" fontAlgn="b" latinLnBrk="0" hangingPunct="1">
                        <a:lnSpc>
                          <a:spcPct val="100000"/>
                        </a:lnSpc>
                        <a:spcBef>
                          <a:spcPts val="0"/>
                        </a:spcBef>
                        <a:spcAft>
                          <a:spcPts val="0"/>
                        </a:spcAft>
                        <a:buNone/>
                      </a:pPr>
                      <a:r>
                        <a:rPr lang="en-US" sz="1100" b="1" i="0" u="none" kern="1200" cap="none">
                          <a:solidFill>
                            <a:srgbClr val="000000">
                              <a:alpha val="100000"/>
                            </a:srgbClr>
                          </a:solidFill>
                          <a:latin typeface="Arial"/>
                          <a:ea typeface="+mn-ea"/>
                          <a:cs typeface="Arial"/>
                        </a:rPr>
                        <a:t>10</a:t>
                      </a:r>
                    </a:p>
                  </a:txBody>
                  <a:tcPr marL="9525" marR="9525" marT="9525" marB="0" anchor="b">
                    <a:lnL w="12700" cap="flat" cmpd="sng" algn="ctr">
                      <a:solidFill>
                        <a:schemeClr val="tx1"/>
                      </a:solidFill>
                      <a:prstDash val="solid"/>
                      <a:round/>
                      <a:headEnd type="none" w="med" len="med"/>
                      <a:tailEnd type="none" w="med" len="me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101,400</a:t>
                      </a:r>
                    </a:p>
                  </a:txBody>
                  <a:tcPr marL="9525" marR="9525" marT="9525" marB="0" anchor="b">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defTabSz="914411" rtl="0" eaLnBrk="1" fontAlgn="b" latinLnBrk="0" hangingPunct="1">
                        <a:lnSpc>
                          <a:spcPct val="100000"/>
                        </a:lnSpc>
                        <a:spcBef>
                          <a:spcPts val="0"/>
                        </a:spcBef>
                        <a:spcAft>
                          <a:spcPts val="0"/>
                        </a:spcAft>
                        <a:buNone/>
                      </a:pPr>
                      <a:r>
                        <a:rPr lang="en-US" sz="1100" b="0" i="0" u="none" kern="1200" cap="none" dirty="0">
                          <a:solidFill>
                            <a:srgbClr val="000000">
                              <a:alpha val="100000"/>
                            </a:srgbClr>
                          </a:solidFill>
                          <a:latin typeface="Arial"/>
                          <a:ea typeface="+mn-ea"/>
                          <a:cs typeface="Arial"/>
                        </a:rPr>
                        <a:t>223,080</a:t>
                      </a:r>
                    </a:p>
                  </a:txBody>
                  <a:tcPr marL="9525" marR="9525" marT="9525" marB="0" anchor="b">
                    <a:lnL w="0" cap="flat" cmpd="sng" algn="ctr">
                      <a:noFill/>
                      <a:prstDash val="solid"/>
                    </a:lnL>
                    <a:lnR w="12700" cap="flat" cmpd="sng" algn="ctr">
                      <a:solidFill>
                        <a:schemeClr val="tx1"/>
                      </a:solidFill>
                      <a:prstDash val="solid"/>
                      <a:round/>
                      <a:headEnd type="none" w="med" len="med"/>
                      <a:tailEnd type="none" w="med" len="me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469837802"/>
                  </a:ext>
                </a:extLst>
              </a:tr>
            </a:tbl>
          </a:graphicData>
        </a:graphic>
      </p:graphicFrame>
      <p:sp>
        <p:nvSpPr>
          <p:cNvPr id="27" name="Title 1">
            <a:extLst>
              <a:ext uri="{FF2B5EF4-FFF2-40B4-BE49-F238E27FC236}">
                <a16:creationId xmlns:a16="http://schemas.microsoft.com/office/drawing/2014/main" id="{5CB06021-EBF8-C602-9396-8BD2590988EA}"/>
              </a:ext>
            </a:extLst>
          </p:cNvPr>
          <p:cNvSpPr txBox="1">
            <a:spLocks/>
          </p:cNvSpPr>
          <p:nvPr/>
        </p:nvSpPr>
        <p:spPr>
          <a:xfrm>
            <a:off x="319042" y="64776"/>
            <a:ext cx="10515600"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Garamond" panose="02020404030301010803" pitchFamily="18" charset="0"/>
              </a:rPr>
              <a:t>State-Wide DTE</a:t>
            </a:r>
          </a:p>
        </p:txBody>
      </p:sp>
      <p:sp>
        <p:nvSpPr>
          <p:cNvPr id="38" name="TextBox 13">
            <a:extLst>
              <a:ext uri="{FF2B5EF4-FFF2-40B4-BE49-F238E27FC236}">
                <a16:creationId xmlns:a16="http://schemas.microsoft.com/office/drawing/2014/main" id="{B59902C4-7FD1-F4A5-BE4E-9204ED577CCA}"/>
              </a:ext>
            </a:extLst>
          </p:cNvPr>
          <p:cNvSpPr txBox="1"/>
          <p:nvPr/>
        </p:nvSpPr>
        <p:spPr>
          <a:xfrm>
            <a:off x="5576842" y="1196457"/>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39" name="TextBox 6">
            <a:extLst>
              <a:ext uri="{FF2B5EF4-FFF2-40B4-BE49-F238E27FC236}">
                <a16:creationId xmlns:a16="http://schemas.microsoft.com/office/drawing/2014/main" id="{E45599C2-66D9-647F-48A6-2321DBA54CC3}"/>
              </a:ext>
            </a:extLst>
          </p:cNvPr>
          <p:cNvSpPr txBox="1"/>
          <p:nvPr/>
        </p:nvSpPr>
        <p:spPr>
          <a:xfrm>
            <a:off x="5139698" y="1853383"/>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40" name="TextBox 7">
            <a:extLst>
              <a:ext uri="{FF2B5EF4-FFF2-40B4-BE49-F238E27FC236}">
                <a16:creationId xmlns:a16="http://schemas.microsoft.com/office/drawing/2014/main" id="{58CFC727-98D7-62CE-89F0-573E962A246B}"/>
              </a:ext>
            </a:extLst>
          </p:cNvPr>
          <p:cNvSpPr txBox="1"/>
          <p:nvPr/>
        </p:nvSpPr>
        <p:spPr>
          <a:xfrm>
            <a:off x="7223922" y="1853383"/>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41" name="TextBox 9">
            <a:extLst>
              <a:ext uri="{FF2B5EF4-FFF2-40B4-BE49-F238E27FC236}">
                <a16:creationId xmlns:a16="http://schemas.microsoft.com/office/drawing/2014/main" id="{E4A829FD-164F-8DB7-364E-EF7312F8462E}"/>
              </a:ext>
            </a:extLst>
          </p:cNvPr>
          <p:cNvSpPr txBox="1"/>
          <p:nvPr/>
        </p:nvSpPr>
        <p:spPr>
          <a:xfrm>
            <a:off x="5133413" y="2099108"/>
            <a:ext cx="1588535" cy="400110"/>
          </a:xfrm>
          <a:prstGeom prst="rect">
            <a:avLst/>
          </a:prstGeom>
          <a:noFill/>
        </p:spPr>
        <p:txBody>
          <a:bodyPr wrap="square">
            <a:spAutoFit/>
          </a:bodyPr>
          <a:lstStyle/>
          <a:p>
            <a:pPr algn="ctr"/>
            <a:r>
              <a:rPr lang="en-US" sz="2000" b="1" dirty="0">
                <a:solidFill>
                  <a:srgbClr val="6087CE"/>
                </a:solidFill>
              </a:rPr>
              <a:t>$0M</a:t>
            </a:r>
            <a:endParaRPr lang="en-US" sz="2000" dirty="0"/>
          </a:p>
        </p:txBody>
      </p:sp>
      <p:sp>
        <p:nvSpPr>
          <p:cNvPr id="42" name="TextBox 14">
            <a:extLst>
              <a:ext uri="{FF2B5EF4-FFF2-40B4-BE49-F238E27FC236}">
                <a16:creationId xmlns:a16="http://schemas.microsoft.com/office/drawing/2014/main" id="{5A8A101E-3AB6-C93B-0252-9A624BE57254}"/>
              </a:ext>
            </a:extLst>
          </p:cNvPr>
          <p:cNvSpPr txBox="1"/>
          <p:nvPr/>
        </p:nvSpPr>
        <p:spPr>
          <a:xfrm>
            <a:off x="6926962" y="2099108"/>
            <a:ext cx="1588535" cy="400110"/>
          </a:xfrm>
          <a:prstGeom prst="rect">
            <a:avLst/>
          </a:prstGeom>
          <a:noFill/>
        </p:spPr>
        <p:txBody>
          <a:bodyPr wrap="square">
            <a:spAutoFit/>
          </a:bodyPr>
          <a:lstStyle/>
          <a:p>
            <a:pPr algn="ctr"/>
            <a:r>
              <a:rPr lang="en-US" sz="2000" b="1" dirty="0">
                <a:solidFill>
                  <a:srgbClr val="6087CE"/>
                </a:solidFill>
              </a:rPr>
              <a:t>$0M</a:t>
            </a:r>
            <a:endParaRPr lang="en-US" sz="2000" dirty="0"/>
          </a:p>
        </p:txBody>
      </p:sp>
      <p:sp>
        <p:nvSpPr>
          <p:cNvPr id="43" name="TextBox 15">
            <a:extLst>
              <a:ext uri="{FF2B5EF4-FFF2-40B4-BE49-F238E27FC236}">
                <a16:creationId xmlns:a16="http://schemas.microsoft.com/office/drawing/2014/main" id="{ED224C45-9D66-A5A0-B7E7-65E8652BEB9B}"/>
              </a:ext>
            </a:extLst>
          </p:cNvPr>
          <p:cNvSpPr txBox="1"/>
          <p:nvPr/>
        </p:nvSpPr>
        <p:spPr>
          <a:xfrm>
            <a:off x="5785843" y="2710873"/>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44" name="TextBox 16">
            <a:extLst>
              <a:ext uri="{FF2B5EF4-FFF2-40B4-BE49-F238E27FC236}">
                <a16:creationId xmlns:a16="http://schemas.microsoft.com/office/drawing/2014/main" id="{23C14FE5-6236-6CF3-3013-1E0933D78809}"/>
              </a:ext>
            </a:extLst>
          </p:cNvPr>
          <p:cNvSpPr txBox="1"/>
          <p:nvPr/>
        </p:nvSpPr>
        <p:spPr>
          <a:xfrm>
            <a:off x="5130689" y="3367799"/>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45" name="TextBox 17">
            <a:extLst>
              <a:ext uri="{FF2B5EF4-FFF2-40B4-BE49-F238E27FC236}">
                <a16:creationId xmlns:a16="http://schemas.microsoft.com/office/drawing/2014/main" id="{56BF6F06-2AD8-1DDA-0DDD-2B6F165F49CE}"/>
              </a:ext>
            </a:extLst>
          </p:cNvPr>
          <p:cNvSpPr txBox="1"/>
          <p:nvPr/>
        </p:nvSpPr>
        <p:spPr>
          <a:xfrm>
            <a:off x="7214913" y="3367799"/>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46" name="TextBox 20">
            <a:extLst>
              <a:ext uri="{FF2B5EF4-FFF2-40B4-BE49-F238E27FC236}">
                <a16:creationId xmlns:a16="http://schemas.microsoft.com/office/drawing/2014/main" id="{2AEAF150-16D0-7903-CB63-3745FFBF619D}"/>
              </a:ext>
            </a:extLst>
          </p:cNvPr>
          <p:cNvSpPr txBox="1"/>
          <p:nvPr/>
        </p:nvSpPr>
        <p:spPr>
          <a:xfrm>
            <a:off x="5124404" y="3613524"/>
            <a:ext cx="1588535" cy="400110"/>
          </a:xfrm>
          <a:prstGeom prst="rect">
            <a:avLst/>
          </a:prstGeom>
          <a:noFill/>
        </p:spPr>
        <p:txBody>
          <a:bodyPr wrap="square">
            <a:spAutoFit/>
          </a:bodyPr>
          <a:lstStyle/>
          <a:p>
            <a:pPr algn="ctr"/>
            <a:r>
              <a:rPr lang="en-US" sz="2000" b="1" dirty="0">
                <a:solidFill>
                  <a:srgbClr val="2F5597"/>
                </a:solidFill>
              </a:rPr>
              <a:t>$0M</a:t>
            </a:r>
            <a:endParaRPr lang="en-US" sz="2000" dirty="0">
              <a:solidFill>
                <a:srgbClr val="2F5597"/>
              </a:solidFill>
            </a:endParaRPr>
          </a:p>
        </p:txBody>
      </p:sp>
      <p:sp>
        <p:nvSpPr>
          <p:cNvPr id="47" name="TextBox 21">
            <a:extLst>
              <a:ext uri="{FF2B5EF4-FFF2-40B4-BE49-F238E27FC236}">
                <a16:creationId xmlns:a16="http://schemas.microsoft.com/office/drawing/2014/main" id="{43D38FFD-B2C4-C300-4FCA-EB94ECBDF280}"/>
              </a:ext>
            </a:extLst>
          </p:cNvPr>
          <p:cNvSpPr txBox="1"/>
          <p:nvPr/>
        </p:nvSpPr>
        <p:spPr>
          <a:xfrm>
            <a:off x="6917953" y="3613524"/>
            <a:ext cx="1588535" cy="400110"/>
          </a:xfrm>
          <a:prstGeom prst="rect">
            <a:avLst/>
          </a:prstGeom>
          <a:noFill/>
        </p:spPr>
        <p:txBody>
          <a:bodyPr wrap="square">
            <a:spAutoFit/>
          </a:bodyPr>
          <a:lstStyle/>
          <a:p>
            <a:pPr algn="ctr"/>
            <a:r>
              <a:rPr lang="en-US" sz="2000" b="1" dirty="0">
                <a:solidFill>
                  <a:srgbClr val="2F5597"/>
                </a:solidFill>
              </a:rPr>
              <a:t>$0M</a:t>
            </a:r>
            <a:endParaRPr lang="en-US" sz="2000" dirty="0">
              <a:solidFill>
                <a:srgbClr val="2F5597"/>
              </a:solidFill>
            </a:endParaRPr>
          </a:p>
        </p:txBody>
      </p:sp>
      <p:sp>
        <p:nvSpPr>
          <p:cNvPr id="48" name="TextBox 22">
            <a:extLst>
              <a:ext uri="{FF2B5EF4-FFF2-40B4-BE49-F238E27FC236}">
                <a16:creationId xmlns:a16="http://schemas.microsoft.com/office/drawing/2014/main" id="{FAE4B28E-F4EA-A7EB-D15E-AF6466E1E0C4}"/>
              </a:ext>
            </a:extLst>
          </p:cNvPr>
          <p:cNvSpPr txBox="1"/>
          <p:nvPr/>
        </p:nvSpPr>
        <p:spPr>
          <a:xfrm>
            <a:off x="5733937" y="4331440"/>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49" name="TextBox 23">
            <a:extLst>
              <a:ext uri="{FF2B5EF4-FFF2-40B4-BE49-F238E27FC236}">
                <a16:creationId xmlns:a16="http://schemas.microsoft.com/office/drawing/2014/main" id="{7BD911B9-2A59-EA60-CF23-3538655E860A}"/>
              </a:ext>
            </a:extLst>
          </p:cNvPr>
          <p:cNvSpPr txBox="1"/>
          <p:nvPr/>
        </p:nvSpPr>
        <p:spPr>
          <a:xfrm>
            <a:off x="5139698" y="498836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50" name="TextBox 24">
            <a:extLst>
              <a:ext uri="{FF2B5EF4-FFF2-40B4-BE49-F238E27FC236}">
                <a16:creationId xmlns:a16="http://schemas.microsoft.com/office/drawing/2014/main" id="{4087BB16-49AE-3800-9E71-5EF2BE2A84DE}"/>
              </a:ext>
            </a:extLst>
          </p:cNvPr>
          <p:cNvSpPr txBox="1"/>
          <p:nvPr/>
        </p:nvSpPr>
        <p:spPr>
          <a:xfrm>
            <a:off x="7223922" y="498836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51" name="TextBox 25">
            <a:extLst>
              <a:ext uri="{FF2B5EF4-FFF2-40B4-BE49-F238E27FC236}">
                <a16:creationId xmlns:a16="http://schemas.microsoft.com/office/drawing/2014/main" id="{56930A29-01DD-91E7-EA0B-27BE38DB5E6E}"/>
              </a:ext>
            </a:extLst>
          </p:cNvPr>
          <p:cNvSpPr txBox="1"/>
          <p:nvPr/>
        </p:nvSpPr>
        <p:spPr>
          <a:xfrm>
            <a:off x="5133413" y="5234091"/>
            <a:ext cx="1588535" cy="400110"/>
          </a:xfrm>
          <a:prstGeom prst="rect">
            <a:avLst/>
          </a:prstGeom>
          <a:noFill/>
        </p:spPr>
        <p:txBody>
          <a:bodyPr wrap="square">
            <a:spAutoFit/>
          </a:bodyPr>
          <a:lstStyle/>
          <a:p>
            <a:pPr algn="ctr"/>
            <a:r>
              <a:rPr lang="en-US" sz="2000" b="1" dirty="0">
                <a:solidFill>
                  <a:srgbClr val="2F5597"/>
                </a:solidFill>
              </a:rPr>
              <a:t>$0M</a:t>
            </a:r>
            <a:endParaRPr lang="en-US" sz="2000" dirty="0">
              <a:solidFill>
                <a:srgbClr val="2F5597"/>
              </a:solidFill>
            </a:endParaRPr>
          </a:p>
        </p:txBody>
      </p:sp>
      <p:sp>
        <p:nvSpPr>
          <p:cNvPr id="52" name="TextBox 26">
            <a:extLst>
              <a:ext uri="{FF2B5EF4-FFF2-40B4-BE49-F238E27FC236}">
                <a16:creationId xmlns:a16="http://schemas.microsoft.com/office/drawing/2014/main" id="{9B9CAC14-29C4-08EE-9339-2B048C7F45AE}"/>
              </a:ext>
            </a:extLst>
          </p:cNvPr>
          <p:cNvSpPr txBox="1"/>
          <p:nvPr/>
        </p:nvSpPr>
        <p:spPr>
          <a:xfrm>
            <a:off x="6926962" y="5234091"/>
            <a:ext cx="1588535" cy="400110"/>
          </a:xfrm>
          <a:prstGeom prst="rect">
            <a:avLst/>
          </a:prstGeom>
          <a:noFill/>
        </p:spPr>
        <p:txBody>
          <a:bodyPr wrap="square">
            <a:spAutoFit/>
          </a:bodyPr>
          <a:lstStyle/>
          <a:p>
            <a:pPr algn="ctr"/>
            <a:r>
              <a:rPr lang="en-US" sz="2000" b="1" dirty="0">
                <a:solidFill>
                  <a:srgbClr val="2F5597"/>
                </a:solidFill>
              </a:rPr>
              <a:t>$0M</a:t>
            </a:r>
            <a:endParaRPr lang="en-US" sz="2000" dirty="0">
              <a:solidFill>
                <a:srgbClr val="2F5597"/>
              </a:solidFill>
            </a:endParaRPr>
          </a:p>
        </p:txBody>
      </p:sp>
      <p:sp>
        <p:nvSpPr>
          <p:cNvPr id="53" name="Rectangle 52">
            <a:extLst>
              <a:ext uri="{FF2B5EF4-FFF2-40B4-BE49-F238E27FC236}">
                <a16:creationId xmlns:a16="http://schemas.microsoft.com/office/drawing/2014/main" id="{83BD93A0-B825-A6F8-E887-1FAC1F00892F}"/>
              </a:ext>
            </a:extLst>
          </p:cNvPr>
          <p:cNvSpPr/>
          <p:nvPr/>
        </p:nvSpPr>
        <p:spPr>
          <a:xfrm>
            <a:off x="8699557" y="4394054"/>
            <a:ext cx="3228870" cy="1092346"/>
          </a:xfrm>
          <a:prstGeom prst="rect">
            <a:avLst/>
          </a:prstGeom>
          <a:gradFill flip="none" rotWithShape="1">
            <a:gsLst>
              <a:gs pos="0">
                <a:schemeClr val="accent1">
                  <a:lumMod val="50000"/>
                </a:schemeClr>
              </a:gs>
              <a:gs pos="50000">
                <a:schemeClr val="accent1">
                  <a:lumMod val="75000"/>
                </a:schemeClr>
              </a:gs>
              <a:gs pos="100000">
                <a:schemeClr val="accent1">
                  <a:lumMod val="60000"/>
                  <a:lumOff val="4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Target of reaching 20% of the population in 10 years. </a:t>
            </a:r>
          </a:p>
        </p:txBody>
      </p:sp>
      <p:pic>
        <p:nvPicPr>
          <p:cNvPr id="54" name="Picture 53">
            <a:extLst>
              <a:ext uri="{FF2B5EF4-FFF2-40B4-BE49-F238E27FC236}">
                <a16:creationId xmlns:a16="http://schemas.microsoft.com/office/drawing/2014/main" id="{AA8C296A-0E12-DE3F-DE63-377F5BDD941C}"/>
              </a:ext>
            </a:extLst>
          </p:cNvPr>
          <p:cNvPicPr>
            <a:picLocks noChangeAspect="1"/>
          </p:cNvPicPr>
          <p:nvPr/>
        </p:nvPicPr>
        <p:blipFill>
          <a:blip r:embed="rId2"/>
          <a:stretch>
            <a:fillRect/>
          </a:stretch>
        </p:blipFill>
        <p:spPr>
          <a:xfrm>
            <a:off x="274320" y="2743200"/>
            <a:ext cx="4313104" cy="2743200"/>
          </a:xfrm>
          <a:prstGeom prst="rect">
            <a:avLst/>
          </a:prstGeom>
        </p:spPr>
      </p:pic>
      <p:pic>
        <p:nvPicPr>
          <p:cNvPr id="2" name="Picture 2" descr="Key Benefit Administrators Partners with Tennova Healthcare and UT Medical  Center to Provide Direct-to-Employer Health Plans for East Tennessee  Employers | Business Wire">
            <a:extLst>
              <a:ext uri="{FF2B5EF4-FFF2-40B4-BE49-F238E27FC236}">
                <a16:creationId xmlns:a16="http://schemas.microsoft.com/office/drawing/2014/main" id="{30397B89-52E0-5B39-B444-A227367982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001" t="37311" r="2234" b="36582"/>
          <a:stretch/>
        </p:blipFill>
        <p:spPr bwMode="auto">
          <a:xfrm>
            <a:off x="581967" y="6528043"/>
            <a:ext cx="1678913" cy="25513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6">
            <a:extLst>
              <a:ext uri="{FF2B5EF4-FFF2-40B4-BE49-F238E27FC236}">
                <a16:creationId xmlns:a16="http://schemas.microsoft.com/office/drawing/2014/main" id="{976FB48C-7409-C94F-1139-4E86B51326DE}"/>
              </a:ext>
            </a:extLst>
          </p:cNvPr>
          <p:cNvSpPr/>
          <p:nvPr/>
        </p:nvSpPr>
        <p:spPr>
          <a:xfrm>
            <a:off x="2732818" y="6622035"/>
            <a:ext cx="9459182" cy="25513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49607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06256-72DC-B631-BBA3-69573AD2A8ED}"/>
              </a:ext>
            </a:extLst>
          </p:cNvPr>
          <p:cNvSpPr>
            <a:spLocks noGrp="1"/>
          </p:cNvSpPr>
          <p:nvPr>
            <p:ph type="title"/>
          </p:nvPr>
        </p:nvSpPr>
        <p:spPr/>
        <p:txBody>
          <a:bodyPr/>
          <a:lstStyle/>
          <a:p>
            <a:pPr algn="ctr"/>
            <a:r>
              <a:rPr lang="en-US" b="1" dirty="0">
                <a:latin typeface="Garamond" panose="02020404030301010803" pitchFamily="18" charset="0"/>
                <a:cs typeface="Arial" panose="020B0604020202020204" pitchFamily="34" charset="0"/>
              </a:rPr>
              <a:t>Per-Member Medical Spend in Maine</a:t>
            </a:r>
          </a:p>
        </p:txBody>
      </p:sp>
      <p:sp>
        <p:nvSpPr>
          <p:cNvPr id="4" name="Footer Placeholder 3">
            <a:extLst>
              <a:ext uri="{FF2B5EF4-FFF2-40B4-BE49-F238E27FC236}">
                <a16:creationId xmlns:a16="http://schemas.microsoft.com/office/drawing/2014/main" id="{C82BDA4B-1E84-E6AD-7D58-31AD1105EB90}"/>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47CCFBE6-6040-1980-CD43-0118D46743E9}"/>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6" name="TextBox 5">
            <a:extLst>
              <a:ext uri="{FF2B5EF4-FFF2-40B4-BE49-F238E27FC236}">
                <a16:creationId xmlns:a16="http://schemas.microsoft.com/office/drawing/2014/main" id="{51525B4B-8541-3853-B0CD-11243C17C1B6}"/>
              </a:ext>
            </a:extLst>
          </p:cNvPr>
          <p:cNvSpPr txBox="1"/>
          <p:nvPr/>
        </p:nvSpPr>
        <p:spPr>
          <a:xfrm>
            <a:off x="139799" y="2103723"/>
            <a:ext cx="3059043" cy="1569660"/>
          </a:xfrm>
          <a:prstGeom prst="rect">
            <a:avLst/>
          </a:prstGeom>
          <a:noFill/>
        </p:spPr>
        <p:txBody>
          <a:bodyPr wrap="none" rtlCol="0">
            <a:spAutoFit/>
          </a:bodyPr>
          <a:lstStyle/>
          <a:p>
            <a:pPr algn="ctr"/>
            <a:r>
              <a:rPr lang="en-US" sz="2400" b="1" dirty="0"/>
              <a:t>PMPY Commercial </a:t>
            </a:r>
          </a:p>
          <a:p>
            <a:pPr algn="ctr"/>
            <a:r>
              <a:rPr lang="en-US" sz="2400" b="1" dirty="0"/>
              <a:t>Medical </a:t>
            </a:r>
          </a:p>
          <a:p>
            <a:pPr algn="ctr"/>
            <a:r>
              <a:rPr lang="en-US" sz="2400" b="1" dirty="0"/>
              <a:t>Inpatient/Ambulatory </a:t>
            </a:r>
          </a:p>
          <a:p>
            <a:pPr algn="ctr"/>
            <a:r>
              <a:rPr lang="en-US" sz="2400" b="1" dirty="0"/>
              <a:t>Spend*</a:t>
            </a:r>
          </a:p>
        </p:txBody>
      </p:sp>
      <p:sp>
        <p:nvSpPr>
          <p:cNvPr id="7" name="TextBox 6">
            <a:extLst>
              <a:ext uri="{FF2B5EF4-FFF2-40B4-BE49-F238E27FC236}">
                <a16:creationId xmlns:a16="http://schemas.microsoft.com/office/drawing/2014/main" id="{D37823B2-D89D-4DC8-1E14-CF95E91C5800}"/>
              </a:ext>
            </a:extLst>
          </p:cNvPr>
          <p:cNvSpPr txBox="1"/>
          <p:nvPr/>
        </p:nvSpPr>
        <p:spPr>
          <a:xfrm>
            <a:off x="793118" y="3525625"/>
            <a:ext cx="1752403" cy="769441"/>
          </a:xfrm>
          <a:prstGeom prst="rect">
            <a:avLst/>
          </a:prstGeom>
          <a:noFill/>
        </p:spPr>
        <p:txBody>
          <a:bodyPr wrap="none" rtlCol="0">
            <a:spAutoFit/>
          </a:bodyPr>
          <a:lstStyle/>
          <a:p>
            <a:r>
              <a:rPr lang="en-US" sz="4400" dirty="0"/>
              <a:t>$7,779</a:t>
            </a:r>
          </a:p>
        </p:txBody>
      </p:sp>
      <p:graphicFrame>
        <p:nvGraphicFramePr>
          <p:cNvPr id="8" name="Table 7">
            <a:extLst>
              <a:ext uri="{FF2B5EF4-FFF2-40B4-BE49-F238E27FC236}">
                <a16:creationId xmlns:a16="http://schemas.microsoft.com/office/drawing/2014/main" id="{21A1B493-0DB8-CD9E-9E38-7E9AE810125A}"/>
              </a:ext>
            </a:extLst>
          </p:cNvPr>
          <p:cNvGraphicFramePr>
            <a:graphicFrameLocks noGrp="1"/>
          </p:cNvGraphicFramePr>
          <p:nvPr/>
        </p:nvGraphicFramePr>
        <p:xfrm>
          <a:off x="3485232" y="1597331"/>
          <a:ext cx="8354832" cy="4058748"/>
        </p:xfrm>
        <a:graphic>
          <a:graphicData uri="http://schemas.openxmlformats.org/drawingml/2006/table">
            <a:tbl>
              <a:tblPr/>
              <a:tblGrid>
                <a:gridCol w="3075824">
                  <a:extLst>
                    <a:ext uri="{9D8B030D-6E8A-4147-A177-3AD203B41FA5}">
                      <a16:colId xmlns:a16="http://schemas.microsoft.com/office/drawing/2014/main" val="1055420789"/>
                    </a:ext>
                  </a:extLst>
                </a:gridCol>
                <a:gridCol w="1291472">
                  <a:extLst>
                    <a:ext uri="{9D8B030D-6E8A-4147-A177-3AD203B41FA5}">
                      <a16:colId xmlns:a16="http://schemas.microsoft.com/office/drawing/2014/main" val="1409171867"/>
                    </a:ext>
                  </a:extLst>
                </a:gridCol>
                <a:gridCol w="1263192">
                  <a:extLst>
                    <a:ext uri="{9D8B030D-6E8A-4147-A177-3AD203B41FA5}">
                      <a16:colId xmlns:a16="http://schemas.microsoft.com/office/drawing/2014/main" val="14081307"/>
                    </a:ext>
                  </a:extLst>
                </a:gridCol>
                <a:gridCol w="1329179">
                  <a:extLst>
                    <a:ext uri="{9D8B030D-6E8A-4147-A177-3AD203B41FA5}">
                      <a16:colId xmlns:a16="http://schemas.microsoft.com/office/drawing/2014/main" val="3305028853"/>
                    </a:ext>
                  </a:extLst>
                </a:gridCol>
                <a:gridCol w="1395165">
                  <a:extLst>
                    <a:ext uri="{9D8B030D-6E8A-4147-A177-3AD203B41FA5}">
                      <a16:colId xmlns:a16="http://schemas.microsoft.com/office/drawing/2014/main" val="1296173635"/>
                    </a:ext>
                  </a:extLst>
                </a:gridCol>
              </a:tblGrid>
              <a:tr h="1021332">
                <a:tc>
                  <a:txBody>
                    <a:bodyPr/>
                    <a:lstStyle/>
                    <a:p>
                      <a:pPr algn="l" fontAlgn="b"/>
                      <a:r>
                        <a:rPr lang="en-US" sz="2000" b="0" i="0" u="none" strike="noStrike" dirty="0">
                          <a:solidFill>
                            <a:srgbClr val="000000"/>
                          </a:solidFill>
                          <a:effectLst/>
                          <a:latin typeface="Aptos Narrow" panose="020B0004020202020204" pitchFamily="34" charset="0"/>
                        </a:rPr>
                        <a:t>Health System/Group</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dirty="0">
                          <a:solidFill>
                            <a:srgbClr val="000000"/>
                          </a:solidFill>
                          <a:effectLst/>
                          <a:latin typeface="Aptos Narrow" panose="020B0004020202020204" pitchFamily="34" charset="0"/>
                        </a:rPr>
                        <a:t>Inpatient Market Share</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dirty="0">
                          <a:solidFill>
                            <a:srgbClr val="000000"/>
                          </a:solidFill>
                          <a:effectLst/>
                          <a:latin typeface="Aptos Narrow" panose="020B0004020202020204" pitchFamily="34" charset="0"/>
                        </a:rPr>
                        <a:t>Outpatient Market Share</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dirty="0">
                          <a:solidFill>
                            <a:srgbClr val="000000"/>
                          </a:solidFill>
                          <a:effectLst/>
                          <a:latin typeface="Aptos Narrow" panose="020B0004020202020204" pitchFamily="34" charset="0"/>
                        </a:rPr>
                        <a:t>Inpatient Dollars</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dirty="0">
                          <a:solidFill>
                            <a:srgbClr val="000000"/>
                          </a:solidFill>
                          <a:effectLst/>
                          <a:latin typeface="Aptos Narrow" panose="020B0004020202020204" pitchFamily="34" charset="0"/>
                        </a:rPr>
                        <a:t>Outpatient Dollars</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325467811"/>
                  </a:ext>
                </a:extLst>
              </a:tr>
              <a:tr h="379677">
                <a:tc>
                  <a:txBody>
                    <a:bodyPr/>
                    <a:lstStyle/>
                    <a:p>
                      <a:pPr algn="l" fontAlgn="b"/>
                      <a:r>
                        <a:rPr lang="en-US" sz="2000" b="0" i="0" u="none" strike="noStrike" dirty="0" err="1">
                          <a:solidFill>
                            <a:srgbClr val="000000"/>
                          </a:solidFill>
                          <a:effectLst/>
                          <a:latin typeface="Aptos Narrow" panose="020B0004020202020204" pitchFamily="34" charset="0"/>
                        </a:rPr>
                        <a:t>MaineHealth</a:t>
                      </a:r>
                      <a:endParaRPr lang="en-US" sz="20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53%</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21%</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$ 1,130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$ 1,214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55094804"/>
                  </a:ext>
                </a:extLst>
              </a:tr>
              <a:tr h="379677">
                <a:tc>
                  <a:txBody>
                    <a:bodyPr/>
                    <a:lstStyle/>
                    <a:p>
                      <a:pPr algn="l" fontAlgn="b"/>
                      <a:r>
                        <a:rPr lang="en-US" sz="2000" b="0" i="0" u="none" strike="noStrike">
                          <a:solidFill>
                            <a:srgbClr val="000000"/>
                          </a:solidFill>
                          <a:effectLst/>
                          <a:latin typeface="Aptos Narrow" panose="020B0004020202020204" pitchFamily="34" charset="0"/>
                        </a:rPr>
                        <a:t>Northern Light Health</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24%</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14%</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$ 502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$ 800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919556571"/>
                  </a:ext>
                </a:extLst>
              </a:tr>
              <a:tr h="379677">
                <a:tc>
                  <a:txBody>
                    <a:bodyPr/>
                    <a:lstStyle/>
                    <a:p>
                      <a:pPr algn="l" fontAlgn="b"/>
                      <a:r>
                        <a:rPr lang="en-US" sz="2000" b="0" i="0" u="none" strike="noStrike">
                          <a:solidFill>
                            <a:srgbClr val="000000"/>
                          </a:solidFill>
                          <a:effectLst/>
                          <a:latin typeface="Aptos Narrow" panose="020B0004020202020204" pitchFamily="34" charset="0"/>
                        </a:rPr>
                        <a:t>Central Maine Healthcare</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7%</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4%</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 $ 141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$ 243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072990383"/>
                  </a:ext>
                </a:extLst>
              </a:tr>
              <a:tr h="379677">
                <a:tc>
                  <a:txBody>
                    <a:bodyPr/>
                    <a:lstStyle/>
                    <a:p>
                      <a:pPr algn="l" fontAlgn="b"/>
                      <a:r>
                        <a:rPr lang="en-US" sz="2000" b="0" i="0" u="none" strike="noStrike">
                          <a:solidFill>
                            <a:srgbClr val="000000"/>
                          </a:solidFill>
                          <a:effectLst/>
                          <a:latin typeface="Aptos Narrow" panose="020B0004020202020204" pitchFamily="34" charset="0"/>
                        </a:rPr>
                        <a:t>MaineGeneral Health</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7%</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5%</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 $ 151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$ 275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249078157"/>
                  </a:ext>
                </a:extLst>
              </a:tr>
              <a:tr h="379677">
                <a:tc>
                  <a:txBody>
                    <a:bodyPr/>
                    <a:lstStyle/>
                    <a:p>
                      <a:pPr algn="l" fontAlgn="b"/>
                      <a:r>
                        <a:rPr lang="en-US" sz="2000" b="0" i="0" u="none" strike="noStrike">
                          <a:solidFill>
                            <a:srgbClr val="000000"/>
                          </a:solidFill>
                          <a:effectLst/>
                          <a:latin typeface="Aptos Narrow" panose="020B0004020202020204" pitchFamily="34" charset="0"/>
                        </a:rPr>
                        <a:t>Other Standalone Hospitals</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5%</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7%</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 $ 97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$ 374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636705492"/>
                  </a:ext>
                </a:extLst>
              </a:tr>
              <a:tr h="379677">
                <a:tc>
                  <a:txBody>
                    <a:bodyPr/>
                    <a:lstStyle/>
                    <a:p>
                      <a:pPr algn="l" fontAlgn="b"/>
                      <a:r>
                        <a:rPr lang="en-US" sz="2000" b="0" i="0" u="none" strike="noStrike">
                          <a:solidFill>
                            <a:srgbClr val="000000"/>
                          </a:solidFill>
                          <a:effectLst/>
                          <a:latin typeface="Aptos Narrow" panose="020B0004020202020204" pitchFamily="34" charset="0"/>
                        </a:rPr>
                        <a:t>Covenant Health</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4%</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4%</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 $ 93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$ 213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019423869"/>
                  </a:ext>
                </a:extLst>
              </a:tr>
              <a:tr h="379677">
                <a:tc>
                  <a:txBody>
                    <a:bodyPr/>
                    <a:lstStyle/>
                    <a:p>
                      <a:pPr algn="l" fontAlgn="b"/>
                      <a:r>
                        <a:rPr lang="en-US" sz="2000" b="0" i="0" u="none" strike="noStrike">
                          <a:solidFill>
                            <a:srgbClr val="000000"/>
                          </a:solidFill>
                          <a:effectLst/>
                          <a:latin typeface="Aptos Narrow" panose="020B0004020202020204" pitchFamily="34" charset="0"/>
                        </a:rPr>
                        <a:t>DECH and CCH</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0%</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1%</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 $ 8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 $ 55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83180673"/>
                  </a:ext>
                </a:extLst>
              </a:tr>
              <a:tr h="379677">
                <a:tc>
                  <a:txBody>
                    <a:bodyPr/>
                    <a:lstStyle/>
                    <a:p>
                      <a:pPr algn="l" fontAlgn="b"/>
                      <a:r>
                        <a:rPr lang="en-US" sz="2000" b="0" i="0" u="none" strike="noStrike">
                          <a:solidFill>
                            <a:srgbClr val="000000"/>
                          </a:solidFill>
                          <a:effectLst/>
                          <a:latin typeface="Aptos Narrow" panose="020B0004020202020204" pitchFamily="34" charset="0"/>
                        </a:rPr>
                        <a:t>Independent Ambulatory</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endParaRPr lang="en-US" sz="2000" b="0" i="0" u="none" strike="noStrike" kern="1200">
                        <a:solidFill>
                          <a:srgbClr val="000000"/>
                        </a:solidFill>
                        <a:effectLst/>
                        <a:latin typeface="Aptos Narrow" panose="020B0004020202020204" pitchFamily="34" charset="0"/>
                        <a:ea typeface="+mn-ea"/>
                        <a:cs typeface="+mn-cs"/>
                      </a:endParaRP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r>
                        <a:rPr lang="en-US" sz="2000" b="0" i="0" u="none" strike="noStrike" kern="1200">
                          <a:solidFill>
                            <a:srgbClr val="000000"/>
                          </a:solidFill>
                          <a:effectLst/>
                          <a:latin typeface="Aptos Narrow" panose="020B0004020202020204" pitchFamily="34" charset="0"/>
                          <a:ea typeface="+mn-ea"/>
                          <a:cs typeface="+mn-cs"/>
                        </a:rPr>
                        <a:t>44%</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endParaRPr lang="en-US" sz="2000" b="0" i="0" u="none" strike="noStrike" kern="1200">
                        <a:solidFill>
                          <a:srgbClr val="000000"/>
                        </a:solidFill>
                        <a:effectLst/>
                        <a:latin typeface="Aptos Narrow" panose="020B0004020202020204" pitchFamily="34" charset="0"/>
                        <a:ea typeface="+mn-ea"/>
                        <a:cs typeface="+mn-cs"/>
                      </a:endParaRP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r>
                        <a:rPr lang="en-US" sz="2000" b="0" i="0" u="none" strike="noStrike" kern="1200" dirty="0">
                          <a:solidFill>
                            <a:srgbClr val="000000"/>
                          </a:solidFill>
                          <a:effectLst/>
                          <a:latin typeface="Aptos Narrow" panose="020B0004020202020204" pitchFamily="34" charset="0"/>
                          <a:ea typeface="+mn-ea"/>
                          <a:cs typeface="+mn-cs"/>
                        </a:rPr>
                        <a:t> $ 2,484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extLst>
                  <a:ext uri="{0D108BD9-81ED-4DB2-BD59-A6C34878D82A}">
                    <a16:rowId xmlns:a16="http://schemas.microsoft.com/office/drawing/2014/main" val="499385047"/>
                  </a:ext>
                </a:extLst>
              </a:tr>
            </a:tbl>
          </a:graphicData>
        </a:graphic>
      </p:graphicFrame>
      <p:sp>
        <p:nvSpPr>
          <p:cNvPr id="10" name="TextBox 9">
            <a:extLst>
              <a:ext uri="{FF2B5EF4-FFF2-40B4-BE49-F238E27FC236}">
                <a16:creationId xmlns:a16="http://schemas.microsoft.com/office/drawing/2014/main" id="{3C49838E-E72F-F394-FF92-966B63E74FCA}"/>
              </a:ext>
            </a:extLst>
          </p:cNvPr>
          <p:cNvSpPr txBox="1"/>
          <p:nvPr/>
        </p:nvSpPr>
        <p:spPr>
          <a:xfrm>
            <a:off x="523161" y="4439770"/>
            <a:ext cx="2292316" cy="203132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*Number is derived from KBA data warehouse, drawing from over $3B in yearly adjudicated charges to estimate PMPY spend by inpatient, outpatient and professional charges. Pharmacy and non-health-system charges are excluded.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Using the Milliman area adjustment factors by zip code, charges are standardized to local estimates.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3892560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1AD69-803F-89AE-EE38-2B87E7EF50D3}"/>
              </a:ext>
            </a:extLst>
          </p:cNvPr>
          <p:cNvSpPr>
            <a:spLocks noGrp="1"/>
          </p:cNvSpPr>
          <p:nvPr>
            <p:ph type="title"/>
          </p:nvPr>
        </p:nvSpPr>
        <p:spPr>
          <a:xfrm>
            <a:off x="1177047" y="214175"/>
            <a:ext cx="11501485" cy="1325563"/>
          </a:xfrm>
        </p:spPr>
        <p:txBody>
          <a:bodyPr>
            <a:normAutofit/>
          </a:bodyPr>
          <a:lstStyle/>
          <a:p>
            <a:r>
              <a:rPr lang="en-US" sz="3200" b="1" dirty="0">
                <a:latin typeface="Garamond" panose="02020404030301010803" pitchFamily="18" charset="0"/>
                <a:cs typeface="Arial" panose="020B0604020202020204" pitchFamily="34" charset="0"/>
              </a:rPr>
              <a:t>The Impact of Just 1% Price or Net Collections Improvement</a:t>
            </a:r>
          </a:p>
        </p:txBody>
      </p:sp>
      <p:graphicFrame>
        <p:nvGraphicFramePr>
          <p:cNvPr id="6" name="Content Placeholder 5">
            <a:extLst>
              <a:ext uri="{FF2B5EF4-FFF2-40B4-BE49-F238E27FC236}">
                <a16:creationId xmlns:a16="http://schemas.microsoft.com/office/drawing/2014/main" id="{1FBFDCBB-5816-9640-2EA1-4ABF980D588E}"/>
              </a:ext>
            </a:extLst>
          </p:cNvPr>
          <p:cNvGraphicFramePr>
            <a:graphicFrameLocks noGrp="1"/>
          </p:cNvGraphicFramePr>
          <p:nvPr>
            <p:ph idx="1"/>
          </p:nvPr>
        </p:nvGraphicFramePr>
        <p:xfrm>
          <a:off x="1421860" y="1709420"/>
          <a:ext cx="9931941" cy="3801525"/>
        </p:xfrm>
        <a:graphic>
          <a:graphicData uri="http://schemas.openxmlformats.org/drawingml/2006/table">
            <a:tbl>
              <a:tblPr/>
              <a:tblGrid>
                <a:gridCol w="3836567">
                  <a:extLst>
                    <a:ext uri="{9D8B030D-6E8A-4147-A177-3AD203B41FA5}">
                      <a16:colId xmlns:a16="http://schemas.microsoft.com/office/drawing/2014/main" val="1230197357"/>
                    </a:ext>
                  </a:extLst>
                </a:gridCol>
                <a:gridCol w="1089676">
                  <a:extLst>
                    <a:ext uri="{9D8B030D-6E8A-4147-A177-3AD203B41FA5}">
                      <a16:colId xmlns:a16="http://schemas.microsoft.com/office/drawing/2014/main" val="1336076965"/>
                    </a:ext>
                  </a:extLst>
                </a:gridCol>
                <a:gridCol w="1089676">
                  <a:extLst>
                    <a:ext uri="{9D8B030D-6E8A-4147-A177-3AD203B41FA5}">
                      <a16:colId xmlns:a16="http://schemas.microsoft.com/office/drawing/2014/main" val="2643129316"/>
                    </a:ext>
                  </a:extLst>
                </a:gridCol>
                <a:gridCol w="1089676">
                  <a:extLst>
                    <a:ext uri="{9D8B030D-6E8A-4147-A177-3AD203B41FA5}">
                      <a16:colId xmlns:a16="http://schemas.microsoft.com/office/drawing/2014/main" val="2353997777"/>
                    </a:ext>
                  </a:extLst>
                </a:gridCol>
                <a:gridCol w="1413173">
                  <a:extLst>
                    <a:ext uri="{9D8B030D-6E8A-4147-A177-3AD203B41FA5}">
                      <a16:colId xmlns:a16="http://schemas.microsoft.com/office/drawing/2014/main" val="1807168460"/>
                    </a:ext>
                  </a:extLst>
                </a:gridCol>
                <a:gridCol w="1413173">
                  <a:extLst>
                    <a:ext uri="{9D8B030D-6E8A-4147-A177-3AD203B41FA5}">
                      <a16:colId xmlns:a16="http://schemas.microsoft.com/office/drawing/2014/main" val="3552182491"/>
                    </a:ext>
                  </a:extLst>
                </a:gridCol>
              </a:tblGrid>
              <a:tr h="902265">
                <a:tc>
                  <a:txBody>
                    <a:bodyPr/>
                    <a:lstStyle/>
                    <a:p>
                      <a:pPr algn="l" fontAlgn="b"/>
                      <a:r>
                        <a:rPr lang="en-US" sz="1400" b="1" i="0" u="none" strike="noStrike" dirty="0">
                          <a:solidFill>
                            <a:srgbClr val="000000"/>
                          </a:solidFill>
                          <a:effectLst/>
                          <a:latin typeface="Aptos Narrow" panose="020B0004020202020204" pitchFamily="34" charset="0"/>
                        </a:rPr>
                        <a:t>Health System/Group</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1" i="0" u="none" strike="noStrike" dirty="0">
                          <a:solidFill>
                            <a:srgbClr val="000000"/>
                          </a:solidFill>
                          <a:effectLst/>
                          <a:latin typeface="Aptos Narrow" panose="020B0004020202020204" pitchFamily="34" charset="0"/>
                        </a:rPr>
                        <a:t>Commercial Margin</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1" i="0" u="none" strike="noStrike" dirty="0">
                          <a:solidFill>
                            <a:srgbClr val="000000"/>
                          </a:solidFill>
                          <a:effectLst/>
                          <a:latin typeface="Aptos Narrow" panose="020B0004020202020204" pitchFamily="34" charset="0"/>
                        </a:rPr>
                        <a:t>Government Margin</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1" i="0" u="none" strike="noStrike" dirty="0">
                          <a:solidFill>
                            <a:srgbClr val="000000"/>
                          </a:solidFill>
                          <a:effectLst/>
                          <a:latin typeface="Aptos Narrow" panose="020B0004020202020204" pitchFamily="34" charset="0"/>
                        </a:rPr>
                        <a:t>Commercial Per-Member Net Income</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1" i="0" u="none" strike="noStrike" dirty="0">
                          <a:solidFill>
                            <a:srgbClr val="000000"/>
                          </a:solidFill>
                          <a:effectLst/>
                          <a:latin typeface="Aptos Narrow" panose="020B0004020202020204" pitchFamily="34" charset="0"/>
                        </a:rPr>
                        <a:t>Revenue Impact of 1% Price Improvement Per 100K Members</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1" i="0" u="none" strike="noStrike" dirty="0">
                          <a:solidFill>
                            <a:srgbClr val="000000"/>
                          </a:solidFill>
                          <a:effectLst/>
                          <a:latin typeface="Aptos Narrow" panose="020B0004020202020204" pitchFamily="34" charset="0"/>
                        </a:rPr>
                        <a:t>Net Income Impact of 1% Price Improvement Per 100K Members</a:t>
                      </a:r>
                    </a:p>
                  </a:txBody>
                  <a:tcPr marL="9525" marR="9525" marT="9525" marB="0" anchor="b">
                    <a:lnL>
                      <a:noFill/>
                    </a:lnL>
                    <a:lnR>
                      <a:noFill/>
                    </a:lnR>
                    <a:lnT>
                      <a:noFill/>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370496556"/>
                  </a:ext>
                </a:extLst>
              </a:tr>
              <a:tr h="579852">
                <a:tc>
                  <a:txBody>
                    <a:bodyPr/>
                    <a:lstStyle/>
                    <a:p>
                      <a:pPr algn="l" fontAlgn="b"/>
                      <a:r>
                        <a:rPr lang="en-US" sz="1400" b="0" i="0" u="none" strike="noStrike" dirty="0" err="1">
                          <a:solidFill>
                            <a:srgbClr val="000000"/>
                          </a:solidFill>
                          <a:effectLst/>
                          <a:latin typeface="Aptos Narrow" panose="020B0004020202020204" pitchFamily="34" charset="0"/>
                        </a:rPr>
                        <a:t>MaineHealth</a:t>
                      </a:r>
                      <a:endParaRPr lang="en-US" sz="14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15%</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-111%</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$352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$2,343,835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$351,575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008449807"/>
                  </a:ext>
                </a:extLst>
              </a:tr>
              <a:tr h="579852">
                <a:tc>
                  <a:txBody>
                    <a:bodyPr/>
                    <a:lstStyle/>
                    <a:p>
                      <a:pPr algn="l" fontAlgn="b"/>
                      <a:r>
                        <a:rPr lang="en-US" sz="1400" b="0" i="0" u="none" strike="noStrike" dirty="0">
                          <a:solidFill>
                            <a:srgbClr val="000000"/>
                          </a:solidFill>
                          <a:effectLst/>
                          <a:latin typeface="Aptos Narrow" panose="020B0004020202020204" pitchFamily="34" charset="0"/>
                        </a:rPr>
                        <a:t>Northern Light Health</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27%</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-127%</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$351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$1,301,673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$351,452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78946806"/>
                  </a:ext>
                </a:extLst>
              </a:tr>
              <a:tr h="579852">
                <a:tc>
                  <a:txBody>
                    <a:bodyPr/>
                    <a:lstStyle/>
                    <a:p>
                      <a:pPr algn="l" fontAlgn="b"/>
                      <a:r>
                        <a:rPr lang="en-US" sz="1400" b="0" i="0" u="none" strike="noStrike">
                          <a:solidFill>
                            <a:srgbClr val="000000"/>
                          </a:solidFill>
                          <a:effectLst/>
                          <a:latin typeface="Aptos Narrow" panose="020B0004020202020204" pitchFamily="34" charset="0"/>
                        </a:rPr>
                        <a:t>Central Maine Healthcare</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23%</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-175%</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$88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$384,647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$88,469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56764899"/>
                  </a:ext>
                </a:extLst>
              </a:tr>
              <a:tr h="579852">
                <a:tc>
                  <a:txBody>
                    <a:bodyPr/>
                    <a:lstStyle/>
                    <a:p>
                      <a:pPr algn="l" fontAlgn="b"/>
                      <a:r>
                        <a:rPr lang="en-US" sz="1400" b="0" i="0" u="none" strike="noStrike">
                          <a:solidFill>
                            <a:srgbClr val="000000"/>
                          </a:solidFill>
                          <a:effectLst/>
                          <a:latin typeface="Aptos Narrow" panose="020B0004020202020204" pitchFamily="34" charset="0"/>
                        </a:rPr>
                        <a:t>MaineGeneral Health</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35%</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-222%</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$149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$425,718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$149,001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43540859"/>
                  </a:ext>
                </a:extLst>
              </a:tr>
              <a:tr h="579852">
                <a:tc>
                  <a:txBody>
                    <a:bodyPr/>
                    <a:lstStyle/>
                    <a:p>
                      <a:pPr algn="l" fontAlgn="b"/>
                      <a:r>
                        <a:rPr lang="en-US" sz="1400" b="0" i="0" u="none" strike="noStrike" dirty="0">
                          <a:solidFill>
                            <a:srgbClr val="000000"/>
                          </a:solidFill>
                          <a:effectLst/>
                          <a:latin typeface="Aptos Narrow" panose="020B0004020202020204" pitchFamily="34" charset="0"/>
                        </a:rPr>
                        <a:t>Other Standalone Hospitals</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36%</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-117%</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r>
                        <a:rPr lang="en-US" sz="1400" b="0" i="0" u="none" strike="noStrike" kern="1200">
                          <a:solidFill>
                            <a:srgbClr val="000000"/>
                          </a:solidFill>
                          <a:effectLst/>
                          <a:latin typeface="Aptos Narrow" panose="020B0004020202020204" pitchFamily="34" charset="0"/>
                          <a:ea typeface="+mn-ea"/>
                          <a:cs typeface="+mn-cs"/>
                        </a:rPr>
                        <a:t>$170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$470,911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tc>
                  <a:txBody>
                    <a:bodyPr/>
                    <a:lstStyle/>
                    <a:p>
                      <a:pPr algn="ctr" fontAlgn="b"/>
                      <a:r>
                        <a:rPr lang="en-US" sz="1400" b="0" i="0" u="none" strike="noStrike" kern="1200" dirty="0">
                          <a:solidFill>
                            <a:srgbClr val="000000"/>
                          </a:solidFill>
                          <a:effectLst/>
                          <a:latin typeface="Aptos Narrow" panose="020B0004020202020204" pitchFamily="34" charset="0"/>
                          <a:ea typeface="+mn-ea"/>
                          <a:cs typeface="+mn-cs"/>
                        </a:rPr>
                        <a:t>$169,528 </a:t>
                      </a:r>
                    </a:p>
                  </a:txBody>
                  <a:tcPr marL="9525" marR="9525" marT="9525" marB="0" anchor="b">
                    <a:lnL>
                      <a:noFill/>
                    </a:lnL>
                    <a:lnR>
                      <a:noFill/>
                    </a:lnR>
                    <a:lnT w="12700" cap="flat" cmpd="sng" algn="ctr">
                      <a:solidFill>
                        <a:schemeClr val="bg1">
                          <a:lumMod val="65000"/>
                        </a:schemeClr>
                      </a:solidFill>
                      <a:prstDash val="solid"/>
                      <a:round/>
                      <a:headEnd type="none" w="med" len="med"/>
                      <a:tailEnd type="none" w="med" len="med"/>
                    </a:lnT>
                    <a:lnB>
                      <a:noFill/>
                    </a:lnB>
                    <a:noFill/>
                  </a:tcPr>
                </a:tc>
                <a:extLst>
                  <a:ext uri="{0D108BD9-81ED-4DB2-BD59-A6C34878D82A}">
                    <a16:rowId xmlns:a16="http://schemas.microsoft.com/office/drawing/2014/main" val="3350881136"/>
                  </a:ext>
                </a:extLst>
              </a:tr>
            </a:tbl>
          </a:graphicData>
        </a:graphic>
      </p:graphicFrame>
      <p:sp>
        <p:nvSpPr>
          <p:cNvPr id="4" name="Footer Placeholder 3">
            <a:extLst>
              <a:ext uri="{FF2B5EF4-FFF2-40B4-BE49-F238E27FC236}">
                <a16:creationId xmlns:a16="http://schemas.microsoft.com/office/drawing/2014/main" id="{5D542BDA-2B63-2646-338F-9A578DF88920}"/>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1E79436C-708C-33F5-A1C7-13D70A7330D4}"/>
              </a:ext>
            </a:extLst>
          </p:cNvPr>
          <p:cNvSpPr>
            <a:spLocks noGrp="1"/>
          </p:cNvSpPr>
          <p:nvPr>
            <p:ph type="sldNum" sz="quarter" idx="12"/>
          </p:nvPr>
        </p:nvSpPr>
        <p:spPr/>
        <p:txBody>
          <a:bodyPr/>
          <a:lstStyle/>
          <a:p>
            <a:fld id="{3AFC719D-C4A7-4544-876E-D411D11AF6C9}" type="slidenum">
              <a:rPr lang="en-US" smtClean="0"/>
              <a:t>11</a:t>
            </a:fld>
            <a:endParaRPr lang="en-US" dirty="0"/>
          </a:p>
        </p:txBody>
      </p:sp>
      <p:sp>
        <p:nvSpPr>
          <p:cNvPr id="7" name="Rectangle 8">
            <a:extLst>
              <a:ext uri="{FF2B5EF4-FFF2-40B4-BE49-F238E27FC236}">
                <a16:creationId xmlns:a16="http://schemas.microsoft.com/office/drawing/2014/main" id="{8ED48EC5-AD77-055E-8E24-65BED282346A}"/>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4424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36975" y="111754"/>
            <a:ext cx="10458459" cy="1325563"/>
          </a:xfrm>
        </p:spPr>
        <p:txBody>
          <a:bodyPr>
            <a:normAutofit/>
          </a:bodyPr>
          <a:lstStyle/>
          <a:p>
            <a:r>
              <a:rPr lang="en-US" sz="3600" b="1" dirty="0">
                <a:solidFill>
                  <a:schemeClr val="tx1">
                    <a:lumMod val="85000"/>
                    <a:lumOff val="15000"/>
                  </a:schemeClr>
                </a:solidFill>
                <a:latin typeface="Garamond" panose="02020404030301010803" pitchFamily="18" charset="0"/>
                <a:cs typeface="Arial" panose="020B0604020202020204" pitchFamily="34" charset="0"/>
              </a:rPr>
              <a:t>Estimated Financial Returns and Assumptions</a:t>
            </a:r>
          </a:p>
        </p:txBody>
      </p:sp>
      <p:sp>
        <p:nvSpPr>
          <p:cNvPr id="3"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12</a:t>
            </a:fld>
            <a:endParaRPr lang="en-US" dirty="0"/>
          </a:p>
        </p:txBody>
      </p:sp>
      <p:sp>
        <p:nvSpPr>
          <p:cNvPr id="5"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11">
            <a:extLst>
              <a:ext uri="{FF2B5EF4-FFF2-40B4-BE49-F238E27FC236}">
                <a16:creationId xmlns:a16="http://schemas.microsoft.com/office/drawing/2014/main" id="{7B828AB6-CD3A-4CD3-8950-2942DDBEAC0D}"/>
              </a:ext>
            </a:extLst>
          </p:cNvPr>
          <p:cNvSpPr txBox="1"/>
          <p:nvPr/>
        </p:nvSpPr>
        <p:spPr>
          <a:xfrm>
            <a:off x="7869057" y="1587197"/>
            <a:ext cx="3719288" cy="461665"/>
          </a:xfrm>
          <a:prstGeom prst="rect">
            <a:avLst/>
          </a:prstGeom>
          <a:noFill/>
        </p:spPr>
        <p:txBody>
          <a:bodyPr wrap="none" rtlCol="0">
            <a:spAutoFit/>
          </a:bodyPr>
          <a:lstStyle/>
          <a:p>
            <a:r>
              <a:rPr lang="en-US" sz="2400" dirty="0">
                <a:solidFill>
                  <a:schemeClr val="bg1"/>
                </a:solidFill>
                <a:latin typeface="Garamond" panose="02020404030301010803" pitchFamily="18" charset="0"/>
                <a:cs typeface="Arial" panose="020B0604020202020204" pitchFamily="34" charset="0"/>
              </a:rPr>
              <a:t>Patient Steerage Assumptions</a:t>
            </a:r>
          </a:p>
        </p:txBody>
      </p:sp>
      <p:sp>
        <p:nvSpPr>
          <p:cNvPr id="8" name="TextBox 12">
            <a:extLst>
              <a:ext uri="{FF2B5EF4-FFF2-40B4-BE49-F238E27FC236}">
                <a16:creationId xmlns:a16="http://schemas.microsoft.com/office/drawing/2014/main" id="{025AE6BF-C458-13D4-626E-DAD4C1439055}"/>
              </a:ext>
            </a:extLst>
          </p:cNvPr>
          <p:cNvSpPr txBox="1"/>
          <p:nvPr/>
        </p:nvSpPr>
        <p:spPr>
          <a:xfrm>
            <a:off x="7466120" y="2250333"/>
            <a:ext cx="4616389" cy="900246"/>
          </a:xfrm>
          <a:prstGeom prst="rect">
            <a:avLst/>
          </a:prstGeom>
          <a:noFill/>
        </p:spPr>
        <p:txBody>
          <a:bodyPr wrap="square" rtlCol="0">
            <a:spAutoFit/>
          </a:bodyPr>
          <a:lstStyle/>
          <a:p>
            <a:r>
              <a:rPr lang="en-US" sz="1050" dirty="0">
                <a:solidFill/>
              </a:rPr>
              <a:t>KBA currently estimates that MaineHealth has 50% inpatient market share, and 19% outpatient market compared to hospitals/clinics in Western and Central Maine. The DTE tiered structure will create immediate steerage, with additional steerage over time from patient bonus benefits and the patient card (see slide 33 for estimates of target steerage). </a:t>
            </a:r>
            <a:endParaRPr lang="en-US" sz="1050" dirty="0"/>
          </a:p>
        </p:txBody>
      </p:sp>
      <p:sp>
        <p:nvSpPr>
          <p:cNvPr id="9" name="Rectangle 20">
            <a:extLst>
              <a:ext uri="{FF2B5EF4-FFF2-40B4-BE49-F238E27FC236}">
                <a16:creationId xmlns:a16="http://schemas.microsoft.com/office/drawing/2014/main" id="{620CA171-241C-9006-DA4D-7174E70B2EF3}"/>
              </a:ext>
            </a:extLst>
          </p:cNvPr>
          <p:cNvSpPr/>
          <p:nvPr/>
        </p:nvSpPr>
        <p:spPr>
          <a:xfrm>
            <a:off x="7597806" y="5609417"/>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23">
            <a:extLst>
              <a:ext uri="{FF2B5EF4-FFF2-40B4-BE49-F238E27FC236}">
                <a16:creationId xmlns:a16="http://schemas.microsoft.com/office/drawing/2014/main" id="{950E697A-C380-A6EE-50AE-8B3DED34929F}"/>
              </a:ext>
            </a:extLst>
          </p:cNvPr>
          <p:cNvSpPr txBox="1"/>
          <p:nvPr/>
        </p:nvSpPr>
        <p:spPr>
          <a:xfrm>
            <a:off x="7911966" y="4107945"/>
            <a:ext cx="4204997" cy="461665"/>
          </a:xfrm>
          <a:prstGeom prst="rect">
            <a:avLst/>
          </a:prstGeom>
          <a:noFill/>
        </p:spPr>
        <p:txBody>
          <a:bodyPr wrap="none" rtlCol="0">
            <a:spAutoFit/>
          </a:bodyPr>
          <a:lstStyle/>
          <a:p>
            <a:r>
              <a:rPr lang="en-US" sz="2400" dirty="0">
                <a:solidFill>
                  <a:schemeClr val="bg1"/>
                </a:solidFill>
                <a:latin typeface="Garamond" panose="02020404030301010803" pitchFamily="18" charset="0"/>
                <a:cs typeface="Arial" panose="020B0604020202020204" pitchFamily="34" charset="0"/>
              </a:rPr>
              <a:t>Commercial Margin Assumptions</a:t>
            </a:r>
          </a:p>
        </p:txBody>
      </p:sp>
      <p:sp>
        <p:nvSpPr>
          <p:cNvPr id="13" name="TextBox 24">
            <a:extLst>
              <a:ext uri="{FF2B5EF4-FFF2-40B4-BE49-F238E27FC236}">
                <a16:creationId xmlns:a16="http://schemas.microsoft.com/office/drawing/2014/main" id="{32C9D62D-25B0-6CD9-8AD7-E6855B1B1B26}"/>
              </a:ext>
            </a:extLst>
          </p:cNvPr>
          <p:cNvSpPr txBox="1"/>
          <p:nvPr/>
        </p:nvSpPr>
        <p:spPr>
          <a:xfrm>
            <a:off x="7509029" y="4771081"/>
            <a:ext cx="4616389" cy="738664"/>
          </a:xfrm>
          <a:prstGeom prst="rect">
            <a:avLst/>
          </a:prstGeom>
          <a:noFill/>
        </p:spPr>
        <p:txBody>
          <a:bodyPr wrap="square" rtlCol="0">
            <a:spAutoFit/>
          </a:bodyPr>
          <a:lstStyle/>
          <a:p>
            <a:r>
              <a:rPr lang="en-US" sz="1050" dirty="0">
                <a:solidFill/>
              </a:rPr>
              <a:t>KBA observes a MaineHealth 15% commercial margin. We model at a </a:t>
            </a:r>
            <a:r>
              <a:rPr lang="en-US" sz="1050" i="1" dirty="0">
                <a:solidFill/>
              </a:rPr>
              <a:t>received</a:t>
            </a:r>
            <a:r>
              <a:rPr lang="en-US" sz="1050" dirty="0">
                <a:solidFill/>
              </a:rPr>
              <a:t> margin in line with current commercial margins with prices 10 percentage-points below current commercial rates but with a 10 percentage-point increase through friendlier billing practices and improved patient collections with the patient card.</a:t>
            </a:r>
          </a:p>
        </p:txBody>
      </p:sp>
      <p:sp>
        <p:nvSpPr>
          <p:cNvPr id="14" name="TextBox 25">
            <a:extLst>
              <a:ext uri="{FF2B5EF4-FFF2-40B4-BE49-F238E27FC236}">
                <a16:creationId xmlns:a16="http://schemas.microsoft.com/office/drawing/2014/main" id="{A76920ED-352E-9285-CC83-BDA6AB18978D}"/>
              </a:ext>
            </a:extLst>
          </p:cNvPr>
          <p:cNvSpPr txBox="1"/>
          <p:nvPr/>
        </p:nvSpPr>
        <p:spPr>
          <a:xfrm>
            <a:off x="7707395" y="5562003"/>
            <a:ext cx="488916" cy="307777"/>
          </a:xfrm>
          <a:prstGeom prst="rect">
            <a:avLst/>
          </a:prstGeom>
          <a:noFill/>
        </p:spPr>
        <p:txBody>
          <a:bodyPr wrap="none" rtlCol="0">
            <a:spAutoFit/>
          </a:bodyPr>
          <a:lstStyle/>
          <a:p>
            <a:r>
              <a:rPr lang="en-US" sz="1400" b="1" dirty="0"/>
              <a:t>Low</a:t>
            </a:r>
          </a:p>
        </p:txBody>
      </p:sp>
      <p:sp>
        <p:nvSpPr>
          <p:cNvPr id="15" name="TextBox 26">
            <a:extLst>
              <a:ext uri="{FF2B5EF4-FFF2-40B4-BE49-F238E27FC236}">
                <a16:creationId xmlns:a16="http://schemas.microsoft.com/office/drawing/2014/main" id="{2559AB8C-6F23-81D3-4546-DE75EBD91879}"/>
              </a:ext>
            </a:extLst>
          </p:cNvPr>
          <p:cNvSpPr txBox="1"/>
          <p:nvPr/>
        </p:nvSpPr>
        <p:spPr>
          <a:xfrm>
            <a:off x="9572765" y="5562003"/>
            <a:ext cx="643509" cy="307777"/>
          </a:xfrm>
          <a:prstGeom prst="rect">
            <a:avLst/>
          </a:prstGeom>
          <a:noFill/>
        </p:spPr>
        <p:txBody>
          <a:bodyPr wrap="none" rtlCol="0">
            <a:spAutoFit/>
          </a:bodyPr>
          <a:lstStyle/>
          <a:p>
            <a:r>
              <a:rPr lang="en-US" sz="1400" b="1" dirty="0"/>
              <a:t>Target</a:t>
            </a:r>
          </a:p>
        </p:txBody>
      </p:sp>
      <p:sp>
        <p:nvSpPr>
          <p:cNvPr id="16" name="TextBox 27">
            <a:extLst>
              <a:ext uri="{FF2B5EF4-FFF2-40B4-BE49-F238E27FC236}">
                <a16:creationId xmlns:a16="http://schemas.microsoft.com/office/drawing/2014/main" id="{314AFF5C-ABDA-A82B-40C8-14E2DB160036}"/>
              </a:ext>
            </a:extLst>
          </p:cNvPr>
          <p:cNvSpPr txBox="1"/>
          <p:nvPr/>
        </p:nvSpPr>
        <p:spPr>
          <a:xfrm>
            <a:off x="11436788" y="5562003"/>
            <a:ext cx="524503" cy="307777"/>
          </a:xfrm>
          <a:prstGeom prst="rect">
            <a:avLst/>
          </a:prstGeom>
          <a:noFill/>
        </p:spPr>
        <p:txBody>
          <a:bodyPr wrap="none" rtlCol="0">
            <a:spAutoFit/>
          </a:bodyPr>
          <a:lstStyle/>
          <a:p>
            <a:r>
              <a:rPr lang="en-US" sz="1400" b="1" dirty="0"/>
              <a:t>High</a:t>
            </a:r>
          </a:p>
        </p:txBody>
      </p:sp>
      <p:sp>
        <p:nvSpPr>
          <p:cNvPr id="17" name="TextBox 28">
            <a:extLst>
              <a:ext uri="{FF2B5EF4-FFF2-40B4-BE49-F238E27FC236}">
                <a16:creationId xmlns:a16="http://schemas.microsoft.com/office/drawing/2014/main" id="{2C03026B-6D1E-F7B1-9995-7D9DC1019C60}"/>
              </a:ext>
            </a:extLst>
          </p:cNvPr>
          <p:cNvSpPr txBox="1"/>
          <p:nvPr/>
        </p:nvSpPr>
        <p:spPr>
          <a:xfrm>
            <a:off x="7659946" y="5820856"/>
            <a:ext cx="785793" cy="369332"/>
          </a:xfrm>
          <a:prstGeom prst="rect">
            <a:avLst/>
          </a:prstGeom>
          <a:noFill/>
        </p:spPr>
        <p:txBody>
          <a:bodyPr wrap="none" rtlCol="0">
            <a:spAutoFit/>
          </a:bodyPr>
          <a:lstStyle/>
          <a:p>
            <a:r>
              <a:rPr lang="en-US" dirty="0">
                <a:solidFill/>
              </a:rPr>
              <a:t>12%</a:t>
            </a:r>
          </a:p>
        </p:txBody>
      </p:sp>
      <p:sp>
        <p:nvSpPr>
          <p:cNvPr id="18" name="TextBox 29">
            <a:extLst>
              <a:ext uri="{FF2B5EF4-FFF2-40B4-BE49-F238E27FC236}">
                <a16:creationId xmlns:a16="http://schemas.microsoft.com/office/drawing/2014/main" id="{9C64CEEB-E16A-926D-5DF0-DC8275443A40}"/>
              </a:ext>
            </a:extLst>
          </p:cNvPr>
          <p:cNvSpPr txBox="1"/>
          <p:nvPr/>
        </p:nvSpPr>
        <p:spPr>
          <a:xfrm>
            <a:off x="9580061" y="5832828"/>
            <a:ext cx="885179" cy="369332"/>
          </a:xfrm>
          <a:prstGeom prst="rect">
            <a:avLst/>
          </a:prstGeom>
          <a:noFill/>
        </p:spPr>
        <p:txBody>
          <a:bodyPr wrap="none" rtlCol="0">
            <a:spAutoFit/>
          </a:bodyPr>
          <a:lstStyle/>
          <a:p>
            <a:r>
              <a:rPr lang="en-US" dirty="0">
                <a:solidFill/>
              </a:rPr>
              <a:t>17%</a:t>
            </a:r>
          </a:p>
        </p:txBody>
      </p:sp>
      <p:sp>
        <p:nvSpPr>
          <p:cNvPr id="19" name="TextBox 30">
            <a:extLst>
              <a:ext uri="{FF2B5EF4-FFF2-40B4-BE49-F238E27FC236}">
                <a16:creationId xmlns:a16="http://schemas.microsoft.com/office/drawing/2014/main" id="{716000A2-AFB1-117D-BFF0-2BDA3EA8A77D}"/>
              </a:ext>
            </a:extLst>
          </p:cNvPr>
          <p:cNvSpPr txBox="1"/>
          <p:nvPr/>
        </p:nvSpPr>
        <p:spPr>
          <a:xfrm>
            <a:off x="11389339" y="5832828"/>
            <a:ext cx="832279" cy="369332"/>
          </a:xfrm>
          <a:prstGeom prst="rect">
            <a:avLst/>
          </a:prstGeom>
          <a:noFill/>
        </p:spPr>
        <p:txBody>
          <a:bodyPr wrap="none" rtlCol="0">
            <a:spAutoFit/>
          </a:bodyPr>
          <a:lstStyle/>
          <a:p>
            <a:r>
              <a:rPr lang="en-US" dirty="0">
                <a:solidFill/>
              </a:rPr>
              <a:t>22%</a:t>
            </a:r>
          </a:p>
        </p:txBody>
      </p:sp>
      <p:sp>
        <p:nvSpPr>
          <p:cNvPr id="20"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1" name="Title 1">
            <a:extLst>
              <a:ext uri="{FF2B5EF4-FFF2-40B4-BE49-F238E27FC236}">
                <a16:creationId xmlns:a16="http://schemas.microsoft.com/office/drawing/2014/main" id="{2DAB5DAF-375F-8C08-74DE-3B9B1A009F39}"/>
              </a:ext>
            </a:extLst>
          </p:cNvPr>
          <p:cNvSpPr txBox="1">
            <a:spLocks/>
          </p:cNvSpPr>
          <p:nvPr/>
        </p:nvSpPr>
        <p:spPr>
          <a:xfrm rot="16200000">
            <a:off x="-2966820" y="3045208"/>
            <a:ext cx="6858000"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4000" dirty="0">
                <a:solidFill>
                  <a:schemeClr val="bg1"/>
                </a:solidFill>
                <a:latin typeface="Garamond" panose="02020404030301010803" pitchFamily="18" charset="0"/>
                <a:cs typeface="Arial" panose="020B0604020202020204" pitchFamily="34" charset="0"/>
              </a:rPr>
              <a:t>SINGLE-YEAR PROJECTION</a:t>
            </a:r>
          </a:p>
        </p:txBody>
      </p:sp>
      <p:sp>
        <p:nvSpPr>
          <p:cNvPr id="22" name="Rectangle 19">
            <a:extLst>
              <a:ext uri="{FF2B5EF4-FFF2-40B4-BE49-F238E27FC236}">
                <a16:creationId xmlns:a16="http://schemas.microsoft.com/office/drawing/2014/main" id="{F6627BBC-E6C5-1195-07E5-6C53EE01CC8B}"/>
              </a:ext>
            </a:extLst>
          </p:cNvPr>
          <p:cNvSpPr/>
          <p:nvPr/>
        </p:nvSpPr>
        <p:spPr>
          <a:xfrm>
            <a:off x="7597806" y="320341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5">
            <a:extLst>
              <a:ext uri="{FF2B5EF4-FFF2-40B4-BE49-F238E27FC236}">
                <a16:creationId xmlns:a16="http://schemas.microsoft.com/office/drawing/2014/main" id="{C22B0D02-4198-9ACE-8A8D-89E646CD21E5}"/>
              </a:ext>
            </a:extLst>
          </p:cNvPr>
          <p:cNvSpPr txBox="1"/>
          <p:nvPr/>
        </p:nvSpPr>
        <p:spPr>
          <a:xfrm>
            <a:off x="8366143" y="3171997"/>
            <a:ext cx="488916" cy="307777"/>
          </a:xfrm>
          <a:prstGeom prst="rect">
            <a:avLst/>
          </a:prstGeom>
          <a:noFill/>
        </p:spPr>
        <p:txBody>
          <a:bodyPr wrap="none" rtlCol="0">
            <a:spAutoFit/>
          </a:bodyPr>
          <a:lstStyle/>
          <a:p>
            <a:r>
              <a:rPr lang="en-US" sz="1400" b="1" dirty="0"/>
              <a:t>Low</a:t>
            </a:r>
          </a:p>
        </p:txBody>
      </p:sp>
      <p:sp>
        <p:nvSpPr>
          <p:cNvPr id="24" name="TextBox 27">
            <a:extLst>
              <a:ext uri="{FF2B5EF4-FFF2-40B4-BE49-F238E27FC236}">
                <a16:creationId xmlns:a16="http://schemas.microsoft.com/office/drawing/2014/main" id="{E8084D42-778C-82F6-630D-9D8469AFEE15}"/>
              </a:ext>
            </a:extLst>
          </p:cNvPr>
          <p:cNvSpPr txBox="1"/>
          <p:nvPr/>
        </p:nvSpPr>
        <p:spPr>
          <a:xfrm>
            <a:off x="10950749" y="3163290"/>
            <a:ext cx="524503" cy="307777"/>
          </a:xfrm>
          <a:prstGeom prst="rect">
            <a:avLst/>
          </a:prstGeom>
          <a:noFill/>
        </p:spPr>
        <p:txBody>
          <a:bodyPr wrap="none" rtlCol="0">
            <a:spAutoFit/>
          </a:bodyPr>
          <a:lstStyle/>
          <a:p>
            <a:r>
              <a:rPr lang="en-US" sz="1400" b="1" dirty="0"/>
              <a:t>High</a:t>
            </a:r>
          </a:p>
        </p:txBody>
      </p:sp>
      <p:sp>
        <p:nvSpPr>
          <p:cNvPr id="25" name="TextBox 28">
            <a:extLst>
              <a:ext uri="{FF2B5EF4-FFF2-40B4-BE49-F238E27FC236}">
                <a16:creationId xmlns:a16="http://schemas.microsoft.com/office/drawing/2014/main" id="{F168AC10-2BD6-A49E-428D-30E6B39D197A}"/>
              </a:ext>
            </a:extLst>
          </p:cNvPr>
          <p:cNvSpPr txBox="1"/>
          <p:nvPr/>
        </p:nvSpPr>
        <p:spPr>
          <a:xfrm>
            <a:off x="7647303" y="3407458"/>
            <a:ext cx="1825756" cy="369332"/>
          </a:xfrm>
          <a:prstGeom prst="rect">
            <a:avLst/>
          </a:prstGeom>
          <a:noFill/>
        </p:spPr>
        <p:txBody>
          <a:bodyPr wrap="none" rtlCol="0">
            <a:spAutoFit/>
          </a:bodyPr>
          <a:lstStyle/>
          <a:p>
            <a:r>
              <a:rPr lang="en-US" dirty="0">
                <a:solidFill/>
              </a:rPr>
              <a:t>10% below target</a:t>
            </a:r>
          </a:p>
        </p:txBody>
      </p:sp>
      <p:sp>
        <p:nvSpPr>
          <p:cNvPr id="26" name="TextBox 30">
            <a:extLst>
              <a:ext uri="{FF2B5EF4-FFF2-40B4-BE49-F238E27FC236}">
                <a16:creationId xmlns:a16="http://schemas.microsoft.com/office/drawing/2014/main" id="{85A3284B-C2CB-7693-6750-302A3F66B386}"/>
              </a:ext>
            </a:extLst>
          </p:cNvPr>
          <p:cNvSpPr txBox="1"/>
          <p:nvPr/>
        </p:nvSpPr>
        <p:spPr>
          <a:xfrm>
            <a:off x="10299672" y="3405178"/>
            <a:ext cx="1820178" cy="369332"/>
          </a:xfrm>
          <a:prstGeom prst="rect">
            <a:avLst/>
          </a:prstGeom>
          <a:noFill/>
        </p:spPr>
        <p:txBody>
          <a:bodyPr wrap="none" rtlCol="0">
            <a:spAutoFit/>
          </a:bodyPr>
          <a:lstStyle/>
          <a:p>
            <a:r>
              <a:rPr lang="en-US" dirty="0">
                <a:solidFill/>
              </a:rPr>
              <a:t>10% above target</a:t>
            </a:r>
          </a:p>
        </p:txBody>
      </p:sp>
      <p:pic>
        <p:nvPicPr>
          <p:cNvPr id="27" name="Content Placeholder 26"/>
          <p:cNvPicPr>
            <a:picLocks noGrp="1"/>
          </p:cNvPicPr>
          <p:nvPr>
            <p:ph/>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latin typeface="Garamond" panose="02020404030301010803" pitchFamily="18" charset="0"/>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912.1K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1,824.3K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3,148.4K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4,789.4K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594.1K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1,668.3K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3,008.0K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4,669.4K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2,371.6K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4,197.9K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6,417.9K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871.4K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2,222.8K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4,070.7K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6,318.3K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638.5K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2,099.0K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3,161.0K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316.9K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1,021.4K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1,945.4K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3,020.6K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925863" y="3039046"/>
            <a:ext cx="6830137" cy="752041"/>
          </a:xfrm>
        </p:spPr>
        <p:txBody>
          <a:bodyPr>
            <a:noAutofit/>
          </a:bodyPr>
          <a:lstStyle/>
          <a:p>
            <a:pPr algn="ctr">
              <a:lnSpc>
                <a:spcPct val="100000"/>
              </a:lnSpc>
              <a:spcBef>
                <a:spcPts val="600"/>
              </a:spcBef>
            </a:pPr>
            <a:r>
              <a:rPr lang="en-US" b="0" dirty="0">
                <a:solidFill>
                  <a:schemeClr val="bg1"/>
                </a:solidFill>
                <a:latin typeface="Garamond" panose="02020404030301010803" pitchFamily="18" charset="0"/>
              </a:rPr>
              <a:t>SINGLE YEAR SUMMARY</a:t>
            </a:r>
          </a:p>
        </p:txBody>
      </p:sp>
      <p:graphicFrame>
        <p:nvGraphicFramePr>
          <p:cNvPr id="8" name="Table 7"/>
          <p:cNvGraphicFramePr>
            <a:graphicFrameLocks noGrp="1"/>
          </p:cNvGraphicFramePr>
          <p:nvPr>
            <p:extLst>
              <p:ext uri="{D42A27DB-BD31-4B8C-83A1-F6EECF244321}">
                <p14:modId xmlns:p14="http://schemas.microsoft.com/office/powerpoint/2010/main" val="2007901847"/>
              </p:ext>
            </p:extLst>
          </p:nvPr>
        </p:nvGraphicFramePr>
        <p:xfrm>
          <a:off x="2176272" y="1146214"/>
          <a:ext cx="9052560" cy="45110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800" b="1" i="0" u="none" cap="none" dirty="0">
                          <a:solidFill>
                            <a:srgbClr val="FFFFFF">
                              <a:alpha val="100000"/>
                            </a:srgbClr>
                          </a:solidFill>
                          <a:latin typeface="Garamond" panose="02020404030301010803" pitchFamily="18" charset="0"/>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600" b="1" i="0" u="none" cap="none" dirty="0">
                          <a:solidFill>
                            <a:srgbClr val="FFFFFF">
                              <a:alpha val="100000"/>
                            </a:srgbClr>
                          </a:solidFill>
                          <a:latin typeface="Garamond" panose="02020404030301010803" pitchFamily="18" charset="0"/>
                          <a:cs typeface="Arial"/>
                          <a:sym typeface="Arial"/>
                        </a:rPr>
                        <a:t>Target Estimate Assuming 85%+ Within-Plan Steerage and a Commercial Margin of 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85%+ Within-Plan Steerage and a Commercial Margin of 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85%+ Within-Plan Steerage and a Commercial Margin of 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85%+ Within-Plan Steerage and a Commercial Margin of 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85%+ Within-Plan Steerage and a Commercial Margin of 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85%+ Within-Plan Steerage and a Commercial Margin of 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85%+ Within-Plan Steerage and a Commercial Margin of 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85%+ Within-Plan Steerage and a Commercial Margin of 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3,632K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$ 2,790K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582K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$ 6,974K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$ 18,160K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$11,186K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$ 3,087K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$ 1,950K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$27,897K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$3,348K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$ 72,642K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$44,744K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$ 9,001K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$ 8,791K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$55,794K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$6,695K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$145,283K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$89,489K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$17,913K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15</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3541068339"/>
              </p:ext>
            </p:extLst>
          </p:nvPr>
        </p:nvGraphicFramePr>
        <p:xfrm>
          <a:off x="418056" y="764777"/>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7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7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7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7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$ 6,844,470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$ 4,842,660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$ 2,261,481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$ 13,948,611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$ 821,336.4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$ 581,119.2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$ 271,377.7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$ 1,673,833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62503" y="4085951"/>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$ 4,729,441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$ 4,734,241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$ 4,609,441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3778409314"/>
              </p:ext>
            </p:extLst>
          </p:nvPr>
        </p:nvGraphicFramePr>
        <p:xfrm>
          <a:off x="418055" y="2234768"/>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$ 10,605,598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$ 18,446,406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$ 8,614,315</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$ 37,666,318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$ 1,802,952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$ 3,135,889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$ 1,464,434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$ 6,403,274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50% (inpatient) and 19%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1801103"/>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17% (80%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a:t>
            </a:r>
            <a:r>
              <a:rPr lang="en-US" sz="1400" dirty="0">
                <a:solidFill/>
                <a:latin typeface="Arial" panose="020B0604020202020204" pitchFamily="34" charset="0"/>
                <a:cs typeface="Arial" panose="020B0604020202020204" pitchFamily="34" charset="0"/>
              </a:rPr>
              <a:t>77% inpatient and 74%  </a:t>
            </a:r>
            <a:r>
              <a:rPr lang="en-US" sz="1400" dirty="0">
                <a:latin typeface="Arial" panose="020B0604020202020204" pitchFamily="34" charset="0"/>
                <a:cs typeface="Arial" panose="020B0604020202020204" pitchFamily="34" charset="0"/>
              </a:rPr>
              <a:t>market steerage based on KBA narrow network DTE experience </a:t>
            </a:r>
            <a:r>
              <a:rPr lang="en-US" sz="1400" dirty="0">
                <a:solidFill/>
                <a:latin typeface="Arial" panose="020B0604020202020204" pitchFamily="34" charset="0"/>
                <a:cs typeface="Arial" panose="020B0604020202020204" pitchFamily="34" charset="0"/>
              </a:rPr>
              <a:t>(see previous slide)</a:t>
            </a:r>
            <a:endParaRPr lang="en-US" sz="1400" dirty="0">
              <a:latin typeface="Arial" panose="020B0604020202020204" pitchFamily="34" charset="0"/>
              <a:cs typeface="Arial" panose="020B0604020202020204" pitchFamily="34" charset="0"/>
            </a:endParaRPr>
          </a:p>
        </p:txBody>
      </p:sp>
      <p:sp>
        <p:nvSpPr>
          <p:cNvPr id="11" name="TextBox 7">
            <a:extLst>
              <a:ext uri="{FF2B5EF4-FFF2-40B4-BE49-F238E27FC236}">
                <a16:creationId xmlns:a16="http://schemas.microsoft.com/office/drawing/2014/main" id="{A897897D-C568-B204-6568-514AD4B71A5C}"/>
              </a:ext>
            </a:extLst>
          </p:cNvPr>
          <p:cNvSpPr txBox="1"/>
          <p:nvPr/>
        </p:nvSpPr>
        <p:spPr>
          <a:xfrm>
            <a:off x="7752548" y="3324229"/>
            <a:ext cx="4318001"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margin of [MM</a:t>
            </a:r>
            <a:r>
              <a:rPr lang="en-US" sz="1400">
                <a:latin typeface="Arial" panose="020B0604020202020204" pitchFamily="34" charset="0"/>
                <a:cs typeface="Arial" panose="020B0604020202020204" pitchFamily="34" charset="0"/>
              </a:rPr>
              <a:t>]%, </a:t>
            </a:r>
            <a:r>
              <a:rPr lang="en-US" sz="1400">
                <a:solidFill/>
                <a:latin typeface="Arial" panose="020B0604020202020204" pitchFamily="34" charset="0"/>
                <a:cs typeface="Arial" panose="020B0604020202020204" pitchFamily="34" charset="0"/>
              </a:rPr>
              <a:t>with a 10 percentage-point reduction to reflect competitive-edge rates and a 10 percentage-point increase due to lower billing costs and higher patient responsibility collections because of the member credit card. </a:t>
            </a:r>
            <a:endParaRPr lang="en-US" sz="140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34749"/>
            <a:ext cx="7986417" cy="707886"/>
          </a:xfrm>
          <a:prstGeom prst="rect">
            <a:avLst/>
          </a:prstGeom>
          <a:noFill/>
        </p:spPr>
        <p:txBody>
          <a:bodyPr wrap="none" rtlCol="0">
            <a:spAutoFit/>
          </a:bodyPr>
          <a:lstStyle/>
          <a:p>
            <a:r>
              <a:rPr lang="en-US" sz="4000" b="1" dirty="0">
                <a:latin typeface="Garamond" panose="02020404030301010803" pitchFamily="18" charset="0"/>
                <a:cs typeface="Calibri" panose="020F0502020204030204" pitchFamily="34" charset="0"/>
              </a:rPr>
              <a:t>Year 4 Projected Revenue and Profit</a:t>
            </a:r>
          </a:p>
        </p:txBody>
      </p:sp>
    </p:spTree>
    <p:extLst>
      <p:ext uri="{BB962C8B-B14F-4D97-AF65-F5344CB8AC3E}">
        <p14:creationId xmlns:p14="http://schemas.microsoft.com/office/powerpoint/2010/main" val="1419816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593B5-638B-49BE-26DE-C8602BBC0E7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FAEFD8D-BF18-1FEE-115A-E66758DA0258}"/>
              </a:ext>
            </a:extLst>
          </p:cNvPr>
          <p:cNvSpPr>
            <a:spLocks noGrp="1"/>
          </p:cNvSpPr>
          <p:nvPr>
            <p:ph type="sldNum" sz="quarter" idx="12"/>
          </p:nvPr>
        </p:nvSpPr>
        <p:spPr>
          <a:xfrm>
            <a:off x="9223551" y="6277663"/>
            <a:ext cx="2743200" cy="250380"/>
          </a:xfrm>
        </p:spPr>
        <p:txBody>
          <a:bodyPr/>
          <a:lstStyle/>
          <a:p>
            <a:fld id="{3AFC719D-C4A7-4544-876E-D411D11AF6C9}" type="slidenum">
              <a:rPr lang="en-US" smtClean="0"/>
              <a:t>16</a:t>
            </a:fld>
            <a:endParaRPr lang="en-US" dirty="0"/>
          </a:p>
        </p:txBody>
      </p:sp>
      <p:sp>
        <p:nvSpPr>
          <p:cNvPr id="27" name="Title 1">
            <a:extLst>
              <a:ext uri="{FF2B5EF4-FFF2-40B4-BE49-F238E27FC236}">
                <a16:creationId xmlns:a16="http://schemas.microsoft.com/office/drawing/2014/main" id="{A363FE8B-56C4-6B32-3042-FA1039A4CDF7}"/>
              </a:ext>
            </a:extLst>
          </p:cNvPr>
          <p:cNvSpPr txBox="1">
            <a:spLocks/>
          </p:cNvSpPr>
          <p:nvPr/>
        </p:nvSpPr>
        <p:spPr>
          <a:xfrm>
            <a:off x="319041" y="64776"/>
            <a:ext cx="11647709"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Garamond" panose="02020404030301010803" pitchFamily="18" charset="0"/>
              </a:rPr>
              <a:t>The Win/Win of Cutting Out the Middle Man</a:t>
            </a:r>
          </a:p>
        </p:txBody>
      </p:sp>
      <p:pic>
        <p:nvPicPr>
          <p:cNvPr id="2" name="Picture 2" descr="Key Benefit Administrators Partners with Tennova Healthcare and UT Medical  Center to Provide Direct-to-Employer Health Plans for East Tennessee  Employers | Business Wire">
            <a:extLst>
              <a:ext uri="{FF2B5EF4-FFF2-40B4-BE49-F238E27FC236}">
                <a16:creationId xmlns:a16="http://schemas.microsoft.com/office/drawing/2014/main" id="{10994955-CED5-3E1B-7F3C-835E48DC7E7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01" t="37311" r="2234" b="36582"/>
          <a:stretch/>
        </p:blipFill>
        <p:spPr bwMode="auto">
          <a:xfrm>
            <a:off x="581967" y="6528043"/>
            <a:ext cx="1678913" cy="25513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6">
            <a:extLst>
              <a:ext uri="{FF2B5EF4-FFF2-40B4-BE49-F238E27FC236}">
                <a16:creationId xmlns:a16="http://schemas.microsoft.com/office/drawing/2014/main" id="{B0412580-A7E8-3551-02A1-C9D9D633B815}"/>
              </a:ext>
            </a:extLst>
          </p:cNvPr>
          <p:cNvSpPr/>
          <p:nvPr/>
        </p:nvSpPr>
        <p:spPr>
          <a:xfrm>
            <a:off x="2732818" y="6622035"/>
            <a:ext cx="9459182" cy="25513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3" name="Chart 12">
            <a:extLst>
              <a:ext uri="{FF2B5EF4-FFF2-40B4-BE49-F238E27FC236}">
                <a16:creationId xmlns:a16="http://schemas.microsoft.com/office/drawing/2014/main" id="{2FDC37FB-F9CB-CB51-3444-07C987959459}"/>
              </a:ext>
            </a:extLst>
          </p:cNvPr>
          <p:cNvGraphicFramePr/>
          <p:nvPr>
            <p:extLst>
              <p:ext uri="{D42A27DB-BD31-4B8C-83A1-F6EECF244321}">
                <p14:modId xmlns:p14="http://schemas.microsoft.com/office/powerpoint/2010/main" val="370357582"/>
              </p:ext>
            </p:extLst>
          </p:nvPr>
        </p:nvGraphicFramePr>
        <p:xfrm>
          <a:off x="816149" y="1793654"/>
          <a:ext cx="8128000" cy="4440162"/>
        </p:xfrm>
        <a:graphic>
          <a:graphicData uri="http://schemas.openxmlformats.org/drawingml/2006/chart">
            <c:chart xmlns:c="http://schemas.openxmlformats.org/drawingml/2006/chart" xmlns:r="http://schemas.openxmlformats.org/officeDocument/2006/relationships" r:id="rId3"/>
          </a:graphicData>
        </a:graphic>
      </p:graphicFrame>
      <p:cxnSp>
        <p:nvCxnSpPr>
          <p:cNvPr id="15" name="Straight Connector 14">
            <a:extLst>
              <a:ext uri="{FF2B5EF4-FFF2-40B4-BE49-F238E27FC236}">
                <a16:creationId xmlns:a16="http://schemas.microsoft.com/office/drawing/2014/main" id="{4F7F9C2D-FC89-FE2F-3E35-0FD7EF539AB6}"/>
              </a:ext>
            </a:extLst>
          </p:cNvPr>
          <p:cNvCxnSpPr>
            <a:cxnSpLocks/>
          </p:cNvCxnSpPr>
          <p:nvPr/>
        </p:nvCxnSpPr>
        <p:spPr>
          <a:xfrm>
            <a:off x="5235191" y="2311121"/>
            <a:ext cx="4114292" cy="677715"/>
          </a:xfrm>
          <a:prstGeom prst="line">
            <a:avLst/>
          </a:prstGeom>
          <a:ln w="38100">
            <a:solidFill>
              <a:schemeClr val="bg2">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7344484-8402-A263-F466-E2DCFDA5D226}"/>
              </a:ext>
            </a:extLst>
          </p:cNvPr>
          <p:cNvCxnSpPr>
            <a:cxnSpLocks/>
          </p:cNvCxnSpPr>
          <p:nvPr/>
        </p:nvCxnSpPr>
        <p:spPr>
          <a:xfrm flipV="1">
            <a:off x="1980502" y="2853732"/>
            <a:ext cx="7243048" cy="790152"/>
          </a:xfrm>
          <a:prstGeom prst="line">
            <a:avLst/>
          </a:prstGeom>
          <a:ln w="38100">
            <a:solidFill>
              <a:schemeClr val="accent6"/>
            </a:solidFill>
            <a:prstDash val="lg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3D759F0-ABBE-F1D2-1FE5-BBA5813AC202}"/>
              </a:ext>
            </a:extLst>
          </p:cNvPr>
          <p:cNvSpPr txBox="1"/>
          <p:nvPr/>
        </p:nvSpPr>
        <p:spPr>
          <a:xfrm>
            <a:off x="9223550" y="2945835"/>
            <a:ext cx="2540359" cy="923330"/>
          </a:xfrm>
          <a:prstGeom prst="rect">
            <a:avLst/>
          </a:prstGeom>
          <a:noFill/>
        </p:spPr>
        <p:txBody>
          <a:bodyPr wrap="square" rtlCol="0">
            <a:spAutoFit/>
          </a:bodyPr>
          <a:lstStyle/>
          <a:p>
            <a:pPr algn="ctr"/>
            <a:r>
              <a:rPr lang="en-US" b="1" dirty="0"/>
              <a:t>Employers See Dramatically Lower Overall Healthcare Costs</a:t>
            </a:r>
          </a:p>
        </p:txBody>
      </p:sp>
      <p:sp>
        <p:nvSpPr>
          <p:cNvPr id="20" name="TextBox 19">
            <a:extLst>
              <a:ext uri="{FF2B5EF4-FFF2-40B4-BE49-F238E27FC236}">
                <a16:creationId xmlns:a16="http://schemas.microsoft.com/office/drawing/2014/main" id="{90E960F9-80CD-9B92-C447-18EE3C1476C8}"/>
              </a:ext>
            </a:extLst>
          </p:cNvPr>
          <p:cNvSpPr txBox="1"/>
          <p:nvPr/>
        </p:nvSpPr>
        <p:spPr>
          <a:xfrm>
            <a:off x="9223551" y="2065506"/>
            <a:ext cx="2540359" cy="923330"/>
          </a:xfrm>
          <a:prstGeom prst="rect">
            <a:avLst/>
          </a:prstGeom>
          <a:noFill/>
        </p:spPr>
        <p:txBody>
          <a:bodyPr wrap="square" rtlCol="0">
            <a:spAutoFit/>
          </a:bodyPr>
          <a:lstStyle/>
          <a:p>
            <a:pPr algn="ctr"/>
            <a:r>
              <a:rPr lang="en-US" b="1" dirty="0">
                <a:solidFill>
                  <a:schemeClr val="accent6">
                    <a:lumMod val="75000"/>
                  </a:schemeClr>
                </a:solidFill>
              </a:rPr>
              <a:t>Healthcare </a:t>
            </a:r>
            <a:r>
              <a:rPr lang="en-US" b="1" i="1" dirty="0">
                <a:solidFill>
                  <a:schemeClr val="accent6">
                    <a:lumMod val="75000"/>
                  </a:schemeClr>
                </a:solidFill>
              </a:rPr>
              <a:t>Delivery</a:t>
            </a:r>
            <a:r>
              <a:rPr lang="en-US" b="1" dirty="0">
                <a:solidFill>
                  <a:schemeClr val="accent6">
                    <a:lumMod val="75000"/>
                  </a:schemeClr>
                </a:solidFill>
              </a:rPr>
              <a:t> Costs Are Able to Continue to Grow</a:t>
            </a:r>
          </a:p>
        </p:txBody>
      </p:sp>
    </p:spTree>
    <p:extLst>
      <p:ext uri="{BB962C8B-B14F-4D97-AF65-F5344CB8AC3E}">
        <p14:creationId xmlns:p14="http://schemas.microsoft.com/office/powerpoint/2010/main" val="4246493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7B89F-DAD6-6909-B929-104898F647D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9ACB7BA-9C15-20F8-F38F-B14116D8AB2C}"/>
              </a:ext>
            </a:extLst>
          </p:cNvPr>
          <p:cNvSpPr>
            <a:spLocks noGrp="1"/>
          </p:cNvSpPr>
          <p:nvPr>
            <p:ph type="sldNum" sz="quarter" idx="12"/>
          </p:nvPr>
        </p:nvSpPr>
        <p:spPr>
          <a:xfrm>
            <a:off x="9223551" y="6277663"/>
            <a:ext cx="2743200" cy="250380"/>
          </a:xfrm>
        </p:spPr>
        <p:txBody>
          <a:bodyPr/>
          <a:lstStyle/>
          <a:p>
            <a:fld id="{3AFC719D-C4A7-4544-876E-D411D11AF6C9}" type="slidenum">
              <a:rPr lang="en-US" smtClean="0"/>
              <a:t>17</a:t>
            </a:fld>
            <a:endParaRPr lang="en-US" dirty="0"/>
          </a:p>
        </p:txBody>
      </p:sp>
      <p:sp>
        <p:nvSpPr>
          <p:cNvPr id="27" name="Title 1">
            <a:extLst>
              <a:ext uri="{FF2B5EF4-FFF2-40B4-BE49-F238E27FC236}">
                <a16:creationId xmlns:a16="http://schemas.microsoft.com/office/drawing/2014/main" id="{20AA7C80-C75C-F656-2A18-BEED017FA9BB}"/>
              </a:ext>
            </a:extLst>
          </p:cNvPr>
          <p:cNvSpPr txBox="1">
            <a:spLocks/>
          </p:cNvSpPr>
          <p:nvPr/>
        </p:nvSpPr>
        <p:spPr>
          <a:xfrm>
            <a:off x="319042" y="64776"/>
            <a:ext cx="10515600"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Garamond" panose="02020404030301010803" pitchFamily="18" charset="0"/>
              </a:rPr>
              <a:t>Traditional Value-Based Care is Backwards</a:t>
            </a:r>
          </a:p>
        </p:txBody>
      </p:sp>
      <p:pic>
        <p:nvPicPr>
          <p:cNvPr id="2" name="Picture 2" descr="Key Benefit Administrators Partners with Tennova Healthcare and UT Medical  Center to Provide Direct-to-Employer Health Plans for East Tennessee  Employers | Business Wire">
            <a:extLst>
              <a:ext uri="{FF2B5EF4-FFF2-40B4-BE49-F238E27FC236}">
                <a16:creationId xmlns:a16="http://schemas.microsoft.com/office/drawing/2014/main" id="{90211593-E930-5924-3C4A-FB53F8B5D46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01" t="37311" r="2234" b="36582"/>
          <a:stretch/>
        </p:blipFill>
        <p:spPr bwMode="auto">
          <a:xfrm>
            <a:off x="581967" y="6528043"/>
            <a:ext cx="1678913" cy="25513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6">
            <a:extLst>
              <a:ext uri="{FF2B5EF4-FFF2-40B4-BE49-F238E27FC236}">
                <a16:creationId xmlns:a16="http://schemas.microsoft.com/office/drawing/2014/main" id="{B0D660ED-B4CA-3032-3E97-052ADEC6E232}"/>
              </a:ext>
            </a:extLst>
          </p:cNvPr>
          <p:cNvSpPr/>
          <p:nvPr/>
        </p:nvSpPr>
        <p:spPr>
          <a:xfrm>
            <a:off x="2732818" y="6622035"/>
            <a:ext cx="9459182" cy="25513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2">
            <a:extLst>
              <a:ext uri="{FF2B5EF4-FFF2-40B4-BE49-F238E27FC236}">
                <a16:creationId xmlns:a16="http://schemas.microsoft.com/office/drawing/2014/main" id="{7F8FCB88-EDD7-4D7E-5A9B-AC06F9343283}"/>
              </a:ext>
            </a:extLst>
          </p:cNvPr>
          <p:cNvSpPr>
            <a:spLocks noGrp="1"/>
          </p:cNvSpPr>
          <p:nvPr>
            <p:ph idx="1"/>
          </p:nvPr>
        </p:nvSpPr>
        <p:spPr>
          <a:xfrm>
            <a:off x="838202" y="1390339"/>
            <a:ext cx="10515600" cy="4786624"/>
          </a:xfrm>
        </p:spPr>
        <p:txBody>
          <a:bodyPr>
            <a:normAutofit fontScale="92500" lnSpcReduction="10000"/>
          </a:bodyPr>
          <a:lstStyle/>
          <a:p>
            <a:pPr>
              <a:spcAft>
                <a:spcPts val="2400"/>
              </a:spcAft>
              <a:buSzPct val="180000"/>
              <a:buBlip>
                <a:blip r:embed="rId3"/>
              </a:buBlip>
            </a:pPr>
            <a:r>
              <a:rPr lang="en-US" dirty="0"/>
              <a:t>Employers/payer and ACO provider organization spend millions forecasting and contracting for value-based care, negotiating about capitation, metrics, reporting periods and quality measurements. </a:t>
            </a:r>
          </a:p>
          <a:p>
            <a:pPr>
              <a:spcAft>
                <a:spcPts val="2400"/>
              </a:spcAft>
              <a:buSzPct val="180000"/>
              <a:buBlip>
                <a:blip r:embed="rId3"/>
              </a:buBlip>
            </a:pPr>
            <a:r>
              <a:rPr lang="en-US" dirty="0"/>
              <a:t>ACO provider organizations deliver care constantly encumbered by new metrics. Team cost millions watching and optimizing on the metrics. </a:t>
            </a:r>
          </a:p>
          <a:p>
            <a:pPr>
              <a:spcAft>
                <a:spcPts val="2400"/>
              </a:spcAft>
              <a:buSzPct val="180000"/>
              <a:buBlip>
                <a:blip r:embed="rId3"/>
              </a:buBlip>
            </a:pPr>
            <a:r>
              <a:rPr lang="en-US" dirty="0"/>
              <a:t>ACO provider organizations are solely responsible for patient engagement.   </a:t>
            </a:r>
          </a:p>
          <a:p>
            <a:pPr>
              <a:spcAft>
                <a:spcPts val="2400"/>
              </a:spcAft>
              <a:buSzPct val="180000"/>
              <a:buBlip>
                <a:blip r:embed="rId3"/>
              </a:buBlip>
            </a:pPr>
            <a:r>
              <a:rPr lang="en-US" dirty="0"/>
              <a:t>Messy assessments of metrics determine financial outcomes. </a:t>
            </a:r>
          </a:p>
          <a:p>
            <a:pPr>
              <a:spcAft>
                <a:spcPts val="2400"/>
              </a:spcAft>
              <a:buSzPct val="180000"/>
              <a:buBlip>
                <a:blip r:embed="rId3"/>
              </a:buBlip>
            </a:pPr>
            <a:r>
              <a:rPr lang="en-US" dirty="0"/>
              <a:t>Both the ACO provider organizations and the employers/payer find very little value and discontinue this effort. </a:t>
            </a:r>
          </a:p>
        </p:txBody>
      </p:sp>
    </p:spTree>
    <p:extLst>
      <p:ext uri="{BB962C8B-B14F-4D97-AF65-F5344CB8AC3E}">
        <p14:creationId xmlns:p14="http://schemas.microsoft.com/office/powerpoint/2010/main" val="1361868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CFCE5-9F1B-F436-4835-80E5123429F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62D2931-75BD-BCA2-BB69-CCACAFB2AF27}"/>
              </a:ext>
            </a:extLst>
          </p:cNvPr>
          <p:cNvSpPr>
            <a:spLocks noGrp="1"/>
          </p:cNvSpPr>
          <p:nvPr>
            <p:ph type="sldNum" sz="quarter" idx="12"/>
          </p:nvPr>
        </p:nvSpPr>
        <p:spPr>
          <a:xfrm>
            <a:off x="9223551" y="6277663"/>
            <a:ext cx="2743200" cy="250380"/>
          </a:xfrm>
        </p:spPr>
        <p:txBody>
          <a:bodyPr/>
          <a:lstStyle/>
          <a:p>
            <a:fld id="{3AFC719D-C4A7-4544-876E-D411D11AF6C9}" type="slidenum">
              <a:rPr lang="en-US" smtClean="0"/>
              <a:t>18</a:t>
            </a:fld>
            <a:endParaRPr lang="en-US" dirty="0"/>
          </a:p>
        </p:txBody>
      </p:sp>
      <p:sp>
        <p:nvSpPr>
          <p:cNvPr id="27" name="Title 1">
            <a:extLst>
              <a:ext uri="{FF2B5EF4-FFF2-40B4-BE49-F238E27FC236}">
                <a16:creationId xmlns:a16="http://schemas.microsoft.com/office/drawing/2014/main" id="{0468DCD4-62FF-8537-00B9-EEF51653A3CF}"/>
              </a:ext>
            </a:extLst>
          </p:cNvPr>
          <p:cNvSpPr txBox="1">
            <a:spLocks/>
          </p:cNvSpPr>
          <p:nvPr/>
        </p:nvSpPr>
        <p:spPr>
          <a:xfrm>
            <a:off x="319042" y="64776"/>
            <a:ext cx="10515600"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Garamond" panose="02020404030301010803" pitchFamily="18" charset="0"/>
              </a:rPr>
              <a:t>DTE’s Enable True Value-Based Care</a:t>
            </a:r>
          </a:p>
        </p:txBody>
      </p:sp>
      <p:pic>
        <p:nvPicPr>
          <p:cNvPr id="2" name="Picture 2" descr="Key Benefit Administrators Partners with Tennova Healthcare and UT Medical  Center to Provide Direct-to-Employer Health Plans for East Tennessee  Employers | Business Wire">
            <a:extLst>
              <a:ext uri="{FF2B5EF4-FFF2-40B4-BE49-F238E27FC236}">
                <a16:creationId xmlns:a16="http://schemas.microsoft.com/office/drawing/2014/main" id="{E6F9ECA2-A749-DF23-BBBC-26AC3E51450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01" t="37311" r="2234" b="36582"/>
          <a:stretch/>
        </p:blipFill>
        <p:spPr bwMode="auto">
          <a:xfrm>
            <a:off x="581967" y="6528043"/>
            <a:ext cx="1678913" cy="25513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6">
            <a:extLst>
              <a:ext uri="{FF2B5EF4-FFF2-40B4-BE49-F238E27FC236}">
                <a16:creationId xmlns:a16="http://schemas.microsoft.com/office/drawing/2014/main" id="{18E71FFC-1509-4723-A7C8-5593BB4CF41A}"/>
              </a:ext>
            </a:extLst>
          </p:cNvPr>
          <p:cNvSpPr/>
          <p:nvPr/>
        </p:nvSpPr>
        <p:spPr>
          <a:xfrm>
            <a:off x="2732818" y="6622035"/>
            <a:ext cx="9459182" cy="25513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2">
            <a:extLst>
              <a:ext uri="{FF2B5EF4-FFF2-40B4-BE49-F238E27FC236}">
                <a16:creationId xmlns:a16="http://schemas.microsoft.com/office/drawing/2014/main" id="{389B951D-D08A-15C7-84CC-4C257CECE26B}"/>
              </a:ext>
            </a:extLst>
          </p:cNvPr>
          <p:cNvSpPr>
            <a:spLocks noGrp="1"/>
          </p:cNvSpPr>
          <p:nvPr>
            <p:ph idx="1"/>
          </p:nvPr>
        </p:nvSpPr>
        <p:spPr>
          <a:xfrm>
            <a:off x="838202" y="1390339"/>
            <a:ext cx="10515600" cy="4786624"/>
          </a:xfrm>
        </p:spPr>
        <p:txBody>
          <a:bodyPr>
            <a:normAutofit/>
          </a:bodyPr>
          <a:lstStyle/>
          <a:p>
            <a:pPr>
              <a:spcAft>
                <a:spcPts val="2400"/>
              </a:spcAft>
              <a:buSzPct val="180000"/>
              <a:buBlip>
                <a:blip r:embed="rId3"/>
              </a:buBlip>
            </a:pPr>
            <a:r>
              <a:rPr lang="en-US" dirty="0"/>
              <a:t>Employers Choose Maine Street Health because they trust the provider organizations.</a:t>
            </a:r>
          </a:p>
          <a:p>
            <a:pPr>
              <a:spcAft>
                <a:spcPts val="2400"/>
              </a:spcAft>
              <a:buSzPct val="180000"/>
              <a:buBlip>
                <a:blip r:embed="rId3"/>
              </a:buBlip>
            </a:pPr>
            <a:r>
              <a:rPr lang="en-US" dirty="0"/>
              <a:t>Providers in Maine Street Health have the flexibility to deliver exemplary care at a value price.</a:t>
            </a:r>
          </a:p>
          <a:p>
            <a:pPr>
              <a:spcAft>
                <a:spcPts val="2400"/>
              </a:spcAft>
              <a:buSzPct val="180000"/>
              <a:buBlip>
                <a:blip r:embed="rId3"/>
              </a:buBlip>
            </a:pPr>
            <a:r>
              <a:rPr lang="en-US" dirty="0"/>
              <a:t>Employers and provider organizations work </a:t>
            </a:r>
            <a:r>
              <a:rPr lang="en-US" i="1" dirty="0"/>
              <a:t>together</a:t>
            </a:r>
            <a:r>
              <a:rPr lang="en-US" dirty="0"/>
              <a:t> to engage employee members. </a:t>
            </a:r>
          </a:p>
          <a:p>
            <a:pPr>
              <a:spcAft>
                <a:spcPts val="2400"/>
              </a:spcAft>
              <a:buSzPct val="180000"/>
              <a:buBlip>
                <a:blip r:embed="rId3"/>
              </a:buBlip>
            </a:pPr>
            <a:r>
              <a:rPr lang="en-US" dirty="0"/>
              <a:t>Employer loyalty deepens. Employee health improves. Providers see financial gains. </a:t>
            </a:r>
          </a:p>
        </p:txBody>
      </p:sp>
    </p:spTree>
    <p:extLst>
      <p:ext uri="{BB962C8B-B14F-4D97-AF65-F5344CB8AC3E}">
        <p14:creationId xmlns:p14="http://schemas.microsoft.com/office/powerpoint/2010/main" val="36250590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46367</TotalTime>
  <Words>1820</Words>
  <Application>Microsoft Office PowerPoint</Application>
  <PresentationFormat>Widescreen</PresentationFormat>
  <Paragraphs>715</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 Narrow</vt:lpstr>
      <vt:lpstr>Arial</vt:lpstr>
      <vt:lpstr>Calibri</vt:lpstr>
      <vt:lpstr>Calibri Light</vt:lpstr>
      <vt:lpstr>Century Gothic</vt:lpstr>
      <vt:lpstr>Garamond</vt:lpstr>
      <vt:lpstr>Office Theme</vt:lpstr>
      <vt:lpstr>PowerPoint Presentation</vt:lpstr>
      <vt:lpstr>Market Share by Zip Code</vt:lpstr>
      <vt:lpstr>MaineHealth is at the Center of Employer Demand</vt:lpstr>
      <vt:lpstr>MaineHealth is Patient Recommended</vt:lpstr>
      <vt:lpstr>PowerPoint Presentation</vt:lpstr>
      <vt:lpstr>PowerPoint Presentation</vt:lpstr>
      <vt:lpstr>PowerPoint Presentation</vt:lpstr>
      <vt:lpstr>PowerPoint Presentation</vt:lpstr>
      <vt:lpstr>PowerPoint Presentation</vt:lpstr>
      <vt:lpstr>Per-Member Medical Spend in Maine</vt:lpstr>
      <vt:lpstr>The Impact of Just 1% Price or Net Collections Improvement</vt:lpstr>
      <vt:lpstr>Estimated Financial Returns and Assumptions</vt:lpstr>
      <vt:lpstr>FOUR-YEAR PROJECTIONS</vt:lpstr>
      <vt:lpstr>SINGLE YEAR SUMMARY</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113</cp:revision>
  <cp:lastPrinted>2023-07-13T10:24:43Z</cp:lastPrinted>
  <dcterms:created xsi:type="dcterms:W3CDTF">2021-01-20T14:12:11Z</dcterms:created>
  <dcterms:modified xsi:type="dcterms:W3CDTF">2024-11-07T21:30:18Z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