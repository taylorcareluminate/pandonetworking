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47" r:id="rId2"/>
    <p:sldId id="54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536E7-831A-431D-9057-30FDBA16D11C}" v="4" dt="2024-11-05T01:53:53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E3536E7-831A-431D-9057-30FDBA16D11C}"/>
    <pc:docChg chg="delSld modSld">
      <pc:chgData name="Taylor Davis" userId="5c9e72a0-c39f-4aa1-9d7d-64125e78cbe6" providerId="ADAL" clId="{7E3536E7-831A-431D-9057-30FDBA16D11C}" dt="2024-11-05T01:56:36.351" v="168" actId="20577"/>
      <pc:docMkLst>
        <pc:docMk/>
      </pc:docMkLst>
      <pc:sldChg chg="del">
        <pc:chgData name="Taylor Davis" userId="5c9e72a0-c39f-4aa1-9d7d-64125e78cbe6" providerId="ADAL" clId="{7E3536E7-831A-431D-9057-30FDBA16D11C}" dt="2024-11-05T01:53:41.297" v="120" actId="47"/>
        <pc:sldMkLst>
          <pc:docMk/>
          <pc:sldMk cId="94944115" sldId="546"/>
        </pc:sldMkLst>
      </pc:sldChg>
      <pc:sldChg chg="addSp modSp mod">
        <pc:chgData name="Taylor Davis" userId="5c9e72a0-c39f-4aa1-9d7d-64125e78cbe6" providerId="ADAL" clId="{7E3536E7-831A-431D-9057-30FDBA16D11C}" dt="2024-11-05T01:54:34.142" v="130" actId="20577"/>
        <pc:sldMkLst>
          <pc:docMk/>
          <pc:sldMk cId="3892560184" sldId="547"/>
        </pc:sldMkLst>
        <pc:spChg chg="mod">
          <ac:chgData name="Taylor Davis" userId="5c9e72a0-c39f-4aa1-9d7d-64125e78cbe6" providerId="ADAL" clId="{7E3536E7-831A-431D-9057-30FDBA16D11C}" dt="2024-11-05T01:54:34.142" v="130" actId="20577"/>
          <ac:spMkLst>
            <pc:docMk/>
            <pc:sldMk cId="3892560184" sldId="547"/>
            <ac:spMk id="2" creationId="{29D06256-72DC-B631-BBA3-69573AD2A8ED}"/>
          </ac:spMkLst>
        </pc:spChg>
        <pc:spChg chg="mod">
          <ac:chgData name="Taylor Davis" userId="5c9e72a0-c39f-4aa1-9d7d-64125e78cbe6" providerId="ADAL" clId="{7E3536E7-831A-431D-9057-30FDBA16D11C}" dt="2024-11-05T01:52:05.128" v="42" actId="20577"/>
          <ac:spMkLst>
            <pc:docMk/>
            <pc:sldMk cId="3892560184" sldId="547"/>
            <ac:spMk id="6" creationId="{51525B4B-8541-3853-B0CD-11243C17C1B6}"/>
          </ac:spMkLst>
        </pc:spChg>
        <pc:spChg chg="mod">
          <ac:chgData name="Taylor Davis" userId="5c9e72a0-c39f-4aa1-9d7d-64125e78cbe6" providerId="ADAL" clId="{7E3536E7-831A-431D-9057-30FDBA16D11C}" dt="2024-11-05T01:51:28.963" v="30" actId="1076"/>
          <ac:spMkLst>
            <pc:docMk/>
            <pc:sldMk cId="3892560184" sldId="547"/>
            <ac:spMk id="7" creationId="{D37823B2-D89D-4DC8-1E14-CF95E91C5800}"/>
          </ac:spMkLst>
        </pc:spChg>
        <pc:spChg chg="add mod">
          <ac:chgData name="Taylor Davis" userId="5c9e72a0-c39f-4aa1-9d7d-64125e78cbe6" providerId="ADAL" clId="{7E3536E7-831A-431D-9057-30FDBA16D11C}" dt="2024-11-05T01:52:36.307" v="115" actId="20577"/>
          <ac:spMkLst>
            <pc:docMk/>
            <pc:sldMk cId="3892560184" sldId="547"/>
            <ac:spMk id="10" creationId="{3C49838E-E72F-F394-FF92-966B63E74FCA}"/>
          </ac:spMkLst>
        </pc:spChg>
        <pc:graphicFrameChg chg="mod modGraphic">
          <ac:chgData name="Taylor Davis" userId="5c9e72a0-c39f-4aa1-9d7d-64125e78cbe6" providerId="ADAL" clId="{7E3536E7-831A-431D-9057-30FDBA16D11C}" dt="2024-11-05T01:53:34.828" v="119" actId="122"/>
          <ac:graphicFrameMkLst>
            <pc:docMk/>
            <pc:sldMk cId="3892560184" sldId="547"/>
            <ac:graphicFrameMk id="8" creationId="{21A1B493-0DB8-CD9E-9E38-7E9AE810125A}"/>
          </ac:graphicFrameMkLst>
        </pc:graphicFrameChg>
      </pc:sldChg>
      <pc:sldChg chg="modSp mod">
        <pc:chgData name="Taylor Davis" userId="5c9e72a0-c39f-4aa1-9d7d-64125e78cbe6" providerId="ADAL" clId="{7E3536E7-831A-431D-9057-30FDBA16D11C}" dt="2024-11-05T01:56:36.351" v="168" actId="20577"/>
        <pc:sldMkLst>
          <pc:docMk/>
          <pc:sldMk cId="304424432" sldId="548"/>
        </pc:sldMkLst>
        <pc:spChg chg="mod">
          <ac:chgData name="Taylor Davis" userId="5c9e72a0-c39f-4aa1-9d7d-64125e78cbe6" providerId="ADAL" clId="{7E3536E7-831A-431D-9057-30FDBA16D11C}" dt="2024-11-05T01:56:36.351" v="168" actId="20577"/>
          <ac:spMkLst>
            <pc:docMk/>
            <pc:sldMk cId="304424432" sldId="548"/>
            <ac:spMk id="2" creationId="{85B1AD69-803F-89AE-EE38-2B87E7EF50D3}"/>
          </ac:spMkLst>
        </pc:spChg>
        <pc:graphicFrameChg chg="mod modGraphic">
          <ac:chgData name="Taylor Davis" userId="5c9e72a0-c39f-4aa1-9d7d-64125e78cbe6" providerId="ADAL" clId="{7E3536E7-831A-431D-9057-30FDBA16D11C}" dt="2024-11-05T01:54:04.056" v="128" actId="404"/>
          <ac:graphicFrameMkLst>
            <pc:docMk/>
            <pc:sldMk cId="304424432" sldId="548"/>
            <ac:graphicFrameMk id="6" creationId="{1FBFDCBB-5816-9640-2EA1-4ABF980D588E}"/>
          </ac:graphicFrameMkLst>
        </pc:graphicFrameChg>
      </pc:sldChg>
      <pc:sldChg chg="modSp del mod">
        <pc:chgData name="Taylor Davis" userId="5c9e72a0-c39f-4aa1-9d7d-64125e78cbe6" providerId="ADAL" clId="{7E3536E7-831A-431D-9057-30FDBA16D11C}" dt="2024-11-05T01:56:24.875" v="155" actId="47"/>
        <pc:sldMkLst>
          <pc:docMk/>
          <pc:sldMk cId="466156552" sldId="549"/>
        </pc:sldMkLst>
        <pc:spChg chg="mod">
          <ac:chgData name="Taylor Davis" userId="5c9e72a0-c39f-4aa1-9d7d-64125e78cbe6" providerId="ADAL" clId="{7E3536E7-831A-431D-9057-30FDBA16D11C}" dt="2024-11-05T01:56:20.854" v="154" actId="20577"/>
          <ac:spMkLst>
            <pc:docMk/>
            <pc:sldMk cId="466156552" sldId="549"/>
            <ac:spMk id="2" creationId="{2AE2627C-1541-375D-3A30-D1D1828895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98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18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9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93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8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81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4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3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16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7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250807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6256-72DC-B631-BBA3-69573AD2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Per-Member Medical Spend in Maine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BDA4B-1E84-E6AD-7D58-31AD1105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CFBE6-6040-1980-CD43-0118D467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25B4B-8541-3853-B0CD-11243C17C1B6}"/>
              </a:ext>
            </a:extLst>
          </p:cNvPr>
          <p:cNvSpPr txBox="1"/>
          <p:nvPr/>
        </p:nvSpPr>
        <p:spPr>
          <a:xfrm>
            <a:off x="139799" y="2103723"/>
            <a:ext cx="30590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PMPY Commercial </a:t>
            </a:r>
          </a:p>
          <a:p>
            <a:pPr algn="ctr"/>
            <a:r>
              <a:rPr lang="en-US" sz="2400" b="1" dirty="0"/>
              <a:t>Medical </a:t>
            </a:r>
          </a:p>
          <a:p>
            <a:pPr algn="ctr"/>
            <a:r>
              <a:rPr lang="en-US" sz="2400" b="1" dirty="0"/>
              <a:t>Inpatient/Ambulatory </a:t>
            </a:r>
          </a:p>
          <a:p>
            <a:pPr algn="ctr"/>
            <a:r>
              <a:rPr lang="en-US" sz="2400" b="1" dirty="0"/>
              <a:t>Spend*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823B2-D89D-4DC8-1E14-CF95E91C5800}"/>
              </a:ext>
            </a:extLst>
          </p:cNvPr>
          <p:cNvSpPr txBox="1"/>
          <p:nvPr/>
        </p:nvSpPr>
        <p:spPr>
          <a:xfrm>
            <a:off x="793118" y="3525625"/>
            <a:ext cx="17524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$7,779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A1B493-0DB8-CD9E-9E38-7E9AE8101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71711"/>
              </p:ext>
            </p:extLst>
          </p:nvPr>
        </p:nvGraphicFramePr>
        <p:xfrm>
          <a:off x="3485232" y="1597331"/>
          <a:ext cx="8354832" cy="4058748"/>
        </p:xfrm>
        <a:graphic>
          <a:graphicData uri="http://schemas.openxmlformats.org/drawingml/2006/table">
            <a:tbl>
              <a:tblPr/>
              <a:tblGrid>
                <a:gridCol w="3075824">
                  <a:extLst>
                    <a:ext uri="{9D8B030D-6E8A-4147-A177-3AD203B41FA5}">
                      <a16:colId xmlns:a16="http://schemas.microsoft.com/office/drawing/2014/main" val="1055420789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1409171867"/>
                    </a:ext>
                  </a:extLst>
                </a:gridCol>
                <a:gridCol w="1263192">
                  <a:extLst>
                    <a:ext uri="{9D8B030D-6E8A-4147-A177-3AD203B41FA5}">
                      <a16:colId xmlns:a16="http://schemas.microsoft.com/office/drawing/2014/main" val="14081307"/>
                    </a:ext>
                  </a:extLst>
                </a:gridCol>
                <a:gridCol w="1329179">
                  <a:extLst>
                    <a:ext uri="{9D8B030D-6E8A-4147-A177-3AD203B41FA5}">
                      <a16:colId xmlns:a16="http://schemas.microsoft.com/office/drawing/2014/main" val="3305028853"/>
                    </a:ext>
                  </a:extLst>
                </a:gridCol>
                <a:gridCol w="1395165">
                  <a:extLst>
                    <a:ext uri="{9D8B030D-6E8A-4147-A177-3AD203B41FA5}">
                      <a16:colId xmlns:a16="http://schemas.microsoft.com/office/drawing/2014/main" val="1296173635"/>
                    </a:ext>
                  </a:extLst>
                </a:gridCol>
              </a:tblGrid>
              <a:tr h="102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 System/Group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Inpatient Market Share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Outpatient Market Share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Inpatient Dollars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Outpatient Dollars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467811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MaineHealth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$ 1,130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$ 1,214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94804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$ 502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$ 800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556571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 Maine Healthcare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$ 141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$ 243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990383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MaineGeneral Health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$ 151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$ 275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078157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Standalone Hospitals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$ 97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$ 374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705492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Covenant Health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$ 93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$ 213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423869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DECH and CCH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$ 55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180673"/>
                  </a:ext>
                </a:extLst>
              </a:tr>
              <a:tr h="3796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Independent Ambulatory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$ 2,484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3850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C49838E-E72F-F394-FF92-966B63E74FCA}"/>
              </a:ext>
            </a:extLst>
          </p:cNvPr>
          <p:cNvSpPr txBox="1"/>
          <p:nvPr/>
        </p:nvSpPr>
        <p:spPr>
          <a:xfrm>
            <a:off x="523161" y="4439770"/>
            <a:ext cx="22923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*Number is derived from KBA data warehouse, drawing from over $3B in yearly adjudicated charges to estimate PMPY spend by inpatient, outpatient and professional charges. Pharmacy and non-health-system charges are excluded.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Using the Milliman area adjustment factors by zip code, charges are standardized to local estimates.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These estimated charges are conservative as KBA claims average ~15% below the market average. </a:t>
            </a:r>
          </a:p>
        </p:txBody>
      </p:sp>
    </p:spTree>
    <p:extLst>
      <p:ext uri="{BB962C8B-B14F-4D97-AF65-F5344CB8AC3E}">
        <p14:creationId xmlns:p14="http://schemas.microsoft.com/office/powerpoint/2010/main" val="389256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AD69-803F-89AE-EE38-2B87E7EF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047" y="214175"/>
            <a:ext cx="11501485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Impact of Just 1% Price or Net Collections Improvement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FBFDCBB-5816-9640-2EA1-4ABF980D5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8842608"/>
              </p:ext>
            </p:extLst>
          </p:nvPr>
        </p:nvGraphicFramePr>
        <p:xfrm>
          <a:off x="1421860" y="1709420"/>
          <a:ext cx="9931941" cy="3801525"/>
        </p:xfrm>
        <a:graphic>
          <a:graphicData uri="http://schemas.openxmlformats.org/drawingml/2006/table">
            <a:tbl>
              <a:tblPr/>
              <a:tblGrid>
                <a:gridCol w="3836567">
                  <a:extLst>
                    <a:ext uri="{9D8B030D-6E8A-4147-A177-3AD203B41FA5}">
                      <a16:colId xmlns:a16="http://schemas.microsoft.com/office/drawing/2014/main" val="1230197357"/>
                    </a:ext>
                  </a:extLst>
                </a:gridCol>
                <a:gridCol w="1089676">
                  <a:extLst>
                    <a:ext uri="{9D8B030D-6E8A-4147-A177-3AD203B41FA5}">
                      <a16:colId xmlns:a16="http://schemas.microsoft.com/office/drawing/2014/main" val="1336076965"/>
                    </a:ext>
                  </a:extLst>
                </a:gridCol>
                <a:gridCol w="1089676">
                  <a:extLst>
                    <a:ext uri="{9D8B030D-6E8A-4147-A177-3AD203B41FA5}">
                      <a16:colId xmlns:a16="http://schemas.microsoft.com/office/drawing/2014/main" val="2643129316"/>
                    </a:ext>
                  </a:extLst>
                </a:gridCol>
                <a:gridCol w="1089676">
                  <a:extLst>
                    <a:ext uri="{9D8B030D-6E8A-4147-A177-3AD203B41FA5}">
                      <a16:colId xmlns:a16="http://schemas.microsoft.com/office/drawing/2014/main" val="2353997777"/>
                    </a:ext>
                  </a:extLst>
                </a:gridCol>
                <a:gridCol w="1413173">
                  <a:extLst>
                    <a:ext uri="{9D8B030D-6E8A-4147-A177-3AD203B41FA5}">
                      <a16:colId xmlns:a16="http://schemas.microsoft.com/office/drawing/2014/main" val="1807168460"/>
                    </a:ext>
                  </a:extLst>
                </a:gridCol>
                <a:gridCol w="1413173">
                  <a:extLst>
                    <a:ext uri="{9D8B030D-6E8A-4147-A177-3AD203B41FA5}">
                      <a16:colId xmlns:a16="http://schemas.microsoft.com/office/drawing/2014/main" val="3552182491"/>
                    </a:ext>
                  </a:extLst>
                </a:gridCol>
              </a:tblGrid>
              <a:tr h="90226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 System/Group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Margin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Government Margin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Per-Member Net Income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Revenue Impact of 1% Price Improvement Per 100K Members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 Income Impact of 1% Price Improvement Per 100K Members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96556"/>
                  </a:ext>
                </a:extLst>
              </a:tr>
              <a:tr h="579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MaineHealth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-111%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$352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$2,343,835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$351,575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449807"/>
                  </a:ext>
                </a:extLst>
              </a:tr>
              <a:tr h="579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-127%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$351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$1,301,673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$351,452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946806"/>
                  </a:ext>
                </a:extLst>
              </a:tr>
              <a:tr h="579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 Maine Healthcare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-175%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$88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$384,647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$88,469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64899"/>
                  </a:ext>
                </a:extLst>
              </a:tr>
              <a:tr h="579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MaineGeneral Health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-222%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$149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$425,718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$149,001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540859"/>
                  </a:ext>
                </a:extLst>
              </a:tr>
              <a:tr h="579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Standalone Hospitals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-117%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$170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$470,911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$169,528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88113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42BDA-2B63-2646-338F-9A578DF8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9436C-708C-33F5-A1C7-13D70A73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ED48EC5-AD77-055E-8E24-65BED282346A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44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313</Words>
  <Application>Microsoft Office PowerPoint</Application>
  <PresentationFormat>Widescreen</PresentationFormat>
  <Paragraphs>95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 Narrow</vt:lpstr>
      <vt:lpstr>Arial</vt:lpstr>
      <vt:lpstr>Calibri</vt:lpstr>
      <vt:lpstr>Calibri Light</vt:lpstr>
      <vt:lpstr>1_Office Theme</vt:lpstr>
      <vt:lpstr>Per-Member Medical Spend in Maine</vt:lpstr>
      <vt:lpstr>The Impact of Just 1% Price or Net Collections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Davis</dc:creator>
  <cp:lastModifiedBy>Taylor Davis</cp:lastModifiedBy>
  <cp:revision>1</cp:revision>
  <dcterms:created xsi:type="dcterms:W3CDTF">2024-11-04T20:20:00Z</dcterms:created>
  <dcterms:modified xsi:type="dcterms:W3CDTF">2024-11-05T01:56:41Z</dcterms:modified>
</cp:coreProperties>
</file>