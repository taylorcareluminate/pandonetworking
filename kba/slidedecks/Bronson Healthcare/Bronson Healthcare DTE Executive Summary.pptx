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22"/>
  </p:notesMasterIdLst>
  <p:sldIdLst>
    <p:sldId id="588" r:id="rId8"/>
    <p:sldId id="454" r:id="rId9"/>
    <p:sldId id="549" r:id="rId10"/>
    <p:sldId id="2145726869" r:id="rId11"/>
    <p:sldId id="2145726871" r:id="rId12"/>
    <p:sldId id="580" r:id="rId13"/>
    <p:sldId id="2145726856" r:id="rId14"/>
    <p:sldId id="614" r:id="rId15"/>
    <p:sldId id="582" r:id="rId16"/>
    <p:sldId id="2145726874" r:id="rId17"/>
    <p:sldId id="2145726873" r:id="rId18"/>
    <p:sldId id="585" r:id="rId19"/>
    <p:sldId id="2145726872" r:id="rId20"/>
    <p:sldId id="472" r:id="rId21"/>
  </p:sldIdLst>
  <p:sldSz cx="12192000" cy="6858000"/>
  <p:notesSz cx="7315200" cy="96012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0B599E-6BE5-4987-92AC-2D08D2F4DA22}" v="1" dt="2025-09-25T22:44:24.909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 varScale="1">
        <p:scale>
          <a:sx n="84" d="100"/>
          <a:sy n="84" d="100"/>
        </p:scale>
        <p:origin x="461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7D0B6B51-DA5F-4021-8848-39BD0005AA08}"/>
    <pc:docChg chg="addSld delSld modSld delMainMaster">
      <pc:chgData name="Taylor Davis" userId="5c9e72a0-c39f-4aa1-9d7d-64125e78cbe6" providerId="ADAL" clId="{7D0B6B51-DA5F-4021-8848-39BD0005AA08}" dt="2025-09-25T22:44:24.906" v="4"/>
      <pc:docMkLst>
        <pc:docMk/>
      </pc:docMkLst>
      <pc:sldChg chg="del">
        <pc:chgData name="Taylor Davis" userId="5c9e72a0-c39f-4aa1-9d7d-64125e78cbe6" providerId="ADAL" clId="{7D0B6B51-DA5F-4021-8848-39BD0005AA08}" dt="2025-09-25T22:43:56.973" v="2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70776767" sldId="288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2181070403" sldId="289"/>
        </pc:sldMkLst>
      </pc:sldChg>
      <pc:sldChg chg="del">
        <pc:chgData name="Taylor Davis" userId="5c9e72a0-c39f-4aa1-9d7d-64125e78cbe6" providerId="ADAL" clId="{7D0B6B51-DA5F-4021-8848-39BD0005AA08}" dt="2025-09-25T22:43:56.973" v="2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7D0B6B51-DA5F-4021-8848-39BD0005AA08}" dt="2025-09-25T22:43:56.973" v="2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7D0B6B51-DA5F-4021-8848-39BD0005AA08}" dt="2025-09-25T22:43:32.683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0" sldId="459"/>
        </pc:sldMkLst>
      </pc:sldChg>
      <pc:sldChg chg="del">
        <pc:chgData name="Taylor Davis" userId="5c9e72a0-c39f-4aa1-9d7d-64125e78cbe6" providerId="ADAL" clId="{7D0B6B51-DA5F-4021-8848-39BD0005AA08}" dt="2025-09-25T22:43:32.683" v="0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7D0B6B51-DA5F-4021-8848-39BD0005AA08}" dt="2025-09-25T22:43:56.973" v="2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7D0B6B51-DA5F-4021-8848-39BD0005AA08}" dt="2025-09-25T22:43:56.973" v="2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7D0B6B51-DA5F-4021-8848-39BD0005AA08}" dt="2025-09-25T22:43:32.683" v="0" actId="47"/>
        <pc:sldMkLst>
          <pc:docMk/>
          <pc:sldMk cId="500461553" sldId="521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7D0B6B51-DA5F-4021-8848-39BD0005AA08}" dt="2025-09-25T22:43:32.683" v="0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7D0B6B51-DA5F-4021-8848-39BD0005AA08}" dt="2025-09-25T22:43:32.683" v="0" actId="47"/>
        <pc:sldMkLst>
          <pc:docMk/>
          <pc:sldMk cId="4064752386" sldId="564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7D0B6B51-DA5F-4021-8848-39BD0005AA08}" dt="2025-09-25T22:43:56.973" v="2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7D0B6B51-DA5F-4021-8848-39BD0005AA08}" dt="2025-09-25T22:43:56.973" v="2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7D0B6B51-DA5F-4021-8848-39BD0005AA08}" dt="2025-09-25T22:43:56.973" v="2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7D0B6B51-DA5F-4021-8848-39BD0005AA08}" dt="2025-09-25T22:43:32.683" v="0" actId="47"/>
        <pc:sldMkLst>
          <pc:docMk/>
          <pc:sldMk cId="4042275972" sldId="613"/>
        </pc:sldMkLst>
      </pc:sldChg>
      <pc:sldChg chg="add del">
        <pc:chgData name="Taylor Davis" userId="5c9e72a0-c39f-4aa1-9d7d-64125e78cbe6" providerId="ADAL" clId="{7D0B6B51-DA5F-4021-8848-39BD0005AA08}" dt="2025-09-25T22:44:24.906" v="4"/>
        <pc:sldMkLst>
          <pc:docMk/>
          <pc:sldMk cId="1281542618" sldId="614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2409843331" sldId="2145726629"/>
        </pc:sldMkLst>
      </pc:sldChg>
      <pc:sldChg chg="delSp add del setBg delDesignElem">
        <pc:chgData name="Taylor Davis" userId="5c9e72a0-c39f-4aa1-9d7d-64125e78cbe6" providerId="ADAL" clId="{7D0B6B51-DA5F-4021-8848-39BD0005AA08}" dt="2025-09-25T22:44:24.906" v="4"/>
        <pc:sldMkLst>
          <pc:docMk/>
          <pc:sldMk cId="2174952421" sldId="2145726856"/>
        </pc:sldMkLst>
        <pc:spChg chg="del">
          <ac:chgData name="Taylor Davis" userId="5c9e72a0-c39f-4aa1-9d7d-64125e78cbe6" providerId="ADAL" clId="{7D0B6B51-DA5F-4021-8848-39BD0005AA08}" dt="2025-09-25T22:44:24.906" v="4"/>
          <ac:spMkLst>
            <pc:docMk/>
            <pc:sldMk cId="2174952421" sldId="2145726856"/>
            <ac:spMk id="2" creationId="{2659FDB4-FCBE-4A89-B46D-43D4FA54464D}"/>
          </ac:spMkLst>
        </pc:spChg>
        <pc:cxnChg chg="del">
          <ac:chgData name="Taylor Davis" userId="5c9e72a0-c39f-4aa1-9d7d-64125e78cbe6" providerId="ADAL" clId="{7D0B6B51-DA5F-4021-8848-39BD0005AA08}" dt="2025-09-25T22:44:24.906" v="4"/>
          <ac:cxnSpMkLst>
            <pc:docMk/>
            <pc:sldMk cId="2174952421" sldId="2145726856"/>
            <ac:cxnSpMk id="3" creationId="{C8F51B3F-8331-4E4A-AE96-D47B1006EEAD}"/>
          </ac:cxnSpMkLst>
        </pc:cxnChg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4087636236" sldId="2145726868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0" sldId="2145726870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3995384278" sldId="2145726904"/>
        </pc:sldMkLst>
      </pc:sldChg>
      <pc:sldChg chg="del">
        <pc:chgData name="Taylor Davis" userId="5c9e72a0-c39f-4aa1-9d7d-64125e78cbe6" providerId="ADAL" clId="{7D0B6B51-DA5F-4021-8848-39BD0005AA08}" dt="2025-09-25T22:43:49.480" v="1" actId="47"/>
        <pc:sldMkLst>
          <pc:docMk/>
          <pc:sldMk cId="3813346281" sldId="2145726906"/>
        </pc:sldMkLst>
      </pc:sldChg>
      <pc:sldMasterChg chg="del delSldLayout">
        <pc:chgData name="Taylor Davis" userId="5c9e72a0-c39f-4aa1-9d7d-64125e78cbe6" providerId="ADAL" clId="{7D0B6B51-DA5F-4021-8848-39BD0005AA08}" dt="2025-09-25T22:43:49.480" v="1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7D0B6B51-DA5F-4021-8848-39BD0005AA08}" dt="2025-09-25T22:43:49.480" v="1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7D0B6B51-DA5F-4021-8848-39BD0005AA08}" dt="2025-09-25T22:43:49.480" v="1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F1B84F-4F37-4E4B-B28C-05C8DFC947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911CD98-B2F6-4E17-9C61-BB702C3250BF}">
      <dgm:prSet/>
      <dgm:spPr/>
      <dgm:t>
        <a:bodyPr/>
        <a:lstStyle/>
        <a:p>
          <a:r>
            <a:rPr lang="en-US"/>
            <a:t>Locally based sales rep with strong community ties</a:t>
          </a:r>
        </a:p>
      </dgm:t>
    </dgm:pt>
    <dgm:pt modelId="{1B3485FF-7759-40EC-AD38-B4C3F252244B}" type="parTrans" cxnId="{A168C851-557D-4049-B12D-0918348F3F6B}">
      <dgm:prSet/>
      <dgm:spPr/>
      <dgm:t>
        <a:bodyPr/>
        <a:lstStyle/>
        <a:p>
          <a:endParaRPr lang="en-US"/>
        </a:p>
      </dgm:t>
    </dgm:pt>
    <dgm:pt modelId="{9180CA49-E8E8-4099-ADFF-9A61D44E83A0}" type="sibTrans" cxnId="{A168C851-557D-4049-B12D-0918348F3F6B}">
      <dgm:prSet/>
      <dgm:spPr/>
      <dgm:t>
        <a:bodyPr/>
        <a:lstStyle/>
        <a:p>
          <a:endParaRPr lang="en-US"/>
        </a:p>
      </dgm:t>
    </dgm:pt>
    <dgm:pt modelId="{9AFA7D91-6390-4F95-BF06-02D171762A63}">
      <dgm:prSet/>
      <dgm:spPr/>
      <dgm:t>
        <a:bodyPr/>
        <a:lstStyle/>
        <a:p>
          <a:r>
            <a:rPr lang="en-US"/>
            <a:t>Collaboration with DTE provider partners to identify strategic employers for early adoption and sales</a:t>
          </a:r>
        </a:p>
      </dgm:t>
    </dgm:pt>
    <dgm:pt modelId="{D0587002-3B85-493B-96BA-C0B5C3BC8362}" type="parTrans" cxnId="{8425CA16-C12A-4854-A8A6-A903ECA909CC}">
      <dgm:prSet/>
      <dgm:spPr/>
      <dgm:t>
        <a:bodyPr/>
        <a:lstStyle/>
        <a:p>
          <a:endParaRPr lang="en-US"/>
        </a:p>
      </dgm:t>
    </dgm:pt>
    <dgm:pt modelId="{0B994676-137E-4272-9E37-A6B069477E49}" type="sibTrans" cxnId="{8425CA16-C12A-4854-A8A6-A903ECA909CC}">
      <dgm:prSet/>
      <dgm:spPr/>
      <dgm:t>
        <a:bodyPr/>
        <a:lstStyle/>
        <a:p>
          <a:endParaRPr lang="en-US"/>
        </a:p>
      </dgm:t>
    </dgm:pt>
    <dgm:pt modelId="{9D9C157A-8184-4810-813C-F9ABE512F84B}">
      <dgm:prSet/>
      <dgm:spPr/>
      <dgm:t>
        <a:bodyPr/>
        <a:lstStyle/>
        <a:p>
          <a:r>
            <a:rPr lang="en-US"/>
            <a:t>Work with select broker distribution partners with aligned incentives and goals</a:t>
          </a:r>
        </a:p>
      </dgm:t>
    </dgm:pt>
    <dgm:pt modelId="{D8EDC1F2-E417-46FD-8716-E1D397B83704}" type="parTrans" cxnId="{D6C9B23D-AA21-442F-A1F4-60E86C0DFD38}">
      <dgm:prSet/>
      <dgm:spPr/>
      <dgm:t>
        <a:bodyPr/>
        <a:lstStyle/>
        <a:p>
          <a:endParaRPr lang="en-US"/>
        </a:p>
      </dgm:t>
    </dgm:pt>
    <dgm:pt modelId="{A9D49BD5-FFD1-45FF-B858-025048928466}" type="sibTrans" cxnId="{D6C9B23D-AA21-442F-A1F4-60E86C0DFD38}">
      <dgm:prSet/>
      <dgm:spPr/>
      <dgm:t>
        <a:bodyPr/>
        <a:lstStyle/>
        <a:p>
          <a:endParaRPr lang="en-US"/>
        </a:p>
      </dgm:t>
    </dgm:pt>
    <dgm:pt modelId="{39D9786D-012C-4B3E-84F3-BFD2C13FD7FC}">
      <dgm:prSet/>
      <dgm:spPr/>
      <dgm:t>
        <a:bodyPr/>
        <a:lstStyle/>
        <a:p>
          <a:r>
            <a:rPr lang="en-US"/>
            <a:t>Pipeline reporting and collaboration with our DTE provider partners</a:t>
          </a:r>
        </a:p>
      </dgm:t>
    </dgm:pt>
    <dgm:pt modelId="{C689F240-B9AE-4A72-BADB-436944BA27AA}" type="parTrans" cxnId="{9F11DF62-E12D-48E8-9AF7-8969B05FD323}">
      <dgm:prSet/>
      <dgm:spPr/>
      <dgm:t>
        <a:bodyPr/>
        <a:lstStyle/>
        <a:p>
          <a:endParaRPr lang="en-US"/>
        </a:p>
      </dgm:t>
    </dgm:pt>
    <dgm:pt modelId="{0FD7031B-D881-49AA-97BB-5ACDC9BF069B}" type="sibTrans" cxnId="{9F11DF62-E12D-48E8-9AF7-8969B05FD323}">
      <dgm:prSet/>
      <dgm:spPr/>
      <dgm:t>
        <a:bodyPr/>
        <a:lstStyle/>
        <a:p>
          <a:endParaRPr lang="en-US"/>
        </a:p>
      </dgm:t>
    </dgm:pt>
    <dgm:pt modelId="{B99A3672-DF6D-4974-8FC9-C3A40F7EE8D6}">
      <dgm:prSet/>
      <dgm:spPr/>
      <dgm:t>
        <a:bodyPr/>
        <a:lstStyle/>
        <a:p>
          <a:r>
            <a:rPr lang="en-US"/>
            <a:t>Marketing and promotion of the new option in the community</a:t>
          </a:r>
        </a:p>
      </dgm:t>
    </dgm:pt>
    <dgm:pt modelId="{F021CB03-DC97-4F5D-A6E0-B31CA8867184}" type="parTrans" cxnId="{BA63E6F6-73E3-400D-860F-4F734F4C4B3F}">
      <dgm:prSet/>
      <dgm:spPr/>
      <dgm:t>
        <a:bodyPr/>
        <a:lstStyle/>
        <a:p>
          <a:endParaRPr lang="en-US"/>
        </a:p>
      </dgm:t>
    </dgm:pt>
    <dgm:pt modelId="{FF3C2DEC-F562-4F34-AE34-A164E841B7EF}" type="sibTrans" cxnId="{BA63E6F6-73E3-400D-860F-4F734F4C4B3F}">
      <dgm:prSet/>
      <dgm:spPr/>
      <dgm:t>
        <a:bodyPr/>
        <a:lstStyle/>
        <a:p>
          <a:endParaRPr lang="en-US"/>
        </a:p>
      </dgm:t>
    </dgm:pt>
    <dgm:pt modelId="{37E61AA2-39C5-4D3B-A37D-5BFF2E9B8AED}" type="pres">
      <dgm:prSet presAssocID="{A1F1B84F-4F37-4E4B-B28C-05C8DFC94756}" presName="root" presStyleCnt="0">
        <dgm:presLayoutVars>
          <dgm:dir/>
          <dgm:resizeHandles val="exact"/>
        </dgm:presLayoutVars>
      </dgm:prSet>
      <dgm:spPr/>
    </dgm:pt>
    <dgm:pt modelId="{DFD5F05F-A43A-4652-80DD-25D35540632C}" type="pres">
      <dgm:prSet presAssocID="{0911CD98-B2F6-4E17-9C61-BB702C3250BF}" presName="compNode" presStyleCnt="0"/>
      <dgm:spPr/>
    </dgm:pt>
    <dgm:pt modelId="{EF2B0188-8507-44E9-B757-7CDCC1B0E1A1}" type="pres">
      <dgm:prSet presAssocID="{0911CD98-B2F6-4E17-9C61-BB702C3250BF}" presName="bgRect" presStyleLbl="bgShp" presStyleIdx="0" presStyleCnt="5"/>
      <dgm:spPr>
        <a:solidFill>
          <a:srgbClr val="00539F"/>
        </a:solidFill>
      </dgm:spPr>
    </dgm:pt>
    <dgm:pt modelId="{62DBE401-C7C8-4CFE-9E6C-C1AF672BE62E}" type="pres">
      <dgm:prSet presAssocID="{0911CD98-B2F6-4E17-9C61-BB702C3250B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 with solid fill"/>
        </a:ext>
      </dgm:extLst>
    </dgm:pt>
    <dgm:pt modelId="{5865C594-3822-4E5D-A8F0-237AFF390341}" type="pres">
      <dgm:prSet presAssocID="{0911CD98-B2F6-4E17-9C61-BB702C3250BF}" presName="spaceRect" presStyleCnt="0"/>
      <dgm:spPr/>
    </dgm:pt>
    <dgm:pt modelId="{4CB68EC3-6DDF-4EA3-93EC-B1D00317444B}" type="pres">
      <dgm:prSet presAssocID="{0911CD98-B2F6-4E17-9C61-BB702C3250BF}" presName="parTx" presStyleLbl="revTx" presStyleIdx="0" presStyleCnt="5">
        <dgm:presLayoutVars>
          <dgm:chMax val="0"/>
          <dgm:chPref val="0"/>
        </dgm:presLayoutVars>
      </dgm:prSet>
      <dgm:spPr/>
    </dgm:pt>
    <dgm:pt modelId="{8F49C51A-DAE6-4363-9FDF-3E95B30C7DB1}" type="pres">
      <dgm:prSet presAssocID="{9180CA49-E8E8-4099-ADFF-9A61D44E83A0}" presName="sibTrans" presStyleCnt="0"/>
      <dgm:spPr/>
    </dgm:pt>
    <dgm:pt modelId="{8EF2CCDE-7F5C-4F5F-B2FA-43FDCA78B104}" type="pres">
      <dgm:prSet presAssocID="{9AFA7D91-6390-4F95-BF06-02D171762A63}" presName="compNode" presStyleCnt="0"/>
      <dgm:spPr/>
    </dgm:pt>
    <dgm:pt modelId="{B3E1CF03-EDE1-471D-890C-AA2901FB45D9}" type="pres">
      <dgm:prSet presAssocID="{9AFA7D91-6390-4F95-BF06-02D171762A63}" presName="bgRect" presStyleLbl="bgShp" presStyleIdx="1" presStyleCnt="5"/>
      <dgm:spPr>
        <a:solidFill>
          <a:srgbClr val="00539F"/>
        </a:solidFill>
      </dgm:spPr>
    </dgm:pt>
    <dgm:pt modelId="{ECC08DA8-E403-48CD-BD4C-54248151AF43}" type="pres">
      <dgm:prSet presAssocID="{9AFA7D91-6390-4F95-BF06-02D171762A6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E4C47F7-8462-46EB-8C62-1EA1F9B6F345}" type="pres">
      <dgm:prSet presAssocID="{9AFA7D91-6390-4F95-BF06-02D171762A63}" presName="spaceRect" presStyleCnt="0"/>
      <dgm:spPr/>
    </dgm:pt>
    <dgm:pt modelId="{29DB6DFD-5EF2-4FE9-B832-B73DBBA6C818}" type="pres">
      <dgm:prSet presAssocID="{9AFA7D91-6390-4F95-BF06-02D171762A63}" presName="parTx" presStyleLbl="revTx" presStyleIdx="1" presStyleCnt="5">
        <dgm:presLayoutVars>
          <dgm:chMax val="0"/>
          <dgm:chPref val="0"/>
        </dgm:presLayoutVars>
      </dgm:prSet>
      <dgm:spPr/>
    </dgm:pt>
    <dgm:pt modelId="{BBD30813-D29A-4BFF-871C-E33ABBA55401}" type="pres">
      <dgm:prSet presAssocID="{0B994676-137E-4272-9E37-A6B069477E49}" presName="sibTrans" presStyleCnt="0"/>
      <dgm:spPr/>
    </dgm:pt>
    <dgm:pt modelId="{94B5DC3D-A2E9-423D-897A-CA8E16E3511B}" type="pres">
      <dgm:prSet presAssocID="{9D9C157A-8184-4810-813C-F9ABE512F84B}" presName="compNode" presStyleCnt="0"/>
      <dgm:spPr/>
    </dgm:pt>
    <dgm:pt modelId="{495539A5-77BE-4439-9E54-31CB6AC437BE}" type="pres">
      <dgm:prSet presAssocID="{9D9C157A-8184-4810-813C-F9ABE512F84B}" presName="bgRect" presStyleLbl="bgShp" presStyleIdx="2" presStyleCnt="5"/>
      <dgm:spPr>
        <a:solidFill>
          <a:srgbClr val="00539F"/>
        </a:solidFill>
      </dgm:spPr>
    </dgm:pt>
    <dgm:pt modelId="{66BBB871-A6BE-4530-8850-268C29376138}" type="pres">
      <dgm:prSet presAssocID="{9D9C157A-8184-4810-813C-F9ABE512F84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9342166-EBA1-4B27-8ACE-D6FAC2A4DB0C}" type="pres">
      <dgm:prSet presAssocID="{9D9C157A-8184-4810-813C-F9ABE512F84B}" presName="spaceRect" presStyleCnt="0"/>
      <dgm:spPr/>
    </dgm:pt>
    <dgm:pt modelId="{85678566-6F19-4FD8-B582-931B4C3F49E3}" type="pres">
      <dgm:prSet presAssocID="{9D9C157A-8184-4810-813C-F9ABE512F84B}" presName="parTx" presStyleLbl="revTx" presStyleIdx="2" presStyleCnt="5">
        <dgm:presLayoutVars>
          <dgm:chMax val="0"/>
          <dgm:chPref val="0"/>
        </dgm:presLayoutVars>
      </dgm:prSet>
      <dgm:spPr/>
    </dgm:pt>
    <dgm:pt modelId="{44ECB50D-A07B-4D5E-844D-7D32E84393B1}" type="pres">
      <dgm:prSet presAssocID="{A9D49BD5-FFD1-45FF-B858-025048928466}" presName="sibTrans" presStyleCnt="0"/>
      <dgm:spPr/>
    </dgm:pt>
    <dgm:pt modelId="{CE6CF16D-32CC-42ED-9AB1-8FA8B428B507}" type="pres">
      <dgm:prSet presAssocID="{39D9786D-012C-4B3E-84F3-BFD2C13FD7FC}" presName="compNode" presStyleCnt="0"/>
      <dgm:spPr/>
    </dgm:pt>
    <dgm:pt modelId="{98428F15-F0D5-4130-9147-37C3DDCA1DC9}" type="pres">
      <dgm:prSet presAssocID="{39D9786D-012C-4B3E-84F3-BFD2C13FD7FC}" presName="bgRect" presStyleLbl="bgShp" presStyleIdx="3" presStyleCnt="5"/>
      <dgm:spPr>
        <a:solidFill>
          <a:srgbClr val="00539F"/>
        </a:solidFill>
      </dgm:spPr>
    </dgm:pt>
    <dgm:pt modelId="{317B8A92-F6D8-485E-BFCD-F23A414CD080}" type="pres">
      <dgm:prSet presAssocID="{39D9786D-012C-4B3E-84F3-BFD2C13FD7F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 with solid fill"/>
        </a:ext>
      </dgm:extLst>
    </dgm:pt>
    <dgm:pt modelId="{D67C9A0B-8E41-46E6-8087-A85826FA64FA}" type="pres">
      <dgm:prSet presAssocID="{39D9786D-012C-4B3E-84F3-BFD2C13FD7FC}" presName="spaceRect" presStyleCnt="0"/>
      <dgm:spPr/>
    </dgm:pt>
    <dgm:pt modelId="{ECF200B6-4CF1-49FA-82CB-D36753C29C94}" type="pres">
      <dgm:prSet presAssocID="{39D9786D-012C-4B3E-84F3-BFD2C13FD7FC}" presName="parTx" presStyleLbl="revTx" presStyleIdx="3" presStyleCnt="5">
        <dgm:presLayoutVars>
          <dgm:chMax val="0"/>
          <dgm:chPref val="0"/>
        </dgm:presLayoutVars>
      </dgm:prSet>
      <dgm:spPr/>
    </dgm:pt>
    <dgm:pt modelId="{D6C45ADB-0B0E-41AD-966C-A24E2BDD5A10}" type="pres">
      <dgm:prSet presAssocID="{0FD7031B-D881-49AA-97BB-5ACDC9BF069B}" presName="sibTrans" presStyleCnt="0"/>
      <dgm:spPr/>
    </dgm:pt>
    <dgm:pt modelId="{2A54FCFA-8C28-4B8F-83AC-553D4CE8145D}" type="pres">
      <dgm:prSet presAssocID="{B99A3672-DF6D-4974-8FC9-C3A40F7EE8D6}" presName="compNode" presStyleCnt="0"/>
      <dgm:spPr/>
    </dgm:pt>
    <dgm:pt modelId="{7566ED39-D6F5-4DF5-8A39-A79490273A0B}" type="pres">
      <dgm:prSet presAssocID="{B99A3672-DF6D-4974-8FC9-C3A40F7EE8D6}" presName="bgRect" presStyleLbl="bgShp" presStyleIdx="4" presStyleCnt="5"/>
      <dgm:spPr>
        <a:solidFill>
          <a:srgbClr val="00539F"/>
        </a:solidFill>
      </dgm:spPr>
    </dgm:pt>
    <dgm:pt modelId="{B3F6EF59-567A-4333-BF88-50EE8E8487A2}" type="pres">
      <dgm:prSet presAssocID="{B99A3672-DF6D-4974-8FC9-C3A40F7EE8D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C07678B5-F1A8-408B-99D7-F5DF97732B8E}" type="pres">
      <dgm:prSet presAssocID="{B99A3672-DF6D-4974-8FC9-C3A40F7EE8D6}" presName="spaceRect" presStyleCnt="0"/>
      <dgm:spPr/>
    </dgm:pt>
    <dgm:pt modelId="{AEFC0EFB-BD3D-4AF8-8A4E-66BB21DDE307}" type="pres">
      <dgm:prSet presAssocID="{B99A3672-DF6D-4974-8FC9-C3A40F7EE8D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984370F-FCB1-497C-85E7-CE8CDEE5CE72}" type="presOf" srcId="{0911CD98-B2F6-4E17-9C61-BB702C3250BF}" destId="{4CB68EC3-6DDF-4EA3-93EC-B1D00317444B}" srcOrd="0" destOrd="0" presId="urn:microsoft.com/office/officeart/2018/2/layout/IconVerticalSolidList"/>
    <dgm:cxn modelId="{8425CA16-C12A-4854-A8A6-A903ECA909CC}" srcId="{A1F1B84F-4F37-4E4B-B28C-05C8DFC94756}" destId="{9AFA7D91-6390-4F95-BF06-02D171762A63}" srcOrd="1" destOrd="0" parTransId="{D0587002-3B85-493B-96BA-C0B5C3BC8362}" sibTransId="{0B994676-137E-4272-9E37-A6B069477E49}"/>
    <dgm:cxn modelId="{0E351628-9811-4200-BF32-763ECC730587}" type="presOf" srcId="{A1F1B84F-4F37-4E4B-B28C-05C8DFC94756}" destId="{37E61AA2-39C5-4D3B-A37D-5BFF2E9B8AED}" srcOrd="0" destOrd="0" presId="urn:microsoft.com/office/officeart/2018/2/layout/IconVerticalSolidList"/>
    <dgm:cxn modelId="{D6C9B23D-AA21-442F-A1F4-60E86C0DFD38}" srcId="{A1F1B84F-4F37-4E4B-B28C-05C8DFC94756}" destId="{9D9C157A-8184-4810-813C-F9ABE512F84B}" srcOrd="2" destOrd="0" parTransId="{D8EDC1F2-E417-46FD-8716-E1D397B83704}" sibTransId="{A9D49BD5-FFD1-45FF-B858-025048928466}"/>
    <dgm:cxn modelId="{7673B861-15F1-4DFB-91C8-F9338D4E2FD3}" type="presOf" srcId="{9AFA7D91-6390-4F95-BF06-02D171762A63}" destId="{29DB6DFD-5EF2-4FE9-B832-B73DBBA6C818}" srcOrd="0" destOrd="0" presId="urn:microsoft.com/office/officeart/2018/2/layout/IconVerticalSolidList"/>
    <dgm:cxn modelId="{9F11DF62-E12D-48E8-9AF7-8969B05FD323}" srcId="{A1F1B84F-4F37-4E4B-B28C-05C8DFC94756}" destId="{39D9786D-012C-4B3E-84F3-BFD2C13FD7FC}" srcOrd="3" destOrd="0" parTransId="{C689F240-B9AE-4A72-BADB-436944BA27AA}" sibTransId="{0FD7031B-D881-49AA-97BB-5ACDC9BF069B}"/>
    <dgm:cxn modelId="{A168C851-557D-4049-B12D-0918348F3F6B}" srcId="{A1F1B84F-4F37-4E4B-B28C-05C8DFC94756}" destId="{0911CD98-B2F6-4E17-9C61-BB702C3250BF}" srcOrd="0" destOrd="0" parTransId="{1B3485FF-7759-40EC-AD38-B4C3F252244B}" sibTransId="{9180CA49-E8E8-4099-ADFF-9A61D44E83A0}"/>
    <dgm:cxn modelId="{6C0ED558-1C36-4942-87C9-E5CDEBD5215A}" type="presOf" srcId="{B99A3672-DF6D-4974-8FC9-C3A40F7EE8D6}" destId="{AEFC0EFB-BD3D-4AF8-8A4E-66BB21DDE307}" srcOrd="0" destOrd="0" presId="urn:microsoft.com/office/officeart/2018/2/layout/IconVerticalSolidList"/>
    <dgm:cxn modelId="{907FDB82-6D78-4B5B-B8D5-FBD143D2D9B7}" type="presOf" srcId="{9D9C157A-8184-4810-813C-F9ABE512F84B}" destId="{85678566-6F19-4FD8-B582-931B4C3F49E3}" srcOrd="0" destOrd="0" presId="urn:microsoft.com/office/officeart/2018/2/layout/IconVerticalSolidList"/>
    <dgm:cxn modelId="{A6F3D9AA-9AE5-4F50-98F3-131244F0904B}" type="presOf" srcId="{39D9786D-012C-4B3E-84F3-BFD2C13FD7FC}" destId="{ECF200B6-4CF1-49FA-82CB-D36753C29C94}" srcOrd="0" destOrd="0" presId="urn:microsoft.com/office/officeart/2018/2/layout/IconVerticalSolidList"/>
    <dgm:cxn modelId="{BA63E6F6-73E3-400D-860F-4F734F4C4B3F}" srcId="{A1F1B84F-4F37-4E4B-B28C-05C8DFC94756}" destId="{B99A3672-DF6D-4974-8FC9-C3A40F7EE8D6}" srcOrd="4" destOrd="0" parTransId="{F021CB03-DC97-4F5D-A6E0-B31CA8867184}" sibTransId="{FF3C2DEC-F562-4F34-AE34-A164E841B7EF}"/>
    <dgm:cxn modelId="{842AB080-082E-4C17-94CA-7742D671B3ED}" type="presParOf" srcId="{37E61AA2-39C5-4D3B-A37D-5BFF2E9B8AED}" destId="{DFD5F05F-A43A-4652-80DD-25D35540632C}" srcOrd="0" destOrd="0" presId="urn:microsoft.com/office/officeart/2018/2/layout/IconVerticalSolidList"/>
    <dgm:cxn modelId="{6EF39C1D-FAFD-4A04-A11A-1030AC4CFC8B}" type="presParOf" srcId="{DFD5F05F-A43A-4652-80DD-25D35540632C}" destId="{EF2B0188-8507-44E9-B757-7CDCC1B0E1A1}" srcOrd="0" destOrd="0" presId="urn:microsoft.com/office/officeart/2018/2/layout/IconVerticalSolidList"/>
    <dgm:cxn modelId="{6D810C82-4D92-4389-B5AA-752860BBE629}" type="presParOf" srcId="{DFD5F05F-A43A-4652-80DD-25D35540632C}" destId="{62DBE401-C7C8-4CFE-9E6C-C1AF672BE62E}" srcOrd="1" destOrd="0" presId="urn:microsoft.com/office/officeart/2018/2/layout/IconVerticalSolidList"/>
    <dgm:cxn modelId="{19579CB1-0E46-435D-B65A-526C3672873F}" type="presParOf" srcId="{DFD5F05F-A43A-4652-80DD-25D35540632C}" destId="{5865C594-3822-4E5D-A8F0-237AFF390341}" srcOrd="2" destOrd="0" presId="urn:microsoft.com/office/officeart/2018/2/layout/IconVerticalSolidList"/>
    <dgm:cxn modelId="{F4A6F0DC-71D2-4A28-8F71-A32E7CC21BE4}" type="presParOf" srcId="{DFD5F05F-A43A-4652-80DD-25D35540632C}" destId="{4CB68EC3-6DDF-4EA3-93EC-B1D00317444B}" srcOrd="3" destOrd="0" presId="urn:microsoft.com/office/officeart/2018/2/layout/IconVerticalSolidList"/>
    <dgm:cxn modelId="{7298B435-A464-40AF-81C1-277811F934A6}" type="presParOf" srcId="{37E61AA2-39C5-4D3B-A37D-5BFF2E9B8AED}" destId="{8F49C51A-DAE6-4363-9FDF-3E95B30C7DB1}" srcOrd="1" destOrd="0" presId="urn:microsoft.com/office/officeart/2018/2/layout/IconVerticalSolidList"/>
    <dgm:cxn modelId="{80208897-E320-4A70-A0C1-2D462611E667}" type="presParOf" srcId="{37E61AA2-39C5-4D3B-A37D-5BFF2E9B8AED}" destId="{8EF2CCDE-7F5C-4F5F-B2FA-43FDCA78B104}" srcOrd="2" destOrd="0" presId="urn:microsoft.com/office/officeart/2018/2/layout/IconVerticalSolidList"/>
    <dgm:cxn modelId="{8631143E-C593-472F-A2DF-22ED3A77E9C2}" type="presParOf" srcId="{8EF2CCDE-7F5C-4F5F-B2FA-43FDCA78B104}" destId="{B3E1CF03-EDE1-471D-890C-AA2901FB45D9}" srcOrd="0" destOrd="0" presId="urn:microsoft.com/office/officeart/2018/2/layout/IconVerticalSolidList"/>
    <dgm:cxn modelId="{10D11F1E-AA15-4AA8-8E34-D7EDB0314473}" type="presParOf" srcId="{8EF2CCDE-7F5C-4F5F-B2FA-43FDCA78B104}" destId="{ECC08DA8-E403-48CD-BD4C-54248151AF43}" srcOrd="1" destOrd="0" presId="urn:microsoft.com/office/officeart/2018/2/layout/IconVerticalSolidList"/>
    <dgm:cxn modelId="{906D20FF-7949-4A1E-8CD3-654B8ABBD8B6}" type="presParOf" srcId="{8EF2CCDE-7F5C-4F5F-B2FA-43FDCA78B104}" destId="{FE4C47F7-8462-46EB-8C62-1EA1F9B6F345}" srcOrd="2" destOrd="0" presId="urn:microsoft.com/office/officeart/2018/2/layout/IconVerticalSolidList"/>
    <dgm:cxn modelId="{C4FEB834-80E4-4B2F-AE68-1B09BC0B63E4}" type="presParOf" srcId="{8EF2CCDE-7F5C-4F5F-B2FA-43FDCA78B104}" destId="{29DB6DFD-5EF2-4FE9-B832-B73DBBA6C818}" srcOrd="3" destOrd="0" presId="urn:microsoft.com/office/officeart/2018/2/layout/IconVerticalSolidList"/>
    <dgm:cxn modelId="{37736754-2A48-4138-ABD2-2E7DB36CA19F}" type="presParOf" srcId="{37E61AA2-39C5-4D3B-A37D-5BFF2E9B8AED}" destId="{BBD30813-D29A-4BFF-871C-E33ABBA55401}" srcOrd="3" destOrd="0" presId="urn:microsoft.com/office/officeart/2018/2/layout/IconVerticalSolidList"/>
    <dgm:cxn modelId="{2ABD4FB5-C6B5-4317-ACF2-B5CDA0D2D5BD}" type="presParOf" srcId="{37E61AA2-39C5-4D3B-A37D-5BFF2E9B8AED}" destId="{94B5DC3D-A2E9-423D-897A-CA8E16E3511B}" srcOrd="4" destOrd="0" presId="urn:microsoft.com/office/officeart/2018/2/layout/IconVerticalSolidList"/>
    <dgm:cxn modelId="{5D74FEC5-780E-4A88-9479-49C0D344EB21}" type="presParOf" srcId="{94B5DC3D-A2E9-423D-897A-CA8E16E3511B}" destId="{495539A5-77BE-4439-9E54-31CB6AC437BE}" srcOrd="0" destOrd="0" presId="urn:microsoft.com/office/officeart/2018/2/layout/IconVerticalSolidList"/>
    <dgm:cxn modelId="{D99BB2F5-81E7-487E-81C0-21F85C306EA1}" type="presParOf" srcId="{94B5DC3D-A2E9-423D-897A-CA8E16E3511B}" destId="{66BBB871-A6BE-4530-8850-268C29376138}" srcOrd="1" destOrd="0" presId="urn:microsoft.com/office/officeart/2018/2/layout/IconVerticalSolidList"/>
    <dgm:cxn modelId="{8B962ACB-D181-409F-88AC-9E2B1F991553}" type="presParOf" srcId="{94B5DC3D-A2E9-423D-897A-CA8E16E3511B}" destId="{09342166-EBA1-4B27-8ACE-D6FAC2A4DB0C}" srcOrd="2" destOrd="0" presId="urn:microsoft.com/office/officeart/2018/2/layout/IconVerticalSolidList"/>
    <dgm:cxn modelId="{C553F894-B963-4961-A07F-A8686370A1B7}" type="presParOf" srcId="{94B5DC3D-A2E9-423D-897A-CA8E16E3511B}" destId="{85678566-6F19-4FD8-B582-931B4C3F49E3}" srcOrd="3" destOrd="0" presId="urn:microsoft.com/office/officeart/2018/2/layout/IconVerticalSolidList"/>
    <dgm:cxn modelId="{5B7F9F0D-3160-4A91-87B9-34FD02B96799}" type="presParOf" srcId="{37E61AA2-39C5-4D3B-A37D-5BFF2E9B8AED}" destId="{44ECB50D-A07B-4D5E-844D-7D32E84393B1}" srcOrd="5" destOrd="0" presId="urn:microsoft.com/office/officeart/2018/2/layout/IconVerticalSolidList"/>
    <dgm:cxn modelId="{6ABCCA69-7FE2-4620-B149-176B6A2139E3}" type="presParOf" srcId="{37E61AA2-39C5-4D3B-A37D-5BFF2E9B8AED}" destId="{CE6CF16D-32CC-42ED-9AB1-8FA8B428B507}" srcOrd="6" destOrd="0" presId="urn:microsoft.com/office/officeart/2018/2/layout/IconVerticalSolidList"/>
    <dgm:cxn modelId="{1411B764-7C10-4824-81F9-5712E11B9478}" type="presParOf" srcId="{CE6CF16D-32CC-42ED-9AB1-8FA8B428B507}" destId="{98428F15-F0D5-4130-9147-37C3DDCA1DC9}" srcOrd="0" destOrd="0" presId="urn:microsoft.com/office/officeart/2018/2/layout/IconVerticalSolidList"/>
    <dgm:cxn modelId="{69CF457E-E251-47A1-A455-671F5086320B}" type="presParOf" srcId="{CE6CF16D-32CC-42ED-9AB1-8FA8B428B507}" destId="{317B8A92-F6D8-485E-BFCD-F23A414CD080}" srcOrd="1" destOrd="0" presId="urn:microsoft.com/office/officeart/2018/2/layout/IconVerticalSolidList"/>
    <dgm:cxn modelId="{E8FBD433-CB19-48B7-943E-4B7E5146EE63}" type="presParOf" srcId="{CE6CF16D-32CC-42ED-9AB1-8FA8B428B507}" destId="{D67C9A0B-8E41-46E6-8087-A85826FA64FA}" srcOrd="2" destOrd="0" presId="urn:microsoft.com/office/officeart/2018/2/layout/IconVerticalSolidList"/>
    <dgm:cxn modelId="{14639D21-D3D9-425C-9A7E-08E6E10AF458}" type="presParOf" srcId="{CE6CF16D-32CC-42ED-9AB1-8FA8B428B507}" destId="{ECF200B6-4CF1-49FA-82CB-D36753C29C94}" srcOrd="3" destOrd="0" presId="urn:microsoft.com/office/officeart/2018/2/layout/IconVerticalSolidList"/>
    <dgm:cxn modelId="{0A1FA13D-2846-47A2-8450-A2943D76228F}" type="presParOf" srcId="{37E61AA2-39C5-4D3B-A37D-5BFF2E9B8AED}" destId="{D6C45ADB-0B0E-41AD-966C-A24E2BDD5A10}" srcOrd="7" destOrd="0" presId="urn:microsoft.com/office/officeart/2018/2/layout/IconVerticalSolidList"/>
    <dgm:cxn modelId="{B1096B87-C599-42D7-8BC1-D3901BD2E7A7}" type="presParOf" srcId="{37E61AA2-39C5-4D3B-A37D-5BFF2E9B8AED}" destId="{2A54FCFA-8C28-4B8F-83AC-553D4CE8145D}" srcOrd="8" destOrd="0" presId="urn:microsoft.com/office/officeart/2018/2/layout/IconVerticalSolidList"/>
    <dgm:cxn modelId="{952352DE-697E-41A0-AA50-DA440E7D7B84}" type="presParOf" srcId="{2A54FCFA-8C28-4B8F-83AC-553D4CE8145D}" destId="{7566ED39-D6F5-4DF5-8A39-A79490273A0B}" srcOrd="0" destOrd="0" presId="urn:microsoft.com/office/officeart/2018/2/layout/IconVerticalSolidList"/>
    <dgm:cxn modelId="{3F91414F-7B45-4BE9-91C9-7DDDF27875CB}" type="presParOf" srcId="{2A54FCFA-8C28-4B8F-83AC-553D4CE8145D}" destId="{B3F6EF59-567A-4333-BF88-50EE8E8487A2}" srcOrd="1" destOrd="0" presId="urn:microsoft.com/office/officeart/2018/2/layout/IconVerticalSolidList"/>
    <dgm:cxn modelId="{589CE084-1CA3-4809-B2B9-4C3A6957C4E5}" type="presParOf" srcId="{2A54FCFA-8C28-4B8F-83AC-553D4CE8145D}" destId="{C07678B5-F1A8-408B-99D7-F5DF97732B8E}" srcOrd="2" destOrd="0" presId="urn:microsoft.com/office/officeart/2018/2/layout/IconVerticalSolidList"/>
    <dgm:cxn modelId="{4FAF5214-1D30-44F5-A655-91B4158F77D6}" type="presParOf" srcId="{2A54FCFA-8C28-4B8F-83AC-553D4CE8145D}" destId="{AEFC0EFB-BD3D-4AF8-8A4E-66BB21DDE3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2B0188-8507-44E9-B757-7CDCC1B0E1A1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BE401-C7C8-4CFE-9E6C-C1AF672BE62E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68EC3-6DDF-4EA3-93EC-B1D00317444B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Locally based sales rep with strong community ties</a:t>
          </a:r>
        </a:p>
      </dsp:txBody>
      <dsp:txXfrm>
        <a:off x="1074268" y="4366"/>
        <a:ext cx="5170996" cy="930102"/>
      </dsp:txXfrm>
    </dsp:sp>
    <dsp:sp modelId="{B3E1CF03-EDE1-471D-890C-AA2901FB45D9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08DA8-E403-48CD-BD4C-54248151AF43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B6DFD-5EF2-4FE9-B832-B73DBBA6C818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Collaboration with DTE provider partners to identify strategic employers for early adoption and sales</a:t>
          </a:r>
        </a:p>
      </dsp:txBody>
      <dsp:txXfrm>
        <a:off x="1074268" y="1166994"/>
        <a:ext cx="5170996" cy="930102"/>
      </dsp:txXfrm>
    </dsp:sp>
    <dsp:sp modelId="{495539A5-77BE-4439-9E54-31CB6AC437BE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BB871-A6BE-4530-8850-268C29376138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78566-6F19-4FD8-B582-931B4C3F49E3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Work with select broker distribution partners with aligned incentives and goals</a:t>
          </a:r>
        </a:p>
      </dsp:txBody>
      <dsp:txXfrm>
        <a:off x="1074268" y="2329622"/>
        <a:ext cx="5170996" cy="930102"/>
      </dsp:txXfrm>
    </dsp:sp>
    <dsp:sp modelId="{98428F15-F0D5-4130-9147-37C3DDCA1DC9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B8A92-F6D8-485E-BFCD-F23A414CD080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200B6-4CF1-49FA-82CB-D36753C29C94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Pipeline reporting and collaboration with our DTE provider partners</a:t>
          </a:r>
        </a:p>
      </dsp:txBody>
      <dsp:txXfrm>
        <a:off x="1074268" y="3492250"/>
        <a:ext cx="5170996" cy="930102"/>
      </dsp:txXfrm>
    </dsp:sp>
    <dsp:sp modelId="{7566ED39-D6F5-4DF5-8A39-A79490273A0B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6EF59-567A-4333-BF88-50EE8E8487A2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C0EFB-BD3D-4AF8-8A4E-66BB21DDE307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Marketing and promotion of the new option in the community</a:t>
          </a:r>
        </a:p>
      </dsp:txBody>
      <dsp:txXfrm>
        <a:off x="1074268" y="4654878"/>
        <a:ext cx="5170996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90F11E-B424-48C6-BD86-192B859FFD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241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50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4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85" r:id="rId12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svg"/><Relationship Id="rId11" Type="http://schemas.openxmlformats.org/officeDocument/2006/relationships/image" Target="../media/image10.pn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Bronson Healthcare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340670" y="3693371"/>
            <a:ext cx="2304822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Ozarks Community Choice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08" y="818337"/>
            <a:ext cx="3397612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000B2E"/>
                </a:solidFill>
                <a:cs typeface="Arial" panose="020B0604020202020204" pitchFamily="34" charset="0"/>
              </a:rPr>
              <a:t>(DTE)</a:t>
            </a:r>
            <a:br>
              <a:rPr lang="en-US" sz="1600" dirty="0">
                <a:solidFill>
                  <a:srgbClr val="000B2E"/>
                </a:solidFill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78" y="1468132"/>
            <a:ext cx="6697847" cy="466090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WE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4632939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B8E36735-A0E0-6123-117C-3DE9AA3B9518}"/>
              </a:ext>
            </a:extLst>
          </p:cNvPr>
          <p:cNvSpPr txBox="1"/>
          <p:nvPr/>
        </p:nvSpPr>
        <p:spPr>
          <a:xfrm>
            <a:off x="1148436" y="3085346"/>
            <a:ext cx="2478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Market</a:t>
            </a:r>
            <a:endParaRPr lang="en-US" dirty="0"/>
          </a:p>
        </p:txBody>
      </p:sp>
      <p:pic>
        <p:nvPicPr>
          <p:cNvPr id="14" name="Content Placeholder 13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7360920" y="348830"/>
            <a:ext cx="4423880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4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330559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700+ Employers       165,000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300,000+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/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1084051" y="1622946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43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Bronson Healthcare service area in Allegan, Barry, Berrien, Branch, Calhoun, Cass, Eaton, Jackson, Kalamazoo, St. Joseph, and Van Buren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749K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437K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309K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174K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ext Placeholder 10">
            <a:extLst>
              <a:ext uri="{FF2B5EF4-FFF2-40B4-BE49-F238E27FC236}">
                <a16:creationId xmlns:a16="http://schemas.microsoft.com/office/drawing/2014/main" id="{625E5EBB-5E59-1F70-D065-8563E74742C3}"/>
              </a:ext>
            </a:extLst>
          </p:cNvPr>
          <p:cNvGraphicFramePr/>
          <p:nvPr/>
        </p:nvGraphicFramePr>
        <p:xfrm>
          <a:off x="5182908" y="642639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DBF3756C-E382-D591-9698-2313D86DCFF4}"/>
              </a:ext>
            </a:extLst>
          </p:cNvPr>
          <p:cNvSpPr/>
          <p:nvPr/>
        </p:nvSpPr>
        <p:spPr>
          <a:xfrm>
            <a:off x="0" y="-1"/>
            <a:ext cx="5353869" cy="6866313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C24332-E958-7C44-485A-7D07A705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98" y="642639"/>
            <a:ext cx="5008340" cy="40753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/>
            <a:r>
              <a:rPr lang="en-US" sz="4000" b="0" kern="1200">
                <a:solidFill>
                  <a:schemeClr val="bg1"/>
                </a:solidFill>
              </a:rPr>
              <a:t>COMMUNITY BASED SALES STRATEGY</a:t>
            </a:r>
          </a:p>
        </p:txBody>
      </p:sp>
      <p:pic>
        <p:nvPicPr>
          <p:cNvPr id="7" name="Picture 6" descr="A group of people sitting around a table">
            <a:extLst>
              <a:ext uri="{FF2B5EF4-FFF2-40B4-BE49-F238E27FC236}">
                <a16:creationId xmlns:a16="http://schemas.microsoft.com/office/drawing/2014/main" id="{63226C7D-D0B4-2995-A02F-196790FEB33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306146" y="3783400"/>
            <a:ext cx="4741575" cy="3099539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17495242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Single Corner Rounded 2">
            <a:extLst>
              <a:ext uri="{FF2B5EF4-FFF2-40B4-BE49-F238E27FC236}">
                <a16:creationId xmlns:a16="http://schemas.microsoft.com/office/drawing/2014/main" id="{0E0827A4-8831-4F72-BCCA-ED2FC12E6729}"/>
              </a:ext>
            </a:extLst>
          </p:cNvPr>
          <p:cNvSpPr/>
          <p:nvPr/>
        </p:nvSpPr>
        <p:spPr>
          <a:xfrm flipV="1">
            <a:off x="-12707" y="-2"/>
            <a:ext cx="4787908" cy="5524593"/>
          </a:xfrm>
          <a:prstGeom prst="round1Rect">
            <a:avLst>
              <a:gd name="adj" fmla="val 14176"/>
            </a:avLst>
          </a:prstGeom>
          <a:solidFill>
            <a:srgbClr val="00539F">
              <a:alpha val="93725"/>
            </a:srgbClr>
          </a:solidFill>
          <a:ln>
            <a:solidFill>
              <a:srgbClr val="59CA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5BDB08-48BA-4014-94E1-0CA6432F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320" y="174481"/>
            <a:ext cx="3839251" cy="943119"/>
          </a:xfrm>
          <a:noFill/>
        </p:spPr>
        <p:txBody>
          <a:bodyPr>
            <a:normAutofit/>
          </a:bodyPr>
          <a:lstStyle/>
          <a:p>
            <a:r>
              <a:rPr lang="en-US" sz="2400" cap="all" dirty="0">
                <a:solidFill>
                  <a:schemeClr val="bg1"/>
                </a:solidFill>
              </a:rPr>
              <a:t>Complete Marketing System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D71BB9D-3705-447C-AA44-226373980B76}"/>
              </a:ext>
            </a:extLst>
          </p:cNvPr>
          <p:cNvSpPr txBox="1"/>
          <p:nvPr/>
        </p:nvSpPr>
        <p:spPr>
          <a:xfrm>
            <a:off x="326132" y="1333409"/>
            <a:ext cx="40290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Branding and Messaging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Brochures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Web Site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Targeted Employer Outreach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Sales System (Social Media, Email, Text, etc.)</a:t>
            </a: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E9CEBAE5-9FB0-92E7-FE3C-8D162366D53C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FEB77514-FCC1-8077-FF95-E9A7EC1FC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7" name="Object 1">
            <a:extLst>
              <a:ext uri="{FF2B5EF4-FFF2-40B4-BE49-F238E27FC236}">
                <a16:creationId xmlns:a16="http://schemas.microsoft.com/office/drawing/2014/main" id="{6A650CAB-F194-C039-985A-378659DC9264}"/>
              </a:ext>
            </a:extLst>
          </p:cNvPr>
          <p:cNvSpPr/>
          <p:nvPr/>
        </p:nvSpPr>
        <p:spPr>
          <a:xfrm>
            <a:off x="6260477" y="1869754"/>
            <a:ext cx="4672331" cy="2916602"/>
          </a:xfrm>
          <a:prstGeom prst="rect">
            <a:avLst/>
          </a:prstGeom>
          <a:solidFill>
            <a:srgbClr val="254F96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A8440E76-55C9-58AD-8FFE-1161A970BB4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017" t="358" r="-3017" b="358"/>
          <a:stretch/>
        </p:blipFill>
        <p:spPr>
          <a:xfrm>
            <a:off x="6260477" y="1869754"/>
            <a:ext cx="4672331" cy="2916602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8A7EB5CC-EEC2-B5AA-4D5D-3D6555854B7F}"/>
              </a:ext>
            </a:extLst>
          </p:cNvPr>
          <p:cNvSpPr/>
          <p:nvPr/>
        </p:nvSpPr>
        <p:spPr>
          <a:xfrm>
            <a:off x="6260477" y="1869754"/>
            <a:ext cx="4672331" cy="2916602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80FD5046-6F68-9F9C-A2D7-3B2367BB6FD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2571" y="1610180"/>
            <a:ext cx="6211749" cy="363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42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$6.82M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$0.83M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$40.33M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$5.92M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$82.01M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$12.19M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328.5K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622.2K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1,219.3K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1,942.4K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45.9K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113.4K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488.1K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1,114.9K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1,875.8K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438.0K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878.4K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1,698.4K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2,682.4K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156.6K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763.2K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1,623.7K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2,659.0K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182.5K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402.6K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783.9K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1,202.4K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29.7K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48.6K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70.2K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-134.0K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252.3K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652.5K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1,092.6K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94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1584104-3166-4FA8-92FB-C6ABEB17DCED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F93BA-77DA-4714-87BA-6C154521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199" y="646500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2CE32-70CB-45CC-841F-9F408BFE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B699B2-0ED4-420C-8D6A-E40BF532CD0F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00539F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A9C655-FF92-49E3-BB7D-E5BBC00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823722" y="2964771"/>
            <a:ext cx="6625853" cy="752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SINGLE YEAR SUMMARY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AB8821D0-DEDE-002D-E87D-13E033D5D75F}"/>
              </a:ext>
            </a:extLst>
          </p:cNvPr>
          <p:cNvSpPr txBox="1"/>
          <p:nvPr/>
        </p:nvSpPr>
        <p:spPr>
          <a:xfrm>
            <a:off x="1091591" y="5433068"/>
            <a:ext cx="10881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/>
                <a:latin typeface="Montserrat" panose="00000500000000000000" pitchFamily="2" charset="0"/>
              </a:rPr>
              <a:t>NOTE:  Please see detailed financial analysis and assumptions used starting on page 28.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/>
                <a:latin typeface="Montserrat" panose="00000500000000000000" pitchFamily="2" charset="0"/>
              </a:rPr>
              <a:t>Financial projections do not include 340B contribution margin, which could represent $136 PMPM by optimizing 340B through Rx plan design, Bronson Healthcare’s approved site(s) with network integration, and development of Bronson Healthcare’s proprietary PBM program.</a:t>
            </a:r>
            <a:r>
              <a:rPr lang="en-US" sz="1200" dirty="0">
                <a:highlight>
                  <a:srgbClr val="FFFF00"/>
                </a:highlight>
                <a:latin typeface="Montserrat" panose="00000500000000000000" pitchFamily="2" charset="0"/>
              </a:rPr>
              <a:t>  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176272" y="704088"/>
          <a:ext cx="9052560" cy="4541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14.4%.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14.4%.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14.4%.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14.4%.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14.4%.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14.4%.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14.4%.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14.4%.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Members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Incr.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Total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Incr.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Net Margin Less DTE Fees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435K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 63K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 680K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245K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 98K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35K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-292K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$ 2,176K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313K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3,402K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$ 1,226K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490K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176K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-140K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$ 4,353K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627K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6,804K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$ 2,451K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980K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353K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50K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$10,882K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$ 1,567K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$ 17,010K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$ 6,128K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$ 2,449K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882K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620K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$43,526K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$ 6,268K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$ 68,038K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$24,512K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$ 9,797K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$3,530K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$3,470K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$87,052K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$12,536K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$136,076K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$49,024K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$19,595K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$7,059K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$7,269K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013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Bronson Healthcare has 54% inpatient market share, and 35% outpatient market compared to hospitals/clinics in the Bronson Healthcare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Bronson Healthcare.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123219"/>
              </p:ext>
            </p:extLst>
          </p:nvPr>
        </p:nvGraphicFramePr>
        <p:xfrm>
          <a:off x="390844" y="876300"/>
          <a:ext cx="7646730" cy="5158314"/>
        </p:xfrm>
        <a:graphic>
          <a:graphicData uri="http://schemas.openxmlformats.org/drawingml/2006/table">
            <a:tbl>
              <a:tblPr/>
              <a:tblGrid>
                <a:gridCol w="1529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9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9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9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20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Bronson Healthcare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Bronson Healthcare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32,800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35,800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38,500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42,500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43,900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4,200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$ 6,743,112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$ 7,864,980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$ 3,672,879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$ 18,280,970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$ 971,008.1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$ 1,132,557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$ 528,894.5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$ 2,632,460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/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$ 1,892,004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$ 113,400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$ 1,902,804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$ 1,825,404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$ 9,167,006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$ 15,169,058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$ 7,083,821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$ 31,419,885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$ 1,320,049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$ 2,184,344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$ 1,020,070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$ 4,524,463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54% (inpatient) and 35%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14.4%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74% inpatient and 67%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14.4%, with a 10 percentage-point reduction to reflect competitive-edge rates and a 10 percentage-point increase due to lower billing costs and higher patient responsibility collections because of the member convenience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18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14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46164</TotalTime>
  <Words>1372</Words>
  <Application>Microsoft Office PowerPoint</Application>
  <PresentationFormat>Widescreen</PresentationFormat>
  <Paragraphs>474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DIRECT-TO-EMPLOYER (DTE)  </vt:lpstr>
      <vt:lpstr>SIGNIFICANT OPPORTUNITY FOR PLAN GROWTH Researched for the below highlighted service area</vt:lpstr>
      <vt:lpstr>PLAN POTENTIAL GROWTH PATHS</vt:lpstr>
      <vt:lpstr>COMMUNITY BASED SALES STRATEGY</vt:lpstr>
      <vt:lpstr>Complete Marketing System</vt:lpstr>
      <vt:lpstr>GROWING POWERFUL, LASTING PROFITABILITY</vt:lpstr>
      <vt:lpstr>FOUR-YEAR PROJECTIONS</vt:lpstr>
      <vt:lpstr>SINGLE YEAR SUMMARY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113</cp:revision>
  <cp:lastPrinted>2023-07-13T10:24:43Z</cp:lastPrinted>
  <dcterms:created xsi:type="dcterms:W3CDTF">2021-01-20T14:12:11Z</dcterms:created>
  <dcterms:modified xsi:type="dcterms:W3CDTF">2025-12-11T06:11:26Z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