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3"/>
  </p:notesMasterIdLst>
  <p:sldIdLst>
    <p:sldId id="588" r:id="rId10"/>
    <p:sldId id="454" r:id="rId11"/>
    <p:sldId id="549" r:id="rId12"/>
    <p:sldId id="2145726869" r:id="rId13"/>
    <p:sldId id="452" r:id="rId14"/>
    <p:sldId id="466" r:id="rId15"/>
    <p:sldId id="2145726867" r:id="rId16"/>
    <p:sldId id="559" r:id="rId17"/>
    <p:sldId id="580" r:id="rId18"/>
    <p:sldId id="582" r:id="rId19"/>
    <p:sldId id="558" r:id="rId20"/>
    <p:sldId id="548" r:id="rId21"/>
    <p:sldId id="521" r:id="rId22"/>
    <p:sldId id="456" r:id="rId23"/>
    <p:sldId id="489" r:id="rId24"/>
    <p:sldId id="499" r:id="rId25"/>
    <p:sldId id="613" r:id="rId26"/>
    <p:sldId id="458" r:id="rId27"/>
    <p:sldId id="2145726859" r:id="rId28"/>
    <p:sldId id="2145726857" r:id="rId29"/>
    <p:sldId id="469" r:id="rId30"/>
    <p:sldId id="2145726856" r:id="rId31"/>
    <p:sldId id="614" r:id="rId32"/>
    <p:sldId id="281" r:id="rId33"/>
    <p:sldId id="283" r:id="rId34"/>
    <p:sldId id="285" r:id="rId35"/>
    <p:sldId id="2145726866" r:id="rId36"/>
    <p:sldId id="583" r:id="rId37"/>
    <p:sldId id="584" r:id="rId38"/>
    <p:sldId id="2145726868" r:id="rId39"/>
    <p:sldId id="571" r:id="rId40"/>
    <p:sldId id="2145726864" r:id="rId41"/>
    <p:sldId id="585" r:id="rId42"/>
    <p:sldId id="536" r:id="rId43"/>
    <p:sldId id="256" r:id="rId44"/>
    <p:sldId id="574" r:id="rId45"/>
    <p:sldId id="572" r:id="rId46"/>
    <p:sldId id="575"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281CAC57-B1E3-4B26-A698-9762F3EDC72F}"/>
    <pc:docChg chg="undo custSel modSld">
      <pc:chgData name="Taylor Davis" userId="5c9e72a0-c39f-4aa1-9d7d-64125e78cbe6" providerId="ADAL" clId="{281CAC57-B1E3-4B26-A698-9762F3EDC72F}" dt="2025-03-21T18:12:31.359" v="1" actId="1076"/>
      <pc:docMkLst>
        <pc:docMk/>
      </pc:docMkLst>
      <pc:sldChg chg="modSp mod">
        <pc:chgData name="Taylor Davis" userId="5c9e72a0-c39f-4aa1-9d7d-64125e78cbe6" providerId="ADAL" clId="{281CAC57-B1E3-4B26-A698-9762F3EDC72F}" dt="2025-03-21T18:12:31.359" v="1" actId="1076"/>
        <pc:sldMkLst>
          <pc:docMk/>
          <pc:sldMk cId="1281542618" sldId="614"/>
        </pc:sldMkLst>
        <pc:picChg chg="mod">
          <ac:chgData name="Taylor Davis" userId="5c9e72a0-c39f-4aa1-9d7d-64125e78cbe6" providerId="ADAL" clId="{281CAC57-B1E3-4B26-A698-9762F3EDC72F}" dt="2025-03-21T18:12:31.359" v="1" actId="1076"/>
          <ac:picMkLst>
            <pc:docMk/>
            <pc:sldMk cId="1281542618" sldId="614"/>
            <ac:picMk id="10" creationId="{80FD5046-6F68-9F9C-A2D7-3B2367BB6FD7}"/>
          </ac:picMkLst>
        </pc:picChg>
      </pc:sldChg>
    </pc:docChg>
  </pc:docChgLst>
</pc:chgInfo>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3/21/2025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3/21/2025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3/21/2025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3/21/2025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3/21/2025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3/21/2025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3/21/2025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3/21/2025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3/21/2025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3/21/2025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3/21/2025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3/21/2025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3/21/2025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3/21/2025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3/21/2025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3/21/2025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3/21/2025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3/21/2025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3/21/2025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3/21/2025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3/21/2025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3/21/2025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3/21/2025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3/21/2025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3/21/2025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3/21/2025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3/21/2025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3/21/2025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3/21/2025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3/21/2025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3/21/2025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3/21/2025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3/21/2025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3/21/2025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3/21/2025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3/21/2025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3/21/2025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3/21/2025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3/21/2025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3/21/2025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3/21/2025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3/21/2025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3/21/2025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3/21/2025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3/21/2025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3/21/2025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3/21/2025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3/21/2025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3/21/2025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3/21/2025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3/21/2025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3/21/2025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3/21/2025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3/21/2025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3/21/2025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3/21/2025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3/21/2025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3/21/2025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3/21/2025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3/21/2025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3/21/2025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3/21/2025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4.emf"/><Relationship Id="rId5" Type="http://schemas.openxmlformats.org/officeDocument/2006/relationships/image" Target="../media/image6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Mosaic Life Care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8446912" y="348830"/>
            <a:ext cx="3070578"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MOSAIC LIFE CARE</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Mosaic Life Care is the dominant provider in this region. Market size is the key factor that will inhibit possible plan growth.</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Mosaic Life Care.</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Mosaic Life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900+ Employers       120,000</a:t>
            </a:r>
            <a:r>
              <a:rPr lang="en-US" sz="1600" spc="200" dirty="0">
                <a:latin typeface="Montserrat" panose="00000500000000000000" pitchFamily="2" charset="0"/>
                <a:cs typeface="+mj-cs"/>
                <a:sym typeface="Wingdings" panose="05000000000000000000" pitchFamily="2" charset="2"/>
              </a:rPr>
              <a:t>+ Employees       190,000+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366682030"/>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105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44</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24</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9</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7,900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6,600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6,300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6,000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4,000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14,200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11,900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13,000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11,300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10,800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7,200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673763" y="1786292"/>
            <a:ext cx="6096000" cy="4876800"/>
          </a:xfrm>
          <a:prstGeom prst="rect">
            <a:avLst/>
          </a:prstGeom>
        </p:spPr>
      </p:pic>
      <p:sp>
        <p:nvSpPr>
          <p:cNvPr id="10" name="Rectangle 9">
            <a:extLst>
              <a:ext uri="{FF2B5EF4-FFF2-40B4-BE49-F238E27FC236}">
                <a16:creationId xmlns:a16="http://schemas.microsoft.com/office/drawing/2014/main" id="{9588D3A8-D89E-874C-DF0A-4794DF5384CB}"/>
              </a:ext>
            </a:extLst>
          </p:cNvPr>
          <p:cNvSpPr/>
          <p:nvPr/>
        </p:nvSpPr>
        <p:spPr>
          <a:xfrm>
            <a:off x="11109960" y="2660904"/>
            <a:ext cx="728764" cy="344135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6EC5A03-F550-5F7A-1C96-D8A3BB9FF988}"/>
              </a:ext>
            </a:extLst>
          </p:cNvPr>
          <p:cNvSpPr txBox="1"/>
          <p:nvPr/>
        </p:nvSpPr>
        <p:spPr>
          <a:xfrm>
            <a:off x="8037918" y="6137506"/>
            <a:ext cx="3927037" cy="307777"/>
          </a:xfrm>
          <a:prstGeom prst="rect">
            <a:avLst/>
          </a:prstGeom>
          <a:noFill/>
        </p:spPr>
        <p:txBody>
          <a:bodyPr wrap="none" rtlCol="0">
            <a:spAutoFit/>
          </a:bodyPr>
          <a:lstStyle/>
          <a:p>
            <a:r>
              <a:rPr lang="en-US" sz="1400" dirty="0">
                <a:solidFill>
                  <a:schemeClr val="accent1"/>
                </a:solidFill>
              </a:rPr>
              <a:t>Mosaic Life Care is the largest employer in this area</a:t>
            </a:r>
          </a:p>
        </p:txBody>
      </p:sp>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Mosaic Life Care service area in Page, Taylor, Atchison, Doniphan, Andrew, Buchanan, Clay, Clinton, Daviess, DeKalb, Gentry, Harrison, Holt, Nodaway, Platte, and Worth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246K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139K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99K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60K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$2.46M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$0.52M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$13.34M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$3.76M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$25.82M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$7.45M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Mosaic Life Care has 89% inpatient market share, and 49% outpatient market compared to hospitals/clinics in the Mosaic Life Care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Mosaic Life Care 36%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23.8%</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28.8%</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33.8%</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282.5K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564.9K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941.5K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1,412.3K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392.1K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773.5K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1,250.3K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753.2K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1,883.1K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582.8K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1,059.6K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1,727.1K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564.9K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847.4K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-139.3K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201.4K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392.1K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678.2K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798528"/>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Mosaic Life Care’s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Mosaic Life Care’s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Mosaic Life Care</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27691" y="4325112"/>
            <a:ext cx="1042416" cy="263862"/>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15</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latin typeface="Montserrat" panose="00000500000000000000" pitchFamily="2" charset="0"/>
            </a:endParaRPr>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dirty="0">
                <a:latin typeface="Montserrat" panose="00000500000000000000" pitchFamily="2" charset="0"/>
              </a:rPr>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00539F">
              <a:alpha val="9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latin typeface="Montserrat" panose="00000500000000000000" pitchFamily="2" charset="0"/>
            </a:endParaRPr>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71860"/>
            <a:ext cx="11877152" cy="954107"/>
          </a:xfrm>
          <a:prstGeom prst="rect">
            <a:avLst/>
          </a:prstGeom>
          <a:noFill/>
        </p:spPr>
        <p:txBody>
          <a:bodyPr wrap="square">
            <a:spAutoFit/>
          </a:bodyPr>
          <a:lstStyle/>
          <a:p>
            <a:pPr algn="ctr"/>
            <a:r>
              <a:rPr lang="en-US" sz="2800" dirty="0">
                <a:solidFill>
                  <a:schemeClr val="bg1"/>
                </a:solidFill>
                <a:latin typeface="Montserrat" panose="00000500000000000000" pitchFamily="2" charset="0"/>
              </a:rPr>
              <a:t>BENEFIT PLAN DESIGNS THAT OPTIMIZE STEERAGE TO MOSAIC LIFE CARE</a:t>
            </a:r>
          </a:p>
        </p:txBody>
      </p:sp>
      <p:pic>
        <p:nvPicPr>
          <p:cNvPr id="9" name="Content Placeholder 8"/>
          <p:cNvPicPr>
            <a:picLocks noGrp="1"/>
          </p:cNvPicPr>
          <p:nvPr>
            <p:ph/>
          </p:nvPr>
        </p:nvPicPr>
        <p:blipFill>
          <a:blip r:embed="rId3" cstate="print"/>
          <a:stretch>
            <a:fillRect/>
          </a:stretch>
        </p:blipFill>
        <p:spPr>
          <a:xfrm>
            <a:off x="7909560" y="5157216"/>
            <a:ext cx="3612444" cy="914400"/>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27.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Mosaic Life Care’s approved site(s) with network integration, and development of Mosaic Life Care’s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59%+ Within-Plan Steerage and a Commercial Margin of 28.8%.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59%+ Within-Plan Steerage and a Commercial Margin of 28.8%.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59%+ Within-Plan Steerage and a Commercial Margin of 28.8%.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59%+ Within-Plan Steerage and a Commercial Margin of 28.8%.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59%+ Within-Plan Steerage and a Commercial Margin of 28.8%.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59%+ Within-Plan Steerage and a Commercial Margin of 28.8%.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59%+ Within-Plan Steerage and a Commercial Margin of 28.8%.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59%+ Within-Plan Steerage and a Commercial Margin of 28.8%.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3,269K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4,880K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9,760K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$ 2,811K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610K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$ 16,346K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$ 4,708K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$ 24,399K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$ 8,052K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$ 7,027K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$ 2,319K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$ 2,019K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$ 65,386K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$18,831K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$ 97,596K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$32,210K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$28,108K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$ 9,276K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$ 9,066K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$130,772K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$37,662K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$195,192K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$64,420K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$56,215K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$18,553K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$18,463K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Mosaic Life Care’s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Mosaic Life Care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Mosaic Life Care’s managed care with KBA’s programs positions Mosaic Life Care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Mosaic Life Care’s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Mosaic Life Care’s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Mosaic Life Care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2"/>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Mosaic Life Care</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Mosaic Life Care patients will often receive </a:t>
            </a:r>
            <a:r>
              <a:rPr kumimoji="0" lang="en-US" sz="14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4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MOSAIC LIFE CARE’S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Mosaic Life 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77,918</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$769,076K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29,449</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$154,449K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37%</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13,063</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$94,410K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17%</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4,054</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-$42,963K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31,352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$520,573K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41%</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43191" y="166345"/>
            <a:ext cx="11110611" cy="1325563"/>
          </a:xfrm>
        </p:spPr>
        <p:txBody>
          <a:bodyPr/>
          <a:lstStyle/>
          <a:p>
            <a:r>
              <a:rPr lang="en-US" dirty="0">
                <a:latin typeface="Montserrat" panose="00000500000000000000" pitchFamily="2" charset="0"/>
                <a:cs typeface="Arial" panose="020B0604020202020204" pitchFamily="34" charset="0"/>
              </a:rPr>
              <a:t>ESTIMATION OF MARGIN FOR </a:t>
            </a:r>
            <a:br>
              <a:rPr lang="en-US" dirty="0">
                <a:latin typeface="Montserrat" panose="00000500000000000000" pitchFamily="2" charset="0"/>
                <a:cs typeface="Arial" panose="020B0604020202020204" pitchFamily="34" charset="0"/>
              </a:rPr>
            </a:br>
            <a:r>
              <a:rPr lang="en-US" dirty="0">
                <a:latin typeface="Montserrat" panose="00000500000000000000" pitchFamily="2" charset="0"/>
                <a:cs typeface="Arial" panose="020B0604020202020204" pitchFamily="34" charset="0"/>
              </a:rPr>
              <a:t>COMMERCIAL VS. GOVERNMENT PAY</a:t>
            </a:r>
          </a:p>
        </p:txBody>
      </p:sp>
      <p:sp>
        <p:nvSpPr>
          <p:cNvPr id="3" name="Content Placeholder 2">
            <a:extLst>
              <a:ext uri="{FF2B5EF4-FFF2-40B4-BE49-F238E27FC236}">
                <a16:creationId xmlns:a16="http://schemas.microsoft.com/office/drawing/2014/main" id="{18BFBD36-1E96-1E59-E3A7-CCEF02D0CF96}"/>
              </a:ext>
            </a:extLst>
          </p:cNvPr>
          <p:cNvSpPr txBox="1">
            <a:spLocks/>
          </p:cNvSpPr>
          <p:nvPr/>
        </p:nvSpPr>
        <p:spPr>
          <a:xfrm>
            <a:off x="838200" y="2900636"/>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4" name="TextBox 7">
            <a:extLst>
              <a:ext uri="{FF2B5EF4-FFF2-40B4-BE49-F238E27FC236}">
                <a16:creationId xmlns:a16="http://schemas.microsoft.com/office/drawing/2014/main" id="{85163DF1-EB5C-1C3C-A93D-5F16CEEC2B92}"/>
              </a:ext>
            </a:extLst>
          </p:cNvPr>
          <p:cNvSpPr txBox="1"/>
          <p:nvPr/>
        </p:nvSpPr>
        <p:spPr>
          <a:xfrm>
            <a:off x="838199" y="1486335"/>
            <a:ext cx="4742179"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5" name="TextBox 8">
            <a:extLst>
              <a:ext uri="{FF2B5EF4-FFF2-40B4-BE49-F238E27FC236}">
                <a16:creationId xmlns:a16="http://schemas.microsoft.com/office/drawing/2014/main" id="{020B90EA-11B9-6E81-60B7-F3AFEA7FC5A7}"/>
              </a:ext>
            </a:extLst>
          </p:cNvPr>
          <p:cNvSpPr txBox="1"/>
          <p:nvPr/>
        </p:nvSpPr>
        <p:spPr>
          <a:xfrm>
            <a:off x="6827522" y="1486335"/>
            <a:ext cx="4358640"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6"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3558318255"/>
              </p:ext>
            </p:extLst>
          </p:nvPr>
        </p:nvGraphicFramePr>
        <p:xfrm>
          <a:off x="964071" y="2952518"/>
          <a:ext cx="4994602" cy="2021840"/>
        </p:xfrm>
        <a:graphic>
          <a:graphicData uri="http://schemas.openxmlformats.org/drawingml/2006/table">
            <a:tbl>
              <a:tblPr bandRow="1">
                <a:tableStyleId>{2D5ABB26-0587-4C30-8999-92F81FD0307C}</a:tableStyleId>
              </a:tblPr>
              <a:tblGrid>
                <a:gridCol w="3106554">
                  <a:extLst>
                    <a:ext uri="{9D8B030D-6E8A-4147-A177-3AD203B41FA5}">
                      <a16:colId xmlns:a16="http://schemas.microsoft.com/office/drawing/2014/main" val="1477699201"/>
                    </a:ext>
                  </a:extLst>
                </a:gridCol>
                <a:gridCol w="1888048">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1,328,358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846,864</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$481,494K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36%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7"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535693315"/>
              </p:ext>
            </p:extLst>
          </p:nvPr>
        </p:nvGraphicFramePr>
        <p:xfrm>
          <a:off x="6827521" y="2947438"/>
          <a:ext cx="4994601" cy="2026920"/>
        </p:xfrm>
        <a:graphic>
          <a:graphicData uri="http://schemas.openxmlformats.org/drawingml/2006/table">
            <a:tbl>
              <a:tblPr bandRow="1">
                <a:tableStyleId>{2D5ABB26-0587-4C30-8999-92F81FD0307C}</a:tableStyleId>
              </a:tblPr>
              <a:tblGrid>
                <a:gridCol w="3106553">
                  <a:extLst>
                    <a:ext uri="{9D8B030D-6E8A-4147-A177-3AD203B41FA5}">
                      <a16:colId xmlns:a16="http://schemas.microsoft.com/office/drawing/2014/main" val="1477699201"/>
                    </a:ext>
                  </a:extLst>
                </a:gridCol>
                <a:gridCol w="1888048">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414,212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846,864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-432,652</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-104%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8" name="TextBox 12">
            <a:extLst>
              <a:ext uri="{FF2B5EF4-FFF2-40B4-BE49-F238E27FC236}">
                <a16:creationId xmlns:a16="http://schemas.microsoft.com/office/drawing/2014/main" id="{879CF531-03B5-98C7-7BF8-469C9D55F9E4}"/>
              </a:ext>
            </a:extLst>
          </p:cNvPr>
          <p:cNvSpPr txBox="1"/>
          <p:nvPr/>
        </p:nvSpPr>
        <p:spPr>
          <a:xfrm>
            <a:off x="1043940" y="5245372"/>
            <a:ext cx="4398148" cy="738664"/>
          </a:xfrm>
          <a:prstGeom prst="rect">
            <a:avLst/>
          </a:prstGeom>
          <a:noFill/>
        </p:spPr>
        <p:txBody>
          <a:bodyPr wrap="square" rtlCol="0">
            <a:spAutoFit/>
          </a:bodyPr>
          <a:lstStyle/>
          <a:p>
            <a:r>
              <a:rPr lang="en-US" sz="1400" dirty="0">
                <a:latin typeface="Montserrat" panose="00000500000000000000" pitchFamily="2" charset="0"/>
              </a:rPr>
              <a:t>Calculated by dividing the current commercial revenue by the current commercial inpatient day payer mix.  </a:t>
            </a:r>
          </a:p>
        </p:txBody>
      </p:sp>
      <p:sp>
        <p:nvSpPr>
          <p:cNvPr id="9" name="TextBox 13">
            <a:extLst>
              <a:ext uri="{FF2B5EF4-FFF2-40B4-BE49-F238E27FC236}">
                <a16:creationId xmlns:a16="http://schemas.microsoft.com/office/drawing/2014/main" id="{5FAEC66D-2C5F-1BA4-6070-07C2BC7D18E6}"/>
              </a:ext>
            </a:extLst>
          </p:cNvPr>
          <p:cNvSpPr txBox="1"/>
          <p:nvPr/>
        </p:nvSpPr>
        <p:spPr>
          <a:xfrm>
            <a:off x="6827522" y="5244982"/>
            <a:ext cx="4114800" cy="738664"/>
          </a:xfrm>
          <a:prstGeom prst="rect">
            <a:avLst/>
          </a:prstGeom>
          <a:noFill/>
        </p:spPr>
        <p:txBody>
          <a:bodyPr wrap="square" rtlCol="0">
            <a:spAutoFit/>
          </a:bodyPr>
          <a:lstStyle/>
          <a:p>
            <a:r>
              <a:rPr lang="en-US" sz="1400" dirty="0">
                <a:latin typeface="Montserrat" panose="00000500000000000000" pitchFamily="2" charset="0"/>
              </a:rPr>
              <a:t>Calculated by dividing the current gov-pay revenue by the current gov-pay inpatient day payer mix.  </a:t>
            </a:r>
          </a:p>
        </p:txBody>
      </p:sp>
      <p:pic>
        <p:nvPicPr>
          <p:cNvPr id="10" name="Picture 2">
            <a:extLst>
              <a:ext uri="{FF2B5EF4-FFF2-40B4-BE49-F238E27FC236}">
                <a16:creationId xmlns:a16="http://schemas.microsoft.com/office/drawing/2014/main" id="{25A167A4-5C97-27E1-FBEE-8922D71233A8}"/>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07EB3B47-BC36-6F8F-B527-35236149E2A8}"/>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18341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89%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49%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944157607"/>
              </p:ext>
            </p:extLst>
          </p:nvPr>
        </p:nvGraphicFramePr>
        <p:xfrm>
          <a:off x="265176" y="914400"/>
          <a:ext cx="9829800" cy="4443988"/>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1657205">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445885">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Mosaic Life Care Medical Center at St Joseph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352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$588,940.4K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$1,069,152.5K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85%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43%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34414">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Mosaic Medical Center - Maryville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29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$ 22,345.3K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141,313.5K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334414">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Mosaic Medical Center - Albany</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3,328.0K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chemeClr val="accent1"/>
                          </a:solidFill>
                          <a:latin typeface="Montserrat"/>
                          <a:cs typeface="Arial"/>
                          <a:sym typeface="Arial"/>
                        </a:rPr>
                        <a:t>$   23,230.5K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334414">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Clarinda Regional Health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  8,847.9K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   73,940.4K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334414">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Amberwell Atchison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$ 16,202.6K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106,197.4K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334414">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Cameron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$ 40,476.9K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161,171.2K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334414">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Community Hospital Fairfax</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4,747.4K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32,041.7K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334414">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Harrison County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5,341.8K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39,149.5K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78485975"/>
              </p:ext>
            </p:extLst>
          </p:nvPr>
        </p:nvGraphicFramePr>
        <p:xfrm>
          <a:off x="0" y="142240"/>
          <a:ext cx="12192000" cy="6573520"/>
        </p:xfrm>
        <a:graphic>
          <a:graphicData uri="http://schemas.openxmlformats.org/drawingml/2006/table">
            <a:tbl>
              <a:tblPr/>
              <a:tblGrid>
                <a:gridCol w="3478927">
                  <a:extLst>
                    <a:ext uri="{9D8B030D-6E8A-4147-A177-3AD203B41FA5}">
                      <a16:colId xmlns:a16="http://schemas.microsoft.com/office/drawing/2014/main" val="20000"/>
                    </a:ext>
                  </a:extLst>
                </a:gridCol>
                <a:gridCol w="3517474">
                  <a:extLst>
                    <a:ext uri="{9D8B030D-6E8A-4147-A177-3AD203B41FA5}">
                      <a16:colId xmlns:a16="http://schemas.microsoft.com/office/drawing/2014/main" val="20001"/>
                    </a:ext>
                  </a:extLst>
                </a:gridCol>
                <a:gridCol w="2669310">
                  <a:extLst>
                    <a:ext uri="{9D8B030D-6E8A-4147-A177-3AD203B41FA5}">
                      <a16:colId xmlns:a16="http://schemas.microsoft.com/office/drawing/2014/main" val="20002"/>
                    </a:ext>
                  </a:extLst>
                </a:gridCol>
                <a:gridCol w="2526289">
                  <a:extLst>
                    <a:ext uri="{9D8B030D-6E8A-4147-A177-3AD203B41FA5}">
                      <a16:colId xmlns:a16="http://schemas.microsoft.com/office/drawing/2014/main" val="20003"/>
                    </a:ext>
                  </a:extLst>
                </a:gridCol>
              </a:tblGrid>
              <a:tr h="228570">
                <a:tc gridSpan="4">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63463">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Mosaic Life Care Medical Center at St Joseph</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Mosaic Medical Center - Maryville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Mosaic Medical Center - Albany</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0608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$240,288K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$10,011K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$2,413K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0614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$436,214K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$63,308K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$16,842K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0608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$135,679K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$12,973K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$5,797K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184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$83,295K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$9,189K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0608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$457,949K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$51,104K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$11,520K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0611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$35,438K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$4,564K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$2,961K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0611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$255,367K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$14,052K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$3,132K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0614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$463,588K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$88,864K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$21,862K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0695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$718,955K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$102,916K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$24,994K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0608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$-42,032K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$-29,650K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$-5,750K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0608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36.6%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49.0%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64.9%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0608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17.3%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184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0608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0692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0692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35.6%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83605">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83605">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83605">
                <a:tc gridSpan="4">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83605">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5478423"/>
          </a:xfrm>
          <a:prstGeom prst="rect">
            <a:avLst/>
          </a:prstGeom>
          <a:noFill/>
        </p:spPr>
        <p:txBody>
          <a:bodyPr wrap="square" rtlCol="0">
            <a:spAutoFit/>
          </a:bodyPr>
          <a:lstStyle/>
          <a:p>
            <a:r>
              <a:rPr lang="en-US" sz="1400" dirty="0">
                <a:solidFill/>
                <a:latin typeface="Montserrat" panose="00000500000000000000" pitchFamily="2" charset="0"/>
              </a:rPr>
              <a:t>KBA currently estimates that Mosaic Life Care has 89% inpatient market share, and 49% outpatient market compared to hospitals/clinics in the Mosaic Life Care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Mosaic Life Care. Mosaic’s dominant market share will of course improve this.</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6459986"/>
              </p:ext>
            </p:extLst>
          </p:nvPr>
        </p:nvGraphicFramePr>
        <p:xfrm>
          <a:off x="736600" y="1054578"/>
          <a:ext cx="7300975" cy="4940842"/>
        </p:xfrm>
        <a:graphic>
          <a:graphicData uri="http://schemas.openxmlformats.org/drawingml/2006/table">
            <a:tbl>
              <a:tblPr/>
              <a:tblGrid>
                <a:gridCol w="1460195">
                  <a:extLst>
                    <a:ext uri="{9D8B030D-6E8A-4147-A177-3AD203B41FA5}">
                      <a16:colId xmlns:a16="http://schemas.microsoft.com/office/drawing/2014/main" val="20000"/>
                    </a:ext>
                  </a:extLst>
                </a:gridCol>
                <a:gridCol w="1460195">
                  <a:extLst>
                    <a:ext uri="{9D8B030D-6E8A-4147-A177-3AD203B41FA5}">
                      <a16:colId xmlns:a16="http://schemas.microsoft.com/office/drawing/2014/main" val="20001"/>
                    </a:ext>
                  </a:extLst>
                </a:gridCol>
                <a:gridCol w="1460195">
                  <a:extLst>
                    <a:ext uri="{9D8B030D-6E8A-4147-A177-3AD203B41FA5}">
                      <a16:colId xmlns:a16="http://schemas.microsoft.com/office/drawing/2014/main" val="20002"/>
                    </a:ext>
                  </a:extLst>
                </a:gridCol>
                <a:gridCol w="1460195">
                  <a:extLst>
                    <a:ext uri="{9D8B030D-6E8A-4147-A177-3AD203B41FA5}">
                      <a16:colId xmlns:a16="http://schemas.microsoft.com/office/drawing/2014/main" val="20003"/>
                    </a:ext>
                  </a:extLst>
                </a:gridCol>
                <a:gridCol w="1460195">
                  <a:extLst>
                    <a:ext uri="{9D8B030D-6E8A-4147-A177-3AD203B41FA5}">
                      <a16:colId xmlns:a16="http://schemas.microsoft.com/office/drawing/2014/main" val="20004"/>
                    </a:ext>
                  </a:extLst>
                </a:gridCol>
              </a:tblGrid>
              <a:tr h="765482">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Mosaic Life Care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Mosaic Life Care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90%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1,500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$ 3,952,471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$ 3,991,446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$ 1,863,971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$ 9,807,888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$ 1,138,312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$ 1,149,536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$ 536,823.7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$ 2,824,672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$ 1,394,324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$ 18,000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$ 1,399,124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$ 1,232,324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$ 3,994,874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$ 7,262,767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$ 3,391,651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$ 14,649,292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$ 1,150,524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$ 2,091,677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$ 976,795.4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$ 4,218,996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89% (inpatient) and 49%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90% inpatient and 90%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28.8%,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852047511"/>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29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59%+ Within-Plan Steerage and a Commercial Margin of 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59%+ Within-Plan Steerage and a Commercial Margin of 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59%+ Within-Plan Steerage and a Commercial Margin of 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59%+ Within-Plan Steerage and a Commercial Margin of 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59%+ Within-Plan Steerage and a Commercial Margin of 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2705">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57261">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$1,317.5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$2,635.0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$13,174.9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$65,874.5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$758.9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$3,794.4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$18,971.9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$13,307.2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$66,536.1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$383.2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$766.5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$3,832.5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$19,162.4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$38.1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$1,330.5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$2,661.0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$13,304.8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$66,524.1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$383.2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$766.4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$3,831.8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$19,158.9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$2,419.3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$4,838.6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$24,192.8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$120,964.1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$1,393.5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$6,967.5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$34,837.7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$1,088.8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$2,177.6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$10,888.0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$54,440.0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$313.6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$627.1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$3,135.7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$15,678.7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$621.3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$1,242.6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$6,213.2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$31,066.2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$1,789.4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$8,947.1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$1,129.8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$2,259.6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$11,297.8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$56,489.2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$325.4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$3,253.8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$16,268.9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$1,016.9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$5,084.6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$25,423.0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$146.4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$292.9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$1,464.4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$7,321.8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57261">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$139.8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$609.6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$4,368.2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$23,161.1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42159244"/>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59%+ Within-Plan Steerage and a Commercial Margin of 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59%+ Within-Plan Steerage and a Commercial Margin of 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59%+ Within-Plan Steerage and a Commercial Margin of 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59%+ Within-Plan Steerage and a Commercial Margin of 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59%+ Within-Plan Steerage and a Commercial Margin of 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$3,269.3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$6,538.6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$32,693.0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$163,464.8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$1,883.1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$47,077.9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$4,879.8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$9,759.6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$48,797.9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$243,989.4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$3,221.0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$16,104.9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$80,524.6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$1,405.4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$2,810.8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$14,053.8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$70,269.0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$927.6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$4,638.2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$23,191.1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$139.8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$609.6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$4,368.2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$23,161.1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078980420"/>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$3,269.3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$6,538.6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$32,693.0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$163,464.8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$1,883.1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$47,077.9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$4,873.5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$9,747.0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$48,734.9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$243,674.7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$3,208.4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$16,042.0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$80,209.9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$3,294.5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$16,472.4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$82,362.1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$705.7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$1,411.4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$7,056.8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$35,284.2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$381.7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$1,093.4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$6,786.8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$35,254.2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52017874"/>
              </p:ext>
            </p:extLst>
          </p:nvPr>
        </p:nvGraphicFramePr>
        <p:xfrm>
          <a:off x="0" y="0"/>
          <a:ext cx="12198096" cy="6946898"/>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8477">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60%+ Within-Plan Steerage and a Commercial Margin of 23.8%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60%+ Within-Plan Steerage and a Commercial Margin of 23.8%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60%+ Within-Plan Steerage and a Commercial Margin of 23.8%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60%+ Within-Plan Steerage and a Commercial Margin of 23.8%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60%+ Within-Plan Steerage and a Commercial Margin of 23.8%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56630">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8895">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8895">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$3,269.3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$6,538.6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$32,693.0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$163,464.8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8895">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$1,883.1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$47,077.9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8895">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$9,840.7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$49,203.3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$246,016.6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6586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$1,651.0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$3,302.1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$16,510.4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$82,551.8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8895">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$1,171.0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$2,342.1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$11,710.4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$58,552.0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6586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$2,294.8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$11,474.1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8895">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8895">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8895">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8895">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$-94.5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$141.0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$2,024.8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$11,444.1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39</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81336" y="2627013"/>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Mosaic Life Care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Mosaic Life Care</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Mosaic Life Care</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Mosaic Life Care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Mosaic Life Care</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Mosaic Life Care’s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46160</TotalTime>
  <Words>4880</Words>
  <Application>Microsoft Office PowerPoint</Application>
  <PresentationFormat>Widescreen</PresentationFormat>
  <Paragraphs>1273</Paragraphs>
  <Slides>43</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43</vt:i4>
      </vt:variant>
    </vt:vector>
  </HeadingPairs>
  <TitlesOfParts>
    <vt:vector size="53"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MOSAIC LIFE CARE</vt:lpstr>
      <vt:lpstr>Direct-to-Employer Strategy: POWERFUL EMPLOYER VALUE</vt:lpstr>
      <vt:lpstr>PowerPoint Presentation</vt:lpstr>
      <vt:lpstr>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MOSAIC LIFE CARE’S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2025-03-21T18:12:41Z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