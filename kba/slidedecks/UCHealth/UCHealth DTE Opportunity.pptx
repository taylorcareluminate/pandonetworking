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50"/>
  </p:notesMasterIdLst>
  <p:sldIdLst>
    <p:sldId id="577" r:id="rId5"/>
    <p:sldId id="454" r:id="rId6"/>
    <p:sldId id="549" r:id="rId7"/>
    <p:sldId id="487" r:id="rId8"/>
    <p:sldId id="452" r:id="rId9"/>
    <p:sldId id="518" r:id="rId10"/>
    <p:sldId id="466" r:id="rId11"/>
    <p:sldId id="559" r:id="rId12"/>
    <p:sldId id="580" r:id="rId13"/>
    <p:sldId id="582" r:id="rId14"/>
    <p:sldId id="558" r:id="rId15"/>
    <p:sldId id="548" r:id="rId16"/>
    <p:sldId id="521" r:id="rId17"/>
    <p:sldId id="564" r:id="rId18"/>
    <p:sldId id="587" r:id="rId19"/>
    <p:sldId id="456" r:id="rId20"/>
    <p:sldId id="489" r:id="rId21"/>
    <p:sldId id="499" r:id="rId22"/>
    <p:sldId id="458" r:id="rId23"/>
    <p:sldId id="446" r:id="rId24"/>
    <p:sldId id="461" r:id="rId25"/>
    <p:sldId id="462" r:id="rId26"/>
    <p:sldId id="469" r:id="rId27"/>
    <p:sldId id="336" r:id="rId28"/>
    <p:sldId id="337" r:id="rId29"/>
    <p:sldId id="578" r:id="rId30"/>
    <p:sldId id="583" r:id="rId31"/>
    <p:sldId id="584" r:id="rId32"/>
    <p:sldId id="527" r:id="rId33"/>
    <p:sldId id="588" r:id="rId34"/>
    <p:sldId id="589" r:id="rId35"/>
    <p:sldId id="571" r:id="rId36"/>
    <p:sldId id="546" r:id="rId37"/>
    <p:sldId id="547" r:id="rId38"/>
    <p:sldId id="585" r:id="rId39"/>
    <p:sldId id="536" r:id="rId40"/>
    <p:sldId id="256" r:id="rId41"/>
    <p:sldId id="574" r:id="rId42"/>
    <p:sldId id="572" r:id="rId43"/>
    <p:sldId id="575" r:id="rId44"/>
    <p:sldId id="498" r:id="rId45"/>
    <p:sldId id="325" r:id="rId46"/>
    <p:sldId id="326" r:id="rId47"/>
    <p:sldId id="491" r:id="rId48"/>
    <p:sldId id="472" r:id="rId49"/>
  </p:sldIdLst>
  <p:sldSz cx="12192000" cy="6858000"/>
  <p:notesSz cx="7315200" cy="9601200"/>
  <p:custDataLst>
    <p:tags r:id="rId5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759F92-F653-4699-AD28-C3B953EB9001}" v="53" dt="2024-10-10T18:40:22.021"/>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609" autoAdjust="0"/>
  </p:normalViewPr>
  <p:slideViewPr>
    <p:cSldViewPr snapToGrid="0">
      <p:cViewPr>
        <p:scale>
          <a:sx n="75" d="100"/>
          <a:sy n="75" d="100"/>
        </p:scale>
        <p:origin x="1146" y="51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s>
</file>

<file path=ppt/diagrams/_rels/data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image" Target="../media/image26.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image" Target="../media/image26.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54060E05-1455-499C-A6BB-E47A1C8EFC1A}" type="presOf" srcId="{B1FA3D48-7F41-4C46-99D6-6C8591F4198C}" destId="{8C4E3136-41AF-48D5-891D-C7A5263CF655}" srcOrd="0" destOrd="1" presId="urn:microsoft.com/office/officeart/2005/8/layout/bList2"/>
    <dgm:cxn modelId="{EBF30808-A408-4F9D-B9C2-E5FC4507A989}" srcId="{137481BD-655E-4B21-9249-6EBB92970AA3}" destId="{B1FA3D48-7F41-4C46-99D6-6C8591F4198C}" srcOrd="1" destOrd="0" parTransId="{012C922E-7A6C-43B7-A753-53C75D0CB07F}" sibTransId="{4E6B45C1-37A8-43E1-8B00-EA4364BA9A53}"/>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1"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92EAACA0-EC69-4A7A-A0D6-B767ABABFD4D}" type="presOf" srcId="{8AA02574-A625-4CCB-B607-53FB332909CE}" destId="{9E8AA967-F63D-4462-B3DF-2E61DCE37D82}" srcOrd="0" destOrd="0" presId="urn:microsoft.com/office/officeart/2005/8/layout/bList2"/>
    <dgm:cxn modelId="{FB851ADA-FDC3-4AC9-B5D1-634F1680EA45}" type="presOf" srcId="{D23E581B-AA16-403B-8AF5-1BB3E719881C}" destId="{5F2862EE-15F0-400F-BA0C-7A5864BA0266}" srcOrd="0" destOrd="0" presId="urn:microsoft.com/office/officeart/2005/8/layout/bList2"/>
    <dgm:cxn modelId="{D5EF1BE8-567B-4AEB-9931-155FFDAC15D1}" srcId="{8AA02574-A625-4CCB-B607-53FB332909CE}" destId="{5E564713-3E5C-4216-AC76-2C8D569707A1}" srcOrd="1" destOrd="0" parTransId="{0C8DA182-D421-4374-AA69-62A4033F8D61}" sibTransId="{C594015F-2B43-47FD-9E44-22D00FC6EB48}"/>
    <dgm:cxn modelId="{AECB39EB-1DBA-434A-8146-CF9B196B8451}" type="presOf" srcId="{8F0095CA-0C27-493A-9874-D794A8A73536}" destId="{35B06EAE-30F4-4745-ACED-5452905F1416}" srcOrd="0" destOrd="0" presId="urn:microsoft.com/office/officeart/2005/8/layout/bList2"/>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11/5/2024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11/5/2024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11/5/2024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11/5/2024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11/5/2024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11/5/2024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11/5/2024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5.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jpeg"/><Relationship Id="rId7" Type="http://schemas.openxmlformats.org/officeDocument/2006/relationships/image" Target="../media/image34.jpeg"/><Relationship Id="rId2" Type="http://schemas.openxmlformats.org/officeDocument/2006/relationships/image" Target="../media/image29.png"/><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jpeg"/><Relationship Id="rId4" Type="http://schemas.openxmlformats.org/officeDocument/2006/relationships/image" Target="../media/image31.png"/><Relationship Id="rId9"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43.jpeg"/><Relationship Id="rId5" Type="http://schemas.openxmlformats.org/officeDocument/2006/relationships/image" Target="../media/image42.jpeg"/><Relationship Id="rId4" Type="http://schemas.microsoft.com/office/2007/relationships/hdphoto" Target="../media/hdphoto2.wdp"/></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4.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4.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5.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jpeg"/><Relationship Id="rId1" Type="http://schemas.openxmlformats.org/officeDocument/2006/relationships/slideLayout" Target="../slideLayouts/slideLayout6.xml"/><Relationship Id="rId6" Type="http://schemas.openxmlformats.org/officeDocument/2006/relationships/image" Target="../media/image49.svg"/><Relationship Id="rId11" Type="http://schemas.openxmlformats.org/officeDocument/2006/relationships/image" Target="../media/image6.png"/><Relationship Id="rId5" Type="http://schemas.openxmlformats.org/officeDocument/2006/relationships/image" Target="../media/image4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UCHEALTH DIRECT-TO-EMPLOYER PLAN </a:t>
            </a:r>
          </a:p>
          <a:p>
            <a:r>
              <a:rPr lang="en-US" sz="2000" b="1" dirty="0">
                <a:solidFill>
                  <a:schemeClr val="bg1"/>
                </a:solidFill>
              </a:rPr>
              <a:t>November 05,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7" name="Content Placeholder 6"/>
          <p:cNvPicPr>
            <a:picLocks noGrp="1"/>
          </p:cNvPicPr>
          <p:nvPr>
            <p:ph/>
          </p:nvPr>
        </p:nvPicPr>
        <p:blipFill>
          <a:blip r:embed="rId3" cstate="print"/>
          <a:stretch>
            <a:fillRect/>
          </a:stretch>
        </p:blipFill>
        <p:spPr>
          <a:xfrm>
            <a:off x="974852" y="1636776"/>
            <a:ext cx="11217148" cy="5221224"/>
          </a:xfrm>
          <a:prstGeom prst="rect">
            <a:avLst/>
          </a:prstGeom>
        </p:spPr>
      </p:pic>
      <p:pic>
        <p:nvPicPr>
          <p:cNvPr id="8" name="Content Placeholder 7"/>
          <p:cNvPicPr>
            <a:picLocks noGrp="1"/>
          </p:cNvPicPr>
          <p:nvPr>
            <p:ph/>
          </p:nvPr>
        </p:nvPicPr>
        <p:blipFill>
          <a:blip r:embed="rId4" cstate="print"/>
          <a:stretch>
            <a:fillRect/>
          </a:stretch>
        </p:blipFill>
        <p:spPr>
          <a:xfrm>
            <a:off x="9619186" y="849760"/>
            <a:ext cx="2271336" cy="704088"/>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13" name="Content Placeholder 12"/>
          <p:cNvPicPr>
            <a:picLocks noGrp="1"/>
          </p:cNvPicPr>
          <p:nvPr>
            <p:ph/>
          </p:nvPr>
        </p:nvPicPr>
        <p:blipFill>
          <a:blip r:embed="rId3" cstate="print"/>
          <a:stretch>
            <a:fillRect/>
          </a:stretch>
        </p:blipFill>
        <p:spPr>
          <a:xfrm>
            <a:off x="9234939" y="347472"/>
            <a:ext cx="2507319" cy="777240"/>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UCHealth</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646605"/>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err="1">
                <a:solidFill/>
              </a:rPr>
              <a:t>UCHealth</a:t>
            </a:r>
            <a:r>
              <a:rPr lang="en-US" dirty="0">
                <a:solidFill/>
              </a:rPr>
              <a:t> </a:t>
            </a:r>
            <a:r>
              <a:rPr lang="en-US" i="1" dirty="0">
                <a:solidFill/>
              </a:rPr>
              <a:t>a</a:t>
            </a:r>
            <a:r>
              <a:rPr lang="en-US" dirty="0">
                <a:solidFill/>
              </a:rPr>
              <a:t> quality and </a:t>
            </a:r>
            <a:r>
              <a:rPr lang="en-US" i="1" dirty="0">
                <a:solidFill/>
              </a:rPr>
              <a:t>the</a:t>
            </a:r>
            <a:r>
              <a:rPr lang="en-US" dirty="0">
                <a:solidFill/>
              </a:rPr>
              <a:t> access leader </a:t>
            </a:r>
            <a:r>
              <a:rPr lang="en-US" dirty="0"/>
              <a:t>in </a:t>
            </a:r>
            <a:r>
              <a:rPr lang="en-US" sz="1800" dirty="0">
                <a:solidFill>
                  <a:srgbClr val="000B2E"/>
                </a:solidFill>
              </a:rPr>
              <a:t>Central Colorado</a:t>
            </a:r>
            <a:r>
              <a:rPr lang="en-US" dirty="0"/>
              <a:t>. </a:t>
            </a:r>
            <a:r>
              <a:rPr lang="en-US" dirty="0">
                <a:solidFill/>
              </a:rPr>
              <a:t>Market size is excellent. </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dirty="0">
                <a:solidFill/>
              </a:rPr>
              <a:t>Profit growth will hold if these assumptions accurately play out as expected for UCHealth.</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4"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5"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2">
            <a:extLst>
              <a:ext uri="{FF2B5EF4-FFF2-40B4-BE49-F238E27FC236}">
                <a16:creationId xmlns:a16="http://schemas.microsoft.com/office/drawing/2014/main" id="{061C4F0D-14E1-8EB9-6313-04B404BF313E}"/>
              </a:ext>
            </a:extLst>
          </p:cNvPr>
          <p:cNvSpPr txBox="1"/>
          <p:nvPr/>
        </p:nvSpPr>
        <p:spPr>
          <a:xfrm>
            <a:off x="1036930" y="3444621"/>
            <a:ext cx="3034331" cy="1938992"/>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~$1.13 of loss</a:t>
            </a:r>
          </a:p>
        </p:txBody>
      </p:sp>
      <p:sp>
        <p:nvSpPr>
          <p:cNvPr id="7"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9"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0"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~$0.42 of profit</a:t>
            </a:r>
          </a:p>
        </p:txBody>
      </p:sp>
      <p:sp>
        <p:nvSpPr>
          <p:cNvPr id="13" name="TextBox 6">
            <a:extLst>
              <a:ext uri="{FF2B5EF4-FFF2-40B4-BE49-F238E27FC236}">
                <a16:creationId xmlns:a16="http://schemas.microsoft.com/office/drawing/2014/main" id="{820D1BA4-6D19-00FD-17FF-A0AD0AAAF7EE}"/>
              </a:ext>
            </a:extLst>
          </p:cNvPr>
          <p:cNvSpPr txBox="1"/>
          <p:nvPr/>
        </p:nvSpPr>
        <p:spPr>
          <a:xfrm>
            <a:off x="1973943" y="5562552"/>
            <a:ext cx="9132180" cy="369332"/>
          </a:xfrm>
          <a:prstGeom prst="rect">
            <a:avLst/>
          </a:prstGeom>
          <a:noFill/>
        </p:spPr>
        <p:txBody>
          <a:bodyPr wrap="none" rtlCol="0">
            <a:spAutoFit/>
          </a:bodyPr>
          <a:lstStyle/>
          <a:p>
            <a:r>
              <a:rPr lang="en-US" dirty="0"/>
              <a:t>See slide 27 for more details on the calculation of commercial and government-pay net income.</a:t>
            </a:r>
          </a:p>
        </p:txBody>
      </p:sp>
      <p:pic>
        <p:nvPicPr>
          <p:cNvPr id="14" name="Content Placeholder 13"/>
          <p:cNvPicPr>
            <a:picLocks noGrp="1"/>
          </p:cNvPicPr>
          <p:nvPr>
            <p:ph/>
          </p:nvPr>
        </p:nvPicPr>
        <p:blipFill>
          <a:blip r:embed="rId2" cstate="print"/>
          <a:stretch>
            <a:fillRect/>
          </a:stretch>
        </p:blipFill>
        <p:spPr>
          <a:xfrm>
            <a:off x="9415808" y="322385"/>
            <a:ext cx="2507319" cy="777240"/>
          </a:xfrm>
          <a:prstGeom prst="rect">
            <a:avLst/>
          </a:prstGeom>
        </p:spPr>
      </p:pic>
    </p:spTree>
    <p:extLst>
      <p:ext uri="{BB962C8B-B14F-4D97-AF65-F5344CB8AC3E}">
        <p14:creationId xmlns:p14="http://schemas.microsoft.com/office/powerpoint/2010/main" val="3348736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solidFill/>
              </a:rPr>
              <a:t>“At the table” with UCHealth</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8,000</a:t>
            </a:r>
            <a:r>
              <a:rPr lang="en-US" spc="200" dirty="0">
                <a:latin typeface="+mj-lt"/>
                <a:cs typeface="+mj-cs"/>
              </a:rPr>
              <a:t>+</a:t>
            </a:r>
            <a:r>
              <a:rPr lang="en-US" sz="1800" spc="200" dirty="0">
                <a:latin typeface="+mj-lt"/>
                <a:cs typeface="+mj-cs"/>
              </a:rPr>
              <a:t> Employers       1,500,000</a:t>
            </a:r>
            <a:r>
              <a:rPr lang="en-US" sz="1800" spc="200" dirty="0">
                <a:latin typeface="+mj-lt"/>
                <a:cs typeface="+mj-cs"/>
                <a:sym typeface="Wingdings" panose="05000000000000000000" pitchFamily="2" charset="2"/>
              </a:rPr>
              <a:t>+ Employees       2,400,000+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Central Colorado</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80972442"/>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911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352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192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141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56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29</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349,200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293,400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352,800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455,700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424,000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786,000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628,600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528,100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635,000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820,300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763,200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1,414,800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rcRect l="34403" t="32786" r="30634" b="27534"/>
          <a:stretch/>
        </p:blipFill>
        <p:spPr>
          <a:xfrm>
            <a:off x="930627" y="2316822"/>
            <a:ext cx="3107975" cy="3265482"/>
          </a:xfrm>
          <a:prstGeom prst="rect">
            <a:avLst/>
          </a:prstGeom>
        </p:spPr>
      </p:pic>
      <p:sp>
        <p:nvSpPr>
          <p:cNvPr id="10" name="TextBox 75">
            <a:extLst>
              <a:ext uri="{FF2B5EF4-FFF2-40B4-BE49-F238E27FC236}">
                <a16:creationId xmlns:a16="http://schemas.microsoft.com/office/drawing/2014/main" id="{257A92F0-B172-307C-A1FF-CCE312F6F539}"/>
              </a:ext>
            </a:extLst>
          </p:cNvPr>
          <p:cNvSpPr txBox="1"/>
          <p:nvPr/>
        </p:nvSpPr>
        <p:spPr>
          <a:xfrm>
            <a:off x="1699594" y="5848141"/>
            <a:ext cx="9514366" cy="600164"/>
          </a:xfrm>
          <a:prstGeom prst="rect">
            <a:avLst/>
          </a:prstGeom>
          <a:noFill/>
        </p:spPr>
        <p:txBody>
          <a:bodyPr wrap="square" rtlCol="0">
            <a:spAutoFit/>
          </a:bodyPr>
          <a:lstStyle/>
          <a:p>
            <a:r>
              <a:rPr lang="en-US" sz="1100" dirty="0">
                <a:solidFill/>
              </a:rPr>
              <a:t>Estimates include Adams, Alamosa, Arapahoe, Archuleta, Baca, Bent, Boulder, Chaffee, Cheyenne, Clear Creek, Crowley, Custer, Denver, Douglas, Eagle, El Paso, Fremont, Garfield, Gilpin, Grand, Huerfano, Jackson, Jefferson, Kiowa, Larimer, Las Animas, Logan, Moffat, Morgan, Otero, Park, Phillips, Prowers, Pueblo, Rio Grande, Routt, Saguache, Sedgwick, Summit, Teller, Weld, Yuma, Box Butte, Scotts Bluff, Colfax, Albany, Carbon, Goshen, Laramie, and Platte Counties</a:t>
            </a:r>
          </a:p>
        </p:txBody>
      </p:sp>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830997"/>
          </a:xfrm>
          <a:prstGeom prst="rect">
            <a:avLst/>
          </a:prstGeom>
          <a:noFill/>
        </p:spPr>
        <p:txBody>
          <a:bodyPr wrap="square" rtlCol="0">
            <a:spAutoFit/>
          </a:bodyPr>
          <a:lstStyle/>
          <a:p>
            <a:r>
              <a:rPr lang="en-US" sz="1200" dirty="0">
                <a:solidFill/>
              </a:rPr>
              <a:t>Estimates include Adams, Alamosa, Arapahoe, Archuleta, Baca, Bent, Boulder, Chaffee, Cheyenne, Clear Creek, Crowley, Custer, Denver, Douglas, Eagle, El Paso, Fremont, Garfield, Gilpin, Grand, Huerfano, Jackson, Jefferson, Kiowa, Larimer, Las Animas, Logan, Moffat, Morgan, Otero, Park, Phillips, Prowers, Pueblo, Rio Grande, Routt, Saguache, Sedgwick, Summit, Teller, Weld, Yuma, Box Butte, Scotts Bluff, Colfax, Albany, Carbon, Goshen, Laramie, and Platte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5,506K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3,364K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2,395K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1,351K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$68.28M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$23.08M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$507.93M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$172.79M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$1068.13M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$363.25M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3"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11</a:t>
            </a:fld>
            <a:endParaRPr lang="en-US" dirty="0"/>
          </a:p>
        </p:txBody>
      </p:sp>
      <p:sp>
        <p:nvSpPr>
          <p:cNvPr id="5"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8" name="TextBox 12">
            <a:extLst>
              <a:ext uri="{FF2B5EF4-FFF2-40B4-BE49-F238E27FC236}">
                <a16:creationId xmlns:a16="http://schemas.microsoft.com/office/drawing/2014/main" id="{025AE6BF-C458-13D4-626E-DAD4C1439055}"/>
              </a:ext>
            </a:extLst>
          </p:cNvPr>
          <p:cNvSpPr txBox="1"/>
          <p:nvPr/>
        </p:nvSpPr>
        <p:spPr>
          <a:xfrm>
            <a:off x="7466120" y="2250333"/>
            <a:ext cx="4616389" cy="900246"/>
          </a:xfrm>
          <a:prstGeom prst="rect">
            <a:avLst/>
          </a:prstGeom>
          <a:noFill/>
        </p:spPr>
        <p:txBody>
          <a:bodyPr wrap="square" rtlCol="0">
            <a:spAutoFit/>
          </a:bodyPr>
          <a:lstStyle/>
          <a:p>
            <a:r>
              <a:rPr lang="en-US" sz="1050" dirty="0">
                <a:solidFill/>
              </a:rPr>
              <a:t>KBA currently estimates that UCHealth has 28% inpatient market share, and 17% outpatient market compared to hospitals/clinics in the Central Colorado. The DTE tiered structure will create immediate steerage, with additional steerage over time from patient bonus benefits and the patient card (see slide 33 for estimates of target steerage). </a:t>
            </a:r>
            <a:endParaRPr lang="en-US" sz="1050" dirty="0"/>
          </a:p>
        </p:txBody>
      </p:sp>
      <p:sp>
        <p:nvSpPr>
          <p:cNvPr id="9" name="Rectangle 20">
            <a:extLst>
              <a:ext uri="{FF2B5EF4-FFF2-40B4-BE49-F238E27FC236}">
                <a16:creationId xmlns:a16="http://schemas.microsoft.com/office/drawing/2014/main" id="{620CA171-241C-9006-DA4D-7174E70B2EF3}"/>
              </a:ext>
            </a:extLst>
          </p:cNvPr>
          <p:cNvSpPr/>
          <p:nvPr/>
        </p:nvSpPr>
        <p:spPr>
          <a:xfrm>
            <a:off x="7597806" y="55513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13" name="TextBox 24">
            <a:extLst>
              <a:ext uri="{FF2B5EF4-FFF2-40B4-BE49-F238E27FC236}">
                <a16:creationId xmlns:a16="http://schemas.microsoft.com/office/drawing/2014/main" id="{32C9D62D-25B0-6CD9-8AD7-E6855B1B1B26}"/>
              </a:ext>
            </a:extLst>
          </p:cNvPr>
          <p:cNvSpPr txBox="1"/>
          <p:nvPr/>
        </p:nvSpPr>
        <p:spPr>
          <a:xfrm>
            <a:off x="7509029" y="4771081"/>
            <a:ext cx="4616389" cy="738664"/>
          </a:xfrm>
          <a:prstGeom prst="rect">
            <a:avLst/>
          </a:prstGeom>
          <a:noFill/>
        </p:spPr>
        <p:txBody>
          <a:bodyPr wrap="square" rtlCol="0">
            <a:spAutoFit/>
          </a:bodyPr>
          <a:lstStyle/>
          <a:p>
            <a:r>
              <a:rPr lang="en-US" sz="1050" dirty="0">
                <a:solidFill/>
              </a:rPr>
              <a:t>KBA observes a UCHealth 42% commercial margin. Conservatively, we model the DTE to be level with commercial rates given prices 10% below market, but with a 10 percentage-point increase through friendlier billing practices and improved patient collections with the patient card.</a:t>
            </a:r>
          </a:p>
        </p:txBody>
      </p:sp>
      <p:sp>
        <p:nvSpPr>
          <p:cNvPr id="14" name="TextBox 25">
            <a:extLst>
              <a:ext uri="{FF2B5EF4-FFF2-40B4-BE49-F238E27FC236}">
                <a16:creationId xmlns:a16="http://schemas.microsoft.com/office/drawing/2014/main" id="{A76920ED-352E-9285-CC83-BDA6AB18978D}"/>
              </a:ext>
            </a:extLst>
          </p:cNvPr>
          <p:cNvSpPr txBox="1"/>
          <p:nvPr/>
        </p:nvSpPr>
        <p:spPr>
          <a:xfrm>
            <a:off x="7707395" y="5503948"/>
            <a:ext cx="488916" cy="307777"/>
          </a:xfrm>
          <a:prstGeom prst="rect">
            <a:avLst/>
          </a:prstGeom>
          <a:noFill/>
        </p:spPr>
        <p:txBody>
          <a:bodyPr wrap="none" rtlCol="0">
            <a:spAutoFit/>
          </a:bodyPr>
          <a:lstStyle/>
          <a:p>
            <a:r>
              <a:rPr lang="en-US" sz="1400" b="1" dirty="0"/>
              <a:t>Low</a:t>
            </a:r>
          </a:p>
        </p:txBody>
      </p:sp>
      <p:sp>
        <p:nvSpPr>
          <p:cNvPr id="15" name="TextBox 26">
            <a:extLst>
              <a:ext uri="{FF2B5EF4-FFF2-40B4-BE49-F238E27FC236}">
                <a16:creationId xmlns:a16="http://schemas.microsoft.com/office/drawing/2014/main" id="{2559AB8C-6F23-81D3-4546-DE75EBD91879}"/>
              </a:ext>
            </a:extLst>
          </p:cNvPr>
          <p:cNvSpPr txBox="1"/>
          <p:nvPr/>
        </p:nvSpPr>
        <p:spPr>
          <a:xfrm>
            <a:off x="9572765" y="5503948"/>
            <a:ext cx="643509" cy="307777"/>
          </a:xfrm>
          <a:prstGeom prst="rect">
            <a:avLst/>
          </a:prstGeom>
          <a:noFill/>
        </p:spPr>
        <p:txBody>
          <a:bodyPr wrap="none" rtlCol="0">
            <a:spAutoFit/>
          </a:bodyPr>
          <a:lstStyle/>
          <a:p>
            <a:r>
              <a:rPr lang="en-US" sz="1400" b="1" dirty="0"/>
              <a:t>Target</a:t>
            </a:r>
          </a:p>
        </p:txBody>
      </p:sp>
      <p:sp>
        <p:nvSpPr>
          <p:cNvPr id="16" name="TextBox 27">
            <a:extLst>
              <a:ext uri="{FF2B5EF4-FFF2-40B4-BE49-F238E27FC236}">
                <a16:creationId xmlns:a16="http://schemas.microsoft.com/office/drawing/2014/main" id="{314AFF5C-ABDA-A82B-40C8-14E2DB160036}"/>
              </a:ext>
            </a:extLst>
          </p:cNvPr>
          <p:cNvSpPr txBox="1"/>
          <p:nvPr/>
        </p:nvSpPr>
        <p:spPr>
          <a:xfrm>
            <a:off x="11436788" y="5503948"/>
            <a:ext cx="524503" cy="307777"/>
          </a:xfrm>
          <a:prstGeom prst="rect">
            <a:avLst/>
          </a:prstGeom>
          <a:noFill/>
        </p:spPr>
        <p:txBody>
          <a:bodyPr wrap="none" rtlCol="0">
            <a:spAutoFit/>
          </a:bodyPr>
          <a:lstStyle/>
          <a:p>
            <a:r>
              <a:rPr lang="en-US" sz="1400" b="1" dirty="0"/>
              <a:t>High</a:t>
            </a:r>
          </a:p>
        </p:txBody>
      </p:sp>
      <p:sp>
        <p:nvSpPr>
          <p:cNvPr id="17" name="TextBox 28">
            <a:extLst>
              <a:ext uri="{FF2B5EF4-FFF2-40B4-BE49-F238E27FC236}">
                <a16:creationId xmlns:a16="http://schemas.microsoft.com/office/drawing/2014/main" id="{2C03026B-6D1E-F7B1-9995-7D9DC1019C60}"/>
              </a:ext>
            </a:extLst>
          </p:cNvPr>
          <p:cNvSpPr txBox="1"/>
          <p:nvPr/>
        </p:nvSpPr>
        <p:spPr>
          <a:xfrm>
            <a:off x="7659946" y="5762801"/>
            <a:ext cx="785793" cy="369332"/>
          </a:xfrm>
          <a:prstGeom prst="rect">
            <a:avLst/>
          </a:prstGeom>
          <a:noFill/>
        </p:spPr>
        <p:txBody>
          <a:bodyPr wrap="none" rtlCol="0">
            <a:spAutoFit/>
          </a:bodyPr>
          <a:lstStyle/>
          <a:p>
            <a:r>
              <a:rPr lang="en-US" dirty="0">
                <a:solidFill/>
              </a:rPr>
              <a:t>28.6%</a:t>
            </a:r>
          </a:p>
        </p:txBody>
      </p:sp>
      <p:sp>
        <p:nvSpPr>
          <p:cNvPr id="18" name="TextBox 29">
            <a:extLst>
              <a:ext uri="{FF2B5EF4-FFF2-40B4-BE49-F238E27FC236}">
                <a16:creationId xmlns:a16="http://schemas.microsoft.com/office/drawing/2014/main" id="{9C64CEEB-E16A-926D-5DF0-DC8275443A40}"/>
              </a:ext>
            </a:extLst>
          </p:cNvPr>
          <p:cNvSpPr txBox="1"/>
          <p:nvPr/>
        </p:nvSpPr>
        <p:spPr>
          <a:xfrm>
            <a:off x="9580061" y="5774773"/>
            <a:ext cx="885179" cy="369332"/>
          </a:xfrm>
          <a:prstGeom prst="rect">
            <a:avLst/>
          </a:prstGeom>
          <a:noFill/>
        </p:spPr>
        <p:txBody>
          <a:bodyPr wrap="none" rtlCol="0">
            <a:spAutoFit/>
          </a:bodyPr>
          <a:lstStyle/>
          <a:p>
            <a:r>
              <a:rPr lang="en-US" dirty="0">
                <a:solidFill/>
              </a:rPr>
              <a:t>33.6%</a:t>
            </a:r>
          </a:p>
        </p:txBody>
      </p:sp>
      <p:sp>
        <p:nvSpPr>
          <p:cNvPr id="19" name="TextBox 30">
            <a:extLst>
              <a:ext uri="{FF2B5EF4-FFF2-40B4-BE49-F238E27FC236}">
                <a16:creationId xmlns:a16="http://schemas.microsoft.com/office/drawing/2014/main" id="{716000A2-AFB1-117D-BFF0-2BDA3EA8A77D}"/>
              </a:ext>
            </a:extLst>
          </p:cNvPr>
          <p:cNvSpPr txBox="1"/>
          <p:nvPr/>
        </p:nvSpPr>
        <p:spPr>
          <a:xfrm>
            <a:off x="11389339" y="5774773"/>
            <a:ext cx="832279" cy="369332"/>
          </a:xfrm>
          <a:prstGeom prst="rect">
            <a:avLst/>
          </a:prstGeom>
          <a:noFill/>
        </p:spPr>
        <p:txBody>
          <a:bodyPr wrap="none" rtlCol="0">
            <a:spAutoFit/>
          </a:bodyPr>
          <a:lstStyle/>
          <a:p>
            <a:r>
              <a:rPr lang="en-US" dirty="0">
                <a:solidFill/>
              </a:rPr>
              <a:t>38.6%</a:t>
            </a:r>
          </a:p>
        </p:txBody>
      </p:sp>
      <p:sp>
        <p:nvSpPr>
          <p:cNvPr id="20"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22" name="Rectangle 19">
            <a:extLst>
              <a:ext uri="{FF2B5EF4-FFF2-40B4-BE49-F238E27FC236}">
                <a16:creationId xmlns:a16="http://schemas.microsoft.com/office/drawing/2014/main" id="{F6627BBC-E6C5-1195-07E5-6C53EE01CC8B}"/>
              </a:ext>
            </a:extLst>
          </p:cNvPr>
          <p:cNvSpPr/>
          <p:nvPr/>
        </p:nvSpPr>
        <p:spPr>
          <a:xfrm>
            <a:off x="7597806" y="320341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5">
            <a:extLst>
              <a:ext uri="{FF2B5EF4-FFF2-40B4-BE49-F238E27FC236}">
                <a16:creationId xmlns:a16="http://schemas.microsoft.com/office/drawing/2014/main" id="{C22B0D02-4198-9ACE-8A8D-89E646CD21E5}"/>
              </a:ext>
            </a:extLst>
          </p:cNvPr>
          <p:cNvSpPr txBox="1"/>
          <p:nvPr/>
        </p:nvSpPr>
        <p:spPr>
          <a:xfrm>
            <a:off x="8366143" y="3171997"/>
            <a:ext cx="488916" cy="307777"/>
          </a:xfrm>
          <a:prstGeom prst="rect">
            <a:avLst/>
          </a:prstGeom>
          <a:noFill/>
        </p:spPr>
        <p:txBody>
          <a:bodyPr wrap="none" rtlCol="0">
            <a:spAutoFit/>
          </a:bodyPr>
          <a:lstStyle/>
          <a:p>
            <a:r>
              <a:rPr lang="en-US" sz="1400" b="1" dirty="0"/>
              <a:t>Low</a:t>
            </a:r>
          </a:p>
        </p:txBody>
      </p:sp>
      <p:sp>
        <p:nvSpPr>
          <p:cNvPr id="24" name="TextBox 27">
            <a:extLst>
              <a:ext uri="{FF2B5EF4-FFF2-40B4-BE49-F238E27FC236}">
                <a16:creationId xmlns:a16="http://schemas.microsoft.com/office/drawing/2014/main" id="{E8084D42-778C-82F6-630D-9D8469AFEE15}"/>
              </a:ext>
            </a:extLst>
          </p:cNvPr>
          <p:cNvSpPr txBox="1"/>
          <p:nvPr/>
        </p:nvSpPr>
        <p:spPr>
          <a:xfrm>
            <a:off x="10950749" y="3163290"/>
            <a:ext cx="524503" cy="307777"/>
          </a:xfrm>
          <a:prstGeom prst="rect">
            <a:avLst/>
          </a:prstGeom>
          <a:noFill/>
        </p:spPr>
        <p:txBody>
          <a:bodyPr wrap="none" rtlCol="0">
            <a:spAutoFit/>
          </a:bodyPr>
          <a:lstStyle/>
          <a:p>
            <a:r>
              <a:rPr lang="en-US" sz="1400" b="1" dirty="0"/>
              <a:t>High</a:t>
            </a:r>
          </a:p>
        </p:txBody>
      </p:sp>
      <p:sp>
        <p:nvSpPr>
          <p:cNvPr id="25" name="TextBox 28">
            <a:extLst>
              <a:ext uri="{FF2B5EF4-FFF2-40B4-BE49-F238E27FC236}">
                <a16:creationId xmlns:a16="http://schemas.microsoft.com/office/drawing/2014/main" id="{F168AC10-2BD6-A49E-428D-30E6B39D197A}"/>
              </a:ext>
            </a:extLst>
          </p:cNvPr>
          <p:cNvSpPr txBox="1"/>
          <p:nvPr/>
        </p:nvSpPr>
        <p:spPr>
          <a:xfrm>
            <a:off x="7647303" y="3407458"/>
            <a:ext cx="1825756" cy="369332"/>
          </a:xfrm>
          <a:prstGeom prst="rect">
            <a:avLst/>
          </a:prstGeom>
          <a:noFill/>
        </p:spPr>
        <p:txBody>
          <a:bodyPr wrap="none" rtlCol="0">
            <a:spAutoFit/>
          </a:bodyPr>
          <a:lstStyle/>
          <a:p>
            <a:r>
              <a:rPr lang="en-US" dirty="0">
                <a:solidFill/>
              </a:rPr>
              <a:t>10% below target</a:t>
            </a:r>
          </a:p>
        </p:txBody>
      </p:sp>
      <p:sp>
        <p:nvSpPr>
          <p:cNvPr id="26" name="TextBox 30">
            <a:extLst>
              <a:ext uri="{FF2B5EF4-FFF2-40B4-BE49-F238E27FC236}">
                <a16:creationId xmlns:a16="http://schemas.microsoft.com/office/drawing/2014/main" id="{85A3284B-C2CB-7693-6750-302A3F66B386}"/>
              </a:ext>
            </a:extLst>
          </p:cNvPr>
          <p:cNvSpPr txBox="1"/>
          <p:nvPr/>
        </p:nvSpPr>
        <p:spPr>
          <a:xfrm>
            <a:off x="10299672" y="3405178"/>
            <a:ext cx="1820178" cy="369332"/>
          </a:xfrm>
          <a:prstGeom prst="rect">
            <a:avLst/>
          </a:prstGeom>
          <a:noFill/>
        </p:spPr>
        <p:txBody>
          <a:bodyPr wrap="none" rtlCol="0">
            <a:spAutoFit/>
          </a:bodyPr>
          <a:lstStyle/>
          <a:p>
            <a:r>
              <a:rPr lang="en-US" dirty="0">
                <a:solidFill/>
              </a:rPr>
              <a:t>10% above target</a:t>
            </a:r>
          </a:p>
        </p:txBody>
      </p:sp>
      <p:pic>
        <p:nvPicPr>
          <p:cNvPr id="27" name="Content Placeholder 26"/>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4,152.1K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8,430.2K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16,035.8K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26,439.1K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3,860.5K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8,328.2K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15,985.4K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26,458.3K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5,709.2K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11,542.9K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22,123.5K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36,314.0K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5,432.0K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11,469.7K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22,122.3K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36,407.6K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2,595.1K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5,187.8K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10,096.6K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16,405.0K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2,289.1K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5,055.8K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9,998.2K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16,348.6K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p:cNvPicPr>
            <a:picLocks noGrp="1"/>
          </p:cNvPicPr>
          <p:nvPr>
            <p:ph/>
          </p:nvPr>
        </p:nvPicPr>
        <p:blipFill>
          <a:blip r:embed="rId2" cstate="print"/>
          <a:stretch>
            <a:fillRect/>
          </a:stretch>
        </p:blipFill>
        <p:spPr>
          <a:xfrm>
            <a:off x="1508760" y="2834640"/>
            <a:ext cx="3154680" cy="977915"/>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UCHealth is Patient Recommended</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9629641" y="20657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Based on quality measures and HCAHPS feedback, KBA estimates that in addition to strong market access, UC Health is a quality brand leader.</a:t>
            </a:r>
          </a:p>
        </p:txBody>
      </p:sp>
      <p:graphicFrame>
        <p:nvGraphicFramePr>
          <p:cNvPr id="7" name="Table 6"/>
          <p:cNvGraphicFramePr>
            <a:graphicFrameLocks noGrp="1"/>
          </p:cNvGraphicFramePr>
          <p:nvPr>
            <p:extLst>
              <p:ext uri="{D42A27DB-BD31-4B8C-83A1-F6EECF244321}">
                <p14:modId xmlns:p14="http://schemas.microsoft.com/office/powerpoint/2010/main" val="163340547"/>
              </p:ext>
            </p:extLst>
          </p:nvPr>
        </p:nvGraphicFramePr>
        <p:xfrm>
          <a:off x="1581912" y="1645920"/>
          <a:ext cx="8047729" cy="4766232"/>
        </p:xfrm>
        <a:graphic>
          <a:graphicData uri="http://schemas.openxmlformats.org/drawingml/2006/table">
            <a:tbl>
              <a:tblPr/>
              <a:tblGrid>
                <a:gridCol w="2435127">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Arial"/>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HCAHPS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Recommendation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CMS Stars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Mortality</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Readmission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KBA Brand</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1879">
                <a:tc>
                  <a:txBody>
                    <a:bodyPr/>
                    <a:lstStyle/>
                    <a:p>
                      <a:pPr marL="63500" marR="63500" algn="l">
                        <a:lnSpc>
                          <a:spcPct val="100000"/>
                        </a:lnSpc>
                        <a:spcBef>
                          <a:spcPts val="500"/>
                        </a:spcBef>
                        <a:spcAft>
                          <a:spcPts val="500"/>
                        </a:spcAft>
                        <a:buNone/>
                      </a:pPr>
                      <a:r>
                        <a:rPr sz="1100" b="0" i="0" u="none" cap="none" dirty="0">
                          <a:solidFill>
                            <a:srgbClr val="000000">
                              <a:alpha val="100000"/>
                            </a:srgbClr>
                          </a:solidFill>
                          <a:latin typeface="Arial"/>
                          <a:cs typeface="Arial"/>
                          <a:sym typeface="Arial"/>
                        </a:rPr>
                        <a:t>Boulder Community Health</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172A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74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583B4">
                        <a:alpha val="100000"/>
                      </a:srgbClr>
                    </a:solidFill>
                  </a:tcPr>
                </a:tc>
                <a:extLst>
                  <a:ext uri="{0D108BD9-81ED-4DB2-BD59-A6C34878D82A}">
                    <a16:rowId xmlns:a16="http://schemas.microsoft.com/office/drawing/2014/main" val="10001"/>
                  </a:ext>
                </a:extLst>
              </a:tr>
              <a:tr h="36288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Intermountain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66AA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extLst>
                  <a:ext uri="{0D108BD9-81ED-4DB2-BD59-A6C34878D82A}">
                    <a16:rowId xmlns:a16="http://schemas.microsoft.com/office/drawing/2014/main" val="10002"/>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AdventHealth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93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E63A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extLst>
                  <a:ext uri="{0D108BD9-81ED-4DB2-BD59-A6C34878D82A}">
                    <a16:rowId xmlns:a16="http://schemas.microsoft.com/office/drawing/2014/main" val="10003"/>
                  </a:ext>
                </a:extLst>
              </a:tr>
              <a:tr h="364184">
                <a:tc>
                  <a:txBody>
                    <a:bodyPr/>
                    <a:lstStyle/>
                    <a:p>
                      <a:pPr marL="63500" marR="63500" algn="l">
                        <a:lnSpc>
                          <a:spcPct val="100000"/>
                        </a:lnSpc>
                        <a:spcBef>
                          <a:spcPts val="500"/>
                        </a:spcBef>
                        <a:spcAft>
                          <a:spcPts val="500"/>
                        </a:spcAft>
                        <a:buNone/>
                      </a:pPr>
                      <a:r>
                        <a:rPr sz="1100" b="0" i="0" u="none" cap="none" dirty="0" err="1">
                          <a:solidFill>
                            <a:srgbClr val="000000">
                              <a:alpha val="100000"/>
                            </a:srgbClr>
                          </a:solidFill>
                          <a:latin typeface="Arial"/>
                          <a:cs typeface="Arial"/>
                          <a:sym typeface="Arial"/>
                        </a:rPr>
                        <a:t>UCHealth</a:t>
                      </a:r>
                      <a:endParaRPr sz="1100" b="0" i="0" u="non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84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172AB">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extLst>
                  <a:ext uri="{0D108BD9-81ED-4DB2-BD59-A6C34878D82A}">
                    <a16:rowId xmlns:a16="http://schemas.microsoft.com/office/drawing/2014/main" val="10004"/>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CommonSpirit Health</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89</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66AA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690BD">
                        <a:alpha val="100000"/>
                      </a:srgbClr>
                    </a:solidFill>
                  </a:tcPr>
                </a:tc>
                <a:extLst>
                  <a:ext uri="{0D108BD9-81ED-4DB2-BD59-A6C34878D82A}">
                    <a16:rowId xmlns:a16="http://schemas.microsoft.com/office/drawing/2014/main" val="10005"/>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extLst>
                  <a:ext uri="{0D108BD9-81ED-4DB2-BD59-A6C34878D82A}">
                    <a16:rowId xmlns:a16="http://schemas.microsoft.com/office/drawing/2014/main" val="10006"/>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Banner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7"/>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8"/>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Denver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2C1D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extLst>
                  <a:ext uri="{0D108BD9-81ED-4DB2-BD59-A6C34878D82A}">
                    <a16:rowId xmlns:a16="http://schemas.microsoft.com/office/drawing/2014/main" val="10009"/>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Cheyenne Regional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2C1D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374A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extLst>
                  <a:ext uri="{0D108BD9-81ED-4DB2-BD59-A6C34878D82A}">
                    <a16:rowId xmlns:a16="http://schemas.microsoft.com/office/drawing/2014/main" val="10010"/>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Regional West Health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CFDF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Arial"/>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1B3D2">
                        <a:alpha val="100000"/>
                      </a:srgbClr>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50FE3A-8478-9DC3-8AF3-AAE9D36EC9DD}"/>
              </a:ext>
            </a:extLst>
          </p:cNvPr>
          <p:cNvSpPr/>
          <p:nvPr/>
        </p:nvSpPr>
        <p:spPr>
          <a:xfrm>
            <a:off x="1562101" y="1574800"/>
            <a:ext cx="4419600" cy="382111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Patients Pass Other Hospitals to Come to UCHealth</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7013749" y="1989573"/>
            <a:ext cx="4923693"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KBA models Medicare patient encounter data to identify strong health system brands where patients will travel past other hospitals or long distances to frequent a specific hospital.  </a:t>
            </a:r>
          </a:p>
          <a:p>
            <a:pPr algn="ctr"/>
            <a:endParaRPr lang="en-US" dirty="0">
              <a:solidFill>
                <a:schemeClr val="tx1"/>
              </a:solidFill>
            </a:endParaRPr>
          </a:p>
          <a:p>
            <a:pPr algn="ctr"/>
            <a:r>
              <a:rPr lang="en-US" dirty="0">
                <a:solidFill>
                  <a:schemeClr val="tx1"/>
                </a:solidFill>
              </a:rPr>
              <a:t>The center of the donut are zip codes within which patients have a higher probability of frequenting . These zip codes are ignored for this analysis. </a:t>
            </a:r>
          </a:p>
          <a:p>
            <a:pPr algn="ctr"/>
            <a:endParaRPr lang="en-US" dirty="0">
              <a:solidFill>
                <a:schemeClr val="tx1"/>
              </a:solidFill>
            </a:endParaRPr>
          </a:p>
          <a:p>
            <a:pPr algn="ctr"/>
            <a:r>
              <a:rPr lang="en-US" dirty="0">
                <a:solidFill>
                  <a:schemeClr val="tx1"/>
                </a:solidFill>
              </a:rPr>
              <a:t>Significant patient encounters outside of this center, as seen here, indicate that patients are willing to travel significant distances, passing other hospitals to go to .</a:t>
            </a:r>
          </a:p>
        </p:txBody>
      </p:sp>
      <p:pic>
        <p:nvPicPr>
          <p:cNvPr id="7" name="Content Placeholder 7">
            <a:extLst>
              <a:ext uri="{FF2B5EF4-FFF2-40B4-BE49-F238E27FC236}">
                <a16:creationId xmlns:a16="http://schemas.microsoft.com/office/drawing/2014/main" id="{8C532233-9ED8-D265-F99D-E48AD00821BD}"/>
              </a:ext>
            </a:extLst>
          </p:cNvPr>
          <p:cNvPicPr>
            <a:picLocks/>
          </p:cNvPicPr>
          <p:nvPr/>
        </p:nvPicPr>
        <p:blipFill>
          <a:blip r:embed="rId2" cstate="print"/>
          <a:stretch>
            <a:fillRect/>
          </a:stretch>
        </p:blipFill>
        <p:spPr>
          <a:xfrm>
            <a:off x="927100" y="1462088"/>
            <a:ext cx="5662611" cy="4094702"/>
          </a:xfrm>
          <a:prstGeom prst="rect">
            <a:avLst/>
          </a:prstGeom>
        </p:spPr>
      </p:pic>
      <p:sp>
        <p:nvSpPr>
          <p:cNvPr id="9" name="TextBox 18">
            <a:extLst>
              <a:ext uri="{FF2B5EF4-FFF2-40B4-BE49-F238E27FC236}">
                <a16:creationId xmlns:a16="http://schemas.microsoft.com/office/drawing/2014/main" id="{E9C382A9-1BAA-FB14-D6F0-BAB858714FFD}"/>
              </a:ext>
            </a:extLst>
          </p:cNvPr>
          <p:cNvSpPr txBox="1"/>
          <p:nvPr/>
        </p:nvSpPr>
        <p:spPr>
          <a:xfrm>
            <a:off x="1290485" y="5475553"/>
            <a:ext cx="5216525" cy="556947"/>
          </a:xfrm>
          <a:prstGeom prst="rect">
            <a:avLst/>
          </a:prstGeom>
        </p:spPr>
        <p:txBody>
          <a:bodyPr vert="horz" lIns="91440" tIns="45720" rIns="91440" bIns="45720" rtlCol="0">
            <a:normAutofit fontScale="85000" lnSpcReduction="10000"/>
          </a:bodyPr>
          <a:lstStyle/>
          <a:p>
            <a:pPr defTabSz="914400">
              <a:lnSpc>
                <a:spcPct val="90000"/>
              </a:lnSpc>
              <a:spcBef>
                <a:spcPts val="1000"/>
              </a:spcBef>
            </a:pPr>
            <a:r>
              <a:rPr lang="en-US" sz="1900" kern="1200" dirty="0">
                <a:latin typeface="+mn-lt"/>
                <a:ea typeface="+mn-ea"/>
                <a:cs typeface="+mn-cs"/>
              </a:rPr>
              <a:t>14 patients (admissions) traveled 277.8 miles to UCHealth Memorial Hospital Central despite 57 closer hospitals. </a:t>
            </a:r>
          </a:p>
        </p:txBody>
      </p:sp>
    </p:spTree>
    <p:extLst>
      <p:ext uri="{BB962C8B-B14F-4D97-AF65-F5344CB8AC3E}">
        <p14:creationId xmlns:p14="http://schemas.microsoft.com/office/powerpoint/2010/main" val="4222550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UCHealth’s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UCHealth’s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UCHealth</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7"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400" cap="all" spc="-150" dirty="0">
                <a:solidFill>
                  <a:schemeClr val="bg1"/>
                </a:solidFill>
              </a:rPr>
              <a:t>UCHealth N</a:t>
            </a:r>
            <a:r>
              <a:rPr lang="en-US" sz="2400" spc="-150" dirty="0">
                <a:solidFill>
                  <a:schemeClr val="bg1"/>
                </a:solidFill>
              </a:rPr>
              <a:t>ETWORK</a:t>
            </a:r>
            <a:r>
              <a:rPr lang="en-US" sz="2400" cap="all" spc="-150" dirty="0">
                <a:solidFill>
                  <a:schemeClr val="bg1"/>
                </a:solidFill>
              </a:rPr>
              <a:t> </a:t>
            </a:r>
          </a:p>
        </p:txBody>
      </p:sp>
      <p:graphicFrame>
        <p:nvGraphicFramePr>
          <p:cNvPr id="8"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Content Placeholder 8"/>
          <p:cNvPicPr>
            <a:picLocks noGrp="1"/>
          </p:cNvPicPr>
          <p:nvPr>
            <p:ph/>
          </p:nvPr>
        </p:nvPicPr>
        <p:blipFill>
          <a:blip r:embed="rId7" cstate="print"/>
          <a:stretch>
            <a:fillRect/>
          </a:stretch>
        </p:blipFill>
        <p:spPr>
          <a:xfrm>
            <a:off x="9738360" y="4186936"/>
            <a:ext cx="1042416" cy="323137"/>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17</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257546"/>
            <a:ext cx="11877152" cy="523220"/>
          </a:xfrm>
          <a:prstGeom prst="rect">
            <a:avLst/>
          </a:prstGeom>
          <a:noFill/>
        </p:spPr>
        <p:txBody>
          <a:bodyPr wrap="square">
            <a:spAutoFit/>
          </a:bodyPr>
          <a:lstStyle/>
          <a:p>
            <a:pPr algn="ctr"/>
            <a:r>
              <a:rPr lang="en-US" sz="2800" b="1" dirty="0">
                <a:solidFill>
                  <a:schemeClr val="bg1"/>
                </a:solidFill>
              </a:rPr>
              <a:t>BENEFIT PLAN DESIGNS THAT OPTIMIZE STEERAGE TO UCHEALTH</a:t>
            </a:r>
          </a:p>
        </p:txBody>
      </p:sp>
      <p:pic>
        <p:nvPicPr>
          <p:cNvPr id="9" name="Content Placeholder 8"/>
          <p:cNvPicPr>
            <a:picLocks noGrp="1"/>
          </p:cNvPicPr>
          <p:nvPr>
            <p:ph/>
          </p:nvPr>
        </p:nvPicPr>
        <p:blipFill>
          <a:blip r:embed="rId3" cstate="print"/>
          <a:stretch>
            <a:fillRect/>
          </a:stretch>
        </p:blipFill>
        <p:spPr>
          <a:xfrm>
            <a:off x="9089136" y="5239512"/>
            <a:ext cx="2949787" cy="914400"/>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26.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UCHealth’s approved site(s) with network integration, and development of UCHealth’s proprietary PBM program.</a:t>
            </a:r>
            <a:r>
              <a:rPr lang="en-US" sz="1600" dirty="0">
                <a:highlight>
                  <a:srgbClr val="FFFF00"/>
                </a:highlight>
              </a:rPr>
              <a:t>   </a:t>
            </a:r>
          </a:p>
        </p:txBody>
      </p:sp>
      <p:graphicFrame>
        <p:nvGraphicFramePr>
          <p:cNvPr id="8" name="Table 7"/>
          <p:cNvGraphicFramePr>
            <a:graphicFrameLocks noGrp="1"/>
          </p:cNvGraphicFramePr>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$ 1,180K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319K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$ 3,826K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$ 2,078K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968K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$ 5,898K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$ 15,463K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$ 9,565K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$ 2,914K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$23,590K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$ 7,926K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$ 61,850K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$38,260K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$20,782K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$12,855K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$12,645K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$47,181K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$123,700K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$76,520K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$41,563K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$25,621K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19</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UCHealth’s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UCHealth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UCHealth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UCHealth’s managed care processes to KBA’s patented care management programs will turbocharge results – Positioning UCHealth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UCHealth </a:t>
            </a:r>
            <a:r>
              <a:rPr lang="en-US" sz="2400" b="1" cap="small" dirty="0">
                <a:solidFill>
                  <a:srgbClr val="000B2E"/>
                </a:solidFill>
              </a:rPr>
              <a:t>CAN PROMOTE THESE RESULTS FROM DAY ONE!!</a:t>
            </a:r>
          </a:p>
        </p:txBody>
      </p:sp>
      <p:pic>
        <p:nvPicPr>
          <p:cNvPr id="8"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3"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4"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5"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20</a:t>
            </a:fld>
            <a:endParaRPr lang="en-US" dirty="0"/>
          </a:p>
        </p:txBody>
      </p:sp>
      <p:sp>
        <p:nvSpPr>
          <p:cNvPr id="6"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7"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10"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11"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5"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21</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UCHealth’s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UCHealth’s 340B drug pricing program</a:t>
            </a:r>
          </a:p>
          <a:p>
            <a:pPr marL="285753" indent="-285753">
              <a:spcBef>
                <a:spcPts val="600"/>
              </a:spcBef>
              <a:buFont typeface="Wingdings" panose="05000000000000000000" pitchFamily="2" charset="2"/>
              <a:buChar char="§"/>
            </a:pPr>
            <a:r>
              <a:rPr lang="en-US" sz="2000" dirty="0">
                <a:solidFill>
                  <a:schemeClr val="bg1"/>
                </a:solidFill>
              </a:rPr>
              <a:t>Allows UCHealth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3"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4"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22</a:t>
            </a:fld>
            <a:endParaRPr lang="en-US" dirty="0"/>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23</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4"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1186276558"/>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24</a:t>
            </a:fld>
            <a:endParaRPr lang="en-US" sz="1100" dirty="0">
              <a:solidFill>
                <a:schemeClr val="tx1">
                  <a:lumMod val="50000"/>
                  <a:lumOff val="50000"/>
                </a:schemeClr>
              </a:solidFill>
            </a:endParaRPr>
          </a:p>
        </p:txBody>
      </p:sp>
      <p:sp>
        <p:nvSpPr>
          <p:cNvPr id="6"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
        <p:nvSpPr>
          <p:cNvPr id="7" name="TextBox 3">
            <a:extLst>
              <a:ext uri="{FF2B5EF4-FFF2-40B4-BE49-F238E27FC236}">
                <a16:creationId xmlns:a16="http://schemas.microsoft.com/office/drawing/2014/main" id="{812A6EF0-F485-2EBB-BDEB-7A43025A5A29}"/>
              </a:ext>
            </a:extLst>
          </p:cNvPr>
          <p:cNvSpPr txBox="1"/>
          <p:nvPr/>
        </p:nvSpPr>
        <p:spPr>
          <a:xfrm>
            <a:off x="856622" y="2494128"/>
            <a:ext cx="2811026" cy="1515800"/>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Distribution Agents</a:t>
            </a:r>
          </a:p>
          <a:p>
            <a:pPr marL="285750" lvl="0" indent="-285750">
              <a:lnSpc>
                <a:spcPct val="100000"/>
              </a:lnSpc>
              <a:spcAft>
                <a:spcPts val="300"/>
              </a:spcAft>
              <a:buFont typeface="Arial" panose="020B0604020202020204" pitchFamily="34" charset="0"/>
              <a:buChar char="•"/>
            </a:pPr>
            <a:r>
              <a:rPr lang="en-US" sz="1700" b="0" dirty="0"/>
              <a:t>Training and Development</a:t>
            </a:r>
          </a:p>
          <a:p>
            <a:pPr marL="285750" lvl="0" indent="-285750">
              <a:lnSpc>
                <a:spcPct val="100000"/>
              </a:lnSpc>
              <a:spcAft>
                <a:spcPts val="300"/>
              </a:spcAft>
              <a:buFont typeface="Arial" panose="020B0604020202020204" pitchFamily="34" charset="0"/>
              <a:buChar char="•"/>
            </a:pPr>
            <a:r>
              <a:rPr lang="en-US" sz="1700" b="0" dirty="0"/>
              <a:t>Quote Evaluation</a:t>
            </a:r>
          </a:p>
          <a:p>
            <a:pPr marL="285750" lvl="0" indent="-285750">
              <a:lnSpc>
                <a:spcPct val="100000"/>
              </a:lnSpc>
              <a:spcAft>
                <a:spcPts val="300"/>
              </a:spcAft>
              <a:buFont typeface="Arial" panose="020B0604020202020204" pitchFamily="34" charset="0"/>
              <a:buChar char="•"/>
            </a:pPr>
            <a:r>
              <a:rPr lang="en-US" sz="1700" b="0" dirty="0"/>
              <a:t>Compensation</a:t>
            </a:r>
          </a:p>
        </p:txBody>
      </p:sp>
      <p:sp>
        <p:nvSpPr>
          <p:cNvPr id="8" name="TextBox 9">
            <a:extLst>
              <a:ext uri="{FF2B5EF4-FFF2-40B4-BE49-F238E27FC236}">
                <a16:creationId xmlns:a16="http://schemas.microsoft.com/office/drawing/2014/main" id="{537397C7-FB49-032A-7017-50CDF43FA202}"/>
              </a:ext>
            </a:extLst>
          </p:cNvPr>
          <p:cNvSpPr txBox="1"/>
          <p:nvPr/>
        </p:nvSpPr>
        <p:spPr>
          <a:xfrm>
            <a:off x="4499567" y="2525884"/>
            <a:ext cx="2885971" cy="207749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Targets</a:t>
            </a:r>
          </a:p>
          <a:p>
            <a:pPr marL="285750" lvl="0" indent="-285750">
              <a:lnSpc>
                <a:spcPct val="100000"/>
              </a:lnSpc>
              <a:spcAft>
                <a:spcPts val="300"/>
              </a:spcAft>
              <a:buFont typeface="Arial" panose="020B0604020202020204" pitchFamily="34" charset="0"/>
              <a:buChar char="•"/>
            </a:pPr>
            <a:r>
              <a:rPr lang="en-US" sz="1700" b="0" dirty="0">
                <a:solidFill/>
              </a:rPr>
              <a:t>Working with UCHealth to Engage Specific Employers</a:t>
            </a:r>
          </a:p>
          <a:p>
            <a:pPr marL="285750" lvl="0" indent="-285750">
              <a:lnSpc>
                <a:spcPct val="100000"/>
              </a:lnSpc>
              <a:spcAft>
                <a:spcPts val="300"/>
              </a:spcAft>
              <a:buFont typeface="Arial" panose="020B0604020202020204" pitchFamily="34" charset="0"/>
              <a:buChar char="•"/>
            </a:pPr>
            <a:r>
              <a:rPr lang="en-US" sz="1700" b="0" dirty="0"/>
              <a:t>Meet and Greet</a:t>
            </a:r>
          </a:p>
          <a:p>
            <a:pPr marL="285750" lvl="0" indent="-285750">
              <a:lnSpc>
                <a:spcPct val="100000"/>
              </a:lnSpc>
              <a:spcAft>
                <a:spcPts val="300"/>
              </a:spcAft>
              <a:buFont typeface="Arial" panose="020B0604020202020204" pitchFamily="34" charset="0"/>
              <a:buChar char="•"/>
            </a:pPr>
            <a:r>
              <a:rPr lang="en-US" sz="1700" b="0" dirty="0"/>
              <a:t>Sales Process</a:t>
            </a:r>
          </a:p>
          <a:p>
            <a:pPr marL="285750" lvl="0" indent="-285750">
              <a:lnSpc>
                <a:spcPct val="100000"/>
              </a:lnSpc>
              <a:spcAft>
                <a:spcPts val="300"/>
              </a:spcAft>
              <a:buFont typeface="Arial" panose="020B0604020202020204" pitchFamily="34" charset="0"/>
              <a:buChar char="•"/>
            </a:pPr>
            <a:r>
              <a:rPr lang="en-US" sz="1700" b="0" dirty="0"/>
              <a:t>Closing</a:t>
            </a:r>
          </a:p>
        </p:txBody>
      </p:sp>
      <p:sp>
        <p:nvSpPr>
          <p:cNvPr id="9" name="TextBox 11">
            <a:extLst>
              <a:ext uri="{FF2B5EF4-FFF2-40B4-BE49-F238E27FC236}">
                <a16:creationId xmlns:a16="http://schemas.microsoft.com/office/drawing/2014/main" id="{32AE8163-8376-4B77-CD83-691410ECD2AE}"/>
              </a:ext>
            </a:extLst>
          </p:cNvPr>
          <p:cNvSpPr txBox="1"/>
          <p:nvPr/>
        </p:nvSpPr>
        <p:spPr>
          <a:xfrm>
            <a:off x="8217457" y="2525884"/>
            <a:ext cx="2690445" cy="155427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Quote System</a:t>
            </a:r>
          </a:p>
          <a:p>
            <a:pPr marL="285750" lvl="0" indent="-285750">
              <a:lnSpc>
                <a:spcPct val="100000"/>
              </a:lnSpc>
              <a:spcAft>
                <a:spcPts val="300"/>
              </a:spcAft>
              <a:buFont typeface="Arial" panose="020B0604020202020204" pitchFamily="34" charset="0"/>
              <a:buChar char="•"/>
            </a:pPr>
            <a:r>
              <a:rPr lang="en-US" sz="1700" b="0" dirty="0"/>
              <a:t>Proposal Development</a:t>
            </a:r>
          </a:p>
          <a:p>
            <a:pPr marL="285750" lvl="0" indent="-285750">
              <a:lnSpc>
                <a:spcPct val="100000"/>
              </a:lnSpc>
              <a:spcAft>
                <a:spcPts val="300"/>
              </a:spcAft>
              <a:buFont typeface="Arial" panose="020B0604020202020204" pitchFamily="34" charset="0"/>
              <a:buChar char="•"/>
            </a:pPr>
            <a:r>
              <a:rPr lang="en-US" sz="1700" b="0" dirty="0"/>
              <a:t>Stop Loss Negotiations</a:t>
            </a:r>
          </a:p>
          <a:p>
            <a:pPr marL="285750" lvl="0" indent="-285750">
              <a:lnSpc>
                <a:spcPct val="100000"/>
              </a:lnSpc>
              <a:spcAft>
                <a:spcPts val="300"/>
              </a:spcAft>
              <a:buFont typeface="Arial" panose="020B0604020202020204" pitchFamily="34" charset="0"/>
              <a:buChar char="•"/>
            </a:pPr>
            <a:r>
              <a:rPr lang="en-US" sz="1700" b="0" dirty="0"/>
              <a:t>Reporting &amp; Analysis</a:t>
            </a:r>
          </a:p>
          <a:p>
            <a:pPr marL="342900" lvl="0" indent="-342900">
              <a:lnSpc>
                <a:spcPct val="100000"/>
              </a:lnSpc>
              <a:spcAft>
                <a:spcPts val="300"/>
              </a:spcAft>
              <a:buFont typeface="Arial" panose="020B0604020202020204" pitchFamily="34" charset="0"/>
              <a:buChar char="•"/>
            </a:pPr>
            <a:endParaRPr lang="en-US" sz="1700" b="0" dirty="0"/>
          </a:p>
        </p:txBody>
      </p:sp>
    </p:spTree>
    <p:extLst>
      <p:ext uri="{BB962C8B-B14F-4D97-AF65-F5344CB8AC3E}">
        <p14:creationId xmlns:p14="http://schemas.microsoft.com/office/powerpoint/2010/main" val="619324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5"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6"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7"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8"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9"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0"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1"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2"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3"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25</a:t>
            </a:fld>
            <a:endParaRPr lang="en-US" sz="1100" dirty="0">
              <a:solidFill>
                <a:schemeClr val="tx1">
                  <a:lumMod val="50000"/>
                  <a:lumOff val="50000"/>
                </a:schemeClr>
              </a:solidFill>
            </a:endParaRPr>
          </a:p>
        </p:txBody>
      </p:sp>
      <p:sp>
        <p:nvSpPr>
          <p:cNvPr id="14"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1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26</a:t>
            </a:fld>
            <a:endParaRPr lang="en-US"/>
          </a:p>
        </p:txBody>
      </p:sp>
      <p:pic>
        <p:nvPicPr>
          <p:cNvPr id="4"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UCHealth</a:t>
            </a:r>
            <a:r>
              <a:rPr lang="en-US" sz="4000" b="1">
                <a:latin typeface="+mn-lt"/>
                <a:cs typeface="Arial" panose="020B0604020202020204" pitchFamily="34" charset="0"/>
              </a:rPr>
              <a:t>’s 2022 </a:t>
            </a:r>
            <a:r>
              <a:rPr lang="en-US" sz="4000" b="1" dirty="0">
                <a:latin typeface="+mn-lt"/>
                <a:cs typeface="Arial" panose="020B0604020202020204" pitchFamily="34" charset="0"/>
              </a:rPr>
              <a:t>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1653538269"/>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UCHealth</a:t>
                      </a:r>
                    </a:p>
                  </a:txBody>
                  <a:tcPr>
                    <a:solidFill>
                      <a:schemeClr val="accent3">
                        <a:lumMod val="20000"/>
                        <a:lumOff val="80000"/>
                      </a:schemeClr>
                    </a:solidFill>
                  </a:tcPr>
                </a:tc>
                <a:tc>
                  <a:txBody>
                    <a:bodyPr/>
                    <a:lstStyle/>
                    <a:p>
                      <a:pPr algn="ctr"/>
                      <a:r>
                        <a:rPr lang="en-US" sz="1400" dirty="0">
                          <a:solidFill>
                            <a:schemeClr val="accent1">
                              <a:lumMod val="75000"/>
                            </a:schemeClr>
                          </a:solidFill>
                        </a:rPr>
                        <a:t>626,238</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$6,398,816K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151,975</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$892,765K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24%</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133,137</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$641,477K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22%</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40,311</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-$448,239K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6%</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300,815</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$4,855,444K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47%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a:t>
            </a:r>
            <a:br>
              <a:rPr lang="en-US" b="1" dirty="0">
                <a:latin typeface="+mn-lt"/>
                <a:cs typeface="Arial" panose="020B0604020202020204" pitchFamily="34" charset="0"/>
              </a:rPr>
            </a:br>
            <a:r>
              <a:rPr lang="en-US" b="1" dirty="0">
                <a:latin typeface="+mn-lt"/>
                <a:cs typeface="Arial" panose="020B0604020202020204" pitchFamily="34" charset="0"/>
              </a:rPr>
              <a:t>Commercial vs. Government Pay</a:t>
            </a:r>
          </a:p>
        </p:txBody>
      </p:sp>
      <p:sp>
        <p:nvSpPr>
          <p:cNvPr id="3"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6" name="TextBox 7">
            <a:extLst>
              <a:ext uri="{FF2B5EF4-FFF2-40B4-BE49-F238E27FC236}">
                <a16:creationId xmlns:a16="http://schemas.microsoft.com/office/drawing/2014/main" id="{85163DF1-EB5C-1C3C-A93D-5F16CEEC2B92}"/>
              </a:ext>
            </a:extLst>
          </p:cNvPr>
          <p:cNvSpPr txBox="1"/>
          <p:nvPr/>
        </p:nvSpPr>
        <p:spPr>
          <a:xfrm>
            <a:off x="838199" y="1933595"/>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7" name="TextBox 8">
            <a:extLst>
              <a:ext uri="{FF2B5EF4-FFF2-40B4-BE49-F238E27FC236}">
                <a16:creationId xmlns:a16="http://schemas.microsoft.com/office/drawing/2014/main" id="{020B90EA-11B9-6E81-60B7-F3AFEA7FC5A7}"/>
              </a:ext>
            </a:extLst>
          </p:cNvPr>
          <p:cNvSpPr txBox="1"/>
          <p:nvPr/>
        </p:nvSpPr>
        <p:spPr>
          <a:xfrm>
            <a:off x="6827522" y="1933595"/>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8"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3084429148"/>
              </p:ext>
            </p:extLst>
          </p:nvPr>
        </p:nvGraphicFramePr>
        <p:xfrm>
          <a:off x="964071" y="3022094"/>
          <a:ext cx="4478017" cy="2021840"/>
        </p:xfrm>
        <a:graphic>
          <a:graphicData uri="http://schemas.openxmlformats.org/drawingml/2006/table">
            <a:tbl>
              <a:tblPr bandRow="1">
                <a:tableStyleId>{2D5ABB26-0587-4C30-8999-92F81FD0307C}</a:tableStyleId>
              </a:tblPr>
              <a:tblGrid>
                <a:gridCol w="2785247">
                  <a:extLst>
                    <a:ext uri="{9D8B030D-6E8A-4147-A177-3AD203B41FA5}">
                      <a16:colId xmlns:a16="http://schemas.microsoft.com/office/drawing/2014/main" val="1477699201"/>
                    </a:ext>
                  </a:extLst>
                </a:gridCol>
                <a:gridCol w="1692770">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Commercial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10,688,196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6,190,195</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$4,498,001K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42%</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9"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837596021"/>
              </p:ext>
            </p:extLst>
          </p:nvPr>
        </p:nvGraphicFramePr>
        <p:xfrm>
          <a:off x="6827522" y="3017014"/>
          <a:ext cx="4358640" cy="2026920"/>
        </p:xfrm>
        <a:graphic>
          <a:graphicData uri="http://schemas.openxmlformats.org/drawingml/2006/table">
            <a:tbl>
              <a:tblPr bandRow="1">
                <a:tableStyleId>{2D5ABB26-0587-4C30-8999-92F81FD0307C}</a:tableStyleId>
              </a:tblPr>
              <a:tblGrid>
                <a:gridCol w="2710997">
                  <a:extLst>
                    <a:ext uri="{9D8B030D-6E8A-4147-A177-3AD203B41FA5}">
                      <a16:colId xmlns:a16="http://schemas.microsoft.com/office/drawing/2014/main" val="1477699201"/>
                    </a:ext>
                  </a:extLst>
                </a:gridCol>
                <a:gridCol w="1647643">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Gov-Pay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3,043,933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6,190,195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-3,146,261</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-103%</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10" name="TextBox 12">
            <a:extLst>
              <a:ext uri="{FF2B5EF4-FFF2-40B4-BE49-F238E27FC236}">
                <a16:creationId xmlns:a16="http://schemas.microsoft.com/office/drawing/2014/main" id="{879CF531-03B5-98C7-7BF8-469C9D55F9E4}"/>
              </a:ext>
            </a:extLst>
          </p:cNvPr>
          <p:cNvSpPr txBox="1"/>
          <p:nvPr/>
        </p:nvSpPr>
        <p:spPr>
          <a:xfrm>
            <a:off x="1043940" y="5314948"/>
            <a:ext cx="4398148" cy="523220"/>
          </a:xfrm>
          <a:prstGeom prst="rect">
            <a:avLst/>
          </a:prstGeom>
          <a:noFill/>
        </p:spPr>
        <p:txBody>
          <a:bodyPr wrap="square" rtlCol="0">
            <a:spAutoFit/>
          </a:bodyPr>
          <a:lstStyle/>
          <a:p>
            <a:r>
              <a:rPr lang="en-US" sz="1400" dirty="0"/>
              <a:t>Calculated by dividing the current commercial revenue by the current commercial inpatient day payer mix.  </a:t>
            </a:r>
          </a:p>
        </p:txBody>
      </p:sp>
      <p:sp>
        <p:nvSpPr>
          <p:cNvPr id="11" name="TextBox 13">
            <a:extLst>
              <a:ext uri="{FF2B5EF4-FFF2-40B4-BE49-F238E27FC236}">
                <a16:creationId xmlns:a16="http://schemas.microsoft.com/office/drawing/2014/main" id="{5FAEC66D-2C5F-1BA4-6070-07C2BC7D18E6}"/>
              </a:ext>
            </a:extLst>
          </p:cNvPr>
          <p:cNvSpPr txBox="1"/>
          <p:nvPr/>
        </p:nvSpPr>
        <p:spPr>
          <a:xfrm>
            <a:off x="6827522" y="5314558"/>
            <a:ext cx="4114800" cy="523220"/>
          </a:xfrm>
          <a:prstGeom prst="rect">
            <a:avLst/>
          </a:prstGeom>
          <a:noFill/>
        </p:spPr>
        <p:txBody>
          <a:bodyPr wrap="square" rtlCol="0">
            <a:spAutoFit/>
          </a:bodyPr>
          <a:lstStyle/>
          <a:p>
            <a:r>
              <a:rPr lang="en-US" sz="1400" dirty="0"/>
              <a:t>Calculated by dividing the current gov-pay revenue by the current gov-pay inpatient day payer mix.  </a:t>
            </a:r>
          </a:p>
        </p:txBody>
      </p:sp>
    </p:spTree>
    <p:extLst>
      <p:ext uri="{BB962C8B-B14F-4D97-AF65-F5344CB8AC3E}">
        <p14:creationId xmlns:p14="http://schemas.microsoft.com/office/powerpoint/2010/main" val="3618341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29</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38199" y="6088454"/>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53.7%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496230121"/>
              </p:ext>
            </p:extLst>
          </p:nvPr>
        </p:nvGraphicFramePr>
        <p:xfrm>
          <a:off x="914400" y="914400"/>
          <a:ext cx="9829800" cy="370840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53.7%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UCHealth Poudre Valley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724,691.7K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$1,848,112.4K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UCHealth Parkview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253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$1,320,818.8K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$1,751,587.6K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UCHealth Memorial Hospital Central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587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$2,750,138.6K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$3,435,334.9K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UCHealth University of Colorado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709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$5,880,425.8K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$7,009,125.8K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UCHealth Yampa Valley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48,957.6K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200,033.5K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UCHealth Medical Center of the Rockies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180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$1,025,979.3K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$1,010,879.3K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UCHealth Longs Peak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83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361,807.2K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685,340.5K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UCHealth Broomfield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65,835.2K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262,711.3K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UCHealth Grandview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28,302.9K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281,079.2K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UCHealth Greeley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212,294.2K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492,787.7K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UCHealth Highlands Ranch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87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471,434.2K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744,147.9K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UCHealth Pikes Peak Regional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5,321.9K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91,974.8K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CF5E6-2A4C-483B-5E86-56B62FC86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F800DD-41A4-FB03-4957-0567621F0DE5}"/>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Competitive Area Hospitals</a:t>
            </a:r>
          </a:p>
        </p:txBody>
      </p:sp>
      <p:sp>
        <p:nvSpPr>
          <p:cNvPr id="3" name="Footer Placeholder 3">
            <a:extLst>
              <a:ext uri="{FF2B5EF4-FFF2-40B4-BE49-F238E27FC236}">
                <a16:creationId xmlns:a16="http://schemas.microsoft.com/office/drawing/2014/main" id="{5D5EECDA-371B-F38F-6C88-36B311C2BC5A}"/>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EE3353BF-6CDF-9F1F-9E16-8242BBE46FBD}"/>
              </a:ext>
            </a:extLst>
          </p:cNvPr>
          <p:cNvSpPr>
            <a:spLocks noGrp="1"/>
          </p:cNvSpPr>
          <p:nvPr>
            <p:ph type="sldNum" sz="quarter" idx="12"/>
          </p:nvPr>
        </p:nvSpPr>
        <p:spPr/>
        <p:txBody>
          <a:bodyPr/>
          <a:lstStyle/>
          <a:p>
            <a:fld id="{3AFC719D-C4A7-4544-876E-D411D11AF6C9}" type="slidenum">
              <a:rPr lang="en-US" smtClean="0"/>
              <a:t>30</a:t>
            </a:fld>
            <a:endParaRPr lang="en-US" dirty="0"/>
          </a:p>
        </p:txBody>
      </p:sp>
      <p:sp>
        <p:nvSpPr>
          <p:cNvPr id="5" name="TextBox 9">
            <a:extLst>
              <a:ext uri="{FF2B5EF4-FFF2-40B4-BE49-F238E27FC236}">
                <a16:creationId xmlns:a16="http://schemas.microsoft.com/office/drawing/2014/main" id="{36D95016-435D-68FE-3A79-59481255B637}"/>
              </a:ext>
            </a:extLst>
          </p:cNvPr>
          <p:cNvSpPr txBox="1"/>
          <p:nvPr/>
        </p:nvSpPr>
        <p:spPr>
          <a:xfrm>
            <a:off x="838199" y="6088454"/>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53.7%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a:extLst>
              <a:ext uri="{FF2B5EF4-FFF2-40B4-BE49-F238E27FC236}">
                <a16:creationId xmlns:a16="http://schemas.microsoft.com/office/drawing/2014/main" id="{69C707F5-652E-6E0A-6E61-D08EBC14FB71}"/>
              </a:ext>
            </a:extLst>
          </p:cNvPr>
          <p:cNvGraphicFramePr>
            <a:graphicFrameLocks noGrp="1"/>
          </p:cNvGraphicFramePr>
          <p:nvPr>
            <p:extLst>
              <p:ext uri="{D42A27DB-BD31-4B8C-83A1-F6EECF244321}">
                <p14:modId xmlns:p14="http://schemas.microsoft.com/office/powerpoint/2010/main" val="2980913808"/>
              </p:ext>
            </p:extLst>
          </p:nvPr>
        </p:nvGraphicFramePr>
        <p:xfrm>
          <a:off x="914399" y="914400"/>
          <a:ext cx="10439399" cy="5048871"/>
        </p:xfrm>
        <a:graphic>
          <a:graphicData uri="http://schemas.openxmlformats.org/drawingml/2006/table">
            <a:tbl>
              <a:tblPr/>
              <a:tblGrid>
                <a:gridCol w="2913321">
                  <a:extLst>
                    <a:ext uri="{9D8B030D-6E8A-4147-A177-3AD203B41FA5}">
                      <a16:colId xmlns:a16="http://schemas.microsoft.com/office/drawing/2014/main" val="20000"/>
                    </a:ext>
                  </a:extLst>
                </a:gridCol>
                <a:gridCol w="1213884">
                  <a:extLst>
                    <a:ext uri="{9D8B030D-6E8A-4147-A177-3AD203B41FA5}">
                      <a16:colId xmlns:a16="http://schemas.microsoft.com/office/drawing/2014/main" val="20001"/>
                    </a:ext>
                  </a:extLst>
                </a:gridCol>
                <a:gridCol w="1456660">
                  <a:extLst>
                    <a:ext uri="{9D8B030D-6E8A-4147-A177-3AD203B41FA5}">
                      <a16:colId xmlns:a16="http://schemas.microsoft.com/office/drawing/2014/main" val="20002"/>
                    </a:ext>
                  </a:extLst>
                </a:gridCol>
                <a:gridCol w="1456660">
                  <a:extLst>
                    <a:ext uri="{9D8B030D-6E8A-4147-A177-3AD203B41FA5}">
                      <a16:colId xmlns:a16="http://schemas.microsoft.com/office/drawing/2014/main" val="20003"/>
                    </a:ext>
                  </a:extLst>
                </a:gridCol>
                <a:gridCol w="1699437">
                  <a:extLst>
                    <a:ext uri="{9D8B030D-6E8A-4147-A177-3AD203B41FA5}">
                      <a16:colId xmlns:a16="http://schemas.microsoft.com/office/drawing/2014/main" val="20004"/>
                    </a:ext>
                  </a:extLst>
                </a:gridCol>
                <a:gridCol w="1699437">
                  <a:extLst>
                    <a:ext uri="{9D8B030D-6E8A-4147-A177-3AD203B41FA5}">
                      <a16:colId xmlns:a16="http://schemas.microsoft.com/office/drawing/2014/main" val="20005"/>
                    </a:ext>
                  </a:extLst>
                </a:gridCol>
              </a:tblGrid>
              <a:tr h="587736">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Arial"/>
                          <a:cs typeface="Arial"/>
                          <a:sym typeface="Arial"/>
                        </a:rPr>
                        <a:t>Hospital Name</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Arial"/>
                          <a:cs typeface="Arial"/>
                          <a:sym typeface="Arial"/>
                        </a:rPr>
                        <a:t>Number of Beds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Arial"/>
                          <a:cs typeface="Arial"/>
                          <a:sym typeface="Arial"/>
                        </a:rPr>
                        <a:t>Inpatient Total Charges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Arial"/>
                          <a:cs typeface="Arial"/>
                          <a:sym typeface="Arial"/>
                        </a:rPr>
                        <a:t>Outpatient Total Charges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Arial"/>
                          <a:cs typeface="Arial"/>
                          <a:sym typeface="Arial"/>
                        </a:rPr>
                        <a:t>Inpatient Percent of Market Total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Arial"/>
                          <a:cs typeface="Arial"/>
                          <a:sym typeface="Arial"/>
                        </a:rPr>
                        <a:t>Outpatient Percent of Market Total (Assuming 53.7% of Physicians Employed by Hospitals)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OrthoColorado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48</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150,959.1K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300,075.1K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2"/>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AdventHealth Castle Rock</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89</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294,215.2K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593,195.3K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3"/>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Banner Fort Collins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29</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46,710.7K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125,092.5K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4"/>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Weisbrod Memorial County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1,796.7K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4,969.8K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5"/>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Rio Grande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17</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6,820.0K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48,843.5K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6"/>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East Morgan County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8,342.8K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56,821.3K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7"/>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Haxtun Hospital District</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5,019.4K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11,645.5K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8"/>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Melissa Memorial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3,199.8K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26,572.0K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9"/>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Wray Community District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7,722.8K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52,705.8K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0"/>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Sedgwick County Health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9</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4,722.3K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18,506.4K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1"/>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Southeast Colorado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16,933.7K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7,947.5K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2"/>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Estes Park Health</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23</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6,442.5K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94,195.1K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3"/>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Memorial Regional Health</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22,427.3K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105,400.0K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4"/>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Yuma District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4,389.4K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29,748.4K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5"/>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Spanish Peaks Regional Health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20</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13,082.4K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32,621.5K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6"/>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Grand River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25,332.3K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172,223.2K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7"/>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Middle Park Health - Kremmling</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24</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8,094.4K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85,417.9K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8"/>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Mt San Rafael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12,566.7K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86,025.3K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9"/>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Heart of the Rockies Regional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21,020.8K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278,009.8K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60"/>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Prowers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6,979.6K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57,703.0K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61"/>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Pagosa Springs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4,127.5K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74,916.4K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62"/>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Arkansas Valley Regional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16,108.9K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74,303.1K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63"/>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Keefe Memorial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1,215.6K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9,801.1K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64"/>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St Thomas More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45,620.5K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240,905.1K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65"/>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Childrens Hospital Colorado - Anschutz Medical Campus</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513</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$2,273,209.2K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$1,848,414.9K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66"/>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Childrens Hospital Colorado - Colorado Springs</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117</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432,459.2K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394,439.5K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67"/>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Regional West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122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301,959.3K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412,962.7K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68"/>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Sidney Regional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19</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15,602.5K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103,977.3K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69"/>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Box Butte General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17,916.1K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76,220.3K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70"/>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Miners Colfax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14,626.6K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41,247.7K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71"/>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Cheyenne Regional Medical Center - West Campus</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199</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435,862.8K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607,299.0K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72"/>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Ivinson Memorial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76</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50,082.7K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191,994.9K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73"/>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Platte County Memorial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5,643.8K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32,870.6K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74"/>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Community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11,020.1K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55,971.5K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75"/>
                  </a:ext>
                </a:extLst>
              </a:tr>
              <a:tr h="127461">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Memorial Hospital of Carbon County</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9,924.9K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50,036.4K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76"/>
                  </a:ext>
                </a:extLst>
              </a:tr>
            </a:tbl>
          </a:graphicData>
        </a:graphic>
      </p:graphicFrame>
    </p:spTree>
    <p:extLst>
      <p:ext uri="{BB962C8B-B14F-4D97-AF65-F5344CB8AC3E}">
        <p14:creationId xmlns:p14="http://schemas.microsoft.com/office/powerpoint/2010/main" val="5397916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66E96-350A-1283-87A2-13160FD28A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18BDC-1D37-F836-7FE6-82C6D00E1A0B}"/>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Competitive Area Hospitals (Continued)</a:t>
            </a:r>
          </a:p>
        </p:txBody>
      </p:sp>
      <p:sp>
        <p:nvSpPr>
          <p:cNvPr id="3" name="Footer Placeholder 3">
            <a:extLst>
              <a:ext uri="{FF2B5EF4-FFF2-40B4-BE49-F238E27FC236}">
                <a16:creationId xmlns:a16="http://schemas.microsoft.com/office/drawing/2014/main" id="{3B96578B-4488-A119-4E01-C3A2C597FBE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03C080A1-5994-6517-11EE-C3B51609CCBE}"/>
              </a:ext>
            </a:extLst>
          </p:cNvPr>
          <p:cNvSpPr>
            <a:spLocks noGrp="1"/>
          </p:cNvSpPr>
          <p:nvPr>
            <p:ph type="sldNum" sz="quarter" idx="12"/>
          </p:nvPr>
        </p:nvSpPr>
        <p:spPr/>
        <p:txBody>
          <a:bodyPr/>
          <a:lstStyle/>
          <a:p>
            <a:fld id="{3AFC719D-C4A7-4544-876E-D411D11AF6C9}" type="slidenum">
              <a:rPr lang="en-US" smtClean="0"/>
              <a:t>31</a:t>
            </a:fld>
            <a:endParaRPr lang="en-US" dirty="0"/>
          </a:p>
        </p:txBody>
      </p:sp>
      <p:sp>
        <p:nvSpPr>
          <p:cNvPr id="5" name="TextBox 9">
            <a:extLst>
              <a:ext uri="{FF2B5EF4-FFF2-40B4-BE49-F238E27FC236}">
                <a16:creationId xmlns:a16="http://schemas.microsoft.com/office/drawing/2014/main" id="{52C15F76-6DF4-9A84-90DC-8C9C7A6D88BE}"/>
              </a:ext>
            </a:extLst>
          </p:cNvPr>
          <p:cNvSpPr txBox="1"/>
          <p:nvPr/>
        </p:nvSpPr>
        <p:spPr>
          <a:xfrm>
            <a:off x="838199" y="6088454"/>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53.7%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a:extLst>
              <a:ext uri="{FF2B5EF4-FFF2-40B4-BE49-F238E27FC236}">
                <a16:creationId xmlns:a16="http://schemas.microsoft.com/office/drawing/2014/main" id="{E9389383-7F6C-A895-1950-F743DA7EBD9F}"/>
              </a:ext>
            </a:extLst>
          </p:cNvPr>
          <p:cNvGraphicFramePr>
            <a:graphicFrameLocks noGrp="1"/>
          </p:cNvGraphicFramePr>
          <p:nvPr>
            <p:extLst>
              <p:ext uri="{D42A27DB-BD31-4B8C-83A1-F6EECF244321}">
                <p14:modId xmlns:p14="http://schemas.microsoft.com/office/powerpoint/2010/main" val="1359337699"/>
              </p:ext>
            </p:extLst>
          </p:nvPr>
        </p:nvGraphicFramePr>
        <p:xfrm>
          <a:off x="914400" y="914400"/>
          <a:ext cx="9829800" cy="4739638"/>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650232">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Arial"/>
                          <a:cs typeface="Arial"/>
                          <a:sym typeface="Arial"/>
                        </a:rPr>
                        <a:t>Hospital Name</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Arial"/>
                          <a:cs typeface="Arial"/>
                          <a:sym typeface="Arial"/>
                        </a:rPr>
                        <a:t>Number of Beds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Arial"/>
                          <a:cs typeface="Arial"/>
                          <a:sym typeface="Arial"/>
                        </a:rPr>
                        <a:t>Inpatient Total Charges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Arial"/>
                          <a:cs typeface="Arial"/>
                          <a:sym typeface="Arial"/>
                        </a:rPr>
                        <a:t>Outpatient Total Charges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Arial"/>
                          <a:cs typeface="Arial"/>
                          <a:sym typeface="Arial"/>
                        </a:rPr>
                        <a:t>Inpatient Percent of Market Total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Arial"/>
                          <a:cs typeface="Arial"/>
                          <a:sym typeface="Arial"/>
                        </a:rPr>
                        <a:t>Outpatient Percent of Market Total (Assuming 53.7% of Physicians Employed by Hospitals)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Banner North Colorado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182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448,608.9K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562,163.2K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Longmont United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127</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163,404.2K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373,526.4K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Intermountain Health Platte Valley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89</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197,567.5K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479,522.4K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SLV Health Regional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49</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50,995.2K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209,096.4K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Intermountain Health Lutheran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242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$1,286,834.5K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$1,162,092.9K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3%</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Denver Health Main Campus</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396</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$1,314,698.5K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$2,150,802.1K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St Mary-Corwin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129,866.9K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619,673.9K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Presbyterian/St Lukes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287</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$3,254,810.6K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$1,783,658.9K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7%</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St Anthony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220</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$1,566,038.2K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$1,188,821.4K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Foothills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139</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841,494.1K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$1,257,286.2K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Intermountain Health Saint Joseph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352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$1,666,957.3K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$1,516,265.1K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Banner McKee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101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102,874.9K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233,008.1K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Penrose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601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$2,204,662.1K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$2,318,850.0K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Rose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231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$1,362,998.5K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$1,958,106.1K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Swedish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304</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$4,383,622.3K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$2,539,153.9K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9%</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7"/>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St Elizabeth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35,482.2K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94,143.4K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r h="141014">
                <a:tc>
                  <a:txBody>
                    <a:bodyPr/>
                    <a:lstStyle/>
                    <a:p>
                      <a:pPr marL="63500" marR="63500" algn="l">
                        <a:lnSpc>
                          <a:spcPct val="100000"/>
                        </a:lnSpc>
                        <a:spcBef>
                          <a:spcPts val="0"/>
                        </a:spcBef>
                        <a:spcAft>
                          <a:spcPts val="0"/>
                        </a:spcAft>
                        <a:buNone/>
                      </a:pPr>
                      <a:r>
                        <a:rPr sz="700" b="0" i="0" u="none" cap="none" dirty="0" err="1">
                          <a:solidFill>
                            <a:srgbClr val="000000">
                              <a:alpha val="100000"/>
                            </a:srgbClr>
                          </a:solidFill>
                          <a:latin typeface="Arial"/>
                          <a:cs typeface="Arial"/>
                          <a:sym typeface="Arial"/>
                        </a:rPr>
                        <a:t>AdventHealth</a:t>
                      </a:r>
                      <a:r>
                        <a:rPr sz="700" b="0" i="0" u="none" cap="none" dirty="0">
                          <a:solidFill>
                            <a:srgbClr val="000000">
                              <a:alpha val="100000"/>
                            </a:srgbClr>
                          </a:solidFill>
                          <a:latin typeface="Arial"/>
                          <a:cs typeface="Arial"/>
                          <a:sym typeface="Arial"/>
                        </a:rPr>
                        <a:t> Porter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180</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747,613.1K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919,954.8K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9"/>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North Suburban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139</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$1,177,278.5K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$1,511,442.6K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0"/>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Valley View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208,588.4K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560,145.8K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1"/>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Sterling Regional </a:t>
                      </a:r>
                      <a:r>
                        <a:rPr sz="700" b="0" i="0" u="none" cap="none" dirty="0" err="1">
                          <a:solidFill>
                            <a:srgbClr val="000000">
                              <a:alpha val="100000"/>
                            </a:srgbClr>
                          </a:solidFill>
                          <a:latin typeface="Arial"/>
                          <a:cs typeface="Arial"/>
                          <a:sym typeface="Arial"/>
                        </a:rPr>
                        <a:t>MedCenter</a:t>
                      </a:r>
                      <a:endParaRPr sz="700" b="0" i="0" u="none" cap="none" dirty="0">
                        <a:solidFill>
                          <a:srgbClr val="000000">
                            <a:alpha val="100000"/>
                          </a:srgbClr>
                        </a:solidFill>
                        <a:latin typeface="Arial"/>
                        <a:cs typeface="Arial"/>
                        <a:sym typeface="Arial"/>
                      </a:endParaRP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18,776.7K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102,341.8K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2"/>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Vail Health</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54</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108,275.5K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379,989.3K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3"/>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The Medical Center of Aurora</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326</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$2,806,753.0K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$2,135,593.3K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6%</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4"/>
                  </a:ext>
                </a:extLst>
              </a:tr>
              <a:tr h="141014">
                <a:tc>
                  <a:txBody>
                    <a:bodyPr/>
                    <a:lstStyle/>
                    <a:p>
                      <a:pPr marL="63500" marR="63500" algn="l">
                        <a:lnSpc>
                          <a:spcPct val="100000"/>
                        </a:lnSpc>
                        <a:spcBef>
                          <a:spcPts val="0"/>
                        </a:spcBef>
                        <a:spcAft>
                          <a:spcPts val="0"/>
                        </a:spcAft>
                        <a:buNone/>
                      </a:pPr>
                      <a:r>
                        <a:rPr sz="700" b="0" i="0" u="none" cap="none" dirty="0" err="1">
                          <a:solidFill>
                            <a:srgbClr val="000000">
                              <a:alpha val="100000"/>
                            </a:srgbClr>
                          </a:solidFill>
                          <a:latin typeface="Arial"/>
                          <a:cs typeface="Arial"/>
                          <a:sym typeface="Arial"/>
                        </a:rPr>
                        <a:t>AdventHealth</a:t>
                      </a:r>
                      <a:r>
                        <a:rPr sz="700" b="0" i="0" u="none" cap="none" dirty="0">
                          <a:solidFill>
                            <a:srgbClr val="000000">
                              <a:alpha val="100000"/>
                            </a:srgbClr>
                          </a:solidFill>
                          <a:latin typeface="Arial"/>
                          <a:cs typeface="Arial"/>
                          <a:sym typeface="Arial"/>
                        </a:rPr>
                        <a:t> Avista</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108</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265,028.8K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612,330.6K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5"/>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National Jewish Health</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13</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2,178.4K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263,553.1K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6"/>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Sky Ridge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284</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$2,764,256.4K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$2,753,036.1K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6%</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3%</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7"/>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Advent Health Littleton</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201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842,396.9K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928,638.1K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8"/>
                  </a:ext>
                </a:extLst>
              </a:tr>
              <a:tr h="141014">
                <a:tc>
                  <a:txBody>
                    <a:bodyPr/>
                    <a:lstStyle/>
                    <a:p>
                      <a:pPr marL="63500" marR="63500" algn="l">
                        <a:lnSpc>
                          <a:spcPct val="100000"/>
                        </a:lnSpc>
                        <a:spcBef>
                          <a:spcPts val="0"/>
                        </a:spcBef>
                        <a:spcAft>
                          <a:spcPts val="0"/>
                        </a:spcAft>
                        <a:buNone/>
                      </a:pPr>
                      <a:r>
                        <a:rPr sz="700" b="0" i="0" u="none" cap="none" dirty="0" err="1">
                          <a:solidFill>
                            <a:srgbClr val="000000">
                              <a:alpha val="100000"/>
                            </a:srgbClr>
                          </a:solidFill>
                          <a:latin typeface="Arial"/>
                          <a:cs typeface="Arial"/>
                          <a:sym typeface="Arial"/>
                        </a:rPr>
                        <a:t>AdventHealth</a:t>
                      </a:r>
                      <a:r>
                        <a:rPr sz="700" b="0" i="0" u="none" cap="none" dirty="0">
                          <a:solidFill>
                            <a:srgbClr val="000000">
                              <a:alpha val="100000"/>
                            </a:srgbClr>
                          </a:solidFill>
                          <a:latin typeface="Arial"/>
                          <a:cs typeface="Arial"/>
                          <a:sym typeface="Arial"/>
                        </a:rPr>
                        <a:t> Parker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162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742,583.7K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$1,077,997.7K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9"/>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Intermountain Health Good Samaritan Hospital</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183</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844,149.5K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$1,006,871.0K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0"/>
                  </a:ext>
                </a:extLst>
              </a:tr>
              <a:tr h="14101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St Anthony Summit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34</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56,468.1K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278,192.1K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1"/>
                  </a:ext>
                </a:extLst>
              </a:tr>
            </a:tbl>
          </a:graphicData>
        </a:graphic>
      </p:graphicFrame>
    </p:spTree>
    <p:extLst>
      <p:ext uri="{BB962C8B-B14F-4D97-AF65-F5344CB8AC3E}">
        <p14:creationId xmlns:p14="http://schemas.microsoft.com/office/powerpoint/2010/main" val="3230381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957186164"/>
              </p:ext>
            </p:extLst>
          </p:nvPr>
        </p:nvGraphicFramePr>
        <p:xfrm>
          <a:off x="0" y="0"/>
          <a:ext cx="12192000" cy="6884520"/>
        </p:xfrm>
        <a:graphic>
          <a:graphicData uri="http://schemas.openxmlformats.org/drawingml/2006/table">
            <a:tbl>
              <a:tblPr/>
              <a:tblGrid>
                <a:gridCol w="1161064">
                  <a:extLst>
                    <a:ext uri="{9D8B030D-6E8A-4147-A177-3AD203B41FA5}">
                      <a16:colId xmlns:a16="http://schemas.microsoft.com/office/drawing/2014/main" val="20000"/>
                    </a:ext>
                  </a:extLst>
                </a:gridCol>
                <a:gridCol w="873941">
                  <a:extLst>
                    <a:ext uri="{9D8B030D-6E8A-4147-A177-3AD203B41FA5}">
                      <a16:colId xmlns:a16="http://schemas.microsoft.com/office/drawing/2014/main" val="20001"/>
                    </a:ext>
                  </a:extLst>
                </a:gridCol>
                <a:gridCol w="918889">
                  <a:extLst>
                    <a:ext uri="{9D8B030D-6E8A-4147-A177-3AD203B41FA5}">
                      <a16:colId xmlns:a16="http://schemas.microsoft.com/office/drawing/2014/main" val="20002"/>
                    </a:ext>
                  </a:extLst>
                </a:gridCol>
                <a:gridCol w="949578">
                  <a:extLst>
                    <a:ext uri="{9D8B030D-6E8A-4147-A177-3AD203B41FA5}">
                      <a16:colId xmlns:a16="http://schemas.microsoft.com/office/drawing/2014/main" val="20003"/>
                    </a:ext>
                  </a:extLst>
                </a:gridCol>
                <a:gridCol w="1081248">
                  <a:extLst>
                    <a:ext uri="{9D8B030D-6E8A-4147-A177-3AD203B41FA5}">
                      <a16:colId xmlns:a16="http://schemas.microsoft.com/office/drawing/2014/main" val="20004"/>
                    </a:ext>
                  </a:extLst>
                </a:gridCol>
                <a:gridCol w="1025413">
                  <a:extLst>
                    <a:ext uri="{9D8B030D-6E8A-4147-A177-3AD203B41FA5}">
                      <a16:colId xmlns:a16="http://schemas.microsoft.com/office/drawing/2014/main" val="20005"/>
                    </a:ext>
                  </a:extLst>
                </a:gridCol>
                <a:gridCol w="1044919">
                  <a:extLst>
                    <a:ext uri="{9D8B030D-6E8A-4147-A177-3AD203B41FA5}">
                      <a16:colId xmlns:a16="http://schemas.microsoft.com/office/drawing/2014/main" val="20006"/>
                    </a:ext>
                  </a:extLst>
                </a:gridCol>
                <a:gridCol w="823450">
                  <a:extLst>
                    <a:ext uri="{9D8B030D-6E8A-4147-A177-3AD203B41FA5}">
                      <a16:colId xmlns:a16="http://schemas.microsoft.com/office/drawing/2014/main" val="20007"/>
                    </a:ext>
                  </a:extLst>
                </a:gridCol>
                <a:gridCol w="806554">
                  <a:extLst>
                    <a:ext uri="{9D8B030D-6E8A-4147-A177-3AD203B41FA5}">
                      <a16:colId xmlns:a16="http://schemas.microsoft.com/office/drawing/2014/main" val="20008"/>
                    </a:ext>
                  </a:extLst>
                </a:gridCol>
                <a:gridCol w="798229">
                  <a:extLst>
                    <a:ext uri="{9D8B030D-6E8A-4147-A177-3AD203B41FA5}">
                      <a16:colId xmlns:a16="http://schemas.microsoft.com/office/drawing/2014/main" val="20009"/>
                    </a:ext>
                  </a:extLst>
                </a:gridCol>
                <a:gridCol w="725424">
                  <a:extLst>
                    <a:ext uri="{9D8B030D-6E8A-4147-A177-3AD203B41FA5}">
                      <a16:colId xmlns:a16="http://schemas.microsoft.com/office/drawing/2014/main" val="20010"/>
                    </a:ext>
                  </a:extLst>
                </a:gridCol>
                <a:gridCol w="952312">
                  <a:extLst>
                    <a:ext uri="{9D8B030D-6E8A-4147-A177-3AD203B41FA5}">
                      <a16:colId xmlns:a16="http://schemas.microsoft.com/office/drawing/2014/main" val="20011"/>
                    </a:ext>
                  </a:extLst>
                </a:gridCol>
                <a:gridCol w="1030979">
                  <a:extLst>
                    <a:ext uri="{9D8B030D-6E8A-4147-A177-3AD203B41FA5}">
                      <a16:colId xmlns:a16="http://schemas.microsoft.com/office/drawing/2014/main" val="20012"/>
                    </a:ext>
                  </a:extLst>
                </a:gridCol>
              </a:tblGrid>
              <a:tr h="606638">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UCHealth Poudre Valley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UCHealth Parkview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UCHealth Memorial Hospital Central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UCHealth University of Colorado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UCHealth Yampa Valley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UCHealth Medical Center of the Rockies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err="1">
                          <a:solidFill>
                            <a:srgbClr val="000000">
                              <a:alpha val="100000"/>
                            </a:srgbClr>
                          </a:solidFill>
                          <a:latin typeface="Arial"/>
                          <a:cs typeface="Arial"/>
                          <a:sym typeface="Arial"/>
                        </a:rPr>
                        <a:t>UCHealth</a:t>
                      </a:r>
                      <a:r>
                        <a:rPr sz="1100" b="1" i="0" u="none" cap="none" dirty="0">
                          <a:solidFill>
                            <a:srgbClr val="000000">
                              <a:alpha val="100000"/>
                            </a:srgbClr>
                          </a:solidFill>
                          <a:latin typeface="Arial"/>
                          <a:cs typeface="Arial"/>
                          <a:sym typeface="Arial"/>
                        </a:rPr>
                        <a:t> Longs Peak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UCHealth Broomfield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UCHealth Grandview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UCHealth Greeley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UCHealth Highlands Ranch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err="1">
                          <a:solidFill>
                            <a:srgbClr val="000000">
                              <a:alpha val="100000"/>
                            </a:srgbClr>
                          </a:solidFill>
                          <a:latin typeface="Arial"/>
                          <a:cs typeface="Arial"/>
                          <a:sym typeface="Arial"/>
                        </a:rPr>
                        <a:t>UCHealth</a:t>
                      </a:r>
                      <a:r>
                        <a:rPr sz="1100" b="1" i="0" u="none" cap="none" dirty="0">
                          <a:solidFill>
                            <a:srgbClr val="000000">
                              <a:alpha val="100000"/>
                            </a:srgbClr>
                          </a:solidFill>
                          <a:latin typeface="Arial"/>
                          <a:cs typeface="Arial"/>
                          <a:sym typeface="Arial"/>
                        </a:rPr>
                        <a:t> Pikes Peak Regional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85600">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$203,638K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$224,539K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$495,025K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$1,217,248K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$23,255K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$272,911K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$62,954K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$12,114K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$3,991K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$49,252K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$91,458K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$1,437K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8597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$519,320K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$297,770K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$618,360K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$1,450,889K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$95,016K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$268,894K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$119,249K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$48,339K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$39,632K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$114,327K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$144,365K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$24,833K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85600">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$105,276K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$68,840K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$157,124K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$355,360K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$17,527K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$97,560K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$21,867K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$6,255K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$7,536K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$22,642K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$29,920K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$2,857K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2464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$50,588K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$72,860K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$130,927K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$277,962K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$9,570K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$27,692K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$19,471K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$4,671K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$5,314K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$20,545K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$15,661K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$6,217K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38440">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$566,522K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$381,199K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$824,363K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$2,028,663K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$91,178K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$415,826K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$140,421K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$49,376K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$30,640K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$120,390K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$189,636K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$17,232K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38440">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$53,829K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$10,916K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$104,264K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$187,083K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$3,618K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$36,782K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$12,551K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$8,391K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$5,601K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$16,068K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$8,441K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$693K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85928">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$181,598K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$215,618K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$477,180K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$1,192,537K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$24,509K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$240,864K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$63,875K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$13,105K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$4,502K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$54,046K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$95,460K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$1,572K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8597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$463,111K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$285,939K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$596,069K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$1,421,435K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$100,139K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$237,319K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$120,993K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$52,296K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$44,714K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$125,453K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$150,682K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$27,176K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87099">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$644,709K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$501,557K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$1,073,249K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$2,613,973K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$124,648K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$478,184K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$184,868K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$65,402K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$49,217K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$179,499K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$246,142K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$28,749K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85600">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$77,676K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$21,343K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$39,165K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$48,012K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$-6,373K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$62,894K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$-3,108K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$-5,099K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$-5,727K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$-15,922K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$-10,925K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$-2,443K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38440">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46.8%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46.9%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41.7%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33.4%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45.0%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36.3%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82.1%</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39.3%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35.4%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27.6%</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14.9%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188054">
                <a:tc gridSpan="13">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88054">
                <a:tc gridSpan="13">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88054">
                <a:tc gridSpan="13">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88054">
                <a:tc gridSpan="13">
                  <a:txBody>
                    <a:bodyPr/>
                    <a:lstStyle/>
                    <a:p>
                      <a:pPr marL="63500" marR="63500" algn="l">
                        <a:lnSpc>
                          <a:spcPct val="100000"/>
                        </a:lnSpc>
                        <a:spcBef>
                          <a:spcPts val="500"/>
                        </a:spcBef>
                        <a:spcAft>
                          <a:spcPts val="500"/>
                        </a:spcAft>
                        <a:buNone/>
                      </a:pPr>
                      <a:r>
                        <a:rPr sz="7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4"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839870718"/>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a:t>
                      </a:r>
                      <a:r>
                        <a:rPr lang="en-US" sz="1400" b="1" u="none" strike="noStrike">
                          <a:solidFill/>
                          <a:effectLst/>
                        </a:rPr>
                        <a:t>to Central Colorado </a:t>
                      </a:r>
                      <a:r>
                        <a:rPr lang="en-US" sz="1400" b="1" u="none" strike="noStrike" dirty="0">
                          <a:effectLst/>
                        </a:rPr>
                        <a:t>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$ 3,197</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$ 5,813</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$ 2,714</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5"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6"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33</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34</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3741339683"/>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8"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rPr>
              <a:t>KBA is modeling steerage in line with other observed DTE networks.</a:t>
            </a:r>
          </a:p>
        </p:txBody>
      </p:sp>
    </p:spTree>
    <p:extLst>
      <p:ext uri="{BB962C8B-B14F-4D97-AF65-F5344CB8AC3E}">
        <p14:creationId xmlns:p14="http://schemas.microsoft.com/office/powerpoint/2010/main" val="3616502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D3DCB03-C008-AD89-6957-4E05EFDE3F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45156905-E918-9971-55DA-1B3D3593A1EC}"/>
              </a:ext>
            </a:extLst>
          </p:cNvPr>
          <p:cNvSpPr>
            <a:spLocks noGrp="1"/>
          </p:cNvSpPr>
          <p:nvPr>
            <p:ph type="sldNum" sz="quarter" idx="12"/>
          </p:nvPr>
        </p:nvSpPr>
        <p:spPr/>
        <p:txBody>
          <a:bodyPr/>
          <a:lstStyle/>
          <a:p>
            <a:fld id="{3AFC719D-C4A7-4544-876E-D411D11AF6C9}" type="slidenum">
              <a:rPr lang="en-US" smtClean="0"/>
              <a:t>35</a:t>
            </a:fld>
            <a:endParaRPr lang="en-US" dirty="0"/>
          </a:p>
        </p:txBody>
      </p:sp>
      <p:sp>
        <p:nvSpPr>
          <p:cNvPr id="4" name="Rectangle 6">
            <a:extLst>
              <a:ext uri="{FF2B5EF4-FFF2-40B4-BE49-F238E27FC236}">
                <a16:creationId xmlns:a16="http://schemas.microsoft.com/office/drawing/2014/main" id="{8E28090C-2F27-C065-17C4-ABD81529AB09}"/>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A1043D87-228F-7EE7-994A-5E1D92DA9012}"/>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PROJECTED PLAN GROWTH</a:t>
            </a:r>
          </a:p>
        </p:txBody>
      </p:sp>
      <p:sp>
        <p:nvSpPr>
          <p:cNvPr id="6" name="TextBox 12">
            <a:extLst>
              <a:ext uri="{FF2B5EF4-FFF2-40B4-BE49-F238E27FC236}">
                <a16:creationId xmlns:a16="http://schemas.microsoft.com/office/drawing/2014/main" id="{E799F91A-3FD1-47AB-858A-263DC729BC42}"/>
              </a:ext>
            </a:extLst>
          </p:cNvPr>
          <p:cNvSpPr txBox="1"/>
          <p:nvPr/>
        </p:nvSpPr>
        <p:spPr>
          <a:xfrm>
            <a:off x="8932985" y="1054579"/>
            <a:ext cx="2868171" cy="3754874"/>
          </a:xfrm>
          <a:prstGeom prst="rect">
            <a:avLst/>
          </a:prstGeom>
          <a:noFill/>
        </p:spPr>
        <p:txBody>
          <a:bodyPr wrap="square" rtlCol="0">
            <a:spAutoFit/>
          </a:bodyPr>
          <a:lstStyle/>
          <a:p>
            <a:r>
              <a:rPr lang="en-US" sz="1400" dirty="0">
                <a:solidFill/>
              </a:rPr>
              <a:t>KBA currently estimates that UCHealth has 28% inpatient market share, and 17% outpatient market compared to hospitals/clinics in the Central Colorado.</a:t>
            </a:r>
          </a:p>
          <a:p>
            <a:endParaRPr lang="en-US" sz="1400" dirty="0">
              <a:solidFill/>
            </a:endParaRPr>
          </a:p>
          <a:p>
            <a:r>
              <a:rPr lang="en-US" sz="1400" dirty="0">
                <a:solidFill/>
              </a:rPr>
              <a:t>Based on previous DTE experience, KBA expects a significant bump in patient steerage to UCHealth.</a:t>
            </a:r>
          </a:p>
          <a:p>
            <a:endParaRPr lang="en-US" sz="1400" dirty="0">
              <a:solidFill/>
            </a:endParaRPr>
          </a:p>
          <a:p>
            <a:r>
              <a:rPr lang="en-US" sz="1400" dirty="0">
                <a:solidFill/>
              </a:rPr>
              <a:t>Additional steerage will occur from additional steerage patient benefits and the patient card.  </a:t>
            </a:r>
          </a:p>
          <a:p>
            <a:endParaRPr lang="en-US" sz="1400" dirty="0">
              <a:solidFill/>
            </a:endParaRPr>
          </a:p>
          <a:p>
            <a:r>
              <a:rPr lang="en-US" sz="1400" dirty="0">
                <a:solidFill/>
              </a:rPr>
              <a:t>High estimates start nearly 10% higher than target with low estimates at 10% lower than target</a:t>
            </a:r>
          </a:p>
        </p:txBody>
      </p:sp>
      <p:graphicFrame>
        <p:nvGraphicFramePr>
          <p:cNvPr id="7" name="Table 6"/>
          <p:cNvGraphicFramePr>
            <a:graphicFrameLocks noGrp="1"/>
          </p:cNvGraphicFramePr>
          <p:nvPr>
            <p:extLst>
              <p:ext uri="{D42A27DB-BD31-4B8C-83A1-F6EECF244321}">
                <p14:modId xmlns:p14="http://schemas.microsoft.com/office/powerpoint/2010/main" val="1044522428"/>
              </p:ext>
            </p:extLst>
          </p:nvPr>
        </p:nvGraphicFramePr>
        <p:xfrm>
          <a:off x="1316736" y="384048"/>
          <a:ext cx="6858000" cy="579852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6601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UCHealth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UCHealth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339,300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0"/>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1"/>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197,300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2"/>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3"/>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4"/>
                  </a:ext>
                </a:extLst>
              </a:tr>
              <a:tr h="21182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36</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1212883613"/>
              </p:ext>
            </p:extLst>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16,600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$ 14,627,038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$ 16,723,206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$ 7,809,595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$ 39,159,839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$ 4,914,685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$ 5,618,997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$ 2,624,024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$ 13,157,706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1206401815"/>
              </p:ext>
            </p:extLst>
          </p:nvPr>
        </p:nvGraphicFramePr>
        <p:xfrm>
          <a:off x="462503" y="4085951"/>
          <a:ext cx="7132097" cy="2368215"/>
        </p:xfrm>
        <a:graphic>
          <a:graphicData uri="http://schemas.openxmlformats.org/drawingml/2006/table">
            <a:tbl>
              <a:tblPr firstRow="1" bandRow="1">
                <a:tableStyleId>{5940675A-B579-460E-94D1-54222C63F5DA}</a:tableStyleId>
              </a:tblPr>
              <a:tblGrid>
                <a:gridCol w="5608097">
                  <a:extLst>
                    <a:ext uri="{9D8B030D-6E8A-4147-A177-3AD203B41FA5}">
                      <a16:colId xmlns:a16="http://schemas.microsoft.com/office/drawing/2014/main" val="1938271373"/>
                    </a:ext>
                  </a:extLst>
                </a:gridCol>
                <a:gridCol w="1524000">
                  <a:extLst>
                    <a:ext uri="{9D8B030D-6E8A-4147-A177-3AD203B41FA5}">
                      <a16:colId xmlns:a16="http://schemas.microsoft.com/office/drawing/2014/main" val="232002059"/>
                    </a:ext>
                  </a:extLst>
                </a:gridCol>
              </a:tblGrid>
              <a:tr h="423645">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$ 26,239,924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245445">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$ 199,200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423645">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$ 26,244,724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245445">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245445">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423645">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$ 26,259,124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435280258"/>
              </p:ext>
            </p:extLst>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$ 35,546,478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$ 55,697,918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$ 26,010,454</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$ 117,254,850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$ 11,943,617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$ 18,714,500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$ 8,739,513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$ 39,397,629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28% (inpatient) and 17%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33.6%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67% inpatient and 58%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33.6%, </a:t>
            </a:r>
            <a:r>
              <a:rPr lang="en-US" sz="1400" dirty="0">
                <a:solidFill/>
                <a:latin typeface="Arial" panose="020B0604020202020204" pitchFamily="34" charset="0"/>
                <a:cs typeface="Arial" panose="020B0604020202020204" pitchFamily="34" charset="0"/>
              </a:rPr>
              <a:t>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a:t>
            </a:r>
            <a:r>
              <a:rPr lang="en-US" sz="3200" b="1">
                <a:latin typeface="Calibri" panose="020F0502020204030204" pitchFamily="34" charset="0"/>
                <a:cs typeface="Calibri" panose="020F0502020204030204" pitchFamily="34" charset="0"/>
              </a:rPr>
              <a:t>4 Projected </a:t>
            </a:r>
            <a:r>
              <a:rPr lang="en-US" sz="3200" b="1" dirty="0">
                <a:latin typeface="Calibri" panose="020F0502020204030204" pitchFamily="34" charset="0"/>
                <a:cs typeface="Calibri" panose="020F0502020204030204" pitchFamily="34" charset="0"/>
              </a:rPr>
              <a:t>Revenue and Profit</a:t>
            </a:r>
          </a:p>
        </p:txBody>
      </p:sp>
    </p:spTree>
    <p:extLst>
      <p:ext uri="{BB962C8B-B14F-4D97-AF65-F5344CB8AC3E}">
        <p14:creationId xmlns:p14="http://schemas.microsoft.com/office/powerpoint/2010/main" val="14198165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12193980"/>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84592">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52613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11042">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$1,179.5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$2,359.0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$11,795.1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$58,975.7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$792.6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$19,815.8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$3,092.5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$6,185.0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$30,925.1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$154,625.6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$1,913.0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$3,826.0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$19,130.0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$95,649.9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$1,039.1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$2,078.2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$10,390.8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$51,954.2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$642.8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$1,285.5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$6,427.7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$32,138.4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11042">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$318.8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$967.5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$6,157.7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$32,108.4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166928114"/>
              </p:ext>
            </p:extLst>
          </p:nvPr>
        </p:nvGraphicFramePr>
        <p:xfrm>
          <a:off x="0" y="0"/>
          <a:ext cx="12198096" cy="685800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068">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616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31377">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$881.1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$22,028.7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$1,480.3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$7,401.6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$959.5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$1,919.1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$9,595.3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$47,976.7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$3,224.0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$16,120.2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$1,037.9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$5,189.6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$25,948.0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$174.4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$348.7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$1,743.7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$8,718.5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$1,007.4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$5,037.1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$25,185.6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$1,692.5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$8,462.3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$2,908.0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$14,539.8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$72,699.0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$977.1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$4,885.4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$24,426.9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$950.3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$1,900.5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$9,502.7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$47,513.5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$319.3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$638.6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$3,192.9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$15,964.5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$235.2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$470.5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$2,352.3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$11,761.4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$790.4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$3,951.8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$679.0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$6,790.0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$33,949.8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$11,407.1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$887.5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$4,437.7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$22,188.4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$298.2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$1,491.1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$7,455.3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31377">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$318.8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$967.5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$6,157.7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$32,108.4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42969778"/>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$1,179.5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$2,359.0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$11,795.1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$58,975.7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$792.6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$19,815.8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$3,677.2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$7,354.4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$36,771.9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$183,859.5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$2,497.7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$4,995.4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$24,976.8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$124,883.8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$2,838.8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$14,194.0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$70,969.8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$2,046.2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$10,230.8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$51,153.9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$699.1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$1,728.2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$9,960.8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$51,123.9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10102385"/>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$1,179.5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$2,359.0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$11,795.1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$58,975.7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$792.6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$19,815.8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$5,008.0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$25,039.9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$125,199.4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$1,324.5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$2,648.9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$13,244.7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$66,223.7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$716.1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$1,432.3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$7,161.4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$35,807.0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$639.6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$3,198.2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$15,991.2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$321.6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$2,928.2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$15,961.2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b="1" spc="300" dirty="0"/>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500" spc="70" dirty="0">
              <a:latin typeface="+mj-lt"/>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41</a:t>
            </a:fld>
            <a:endParaRPr lang="en-US"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69332"/>
          </a:xfrm>
          <a:prstGeom prst="rect">
            <a:avLst/>
          </a:prstGeom>
          <a:noFill/>
        </p:spPr>
        <p:txBody>
          <a:bodyPr wrap="square">
            <a:spAutoFit/>
          </a:bodyPr>
          <a:lstStyle/>
          <a:p>
            <a:r>
              <a:rPr lang="en-US" b="1" spc="300" dirty="0">
                <a:solidFill>
                  <a:schemeClr val="bg1"/>
                </a:solidFill>
              </a:rPr>
              <a:t>UCHealth’s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2092881"/>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500" spc="70" dirty="0">
                <a:solidFill>
                  <a:schemeClr val="bg1"/>
                </a:solidFill>
                <a:latin typeface="+mj-lt"/>
              </a:rPr>
              <a:t>Reduced Spend</a:t>
            </a:r>
          </a:p>
          <a:p>
            <a:pPr marL="285753" indent="-285753">
              <a:spcAft>
                <a:spcPts val="200"/>
              </a:spcAft>
              <a:buFont typeface="Wingdings" panose="05000000000000000000" pitchFamily="2" charset="2"/>
              <a:buChar char="§"/>
            </a:pPr>
            <a:r>
              <a:rPr lang="en-US" sz="1500" spc="70" dirty="0">
                <a:solidFill>
                  <a:schemeClr val="bg1"/>
                </a:solidFill>
                <a:latin typeface="+mj-lt"/>
              </a:rPr>
              <a:t>“At The Table” with UCHealth</a:t>
            </a:r>
          </a:p>
          <a:p>
            <a:pPr marL="285753" indent="-285753">
              <a:spcAft>
                <a:spcPts val="200"/>
              </a:spcAft>
              <a:buFont typeface="Wingdings" panose="05000000000000000000" pitchFamily="2" charset="2"/>
              <a:buChar char="§"/>
            </a:pPr>
            <a:r>
              <a:rPr lang="en-US" sz="1500" spc="70" dirty="0">
                <a:solidFill>
                  <a:schemeClr val="bg1"/>
                </a:solidFill>
                <a:latin typeface="+mj-lt"/>
              </a:rPr>
              <a:t>Improved Analytics</a:t>
            </a:r>
          </a:p>
          <a:p>
            <a:pPr marL="285753" indent="-285753">
              <a:spcAft>
                <a:spcPts val="200"/>
              </a:spcAft>
              <a:buFont typeface="Wingdings" panose="05000000000000000000" pitchFamily="2" charset="2"/>
              <a:buChar char="§"/>
            </a:pPr>
            <a:r>
              <a:rPr lang="en-US" sz="1500" spc="70" dirty="0">
                <a:solidFill>
                  <a:schemeClr val="bg1"/>
                </a:solidFill>
                <a:latin typeface="+mj-lt"/>
              </a:rPr>
              <a:t>Complete Transparency</a:t>
            </a:r>
          </a:p>
          <a:p>
            <a:pPr marL="285753" indent="-285753">
              <a:spcAft>
                <a:spcPts val="200"/>
              </a:spcAft>
              <a:buFont typeface="Wingdings" panose="05000000000000000000" pitchFamily="2" charset="2"/>
              <a:buChar char="§"/>
            </a:pPr>
            <a:r>
              <a:rPr lang="en-US" sz="1500" spc="70" dirty="0">
                <a:solidFill>
                  <a:schemeClr val="bg1"/>
                </a:solidFill>
                <a:latin typeface="+mj-lt"/>
              </a:rPr>
              <a:t>Lower Stop-Loss</a:t>
            </a:r>
          </a:p>
          <a:p>
            <a:pPr marL="285753" indent="-285753">
              <a:spcAft>
                <a:spcPts val="200"/>
              </a:spcAft>
              <a:buFont typeface="Wingdings" panose="05000000000000000000" pitchFamily="2" charset="2"/>
              <a:buChar char="§"/>
            </a:pPr>
            <a:r>
              <a:rPr lang="en-US" sz="1500" spc="70" dirty="0">
                <a:solidFill>
                  <a:schemeClr val="bg1"/>
                </a:solidFill>
                <a:latin typeface="+mj-lt"/>
              </a:rPr>
              <a:t>Benefit Plan Stabilization </a:t>
            </a:r>
          </a:p>
          <a:p>
            <a:pPr marL="285753" indent="-285753">
              <a:spcAft>
                <a:spcPts val="200"/>
              </a:spcAft>
              <a:buFont typeface="Wingdings" panose="05000000000000000000" pitchFamily="2" charset="2"/>
              <a:buChar char="§"/>
            </a:pPr>
            <a:r>
              <a:rPr lang="en-US" sz="1500" spc="70" dirty="0">
                <a:solidFill>
                  <a:schemeClr val="bg1"/>
                </a:solidFill>
                <a:latin typeface="+mj-lt"/>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UCHealth</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UCHealth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42</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43</a:t>
            </a:fld>
            <a:endParaRPr lang="en-US" sz="110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3235786818"/>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a:t>Determine Gaps in Medical Service Delivery</a:t>
            </a:r>
          </a:p>
          <a:p>
            <a:pPr marL="285750" lvl="0" indent="-285750">
              <a:buFont typeface="Arial" panose="020B0604020202020204" pitchFamily="34" charset="0"/>
              <a:buChar char="•"/>
            </a:pPr>
            <a:r>
              <a:rPr lang="en-US" sz="1800" dirty="0">
                <a:solidFill/>
              </a:rPr>
              <a:t>Identify Other Key Providers to Potentially Contract with on Behalf of UCHealth</a:t>
            </a:r>
          </a:p>
          <a:p>
            <a:pPr marL="285750" lvl="0" indent="-285750">
              <a:buFont typeface="Arial" panose="020B0604020202020204" pitchFamily="34" charset="0"/>
              <a:buChar char="•"/>
            </a:pPr>
            <a:r>
              <a:rPr lang="en-US" sz="1800" dirty="0"/>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rPr>
              <a:t>To Dial in Competitive Stop-Loss Rates and UCHealth’s Net Revenues/Margins</a:t>
            </a:r>
          </a:p>
          <a:p>
            <a:pPr marL="285750" lvl="0" indent="-285750">
              <a:buFont typeface="Arial" panose="020B0604020202020204" pitchFamily="34" charset="0"/>
              <a:buChar char="•"/>
            </a:pPr>
            <a:r>
              <a:rPr lang="en-US" sz="1800" dirty="0"/>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44</a:t>
            </a:fld>
            <a:endParaRPr lang="en-US" sz="110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45</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46095</TotalTime>
  <Words>6936</Words>
  <Application>Microsoft Office PowerPoint</Application>
  <PresentationFormat>Widescreen</PresentationFormat>
  <Paragraphs>2040</Paragraphs>
  <Slides>45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Aptos Narrow</vt:lpstr>
      <vt:lpstr>Arial</vt:lpstr>
      <vt:lpstr>Arial Black</vt:lpstr>
      <vt:lpstr>Calibri</vt:lpstr>
      <vt:lpstr>Calibri Light</vt:lpstr>
      <vt:lpstr>Century Gothic</vt:lpstr>
      <vt:lpstr>Wingdings</vt:lpstr>
      <vt:lpstr>Office Theme</vt:lpstr>
      <vt:lpstr>PowerPoint Presentation</vt:lpstr>
      <vt:lpstr>PowerPoint Presentation</vt:lpstr>
      <vt:lpstr>Market Leader in Private Labeled DTE Plans</vt:lpstr>
      <vt:lpstr>Direct-to-Employer (DTE)  Your Health Plan Focused on a Direct Relationship with Self-Funded Employers in Your Market</vt:lpstr>
      <vt:lpstr>DTE Keys to Success for UCHealth</vt:lpstr>
      <vt:lpstr>Every $1 of Care</vt:lpstr>
      <vt:lpstr>Direct-to-Employer Strategy: Powerful Employer Value</vt:lpstr>
      <vt:lpstr>Significant Opportunity for Plan Growth Researched for Central Colorado</vt:lpstr>
      <vt:lpstr>Plan Potential Growth Paths</vt:lpstr>
      <vt:lpstr>Growing Powerful, Lasting Profitability</vt:lpstr>
      <vt:lpstr>Estimated Financial Returns and Assumptions</vt:lpstr>
      <vt:lpstr>FOUR-YEAR PROJECTIONS</vt:lpstr>
      <vt:lpstr>Direct-to-Employer Strategy: Only Available to Premier Health Systems</vt:lpstr>
      <vt:lpstr>UCHealth is Patient Recommended</vt:lpstr>
      <vt:lpstr>Patients Pass Other Hospitals to Come to UCHealth</vt:lpstr>
      <vt:lpstr>UCHealth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UCHealth’s 2022 Payer Mix</vt:lpstr>
      <vt:lpstr>Estimation of Margin for  Commercial vs. Government Pay</vt:lpstr>
      <vt:lpstr>Estimating Market Share</vt:lpstr>
      <vt:lpstr>Competitive Area Hospitals</vt:lpstr>
      <vt:lpstr>Competitive Area Hospitals (Continued)</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113</cp:revision>
  <cp:lastPrinted>2023-07-13T10:24:43Z</cp:lastPrinted>
  <dcterms:created xsi:type="dcterms:W3CDTF">2021-01-20T14:12:11Z</dcterms:created>
  <dcterms:modified xsi:type="dcterms:W3CDTF">2024-11-05T07:53:11Z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