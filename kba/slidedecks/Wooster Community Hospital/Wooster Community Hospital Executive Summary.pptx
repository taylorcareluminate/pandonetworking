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Lst>
  <p:notesMasterIdLst>
    <p:notesMasterId r:id="rId21"/>
  </p:notesMasterIdLst>
  <p:sldIdLst>
    <p:sldId id="588" r:id="rId8"/>
    <p:sldId id="454" r:id="rId9"/>
    <p:sldId id="2145726874" r:id="rId10"/>
    <p:sldId id="2145726912" r:id="rId11"/>
    <p:sldId id="2145726869" r:id="rId12"/>
    <p:sldId id="580" r:id="rId13"/>
    <p:sldId id="582" r:id="rId14"/>
    <p:sldId id="558" r:id="rId15"/>
    <p:sldId id="548" r:id="rId16"/>
    <p:sldId id="2145726870" r:id="rId17"/>
    <p:sldId id="585" r:id="rId18"/>
    <p:sldId id="536" r:id="rId19"/>
    <p:sldId id="472" r:id="rId20"/>
  </p:sldIdLst>
  <p:sldSz cx="12192000" cy="6858000"/>
  <p:notesSz cx="7315200" cy="9601200"/>
  <p:custDataLst>
    <p:tags r:id="rId2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varScale="1">
        <p:scale>
          <a:sx n="98" d="100"/>
          <a:sy n="98" d="100"/>
        </p:scale>
        <p:origin x="828" y="8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commentAuthors" Target="commentAuthors.xml"/><Relationship Id="rId28" Type="http://schemas.microsoft.com/office/2018/10/relationships/authors" Target="author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tags" Target="tags/tag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1/28/2026</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7</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E97793FA-FB1F-6E11-725C-63C747CEFA41}"/>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2643" name="Notes Placeholder 2">
            <a:extLst>
              <a:ext uri="{FF2B5EF4-FFF2-40B4-BE49-F238E27FC236}">
                <a16:creationId xmlns:a16="http://schemas.microsoft.com/office/drawing/2014/main" id="{6A6F21D1-E85A-DA78-A39D-E1F6649EB0DB}"/>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dirty="0"/>
          </a:p>
        </p:txBody>
      </p:sp>
      <p:sp>
        <p:nvSpPr>
          <p:cNvPr id="112644" name="Slide Number Placeholder 3">
            <a:extLst>
              <a:ext uri="{FF2B5EF4-FFF2-40B4-BE49-F238E27FC236}">
                <a16:creationId xmlns:a16="http://schemas.microsoft.com/office/drawing/2014/main" id="{A73E266B-7A84-C243-1D0C-6C16C29DFB42}"/>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AFF9F3-C8AB-436D-99D0-D375E19F3267}" type="slidenum">
              <a:rPr lang="en-US" altLang="en-US">
                <a:solidFill>
                  <a:srgbClr val="000000"/>
                </a:solidFill>
                <a:latin typeface="Montserrat" panose="00000500000000000000" pitchFamily="2" charset="0"/>
              </a:rPr>
              <a:pPr eaLnBrk="1" hangingPunct="1"/>
              <a:t>10</a:t>
            </a:fld>
            <a:endParaRPr lang="en-US" altLang="en-US">
              <a:solidFill>
                <a:srgbClr val="000000"/>
              </a:solidFill>
              <a:latin typeface="Montserrat" panose="00000500000000000000" pitchFamily="2"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1/28/2026</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1/28/2026</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1/28/2026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1/28/2026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1/28/2026</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1/28/2026</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1/28/2026</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1/28/2026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1/28/2026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1/28/2026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1/28/2026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1/28/2026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1/28/2026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1/28/2026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1/28/2026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1/28/2026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1/28/2026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1/28/2026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1/28/2026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1/28/2026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1/28/2026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1/28/2026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1/28/2026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1/28/2026</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1/28/2026</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1/28/2026</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1/28/2026</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1/28/2026</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1/28/2026</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1/28/2026</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1/28/2026</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1/28/2026</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1/28/2026</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1/28/2026</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1/28/2026</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1/28/2026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32.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8.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jpeg"/><Relationship Id="rId1" Type="http://schemas.openxmlformats.org/officeDocument/2006/relationships/slideLayout" Target="../slideLayouts/slideLayout6.xml"/><Relationship Id="rId6" Type="http://schemas.openxmlformats.org/officeDocument/2006/relationships/image" Target="../media/image27.svg"/><Relationship Id="rId11" Type="http://schemas.openxmlformats.org/officeDocument/2006/relationships/image" Target="../media/image10.pn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Wooster Community Hospital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D9CFD-1D5C-FF21-4A1E-7AB392E8DF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39B371-73B9-408F-674E-7CD4D0AB597E}"/>
              </a:ext>
            </a:extLst>
          </p:cNvPr>
          <p:cNvSpPr/>
          <p:nvPr/>
        </p:nvSpPr>
        <p:spPr>
          <a:xfrm>
            <a:off x="1" y="0"/>
            <a:ext cx="4846964" cy="6870346"/>
          </a:xfrm>
          <a:prstGeom prst="rect">
            <a:avLst/>
          </a:prstGeom>
          <a:solidFill>
            <a:srgbClr val="1116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 name="Footer Placeholder 2">
            <a:extLst>
              <a:ext uri="{FF2B5EF4-FFF2-40B4-BE49-F238E27FC236}">
                <a16:creationId xmlns:a16="http://schemas.microsoft.com/office/drawing/2014/main" id="{1229C9EE-93FE-78B8-4BCD-C09DECB33A6A}"/>
              </a:ext>
            </a:extLst>
          </p:cNvPr>
          <p:cNvSpPr>
            <a:spLocks noGrp="1"/>
          </p:cNvSpPr>
          <p:nvPr>
            <p:ph type="ftr" sz="quarter" idx="11"/>
          </p:nvPr>
        </p:nvSpPr>
        <p:spPr>
          <a:xfrm>
            <a:off x="7029520" y="6421464"/>
            <a:ext cx="4114800" cy="365125"/>
          </a:xfrm>
        </p:spPr>
        <p:txBody>
          <a:bodyPr/>
          <a:lstStyle/>
          <a:p>
            <a:r>
              <a:rPr lang="en-US"/>
              <a:t>Key Benefit Administrators</a:t>
            </a:r>
          </a:p>
        </p:txBody>
      </p:sp>
      <p:sp>
        <p:nvSpPr>
          <p:cNvPr id="4" name="Title 1">
            <a:extLst>
              <a:ext uri="{FF2B5EF4-FFF2-40B4-BE49-F238E27FC236}">
                <a16:creationId xmlns:a16="http://schemas.microsoft.com/office/drawing/2014/main" id="{22966400-D608-A464-A105-DE053AB4932B}"/>
              </a:ext>
            </a:extLst>
          </p:cNvPr>
          <p:cNvSpPr>
            <a:spLocks noGrp="1"/>
          </p:cNvSpPr>
          <p:nvPr>
            <p:ph type="title"/>
          </p:nvPr>
        </p:nvSpPr>
        <p:spPr>
          <a:xfrm>
            <a:off x="5652655" y="683306"/>
            <a:ext cx="5957965" cy="1325563"/>
          </a:xfrm>
        </p:spPr>
        <p:txBody>
          <a:bodyPr>
            <a:noAutofit/>
          </a:bodyPr>
          <a:lstStyle/>
          <a:p>
            <a:pPr>
              <a:lnSpc>
                <a:spcPct val="100000"/>
              </a:lnSpc>
              <a:spcBef>
                <a:spcPts val="1800"/>
              </a:spcBef>
              <a:spcAft>
                <a:spcPts val="600"/>
              </a:spcAft>
            </a:pPr>
            <a:r>
              <a:rPr lang="en-US" sz="2000">
                <a:solidFill>
                  <a:srgbClr val="000B2E"/>
                </a:solidFill>
              </a:rPr>
              <a:t>Our Founding and Heritage:</a:t>
            </a:r>
            <a:br>
              <a:rPr lang="en-US" sz="4000" b="1">
                <a:solidFill>
                  <a:srgbClr val="000B2E"/>
                </a:solidFill>
              </a:rPr>
            </a:br>
            <a:r>
              <a:rPr lang="en-US" sz="3600" b="0">
                <a:solidFill>
                  <a:srgbClr val="000B2E"/>
                </a:solidFill>
              </a:rPr>
              <a:t>46 Years of Striving for Honesty in Healthcare</a:t>
            </a:r>
            <a:endParaRPr lang="en-US" sz="1600" b="0">
              <a:solidFill>
                <a:schemeClr val="tx1">
                  <a:lumMod val="75000"/>
                  <a:lumOff val="25000"/>
                </a:schemeClr>
              </a:solidFill>
            </a:endParaRPr>
          </a:p>
        </p:txBody>
      </p:sp>
      <p:pic>
        <p:nvPicPr>
          <p:cNvPr id="5" name="Picture 2" descr="Larry Dust - Crunchbase Person Profile">
            <a:extLst>
              <a:ext uri="{FF2B5EF4-FFF2-40B4-BE49-F238E27FC236}">
                <a16:creationId xmlns:a16="http://schemas.microsoft.com/office/drawing/2014/main" id="{F7A901A5-A0C2-992D-8392-CF98ABD42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442" y="1049081"/>
            <a:ext cx="2498081" cy="24980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4" descr="Working at Key Benefit Administrators | Top Workplaces">
            <a:extLst>
              <a:ext uri="{FF2B5EF4-FFF2-40B4-BE49-F238E27FC236}">
                <a16:creationId xmlns:a16="http://schemas.microsoft.com/office/drawing/2014/main" id="{F140746C-3B1E-D8A0-5BED-E05A5C3DA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057" y="3913332"/>
            <a:ext cx="2990850" cy="16383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0">
            <a:extLst>
              <a:ext uri="{FF2B5EF4-FFF2-40B4-BE49-F238E27FC236}">
                <a16:creationId xmlns:a16="http://schemas.microsoft.com/office/drawing/2014/main" id="{0CBFE08E-E446-CB70-FF81-2CC0C8485DAB}"/>
              </a:ext>
            </a:extLst>
          </p:cNvPr>
          <p:cNvPicPr>
            <a:picLocks noChangeAspect="1"/>
          </p:cNvPicPr>
          <p:nvPr/>
        </p:nvPicPr>
        <p:blipFill>
          <a:blip r:embed="rId4"/>
          <a:stretch>
            <a:fillRect/>
          </a:stretch>
        </p:blipFill>
        <p:spPr>
          <a:xfrm>
            <a:off x="5747206" y="2298120"/>
            <a:ext cx="5863414" cy="3984231"/>
          </a:xfrm>
          <a:prstGeom prst="rect">
            <a:avLst/>
          </a:prstGeom>
        </p:spPr>
      </p:pic>
    </p:spTree>
    <p:extLst>
      <p:ext uri="{BB962C8B-B14F-4D97-AF65-F5344CB8AC3E}">
        <p14:creationId xmlns:p14="http://schemas.microsoft.com/office/powerpoint/2010/main" val="3982481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3">
            <a:extLst>
              <a:ext uri="{FF2B5EF4-FFF2-40B4-BE49-F238E27FC236}">
                <a16:creationId xmlns:a16="http://schemas.microsoft.com/office/drawing/2014/main" id="{E9585457-04EC-9F2F-1461-7D06991F1111}"/>
              </a:ext>
            </a:extLst>
          </p:cNvPr>
          <p:cNvPicPr>
            <a:picLocks noChangeAspect="1"/>
          </p:cNvPicPr>
          <p:nvPr/>
        </p:nvPicPr>
        <p:blipFill>
          <a:blip r:embed="rId2"/>
          <a:stretch>
            <a:fillRect/>
          </a:stretch>
        </p:blipFill>
        <p:spPr>
          <a:xfrm>
            <a:off x="121226" y="691197"/>
            <a:ext cx="8657166" cy="5455920"/>
          </a:xfrm>
          <a:prstGeom prst="rect">
            <a:avLst/>
          </a:prstGeom>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82000"/>
                </a:prstClr>
              </a:solidFill>
              <a:effectLst/>
              <a:uLnTx/>
              <a:uFillTx/>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96923" y="3710892"/>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Bentonville, AR</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2439551" y="460543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Dallas Fort Worth, TX</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Fort Myers, FL</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Cincinnati, OH</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3058516"/>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Louisville, KY</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
        <p:nvSpPr>
          <p:cNvPr id="13" name="Rectangle: Rounded Corners 12">
            <a:extLst>
              <a:ext uri="{FF2B5EF4-FFF2-40B4-BE49-F238E27FC236}">
                <a16:creationId xmlns:a16="http://schemas.microsoft.com/office/drawing/2014/main" id="{1E4CD584-8CF7-DD3D-64A2-A93AEE54754C}"/>
              </a:ext>
            </a:extLst>
          </p:cNvPr>
          <p:cNvSpPr/>
          <p:nvPr/>
        </p:nvSpPr>
        <p:spPr>
          <a:xfrm>
            <a:off x="6962035" y="2256594"/>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Cleveland, OH</a:t>
            </a:r>
          </a:p>
        </p:txBody>
      </p:sp>
    </p:spTree>
    <p:extLst>
      <p:ext uri="{BB962C8B-B14F-4D97-AF65-F5344CB8AC3E}">
        <p14:creationId xmlns:p14="http://schemas.microsoft.com/office/powerpoint/2010/main" val="358070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a:stretch>
            <a:fillRect/>
          </a:stretch>
        </p:blipFill>
        <p:spPr>
          <a:xfrm>
            <a:off x="7179013" y="233312"/>
            <a:ext cx="4668433" cy="585025"/>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Wooster Community Hospital service area in Ashland, Holmes, Medina, Stark, Summit, and Wayne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447K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255K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182K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127K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$10.21M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$0.73M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$59.61M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$5.28M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$120.84M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$10.86M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Wooster Community Hospital has 2% inpatient market share, and 2% outpatient market compared to hospitals/clinics in the Wooster Community Hospital service area (see slide 8). The DTE tiered structure will create immediate steerage, with additional steerage over time from patient bonus benefits and the patient convenience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Wooster Community Hospital 11%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3.8%</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8.8%</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13.8%</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297.4K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594.8K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1,137.6K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1,764.4K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429.2K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982.8K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1,621.6K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446.1K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842.6K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1,516.9K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2,447.4K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126.9K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683.0K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1,370.5K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2,319.0K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198.3K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396.5K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704.3K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1,081.4K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-126.9K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226.1K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539.9K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924.2K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1FA40FF6-6F06-E7AC-B58F-754B92C3F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00188"/>
            <a:ext cx="7240588"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
            <a:extLst>
              <a:ext uri="{FF2B5EF4-FFF2-40B4-BE49-F238E27FC236}">
                <a16:creationId xmlns:a16="http://schemas.microsoft.com/office/drawing/2014/main" id="{EB2CE0FD-6B1E-B7F0-53B0-E04CE9D1F342}"/>
              </a:ext>
            </a:extLst>
          </p:cNvPr>
          <p:cNvSpPr>
            <a:spLocks noGrp="1" noChangeArrowheads="1"/>
          </p:cNvSpPr>
          <p:nvPr>
            <p:ph type="sldNum" sz="quarter" idx="12"/>
          </p:nvPr>
        </p:nvSpPr>
        <p:spPr bwMode="auto">
          <a:xfrm>
            <a:off x="8959850" y="633571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EA699914-4451-4BEC-AE9A-05A627140C49}" type="slidenum">
              <a:rPr lang="en-US" altLang="en-US" smtClean="0">
                <a:solidFill>
                  <a:srgbClr val="898989"/>
                </a:solidFill>
                <a:latin typeface="Montserrat" panose="00000500000000000000" pitchFamily="2" charset="0"/>
              </a:rPr>
              <a:pPr fontAlgn="base">
                <a:spcBef>
                  <a:spcPct val="0"/>
                </a:spcBef>
                <a:spcAft>
                  <a:spcPct val="0"/>
                </a:spcAft>
              </a:pPr>
              <a:t>10</a:t>
            </a:fld>
            <a:endParaRPr lang="en-US" altLang="en-US" dirty="0">
              <a:solidFill>
                <a:srgbClr val="898989"/>
              </a:solidFill>
              <a:latin typeface="Montserrat" panose="00000500000000000000" pitchFamily="2" charset="0"/>
            </a:endParaRPr>
          </a:p>
        </p:txBody>
      </p:sp>
      <p:pic>
        <p:nvPicPr>
          <p:cNvPr id="4" name="Picture 14">
            <a:extLst>
              <a:ext uri="{FF2B5EF4-FFF2-40B4-BE49-F238E27FC236}">
                <a16:creationId xmlns:a16="http://schemas.microsoft.com/office/drawing/2014/main" id="{24DABA54-344C-0002-7993-38600E1AC5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5">
            <a:extLst>
              <a:ext uri="{FF2B5EF4-FFF2-40B4-BE49-F238E27FC236}">
                <a16:creationId xmlns:a16="http://schemas.microsoft.com/office/drawing/2014/main" id="{C7195C47-ACB6-7506-6D43-E4D4E204766B}"/>
              </a:ext>
            </a:extLst>
          </p:cNvPr>
          <p:cNvSpPr>
            <a:spLocks/>
          </p:cNvSpPr>
          <p:nvPr/>
        </p:nvSpPr>
        <p:spPr bwMode="auto">
          <a:xfrm rot="16200000" flipV="1">
            <a:off x="7292976"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Rectangle 10">
            <a:extLst>
              <a:ext uri="{FF2B5EF4-FFF2-40B4-BE49-F238E27FC236}">
                <a16:creationId xmlns:a16="http://schemas.microsoft.com/office/drawing/2014/main" id="{2C3C063F-478C-1983-EB9B-BC9212331397}"/>
              </a:ext>
            </a:extLst>
          </p:cNvPr>
          <p:cNvSpPr/>
          <p:nvPr/>
        </p:nvSpPr>
        <p:spPr>
          <a:xfrm>
            <a:off x="8037513" y="1449547"/>
            <a:ext cx="3736975" cy="4886166"/>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pic>
        <p:nvPicPr>
          <p:cNvPr id="7" name="Picture 16">
            <a:extLst>
              <a:ext uri="{FF2B5EF4-FFF2-40B4-BE49-F238E27FC236}">
                <a16:creationId xmlns:a16="http://schemas.microsoft.com/office/drawing/2014/main" id="{AC6455EE-959B-4362-17D7-EFB7941BC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3238" y="1578134"/>
            <a:ext cx="11969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rrow: Pentagon 17">
            <a:extLst>
              <a:ext uri="{FF2B5EF4-FFF2-40B4-BE49-F238E27FC236}">
                <a16:creationId xmlns:a16="http://schemas.microsoft.com/office/drawing/2014/main" id="{2B66BBAF-AA35-B92F-61FA-4E65114689A0}"/>
              </a:ext>
            </a:extLst>
          </p:cNvPr>
          <p:cNvSpPr/>
          <p:nvPr/>
        </p:nvSpPr>
        <p:spPr>
          <a:xfrm>
            <a:off x="0" y="5080000"/>
            <a:ext cx="7639050" cy="766763"/>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sp>
        <p:nvSpPr>
          <p:cNvPr id="9" name="TextBox 2">
            <a:extLst>
              <a:ext uri="{FF2B5EF4-FFF2-40B4-BE49-F238E27FC236}">
                <a16:creationId xmlns:a16="http://schemas.microsoft.com/office/drawing/2014/main" id="{F0DF9754-79F6-1B64-8084-B9999BBEBED8}"/>
              </a:ext>
            </a:extLst>
          </p:cNvPr>
          <p:cNvSpPr txBox="1">
            <a:spLocks noChangeArrowheads="1"/>
          </p:cNvSpPr>
          <p:nvPr/>
        </p:nvSpPr>
        <p:spPr bwMode="auto">
          <a:xfrm>
            <a:off x="215900" y="5181211"/>
            <a:ext cx="548602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Montserrat" panose="000005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Montserrat" panose="000005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Montserrat" panose="000005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9pPr>
          </a:lstStyle>
          <a:p>
            <a:pPr eaLnBrk="1" hangingPunct="1">
              <a:lnSpc>
                <a:spcPct val="100000"/>
              </a:lnSpc>
              <a:spcBef>
                <a:spcPct val="0"/>
              </a:spcBef>
              <a:buFontTx/>
              <a:buNone/>
            </a:pPr>
            <a:r>
              <a:rPr lang="en-US" altLang="en-US" sz="1600" dirty="0">
                <a:solidFill>
                  <a:srgbClr val="000000"/>
                </a:solidFill>
              </a:rPr>
              <a:t>Wooster Community Hospital patients can have all out-of-pocket liability reduced to $0!</a:t>
            </a:r>
          </a:p>
        </p:txBody>
      </p:sp>
      <p:graphicFrame>
        <p:nvGraphicFramePr>
          <p:cNvPr id="10" name="Table 6">
            <a:extLst>
              <a:ext uri="{FF2B5EF4-FFF2-40B4-BE49-F238E27FC236}">
                <a16:creationId xmlns:a16="http://schemas.microsoft.com/office/drawing/2014/main" id="{50F6F2E0-D342-3007-3295-A5A48FF44313}"/>
              </a:ext>
            </a:extLst>
          </p:cNvPr>
          <p:cNvGraphicFramePr>
            <a:graphicFrameLocks noGrp="1"/>
          </p:cNvGraphicFramePr>
          <p:nvPr/>
        </p:nvGraphicFramePr>
        <p:xfrm>
          <a:off x="8123238" y="1876901"/>
          <a:ext cx="3579812" cy="4471035"/>
        </p:xfrm>
        <a:graphic>
          <a:graphicData uri="http://schemas.openxmlformats.org/drawingml/2006/table">
            <a:tbl>
              <a:tblPr/>
              <a:tblGrid>
                <a:gridCol w="2000483">
                  <a:extLst>
                    <a:ext uri="{9D8B030D-6E8A-4147-A177-3AD203B41FA5}">
                      <a16:colId xmlns:a16="http://schemas.microsoft.com/office/drawing/2014/main" val="1876924050"/>
                    </a:ext>
                  </a:extLst>
                </a:gridCol>
                <a:gridCol w="1579329">
                  <a:extLst>
                    <a:ext uri="{9D8B030D-6E8A-4147-A177-3AD203B41FA5}">
                      <a16:colId xmlns:a16="http://schemas.microsoft.com/office/drawing/2014/main" val="2083762870"/>
                    </a:ext>
                  </a:extLst>
                </a:gridCol>
              </a:tblGrid>
              <a:tr h="228600">
                <a:tc gridSpan="2">
                  <a:txBody>
                    <a:bodyPr/>
                    <a:lstStyle/>
                    <a:p>
                      <a:pPr algn="ctr" fontAlgn="b">
                        <a:buNone/>
                      </a:pPr>
                      <a:r>
                        <a:rPr lang="en-US" sz="1800" b="1" i="0" u="none" strike="noStrike" dirty="0">
                          <a:solidFill>
                            <a:srgbClr val="FFFFFF"/>
                          </a:solidFill>
                          <a:effectLst/>
                          <a:latin typeface="Aptos Narrow" panose="020B0004020202020204" pitchFamily="34" charset="0"/>
                        </a:rPr>
                        <a:t>Explanation of Benefits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0E2841"/>
                    </a:solidFill>
                  </a:tcPr>
                </a:tc>
                <a:tc hMerge="1">
                  <a:txBody>
                    <a:bodyPr/>
                    <a:lstStyle/>
                    <a:p>
                      <a:endParaRPr lang="en-US"/>
                    </a:p>
                  </a:txBody>
                  <a:tcPr/>
                </a:tc>
                <a:extLst>
                  <a:ext uri="{0D108BD9-81ED-4DB2-BD59-A6C34878D82A}">
                    <a16:rowId xmlns:a16="http://schemas.microsoft.com/office/drawing/2014/main" val="3443869175"/>
                  </a:ext>
                </a:extLst>
              </a:tr>
              <a:tr h="182880">
                <a:tc gridSpan="2">
                  <a:txBody>
                    <a:bodyPr/>
                    <a:lstStyle/>
                    <a:p>
                      <a:pPr algn="ctr" fontAlgn="b">
                        <a:buNone/>
                      </a:pPr>
                      <a:r>
                        <a:rPr lang="en-US" sz="1400" b="0" i="0" u="none" strike="noStrike" dirty="0">
                          <a:solidFill>
                            <a:srgbClr val="000000"/>
                          </a:solidFill>
                          <a:effectLst/>
                          <a:latin typeface="Aptos Narrow" panose="020B0004020202020204" pitchFamily="34" charset="0"/>
                        </a:rPr>
                        <a:t>Heart Attack, Cardiac Surgery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803465819"/>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CHARGES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447156677"/>
                  </a:ext>
                </a:extLst>
              </a:tr>
              <a:tr h="182880">
                <a:tc>
                  <a:txBody>
                    <a:bodyPr/>
                    <a:lstStyle/>
                    <a:p>
                      <a:pPr algn="l" fontAlgn="b">
                        <a:buNone/>
                      </a:pPr>
                      <a:r>
                        <a:rPr lang="en-US" sz="1400" b="0" i="0" u="none" strike="noStrike">
                          <a:solidFill>
                            <a:srgbClr val="000000"/>
                          </a:solidFill>
                          <a:effectLst/>
                          <a:latin typeface="Aptos Narrow" panose="020B0004020202020204" pitchFamily="34" charset="0"/>
                        </a:rPr>
                        <a:t>Medical Bills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a:solidFill>
                            <a:srgbClr val="000000"/>
                          </a:solidFill>
                          <a:effectLst/>
                          <a:latin typeface="Aptos Narrow" panose="020B0004020202020204" pitchFamily="34" charset="0"/>
                        </a:rPr>
                        <a:t>$25,000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60622463"/>
                  </a:ext>
                </a:extLst>
              </a:tr>
              <a:tr h="365760">
                <a:tc>
                  <a:txBody>
                    <a:bodyPr/>
                    <a:lstStyle/>
                    <a:p>
                      <a:pPr algn="l" fontAlgn="b">
                        <a:buNone/>
                      </a:pPr>
                      <a:r>
                        <a:rPr lang="en-US" sz="1400" b="0" i="0" u="none" strike="noStrike" dirty="0">
                          <a:solidFill>
                            <a:srgbClr val="000000"/>
                          </a:solidFill>
                          <a:effectLst/>
                          <a:latin typeface="Aptos Narrow" panose="020B0004020202020204" pitchFamily="34" charset="0"/>
                        </a:rPr>
                        <a:t>Healthcare out-of-pocket due to provider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a:solidFill>
                            <a:srgbClr val="000000"/>
                          </a:solidFill>
                          <a:effectLst/>
                          <a:latin typeface="Aptos Narrow" panose="020B0004020202020204" pitchFamily="34" charset="0"/>
                        </a:rPr>
                        <a:t>$4,500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944777"/>
                  </a:ext>
                </a:extLst>
              </a:tr>
              <a:tr h="617220">
                <a:tc gridSpan="2">
                  <a:txBody>
                    <a:bodyPr/>
                    <a:lstStyle/>
                    <a:p>
                      <a:pPr algn="ctr" fontAlgn="b">
                        <a:buNone/>
                      </a:pPr>
                      <a:r>
                        <a:rPr lang="en-US" sz="1400" b="0" i="0" u="none" strike="noStrike">
                          <a:solidFill>
                            <a:srgbClr val="000000"/>
                          </a:solidFill>
                          <a:effectLst/>
                          <a:latin typeface="Aptos Narrow" panose="020B0004020202020204" pitchFamily="34" charset="0"/>
                        </a:rPr>
                        <a:t>Since your out of pocket maximum has been met, the rest of your eligible charges this year will be paid at 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982997664"/>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CREDITS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12104715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6438341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74529705"/>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32235782"/>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4227942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0345252"/>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Benefit Total</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dirty="0">
                          <a:solidFill>
                            <a:srgbClr val="000000"/>
                          </a:solidFill>
                          <a:effectLst/>
                          <a:latin typeface="Aptos Narrow" panose="020B0004020202020204" pitchFamily="34" charset="0"/>
                        </a:rPr>
                        <a:t>$4,925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30504511"/>
                  </a:ext>
                </a:extLst>
              </a:tr>
              <a:tr h="182880">
                <a:tc>
                  <a:txBody>
                    <a:bodyPr/>
                    <a:lstStyle/>
                    <a:p>
                      <a:pPr algn="l" fontAlgn="b">
                        <a:buNone/>
                      </a:pPr>
                      <a:r>
                        <a:rPr lang="en-US" sz="1400" b="0" i="0" u="none" strike="noStrike" dirty="0">
                          <a:solidFill>
                            <a:srgbClr val="000000"/>
                          </a:solidFill>
                          <a:effectLst/>
                          <a:latin typeface="Aptos Narrow" panose="020B0004020202020204" pitchFamily="34" charset="0"/>
                        </a:rPr>
                        <a:t>Out of Pocket Paid to Hospital</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dirty="0">
                          <a:solidFill>
                            <a:srgbClr val="FF0000"/>
                          </a:solidFill>
                          <a:effectLst/>
                          <a:latin typeface="Aptos Narrow" panose="020B0004020202020204" pitchFamily="34" charset="0"/>
                        </a:rPr>
                        <a:t>($4,500)</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7779125"/>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Balance Paid to HGA</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1" i="0" u="none" strike="noStrike" dirty="0">
                          <a:solidFill>
                            <a:srgbClr val="000000"/>
                          </a:solidFill>
                          <a:effectLst/>
                          <a:latin typeface="Aptos Narrow" panose="020B0004020202020204" pitchFamily="34" charset="0"/>
                        </a:rPr>
                        <a:t>$425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4894644"/>
                  </a:ext>
                </a:extLst>
              </a:tr>
            </a:tbl>
          </a:graphicData>
        </a:graphic>
      </p:graphicFrame>
      <p:sp>
        <p:nvSpPr>
          <p:cNvPr id="11" name="Title 2">
            <a:extLst>
              <a:ext uri="{FF2B5EF4-FFF2-40B4-BE49-F238E27FC236}">
                <a16:creationId xmlns:a16="http://schemas.microsoft.com/office/drawing/2014/main" id="{540D5885-347A-7711-D396-2864B8FC4403}"/>
              </a:ext>
            </a:extLst>
          </p:cNvPr>
          <p:cNvSpPr txBox="1">
            <a:spLocks/>
          </p:cNvSpPr>
          <p:nvPr/>
        </p:nvSpPr>
        <p:spPr>
          <a:xfrm>
            <a:off x="117445" y="207689"/>
            <a:ext cx="11534623" cy="1082169"/>
          </a:xfrm>
          <a:prstGeom prst="rect">
            <a:avLst/>
          </a:prstGeom>
        </p:spPr>
        <p:txBody>
          <a:bodyPr vert="horz" lIns="91440" tIns="45720" rIns="91440" bIns="45720" rtlCol="0">
            <a:normAutofit fontScale="62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spcBef>
                <a:spcPts val="1000"/>
              </a:spcBef>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WOOSTER COMMUNITY HOSPITAL</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Wooster Community Hospital has 2% inpatient market share, and 2% outpatient market compared to hospitals/clinics in the Wooster Community Hospital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Wooster Community Hospital.</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convenience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3463607776"/>
              </p:ext>
            </p:extLst>
          </p:nvPr>
        </p:nvGraphicFramePr>
        <p:xfrm>
          <a:off x="609600" y="857250"/>
          <a:ext cx="7427975" cy="5354860"/>
        </p:xfrm>
        <a:graphic>
          <a:graphicData uri="http://schemas.openxmlformats.org/drawingml/2006/table">
            <a:tbl>
              <a:tblPr/>
              <a:tblGrid>
                <a:gridCol w="1485595">
                  <a:extLst>
                    <a:ext uri="{9D8B030D-6E8A-4147-A177-3AD203B41FA5}">
                      <a16:colId xmlns:a16="http://schemas.microsoft.com/office/drawing/2014/main" val="20000"/>
                    </a:ext>
                  </a:extLst>
                </a:gridCol>
                <a:gridCol w="1485595">
                  <a:extLst>
                    <a:ext uri="{9D8B030D-6E8A-4147-A177-3AD203B41FA5}">
                      <a16:colId xmlns:a16="http://schemas.microsoft.com/office/drawing/2014/main" val="20001"/>
                    </a:ext>
                  </a:extLst>
                </a:gridCol>
                <a:gridCol w="1485595">
                  <a:extLst>
                    <a:ext uri="{9D8B030D-6E8A-4147-A177-3AD203B41FA5}">
                      <a16:colId xmlns:a16="http://schemas.microsoft.com/office/drawing/2014/main" val="20002"/>
                    </a:ext>
                  </a:extLst>
                </a:gridCol>
                <a:gridCol w="1485595">
                  <a:extLst>
                    <a:ext uri="{9D8B030D-6E8A-4147-A177-3AD203B41FA5}">
                      <a16:colId xmlns:a16="http://schemas.microsoft.com/office/drawing/2014/main" val="20003"/>
                    </a:ext>
                  </a:extLst>
                </a:gridCol>
                <a:gridCol w="1485595">
                  <a:extLst>
                    <a:ext uri="{9D8B030D-6E8A-4147-A177-3AD203B41FA5}">
                      <a16:colId xmlns:a16="http://schemas.microsoft.com/office/drawing/2014/main" val="20004"/>
                    </a:ext>
                  </a:extLst>
                </a:gridCol>
              </a:tblGrid>
              <a:tr h="956785">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Wooster Community Hospital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Wooster Community Hospital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8,700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23,900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14,600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28,100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29,700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17,300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17,800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18,200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174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3,100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$ 199,676.4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$ 345,636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$ 161,409.1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$ 706,721.5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$ 17,571.52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$ 30,415.97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$ 14,204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$ 62,191.49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$ 1,727,191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$ 37,200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$ 1,764,391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$ 1,584,391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$ 6,158,301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$ 9,663,034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$ 4,512,555</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$ 20,333,890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$ 541,930.5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$ 850,347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$ 397,104.8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$ 1,789,382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2% (inpatient) and 2%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8.8%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8.8%, with a 10 percentage-point reduction to reflect competitive-edge rates and a 10 percentage-point increase due to lower billing costs and higher patient responsibility collections because of the member convenience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13</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46159</TotalTime>
  <Words>1269</Words>
  <Application>Microsoft Office PowerPoint</Application>
  <PresentationFormat>Widescreen</PresentationFormat>
  <Paragraphs>392</Paragraphs>
  <Slides>13</Slides>
  <Notes>3</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13</vt:i4>
      </vt:variant>
    </vt:vector>
  </HeadingPairs>
  <TitlesOfParts>
    <vt:vector size="20" baseType="lpstr">
      <vt:lpstr>Aptos Narrow</vt:lpstr>
      <vt:lpstr>Arial</vt:lpstr>
      <vt:lpstr>Montserrat</vt:lpstr>
      <vt:lpstr>Office Theme</vt:lpstr>
      <vt:lpstr>1_Office Theme</vt:lpstr>
      <vt:lpstr>2_Office Theme</vt:lpstr>
      <vt:lpstr>3_Office Theme</vt:lpstr>
      <vt:lpstr>PowerPoint Presentation</vt:lpstr>
      <vt:lpstr>PowerPoint Presentation</vt:lpstr>
      <vt:lpstr>Our Founding and Heritage: 46 Years of Striving for Honesty in Healthcare</vt:lpstr>
      <vt:lpstr>PowerPoint Presentation</vt:lpstr>
      <vt:lpstr>DIRECT-TO-EMPLOYER (DTE)  </vt:lpstr>
      <vt:lpstr>PLAN POTENTIAL GROWTH PATHS</vt:lpstr>
      <vt:lpstr>GROWING POWERFUL, LASTING PROFITABILITY</vt:lpstr>
      <vt:lpstr>MODEL ASSUMPTIONS AND BREAK EVEN</vt:lpstr>
      <vt:lpstr>FOUR-YEAR PROJECTIONS</vt:lpstr>
      <vt:lpstr>PowerPoint Presentation</vt:lpstr>
      <vt:lpstr>PROJECTED PLAN GROWTH</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113</cp:revision>
  <cp:lastPrinted>2023-07-13T10:24:43Z</cp:lastPrinted>
  <dcterms:created xsi:type="dcterms:W3CDTF">2021-01-20T14:12:11Z</dcterms:created>
  <dcterms:modified xsi:type="dcterms:W3CDTF">2026-01-28T23:51:44Z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