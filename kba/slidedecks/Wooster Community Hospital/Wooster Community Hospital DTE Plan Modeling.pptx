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2"/>
  </p:notesMasterIdLst>
  <p:sldIdLst>
    <p:sldId id="588" r:id="rId10"/>
    <p:sldId id="454" r:id="rId11"/>
    <p:sldId id="2145726874" r:id="rId12"/>
    <p:sldId id="2145726912" r:id="rId13"/>
    <p:sldId id="2145726869" r:id="rId14"/>
    <p:sldId id="466" r:id="rId15"/>
    <p:sldId id="2145726867" r:id="rId16"/>
    <p:sldId id="580" r:id="rId17"/>
    <p:sldId id="582" r:id="rId18"/>
    <p:sldId id="558" r:id="rId19"/>
    <p:sldId id="548" r:id="rId20"/>
    <p:sldId id="521" r:id="rId21"/>
    <p:sldId id="2145726872" r:id="rId22"/>
    <p:sldId id="2145726911" r:id="rId23"/>
    <p:sldId id="499" r:id="rId24"/>
    <p:sldId id="613" r:id="rId25"/>
    <p:sldId id="458" r:id="rId26"/>
    <p:sldId id="2145726859" r:id="rId27"/>
    <p:sldId id="2145726857" r:id="rId28"/>
    <p:sldId id="469" r:id="rId29"/>
    <p:sldId id="2145726856" r:id="rId30"/>
    <p:sldId id="614" r:id="rId31"/>
    <p:sldId id="459" r:id="rId32"/>
    <p:sldId id="2145726870" r:id="rId33"/>
    <p:sldId id="281" r:id="rId34"/>
    <p:sldId id="2145726866" r:id="rId35"/>
    <p:sldId id="583" r:id="rId36"/>
    <p:sldId id="525" r:id="rId37"/>
    <p:sldId id="2145726868" r:id="rId38"/>
    <p:sldId id="571" r:id="rId39"/>
    <p:sldId id="2145726864" r:id="rId40"/>
    <p:sldId id="585" r:id="rId41"/>
    <p:sldId id="536" r:id="rId42"/>
    <p:sldId id="256" r:id="rId43"/>
    <p:sldId id="574" r:id="rId44"/>
    <p:sldId id="572" r:id="rId45"/>
    <p:sldId id="575" r:id="rId46"/>
    <p:sldId id="498" r:id="rId47"/>
    <p:sldId id="325" r:id="rId48"/>
    <p:sldId id="326" r:id="rId49"/>
    <p:sldId id="491" r:id="rId50"/>
    <p:sldId id="472" r:id="rId51"/>
  </p:sldIdLst>
  <p:sldSz cx="12192000" cy="6858000"/>
  <p:notesSz cx="7315200" cy="96012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8CC5C2-33A9-48F6-9C36-25B7D62103C4}" v="5" dt="2026-01-28T23:49:27.35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5/10/relationships/revisionInfo" Target="revisionInfo.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notesMaster" Target="notesMasters/notesMaster1.xml"/><Relationship Id="rId60" Type="http://schemas.microsoft.com/office/2018/10/relationships/authors" Target="authors.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5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57.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1/28/2026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9</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13</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23</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24</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1/28/2026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1/28/2026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1/28/2026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1/28/2026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1/28/2026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1/28/2026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1/28/2026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1/28/2026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1/28/2026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1/28/2026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1/28/2026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1/28/2026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1/28/2026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1/28/2026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1/28/2026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1/28/2026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1/28/2026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1/28/2026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1/28/2026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1/28/2026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1/28/2026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1/28/2026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1/28/2026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1/28/2026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1/28/2026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1/28/2026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1/28/2026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1/28/2026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1/28/2026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1/28/2026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1/28/2026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1/28/2026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7.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59.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Wooster Community Hospital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7179013" y="233312"/>
            <a:ext cx="4668433" cy="585025"/>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Wooster Community Hospital</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Wooster Community Hospital service area in Ashland, Holmes, Medina, Stark, Summit, and Wayne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447K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255K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182K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127K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$10.21M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$0.73M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$59.61M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$5.28M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$120.84M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$10.86M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Wooster Community Hospital has 2% inpatient market share, and 2% outpatient market compared to hospitals/clinics in the Wooster Community Hospital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Wooster Community Hospital 11%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8.8%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13.8%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1,137.6K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1,764.4K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429.2K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1,621.6K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446.1K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1,516.9K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2,447.4K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683.0K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1,370.5K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2,319.0K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539.9K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924.2K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550686" y="3131820"/>
            <a:ext cx="4112754" cy="59436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13</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Wooster Community Hospital’s approved site(s) with network integration, and development of Wooster Community Hospital’s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361688"/>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2,862K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2,748K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5,496K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$ 14,310K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$ 13,740K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909K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$2,280K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$ 54,962K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$ 5,037K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$4,627K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$4,559K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$114,483K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$109,923K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$9,673K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$9,583K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lnSpcReduction="10000"/>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Wooster Community Hospital’s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Wooster Community Hospital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Wooster Community Hospital’s managed care with KBA’s programs positions Wooster Community Hospital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Wooster Community Hospital’s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Wooster Community Hospital’s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Wooster Community Hospital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20</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23</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24</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215900" y="5181211"/>
            <a:ext cx="54860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Wooster Community Hospital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WOOSTER COMMUNITY HOSPITAL</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WOOSTER COMMUNITY HOSPITAL</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Wooster Community Hospital</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18,498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$172,077K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3,975</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$21,671K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634</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$12,807K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746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-$7,236K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13,143</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$137,501K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Wooster Community Hospital estimates commercial insurance reimbursements at 209%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137,501K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209%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72,059K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209,560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185,554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$24,005K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209%</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65,790K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34,478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100,268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185,554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-85,286</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-85%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2%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3973020427"/>
              </p:ext>
            </p:extLst>
          </p:nvPr>
        </p:nvGraphicFramePr>
        <p:xfrm>
          <a:off x="265176" y="914399"/>
          <a:ext cx="9044195" cy="4865093"/>
        </p:xfrm>
        <a:graphic>
          <a:graphicData uri="http://schemas.openxmlformats.org/drawingml/2006/table">
            <a:tbl>
              <a:tblPr/>
              <a:tblGrid>
                <a:gridCol w="2523961">
                  <a:extLst>
                    <a:ext uri="{9D8B030D-6E8A-4147-A177-3AD203B41FA5}">
                      <a16:colId xmlns:a16="http://schemas.microsoft.com/office/drawing/2014/main" val="20000"/>
                    </a:ext>
                  </a:extLst>
                </a:gridCol>
                <a:gridCol w="1051650">
                  <a:extLst>
                    <a:ext uri="{9D8B030D-6E8A-4147-A177-3AD203B41FA5}">
                      <a16:colId xmlns:a16="http://schemas.microsoft.com/office/drawing/2014/main" val="20001"/>
                    </a:ext>
                  </a:extLst>
                </a:gridCol>
                <a:gridCol w="1261981">
                  <a:extLst>
                    <a:ext uri="{9D8B030D-6E8A-4147-A177-3AD203B41FA5}">
                      <a16:colId xmlns:a16="http://schemas.microsoft.com/office/drawing/2014/main" val="20002"/>
                    </a:ext>
                  </a:extLst>
                </a:gridCol>
                <a:gridCol w="1261981">
                  <a:extLst>
                    <a:ext uri="{9D8B030D-6E8A-4147-A177-3AD203B41FA5}">
                      <a16:colId xmlns:a16="http://schemas.microsoft.com/office/drawing/2014/main" val="20003"/>
                    </a:ext>
                  </a:extLst>
                </a:gridCol>
                <a:gridCol w="1472311">
                  <a:extLst>
                    <a:ext uri="{9D8B030D-6E8A-4147-A177-3AD203B41FA5}">
                      <a16:colId xmlns:a16="http://schemas.microsoft.com/office/drawing/2014/main" val="20004"/>
                    </a:ext>
                  </a:extLst>
                </a:gridCol>
                <a:gridCol w="1472311">
                  <a:extLst>
                    <a:ext uri="{9D8B030D-6E8A-4147-A177-3AD203B41FA5}">
                      <a16:colId xmlns:a16="http://schemas.microsoft.com/office/drawing/2014/main" val="20005"/>
                    </a:ext>
                  </a:extLst>
                </a:gridCol>
              </a:tblGrid>
              <a:tr h="1359554">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Wooster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147,288.3K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269,362.3K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6579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University Hospitals Samaritan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45,596.2K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200,729.4K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Summa Health System - Akron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558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$3,285,748.2K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$3,531,290.9K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Akron General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402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$1,484,337.5K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$2,086,373.9K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Medina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397,127.0K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455,250.1K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Pomerene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16,716.2K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72,973.4K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Akron General Lodi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24,507.2K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75,015.0K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Aultman Orrville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28,790.9K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149,454.6K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Select Specialty Hospital - Akron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275,584.5K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Summa Rehab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75,008.1K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4,275.0K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7434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Akron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985,926.9K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$1,733,389.1K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365799">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Heartland Behavioral Healthcare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020508891"/>
              </p:ext>
            </p:extLst>
          </p:nvPr>
        </p:nvGraphicFramePr>
        <p:xfrm>
          <a:off x="0" y="1"/>
          <a:ext cx="12192000" cy="6858002"/>
        </p:xfrm>
        <a:graphic>
          <a:graphicData uri="http://schemas.openxmlformats.org/drawingml/2006/table">
            <a:tbl>
              <a:tblPr/>
              <a:tblGrid>
                <a:gridCol w="7246030">
                  <a:extLst>
                    <a:ext uri="{9D8B030D-6E8A-4147-A177-3AD203B41FA5}">
                      <a16:colId xmlns:a16="http://schemas.microsoft.com/office/drawing/2014/main" val="20000"/>
                    </a:ext>
                  </a:extLst>
                </a:gridCol>
                <a:gridCol w="4945970">
                  <a:extLst>
                    <a:ext uri="{9D8B030D-6E8A-4147-A177-3AD203B41FA5}">
                      <a16:colId xmlns:a16="http://schemas.microsoft.com/office/drawing/2014/main" val="20001"/>
                    </a:ext>
                  </a:extLst>
                </a:gridCol>
              </a:tblGrid>
              <a:tr h="336734">
                <a:tc gridSpan="2">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39991">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Wooster Community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8302">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$60,830K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872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$111,247K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8302">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$21,671K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1997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$12,807K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8302">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$137,501K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8669">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$7,236K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8669">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$65,594K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872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$119,960K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997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$185,554K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8302">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$-13,575K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8616">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21.5%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8616">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997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8616">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992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71.0%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992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69420">
                <a:tc gridSpan="2">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9420">
                <a:tc gridSpan="2">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9420">
                <a:tc gridSpan="2">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69420">
                <a:tc gridSpan="2">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Wooster Community Hospital has 2% inpatient market share, and 2% outpatient market compared to hospitals/clinics in the Wooster Community Hospital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Wooster Community Hospital.</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463607776"/>
              </p:ext>
            </p:extLst>
          </p:nvPr>
        </p:nvGraphicFramePr>
        <p:xfrm>
          <a:off x="609600" y="857250"/>
          <a:ext cx="7427975" cy="5354860"/>
        </p:xfrm>
        <a:graphic>
          <a:graphicData uri="http://schemas.openxmlformats.org/drawingml/2006/table">
            <a:tbl>
              <a:tblPr/>
              <a:tblGrid>
                <a:gridCol w="1485595">
                  <a:extLst>
                    <a:ext uri="{9D8B030D-6E8A-4147-A177-3AD203B41FA5}">
                      <a16:colId xmlns:a16="http://schemas.microsoft.com/office/drawing/2014/main" val="20000"/>
                    </a:ext>
                  </a:extLst>
                </a:gridCol>
                <a:gridCol w="1485595">
                  <a:extLst>
                    <a:ext uri="{9D8B030D-6E8A-4147-A177-3AD203B41FA5}">
                      <a16:colId xmlns:a16="http://schemas.microsoft.com/office/drawing/2014/main" val="20001"/>
                    </a:ext>
                  </a:extLst>
                </a:gridCol>
                <a:gridCol w="1485595">
                  <a:extLst>
                    <a:ext uri="{9D8B030D-6E8A-4147-A177-3AD203B41FA5}">
                      <a16:colId xmlns:a16="http://schemas.microsoft.com/office/drawing/2014/main" val="20002"/>
                    </a:ext>
                  </a:extLst>
                </a:gridCol>
                <a:gridCol w="1485595">
                  <a:extLst>
                    <a:ext uri="{9D8B030D-6E8A-4147-A177-3AD203B41FA5}">
                      <a16:colId xmlns:a16="http://schemas.microsoft.com/office/drawing/2014/main" val="20003"/>
                    </a:ext>
                  </a:extLst>
                </a:gridCol>
                <a:gridCol w="1485595">
                  <a:extLst>
                    <a:ext uri="{9D8B030D-6E8A-4147-A177-3AD203B41FA5}">
                      <a16:colId xmlns:a16="http://schemas.microsoft.com/office/drawing/2014/main" val="20004"/>
                    </a:ext>
                  </a:extLst>
                </a:gridCol>
              </a:tblGrid>
              <a:tr h="956785">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Wooster Community Hospital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Wooster Community Hospital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3,100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$ 199,676.4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$ 345,636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$ 161,409.1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$ 706,721.5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$ 17,571.52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$ 30,415.97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$ 14,204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$ 62,191.49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$ 1,727,191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$ 37,200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$ 1,764,391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$ 1,584,391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$ 6,158,301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$ 9,663,034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$ 4,512,555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$ 20,333,890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$ 541,930.5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$ 850,347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$ 397,104.8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$ 1,789,382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 (inpatient) and 2%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8.8%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8.8%,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$8,890.3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$44,451.4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$8,568.2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$42,841.2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$754.0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$3,770.0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$2,787.4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$13,449.6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$67,247.8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$1,183.6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$5,917.8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$2,578.4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$12,892.1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$64,460.5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$5,672.5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$1,301.7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$1,256.2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$6,280.8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$31,404.2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$30,102.5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$2,649.0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$-82.2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$165.7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$2,148.3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$12,061.6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13141777"/>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49%+ Within-Plan Steerage and a Commercial Margin of 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$114.0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$228.0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$1,139.9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$5,699.4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$28,620.7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$143,103.5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$2,748.1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$5,496.2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$27,480.8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$137,404.1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$12,593.1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$483.7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$2,418.3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$12,091.6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$165.7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$2,148.3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$12,061.6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56099242"/>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$114.0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$228.0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$1,139.9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$5,699.4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$6,798.0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$33,990.2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$169,951.1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$6,570.1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$32,850.4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$164,251.8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$23,453.3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$4,590.3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$22,951.7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$135.0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$600.1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$4,320.3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$22,921.7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8257797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$114.0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$228.0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$1,139.9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$5,699.4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$4,643.7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$23,218.6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$116,093.0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$2,207.9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$4,415.7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$22,078.7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$110,393.7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$-245.8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$-161.6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$3,880.0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38</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09257" y="2235331"/>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Wooster Community Hospital’s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Wooster Community Hospital</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Wooster Community Hospital</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Wooster Community Hospital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Wooster Community Hospital</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Wooster Community Hospital’s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42</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46158</TotalTime>
  <Words>4942</Words>
  <Application>Microsoft Office PowerPoint</Application>
  <PresentationFormat>Widescreen</PresentationFormat>
  <Paragraphs>1226</Paragraphs>
  <Slides>42</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42</vt:i4>
      </vt:variant>
    </vt:vector>
  </HeadingPairs>
  <TitlesOfParts>
    <vt:vector size="56"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WOOSTER COMMUNITY HOSPITAL’S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2026-01-28T23:50:38Z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