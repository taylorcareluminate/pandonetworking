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1"/>
  </p:notesMasterIdLst>
  <p:sldIdLst>
    <p:sldId id="588" r:id="rId8"/>
    <p:sldId id="454" r:id="rId9"/>
    <p:sldId id="2145726874" r:id="rId10"/>
    <p:sldId id="549" r:id="rId11"/>
    <p:sldId id="559" r:id="rId12"/>
    <p:sldId id="258" r:id="rId13"/>
    <p:sldId id="2145726912" r:id="rId14"/>
    <p:sldId id="582" r:id="rId15"/>
    <p:sldId id="548" r:id="rId16"/>
    <p:sldId id="257" r:id="rId17"/>
    <p:sldId id="2145726914" r:id="rId18"/>
    <p:sldId id="2145726916" r:id="rId19"/>
    <p:sldId id="472" r:id="rId20"/>
  </p:sldIdLst>
  <p:sldSz cx="12192000" cy="6858000"/>
  <p:notesSz cx="7315200" cy="96012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441"/>
    <a:srgbClr val="244F9A"/>
    <a:srgbClr val="00539F"/>
    <a:srgbClr val="30589B"/>
    <a:srgbClr val="2F5597"/>
    <a:srgbClr val="6087CE"/>
    <a:srgbClr val="4468A5"/>
    <a:srgbClr val="F2F2F2"/>
    <a:srgbClr val="C55A11"/>
    <a:srgbClr val="F42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98" d="100"/>
          <a:sy n="98" d="100"/>
        </p:scale>
        <p:origin x="16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1655837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822351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925769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812" r:id="rId12"/>
    <p:sldLayoutId id="2147483813" r:id="rId13"/>
    <p:sldLayoutId id="2147483814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svg"/><Relationship Id="rId11" Type="http://schemas.openxmlformats.org/officeDocument/2006/relationships/image" Target="../media/image10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Boston Medical Center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40670" y="3693371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-625370" y="1915334"/>
            <a:ext cx="6096000" cy="48768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-129208" y="1349633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         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9,000+ Employers           2.2M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4.1M+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40163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4,523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2,242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1,266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379,800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562,100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1,086,000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610,600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683,600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1,011,800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1,184,400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1,954,800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2" y="563662"/>
            <a:ext cx="5757268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Two Possible Plan Designs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92" y="1411090"/>
            <a:ext cx="1086901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Medical Center lacks sufficient standalone network access in the Boston market to support an independent Direct-to-Employer plan. Strategic partnerships with other health systems are essential to ensure adequate geographic coverage and provider availability for employers and their employees.</a:t>
            </a:r>
            <a:endParaRPr lang="en-US" sz="1292" dirty="0"/>
          </a:p>
        </p:txBody>
      </p:sp>
      <p:sp>
        <p:nvSpPr>
          <p:cNvPr id="4" name="Shape 2"/>
          <p:cNvSpPr/>
          <p:nvPr/>
        </p:nvSpPr>
        <p:spPr>
          <a:xfrm>
            <a:off x="661492" y="2390974"/>
            <a:ext cx="5351859" cy="3903266"/>
          </a:xfrm>
          <a:prstGeom prst="roundRect">
            <a:avLst>
              <a:gd name="adj" fmla="val 1780"/>
            </a:avLst>
          </a:prstGeom>
          <a:solidFill>
            <a:srgbClr val="024693"/>
          </a:solidFill>
          <a:ln w="7620">
            <a:solidFill>
              <a:srgbClr val="1B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140" y="2562622"/>
            <a:ext cx="48622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Option 1: Partner with Mass General Brigham</a:t>
            </a:r>
            <a:endParaRPr lang="en-US" sz="1625" dirty="0"/>
          </a:p>
        </p:txBody>
      </p:sp>
      <p:sp>
        <p:nvSpPr>
          <p:cNvPr id="6" name="Text 4"/>
          <p:cNvSpPr/>
          <p:nvPr/>
        </p:nvSpPr>
        <p:spPr>
          <a:xfrm>
            <a:off x="833140" y="2920306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 Network &amp; More Plan Growth</a:t>
            </a:r>
            <a:endParaRPr lang="en-US" sz="1292" dirty="0"/>
          </a:p>
        </p:txBody>
      </p:sp>
      <p:sp>
        <p:nvSpPr>
          <p:cNvPr id="7" name="Text 5"/>
          <p:cNvSpPr/>
          <p:nvPr/>
        </p:nvSpPr>
        <p:spPr>
          <a:xfrm>
            <a:off x="833140" y="3284141"/>
            <a:ext cx="500856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General Brigham commands the strongest brand recognition in Boston for both access and quality. This partnership leverages their extensive footprint to maximize plan enrollment and employer appeal.</a:t>
            </a:r>
            <a:endParaRPr lang="en-US" sz="1292" dirty="0"/>
          </a:p>
        </p:txBody>
      </p:sp>
      <p:sp>
        <p:nvSpPr>
          <p:cNvPr id="8" name="Text 6"/>
          <p:cNvSpPr/>
          <p:nvPr/>
        </p:nvSpPr>
        <p:spPr>
          <a:xfrm>
            <a:off x="833140" y="4441825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Commercial Care Steerage</a:t>
            </a:r>
            <a:endParaRPr lang="en-US" sz="1292" dirty="0"/>
          </a:p>
        </p:txBody>
      </p:sp>
      <p:sp>
        <p:nvSpPr>
          <p:cNvPr id="9" name="Text 7"/>
          <p:cNvSpPr/>
          <p:nvPr/>
        </p:nvSpPr>
        <p:spPr>
          <a:xfrm>
            <a:off x="833140" y="4805660"/>
            <a:ext cx="500856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Mass General Brigham's dominant market share, Boston Medical Center would experience minimal disruption to existing commercial patient volumes, maintaining more predictable revenue streams.</a:t>
            </a:r>
            <a:endParaRPr lang="en-US" sz="1292" dirty="0"/>
          </a:p>
        </p:txBody>
      </p:sp>
      <p:sp>
        <p:nvSpPr>
          <p:cNvPr id="10" name="Shape 8"/>
          <p:cNvSpPr/>
          <p:nvPr/>
        </p:nvSpPr>
        <p:spPr>
          <a:xfrm>
            <a:off x="6178650" y="2390974"/>
            <a:ext cx="5351859" cy="3903266"/>
          </a:xfrm>
          <a:prstGeom prst="roundRect">
            <a:avLst>
              <a:gd name="adj" fmla="val 1780"/>
            </a:avLst>
          </a:prstGeom>
          <a:solidFill>
            <a:srgbClr val="755441"/>
          </a:solidFill>
          <a:ln w="7620">
            <a:solidFill>
              <a:srgbClr val="8E6D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0298" y="2562622"/>
            <a:ext cx="500856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625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Option 2: Partner with Beth Israel Lahey, UMass &amp; Tufts</a:t>
            </a:r>
            <a:endParaRPr lang="en-US" sz="1625" dirty="0"/>
          </a:p>
        </p:txBody>
      </p:sp>
      <p:sp>
        <p:nvSpPr>
          <p:cNvPr id="12" name="Text 10"/>
          <p:cNvSpPr/>
          <p:nvPr/>
        </p:nvSpPr>
        <p:spPr>
          <a:xfrm>
            <a:off x="6350298" y="3178770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Plan Growth</a:t>
            </a:r>
            <a:endParaRPr lang="en-US" sz="1292" dirty="0"/>
          </a:p>
        </p:txBody>
      </p:sp>
      <p:sp>
        <p:nvSpPr>
          <p:cNvPr id="13" name="Text 11"/>
          <p:cNvSpPr/>
          <p:nvPr/>
        </p:nvSpPr>
        <p:spPr>
          <a:xfrm>
            <a:off x="6350298" y="3542606"/>
            <a:ext cx="500856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Mass General Brigham's market presence, plan adoption among employers will likely grow at a slower pace, requiring more intensive marketing and outreach efforts to achieve enrollment targets.</a:t>
            </a:r>
            <a:endParaRPr lang="en-US" sz="1292" dirty="0"/>
          </a:p>
        </p:txBody>
      </p:sp>
      <p:sp>
        <p:nvSpPr>
          <p:cNvPr id="14" name="Text 12"/>
          <p:cNvSpPr/>
          <p:nvPr/>
        </p:nvSpPr>
        <p:spPr>
          <a:xfrm>
            <a:off x="6350298" y="4700290"/>
            <a:ext cx="5008563" cy="264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Commercial Care Steerage</a:t>
            </a:r>
            <a:endParaRPr lang="en-US" sz="1292" dirty="0"/>
          </a:p>
        </p:txBody>
      </p:sp>
      <p:sp>
        <p:nvSpPr>
          <p:cNvPr id="15" name="Text 13"/>
          <p:cNvSpPr/>
          <p:nvPr/>
        </p:nvSpPr>
        <p:spPr>
          <a:xfrm>
            <a:off x="6350298" y="5064125"/>
            <a:ext cx="500856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29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Boston Medical Center would capture significantly higher steerage of commercial patients within this smaller network configuration, potentially increasing revenue per member but serving fewer total covered lives.</a:t>
            </a:r>
            <a:endParaRPr lang="en-US" sz="1292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DC9DB5F-7187-F07A-76D6-26AB295AE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71" y="6509872"/>
            <a:ext cx="4115157" cy="371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517327"/>
            <a:ext cx="3721298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>
                <a:solidFill>
                  <a:srgbClr val="000B2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 Design #1</a:t>
            </a:r>
            <a:endParaRPr lang="en-US" sz="2917" dirty="0"/>
          </a:p>
        </p:txBody>
      </p:sp>
      <p:sp>
        <p:nvSpPr>
          <p:cNvPr id="4" name="Text 1"/>
          <p:cNvSpPr/>
          <p:nvPr/>
        </p:nvSpPr>
        <p:spPr>
          <a:xfrm>
            <a:off x="661492" y="1205707"/>
            <a:ext cx="6297018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291"/>
              </a:lnSpc>
            </a:pPr>
            <a:r>
              <a:rPr lang="en-US" sz="5833" b="1" dirty="0">
                <a:solidFill>
                  <a:srgbClr val="244F9A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Boston Medical Center + Mass General Brigham</a:t>
            </a:r>
            <a:endParaRPr lang="en-US" sz="5833" dirty="0">
              <a:solidFill>
                <a:srgbClr val="244F9A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2" y="5150048"/>
            <a:ext cx="629701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strategic partnership brings together two powerhouse health systems to create a Direct-to-Employer plan with exceptional market reach. By combining Boston Medical Center's community-focused care with Mass General Brigham's unparalleled brand recognition and extensive provider network, this option positions the plan for maximum growth and member satisfaction in the competitive Boston healthcare market.</a:t>
            </a:r>
            <a:endParaRPr lang="en-US" sz="11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$21.51M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$2.91M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$116.47M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$15.89M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$225.44M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$30.78M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119D68-7607-CA9D-024F-D8B81E00FC5D}"/>
              </a:ext>
            </a:extLst>
          </p:cNvPr>
          <p:cNvSpPr txBox="1"/>
          <p:nvPr/>
        </p:nvSpPr>
        <p:spPr>
          <a:xfrm>
            <a:off x="5845326" y="6306449"/>
            <a:ext cx="6346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244F9A"/>
                </a:solidFill>
              </a:rPr>
              <a:t>PLAN DESIGN #1: PARTNERSHIP WITH MASS GENERAL BRIGHAM</a:t>
            </a:r>
          </a:p>
        </p:txBody>
      </p:sp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2,290.7K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3,737.4K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5,626.2K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1,079.7K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2,266.8K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3,714.4K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5,604.3K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1,687.9K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3,415.9K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5,626.2K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8,439.3K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35.3K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1,648.7K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5,624.5K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8,449.4K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1,888.8K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2,813.1K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518.8K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1,104.7K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1,871.5K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2,799.7K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06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2413298"/>
            <a:ext cx="3721298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625"/>
              </a:lnSpc>
            </a:pPr>
            <a:r>
              <a:rPr lang="en-US" sz="2917" b="1" dirty="0">
                <a:solidFill>
                  <a:srgbClr val="75544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 Design #2</a:t>
            </a:r>
            <a:endParaRPr lang="en-US" sz="2917" dirty="0">
              <a:solidFill>
                <a:srgbClr val="75544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92" y="3101678"/>
            <a:ext cx="10869018" cy="186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7291"/>
              </a:lnSpc>
            </a:pPr>
            <a:r>
              <a:rPr lang="en-US" sz="5833" b="1" dirty="0">
                <a:solidFill>
                  <a:srgbClr val="755441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Boston Medical Center + Major Partners</a:t>
            </a:r>
            <a:endParaRPr lang="en-US" sz="5833" dirty="0">
              <a:solidFill>
                <a:srgbClr val="75544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92" y="5185469"/>
            <a:ext cx="1086901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Excluding Mass General Brigham</a:t>
            </a:r>
            <a:endParaRPr lang="en-US" sz="1167" dirty="0"/>
          </a:p>
        </p:txBody>
      </p:sp>
      <p:sp>
        <p:nvSpPr>
          <p:cNvPr id="6" name="Text 3"/>
          <p:cNvSpPr/>
          <p:nvPr/>
        </p:nvSpPr>
        <p:spPr>
          <a:xfrm>
            <a:off x="661492" y="5590977"/>
            <a:ext cx="1086901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16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alternative approach creates a collaborative network combining Boston Medical Center with Beth Israel Lahey Health, UMass Memorial Health, and Tufts Medical Center. While this partnership offers a more distributed care model across multiple respected health systems, it presents distinct tradeoffs in terms of market positioning, growth trajectory, and care steerage dynamics that require careful strategic consideration.</a:t>
            </a:r>
            <a:endParaRPr lang="en-US" sz="11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$17.88M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$2.29M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$104.91M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$14.43M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$213.28M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$29.49M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F4B9BF4-5DFA-5839-B50C-7ABDB15F7346}"/>
              </a:ext>
            </a:extLst>
          </p:cNvPr>
          <p:cNvSpPr txBox="1"/>
          <p:nvPr/>
        </p:nvSpPr>
        <p:spPr>
          <a:xfrm>
            <a:off x="5192263" y="6306449"/>
            <a:ext cx="6999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55441"/>
                </a:solidFill>
              </a:rPr>
              <a:t>PLAN DESIGN #2: PARTNERSHIP WITH BETH ISRAEL, TUFTS AND UMASS</a:t>
            </a:r>
          </a:p>
        </p:txBody>
      </p:sp>
    </p:spTree>
    <p:extLst>
      <p:ext uri="{BB962C8B-B14F-4D97-AF65-F5344CB8AC3E}">
        <p14:creationId xmlns:p14="http://schemas.microsoft.com/office/powerpoint/2010/main" val="31965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1,612.3K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3,021.9K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4,684.8K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1,456.3K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2,882.7K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4,564.8K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2,499.1K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4,444.0K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7,120.9K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897.2K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2,356.3K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7,032.1K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403.1K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806.1K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1,511.0K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2,342.4K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638.1K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1,351.4K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2,192.4K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51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13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46202</TotalTime>
  <Words>1131</Words>
  <Application>Microsoft Office PowerPoint</Application>
  <PresentationFormat>Widescreen</PresentationFormat>
  <Paragraphs>368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 Narrow</vt:lpstr>
      <vt:lpstr>Arial</vt:lpstr>
      <vt:lpstr>Inter</vt:lpstr>
      <vt:lpstr>Montserrat</vt:lpstr>
      <vt:lpstr>Montserrat Bold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SIGNIFICANT OPPORTUNITY FOR PLAN GROWTH Researched for the below highlighted service area</vt:lpstr>
      <vt:lpstr>PowerPoint Presentation</vt:lpstr>
      <vt:lpstr>PowerPoint Presentation</vt:lpstr>
      <vt:lpstr>GROWING POWERFUL, LASTING PROFITABILITY</vt:lpstr>
      <vt:lpstr>FOUR-YEAR PROJECTIONS</vt:lpstr>
      <vt:lpstr>PowerPoint Presentation</vt:lpstr>
      <vt:lpstr>GROWING POWERFUL, LASTING PROFITABILITY</vt:lpstr>
      <vt:lpstr>FOUR-YEAR PROJECTIONS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2025-12-05T00:03:20Z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