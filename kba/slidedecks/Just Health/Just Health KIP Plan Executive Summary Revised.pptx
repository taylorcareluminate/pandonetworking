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ags/tag2.xml" ContentType="application/vnd.openxmlformats-officedocument.presentationml.tags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744" r:id="rId4"/>
  </p:sldMasterIdLst>
  <p:notesMasterIdLst>
    <p:notesMasterId r:id="rId14"/>
  </p:notesMasterIdLst>
  <p:sldIdLst>
    <p:sldId id="577" r:id="rId5"/>
    <p:sldId id="454" r:id="rId6"/>
    <p:sldId id="549" r:id="rId7"/>
    <p:sldId id="586" r:id="rId8"/>
    <p:sldId id="582" r:id="rId9"/>
    <p:sldId id="581" r:id="rId10"/>
    <p:sldId id="548" r:id="rId11"/>
    <p:sldId id="499" r:id="rId12"/>
    <p:sldId id="472" r:id="rId13"/>
  </p:sldIdLst>
  <p:sldSz cx="12192000" cy="6858000"/>
  <p:notesSz cx="7315200" cy="9601200"/>
  <p:custDataLst>
    <p:tags r:id="rId15"/>
  </p:custData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Hill, Jack" initials="HJ" lastIdx="1" clrIdx="0">
    <p:extLst>
      <p:ext uri="{19B8F6BF-5375-455C-9EA6-DF929625EA0E}">
        <p15:presenceInfo xmlns:p15="http://schemas.microsoft.com/office/powerpoint/2012/main" userId="S::Jack.Hill@ahdi.com::a2532604-23e3-4156-966c-b672b0683ed2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55A11"/>
    <a:srgbClr val="F424AA"/>
    <a:srgbClr val="E23440"/>
    <a:srgbClr val="027587"/>
    <a:srgbClr val="7F7F7F"/>
    <a:srgbClr val="00467F"/>
    <a:srgbClr val="58A5DA"/>
    <a:srgbClr val="30589B"/>
    <a:srgbClr val="4468A5"/>
    <a:srgbClr val="59CAE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4C1A8A3-306A-4EB7-A6B1-4F7E0EB9C5D6}" styleName="Medium Style 3 - Accent 5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327F97BB-C833-4FB7-BDE5-3F7075034690}" styleName="Themed Style 2 - Accent 5">
    <a:tblBg>
      <a:fillRef idx="3">
        <a:schemeClr val="accent5"/>
      </a:fillRef>
      <a:effectRef idx="3">
        <a:schemeClr val="accent5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5">
                <a:tint val="50000"/>
              </a:schemeClr>
            </a:lnRef>
          </a:left>
          <a:right>
            <a:lnRef idx="1">
              <a:schemeClr val="accent5">
                <a:tint val="50000"/>
              </a:schemeClr>
            </a:lnRef>
          </a:right>
          <a:top>
            <a:lnRef idx="1">
              <a:schemeClr val="accent5">
                <a:tint val="50000"/>
              </a:schemeClr>
            </a:lnRef>
          </a:top>
          <a:bottom>
            <a:lnRef idx="1">
              <a:schemeClr val="accent5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214" autoAdjust="0"/>
    <p:restoredTop sz="88609" autoAdjust="0"/>
  </p:normalViewPr>
  <p:slideViewPr>
    <p:cSldViewPr snapToGrid="0">
      <p:cViewPr varScale="1">
        <p:scale>
          <a:sx n="95" d="100"/>
          <a:sy n="95" d="100"/>
        </p:scale>
        <p:origin x="870" y="90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commentAuthors" Target="commentAuthors.xml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tags" Target="tags/tag1.xml"/><Relationship Id="rId10" Type="http://schemas.openxmlformats.org/officeDocument/2006/relationships/slide" Target="slides/slide6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3"/>
            <a:ext cx="3169920" cy="481726"/>
          </a:xfrm>
          <a:prstGeom prst="rect">
            <a:avLst/>
          </a:prstGeom>
        </p:spPr>
        <p:txBody>
          <a:bodyPr vert="horz" lIns="95178" tIns="47590" rIns="95178" bIns="4759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143587" y="3"/>
            <a:ext cx="3169920" cy="481726"/>
          </a:xfrm>
          <a:prstGeom prst="rect">
            <a:avLst/>
          </a:prstGeom>
        </p:spPr>
        <p:txBody>
          <a:bodyPr vert="horz" lIns="95178" tIns="47590" rIns="95178" bIns="47590" rtlCol="0"/>
          <a:lstStyle>
            <a:lvl1pPr algn="r">
              <a:defRPr sz="1200"/>
            </a:lvl1pPr>
          </a:lstStyle>
          <a:p>
            <a:fld id="{7444AE22-21A2-46C1-A42F-3B4E8AE858E0}" type="datetimeFigureOut">
              <a:rPr lang="en-US" smtClean="0"/>
              <a:t>9/10/2024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779463" y="1200150"/>
            <a:ext cx="5756275" cy="32385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5178" tIns="47590" rIns="95178" bIns="4759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31520" y="4620580"/>
            <a:ext cx="5852160" cy="3780473"/>
          </a:xfrm>
          <a:prstGeom prst="rect">
            <a:avLst/>
          </a:prstGeom>
        </p:spPr>
        <p:txBody>
          <a:bodyPr vert="horz" lIns="95178" tIns="47590" rIns="95178" bIns="4759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119477"/>
            <a:ext cx="3169920" cy="481725"/>
          </a:xfrm>
          <a:prstGeom prst="rect">
            <a:avLst/>
          </a:prstGeom>
        </p:spPr>
        <p:txBody>
          <a:bodyPr vert="horz" lIns="95178" tIns="47590" rIns="95178" bIns="4759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143587" y="9119477"/>
            <a:ext cx="3169920" cy="481725"/>
          </a:xfrm>
          <a:prstGeom prst="rect">
            <a:avLst/>
          </a:prstGeom>
        </p:spPr>
        <p:txBody>
          <a:bodyPr vert="horz" lIns="95178" tIns="47590" rIns="95178" bIns="47590" rtlCol="0" anchor="b"/>
          <a:lstStyle>
            <a:lvl1pPr algn="r">
              <a:defRPr sz="1200"/>
            </a:lvl1pPr>
          </a:lstStyle>
          <a:p>
            <a:fld id="{4139CA89-B4B2-4050-B038-8DF8E3A3351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012282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6" indent="0" algn="ctr">
              <a:buNone/>
              <a:defRPr sz="2000"/>
            </a:lvl2pPr>
            <a:lvl3pPr marL="914411" indent="0" algn="ctr">
              <a:buNone/>
              <a:defRPr sz="1800"/>
            </a:lvl3pPr>
            <a:lvl4pPr marL="1371617" indent="0" algn="ctr">
              <a:buNone/>
              <a:defRPr sz="1600"/>
            </a:lvl4pPr>
            <a:lvl5pPr marL="1828823" indent="0" algn="ctr">
              <a:buNone/>
              <a:defRPr sz="1600"/>
            </a:lvl5pPr>
            <a:lvl6pPr marL="2286029" indent="0" algn="ctr">
              <a:buNone/>
              <a:defRPr sz="1600"/>
            </a:lvl6pPr>
            <a:lvl7pPr marL="2743234" indent="0" algn="ctr">
              <a:buNone/>
              <a:defRPr sz="1600"/>
            </a:lvl7pPr>
            <a:lvl8pPr marL="3200440" indent="0" algn="ctr">
              <a:buNone/>
              <a:defRPr sz="1600"/>
            </a:lvl8pPr>
            <a:lvl9pPr marL="3657646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A9E3A3-CB7F-45DB-8359-15D56BF69054}" type="datetime1">
              <a:rPr lang="en-US" smtClean="0"/>
              <a:t>9/10/2024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3C3935"/>
                </a:solidFill>
              </a:defRPr>
            </a:lvl1pPr>
          </a:lstStyle>
          <a:p>
            <a:r>
              <a:rPr lang="en-US" dirty="0"/>
              <a:t>Key Benefit Administrators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FC719D-C4A7-4544-876E-D411D11AF6C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64269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1" y="6471095"/>
            <a:ext cx="2743200" cy="250380"/>
          </a:xfrm>
        </p:spPr>
        <p:txBody>
          <a:bodyPr/>
          <a:lstStyle/>
          <a:p>
            <a:fld id="{F72A7C2C-8CBA-48FC-B47E-140B6C446377}" type="datetime1">
              <a:rPr lang="en-US" smtClean="0"/>
              <a:t>9/10/2024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2" y="6471095"/>
            <a:ext cx="4114800" cy="250380"/>
          </a:xfrm>
        </p:spPr>
        <p:txBody>
          <a:bodyPr/>
          <a:lstStyle>
            <a:lvl1pPr>
              <a:defRPr u="none" spc="300"/>
            </a:lvl1pPr>
          </a:lstStyle>
          <a:p>
            <a:r>
              <a:rPr lang="en-US" dirty="0"/>
              <a:t>Key Benefit Administrators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1" y="6471095"/>
            <a:ext cx="2743200" cy="250380"/>
          </a:xfrm>
        </p:spPr>
        <p:txBody>
          <a:bodyPr/>
          <a:lstStyle/>
          <a:p>
            <a:fld id="{3AFC719D-C4A7-4544-876E-D411D11AF6C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509438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2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2" y="4589464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6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11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17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2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2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3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4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4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FEA2DF-E8B3-4F59-892A-C88743D6614D}" type="datetime1">
              <a:rPr lang="en-US" smtClean="0"/>
              <a:t>9/10/2024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Key Benefit Administrators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FC719D-C4A7-4544-876E-D411D11AF6C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688758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1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1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F09CE-D3E6-4C73-9F86-6AA671224F8D}" type="datetime1">
              <a:rPr lang="en-US" smtClean="0"/>
              <a:t>9/10/2024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Key Benefit Administrators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FC719D-C4A7-4544-876E-D411D11AF6C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58114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9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6" indent="0">
              <a:buNone/>
              <a:defRPr sz="2000" b="1"/>
            </a:lvl2pPr>
            <a:lvl3pPr marL="914411" indent="0">
              <a:buNone/>
              <a:defRPr sz="1800" b="1"/>
            </a:lvl3pPr>
            <a:lvl4pPr marL="1371617" indent="0">
              <a:buNone/>
              <a:defRPr sz="1600" b="1"/>
            </a:lvl4pPr>
            <a:lvl5pPr marL="1828823" indent="0">
              <a:buNone/>
              <a:defRPr sz="1600" b="1"/>
            </a:lvl5pPr>
            <a:lvl6pPr marL="2286029" indent="0">
              <a:buNone/>
              <a:defRPr sz="1600" b="1"/>
            </a:lvl6pPr>
            <a:lvl7pPr marL="2743234" indent="0">
              <a:buNone/>
              <a:defRPr sz="1600" b="1"/>
            </a:lvl7pPr>
            <a:lvl8pPr marL="3200440" indent="0">
              <a:buNone/>
              <a:defRPr sz="1600" b="1"/>
            </a:lvl8pPr>
            <a:lvl9pPr marL="3657646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9" y="2505076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2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6" indent="0">
              <a:buNone/>
              <a:defRPr sz="2000" b="1"/>
            </a:lvl2pPr>
            <a:lvl3pPr marL="914411" indent="0">
              <a:buNone/>
              <a:defRPr sz="1800" b="1"/>
            </a:lvl3pPr>
            <a:lvl4pPr marL="1371617" indent="0">
              <a:buNone/>
              <a:defRPr sz="1600" b="1"/>
            </a:lvl4pPr>
            <a:lvl5pPr marL="1828823" indent="0">
              <a:buNone/>
              <a:defRPr sz="1600" b="1"/>
            </a:lvl5pPr>
            <a:lvl6pPr marL="2286029" indent="0">
              <a:buNone/>
              <a:defRPr sz="1600" b="1"/>
            </a:lvl6pPr>
            <a:lvl7pPr marL="2743234" indent="0">
              <a:buNone/>
              <a:defRPr sz="1600" b="1"/>
            </a:lvl7pPr>
            <a:lvl8pPr marL="3200440" indent="0">
              <a:buNone/>
              <a:defRPr sz="1600" b="1"/>
            </a:lvl8pPr>
            <a:lvl9pPr marL="3657646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2" y="2505076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AF486B-7A2A-4144-9105-81B5F9A702C4}" type="datetime1">
              <a:rPr lang="en-US" smtClean="0"/>
              <a:t>9/10/2024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Key Benefit Administrators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FC719D-C4A7-4544-876E-D411D11AF6C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4090408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4000" b="1" spc="150" baseline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38201" y="6480530"/>
            <a:ext cx="2743200" cy="365125"/>
          </a:xfrm>
        </p:spPr>
        <p:txBody>
          <a:bodyPr/>
          <a:lstStyle/>
          <a:p>
            <a:fld id="{13273CBB-1638-4F86-93C5-F289BAB372F8}" type="datetime1">
              <a:rPr lang="en-US" smtClean="0"/>
              <a:t>9/10/2024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038602" y="6480530"/>
            <a:ext cx="4114800" cy="365125"/>
          </a:xfrm>
        </p:spPr>
        <p:txBody>
          <a:bodyPr/>
          <a:lstStyle/>
          <a:p>
            <a:r>
              <a:rPr lang="en-US" dirty="0"/>
              <a:t>Key Benefit Administrators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542866" y="6480530"/>
            <a:ext cx="2743200" cy="365125"/>
          </a:xfrm>
        </p:spPr>
        <p:txBody>
          <a:bodyPr/>
          <a:lstStyle/>
          <a:p>
            <a:fld id="{3AFC719D-C4A7-4544-876E-D411D11AF6C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058042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1223EA-AE71-4F47-9CA1-AC76DEC2B9E8}" type="datetime1">
              <a:rPr lang="en-US" smtClean="0"/>
              <a:t>9/10/2024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Key Benefit Administrators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FC719D-C4A7-4544-876E-D411D11AF6C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104691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90" y="457200"/>
            <a:ext cx="3932236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1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90" y="2057400"/>
            <a:ext cx="3932236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6" indent="0">
              <a:buNone/>
              <a:defRPr sz="1400"/>
            </a:lvl2pPr>
            <a:lvl3pPr marL="914411" indent="0">
              <a:buNone/>
              <a:defRPr sz="1200"/>
            </a:lvl3pPr>
            <a:lvl4pPr marL="1371617" indent="0">
              <a:buNone/>
              <a:defRPr sz="1000"/>
            </a:lvl4pPr>
            <a:lvl5pPr marL="1828823" indent="0">
              <a:buNone/>
              <a:defRPr sz="1000"/>
            </a:lvl5pPr>
            <a:lvl6pPr marL="2286029" indent="0">
              <a:buNone/>
              <a:defRPr sz="1000"/>
            </a:lvl6pPr>
            <a:lvl7pPr marL="2743234" indent="0">
              <a:buNone/>
              <a:defRPr sz="1000"/>
            </a:lvl7pPr>
            <a:lvl8pPr marL="3200440" indent="0">
              <a:buNone/>
              <a:defRPr sz="1000"/>
            </a:lvl8pPr>
            <a:lvl9pPr marL="3657646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B31445-0B45-4F5C-971D-F971BB7E35C1}" type="datetime1">
              <a:rPr lang="en-US" smtClean="0"/>
              <a:t>9/10/2024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Key Benefit Administrators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FC719D-C4A7-4544-876E-D411D11AF6C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8445348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90" y="457200"/>
            <a:ext cx="3932236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1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6" indent="0">
              <a:buNone/>
              <a:defRPr sz="2800"/>
            </a:lvl2pPr>
            <a:lvl3pPr marL="914411" indent="0">
              <a:buNone/>
              <a:defRPr sz="2400"/>
            </a:lvl3pPr>
            <a:lvl4pPr marL="1371617" indent="0">
              <a:buNone/>
              <a:defRPr sz="2000"/>
            </a:lvl4pPr>
            <a:lvl5pPr marL="1828823" indent="0">
              <a:buNone/>
              <a:defRPr sz="2000"/>
            </a:lvl5pPr>
            <a:lvl6pPr marL="2286029" indent="0">
              <a:buNone/>
              <a:defRPr sz="2000"/>
            </a:lvl6pPr>
            <a:lvl7pPr marL="2743234" indent="0">
              <a:buNone/>
              <a:defRPr sz="2000"/>
            </a:lvl7pPr>
            <a:lvl8pPr marL="3200440" indent="0">
              <a:buNone/>
              <a:defRPr sz="2000"/>
            </a:lvl8pPr>
            <a:lvl9pPr marL="3657646" indent="0">
              <a:buNone/>
              <a:defRPr sz="20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90" y="2057400"/>
            <a:ext cx="3932236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6" indent="0">
              <a:buNone/>
              <a:defRPr sz="1400"/>
            </a:lvl2pPr>
            <a:lvl3pPr marL="914411" indent="0">
              <a:buNone/>
              <a:defRPr sz="1200"/>
            </a:lvl3pPr>
            <a:lvl4pPr marL="1371617" indent="0">
              <a:buNone/>
              <a:defRPr sz="1000"/>
            </a:lvl4pPr>
            <a:lvl5pPr marL="1828823" indent="0">
              <a:buNone/>
              <a:defRPr sz="1000"/>
            </a:lvl5pPr>
            <a:lvl6pPr marL="2286029" indent="0">
              <a:buNone/>
              <a:defRPr sz="1000"/>
            </a:lvl6pPr>
            <a:lvl7pPr marL="2743234" indent="0">
              <a:buNone/>
              <a:defRPr sz="1000"/>
            </a:lvl7pPr>
            <a:lvl8pPr marL="3200440" indent="0">
              <a:buNone/>
              <a:defRPr sz="1000"/>
            </a:lvl8pPr>
            <a:lvl9pPr marL="3657646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E79F89-B9FD-40DA-A4A8-5549A4F97D5C}" type="datetime1">
              <a:rPr lang="en-US" smtClean="0"/>
              <a:t>9/10/2024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Key Benefit Administrators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FC719D-C4A7-4544-876E-D411D11AF6C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04758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CDCB60-C599-4AF2-9C31-DCD390D25F3F}" type="datetime1">
              <a:rPr lang="en-US" smtClean="0"/>
              <a:t>9/10/2024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Key Benefit Administrators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FC719D-C4A7-4544-876E-D411D11AF6C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522362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899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199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87DF3D-F650-432E-A6F6-439A0FF53FA0}" type="datetime1">
              <a:rPr lang="en-US" smtClean="0"/>
              <a:t>9/10/2024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Key Benefit Administrators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FC719D-C4A7-4544-876E-D411D11AF6C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998819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ags" Target="../tags/tag2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2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2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1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CD48873-4569-48AE-9711-BF92EE297A77}" type="datetime1">
              <a:rPr lang="en-US" smtClean="0"/>
              <a:t>9/10/2024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2" y="6356351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spc="3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Key Benefit Administrators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1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AFC719D-C4A7-4544-876E-D411D11AF6C9}" type="slidenum">
              <a:rPr lang="en-US" smtClean="0"/>
              <a:t>‹#›</a:t>
            </a:fld>
            <a:endParaRPr lang="en-US" dirty="0"/>
          </a:p>
        </p:txBody>
      </p:sp>
    </p:spTree>
    <p:custDataLst>
      <p:tags r:id="rId13"/>
    </p:custDataLst>
    <p:extLst>
      <p:ext uri="{BB962C8B-B14F-4D97-AF65-F5344CB8AC3E}">
        <p14:creationId xmlns:p14="http://schemas.microsoft.com/office/powerpoint/2010/main" val="30190705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5" r:id="rId1"/>
    <p:sldLayoutId id="2147483746" r:id="rId2"/>
    <p:sldLayoutId id="2147483747" r:id="rId3"/>
    <p:sldLayoutId id="2147483748" r:id="rId4"/>
    <p:sldLayoutId id="2147483749" r:id="rId5"/>
    <p:sldLayoutId id="2147483750" r:id="rId6"/>
    <p:sldLayoutId id="2147483751" r:id="rId7"/>
    <p:sldLayoutId id="2147483752" r:id="rId8"/>
    <p:sldLayoutId id="2147483753" r:id="rId9"/>
    <p:sldLayoutId id="2147483754" r:id="rId10"/>
    <p:sldLayoutId id="2147483755" r:id="rId11"/>
  </p:sldLayoutIdLst>
  <p:hf hdr="0" dt="0"/>
  <p:txStyles>
    <p:titleStyle>
      <a:lvl1pPr algn="l" defTabSz="914411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3" indent="-228603" algn="l" defTabSz="914411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8" indent="-228603" algn="l" defTabSz="91441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14" indent="-228603" algn="l" defTabSz="91441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20" indent="-228603" algn="l" defTabSz="91441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26" indent="-228603" algn="l" defTabSz="91441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32" indent="-228603" algn="l" defTabSz="91441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37" indent="-228603" algn="l" defTabSz="91441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43" indent="-228603" algn="l" defTabSz="91441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48" indent="-228603" algn="l" defTabSz="91441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1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6" algn="l" defTabSz="91441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11" algn="l" defTabSz="91441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17" algn="l" defTabSz="91441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23" algn="l" defTabSz="91441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29" algn="l" defTabSz="91441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34" algn="l" defTabSz="91441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40" algn="l" defTabSz="91441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46" algn="l" defTabSz="91441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svg"/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7.svg"/><Relationship Id="rId11" Type="http://schemas.openxmlformats.org/officeDocument/2006/relationships/image" Target="../media/image6.png"/><Relationship Id="rId5" Type="http://schemas.openxmlformats.org/officeDocument/2006/relationships/image" Target="../media/image16.png"/><Relationship Id="rId10" Type="http://schemas.openxmlformats.org/officeDocument/2006/relationships/image" Target="../media/image21.svg"/><Relationship Id="rId4" Type="http://schemas.openxmlformats.org/officeDocument/2006/relationships/image" Target="../media/image15.svg"/><Relationship Id="rId9" Type="http://schemas.openxmlformats.org/officeDocument/2006/relationships/image" Target="../media/image2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2DDCACF-3B2C-45F6-88BB-41D64A301D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Key Benefit Administrators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345DC2E-CAD1-4A3B-BB6C-627FC995DD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FC719D-C4A7-4544-876E-D411D11AF6C9}" type="slidenum">
              <a:rPr lang="en-US" smtClean="0"/>
              <a:t>1</a:t>
            </a:fld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B2B5697-E648-40EC-88C5-97A77999C18D}"/>
              </a:ext>
            </a:extLst>
          </p:cNvPr>
          <p:cNvSpPr/>
          <p:nvPr/>
        </p:nvSpPr>
        <p:spPr>
          <a:xfrm>
            <a:off x="0" y="0"/>
            <a:ext cx="981075" cy="6858000"/>
          </a:xfrm>
          <a:prstGeom prst="rect">
            <a:avLst/>
          </a:prstGeom>
          <a:solidFill>
            <a:srgbClr val="254F96">
              <a:alpha val="9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981BBA2-A3ED-6F7B-693B-880E5B031B26}"/>
              </a:ext>
            </a:extLst>
          </p:cNvPr>
          <p:cNvSpPr txBox="1"/>
          <p:nvPr/>
        </p:nvSpPr>
        <p:spPr>
          <a:xfrm>
            <a:off x="896984" y="0"/>
            <a:ext cx="11295016" cy="707886"/>
          </a:xfrm>
          <a:prstGeom prst="rect">
            <a:avLst/>
          </a:prstGeom>
          <a:solidFill>
            <a:srgbClr val="30589B"/>
          </a:solidFill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chemeClr val="bg1"/>
                </a:solidFill>
              </a:rPr>
              <a:t>DIRECT-TO-EMPLOYER PLAN </a:t>
            </a:r>
          </a:p>
          <a:p>
            <a:r>
              <a:rPr lang="en-US" sz="2000" b="1" dirty="0">
                <a:solidFill>
                  <a:schemeClr val="bg1"/>
                </a:solidFill>
              </a:rPr>
              <a:t>September 11, 2024</a:t>
            </a:r>
          </a:p>
        </p:txBody>
      </p:sp>
      <p:pic>
        <p:nvPicPr>
          <p:cNvPr id="6" name="Picture 5" descr="A close-up of a logo&#10;&#10;Description automatically generated with medium confidence">
            <a:extLst>
              <a:ext uri="{FF2B5EF4-FFF2-40B4-BE49-F238E27FC236}">
                <a16:creationId xmlns:a16="http://schemas.microsoft.com/office/drawing/2014/main" id="{F66A7945-0E55-35D5-B6B3-1588521B85C3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16318" y="735756"/>
            <a:ext cx="1493520" cy="818092"/>
          </a:xfrm>
          <a:prstGeom prst="rect">
            <a:avLst/>
          </a:prstGeom>
        </p:spPr>
      </p:pic>
      <p:pic>
        <p:nvPicPr>
          <p:cNvPr id="1026" name="Picture 2">
            <a:extLst>
              <a:ext uri="{FF2B5EF4-FFF2-40B4-BE49-F238E27FC236}">
                <a16:creationId xmlns:a16="http://schemas.microsoft.com/office/drawing/2014/main" id="{A8BF4670-4F3C-F2CA-4FB8-36B431830A8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437" b="22647"/>
          <a:stretch/>
        </p:blipFill>
        <p:spPr bwMode="auto">
          <a:xfrm>
            <a:off x="981075" y="1904135"/>
            <a:ext cx="11210925" cy="49538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EF21D31F-A4FE-48B7-B80D-F205765D6D4A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8153402" y="435520"/>
            <a:ext cx="4004259" cy="17409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67270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BB5D2E5F-7796-4A80-A1F0-244E8AA938D3}"/>
              </a:ext>
            </a:extLst>
          </p:cNvPr>
          <p:cNvSpPr/>
          <p:nvPr/>
        </p:nvSpPr>
        <p:spPr>
          <a:xfrm>
            <a:off x="0" y="0"/>
            <a:ext cx="3095625" cy="6845654"/>
          </a:xfrm>
          <a:prstGeom prst="rect">
            <a:avLst/>
          </a:prstGeom>
          <a:gradFill flip="none" rotWithShape="1">
            <a:gsLst>
              <a:gs pos="0">
                <a:srgbClr val="C6C5C5"/>
              </a:gs>
              <a:gs pos="68000">
                <a:srgbClr val="B7B6B6"/>
              </a:gs>
              <a:gs pos="43000">
                <a:srgbClr val="A8A7A7"/>
              </a:gs>
              <a:gs pos="93000">
                <a:srgbClr val="A8A7A7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7172" name="Picture 4" descr="Key Benefit Administrators Office Photos | Glassdoor">
            <a:extLst>
              <a:ext uri="{FF2B5EF4-FFF2-40B4-BE49-F238E27FC236}">
                <a16:creationId xmlns:a16="http://schemas.microsoft.com/office/drawing/2014/main" id="{6CEA05B0-D867-49BD-BC20-745975B6F4C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 cstate="screen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2828926" y="0"/>
            <a:ext cx="9363075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F9E7BDA1-C2F0-47FC-8E35-E6C155FA11C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0800000">
            <a:off x="0" y="-4227"/>
            <a:ext cx="3000375" cy="1000125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9B0828E-DA28-4FBB-9235-C683F78A95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FC719D-C4A7-4544-876E-D411D11AF6C9}" type="slidenum">
              <a:rPr lang="en-US" smtClean="0"/>
              <a:t>2</a:t>
            </a:fld>
            <a:endParaRPr lang="en-US" dirty="0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88F9B5E8-D3C0-4885-9F6B-379525D51687}"/>
              </a:ext>
            </a:extLst>
          </p:cNvPr>
          <p:cNvSpPr/>
          <p:nvPr/>
        </p:nvSpPr>
        <p:spPr>
          <a:xfrm>
            <a:off x="-3796" y="1415180"/>
            <a:ext cx="7385671" cy="5439997"/>
          </a:xfrm>
          <a:prstGeom prst="rect">
            <a:avLst/>
          </a:prstGeom>
          <a:gradFill flip="none" rotWithShape="1">
            <a:gsLst>
              <a:gs pos="0">
                <a:srgbClr val="C6C5C5"/>
              </a:gs>
              <a:gs pos="68000">
                <a:srgbClr val="B7B6B6"/>
              </a:gs>
              <a:gs pos="43000">
                <a:srgbClr val="A8A7A7"/>
              </a:gs>
              <a:gs pos="93000">
                <a:srgbClr val="A8A7A7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Rectangle: Single Corner Rounded 4">
            <a:extLst>
              <a:ext uri="{FF2B5EF4-FFF2-40B4-BE49-F238E27FC236}">
                <a16:creationId xmlns:a16="http://schemas.microsoft.com/office/drawing/2014/main" id="{AD1D7B3D-91CE-4826-90BB-5F92F8BB9481}"/>
              </a:ext>
            </a:extLst>
          </p:cNvPr>
          <p:cNvSpPr/>
          <p:nvPr/>
        </p:nvSpPr>
        <p:spPr>
          <a:xfrm>
            <a:off x="0" y="1009650"/>
            <a:ext cx="7477760" cy="5845528"/>
          </a:xfrm>
          <a:prstGeom prst="round1Rect">
            <a:avLst>
              <a:gd name="adj" fmla="val 12082"/>
            </a:avLst>
          </a:prstGeom>
          <a:solidFill>
            <a:srgbClr val="254F96">
              <a:alpha val="9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Ins="274320" rtlCol="0" anchor="ctr"/>
          <a:lstStyle/>
          <a:p>
            <a:pPr marL="457206" lvl="1" defTabSz="914411" fontAlgn="base">
              <a:defRPr/>
            </a:pPr>
            <a:endParaRPr lang="en-US" dirty="0">
              <a:solidFill>
                <a:prstClr val="white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D616A404-B324-4680-9ED6-0746BB2B3A16}"/>
              </a:ext>
            </a:extLst>
          </p:cNvPr>
          <p:cNvSpPr/>
          <p:nvPr/>
        </p:nvSpPr>
        <p:spPr>
          <a:xfrm rot="16200000">
            <a:off x="5385400" y="4759020"/>
            <a:ext cx="1873602" cy="2318710"/>
          </a:xfrm>
          <a:custGeom>
            <a:avLst/>
            <a:gdLst>
              <a:gd name="connsiteX0" fmla="*/ 2160577 w 2160577"/>
              <a:gd name="connsiteY0" fmla="*/ 3114245 h 3114245"/>
              <a:gd name="connsiteX1" fmla="*/ 0 w 2160577"/>
              <a:gd name="connsiteY1" fmla="*/ 3114245 h 3114245"/>
              <a:gd name="connsiteX2" fmla="*/ 0 w 2160577"/>
              <a:gd name="connsiteY2" fmla="*/ 0 h 3114245"/>
              <a:gd name="connsiteX3" fmla="*/ 40185 w 2160577"/>
              <a:gd name="connsiteY3" fmla="*/ 231682 h 3114245"/>
              <a:gd name="connsiteX4" fmla="*/ 2101086 w 2160577"/>
              <a:gd name="connsiteY4" fmla="*/ 3114244 h 3114245"/>
              <a:gd name="connsiteX5" fmla="*/ 2158168 w 2160577"/>
              <a:gd name="connsiteY5" fmla="*/ 3108162 h 31142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160577" h="3114245">
                <a:moveTo>
                  <a:pt x="2160577" y="3114245"/>
                </a:moveTo>
                <a:lnTo>
                  <a:pt x="0" y="3114245"/>
                </a:lnTo>
                <a:lnTo>
                  <a:pt x="0" y="0"/>
                </a:lnTo>
                <a:lnTo>
                  <a:pt x="40185" y="231682"/>
                </a:lnTo>
                <a:cubicBezTo>
                  <a:pt x="379730" y="1925643"/>
                  <a:pt x="1174627" y="3114244"/>
                  <a:pt x="2101086" y="3114244"/>
                </a:cubicBezTo>
                <a:lnTo>
                  <a:pt x="2158168" y="3108162"/>
                </a:lnTo>
                <a:close/>
              </a:path>
            </a:pathLst>
          </a:custGeom>
          <a:solidFill>
            <a:srgbClr val="59CAE8">
              <a:alpha val="56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defTabSz="914411">
              <a:defRPr/>
            </a:pPr>
            <a:endParaRPr lang="en-US" dirty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009B747-65C4-4EA6-8340-1E1EB3FE580D}"/>
              </a:ext>
            </a:extLst>
          </p:cNvPr>
          <p:cNvSpPr txBox="1"/>
          <p:nvPr/>
        </p:nvSpPr>
        <p:spPr>
          <a:xfrm>
            <a:off x="452402" y="2374741"/>
            <a:ext cx="6650809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3" indent="-285753" defTabSz="914411" fontAlgn="base">
              <a:spcAft>
                <a:spcPts val="600"/>
              </a:spcAft>
              <a:buFont typeface="Wingdings" panose="05000000000000000000" pitchFamily="2" charset="2"/>
              <a:buChar char="§"/>
              <a:defRPr/>
            </a:pPr>
            <a:r>
              <a:rPr lang="en-US" sz="1600" spc="150" dirty="0">
                <a:solidFill>
                  <a:prstClr val="whit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Founded in 1979 and headquartered in Indianapolis, IN​</a:t>
            </a:r>
          </a:p>
          <a:p>
            <a:pPr marL="285753" indent="-285753" defTabSz="914411" fontAlgn="base">
              <a:spcAft>
                <a:spcPts val="600"/>
              </a:spcAft>
              <a:buFont typeface="Wingdings" panose="05000000000000000000" pitchFamily="2" charset="2"/>
              <a:buChar char="§"/>
              <a:defRPr/>
            </a:pPr>
            <a:r>
              <a:rPr lang="en-US" sz="1600" spc="150" dirty="0">
                <a:solidFill>
                  <a:prstClr val="whit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Full-service TPA specializing in the administration of self-funded health plans and population health management​</a:t>
            </a:r>
          </a:p>
          <a:p>
            <a:pPr marL="285753" indent="-285753" defTabSz="914411" fontAlgn="base">
              <a:spcAft>
                <a:spcPts val="600"/>
              </a:spcAft>
              <a:buFont typeface="Wingdings" panose="05000000000000000000" pitchFamily="2" charset="2"/>
              <a:buChar char="§"/>
              <a:defRPr/>
            </a:pPr>
            <a:r>
              <a:rPr lang="en-US" sz="1600" spc="150" dirty="0">
                <a:solidFill>
                  <a:prstClr val="whit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One of the country’s largest independently-owned TPAs </a:t>
            </a:r>
          </a:p>
          <a:p>
            <a:pPr marL="285753" indent="-285753" defTabSz="914411" fontAlgn="base">
              <a:spcAft>
                <a:spcPts val="600"/>
              </a:spcAft>
              <a:buFont typeface="Wingdings" panose="05000000000000000000" pitchFamily="2" charset="2"/>
              <a:buChar char="§"/>
              <a:defRPr/>
            </a:pPr>
            <a:r>
              <a:rPr lang="en-US" sz="1600" spc="150" dirty="0">
                <a:solidFill>
                  <a:prstClr val="whit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Key Family is a commonly-held group of benefits related organizations with:​</a:t>
            </a:r>
          </a:p>
          <a:p>
            <a:pPr marL="742960" lvl="1" indent="-285753" defTabSz="914411" fontAlgn="base">
              <a:spcAft>
                <a:spcPts val="600"/>
              </a:spcAft>
              <a:buFont typeface="Wingdings" panose="05000000000000000000" pitchFamily="2" charset="2"/>
              <a:buChar char="§"/>
              <a:defRPr/>
            </a:pPr>
            <a:r>
              <a:rPr lang="en-US" sz="1600" spc="150" dirty="0">
                <a:solidFill>
                  <a:prstClr val="whit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3,000+ corporate clients​</a:t>
            </a:r>
          </a:p>
          <a:p>
            <a:pPr marL="742960" lvl="1" indent="-285753" defTabSz="914411" fontAlgn="base">
              <a:spcAft>
                <a:spcPts val="600"/>
              </a:spcAft>
              <a:buFont typeface="Wingdings" panose="05000000000000000000" pitchFamily="2" charset="2"/>
              <a:buChar char="§"/>
              <a:defRPr/>
            </a:pPr>
            <a:r>
              <a:rPr lang="en-US" sz="1600" spc="150" dirty="0">
                <a:solidFill>
                  <a:prstClr val="whit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3.0 million members under management​</a:t>
            </a:r>
          </a:p>
          <a:p>
            <a:pPr marL="742960" lvl="1" indent="-285753" defTabSz="914411" fontAlgn="base">
              <a:spcAft>
                <a:spcPts val="600"/>
              </a:spcAft>
              <a:buFont typeface="Wingdings" panose="05000000000000000000" pitchFamily="2" charset="2"/>
              <a:buChar char="§"/>
              <a:defRPr/>
            </a:pPr>
            <a:r>
              <a:rPr lang="en-US" sz="1600" spc="150" dirty="0">
                <a:solidFill>
                  <a:prstClr val="whit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700 Employees</a:t>
            </a:r>
          </a:p>
          <a:p>
            <a:pPr marL="285753" indent="-285753" defTabSz="914411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US" sz="1600" spc="15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Exclusive Relationships</a:t>
            </a:r>
          </a:p>
          <a:p>
            <a:pPr marL="285753" indent="-285753" defTabSz="914411"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US" sz="1600" spc="15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We know The Market – Agents, Networks, and MGAs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FB33B55-1AEB-4BBC-9F3F-C887F0C42E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307458" y="6360415"/>
            <a:ext cx="4114800" cy="365125"/>
          </a:xfrm>
        </p:spPr>
        <p:txBody>
          <a:bodyPr/>
          <a:lstStyle/>
          <a:p>
            <a:r>
              <a:rPr lang="en-US" dirty="0"/>
              <a:t>Key Benefit Administrators</a:t>
            </a:r>
          </a:p>
        </p:txBody>
      </p:sp>
      <p:pic>
        <p:nvPicPr>
          <p:cNvPr id="9220" name="Picture 4">
            <a:extLst>
              <a:ext uri="{FF2B5EF4-FFF2-40B4-BE49-F238E27FC236}">
                <a16:creationId xmlns:a16="http://schemas.microsoft.com/office/drawing/2014/main" id="{BA081F8A-34EF-4672-9370-DBC0CA8BE7A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52402" y="1312679"/>
            <a:ext cx="3951647" cy="7677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701316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>
            <a:extLst>
              <a:ext uri="{FF2B5EF4-FFF2-40B4-BE49-F238E27FC236}">
                <a16:creationId xmlns:a16="http://schemas.microsoft.com/office/drawing/2014/main" id="{E4D4BA5E-072E-BFC4-86A7-A8EC0FA16D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3975" y="1574349"/>
            <a:ext cx="7705725" cy="4657725"/>
          </a:xfrm>
          <a:prstGeom prst="rect">
            <a:avLst/>
          </a:prstGeo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26CABA5-B853-4CE2-9D0B-B062457265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96376" y="6471095"/>
            <a:ext cx="4114800" cy="250380"/>
          </a:xfrm>
        </p:spPr>
        <p:txBody>
          <a:bodyPr/>
          <a:lstStyle/>
          <a:p>
            <a:r>
              <a:rPr lang="en-US" dirty="0"/>
              <a:t>Key Benefit Administrators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34C8217-D749-4511-B7B5-02F77484B378}"/>
              </a:ext>
            </a:extLst>
          </p:cNvPr>
          <p:cNvSpPr/>
          <p:nvPr/>
        </p:nvSpPr>
        <p:spPr>
          <a:xfrm>
            <a:off x="10887075" y="0"/>
            <a:ext cx="1304925" cy="6872068"/>
          </a:xfrm>
          <a:prstGeom prst="rect">
            <a:avLst/>
          </a:prstGeom>
          <a:solidFill>
            <a:srgbClr val="254F96">
              <a:alpha val="9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4EC4C45-7E95-496F-9B8E-C3FD224C0A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FC719D-C4A7-4544-876E-D411D11AF6C9}" type="slidenum">
              <a:rPr lang="en-US" smtClean="0"/>
              <a:t>3</a:t>
            </a:fld>
            <a:endParaRPr lang="en-US" dirty="0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553571B1-9896-47E3-8ADF-78C3864841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6376" y="1023915"/>
            <a:ext cx="9984796" cy="502882"/>
          </a:xfrm>
          <a:noFill/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2800" b="1" spc="150" dirty="0">
                <a:solidFill>
                  <a:srgbClr val="0F5DA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Market Leader in Private-Labeled Plans</a:t>
            </a:r>
            <a:endParaRPr lang="en-US" sz="2800" b="1" cap="all" spc="150" dirty="0">
              <a:solidFill>
                <a:srgbClr val="0F5DA6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0242" name="Picture 2">
            <a:extLst>
              <a:ext uri="{FF2B5EF4-FFF2-40B4-BE49-F238E27FC236}">
                <a16:creationId xmlns:a16="http://schemas.microsoft.com/office/drawing/2014/main" id="{654A305B-9BE0-4449-826C-ACCCBB29F8D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96376" y="293729"/>
            <a:ext cx="3645898" cy="6299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880AE72B-2936-B7FD-B16B-B7DDE61C48BF}"/>
              </a:ext>
            </a:extLst>
          </p:cNvPr>
          <p:cNvSpPr/>
          <p:nvPr/>
        </p:nvSpPr>
        <p:spPr>
          <a:xfrm>
            <a:off x="2659533" y="3974049"/>
            <a:ext cx="2272613" cy="610340"/>
          </a:xfrm>
          <a:prstGeom prst="roundRect">
            <a:avLst>
              <a:gd name="adj" fmla="val 42849"/>
            </a:avLst>
          </a:prstGeom>
          <a:solidFill>
            <a:srgbClr val="30589B"/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Bentonville, AR</a:t>
            </a:r>
          </a:p>
          <a:p>
            <a:pPr algn="ctr"/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Northwest Health Plan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83BAAF75-9BFE-8A09-84C8-29127AD11CC8}"/>
              </a:ext>
            </a:extLst>
          </p:cNvPr>
          <p:cNvSpPr/>
          <p:nvPr/>
        </p:nvSpPr>
        <p:spPr>
          <a:xfrm>
            <a:off x="3572730" y="5257649"/>
            <a:ext cx="2272613" cy="610340"/>
          </a:xfrm>
          <a:prstGeom prst="roundRect">
            <a:avLst>
              <a:gd name="adj" fmla="val 42849"/>
            </a:avLst>
          </a:prstGeom>
          <a:solidFill>
            <a:srgbClr val="30589B"/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Meridian, MS</a:t>
            </a:r>
          </a:p>
          <a:p>
            <a:pPr algn="ctr"/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Affinity Health Plan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F7F76DEC-1B86-5F34-4522-EE137E2BEDC5}"/>
              </a:ext>
            </a:extLst>
          </p:cNvPr>
          <p:cNvSpPr/>
          <p:nvPr/>
        </p:nvSpPr>
        <p:spPr>
          <a:xfrm>
            <a:off x="7452111" y="5382713"/>
            <a:ext cx="2272613" cy="610340"/>
          </a:xfrm>
          <a:prstGeom prst="roundRect">
            <a:avLst>
              <a:gd name="adj" fmla="val 42849"/>
            </a:avLst>
          </a:prstGeom>
          <a:solidFill>
            <a:srgbClr val="30589B"/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Fort Myers, FL</a:t>
            </a:r>
          </a:p>
          <a:p>
            <a:pPr algn="ctr"/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Lee Health Care Partners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B522D9FB-03E8-0475-A3A5-AF33059EA7E6}"/>
              </a:ext>
            </a:extLst>
          </p:cNvPr>
          <p:cNvSpPr/>
          <p:nvPr/>
        </p:nvSpPr>
        <p:spPr>
          <a:xfrm>
            <a:off x="7208737" y="4373211"/>
            <a:ext cx="2272613" cy="610340"/>
          </a:xfrm>
          <a:prstGeom prst="roundRect">
            <a:avLst>
              <a:gd name="adj" fmla="val 42849"/>
            </a:avLst>
          </a:prstGeom>
          <a:solidFill>
            <a:srgbClr val="30589B"/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Knoxville, TN</a:t>
            </a:r>
          </a:p>
          <a:p>
            <a:pPr algn="ctr"/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East Tennessee Health Plan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F3AB3343-FA0C-E9FA-637F-E45BB11DFFC1}"/>
              </a:ext>
            </a:extLst>
          </p:cNvPr>
          <p:cNvSpPr/>
          <p:nvPr/>
        </p:nvSpPr>
        <p:spPr>
          <a:xfrm>
            <a:off x="7047737" y="3363709"/>
            <a:ext cx="2272613" cy="610340"/>
          </a:xfrm>
          <a:prstGeom prst="roundRect">
            <a:avLst>
              <a:gd name="adj" fmla="val 42849"/>
            </a:avLst>
          </a:prstGeom>
          <a:solidFill>
            <a:srgbClr val="30589B"/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Cincinnati, OH</a:t>
            </a:r>
          </a:p>
          <a:p>
            <a:pPr algn="ctr"/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TCH Optimal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A5F1AA97-617E-DEDA-E780-8518ACB143FB}"/>
              </a:ext>
            </a:extLst>
          </p:cNvPr>
          <p:cNvSpPr/>
          <p:nvPr/>
        </p:nvSpPr>
        <p:spPr>
          <a:xfrm>
            <a:off x="3870663" y="2934468"/>
            <a:ext cx="2272613" cy="610340"/>
          </a:xfrm>
          <a:prstGeom prst="roundRect">
            <a:avLst>
              <a:gd name="adj" fmla="val 42849"/>
            </a:avLst>
          </a:prstGeom>
          <a:solidFill>
            <a:srgbClr val="30589B"/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Louisville, KY</a:t>
            </a:r>
          </a:p>
          <a:p>
            <a:pPr algn="ctr"/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OneHealth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Plan</a:t>
            </a:r>
          </a:p>
        </p:txBody>
      </p:sp>
    </p:spTree>
    <p:extLst>
      <p:ext uri="{BB962C8B-B14F-4D97-AF65-F5344CB8AC3E}">
        <p14:creationId xmlns:p14="http://schemas.microsoft.com/office/powerpoint/2010/main" val="2639721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8" name="Picture 4" descr="ESA - Do business with ESA">
            <a:extLst>
              <a:ext uri="{FF2B5EF4-FFF2-40B4-BE49-F238E27FC236}">
                <a16:creationId xmlns:a16="http://schemas.microsoft.com/office/drawing/2014/main" id="{D7347B8B-C5AE-4C49-8B43-951D5F7A55F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alphaModFix amt="35000"/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741" b="7912"/>
          <a:stretch/>
        </p:blipFill>
        <p:spPr bwMode="auto">
          <a:xfrm>
            <a:off x="-5594" y="0"/>
            <a:ext cx="12197593" cy="68551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B4D036B-CF91-40EF-88B5-63D0260D01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1975" y="320684"/>
            <a:ext cx="10515600" cy="1325563"/>
          </a:xfrm>
        </p:spPr>
        <p:txBody>
          <a:bodyPr>
            <a:normAutofit/>
          </a:bodyPr>
          <a:lstStyle/>
          <a:p>
            <a:r>
              <a:rPr lang="en-US" sz="3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Key Incentive Plan (KIP) Profit Generation Opportunities for Just Health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D24DE94D-6484-49BD-8A91-DBD5A9631194}"/>
              </a:ext>
            </a:extLst>
          </p:cNvPr>
          <p:cNvSpPr/>
          <p:nvPr/>
        </p:nvSpPr>
        <p:spPr>
          <a:xfrm>
            <a:off x="0" y="6209596"/>
            <a:ext cx="12192000" cy="662473"/>
          </a:xfrm>
          <a:prstGeom prst="rect">
            <a:avLst/>
          </a:prstGeom>
          <a:solidFill>
            <a:srgbClr val="254F96">
              <a:alpha val="9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CA890C3-CCF4-4C60-8A15-4AAD2952EF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962400" y="6355207"/>
            <a:ext cx="4114800" cy="365125"/>
          </a:xfrm>
        </p:spPr>
        <p:txBody>
          <a:bodyPr/>
          <a:lstStyle/>
          <a:p>
            <a:r>
              <a:rPr lang="en-US" dirty="0"/>
              <a:t>Key Benefit Administrators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8E8B177-4E99-4D87-A5BC-C4903809E3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466666" y="6355207"/>
            <a:ext cx="2743200" cy="365125"/>
          </a:xfrm>
        </p:spPr>
        <p:txBody>
          <a:bodyPr/>
          <a:lstStyle/>
          <a:p>
            <a:fld id="{3AFC719D-C4A7-4544-876E-D411D11AF6C9}" type="slidenum">
              <a:rPr lang="en-US" smtClean="0"/>
              <a:t>4</a:t>
            </a:fld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8721A3A-5CA5-4F32-91E4-D6082004CA50}"/>
              </a:ext>
            </a:extLst>
          </p:cNvPr>
          <p:cNvSpPr/>
          <p:nvPr/>
        </p:nvSpPr>
        <p:spPr>
          <a:xfrm>
            <a:off x="4134811" y="649481"/>
            <a:ext cx="7495215" cy="554604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defTabSz="914411">
              <a:lnSpc>
                <a:spcPct val="90000"/>
              </a:lnSpc>
              <a:spcAft>
                <a:spcPts val="1200"/>
              </a:spcAft>
            </a:pPr>
            <a:endParaRPr lang="en-US" sz="2200" dirty="0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757FA25C-8EB6-4C31-9C3C-8A0215C1E657}"/>
              </a:ext>
            </a:extLst>
          </p:cNvPr>
          <p:cNvGrpSpPr/>
          <p:nvPr/>
        </p:nvGrpSpPr>
        <p:grpSpPr>
          <a:xfrm>
            <a:off x="740621" y="3205513"/>
            <a:ext cx="10705161" cy="2145203"/>
            <a:chOff x="539823" y="2622568"/>
            <a:chExt cx="3840480" cy="2145203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869C0219-52DA-48A1-B7B2-E6F8C4FBD3C3}"/>
                </a:ext>
              </a:extLst>
            </p:cNvPr>
            <p:cNvSpPr/>
            <p:nvPr/>
          </p:nvSpPr>
          <p:spPr>
            <a:xfrm>
              <a:off x="539823" y="2622568"/>
              <a:ext cx="1920240" cy="2145203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 defTabSz="914411">
                <a:lnSpc>
                  <a:spcPct val="90000"/>
                </a:lnSpc>
                <a:spcAft>
                  <a:spcPts val="1200"/>
                </a:spcAft>
                <a:buClr>
                  <a:schemeClr val="tx1"/>
                </a:buClr>
              </a:pPr>
              <a:r>
                <a:rPr lang="en-US" b="1" dirty="0"/>
                <a:t>Patient Steerage</a:t>
              </a:r>
            </a:p>
            <a:p>
              <a:pPr algn="ctr" defTabSz="914411">
                <a:lnSpc>
                  <a:spcPct val="90000"/>
                </a:lnSpc>
                <a:spcAft>
                  <a:spcPts val="1200"/>
                </a:spcAft>
                <a:buClr>
                  <a:schemeClr val="tx1"/>
                </a:buClr>
              </a:pPr>
              <a:r>
                <a:rPr lang="en-US" dirty="0"/>
                <a:t>Covered members of the Key Incentive Plan are more likely to seek services with Just Health than they would be in a standard PPO plan because they receive indemnity benefits and the financing credit card. </a:t>
              </a:r>
            </a:p>
            <a:p>
              <a:pPr algn="ctr" defTabSz="914411">
                <a:lnSpc>
                  <a:spcPct val="90000"/>
                </a:lnSpc>
                <a:spcAft>
                  <a:spcPts val="1200"/>
                </a:spcAft>
                <a:buClr>
                  <a:schemeClr val="tx1"/>
                </a:buClr>
              </a:pPr>
              <a:r>
                <a:rPr lang="en-US" dirty="0"/>
                <a:t>These incentives increase Just Health’s commercial market share and commercial profit within this plan.</a:t>
              </a:r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8FCD729A-32AD-4303-8BA6-9EBD13F93D1C}"/>
                </a:ext>
              </a:extLst>
            </p:cNvPr>
            <p:cNvSpPr/>
            <p:nvPr/>
          </p:nvSpPr>
          <p:spPr>
            <a:xfrm>
              <a:off x="2460063" y="2622568"/>
              <a:ext cx="1920240" cy="2145203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 defTabSz="914411">
                <a:lnSpc>
                  <a:spcPct val="90000"/>
                </a:lnSpc>
                <a:spcAft>
                  <a:spcPts val="1200"/>
                </a:spcAft>
                <a:buClr>
                  <a:schemeClr val="tx1"/>
                </a:buClr>
              </a:pPr>
              <a:r>
                <a:rPr lang="en-US" b="1" dirty="0"/>
                <a:t>Increased Margin</a:t>
              </a:r>
            </a:p>
            <a:p>
              <a:pPr algn="ctr" defTabSz="914411">
                <a:lnSpc>
                  <a:spcPct val="90000"/>
                </a:lnSpc>
                <a:spcAft>
                  <a:spcPts val="1200"/>
                </a:spcAft>
                <a:buClr>
                  <a:schemeClr val="tx1"/>
                </a:buClr>
              </a:pPr>
              <a:r>
                <a:rPr lang="en-US" dirty="0"/>
                <a:t>Because of the partnership between Key Benefits, and because patients have a financing path for medical costs, Just Health can expect higher realized revenue per patient from members of the Key Incentive Plan. </a:t>
              </a:r>
            </a:p>
            <a:p>
              <a:pPr algn="ctr" defTabSz="914411">
                <a:lnSpc>
                  <a:spcPct val="90000"/>
                </a:lnSpc>
                <a:spcAft>
                  <a:spcPts val="1200"/>
                </a:spcAft>
                <a:buClr>
                  <a:schemeClr val="tx1"/>
                </a:buClr>
              </a:pPr>
              <a:r>
                <a:rPr lang="en-US" dirty="0"/>
                <a:t>This partnership increases Just Health’s realized revenue per patient and lowers collection costs. </a:t>
              </a:r>
            </a:p>
          </p:txBody>
        </p:sp>
      </p:grp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DD477D80-386D-4C49-BB5B-4192EF9C3FCB}"/>
              </a:ext>
            </a:extLst>
          </p:cNvPr>
          <p:cNvCxnSpPr/>
          <p:nvPr/>
        </p:nvCxnSpPr>
        <p:spPr>
          <a:xfrm>
            <a:off x="6100876" y="3205513"/>
            <a:ext cx="0" cy="2425682"/>
          </a:xfrm>
          <a:prstGeom prst="line">
            <a:avLst/>
          </a:prstGeom>
          <a:ln>
            <a:solidFill>
              <a:srgbClr val="0063A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Oval 18">
            <a:extLst>
              <a:ext uri="{FF2B5EF4-FFF2-40B4-BE49-F238E27FC236}">
                <a16:creationId xmlns:a16="http://schemas.microsoft.com/office/drawing/2014/main" id="{6E3306A4-A22E-44B4-B28D-02A4477CAE09}"/>
              </a:ext>
            </a:extLst>
          </p:cNvPr>
          <p:cNvSpPr/>
          <p:nvPr/>
        </p:nvSpPr>
        <p:spPr>
          <a:xfrm>
            <a:off x="3074011" y="2236449"/>
            <a:ext cx="685800" cy="685800"/>
          </a:xfrm>
          <a:prstGeom prst="ellipse">
            <a:avLst/>
          </a:prstGeom>
          <a:solidFill>
            <a:srgbClr val="59CAE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/>
              <a:t>1</a:t>
            </a: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50C0D7B4-43BC-4CE3-AA3D-60612464FC41}"/>
              </a:ext>
            </a:extLst>
          </p:cNvPr>
          <p:cNvSpPr/>
          <p:nvPr/>
        </p:nvSpPr>
        <p:spPr>
          <a:xfrm>
            <a:off x="8466666" y="2236449"/>
            <a:ext cx="685800" cy="685800"/>
          </a:xfrm>
          <a:prstGeom prst="ellipse">
            <a:avLst/>
          </a:prstGeom>
          <a:solidFill>
            <a:srgbClr val="59CAE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/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02287574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E917A82-FACC-9CE3-5CE6-640CE60872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Key Benefit Administrators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BEE2C0-9C88-E3B0-3307-08132DDFD6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FC719D-C4A7-4544-876E-D411D11AF6C9}" type="slidenum">
              <a:rPr lang="en-US" smtClean="0"/>
              <a:t>5</a:t>
            </a:fld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9963971-9E27-D1D8-44A6-33EAA3782592}"/>
              </a:ext>
            </a:extLst>
          </p:cNvPr>
          <p:cNvSpPr txBox="1"/>
          <p:nvPr/>
        </p:nvSpPr>
        <p:spPr>
          <a:xfrm>
            <a:off x="227045" y="1834495"/>
            <a:ext cx="1173791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800" b="1" spc="200" dirty="0">
                <a:solidFill>
                  <a:schemeClr val="accent2">
                    <a:lumMod val="75000"/>
                  </a:schemeClr>
                </a:solidFill>
                <a:latin typeface="+mj-lt"/>
                <a:cs typeface="+mj-cs"/>
              </a:rPr>
              <a:t>Target Market</a:t>
            </a:r>
            <a:br>
              <a:rPr lang="en-US" sz="1800" spc="200" dirty="0">
                <a:latin typeface="+mj-lt"/>
                <a:cs typeface="+mj-cs"/>
              </a:rPr>
            </a:br>
            <a:r>
              <a:rPr lang="en-US" sz="1800" spc="200" dirty="0">
                <a:latin typeface="+mj-lt"/>
                <a:cs typeface="+mj-cs"/>
              </a:rPr>
              <a:t>2,500</a:t>
            </a:r>
            <a:r>
              <a:rPr lang="en-US" spc="200" dirty="0">
                <a:latin typeface="+mj-lt"/>
                <a:cs typeface="+mj-cs"/>
              </a:rPr>
              <a:t>+</a:t>
            </a:r>
            <a:r>
              <a:rPr lang="en-US" sz="1800" spc="200" dirty="0">
                <a:latin typeface="+mj-lt"/>
                <a:cs typeface="+mj-cs"/>
              </a:rPr>
              <a:t> Employers       410,000</a:t>
            </a:r>
            <a:r>
              <a:rPr lang="en-US" sz="1800" spc="200" dirty="0">
                <a:latin typeface="+mj-lt"/>
                <a:cs typeface="+mj-cs"/>
                <a:sym typeface="Wingdings" panose="05000000000000000000" pitchFamily="2" charset="2"/>
              </a:rPr>
              <a:t>+ Employees       630,000+ Members</a:t>
            </a:r>
            <a:endParaRPr lang="en-US" dirty="0"/>
          </a:p>
        </p:txBody>
      </p:sp>
      <p:sp>
        <p:nvSpPr>
          <p:cNvPr id="9" name="Arrow: Chevron 8">
            <a:extLst>
              <a:ext uri="{FF2B5EF4-FFF2-40B4-BE49-F238E27FC236}">
                <a16:creationId xmlns:a16="http://schemas.microsoft.com/office/drawing/2014/main" id="{CCED4F75-71FE-39B7-D7A7-16E95303FB5C}"/>
              </a:ext>
            </a:extLst>
          </p:cNvPr>
          <p:cNvSpPr/>
          <p:nvPr/>
        </p:nvSpPr>
        <p:spPr>
          <a:xfrm>
            <a:off x="4333487" y="2215196"/>
            <a:ext cx="223374" cy="209073"/>
          </a:xfrm>
          <a:prstGeom prst="chevron">
            <a:avLst/>
          </a:prstGeom>
          <a:solidFill>
            <a:srgbClr val="59CAE8"/>
          </a:solidFill>
          <a:ln>
            <a:solidFill>
              <a:srgbClr val="7D32A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0" name="Arrow: Chevron 9">
            <a:extLst>
              <a:ext uri="{FF2B5EF4-FFF2-40B4-BE49-F238E27FC236}">
                <a16:creationId xmlns:a16="http://schemas.microsoft.com/office/drawing/2014/main" id="{340F1AD2-D85A-D177-8D19-AC9B027C53E2}"/>
              </a:ext>
            </a:extLst>
          </p:cNvPr>
          <p:cNvSpPr/>
          <p:nvPr/>
        </p:nvSpPr>
        <p:spPr>
          <a:xfrm>
            <a:off x="7280031" y="2206519"/>
            <a:ext cx="223374" cy="209073"/>
          </a:xfrm>
          <a:prstGeom prst="chevron">
            <a:avLst/>
          </a:prstGeom>
          <a:solidFill>
            <a:srgbClr val="59CAE8"/>
          </a:solidFill>
          <a:ln>
            <a:solidFill>
              <a:srgbClr val="7D32A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</a:rPr>
              <a:t>     </a:t>
            </a:r>
            <a:endParaRPr lang="en-US" dirty="0">
              <a:solidFill>
                <a:schemeClr val="tx1"/>
              </a:solidFill>
            </a:endParaRPr>
          </a:p>
        </p:txBody>
      </p:sp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C5BE1B27-9F04-9265-C933-6FD598A73DF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71611868"/>
              </p:ext>
            </p:extLst>
          </p:nvPr>
        </p:nvGraphicFramePr>
        <p:xfrm>
          <a:off x="4889297" y="2699749"/>
          <a:ext cx="6949427" cy="2913283"/>
        </p:xfrm>
        <a:graphic>
          <a:graphicData uri="http://schemas.openxmlformats.org/drawingml/2006/table">
            <a:tbl>
              <a:tblPr/>
              <a:tblGrid>
                <a:gridCol w="2681975">
                  <a:extLst>
                    <a:ext uri="{9D8B030D-6E8A-4147-A177-3AD203B41FA5}">
                      <a16:colId xmlns:a16="http://schemas.microsoft.com/office/drawing/2014/main" val="1559488425"/>
                    </a:ext>
                  </a:extLst>
                </a:gridCol>
                <a:gridCol w="711242">
                  <a:extLst>
                    <a:ext uri="{9D8B030D-6E8A-4147-A177-3AD203B41FA5}">
                      <a16:colId xmlns:a16="http://schemas.microsoft.com/office/drawing/2014/main" val="3447311937"/>
                    </a:ext>
                  </a:extLst>
                </a:gridCol>
                <a:gridCol w="711242">
                  <a:extLst>
                    <a:ext uri="{9D8B030D-6E8A-4147-A177-3AD203B41FA5}">
                      <a16:colId xmlns:a16="http://schemas.microsoft.com/office/drawing/2014/main" val="3754037008"/>
                    </a:ext>
                  </a:extLst>
                </a:gridCol>
                <a:gridCol w="711242">
                  <a:extLst>
                    <a:ext uri="{9D8B030D-6E8A-4147-A177-3AD203B41FA5}">
                      <a16:colId xmlns:a16="http://schemas.microsoft.com/office/drawing/2014/main" val="1458190780"/>
                    </a:ext>
                  </a:extLst>
                </a:gridCol>
                <a:gridCol w="711242">
                  <a:extLst>
                    <a:ext uri="{9D8B030D-6E8A-4147-A177-3AD203B41FA5}">
                      <a16:colId xmlns:a16="http://schemas.microsoft.com/office/drawing/2014/main" val="957112869"/>
                    </a:ext>
                  </a:extLst>
                </a:gridCol>
                <a:gridCol w="711242">
                  <a:extLst>
                    <a:ext uri="{9D8B030D-6E8A-4147-A177-3AD203B41FA5}">
                      <a16:colId xmlns:a16="http://schemas.microsoft.com/office/drawing/2014/main" val="257020552"/>
                    </a:ext>
                  </a:extLst>
                </a:gridCol>
                <a:gridCol w="711242">
                  <a:extLst>
                    <a:ext uri="{9D8B030D-6E8A-4147-A177-3AD203B41FA5}">
                      <a16:colId xmlns:a16="http://schemas.microsoft.com/office/drawing/2014/main" val="3699895334"/>
                    </a:ext>
                  </a:extLst>
                </a:gridCol>
              </a:tblGrid>
              <a:tr h="272206"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6"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Employer Size Group (# of Employees)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l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l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l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l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81166579"/>
                  </a:ext>
                </a:extLst>
              </a:tr>
              <a:tr h="440748">
                <a:tc>
                  <a:txBody>
                    <a:bodyPr/>
                    <a:lstStyle/>
                    <a:p>
                      <a:pPr algn="l" fontAlgn="b"/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50-100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101-200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201-400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401-1,000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1,001-3,000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3,000+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31961423"/>
                  </a:ext>
                </a:extLst>
              </a:tr>
              <a:tr h="243507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Commercial Employers Headquartered in Union, Essex or Hudson Counties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highlight>
                            <a:srgbClr val="FBE5D6"/>
                          </a:highlight>
                          <a:latin typeface="Aptos Narrow" panose="020B0004020202020204" pitchFamily="34" charset="0"/>
                        </a:rPr>
                        <a:t>1,468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highlight>
                            <a:srgbClr val="FBE5D6"/>
                          </a:highlight>
                          <a:latin typeface="Aptos Narrow" panose="020B0004020202020204" pitchFamily="34" charset="0"/>
                        </a:rPr>
                        <a:t>597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highlight>
                            <a:srgbClr val="FBE5D6"/>
                          </a:highlight>
                          <a:latin typeface="Aptos Narrow" panose="020B0004020202020204" pitchFamily="34" charset="0"/>
                        </a:rPr>
                        <a:t>417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highlight>
                            <a:srgbClr val="FBE5D6"/>
                          </a:highlight>
                          <a:latin typeface="Aptos Narrow" panose="020B0004020202020204" pitchFamily="34" charset="0"/>
                        </a:rPr>
                        <a:t>230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highlight>
                            <a:srgbClr val="FBE5D6"/>
                          </a:highlight>
                          <a:latin typeface="Aptos Narrow" panose="020B0004020202020204" pitchFamily="34" charset="0"/>
                        </a:rPr>
                        <a:t>64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54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59977521"/>
                  </a:ext>
                </a:extLst>
              </a:tr>
              <a:tr h="243507"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60967609"/>
                  </a:ext>
                </a:extLst>
              </a:tr>
              <a:tr h="440748">
                <a:tc>
                  <a:txBody>
                    <a:bodyPr/>
                    <a:lstStyle/>
                    <a:p>
                      <a:pPr algn="l" fontAlgn="b"/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50-100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101-200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201-400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401-1,000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1,001-3,000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3,000+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72000535"/>
                  </a:ext>
                </a:extLst>
              </a:tr>
              <a:tr h="243507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Estimated Employees of Above Employers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highlight>
                            <a:srgbClr val="FBE5D6"/>
                          </a:highlight>
                          <a:latin typeface="Aptos Narrow" panose="020B0004020202020204" pitchFamily="34" charset="0"/>
                        </a:rPr>
                        <a:t>110,100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highlight>
                            <a:srgbClr val="FBE5D6"/>
                          </a:highlight>
                          <a:latin typeface="Aptos Narrow" panose="020B0004020202020204" pitchFamily="34" charset="0"/>
                        </a:rPr>
                        <a:t>89,550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highlight>
                            <a:srgbClr val="FBE5D6"/>
                          </a:highlight>
                          <a:latin typeface="Aptos Narrow" panose="020B0004020202020204" pitchFamily="34" charset="0"/>
                        </a:rPr>
                        <a:t>125,100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highlight>
                            <a:srgbClr val="FBE5D6"/>
                          </a:highlight>
                          <a:latin typeface="Aptos Narrow" panose="020B0004020202020204" pitchFamily="34" charset="0"/>
                        </a:rPr>
                        <a:t>161,000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highlight>
                            <a:srgbClr val="FBE5D6"/>
                          </a:highlight>
                          <a:latin typeface="Aptos Narrow" panose="020B0004020202020204" pitchFamily="34" charset="0"/>
                        </a:rPr>
                        <a:t>128,000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486,000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86299110"/>
                  </a:ext>
                </a:extLst>
              </a:tr>
              <a:tr h="243507"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54517032"/>
                  </a:ext>
                </a:extLst>
              </a:tr>
              <a:tr h="440748">
                <a:tc>
                  <a:txBody>
                    <a:bodyPr/>
                    <a:lstStyle/>
                    <a:p>
                      <a:pPr algn="l" fontAlgn="b"/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50-100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101-200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201-400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401-1,000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1,001-3,000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3,000+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6436592"/>
                  </a:ext>
                </a:extLst>
              </a:tr>
              <a:tr h="243507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Estimated Members of Above Employers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highlight>
                            <a:srgbClr val="FBE5D6"/>
                          </a:highlight>
                          <a:latin typeface="Aptos Narrow" panose="020B0004020202020204" pitchFamily="34" charset="0"/>
                        </a:rPr>
                        <a:t>154,140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highlight>
                            <a:srgbClr val="FBE5D6"/>
                          </a:highlight>
                          <a:latin typeface="Aptos Narrow" panose="020B0004020202020204" pitchFamily="34" charset="0"/>
                        </a:rPr>
                        <a:t>125,370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highlight>
                            <a:srgbClr val="FBE5D6"/>
                          </a:highlight>
                          <a:latin typeface="Aptos Narrow" panose="020B0004020202020204" pitchFamily="34" charset="0"/>
                        </a:rPr>
                        <a:t>175,140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highlight>
                            <a:srgbClr val="FBE5D6"/>
                          </a:highlight>
                          <a:latin typeface="Aptos Narrow" panose="020B0004020202020204" pitchFamily="34" charset="0"/>
                        </a:rPr>
                        <a:t>225,400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highlight>
                            <a:srgbClr val="FBE5D6"/>
                          </a:highlight>
                          <a:latin typeface="Aptos Narrow" panose="020B0004020202020204" pitchFamily="34" charset="0"/>
                        </a:rPr>
                        <a:t>179,200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680,400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81610804"/>
                  </a:ext>
                </a:extLst>
              </a:tr>
            </a:tbl>
          </a:graphicData>
        </a:graphic>
      </p:graphicFrame>
      <p:sp>
        <p:nvSpPr>
          <p:cNvPr id="16" name="Title 1">
            <a:extLst>
              <a:ext uri="{FF2B5EF4-FFF2-40B4-BE49-F238E27FC236}">
                <a16:creationId xmlns:a16="http://schemas.microsoft.com/office/drawing/2014/main" id="{012C7A76-8C4C-0C17-C582-24A807F19D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3572" y="43143"/>
            <a:ext cx="11801383" cy="1325563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  <a:spcBef>
                <a:spcPts val="1800"/>
              </a:spcBef>
              <a:spcAft>
                <a:spcPts val="600"/>
              </a:spcAft>
            </a:pPr>
            <a:r>
              <a:rPr lang="en-US" sz="3600" dirty="0">
                <a:solidFill>
                  <a:srgbClr val="000B2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Significant Opportunity for </a:t>
            </a:r>
            <a:r>
              <a:rPr lang="en-US" sz="3600" dirty="0">
                <a:solidFill>
                  <a:srgbClr val="000B2E"/>
                </a:solidFill>
              </a:rPr>
              <a:t>Plan Growth</a:t>
            </a:r>
            <a:br>
              <a:rPr lang="en-US" sz="3600" dirty="0">
                <a:solidFill>
                  <a:srgbClr val="000B2E"/>
                </a:solidFill>
              </a:rPr>
            </a:br>
            <a:r>
              <a:rPr lang="en-US" sz="2400" dirty="0">
                <a:solidFill>
                  <a:srgbClr val="000B2E"/>
                </a:solidFill>
              </a:rPr>
              <a:t>Researched for Union, Essex and Hudson Counties</a:t>
            </a:r>
            <a:endParaRPr lang="en-US" sz="1600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D9A8BB4-8EB2-782A-EDD5-8538A2A8CF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00" y="2734221"/>
            <a:ext cx="4556861" cy="34068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285589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" name="Content Placeholder 28">
            <a:extLst>
              <a:ext uri="{FF2B5EF4-FFF2-40B4-BE49-F238E27FC236}">
                <a16:creationId xmlns:a16="http://schemas.microsoft.com/office/drawing/2014/main" id="{7EF75D23-6368-A3FD-27F9-6F0DFF7E04C2}"/>
              </a:ext>
            </a:extLst>
          </p:cNvPr>
          <p:cNvPicPr>
            <a:picLocks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086212" y="1911476"/>
            <a:ext cx="6382512" cy="4553712"/>
          </a:xfrm>
          <a:prstGeom prst="rect">
            <a:avLst/>
          </a:prstGeom>
        </p:spPr>
      </p:pic>
      <p:sp>
        <p:nvSpPr>
          <p:cNvPr id="20" name="Rectangle 19">
            <a:extLst>
              <a:ext uri="{FF2B5EF4-FFF2-40B4-BE49-F238E27FC236}">
                <a16:creationId xmlns:a16="http://schemas.microsoft.com/office/drawing/2014/main" id="{A1F948BD-D9F3-0E7A-A778-3B130A8365CE}"/>
              </a:ext>
            </a:extLst>
          </p:cNvPr>
          <p:cNvSpPr/>
          <p:nvPr/>
        </p:nvSpPr>
        <p:spPr>
          <a:xfrm>
            <a:off x="7554897" y="3022723"/>
            <a:ext cx="4456590" cy="529667"/>
          </a:xfrm>
          <a:prstGeom prst="rect">
            <a:avLst/>
          </a:prstGeom>
          <a:gradFill flip="none" rotWithShape="1">
            <a:gsLst>
              <a:gs pos="0">
                <a:srgbClr val="5682CA"/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lumMod val="20000"/>
                  <a:lumOff val="80000"/>
                </a:scheme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E020CCE-F739-8633-848E-AA7349974A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3028" y="365125"/>
            <a:ext cx="10458459" cy="1325563"/>
          </a:xfrm>
        </p:spPr>
        <p:txBody>
          <a:bodyPr>
            <a:normAutofit/>
          </a:bodyPr>
          <a:lstStyle/>
          <a:p>
            <a:r>
              <a:rPr lang="en-US" sz="36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Estimated Financial Returns and Assumptions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507C855-B839-95B6-9EA2-093923967C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2" y="6490145"/>
            <a:ext cx="4114800" cy="250380"/>
          </a:xfrm>
        </p:spPr>
        <p:txBody>
          <a:bodyPr/>
          <a:lstStyle/>
          <a:p>
            <a:r>
              <a:rPr lang="en-US"/>
              <a:t>Key Benefit Administrators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7E7619F-9C66-420C-88E0-81D9A3B4FE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1" y="6490145"/>
            <a:ext cx="2743200" cy="250380"/>
          </a:xfrm>
        </p:spPr>
        <p:txBody>
          <a:bodyPr/>
          <a:lstStyle/>
          <a:p>
            <a:fld id="{3AFC719D-C4A7-4544-876E-D411D11AF6C9}" type="slidenum">
              <a:rPr lang="en-US" smtClean="0"/>
              <a:t>6</a:t>
            </a:fld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5A48ACE-D370-6BA3-A39B-CF7D87E5C9A5}"/>
              </a:ext>
            </a:extLst>
          </p:cNvPr>
          <p:cNvSpPr/>
          <p:nvPr/>
        </p:nvSpPr>
        <p:spPr>
          <a:xfrm>
            <a:off x="7466120" y="1574676"/>
            <a:ext cx="4725880" cy="585927"/>
          </a:xfrm>
          <a:prstGeom prst="rect">
            <a:avLst/>
          </a:prstGeom>
          <a:solidFill>
            <a:srgbClr val="30589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99386F57-8E81-E6DF-1A01-623E3BB7AB0B}"/>
              </a:ext>
            </a:extLst>
          </p:cNvPr>
          <p:cNvSpPr/>
          <p:nvPr/>
        </p:nvSpPr>
        <p:spPr>
          <a:xfrm>
            <a:off x="7168718" y="1574676"/>
            <a:ext cx="594804" cy="585927"/>
          </a:xfrm>
          <a:prstGeom prst="ellipse">
            <a:avLst/>
          </a:prstGeom>
          <a:solidFill>
            <a:srgbClr val="30589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B828AB6-CD3A-4CD3-8950-2942DDBEAC0D}"/>
              </a:ext>
            </a:extLst>
          </p:cNvPr>
          <p:cNvSpPr txBox="1"/>
          <p:nvPr/>
        </p:nvSpPr>
        <p:spPr>
          <a:xfrm>
            <a:off x="8019782" y="1667584"/>
            <a:ext cx="361855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Patient Steerage Assumptions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25AE6BF-C458-13D4-626E-DAD4C1439055}"/>
              </a:ext>
            </a:extLst>
          </p:cNvPr>
          <p:cNvSpPr txBox="1"/>
          <p:nvPr/>
        </p:nvSpPr>
        <p:spPr>
          <a:xfrm>
            <a:off x="7466120" y="2250333"/>
            <a:ext cx="4616389" cy="5770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dirty="0">
                <a:solidFill/>
              </a:rPr>
              <a:t>KBA currently estimates that Just Health has 21% inpatient market share, and 13% outpatient market compared to hospitals/clinics in Union, Essex and Hudson Counties. We expect within-KIP steerage to increase to (inpatient/outpatient):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79940AC-5161-4A7C-F820-720723177F99}"/>
              </a:ext>
            </a:extLst>
          </p:cNvPr>
          <p:cNvSpPr txBox="1"/>
          <p:nvPr/>
        </p:nvSpPr>
        <p:spPr>
          <a:xfrm>
            <a:off x="7785777" y="2987377"/>
            <a:ext cx="48891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/>
              <a:t>Low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AC10C26-8A4C-C6CF-D8A6-005227E091A5}"/>
              </a:ext>
            </a:extLst>
          </p:cNvPr>
          <p:cNvSpPr txBox="1"/>
          <p:nvPr/>
        </p:nvSpPr>
        <p:spPr>
          <a:xfrm>
            <a:off x="9529856" y="2975309"/>
            <a:ext cx="64350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/>
              <a:t>Target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D3F3B85-69EC-8FED-A956-FFB8BE6FE5D7}"/>
              </a:ext>
            </a:extLst>
          </p:cNvPr>
          <p:cNvSpPr txBox="1"/>
          <p:nvPr/>
        </p:nvSpPr>
        <p:spPr>
          <a:xfrm>
            <a:off x="11244106" y="2991243"/>
            <a:ext cx="52450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/>
              <a:t>High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9FEE2C1-9161-C3CD-EE7F-6727C796DF0D}"/>
              </a:ext>
            </a:extLst>
          </p:cNvPr>
          <p:cNvSpPr txBox="1"/>
          <p:nvPr/>
        </p:nvSpPr>
        <p:spPr>
          <a:xfrm>
            <a:off x="7531093" y="3237256"/>
            <a:ext cx="13837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/>
              </a:rPr>
              <a:t>25%/15%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CC51BEE-0560-3D56-4AE8-86D704578774}"/>
              </a:ext>
            </a:extLst>
          </p:cNvPr>
          <p:cNvSpPr txBox="1"/>
          <p:nvPr/>
        </p:nvSpPr>
        <p:spPr>
          <a:xfrm>
            <a:off x="9358154" y="3237256"/>
            <a:ext cx="13837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/>
              </a:rPr>
              <a:t>27.5%/17.5%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17D3C89-20DF-71B2-E5D8-1DA9D1F926E7}"/>
              </a:ext>
            </a:extLst>
          </p:cNvPr>
          <p:cNvSpPr txBox="1"/>
          <p:nvPr/>
        </p:nvSpPr>
        <p:spPr>
          <a:xfrm>
            <a:off x="10996093" y="3237256"/>
            <a:ext cx="13837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/>
              </a:rPr>
              <a:t>30%/22%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620CA171-241C-9006-DA4D-7174E70B2EF3}"/>
              </a:ext>
            </a:extLst>
          </p:cNvPr>
          <p:cNvSpPr/>
          <p:nvPr/>
        </p:nvSpPr>
        <p:spPr>
          <a:xfrm>
            <a:off x="7597806" y="5348162"/>
            <a:ext cx="4456590" cy="529667"/>
          </a:xfrm>
          <a:prstGeom prst="rect">
            <a:avLst/>
          </a:prstGeom>
          <a:gradFill flip="none" rotWithShape="1">
            <a:gsLst>
              <a:gs pos="0">
                <a:srgbClr val="5682CA"/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lumMod val="20000"/>
                  <a:lumOff val="80000"/>
                </a:scheme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BD8E1912-BAE3-A76F-55A7-754D206BC471}"/>
              </a:ext>
            </a:extLst>
          </p:cNvPr>
          <p:cNvSpPr/>
          <p:nvPr/>
        </p:nvSpPr>
        <p:spPr>
          <a:xfrm>
            <a:off x="7509029" y="4095424"/>
            <a:ext cx="4682971" cy="585927"/>
          </a:xfrm>
          <a:prstGeom prst="rect">
            <a:avLst/>
          </a:prstGeom>
          <a:solidFill>
            <a:srgbClr val="30589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D2B9ED21-8D89-315C-4C9C-403AA9B2666A}"/>
              </a:ext>
            </a:extLst>
          </p:cNvPr>
          <p:cNvSpPr/>
          <p:nvPr/>
        </p:nvSpPr>
        <p:spPr>
          <a:xfrm>
            <a:off x="7211627" y="4095424"/>
            <a:ext cx="594804" cy="585927"/>
          </a:xfrm>
          <a:prstGeom prst="ellipse">
            <a:avLst/>
          </a:prstGeom>
          <a:solidFill>
            <a:srgbClr val="30589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50E697A-C380-A6EE-50AE-8B3DED34929F}"/>
              </a:ext>
            </a:extLst>
          </p:cNvPr>
          <p:cNvSpPr txBox="1"/>
          <p:nvPr/>
        </p:nvSpPr>
        <p:spPr>
          <a:xfrm>
            <a:off x="8062691" y="4188332"/>
            <a:ext cx="393274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Commercial Margin Assumptions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32C9D62D-25B0-6CD9-8AD7-E6855B1B1B26}"/>
              </a:ext>
            </a:extLst>
          </p:cNvPr>
          <p:cNvSpPr txBox="1"/>
          <p:nvPr/>
        </p:nvSpPr>
        <p:spPr>
          <a:xfrm>
            <a:off x="7509029" y="4771081"/>
            <a:ext cx="4616389" cy="5770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dirty="0">
                <a:solidFill/>
              </a:rPr>
              <a:t>KBA observes a Just Health 40.8 % commercial margin</a:t>
            </a:r>
            <a:r>
              <a:rPr lang="en-US" sz="1050" dirty="0"/>
              <a:t>. We estimate that this margin will improve for patients covered by the KIP plan through higher collections as follows:</a:t>
            </a:r>
            <a:endParaRPr lang="en-US" sz="1050" dirty="0">
              <a:solidFill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A76920ED-352E-9285-CC83-BDA6AB18978D}"/>
              </a:ext>
            </a:extLst>
          </p:cNvPr>
          <p:cNvSpPr txBox="1"/>
          <p:nvPr/>
        </p:nvSpPr>
        <p:spPr>
          <a:xfrm>
            <a:off x="7707395" y="5300748"/>
            <a:ext cx="48891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/>
              <a:t>Low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2559AB8C-6F23-81D3-4546-DE75EBD91879}"/>
              </a:ext>
            </a:extLst>
          </p:cNvPr>
          <p:cNvSpPr txBox="1"/>
          <p:nvPr/>
        </p:nvSpPr>
        <p:spPr>
          <a:xfrm>
            <a:off x="9532571" y="5300748"/>
            <a:ext cx="64350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/>
              <a:t>Target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314AFF5C-ABDA-A82B-40C8-14E2DB160036}"/>
              </a:ext>
            </a:extLst>
          </p:cNvPr>
          <p:cNvSpPr txBox="1"/>
          <p:nvPr/>
        </p:nvSpPr>
        <p:spPr>
          <a:xfrm>
            <a:off x="11336305" y="5300748"/>
            <a:ext cx="52450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/>
              <a:t>High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854312B-28D3-E83C-2C75-6E860911BB50}"/>
              </a:ext>
            </a:extLst>
          </p:cNvPr>
          <p:cNvSpPr/>
          <p:nvPr/>
        </p:nvSpPr>
        <p:spPr>
          <a:xfrm>
            <a:off x="0" y="-27866"/>
            <a:ext cx="978408" cy="6858000"/>
          </a:xfrm>
          <a:prstGeom prst="rect">
            <a:avLst/>
          </a:prstGeom>
          <a:solidFill>
            <a:srgbClr val="254F96">
              <a:alpha val="86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2DAB5DAF-375F-8C08-74DE-3B9B1A009F39}"/>
              </a:ext>
            </a:extLst>
          </p:cNvPr>
          <p:cNvSpPr txBox="1">
            <a:spLocks/>
          </p:cNvSpPr>
          <p:nvPr/>
        </p:nvSpPr>
        <p:spPr>
          <a:xfrm rot="16200000">
            <a:off x="-2814764" y="2993452"/>
            <a:ext cx="6553884" cy="75204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11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  <a:spcBef>
                <a:spcPts val="600"/>
              </a:spcBef>
            </a:pPr>
            <a:r>
              <a:rPr lang="en-US" sz="3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SINGLE-YEAR PROJECTION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376A62E0-771C-54FE-B757-DC2BCD4ECC0D}"/>
              </a:ext>
            </a:extLst>
          </p:cNvPr>
          <p:cNvSpPr txBox="1"/>
          <p:nvPr/>
        </p:nvSpPr>
        <p:spPr>
          <a:xfrm>
            <a:off x="1720130" y="2007885"/>
            <a:ext cx="4034181" cy="307777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sz="1400" b="1" dirty="0"/>
              <a:t>Net Margin Growth by Number of KIP Covered Lives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E8334A4D-A904-88CB-EA92-AD56511A56D6}"/>
              </a:ext>
            </a:extLst>
          </p:cNvPr>
          <p:cNvSpPr txBox="1"/>
          <p:nvPr/>
        </p:nvSpPr>
        <p:spPr>
          <a:xfrm>
            <a:off x="3737220" y="5697011"/>
            <a:ext cx="1814920" cy="261610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sz="1100" b="1" dirty="0"/>
              <a:t>Total KIP Covered Members</a:t>
            </a:r>
          </a:p>
        </p:txBody>
      </p:sp>
      <p:sp>
        <p:nvSpPr>
          <p:cNvPr id="37" name="TextBox 28">
            <a:extLst>
              <a:ext uri="{FF2B5EF4-FFF2-40B4-BE49-F238E27FC236}">
                <a16:creationId xmlns:a16="http://schemas.microsoft.com/office/drawing/2014/main" id="{A7BF545C-20EF-464C-07C1-22AFFED16BF0}"/>
              </a:ext>
            </a:extLst>
          </p:cNvPr>
          <p:cNvSpPr txBox="1"/>
          <p:nvPr/>
        </p:nvSpPr>
        <p:spPr>
          <a:xfrm>
            <a:off x="7659946" y="5559601"/>
            <a:ext cx="7585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/>
              </a:rPr>
              <a:t>45.8%</a:t>
            </a:r>
          </a:p>
        </p:txBody>
      </p:sp>
      <p:sp>
        <p:nvSpPr>
          <p:cNvPr id="38" name="TextBox 29">
            <a:extLst>
              <a:ext uri="{FF2B5EF4-FFF2-40B4-BE49-F238E27FC236}">
                <a16:creationId xmlns:a16="http://schemas.microsoft.com/office/drawing/2014/main" id="{A897C1C9-BBA5-1364-4628-65F7C0436913}"/>
              </a:ext>
            </a:extLst>
          </p:cNvPr>
          <p:cNvSpPr txBox="1"/>
          <p:nvPr/>
        </p:nvSpPr>
        <p:spPr>
          <a:xfrm>
            <a:off x="9580061" y="5571573"/>
            <a:ext cx="8851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/>
              </a:rPr>
              <a:t>50.8%</a:t>
            </a:r>
          </a:p>
        </p:txBody>
      </p:sp>
      <p:sp>
        <p:nvSpPr>
          <p:cNvPr id="39" name="TextBox 30">
            <a:extLst>
              <a:ext uri="{FF2B5EF4-FFF2-40B4-BE49-F238E27FC236}">
                <a16:creationId xmlns:a16="http://schemas.microsoft.com/office/drawing/2014/main" id="{0A2574AA-D289-BD6B-4900-75D13B713AE8}"/>
              </a:ext>
            </a:extLst>
          </p:cNvPr>
          <p:cNvSpPr txBox="1"/>
          <p:nvPr/>
        </p:nvSpPr>
        <p:spPr>
          <a:xfrm>
            <a:off x="11389339" y="5571573"/>
            <a:ext cx="7585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/>
              </a:rPr>
              <a:t>55.8%</a:t>
            </a:r>
          </a:p>
        </p:txBody>
      </p:sp>
    </p:spTree>
    <p:extLst>
      <p:ext uri="{BB962C8B-B14F-4D97-AF65-F5344CB8AC3E}">
        <p14:creationId xmlns:p14="http://schemas.microsoft.com/office/powerpoint/2010/main" val="152774934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DEBD79AC-6896-6E13-B0EE-8405AC1D8926}"/>
              </a:ext>
            </a:extLst>
          </p:cNvPr>
          <p:cNvSpPr/>
          <p:nvPr/>
        </p:nvSpPr>
        <p:spPr>
          <a:xfrm>
            <a:off x="0" y="-27866"/>
            <a:ext cx="978408" cy="6858000"/>
          </a:xfrm>
          <a:prstGeom prst="rect">
            <a:avLst/>
          </a:prstGeom>
          <a:solidFill>
            <a:srgbClr val="254F96">
              <a:alpha val="86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C0B88E4A-751F-FB75-BED6-F09D9D7F21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 rot="16200000">
            <a:off x="-2911931" y="3052978"/>
            <a:ext cx="6802269" cy="752041"/>
          </a:xfrm>
        </p:spPr>
        <p:txBody>
          <a:bodyPr>
            <a:noAutofit/>
          </a:bodyPr>
          <a:lstStyle/>
          <a:p>
            <a:pPr algn="ctr">
              <a:lnSpc>
                <a:spcPct val="100000"/>
              </a:lnSpc>
              <a:spcBef>
                <a:spcPts val="600"/>
              </a:spcBef>
            </a:pPr>
            <a:r>
              <a:rPr lang="en-US" sz="3600" b="0" dirty="0">
                <a:solidFill>
                  <a:schemeClr val="bg1"/>
                </a:solidFill>
              </a:rPr>
              <a:t>FOUR-YEAR PROJECTIONS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173736D-CC74-7F99-755F-5699D538ED34}"/>
              </a:ext>
            </a:extLst>
          </p:cNvPr>
          <p:cNvSpPr/>
          <p:nvPr/>
        </p:nvSpPr>
        <p:spPr>
          <a:xfrm>
            <a:off x="6041067" y="6290268"/>
            <a:ext cx="5943600" cy="539865"/>
          </a:xfrm>
          <a:prstGeom prst="rect">
            <a:avLst/>
          </a:prstGeom>
          <a:solidFill>
            <a:srgbClr val="4468A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Just Health will be responsible for sales and growth of this plan.</a:t>
            </a:r>
          </a:p>
          <a:p>
            <a:pPr algn="ctr"/>
            <a:r>
              <a:rPr lang="en-US" sz="1200" dirty="0"/>
              <a:t>These growth numbers are for modeling only. </a:t>
            </a:r>
          </a:p>
        </p:txBody>
      </p:sp>
      <p:pic>
        <p:nvPicPr>
          <p:cNvPr id="16" name="Content Placeholder 9">
            <a:extLst>
              <a:ext uri="{FF2B5EF4-FFF2-40B4-BE49-F238E27FC236}">
                <a16:creationId xmlns:a16="http://schemas.microsoft.com/office/drawing/2014/main" id="{3A5117DB-D106-3B16-A3D8-25ADBC070B67}"/>
              </a:ext>
            </a:extLst>
          </p:cNvPr>
          <p:cNvPicPr>
            <a:picLocks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179576" y="0"/>
            <a:ext cx="4572000" cy="6858000"/>
          </a:xfrm>
          <a:prstGeom prst="rect">
            <a:avLst/>
          </a:prstGeom>
        </p:spPr>
      </p:pic>
      <p:graphicFrame>
        <p:nvGraphicFramePr>
          <p:cNvPr id="17" name="Table 16">
            <a:extLst>
              <a:ext uri="{FF2B5EF4-FFF2-40B4-BE49-F238E27FC236}">
                <a16:creationId xmlns:a16="http://schemas.microsoft.com/office/drawing/2014/main" id="{F9226F29-7ECB-F0C4-0495-80989F4C7DFD}"/>
              </a:ext>
            </a:extLst>
          </p:cNvPr>
          <p:cNvGraphicFramePr>
            <a:graphicFrameLocks noGrp="1"/>
          </p:cNvGraphicFramePr>
          <p:nvPr/>
        </p:nvGraphicFramePr>
        <p:xfrm>
          <a:off x="6041067" y="27863"/>
          <a:ext cx="5943600" cy="1986280"/>
        </p:xfrm>
        <a:graphic>
          <a:graphicData uri="http://schemas.openxmlformats.org/drawingml/2006/table">
            <a:tbl>
              <a:tblPr/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28600">
                <a:tc gridSpan="5"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Target Member Growth</a:t>
                      </a:r>
                    </a:p>
                  </a:txBody>
                  <a:tcPr marL="0" marR="0" marT="63500" marB="63500" anchor="ctr">
                    <a:lnL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Target Member Growth</a:t>
                      </a:r>
                    </a:p>
                  </a:txBody>
                  <a:tcPr marL="0" marR="0" marT="63500" marB="63500" anchor="ctr">
                    <a:lnL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Target Member Growth</a:t>
                      </a:r>
                    </a:p>
                  </a:txBody>
                  <a:tcPr marL="0" marR="0" marT="63500" marB="63500" anchor="ctr">
                    <a:lnL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Target Member Growth</a:t>
                      </a:r>
                    </a:p>
                  </a:txBody>
                  <a:tcPr marL="0" marR="0" marT="63500" marB="63500" anchor="ctr">
                    <a:lnL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Target Member Growth</a:t>
                      </a:r>
                    </a:p>
                  </a:txBody>
                  <a:tcPr marL="0" marR="0" marT="63500" marB="63500" anchor="ctr">
                    <a:lnL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Metric</a:t>
                      </a:r>
                    </a:p>
                  </a:txBody>
                  <a:tcPr marL="0" marR="0" marT="63500" marB="63500" anchor="ctr">
                    <a:lnL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Year 1</a:t>
                      </a:r>
                    </a:p>
                  </a:txBody>
                  <a:tcPr marL="0" marR="0" marT="63500" marB="63500" anchor="ctr">
                    <a:lnL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Year 2</a:t>
                      </a:r>
                    </a:p>
                  </a:txBody>
                  <a:tcPr marL="0" marR="0" marT="63500" marB="63500" anchor="ctr">
                    <a:lnL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Year 3</a:t>
                      </a:r>
                    </a:p>
                  </a:txBody>
                  <a:tcPr marL="0" marR="0" marT="63500" marB="63500" anchor="ctr">
                    <a:lnL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Year 4</a:t>
                      </a:r>
                    </a:p>
                  </a:txBody>
                  <a:tcPr marL="0" marR="0" marT="63500" marB="63500" anchor="ctr">
                    <a:lnL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Number of Members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1,000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3,000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6,000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10,000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Incremental Margin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592.5K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1,777.4K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3,554.7K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5,924.5K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Network Access Fee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12.0K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36.0K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72.0K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120.0K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Implementation Fee (One-Time)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-150.0K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0.0K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0.0K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0.0K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Net Margin Change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454.5K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1,813.4K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3,626.7K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1" i="0" u="none" cap="non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6,044.5K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graphicFrame>
        <p:nvGraphicFramePr>
          <p:cNvPr id="18" name="Table 17">
            <a:extLst>
              <a:ext uri="{FF2B5EF4-FFF2-40B4-BE49-F238E27FC236}">
                <a16:creationId xmlns:a16="http://schemas.microsoft.com/office/drawing/2014/main" id="{7E528830-5D83-742D-FF8B-54719A4CD338}"/>
              </a:ext>
            </a:extLst>
          </p:cNvPr>
          <p:cNvGraphicFramePr>
            <a:graphicFrameLocks noGrp="1"/>
          </p:cNvGraphicFramePr>
          <p:nvPr/>
        </p:nvGraphicFramePr>
        <p:xfrm>
          <a:off x="6041067" y="2097963"/>
          <a:ext cx="5943600" cy="1986280"/>
        </p:xfrm>
        <a:graphic>
          <a:graphicData uri="http://schemas.openxmlformats.org/drawingml/2006/table">
            <a:tbl>
              <a:tblPr/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28600">
                <a:tc gridSpan="5"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High Member Growth</a:t>
                      </a:r>
                    </a:p>
                  </a:txBody>
                  <a:tcPr marL="0" marR="0" marT="63500" marB="63500" anchor="ctr">
                    <a:lnL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High Member Growth</a:t>
                      </a:r>
                    </a:p>
                  </a:txBody>
                  <a:tcPr marL="0" marR="0" marT="63500" marB="63500" anchor="ctr">
                    <a:lnL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High Member Growth</a:t>
                      </a:r>
                    </a:p>
                  </a:txBody>
                  <a:tcPr marL="0" marR="0" marT="63500" marB="63500" anchor="ctr">
                    <a:lnL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High Member Growth</a:t>
                      </a:r>
                    </a:p>
                  </a:txBody>
                  <a:tcPr marL="0" marR="0" marT="63500" marB="63500" anchor="ctr">
                    <a:lnL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High Member Growth</a:t>
                      </a:r>
                    </a:p>
                  </a:txBody>
                  <a:tcPr marL="0" marR="0" marT="63500" marB="63500" anchor="ctr">
                    <a:lnL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Metric</a:t>
                      </a:r>
                    </a:p>
                  </a:txBody>
                  <a:tcPr marL="0" marR="0" marT="63500" marB="63500" anchor="ctr">
                    <a:lnL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Year 1</a:t>
                      </a:r>
                    </a:p>
                  </a:txBody>
                  <a:tcPr marL="0" marR="0" marT="63500" marB="63500" anchor="ctr">
                    <a:lnL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Year 2</a:t>
                      </a:r>
                    </a:p>
                  </a:txBody>
                  <a:tcPr marL="0" marR="0" marT="63500" marB="63500" anchor="ctr">
                    <a:lnL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Year 3</a:t>
                      </a:r>
                    </a:p>
                  </a:txBody>
                  <a:tcPr marL="0" marR="0" marT="63500" marB="63500" anchor="ctr">
                    <a:lnL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Year 4</a:t>
                      </a:r>
                    </a:p>
                  </a:txBody>
                  <a:tcPr marL="0" marR="0" marT="63500" marB="63500" anchor="ctr">
                    <a:lnL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Number of Members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2,000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5,000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10,000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20,000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Incremental Margin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1,184.9K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2,962.3K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5,924.5K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11,849.0K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Network Access Fee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24.0K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60.0K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120.0K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240.0K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Implementation Fee (One-Time)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-150.0K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0.0K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0.0K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0.0K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Net Margin Change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1,058.9K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3,022.3K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6,044.5K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1" i="0" u="none" cap="non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12,089.0K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graphicFrame>
        <p:nvGraphicFramePr>
          <p:cNvPr id="19" name="Table 18">
            <a:extLst>
              <a:ext uri="{FF2B5EF4-FFF2-40B4-BE49-F238E27FC236}">
                <a16:creationId xmlns:a16="http://schemas.microsoft.com/office/drawing/2014/main" id="{7780DE25-ABE4-653B-903F-C40AB45BAB9D}"/>
              </a:ext>
            </a:extLst>
          </p:cNvPr>
          <p:cNvGraphicFramePr>
            <a:graphicFrameLocks noGrp="1"/>
          </p:cNvGraphicFramePr>
          <p:nvPr/>
        </p:nvGraphicFramePr>
        <p:xfrm>
          <a:off x="6041067" y="4168063"/>
          <a:ext cx="5943600" cy="1986280"/>
        </p:xfrm>
        <a:graphic>
          <a:graphicData uri="http://schemas.openxmlformats.org/drawingml/2006/table">
            <a:tbl>
              <a:tblPr/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28600">
                <a:tc gridSpan="5"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Low Member Growth</a:t>
                      </a:r>
                    </a:p>
                  </a:txBody>
                  <a:tcPr marL="0" marR="0" marT="63500" marB="63500" anchor="ctr">
                    <a:lnL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Low Member Growth</a:t>
                      </a:r>
                    </a:p>
                  </a:txBody>
                  <a:tcPr marL="0" marR="0" marT="63500" marB="63500" anchor="ctr">
                    <a:lnL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Low Member Growth</a:t>
                      </a:r>
                    </a:p>
                  </a:txBody>
                  <a:tcPr marL="0" marR="0" marT="63500" marB="63500" anchor="ctr">
                    <a:lnL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Low Member Growth</a:t>
                      </a:r>
                    </a:p>
                  </a:txBody>
                  <a:tcPr marL="0" marR="0" marT="63500" marB="63500" anchor="ctr">
                    <a:lnL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Low Member Growth</a:t>
                      </a:r>
                    </a:p>
                  </a:txBody>
                  <a:tcPr marL="0" marR="0" marT="63500" marB="63500" anchor="ctr">
                    <a:lnL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Metric</a:t>
                      </a:r>
                    </a:p>
                  </a:txBody>
                  <a:tcPr marL="0" marR="0" marT="63500" marB="63500" anchor="ctr">
                    <a:lnL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Year 1</a:t>
                      </a:r>
                    </a:p>
                  </a:txBody>
                  <a:tcPr marL="0" marR="0" marT="63500" marB="63500" anchor="ctr">
                    <a:lnL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Year 2</a:t>
                      </a:r>
                    </a:p>
                  </a:txBody>
                  <a:tcPr marL="0" marR="0" marT="63500" marB="63500" anchor="ctr">
                    <a:lnL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Year 3</a:t>
                      </a:r>
                    </a:p>
                  </a:txBody>
                  <a:tcPr marL="0" marR="0" marT="63500" marB="63500" anchor="ctr">
                    <a:lnL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Year 4</a:t>
                      </a:r>
                    </a:p>
                  </a:txBody>
                  <a:tcPr marL="0" marR="0" marT="63500" marB="63500" anchor="ctr">
                    <a:lnL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Number of Members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0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500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1,000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2,000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Incremental Margin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0.0K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296.2K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592.5K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1,184.9K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Network Access Fee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0.0K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6.0K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12.0K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24.0K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Implementation Fee (One-Time)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-150.0K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0.0K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0.0K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0.0K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Net Margin Change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-150.0K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1" i="0" u="none" cap="non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302.2K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604.5K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1" i="0" u="none" cap="non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1,208.9K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579458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B1584104-3166-4FA8-92FB-C6ABEB17DCED}"/>
              </a:ext>
            </a:extLst>
          </p:cNvPr>
          <p:cNvSpPr/>
          <p:nvPr/>
        </p:nvSpPr>
        <p:spPr>
          <a:xfrm>
            <a:off x="0" y="0"/>
            <a:ext cx="978408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BDF93BA-77DA-4714-87BA-6C1545215C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902199" y="6465009"/>
            <a:ext cx="4114800" cy="365125"/>
          </a:xfrm>
        </p:spPr>
        <p:txBody>
          <a:bodyPr/>
          <a:lstStyle/>
          <a:p>
            <a:r>
              <a:rPr lang="en-US" dirty="0"/>
              <a:t>Key Benefit Administrators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912CE32-70CB-45CC-841F-9F408BFEE5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FC719D-C4A7-4544-876E-D411D11AF6C9}" type="slidenum">
              <a:rPr lang="en-US" smtClean="0"/>
              <a:t>8</a:t>
            </a:fld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6B699B2-0ED4-420C-8D6A-E40BF532CD0F}"/>
              </a:ext>
            </a:extLst>
          </p:cNvPr>
          <p:cNvSpPr/>
          <p:nvPr/>
        </p:nvSpPr>
        <p:spPr>
          <a:xfrm>
            <a:off x="0" y="-27866"/>
            <a:ext cx="978408" cy="6858000"/>
          </a:xfrm>
          <a:prstGeom prst="rect">
            <a:avLst/>
          </a:prstGeom>
          <a:solidFill>
            <a:srgbClr val="254F96">
              <a:alpha val="86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11A9C655-FF92-49E3-BB7D-E5BBC008C6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 rot="16200000">
            <a:off x="-2583404" y="3031902"/>
            <a:ext cx="6145216" cy="752041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  <a:spcBef>
                <a:spcPts val="600"/>
              </a:spcBef>
            </a:pPr>
            <a:r>
              <a:rPr lang="en-US" sz="3600" b="0" dirty="0">
                <a:solidFill>
                  <a:schemeClr val="bg1"/>
                </a:solidFill>
              </a:rPr>
              <a:t>SINGLE YEAR SUMMARY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B8821D0-DEDE-002D-E87D-13E033D5D75F}"/>
              </a:ext>
            </a:extLst>
          </p:cNvPr>
          <p:cNvSpPr txBox="1"/>
          <p:nvPr/>
        </p:nvSpPr>
        <p:spPr>
          <a:xfrm>
            <a:off x="1091591" y="5433068"/>
            <a:ext cx="1088133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/>
              </a:rPr>
              <a:t>NOTE:  Please see detailed financial analysis and assumptions used starting on page 15. 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/>
              </a:rPr>
              <a:t>Financial projections do not include 340B contribution margin, which could represent $136 PMPM by optimizing 340B through Rx plan design, JH’s approved site(s) with network integration, and development of JH’s proprietary PBM program.</a:t>
            </a:r>
            <a:r>
              <a:rPr lang="en-US" sz="1600" dirty="0">
                <a:highlight>
                  <a:srgbClr val="FFFF00"/>
                </a:highlight>
              </a:rPr>
              <a:t>   </a:t>
            </a:r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8EEE6B9C-3235-DC73-C156-0C3E56CE57BF}"/>
              </a:ext>
            </a:extLst>
          </p:cNvPr>
          <p:cNvGraphicFramePr>
            <a:graphicFrameLocks noGrp="1"/>
          </p:cNvGraphicFramePr>
          <p:nvPr/>
        </p:nvGraphicFramePr>
        <p:xfrm>
          <a:off x="2138172" y="500888"/>
          <a:ext cx="9052560" cy="4572000"/>
        </p:xfrm>
        <a:graphic>
          <a:graphicData uri="http://schemas.openxmlformats.org/drawingml/2006/table">
            <a:tbl>
              <a:tblPr/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0">
                <a:tc gridSpan="8">
                  <a:txBody>
                    <a:bodyPr/>
                    <a:lstStyle/>
                    <a:p>
                      <a:pPr marL="127000" marR="127000" algn="l">
                        <a:lnSpc>
                          <a:spcPct val="100000"/>
                        </a:lnSpc>
                        <a:spcBef>
                          <a:spcPts val="10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US" sz="2000" b="1" i="0" u="none" cap="none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KIP</a:t>
                      </a:r>
                      <a:r>
                        <a:rPr sz="2000" b="1" i="0" u="none" cap="none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 Covered Members Financial Analysis</a:t>
                      </a:r>
                    </a:p>
                  </a:txBody>
                  <a:tcPr marL="0" marR="0" marT="127000" marB="1270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4A72B0">
                        <a:alpha val="10000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127000" marR="127000" algn="l">
                        <a:lnSpc>
                          <a:spcPct val="100000"/>
                        </a:lnSpc>
                        <a:spcBef>
                          <a:spcPts val="10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sz="2000" b="1" i="0" u="none" cap="none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DTE Covered Members Financial Analysis</a:t>
                      </a:r>
                    </a:p>
                  </a:txBody>
                  <a:tcPr marL="0" marR="0" marT="127000" marB="1270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4A72B0">
                        <a:alpha val="10000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127000" marR="127000" algn="l">
                        <a:lnSpc>
                          <a:spcPct val="100000"/>
                        </a:lnSpc>
                        <a:spcBef>
                          <a:spcPts val="10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sz="2000" b="1" i="0" u="none" cap="none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DTE Covered Members Financial Analysis</a:t>
                      </a:r>
                    </a:p>
                  </a:txBody>
                  <a:tcPr marL="0" marR="0" marT="127000" marB="1270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4A72B0">
                        <a:alpha val="10000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127000" marR="127000" algn="l">
                        <a:lnSpc>
                          <a:spcPct val="100000"/>
                        </a:lnSpc>
                        <a:spcBef>
                          <a:spcPts val="10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sz="2000" b="1" i="0" u="none" cap="none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DTE Covered Members Financial Analysis</a:t>
                      </a:r>
                    </a:p>
                  </a:txBody>
                  <a:tcPr marL="0" marR="0" marT="127000" marB="1270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4A72B0">
                        <a:alpha val="10000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127000" marR="127000" algn="l">
                        <a:lnSpc>
                          <a:spcPct val="100000"/>
                        </a:lnSpc>
                        <a:spcBef>
                          <a:spcPts val="10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sz="2000" b="1" i="0" u="none" cap="none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DTE Covered Members Financial Analysis</a:t>
                      </a:r>
                    </a:p>
                  </a:txBody>
                  <a:tcPr marL="0" marR="0" marT="127000" marB="1270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4A72B0">
                        <a:alpha val="10000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127000" marR="127000" algn="l">
                        <a:lnSpc>
                          <a:spcPct val="100000"/>
                        </a:lnSpc>
                        <a:spcBef>
                          <a:spcPts val="10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sz="2000" b="1" i="0" u="none" cap="none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DTE Covered Members Financial Analysis</a:t>
                      </a:r>
                    </a:p>
                  </a:txBody>
                  <a:tcPr marL="0" marR="0" marT="127000" marB="1270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4A72B0">
                        <a:alpha val="10000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127000" marR="127000" algn="l">
                        <a:lnSpc>
                          <a:spcPct val="100000"/>
                        </a:lnSpc>
                        <a:spcBef>
                          <a:spcPts val="10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sz="2000" b="1" i="0" u="none" cap="none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DTE Covered Members Financial Analysis</a:t>
                      </a:r>
                    </a:p>
                  </a:txBody>
                  <a:tcPr marL="0" marR="0" marT="127000" marB="1270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4A72B0">
                        <a:alpha val="10000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127000" marR="127000" algn="l">
                        <a:lnSpc>
                          <a:spcPct val="100000"/>
                        </a:lnSpc>
                        <a:spcBef>
                          <a:spcPts val="10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sz="2000" b="1" i="0" u="none" cap="none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DTE Covered Members Financial Analysis</a:t>
                      </a:r>
                    </a:p>
                  </a:txBody>
                  <a:tcPr marL="0" marR="0" marT="127000" marB="1270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4A72B0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 gridSpan="8">
                  <a:txBody>
                    <a:bodyPr/>
                    <a:lstStyle/>
                    <a:p>
                      <a:pPr marL="127000" marR="127000" algn="l">
                        <a:lnSpc>
                          <a:spcPct val="100000"/>
                        </a:lnSpc>
                        <a:spcBef>
                          <a:spcPts val="10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sz="1400" b="1" i="0" u="none" cap="none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Target Estimate With 6.5% Steerage to Just Health and a 10 Percentage-Point Improved Margin for KIP Patients.</a:t>
                      </a:r>
                    </a:p>
                  </a:txBody>
                  <a:tcPr marL="0" marR="0" marT="127000" marB="1270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4A72B0">
                        <a:alpha val="10000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127000" marR="127000" algn="l">
                        <a:lnSpc>
                          <a:spcPct val="100000"/>
                        </a:lnSpc>
                        <a:spcBef>
                          <a:spcPts val="10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sz="1400" b="1" i="0" u="none" cap="none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Target Estimate With 6.5% Steerage to Just Health and a 10 Percentage-Point Improved Margin for KIP Patients.</a:t>
                      </a:r>
                    </a:p>
                  </a:txBody>
                  <a:tcPr marL="0" marR="0" marT="127000" marB="1270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4A72B0">
                        <a:alpha val="10000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127000" marR="127000" algn="l">
                        <a:lnSpc>
                          <a:spcPct val="100000"/>
                        </a:lnSpc>
                        <a:spcBef>
                          <a:spcPts val="10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sz="1400" b="1" i="0" u="none" cap="none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Target Estimate With 6.5% Steerage to Just Health and a 10 Percentage-Point Improved Margin for KIP Patients.</a:t>
                      </a:r>
                    </a:p>
                  </a:txBody>
                  <a:tcPr marL="0" marR="0" marT="127000" marB="1270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4A72B0">
                        <a:alpha val="10000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127000" marR="127000" algn="l">
                        <a:lnSpc>
                          <a:spcPct val="100000"/>
                        </a:lnSpc>
                        <a:spcBef>
                          <a:spcPts val="10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sz="1400" b="1" i="0" u="none" cap="none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Target Estimate With 6.5% Steerage to Just Health and a 10 Percentage-Point Improved Margin for KIP Patients.</a:t>
                      </a:r>
                    </a:p>
                  </a:txBody>
                  <a:tcPr marL="0" marR="0" marT="127000" marB="1270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4A72B0">
                        <a:alpha val="10000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127000" marR="127000" algn="l">
                        <a:lnSpc>
                          <a:spcPct val="100000"/>
                        </a:lnSpc>
                        <a:spcBef>
                          <a:spcPts val="10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sz="1400" b="1" i="0" u="none" cap="none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Target Estimate With 6.5% Steerage to Just Health and a 10 Percentage-Point Improved Margin for KIP Patients.</a:t>
                      </a:r>
                    </a:p>
                  </a:txBody>
                  <a:tcPr marL="0" marR="0" marT="127000" marB="1270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4A72B0">
                        <a:alpha val="10000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127000" marR="127000" algn="l">
                        <a:lnSpc>
                          <a:spcPct val="100000"/>
                        </a:lnSpc>
                        <a:spcBef>
                          <a:spcPts val="10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sz="1400" b="1" i="0" u="none" cap="none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Target Estimate With 6.5% Steerage to Just Health and a 10 Percentage-Point Improved Margin for KIP Patients.</a:t>
                      </a:r>
                    </a:p>
                  </a:txBody>
                  <a:tcPr marL="0" marR="0" marT="127000" marB="1270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4A72B0">
                        <a:alpha val="10000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127000" marR="127000" algn="l">
                        <a:lnSpc>
                          <a:spcPct val="100000"/>
                        </a:lnSpc>
                        <a:spcBef>
                          <a:spcPts val="10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sz="1400" b="1" i="0" u="none" cap="none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Target Estimate With 6.5% Steerage to Just Health and a 10 Percentage-Point Improved Margin for KIP Patients.</a:t>
                      </a:r>
                    </a:p>
                  </a:txBody>
                  <a:tcPr marL="0" marR="0" marT="127000" marB="1270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4A72B0">
                        <a:alpha val="10000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127000" marR="127000" algn="l">
                        <a:lnSpc>
                          <a:spcPct val="100000"/>
                        </a:lnSpc>
                        <a:spcBef>
                          <a:spcPts val="10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sz="1400" b="1" i="0" u="none" cap="none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Target Estimate With 6.5% Steerage to Just Health and a 10 Percentage-Point Improved Margin for KIP Patients.</a:t>
                      </a:r>
                    </a:p>
                  </a:txBody>
                  <a:tcPr marL="0" marR="0" marT="127000" marB="1270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4A72B0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127000" marR="127000" algn="ctr">
                        <a:lnSpc>
                          <a:spcPct val="100000"/>
                        </a:lnSpc>
                        <a:spcBef>
                          <a:spcPts val="10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US" sz="1200" b="1" i="0" u="none" cap="non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KIP</a:t>
                      </a:r>
                      <a:r>
                        <a:rPr sz="1200" b="1" i="0" u="none" cap="non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 Members</a:t>
                      </a:r>
                    </a:p>
                  </a:txBody>
                  <a:tcPr marL="0" marR="0" marT="127000" marB="1270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E7ECF5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27000" marR="127000" algn="ctr">
                        <a:lnSpc>
                          <a:spcPct val="100000"/>
                        </a:lnSpc>
                        <a:spcBef>
                          <a:spcPts val="10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sz="1200" b="1" i="0" u="none" cap="non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Pre-</a:t>
                      </a:r>
                      <a:r>
                        <a:rPr lang="en-US" sz="1200" b="1" i="0" u="none" cap="non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KIP</a:t>
                      </a:r>
                      <a:r>
                        <a:rPr sz="1200" b="1" i="0" u="none" cap="non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 Revenue</a:t>
                      </a:r>
                    </a:p>
                  </a:txBody>
                  <a:tcPr marL="0" marR="0" marT="127000" marB="1270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E7ECF5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27000" marR="127000" algn="ctr">
                        <a:lnSpc>
                          <a:spcPct val="100000"/>
                        </a:lnSpc>
                        <a:spcBef>
                          <a:spcPts val="10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sz="1200" b="1" i="0" u="none" cap="non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Pre-</a:t>
                      </a:r>
                      <a:r>
                        <a:rPr lang="en-US" sz="1200" b="1" i="0" u="none" cap="non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KIP</a:t>
                      </a:r>
                      <a:r>
                        <a:rPr sz="1200" b="1" i="0" u="none" cap="non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 Margin</a:t>
                      </a:r>
                    </a:p>
                  </a:txBody>
                  <a:tcPr marL="0" marR="0" marT="127000" marB="1270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E7ECF5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27000" marR="127000" algn="ctr">
                        <a:lnSpc>
                          <a:spcPct val="100000"/>
                        </a:lnSpc>
                        <a:spcBef>
                          <a:spcPts val="10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US" sz="1200" b="1" i="0" u="none" cap="non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KIP</a:t>
                      </a:r>
                      <a:r>
                        <a:rPr sz="1200" b="1" i="0" u="none" cap="non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 Revenue</a:t>
                      </a:r>
                    </a:p>
                  </a:txBody>
                  <a:tcPr marL="0" marR="0" marT="127000" marB="1270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E7ECF5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27000" marR="127000" algn="ctr">
                        <a:lnSpc>
                          <a:spcPct val="100000"/>
                        </a:lnSpc>
                        <a:spcBef>
                          <a:spcPts val="10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US" sz="1200" b="1" i="0" u="none" cap="non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KIP</a:t>
                      </a:r>
                      <a:r>
                        <a:rPr sz="1200" b="1" i="0" u="none" cap="non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 Incr. Revenue</a:t>
                      </a:r>
                    </a:p>
                  </a:txBody>
                  <a:tcPr marL="0" marR="0" marT="127000" marB="1270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E7ECF5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27000" marR="127000" algn="ctr">
                        <a:lnSpc>
                          <a:spcPct val="100000"/>
                        </a:lnSpc>
                        <a:spcBef>
                          <a:spcPts val="10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US" sz="1200" b="1" i="0" u="none" cap="non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KIP</a:t>
                      </a:r>
                      <a:r>
                        <a:rPr sz="1200" b="1" i="0" u="none" cap="non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 Total Margin</a:t>
                      </a:r>
                    </a:p>
                  </a:txBody>
                  <a:tcPr marL="0" marR="0" marT="127000" marB="1270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E7ECF5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27000" marR="127000" algn="ctr">
                        <a:lnSpc>
                          <a:spcPct val="100000"/>
                        </a:lnSpc>
                        <a:spcBef>
                          <a:spcPts val="10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US" sz="1200" b="1" i="0" u="none" cap="non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KIP</a:t>
                      </a:r>
                      <a:r>
                        <a:rPr sz="1200" b="1" i="0" u="none" cap="non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 Incr. Margin</a:t>
                      </a:r>
                    </a:p>
                  </a:txBody>
                  <a:tcPr marL="0" marR="0" marT="127000" marB="1270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E7ECF5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27000" marR="127000" algn="ctr">
                        <a:lnSpc>
                          <a:spcPct val="100000"/>
                        </a:lnSpc>
                        <a:spcBef>
                          <a:spcPts val="10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sz="1200" b="1" i="0" u="none" cap="non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Net Margin Less </a:t>
                      </a:r>
                      <a:r>
                        <a:rPr lang="en-US" sz="1200" b="1" i="0" u="none" cap="non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KIP</a:t>
                      </a:r>
                      <a:r>
                        <a:rPr sz="1200" b="1" i="0" u="none" cap="non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 Fees</a:t>
                      </a:r>
                    </a:p>
                  </a:txBody>
                  <a:tcPr marL="0" marR="0" marT="127000" marB="1270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E7ECF5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127000" marR="127000" algn="l">
                        <a:lnSpc>
                          <a:spcPct val="100000"/>
                        </a:lnSpc>
                        <a:spcBef>
                          <a:spcPts val="10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100</a:t>
                      </a:r>
                    </a:p>
                  </a:txBody>
                  <a:tcPr marL="0" marR="0" marT="127000" marB="1270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27000" marR="127000" algn="l">
                        <a:lnSpc>
                          <a:spcPct val="100000"/>
                        </a:lnSpc>
                        <a:spcBef>
                          <a:spcPts val="10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$   216K</a:t>
                      </a:r>
                    </a:p>
                  </a:txBody>
                  <a:tcPr marL="0" marR="0" marT="127000" marB="1270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E8F4F9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27000" marR="127000" algn="l">
                        <a:lnSpc>
                          <a:spcPct val="100000"/>
                        </a:lnSpc>
                        <a:spcBef>
                          <a:spcPts val="10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$    88K</a:t>
                      </a:r>
                    </a:p>
                  </a:txBody>
                  <a:tcPr marL="0" marR="0" marT="127000" marB="1270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E8F4F9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27000" marR="127000" algn="l">
                        <a:lnSpc>
                          <a:spcPct val="100000"/>
                        </a:lnSpc>
                        <a:spcBef>
                          <a:spcPts val="10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$   288K</a:t>
                      </a:r>
                    </a:p>
                  </a:txBody>
                  <a:tcPr marL="0" marR="0" marT="127000" marB="1270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C6E2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27000" marR="127000" algn="l">
                        <a:lnSpc>
                          <a:spcPct val="100000"/>
                        </a:lnSpc>
                        <a:spcBef>
                          <a:spcPts val="10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$    72K</a:t>
                      </a:r>
                    </a:p>
                  </a:txBody>
                  <a:tcPr marL="0" marR="0" marT="127000" marB="1270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C6E2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27000" marR="127000" algn="l">
                        <a:lnSpc>
                          <a:spcPct val="100000"/>
                        </a:lnSpc>
                        <a:spcBef>
                          <a:spcPts val="10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$   146K</a:t>
                      </a:r>
                    </a:p>
                  </a:txBody>
                  <a:tcPr marL="0" marR="0" marT="127000" marB="1270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C6E2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27000" marR="127000" algn="l">
                        <a:lnSpc>
                          <a:spcPct val="100000"/>
                        </a:lnSpc>
                        <a:spcBef>
                          <a:spcPts val="10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$    58K</a:t>
                      </a:r>
                    </a:p>
                  </a:txBody>
                  <a:tcPr marL="0" marR="0" marT="127000" marB="1270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C6E2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27000" marR="127000" algn="l">
                        <a:lnSpc>
                          <a:spcPct val="100000"/>
                        </a:lnSpc>
                        <a:spcBef>
                          <a:spcPts val="10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$   -91K</a:t>
                      </a:r>
                    </a:p>
                  </a:txBody>
                  <a:tcPr marL="0" marR="0" marT="127000" marB="1270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0047AB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127000" marR="127000" algn="l">
                        <a:lnSpc>
                          <a:spcPct val="100000"/>
                        </a:lnSpc>
                        <a:spcBef>
                          <a:spcPts val="10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500</a:t>
                      </a:r>
                    </a:p>
                  </a:txBody>
                  <a:tcPr marL="0" marR="0" marT="127000" marB="1270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27000" marR="127000" algn="l">
                        <a:lnSpc>
                          <a:spcPct val="100000"/>
                        </a:lnSpc>
                        <a:spcBef>
                          <a:spcPts val="10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$ 1,079K</a:t>
                      </a:r>
                    </a:p>
                  </a:txBody>
                  <a:tcPr marL="0" marR="0" marT="127000" marB="1270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E8F4F9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27000" marR="127000" algn="l">
                        <a:lnSpc>
                          <a:spcPct val="100000"/>
                        </a:lnSpc>
                        <a:spcBef>
                          <a:spcPts val="10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$   441K</a:t>
                      </a:r>
                    </a:p>
                  </a:txBody>
                  <a:tcPr marL="0" marR="0" marT="127000" marB="1270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E8F4F9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27000" marR="127000" algn="l">
                        <a:lnSpc>
                          <a:spcPct val="100000"/>
                        </a:lnSpc>
                        <a:spcBef>
                          <a:spcPts val="10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$ 1,438K</a:t>
                      </a:r>
                    </a:p>
                  </a:txBody>
                  <a:tcPr marL="0" marR="0" marT="127000" marB="1270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C6E2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27000" marR="127000" algn="l">
                        <a:lnSpc>
                          <a:spcPct val="100000"/>
                        </a:lnSpc>
                        <a:spcBef>
                          <a:spcPts val="10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$   359K</a:t>
                      </a:r>
                    </a:p>
                  </a:txBody>
                  <a:tcPr marL="0" marR="0" marT="127000" marB="1270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C6E2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27000" marR="127000" algn="l">
                        <a:lnSpc>
                          <a:spcPct val="100000"/>
                        </a:lnSpc>
                        <a:spcBef>
                          <a:spcPts val="10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$   731K</a:t>
                      </a:r>
                    </a:p>
                  </a:txBody>
                  <a:tcPr marL="0" marR="0" marT="127000" marB="1270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C6E2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27000" marR="127000" algn="l">
                        <a:lnSpc>
                          <a:spcPct val="100000"/>
                        </a:lnSpc>
                        <a:spcBef>
                          <a:spcPts val="10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$   290K</a:t>
                      </a:r>
                    </a:p>
                  </a:txBody>
                  <a:tcPr marL="0" marR="0" marT="127000" marB="1270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C6E2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27000" marR="127000" algn="l">
                        <a:lnSpc>
                          <a:spcPct val="100000"/>
                        </a:lnSpc>
                        <a:spcBef>
                          <a:spcPts val="10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$   146K</a:t>
                      </a:r>
                    </a:p>
                  </a:txBody>
                  <a:tcPr marL="0" marR="0" marT="127000" marB="1270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0047AB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127000" marR="127000" algn="l">
                        <a:lnSpc>
                          <a:spcPct val="100000"/>
                        </a:lnSpc>
                        <a:spcBef>
                          <a:spcPts val="10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1,000</a:t>
                      </a:r>
                    </a:p>
                  </a:txBody>
                  <a:tcPr marL="0" marR="0" marT="127000" marB="1270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27000" marR="127000" algn="l">
                        <a:lnSpc>
                          <a:spcPct val="100000"/>
                        </a:lnSpc>
                        <a:spcBef>
                          <a:spcPts val="10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$ 2,158K</a:t>
                      </a:r>
                    </a:p>
                  </a:txBody>
                  <a:tcPr marL="0" marR="0" marT="127000" marB="1270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E8F4F9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27000" marR="127000" algn="l">
                        <a:lnSpc>
                          <a:spcPct val="100000"/>
                        </a:lnSpc>
                        <a:spcBef>
                          <a:spcPts val="10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$   881K</a:t>
                      </a:r>
                    </a:p>
                  </a:txBody>
                  <a:tcPr marL="0" marR="0" marT="127000" marB="1270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E8F4F9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27000" marR="127000" algn="l">
                        <a:lnSpc>
                          <a:spcPct val="100000"/>
                        </a:lnSpc>
                        <a:spcBef>
                          <a:spcPts val="10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$ 2,876K</a:t>
                      </a:r>
                    </a:p>
                  </a:txBody>
                  <a:tcPr marL="0" marR="0" marT="127000" marB="1270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C6E2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27000" marR="127000" algn="l">
                        <a:lnSpc>
                          <a:spcPct val="100000"/>
                        </a:lnSpc>
                        <a:spcBef>
                          <a:spcPts val="10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$   717K</a:t>
                      </a:r>
                    </a:p>
                  </a:txBody>
                  <a:tcPr marL="0" marR="0" marT="127000" marB="1270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C6E2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27000" marR="127000" algn="l">
                        <a:lnSpc>
                          <a:spcPct val="100000"/>
                        </a:lnSpc>
                        <a:spcBef>
                          <a:spcPts val="10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$ 1,462K</a:t>
                      </a:r>
                    </a:p>
                  </a:txBody>
                  <a:tcPr marL="0" marR="0" marT="127000" marB="1270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C6E2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27000" marR="127000" algn="l">
                        <a:lnSpc>
                          <a:spcPct val="100000"/>
                        </a:lnSpc>
                        <a:spcBef>
                          <a:spcPts val="10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$   580K</a:t>
                      </a:r>
                    </a:p>
                  </a:txBody>
                  <a:tcPr marL="0" marR="0" marT="127000" marB="1270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C6E2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27000" marR="127000" algn="l">
                        <a:lnSpc>
                          <a:spcPct val="100000"/>
                        </a:lnSpc>
                        <a:spcBef>
                          <a:spcPts val="10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$   442K</a:t>
                      </a:r>
                    </a:p>
                  </a:txBody>
                  <a:tcPr marL="0" marR="0" marT="127000" marB="1270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0047AB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127000" marR="127000" algn="l">
                        <a:lnSpc>
                          <a:spcPct val="100000"/>
                        </a:lnSpc>
                        <a:spcBef>
                          <a:spcPts val="10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2,500</a:t>
                      </a:r>
                    </a:p>
                  </a:txBody>
                  <a:tcPr marL="0" marR="0" marT="127000" marB="1270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27000" marR="127000" algn="l">
                        <a:lnSpc>
                          <a:spcPct val="100000"/>
                        </a:lnSpc>
                        <a:spcBef>
                          <a:spcPts val="10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$ 5,396K</a:t>
                      </a:r>
                    </a:p>
                  </a:txBody>
                  <a:tcPr marL="0" marR="0" marT="127000" marB="1270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E8F4F9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27000" marR="127000" algn="l">
                        <a:lnSpc>
                          <a:spcPct val="100000"/>
                        </a:lnSpc>
                        <a:spcBef>
                          <a:spcPts val="10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$ 2,203K</a:t>
                      </a:r>
                    </a:p>
                  </a:txBody>
                  <a:tcPr marL="0" marR="0" marT="127000" marB="1270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E8F4F9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27000" marR="127000" algn="l">
                        <a:lnSpc>
                          <a:spcPct val="100000"/>
                        </a:lnSpc>
                        <a:spcBef>
                          <a:spcPts val="10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$ 7,190K</a:t>
                      </a:r>
                    </a:p>
                  </a:txBody>
                  <a:tcPr marL="0" marR="0" marT="127000" marB="1270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C6E2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27000" marR="127000" algn="l">
                        <a:lnSpc>
                          <a:spcPct val="100000"/>
                        </a:lnSpc>
                        <a:spcBef>
                          <a:spcPts val="10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$ 1,793K</a:t>
                      </a:r>
                    </a:p>
                  </a:txBody>
                  <a:tcPr marL="0" marR="0" marT="127000" marB="1270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C6E2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27000" marR="127000" algn="l">
                        <a:lnSpc>
                          <a:spcPct val="100000"/>
                        </a:lnSpc>
                        <a:spcBef>
                          <a:spcPts val="10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$ 3,654K</a:t>
                      </a:r>
                    </a:p>
                  </a:txBody>
                  <a:tcPr marL="0" marR="0" marT="127000" marB="1270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C6E2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27000" marR="127000" algn="l">
                        <a:lnSpc>
                          <a:spcPct val="100000"/>
                        </a:lnSpc>
                        <a:spcBef>
                          <a:spcPts val="10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$ 1,451K</a:t>
                      </a:r>
                    </a:p>
                  </a:txBody>
                  <a:tcPr marL="0" marR="0" marT="127000" marB="1270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C6E2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27000" marR="127000" algn="l">
                        <a:lnSpc>
                          <a:spcPct val="100000"/>
                        </a:lnSpc>
                        <a:spcBef>
                          <a:spcPts val="10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$ 1,331K</a:t>
                      </a:r>
                    </a:p>
                  </a:txBody>
                  <a:tcPr marL="0" marR="0" marT="127000" marB="1270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0047AB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127000" marR="127000" algn="l">
                        <a:lnSpc>
                          <a:spcPct val="100000"/>
                        </a:lnSpc>
                        <a:spcBef>
                          <a:spcPts val="10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10,000</a:t>
                      </a:r>
                    </a:p>
                  </a:txBody>
                  <a:tcPr marL="0" marR="0" marT="127000" marB="1270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27000" marR="127000" algn="l">
                        <a:lnSpc>
                          <a:spcPct val="100000"/>
                        </a:lnSpc>
                        <a:spcBef>
                          <a:spcPts val="10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$21,585K</a:t>
                      </a:r>
                    </a:p>
                  </a:txBody>
                  <a:tcPr marL="0" marR="0" marT="127000" marB="1270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E8F4F9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27000" marR="127000" algn="l">
                        <a:lnSpc>
                          <a:spcPct val="100000"/>
                        </a:lnSpc>
                        <a:spcBef>
                          <a:spcPts val="10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$ 8,812K</a:t>
                      </a:r>
                    </a:p>
                  </a:txBody>
                  <a:tcPr marL="0" marR="0" marT="127000" marB="1270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E8F4F9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27000" marR="127000" algn="l">
                        <a:lnSpc>
                          <a:spcPct val="100000"/>
                        </a:lnSpc>
                        <a:spcBef>
                          <a:spcPts val="10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$28,758K</a:t>
                      </a:r>
                    </a:p>
                  </a:txBody>
                  <a:tcPr marL="0" marR="0" marT="127000" marB="1270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C6E2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27000" marR="127000" algn="l">
                        <a:lnSpc>
                          <a:spcPct val="100000"/>
                        </a:lnSpc>
                        <a:spcBef>
                          <a:spcPts val="10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$ 7,174K</a:t>
                      </a:r>
                    </a:p>
                  </a:txBody>
                  <a:tcPr marL="0" marR="0" marT="127000" marB="1270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C6E2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27000" marR="127000" algn="l">
                        <a:lnSpc>
                          <a:spcPct val="100000"/>
                        </a:lnSpc>
                        <a:spcBef>
                          <a:spcPts val="10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$14,617K</a:t>
                      </a:r>
                    </a:p>
                  </a:txBody>
                  <a:tcPr marL="0" marR="0" marT="127000" marB="1270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C6E2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27000" marR="127000" algn="l">
                        <a:lnSpc>
                          <a:spcPct val="100000"/>
                        </a:lnSpc>
                        <a:spcBef>
                          <a:spcPts val="10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$ 5,805K</a:t>
                      </a:r>
                    </a:p>
                  </a:txBody>
                  <a:tcPr marL="0" marR="0" marT="127000" marB="1270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C6E2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27000" marR="127000" algn="l">
                        <a:lnSpc>
                          <a:spcPct val="100000"/>
                        </a:lnSpc>
                        <a:spcBef>
                          <a:spcPts val="10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$ 5,775K</a:t>
                      </a:r>
                    </a:p>
                  </a:txBody>
                  <a:tcPr marL="0" marR="0" marT="127000" marB="1270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0047AB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127000" marR="127000" algn="l">
                        <a:lnSpc>
                          <a:spcPct val="100000"/>
                        </a:lnSpc>
                        <a:spcBef>
                          <a:spcPts val="10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20,000</a:t>
                      </a:r>
                    </a:p>
                  </a:txBody>
                  <a:tcPr marL="0" marR="0" marT="127000" marB="1270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27000" marR="127000" algn="l">
                        <a:lnSpc>
                          <a:spcPct val="100000"/>
                        </a:lnSpc>
                        <a:spcBef>
                          <a:spcPts val="10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$43,170K</a:t>
                      </a:r>
                    </a:p>
                  </a:txBody>
                  <a:tcPr marL="0" marR="0" marT="127000" marB="1270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E8F4F9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27000" marR="127000" algn="l">
                        <a:lnSpc>
                          <a:spcPct val="100000"/>
                        </a:lnSpc>
                        <a:spcBef>
                          <a:spcPts val="10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$17,625K</a:t>
                      </a:r>
                    </a:p>
                  </a:txBody>
                  <a:tcPr marL="0" marR="0" marT="127000" marB="1270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E8F4F9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27000" marR="127000" algn="l">
                        <a:lnSpc>
                          <a:spcPct val="100000"/>
                        </a:lnSpc>
                        <a:spcBef>
                          <a:spcPts val="10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$57,517K</a:t>
                      </a:r>
                    </a:p>
                  </a:txBody>
                  <a:tcPr marL="0" marR="0" marT="127000" marB="1270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C6E2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27000" marR="127000" algn="l">
                        <a:lnSpc>
                          <a:spcPct val="100000"/>
                        </a:lnSpc>
                        <a:spcBef>
                          <a:spcPts val="10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$14,347K</a:t>
                      </a:r>
                    </a:p>
                  </a:txBody>
                  <a:tcPr marL="0" marR="0" marT="127000" marB="1270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C6E2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27000" marR="127000" algn="l">
                        <a:lnSpc>
                          <a:spcPct val="100000"/>
                        </a:lnSpc>
                        <a:spcBef>
                          <a:spcPts val="10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$29,234K</a:t>
                      </a:r>
                    </a:p>
                  </a:txBody>
                  <a:tcPr marL="0" marR="0" marT="127000" marB="1270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C6E2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27000" marR="127000" algn="l">
                        <a:lnSpc>
                          <a:spcPct val="100000"/>
                        </a:lnSpc>
                        <a:spcBef>
                          <a:spcPts val="10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$11,609K</a:t>
                      </a:r>
                    </a:p>
                  </a:txBody>
                  <a:tcPr marL="0" marR="0" marT="127000" marB="1270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C6E2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27000" marR="127000" algn="l">
                        <a:lnSpc>
                          <a:spcPct val="100000"/>
                        </a:lnSpc>
                        <a:spcBef>
                          <a:spcPts val="10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sz="1100" b="1" i="0" u="none" cap="none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$11,699K</a:t>
                      </a:r>
                    </a:p>
                  </a:txBody>
                  <a:tcPr marL="0" marR="0" marT="127000" marB="1270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0047AB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0354090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4" descr="Key Benefit Administrators Office Photos | Glassdoor">
            <a:extLst>
              <a:ext uri="{FF2B5EF4-FFF2-40B4-BE49-F238E27FC236}">
                <a16:creationId xmlns:a16="http://schemas.microsoft.com/office/drawing/2014/main" id="{1892E4D4-7A08-4B2B-AE4B-53A6D73CC08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 cstate="screen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-14"/>
          <a:stretch/>
        </p:blipFill>
        <p:spPr bwMode="auto">
          <a:xfrm>
            <a:off x="0" y="-1057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ABE43D6C-8B57-42E8-B1DC-2390ECA42EAC}"/>
              </a:ext>
            </a:extLst>
          </p:cNvPr>
          <p:cNvSpPr/>
          <p:nvPr/>
        </p:nvSpPr>
        <p:spPr>
          <a:xfrm>
            <a:off x="1" y="-1057"/>
            <a:ext cx="12203289" cy="6865412"/>
          </a:xfrm>
          <a:prstGeom prst="rect">
            <a:avLst/>
          </a:prstGeom>
          <a:solidFill>
            <a:srgbClr val="59CAE8">
              <a:alpha val="74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BB9A266-2718-4687-903B-B87AB1E456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2266" y="560444"/>
            <a:ext cx="6850224" cy="782540"/>
          </a:xfrm>
        </p:spPr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A Partner You Can Trust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49F6874-178E-4F82-9DAB-D6100F3B66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80530"/>
            <a:ext cx="4114800" cy="365125"/>
          </a:xfrm>
        </p:spPr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Key Benefit Administrators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7C4E82-3249-4BC7-AAC4-4019779692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FC719D-C4A7-4544-876E-D411D11AF6C9}" type="slidenum">
              <a:rPr lang="en-US" smtClean="0">
                <a:solidFill>
                  <a:schemeClr val="bg1"/>
                </a:solidFill>
              </a:rPr>
              <a:t>9</a:t>
            </a:fld>
            <a:endParaRPr lang="en-US" dirty="0">
              <a:solidFill>
                <a:schemeClr val="bg1"/>
              </a:solidFill>
            </a:endParaRPr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CE5A4C1D-715F-46F5-A80B-647078B97ADE}"/>
              </a:ext>
            </a:extLst>
          </p:cNvPr>
          <p:cNvGrpSpPr/>
          <p:nvPr/>
        </p:nvGrpSpPr>
        <p:grpSpPr>
          <a:xfrm>
            <a:off x="667280" y="3021140"/>
            <a:ext cx="10857442" cy="1200329"/>
            <a:chOff x="908754" y="2695500"/>
            <a:chExt cx="10558665" cy="1200329"/>
          </a:xfrm>
        </p:grpSpPr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E53A35DC-3649-45F8-BE1C-71234D1F47FC}"/>
                </a:ext>
              </a:extLst>
            </p:cNvPr>
            <p:cNvSpPr/>
            <p:nvPr/>
          </p:nvSpPr>
          <p:spPr>
            <a:xfrm>
              <a:off x="908754" y="2695500"/>
              <a:ext cx="2058812" cy="64633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b="1" dirty="0">
                  <a:solidFill>
                    <a:schemeClr val="bg1"/>
                  </a:solidFill>
                </a:rPr>
                <a:t>OUR OBJECTIVES ARE ALIGNED</a:t>
              </a:r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9BB7B37B-58E4-4EF5-8BCD-B5AFD3FF7576}"/>
                </a:ext>
              </a:extLst>
            </p:cNvPr>
            <p:cNvSpPr/>
            <p:nvPr/>
          </p:nvSpPr>
          <p:spPr>
            <a:xfrm>
              <a:off x="3464860" y="2695500"/>
              <a:ext cx="2096575" cy="64633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b="1" dirty="0">
                  <a:solidFill>
                    <a:schemeClr val="bg1"/>
                  </a:solidFill>
                </a:rPr>
                <a:t>WE KNOW THE </a:t>
              </a:r>
            </a:p>
            <a:p>
              <a:r>
                <a:rPr lang="en-US" b="1" dirty="0">
                  <a:solidFill>
                    <a:schemeClr val="bg1"/>
                  </a:solidFill>
                </a:rPr>
                <a:t>MARKET</a:t>
              </a:r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712D71E1-CFC6-401F-B564-C6DB174E5C25}"/>
                </a:ext>
              </a:extLst>
            </p:cNvPr>
            <p:cNvSpPr/>
            <p:nvPr/>
          </p:nvSpPr>
          <p:spPr>
            <a:xfrm>
              <a:off x="6105045" y="2695500"/>
              <a:ext cx="1861517" cy="64633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b="1" dirty="0">
                  <a:solidFill>
                    <a:schemeClr val="bg1"/>
                  </a:solidFill>
                </a:rPr>
                <a:t>COMPLETELY TRANSPARENT</a:t>
              </a:r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3219F81E-41A2-4D21-B41F-E66CCE1EAA9D}"/>
                </a:ext>
              </a:extLst>
            </p:cNvPr>
            <p:cNvSpPr/>
            <p:nvPr/>
          </p:nvSpPr>
          <p:spPr>
            <a:xfrm>
              <a:off x="9062157" y="2695500"/>
              <a:ext cx="2405262" cy="1200329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b="1" dirty="0">
                  <a:solidFill>
                    <a:schemeClr val="bg1"/>
                  </a:solidFill>
                </a:rPr>
                <a:t>WE HAVE THE SOPHISTICATION AND INFRASTRUCTURE TO EFFECTIVELY COMPETE</a:t>
              </a:r>
            </a:p>
          </p:txBody>
        </p:sp>
      </p:grp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E6766B73-ED58-4B01-BD6B-A7599019575A}"/>
              </a:ext>
            </a:extLst>
          </p:cNvPr>
          <p:cNvCxnSpPr>
            <a:cxnSpLocks/>
          </p:cNvCxnSpPr>
          <p:nvPr/>
        </p:nvCxnSpPr>
        <p:spPr>
          <a:xfrm>
            <a:off x="2917120" y="2646538"/>
            <a:ext cx="0" cy="182880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C9A43ED8-AB6C-4F7E-9885-C690563292F2}"/>
              </a:ext>
            </a:extLst>
          </p:cNvPr>
          <p:cNvCxnSpPr>
            <a:cxnSpLocks/>
          </p:cNvCxnSpPr>
          <p:nvPr/>
        </p:nvCxnSpPr>
        <p:spPr>
          <a:xfrm>
            <a:off x="8372475" y="2646538"/>
            <a:ext cx="0" cy="182880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1BD031DC-C93A-4161-9A46-6F11F2AEF085}"/>
              </a:ext>
            </a:extLst>
          </p:cNvPr>
          <p:cNvCxnSpPr>
            <a:cxnSpLocks/>
          </p:cNvCxnSpPr>
          <p:nvPr/>
        </p:nvCxnSpPr>
        <p:spPr>
          <a:xfrm>
            <a:off x="5468408" y="2646538"/>
            <a:ext cx="0" cy="182880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9" name="Group 48">
            <a:extLst>
              <a:ext uri="{FF2B5EF4-FFF2-40B4-BE49-F238E27FC236}">
                <a16:creationId xmlns:a16="http://schemas.microsoft.com/office/drawing/2014/main" id="{4CFD71DC-84A4-44EC-928A-6D9297F1CEFD}"/>
              </a:ext>
            </a:extLst>
          </p:cNvPr>
          <p:cNvGrpSpPr/>
          <p:nvPr/>
        </p:nvGrpSpPr>
        <p:grpSpPr>
          <a:xfrm>
            <a:off x="1051119" y="1991365"/>
            <a:ext cx="9064429" cy="723514"/>
            <a:chOff x="1051119" y="1877065"/>
            <a:chExt cx="8870575" cy="723514"/>
          </a:xfrm>
        </p:grpSpPr>
        <p:pic>
          <p:nvPicPr>
            <p:cNvPr id="36" name="Graphic 35" descr="Cycle with people">
              <a:extLst>
                <a:ext uri="{FF2B5EF4-FFF2-40B4-BE49-F238E27FC236}">
                  <a16:creationId xmlns:a16="http://schemas.microsoft.com/office/drawing/2014/main" id="{DD87A908-9804-4DB4-9FF4-150E55D0A4D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1051119" y="1877065"/>
              <a:ext cx="723514" cy="723514"/>
            </a:xfrm>
            <a:prstGeom prst="rect">
              <a:avLst/>
            </a:prstGeom>
          </p:spPr>
        </p:pic>
        <p:pic>
          <p:nvPicPr>
            <p:cNvPr id="38" name="Graphic 37" descr="Bar graph with upward trend">
              <a:extLst>
                <a:ext uri="{FF2B5EF4-FFF2-40B4-BE49-F238E27FC236}">
                  <a16:creationId xmlns:a16="http://schemas.microsoft.com/office/drawing/2014/main" id="{A43C7D21-D600-499C-ADE1-3389B478D599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3742481" y="1952990"/>
              <a:ext cx="571664" cy="571664"/>
            </a:xfrm>
            <a:prstGeom prst="rect">
              <a:avLst/>
            </a:prstGeom>
          </p:spPr>
        </p:pic>
        <p:pic>
          <p:nvPicPr>
            <p:cNvPr id="42" name="Graphic 41" descr="Research">
              <a:extLst>
                <a:ext uri="{FF2B5EF4-FFF2-40B4-BE49-F238E27FC236}">
                  <a16:creationId xmlns:a16="http://schemas.microsoft.com/office/drawing/2014/main" id="{EB5D0031-3DC4-4608-96CB-BE0770B19154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6417105" y="1930239"/>
              <a:ext cx="617166" cy="617166"/>
            </a:xfrm>
            <a:prstGeom prst="rect">
              <a:avLst/>
            </a:prstGeom>
          </p:spPr>
        </p:pic>
        <p:pic>
          <p:nvPicPr>
            <p:cNvPr id="48" name="Graphic 47" descr="Bullseye">
              <a:extLst>
                <a:ext uri="{FF2B5EF4-FFF2-40B4-BE49-F238E27FC236}">
                  <a16:creationId xmlns:a16="http://schemas.microsoft.com/office/drawing/2014/main" id="{F0079980-31B3-4896-9D2D-D82AEDFA3E2C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9285554" y="1920753"/>
              <a:ext cx="636140" cy="636140"/>
            </a:xfrm>
            <a:prstGeom prst="rect">
              <a:avLst/>
            </a:prstGeom>
          </p:spPr>
        </p:pic>
      </p:grpSp>
      <p:pic>
        <p:nvPicPr>
          <p:cNvPr id="28" name="Picture 4">
            <a:extLst>
              <a:ext uri="{FF2B5EF4-FFF2-40B4-BE49-F238E27FC236}">
                <a16:creationId xmlns:a16="http://schemas.microsoft.com/office/drawing/2014/main" id="{9A68CCDA-F69E-4E1A-9343-202FFC37DCD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120176" y="4961762"/>
            <a:ext cx="3951647" cy="7677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37AD4757-49A8-4E8D-B5EB-262D21C155F1}"/>
              </a:ext>
            </a:extLst>
          </p:cNvPr>
          <p:cNvSpPr txBox="1"/>
          <p:nvPr/>
        </p:nvSpPr>
        <p:spPr>
          <a:xfrm>
            <a:off x="2976561" y="5746908"/>
            <a:ext cx="6238875" cy="646331"/>
          </a:xfrm>
          <a:prstGeom prst="rect">
            <a:avLst/>
          </a:prstGeom>
          <a:solidFill>
            <a:srgbClr val="244F9A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Derek Moore, Senior Vice President – KBA</a:t>
            </a:r>
          </a:p>
          <a:p>
            <a:pPr algn="ctr"/>
            <a:r>
              <a:rPr lang="en-US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845-283-9973 * derek.moore@keybenefit.com</a:t>
            </a:r>
          </a:p>
        </p:txBody>
      </p:sp>
    </p:spTree>
    <p:extLst>
      <p:ext uri="{BB962C8B-B14F-4D97-AF65-F5344CB8AC3E}">
        <p14:creationId xmlns:p14="http://schemas.microsoft.com/office/powerpoint/2010/main" val="2317283943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COUNT" val="29"/>
  <p:tag name="ARTICULATE_PROJECT_OPEN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38bb9d9a-492e-4d86-9bdd-e02b78ffe67a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6B4E10A533480428FBB8BE9B52FCBD1" ma:contentTypeVersion="16" ma:contentTypeDescription="Create a new document." ma:contentTypeScope="" ma:versionID="64d19ed0ff3ed9bc7ac3e809962da4f2">
  <xsd:schema xmlns:xsd="http://www.w3.org/2001/XMLSchema" xmlns:xs="http://www.w3.org/2001/XMLSchema" xmlns:p="http://schemas.microsoft.com/office/2006/metadata/properties" xmlns:ns3="38bb9d9a-492e-4d86-9bdd-e02b78ffe67a" xmlns:ns4="98771493-e6b0-4988-9425-a20c97ff2d5d" targetNamespace="http://schemas.microsoft.com/office/2006/metadata/properties" ma:root="true" ma:fieldsID="edf49902adfca0f4428381aef2cd2b75" ns3:_="" ns4:_="">
    <xsd:import namespace="38bb9d9a-492e-4d86-9bdd-e02b78ffe67a"/>
    <xsd:import namespace="98771493-e6b0-4988-9425-a20c97ff2d5d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ObjectDetectorVersions" minOccurs="0"/>
                <xsd:element ref="ns3:MediaServiceAuto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_activity" minOccurs="0"/>
                <xsd:element ref="ns3:MediaLengthInSeconds" minOccurs="0"/>
                <xsd:element ref="ns3:MediaServiceDateTaken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SystemTags" minOccurs="0"/>
                <xsd:element ref="ns3:MediaServiceSearchProperties" minOccurs="0"/>
                <xsd:element ref="ns3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8bb9d9a-492e-4d86-9bdd-e02b78ffe67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AutoTags" ma:index="11" nillable="true" ma:displayName="Tags" ma:internalName="MediaServiceAutoTags" ma:readOnly="true">
      <xsd:simpleType>
        <xsd:restriction base="dms:Text"/>
      </xsd:simpleType>
    </xsd:element>
    <xsd:element name="MediaServiceOCR" ma:index="12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_activity" ma:index="15" nillable="true" ma:displayName="_activity" ma:hidden="true" ma:internalName="_activity">
      <xsd:simpleType>
        <xsd:restriction base="dms:Note"/>
      </xsd:simpleType>
    </xsd:element>
    <xsd:element name="MediaLengthInSeconds" ma:index="16" nillable="true" ma:displayName="MediaLengthInSeconds" ma:hidden="true" ma:internalName="MediaLengthInSeconds" ma:readOnly="true">
      <xsd:simpleType>
        <xsd:restriction base="dms:Unknown"/>
      </xsd:simpleType>
    </xsd:element>
    <xsd:element name="MediaServiceDateTaken" ma:index="17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SystemTags" ma:index="21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SearchProperties" ma:index="22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Location" ma:index="23" nillable="true" ma:displayName="Location" ma:indexed="true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8771493-e6b0-4988-9425-a20c97ff2d5d" elementFormDefault="qualified">
    <xsd:import namespace="http://schemas.microsoft.com/office/2006/documentManagement/types"/>
    <xsd:import namespace="http://schemas.microsoft.com/office/infopath/2007/PartnerControls"/>
    <xsd:element name="SharedWithUsers" ma:index="1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20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F2DF0AA1-9465-45DA-A905-9501DB639AB6}">
  <ds:schemaRefs>
    <ds:schemaRef ds:uri="http://purl.org/dc/elements/1.1/"/>
    <ds:schemaRef ds:uri="http://purl.org/dc/terms/"/>
    <ds:schemaRef ds:uri="38bb9d9a-492e-4d86-9bdd-e02b78ffe67a"/>
    <ds:schemaRef ds:uri="http://schemas.microsoft.com/office/2006/documentManagement/types"/>
    <ds:schemaRef ds:uri="98771493-e6b0-4988-9425-a20c97ff2d5d"/>
    <ds:schemaRef ds:uri="http://purl.org/dc/dcmitype/"/>
    <ds:schemaRef ds:uri="http://schemas.microsoft.com/office/infopath/2007/PartnerControls"/>
    <ds:schemaRef ds:uri="http://schemas.openxmlformats.org/package/2006/metadata/core-properties"/>
    <ds:schemaRef ds:uri="http://schemas.microsoft.com/office/2006/metadata/properties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DEA857F9-8FB7-4917-BEF9-DFDBAC22268F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38bb9d9a-492e-4d86-9bdd-e02b78ffe67a"/>
    <ds:schemaRef ds:uri="98771493-e6b0-4988-9425-a20c97ff2d5d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56F5604B-F201-4300-A086-2482203EA6BC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48658</TotalTime>
  <Words>899</Words>
  <Application>Microsoft Office PowerPoint</Application>
  <PresentationFormat>Widescreen</PresentationFormat>
  <Paragraphs>277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5" baseType="lpstr">
      <vt:lpstr>Aptos Narrow</vt:lpstr>
      <vt:lpstr>Arial</vt:lpstr>
      <vt:lpstr>Calibri</vt:lpstr>
      <vt:lpstr>Calibri Light</vt:lpstr>
      <vt:lpstr>Wingdings</vt:lpstr>
      <vt:lpstr>Office Theme</vt:lpstr>
      <vt:lpstr>PowerPoint Presentation</vt:lpstr>
      <vt:lpstr>PowerPoint Presentation</vt:lpstr>
      <vt:lpstr>Market Leader in Private-Labeled Plans</vt:lpstr>
      <vt:lpstr>Key Incentive Plan (KIP) Profit Generation Opportunities for Just Health</vt:lpstr>
      <vt:lpstr>Significant Opportunity for Plan Growth Researched for Union, Essex and Hudson Counties</vt:lpstr>
      <vt:lpstr>Estimated Financial Returns and Assumptions</vt:lpstr>
      <vt:lpstr>FOUR-YEAR PROJECTIONS</vt:lpstr>
      <vt:lpstr>SINGLE YEAR SUMMARY</vt:lpstr>
      <vt:lpstr>A Partner You Can Trust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Hill, Jack</dc:creator>
  <cp:lastModifiedBy>Taylor Davis</cp:lastModifiedBy>
  <cp:revision>113</cp:revision>
  <cp:lastPrinted>2023-07-13T10:24:43Z</cp:lastPrinted>
  <dcterms:created xsi:type="dcterms:W3CDTF">2021-01-20T14:12:11Z</dcterms:created>
  <dcterms:modified xsi:type="dcterms:W3CDTF">2024-09-11T02:10:14Z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0x01010076B4E10A533480428FBB8BE9B52FCBD1</vt:lpwstr>
  </property>
</Properties>
</file>