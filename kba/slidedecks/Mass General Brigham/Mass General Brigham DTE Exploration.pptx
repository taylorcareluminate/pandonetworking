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3"/>
  </p:notesMasterIdLst>
  <p:sldIdLst>
    <p:sldId id="588" r:id="rId10"/>
    <p:sldId id="454" r:id="rId11"/>
    <p:sldId id="549" r:id="rId12"/>
    <p:sldId id="2145726869" r:id="rId13"/>
    <p:sldId id="452" r:id="rId14"/>
    <p:sldId id="466" r:id="rId15"/>
    <p:sldId id="2145726867" r:id="rId16"/>
    <p:sldId id="559" r:id="rId17"/>
    <p:sldId id="580" r:id="rId18"/>
    <p:sldId id="582" r:id="rId19"/>
    <p:sldId id="558" r:id="rId20"/>
    <p:sldId id="548" r:id="rId21"/>
    <p:sldId id="521" r:id="rId22"/>
    <p:sldId id="564" r:id="rId23"/>
    <p:sldId id="456" r:id="rId24"/>
    <p:sldId id="499" r:id="rId25"/>
    <p:sldId id="613" r:id="rId26"/>
    <p:sldId id="458" r:id="rId27"/>
    <p:sldId id="2145726859" r:id="rId28"/>
    <p:sldId id="2145726857" r:id="rId29"/>
    <p:sldId id="469" r:id="rId30"/>
    <p:sldId id="2145726856" r:id="rId31"/>
    <p:sldId id="614" r:id="rId32"/>
    <p:sldId id="281" r:id="rId33"/>
    <p:sldId id="283" r:id="rId34"/>
    <p:sldId id="285" r:id="rId35"/>
    <p:sldId id="2145726866" r:id="rId36"/>
    <p:sldId id="583" r:id="rId37"/>
    <p:sldId id="525" r:id="rId38"/>
    <p:sldId id="2145726868" r:id="rId39"/>
    <p:sldId id="571" r:id="rId40"/>
    <p:sldId id="2145726864" r:id="rId41"/>
    <p:sldId id="585" r:id="rId42"/>
    <p:sldId id="536" r:id="rId43"/>
    <p:sldId id="256" r:id="rId44"/>
    <p:sldId id="574" r:id="rId45"/>
    <p:sldId id="572" r:id="rId46"/>
    <p:sldId id="575" r:id="rId47"/>
    <p:sldId id="498" r:id="rId48"/>
    <p:sldId id="325"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40D28E-6C3E-4AE0-A5BD-3D2BF98ACE03}" v="3" dt="2025-05-02T14:31:21.029"/>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varScale="1">
        <p:scale>
          <a:sx n="98" d="100"/>
          <a:sy n="98" d="100"/>
        </p:scale>
        <p:origin x="828"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gs" Target="tags/tag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viewProps" Target="view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00386D03-F9B3-4144-9ED5-5487C9983082}"/>
    <pc:docChg chg="modSld">
      <pc:chgData name="Taylor Davis" userId="5c9e72a0-c39f-4aa1-9d7d-64125e78cbe6" providerId="ADAL" clId="{00386D03-F9B3-4144-9ED5-5487C9983082}" dt="2025-05-02T14:43:56.224" v="0" actId="2165"/>
      <pc:docMkLst>
        <pc:docMk/>
      </pc:docMkLst>
      <pc:sldChg chg="modSp mod">
        <pc:chgData name="Taylor Davis" userId="5c9e72a0-c39f-4aa1-9d7d-64125e78cbe6" providerId="ADAL" clId="{00386D03-F9B3-4144-9ED5-5487C9983082}" dt="2025-05-02T14:43:56.224" v="0" actId="2165"/>
        <pc:sldMkLst>
          <pc:docMk/>
          <pc:sldMk cId="4087636236" sldId="2145726868"/>
        </pc:sldMkLst>
        <pc:graphicFrameChg chg="modGraphic">
          <ac:chgData name="Taylor Davis" userId="5c9e72a0-c39f-4aa1-9d7d-64125e78cbe6" providerId="ADAL" clId="{00386D03-F9B3-4144-9ED5-5487C9983082}" dt="2025-05-02T14:43:56.224" v="0" actId="2165"/>
          <ac:graphicFrameMkLst>
            <pc:docMk/>
            <pc:sldMk cId="4087636236" sldId="2145726868"/>
            <ac:graphicFrameMk id="7" creationId="{00000000-0000-0000-0000-000000000000}"/>
          </ac:graphicFrameMkLst>
        </pc:graphicFrameChg>
      </pc:sldChg>
    </pc:docChg>
  </pc:docChgLst>
</pc:chgInfo>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5/2/2025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5/2/2025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5/2/2025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5/2/2025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5/2/2025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5/2/2025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5/2/2025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5/2/2025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5/2/2025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5/2/2025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5/2/2025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5/2/2025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5/2/2025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5/2/2025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5/2/2025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5/2/2025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5/2/2025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5/2/2025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5/2/2025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5/2/2025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5/2/2025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5/2/2025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5/2/2025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3.emf"/><Relationship Id="rId5" Type="http://schemas.openxmlformats.org/officeDocument/2006/relationships/image" Target="../media/image62.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jpe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7.png"/></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2.xml"/><Relationship Id="rId6" Type="http://schemas.openxmlformats.org/officeDocument/2006/relationships/image" Target="../media/image71.jpeg"/><Relationship Id="rId5" Type="http://schemas.openxmlformats.org/officeDocument/2006/relationships/image" Target="../media/image70.jpe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image" Target="../media/image77.svg"/><Relationship Id="rId11" Type="http://schemas.openxmlformats.org/officeDocument/2006/relationships/image" Target="../media/image10.png"/><Relationship Id="rId5" Type="http://schemas.openxmlformats.org/officeDocument/2006/relationships/image" Target="../media/image76.png"/><Relationship Id="rId10" Type="http://schemas.openxmlformats.org/officeDocument/2006/relationships/image" Target="../media/image81.svg"/><Relationship Id="rId4" Type="http://schemas.openxmlformats.org/officeDocument/2006/relationships/image" Target="../media/image75.svg"/><Relationship Id="rId9"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Mass General Brigham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6967220" y="429717"/>
            <a:ext cx="4822421"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MASS GENERAL BRIGHAM</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5</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Mass General Brigham is the quality and access leader in this service area (see slide 8). KBA expects this plan will sell very well.</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Mass General Brigham.</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Mass General Brigham</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12,000+ Employers       1,600,000</a:t>
            </a:r>
            <a:r>
              <a:rPr lang="en-US" sz="1600" spc="200" dirty="0">
                <a:latin typeface="Montserrat" panose="00000500000000000000" pitchFamily="2" charset="0"/>
                <a:cs typeface="+mj-cs"/>
                <a:sym typeface="Wingdings" panose="05000000000000000000" pitchFamily="2" charset="2"/>
              </a:rPr>
              <a:t>+ Employees       280,000+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3696712268"/>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6,319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2,899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1,628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1,012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362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204</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473,900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434,900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488,400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708,400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724,000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1,224,000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853,000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782,800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879,100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1,275,100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1,303,200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2,203,200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585829" y="1603730"/>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Mass General Brigham service area in York, Barnstable, Berkshire, Bristol, Dukes, Essex, Franklin, Hampden, Hampshire, Middlesex, Nantucket, Norfolk, Plymouth, Suffolk, Worcester, Belknap, Carroll, Hillsborough, Merrimack, Rockingham, Strafford, and Providence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6,228K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3,837K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2,881K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1,688K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$106.52M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$3.72M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$642.75M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$23.18M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$1327.47M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$47.7M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Mass General Brigham has 32% inpatient market share, and 16% outpatient market compared to hospitals/clinics in the Mass General Brigham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Mass General Brigham 4%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-1.8%</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3.2%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8.2%</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41,100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1,164.8K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2,329.7K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4,376.8K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7,030.2K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328.8K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493.2K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934.4K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2,348.9K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4,525.6K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7,343.4K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37,600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1,599.9K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3,199.8K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6,006.1K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9,681.5K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451.2K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1,406.7K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3,293.4K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6,277.3K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10,180.7K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729.8K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1,459.5K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2,731.5K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4,396.0K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124.8K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462.2K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1,404.3K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2,756.7K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4,524.4K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550686" y="3204809"/>
            <a:ext cx="4112754" cy="721360"/>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Mass General Brigham is the most recommended health system in York, Barnstable, Berkshire, Bristol, Dukes, Essex, Franklin, Hampden, Hampshire, Middlesex, Nantucket, Norfolk, Plymouth, Suffolk, Worcester, Belknap, Carroll, Hillsborough, Merrimack, Rockingham, Strafford, and Providence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417745698"/>
              </p:ext>
            </p:extLst>
          </p:nvPr>
        </p:nvGraphicFramePr>
        <p:xfrm>
          <a:off x="254558" y="227648"/>
          <a:ext cx="8740771" cy="6029960"/>
        </p:xfrm>
        <a:graphic>
          <a:graphicData uri="http://schemas.openxmlformats.org/drawingml/2006/table">
            <a:tbl>
              <a:tblPr/>
              <a:tblGrid>
                <a:gridCol w="2650613">
                  <a:extLst>
                    <a:ext uri="{9D8B030D-6E8A-4147-A177-3AD203B41FA5}">
                      <a16:colId xmlns:a16="http://schemas.microsoft.com/office/drawing/2014/main" val="20000"/>
                    </a:ext>
                  </a:extLst>
                </a:gridCol>
                <a:gridCol w="1554793">
                  <a:extLst>
                    <a:ext uri="{9D8B030D-6E8A-4147-A177-3AD203B41FA5}">
                      <a16:colId xmlns:a16="http://schemas.microsoft.com/office/drawing/2014/main" val="20001"/>
                    </a:ext>
                  </a:extLst>
                </a:gridCol>
                <a:gridCol w="1041117">
                  <a:extLst>
                    <a:ext uri="{9D8B030D-6E8A-4147-A177-3AD203B41FA5}">
                      <a16:colId xmlns:a16="http://schemas.microsoft.com/office/drawing/2014/main" val="20002"/>
                    </a:ext>
                  </a:extLst>
                </a:gridCol>
                <a:gridCol w="1007587">
                  <a:extLst>
                    <a:ext uri="{9D8B030D-6E8A-4147-A177-3AD203B41FA5}">
                      <a16:colId xmlns:a16="http://schemas.microsoft.com/office/drawing/2014/main" val="20003"/>
                    </a:ext>
                  </a:extLst>
                </a:gridCol>
                <a:gridCol w="1226455">
                  <a:extLst>
                    <a:ext uri="{9D8B030D-6E8A-4147-A177-3AD203B41FA5}">
                      <a16:colId xmlns:a16="http://schemas.microsoft.com/office/drawing/2014/main" val="20004"/>
                    </a:ext>
                  </a:extLst>
                </a:gridCol>
                <a:gridCol w="1260206">
                  <a:extLst>
                    <a:ext uri="{9D8B030D-6E8A-4147-A177-3AD203B41FA5}">
                      <a16:colId xmlns:a16="http://schemas.microsoft.com/office/drawing/2014/main" val="20005"/>
                    </a:ext>
                  </a:extLst>
                </a:gridCol>
              </a:tblGrid>
              <a:tr h="0">
                <a:tc>
                  <a:txBody>
                    <a:bodyPr/>
                    <a:lstStyle/>
                    <a:p>
                      <a:pPr marL="63500" marR="63500" algn="l">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HCAHPS</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Recommendation</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CMS Stars</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Mortality</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Readmission</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1" i="0" u="none" cap="none">
                          <a:solidFill>
                            <a:srgbClr val="000000">
                              <a:alpha val="100000"/>
                            </a:srgbClr>
                          </a:solidFill>
                          <a:latin typeface="Montserrat"/>
                          <a:cs typeface="Arial"/>
                          <a:sym typeface="Arial"/>
                        </a:rPr>
                        <a:t>KBA Brand</a:t>
                      </a:r>
                      <a:br>
                        <a:rPr sz="800" b="1" i="0" u="none" cap="none">
                          <a:solidFill>
                            <a:srgbClr val="000000">
                              <a:alpha val="100000"/>
                            </a:srgbClr>
                          </a:solidFill>
                          <a:latin typeface="Montserrat"/>
                          <a:cs typeface="Arial"/>
                          <a:sym typeface="Arial"/>
                        </a:rPr>
                      </a:br>
                      <a:r>
                        <a:rPr sz="8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175027">
                <a:tc>
                  <a:txBody>
                    <a:bodyPr/>
                    <a:lstStyle/>
                    <a:p>
                      <a:pPr marL="63500" marR="63500" algn="l">
                        <a:lnSpc>
                          <a:spcPct val="100000"/>
                        </a:lnSpc>
                        <a:spcBef>
                          <a:spcPts val="500"/>
                        </a:spcBef>
                        <a:spcAft>
                          <a:spcPts val="500"/>
                        </a:spcAft>
                        <a:buNone/>
                      </a:pPr>
                      <a:r>
                        <a:rPr sz="1200" b="0" i="0" u="none" cap="none" dirty="0">
                          <a:solidFill>
                            <a:srgbClr val="000000">
                              <a:alpha val="100000"/>
                            </a:srgbClr>
                          </a:solidFill>
                          <a:latin typeface="Montserrat"/>
                          <a:cs typeface="Arial"/>
                          <a:sym typeface="Arial"/>
                        </a:rPr>
                        <a:t>Mass General Brigham</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0" i="0" u="none" cap="none" dirty="0">
                          <a:solidFill>
                            <a:srgbClr val="FFFFFF">
                              <a:alpha val="100000"/>
                            </a:srgbClr>
                          </a:solidFill>
                          <a:latin typeface="Montserrat"/>
                          <a:cs typeface="Arial"/>
                          <a:sym typeface="Arial"/>
                        </a:rPr>
                        <a:t>83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5374AC">
                        <a:alpha val="100000"/>
                      </a:srgbClr>
                    </a:solidFill>
                  </a:tcPr>
                </a:tc>
                <a:tc>
                  <a:txBody>
                    <a:bodyPr/>
                    <a:lstStyle/>
                    <a:p>
                      <a:pPr marL="63500" marR="63500" algn="ctr">
                        <a:lnSpc>
                          <a:spcPct val="100000"/>
                        </a:lnSpc>
                        <a:spcBef>
                          <a:spcPts val="500"/>
                        </a:spcBef>
                        <a:spcAft>
                          <a:spcPts val="500"/>
                        </a:spcAft>
                        <a:buNone/>
                      </a:pPr>
                      <a:r>
                        <a:rPr sz="1200" b="0" i="0" u="none" cap="none">
                          <a:solidFill>
                            <a:srgbClr val="FFFFFF">
                              <a:alpha val="100000"/>
                            </a:srgbClr>
                          </a:solidFill>
                          <a:latin typeface="Montserrat"/>
                          <a:cs typeface="Arial"/>
                          <a:sym typeface="Arial"/>
                        </a:rPr>
                        <a:t>98</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45B9D">
                        <a:alpha val="100000"/>
                      </a:srgbClr>
                    </a:solidFill>
                  </a:tcPr>
                </a:tc>
                <a:tc>
                  <a:txBody>
                    <a:bodyPr/>
                    <a:lstStyle/>
                    <a:p>
                      <a:pPr marL="63500" marR="63500" algn="ctr">
                        <a:lnSpc>
                          <a:spcPct val="100000"/>
                        </a:lnSpc>
                        <a:spcBef>
                          <a:spcPts val="500"/>
                        </a:spcBef>
                        <a:spcAft>
                          <a:spcPts val="500"/>
                        </a:spcAft>
                        <a:buNone/>
                      </a:pPr>
                      <a:r>
                        <a:rPr sz="1200" b="0" i="0" u="none" cap="none" dirty="0">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200" b="0" i="0" u="none" cap="none" dirty="0">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200" b="0" i="0" u="none" cap="none" dirty="0">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986B6">
                        <a:alpha val="100000"/>
                      </a:srgbClr>
                    </a:solidFill>
                  </a:tcPr>
                </a:tc>
                <a:extLst>
                  <a:ext uri="{0D108BD9-81ED-4DB2-BD59-A6C34878D82A}">
                    <a16:rowId xmlns:a16="http://schemas.microsoft.com/office/drawing/2014/main" val="10001"/>
                  </a:ext>
                </a:extLst>
              </a:tr>
              <a:tr h="16265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Catholic Medical Center</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D7CB1">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extLst>
                  <a:ext uri="{0D108BD9-81ED-4DB2-BD59-A6C34878D82A}">
                    <a16:rowId xmlns:a16="http://schemas.microsoft.com/office/drawing/2014/main" val="10002"/>
                  </a:ext>
                </a:extLst>
              </a:tr>
              <a:tr h="17429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Lifespan</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979AF">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extLst>
                  <a:ext uri="{0D108BD9-81ED-4DB2-BD59-A6C34878D82A}">
                    <a16:rowId xmlns:a16="http://schemas.microsoft.com/office/drawing/2014/main" val="10003"/>
                  </a:ext>
                </a:extLst>
              </a:tr>
              <a:tr h="174295">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Boston Medical Center Corporation</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4"/>
                  </a:ext>
                </a:extLst>
              </a:tr>
              <a:tr h="17502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Capital Region Health 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5"/>
                  </a:ext>
                </a:extLst>
              </a:tr>
              <a:tr h="17426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Beth Israel Lahey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extLst>
                  <a:ext uri="{0D108BD9-81ED-4DB2-BD59-A6C34878D82A}">
                    <a16:rowId xmlns:a16="http://schemas.microsoft.com/office/drawing/2014/main" val="10006"/>
                  </a:ext>
                </a:extLst>
              </a:tr>
              <a:tr h="17502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Covenant Health (MA)</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777AE">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7"/>
                  </a:ext>
                </a:extLst>
              </a:tr>
              <a:tr h="16265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SolutionHealth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8"/>
                  </a:ext>
                </a:extLst>
              </a:tr>
              <a:tr h="17426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Trinity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DB0D0">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extLst>
                  <a:ext uri="{0D108BD9-81ED-4DB2-BD59-A6C34878D82A}">
                    <a16:rowId xmlns:a16="http://schemas.microsoft.com/office/drawing/2014/main" val="10009"/>
                  </a:ext>
                </a:extLst>
              </a:tr>
              <a:tr h="17502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Holyoke Medical Center</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extLst>
                  <a:ext uri="{0D108BD9-81ED-4DB2-BD59-A6C34878D82A}">
                    <a16:rowId xmlns:a16="http://schemas.microsoft.com/office/drawing/2014/main" val="10010"/>
                  </a:ext>
                </a:extLst>
              </a:tr>
              <a:tr h="174326">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11"/>
                  </a:ext>
                </a:extLst>
              </a:tr>
              <a:tr h="16265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South Shore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extLst>
                  <a:ext uri="{0D108BD9-81ED-4DB2-BD59-A6C34878D82A}">
                    <a16:rowId xmlns:a16="http://schemas.microsoft.com/office/drawing/2014/main" val="10012"/>
                  </a:ext>
                </a:extLst>
              </a:tr>
              <a:tr h="17502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Cambridge Health Alliance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CBCD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13"/>
                  </a:ext>
                </a:extLst>
              </a:tr>
              <a:tr h="16265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UMass Memorial Health 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8B8D4">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extLst>
                  <a:ext uri="{0D108BD9-81ED-4DB2-BD59-A6C34878D82A}">
                    <a16:rowId xmlns:a16="http://schemas.microsoft.com/office/drawing/2014/main" val="10014"/>
                  </a:ext>
                </a:extLst>
              </a:tr>
              <a:tr h="16262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Tufts Medicine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39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EBDD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extLst>
                  <a:ext uri="{0D108BD9-81ED-4DB2-BD59-A6C34878D82A}">
                    <a16:rowId xmlns:a16="http://schemas.microsoft.com/office/drawing/2014/main" val="10015"/>
                  </a:ext>
                </a:extLst>
              </a:tr>
              <a:tr h="17429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Cape Cod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CBCD7">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extLst>
                  <a:ext uri="{0D108BD9-81ED-4DB2-BD59-A6C34878D82A}">
                    <a16:rowId xmlns:a16="http://schemas.microsoft.com/office/drawing/2014/main" val="10016"/>
                  </a:ext>
                </a:extLst>
              </a:tr>
              <a:tr h="17426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Baystate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23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FD8E8">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extLst>
                  <a:ext uri="{0D108BD9-81ED-4DB2-BD59-A6C34878D82A}">
                    <a16:rowId xmlns:a16="http://schemas.microsoft.com/office/drawing/2014/main" val="10017"/>
                  </a:ext>
                </a:extLst>
              </a:tr>
              <a:tr h="16265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27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7D1E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18"/>
                  </a:ext>
                </a:extLst>
              </a:tr>
              <a:tr h="162078">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MaineHealth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21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3DBEA">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82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576AD">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19"/>
                  </a:ext>
                </a:extLst>
              </a:tr>
              <a:tr h="16265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Prime Healthcare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12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6EAF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9ADCE">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30589B">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9ADCE">
                        <a:alpha val="100000"/>
                      </a:srgbClr>
                    </a:solidFill>
                  </a:tcPr>
                </a:tc>
                <a:extLst>
                  <a:ext uri="{0D108BD9-81ED-4DB2-BD59-A6C34878D82A}">
                    <a16:rowId xmlns:a16="http://schemas.microsoft.com/office/drawing/2014/main" val="10020"/>
                  </a:ext>
                </a:extLst>
              </a:tr>
              <a:tr h="175027">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Steward Health Care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12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6EAF3">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28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5D0E3">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extLst>
                  <a:ext uri="{0D108BD9-81ED-4DB2-BD59-A6C34878D82A}">
                    <a16:rowId xmlns:a16="http://schemas.microsoft.com/office/drawing/2014/main" val="10021"/>
                  </a:ext>
                </a:extLst>
              </a:tr>
              <a:tr h="162109">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Tenet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2F4F9">
                        <a:alpha val="100000"/>
                      </a:srgbClr>
                    </a:solidFill>
                  </a:tcPr>
                </a:tc>
                <a:tc>
                  <a:txBody>
                    <a:bodyPr/>
                    <a:lstStyle/>
                    <a:p>
                      <a:pPr marL="63500" marR="63500" algn="ctr">
                        <a:lnSpc>
                          <a:spcPct val="100000"/>
                        </a:lnSpc>
                        <a:spcBef>
                          <a:spcPts val="500"/>
                        </a:spcBef>
                        <a:spcAft>
                          <a:spcPts val="500"/>
                        </a:spcAft>
                        <a:buNone/>
                      </a:pPr>
                      <a:r>
                        <a:rPr sz="8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8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800" b="0" i="0" u="none" cap="none" dirty="0">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FB2D1">
                        <a:alpha val="100000"/>
                      </a:srgbClr>
                    </a:solidFill>
                  </a:tcPr>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Mass General Brigham’s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Mass General Brigham’s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Mass General Brigham</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38360" y="4059936"/>
            <a:ext cx="1042416" cy="168008"/>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23.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Mass General Brigham’s approved site(s) with network integration, and development of Mass General Brigham’s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1.6%.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257K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3,288K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$ 2,566K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$ 4,011K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$ 6,415K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$ 16,441K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$25,659K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$ 65,765K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$40,107K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$2,104K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$1,073K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$51,317K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$1,642K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$131,531K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$80,213K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$4,209K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$2,567K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$2,477K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Mass General Brigham’s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Mass General Brigham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Mass General Brigham’s managed care with KBA’s programs positions Mass General Brigham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Mass General Brigham’s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Mass General Brigham’s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Mass General Brigham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Mass General Brigham</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Mass General Brigham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MASS GENERAL BRIGHAM’S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562772"/>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Mass General Brigham</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1,008,964</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$10,168,770K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351,444</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$2,086,219K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35%</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84,089</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$729,243K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8%</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52,881</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-$603,149K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520,550</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$7,356,957K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51%</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Mass General Brigham estimates commercial insurance reimbursements at 222%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7,356,957K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222%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6,258,455K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13,615,413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13,123,503</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$491,909K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76352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222%</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3,309,641K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2,815,462</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6,125,103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13,123,503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-6,998,400</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-114%</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56.1%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32%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16%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451499531"/>
              </p:ext>
            </p:extLst>
          </p:nvPr>
        </p:nvGraphicFramePr>
        <p:xfrm>
          <a:off x="265176" y="914400"/>
          <a:ext cx="9829800" cy="456184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56.1%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Cooley Dickinson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167,344.3K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552,014.5K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Salem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268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746,051.3K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$1,132,858.0K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Massachusetts General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997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$5,726,296.1K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$7,293,701.6K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Massachusetts Eye and Ear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56,591.5K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581,269.8K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Newton-Wellesley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696,508.7K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$1,372,248.6K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Brigham and Womens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826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$5,347,275.2K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$4,489,441.7K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Brigham and Womens Faulkner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147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343,530.8K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779,667.1K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Nantucket Cottage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12,488.3K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121,269.6K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Marthas Vineyard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26,379.1K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232,435.2K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Spaulding Hospital for Continuing Medical Care Cambridge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180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159,641.8K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15,255.2K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Spaulding Rehabilitation Hospital Cape Cod</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50,495.4K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63,483.0K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Spaulding Rehabilitation Hospital Boston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132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184,772.4K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210,205.6K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McLean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286,591.9K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140,495.3K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Wentworth-Douglass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381,766.5K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$1,574,784.7K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B84BFE-A66C-EE28-0B82-3FC2737525CB}"/>
              </a:ext>
            </a:extLst>
          </p:cNvPr>
          <p:cNvSpPr txBox="1"/>
          <p:nvPr/>
        </p:nvSpPr>
        <p:spPr>
          <a:xfrm>
            <a:off x="3272337" y="6611779"/>
            <a:ext cx="6362639" cy="246221"/>
          </a:xfrm>
          <a:prstGeom prst="rect">
            <a:avLst/>
          </a:prstGeom>
          <a:noFill/>
        </p:spPr>
        <p:txBody>
          <a:bodyPr wrap="none" rtlCol="0">
            <a:spAutoFit/>
          </a:bodyPr>
          <a:lstStyle/>
          <a:p>
            <a:r>
              <a:rPr lang="en-US" sz="1000" b="1" dirty="0">
                <a:solidFill/>
                <a:latin typeface="Montserrat" panose="00000500000000000000" pitchFamily="2" charset="0"/>
              </a:rPr>
              <a:t>Spaulding Hospital for Continuing Medical Care Cambridge not included due to limited data</a:t>
            </a:r>
          </a:p>
        </p:txBody>
      </p:sp>
      <p:graphicFrame>
        <p:nvGraphicFramePr>
          <p:cNvPr id="3" name="Table 2"/>
          <p:cNvGraphicFramePr>
            <a:graphicFrameLocks noGrp="1"/>
          </p:cNvGraphicFramePr>
          <p:nvPr>
            <p:extLst>
              <p:ext uri="{D42A27DB-BD31-4B8C-83A1-F6EECF244321}">
                <p14:modId xmlns:p14="http://schemas.microsoft.com/office/powerpoint/2010/main" val="274365252"/>
              </p:ext>
            </p:extLst>
          </p:nvPr>
        </p:nvGraphicFramePr>
        <p:xfrm>
          <a:off x="0" y="0"/>
          <a:ext cx="12192000" cy="6647180"/>
        </p:xfrm>
        <a:graphic>
          <a:graphicData uri="http://schemas.openxmlformats.org/drawingml/2006/table">
            <a:tbl>
              <a:tblPr/>
              <a:tblGrid>
                <a:gridCol w="1227193">
                  <a:extLst>
                    <a:ext uri="{9D8B030D-6E8A-4147-A177-3AD203B41FA5}">
                      <a16:colId xmlns:a16="http://schemas.microsoft.com/office/drawing/2014/main" val="20000"/>
                    </a:ext>
                  </a:extLst>
                </a:gridCol>
                <a:gridCol w="763695">
                  <a:extLst>
                    <a:ext uri="{9D8B030D-6E8A-4147-A177-3AD203B41FA5}">
                      <a16:colId xmlns:a16="http://schemas.microsoft.com/office/drawing/2014/main" val="20001"/>
                    </a:ext>
                  </a:extLst>
                </a:gridCol>
                <a:gridCol w="473434">
                  <a:extLst>
                    <a:ext uri="{9D8B030D-6E8A-4147-A177-3AD203B41FA5}">
                      <a16:colId xmlns:a16="http://schemas.microsoft.com/office/drawing/2014/main" val="20002"/>
                    </a:ext>
                  </a:extLst>
                </a:gridCol>
                <a:gridCol w="911976">
                  <a:extLst>
                    <a:ext uri="{9D8B030D-6E8A-4147-A177-3AD203B41FA5}">
                      <a16:colId xmlns:a16="http://schemas.microsoft.com/office/drawing/2014/main" val="20003"/>
                    </a:ext>
                  </a:extLst>
                </a:gridCol>
                <a:gridCol w="793529">
                  <a:extLst>
                    <a:ext uri="{9D8B030D-6E8A-4147-A177-3AD203B41FA5}">
                      <a16:colId xmlns:a16="http://schemas.microsoft.com/office/drawing/2014/main" val="20004"/>
                    </a:ext>
                  </a:extLst>
                </a:gridCol>
                <a:gridCol w="769631">
                  <a:extLst>
                    <a:ext uri="{9D8B030D-6E8A-4147-A177-3AD203B41FA5}">
                      <a16:colId xmlns:a16="http://schemas.microsoft.com/office/drawing/2014/main" val="20005"/>
                    </a:ext>
                  </a:extLst>
                </a:gridCol>
                <a:gridCol w="879175">
                  <a:extLst>
                    <a:ext uri="{9D8B030D-6E8A-4147-A177-3AD203B41FA5}">
                      <a16:colId xmlns:a16="http://schemas.microsoft.com/office/drawing/2014/main" val="20006"/>
                    </a:ext>
                  </a:extLst>
                </a:gridCol>
                <a:gridCol w="1116200">
                  <a:extLst>
                    <a:ext uri="{9D8B030D-6E8A-4147-A177-3AD203B41FA5}">
                      <a16:colId xmlns:a16="http://schemas.microsoft.com/office/drawing/2014/main" val="20007"/>
                    </a:ext>
                  </a:extLst>
                </a:gridCol>
                <a:gridCol w="787359">
                  <a:extLst>
                    <a:ext uri="{9D8B030D-6E8A-4147-A177-3AD203B41FA5}">
                      <a16:colId xmlns:a16="http://schemas.microsoft.com/office/drawing/2014/main" val="20008"/>
                    </a:ext>
                  </a:extLst>
                </a:gridCol>
                <a:gridCol w="760806">
                  <a:extLst>
                    <a:ext uri="{9D8B030D-6E8A-4147-A177-3AD203B41FA5}">
                      <a16:colId xmlns:a16="http://schemas.microsoft.com/office/drawing/2014/main" val="20009"/>
                    </a:ext>
                  </a:extLst>
                </a:gridCol>
                <a:gridCol w="1204945">
                  <a:extLst>
                    <a:ext uri="{9D8B030D-6E8A-4147-A177-3AD203B41FA5}">
                      <a16:colId xmlns:a16="http://schemas.microsoft.com/office/drawing/2014/main" val="20010"/>
                    </a:ext>
                  </a:extLst>
                </a:gridCol>
                <a:gridCol w="1139733">
                  <a:extLst>
                    <a:ext uri="{9D8B030D-6E8A-4147-A177-3AD203B41FA5}">
                      <a16:colId xmlns:a16="http://schemas.microsoft.com/office/drawing/2014/main" val="20011"/>
                    </a:ext>
                  </a:extLst>
                </a:gridCol>
                <a:gridCol w="514852">
                  <a:extLst>
                    <a:ext uri="{9D8B030D-6E8A-4147-A177-3AD203B41FA5}">
                      <a16:colId xmlns:a16="http://schemas.microsoft.com/office/drawing/2014/main" val="20012"/>
                    </a:ext>
                  </a:extLst>
                </a:gridCol>
                <a:gridCol w="849472">
                  <a:extLst>
                    <a:ext uri="{9D8B030D-6E8A-4147-A177-3AD203B41FA5}">
                      <a16:colId xmlns:a16="http://schemas.microsoft.com/office/drawing/2014/main" val="20013"/>
                    </a:ext>
                  </a:extLst>
                </a:gridCol>
              </a:tblGrid>
              <a:tr h="204812">
                <a:tc gridSpan="14">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555814">
                <a:tc>
                  <a:txBody>
                    <a:bodyPr/>
                    <a:lstStyle/>
                    <a:p>
                      <a:pPr marL="63500" marR="63500" algn="ctr">
                        <a:lnSpc>
                          <a:spcPct val="100000"/>
                        </a:lnSpc>
                        <a:spcBef>
                          <a:spcPts val="500"/>
                        </a:spcBef>
                        <a:spcAft>
                          <a:spcPts val="500"/>
                        </a:spcAft>
                        <a:buNone/>
                      </a:pPr>
                      <a:r>
                        <a:rPr sz="105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Cooley Dickinson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Montserrat"/>
                          <a:cs typeface="Arial"/>
                          <a:sym typeface="Arial"/>
                        </a:rPr>
                        <a:t>Salem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Montserrat"/>
                          <a:cs typeface="Arial"/>
                          <a:sym typeface="Arial"/>
                        </a:rPr>
                        <a:t>Massachusetts General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Massachusetts Eye and Ear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a:solidFill>
                            <a:srgbClr val="000000">
                              <a:alpha val="100000"/>
                            </a:srgbClr>
                          </a:solidFill>
                          <a:latin typeface="Montserrat"/>
                          <a:cs typeface="Arial"/>
                          <a:sym typeface="Arial"/>
                        </a:rPr>
                        <a:t>Newton-Wellesley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Brigham and Women</a:t>
                      </a:r>
                      <a:r>
                        <a:rPr lang="en-US" sz="900" b="1" i="0" u="none" cap="none" dirty="0">
                          <a:solidFill>
                            <a:srgbClr val="000000">
                              <a:alpha val="100000"/>
                            </a:srgbClr>
                          </a:solidFill>
                          <a:latin typeface="Montserrat"/>
                          <a:cs typeface="Arial"/>
                          <a:sym typeface="Arial"/>
                        </a:rPr>
                        <a:t>'</a:t>
                      </a:r>
                      <a:r>
                        <a:rPr sz="900" b="1" i="0" u="none" cap="none" dirty="0">
                          <a:solidFill>
                            <a:srgbClr val="000000">
                              <a:alpha val="100000"/>
                            </a:srgbClr>
                          </a:solidFill>
                          <a:latin typeface="Montserrat"/>
                          <a:cs typeface="Arial"/>
                          <a:sym typeface="Arial"/>
                        </a:rPr>
                        <a:t>s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Brigham and Women</a:t>
                      </a:r>
                      <a:r>
                        <a:rPr lang="en-US" sz="900" b="1" i="0" u="none" cap="none" dirty="0">
                          <a:solidFill>
                            <a:srgbClr val="000000">
                              <a:alpha val="100000"/>
                            </a:srgbClr>
                          </a:solidFill>
                          <a:latin typeface="Montserrat"/>
                          <a:cs typeface="Arial"/>
                          <a:sym typeface="Arial"/>
                        </a:rPr>
                        <a:t>'</a:t>
                      </a:r>
                      <a:r>
                        <a:rPr sz="900" b="1" i="0" u="none" cap="none" dirty="0">
                          <a:solidFill>
                            <a:srgbClr val="000000">
                              <a:alpha val="100000"/>
                            </a:srgbClr>
                          </a:solidFill>
                          <a:latin typeface="Montserrat"/>
                          <a:cs typeface="Arial"/>
                          <a:sym typeface="Arial"/>
                        </a:rPr>
                        <a:t>s Faulkner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Nantucket Cottage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Marthas Vineyard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Spaulding Rehabilitation Hospital Cape Cod</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Spaulding Rehabilitation Hospital Boston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McLean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900" b="1" i="0" u="none" cap="none" dirty="0">
                          <a:solidFill>
                            <a:srgbClr val="000000">
                              <a:alpha val="100000"/>
                            </a:srgbClr>
                          </a:solidFill>
                          <a:latin typeface="Montserrat"/>
                          <a:cs typeface="Arial"/>
                          <a:sym typeface="Arial"/>
                        </a:rPr>
                        <a:t>Wentworth-Douglass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60749">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$58,403K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$219,339K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$1,706,436K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$25,693K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$233,330K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$1,604,183K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$105,807K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$7,231K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$13,744K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$22,470K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$78,343K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$151,321K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$107,276K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60749">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$192,653K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$333,060K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$2,173,523K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$263,896K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$459,703K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$1,346,833K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$240,137K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$70,215K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$121,099K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$28,250K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$89,127K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$74,182K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$442,514K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60749">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$57,321K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$123,032K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$833,875K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$61,411K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$144,085K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$600,069K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$85,001K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$7,698K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$23,344K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$21,791K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$35,458K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$17,652K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$75,481K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32200">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$21,520K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$81,691K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$299,883K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$23,998K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$32,932K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$192,301K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$32,591K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$4,284K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$40,043K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346474">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$172,144K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$347,775K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$2,745,761K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$203,909K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$514,799K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$2,163,444K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$228,534K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$65,418K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$111,504K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$28,886K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$132,058K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$207,948K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$434,777K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346474">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$12,066K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$59,007K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$263,411K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$7,825K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$37,856K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$176,341K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$26,132K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$9,568K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$1,166K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$9,776K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60749">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$56,692K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$242,920K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$2,425,079K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$35,557K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$237,931K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$2,152,025K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$114,759K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$8,327K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$13,603K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$24,753K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$97,330K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$239,204K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$91,611K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60749">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$187,007K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$368,867K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$3,088,874K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$365,221K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$468,767K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$1,806,788K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$260,454K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$80,865K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$119,863K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$31,120K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$110,727K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$117,264K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$377,895K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60749">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$243,699K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$611,786K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$5,513,953K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$400,778K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$706,699K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$3,958,813K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$375,213K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$89,192K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$133,466K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$55,874K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$208,057K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$356,468K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$469,506K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346474">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$7,287K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$-59,288K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$-1,634,434K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$-111,460K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$-14,883K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$-1,002,999K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$-29,088K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$-11,792K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$1,383K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$-5,197K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$-40,541K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$-130,868K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$80,795K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46474">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29.9%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22.2%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27.7%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1.3%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-44.2%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32.1%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153592">
                <a:tc gridSpan="14">
                  <a:txBody>
                    <a:bodyPr/>
                    <a:lstStyle/>
                    <a:p>
                      <a:pPr marL="63500" marR="63500" algn="l">
                        <a:lnSpc>
                          <a:spcPct val="100000"/>
                        </a:lnSpc>
                        <a:spcBef>
                          <a:spcPts val="500"/>
                        </a:spcBef>
                        <a:spcAft>
                          <a:spcPts val="500"/>
                        </a:spcAft>
                        <a:buNone/>
                      </a:pPr>
                      <a:r>
                        <a:rPr sz="6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153592">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2. Medicare costs are taken from the Medicare Provider Analysis and Review (</a:t>
                      </a:r>
                      <a:r>
                        <a:rPr sz="600" b="0" i="0" u="none" cap="none" dirty="0" err="1">
                          <a:solidFill>
                            <a:srgbClr val="666666">
                              <a:alpha val="100000"/>
                            </a:srgbClr>
                          </a:solidFill>
                          <a:latin typeface="Montserrat"/>
                          <a:cs typeface="Arial"/>
                          <a:sym typeface="Arial"/>
                        </a:rPr>
                        <a:t>MedPAR</a:t>
                      </a:r>
                      <a:r>
                        <a:rPr sz="600" b="0" i="0" u="none" cap="none" dirty="0">
                          <a:solidFill>
                            <a:srgbClr val="666666">
                              <a:alpha val="100000"/>
                            </a:srgbClr>
                          </a:solidFill>
                          <a:latin typeface="Montserrat"/>
                          <a:cs typeface="Arial"/>
                          <a:sym typeface="Arial"/>
                        </a:rPr>
                        <a: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153592">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153592">
                <a:tc gridSpan="14">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Mass General Brigham has 32% inpatient market share, and 16% outpatient market compared to hospitals/clinics in the Mass General Brigham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Mass General Brigham.</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648841938"/>
              </p:ext>
            </p:extLst>
          </p:nvPr>
        </p:nvGraphicFramePr>
        <p:xfrm>
          <a:off x="673100" y="965200"/>
          <a:ext cx="7364475" cy="5197858"/>
        </p:xfrm>
        <a:graphic>
          <a:graphicData uri="http://schemas.openxmlformats.org/drawingml/2006/table">
            <a:tbl>
              <a:tblPr/>
              <a:tblGrid>
                <a:gridCol w="1472895">
                  <a:extLst>
                    <a:ext uri="{9D8B030D-6E8A-4147-A177-3AD203B41FA5}">
                      <a16:colId xmlns:a16="http://schemas.microsoft.com/office/drawing/2014/main" val="20000"/>
                    </a:ext>
                  </a:extLst>
                </a:gridCol>
                <a:gridCol w="1472895">
                  <a:extLst>
                    <a:ext uri="{9D8B030D-6E8A-4147-A177-3AD203B41FA5}">
                      <a16:colId xmlns:a16="http://schemas.microsoft.com/office/drawing/2014/main" val="20001"/>
                    </a:ext>
                  </a:extLst>
                </a:gridCol>
                <a:gridCol w="1472895">
                  <a:extLst>
                    <a:ext uri="{9D8B030D-6E8A-4147-A177-3AD203B41FA5}">
                      <a16:colId xmlns:a16="http://schemas.microsoft.com/office/drawing/2014/main" val="20002"/>
                    </a:ext>
                  </a:extLst>
                </a:gridCol>
                <a:gridCol w="1472895">
                  <a:extLst>
                    <a:ext uri="{9D8B030D-6E8A-4147-A177-3AD203B41FA5}">
                      <a16:colId xmlns:a16="http://schemas.microsoft.com/office/drawing/2014/main" val="20003"/>
                    </a:ext>
                  </a:extLst>
                </a:gridCol>
                <a:gridCol w="1472895">
                  <a:extLst>
                    <a:ext uri="{9D8B030D-6E8A-4147-A177-3AD203B41FA5}">
                      <a16:colId xmlns:a16="http://schemas.microsoft.com/office/drawing/2014/main" val="20004"/>
                    </a:ext>
                  </a:extLst>
                </a:gridCol>
              </a:tblGrid>
              <a:tr h="93731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Mass General Brigham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Percent of Members Choosing Mass General Brigham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207,400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136,300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245,300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157,000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282,600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317,300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193,400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348,100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374,400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219,900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395,800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236,600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3027">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443,300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41,100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$ 45,113,287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$ 41,134,335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$ 19,209,385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$ 105,457,007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$ 1,443,625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$ 1,316,299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$ 614,700.3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$ 3,374,624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$ 6,537,002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$ 493,200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$ 6,541,802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$ 6,850,202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$ 93,845,190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$ 147,167,265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$ 68,725,861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$ 309,738,316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$ 3,003,046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$ 4,709,352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$ 2,199,228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$ 9,911,626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32% (inpatient) and 16%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3.2%,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2000"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$1,097.6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$5,488.2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$27,441.2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$878.1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$1,020.4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$2,040.8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$10,204.0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$51,020.1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$1,632.6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$943.2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$23,578.9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$754.5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$500.4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$1,000.8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$5,004.2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$25,020.9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$800.7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$77,296.4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$2,473.5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$1,045.5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$2,091.0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$10,455.1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$52,275.5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$66.9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$334.6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$1,672.8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$233.7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$467.4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$2,336.9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$11,684.5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$373.9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$36,096.8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$1,155.1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$4,882.4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$24,412.2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$781.2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4313">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$-259.8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$-189.7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$371.7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$3,178.5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419803608"/>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$1,282.9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$2,565.9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$12,829.3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$64,146.6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$2,052.7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$3,288.3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$6,576.5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$32,882.6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$164,413.2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$2,005.3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$4,010.7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$20,053.3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$100,266.6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$210.4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$1,052.2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$5,261.2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$641.7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$3,208.5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$-259.8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$-189.7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$371.7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$3,178.5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288755833"/>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$1,282.9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$2,565.9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$12,829.3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$64,146.6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$2,052.7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$39,117.8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$195,588.9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$2,628.8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$5,257.7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$26,288.5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$131,442.3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$3,207.7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$16,038.3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$2,797.1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$13,985.6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$-44.3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$241.4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$2,527.1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$13,955.6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039554423"/>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$1,282.9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$2,565.9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$12,829.3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$64,146.6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$2,052.7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$2,665.3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$5,330.5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$26,652.5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$133,262.7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$1,382.3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$2,764.6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$13,823.2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$69,116.1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$-479.7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$-2,398.7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$-890.3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$-4,451.4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$-413.0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$-496.1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$-1,160.3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$-4,481.4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39</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Mass General Brigham’s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Mass General Brigham</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Mass General Brigham</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Mass General Brigham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Mass General Brigham</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Mass General Brigham’s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46884</TotalTime>
  <Words>5421</Words>
  <Application>Microsoft Office PowerPoint</Application>
  <PresentationFormat>Widescreen</PresentationFormat>
  <Paragraphs>1553</Paragraphs>
  <Slides>43</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43</vt:i4>
      </vt:variant>
    </vt:vector>
  </HeadingPairs>
  <TitlesOfParts>
    <vt:vector size="53"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DIRECT-TO-EMPLOYER (DTE)  </vt:lpstr>
      <vt:lpstr>DTE KEYS TO SUCCESS FOR MASS GENERAL BRIGHAM</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MASS GENERAL BRIGHAM’S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2025-05-02T14:44:00Z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