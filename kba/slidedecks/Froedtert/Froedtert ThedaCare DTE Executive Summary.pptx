
<file path=[Content_Types].xml><?xml version="1.0" encoding="utf-8"?>
<Types xmlns="http://schemas.openxmlformats.org/package/2006/content-types">
  <Default Extension="jpeg" ContentType="image/jpeg"/>
  <Default Extension="jpg" ContentType="application/octet-stream"/>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tags/tag3.xml" ContentType="application/vnd.openxmlformats-officedocument.presentationml.tags+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 id="2147483756" r:id="rId5"/>
    <p:sldMasterId id="2147483758" r:id="rId6"/>
    <p:sldMasterId id="2147483773" r:id="rId7"/>
  </p:sldMasterIdLst>
  <p:notesMasterIdLst>
    <p:notesMasterId r:id="rId19"/>
  </p:notesMasterIdLst>
  <p:sldIdLst>
    <p:sldId id="588" r:id="rId8"/>
    <p:sldId id="454" r:id="rId9"/>
    <p:sldId id="549" r:id="rId10"/>
    <p:sldId id="2145726869" r:id="rId11"/>
    <p:sldId id="559" r:id="rId12"/>
    <p:sldId id="580" r:id="rId13"/>
    <p:sldId id="582" r:id="rId14"/>
    <p:sldId id="548" r:id="rId15"/>
    <p:sldId id="585" r:id="rId16"/>
    <p:sldId id="536" r:id="rId17"/>
    <p:sldId id="472" r:id="rId18"/>
  </p:sldIdLst>
  <p:sldSz cx="12192000" cy="6858000"/>
  <p:notesSz cx="7315200" cy="9601200"/>
  <p:custDataLst>
    <p:tags r:id="rId20"/>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2E2597A-94BE-EE4F-A6CE-E20FE57E2F9C}" name="Guest User" initials="GU" userId="S::urn:spo:anon#4882e948f16bd08fe685987adb7b014b58869755eb6e2ab80c2be75a5daf6f48::" providerId="AD"/>
  <p188:author id="{6244F3C6-ED6E-17B5-41BE-FE4DD862B991}" name="Taylor Davis" initials="TD" userId="S::taylordavis@careluminate.com::5c9e72a0-c39f-4aa1-9d7d-64125e78cbe6" providerId="AD"/>
  <p188:author id="{66F9D3D0-34A3-8F09-07C8-70124CEFC9C1}" name="Guest User" initials="GU" userId="S::urn:spo:anon#24b610c975cf575f85befe109f115faf394b3198ecce54128fd3ac5d0276f2d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39F"/>
    <a:srgbClr val="244F9A"/>
    <a:srgbClr val="30589B"/>
    <a:srgbClr val="2F5597"/>
    <a:srgbClr val="6087CE"/>
    <a:srgbClr val="4468A5"/>
    <a:srgbClr val="F2F2F2"/>
    <a:srgbClr val="C55A11"/>
    <a:srgbClr val="F424AA"/>
    <a:srgbClr val="E234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214" autoAdjust="0"/>
    <p:restoredTop sz="88609" autoAdjust="0"/>
  </p:normalViewPr>
  <p:slideViewPr>
    <p:cSldViewPr snapToGrid="0">
      <p:cViewPr>
        <p:scale>
          <a:sx n="66" d="100"/>
          <a:sy n="66" d="100"/>
        </p:scale>
        <p:origin x="1133" y="461"/>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viewProps" Target="viewProps.xml"/><Relationship Id="rId10" Type="http://schemas.openxmlformats.org/officeDocument/2006/relationships/slide" Target="slides/slide3.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presProps" Target="presProps.xml"/><Relationship Id="rId27"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ylor Davis" userId="5c9e72a0-c39f-4aa1-9d7d-64125e78cbe6" providerId="ADAL" clId="{7D0B6B51-DA5F-4021-8848-39BD0005AA08}"/>
    <pc:docChg chg="delSld delMainMaster">
      <pc:chgData name="Taylor Davis" userId="5c9e72a0-c39f-4aa1-9d7d-64125e78cbe6" providerId="ADAL" clId="{7D0B6B51-DA5F-4021-8848-39BD0005AA08}" dt="2025-11-15T07:11:32.725" v="5" actId="47"/>
      <pc:docMkLst>
        <pc:docMk/>
      </pc:docMkLst>
      <pc:sldChg chg="del">
        <pc:chgData name="Taylor Davis" userId="5c9e72a0-c39f-4aa1-9d7d-64125e78cbe6" providerId="ADAL" clId="{7D0B6B51-DA5F-4021-8848-39BD0005AA08}" dt="2025-11-15T07:11:32.725" v="5" actId="47"/>
        <pc:sldMkLst>
          <pc:docMk/>
          <pc:sldMk cId="0" sldId="256"/>
        </pc:sldMkLst>
      </pc:sldChg>
      <pc:sldChg chg="del">
        <pc:chgData name="Taylor Davis" userId="5c9e72a0-c39f-4aa1-9d7d-64125e78cbe6" providerId="ADAL" clId="{7D0B6B51-DA5F-4021-8848-39BD0005AA08}" dt="2025-11-15T07:11:27.667" v="4" actId="47"/>
        <pc:sldMkLst>
          <pc:docMk/>
          <pc:sldMk cId="3543401867" sldId="281"/>
        </pc:sldMkLst>
      </pc:sldChg>
      <pc:sldChg chg="del">
        <pc:chgData name="Taylor Davis" userId="5c9e72a0-c39f-4aa1-9d7d-64125e78cbe6" providerId="ADAL" clId="{7D0B6B51-DA5F-4021-8848-39BD0005AA08}" dt="2025-11-15T07:11:32.725" v="5" actId="47"/>
        <pc:sldMkLst>
          <pc:docMk/>
          <pc:sldMk cId="211951504" sldId="325"/>
        </pc:sldMkLst>
      </pc:sldChg>
      <pc:sldChg chg="del">
        <pc:chgData name="Taylor Davis" userId="5c9e72a0-c39f-4aa1-9d7d-64125e78cbe6" providerId="ADAL" clId="{7D0B6B51-DA5F-4021-8848-39BD0005AA08}" dt="2025-11-15T07:11:32.725" v="5" actId="47"/>
        <pc:sldMkLst>
          <pc:docMk/>
          <pc:sldMk cId="225422285" sldId="326"/>
        </pc:sldMkLst>
      </pc:sldChg>
      <pc:sldChg chg="del">
        <pc:chgData name="Taylor Davis" userId="5c9e72a0-c39f-4aa1-9d7d-64125e78cbe6" providerId="ADAL" clId="{7D0B6B51-DA5F-4021-8848-39BD0005AA08}" dt="2025-11-15T07:11:27.667" v="4" actId="47"/>
        <pc:sldMkLst>
          <pc:docMk/>
          <pc:sldMk cId="3958060990" sldId="458"/>
        </pc:sldMkLst>
      </pc:sldChg>
      <pc:sldChg chg="del">
        <pc:chgData name="Taylor Davis" userId="5c9e72a0-c39f-4aa1-9d7d-64125e78cbe6" providerId="ADAL" clId="{7D0B6B51-DA5F-4021-8848-39BD0005AA08}" dt="2025-11-15T07:11:27.667" v="4" actId="47"/>
        <pc:sldMkLst>
          <pc:docMk/>
          <pc:sldMk cId="0" sldId="459"/>
        </pc:sldMkLst>
      </pc:sldChg>
      <pc:sldChg chg="del">
        <pc:chgData name="Taylor Davis" userId="5c9e72a0-c39f-4aa1-9d7d-64125e78cbe6" providerId="ADAL" clId="{7D0B6B51-DA5F-4021-8848-39BD0005AA08}" dt="2025-11-15T07:11:07.064" v="1" actId="47"/>
        <pc:sldMkLst>
          <pc:docMk/>
          <pc:sldMk cId="1714126014" sldId="466"/>
        </pc:sldMkLst>
      </pc:sldChg>
      <pc:sldChg chg="del">
        <pc:chgData name="Taylor Davis" userId="5c9e72a0-c39f-4aa1-9d7d-64125e78cbe6" providerId="ADAL" clId="{7D0B6B51-DA5F-4021-8848-39BD0005AA08}" dt="2025-11-15T07:11:27.667" v="4" actId="47"/>
        <pc:sldMkLst>
          <pc:docMk/>
          <pc:sldMk cId="2680122054" sldId="469"/>
        </pc:sldMkLst>
      </pc:sldChg>
      <pc:sldChg chg="del">
        <pc:chgData name="Taylor Davis" userId="5c9e72a0-c39f-4aa1-9d7d-64125e78cbe6" providerId="ADAL" clId="{7D0B6B51-DA5F-4021-8848-39BD0005AA08}" dt="2025-11-15T07:11:32.725" v="5" actId="47"/>
        <pc:sldMkLst>
          <pc:docMk/>
          <pc:sldMk cId="2660124243" sldId="491"/>
        </pc:sldMkLst>
      </pc:sldChg>
      <pc:sldChg chg="del">
        <pc:chgData name="Taylor Davis" userId="5c9e72a0-c39f-4aa1-9d7d-64125e78cbe6" providerId="ADAL" clId="{7D0B6B51-DA5F-4021-8848-39BD0005AA08}" dt="2025-11-15T07:11:32.725" v="5" actId="47"/>
        <pc:sldMkLst>
          <pc:docMk/>
          <pc:sldMk cId="3144192130" sldId="498"/>
        </pc:sldMkLst>
      </pc:sldChg>
      <pc:sldChg chg="del">
        <pc:chgData name="Taylor Davis" userId="5c9e72a0-c39f-4aa1-9d7d-64125e78cbe6" providerId="ADAL" clId="{7D0B6B51-DA5F-4021-8848-39BD0005AA08}" dt="2025-11-15T07:11:27.667" v="4" actId="47"/>
        <pc:sldMkLst>
          <pc:docMk/>
          <pc:sldMk cId="2203540903" sldId="499"/>
        </pc:sldMkLst>
      </pc:sldChg>
      <pc:sldChg chg="del">
        <pc:chgData name="Taylor Davis" userId="5c9e72a0-c39f-4aa1-9d7d-64125e78cbe6" providerId="ADAL" clId="{7D0B6B51-DA5F-4021-8848-39BD0005AA08}" dt="2025-11-15T07:11:27.667" v="4" actId="47"/>
        <pc:sldMkLst>
          <pc:docMk/>
          <pc:sldMk cId="500461553" sldId="521"/>
        </pc:sldMkLst>
      </pc:sldChg>
      <pc:sldChg chg="del">
        <pc:chgData name="Taylor Davis" userId="5c9e72a0-c39f-4aa1-9d7d-64125e78cbe6" providerId="ADAL" clId="{7D0B6B51-DA5F-4021-8848-39BD0005AA08}" dt="2025-11-15T07:11:27.667" v="4" actId="47"/>
        <pc:sldMkLst>
          <pc:docMk/>
          <pc:sldMk cId="36791873" sldId="525"/>
        </pc:sldMkLst>
      </pc:sldChg>
      <pc:sldChg chg="del">
        <pc:chgData name="Taylor Davis" userId="5c9e72a0-c39f-4aa1-9d7d-64125e78cbe6" providerId="ADAL" clId="{7D0B6B51-DA5F-4021-8848-39BD0005AA08}" dt="2025-11-15T07:11:11.937" v="3" actId="47"/>
        <pc:sldMkLst>
          <pc:docMk/>
          <pc:sldMk cId="3470905217" sldId="558"/>
        </pc:sldMkLst>
      </pc:sldChg>
      <pc:sldChg chg="del">
        <pc:chgData name="Taylor Davis" userId="5c9e72a0-c39f-4aa1-9d7d-64125e78cbe6" providerId="ADAL" clId="{7D0B6B51-DA5F-4021-8848-39BD0005AA08}" dt="2025-11-15T07:11:27.667" v="4" actId="47"/>
        <pc:sldMkLst>
          <pc:docMk/>
          <pc:sldMk cId="4064752386" sldId="564"/>
        </pc:sldMkLst>
      </pc:sldChg>
      <pc:sldChg chg="del">
        <pc:chgData name="Taylor Davis" userId="5c9e72a0-c39f-4aa1-9d7d-64125e78cbe6" providerId="ADAL" clId="{7D0B6B51-DA5F-4021-8848-39BD0005AA08}" dt="2025-11-15T07:11:27.667" v="4" actId="47"/>
        <pc:sldMkLst>
          <pc:docMk/>
          <pc:sldMk cId="0" sldId="571"/>
        </pc:sldMkLst>
      </pc:sldChg>
      <pc:sldChg chg="del">
        <pc:chgData name="Taylor Davis" userId="5c9e72a0-c39f-4aa1-9d7d-64125e78cbe6" providerId="ADAL" clId="{7D0B6B51-DA5F-4021-8848-39BD0005AA08}" dt="2025-11-15T07:11:32.725" v="5" actId="47"/>
        <pc:sldMkLst>
          <pc:docMk/>
          <pc:sldMk cId="0" sldId="572"/>
        </pc:sldMkLst>
      </pc:sldChg>
      <pc:sldChg chg="del">
        <pc:chgData name="Taylor Davis" userId="5c9e72a0-c39f-4aa1-9d7d-64125e78cbe6" providerId="ADAL" clId="{7D0B6B51-DA5F-4021-8848-39BD0005AA08}" dt="2025-11-15T07:11:32.725" v="5" actId="47"/>
        <pc:sldMkLst>
          <pc:docMk/>
          <pc:sldMk cId="1064222983" sldId="574"/>
        </pc:sldMkLst>
      </pc:sldChg>
      <pc:sldChg chg="del">
        <pc:chgData name="Taylor Davis" userId="5c9e72a0-c39f-4aa1-9d7d-64125e78cbe6" providerId="ADAL" clId="{7D0B6B51-DA5F-4021-8848-39BD0005AA08}" dt="2025-11-15T07:11:32.725" v="5" actId="47"/>
        <pc:sldMkLst>
          <pc:docMk/>
          <pc:sldMk cId="3790917938" sldId="575"/>
        </pc:sldMkLst>
      </pc:sldChg>
      <pc:sldChg chg="del">
        <pc:chgData name="Taylor Davis" userId="5c9e72a0-c39f-4aa1-9d7d-64125e78cbe6" providerId="ADAL" clId="{7D0B6B51-DA5F-4021-8848-39BD0005AA08}" dt="2025-11-15T07:11:27.667" v="4" actId="47"/>
        <pc:sldMkLst>
          <pc:docMk/>
          <pc:sldMk cId="838631500" sldId="583"/>
        </pc:sldMkLst>
      </pc:sldChg>
      <pc:sldChg chg="del">
        <pc:chgData name="Taylor Davis" userId="5c9e72a0-c39f-4aa1-9d7d-64125e78cbe6" providerId="ADAL" clId="{7D0B6B51-DA5F-4021-8848-39BD0005AA08}" dt="2025-11-15T07:11:27.667" v="4" actId="47"/>
        <pc:sldMkLst>
          <pc:docMk/>
          <pc:sldMk cId="4042275972" sldId="613"/>
        </pc:sldMkLst>
      </pc:sldChg>
      <pc:sldChg chg="del">
        <pc:chgData name="Taylor Davis" userId="5c9e72a0-c39f-4aa1-9d7d-64125e78cbe6" providerId="ADAL" clId="{7D0B6B51-DA5F-4021-8848-39BD0005AA08}" dt="2025-11-15T07:11:27.667" v="4" actId="47"/>
        <pc:sldMkLst>
          <pc:docMk/>
          <pc:sldMk cId="1281542618" sldId="614"/>
        </pc:sldMkLst>
      </pc:sldChg>
      <pc:sldChg chg="del">
        <pc:chgData name="Taylor Davis" userId="5c9e72a0-c39f-4aa1-9d7d-64125e78cbe6" providerId="ADAL" clId="{7D0B6B51-DA5F-4021-8848-39BD0005AA08}" dt="2025-11-15T07:11:27.667" v="4" actId="47"/>
        <pc:sldMkLst>
          <pc:docMk/>
          <pc:sldMk cId="2174952421" sldId="2145726856"/>
        </pc:sldMkLst>
      </pc:sldChg>
      <pc:sldChg chg="del">
        <pc:chgData name="Taylor Davis" userId="5c9e72a0-c39f-4aa1-9d7d-64125e78cbe6" providerId="ADAL" clId="{7D0B6B51-DA5F-4021-8848-39BD0005AA08}" dt="2025-11-15T07:11:27.667" v="4" actId="47"/>
        <pc:sldMkLst>
          <pc:docMk/>
          <pc:sldMk cId="4161310751" sldId="2145726857"/>
        </pc:sldMkLst>
      </pc:sldChg>
      <pc:sldChg chg="del">
        <pc:chgData name="Taylor Davis" userId="5c9e72a0-c39f-4aa1-9d7d-64125e78cbe6" providerId="ADAL" clId="{7D0B6B51-DA5F-4021-8848-39BD0005AA08}" dt="2025-11-15T07:11:27.667" v="4" actId="47"/>
        <pc:sldMkLst>
          <pc:docMk/>
          <pc:sldMk cId="1389453819" sldId="2145726859"/>
        </pc:sldMkLst>
      </pc:sldChg>
      <pc:sldChg chg="del">
        <pc:chgData name="Taylor Davis" userId="5c9e72a0-c39f-4aa1-9d7d-64125e78cbe6" providerId="ADAL" clId="{7D0B6B51-DA5F-4021-8848-39BD0005AA08}" dt="2025-11-15T07:11:27.667" v="4" actId="47"/>
        <pc:sldMkLst>
          <pc:docMk/>
          <pc:sldMk cId="0" sldId="2145726864"/>
        </pc:sldMkLst>
      </pc:sldChg>
      <pc:sldChg chg="del">
        <pc:chgData name="Taylor Davis" userId="5c9e72a0-c39f-4aa1-9d7d-64125e78cbe6" providerId="ADAL" clId="{7D0B6B51-DA5F-4021-8848-39BD0005AA08}" dt="2025-11-15T07:11:27.667" v="4" actId="47"/>
        <pc:sldMkLst>
          <pc:docMk/>
          <pc:sldMk cId="1010235892" sldId="2145726866"/>
        </pc:sldMkLst>
      </pc:sldChg>
      <pc:sldChg chg="del">
        <pc:chgData name="Taylor Davis" userId="5c9e72a0-c39f-4aa1-9d7d-64125e78cbe6" providerId="ADAL" clId="{7D0B6B51-DA5F-4021-8848-39BD0005AA08}" dt="2025-11-15T07:11:08.453" v="2" actId="47"/>
        <pc:sldMkLst>
          <pc:docMk/>
          <pc:sldMk cId="0" sldId="2145726867"/>
        </pc:sldMkLst>
      </pc:sldChg>
      <pc:sldChg chg="del">
        <pc:chgData name="Taylor Davis" userId="5c9e72a0-c39f-4aa1-9d7d-64125e78cbe6" providerId="ADAL" clId="{7D0B6B51-DA5F-4021-8848-39BD0005AA08}" dt="2025-11-15T07:11:27.667" v="4" actId="47"/>
        <pc:sldMkLst>
          <pc:docMk/>
          <pc:sldMk cId="4087636236" sldId="2145726868"/>
        </pc:sldMkLst>
      </pc:sldChg>
      <pc:sldChg chg="del">
        <pc:chgData name="Taylor Davis" userId="5c9e72a0-c39f-4aa1-9d7d-64125e78cbe6" providerId="ADAL" clId="{7D0B6B51-DA5F-4021-8848-39BD0005AA08}" dt="2025-11-15T07:11:27.667" v="4" actId="47"/>
        <pc:sldMkLst>
          <pc:docMk/>
          <pc:sldMk cId="0" sldId="2145726870"/>
        </pc:sldMkLst>
      </pc:sldChg>
      <pc:sldChg chg="del">
        <pc:chgData name="Taylor Davis" userId="5c9e72a0-c39f-4aa1-9d7d-64125e78cbe6" providerId="ADAL" clId="{7D0B6B51-DA5F-4021-8848-39BD0005AA08}" dt="2025-11-15T07:11:27.667" v="4" actId="47"/>
        <pc:sldMkLst>
          <pc:docMk/>
          <pc:sldMk cId="0" sldId="2145726872"/>
        </pc:sldMkLst>
      </pc:sldChg>
      <pc:sldChg chg="del">
        <pc:chgData name="Taylor Davis" userId="5c9e72a0-c39f-4aa1-9d7d-64125e78cbe6" providerId="ADAL" clId="{7D0B6B51-DA5F-4021-8848-39BD0005AA08}" dt="2025-11-15T07:11:02.875" v="0" actId="47"/>
        <pc:sldMkLst>
          <pc:docMk/>
          <pc:sldMk cId="3982481892" sldId="2145726874"/>
        </pc:sldMkLst>
      </pc:sldChg>
      <pc:sldChg chg="del">
        <pc:chgData name="Taylor Davis" userId="5c9e72a0-c39f-4aa1-9d7d-64125e78cbe6" providerId="ADAL" clId="{7D0B6B51-DA5F-4021-8848-39BD0005AA08}" dt="2025-11-15T07:11:27.667" v="4" actId="47"/>
        <pc:sldMkLst>
          <pc:docMk/>
          <pc:sldMk cId="0" sldId="2145726911"/>
        </pc:sldMkLst>
      </pc:sldChg>
      <pc:sldMasterChg chg="delSldLayout">
        <pc:chgData name="Taylor Davis" userId="5c9e72a0-c39f-4aa1-9d7d-64125e78cbe6" providerId="ADAL" clId="{7D0B6B51-DA5F-4021-8848-39BD0005AA08}" dt="2025-11-15T07:11:27.667" v="4" actId="47"/>
        <pc:sldMasterMkLst>
          <pc:docMk/>
          <pc:sldMasterMk cId="3019070536" sldId="2147483744"/>
        </pc:sldMasterMkLst>
        <pc:sldLayoutChg chg="del">
          <pc:chgData name="Taylor Davis" userId="5c9e72a0-c39f-4aa1-9d7d-64125e78cbe6" providerId="ADAL" clId="{7D0B6B51-DA5F-4021-8848-39BD0005AA08}" dt="2025-11-15T07:11:27.667" v="4" actId="47"/>
          <pc:sldLayoutMkLst>
            <pc:docMk/>
            <pc:sldMasterMk cId="3019070536" sldId="2147483744"/>
            <pc:sldLayoutMk cId="1655837808" sldId="2147483812"/>
          </pc:sldLayoutMkLst>
        </pc:sldLayoutChg>
      </pc:sldMasterChg>
      <pc:sldMasterChg chg="del delSldLayout">
        <pc:chgData name="Taylor Davis" userId="5c9e72a0-c39f-4aa1-9d7d-64125e78cbe6" providerId="ADAL" clId="{7D0B6B51-DA5F-4021-8848-39BD0005AA08}" dt="2025-11-15T07:11:27.667" v="4" actId="47"/>
        <pc:sldMasterMkLst>
          <pc:docMk/>
          <pc:sldMasterMk cId="1265540980" sldId="2147483785"/>
        </pc:sldMasterMkLst>
        <pc:sldLayoutChg chg="del">
          <pc:chgData name="Taylor Davis" userId="5c9e72a0-c39f-4aa1-9d7d-64125e78cbe6" providerId="ADAL" clId="{7D0B6B51-DA5F-4021-8848-39BD0005AA08}" dt="2025-11-15T07:11:27.667" v="4" actId="47"/>
          <pc:sldLayoutMkLst>
            <pc:docMk/>
            <pc:sldMasterMk cId="1265540980" sldId="2147483785"/>
            <pc:sldLayoutMk cId="2498378428" sldId="2147483786"/>
          </pc:sldLayoutMkLst>
        </pc:sldLayoutChg>
        <pc:sldLayoutChg chg="del">
          <pc:chgData name="Taylor Davis" userId="5c9e72a0-c39f-4aa1-9d7d-64125e78cbe6" providerId="ADAL" clId="{7D0B6B51-DA5F-4021-8848-39BD0005AA08}" dt="2025-11-15T07:11:27.667" v="4" actId="47"/>
          <pc:sldLayoutMkLst>
            <pc:docMk/>
            <pc:sldMasterMk cId="1265540980" sldId="2147483785"/>
            <pc:sldLayoutMk cId="2601881731" sldId="2147483787"/>
          </pc:sldLayoutMkLst>
        </pc:sldLayoutChg>
        <pc:sldLayoutChg chg="del">
          <pc:chgData name="Taylor Davis" userId="5c9e72a0-c39f-4aa1-9d7d-64125e78cbe6" providerId="ADAL" clId="{7D0B6B51-DA5F-4021-8848-39BD0005AA08}" dt="2025-11-15T07:11:27.667" v="4" actId="47"/>
          <pc:sldLayoutMkLst>
            <pc:docMk/>
            <pc:sldMasterMk cId="1265540980" sldId="2147483785"/>
            <pc:sldLayoutMk cId="1562686733" sldId="2147483788"/>
          </pc:sldLayoutMkLst>
        </pc:sldLayoutChg>
        <pc:sldLayoutChg chg="del">
          <pc:chgData name="Taylor Davis" userId="5c9e72a0-c39f-4aa1-9d7d-64125e78cbe6" providerId="ADAL" clId="{7D0B6B51-DA5F-4021-8848-39BD0005AA08}" dt="2025-11-15T07:11:27.667" v="4" actId="47"/>
          <pc:sldLayoutMkLst>
            <pc:docMk/>
            <pc:sldMasterMk cId="1265540980" sldId="2147483785"/>
            <pc:sldLayoutMk cId="4003081434" sldId="2147483789"/>
          </pc:sldLayoutMkLst>
        </pc:sldLayoutChg>
        <pc:sldLayoutChg chg="del">
          <pc:chgData name="Taylor Davis" userId="5c9e72a0-c39f-4aa1-9d7d-64125e78cbe6" providerId="ADAL" clId="{7D0B6B51-DA5F-4021-8848-39BD0005AA08}" dt="2025-11-15T07:11:27.667" v="4" actId="47"/>
          <pc:sldLayoutMkLst>
            <pc:docMk/>
            <pc:sldMasterMk cId="1265540980" sldId="2147483785"/>
            <pc:sldLayoutMk cId="1910118790" sldId="2147483790"/>
          </pc:sldLayoutMkLst>
        </pc:sldLayoutChg>
        <pc:sldLayoutChg chg="del">
          <pc:chgData name="Taylor Davis" userId="5c9e72a0-c39f-4aa1-9d7d-64125e78cbe6" providerId="ADAL" clId="{7D0B6B51-DA5F-4021-8848-39BD0005AA08}" dt="2025-11-15T07:11:27.667" v="4" actId="47"/>
          <pc:sldLayoutMkLst>
            <pc:docMk/>
            <pc:sldMasterMk cId="1265540980" sldId="2147483785"/>
            <pc:sldLayoutMk cId="3711328393" sldId="2147483791"/>
          </pc:sldLayoutMkLst>
        </pc:sldLayoutChg>
        <pc:sldLayoutChg chg="del">
          <pc:chgData name="Taylor Davis" userId="5c9e72a0-c39f-4aa1-9d7d-64125e78cbe6" providerId="ADAL" clId="{7D0B6B51-DA5F-4021-8848-39BD0005AA08}" dt="2025-11-15T07:11:27.667" v="4" actId="47"/>
          <pc:sldLayoutMkLst>
            <pc:docMk/>
            <pc:sldMasterMk cId="1265540980" sldId="2147483785"/>
            <pc:sldLayoutMk cId="1423940963" sldId="2147483792"/>
          </pc:sldLayoutMkLst>
        </pc:sldLayoutChg>
        <pc:sldLayoutChg chg="del">
          <pc:chgData name="Taylor Davis" userId="5c9e72a0-c39f-4aa1-9d7d-64125e78cbe6" providerId="ADAL" clId="{7D0B6B51-DA5F-4021-8848-39BD0005AA08}" dt="2025-11-15T07:11:27.667" v="4" actId="47"/>
          <pc:sldLayoutMkLst>
            <pc:docMk/>
            <pc:sldMasterMk cId="1265540980" sldId="2147483785"/>
            <pc:sldLayoutMk cId="4032606110" sldId="2147483793"/>
          </pc:sldLayoutMkLst>
        </pc:sldLayoutChg>
        <pc:sldLayoutChg chg="del">
          <pc:chgData name="Taylor Davis" userId="5c9e72a0-c39f-4aa1-9d7d-64125e78cbe6" providerId="ADAL" clId="{7D0B6B51-DA5F-4021-8848-39BD0005AA08}" dt="2025-11-15T07:11:27.667" v="4" actId="47"/>
          <pc:sldLayoutMkLst>
            <pc:docMk/>
            <pc:sldMasterMk cId="1265540980" sldId="2147483785"/>
            <pc:sldLayoutMk cId="2254392230" sldId="2147483794"/>
          </pc:sldLayoutMkLst>
        </pc:sldLayoutChg>
        <pc:sldLayoutChg chg="del">
          <pc:chgData name="Taylor Davis" userId="5c9e72a0-c39f-4aa1-9d7d-64125e78cbe6" providerId="ADAL" clId="{7D0B6B51-DA5F-4021-8848-39BD0005AA08}" dt="2025-11-15T07:11:27.667" v="4" actId="47"/>
          <pc:sldLayoutMkLst>
            <pc:docMk/>
            <pc:sldMasterMk cId="1265540980" sldId="2147483785"/>
            <pc:sldLayoutMk cId="1920540095" sldId="2147483795"/>
          </pc:sldLayoutMkLst>
        </pc:sldLayoutChg>
        <pc:sldLayoutChg chg="del">
          <pc:chgData name="Taylor Davis" userId="5c9e72a0-c39f-4aa1-9d7d-64125e78cbe6" providerId="ADAL" clId="{7D0B6B51-DA5F-4021-8848-39BD0005AA08}" dt="2025-11-15T07:11:27.667" v="4" actId="47"/>
          <pc:sldLayoutMkLst>
            <pc:docMk/>
            <pc:sldMasterMk cId="1265540980" sldId="2147483785"/>
            <pc:sldLayoutMk cId="4278865784" sldId="2147483796"/>
          </pc:sldLayoutMkLst>
        </pc:sldLayoutChg>
      </pc:sldMasterChg>
      <pc:sldMasterChg chg="del delSldLayout">
        <pc:chgData name="Taylor Davis" userId="5c9e72a0-c39f-4aa1-9d7d-64125e78cbe6" providerId="ADAL" clId="{7D0B6B51-DA5F-4021-8848-39BD0005AA08}" dt="2025-11-15T07:11:27.667" v="4" actId="47"/>
        <pc:sldMasterMkLst>
          <pc:docMk/>
          <pc:sldMasterMk cId="3563936643" sldId="2147483797"/>
        </pc:sldMasterMkLst>
        <pc:sldLayoutChg chg="del">
          <pc:chgData name="Taylor Davis" userId="5c9e72a0-c39f-4aa1-9d7d-64125e78cbe6" providerId="ADAL" clId="{7D0B6B51-DA5F-4021-8848-39BD0005AA08}" dt="2025-11-15T07:11:27.667" v="4" actId="47"/>
          <pc:sldLayoutMkLst>
            <pc:docMk/>
            <pc:sldMasterMk cId="3563936643" sldId="2147483797"/>
            <pc:sldLayoutMk cId="2824293841" sldId="2147483798"/>
          </pc:sldLayoutMkLst>
        </pc:sldLayoutChg>
        <pc:sldLayoutChg chg="del">
          <pc:chgData name="Taylor Davis" userId="5c9e72a0-c39f-4aa1-9d7d-64125e78cbe6" providerId="ADAL" clId="{7D0B6B51-DA5F-4021-8848-39BD0005AA08}" dt="2025-11-15T07:11:27.667" v="4" actId="47"/>
          <pc:sldLayoutMkLst>
            <pc:docMk/>
            <pc:sldMasterMk cId="3563936643" sldId="2147483797"/>
            <pc:sldLayoutMk cId="150421858" sldId="2147483799"/>
          </pc:sldLayoutMkLst>
        </pc:sldLayoutChg>
        <pc:sldLayoutChg chg="del">
          <pc:chgData name="Taylor Davis" userId="5c9e72a0-c39f-4aa1-9d7d-64125e78cbe6" providerId="ADAL" clId="{7D0B6B51-DA5F-4021-8848-39BD0005AA08}" dt="2025-11-15T07:11:27.667" v="4" actId="47"/>
          <pc:sldLayoutMkLst>
            <pc:docMk/>
            <pc:sldMasterMk cId="3563936643" sldId="2147483797"/>
            <pc:sldLayoutMk cId="2298163207" sldId="2147483800"/>
          </pc:sldLayoutMkLst>
        </pc:sldLayoutChg>
        <pc:sldLayoutChg chg="del">
          <pc:chgData name="Taylor Davis" userId="5c9e72a0-c39f-4aa1-9d7d-64125e78cbe6" providerId="ADAL" clId="{7D0B6B51-DA5F-4021-8848-39BD0005AA08}" dt="2025-11-15T07:11:27.667" v="4" actId="47"/>
          <pc:sldLayoutMkLst>
            <pc:docMk/>
            <pc:sldMasterMk cId="3563936643" sldId="2147483797"/>
            <pc:sldLayoutMk cId="1991304296" sldId="2147483801"/>
          </pc:sldLayoutMkLst>
        </pc:sldLayoutChg>
        <pc:sldLayoutChg chg="del">
          <pc:chgData name="Taylor Davis" userId="5c9e72a0-c39f-4aa1-9d7d-64125e78cbe6" providerId="ADAL" clId="{7D0B6B51-DA5F-4021-8848-39BD0005AA08}" dt="2025-11-15T07:11:27.667" v="4" actId="47"/>
          <pc:sldLayoutMkLst>
            <pc:docMk/>
            <pc:sldMasterMk cId="3563936643" sldId="2147483797"/>
            <pc:sldLayoutMk cId="1121920882" sldId="2147483802"/>
          </pc:sldLayoutMkLst>
        </pc:sldLayoutChg>
        <pc:sldLayoutChg chg="del">
          <pc:chgData name="Taylor Davis" userId="5c9e72a0-c39f-4aa1-9d7d-64125e78cbe6" providerId="ADAL" clId="{7D0B6B51-DA5F-4021-8848-39BD0005AA08}" dt="2025-11-15T07:11:27.667" v="4" actId="47"/>
          <pc:sldLayoutMkLst>
            <pc:docMk/>
            <pc:sldMasterMk cId="3563936643" sldId="2147483797"/>
            <pc:sldLayoutMk cId="2885874120" sldId="2147483803"/>
          </pc:sldLayoutMkLst>
        </pc:sldLayoutChg>
        <pc:sldLayoutChg chg="del">
          <pc:chgData name="Taylor Davis" userId="5c9e72a0-c39f-4aa1-9d7d-64125e78cbe6" providerId="ADAL" clId="{7D0B6B51-DA5F-4021-8848-39BD0005AA08}" dt="2025-11-15T07:11:27.667" v="4" actId="47"/>
          <pc:sldLayoutMkLst>
            <pc:docMk/>
            <pc:sldMasterMk cId="3563936643" sldId="2147483797"/>
            <pc:sldLayoutMk cId="1906534417" sldId="2147483804"/>
          </pc:sldLayoutMkLst>
        </pc:sldLayoutChg>
        <pc:sldLayoutChg chg="del">
          <pc:chgData name="Taylor Davis" userId="5c9e72a0-c39f-4aa1-9d7d-64125e78cbe6" providerId="ADAL" clId="{7D0B6B51-DA5F-4021-8848-39BD0005AA08}" dt="2025-11-15T07:11:27.667" v="4" actId="47"/>
          <pc:sldLayoutMkLst>
            <pc:docMk/>
            <pc:sldMasterMk cId="3563936643" sldId="2147483797"/>
            <pc:sldLayoutMk cId="491300616" sldId="2147483805"/>
          </pc:sldLayoutMkLst>
        </pc:sldLayoutChg>
        <pc:sldLayoutChg chg="del">
          <pc:chgData name="Taylor Davis" userId="5c9e72a0-c39f-4aa1-9d7d-64125e78cbe6" providerId="ADAL" clId="{7D0B6B51-DA5F-4021-8848-39BD0005AA08}" dt="2025-11-15T07:11:27.667" v="4" actId="47"/>
          <pc:sldLayoutMkLst>
            <pc:docMk/>
            <pc:sldMasterMk cId="3563936643" sldId="2147483797"/>
            <pc:sldLayoutMk cId="2921565179" sldId="2147483806"/>
          </pc:sldLayoutMkLst>
        </pc:sldLayoutChg>
        <pc:sldLayoutChg chg="del">
          <pc:chgData name="Taylor Davis" userId="5c9e72a0-c39f-4aa1-9d7d-64125e78cbe6" providerId="ADAL" clId="{7D0B6B51-DA5F-4021-8848-39BD0005AA08}" dt="2025-11-15T07:11:27.667" v="4" actId="47"/>
          <pc:sldLayoutMkLst>
            <pc:docMk/>
            <pc:sldMasterMk cId="3563936643" sldId="2147483797"/>
            <pc:sldLayoutMk cId="1159210513" sldId="2147483807"/>
          </pc:sldLayoutMkLst>
        </pc:sldLayoutChg>
        <pc:sldLayoutChg chg="del">
          <pc:chgData name="Taylor Davis" userId="5c9e72a0-c39f-4aa1-9d7d-64125e78cbe6" providerId="ADAL" clId="{7D0B6B51-DA5F-4021-8848-39BD0005AA08}" dt="2025-11-15T07:11:27.667" v="4" actId="47"/>
          <pc:sldLayoutMkLst>
            <pc:docMk/>
            <pc:sldMasterMk cId="3563936643" sldId="2147483797"/>
            <pc:sldLayoutMk cId="1217176151" sldId="2147483808"/>
          </pc:sldLayoutMkLst>
        </pc:sldLayoutChg>
        <pc:sldLayoutChg chg="del">
          <pc:chgData name="Taylor Davis" userId="5c9e72a0-c39f-4aa1-9d7d-64125e78cbe6" providerId="ADAL" clId="{7D0B6B51-DA5F-4021-8848-39BD0005AA08}" dt="2025-11-15T07:11:27.667" v="4" actId="47"/>
          <pc:sldLayoutMkLst>
            <pc:docMk/>
            <pc:sldMasterMk cId="3563936643" sldId="2147483797"/>
            <pc:sldLayoutMk cId="895843817" sldId="2147483809"/>
          </pc:sldLayoutMkLst>
        </pc:sldLayoutChg>
        <pc:sldLayoutChg chg="del">
          <pc:chgData name="Taylor Davis" userId="5c9e72a0-c39f-4aa1-9d7d-64125e78cbe6" providerId="ADAL" clId="{7D0B6B51-DA5F-4021-8848-39BD0005AA08}" dt="2025-11-15T07:11:27.667" v="4" actId="47"/>
          <pc:sldLayoutMkLst>
            <pc:docMk/>
            <pc:sldMasterMk cId="3563936643" sldId="2147483797"/>
            <pc:sldLayoutMk cId="684719445" sldId="2147483810"/>
          </pc:sldLayoutMkLst>
        </pc:sldLayoutChg>
        <pc:sldLayoutChg chg="del">
          <pc:chgData name="Taylor Davis" userId="5c9e72a0-c39f-4aa1-9d7d-64125e78cbe6" providerId="ADAL" clId="{7D0B6B51-DA5F-4021-8848-39BD0005AA08}" dt="2025-11-15T07:11:27.667" v="4" actId="47"/>
          <pc:sldLayoutMkLst>
            <pc:docMk/>
            <pc:sldMasterMk cId="3563936643" sldId="2147483797"/>
            <pc:sldLayoutMk cId="2530460957" sldId="2147483811"/>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atin typeface="Montserrat" panose="00000500000000000000" pitchFamily="2" charset="0"/>
              </a:defRPr>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atin typeface="Montserrat" panose="00000500000000000000" pitchFamily="2" charset="0"/>
              </a:defRPr>
            </a:lvl1pPr>
          </a:lstStyle>
          <a:p>
            <a:fld id="{7444AE22-21A2-46C1-A42F-3B4E8AE858E0}" type="datetimeFigureOut">
              <a:rPr lang="en-US" smtClean="0"/>
              <a:pPr/>
              <a:t>11/14/2025</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atin typeface="Montserrat" panose="00000500000000000000" pitchFamily="2" charset="0"/>
              </a:defRPr>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atin typeface="Montserrat" panose="00000500000000000000" pitchFamily="2" charset="0"/>
              </a:defRPr>
            </a:lvl1pPr>
          </a:lstStyle>
          <a:p>
            <a:fld id="{4139CA89-B4B2-4050-B038-8DF8E3A33516}" type="slidenum">
              <a:rPr lang="en-US" smtClean="0"/>
              <a:pPr/>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ontserrat" panose="00000500000000000000" pitchFamily="2" charset="0"/>
        <a:ea typeface="+mn-ea"/>
        <a:cs typeface="+mn-cs"/>
      </a:defRPr>
    </a:lvl1pPr>
    <a:lvl2pPr marL="457200" algn="l" defTabSz="914400" rtl="0" eaLnBrk="1" latinLnBrk="0" hangingPunct="1">
      <a:defRPr sz="1200" kern="1200">
        <a:solidFill>
          <a:schemeClr val="tx1"/>
        </a:solidFill>
        <a:latin typeface="Montserrat" panose="00000500000000000000" pitchFamily="2" charset="0"/>
        <a:ea typeface="+mn-ea"/>
        <a:cs typeface="+mn-cs"/>
      </a:defRPr>
    </a:lvl2pPr>
    <a:lvl3pPr marL="914400" algn="l" defTabSz="914400" rtl="0" eaLnBrk="1" latinLnBrk="0" hangingPunct="1">
      <a:defRPr sz="1200" kern="1200">
        <a:solidFill>
          <a:schemeClr val="tx1"/>
        </a:solidFill>
        <a:latin typeface="Montserrat" panose="00000500000000000000" pitchFamily="2" charset="0"/>
        <a:ea typeface="+mn-ea"/>
        <a:cs typeface="+mn-cs"/>
      </a:defRPr>
    </a:lvl3pPr>
    <a:lvl4pPr marL="1371600" algn="l" defTabSz="914400" rtl="0" eaLnBrk="1" latinLnBrk="0" hangingPunct="1">
      <a:defRPr sz="1200" kern="1200">
        <a:solidFill>
          <a:schemeClr val="tx1"/>
        </a:solidFill>
        <a:latin typeface="Montserrat" panose="00000500000000000000" pitchFamily="2" charset="0"/>
        <a:ea typeface="+mn-ea"/>
        <a:cs typeface="+mn-cs"/>
      </a:defRPr>
    </a:lvl4pPr>
    <a:lvl5pPr marL="1828800" algn="l" defTabSz="914400" rtl="0" eaLnBrk="1" latinLnBrk="0" hangingPunct="1">
      <a:defRPr sz="120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4139CA89-B4B2-4050-B038-8DF8E3A33516}" type="slidenum">
              <a:rPr lang="en-US" smtClean="0"/>
              <a:t>7</a:t>
            </a:fld>
            <a:endParaRPr lang="en-US" dirty="0"/>
          </a:p>
        </p:txBody>
      </p:sp>
    </p:spTree>
    <p:extLst>
      <p:ext uri="{BB962C8B-B14F-4D97-AF65-F5344CB8AC3E}">
        <p14:creationId xmlns:p14="http://schemas.microsoft.com/office/powerpoint/2010/main" val="31893513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11/14/2025</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11/14/2025</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11/14/2025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11/14/2025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11/14/2025</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11/14/2025</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11/14/2025</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11/14/2025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11/14/2025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11/14/2025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11/14/2025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17378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11/14/2025</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1289658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11/14/2025</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3121576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11/14/2025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578834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11/14/2025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86899206"/>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11/14/2025</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928250306"/>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11/14/2025</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8255796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11/14/2025</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8090479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11/14/2025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9986902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11/14/2025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3884915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11/14/2025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844918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11/14/2025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77210789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11/14/2025</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335028952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1686739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30184788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0333A-D7F4-8BF6-7FE6-B245E061DF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7AFD55F-2B6A-BC81-01A1-E169ABA4D220}"/>
              </a:ext>
            </a:extLst>
          </p:cNvPr>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BAAA2D5-089E-22AF-3D0B-4F19067E8217}"/>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11/14/2025</a:t>
            </a:fld>
            <a:endParaRPr lang="en-US"/>
          </a:p>
        </p:txBody>
      </p:sp>
      <p:sp>
        <p:nvSpPr>
          <p:cNvPr id="5" name="Footer Placeholder 4">
            <a:extLst>
              <a:ext uri="{FF2B5EF4-FFF2-40B4-BE49-F238E27FC236}">
                <a16:creationId xmlns:a16="http://schemas.microsoft.com/office/drawing/2014/main" id="{589894B4-59C2-ED48-02F2-59E034C4F88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9D461B42-85D1-521C-676B-AEF121AD5CB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56872617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24B23-3A0F-2FFB-F140-0ED21664BD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127193-0571-3183-9568-FBC2C4C41923}"/>
              </a:ext>
            </a:extLst>
          </p:cNvPr>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A4BE860-C86D-39CD-1793-0B867B627B8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11/14/2025</a:t>
            </a:fld>
            <a:endParaRPr lang="en-US"/>
          </a:p>
        </p:txBody>
      </p:sp>
      <p:sp>
        <p:nvSpPr>
          <p:cNvPr id="5" name="Footer Placeholder 4">
            <a:extLst>
              <a:ext uri="{FF2B5EF4-FFF2-40B4-BE49-F238E27FC236}">
                <a16:creationId xmlns:a16="http://schemas.microsoft.com/office/drawing/2014/main" id="{D959902B-89A3-6032-AD27-5B2747726C70}"/>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C4B0BC3B-8A86-AA5A-AD97-AFE05C11E31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26440587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49683-D972-023F-219D-7BB60D6790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7FBF06F-33B9-F6B7-D0B0-58368CF72D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latin typeface="Montserrat" panose="00000500000000000000" pitchFamily="2"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10D591E4-3B21-B2C2-F89D-019DFA1351E6}"/>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11/14/2025</a:t>
            </a:fld>
            <a:endParaRPr lang="en-US"/>
          </a:p>
        </p:txBody>
      </p:sp>
      <p:sp>
        <p:nvSpPr>
          <p:cNvPr id="5" name="Footer Placeholder 4">
            <a:extLst>
              <a:ext uri="{FF2B5EF4-FFF2-40B4-BE49-F238E27FC236}">
                <a16:creationId xmlns:a16="http://schemas.microsoft.com/office/drawing/2014/main" id="{578F9B1F-218C-4099-354A-77985CA88E63}"/>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BB87B7BA-EB30-276C-F6A4-57FBE4B1BA2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71612093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93683-51F3-237C-28D3-307EE44F33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FA447C5-37A5-7576-DF3F-A03DBF5DC6D7}"/>
              </a:ext>
            </a:extLst>
          </p:cNvPr>
          <p:cNvSpPr>
            <a:spLocks noGrp="1"/>
          </p:cNvSpPr>
          <p:nvPr>
            <p:ph sz="half" idx="1"/>
          </p:nvPr>
        </p:nvSpPr>
        <p:spPr>
          <a:xfrm>
            <a:off x="838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A53D1057-0101-3CB8-D158-2EAE2463F32A}"/>
              </a:ext>
            </a:extLst>
          </p:cNvPr>
          <p:cNvSpPr>
            <a:spLocks noGrp="1"/>
          </p:cNvSpPr>
          <p:nvPr>
            <p:ph sz="half" idx="2"/>
          </p:nvPr>
        </p:nvSpPr>
        <p:spPr>
          <a:xfrm>
            <a:off x="6172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F9A133-63CE-4F37-E482-EA1EECCAB0CF}"/>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11/14/2025</a:t>
            </a:fld>
            <a:endParaRPr lang="en-US"/>
          </a:p>
        </p:txBody>
      </p:sp>
      <p:sp>
        <p:nvSpPr>
          <p:cNvPr id="6" name="Footer Placeholder 5">
            <a:extLst>
              <a:ext uri="{FF2B5EF4-FFF2-40B4-BE49-F238E27FC236}">
                <a16:creationId xmlns:a16="http://schemas.microsoft.com/office/drawing/2014/main" id="{E2DC3D78-6D9B-64CF-B7D6-AEEA3A6E0ECC}"/>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97CD38F0-00C1-C0D4-F298-433BE1D17D12}"/>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50577165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8A98D-65C1-1E26-EDD7-90B5F4CAFCA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CADBA72-820B-660B-EB15-EF77956BD268}"/>
              </a:ext>
            </a:extLst>
          </p:cNvPr>
          <p:cNvSpPr>
            <a:spLocks noGrp="1"/>
          </p:cNvSpPr>
          <p:nvPr>
            <p:ph type="body" idx="1"/>
          </p:nvPr>
        </p:nvSpPr>
        <p:spPr>
          <a:xfrm>
            <a:off x="839788" y="1681163"/>
            <a:ext cx="5157787"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159EE162-1C58-9826-D133-1AD84A30AF1E}"/>
              </a:ext>
            </a:extLst>
          </p:cNvPr>
          <p:cNvSpPr>
            <a:spLocks noGrp="1"/>
          </p:cNvSpPr>
          <p:nvPr>
            <p:ph sz="half" idx="2"/>
          </p:nvPr>
        </p:nvSpPr>
        <p:spPr>
          <a:xfrm>
            <a:off x="839788" y="2505075"/>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27950119-C4BF-8D07-DED7-073F40FB57DA}"/>
              </a:ext>
            </a:extLst>
          </p:cNvPr>
          <p:cNvSpPr>
            <a:spLocks noGrp="1"/>
          </p:cNvSpPr>
          <p:nvPr>
            <p:ph type="body" sz="quarter" idx="3"/>
          </p:nvPr>
        </p:nvSpPr>
        <p:spPr>
          <a:xfrm>
            <a:off x="6172200" y="1681163"/>
            <a:ext cx="5183188"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90C9C018-AAE1-01C5-C4E7-1C69A018EB1A}"/>
              </a:ext>
            </a:extLst>
          </p:cNvPr>
          <p:cNvSpPr>
            <a:spLocks noGrp="1"/>
          </p:cNvSpPr>
          <p:nvPr>
            <p:ph sz="quarter" idx="4"/>
          </p:nvPr>
        </p:nvSpPr>
        <p:spPr>
          <a:xfrm>
            <a:off x="6172200" y="2505075"/>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5C6C6F45-ECE2-F081-F98C-EECF3EBF428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11/14/2025</a:t>
            </a:fld>
            <a:endParaRPr lang="en-US"/>
          </a:p>
        </p:txBody>
      </p:sp>
      <p:sp>
        <p:nvSpPr>
          <p:cNvPr id="8" name="Footer Placeholder 7">
            <a:extLst>
              <a:ext uri="{FF2B5EF4-FFF2-40B4-BE49-F238E27FC236}">
                <a16:creationId xmlns:a16="http://schemas.microsoft.com/office/drawing/2014/main" id="{81C19771-6EC0-7828-5F14-219FFD629621}"/>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9" name="Slide Number Placeholder 8">
            <a:extLst>
              <a:ext uri="{FF2B5EF4-FFF2-40B4-BE49-F238E27FC236}">
                <a16:creationId xmlns:a16="http://schemas.microsoft.com/office/drawing/2014/main" id="{A1AFBBDB-D016-3519-189F-C3EF7A0A34F9}"/>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7731658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190F4-6BF3-9A05-11B0-CFDC94F6AB1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432DC46-DA37-DBBE-5107-914E8DF19A4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11/14/2025</a:t>
            </a:fld>
            <a:endParaRPr lang="en-US"/>
          </a:p>
        </p:txBody>
      </p:sp>
      <p:sp>
        <p:nvSpPr>
          <p:cNvPr id="4" name="Footer Placeholder 3">
            <a:extLst>
              <a:ext uri="{FF2B5EF4-FFF2-40B4-BE49-F238E27FC236}">
                <a16:creationId xmlns:a16="http://schemas.microsoft.com/office/drawing/2014/main" id="{500D90FD-81A9-E6FB-27D3-24713EF14A15}"/>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5" name="Slide Number Placeholder 4">
            <a:extLst>
              <a:ext uri="{FF2B5EF4-FFF2-40B4-BE49-F238E27FC236}">
                <a16:creationId xmlns:a16="http://schemas.microsoft.com/office/drawing/2014/main" id="{29316EA0-D473-AC28-DECA-DEAEF6567180}"/>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656068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17604C-AB91-78A2-2DA4-6D1088A321F1}"/>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11/14/2025</a:t>
            </a:fld>
            <a:endParaRPr lang="en-US"/>
          </a:p>
        </p:txBody>
      </p:sp>
      <p:sp>
        <p:nvSpPr>
          <p:cNvPr id="3" name="Footer Placeholder 2">
            <a:extLst>
              <a:ext uri="{FF2B5EF4-FFF2-40B4-BE49-F238E27FC236}">
                <a16:creationId xmlns:a16="http://schemas.microsoft.com/office/drawing/2014/main" id="{E4C85361-F6B7-FAAB-4738-E0ADE5E1C7C4}"/>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4" name="Slide Number Placeholder 3">
            <a:extLst>
              <a:ext uri="{FF2B5EF4-FFF2-40B4-BE49-F238E27FC236}">
                <a16:creationId xmlns:a16="http://schemas.microsoft.com/office/drawing/2014/main" id="{F923D6D1-624B-8B3C-90BE-2C90B19A71DF}"/>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44235742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CB8A9-03E2-CC5E-A121-E5984E9AEC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9A13174-A575-A915-92B0-207B93D1FE50}"/>
              </a:ext>
            </a:extLst>
          </p:cNvPr>
          <p:cNvSpPr>
            <a:spLocks noGrp="1"/>
          </p:cNvSpPr>
          <p:nvPr>
            <p:ph idx="1"/>
          </p:nvPr>
        </p:nvSpPr>
        <p:spPr>
          <a:xfrm>
            <a:off x="5183188" y="987425"/>
            <a:ext cx="6172200"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5EF26E49-3074-8C94-B0CC-8EFA1B8250BC}"/>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7A89E3CC-7C4A-D7EC-E46C-5A842B8A1384}"/>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11/14/2025</a:t>
            </a:fld>
            <a:endParaRPr lang="en-US"/>
          </a:p>
        </p:txBody>
      </p:sp>
      <p:sp>
        <p:nvSpPr>
          <p:cNvPr id="6" name="Footer Placeholder 5">
            <a:extLst>
              <a:ext uri="{FF2B5EF4-FFF2-40B4-BE49-F238E27FC236}">
                <a16:creationId xmlns:a16="http://schemas.microsoft.com/office/drawing/2014/main" id="{0CF330E3-0B96-933C-829B-04B30C41D7D7}"/>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14757A92-1BAA-DAA4-E90F-EDFBED3D782C}"/>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732848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A07BE-FE86-FD17-6855-F4BBD305C4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7EFE0AE-B8E3-6453-74A9-2CCBC448EB45}"/>
              </a:ext>
            </a:extLst>
          </p:cNvPr>
          <p:cNvSpPr>
            <a:spLocks noGrp="1"/>
          </p:cNvSpPr>
          <p:nvPr>
            <p:ph type="pic" idx="1"/>
          </p:nvPr>
        </p:nvSpPr>
        <p:spPr>
          <a:xfrm>
            <a:off x="5183188" y="987425"/>
            <a:ext cx="6172200" cy="4873625"/>
          </a:xfrm>
        </p:spPr>
        <p:txBody>
          <a:bodyPr/>
          <a:lstStyle>
            <a:lvl1pPr marL="0" indent="0">
              <a:buNone/>
              <a:defRPr sz="3200">
                <a:latin typeface="Montserrat" panose="000005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7C1BFAC6-51C3-1D27-7E41-47878F27E0A5}"/>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F198224-E0A8-36C0-DDF7-27FA70A43C0C}"/>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11/14/2025</a:t>
            </a:fld>
            <a:endParaRPr lang="en-US"/>
          </a:p>
        </p:txBody>
      </p:sp>
      <p:sp>
        <p:nvSpPr>
          <p:cNvPr id="6" name="Footer Placeholder 5">
            <a:extLst>
              <a:ext uri="{FF2B5EF4-FFF2-40B4-BE49-F238E27FC236}">
                <a16:creationId xmlns:a16="http://schemas.microsoft.com/office/drawing/2014/main" id="{BB34AEAA-95D8-5BA2-2F25-047DDCC1DE29}"/>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5A686F25-6C70-7C4B-DFD4-192375D55DA3}"/>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17645199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03B00-617F-6CDB-FC05-71E366A0DE7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77BB096-36EC-BC27-3A10-9065A2B11C2F}"/>
              </a:ext>
            </a:extLst>
          </p:cNvPr>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044F6E8-F910-F328-584A-CA901BB3A3E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11/14/2025</a:t>
            </a:fld>
            <a:endParaRPr lang="en-US"/>
          </a:p>
        </p:txBody>
      </p:sp>
      <p:sp>
        <p:nvSpPr>
          <p:cNvPr id="5" name="Footer Placeholder 4">
            <a:extLst>
              <a:ext uri="{FF2B5EF4-FFF2-40B4-BE49-F238E27FC236}">
                <a16:creationId xmlns:a16="http://schemas.microsoft.com/office/drawing/2014/main" id="{3D93A474-10C6-034E-0576-8B73F4B7084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2CD4C70E-6DC2-4298-EEB8-A2AC6AD76BE8}"/>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17292695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08DBE0-CED9-F7B0-5642-5731DA249BC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C47D136-9913-226C-7C14-436B6CF99CC4}"/>
              </a:ext>
            </a:extLst>
          </p:cNvPr>
          <p:cNvSpPr>
            <a:spLocks noGrp="1"/>
          </p:cNvSpPr>
          <p:nvPr>
            <p:ph type="body" orient="vert" idx="1"/>
          </p:nvPr>
        </p:nvSpPr>
        <p:spPr>
          <a:xfrm>
            <a:off x="838200"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0E3D2C8-E528-BF1F-C711-971E74B5E8A5}"/>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11/14/2025</a:t>
            </a:fld>
            <a:endParaRPr lang="en-US"/>
          </a:p>
        </p:txBody>
      </p:sp>
      <p:sp>
        <p:nvSpPr>
          <p:cNvPr id="5" name="Footer Placeholder 4">
            <a:extLst>
              <a:ext uri="{FF2B5EF4-FFF2-40B4-BE49-F238E27FC236}">
                <a16:creationId xmlns:a16="http://schemas.microsoft.com/office/drawing/2014/main" id="{30DD753D-C084-2ADF-0E12-AA92D30C6A36}"/>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32C82D8B-8E1E-F47C-7C0F-AEDE48C2DDF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3481090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tags" Target="../tags/tag3.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theme" Target="../theme/theme3.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4.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11/14/2025</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dirty="0"/>
          </a:p>
        </p:txBody>
      </p:sp>
    </p:spTree>
    <p:custDataLst>
      <p:tags r:id="rId13"/>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0145033"/>
      </p:ext>
    </p:extLst>
  </p:cSld>
  <p:clrMap bg1="lt1" tx1="dk1" bg2="lt2" tx2="dk2" accent1="accent1" accent2="accent2" accent3="accent3" accent4="accent4" accent5="accent5" accent6="accent6" hlink="hlink" folHlink="folHlink"/>
  <p:sldLayoutIdLst>
    <p:sldLayoutId id="2147483757"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11/14/2025</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2931359225"/>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 id="2147483771" r:id="rId13"/>
    <p:sldLayoutId id="2147483772"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28BEE0-7577-10C8-2F70-A988114D83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EED88FE-EDC7-60BB-7A69-AF9890EA04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4C56E3C9-054B-7BB4-0692-08B96E9944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4180493562"/>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Lst>
  <p:txStyles>
    <p:titleStyle>
      <a:lvl1pPr algn="l" defTabSz="914400" rtl="0" eaLnBrk="1" latinLnBrk="0" hangingPunct="1">
        <a:lnSpc>
          <a:spcPct val="90000"/>
        </a:lnSpc>
        <a:spcBef>
          <a:spcPct val="0"/>
        </a:spcBef>
        <a:buNone/>
        <a:defRPr sz="4400" b="1" i="0" kern="1200">
          <a:solidFill>
            <a:schemeClr val="tx2"/>
          </a:solidFill>
          <a:latin typeface="Montserrat" panose="00000500000000000000"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Montserrat" panose="00000500000000000000" pitchFamily="2"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jp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sv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jpeg"/><Relationship Id="rId1" Type="http://schemas.openxmlformats.org/officeDocument/2006/relationships/slideLayout" Target="../slideLayouts/slideLayout6.xml"/><Relationship Id="rId6" Type="http://schemas.openxmlformats.org/officeDocument/2006/relationships/image" Target="../media/image23.svg"/><Relationship Id="rId11" Type="http://schemas.openxmlformats.org/officeDocument/2006/relationships/image" Target="../media/image10.png"/><Relationship Id="rId5" Type="http://schemas.openxmlformats.org/officeDocument/2006/relationships/image" Target="../media/image22.png"/><Relationship Id="rId10" Type="http://schemas.openxmlformats.org/officeDocument/2006/relationships/image" Target="../media/image27.svg"/><Relationship Id="rId4" Type="http://schemas.openxmlformats.org/officeDocument/2006/relationships/image" Target="../media/image21.svg"/><Relationship Id="rId9"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627"/>
        </a:solidFill>
        <a:effectLst/>
      </p:bgPr>
    </p:bg>
    <p:spTree>
      <p:nvGrpSpPr>
        <p:cNvPr id="1" name=""/>
        <p:cNvGrpSpPr/>
        <p:nvPr/>
      </p:nvGrpSpPr>
      <p:grpSpPr>
        <a:xfrm>
          <a:off x="0" y="0"/>
          <a:ext cx="0" cy="0"/>
          <a:chOff x="0" y="0"/>
          <a:chExt cx="0" cy="0"/>
        </a:xfrm>
      </p:grpSpPr>
      <p:pic>
        <p:nvPicPr>
          <p:cNvPr id="2" name="Object 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14271" cy="6856286"/>
          </a:xfrm>
          <a:prstGeom prst="rect">
            <a:avLst/>
          </a:prstGeom>
        </p:spPr>
      </p:pic>
      <p:sp>
        <p:nvSpPr>
          <p:cNvPr id="3" name="Object 2"/>
          <p:cNvSpPr/>
          <p:nvPr/>
        </p:nvSpPr>
        <p:spPr>
          <a:xfrm>
            <a:off x="2180680" y="1196279"/>
            <a:ext cx="5761184" cy="248332"/>
          </a:xfrm>
          <a:prstGeom prst="rect">
            <a:avLst/>
          </a:prstGeom>
          <a:noFill/>
        </p:spPr>
        <p:txBody>
          <a:bodyPr wrap="square" lIns="0" tIns="0" rIns="0" bIns="0" rtlCol="0" anchor="t"/>
          <a:lstStyle/>
          <a:p>
            <a:pPr marL="0" marR="0" lvl="0" indent="0" algn="r" defTabSz="914400" rtl="0" eaLnBrk="1" fontAlgn="auto" latinLnBrk="0" hangingPunct="1">
              <a:lnSpc>
                <a:spcPts val="1956"/>
              </a:lnSpc>
              <a:spcBef>
                <a:spcPts val="0"/>
              </a:spcBef>
              <a:spcAft>
                <a:spcPts val="0"/>
              </a:spcAft>
              <a:buClrTx/>
              <a:buSzTx/>
              <a:buFontTx/>
              <a:buNone/>
              <a:tabLst/>
              <a:defRPr/>
            </a:pPr>
            <a:r>
              <a:rPr kumimoji="0" lang="en-US" sz="1552" b="0" i="0" u="none" strike="noStrike" kern="0" cap="none" spc="47" normalizeH="0" baseline="0" noProof="0">
                <a:ln>
                  <a:noFill/>
                </a:ln>
                <a:solidFill>
                  <a:srgbClr val="FFFFFF">
                    <a:alpha val="80000"/>
                  </a:srgbClr>
                </a:solidFill>
                <a:effectLst/>
                <a:uLnTx/>
                <a:uFillTx/>
                <a:latin typeface="Montserrat" panose="00000500000000000000" pitchFamily="2" charset="0"/>
                <a:ea typeface="Jost*" pitchFamily="34" charset="-122"/>
                <a:cs typeface="Jost*" pitchFamily="34" charset="-120"/>
              </a:rPr>
              <a:t>OPPORTUNITY REVIEW</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3"/>
          <p:cNvSpPr/>
          <p:nvPr/>
        </p:nvSpPr>
        <p:spPr>
          <a:xfrm>
            <a:off x="1178743" y="1685802"/>
            <a:ext cx="6953573" cy="1151790"/>
          </a:xfrm>
          <a:prstGeom prst="rect">
            <a:avLst/>
          </a:prstGeom>
          <a:noFill/>
        </p:spPr>
        <p:txBody>
          <a:bodyPr wrap="square" lIns="0" tIns="0" rIns="0" bIns="0" rtlCol="0" anchor="t"/>
          <a:lstStyle/>
          <a:p>
            <a:pPr marL="0" marR="0" lvl="0" indent="0" algn="r" defTabSz="914400" rtl="0" eaLnBrk="1" fontAlgn="auto" latinLnBrk="0" hangingPunct="1">
              <a:lnSpc>
                <a:spcPts val="9072"/>
              </a:lnSpc>
              <a:spcBef>
                <a:spcPts val="975"/>
              </a:spcBef>
              <a:spcAft>
                <a:spcPts val="0"/>
              </a:spcAft>
              <a:buClrTx/>
              <a:buSzTx/>
              <a:buFontTx/>
              <a:buNone/>
              <a:tabLst/>
              <a:defRPr/>
            </a:pPr>
            <a:r>
              <a:rPr kumimoji="0" lang="en-US" sz="6600" b="0" i="0" u="none" strike="noStrike" kern="0" cap="none" spc="243" normalizeH="0" baseline="0" noProof="0" dirty="0">
                <a:ln>
                  <a:noFill/>
                </a:ln>
                <a:solidFill>
                  <a:srgbClr val="FFFFFF"/>
                </a:solidFill>
                <a:effectLst/>
                <a:uLnTx/>
                <a:uFillTx/>
                <a:latin typeface="Montserrat"/>
                <a:ea typeface="Jost*"/>
                <a:cs typeface="Jost*" pitchFamily="34" charset="-120"/>
              </a:rPr>
              <a:t>DIRECT-TO-EMPLOYER GTM STRATEGY</a:t>
            </a:r>
            <a:endParaRPr kumimoji="0" lang="en-US" sz="1200" b="0" i="0" u="none" strike="noStrike" kern="1200" cap="none" spc="0" normalizeH="0" baseline="0" noProof="0" dirty="0">
              <a:ln>
                <a:noFill/>
              </a:ln>
              <a:solidFill>
                <a:prstClr val="black"/>
              </a:solidFill>
              <a:effectLst/>
              <a:uLnTx/>
              <a:uFillTx/>
              <a:latin typeface="Montserrat"/>
              <a:ea typeface="Jost*"/>
              <a:cs typeface="+mn-cs"/>
            </a:endParaRPr>
          </a:p>
        </p:txBody>
      </p:sp>
      <p:sp>
        <p:nvSpPr>
          <p:cNvPr id="5" name="Object 6"/>
          <p:cNvSpPr/>
          <p:nvPr/>
        </p:nvSpPr>
        <p:spPr>
          <a:xfrm>
            <a:off x="218209" y="5372101"/>
            <a:ext cx="7723655" cy="311118"/>
          </a:xfrm>
          <a:prstGeom prst="rect">
            <a:avLst/>
          </a:prstGeom>
          <a:noFill/>
        </p:spPr>
        <p:txBody>
          <a:bodyPr wrap="square" lIns="0" tIns="0" rIns="0" bIns="0" rtlCol="0" anchor="t"/>
          <a:lstStyle/>
          <a:p>
            <a:pPr marL="0" marR="0" lvl="0" indent="0" algn="r" defTabSz="914400" rtl="0" eaLnBrk="1" fontAlgn="auto" latinLnBrk="0" hangingPunct="1">
              <a:lnSpc>
                <a:spcPts val="2370"/>
              </a:lnSpc>
              <a:spcBef>
                <a:spcPts val="599"/>
              </a:spcBef>
              <a:spcAft>
                <a:spcPts val="0"/>
              </a:spcAft>
              <a:buClrTx/>
              <a:buSzTx/>
              <a:buFontTx/>
              <a:buNone/>
              <a:tabLst/>
              <a:defRPr/>
            </a:pPr>
            <a:r>
              <a:rPr kumimoji="0" lang="en-US" sz="1750" b="0" i="0" u="none" strike="noStrike" kern="0" cap="none" spc="53" normalizeH="0" baseline="0" noProof="0" dirty="0">
                <a:ln>
                  <a:noFill/>
                </a:ln>
                <a:solidFill>
                  <a:srgbClr val="FFFFFF">
                    <a:alpha val="80000"/>
                  </a:srgbClr>
                </a:solidFill>
                <a:effectLst/>
                <a:uLnTx/>
                <a:uFillTx/>
                <a:latin typeface="Montserrat"/>
                <a:ea typeface="Jost*"/>
                <a:cs typeface="Jost*" pitchFamily="34" charset="-120"/>
              </a:rPr>
              <a:t>Exploring a Froedtert ThedaCare Health DTE Health Plan</a:t>
            </a:r>
            <a:endParaRPr kumimoji="0" lang="en-US" sz="175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6" name="Object 7"/>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8322769" y="0"/>
            <a:ext cx="3866183" cy="6856286"/>
          </a:xfrm>
          <a:prstGeom prst="rect">
            <a:avLst/>
          </a:prstGeom>
        </p:spPr>
      </p:pic>
      <p:sp>
        <p:nvSpPr>
          <p:cNvPr id="7" name="Object 8"/>
          <p:cNvSpPr/>
          <p:nvPr/>
        </p:nvSpPr>
        <p:spPr>
          <a:xfrm>
            <a:off x="495176" y="285679"/>
            <a:ext cx="2005028" cy="476131"/>
          </a:xfrm>
          <a:prstGeom prst="rect">
            <a:avLst/>
          </a:pr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8" name="Object 9"/>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647538" y="380905"/>
            <a:ext cx="1700304" cy="285679"/>
          </a:xfrm>
          <a:prstGeom prst="rect">
            <a:avLst/>
          </a:prstGeom>
        </p:spPr>
      </p:pic>
      <p:pic>
        <p:nvPicPr>
          <p:cNvPr id="9" name="Content Placeholder 8"/>
          <p:cNvPicPr>
            <a:picLocks noGrp="1"/>
          </p:cNvPicPr>
          <p:nvPr>
            <p:ph/>
          </p:nvPr>
        </p:nvPicPr>
        <p:blipFill>
          <a:blip r:embed="rId7" cstate="print"/>
          <a:stretch>
            <a:fillRect/>
          </a:stretch>
        </p:blipFill>
        <p:spPr>
          <a:xfrm>
            <a:off x="8321040" y="0"/>
            <a:ext cx="3867912"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9" descr="A large white monument in a city&#10;&#10;Description automatically generated">
            <a:extLst>
              <a:ext uri="{FF2B5EF4-FFF2-40B4-BE49-F238E27FC236}">
                <a16:creationId xmlns:a16="http://schemas.microsoft.com/office/drawing/2014/main" id="{BE8CB555-2013-D606-CB39-161E7EAEF5C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 y="1"/>
            <a:ext cx="12192000" cy="6858000"/>
          </a:xfrm>
          <a:prstGeom prst="rect">
            <a:avLst/>
          </a:prstGeom>
        </p:spPr>
      </p:pic>
      <p:sp>
        <p:nvSpPr>
          <p:cNvPr id="3"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4" name="Rectangle: Single Corner Rounded 4">
            <a:extLst>
              <a:ext uri="{FF2B5EF4-FFF2-40B4-BE49-F238E27FC236}">
                <a16:creationId xmlns:a16="http://schemas.microsoft.com/office/drawing/2014/main" id="{90B02A10-01E7-2494-66B5-078DDFE69A60}"/>
              </a:ext>
            </a:extLst>
          </p:cNvPr>
          <p:cNvSpPr/>
          <p:nvPr/>
        </p:nvSpPr>
        <p:spPr>
          <a:xfrm>
            <a:off x="-8238" y="1163706"/>
            <a:ext cx="5843847" cy="5702531"/>
          </a:xfrm>
          <a:prstGeom prst="round1Rect">
            <a:avLst>
              <a:gd name="adj" fmla="val 12082"/>
            </a:avLst>
          </a:prstGeom>
          <a:solidFill>
            <a:srgbClr val="00539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marR="0" lvl="1" indent="0" algn="l" defTabSz="914411" rtl="0" eaLnBrk="1" fontAlgn="base"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extBox 6">
            <a:extLst>
              <a:ext uri="{FF2B5EF4-FFF2-40B4-BE49-F238E27FC236}">
                <a16:creationId xmlns:a16="http://schemas.microsoft.com/office/drawing/2014/main" id="{C3359629-7405-5BED-0491-4C3A6C6FF755}"/>
              </a:ext>
            </a:extLst>
          </p:cNvPr>
          <p:cNvSpPr txBox="1"/>
          <p:nvPr/>
        </p:nvSpPr>
        <p:spPr>
          <a:xfrm>
            <a:off x="81069" y="2184943"/>
            <a:ext cx="5681708" cy="4016484"/>
          </a:xfrm>
          <a:prstGeom prst="rect">
            <a:avLst/>
          </a:prstGeom>
          <a:noFill/>
        </p:spPr>
        <p:txBody>
          <a:bodyPr wrap="square" lIns="91440" tIns="45720" rIns="91440" bIns="45720" rtlCol="0" anchor="t">
            <a:spAutoFit/>
          </a:bodyPr>
          <a:lstStyle/>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Founded in 1979, headquartered in Indianapolis</a:t>
            </a:r>
            <a:endParaRPr kumimoji="0" lang="en-US" sz="1800" b="0" i="0" u="none" strike="noStrike" kern="1200" cap="none" spc="0" normalizeH="0" baseline="0" noProof="0" dirty="0">
              <a:ln>
                <a:noFill/>
              </a:ln>
              <a:solidFill>
                <a:prstClr val="white"/>
              </a:solidFill>
              <a:effectLst/>
              <a:uLnTx/>
              <a:uFillTx/>
              <a:latin typeface="Montserrat"/>
              <a:ea typeface="+mn-ea"/>
              <a:cs typeface="Arial"/>
            </a:endParaRP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Largest Independently-Owned Full-Service Third-Party Administrator</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Specialize in Administration of Self-Funded Plans and Population Health Management​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Leader in the Direct-to-Employer Movement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We Know and Understand the Market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Experience Working with All Professional Teams: Agents, Networks, MGAs</a:t>
            </a:r>
          </a:p>
          <a:p>
            <a:pPr marL="285750" marR="0" lvl="0" indent="-285750" algn="l" defTabSz="914411" rtl="0" eaLnBrk="1" fontAlgn="base"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The Key Family of Companies is a Vertically Integrated group of benefit related organizations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3,000+ Corporate Clients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 Million Members under Management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700 Employees</a:t>
            </a:r>
          </a:p>
        </p:txBody>
      </p:sp>
      <p:pic>
        <p:nvPicPr>
          <p:cNvPr id="6" name="Picture 4">
            <a:extLst>
              <a:ext uri="{FF2B5EF4-FFF2-40B4-BE49-F238E27FC236}">
                <a16:creationId xmlns:a16="http://schemas.microsoft.com/office/drawing/2014/main" id="{E7533ABB-0CFF-7B45-D905-4C9D58558C6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270497" y="1415781"/>
            <a:ext cx="3302852" cy="6416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091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5">
            <a:extLst>
              <a:ext uri="{FF2B5EF4-FFF2-40B4-BE49-F238E27FC236}">
                <a16:creationId xmlns:a16="http://schemas.microsoft.com/office/drawing/2014/main" id="{E4D4BA5E-072E-BFC4-86A7-A8EC0FA16D37}"/>
              </a:ext>
            </a:extLst>
          </p:cNvPr>
          <p:cNvPicPr>
            <a:picLocks noChangeAspect="1"/>
          </p:cNvPicPr>
          <p:nvPr/>
        </p:nvPicPr>
        <p:blipFill>
          <a:blip r:embed="rId2"/>
          <a:stretch>
            <a:fillRect/>
          </a:stretch>
        </p:blipFill>
        <p:spPr>
          <a:xfrm>
            <a:off x="154871" y="759389"/>
            <a:ext cx="8455729" cy="5111065"/>
          </a:xfrm>
          <a:prstGeom prst="rect">
            <a:avLst/>
          </a:prstGeom>
          <a:ln>
            <a:noFill/>
          </a:ln>
          <a:effectLst>
            <a:outerShdw blurRad="292100" dist="139700" dir="2700000" sx="1000" sy="1000" algn="tl" rotWithShape="0">
              <a:srgbClr val="333333">
                <a:alpha val="65000"/>
              </a:srgbClr>
            </a:outerShdw>
          </a:effectLst>
        </p:spPr>
      </p:pic>
      <p:sp>
        <p:nvSpPr>
          <p:cNvPr id="3" name="Rectangle 5">
            <a:extLst>
              <a:ext uri="{FF2B5EF4-FFF2-40B4-BE49-F238E27FC236}">
                <a16:creationId xmlns:a16="http://schemas.microsoft.com/office/drawing/2014/main" id="{F34C8217-D749-4511-B7B5-02F77484B378}"/>
              </a:ext>
            </a:extLst>
          </p:cNvPr>
          <p:cNvSpPr/>
          <p:nvPr/>
        </p:nvSpPr>
        <p:spPr>
          <a:xfrm>
            <a:off x="8816521" y="0"/>
            <a:ext cx="3375480"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82000"/>
                  </a:prstClr>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tint val="82000"/>
                </a:prstClr>
              </a:solidFill>
              <a:effectLst/>
              <a:uLnTx/>
              <a:uFillTx/>
              <a:ea typeface="+mn-ea"/>
              <a:cs typeface="+mn-cs"/>
            </a:endParaRPr>
          </a:p>
        </p:txBody>
      </p:sp>
      <p:sp>
        <p:nvSpPr>
          <p:cNvPr id="5" name="Rectangle: Rounded Corners 7">
            <a:extLst>
              <a:ext uri="{FF2B5EF4-FFF2-40B4-BE49-F238E27FC236}">
                <a16:creationId xmlns:a16="http://schemas.microsoft.com/office/drawing/2014/main" id="{880AE72B-2936-B7FD-B16B-B7DDE61C48BF}"/>
              </a:ext>
            </a:extLst>
          </p:cNvPr>
          <p:cNvSpPr/>
          <p:nvPr/>
        </p:nvSpPr>
        <p:spPr>
          <a:xfrm>
            <a:off x="2340670" y="3693371"/>
            <a:ext cx="2304822"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Bentonville, AR</a:t>
            </a:r>
          </a:p>
        </p:txBody>
      </p:sp>
      <p:sp>
        <p:nvSpPr>
          <p:cNvPr id="6" name="Rectangle: Rounded Corners 9">
            <a:extLst>
              <a:ext uri="{FF2B5EF4-FFF2-40B4-BE49-F238E27FC236}">
                <a16:creationId xmlns:a16="http://schemas.microsoft.com/office/drawing/2014/main" id="{83BAAF75-9BFE-8A09-84C8-29127AD11CC8}"/>
              </a:ext>
            </a:extLst>
          </p:cNvPr>
          <p:cNvSpPr/>
          <p:nvPr/>
        </p:nvSpPr>
        <p:spPr>
          <a:xfrm>
            <a:off x="3384431" y="4574952"/>
            <a:ext cx="1781467"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Meridian, MS</a:t>
            </a:r>
          </a:p>
        </p:txBody>
      </p:sp>
      <p:sp>
        <p:nvSpPr>
          <p:cNvPr id="7" name="Rectangle: Rounded Corners 10">
            <a:extLst>
              <a:ext uri="{FF2B5EF4-FFF2-40B4-BE49-F238E27FC236}">
                <a16:creationId xmlns:a16="http://schemas.microsoft.com/office/drawing/2014/main" id="{F7F76DEC-1B86-5F34-4522-EE137E2BEDC5}"/>
              </a:ext>
            </a:extLst>
          </p:cNvPr>
          <p:cNvSpPr/>
          <p:nvPr/>
        </p:nvSpPr>
        <p:spPr>
          <a:xfrm>
            <a:off x="4645491" y="5362115"/>
            <a:ext cx="2132682"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Fort Myers, FL</a:t>
            </a:r>
          </a:p>
        </p:txBody>
      </p:sp>
      <p:sp>
        <p:nvSpPr>
          <p:cNvPr id="8" name="Rectangle: Rounded Corners 11">
            <a:extLst>
              <a:ext uri="{FF2B5EF4-FFF2-40B4-BE49-F238E27FC236}">
                <a16:creationId xmlns:a16="http://schemas.microsoft.com/office/drawing/2014/main" id="{B522D9FB-03E8-0475-A3A5-AF33059EA7E6}"/>
              </a:ext>
            </a:extLst>
          </p:cNvPr>
          <p:cNvSpPr/>
          <p:nvPr/>
        </p:nvSpPr>
        <p:spPr>
          <a:xfrm>
            <a:off x="5957116" y="4048009"/>
            <a:ext cx="2272613"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Knoxville, TN</a:t>
            </a:r>
          </a:p>
        </p:txBody>
      </p:sp>
      <p:sp>
        <p:nvSpPr>
          <p:cNvPr id="9" name="Rectangle: Rounded Corners 12">
            <a:extLst>
              <a:ext uri="{FF2B5EF4-FFF2-40B4-BE49-F238E27FC236}">
                <a16:creationId xmlns:a16="http://schemas.microsoft.com/office/drawing/2014/main" id="{F3AB3343-FA0C-E9FA-637F-E45BB11DFFC1}"/>
              </a:ext>
            </a:extLst>
          </p:cNvPr>
          <p:cNvSpPr/>
          <p:nvPr/>
        </p:nvSpPr>
        <p:spPr>
          <a:xfrm>
            <a:off x="6678138" y="3093352"/>
            <a:ext cx="1751526"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Cincinnati, OH</a:t>
            </a:r>
          </a:p>
        </p:txBody>
      </p:sp>
      <p:sp>
        <p:nvSpPr>
          <p:cNvPr id="10" name="Rectangle: Rounded Corners 13">
            <a:extLst>
              <a:ext uri="{FF2B5EF4-FFF2-40B4-BE49-F238E27FC236}">
                <a16:creationId xmlns:a16="http://schemas.microsoft.com/office/drawing/2014/main" id="{A5F1AA97-617E-DEDA-E780-8518ACB143FB}"/>
              </a:ext>
            </a:extLst>
          </p:cNvPr>
          <p:cNvSpPr/>
          <p:nvPr/>
        </p:nvSpPr>
        <p:spPr>
          <a:xfrm>
            <a:off x="4102202" y="2976014"/>
            <a:ext cx="1854914"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Louisville, KY</a:t>
            </a:r>
          </a:p>
        </p:txBody>
      </p:sp>
      <p:pic>
        <p:nvPicPr>
          <p:cNvPr id="11" name="Picture 13">
            <a:extLst>
              <a:ext uri="{FF2B5EF4-FFF2-40B4-BE49-F238E27FC236}">
                <a16:creationId xmlns:a16="http://schemas.microsoft.com/office/drawing/2014/main" id="{1FBDB55F-E2EE-D357-32A6-FEC23D86FA8B}"/>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2" name="Title 4">
            <a:extLst>
              <a:ext uri="{FF2B5EF4-FFF2-40B4-BE49-F238E27FC236}">
                <a16:creationId xmlns:a16="http://schemas.microsoft.com/office/drawing/2014/main" id="{7C6371C7-344C-3C21-F253-96E09F12864E}"/>
              </a:ext>
            </a:extLst>
          </p:cNvPr>
          <p:cNvSpPr txBox="1">
            <a:spLocks/>
          </p:cNvSpPr>
          <p:nvPr/>
        </p:nvSpPr>
        <p:spPr>
          <a:xfrm>
            <a:off x="8881352" y="1661020"/>
            <a:ext cx="3245817" cy="330780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i="0" kern="1200">
                <a:solidFill>
                  <a:schemeClr val="tx2"/>
                </a:solidFill>
                <a:latin typeface="Book Antiqua" panose="02040602050305030304" pitchFamily="18"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MARKET LEADER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IN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PRIVATE LABELED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DTE PLANS</a:t>
            </a:r>
          </a:p>
        </p:txBody>
      </p:sp>
    </p:spTree>
    <p:extLst>
      <p:ext uri="{BB962C8B-B14F-4D97-AF65-F5344CB8AC3E}">
        <p14:creationId xmlns:p14="http://schemas.microsoft.com/office/powerpoint/2010/main" val="263972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143908" y="818337"/>
            <a:ext cx="3397612" cy="3043929"/>
          </a:xfrm>
        </p:spPr>
        <p:txBody>
          <a:bodyPr>
            <a:noAutofit/>
          </a:bodyPr>
          <a:lstStyle/>
          <a:p>
            <a:pPr>
              <a:lnSpc>
                <a:spcPct val="100000"/>
              </a:lnSpc>
              <a:spcBef>
                <a:spcPts val="1800"/>
              </a:spcBef>
              <a:spcAft>
                <a:spcPts val="600"/>
              </a:spcAft>
            </a:pPr>
            <a:r>
              <a:rPr lang="en-US" sz="4000" dirty="0">
                <a:solidFill>
                  <a:srgbClr val="000B2E"/>
                </a:solidFill>
                <a:cs typeface="Arial" panose="020B0604020202020204" pitchFamily="34" charset="0"/>
              </a:rPr>
              <a:t>DIRECT-TO-EMPLOYER</a:t>
            </a:r>
            <a:br>
              <a:rPr lang="en-US" sz="4000" b="1" dirty="0">
                <a:solidFill>
                  <a:srgbClr val="000B2E"/>
                </a:solidFill>
                <a:cs typeface="Arial" panose="020B0604020202020204" pitchFamily="34" charset="0"/>
              </a:rPr>
            </a:br>
            <a:r>
              <a:rPr lang="en-US" sz="2800" dirty="0">
                <a:solidFill>
                  <a:srgbClr val="000B2E"/>
                </a:solidFill>
                <a:cs typeface="Arial" panose="020B0604020202020204" pitchFamily="34" charset="0"/>
              </a:rPr>
              <a:t>(DTE)</a:t>
            </a:r>
            <a:br>
              <a:rPr lang="en-US" sz="1600" dirty="0">
                <a:solidFill>
                  <a:srgbClr val="000B2E"/>
                </a:solidFill>
                <a:cs typeface="Arial" panose="020B0604020202020204" pitchFamily="34" charset="0"/>
              </a:rPr>
            </a:br>
            <a:br>
              <a:rPr lang="en-US" sz="1600" b="1" dirty="0">
                <a:solidFill>
                  <a:srgbClr val="000B2E"/>
                </a:solidFill>
                <a:cs typeface="Arial" panose="020B0604020202020204" pitchFamily="34" charset="0"/>
              </a:rPr>
            </a:br>
            <a:endParaRPr lang="en-US" sz="1600" dirty="0">
              <a:solidFill>
                <a:schemeClr val="tx1">
                  <a:lumMod val="75000"/>
                  <a:lumOff val="25000"/>
                </a:schemeClr>
              </a:solidFill>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461078" y="1468132"/>
            <a:ext cx="6697847" cy="4660901"/>
          </a:xfrm>
        </p:spPr>
        <p:txBody>
          <a:bodyPr>
            <a:normAutofit fontScale="92500"/>
          </a:bodyPr>
          <a:lstStyle/>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solidFill>
                  <a:srgbClr val="9900CC"/>
                </a:solidFill>
              </a:rPr>
              <a:t> </a:t>
            </a:r>
            <a:r>
              <a:rPr lang="en-US" dirty="0">
                <a:solidFill>
                  <a:schemeClr val="tx1">
                    <a:lumMod val="75000"/>
                    <a:lumOff val="25000"/>
                  </a:schemeClr>
                </a:solidFill>
              </a:rPr>
              <a:t>Pick the Name of the Health Plan</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t> </a:t>
            </a:r>
            <a:r>
              <a:rPr lang="en-US" dirty="0">
                <a:solidFill>
                  <a:schemeClr val="tx1">
                    <a:lumMod val="75000"/>
                    <a:lumOff val="25000"/>
                  </a:schemeClr>
                </a:solidFill>
              </a:rPr>
              <a:t>Determine the Fees Charged</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t> </a:t>
            </a:r>
            <a:r>
              <a:rPr lang="en-US" dirty="0">
                <a:solidFill>
                  <a:schemeClr val="tx1">
                    <a:lumMod val="75000"/>
                    <a:lumOff val="25000"/>
                  </a:schemeClr>
                </a:solidFill>
              </a:rPr>
              <a:t>Practice the Medicine </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solidFill>
                  <a:srgbClr val="9900CC"/>
                </a:solidFill>
              </a:rPr>
              <a:t> </a:t>
            </a:r>
            <a:r>
              <a:rPr lang="en-US" dirty="0">
                <a:solidFill>
                  <a:schemeClr val="tx1">
                    <a:lumMod val="75000"/>
                    <a:lumOff val="25000"/>
                  </a:schemeClr>
                </a:solidFill>
              </a:rPr>
              <a:t>Receive the Profits  </a:t>
            </a:r>
          </a:p>
          <a:p>
            <a:pPr marL="0" indent="0">
              <a:lnSpc>
                <a:spcPct val="150000"/>
              </a:lnSpc>
              <a:spcAft>
                <a:spcPts val="1200"/>
              </a:spcAft>
              <a:buNone/>
            </a:pPr>
            <a:r>
              <a:rPr lang="en-US" sz="3000" b="1" dirty="0">
                <a:solidFill>
                  <a:srgbClr val="59CAE8"/>
                </a:solidFill>
                <a:latin typeface="Montserrat" panose="00000500000000000000" pitchFamily="2" charset="0"/>
              </a:rPr>
              <a:t>WE</a:t>
            </a:r>
            <a:r>
              <a:rPr lang="en-US" dirty="0">
                <a:solidFill>
                  <a:srgbClr val="9900CC"/>
                </a:solidFill>
              </a:rPr>
              <a:t> </a:t>
            </a:r>
            <a:r>
              <a:rPr lang="en-US" dirty="0">
                <a:solidFill>
                  <a:schemeClr val="tx1">
                    <a:lumMod val="75000"/>
                    <a:lumOff val="25000"/>
                  </a:schemeClr>
                </a:solidFill>
              </a:rPr>
              <a:t>Make it Successful</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4</a:t>
            </a:fld>
            <a:endParaRPr lang="en-US" dirty="0"/>
          </a:p>
        </p:txBody>
      </p:sp>
      <p:sp>
        <p:nvSpPr>
          <p:cNvPr id="6"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grpSp>
        <p:nvGrpSpPr>
          <p:cNvPr id="7" name="Group 41">
            <a:extLst>
              <a:ext uri="{FF2B5EF4-FFF2-40B4-BE49-F238E27FC236}">
                <a16:creationId xmlns:a16="http://schemas.microsoft.com/office/drawing/2014/main" id="{C3A11C0D-6225-4F5F-9034-762253C251A2}"/>
              </a:ext>
            </a:extLst>
          </p:cNvPr>
          <p:cNvGrpSpPr/>
          <p:nvPr/>
        </p:nvGrpSpPr>
        <p:grpSpPr>
          <a:xfrm>
            <a:off x="4632939" y="1468132"/>
            <a:ext cx="640080" cy="4254692"/>
            <a:chOff x="5315974" y="943768"/>
            <a:chExt cx="640080" cy="4254692"/>
          </a:xfrm>
          <a:noFill/>
        </p:grpSpPr>
        <p:pic>
          <p:nvPicPr>
            <p:cNvPr id="8" name="Picture 10" descr="Blue check mark - Transparent PNG &amp; SVG vector file">
              <a:extLst>
                <a:ext uri="{FF2B5EF4-FFF2-40B4-BE49-F238E27FC236}">
                  <a16:creationId xmlns:a16="http://schemas.microsoft.com/office/drawing/2014/main" id="{D8A1C779-0B9F-4A67-8037-7D25A11FFA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4558380"/>
              <a:ext cx="640080" cy="640080"/>
            </a:xfrm>
            <a:prstGeom prst="rect">
              <a:avLst/>
            </a:prstGeom>
            <a:grpFill/>
          </p:spPr>
        </p:pic>
        <p:pic>
          <p:nvPicPr>
            <p:cNvPr id="9" name="Picture 10" descr="Blue check mark - Transparent PNG &amp; SVG vector file">
              <a:extLst>
                <a:ext uri="{FF2B5EF4-FFF2-40B4-BE49-F238E27FC236}">
                  <a16:creationId xmlns:a16="http://schemas.microsoft.com/office/drawing/2014/main" id="{78B72E30-7B45-40B1-9302-CE9A3F3AD97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3678222"/>
              <a:ext cx="640080" cy="640080"/>
            </a:xfrm>
            <a:prstGeom prst="rect">
              <a:avLst/>
            </a:prstGeom>
            <a:grpFill/>
          </p:spPr>
        </p:pic>
        <p:pic>
          <p:nvPicPr>
            <p:cNvPr id="10" name="Picture 10" descr="Blue check mark - Transparent PNG &amp; SVG vector file">
              <a:extLst>
                <a:ext uri="{FF2B5EF4-FFF2-40B4-BE49-F238E27FC236}">
                  <a16:creationId xmlns:a16="http://schemas.microsoft.com/office/drawing/2014/main" id="{9D9240A2-869D-4166-9772-32124160B4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2798065"/>
              <a:ext cx="640080" cy="640080"/>
            </a:xfrm>
            <a:prstGeom prst="rect">
              <a:avLst/>
            </a:prstGeom>
            <a:grpFill/>
          </p:spPr>
        </p:pic>
        <p:pic>
          <p:nvPicPr>
            <p:cNvPr id="11" name="Picture 10" descr="Blue check mark - Transparent PNG &amp; SVG vector file">
              <a:extLst>
                <a:ext uri="{FF2B5EF4-FFF2-40B4-BE49-F238E27FC236}">
                  <a16:creationId xmlns:a16="http://schemas.microsoft.com/office/drawing/2014/main" id="{E8C8DD14-AAF4-4762-B170-F052A3B2288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1870916"/>
              <a:ext cx="640080" cy="640080"/>
            </a:xfrm>
            <a:prstGeom prst="rect">
              <a:avLst/>
            </a:prstGeom>
            <a:grpFill/>
          </p:spPr>
        </p:pic>
        <p:pic>
          <p:nvPicPr>
            <p:cNvPr id="12" name="Picture 10" descr="Blue check mark - Transparent PNG &amp; SVG vector file">
              <a:extLst>
                <a:ext uri="{FF2B5EF4-FFF2-40B4-BE49-F238E27FC236}">
                  <a16:creationId xmlns:a16="http://schemas.microsoft.com/office/drawing/2014/main" id="{C05F6E83-E756-4853-B3A8-49C6BE03258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943768"/>
              <a:ext cx="640080" cy="640080"/>
            </a:xfrm>
            <a:prstGeom prst="rect">
              <a:avLst/>
            </a:prstGeom>
            <a:grpFill/>
          </p:spPr>
        </p:pic>
      </p:grpSp>
      <p:sp>
        <p:nvSpPr>
          <p:cNvPr id="13" name="TextBox 14">
            <a:extLst>
              <a:ext uri="{FF2B5EF4-FFF2-40B4-BE49-F238E27FC236}">
                <a16:creationId xmlns:a16="http://schemas.microsoft.com/office/drawing/2014/main" id="{B8E36735-A0E0-6123-117C-3DE9AA3B9518}"/>
              </a:ext>
            </a:extLst>
          </p:cNvPr>
          <p:cNvSpPr txBox="1"/>
          <p:nvPr/>
        </p:nvSpPr>
        <p:spPr>
          <a:xfrm>
            <a:off x="1148436" y="3085346"/>
            <a:ext cx="2478684" cy="1477328"/>
          </a:xfrm>
          <a:prstGeom prst="rect">
            <a:avLst/>
          </a:prstGeom>
          <a:noFill/>
        </p:spPr>
        <p:txBody>
          <a:bodyPr wrap="square">
            <a:spAutoFit/>
          </a:bodyPr>
          <a:lstStyle/>
          <a:p>
            <a:r>
              <a:rPr lang="en-US" sz="1800" b="1" i="1" dirty="0">
                <a:solidFill>
                  <a:srgbClr val="000B2E"/>
                </a:solidFill>
                <a:cs typeface="Arial" panose="020B0604020202020204" pitchFamily="34" charset="0"/>
              </a:rPr>
              <a:t>Your</a:t>
            </a:r>
            <a:r>
              <a:rPr lang="en-US" sz="1800" b="1" dirty="0">
                <a:solidFill>
                  <a:srgbClr val="000B2E"/>
                </a:solidFill>
                <a:cs typeface="Arial" panose="020B0604020202020204" pitchFamily="34" charset="0"/>
              </a:rPr>
              <a:t> Health Plan Focused on a Direct Relationship with Self-Funded Employers in </a:t>
            </a:r>
            <a:r>
              <a:rPr lang="en-US" sz="1800" b="1" i="1" dirty="0">
                <a:solidFill>
                  <a:srgbClr val="000B2E"/>
                </a:solidFill>
                <a:cs typeface="Arial" panose="020B0604020202020204" pitchFamily="34" charset="0"/>
              </a:rPr>
              <a:t>Your</a:t>
            </a:r>
            <a:r>
              <a:rPr lang="en-US" sz="1800" b="1" dirty="0">
                <a:solidFill>
                  <a:srgbClr val="000B2E"/>
                </a:solidFill>
                <a:cs typeface="Arial" panose="020B0604020202020204" pitchFamily="34" charset="0"/>
              </a:rPr>
              <a:t> Market</a:t>
            </a:r>
            <a:endParaRPr lang="en-US" dirty="0"/>
          </a:p>
        </p:txBody>
      </p:sp>
      <p:pic>
        <p:nvPicPr>
          <p:cNvPr id="14" name="Content Placeholder 12"/>
          <p:cNvPicPr>
            <a:picLocks/>
          </p:cNvPicPr>
          <p:nvPr/>
        </p:nvPicPr>
        <p:blipFill>
          <a:blip r:embed="rId3" cstate="print"/>
          <a:stretch>
            <a:fillRect/>
          </a:stretch>
        </p:blipFill>
        <p:spPr>
          <a:xfrm>
            <a:off x="8503920" y="340347"/>
            <a:ext cx="3256227" cy="777240"/>
          </a:xfrm>
          <a:prstGeom prst="rect">
            <a:avLst/>
          </a:prstGeom>
        </p:spPr>
      </p:pic>
    </p:spTree>
    <p:extLst>
      <p:ext uri="{BB962C8B-B14F-4D97-AF65-F5344CB8AC3E}">
        <p14:creationId xmlns:p14="http://schemas.microsoft.com/office/powerpoint/2010/main" val="33067487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fld id="{3AFC719D-C4A7-4544-876E-D411D11AF6C9}" type="slidenum">
              <a:rPr lang="en-US" smtClean="0"/>
              <a:t>5</a:t>
            </a:fld>
            <a:endParaRPr lang="en-US" dirty="0"/>
          </a:p>
        </p:txBody>
      </p:sp>
      <p:sp>
        <p:nvSpPr>
          <p:cNvPr id="4" name="TextBox 5">
            <a:extLst>
              <a:ext uri="{FF2B5EF4-FFF2-40B4-BE49-F238E27FC236}">
                <a16:creationId xmlns:a16="http://schemas.microsoft.com/office/drawing/2014/main" id="{C9963971-9E27-D1D8-44A6-33EAA3782592}"/>
              </a:ext>
            </a:extLst>
          </p:cNvPr>
          <p:cNvSpPr txBox="1"/>
          <p:nvPr/>
        </p:nvSpPr>
        <p:spPr>
          <a:xfrm>
            <a:off x="227045" y="1330559"/>
            <a:ext cx="11737910" cy="584775"/>
          </a:xfrm>
          <a:prstGeom prst="rect">
            <a:avLst/>
          </a:prstGeom>
          <a:noFill/>
        </p:spPr>
        <p:txBody>
          <a:bodyPr wrap="square">
            <a:spAutoFit/>
          </a:bodyPr>
          <a:lstStyle/>
          <a:p>
            <a:pPr algn="ctr"/>
            <a:r>
              <a:rPr lang="en-US" sz="1600" b="1" spc="200" dirty="0">
                <a:solidFill>
                  <a:schemeClr val="accent2">
                    <a:lumMod val="75000"/>
                  </a:schemeClr>
                </a:solidFill>
                <a:latin typeface="Montserrat" panose="00000500000000000000" pitchFamily="2" charset="0"/>
                <a:cs typeface="+mj-cs"/>
              </a:rPr>
              <a:t>Target Market</a:t>
            </a:r>
            <a:br>
              <a:rPr lang="en-US" sz="1600" spc="200" dirty="0">
                <a:latin typeface="Montserrat" panose="00000500000000000000" pitchFamily="2" charset="0"/>
                <a:cs typeface="+mj-cs"/>
              </a:rPr>
            </a:br>
            <a:r>
              <a:rPr lang="en-US" sz="1600" spc="200" dirty="0">
                <a:latin typeface="Montserrat" panose="00000500000000000000" pitchFamily="2" charset="0"/>
                <a:cs typeface="+mj-cs"/>
              </a:rPr>
              <a:t>4,400+ Employers       900,000</a:t>
            </a:r>
            <a:r>
              <a:rPr lang="en-US" sz="1600" spc="200" dirty="0">
                <a:latin typeface="Montserrat" panose="00000500000000000000" pitchFamily="2" charset="0"/>
                <a:cs typeface="+mj-cs"/>
                <a:sym typeface="Wingdings" panose="05000000000000000000" pitchFamily="2" charset="2"/>
              </a:rPr>
              <a:t>+ Employees       1,700,000+ Members</a:t>
            </a:r>
            <a:endParaRPr lang="en-US" sz="1600" dirty="0">
              <a:latin typeface="Montserrat" panose="00000500000000000000" pitchFamily="2" charset="0"/>
            </a:endParaRPr>
          </a:p>
        </p:txBody>
      </p:sp>
      <p:sp>
        <p:nvSpPr>
          <p:cNvPr id="5" name="Arrow: Chevron 8">
            <a:extLst>
              <a:ext uri="{FF2B5EF4-FFF2-40B4-BE49-F238E27FC236}">
                <a16:creationId xmlns:a16="http://schemas.microsoft.com/office/drawing/2014/main" id="{CCED4F75-71FE-39B7-D7A7-16E95303FB5C}"/>
              </a:ext>
            </a:extLst>
          </p:cNvPr>
          <p:cNvSpPr/>
          <p:nvPr/>
        </p:nvSpPr>
        <p:spPr>
          <a:xfrm>
            <a:off x="4333487" y="1656396"/>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ontserrat" panose="00000500000000000000" pitchFamily="2" charset="0"/>
            </a:endParaRPr>
          </a:p>
        </p:txBody>
      </p:sp>
      <p:sp>
        <p:nvSpPr>
          <p:cNvPr id="6" name="Arrow: Chevron 9">
            <a:extLst>
              <a:ext uri="{FF2B5EF4-FFF2-40B4-BE49-F238E27FC236}">
                <a16:creationId xmlns:a16="http://schemas.microsoft.com/office/drawing/2014/main" id="{340F1AD2-D85A-D177-8D19-AC9B027C53E2}"/>
              </a:ext>
            </a:extLst>
          </p:cNvPr>
          <p:cNvSpPr/>
          <p:nvPr/>
        </p:nvSpPr>
        <p:spPr>
          <a:xfrm>
            <a:off x="7280031" y="1647719"/>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ontserrat" panose="00000500000000000000" pitchFamily="2" charset="0"/>
              </a:rPr>
              <a:t>     </a:t>
            </a:r>
          </a:p>
        </p:txBody>
      </p:sp>
      <p:sp>
        <p:nvSpPr>
          <p:cNvPr id="7" name="Title 1">
            <a:extLst>
              <a:ext uri="{FF2B5EF4-FFF2-40B4-BE49-F238E27FC236}">
                <a16:creationId xmlns:a16="http://schemas.microsoft.com/office/drawing/2014/main" id="{012C7A76-8C4C-0C17-C582-24A807F19DA5}"/>
              </a:ext>
            </a:extLst>
          </p:cNvPr>
          <p:cNvSpPr>
            <a:spLocks noGrp="1"/>
          </p:cNvSpPr>
          <p:nvPr>
            <p:ph type="title"/>
          </p:nvPr>
        </p:nvSpPr>
        <p:spPr>
          <a:xfrm>
            <a:off x="81786" y="43143"/>
            <a:ext cx="12028428" cy="1325563"/>
          </a:xfrm>
        </p:spPr>
        <p:txBody>
          <a:bodyPr>
            <a:noAutofit/>
          </a:bodyPr>
          <a:lstStyle/>
          <a:p>
            <a:pPr>
              <a:lnSpc>
                <a:spcPct val="100000"/>
              </a:lnSpc>
              <a:spcBef>
                <a:spcPts val="1800"/>
              </a:spcBef>
              <a:spcAft>
                <a:spcPts val="600"/>
              </a:spcAft>
            </a:pPr>
            <a:r>
              <a:rPr lang="en-US" sz="3200" b="0" dirty="0">
                <a:solidFill>
                  <a:srgbClr val="000B2E"/>
                </a:solidFill>
              </a:rPr>
              <a:t>SIGNIFICANT OPPORTUNITY FOR PLAN GROWTH</a:t>
            </a:r>
            <a:br>
              <a:rPr lang="en-US" sz="3200" dirty="0">
                <a:solidFill>
                  <a:srgbClr val="000B2E"/>
                </a:solidFill>
              </a:rPr>
            </a:br>
            <a:r>
              <a:rPr lang="en-US" sz="2000" b="0" dirty="0">
                <a:solidFill>
                  <a:srgbClr val="000B2E"/>
                </a:solidFill>
              </a:rPr>
              <a:t>Researched for the below highlighted service area</a:t>
            </a:r>
            <a:endParaRPr lang="en-US" sz="1400" b="0" dirty="0">
              <a:solidFill>
                <a:schemeClr val="tx1">
                  <a:lumMod val="75000"/>
                  <a:lumOff val="25000"/>
                </a:schemeClr>
              </a:solidFill>
            </a:endParaRPr>
          </a:p>
        </p:txBody>
      </p:sp>
      <p:graphicFrame>
        <p:nvGraphicFramePr>
          <p:cNvPr id="8" name="Table 12">
            <a:extLst>
              <a:ext uri="{FF2B5EF4-FFF2-40B4-BE49-F238E27FC236}">
                <a16:creationId xmlns:a16="http://schemas.microsoft.com/office/drawing/2014/main" id="{B9E0A44D-EDC5-EBD5-4D77-F30FF46B060F}"/>
              </a:ext>
            </a:extLst>
          </p:cNvPr>
          <p:cNvGraphicFramePr>
            <a:graphicFrameLocks noGrp="1"/>
          </p:cNvGraphicFramePr>
          <p:nvPr>
            <p:extLst>
              <p:ext uri="{D42A27DB-BD31-4B8C-83A1-F6EECF244321}">
                <p14:modId xmlns:p14="http://schemas.microsoft.com/office/powerpoint/2010/main" val="1481522752"/>
              </p:ext>
            </p:extLst>
          </p:nvPr>
        </p:nvGraphicFramePr>
        <p:xfrm>
          <a:off x="4889297" y="2140949"/>
          <a:ext cx="6949427" cy="3441355"/>
        </p:xfrm>
        <a:graphic>
          <a:graphicData uri="http://schemas.openxmlformats.org/drawingml/2006/table">
            <a:tbl>
              <a:tblPr/>
              <a:tblGrid>
                <a:gridCol w="2681975">
                  <a:extLst>
                    <a:ext uri="{9D8B030D-6E8A-4147-A177-3AD203B41FA5}">
                      <a16:colId xmlns:a16="http://schemas.microsoft.com/office/drawing/2014/main" val="1559488425"/>
                    </a:ext>
                  </a:extLst>
                </a:gridCol>
                <a:gridCol w="711242">
                  <a:extLst>
                    <a:ext uri="{9D8B030D-6E8A-4147-A177-3AD203B41FA5}">
                      <a16:colId xmlns:a16="http://schemas.microsoft.com/office/drawing/2014/main" val="3447311937"/>
                    </a:ext>
                  </a:extLst>
                </a:gridCol>
                <a:gridCol w="711242">
                  <a:extLst>
                    <a:ext uri="{9D8B030D-6E8A-4147-A177-3AD203B41FA5}">
                      <a16:colId xmlns:a16="http://schemas.microsoft.com/office/drawing/2014/main" val="3754037008"/>
                    </a:ext>
                  </a:extLst>
                </a:gridCol>
                <a:gridCol w="711242">
                  <a:extLst>
                    <a:ext uri="{9D8B030D-6E8A-4147-A177-3AD203B41FA5}">
                      <a16:colId xmlns:a16="http://schemas.microsoft.com/office/drawing/2014/main" val="1458190780"/>
                    </a:ext>
                  </a:extLst>
                </a:gridCol>
                <a:gridCol w="711242">
                  <a:extLst>
                    <a:ext uri="{9D8B030D-6E8A-4147-A177-3AD203B41FA5}">
                      <a16:colId xmlns:a16="http://schemas.microsoft.com/office/drawing/2014/main" val="957112869"/>
                    </a:ext>
                  </a:extLst>
                </a:gridCol>
                <a:gridCol w="711242">
                  <a:extLst>
                    <a:ext uri="{9D8B030D-6E8A-4147-A177-3AD203B41FA5}">
                      <a16:colId xmlns:a16="http://schemas.microsoft.com/office/drawing/2014/main" val="257020552"/>
                    </a:ext>
                  </a:extLst>
                </a:gridCol>
                <a:gridCol w="711242">
                  <a:extLst>
                    <a:ext uri="{9D8B030D-6E8A-4147-A177-3AD203B41FA5}">
                      <a16:colId xmlns:a16="http://schemas.microsoft.com/office/drawing/2014/main" val="3699895334"/>
                    </a:ext>
                  </a:extLst>
                </a:gridCol>
              </a:tblGrid>
              <a:tr h="333130">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gridSpan="6">
                  <a:txBody>
                    <a:bodyPr/>
                    <a:lstStyle/>
                    <a:p>
                      <a:pPr algn="ctr" fontAlgn="b"/>
                      <a:r>
                        <a:rPr lang="en-US" sz="1100" b="0" i="0" u="none" strike="noStrike" dirty="0">
                          <a:solidFill>
                            <a:srgbClr val="000000"/>
                          </a:solidFill>
                          <a:effectLst/>
                          <a:latin typeface="Montserrat" panose="00000500000000000000" pitchFamily="2" charset="0"/>
                        </a:rPr>
                        <a:t>Employer Size Group (# of Employees)</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381166579"/>
                  </a:ext>
                </a:extLst>
              </a:tr>
              <a:tr h="539395">
                <a:tc>
                  <a:txBody>
                    <a:bodyPr/>
                    <a:lstStyle/>
                    <a:p>
                      <a:pPr algn="ctr" fontAlgn="b"/>
                      <a:r>
                        <a:rPr lang="en-US" sz="1100" b="1" i="0" u="none" strike="noStrike" dirty="0">
                          <a:solidFill>
                            <a:srgbClr val="000000"/>
                          </a:solidFill>
                          <a:effectLst/>
                          <a:latin typeface="Montserrat" panose="00000500000000000000" pitchFamily="2" charset="0"/>
                        </a:rPr>
                        <a:t>Commercial Employers With Headquarters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2831961423"/>
                  </a:ext>
                </a:extLst>
              </a:tr>
              <a:tr h="298008">
                <a:tc>
                  <a:txBody>
                    <a:bodyPr/>
                    <a:lstStyle/>
                    <a:p>
                      <a:pPr algn="ctr" fontAlgn="b"/>
                      <a:r>
                        <a:rPr lang="en-US" sz="1100" b="1" i="0" u="none" strike="noStrike" dirty="0">
                          <a:solidFill>
                            <a:srgbClr val="000000"/>
                          </a:solidFill>
                          <a:effectLst/>
                          <a:latin typeface="Montserrat" panose="00000500000000000000" pitchFamily="2" charset="0"/>
                        </a:rPr>
                        <a:t>In Catchment Area</a:t>
                      </a:r>
                    </a:p>
                  </a:txBody>
                  <a:tcPr marL="9525" marR="9525" marT="9525" marB="0">
                    <a:lnL>
                      <a:noFill/>
                    </a:lnL>
                    <a:lnR>
                      <a:noFill/>
                    </a:lnR>
                    <a:lnT>
                      <a:noFill/>
                    </a:lnT>
                    <a:lnB>
                      <a:noFill/>
                    </a:lnB>
                    <a:noFill/>
                  </a:tcPr>
                </a:tc>
                <a:tc>
                  <a:txBody>
                    <a:bodyPr/>
                    <a:lstStyle/>
                    <a:p>
                      <a:pPr algn="ctr" rtl="0" fontAlgn="b">
                        <a:buNone/>
                      </a:pPr>
                      <a:r>
                        <a:rPr lang="en-US" sz="1100" b="0" i="0" u="none" strike="noStrike">
                          <a:solidFill>
                            <a:srgbClr val="000000"/>
                          </a:solidFill>
                          <a:effectLst/>
                          <a:latin typeface="Aptos Narrow" panose="020B0004020202020204" pitchFamily="34" charset="0"/>
                        </a:rPr>
                        <a:t>2,307</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1,026</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619</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367</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127</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dirty="0">
                          <a:solidFill>
                            <a:srgbClr val="000000"/>
                          </a:solidFill>
                          <a:effectLst/>
                          <a:latin typeface="Aptos Narrow" panose="020B0004020202020204" pitchFamily="34" charset="0"/>
                        </a:rPr>
                        <a:t>78</a:t>
                      </a:r>
                    </a:p>
                  </a:txBody>
                  <a:tcPr marL="7620" marR="7620" marT="7620" marB="0" anchor="b">
                    <a:lnL>
                      <a:noFill/>
                    </a:lnL>
                    <a:lnR>
                      <a:noFill/>
                    </a:lnR>
                    <a:lnT>
                      <a:noFill/>
                    </a:lnT>
                    <a:lnB>
                      <a:noFill/>
                    </a:lnB>
                    <a:noFill/>
                  </a:tcPr>
                </a:tc>
                <a:extLst>
                  <a:ext uri="{0D108BD9-81ED-4DB2-BD59-A6C34878D82A}">
                    <a16:rowId xmlns:a16="http://schemas.microsoft.com/office/drawing/2014/main" val="4059977521"/>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60967609"/>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Employees at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1072000535"/>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buNone/>
                      </a:pPr>
                      <a:r>
                        <a:rPr lang="en-US" sz="1200" b="0" i="0" u="none" strike="noStrike">
                          <a:solidFill>
                            <a:srgbClr val="000000"/>
                          </a:solidFill>
                          <a:effectLst/>
                          <a:latin typeface="Aptos Narrow" panose="020B0004020202020204" pitchFamily="34" charset="0"/>
                        </a:rPr>
                        <a:t>173,000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153,900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185,700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256,900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254,000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dirty="0">
                          <a:solidFill>
                            <a:srgbClr val="000000"/>
                          </a:solidFill>
                          <a:effectLst/>
                          <a:latin typeface="Aptos Narrow" panose="020B0004020202020204" pitchFamily="34" charset="0"/>
                        </a:rPr>
                        <a:t>468,000</a:t>
                      </a:r>
                    </a:p>
                  </a:txBody>
                  <a:tcPr marL="7620" marR="7620" marT="7620" marB="0" anchor="b">
                    <a:lnL>
                      <a:noFill/>
                    </a:lnL>
                    <a:lnR>
                      <a:noFill/>
                    </a:lnR>
                    <a:lnT>
                      <a:noFill/>
                    </a:lnT>
                    <a:lnB>
                      <a:noFill/>
                    </a:lnB>
                    <a:noFill/>
                  </a:tcPr>
                </a:tc>
                <a:extLst>
                  <a:ext uri="{0D108BD9-81ED-4DB2-BD59-A6C34878D82A}">
                    <a16:rowId xmlns:a16="http://schemas.microsoft.com/office/drawing/2014/main" val="486299110"/>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54517032"/>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Members with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306436592"/>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buNone/>
                      </a:pPr>
                      <a:r>
                        <a:rPr lang="en-US" sz="1200" b="0" i="0" u="none" strike="noStrike">
                          <a:solidFill>
                            <a:srgbClr val="000000"/>
                          </a:solidFill>
                          <a:effectLst/>
                          <a:latin typeface="Aptos Narrow" panose="020B0004020202020204" pitchFamily="34" charset="0"/>
                        </a:rPr>
                        <a:t>311,400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277,000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334,300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462,400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457,200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dirty="0">
                          <a:solidFill>
                            <a:srgbClr val="000000"/>
                          </a:solidFill>
                          <a:effectLst/>
                          <a:latin typeface="Aptos Narrow" panose="020B0004020202020204" pitchFamily="34" charset="0"/>
                        </a:rPr>
                        <a:t>842,400</a:t>
                      </a:r>
                    </a:p>
                  </a:txBody>
                  <a:tcPr marL="7620" marR="7620" marT="7620" marB="0" anchor="b">
                    <a:lnL>
                      <a:noFill/>
                    </a:lnL>
                    <a:lnR>
                      <a:noFill/>
                    </a:lnR>
                    <a:lnT>
                      <a:noFill/>
                    </a:lnT>
                    <a:lnB>
                      <a:noFill/>
                    </a:lnB>
                    <a:noFill/>
                  </a:tcPr>
                </a:tc>
                <a:extLst>
                  <a:ext uri="{0D108BD9-81ED-4DB2-BD59-A6C34878D82A}">
                    <a16:rowId xmlns:a16="http://schemas.microsoft.com/office/drawing/2014/main" val="1581610804"/>
                  </a:ext>
                </a:extLst>
              </a:tr>
            </a:tbl>
          </a:graphicData>
        </a:graphic>
      </p:graphicFrame>
      <p:pic>
        <p:nvPicPr>
          <p:cNvPr id="9" name="Content Placeholder 8"/>
          <p:cNvPicPr>
            <a:picLocks noGrp="1"/>
          </p:cNvPicPr>
          <p:nvPr>
            <p:ph/>
          </p:nvPr>
        </p:nvPicPr>
        <p:blipFill>
          <a:blip r:embed="rId2" cstate="print"/>
          <a:stretch>
            <a:fillRect/>
          </a:stretch>
        </p:blipFill>
        <p:spPr>
          <a:xfrm>
            <a:off x="-1609344" y="1828800"/>
            <a:ext cx="6096000" cy="4876800"/>
          </a:xfrm>
          <a:prstGeom prst="rect">
            <a:avLst/>
          </a:prstGeom>
        </p:spPr>
      </p:pic>
    </p:spTree>
    <p:extLst>
      <p:ext uri="{BB962C8B-B14F-4D97-AF65-F5344CB8AC3E}">
        <p14:creationId xmlns:p14="http://schemas.microsoft.com/office/powerpoint/2010/main" val="16600605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588DF-56D9-837C-AA1C-128F048C493A}"/>
              </a:ext>
            </a:extLst>
          </p:cNvPr>
          <p:cNvSpPr>
            <a:spLocks noGrp="1"/>
          </p:cNvSpPr>
          <p:nvPr>
            <p:ph type="title"/>
          </p:nvPr>
        </p:nvSpPr>
        <p:spPr>
          <a:xfrm>
            <a:off x="1772698" y="235398"/>
            <a:ext cx="10515600" cy="1325563"/>
          </a:xfrm>
        </p:spPr>
        <p:txBody>
          <a:bodyPr/>
          <a:lstStyle/>
          <a:p>
            <a:r>
              <a:rPr lang="en-US" b="0" dirty="0"/>
              <a:t>PLAN POTENTIAL GROWTH PATHS</a:t>
            </a:r>
          </a:p>
        </p:txBody>
      </p:sp>
      <p:grpSp>
        <p:nvGrpSpPr>
          <p:cNvPr id="3" name="Group 28">
            <a:extLst>
              <a:ext uri="{FF2B5EF4-FFF2-40B4-BE49-F238E27FC236}">
                <a16:creationId xmlns:a16="http://schemas.microsoft.com/office/drawing/2014/main" id="{69A10699-B4B2-AF88-E1A1-1EF0A88AB471}"/>
              </a:ext>
            </a:extLst>
          </p:cNvPr>
          <p:cNvGrpSpPr/>
          <p:nvPr/>
        </p:nvGrpSpPr>
        <p:grpSpPr>
          <a:xfrm>
            <a:off x="315991" y="1915224"/>
            <a:ext cx="4179295" cy="3636786"/>
            <a:chOff x="1267778" y="2161521"/>
            <a:chExt cx="8731885" cy="4307840"/>
          </a:xfrm>
        </p:grpSpPr>
        <p:grpSp>
          <p:nvGrpSpPr>
            <p:cNvPr id="4" name="Group 29">
              <a:extLst>
                <a:ext uri="{FF2B5EF4-FFF2-40B4-BE49-F238E27FC236}">
                  <a16:creationId xmlns:a16="http://schemas.microsoft.com/office/drawing/2014/main" id="{11C874E5-E3B4-BAE0-4E2D-2C86D4E7E53A}"/>
                </a:ext>
              </a:extLst>
            </p:cNvPr>
            <p:cNvGrpSpPr/>
            <p:nvPr/>
          </p:nvGrpSpPr>
          <p:grpSpPr>
            <a:xfrm>
              <a:off x="1267778" y="5494001"/>
              <a:ext cx="7329805" cy="975360"/>
              <a:chOff x="1267778" y="5494001"/>
              <a:chExt cx="7329805" cy="975360"/>
            </a:xfrm>
          </p:grpSpPr>
          <p:sp>
            <p:nvSpPr>
              <p:cNvPr id="5" name="Freeform: Shape 72">
                <a:extLst>
                  <a:ext uri="{FF2B5EF4-FFF2-40B4-BE49-F238E27FC236}">
                    <a16:creationId xmlns:a16="http://schemas.microsoft.com/office/drawing/2014/main" id="{C2AD90F2-700F-581B-540A-D6A10D5F84F2}"/>
                  </a:ext>
                </a:extLst>
              </p:cNvPr>
              <p:cNvSpPr/>
              <p:nvPr/>
            </p:nvSpPr>
            <p:spPr>
              <a:xfrm flipV="1">
                <a:off x="2339023" y="5494001"/>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98060"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6" name="TextBox 73">
                <a:extLst>
                  <a:ext uri="{FF2B5EF4-FFF2-40B4-BE49-F238E27FC236}">
                    <a16:creationId xmlns:a16="http://schemas.microsoft.com/office/drawing/2014/main" id="{AEAD331A-F2F6-E5AA-6FA8-43463612A331}"/>
                  </a:ext>
                </a:extLst>
              </p:cNvPr>
              <p:cNvSpPr txBox="1"/>
              <p:nvPr/>
            </p:nvSpPr>
            <p:spPr>
              <a:xfrm>
                <a:off x="1267778" y="5759838"/>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Population</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7" name="Group 30">
              <a:extLst>
                <a:ext uri="{FF2B5EF4-FFF2-40B4-BE49-F238E27FC236}">
                  <a16:creationId xmlns:a16="http://schemas.microsoft.com/office/drawing/2014/main" id="{689474B3-12FA-8E66-D71F-53822C9C68C9}"/>
                </a:ext>
              </a:extLst>
            </p:cNvPr>
            <p:cNvGrpSpPr/>
            <p:nvPr/>
          </p:nvGrpSpPr>
          <p:grpSpPr>
            <a:xfrm>
              <a:off x="1724978" y="2161521"/>
              <a:ext cx="8274685" cy="3197014"/>
              <a:chOff x="3170556" y="1830493"/>
              <a:chExt cx="8274685" cy="3197014"/>
            </a:xfrm>
          </p:grpSpPr>
          <p:grpSp>
            <p:nvGrpSpPr>
              <p:cNvPr id="8" name="Group 58">
                <a:extLst>
                  <a:ext uri="{FF2B5EF4-FFF2-40B4-BE49-F238E27FC236}">
                    <a16:creationId xmlns:a16="http://schemas.microsoft.com/office/drawing/2014/main" id="{51ED3EA0-1B18-EEE0-293E-BB00AD4DE764}"/>
                  </a:ext>
                </a:extLst>
              </p:cNvPr>
              <p:cNvGrpSpPr/>
              <p:nvPr/>
            </p:nvGrpSpPr>
            <p:grpSpPr>
              <a:xfrm>
                <a:off x="3170556" y="4052147"/>
                <a:ext cx="7339965" cy="975360"/>
                <a:chOff x="3170556" y="4052147"/>
                <a:chExt cx="7339965" cy="975360"/>
              </a:xfrm>
            </p:grpSpPr>
            <p:sp>
              <p:nvSpPr>
                <p:cNvPr id="9" name="Freeform: Shape 62">
                  <a:extLst>
                    <a:ext uri="{FF2B5EF4-FFF2-40B4-BE49-F238E27FC236}">
                      <a16:creationId xmlns:a16="http://schemas.microsoft.com/office/drawing/2014/main" id="{BC70B6BA-E51B-5756-ABB1-C97D21E56F2F}"/>
                    </a:ext>
                  </a:extLst>
                </p:cNvPr>
                <p:cNvSpPr/>
                <p:nvPr/>
              </p:nvSpPr>
              <p:spPr>
                <a:xfrm flipV="1">
                  <a:off x="4251961" y="4052147"/>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0" name="TextBox 63">
                  <a:extLst>
                    <a:ext uri="{FF2B5EF4-FFF2-40B4-BE49-F238E27FC236}">
                      <a16:creationId xmlns:a16="http://schemas.microsoft.com/office/drawing/2014/main" id="{89D49C14-1775-066C-353B-1ACCC4D24138}"/>
                    </a:ext>
                  </a:extLst>
                </p:cNvPr>
                <p:cNvSpPr txBox="1"/>
                <p:nvPr/>
              </p:nvSpPr>
              <p:spPr>
                <a:xfrm>
                  <a:off x="3170556" y="4317984"/>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Working Age</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1" name="Group 52">
                <a:extLst>
                  <a:ext uri="{FF2B5EF4-FFF2-40B4-BE49-F238E27FC236}">
                    <a16:creationId xmlns:a16="http://schemas.microsoft.com/office/drawing/2014/main" id="{1DBB449D-FFE3-79BF-CC4B-CBC0A3F03B29}"/>
                  </a:ext>
                </a:extLst>
              </p:cNvPr>
              <p:cNvGrpSpPr/>
              <p:nvPr/>
            </p:nvGrpSpPr>
            <p:grpSpPr>
              <a:xfrm>
                <a:off x="3612748" y="2930285"/>
                <a:ext cx="7365133" cy="975360"/>
                <a:chOff x="3612747" y="2930285"/>
                <a:chExt cx="7365133" cy="975360"/>
              </a:xfrm>
            </p:grpSpPr>
            <p:sp>
              <p:nvSpPr>
                <p:cNvPr id="12" name="Freeform: Shape 56">
                  <a:extLst>
                    <a:ext uri="{FF2B5EF4-FFF2-40B4-BE49-F238E27FC236}">
                      <a16:creationId xmlns:a16="http://schemas.microsoft.com/office/drawing/2014/main" id="{2D2231FB-5290-0F34-19A4-B0491233CE27}"/>
                    </a:ext>
                  </a:extLst>
                </p:cNvPr>
                <p:cNvSpPr/>
                <p:nvPr/>
              </p:nvSpPr>
              <p:spPr>
                <a:xfrm flipV="1">
                  <a:off x="4719320" y="2930285"/>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3" name="TextBox 57">
                  <a:extLst>
                    <a:ext uri="{FF2B5EF4-FFF2-40B4-BE49-F238E27FC236}">
                      <a16:creationId xmlns:a16="http://schemas.microsoft.com/office/drawing/2014/main" id="{3C6B2C41-D61E-2C7A-3D82-5A90E06CEE5A}"/>
                    </a:ext>
                  </a:extLst>
                </p:cNvPr>
                <p:cNvSpPr txBox="1"/>
                <p:nvPr/>
              </p:nvSpPr>
              <p:spPr>
                <a:xfrm>
                  <a:off x="3612747" y="3206963"/>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Insured</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4" name="Group 46">
                <a:extLst>
                  <a:ext uri="{FF2B5EF4-FFF2-40B4-BE49-F238E27FC236}">
                    <a16:creationId xmlns:a16="http://schemas.microsoft.com/office/drawing/2014/main" id="{F80321D4-B659-65A7-5D2E-CFE404DB4D8E}"/>
                  </a:ext>
                </a:extLst>
              </p:cNvPr>
              <p:cNvGrpSpPr/>
              <p:nvPr/>
            </p:nvGrpSpPr>
            <p:grpSpPr>
              <a:xfrm>
                <a:off x="4104006" y="1830493"/>
                <a:ext cx="7341235" cy="975360"/>
                <a:chOff x="4104006" y="1830493"/>
                <a:chExt cx="7341235" cy="975360"/>
              </a:xfrm>
            </p:grpSpPr>
            <p:sp>
              <p:nvSpPr>
                <p:cNvPr id="15" name="Freeform: Shape 50">
                  <a:extLst>
                    <a:ext uri="{FF2B5EF4-FFF2-40B4-BE49-F238E27FC236}">
                      <a16:creationId xmlns:a16="http://schemas.microsoft.com/office/drawing/2014/main" id="{19C69411-1E7E-AB74-D150-B508F4902A7E}"/>
                    </a:ext>
                  </a:extLst>
                </p:cNvPr>
                <p:cNvSpPr/>
                <p:nvPr/>
              </p:nvSpPr>
              <p:spPr>
                <a:xfrm flipV="1">
                  <a:off x="5186681" y="1830493"/>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6" name="TextBox 51">
                  <a:extLst>
                    <a:ext uri="{FF2B5EF4-FFF2-40B4-BE49-F238E27FC236}">
                      <a16:creationId xmlns:a16="http://schemas.microsoft.com/office/drawing/2014/main" id="{2AE87841-825C-FE4F-1AB9-6CC03862C17F}"/>
                    </a:ext>
                  </a:extLst>
                </p:cNvPr>
                <p:cNvSpPr txBox="1"/>
                <p:nvPr/>
              </p:nvSpPr>
              <p:spPr>
                <a:xfrm>
                  <a:off x="4104006" y="2096329"/>
                  <a:ext cx="3705005"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Self Funded</a:t>
                  </a:r>
                  <a:endParaRPr lang="en-IN" sz="1600" b="1" i="1" dirty="0">
                    <a:solidFill>
                      <a:schemeClr val="bg1"/>
                    </a:solidFill>
                    <a:latin typeface="Montserrat" panose="00000500000000000000" pitchFamily="2" charset="0"/>
                    <a:cs typeface="Arial" panose="020B0604020202020204" pitchFamily="34" charset="0"/>
                  </a:endParaRPr>
                </a:p>
              </p:txBody>
            </p:sp>
          </p:grpSp>
        </p:grpSp>
        <p:sp>
          <p:nvSpPr>
            <p:cNvPr id="17" name="Freeform: Shape 31">
              <a:extLst>
                <a:ext uri="{FF2B5EF4-FFF2-40B4-BE49-F238E27FC236}">
                  <a16:creationId xmlns:a16="http://schemas.microsoft.com/office/drawing/2014/main" id="{93803CD4-6355-5262-37E3-213F86A67BEA}"/>
                </a:ext>
              </a:extLst>
            </p:cNvPr>
            <p:cNvSpPr/>
            <p:nvPr/>
          </p:nvSpPr>
          <p:spPr>
            <a:xfrm flipV="1">
              <a:off x="7997252" y="517548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nvGrpSpPr>
            <p:cNvPr id="18" name="Group 32">
              <a:extLst>
                <a:ext uri="{FF2B5EF4-FFF2-40B4-BE49-F238E27FC236}">
                  <a16:creationId xmlns:a16="http://schemas.microsoft.com/office/drawing/2014/main" id="{C15EBE08-F14E-85B7-24FB-021AE8C94BA3}"/>
                </a:ext>
              </a:extLst>
            </p:cNvPr>
            <p:cNvGrpSpPr/>
            <p:nvPr/>
          </p:nvGrpSpPr>
          <p:grpSpPr>
            <a:xfrm>
              <a:off x="8755080" y="3384449"/>
              <a:ext cx="568098" cy="706284"/>
              <a:chOff x="3970882" y="2311049"/>
              <a:chExt cx="704850" cy="876300"/>
            </a:xfrm>
          </p:grpSpPr>
          <p:sp>
            <p:nvSpPr>
              <p:cNvPr id="19" name="Freeform: Shape 36">
                <a:extLst>
                  <a:ext uri="{FF2B5EF4-FFF2-40B4-BE49-F238E27FC236}">
                    <a16:creationId xmlns:a16="http://schemas.microsoft.com/office/drawing/2014/main" id="{99971868-A4E7-F273-D79D-9C20F2C9304D}"/>
                  </a:ext>
                </a:extLst>
              </p:cNvPr>
              <p:cNvSpPr/>
              <p:nvPr/>
            </p:nvSpPr>
            <p:spPr>
              <a:xfrm>
                <a:off x="3970882" y="2311049"/>
                <a:ext cx="704850" cy="876300"/>
              </a:xfrm>
              <a:custGeom>
                <a:avLst/>
                <a:gdLst>
                  <a:gd name="connsiteX0" fmla="*/ 7144 w 704850"/>
                  <a:gd name="connsiteY0" fmla="*/ 410166 h 876300"/>
                  <a:gd name="connsiteX1" fmla="*/ 7144 w 704850"/>
                  <a:gd name="connsiteY1" fmla="*/ 312791 h 876300"/>
                  <a:gd name="connsiteX2" fmla="*/ 164497 w 704850"/>
                  <a:gd name="connsiteY2" fmla="*/ 221942 h 876300"/>
                  <a:gd name="connsiteX3" fmla="*/ 164497 w 704850"/>
                  <a:gd name="connsiteY3" fmla="*/ 220266 h 876300"/>
                  <a:gd name="connsiteX4" fmla="*/ 164497 w 704850"/>
                  <a:gd name="connsiteY4" fmla="*/ 218589 h 876300"/>
                  <a:gd name="connsiteX5" fmla="*/ 140141 w 704850"/>
                  <a:gd name="connsiteY5" fmla="*/ 162935 h 876300"/>
                  <a:gd name="connsiteX6" fmla="*/ 140141 w 704850"/>
                  <a:gd name="connsiteY6" fmla="*/ 91459 h 876300"/>
                  <a:gd name="connsiteX7" fmla="*/ 156782 w 704850"/>
                  <a:gd name="connsiteY7" fmla="*/ 138608 h 876300"/>
                  <a:gd name="connsiteX8" fmla="*/ 140160 w 704850"/>
                  <a:gd name="connsiteY8" fmla="*/ 91478 h 876300"/>
                  <a:gd name="connsiteX9" fmla="*/ 237554 w 704850"/>
                  <a:gd name="connsiteY9" fmla="*/ 7144 h 876300"/>
                  <a:gd name="connsiteX10" fmla="*/ 334937 w 704850"/>
                  <a:gd name="connsiteY10" fmla="*/ 91488 h 876300"/>
                  <a:gd name="connsiteX11" fmla="*/ 334909 w 704850"/>
                  <a:gd name="connsiteY11" fmla="*/ 91964 h 876300"/>
                  <a:gd name="connsiteX12" fmla="*/ 334909 w 704850"/>
                  <a:gd name="connsiteY12" fmla="*/ 162963 h 876300"/>
                  <a:gd name="connsiteX13" fmla="*/ 334756 w 704850"/>
                  <a:gd name="connsiteY13" fmla="*/ 165440 h 876300"/>
                  <a:gd name="connsiteX14" fmla="*/ 334499 w 704850"/>
                  <a:gd name="connsiteY14" fmla="*/ 170240 h 876300"/>
                  <a:gd name="connsiteX15" fmla="*/ 334261 w 704850"/>
                  <a:gd name="connsiteY15" fmla="*/ 172488 h 876300"/>
                  <a:gd name="connsiteX16" fmla="*/ 332975 w 704850"/>
                  <a:gd name="connsiteY16" fmla="*/ 179756 h 876300"/>
                  <a:gd name="connsiteX17" fmla="*/ 332899 w 704850"/>
                  <a:gd name="connsiteY17" fmla="*/ 180051 h 876300"/>
                  <a:gd name="connsiteX18" fmla="*/ 332261 w 704850"/>
                  <a:gd name="connsiteY18" fmla="*/ 182204 h 876300"/>
                  <a:gd name="connsiteX19" fmla="*/ 467963 w 704850"/>
                  <a:gd name="connsiteY19" fmla="*/ 338880 h 876300"/>
                  <a:gd name="connsiteX20" fmla="*/ 467963 w 704850"/>
                  <a:gd name="connsiteY20" fmla="*/ 436274 h 876300"/>
                  <a:gd name="connsiteX21" fmla="*/ 175803 w 704850"/>
                  <a:gd name="connsiteY21" fmla="*/ 604923 h 876300"/>
                  <a:gd name="connsiteX22" fmla="*/ 7144 w 704850"/>
                  <a:gd name="connsiteY22" fmla="*/ 410166 h 876300"/>
                  <a:gd name="connsiteX23" fmla="*/ 695516 w 704850"/>
                  <a:gd name="connsiteY23" fmla="*/ 699859 h 876300"/>
                  <a:gd name="connsiteX24" fmla="*/ 403384 w 704850"/>
                  <a:gd name="connsiteY24" fmla="*/ 868518 h 876300"/>
                  <a:gd name="connsiteX25" fmla="*/ 401003 w 704850"/>
                  <a:gd name="connsiteY25" fmla="*/ 869156 h 876300"/>
                  <a:gd name="connsiteX26" fmla="*/ 397402 w 704850"/>
                  <a:gd name="connsiteY26" fmla="*/ 867508 h 876300"/>
                  <a:gd name="connsiteX27" fmla="*/ 228724 w 704850"/>
                  <a:gd name="connsiteY27" fmla="*/ 672770 h 876300"/>
                  <a:gd name="connsiteX28" fmla="*/ 227628 w 704850"/>
                  <a:gd name="connsiteY28" fmla="*/ 668865 h 876300"/>
                  <a:gd name="connsiteX29" fmla="*/ 229943 w 704850"/>
                  <a:gd name="connsiteY29" fmla="*/ 665531 h 876300"/>
                  <a:gd name="connsiteX30" fmla="*/ 522094 w 704850"/>
                  <a:gd name="connsiteY30" fmla="*/ 496853 h 876300"/>
                  <a:gd name="connsiteX31" fmla="*/ 528076 w 704850"/>
                  <a:gd name="connsiteY31" fmla="*/ 497853 h 876300"/>
                  <a:gd name="connsiteX32" fmla="*/ 696735 w 704850"/>
                  <a:gd name="connsiteY32" fmla="*/ 692610 h 876300"/>
                  <a:gd name="connsiteX33" fmla="*/ 697830 w 704850"/>
                  <a:gd name="connsiteY33" fmla="*/ 696516 h 876300"/>
                  <a:gd name="connsiteX34" fmla="*/ 695516 w 704850"/>
                  <a:gd name="connsiteY34" fmla="*/ 699859 h 87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04850" h="876300">
                    <a:moveTo>
                      <a:pt x="7144" y="410166"/>
                    </a:moveTo>
                    <a:lnTo>
                      <a:pt x="7144" y="312791"/>
                    </a:lnTo>
                    <a:lnTo>
                      <a:pt x="164497" y="221942"/>
                    </a:lnTo>
                    <a:lnTo>
                      <a:pt x="164497" y="220266"/>
                    </a:lnTo>
                    <a:lnTo>
                      <a:pt x="164497" y="218589"/>
                    </a:lnTo>
                    <a:cubicBezTo>
                      <a:pt x="149390" y="203730"/>
                      <a:pt x="140141" y="184290"/>
                      <a:pt x="140141" y="162935"/>
                    </a:cubicBezTo>
                    <a:lnTo>
                      <a:pt x="140141" y="91459"/>
                    </a:lnTo>
                    <a:cubicBezTo>
                      <a:pt x="140141" y="108918"/>
                      <a:pt x="146275" y="125149"/>
                      <a:pt x="156782" y="138608"/>
                    </a:cubicBezTo>
                    <a:cubicBezTo>
                      <a:pt x="146285" y="125149"/>
                      <a:pt x="140160" y="108937"/>
                      <a:pt x="140160" y="91478"/>
                    </a:cubicBezTo>
                    <a:cubicBezTo>
                      <a:pt x="140160" y="44901"/>
                      <a:pt x="183775" y="7144"/>
                      <a:pt x="237554" y="7144"/>
                    </a:cubicBezTo>
                    <a:cubicBezTo>
                      <a:pt x="291313" y="7144"/>
                      <a:pt x="334918" y="44901"/>
                      <a:pt x="334937" y="91488"/>
                    </a:cubicBezTo>
                    <a:cubicBezTo>
                      <a:pt x="334937" y="91650"/>
                      <a:pt x="334909" y="91802"/>
                      <a:pt x="334909" y="91964"/>
                    </a:cubicBezTo>
                    <a:lnTo>
                      <a:pt x="334909" y="162963"/>
                    </a:lnTo>
                    <a:cubicBezTo>
                      <a:pt x="334909" y="163792"/>
                      <a:pt x="334794" y="164602"/>
                      <a:pt x="334756" y="165440"/>
                    </a:cubicBezTo>
                    <a:cubicBezTo>
                      <a:pt x="334699" y="167040"/>
                      <a:pt x="334632" y="168650"/>
                      <a:pt x="334499" y="170240"/>
                    </a:cubicBezTo>
                    <a:cubicBezTo>
                      <a:pt x="334413" y="170983"/>
                      <a:pt x="334356" y="171736"/>
                      <a:pt x="334261" y="172488"/>
                    </a:cubicBezTo>
                    <a:cubicBezTo>
                      <a:pt x="333927" y="174936"/>
                      <a:pt x="333537" y="177375"/>
                      <a:pt x="332975" y="179756"/>
                    </a:cubicBezTo>
                    <a:cubicBezTo>
                      <a:pt x="332956" y="179851"/>
                      <a:pt x="332918" y="179946"/>
                      <a:pt x="332899" y="180051"/>
                    </a:cubicBezTo>
                    <a:cubicBezTo>
                      <a:pt x="332718" y="180785"/>
                      <a:pt x="332461" y="181480"/>
                      <a:pt x="332261" y="182204"/>
                    </a:cubicBezTo>
                    <a:lnTo>
                      <a:pt x="467963" y="338880"/>
                    </a:lnTo>
                    <a:lnTo>
                      <a:pt x="467963" y="436274"/>
                    </a:lnTo>
                    <a:lnTo>
                      <a:pt x="175803" y="604923"/>
                    </a:lnTo>
                    <a:lnTo>
                      <a:pt x="7144" y="410166"/>
                    </a:lnTo>
                    <a:close/>
                    <a:moveTo>
                      <a:pt x="695516" y="699859"/>
                    </a:moveTo>
                    <a:lnTo>
                      <a:pt x="403384" y="868518"/>
                    </a:lnTo>
                    <a:cubicBezTo>
                      <a:pt x="402641" y="868956"/>
                      <a:pt x="401822" y="869156"/>
                      <a:pt x="401003" y="869156"/>
                    </a:cubicBezTo>
                    <a:cubicBezTo>
                      <a:pt x="399660" y="869156"/>
                      <a:pt x="398336" y="868585"/>
                      <a:pt x="397402" y="867508"/>
                    </a:cubicBezTo>
                    <a:lnTo>
                      <a:pt x="228724" y="672770"/>
                    </a:lnTo>
                    <a:cubicBezTo>
                      <a:pt x="227790" y="671703"/>
                      <a:pt x="227390" y="670265"/>
                      <a:pt x="227628" y="668865"/>
                    </a:cubicBezTo>
                    <a:cubicBezTo>
                      <a:pt x="227867" y="667464"/>
                      <a:pt x="228714" y="666245"/>
                      <a:pt x="229943" y="665531"/>
                    </a:cubicBezTo>
                    <a:lnTo>
                      <a:pt x="522094" y="496853"/>
                    </a:lnTo>
                    <a:cubicBezTo>
                      <a:pt x="524056" y="495700"/>
                      <a:pt x="526590" y="496119"/>
                      <a:pt x="528076" y="497853"/>
                    </a:cubicBezTo>
                    <a:lnTo>
                      <a:pt x="696735" y="692610"/>
                    </a:lnTo>
                    <a:cubicBezTo>
                      <a:pt x="697668" y="693677"/>
                      <a:pt x="698068" y="695115"/>
                      <a:pt x="697830" y="696516"/>
                    </a:cubicBezTo>
                    <a:cubicBezTo>
                      <a:pt x="697592" y="697916"/>
                      <a:pt x="696744" y="699145"/>
                      <a:pt x="695516" y="699859"/>
                    </a:cubicBezTo>
                    <a:close/>
                  </a:path>
                </a:pathLst>
              </a:custGeom>
              <a:no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0" name="Freeform: Shape 37">
                <a:extLst>
                  <a:ext uri="{FF2B5EF4-FFF2-40B4-BE49-F238E27FC236}">
                    <a16:creationId xmlns:a16="http://schemas.microsoft.com/office/drawing/2014/main" id="{26D4449C-E24F-47A1-0BA9-B4D1231EE90A}"/>
                  </a:ext>
                </a:extLst>
              </p:cNvPr>
              <p:cNvSpPr/>
              <p:nvPr/>
            </p:nvSpPr>
            <p:spPr>
              <a:xfrm>
                <a:off x="4272815" y="2536792"/>
                <a:ext cx="9525" cy="9525"/>
              </a:xfrm>
              <a:custGeom>
                <a:avLst/>
                <a:gdLst>
                  <a:gd name="connsiteX0" fmla="*/ 7182 w 9525"/>
                  <a:gd name="connsiteY0" fmla="*/ 7144 h 9525"/>
                  <a:gd name="connsiteX1" fmla="*/ 7144 w 9525"/>
                  <a:gd name="connsiteY1" fmla="*/ 7296 h 9525"/>
                  <a:gd name="connsiteX2" fmla="*/ 7182 w 9525"/>
                  <a:gd name="connsiteY2" fmla="*/ 7172 h 9525"/>
                </a:gdLst>
                <a:ahLst/>
                <a:cxnLst>
                  <a:cxn ang="0">
                    <a:pos x="connsiteX0" y="connsiteY0"/>
                  </a:cxn>
                  <a:cxn ang="0">
                    <a:pos x="connsiteX1" y="connsiteY1"/>
                  </a:cxn>
                  <a:cxn ang="0">
                    <a:pos x="connsiteX2" y="connsiteY2"/>
                  </a:cxn>
                </a:cxnLst>
                <a:rect l="l" t="t" r="r" b="b"/>
                <a:pathLst>
                  <a:path w="9525" h="9525">
                    <a:moveTo>
                      <a:pt x="7182" y="7144"/>
                    </a:moveTo>
                    <a:lnTo>
                      <a:pt x="7144" y="7296"/>
                    </a:lnTo>
                    <a:lnTo>
                      <a:pt x="7182" y="7172"/>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1" name="Freeform: Shape 38">
                <a:extLst>
                  <a:ext uri="{FF2B5EF4-FFF2-40B4-BE49-F238E27FC236}">
                    <a16:creationId xmlns:a16="http://schemas.microsoft.com/office/drawing/2014/main" id="{380CB4F0-D598-949F-D94F-54D7DBD5CD13}"/>
                  </a:ext>
                </a:extLst>
              </p:cNvPr>
              <p:cNvSpPr/>
              <p:nvPr/>
            </p:nvSpPr>
            <p:spPr>
              <a:xfrm>
                <a:off x="4234039" y="2448019"/>
                <a:ext cx="38100" cy="28575"/>
              </a:xfrm>
              <a:custGeom>
                <a:avLst/>
                <a:gdLst>
                  <a:gd name="connsiteX0" fmla="*/ 7144 w 38100"/>
                  <a:gd name="connsiteY0" fmla="*/ 23879 h 28575"/>
                  <a:gd name="connsiteX1" fmla="*/ 9049 w 38100"/>
                  <a:gd name="connsiteY1" fmla="*/ 23241 h 28575"/>
                  <a:gd name="connsiteX2" fmla="*/ 9896 w 38100"/>
                  <a:gd name="connsiteY2" fmla="*/ 22927 h 28575"/>
                  <a:gd name="connsiteX3" fmla="*/ 17659 w 38100"/>
                  <a:gd name="connsiteY3" fmla="*/ 19555 h 28575"/>
                  <a:gd name="connsiteX4" fmla="*/ 19040 w 38100"/>
                  <a:gd name="connsiteY4" fmla="*/ 18831 h 28575"/>
                  <a:gd name="connsiteX5" fmla="*/ 20241 w 38100"/>
                  <a:gd name="connsiteY5" fmla="*/ 18202 h 28575"/>
                  <a:gd name="connsiteX6" fmla="*/ 25803 w 38100"/>
                  <a:gd name="connsiteY6" fmla="*/ 15069 h 28575"/>
                  <a:gd name="connsiteX7" fmla="*/ 29518 w 38100"/>
                  <a:gd name="connsiteY7" fmla="*/ 12649 h 28575"/>
                  <a:gd name="connsiteX8" fmla="*/ 30413 w 38100"/>
                  <a:gd name="connsiteY8" fmla="*/ 12049 h 28575"/>
                  <a:gd name="connsiteX9" fmla="*/ 31423 w 38100"/>
                  <a:gd name="connsiteY9" fmla="*/ 11354 h 28575"/>
                  <a:gd name="connsiteX10" fmla="*/ 36376 w 38100"/>
                  <a:gd name="connsiteY10" fmla="*/ 7439 h 28575"/>
                  <a:gd name="connsiteX11" fmla="*/ 36119 w 38100"/>
                  <a:gd name="connsiteY11" fmla="*/ 7144 h 28575"/>
                  <a:gd name="connsiteX12" fmla="*/ 7144 w 38100"/>
                  <a:gd name="connsiteY12" fmla="*/ 23879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00" h="28575">
                    <a:moveTo>
                      <a:pt x="7144" y="23879"/>
                    </a:moveTo>
                    <a:cubicBezTo>
                      <a:pt x="7772" y="23670"/>
                      <a:pt x="8458" y="23460"/>
                      <a:pt x="9049" y="23241"/>
                    </a:cubicBezTo>
                    <a:lnTo>
                      <a:pt x="9896" y="22927"/>
                    </a:lnTo>
                    <a:cubicBezTo>
                      <a:pt x="12449" y="21955"/>
                      <a:pt x="15059" y="20822"/>
                      <a:pt x="17659" y="19555"/>
                    </a:cubicBezTo>
                    <a:cubicBezTo>
                      <a:pt x="18117" y="19336"/>
                      <a:pt x="18583" y="19079"/>
                      <a:pt x="19040" y="18831"/>
                    </a:cubicBezTo>
                    <a:lnTo>
                      <a:pt x="20241" y="18202"/>
                    </a:lnTo>
                    <a:cubicBezTo>
                      <a:pt x="22117" y="17221"/>
                      <a:pt x="23993" y="16164"/>
                      <a:pt x="25803" y="15069"/>
                    </a:cubicBezTo>
                    <a:cubicBezTo>
                      <a:pt x="27022" y="14316"/>
                      <a:pt x="28270" y="13506"/>
                      <a:pt x="29518" y="12649"/>
                    </a:cubicBezTo>
                    <a:lnTo>
                      <a:pt x="30413" y="12049"/>
                    </a:lnTo>
                    <a:lnTo>
                      <a:pt x="31423" y="11354"/>
                    </a:lnTo>
                    <a:cubicBezTo>
                      <a:pt x="33090" y="10135"/>
                      <a:pt x="34757" y="8820"/>
                      <a:pt x="36376" y="7439"/>
                    </a:cubicBezTo>
                    <a:lnTo>
                      <a:pt x="36119" y="7144"/>
                    </a:lnTo>
                    <a:lnTo>
                      <a:pt x="7144" y="23879"/>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2" name="Freeform: Shape 39">
                <a:extLst>
                  <a:ext uri="{FF2B5EF4-FFF2-40B4-BE49-F238E27FC236}">
                    <a16:creationId xmlns:a16="http://schemas.microsoft.com/office/drawing/2014/main" id="{71E01EC1-04E0-F00A-E7D0-A3570350B0AE}"/>
                  </a:ext>
                </a:extLst>
              </p:cNvPr>
              <p:cNvSpPr/>
              <p:nvPr/>
            </p:nvSpPr>
            <p:spPr>
              <a:xfrm>
                <a:off x="4266357" y="2417310"/>
                <a:ext cx="19050" cy="38100"/>
              </a:xfrm>
              <a:custGeom>
                <a:avLst/>
                <a:gdLst>
                  <a:gd name="connsiteX0" fmla="*/ 14792 w 19050"/>
                  <a:gd name="connsiteY0" fmla="*/ 12287 h 38100"/>
                  <a:gd name="connsiteX1" fmla="*/ 14621 w 19050"/>
                  <a:gd name="connsiteY1" fmla="*/ 13954 h 38100"/>
                  <a:gd name="connsiteX2" fmla="*/ 13649 w 19050"/>
                  <a:gd name="connsiteY2" fmla="*/ 19469 h 38100"/>
                  <a:gd name="connsiteX3" fmla="*/ 13611 w 19050"/>
                  <a:gd name="connsiteY3" fmla="*/ 19583 h 38100"/>
                  <a:gd name="connsiteX4" fmla="*/ 12011 w 19050"/>
                  <a:gd name="connsiteY4" fmla="*/ 25003 h 38100"/>
                  <a:gd name="connsiteX5" fmla="*/ 11430 w 19050"/>
                  <a:gd name="connsiteY5" fmla="*/ 26565 h 38100"/>
                  <a:gd name="connsiteX6" fmla="*/ 9754 w 19050"/>
                  <a:gd name="connsiteY6" fmla="*/ 30490 h 38100"/>
                  <a:gd name="connsiteX7" fmla="*/ 9106 w 19050"/>
                  <a:gd name="connsiteY7" fmla="*/ 31899 h 38100"/>
                  <a:gd name="connsiteX8" fmla="*/ 7144 w 19050"/>
                  <a:gd name="connsiteY8" fmla="*/ 35433 h 38100"/>
                  <a:gd name="connsiteX9" fmla="*/ 9830 w 19050"/>
                  <a:gd name="connsiteY9" fmla="*/ 32766 h 38100"/>
                  <a:gd name="connsiteX10" fmla="*/ 10925 w 19050"/>
                  <a:gd name="connsiteY10" fmla="*/ 31566 h 38100"/>
                  <a:gd name="connsiteX11" fmla="*/ 10992 w 19050"/>
                  <a:gd name="connsiteY11" fmla="*/ 31490 h 38100"/>
                  <a:gd name="connsiteX12" fmla="*/ 11316 w 19050"/>
                  <a:gd name="connsiteY12" fmla="*/ 31128 h 38100"/>
                  <a:gd name="connsiteX13" fmla="*/ 14535 w 19050"/>
                  <a:gd name="connsiteY13" fmla="*/ 27403 h 38100"/>
                  <a:gd name="connsiteX14" fmla="*/ 15088 w 19050"/>
                  <a:gd name="connsiteY14" fmla="*/ 26708 h 38100"/>
                  <a:gd name="connsiteX15" fmla="*/ 15088 w 19050"/>
                  <a:gd name="connsiteY15" fmla="*/ 7144 h 38100"/>
                  <a:gd name="connsiteX16" fmla="*/ 14792 w 19050"/>
                  <a:gd name="connsiteY16" fmla="*/ 1228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0" h="38100">
                    <a:moveTo>
                      <a:pt x="14792" y="12287"/>
                    </a:moveTo>
                    <a:cubicBezTo>
                      <a:pt x="14735" y="12849"/>
                      <a:pt x="14697" y="13402"/>
                      <a:pt x="14621" y="13954"/>
                    </a:cubicBezTo>
                    <a:cubicBezTo>
                      <a:pt x="14373" y="15811"/>
                      <a:pt x="14059" y="17669"/>
                      <a:pt x="13649" y="19469"/>
                    </a:cubicBezTo>
                    <a:cubicBezTo>
                      <a:pt x="13630" y="19507"/>
                      <a:pt x="13630" y="19545"/>
                      <a:pt x="13611" y="19583"/>
                    </a:cubicBezTo>
                    <a:cubicBezTo>
                      <a:pt x="13183" y="21422"/>
                      <a:pt x="12621" y="23222"/>
                      <a:pt x="12011" y="25003"/>
                    </a:cubicBezTo>
                    <a:cubicBezTo>
                      <a:pt x="11820" y="25537"/>
                      <a:pt x="11620" y="26041"/>
                      <a:pt x="11430" y="26565"/>
                    </a:cubicBezTo>
                    <a:cubicBezTo>
                      <a:pt x="10906" y="27899"/>
                      <a:pt x="10363" y="29194"/>
                      <a:pt x="9754" y="30490"/>
                    </a:cubicBezTo>
                    <a:cubicBezTo>
                      <a:pt x="9554" y="30947"/>
                      <a:pt x="9325" y="31432"/>
                      <a:pt x="9106" y="31899"/>
                    </a:cubicBezTo>
                    <a:cubicBezTo>
                      <a:pt x="8506" y="33099"/>
                      <a:pt x="7820" y="34271"/>
                      <a:pt x="7144" y="35433"/>
                    </a:cubicBezTo>
                    <a:cubicBezTo>
                      <a:pt x="7991" y="34623"/>
                      <a:pt x="8887" y="33738"/>
                      <a:pt x="9830" y="32766"/>
                    </a:cubicBezTo>
                    <a:cubicBezTo>
                      <a:pt x="10211" y="32366"/>
                      <a:pt x="10563" y="31966"/>
                      <a:pt x="10925" y="31566"/>
                    </a:cubicBezTo>
                    <a:lnTo>
                      <a:pt x="10992" y="31490"/>
                    </a:lnTo>
                    <a:lnTo>
                      <a:pt x="11316" y="31128"/>
                    </a:lnTo>
                    <a:cubicBezTo>
                      <a:pt x="12440" y="29918"/>
                      <a:pt x="13516" y="28689"/>
                      <a:pt x="14535" y="27403"/>
                    </a:cubicBezTo>
                    <a:lnTo>
                      <a:pt x="15088" y="26708"/>
                    </a:lnTo>
                    <a:lnTo>
                      <a:pt x="15088" y="7144"/>
                    </a:lnTo>
                    <a:cubicBezTo>
                      <a:pt x="15078" y="8868"/>
                      <a:pt x="14973" y="10592"/>
                      <a:pt x="14792" y="12287"/>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3" name="Freeform: Shape 40">
                <a:extLst>
                  <a:ext uri="{FF2B5EF4-FFF2-40B4-BE49-F238E27FC236}">
                    <a16:creationId xmlns:a16="http://schemas.microsoft.com/office/drawing/2014/main" id="{3D3A0C0B-3028-02AB-45A9-5AC22941B397}"/>
                  </a:ext>
                </a:extLst>
              </p:cNvPr>
              <p:cNvSpPr/>
              <p:nvPr/>
            </p:nvSpPr>
            <p:spPr>
              <a:xfrm>
                <a:off x="4266319" y="2416967"/>
                <a:ext cx="19050" cy="38100"/>
              </a:xfrm>
              <a:custGeom>
                <a:avLst/>
                <a:gdLst>
                  <a:gd name="connsiteX0" fmla="*/ 9792 w 19050"/>
                  <a:gd name="connsiteY0" fmla="*/ 30832 h 38100"/>
                  <a:gd name="connsiteX1" fmla="*/ 11468 w 19050"/>
                  <a:gd name="connsiteY1" fmla="*/ 26908 h 38100"/>
                  <a:gd name="connsiteX2" fmla="*/ 12049 w 19050"/>
                  <a:gd name="connsiteY2" fmla="*/ 25346 h 38100"/>
                  <a:gd name="connsiteX3" fmla="*/ 13649 w 19050"/>
                  <a:gd name="connsiteY3" fmla="*/ 19926 h 38100"/>
                  <a:gd name="connsiteX4" fmla="*/ 13687 w 19050"/>
                  <a:gd name="connsiteY4" fmla="*/ 19812 h 38100"/>
                  <a:gd name="connsiteX5" fmla="*/ 14659 w 19050"/>
                  <a:gd name="connsiteY5" fmla="*/ 14297 h 38100"/>
                  <a:gd name="connsiteX6" fmla="*/ 14830 w 19050"/>
                  <a:gd name="connsiteY6" fmla="*/ 12630 h 38100"/>
                  <a:gd name="connsiteX7" fmla="*/ 15126 w 19050"/>
                  <a:gd name="connsiteY7" fmla="*/ 7487 h 38100"/>
                  <a:gd name="connsiteX8" fmla="*/ 15126 w 19050"/>
                  <a:gd name="connsiteY8" fmla="*/ 7144 h 38100"/>
                  <a:gd name="connsiteX9" fmla="*/ 14811 w 19050"/>
                  <a:gd name="connsiteY9" fmla="*/ 12621 h 38100"/>
                  <a:gd name="connsiteX10" fmla="*/ 14640 w 19050"/>
                  <a:gd name="connsiteY10" fmla="*/ 14288 h 38100"/>
                  <a:gd name="connsiteX11" fmla="*/ 13668 w 19050"/>
                  <a:gd name="connsiteY11" fmla="*/ 19802 h 38100"/>
                  <a:gd name="connsiteX12" fmla="*/ 13630 w 19050"/>
                  <a:gd name="connsiteY12" fmla="*/ 19917 h 38100"/>
                  <a:gd name="connsiteX13" fmla="*/ 12030 w 19050"/>
                  <a:gd name="connsiteY13" fmla="*/ 25336 h 38100"/>
                  <a:gd name="connsiteX14" fmla="*/ 11449 w 19050"/>
                  <a:gd name="connsiteY14" fmla="*/ 26899 h 38100"/>
                  <a:gd name="connsiteX15" fmla="*/ 9773 w 19050"/>
                  <a:gd name="connsiteY15" fmla="*/ 30823 h 38100"/>
                  <a:gd name="connsiteX16" fmla="*/ 9125 w 19050"/>
                  <a:gd name="connsiteY16" fmla="*/ 32233 h 38100"/>
                  <a:gd name="connsiteX17" fmla="*/ 7144 w 19050"/>
                  <a:gd name="connsiteY17" fmla="*/ 35814 h 38100"/>
                  <a:gd name="connsiteX18" fmla="*/ 7191 w 19050"/>
                  <a:gd name="connsiteY18" fmla="*/ 35776 h 38100"/>
                  <a:gd name="connsiteX19" fmla="*/ 9154 w 19050"/>
                  <a:gd name="connsiteY19" fmla="*/ 32242 h 38100"/>
                  <a:gd name="connsiteX20" fmla="*/ 9792 w 19050"/>
                  <a:gd name="connsiteY20" fmla="*/ 30832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050" h="38100">
                    <a:moveTo>
                      <a:pt x="9792" y="30832"/>
                    </a:moveTo>
                    <a:cubicBezTo>
                      <a:pt x="10401" y="29537"/>
                      <a:pt x="10944" y="28242"/>
                      <a:pt x="11468" y="26908"/>
                    </a:cubicBezTo>
                    <a:cubicBezTo>
                      <a:pt x="11659" y="26384"/>
                      <a:pt x="11859" y="25879"/>
                      <a:pt x="12049" y="25346"/>
                    </a:cubicBezTo>
                    <a:cubicBezTo>
                      <a:pt x="12659" y="23555"/>
                      <a:pt x="13221" y="21765"/>
                      <a:pt x="13649" y="19926"/>
                    </a:cubicBezTo>
                    <a:cubicBezTo>
                      <a:pt x="13668" y="19888"/>
                      <a:pt x="13668" y="19850"/>
                      <a:pt x="13687" y="19812"/>
                    </a:cubicBezTo>
                    <a:cubicBezTo>
                      <a:pt x="14097" y="18012"/>
                      <a:pt x="14411" y="16154"/>
                      <a:pt x="14659" y="14297"/>
                    </a:cubicBezTo>
                    <a:cubicBezTo>
                      <a:pt x="14735" y="13745"/>
                      <a:pt x="14773" y="13192"/>
                      <a:pt x="14830" y="12630"/>
                    </a:cubicBezTo>
                    <a:cubicBezTo>
                      <a:pt x="15011" y="10935"/>
                      <a:pt x="15116" y="9220"/>
                      <a:pt x="15126" y="7487"/>
                    </a:cubicBezTo>
                    <a:lnTo>
                      <a:pt x="15126" y="7144"/>
                    </a:lnTo>
                    <a:cubicBezTo>
                      <a:pt x="15135" y="8992"/>
                      <a:pt x="15002" y="10820"/>
                      <a:pt x="14811" y="12621"/>
                    </a:cubicBezTo>
                    <a:cubicBezTo>
                      <a:pt x="14754" y="13183"/>
                      <a:pt x="14716" y="13735"/>
                      <a:pt x="14640" y="14288"/>
                    </a:cubicBezTo>
                    <a:cubicBezTo>
                      <a:pt x="14402" y="16145"/>
                      <a:pt x="14078" y="18002"/>
                      <a:pt x="13668" y="19802"/>
                    </a:cubicBezTo>
                    <a:cubicBezTo>
                      <a:pt x="13649" y="19841"/>
                      <a:pt x="13649" y="19879"/>
                      <a:pt x="13630" y="19917"/>
                    </a:cubicBezTo>
                    <a:cubicBezTo>
                      <a:pt x="13202" y="21755"/>
                      <a:pt x="12640" y="23565"/>
                      <a:pt x="12030" y="25336"/>
                    </a:cubicBezTo>
                    <a:cubicBezTo>
                      <a:pt x="11840" y="25870"/>
                      <a:pt x="11640" y="26375"/>
                      <a:pt x="11449" y="26899"/>
                    </a:cubicBezTo>
                    <a:cubicBezTo>
                      <a:pt x="10925" y="28232"/>
                      <a:pt x="10392" y="29527"/>
                      <a:pt x="9773" y="30823"/>
                    </a:cubicBezTo>
                    <a:cubicBezTo>
                      <a:pt x="9573" y="31290"/>
                      <a:pt x="9344" y="31775"/>
                      <a:pt x="9125" y="32233"/>
                    </a:cubicBezTo>
                    <a:cubicBezTo>
                      <a:pt x="8515" y="33452"/>
                      <a:pt x="7820" y="34633"/>
                      <a:pt x="7144" y="35814"/>
                    </a:cubicBezTo>
                    <a:cubicBezTo>
                      <a:pt x="7153" y="35804"/>
                      <a:pt x="7172" y="35785"/>
                      <a:pt x="7191" y="35776"/>
                    </a:cubicBezTo>
                    <a:cubicBezTo>
                      <a:pt x="7868" y="34604"/>
                      <a:pt x="8553" y="33442"/>
                      <a:pt x="9154" y="32242"/>
                    </a:cubicBezTo>
                    <a:cubicBezTo>
                      <a:pt x="9363" y="31775"/>
                      <a:pt x="9592" y="31290"/>
                      <a:pt x="9792" y="30832"/>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grpSp>
        <p:sp>
          <p:nvSpPr>
            <p:cNvPr id="24" name="Freeform: Shape 33">
              <a:extLst>
                <a:ext uri="{FF2B5EF4-FFF2-40B4-BE49-F238E27FC236}">
                  <a16:creationId xmlns:a16="http://schemas.microsoft.com/office/drawing/2014/main" id="{F62C5FEE-739C-5CD8-3480-47AFBD4B137D}"/>
                </a:ext>
              </a:extLst>
            </p:cNvPr>
            <p:cNvSpPr/>
            <p:nvPr/>
          </p:nvSpPr>
          <p:spPr>
            <a:xfrm flipV="1">
              <a:off x="8573407" y="4059813"/>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sp>
          <p:nvSpPr>
            <p:cNvPr id="25" name="Freeform: Shape 34">
              <a:extLst>
                <a:ext uri="{FF2B5EF4-FFF2-40B4-BE49-F238E27FC236}">
                  <a16:creationId xmlns:a16="http://schemas.microsoft.com/office/drawing/2014/main" id="{BCD906C9-9D1F-D350-D161-F4D9B4B287D1}"/>
                </a:ext>
              </a:extLst>
            </p:cNvPr>
            <p:cNvSpPr/>
            <p:nvPr/>
          </p:nvSpPr>
          <p:spPr>
            <a:xfrm flipV="1">
              <a:off x="9021642" y="293743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sp>
        <p:nvSpPr>
          <p:cNvPr id="26" name="TextBox 75">
            <a:extLst>
              <a:ext uri="{FF2B5EF4-FFF2-40B4-BE49-F238E27FC236}">
                <a16:creationId xmlns:a16="http://schemas.microsoft.com/office/drawing/2014/main" id="{02AD65D6-9504-23E6-E4FD-CC294F4A3C64}"/>
              </a:ext>
            </a:extLst>
          </p:cNvPr>
          <p:cNvSpPr txBox="1"/>
          <p:nvPr/>
        </p:nvSpPr>
        <p:spPr>
          <a:xfrm>
            <a:off x="981590" y="5731169"/>
            <a:ext cx="9514366" cy="276999"/>
          </a:xfrm>
          <a:prstGeom prst="rect">
            <a:avLst/>
          </a:prstGeom>
          <a:noFill/>
        </p:spPr>
        <p:txBody>
          <a:bodyPr wrap="square" rtlCol="0">
            <a:spAutoFit/>
          </a:bodyPr>
          <a:lstStyle/>
          <a:p>
            <a:r>
              <a:rPr lang="en-US" sz="1200" dirty="0">
                <a:solidFill/>
                <a:latin typeface="Montserrat" panose="00000500000000000000" pitchFamily="2" charset="0"/>
              </a:rPr>
              <a:t>Estimates includes the Froedtert ThedaCare Health service area in Lake, McHenry, Brown, Calumet, Columbia, Dodge, Fond du Lac, Green Lake, Jefferson, Kenosha, Kewaunee, Manitowoc, Marquette, Menominee, Milwaukee, Oconto, Outagamie, Ozaukee, Portage, Racine, Shawano, Sheboygan, Walworth, Washington, Waukesha, Waupaca, Waushara, and Winnebago Counties</a:t>
            </a:r>
          </a:p>
        </p:txBody>
      </p:sp>
      <p:sp>
        <p:nvSpPr>
          <p:cNvPr id="27" name="TextBox 76">
            <a:extLst>
              <a:ext uri="{FF2B5EF4-FFF2-40B4-BE49-F238E27FC236}">
                <a16:creationId xmlns:a16="http://schemas.microsoft.com/office/drawing/2014/main" id="{F3A378C3-B669-3EE2-B76D-98EDB44E8CDF}"/>
              </a:ext>
            </a:extLst>
          </p:cNvPr>
          <p:cNvSpPr txBox="1"/>
          <p:nvPr/>
        </p:nvSpPr>
        <p:spPr>
          <a:xfrm>
            <a:off x="2326255" y="4909050"/>
            <a:ext cx="1752403" cy="461665"/>
          </a:xfrm>
          <a:prstGeom prst="rect">
            <a:avLst/>
          </a:prstGeom>
          <a:noFill/>
        </p:spPr>
        <p:txBody>
          <a:bodyPr wrap="none" rtlCol="0">
            <a:spAutoFit/>
          </a:bodyPr>
          <a:lstStyle/>
          <a:p>
            <a:r>
              <a:rPr lang="en-US" sz="2400" dirty="0">
                <a:solidFill/>
                <a:latin typeface="Montserrat" panose="00000500000000000000" pitchFamily="2" charset="0"/>
              </a:rPr>
              <a:t>3,500K</a:t>
            </a:r>
          </a:p>
        </p:txBody>
      </p:sp>
      <p:sp>
        <p:nvSpPr>
          <p:cNvPr id="28" name="TextBox 77">
            <a:extLst>
              <a:ext uri="{FF2B5EF4-FFF2-40B4-BE49-F238E27FC236}">
                <a16:creationId xmlns:a16="http://schemas.microsoft.com/office/drawing/2014/main" id="{F24CF5B8-0E02-1AF3-2A3D-F14253B44FE8}"/>
              </a:ext>
            </a:extLst>
          </p:cNvPr>
          <p:cNvSpPr txBox="1"/>
          <p:nvPr/>
        </p:nvSpPr>
        <p:spPr>
          <a:xfrm>
            <a:off x="2549188" y="3983995"/>
            <a:ext cx="1162498" cy="461665"/>
          </a:xfrm>
          <a:prstGeom prst="rect">
            <a:avLst/>
          </a:prstGeom>
          <a:noFill/>
        </p:spPr>
        <p:txBody>
          <a:bodyPr wrap="none" rtlCol="0">
            <a:spAutoFit/>
          </a:bodyPr>
          <a:lstStyle/>
          <a:p>
            <a:r>
              <a:rPr lang="en-US" sz="2400" dirty="0">
                <a:solidFill/>
                <a:latin typeface="Montserrat" panose="00000500000000000000" pitchFamily="2" charset="0"/>
              </a:rPr>
              <a:t>2,056K</a:t>
            </a:r>
          </a:p>
        </p:txBody>
      </p:sp>
      <p:sp>
        <p:nvSpPr>
          <p:cNvPr id="29" name="TextBox 78">
            <a:extLst>
              <a:ext uri="{FF2B5EF4-FFF2-40B4-BE49-F238E27FC236}">
                <a16:creationId xmlns:a16="http://schemas.microsoft.com/office/drawing/2014/main" id="{509B3348-F2D5-63CE-B5D5-5FB7263B3D0F}"/>
              </a:ext>
            </a:extLst>
          </p:cNvPr>
          <p:cNvSpPr txBox="1"/>
          <p:nvPr/>
        </p:nvSpPr>
        <p:spPr>
          <a:xfrm>
            <a:off x="2768644" y="3041250"/>
            <a:ext cx="1132041" cy="461665"/>
          </a:xfrm>
          <a:prstGeom prst="rect">
            <a:avLst/>
          </a:prstGeom>
          <a:noFill/>
        </p:spPr>
        <p:txBody>
          <a:bodyPr wrap="none" rtlCol="0">
            <a:spAutoFit/>
          </a:bodyPr>
          <a:lstStyle/>
          <a:p>
            <a:r>
              <a:rPr lang="en-US" sz="2400" dirty="0">
                <a:solidFill/>
                <a:latin typeface="Montserrat" panose="00000500000000000000" pitchFamily="2" charset="0"/>
              </a:rPr>
              <a:t>1,546K</a:t>
            </a:r>
          </a:p>
        </p:txBody>
      </p:sp>
      <p:sp>
        <p:nvSpPr>
          <p:cNvPr id="30" name="TextBox 79">
            <a:extLst>
              <a:ext uri="{FF2B5EF4-FFF2-40B4-BE49-F238E27FC236}">
                <a16:creationId xmlns:a16="http://schemas.microsoft.com/office/drawing/2014/main" id="{7E24246C-24ED-62DA-EA2E-6EA4A6ADAEAC}"/>
              </a:ext>
            </a:extLst>
          </p:cNvPr>
          <p:cNvSpPr txBox="1"/>
          <p:nvPr/>
        </p:nvSpPr>
        <p:spPr>
          <a:xfrm>
            <a:off x="2988100" y="2109715"/>
            <a:ext cx="984565" cy="461665"/>
          </a:xfrm>
          <a:prstGeom prst="rect">
            <a:avLst/>
          </a:prstGeom>
          <a:noFill/>
        </p:spPr>
        <p:txBody>
          <a:bodyPr wrap="none" rtlCol="0">
            <a:spAutoFit/>
          </a:bodyPr>
          <a:lstStyle/>
          <a:p>
            <a:r>
              <a:rPr lang="en-US" sz="2400" dirty="0">
                <a:solidFill/>
                <a:latin typeface="Montserrat" panose="00000500000000000000" pitchFamily="2" charset="0"/>
              </a:rPr>
              <a:t>895K</a:t>
            </a:r>
          </a:p>
        </p:txBody>
      </p:sp>
      <p:pic>
        <p:nvPicPr>
          <p:cNvPr id="31" name="Picture 4">
            <a:extLst>
              <a:ext uri="{FF2B5EF4-FFF2-40B4-BE49-F238E27FC236}">
                <a16:creationId xmlns:a16="http://schemas.microsoft.com/office/drawing/2014/main" id="{0D8A2093-EE63-6F98-17FC-8FA2F27D269E}"/>
              </a:ext>
            </a:extLst>
          </p:cNvPr>
          <p:cNvPicPr>
            <a:picLocks noChangeAspect="1"/>
          </p:cNvPicPr>
          <p:nvPr/>
        </p:nvPicPr>
        <p:blipFill>
          <a:blip r:embed="rId2"/>
          <a:stretch>
            <a:fillRect/>
          </a:stretch>
        </p:blipFill>
        <p:spPr>
          <a:xfrm>
            <a:off x="215573" y="6356350"/>
            <a:ext cx="2125097" cy="463658"/>
          </a:xfrm>
          <a:prstGeom prst="rect">
            <a:avLst/>
          </a:prstGeom>
        </p:spPr>
      </p:pic>
      <p:sp>
        <p:nvSpPr>
          <p:cNvPr id="32" name="Freeform 13">
            <a:extLst>
              <a:ext uri="{FF2B5EF4-FFF2-40B4-BE49-F238E27FC236}">
                <a16:creationId xmlns:a16="http://schemas.microsoft.com/office/drawing/2014/main" id="{28524B04-16FE-D5D9-4125-86AD5B994E0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33" name="Content Placeholder 32"/>
          <p:cNvPicPr>
            <a:picLocks noGrp="1"/>
          </p:cNvPicPr>
          <p:nvPr>
            <p:ph/>
          </p:nvPr>
        </p:nvPicPr>
        <p:blipFill>
          <a:blip r:embed="rId3" cstate="print"/>
          <a:stretch>
            <a:fillRect/>
          </a:stretch>
        </p:blipFill>
        <p:spPr>
          <a:xfrm>
            <a:off x="5705856" y="1911096"/>
            <a:ext cx="6364224" cy="3813048"/>
          </a:xfrm>
          <a:prstGeom prst="rect">
            <a:avLst/>
          </a:prstGeom>
        </p:spPr>
      </p:pic>
    </p:spTree>
    <p:extLst>
      <p:ext uri="{BB962C8B-B14F-4D97-AF65-F5344CB8AC3E}">
        <p14:creationId xmlns:p14="http://schemas.microsoft.com/office/powerpoint/2010/main" val="10823273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
            <a:extLst>
              <a:ext uri="{FF2B5EF4-FFF2-40B4-BE49-F238E27FC236}">
                <a16:creationId xmlns:a16="http://schemas.microsoft.com/office/drawing/2014/main" id="{C0C1C4CA-44D9-9691-E058-46CEB5C35DF2}"/>
              </a:ext>
            </a:extLst>
          </p:cNvPr>
          <p:cNvSpPr/>
          <p:nvPr/>
        </p:nvSpPr>
        <p:spPr>
          <a:xfrm>
            <a:off x="5541867" y="1756658"/>
            <a:ext cx="1914733" cy="411982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Rectangle 11">
            <a:extLst>
              <a:ext uri="{FF2B5EF4-FFF2-40B4-BE49-F238E27FC236}">
                <a16:creationId xmlns:a16="http://schemas.microsoft.com/office/drawing/2014/main" id="{8DCAE5A5-11EC-16C5-5F5F-C5DF9E3B0859}"/>
              </a:ext>
            </a:extLst>
          </p:cNvPr>
          <p:cNvSpPr/>
          <p:nvPr/>
        </p:nvSpPr>
        <p:spPr>
          <a:xfrm>
            <a:off x="7456600" y="1756656"/>
            <a:ext cx="1914733" cy="411982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Rectangle 12">
            <a:extLst>
              <a:ext uri="{FF2B5EF4-FFF2-40B4-BE49-F238E27FC236}">
                <a16:creationId xmlns:a16="http://schemas.microsoft.com/office/drawing/2014/main" id="{98C73641-C807-1985-E19A-CA79DA10785E}"/>
              </a:ext>
            </a:extLst>
          </p:cNvPr>
          <p:cNvSpPr/>
          <p:nvPr/>
        </p:nvSpPr>
        <p:spPr>
          <a:xfrm>
            <a:off x="9371334" y="1756655"/>
            <a:ext cx="1914732" cy="411982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3">
            <a:extLst>
              <a:ext uri="{FF2B5EF4-FFF2-40B4-BE49-F238E27FC236}">
                <a16:creationId xmlns:a16="http://schemas.microsoft.com/office/drawing/2014/main" id="{8546D6DB-89F3-8B35-A9E8-670CED022928}"/>
              </a:ext>
            </a:extLst>
          </p:cNvPr>
          <p:cNvSpPr txBox="1"/>
          <p:nvPr/>
        </p:nvSpPr>
        <p:spPr>
          <a:xfrm>
            <a:off x="1447022" y="1524619"/>
            <a:ext cx="3100529" cy="630942"/>
          </a:xfrm>
          <a:prstGeom prst="rect">
            <a:avLst/>
          </a:prstGeom>
          <a:noFill/>
        </p:spPr>
        <p:txBody>
          <a:bodyPr wrap="none" rtlCol="0">
            <a:spAutoFit/>
          </a:bodyPr>
          <a:lstStyle/>
          <a:p>
            <a:pPr algn="ctr"/>
            <a:r>
              <a:rPr lang="en-US" sz="2400" b="1" dirty="0">
                <a:solidFill>
                  <a:srgbClr val="6087CE"/>
                </a:solidFill>
                <a:latin typeface="Montserrat" panose="00000500000000000000" pitchFamily="2" charset="0"/>
              </a:rPr>
              <a:t>Early Stage</a:t>
            </a:r>
          </a:p>
          <a:p>
            <a:pPr algn="ctr"/>
            <a:r>
              <a:rPr lang="en-US" sz="1100" dirty="0">
                <a:solidFill>
                  <a:srgbClr val="6087CE"/>
                </a:solidFill>
                <a:latin typeface="Montserrat" panose="00000500000000000000" pitchFamily="2" charset="0"/>
              </a:rPr>
              <a:t>Gaining Name Recognition, Early Growth</a:t>
            </a:r>
          </a:p>
        </p:txBody>
      </p:sp>
      <p:sp>
        <p:nvSpPr>
          <p:cNvPr id="6" name="TextBox 6">
            <a:extLst>
              <a:ext uri="{FF2B5EF4-FFF2-40B4-BE49-F238E27FC236}">
                <a16:creationId xmlns:a16="http://schemas.microsoft.com/office/drawing/2014/main" id="{0C35DE11-AC92-1958-1813-38A8A86CBCE8}"/>
              </a:ext>
            </a:extLst>
          </p:cNvPr>
          <p:cNvSpPr txBox="1"/>
          <p:nvPr/>
        </p:nvSpPr>
        <p:spPr>
          <a:xfrm>
            <a:off x="1275976" y="2181545"/>
            <a:ext cx="1624165"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Revenue:</a:t>
            </a:r>
          </a:p>
        </p:txBody>
      </p:sp>
      <p:sp>
        <p:nvSpPr>
          <p:cNvPr id="7" name="TextBox 7">
            <a:extLst>
              <a:ext uri="{FF2B5EF4-FFF2-40B4-BE49-F238E27FC236}">
                <a16:creationId xmlns:a16="http://schemas.microsoft.com/office/drawing/2014/main" id="{2E2DA353-8032-9A29-CBFC-5E2CAB8FA818}"/>
              </a:ext>
            </a:extLst>
          </p:cNvPr>
          <p:cNvSpPr txBox="1"/>
          <p:nvPr/>
        </p:nvSpPr>
        <p:spPr>
          <a:xfrm>
            <a:off x="3224011" y="2181545"/>
            <a:ext cx="1412759"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Profit:</a:t>
            </a:r>
          </a:p>
        </p:txBody>
      </p:sp>
      <p:sp>
        <p:nvSpPr>
          <p:cNvPr id="8" name="TextBox 9">
            <a:extLst>
              <a:ext uri="{FF2B5EF4-FFF2-40B4-BE49-F238E27FC236}">
                <a16:creationId xmlns:a16="http://schemas.microsoft.com/office/drawing/2014/main" id="{2EE70FCE-698F-980C-DE5B-A5E0DD82F2B7}"/>
              </a:ext>
            </a:extLst>
          </p:cNvPr>
          <p:cNvSpPr txBox="1"/>
          <p:nvPr/>
        </p:nvSpPr>
        <p:spPr>
          <a:xfrm>
            <a:off x="1269691"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$27.7M</a:t>
            </a:r>
            <a:endParaRPr lang="en-US" sz="2000" dirty="0">
              <a:latin typeface="Montserrat" panose="00000500000000000000" pitchFamily="2" charset="0"/>
            </a:endParaRPr>
          </a:p>
        </p:txBody>
      </p:sp>
      <p:sp>
        <p:nvSpPr>
          <p:cNvPr id="9" name="TextBox 14">
            <a:extLst>
              <a:ext uri="{FF2B5EF4-FFF2-40B4-BE49-F238E27FC236}">
                <a16:creationId xmlns:a16="http://schemas.microsoft.com/office/drawing/2014/main" id="{DBAF8120-09F6-4EB0-E666-C1CBDC5CF295}"/>
              </a:ext>
            </a:extLst>
          </p:cNvPr>
          <p:cNvSpPr txBox="1"/>
          <p:nvPr/>
        </p:nvSpPr>
        <p:spPr>
          <a:xfrm>
            <a:off x="3063240"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$3.03M</a:t>
            </a:r>
            <a:endParaRPr lang="en-US" sz="2000" dirty="0">
              <a:latin typeface="Montserrat" panose="00000500000000000000" pitchFamily="2" charset="0"/>
            </a:endParaRPr>
          </a:p>
        </p:txBody>
      </p:sp>
      <p:sp>
        <p:nvSpPr>
          <p:cNvPr id="10" name="TextBox 15">
            <a:extLst>
              <a:ext uri="{FF2B5EF4-FFF2-40B4-BE49-F238E27FC236}">
                <a16:creationId xmlns:a16="http://schemas.microsoft.com/office/drawing/2014/main" id="{5B374298-411A-3F68-B672-E1DC32DEA9AE}"/>
              </a:ext>
            </a:extLst>
          </p:cNvPr>
          <p:cNvSpPr txBox="1"/>
          <p:nvPr/>
        </p:nvSpPr>
        <p:spPr>
          <a:xfrm>
            <a:off x="1679267" y="3039035"/>
            <a:ext cx="261802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Growth Stage</a:t>
            </a:r>
          </a:p>
          <a:p>
            <a:pPr algn="ctr"/>
            <a:r>
              <a:rPr lang="en-US" sz="1100" dirty="0">
                <a:solidFill>
                  <a:srgbClr val="2F5597"/>
                </a:solidFill>
                <a:latin typeface="Montserrat" panose="00000500000000000000" pitchFamily="2" charset="0"/>
              </a:rPr>
              <a:t>Strong Reputation, Strong Growth</a:t>
            </a:r>
          </a:p>
        </p:txBody>
      </p:sp>
      <p:sp>
        <p:nvSpPr>
          <p:cNvPr id="11" name="TextBox 16">
            <a:extLst>
              <a:ext uri="{FF2B5EF4-FFF2-40B4-BE49-F238E27FC236}">
                <a16:creationId xmlns:a16="http://schemas.microsoft.com/office/drawing/2014/main" id="{734215D0-1B81-9E25-D893-D1A81A7D90DE}"/>
              </a:ext>
            </a:extLst>
          </p:cNvPr>
          <p:cNvSpPr txBox="1"/>
          <p:nvPr/>
        </p:nvSpPr>
        <p:spPr>
          <a:xfrm>
            <a:off x="1266967" y="3695961"/>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2" name="TextBox 17">
            <a:extLst>
              <a:ext uri="{FF2B5EF4-FFF2-40B4-BE49-F238E27FC236}">
                <a16:creationId xmlns:a16="http://schemas.microsoft.com/office/drawing/2014/main" id="{44D03DDF-E57A-E22B-A334-B0D6BAD568C1}"/>
              </a:ext>
            </a:extLst>
          </p:cNvPr>
          <p:cNvSpPr txBox="1"/>
          <p:nvPr/>
        </p:nvSpPr>
        <p:spPr>
          <a:xfrm>
            <a:off x="3215002" y="3695961"/>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3" name="TextBox 20">
            <a:extLst>
              <a:ext uri="{FF2B5EF4-FFF2-40B4-BE49-F238E27FC236}">
                <a16:creationId xmlns:a16="http://schemas.microsoft.com/office/drawing/2014/main" id="{2F96F890-CA85-53B4-4C86-B02186E9E89E}"/>
              </a:ext>
            </a:extLst>
          </p:cNvPr>
          <p:cNvSpPr txBox="1"/>
          <p:nvPr/>
        </p:nvSpPr>
        <p:spPr>
          <a:xfrm>
            <a:off x="1260682"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$166.41M</a:t>
            </a:r>
            <a:endParaRPr lang="en-US" sz="2000" dirty="0">
              <a:solidFill>
                <a:srgbClr val="2F5597"/>
              </a:solidFill>
              <a:latin typeface="Montserrat" panose="00000500000000000000" pitchFamily="2" charset="0"/>
            </a:endParaRPr>
          </a:p>
        </p:txBody>
      </p:sp>
      <p:sp>
        <p:nvSpPr>
          <p:cNvPr id="14" name="TextBox 21">
            <a:extLst>
              <a:ext uri="{FF2B5EF4-FFF2-40B4-BE49-F238E27FC236}">
                <a16:creationId xmlns:a16="http://schemas.microsoft.com/office/drawing/2014/main" id="{BD5125C9-83DD-4D9F-DE79-D476BE3F058D}"/>
              </a:ext>
            </a:extLst>
          </p:cNvPr>
          <p:cNvSpPr txBox="1"/>
          <p:nvPr/>
        </p:nvSpPr>
        <p:spPr>
          <a:xfrm>
            <a:off x="3054231"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$19.2M</a:t>
            </a:r>
            <a:endParaRPr lang="en-US" sz="2000" dirty="0">
              <a:solidFill>
                <a:srgbClr val="2F5597"/>
              </a:solidFill>
              <a:latin typeface="Montserrat" panose="00000500000000000000" pitchFamily="2" charset="0"/>
            </a:endParaRPr>
          </a:p>
        </p:txBody>
      </p:sp>
      <p:sp>
        <p:nvSpPr>
          <p:cNvPr id="15" name="TextBox 22">
            <a:extLst>
              <a:ext uri="{FF2B5EF4-FFF2-40B4-BE49-F238E27FC236}">
                <a16:creationId xmlns:a16="http://schemas.microsoft.com/office/drawing/2014/main" id="{DEBB9E11-84A3-58F8-237D-4A265C29D49C}"/>
              </a:ext>
            </a:extLst>
          </p:cNvPr>
          <p:cNvSpPr txBox="1"/>
          <p:nvPr/>
        </p:nvSpPr>
        <p:spPr>
          <a:xfrm>
            <a:off x="1629765" y="4659602"/>
            <a:ext cx="273504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Mature Stage</a:t>
            </a:r>
          </a:p>
          <a:p>
            <a:pPr algn="ctr"/>
            <a:r>
              <a:rPr lang="en-US" sz="1100" dirty="0">
                <a:solidFill>
                  <a:srgbClr val="2F5597"/>
                </a:solidFill>
                <a:latin typeface="Montserrat" panose="00000500000000000000" pitchFamily="2" charset="0"/>
              </a:rPr>
              <a:t>High Profitability, Market Saturation</a:t>
            </a:r>
          </a:p>
        </p:txBody>
      </p:sp>
      <p:sp>
        <p:nvSpPr>
          <p:cNvPr id="16" name="TextBox 23">
            <a:extLst>
              <a:ext uri="{FF2B5EF4-FFF2-40B4-BE49-F238E27FC236}">
                <a16:creationId xmlns:a16="http://schemas.microsoft.com/office/drawing/2014/main" id="{E4C2D887-78BC-455D-E84B-4706DBDF3CA1}"/>
              </a:ext>
            </a:extLst>
          </p:cNvPr>
          <p:cNvSpPr txBox="1"/>
          <p:nvPr/>
        </p:nvSpPr>
        <p:spPr>
          <a:xfrm>
            <a:off x="1275976" y="5316528"/>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7" name="TextBox 24">
            <a:extLst>
              <a:ext uri="{FF2B5EF4-FFF2-40B4-BE49-F238E27FC236}">
                <a16:creationId xmlns:a16="http://schemas.microsoft.com/office/drawing/2014/main" id="{FC3AFD72-934E-C314-76C9-3BD3C3ADC5D7}"/>
              </a:ext>
            </a:extLst>
          </p:cNvPr>
          <p:cNvSpPr txBox="1"/>
          <p:nvPr/>
        </p:nvSpPr>
        <p:spPr>
          <a:xfrm>
            <a:off x="3224011" y="5316528"/>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8" name="TextBox 25">
            <a:extLst>
              <a:ext uri="{FF2B5EF4-FFF2-40B4-BE49-F238E27FC236}">
                <a16:creationId xmlns:a16="http://schemas.microsoft.com/office/drawing/2014/main" id="{AFC7E587-98BA-0E7B-D632-50ECCC546F0C}"/>
              </a:ext>
            </a:extLst>
          </p:cNvPr>
          <p:cNvSpPr txBox="1"/>
          <p:nvPr/>
        </p:nvSpPr>
        <p:spPr>
          <a:xfrm>
            <a:off x="1269691"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$342.88M</a:t>
            </a:r>
            <a:endParaRPr lang="en-US" sz="2000" dirty="0">
              <a:solidFill>
                <a:srgbClr val="2F5597"/>
              </a:solidFill>
              <a:latin typeface="Montserrat" panose="00000500000000000000" pitchFamily="2" charset="0"/>
            </a:endParaRPr>
          </a:p>
        </p:txBody>
      </p:sp>
      <p:sp>
        <p:nvSpPr>
          <p:cNvPr id="19" name="TextBox 26">
            <a:extLst>
              <a:ext uri="{FF2B5EF4-FFF2-40B4-BE49-F238E27FC236}">
                <a16:creationId xmlns:a16="http://schemas.microsoft.com/office/drawing/2014/main" id="{CDADE326-124A-38EC-26DF-B19515A72278}"/>
              </a:ext>
            </a:extLst>
          </p:cNvPr>
          <p:cNvSpPr txBox="1"/>
          <p:nvPr/>
        </p:nvSpPr>
        <p:spPr>
          <a:xfrm>
            <a:off x="3063240"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$39.66M</a:t>
            </a:r>
            <a:endParaRPr lang="en-US" sz="2000" dirty="0">
              <a:solidFill>
                <a:srgbClr val="2F5597"/>
              </a:solidFill>
              <a:latin typeface="Montserrat" panose="00000500000000000000" pitchFamily="2" charset="0"/>
            </a:endParaRPr>
          </a:p>
        </p:txBody>
      </p:sp>
      <p:sp>
        <p:nvSpPr>
          <p:cNvPr id="20" name="Title 1">
            <a:extLst>
              <a:ext uri="{FF2B5EF4-FFF2-40B4-BE49-F238E27FC236}">
                <a16:creationId xmlns:a16="http://schemas.microsoft.com/office/drawing/2014/main" id="{BC0B4224-A0CC-AD78-8E24-07E538135775}"/>
              </a:ext>
            </a:extLst>
          </p:cNvPr>
          <p:cNvSpPr>
            <a:spLocks noGrp="1"/>
          </p:cNvSpPr>
          <p:nvPr>
            <p:ph type="title"/>
          </p:nvPr>
        </p:nvSpPr>
        <p:spPr>
          <a:xfrm>
            <a:off x="295590" y="144962"/>
            <a:ext cx="11431354" cy="979057"/>
          </a:xfrm>
        </p:spPr>
        <p:txBody>
          <a:bodyPr>
            <a:normAutofit/>
          </a:bodyPr>
          <a:lstStyle/>
          <a:p>
            <a:r>
              <a:rPr lang="en-US" sz="3200" b="0" dirty="0"/>
              <a:t>GROWING POWERFUL, LASTING PROFITABILITY</a:t>
            </a:r>
          </a:p>
        </p:txBody>
      </p:sp>
      <p:pic>
        <p:nvPicPr>
          <p:cNvPr id="21" name="Picture 27">
            <a:extLst>
              <a:ext uri="{FF2B5EF4-FFF2-40B4-BE49-F238E27FC236}">
                <a16:creationId xmlns:a16="http://schemas.microsoft.com/office/drawing/2014/main" id="{DBDCCE94-7BFC-4E15-1810-1983169DBDE0}"/>
              </a:ext>
            </a:extLst>
          </p:cNvPr>
          <p:cNvPicPr>
            <a:picLocks noChangeAspect="1"/>
          </p:cNvPicPr>
          <p:nvPr/>
        </p:nvPicPr>
        <p:blipFill>
          <a:blip r:embed="rId3"/>
          <a:stretch>
            <a:fillRect/>
          </a:stretch>
        </p:blipFill>
        <p:spPr>
          <a:xfrm>
            <a:off x="215573" y="6356350"/>
            <a:ext cx="2125097" cy="463658"/>
          </a:xfrm>
          <a:prstGeom prst="rect">
            <a:avLst/>
          </a:prstGeom>
        </p:spPr>
      </p:pic>
      <p:sp>
        <p:nvSpPr>
          <p:cNvPr id="22" name="Freeform 13">
            <a:extLst>
              <a:ext uri="{FF2B5EF4-FFF2-40B4-BE49-F238E27FC236}">
                <a16:creationId xmlns:a16="http://schemas.microsoft.com/office/drawing/2014/main" id="{C4AAE38D-C93C-25B4-95B9-199DADB77C3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3" name="Content Placeholder 22"/>
          <p:cNvPicPr>
            <a:picLocks noGrp="1"/>
          </p:cNvPicPr>
          <p:nvPr>
            <p:ph/>
          </p:nvPr>
        </p:nvPicPr>
        <p:blipFill>
          <a:blip r:embed="rId4" cstate="print"/>
          <a:stretch>
            <a:fillRect/>
          </a:stretch>
        </p:blipFill>
        <p:spPr>
          <a:xfrm>
            <a:off x="5202936" y="1353312"/>
            <a:ext cx="6364224" cy="4773168"/>
          </a:xfrm>
          <a:prstGeom prst="rect">
            <a:avLst/>
          </a:prstGeom>
        </p:spPr>
      </p:pic>
    </p:spTree>
    <p:extLst>
      <p:ext uri="{BB962C8B-B14F-4D97-AF65-F5344CB8AC3E}">
        <p14:creationId xmlns:p14="http://schemas.microsoft.com/office/powerpoint/2010/main" val="42940513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DEBD79AC-6896-6E13-B0EE-8405AC1D8926}"/>
              </a:ext>
            </a:extLst>
          </p:cNvPr>
          <p:cNvSpPr/>
          <p:nvPr/>
        </p:nvSpPr>
        <p:spPr>
          <a:xfrm>
            <a:off x="0" y="-7770"/>
            <a:ext cx="978408" cy="6858000"/>
          </a:xfrm>
          <a:prstGeom prst="rect">
            <a:avLst/>
          </a:prstGeom>
          <a:solidFill>
            <a:srgbClr val="00539F">
              <a:alpha val="9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200" b="0" dirty="0">
                <a:solidFill>
                  <a:schemeClr val="bg1"/>
                </a:solidFill>
              </a:rPr>
              <a:t>FOUR-YEAR PROJECTIONS</a:t>
            </a:r>
          </a:p>
        </p:txBody>
      </p:sp>
      <p:graphicFrame>
        <p:nvGraphicFramePr>
          <p:cNvPr id="4" name="Table 3"/>
          <p:cNvGraphicFramePr>
            <a:graphicFrameLocks noGrp="1"/>
          </p:cNvGraphicFramePr>
          <p:nvPr/>
        </p:nvGraphicFramePr>
        <p:xfrm>
          <a:off x="6135624" y="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7,300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10,900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1,004.1K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2,009.4K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3,802.0K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6,081.9K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26.4K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52.8K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87.6K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130.8K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700.5K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1,882.2K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3,709.6K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6,032.7K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5" name="Table 4"/>
          <p:cNvGraphicFramePr>
            <a:graphicFrameLocks noGrp="1"/>
          </p:cNvGraphicFramePr>
          <p:nvPr/>
        </p:nvGraphicFramePr>
        <p:xfrm>
          <a:off x="6135624" y="2286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6,600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10,900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16,400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1,506.1K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3,014.1K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5,677.0K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9,150.7K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39.6K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79.2K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130.8K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196.8K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1,215.7K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2,913.3K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5,627.8K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9,167.5K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6" name="Table 5"/>
          <p:cNvGraphicFramePr>
            <a:graphicFrameLocks noGrp="1"/>
          </p:cNvGraphicFramePr>
          <p:nvPr/>
        </p:nvGraphicFramePr>
        <p:xfrm>
          <a:off x="6135624" y="4572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1,100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502.0K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1,004.7K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1,875.0K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3,013.0K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13.2K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26.4K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43.2K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64.8K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185.2K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851.1K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1,738.2K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2,897.8K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pic>
        <p:nvPicPr>
          <p:cNvPr id="7" name="Content Placeholder 6"/>
          <p:cNvPicPr>
            <a:picLocks noGrp="1"/>
          </p:cNvPicPr>
          <p:nvPr>
            <p:ph/>
          </p:nvPr>
        </p:nvPicPr>
        <p:blipFill>
          <a:blip r:embed="rId2" cstate="print"/>
          <a:stretch>
            <a:fillRect/>
          </a:stretch>
        </p:blipFill>
        <p:spPr>
          <a:xfrm>
            <a:off x="1179576" y="0"/>
            <a:ext cx="4572000" cy="6858000"/>
          </a:xfrm>
          <a:prstGeom prst="rect">
            <a:avLst/>
          </a:prstGeom>
        </p:spPr>
      </p:pic>
    </p:spTree>
    <p:extLst>
      <p:ext uri="{BB962C8B-B14F-4D97-AF65-F5344CB8AC3E}">
        <p14:creationId xmlns:p14="http://schemas.microsoft.com/office/powerpoint/2010/main" val="3157945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2">
            <a:extLst>
              <a:ext uri="{FF2B5EF4-FFF2-40B4-BE49-F238E27FC236}">
                <a16:creationId xmlns:a16="http://schemas.microsoft.com/office/drawing/2014/main" id="{E799F91A-3FD1-47AB-858A-263DC729BC42}"/>
              </a:ext>
            </a:extLst>
          </p:cNvPr>
          <p:cNvSpPr txBox="1"/>
          <p:nvPr/>
        </p:nvSpPr>
        <p:spPr>
          <a:xfrm>
            <a:off x="8932985" y="1054579"/>
            <a:ext cx="2868171" cy="4832092"/>
          </a:xfrm>
          <a:prstGeom prst="rect">
            <a:avLst/>
          </a:prstGeom>
          <a:noFill/>
        </p:spPr>
        <p:txBody>
          <a:bodyPr wrap="square" rtlCol="0">
            <a:spAutoFit/>
          </a:bodyPr>
          <a:lstStyle/>
          <a:p>
            <a:r>
              <a:rPr lang="en-US" sz="1400" dirty="0">
                <a:solidFill/>
                <a:latin typeface="Montserrat" panose="00000500000000000000" pitchFamily="2" charset="0"/>
              </a:rPr>
              <a:t>KBA currently estimates that Froedtert ThedaCare Health has 24% inpatient market share, and 17% outpatient market compared to hospitals/clinics in the Froedtert ThedaCare Health service area (see slide 8). </a:t>
            </a:r>
          </a:p>
          <a:p>
            <a:endParaRPr lang="en-US" sz="1400" dirty="0">
              <a:solidFill/>
              <a:latin typeface="Montserrat" panose="00000500000000000000" pitchFamily="2" charset="0"/>
            </a:endParaRPr>
          </a:p>
          <a:p>
            <a:r>
              <a:rPr lang="en-US" sz="1400" dirty="0">
                <a:solidFill/>
                <a:latin typeface="Montserrat" panose="00000500000000000000" pitchFamily="2" charset="0"/>
              </a:rPr>
              <a:t>Based on previous DTE experience, KBA expects a significant bump in patient steerage to Froedtert ThedaCare Health.</a:t>
            </a:r>
          </a:p>
          <a:p>
            <a:endParaRPr lang="en-US" sz="1400" dirty="0">
              <a:solidFill/>
              <a:latin typeface="Montserrat" panose="00000500000000000000" pitchFamily="2" charset="0"/>
            </a:endParaRPr>
          </a:p>
          <a:p>
            <a:r>
              <a:rPr lang="en-US" sz="1400" dirty="0">
                <a:solidFill/>
                <a:latin typeface="Montserrat" panose="00000500000000000000" pitchFamily="2" charset="0"/>
              </a:rPr>
              <a:t>Additional steerage will occur from additional steerage patient benefits and the patient convenience card.  </a:t>
            </a:r>
          </a:p>
          <a:p>
            <a:endParaRPr lang="en-US" sz="1400" dirty="0">
              <a:solidFill/>
              <a:latin typeface="Montserrat" panose="00000500000000000000" pitchFamily="2" charset="0"/>
            </a:endParaRPr>
          </a:p>
          <a:p>
            <a:r>
              <a:rPr lang="en-US" sz="1400" dirty="0">
                <a:solidFill/>
                <a:latin typeface="Montserrat" panose="00000500000000000000" pitchFamily="2" charset="0"/>
              </a:rPr>
              <a:t>High estimates start nearly 10% higher than target with low estimates at 10% lower than target</a:t>
            </a:r>
          </a:p>
        </p:txBody>
      </p:sp>
      <p:sp>
        <p:nvSpPr>
          <p:cNvPr id="3" name="Title 1">
            <a:extLst>
              <a:ext uri="{FF2B5EF4-FFF2-40B4-BE49-F238E27FC236}">
                <a16:creationId xmlns:a16="http://schemas.microsoft.com/office/drawing/2014/main" id="{B908E53A-80EF-253B-70F2-1B864197EF25}"/>
              </a:ext>
            </a:extLst>
          </p:cNvPr>
          <p:cNvSpPr>
            <a:spLocks noGrp="1"/>
          </p:cNvSpPr>
          <p:nvPr>
            <p:ph type="title"/>
          </p:nvPr>
        </p:nvSpPr>
        <p:spPr>
          <a:xfrm>
            <a:off x="266700" y="-184997"/>
            <a:ext cx="11087100" cy="1325563"/>
          </a:xfrm>
        </p:spPr>
        <p:txBody>
          <a:bodyPr>
            <a:normAutofit/>
          </a:bodyPr>
          <a:lstStyle/>
          <a:p>
            <a:r>
              <a:rPr lang="en-US" sz="3600" dirty="0">
                <a:solidFill>
                  <a:schemeClr val="tx1">
                    <a:lumMod val="85000"/>
                    <a:lumOff val="15000"/>
                  </a:schemeClr>
                </a:solidFill>
                <a:cs typeface="Arial" panose="020B0604020202020204" pitchFamily="34" charset="0"/>
              </a:rPr>
              <a:t>PROJECTED PLAN GROWTH</a:t>
            </a:r>
          </a:p>
        </p:txBody>
      </p:sp>
      <p:pic>
        <p:nvPicPr>
          <p:cNvPr id="4" name="Picture 5">
            <a:extLst>
              <a:ext uri="{FF2B5EF4-FFF2-40B4-BE49-F238E27FC236}">
                <a16:creationId xmlns:a16="http://schemas.microsoft.com/office/drawing/2014/main" id="{600A413C-9879-29A5-B50B-ADCD0DEFEC3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46D19D72-B714-CC67-EEAD-28291439C72F}"/>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5"/>
          <p:cNvGraphicFramePr>
            <a:graphicFrameLocks noGrp="1"/>
          </p:cNvGraphicFramePr>
          <p:nvPr>
            <p:extLst>
              <p:ext uri="{D42A27DB-BD31-4B8C-83A1-F6EECF244321}">
                <p14:modId xmlns:p14="http://schemas.microsoft.com/office/powerpoint/2010/main" val="4128354506"/>
              </p:ext>
            </p:extLst>
          </p:nvPr>
        </p:nvGraphicFramePr>
        <p:xfrm>
          <a:off x="390843" y="810228"/>
          <a:ext cx="7989225" cy="5520463"/>
        </p:xfrm>
        <a:graphic>
          <a:graphicData uri="http://schemas.openxmlformats.org/drawingml/2006/table">
            <a:tbl>
              <a:tblPr/>
              <a:tblGrid>
                <a:gridCol w="1597845">
                  <a:extLst>
                    <a:ext uri="{9D8B030D-6E8A-4147-A177-3AD203B41FA5}">
                      <a16:colId xmlns:a16="http://schemas.microsoft.com/office/drawing/2014/main" val="20000"/>
                    </a:ext>
                  </a:extLst>
                </a:gridCol>
                <a:gridCol w="1597845">
                  <a:extLst>
                    <a:ext uri="{9D8B030D-6E8A-4147-A177-3AD203B41FA5}">
                      <a16:colId xmlns:a16="http://schemas.microsoft.com/office/drawing/2014/main" val="20001"/>
                    </a:ext>
                  </a:extLst>
                </a:gridCol>
                <a:gridCol w="1597845">
                  <a:extLst>
                    <a:ext uri="{9D8B030D-6E8A-4147-A177-3AD203B41FA5}">
                      <a16:colId xmlns:a16="http://schemas.microsoft.com/office/drawing/2014/main" val="20002"/>
                    </a:ext>
                  </a:extLst>
                </a:gridCol>
                <a:gridCol w="1597845">
                  <a:extLst>
                    <a:ext uri="{9D8B030D-6E8A-4147-A177-3AD203B41FA5}">
                      <a16:colId xmlns:a16="http://schemas.microsoft.com/office/drawing/2014/main" val="20003"/>
                    </a:ext>
                  </a:extLst>
                </a:gridCol>
                <a:gridCol w="1597845">
                  <a:extLst>
                    <a:ext uri="{9D8B030D-6E8A-4147-A177-3AD203B41FA5}">
                      <a16:colId xmlns:a16="http://schemas.microsoft.com/office/drawing/2014/main" val="20004"/>
                    </a:ext>
                  </a:extLst>
                </a:gridCol>
              </a:tblGrid>
              <a:tr h="1127523">
                <a:tc>
                  <a:txBody>
                    <a:bodyPr/>
                    <a:lstStyle/>
                    <a:p>
                      <a:pPr marL="0" marR="0" algn="ctr">
                        <a:lnSpc>
                          <a:spcPct val="100000"/>
                        </a:lnSpc>
                        <a:spcBef>
                          <a:spcPts val="0"/>
                        </a:spcBef>
                        <a:spcAft>
                          <a:spcPts val="0"/>
                        </a:spcAft>
                        <a:buNone/>
                      </a:pPr>
                      <a:r>
                        <a:rPr sz="1100" b="1" i="0" u="none" cap="none" dirty="0">
                          <a:solidFill>
                            <a:srgbClr val="000000">
                              <a:alpha val="100000"/>
                            </a:srgbClr>
                          </a:solidFill>
                          <a:latin typeface="Montserrat"/>
                          <a:cs typeface="Arial"/>
                          <a:sym typeface="Arial"/>
                        </a:rPr>
                        <a:t>Year</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Employees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Members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Percent of Members Choosing Froedtert ThedaCare Health for Inpatient Care</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Percent of Members Choosing Froedtert ThedaCare Health for Outpatient Care</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21964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1,200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2,200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1"/>
                  </a:ext>
                </a:extLst>
              </a:tr>
              <a:tr h="21964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1964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1964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11,000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67%</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58%</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1964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8,600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15,500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1964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11,800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21,200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1964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15,600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28,100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r h="21964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20,100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36,200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8"/>
                  </a:ext>
                </a:extLst>
              </a:tr>
              <a:tr h="21964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25,100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45,200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9"/>
                  </a:ext>
                </a:extLst>
              </a:tr>
              <a:tr h="21964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30,500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54,900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0"/>
                  </a:ext>
                </a:extLst>
              </a:tr>
              <a:tr h="21964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11</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36,100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65,000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1"/>
                  </a:ext>
                </a:extLst>
              </a:tr>
              <a:tr h="21964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41,600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74,900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2"/>
                  </a:ext>
                </a:extLst>
              </a:tr>
              <a:tr h="21964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46,700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84,100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3"/>
                  </a:ext>
                </a:extLst>
              </a:tr>
              <a:tr h="21964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51,300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92,300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4"/>
                  </a:ext>
                </a:extLst>
              </a:tr>
              <a:tr h="21964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55,100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99,200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5"/>
                  </a:ext>
                </a:extLst>
              </a:tr>
              <a:tr h="21964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58,300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104,900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6"/>
                  </a:ext>
                </a:extLst>
              </a:tr>
              <a:tr h="21964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109,400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7"/>
                  </a:ext>
                </a:extLst>
              </a:tr>
              <a:tr h="21964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62,700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112,900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8"/>
                  </a:ext>
                </a:extLst>
              </a:tr>
              <a:tr h="21964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64,200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115,600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9"/>
                  </a:ext>
                </a:extLst>
              </a:tr>
              <a:tr h="21964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20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65,300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117,500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extLst>
      <p:ext uri="{BB962C8B-B14F-4D97-AF65-F5344CB8AC3E}">
        <p14:creationId xmlns:p14="http://schemas.microsoft.com/office/powerpoint/2010/main" val="20117248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5">
            <a:extLst>
              <a:ext uri="{FF2B5EF4-FFF2-40B4-BE49-F238E27FC236}">
                <a16:creationId xmlns:a16="http://schemas.microsoft.com/office/drawing/2014/main" id="{176BAF2A-5136-E457-9AAC-D0878752F10C}"/>
              </a:ext>
            </a:extLst>
          </p:cNvPr>
          <p:cNvGraphicFramePr>
            <a:graphicFrameLocks noGrp="1"/>
          </p:cNvGraphicFramePr>
          <p:nvPr>
            <p:extLst>
              <p:ext uri="{D42A27DB-BD31-4B8C-83A1-F6EECF244321}">
                <p14:modId xmlns:p14="http://schemas.microsoft.com/office/powerpoint/2010/main" val="287256461"/>
              </p:ext>
            </p:extLst>
          </p:nvPr>
        </p:nvGraphicFramePr>
        <p:xfrm>
          <a:off x="418056" y="764777"/>
          <a:ext cx="6972297" cy="119888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200" b="1" dirty="0">
                          <a:solidFill>
                            <a:schemeClr val="bg1"/>
                          </a:solidFill>
                          <a:latin typeface="Montserrat" panose="00000500000000000000" pitchFamily="2" charset="0"/>
                        </a:rPr>
                        <a:t>Pre-DTE Cohort of 10,900 Employees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32424019"/>
                  </a:ext>
                </a:extLst>
              </a:tr>
              <a:tr h="370840">
                <a:tc>
                  <a:txBody>
                    <a:bodyPr/>
                    <a:lstStyle/>
                    <a:p>
                      <a:r>
                        <a:rPr lang="en-US" sz="1400" dirty="0">
                          <a:latin typeface="Montserrat" panose="00000500000000000000" pitchFamily="2" charset="0"/>
                        </a:rPr>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$ 8,209,441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$ 10,821,112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$ 5,053,367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$ 24,083,920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$ 919,457.4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$ 1,211,965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$ 565,977.1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$ 2,697,399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3" name="Straight Connector 13">
            <a:extLst>
              <a:ext uri="{FF2B5EF4-FFF2-40B4-BE49-F238E27FC236}">
                <a16:creationId xmlns:a16="http://schemas.microsoft.com/office/drawing/2014/main" id="{8EA958C5-E105-8A94-794A-7A8EB2DFEBDC}"/>
              </a:ext>
            </a:extLst>
          </p:cNvPr>
          <p:cNvCxnSpPr/>
          <p:nvPr/>
        </p:nvCxnSpPr>
        <p:spPr>
          <a:xfrm>
            <a:off x="316454" y="3716618"/>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4" name="Table 14">
            <a:extLst>
              <a:ext uri="{FF2B5EF4-FFF2-40B4-BE49-F238E27FC236}">
                <a16:creationId xmlns:a16="http://schemas.microsoft.com/office/drawing/2014/main" id="{FF3ACACB-7F38-7EAA-4BDF-1A816CA00AAE}"/>
              </a:ext>
            </a:extLst>
          </p:cNvPr>
          <p:cNvGraphicFramePr>
            <a:graphicFrameLocks noGrp="1"/>
          </p:cNvGraphicFramePr>
          <p:nvPr>
            <p:extLst>
              <p:ext uri="{D42A27DB-BD31-4B8C-83A1-F6EECF244321}">
                <p14:modId xmlns:p14="http://schemas.microsoft.com/office/powerpoint/2010/main" val="484940483"/>
              </p:ext>
            </p:extLst>
          </p:nvPr>
        </p:nvGraphicFramePr>
        <p:xfrm>
          <a:off x="462503" y="4085951"/>
          <a:ext cx="7134051" cy="2225040"/>
        </p:xfrm>
        <a:graphic>
          <a:graphicData uri="http://schemas.openxmlformats.org/drawingml/2006/table">
            <a:tbl>
              <a:tblPr firstRow="1" bandRow="1">
                <a:tableStyleId>{5940675A-B579-460E-94D1-54222C63F5DA}</a:tableStyleId>
              </a:tblPr>
              <a:tblGrid>
                <a:gridCol w="5375589">
                  <a:extLst>
                    <a:ext uri="{9D8B030D-6E8A-4147-A177-3AD203B41FA5}">
                      <a16:colId xmlns:a16="http://schemas.microsoft.com/office/drawing/2014/main" val="1938271373"/>
                    </a:ext>
                  </a:extLst>
                </a:gridCol>
                <a:gridCol w="1758462">
                  <a:extLst>
                    <a:ext uri="{9D8B030D-6E8A-4147-A177-3AD203B41FA5}">
                      <a16:colId xmlns:a16="http://schemas.microsoft.com/office/drawing/2014/main" val="232002059"/>
                    </a:ext>
                  </a:extLst>
                </a:gridCol>
              </a:tblGrid>
              <a:tr h="370840">
                <a:tc>
                  <a:txBody>
                    <a:bodyPr/>
                    <a:lstStyle/>
                    <a:p>
                      <a:r>
                        <a:rPr lang="en-US" sz="1600" dirty="0">
                          <a:latin typeface="Montserrat" panose="00000500000000000000" pitchFamily="2" charset="0"/>
                        </a:rPr>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$ 5,951,085</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sz="1600" dirty="0">
                          <a:latin typeface="Montserrat" panose="00000500000000000000" pitchFamily="2" charset="0"/>
                        </a:rPr>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$ 130,800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sz="1600" dirty="0">
                          <a:latin typeface="Montserrat" panose="00000500000000000000" pitchFamily="2" charset="0"/>
                        </a:rPr>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$ 5,955,885</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sz="1600" dirty="0">
                          <a:solidFill/>
                          <a:latin typeface="Montserrat" panose="00000500000000000000" pitchFamily="2" charset="0"/>
                        </a:rPr>
                        <a:t>Minus Implementation Fee (One-Time)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sz="1600" dirty="0">
                          <a:latin typeface="Montserrat" panose="00000500000000000000" pitchFamily="2" charset="0"/>
                        </a:rPr>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sz="1600" b="1" dirty="0">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b="1" dirty="0">
                          <a:solidFill>
                            <a:schemeClr val="accent6">
                              <a:lumMod val="75000"/>
                            </a:schemeClr>
                          </a:solidFill>
                          <a:latin typeface="Montserrat" panose="00000500000000000000" pitchFamily="2" charset="0"/>
                        </a:rPr>
                        <a:t>$ 5,901,885</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5" name="Table 15">
            <a:extLst>
              <a:ext uri="{FF2B5EF4-FFF2-40B4-BE49-F238E27FC236}">
                <a16:creationId xmlns:a16="http://schemas.microsoft.com/office/drawing/2014/main" id="{32A51F3A-032C-30E2-F635-DD59B5A29A34}"/>
              </a:ext>
            </a:extLst>
          </p:cNvPr>
          <p:cNvGraphicFramePr>
            <a:graphicFrameLocks noGrp="1"/>
          </p:cNvGraphicFramePr>
          <p:nvPr>
            <p:extLst>
              <p:ext uri="{D42A27DB-BD31-4B8C-83A1-F6EECF244321}">
                <p14:modId xmlns:p14="http://schemas.microsoft.com/office/powerpoint/2010/main" val="1967198922"/>
              </p:ext>
            </p:extLst>
          </p:nvPr>
        </p:nvGraphicFramePr>
        <p:xfrm>
          <a:off x="418055" y="2234768"/>
          <a:ext cx="6972296" cy="88392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200" b="1" dirty="0">
                          <a:solidFill>
                            <a:schemeClr val="bg1"/>
                          </a:solidFill>
                          <a:latin typeface="Montserrat" panose="00000500000000000000" pitchFamily="2" charset="0"/>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val="2532424019"/>
                  </a:ext>
                </a:extLst>
              </a:tr>
              <a:tr h="299554">
                <a:tc>
                  <a:txBody>
                    <a:bodyPr/>
                    <a:lstStyle/>
                    <a:p>
                      <a:r>
                        <a:rPr lang="en-US" sz="1400" dirty="0">
                          <a:latin typeface="Montserrat" panose="00000500000000000000" pitchFamily="2" charset="0"/>
                        </a:rPr>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$ 23,396,414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$ 36,688,823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$ 17,133,369</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$ 77,218,606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$ 2,620,398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$ 4,109,148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$ 1,918,937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$ 8,648,484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6" name="TextBox 1">
            <a:extLst>
              <a:ext uri="{FF2B5EF4-FFF2-40B4-BE49-F238E27FC236}">
                <a16:creationId xmlns:a16="http://schemas.microsoft.com/office/drawing/2014/main" id="{60820A86-1B9D-21A4-BBB6-DDFB73605882}"/>
              </a:ext>
            </a:extLst>
          </p:cNvPr>
          <p:cNvSpPr txBox="1"/>
          <p:nvPr/>
        </p:nvSpPr>
        <p:spPr>
          <a:xfrm>
            <a:off x="7752549" y="953947"/>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Assuming proportional revenues from market shares of 24% (inpatient) and 17% (outpatient)</a:t>
            </a:r>
          </a:p>
        </p:txBody>
      </p:sp>
      <p:sp>
        <p:nvSpPr>
          <p:cNvPr id="7" name="TextBox 2">
            <a:extLst>
              <a:ext uri="{FF2B5EF4-FFF2-40B4-BE49-F238E27FC236}">
                <a16:creationId xmlns:a16="http://schemas.microsoft.com/office/drawing/2014/main" id="{6CDBA057-BBD2-8F54-E977-26B782E37F88}"/>
              </a:ext>
            </a:extLst>
          </p:cNvPr>
          <p:cNvSpPr txBox="1"/>
          <p:nvPr/>
        </p:nvSpPr>
        <p:spPr>
          <a:xfrm>
            <a:off x="7752549" y="1801103"/>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11.2% (80% of the estimated commercial margin)</a:t>
            </a:r>
          </a:p>
        </p:txBody>
      </p:sp>
      <p:sp>
        <p:nvSpPr>
          <p:cNvPr id="8" name="TextBox 6">
            <a:extLst>
              <a:ext uri="{FF2B5EF4-FFF2-40B4-BE49-F238E27FC236}">
                <a16:creationId xmlns:a16="http://schemas.microsoft.com/office/drawing/2014/main" id="{C690F22E-C9CA-61DC-5584-149573110610}"/>
              </a:ext>
            </a:extLst>
          </p:cNvPr>
          <p:cNvSpPr txBox="1"/>
          <p:nvPr/>
        </p:nvSpPr>
        <p:spPr>
          <a:xfrm>
            <a:off x="7752549" y="2535638"/>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⁰ Assuming 67% inpatient and 58%  market steerage based on KBA narrow network DTE experience (see previous slide)</a:t>
            </a:r>
          </a:p>
        </p:txBody>
      </p:sp>
      <p:sp>
        <p:nvSpPr>
          <p:cNvPr id="9" name="TextBox 7">
            <a:extLst>
              <a:ext uri="{FF2B5EF4-FFF2-40B4-BE49-F238E27FC236}">
                <a16:creationId xmlns:a16="http://schemas.microsoft.com/office/drawing/2014/main" id="{A897897D-C568-B204-6568-514AD4B71A5C}"/>
              </a:ext>
            </a:extLst>
          </p:cNvPr>
          <p:cNvSpPr txBox="1"/>
          <p:nvPr/>
        </p:nvSpPr>
        <p:spPr>
          <a:xfrm>
            <a:off x="7752548" y="3324229"/>
            <a:ext cx="4318001" cy="1600438"/>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11.2%, with a 10 percentage-point reduction to reflect competitive-edge rates and a 10 percentage-point increase due to lower billing costs and higher patient responsibility collections because of the member convenience card. </a:t>
            </a:r>
          </a:p>
        </p:txBody>
      </p:sp>
      <p:sp>
        <p:nvSpPr>
          <p:cNvPr id="10" name="TextBox 8">
            <a:extLst>
              <a:ext uri="{FF2B5EF4-FFF2-40B4-BE49-F238E27FC236}">
                <a16:creationId xmlns:a16="http://schemas.microsoft.com/office/drawing/2014/main" id="{1BBEE831-0583-9B2A-D9B8-C57C918E4C3C}"/>
              </a:ext>
            </a:extLst>
          </p:cNvPr>
          <p:cNvSpPr txBox="1"/>
          <p:nvPr/>
        </p:nvSpPr>
        <p:spPr>
          <a:xfrm>
            <a:off x="316454" y="34749"/>
            <a:ext cx="10286695" cy="584775"/>
          </a:xfrm>
          <a:prstGeom prst="rect">
            <a:avLst/>
          </a:prstGeom>
          <a:noFill/>
        </p:spPr>
        <p:txBody>
          <a:bodyPr wrap="square" rtlCol="0">
            <a:spAutoFit/>
          </a:bodyPr>
          <a:lstStyle/>
          <a:p>
            <a:r>
              <a:rPr lang="en-US" sz="3200" dirty="0">
                <a:latin typeface="Montserrat" panose="00000500000000000000" pitchFamily="2" charset="0"/>
                <a:cs typeface="Calibri" panose="020F0502020204030204" pitchFamily="34" charset="0"/>
              </a:rPr>
              <a:t>YEAR 4 PROJECTED REVENUE AND PROFIT</a:t>
            </a:r>
          </a:p>
        </p:txBody>
      </p:sp>
      <p:pic>
        <p:nvPicPr>
          <p:cNvPr id="11" name="Picture 9">
            <a:extLst>
              <a:ext uri="{FF2B5EF4-FFF2-40B4-BE49-F238E27FC236}">
                <a16:creationId xmlns:a16="http://schemas.microsoft.com/office/drawing/2014/main" id="{7D073370-D0BE-1A39-1DCE-8896BD0D4C9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2" name="Freeform 13">
            <a:extLst>
              <a:ext uri="{FF2B5EF4-FFF2-40B4-BE49-F238E27FC236}">
                <a16:creationId xmlns:a16="http://schemas.microsoft.com/office/drawing/2014/main" id="{47B20ECB-E742-CAF7-0C94-E491C5D3F04B}"/>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4198165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Montserrat" panose="00000500000000000000" pitchFamily="2" charset="0"/>
            </a:endParaRPr>
          </a:p>
        </p:txBody>
      </p:sp>
      <p:sp>
        <p:nvSpPr>
          <p:cNvPr id="4" name="Title 1">
            <a:extLst>
              <a:ext uri="{FF2B5EF4-FFF2-40B4-BE49-F238E27FC236}">
                <a16:creationId xmlns:a16="http://schemas.microsoft.com/office/drawing/2014/main" id="{FBB9A266-2718-4687-903B-B87AB1E45652}"/>
              </a:ext>
            </a:extLst>
          </p:cNvPr>
          <p:cNvSpPr>
            <a:spLocks noGrp="1"/>
          </p:cNvSpPr>
          <p:nvPr>
            <p:ph type="title"/>
          </p:nvPr>
        </p:nvSpPr>
        <p:spPr>
          <a:xfrm>
            <a:off x="532265" y="560444"/>
            <a:ext cx="10479445" cy="782540"/>
          </a:xfrm>
        </p:spPr>
        <p:txBody>
          <a:bodyPr>
            <a:normAutofit/>
          </a:bodyPr>
          <a:lstStyle/>
          <a:p>
            <a:r>
              <a:rPr lang="en-US" sz="3600" dirty="0">
                <a:solidFill>
                  <a:schemeClr val="bg1"/>
                </a:solidFill>
              </a:rPr>
              <a:t>A PARTNER YOU CAN TRUST</a:t>
            </a:r>
          </a:p>
        </p:txBody>
      </p:sp>
      <p:sp>
        <p:nvSpPr>
          <p:cNvPr id="5"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sz="1100" dirty="0">
                <a:solidFill>
                  <a:schemeClr val="bg1"/>
                </a:solidFill>
              </a:rPr>
              <a:t>Key Benefit Administrators</a:t>
            </a:r>
          </a:p>
        </p:txBody>
      </p:sp>
      <p:sp>
        <p:nvSpPr>
          <p:cNvPr id="6"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z="1100" smtClean="0">
                <a:solidFill>
                  <a:schemeClr val="bg1"/>
                </a:solidFill>
              </a:rPr>
              <a:t>11</a:t>
            </a:fld>
            <a:endParaRPr lang="en-US" sz="1100" dirty="0">
              <a:solidFill>
                <a:schemeClr val="bg1"/>
              </a:solidFill>
            </a:endParaRPr>
          </a:p>
        </p:txBody>
      </p:sp>
      <p:grpSp>
        <p:nvGrpSpPr>
          <p:cNvPr id="7" name="Group 26">
            <a:extLst>
              <a:ext uri="{FF2B5EF4-FFF2-40B4-BE49-F238E27FC236}">
                <a16:creationId xmlns:a16="http://schemas.microsoft.com/office/drawing/2014/main" id="{CE5A4C1D-715F-46F5-A80B-647078B97ADE}"/>
              </a:ext>
            </a:extLst>
          </p:cNvPr>
          <p:cNvGrpSpPr/>
          <p:nvPr/>
        </p:nvGrpSpPr>
        <p:grpSpPr>
          <a:xfrm>
            <a:off x="667280" y="3021140"/>
            <a:ext cx="10857442" cy="1569660"/>
            <a:chOff x="908754" y="2695500"/>
            <a:chExt cx="10558665" cy="1569660"/>
          </a:xfrm>
        </p:grpSpPr>
        <p:sp>
          <p:nvSpPr>
            <p:cNvPr id="8" name="Rectangle 21">
              <a:extLst>
                <a:ext uri="{FF2B5EF4-FFF2-40B4-BE49-F238E27FC236}">
                  <a16:creationId xmlns:a16="http://schemas.microsoft.com/office/drawing/2014/main" id="{E53A35DC-3649-45F8-BE1C-71234D1F47FC}"/>
                </a:ext>
              </a:extLst>
            </p:cNvPr>
            <p:cNvSpPr/>
            <p:nvPr/>
          </p:nvSpPr>
          <p:spPr>
            <a:xfrm>
              <a:off x="908754" y="2695500"/>
              <a:ext cx="2058812" cy="584775"/>
            </a:xfrm>
            <a:prstGeom prst="rect">
              <a:avLst/>
            </a:prstGeom>
          </p:spPr>
          <p:txBody>
            <a:bodyPr wrap="square">
              <a:spAutoFit/>
            </a:bodyPr>
            <a:lstStyle/>
            <a:p>
              <a:r>
                <a:rPr lang="en-US" sz="1600" b="1" dirty="0">
                  <a:solidFill>
                    <a:schemeClr val="bg1"/>
                  </a:solidFill>
                  <a:latin typeface="Montserrat" panose="00000500000000000000" pitchFamily="2" charset="0"/>
                </a:rPr>
                <a:t>OUR OBJECTIVES ARE ALIGNED</a:t>
              </a:r>
            </a:p>
          </p:txBody>
        </p:sp>
        <p:sp>
          <p:nvSpPr>
            <p:cNvPr id="9" name="Rectangle 23">
              <a:extLst>
                <a:ext uri="{FF2B5EF4-FFF2-40B4-BE49-F238E27FC236}">
                  <a16:creationId xmlns:a16="http://schemas.microsoft.com/office/drawing/2014/main" id="{9BB7B37B-58E4-4EF5-8BCD-B5AFD3FF7576}"/>
                </a:ext>
              </a:extLst>
            </p:cNvPr>
            <p:cNvSpPr/>
            <p:nvPr/>
          </p:nvSpPr>
          <p:spPr>
            <a:xfrm>
              <a:off x="3464860" y="2695500"/>
              <a:ext cx="2096575" cy="584775"/>
            </a:xfrm>
            <a:prstGeom prst="rect">
              <a:avLst/>
            </a:prstGeom>
          </p:spPr>
          <p:txBody>
            <a:bodyPr wrap="square">
              <a:spAutoFit/>
            </a:bodyPr>
            <a:lstStyle/>
            <a:p>
              <a:r>
                <a:rPr lang="en-US" sz="1600" b="1" dirty="0">
                  <a:solidFill>
                    <a:schemeClr val="bg1"/>
                  </a:solidFill>
                  <a:latin typeface="Montserrat" panose="00000500000000000000" pitchFamily="2" charset="0"/>
                </a:rPr>
                <a:t>WE KNOW THE </a:t>
              </a:r>
            </a:p>
            <a:p>
              <a:r>
                <a:rPr lang="en-US" sz="1600" b="1" dirty="0">
                  <a:solidFill>
                    <a:schemeClr val="bg1"/>
                  </a:solidFill>
                  <a:latin typeface="Montserrat" panose="00000500000000000000" pitchFamily="2" charset="0"/>
                </a:rPr>
                <a:t>MARKET</a:t>
              </a:r>
            </a:p>
          </p:txBody>
        </p:sp>
        <p:sp>
          <p:nvSpPr>
            <p:cNvPr id="10" name="Rectangle 24">
              <a:extLst>
                <a:ext uri="{FF2B5EF4-FFF2-40B4-BE49-F238E27FC236}">
                  <a16:creationId xmlns:a16="http://schemas.microsoft.com/office/drawing/2014/main" id="{712D71E1-CFC6-401F-B564-C6DB174E5C25}"/>
                </a:ext>
              </a:extLst>
            </p:cNvPr>
            <p:cNvSpPr/>
            <p:nvPr/>
          </p:nvSpPr>
          <p:spPr>
            <a:xfrm>
              <a:off x="6105045" y="2695500"/>
              <a:ext cx="1861517" cy="584775"/>
            </a:xfrm>
            <a:prstGeom prst="rect">
              <a:avLst/>
            </a:prstGeom>
          </p:spPr>
          <p:txBody>
            <a:bodyPr wrap="square">
              <a:spAutoFit/>
            </a:bodyPr>
            <a:lstStyle/>
            <a:p>
              <a:r>
                <a:rPr lang="en-US" sz="1600" b="1" dirty="0">
                  <a:solidFill>
                    <a:schemeClr val="bg1"/>
                  </a:solidFill>
                  <a:latin typeface="Montserrat" panose="00000500000000000000" pitchFamily="2" charset="0"/>
                </a:rPr>
                <a:t>COMPLETELY TRANSPARENT</a:t>
              </a:r>
            </a:p>
          </p:txBody>
        </p:sp>
        <p:sp>
          <p:nvSpPr>
            <p:cNvPr id="11" name="Rectangle 25">
              <a:extLst>
                <a:ext uri="{FF2B5EF4-FFF2-40B4-BE49-F238E27FC236}">
                  <a16:creationId xmlns:a16="http://schemas.microsoft.com/office/drawing/2014/main" id="{3219F81E-41A2-4D21-B41F-E66CCE1EAA9D}"/>
                </a:ext>
              </a:extLst>
            </p:cNvPr>
            <p:cNvSpPr/>
            <p:nvPr/>
          </p:nvSpPr>
          <p:spPr>
            <a:xfrm>
              <a:off x="9062157" y="2695500"/>
              <a:ext cx="2405262" cy="1569660"/>
            </a:xfrm>
            <a:prstGeom prst="rect">
              <a:avLst/>
            </a:prstGeom>
          </p:spPr>
          <p:txBody>
            <a:bodyPr wrap="square">
              <a:spAutoFit/>
            </a:bodyPr>
            <a:lstStyle/>
            <a:p>
              <a:r>
                <a:rPr lang="en-US" sz="1600" b="1" dirty="0">
                  <a:solidFill>
                    <a:schemeClr val="bg1"/>
                  </a:solidFill>
                  <a:latin typeface="Montserrat" panose="00000500000000000000" pitchFamily="2" charset="0"/>
                </a:rPr>
                <a:t>WE HAVE THE SOPHISTICATION AND INFRASTRUCTURE TO EFFECTIVELY COMPETE</a:t>
              </a:r>
            </a:p>
          </p:txBody>
        </p:sp>
      </p:grpSp>
      <p:cxnSp>
        <p:nvCxnSpPr>
          <p:cNvPr id="12"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1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119" y="1877065"/>
              <a:ext cx="723514" cy="723514"/>
            </a:xfrm>
            <a:prstGeom prst="rect">
              <a:avLst/>
            </a:prstGeom>
          </p:spPr>
        </p:pic>
        <p:pic>
          <p:nvPicPr>
            <p:cNvPr id="17"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2481" y="1952990"/>
              <a:ext cx="571664" cy="571664"/>
            </a:xfrm>
            <a:prstGeom prst="rect">
              <a:avLst/>
            </a:prstGeom>
          </p:spPr>
        </p:pic>
        <p:pic>
          <p:nvPicPr>
            <p:cNvPr id="18" name="Graphic 41" descr="Research">
              <a:extLst>
                <a:ext uri="{FF2B5EF4-FFF2-40B4-BE49-F238E27FC236}">
                  <a16:creationId xmlns:a16="http://schemas.microsoft.com/office/drawing/2014/main" id="{EB5D0031-3DC4-4608-96CB-BE0770B191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7105" y="1930239"/>
              <a:ext cx="617166" cy="617166"/>
            </a:xfrm>
            <a:prstGeom prst="rect">
              <a:avLst/>
            </a:prstGeom>
          </p:spPr>
        </p:pic>
        <p:pic>
          <p:nvPicPr>
            <p:cNvPr id="19" name="Graphic 47" descr="Bullseye">
              <a:extLst>
                <a:ext uri="{FF2B5EF4-FFF2-40B4-BE49-F238E27FC236}">
                  <a16:creationId xmlns:a16="http://schemas.microsoft.com/office/drawing/2014/main" id="{F0079980-31B3-4896-9D2D-D82AEDFA3E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5554" y="1920753"/>
              <a:ext cx="636140" cy="636140"/>
            </a:xfrm>
            <a:prstGeom prst="rect">
              <a:avLst/>
            </a:prstGeom>
          </p:spPr>
        </p:pic>
      </p:grpSp>
      <p:pic>
        <p:nvPicPr>
          <p:cNvPr id="20"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584775"/>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sz="1600" dirty="0">
                <a:solidFill>
                  <a:schemeClr val="bg1"/>
                </a:solidFill>
                <a:latin typeface="Montserrat" panose="00000500000000000000" pitchFamily="2" charset="0"/>
                <a:cs typeface="Arial" panose="020B0604020202020204" pitchFamily="34" charset="0"/>
              </a:rPr>
              <a:t>Derek Moore, Senior Vice President – KBA</a:t>
            </a:r>
          </a:p>
          <a:p>
            <a:pPr algn="ctr"/>
            <a:r>
              <a:rPr lang="en-US" sz="1600" dirty="0">
                <a:solidFill>
                  <a:schemeClr val="bg1"/>
                </a:solidFill>
                <a:latin typeface="Montserrat" panose="00000500000000000000" pitchFamily="2" charset="0"/>
                <a:cs typeface="Arial" panose="020B0604020202020204" pitchFamily="34" charset="0"/>
              </a:rPr>
              <a:t>845-283-9973 * derek.moore@keybenefit.com</a:t>
            </a: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Custom 3">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customXml/itemProps2.xml><?xml version="1.0" encoding="utf-8"?>
<ds:datastoreItem xmlns:ds="http://schemas.openxmlformats.org/officeDocument/2006/customXml" ds:itemID="{56F5604B-F201-4300-A086-2482203EA6BC}">
  <ds:schemaRefs>
    <ds:schemaRef ds:uri="http://schemas.microsoft.com/sharepoint/v3/contenttype/forms"/>
  </ds:schemaRefs>
</ds:datastoreItem>
</file>

<file path=customXml/itemProps3.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46239</TotalTime>
  <Words>1111</Words>
  <Application>Microsoft Office PowerPoint</Application>
  <PresentationFormat>Widescreen</PresentationFormat>
  <Paragraphs>392</Paragraphs>
  <Slides>11</Slides>
  <Notes>2</Notes>
  <HiddenSlides>0</HiddenSlides>
  <MMClips>0</MMClips>
  <ScaleCrop>false</ScaleCrop>
  <HeadingPairs>
    <vt:vector size="6" baseType="variant">
      <vt:variant>
        <vt:lpstr>Fonts Used</vt:lpstr>
      </vt:variant>
      <vt:variant>
        <vt:i4>3</vt:i4>
      </vt:variant>
      <vt:variant>
        <vt:lpstr>Theme</vt:lpstr>
      </vt:variant>
      <vt:variant>
        <vt:i4>4</vt:i4>
      </vt:variant>
      <vt:variant>
        <vt:lpstr>Slide Titles</vt:lpstr>
      </vt:variant>
      <vt:variant>
        <vt:i4>11</vt:i4>
      </vt:variant>
    </vt:vector>
  </HeadingPairs>
  <TitlesOfParts>
    <vt:vector size="18" baseType="lpstr">
      <vt:lpstr>Aptos Narrow</vt:lpstr>
      <vt:lpstr>Arial</vt:lpstr>
      <vt:lpstr>Montserrat</vt:lpstr>
      <vt:lpstr>Office Theme</vt:lpstr>
      <vt:lpstr>1_Office Theme</vt:lpstr>
      <vt:lpstr>2_Office Theme</vt:lpstr>
      <vt:lpstr>3_Office Theme</vt:lpstr>
      <vt:lpstr>PowerPoint Presentation</vt:lpstr>
      <vt:lpstr>PowerPoint Presentation</vt:lpstr>
      <vt:lpstr>PowerPoint Presentation</vt:lpstr>
      <vt:lpstr>DIRECT-TO-EMPLOYER (DTE)  </vt:lpstr>
      <vt:lpstr>SIGNIFICANT OPPORTUNITY FOR PLAN GROWTH Researched for the below highlighted service area</vt:lpstr>
      <vt:lpstr>PLAN POTENTIAL GROWTH PATHS</vt:lpstr>
      <vt:lpstr>GROWING POWERFUL, LASTING PROFITABILITY</vt:lpstr>
      <vt:lpstr>FOUR-YEAR PROJECTIONS</vt:lpstr>
      <vt:lpstr>PROJECTED PLAN GROWTH</vt:lpstr>
      <vt:lpstr>PowerPoint Presentation</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112</cp:revision>
  <cp:lastPrinted>2023-07-13T10:24:43Z</cp:lastPrinted>
  <dcterms:created xsi:type="dcterms:W3CDTF">2021-01-20T14:12:11Z</dcterms:created>
  <dcterms:modified xsi:type="dcterms:W3CDTF">2025-11-15T07:11:34Z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