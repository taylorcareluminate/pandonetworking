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4"/>
  </p:notesMasterIdLst>
  <p:sldIdLst>
    <p:sldId id="588" r:id="rId10"/>
    <p:sldId id="454" r:id="rId11"/>
    <p:sldId id="2145726874" r:id="rId12"/>
    <p:sldId id="549" r:id="rId13"/>
    <p:sldId id="2145726869" r:id="rId14"/>
    <p:sldId id="466" r:id="rId15"/>
    <p:sldId id="2145726867" r:id="rId16"/>
    <p:sldId id="559" r:id="rId17"/>
    <p:sldId id="580" r:id="rId18"/>
    <p:sldId id="582" r:id="rId19"/>
    <p:sldId id="558" r:id="rId20"/>
    <p:sldId id="548" r:id="rId21"/>
    <p:sldId id="521" r:id="rId22"/>
    <p:sldId id="564" r:id="rId23"/>
    <p:sldId id="2145726872" r:id="rId24"/>
    <p:sldId id="2145726911" r:id="rId25"/>
    <p:sldId id="499" r:id="rId26"/>
    <p:sldId id="613" r:id="rId27"/>
    <p:sldId id="458" r:id="rId28"/>
    <p:sldId id="2145726859" r:id="rId29"/>
    <p:sldId id="2145726857" r:id="rId30"/>
    <p:sldId id="469" r:id="rId31"/>
    <p:sldId id="2145726856" r:id="rId32"/>
    <p:sldId id="614" r:id="rId33"/>
    <p:sldId id="459" r:id="rId34"/>
    <p:sldId id="2145726870" r:id="rId35"/>
    <p:sldId id="281" r:id="rId36"/>
    <p:sldId id="2145726866" r:id="rId37"/>
    <p:sldId id="583" r:id="rId38"/>
    <p:sldId id="525" r:id="rId39"/>
    <p:sldId id="2145726868" r:id="rId40"/>
    <p:sldId id="571" r:id="rId41"/>
    <p:sldId id="2145726864" r:id="rId42"/>
    <p:sldId id="585" r:id="rId43"/>
    <p:sldId id="536" r:id="rId44"/>
    <p:sldId id="256" r:id="rId45"/>
    <p:sldId id="574" r:id="rId46"/>
    <p:sldId id="572" r:id="rId47"/>
    <p:sldId id="575" r:id="rId48"/>
    <p:sldId id="498" r:id="rId49"/>
    <p:sldId id="325" r:id="rId50"/>
    <p:sldId id="326" r:id="rId51"/>
    <p:sldId id="491" r:id="rId52"/>
    <p:sldId id="472" r:id="rId53"/>
  </p:sldIdLst>
  <p:sldSz cx="12192000" cy="6858000"/>
  <p:notesSz cx="7315200" cy="96012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3F1A0B-10D1-4F15-B038-A0FD830CD87B}" v="7" dt="2025-11-15T07:07:59.765"/>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66" d="100"/>
          <a:sy n="66" d="100"/>
        </p:scale>
        <p:origin x="1133" y="461"/>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ags" Target="tags/tag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commentAuthors" Target="commentAuthor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11/14/2025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15</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25</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26</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11/14/2025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11/14/2025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11/14/2025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11/14/2025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11/14/2025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11/14/2025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11/14/2025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11/14/2025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11/14/2025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11/14/2025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11/14/2025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11/14/2025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11/14/2025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11/14/2025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11/14/2025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11/14/2025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11/14/2025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3.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4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8.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60.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5.png"/><Relationship Id="rId1" Type="http://schemas.openxmlformats.org/officeDocument/2006/relationships/slideLayout" Target="../slideLayouts/slideLayout19.xml"/><Relationship Id="rId4" Type="http://schemas.openxmlformats.org/officeDocument/2006/relationships/image" Target="../media/image62.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Froedtert ThedaCare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Meridian, MS</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2"/>
          <p:cNvPicPr>
            <a:picLocks/>
          </p:cNvPicPr>
          <p:nvPr/>
        </p:nvPicPr>
        <p:blipFill>
          <a:blip r:embed="rId3" cstate="print"/>
          <a:stretch>
            <a:fillRect/>
          </a:stretch>
        </p:blipFill>
        <p:spPr>
          <a:xfrm>
            <a:off x="8503920" y="340347"/>
            <a:ext cx="3256227"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Froedtert ThedaCare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4,400+ Employers       900,000</a:t>
            </a:r>
            <a:r>
              <a:rPr lang="en-US" sz="1600" spc="200" dirty="0">
                <a:latin typeface="Montserrat" panose="00000500000000000000" pitchFamily="2" charset="0"/>
                <a:cs typeface="+mj-cs"/>
                <a:sym typeface="Wingdings" panose="05000000000000000000" pitchFamily="2" charset="2"/>
              </a:rPr>
              <a:t>+ Employees       1,700,000+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481522752"/>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2,307</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1,026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619</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367</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127</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78</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173,000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153,900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185,700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256,900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254,000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468,000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311,400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277,000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334,300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462,400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457,200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842,400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1609344" y="1828800"/>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Froedtert ThedaCare Health service area in Lake, McHenry, Brown, Calumet, Columbia, Dodge, Fond du Lac, Green Lake, Jefferson, Kenosha, Kewaunee, Manitowoc, Marquette, Menominee, Milwaukee, Oconto, Outagamie, Ozaukee, Portage, Racine, Shawano, Sheboygan, Walworth, Washington, Waukesha, Waupaca, Waushara, and Winnebago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3,500K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2,056K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1,546K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895K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$27.7M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$3.03M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$166.41M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$19.2M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$342.88M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$39.66M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Froedtert ThedaCare Health has 24% inpatient market share, and 17% outpatient market compared to hospitals/clinics in the Froedtert ThedaCare Health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Froedtert ThedaCare Health 14%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6.2%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11.2%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16.2%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3,802.0K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6,081.9K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700.5K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1,882.2K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3,709.6K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6,032.7K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3,014.1K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5,677.0K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9,150.7K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1,215.7K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2,913.3K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5,627.8K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9,167.5K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1,004.7K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1,875.0K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3,013.0K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851.1K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1,738.2K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2,897.8K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753002"/>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FROEDTERT THEDACARE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ontserrat" panose="00000500000000000000" pitchFamily="2" charset="0"/>
              </a:rPr>
              <a:t>Based on quality measures and HCAHPS feedback, KBA estimates that Froedtert ThedaCare Health has the strongest brand quality in Lake, McHenry, Brown, Calumet, Columbia, Dodge, Fond du Lac, Green Lake, Jefferson, Kenosha, Kewaunee, Manitowoc, Marquette, Menominee, Milwaukee, Oconto, Outagamie, Ozaukee, Portage, Racine, Shawano, Sheboygan, Walworth, Washington, Waukesha, Waupaca, Waushara, and Winnebago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175390857"/>
              </p:ext>
            </p:extLst>
          </p:nvPr>
        </p:nvGraphicFramePr>
        <p:xfrm>
          <a:off x="385915" y="1321640"/>
          <a:ext cx="8474621" cy="4377150"/>
        </p:xfrm>
        <a:graphic>
          <a:graphicData uri="http://schemas.openxmlformats.org/drawingml/2006/table">
            <a:tbl>
              <a:tblPr/>
              <a:tblGrid>
                <a:gridCol w="2412093">
                  <a:extLst>
                    <a:ext uri="{9D8B030D-6E8A-4147-A177-3AD203B41FA5}">
                      <a16:colId xmlns:a16="http://schemas.microsoft.com/office/drawing/2014/main" val="20000"/>
                    </a:ext>
                  </a:extLst>
                </a:gridCol>
                <a:gridCol w="1547739">
                  <a:extLst>
                    <a:ext uri="{9D8B030D-6E8A-4147-A177-3AD203B41FA5}">
                      <a16:colId xmlns:a16="http://schemas.microsoft.com/office/drawing/2014/main" val="20001"/>
                    </a:ext>
                  </a:extLst>
                </a:gridCol>
                <a:gridCol w="1036393">
                  <a:extLst>
                    <a:ext uri="{9D8B030D-6E8A-4147-A177-3AD203B41FA5}">
                      <a16:colId xmlns:a16="http://schemas.microsoft.com/office/drawing/2014/main" val="20002"/>
                    </a:ext>
                  </a:extLst>
                </a:gridCol>
                <a:gridCol w="1003016">
                  <a:extLst>
                    <a:ext uri="{9D8B030D-6E8A-4147-A177-3AD203B41FA5}">
                      <a16:colId xmlns:a16="http://schemas.microsoft.com/office/drawing/2014/main" val="20003"/>
                    </a:ext>
                  </a:extLst>
                </a:gridCol>
                <a:gridCol w="1220891">
                  <a:extLst>
                    <a:ext uri="{9D8B030D-6E8A-4147-A177-3AD203B41FA5}">
                      <a16:colId xmlns:a16="http://schemas.microsoft.com/office/drawing/2014/main" val="20004"/>
                    </a:ext>
                  </a:extLst>
                </a:gridCol>
                <a:gridCol w="1254489">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HCAHPS</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Recommendation</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Emplify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B7BB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785B5">
                        <a:alpha val="100000"/>
                      </a:srgbClr>
                    </a:solidFill>
                  </a:tcPr>
                </a:tc>
                <a:extLst>
                  <a:ext uri="{0D108BD9-81ED-4DB2-BD59-A6C34878D82A}">
                    <a16:rowId xmlns:a16="http://schemas.microsoft.com/office/drawing/2014/main" val="10001"/>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Northwestern Medicine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2"/>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3"/>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Froedtert ThedaCare Health Inc</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4"/>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ProHealth 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5"/>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Advocate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065A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6"/>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Hospital Sisters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7"/>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SSM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8B8D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8"/>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Ascension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extLst>
                  <a:ext uri="{0D108BD9-81ED-4DB2-BD59-A6C34878D82A}">
                    <a16:rowId xmlns:a16="http://schemas.microsoft.com/office/drawing/2014/main" val="10009"/>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American Healthcare Systems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3B5D3">
                        <a:alpha val="10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15</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Froedtert ThedaCare Health’s approved site(s) with network integration, and development of Froedtert ThedaCare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11.2%.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$ 1,105K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$ 2,210K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$ 3,968K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$ 5,524K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$ 15,444K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$ 9,920K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$ 1,730K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811K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$22,095K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$2,475K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$ 61,774K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$39,679K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$ 6,919K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$4,444K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$4,234K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$44,191K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$4,949K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$123,548K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$79,358K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$13,837K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$8,888K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$8,798K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lnSpcReduction="10000"/>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Froedtert ThedaCare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Froedtert ThedaCare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Froedtert ThedaCare Health’s managed care with KBA’s programs positions Froedtert ThedaCare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Froedtert ThedaCare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Froedtert ThedaCare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Froedtert ThedaCare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25</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26</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0" y="5309492"/>
            <a:ext cx="76073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400" dirty="0">
                <a:solidFill>
                  <a:srgbClr val="000000"/>
                </a:solidFill>
              </a:rPr>
              <a:t>Froedtert ThedaCare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a:t>
            </a:r>
            <a:r>
              <a:rPr lang="en-US" b="1" dirty="0">
                <a:solidFill>
                  <a:srgbClr val="00539F"/>
                </a:solidFill>
                <a:latin typeface="Montserrat" panose="00000500000000000000" pitchFamily="2" charset="0"/>
              </a:rPr>
              <a:t>FROEDTERT THEDACARE</a:t>
            </a:r>
            <a:endPar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endParaRP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fontScale="90000"/>
          </a:bodyPr>
          <a:lstStyle/>
          <a:p>
            <a:r>
              <a:rPr lang="en-US" sz="2800" dirty="0">
                <a:solidFill/>
                <a:latin typeface="Montserrat" panose="00000500000000000000" pitchFamily="2" charset="0"/>
                <a:cs typeface="Arial" panose="020B0604020202020204" pitchFamily="34" charset="0"/>
              </a:rPr>
              <a:t>ESTIMATION OF FROEDTERT THEDACARE HEALTH’S 2023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Froedtert ThedaCare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386,125</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$5,564,086K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91,422</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$527,556K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24%</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27,943</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$293,061K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7%</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27,996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-$241,495K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238,764</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$1,369,105K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63%</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Froedtert ThedaCare Health estimates commercial insurance reimbursements at 432%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1,369,105K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432%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3,548,803K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4,917,908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4,226,418</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$691,491K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14%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432%</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316,589K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820,617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1,137,206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4,226,418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-3,089,212</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-272%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24%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17%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966310669"/>
              </p:ext>
            </p:extLst>
          </p:nvPr>
        </p:nvGraphicFramePr>
        <p:xfrm>
          <a:off x="215573" y="1422123"/>
          <a:ext cx="9829800" cy="43332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Froedtert Pleasant Prairie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151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368,006.4K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940,813.5K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ThedaCare Regional Medical Center - Neenah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384,108.3K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436,954.4K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Froedtert West Bend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179,111.5K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360,235.2K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Froedtert Menomonee Falls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396,059.3K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591,342.0K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Holy Family Memorial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69,245.6K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$2,498,983.2K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ThedaCare Regional Medical Center - Appleton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131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379,644.3K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933,428.6K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Froedtert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729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$3,678,686.5K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$4,469,960.7K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Froedtert Community Hospital - New Berlin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6,526.2K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141,118.5K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ThedaCare Medical Center - Wild Rose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4,842.6K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27,703.4K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ThedaCare Medical Center - New London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12,999.2K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84,600.7K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ThedaCare Medical Center - Waupaca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20,168.5K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127,950.7K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ThedaCare Medical Center - Shawano</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33,326.7K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242,479.0K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ThedaCare Medical Center - Berlin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29,108.1K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135,091.6K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840561227"/>
              </p:ext>
            </p:extLst>
          </p:nvPr>
        </p:nvGraphicFramePr>
        <p:xfrm>
          <a:off x="0" y="0"/>
          <a:ext cx="12192000" cy="6858002"/>
        </p:xfrm>
        <a:graphic>
          <a:graphicData uri="http://schemas.openxmlformats.org/drawingml/2006/table">
            <a:tbl>
              <a:tblPr/>
              <a:tblGrid>
                <a:gridCol w="1027019">
                  <a:extLst>
                    <a:ext uri="{9D8B030D-6E8A-4147-A177-3AD203B41FA5}">
                      <a16:colId xmlns:a16="http://schemas.microsoft.com/office/drawing/2014/main" val="20000"/>
                    </a:ext>
                  </a:extLst>
                </a:gridCol>
                <a:gridCol w="807815">
                  <a:extLst>
                    <a:ext uri="{9D8B030D-6E8A-4147-A177-3AD203B41FA5}">
                      <a16:colId xmlns:a16="http://schemas.microsoft.com/office/drawing/2014/main" val="20001"/>
                    </a:ext>
                  </a:extLst>
                </a:gridCol>
                <a:gridCol w="1038355">
                  <a:extLst>
                    <a:ext uri="{9D8B030D-6E8A-4147-A177-3AD203B41FA5}">
                      <a16:colId xmlns:a16="http://schemas.microsoft.com/office/drawing/2014/main" val="20002"/>
                    </a:ext>
                  </a:extLst>
                </a:gridCol>
                <a:gridCol w="703525">
                  <a:extLst>
                    <a:ext uri="{9D8B030D-6E8A-4147-A177-3AD203B41FA5}">
                      <a16:colId xmlns:a16="http://schemas.microsoft.com/office/drawing/2014/main" val="20003"/>
                    </a:ext>
                  </a:extLst>
                </a:gridCol>
                <a:gridCol w="847357">
                  <a:extLst>
                    <a:ext uri="{9D8B030D-6E8A-4147-A177-3AD203B41FA5}">
                      <a16:colId xmlns:a16="http://schemas.microsoft.com/office/drawing/2014/main" val="20004"/>
                    </a:ext>
                  </a:extLst>
                </a:gridCol>
                <a:gridCol w="864829">
                  <a:extLst>
                    <a:ext uri="{9D8B030D-6E8A-4147-A177-3AD203B41FA5}">
                      <a16:colId xmlns:a16="http://schemas.microsoft.com/office/drawing/2014/main" val="20005"/>
                    </a:ext>
                  </a:extLst>
                </a:gridCol>
                <a:gridCol w="1070490">
                  <a:extLst>
                    <a:ext uri="{9D8B030D-6E8A-4147-A177-3AD203B41FA5}">
                      <a16:colId xmlns:a16="http://schemas.microsoft.com/office/drawing/2014/main" val="20006"/>
                    </a:ext>
                  </a:extLst>
                </a:gridCol>
                <a:gridCol w="460588">
                  <a:extLst>
                    <a:ext uri="{9D8B030D-6E8A-4147-A177-3AD203B41FA5}">
                      <a16:colId xmlns:a16="http://schemas.microsoft.com/office/drawing/2014/main" val="20007"/>
                    </a:ext>
                  </a:extLst>
                </a:gridCol>
                <a:gridCol w="988618">
                  <a:extLst>
                    <a:ext uri="{9D8B030D-6E8A-4147-A177-3AD203B41FA5}">
                      <a16:colId xmlns:a16="http://schemas.microsoft.com/office/drawing/2014/main" val="20008"/>
                    </a:ext>
                  </a:extLst>
                </a:gridCol>
                <a:gridCol w="892040">
                  <a:extLst>
                    <a:ext uri="{9D8B030D-6E8A-4147-A177-3AD203B41FA5}">
                      <a16:colId xmlns:a16="http://schemas.microsoft.com/office/drawing/2014/main" val="20009"/>
                    </a:ext>
                  </a:extLst>
                </a:gridCol>
                <a:gridCol w="944044">
                  <a:extLst>
                    <a:ext uri="{9D8B030D-6E8A-4147-A177-3AD203B41FA5}">
                      <a16:colId xmlns:a16="http://schemas.microsoft.com/office/drawing/2014/main" val="20010"/>
                    </a:ext>
                  </a:extLst>
                </a:gridCol>
                <a:gridCol w="872258">
                  <a:extLst>
                    <a:ext uri="{9D8B030D-6E8A-4147-A177-3AD203B41FA5}">
                      <a16:colId xmlns:a16="http://schemas.microsoft.com/office/drawing/2014/main" val="20011"/>
                    </a:ext>
                  </a:extLst>
                </a:gridCol>
                <a:gridCol w="872236">
                  <a:extLst>
                    <a:ext uri="{9D8B030D-6E8A-4147-A177-3AD203B41FA5}">
                      <a16:colId xmlns:a16="http://schemas.microsoft.com/office/drawing/2014/main" val="20012"/>
                    </a:ext>
                  </a:extLst>
                </a:gridCol>
                <a:gridCol w="802826">
                  <a:extLst>
                    <a:ext uri="{9D8B030D-6E8A-4147-A177-3AD203B41FA5}">
                      <a16:colId xmlns:a16="http://schemas.microsoft.com/office/drawing/2014/main" val="20013"/>
                    </a:ext>
                  </a:extLst>
                </a:gridCol>
              </a:tblGrid>
              <a:tr h="365600">
                <a:tc gridSpan="14">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86427">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Froedtert Pleasant Prairie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ThedaCare Regional Medical Center - Neenah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Froedtert West Bend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Froedtert Menomonee Falls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Holy Family Memorial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ThedaCare Regional Medical Center - Appleton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Froedtert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Froedtert Community Hospital - New Berlin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ThedaCare Medical Center - Wild Rose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ThedaCare Medical Center - New London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ThedaCare Medical Center - Waupaca</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ThedaCare Medical Center - Shawano</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ThedaCare Medical Center - Berlin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80088">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$111,874K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$138,663K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$46,211K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$106,540K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$62,875K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$137,431K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$610,662K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$1,723K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$1,990K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$5,031K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$7,684K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$12,131K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$10,304K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80088">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$286,007K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$157,741K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$92,941K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$159,071K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$2,269,077K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$337,901K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$742,013K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$37,255K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$11,386K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$32,740K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$48,749K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$88,262K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$47,822K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80088">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$38,814K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$21,324K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$18,056K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$40,041K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$11,902K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$47,301K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$332,742K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$2,909K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$2,097K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$4,220K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$3,751K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$3,353K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618351">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$30,056K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$25,771K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$3,051K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$6,456K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$1,292K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$20,175K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$173,821K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$1,565K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$1,879K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$3,907K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$5,633K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$13,657K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$5,798K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99220">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$329,095K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$248,994K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$118,067K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$219,142K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$-1,056,194K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$408,240K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$846,713K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$34,458K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$10,469K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$31,724K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$46,525K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$82,846K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$49,026K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99220">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$20,109K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$12,104K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$10,870K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$20,392K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$12,789K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$16,259K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$135,442K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$4,637K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$1,237K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$1,311K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$1,708K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$2,335K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$2,301K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80088">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$109,409K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$120,665K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$51,306K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$112,803K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$1,686K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$117,693K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$1,083,644K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$1,315K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$2,004K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$4,474K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$7,150K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$10,818K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$9,721K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80088">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$279,706K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$137,267K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$103,188K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$168,423K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$60,852K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$289,370K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$1,316,732K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$28,427K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$11,466K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$29,115K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$45,363K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$78,708K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$45,115K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80088">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$389,115K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$257,932K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$154,493K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$281,226K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$62,538K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$407,062K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$2,400,376K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$29,742K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$13,470K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$33,589K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$52,513K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$89,526K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$54,835K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499220">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$8,850K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$38,158K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$-15,318K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$-15,586K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$-1,105,538K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$68,654K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$-1,047,100K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$9,190K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$-78K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$4,139K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$3,866K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$10,727K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$3,341K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499220">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37.9%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43.0%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26.2%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33.1%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106.3%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41.9%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21.0%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44.7%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41.7%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41.8%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41.1%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a:solidFill>
                            <a:srgbClr val="000000">
                              <a:alpha val="100000"/>
                            </a:srgbClr>
                          </a:solidFill>
                          <a:latin typeface="Montserrat"/>
                          <a:cs typeface="Arial"/>
                          <a:sym typeface="Arial"/>
                        </a:rPr>
                        <a:t>43.4%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700" b="0" i="0" u="none" cap="none" dirty="0">
                          <a:solidFill>
                            <a:srgbClr val="000000">
                              <a:alpha val="100000"/>
                            </a:srgbClr>
                          </a:solidFill>
                          <a:latin typeface="Montserrat"/>
                          <a:cs typeface="Arial"/>
                          <a:sym typeface="Arial"/>
                        </a:rPr>
                        <a:t>38.1%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27554">
                <a:tc gridSpan="14">
                  <a:txBody>
                    <a:bodyPr/>
                    <a:lstStyle/>
                    <a:p>
                      <a:pPr marL="63500" marR="63500" algn="l">
                        <a:lnSpc>
                          <a:spcPct val="100000"/>
                        </a:lnSpc>
                        <a:spcBef>
                          <a:spcPts val="500"/>
                        </a:spcBef>
                        <a:spcAft>
                          <a:spcPts val="500"/>
                        </a:spcAft>
                        <a:buNone/>
                      </a:pPr>
                      <a:r>
                        <a:rPr sz="5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27554">
                <a:tc gridSpan="14">
                  <a:txBody>
                    <a:bodyPr/>
                    <a:lstStyle/>
                    <a:p>
                      <a:pPr marL="63500" marR="63500" algn="l">
                        <a:lnSpc>
                          <a:spcPct val="100000"/>
                        </a:lnSpc>
                        <a:spcBef>
                          <a:spcPts val="500"/>
                        </a:spcBef>
                        <a:spcAft>
                          <a:spcPts val="500"/>
                        </a:spcAft>
                        <a:buNone/>
                      </a:pPr>
                      <a:r>
                        <a:rPr sz="5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27554">
                <a:tc gridSpan="14">
                  <a:txBody>
                    <a:bodyPr/>
                    <a:lstStyle/>
                    <a:p>
                      <a:pPr marL="63500" marR="63500" algn="l">
                        <a:lnSpc>
                          <a:spcPct val="100000"/>
                        </a:lnSpc>
                        <a:spcBef>
                          <a:spcPts val="500"/>
                        </a:spcBef>
                        <a:spcAft>
                          <a:spcPts val="500"/>
                        </a:spcAft>
                        <a:buNone/>
                      </a:pPr>
                      <a:r>
                        <a:rPr sz="5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27554">
                <a:tc gridSpan="14">
                  <a:txBody>
                    <a:bodyPr/>
                    <a:lstStyle/>
                    <a:p>
                      <a:pPr marL="63500" marR="63500" algn="l">
                        <a:lnSpc>
                          <a:spcPct val="100000"/>
                        </a:lnSpc>
                        <a:spcBef>
                          <a:spcPts val="500"/>
                        </a:spcBef>
                        <a:spcAft>
                          <a:spcPts val="500"/>
                        </a:spcAft>
                        <a:buNone/>
                      </a:pPr>
                      <a:r>
                        <a:rPr sz="5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Froedtert ThedaCare Health has 24% inpatient market share, and 17% outpatient market compared to hospitals/clinics in the Froedtert ThedaCare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Froedtert ThedaCare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128354506"/>
              </p:ext>
            </p:extLst>
          </p:nvPr>
        </p:nvGraphicFramePr>
        <p:xfrm>
          <a:off x="390843" y="810228"/>
          <a:ext cx="7989225" cy="5520463"/>
        </p:xfrm>
        <a:graphic>
          <a:graphicData uri="http://schemas.openxmlformats.org/drawingml/2006/table">
            <a:tbl>
              <a:tblPr/>
              <a:tblGrid>
                <a:gridCol w="1597845">
                  <a:extLst>
                    <a:ext uri="{9D8B030D-6E8A-4147-A177-3AD203B41FA5}">
                      <a16:colId xmlns:a16="http://schemas.microsoft.com/office/drawing/2014/main" val="20000"/>
                    </a:ext>
                  </a:extLst>
                </a:gridCol>
                <a:gridCol w="1597845">
                  <a:extLst>
                    <a:ext uri="{9D8B030D-6E8A-4147-A177-3AD203B41FA5}">
                      <a16:colId xmlns:a16="http://schemas.microsoft.com/office/drawing/2014/main" val="20001"/>
                    </a:ext>
                  </a:extLst>
                </a:gridCol>
                <a:gridCol w="1597845">
                  <a:extLst>
                    <a:ext uri="{9D8B030D-6E8A-4147-A177-3AD203B41FA5}">
                      <a16:colId xmlns:a16="http://schemas.microsoft.com/office/drawing/2014/main" val="20002"/>
                    </a:ext>
                  </a:extLst>
                </a:gridCol>
                <a:gridCol w="1597845">
                  <a:extLst>
                    <a:ext uri="{9D8B030D-6E8A-4147-A177-3AD203B41FA5}">
                      <a16:colId xmlns:a16="http://schemas.microsoft.com/office/drawing/2014/main" val="20003"/>
                    </a:ext>
                  </a:extLst>
                </a:gridCol>
                <a:gridCol w="1597845">
                  <a:extLst>
                    <a:ext uri="{9D8B030D-6E8A-4147-A177-3AD203B41FA5}">
                      <a16:colId xmlns:a16="http://schemas.microsoft.com/office/drawing/2014/main" val="20004"/>
                    </a:ext>
                  </a:extLst>
                </a:gridCol>
              </a:tblGrid>
              <a:tr h="1127523">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Froedtert ThedaCare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Froedtert ThedaCare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104,900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964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10,900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$ 8,209,441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$ 10,821,112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$ 5,053,367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$ 24,083,920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$ 919,457.4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$ 1,211,965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$ 565,977.1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$ 2,697,399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$ 5,951,085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$ 130,800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$ 5,955,885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$ 5,901,885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$ 23,396,414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$ 36,688,823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$ 17,133,369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$ 77,218,606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$ 2,620,398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$ 4,109,148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$ 1,918,937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$ 8,648,484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24% (inpatient) and 17%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11.2%,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7741927"/>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81932">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53739">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8234">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$753.2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$3,765.8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$18,829.0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$421.8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$2,108.8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$1,917.3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$47,932.8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$5,368.5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$1,164.2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$5,820.8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$29,103.8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$65.2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$651.9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$3,259.6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$992.8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$4,963.8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$24,819.1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$555.9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$2,779.7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$2,904.0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$14,519.8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$72,599.2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$1,626.2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$8,131.1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$9,556.0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$47,780.2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$1,070.3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$5,351.4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$2,318.1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$11,590.3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$259.6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$1,298.1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$1,356.1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$6,780.6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$33,903.2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823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$759.4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$892.5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$4,462.6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$22,312.9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94705">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$499.8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$2,499.0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8234">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$-101.8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$126.4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$1,952.0</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$11,080.1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0794673"/>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$1,104.8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$2,209.5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$11,047.7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$55,238.3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$3,088.7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$6,177.4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$30,887.0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$154,435.2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$3,967.9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$19,839.4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$99,196.9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$17,296.7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$444.4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$11,110.1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$-101.8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$126.4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$1,952.0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$11,080.1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16635737"/>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16.2%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$1,104.8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$2,209.5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$11,047.7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$55,238.3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$7,354.4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$36,771.9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$183,859.5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$2,572.4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$5,144.8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$25,724.2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$128,621.1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$1,191.4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$5,957.0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$29,785.2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$4,719.7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$23,598.5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$148.0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$625.9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$4,449.7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$23,568.5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8087922"/>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$1,104.8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$2,209.5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$11,047.7</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$55,238.3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$5,005.3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$125,132.9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$1,397.9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$2,795.8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$13,978.9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$69,894.5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$1,551.6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$7,758.2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$1,571.5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$-292.6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$-255.1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$44.3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$1,541.5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302272" y="2235331"/>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Froedtert ThedaCare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Froedtert ThedaCare Health</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Froedtert ThedaCare 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Froedtert ThedaCare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Froedtert ThedaCare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Froedtert ThedaCare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46237</TotalTime>
  <Words>5594</Words>
  <Application>Microsoft Office PowerPoint</Application>
  <PresentationFormat>Widescreen</PresentationFormat>
  <Paragraphs>1481</Paragraphs>
  <Slides>44</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44</vt:i4>
      </vt:variant>
    </vt:vector>
  </HeadingPairs>
  <TitlesOfParts>
    <vt:vector size="58"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FROEDTERT THEDACARE HEALTH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FROEDTERT THEDACARE HEALTH’S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2025-11-15T07:09:40Z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