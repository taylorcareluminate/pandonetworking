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19"/>
  </p:notesMasterIdLst>
  <p:sldIdLst>
    <p:sldId id="588" r:id="rId8"/>
    <p:sldId id="454" r:id="rId9"/>
    <p:sldId id="549" r:id="rId10"/>
    <p:sldId id="2145726869" r:id="rId11"/>
    <p:sldId id="559" r:id="rId12"/>
    <p:sldId id="580" r:id="rId13"/>
    <p:sldId id="582" r:id="rId14"/>
    <p:sldId id="548" r:id="rId15"/>
    <p:sldId id="614" r:id="rId16"/>
    <p:sldId id="585" r:id="rId17"/>
    <p:sldId id="472" r:id="rId18"/>
  </p:sldIdLst>
  <p:sldSz cx="12192000" cy="6858000"/>
  <p:notesSz cx="7315200" cy="96012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75" d="100"/>
          <a:sy n="75" d="100"/>
        </p:scale>
        <p:origin x="782" y="2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7D0B6B51-DA5F-4021-8848-39BD0005AA08}"/>
    <pc:docChg chg="delSld delMainMaster">
      <pc:chgData name="Taylor Davis" userId="5c9e72a0-c39f-4aa1-9d7d-64125e78cbe6" providerId="ADAL" clId="{7D0B6B51-DA5F-4021-8848-39BD0005AA08}" dt="2025-11-15T06:50:20.717" v="8" actId="47"/>
      <pc:docMkLst>
        <pc:docMk/>
      </pc:docMkLst>
      <pc:sldChg chg="del">
        <pc:chgData name="Taylor Davis" userId="5c9e72a0-c39f-4aa1-9d7d-64125e78cbe6" providerId="ADAL" clId="{7D0B6B51-DA5F-4021-8848-39BD0005AA08}" dt="2025-11-15T06:50:20.717" v="8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7D0B6B51-DA5F-4021-8848-39BD0005AA08}" dt="2025-11-15T06:50:14.219" v="7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7D0B6B51-DA5F-4021-8848-39BD0005AA08}" dt="2025-11-15T06:50:20.717" v="8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7D0B6B51-DA5F-4021-8848-39BD0005AA08}" dt="2025-11-15T06:50:20.717" v="8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7D0B6B51-DA5F-4021-8848-39BD0005AA08}" dt="2025-11-15T06:50:04.737" v="6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7D0B6B51-DA5F-4021-8848-39BD0005AA08}" dt="2025-11-15T06:50:14.219" v="7" actId="47"/>
        <pc:sldMkLst>
          <pc:docMk/>
          <pc:sldMk cId="0" sldId="459"/>
        </pc:sldMkLst>
      </pc:sldChg>
      <pc:sldChg chg="del">
        <pc:chgData name="Taylor Davis" userId="5c9e72a0-c39f-4aa1-9d7d-64125e78cbe6" providerId="ADAL" clId="{7D0B6B51-DA5F-4021-8848-39BD0005AA08}" dt="2025-11-15T06:49:29.438" v="1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7D0B6B51-DA5F-4021-8848-39BD0005AA08}" dt="2025-11-15T06:50:04.737" v="6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7D0B6B51-DA5F-4021-8848-39BD0005AA08}" dt="2025-11-15T06:50:20.717" v="8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7D0B6B51-DA5F-4021-8848-39BD0005AA08}" dt="2025-11-15T06:50:20.717" v="8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7D0B6B51-DA5F-4021-8848-39BD0005AA08}" dt="2025-11-15T06:50:04.737" v="6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7D0B6B51-DA5F-4021-8848-39BD0005AA08}" dt="2025-11-15T06:49:41.028" v="4" actId="47"/>
        <pc:sldMkLst>
          <pc:docMk/>
          <pc:sldMk cId="500461553" sldId="521"/>
        </pc:sldMkLst>
      </pc:sldChg>
      <pc:sldChg chg="del">
        <pc:chgData name="Taylor Davis" userId="5c9e72a0-c39f-4aa1-9d7d-64125e78cbe6" providerId="ADAL" clId="{7D0B6B51-DA5F-4021-8848-39BD0005AA08}" dt="2025-11-15T06:50:20.717" v="8" actId="47"/>
        <pc:sldMkLst>
          <pc:docMk/>
          <pc:sldMk cId="1419816550" sldId="536"/>
        </pc:sldMkLst>
      </pc:sldChg>
      <pc:sldChg chg="del">
        <pc:chgData name="Taylor Davis" userId="5c9e72a0-c39f-4aa1-9d7d-64125e78cbe6" providerId="ADAL" clId="{7D0B6B51-DA5F-4021-8848-39BD0005AA08}" dt="2025-11-15T06:49:36.635" v="3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7D0B6B51-DA5F-4021-8848-39BD0005AA08}" dt="2025-11-15T06:50:14.219" v="7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7D0B6B51-DA5F-4021-8848-39BD0005AA08}" dt="2025-11-15T06:50:20.717" v="8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7D0B6B51-DA5F-4021-8848-39BD0005AA08}" dt="2025-11-15T06:50:20.717" v="8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7D0B6B51-DA5F-4021-8848-39BD0005AA08}" dt="2025-11-15T06:50:20.717" v="8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7D0B6B51-DA5F-4021-8848-39BD0005AA08}" dt="2025-11-15T06:50:14.219" v="7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7D0B6B51-DA5F-4021-8848-39BD0005AA08}" dt="2025-11-15T06:50:14.219" v="7" actId="47"/>
        <pc:sldMkLst>
          <pc:docMk/>
          <pc:sldMk cId="3618341172" sldId="584"/>
        </pc:sldMkLst>
      </pc:sldChg>
      <pc:sldChg chg="del">
        <pc:chgData name="Taylor Davis" userId="5c9e72a0-c39f-4aa1-9d7d-64125e78cbe6" providerId="ADAL" clId="{7D0B6B51-DA5F-4021-8848-39BD0005AA08}" dt="2025-11-15T06:50:04.737" v="6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7D0B6B51-DA5F-4021-8848-39BD0005AA08}" dt="2025-11-15T06:50:04.737" v="6" actId="47"/>
        <pc:sldMkLst>
          <pc:docMk/>
          <pc:sldMk cId="2174952421" sldId="2145726856"/>
        </pc:sldMkLst>
      </pc:sldChg>
      <pc:sldChg chg="del">
        <pc:chgData name="Taylor Davis" userId="5c9e72a0-c39f-4aa1-9d7d-64125e78cbe6" providerId="ADAL" clId="{7D0B6B51-DA5F-4021-8848-39BD0005AA08}" dt="2025-11-15T06:50:04.737" v="6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7D0B6B51-DA5F-4021-8848-39BD0005AA08}" dt="2025-11-15T06:50:04.737" v="6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7D0B6B51-DA5F-4021-8848-39BD0005AA08}" dt="2025-11-15T06:50:14.219" v="7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7D0B6B51-DA5F-4021-8848-39BD0005AA08}" dt="2025-11-15T06:50:14.219" v="7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7D0B6B51-DA5F-4021-8848-39BD0005AA08}" dt="2025-11-15T06:49:31.027" v="2" actId="47"/>
        <pc:sldMkLst>
          <pc:docMk/>
          <pc:sldMk cId="0" sldId="2145726867"/>
        </pc:sldMkLst>
      </pc:sldChg>
      <pc:sldChg chg="del">
        <pc:chgData name="Taylor Davis" userId="5c9e72a0-c39f-4aa1-9d7d-64125e78cbe6" providerId="ADAL" clId="{7D0B6B51-DA5F-4021-8848-39BD0005AA08}" dt="2025-11-15T06:50:14.219" v="7" actId="47"/>
        <pc:sldMkLst>
          <pc:docMk/>
          <pc:sldMk cId="4087636236" sldId="2145726868"/>
        </pc:sldMkLst>
      </pc:sldChg>
      <pc:sldChg chg="del">
        <pc:chgData name="Taylor Davis" userId="5c9e72a0-c39f-4aa1-9d7d-64125e78cbe6" providerId="ADAL" clId="{7D0B6B51-DA5F-4021-8848-39BD0005AA08}" dt="2025-11-15T06:50:14.219" v="7" actId="47"/>
        <pc:sldMkLst>
          <pc:docMk/>
          <pc:sldMk cId="0" sldId="2145726870"/>
        </pc:sldMkLst>
      </pc:sldChg>
      <pc:sldChg chg="del">
        <pc:chgData name="Taylor Davis" userId="5c9e72a0-c39f-4aa1-9d7d-64125e78cbe6" providerId="ADAL" clId="{7D0B6B51-DA5F-4021-8848-39BD0005AA08}" dt="2025-11-15T06:49:42.184" v="5" actId="47"/>
        <pc:sldMkLst>
          <pc:docMk/>
          <pc:sldMk cId="0" sldId="2145726872"/>
        </pc:sldMkLst>
      </pc:sldChg>
      <pc:sldChg chg="del">
        <pc:chgData name="Taylor Davis" userId="5c9e72a0-c39f-4aa1-9d7d-64125e78cbe6" providerId="ADAL" clId="{7D0B6B51-DA5F-4021-8848-39BD0005AA08}" dt="2025-11-15T06:49:24.928" v="0" actId="47"/>
        <pc:sldMkLst>
          <pc:docMk/>
          <pc:sldMk cId="3982481892" sldId="2145726874"/>
        </pc:sldMkLst>
      </pc:sldChg>
      <pc:sldChg chg="del">
        <pc:chgData name="Taylor Davis" userId="5c9e72a0-c39f-4aa1-9d7d-64125e78cbe6" providerId="ADAL" clId="{7D0B6B51-DA5F-4021-8848-39BD0005AA08}" dt="2025-11-15T06:50:04.737" v="6" actId="47"/>
        <pc:sldMkLst>
          <pc:docMk/>
          <pc:sldMk cId="0" sldId="2145726911"/>
        </pc:sldMkLst>
      </pc:sldChg>
      <pc:sldMasterChg chg="delSldLayout">
        <pc:chgData name="Taylor Davis" userId="5c9e72a0-c39f-4aa1-9d7d-64125e78cbe6" providerId="ADAL" clId="{7D0B6B51-DA5F-4021-8848-39BD0005AA08}" dt="2025-11-15T06:50:04.737" v="6" actId="47"/>
        <pc:sldMasterMkLst>
          <pc:docMk/>
          <pc:sldMasterMk cId="3019070536" sldId="2147483744"/>
        </pc:sldMasterMkLst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019070536" sldId="2147483744"/>
            <pc:sldLayoutMk cId="1655837808" sldId="2147483812"/>
          </pc:sldLayoutMkLst>
        </pc:sldLayoutChg>
      </pc:sldMasterChg>
      <pc:sldMasterChg chg="del delSldLayout">
        <pc:chgData name="Taylor Davis" userId="5c9e72a0-c39f-4aa1-9d7d-64125e78cbe6" providerId="ADAL" clId="{7D0B6B51-DA5F-4021-8848-39BD0005AA08}" dt="2025-11-15T06:50:04.737" v="6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7D0B6B51-DA5F-4021-8848-39BD0005AA08}" dt="2025-11-15T06:50:04.737" v="6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7D0B6B51-DA5F-4021-8848-39BD0005AA08}" dt="2025-11-15T06:50:04.737" v="6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svg"/><Relationship Id="rId11" Type="http://schemas.openxmlformats.org/officeDocument/2006/relationships/image" Target="../media/image1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 Possible DTE Health Plan for </a:t>
            </a:r>
          </a:p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The University of Vermont Health Network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340670" y="3693371"/>
            <a:ext cx="2304822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08" y="818337"/>
            <a:ext cx="3397612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000B2E"/>
                </a:solidFill>
                <a:cs typeface="Arial" panose="020B0604020202020204" pitchFamily="34" charset="0"/>
              </a:rPr>
              <a:t>(DTE)</a:t>
            </a:r>
            <a:br>
              <a:rPr lang="en-US" sz="1600" dirty="0">
                <a:solidFill>
                  <a:srgbClr val="000B2E"/>
                </a:solidFill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78" y="1468132"/>
            <a:ext cx="6697847" cy="466090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WE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4632939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B8E36735-A0E0-6123-117C-3DE9AA3B9518}"/>
              </a:ext>
            </a:extLst>
          </p:cNvPr>
          <p:cNvSpPr txBox="1"/>
          <p:nvPr/>
        </p:nvSpPr>
        <p:spPr>
          <a:xfrm>
            <a:off x="1148436" y="3085346"/>
            <a:ext cx="2478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Market</a:t>
            </a:r>
            <a:endParaRPr lang="en-US" dirty="0"/>
          </a:p>
        </p:txBody>
      </p:sp>
      <p:pic>
        <p:nvPicPr>
          <p:cNvPr id="14" name="Content Placeholder 13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7108994" y="348830"/>
            <a:ext cx="4537401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4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330559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700+ Employers       100,000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190,000+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237817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29,300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27,900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32,900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52,200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52,700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50,200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59,200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39,600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21,600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795866" y="1865469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The University of Vermont Health Network service area in Clinton, Essex, Addison, Caledonia, Chittenden, Franklin, Grand Isle, Lamoille, Orange, Rutland, Washington, and Windsor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431K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262K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192K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102K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$3.28M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$1.17M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$19.05M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$7.76M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$38.25M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$15.75M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429.1K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858.1K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1,743.1K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2,643.2K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105.1K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690.1K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1,583.5K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2,493.2K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600.7K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1,201.4K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2,358.3K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3,594.8K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279.1K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1,038.2K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2,205.9K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3,455.6K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257.4K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514.9K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1,025.4K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1,691.7K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-69.0K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342.1K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857.4K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1,530.9K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Single Corner Rounded 2">
            <a:extLst>
              <a:ext uri="{FF2B5EF4-FFF2-40B4-BE49-F238E27FC236}">
                <a16:creationId xmlns:a16="http://schemas.microsoft.com/office/drawing/2014/main" id="{0E0827A4-8831-4F72-BCCA-ED2FC12E6729}"/>
              </a:ext>
            </a:extLst>
          </p:cNvPr>
          <p:cNvSpPr/>
          <p:nvPr/>
        </p:nvSpPr>
        <p:spPr>
          <a:xfrm flipV="1">
            <a:off x="-12707" y="-2"/>
            <a:ext cx="4787908" cy="5524593"/>
          </a:xfrm>
          <a:prstGeom prst="round1Rect">
            <a:avLst>
              <a:gd name="adj" fmla="val 14176"/>
            </a:avLst>
          </a:prstGeom>
          <a:solidFill>
            <a:srgbClr val="00539F">
              <a:alpha val="93725"/>
            </a:srgbClr>
          </a:solidFill>
          <a:ln>
            <a:solidFill>
              <a:srgbClr val="59CA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5BDB08-48BA-4014-94E1-0CA6432F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320" y="174481"/>
            <a:ext cx="3839251" cy="943119"/>
          </a:xfrm>
          <a:noFill/>
        </p:spPr>
        <p:txBody>
          <a:bodyPr>
            <a:normAutofit/>
          </a:bodyPr>
          <a:lstStyle/>
          <a:p>
            <a:r>
              <a:rPr lang="en-US" sz="2400" cap="all" dirty="0">
                <a:solidFill>
                  <a:schemeClr val="bg1"/>
                </a:solidFill>
              </a:rPr>
              <a:t>Complete Marketing System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D71BB9D-3705-447C-AA44-226373980B76}"/>
              </a:ext>
            </a:extLst>
          </p:cNvPr>
          <p:cNvSpPr txBox="1"/>
          <p:nvPr/>
        </p:nvSpPr>
        <p:spPr>
          <a:xfrm>
            <a:off x="326132" y="1333409"/>
            <a:ext cx="40290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Branding and Messaging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Brochures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Web Site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Targeted Employer Outreach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Sales System (Social Media, Email, Text, etc.)</a:t>
            </a: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E9CEBAE5-9FB0-92E7-FE3C-8D162366D53C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FEB77514-FCC1-8077-FF95-E9A7EC1FC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7" name="Object 1">
            <a:extLst>
              <a:ext uri="{FF2B5EF4-FFF2-40B4-BE49-F238E27FC236}">
                <a16:creationId xmlns:a16="http://schemas.microsoft.com/office/drawing/2014/main" id="{6A650CAB-F194-C039-985A-378659DC9264}"/>
              </a:ext>
            </a:extLst>
          </p:cNvPr>
          <p:cNvSpPr/>
          <p:nvPr/>
        </p:nvSpPr>
        <p:spPr>
          <a:xfrm>
            <a:off x="6260477" y="1869754"/>
            <a:ext cx="4672331" cy="2916602"/>
          </a:xfrm>
          <a:prstGeom prst="rect">
            <a:avLst/>
          </a:prstGeom>
          <a:solidFill>
            <a:srgbClr val="254F96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A8440E76-55C9-58AD-8FFE-1161A970BB4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017" t="358" r="-3017" b="358"/>
          <a:stretch/>
        </p:blipFill>
        <p:spPr>
          <a:xfrm>
            <a:off x="6260477" y="1869754"/>
            <a:ext cx="4672331" cy="2916602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8A7EB5CC-EEC2-B5AA-4D5D-3D6555854B7F}"/>
              </a:ext>
            </a:extLst>
          </p:cNvPr>
          <p:cNvSpPr/>
          <p:nvPr/>
        </p:nvSpPr>
        <p:spPr>
          <a:xfrm>
            <a:off x="6260477" y="1869754"/>
            <a:ext cx="4672331" cy="2916602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80FD5046-6F68-9F9C-A2D7-3B2367BB6FD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2571" y="1610180"/>
            <a:ext cx="6211749" cy="363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42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The University of Vermont Health Network has 74% inpatient market share, and 39% outpatient market compared to hospitals/clinics in the The University of Vermont Health Network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The University of Vermont Health Network.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convenience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41297"/>
              </p:ext>
            </p:extLst>
          </p:nvPr>
        </p:nvGraphicFramePr>
        <p:xfrm>
          <a:off x="655320" y="878585"/>
          <a:ext cx="7412735" cy="5276115"/>
        </p:xfrm>
        <a:graphic>
          <a:graphicData uri="http://schemas.openxmlformats.org/drawingml/2006/table">
            <a:tbl>
              <a:tblPr/>
              <a:tblGrid>
                <a:gridCol w="1482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2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25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25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776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The University of Vermont Health Network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The University of Vermont Health Network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11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46196</TotalTime>
  <Words>904</Words>
  <Application>Microsoft Office PowerPoint</Application>
  <PresentationFormat>Widescreen</PresentationFormat>
  <Paragraphs>352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DIRECT-TO-EMPLOYER (DTE)  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Complete Marketing System</vt:lpstr>
      <vt:lpstr>PROJECTED PLAN GROWTH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112</cp:revision>
  <cp:lastPrinted>2023-07-13T10:24:43Z</cp:lastPrinted>
  <dcterms:created xsi:type="dcterms:W3CDTF">2021-01-20T14:12:11Z</dcterms:created>
  <dcterms:modified xsi:type="dcterms:W3CDTF">2025-11-15T06:50:24Z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