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1"/>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499" r:id="rId23"/>
    <p:sldId id="613" r:id="rId24"/>
    <p:sldId id="458" r:id="rId25"/>
    <p:sldId id="2145726859" r:id="rId26"/>
    <p:sldId id="2145726857" r:id="rId27"/>
    <p:sldId id="469" r:id="rId28"/>
    <p:sldId id="2145726856" r:id="rId29"/>
    <p:sldId id="614" r:id="rId30"/>
    <p:sldId id="281" r:id="rId31"/>
    <p:sldId id="283" r:id="rId32"/>
    <p:sldId id="285" r:id="rId33"/>
    <p:sldId id="2145726866" r:id="rId34"/>
    <p:sldId id="583" r:id="rId35"/>
    <p:sldId id="525" r:id="rId36"/>
    <p:sldId id="2145726868" r:id="rId37"/>
    <p:sldId id="571" r:id="rId38"/>
    <p:sldId id="2145726864" r:id="rId39"/>
    <p:sldId id="585" r:id="rId40"/>
    <p:sldId id="536" r:id="rId41"/>
    <p:sldId id="256" r:id="rId42"/>
    <p:sldId id="574" r:id="rId43"/>
    <p:sldId id="572" r:id="rId44"/>
    <p:sldId id="575" r:id="rId45"/>
    <p:sldId id="498" r:id="rId46"/>
    <p:sldId id="325"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9BE74B-69E8-4690-864A-82C898A7E384}" v="3" dt="2025-07-19T03:35:11.61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78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8/10/relationships/authors" Target="author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7/18/2025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7/18/2025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7/18/2025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7/18/2025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7/18/2025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7/18/2025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Deaconess Health System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1830097"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DEACONESS HEALTH SYSTEM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Deaconess Health System is the quality and access leader in this service area (see slide 8). Market size and brand quality are likelty to negatively impact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Deaconess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Deaconess Health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37390" y="1343937"/>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1,000+ Employers       220,000</a:t>
            </a:r>
            <a:r>
              <a:rPr lang="en-US" sz="1600" spc="200" dirty="0">
                <a:latin typeface="Montserrat" panose="00000500000000000000" pitchFamily="2" charset="0"/>
                <a:cs typeface="+mj-cs"/>
                <a:sym typeface="Wingdings" panose="05000000000000000000" pitchFamily="2" charset="2"/>
              </a:rPr>
              <a:t>+ Employees       410,000+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89731498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586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87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46,200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78,000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83,200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140,400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656396"/>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2444630" y="5766470"/>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Deaconess Health System service area in Alexander, Clay, Franklin, Gallatin, Hamilton, Hardin, Jackson, Jefferson, Johnson, Lawrence, Marion, Monroe, Perry, Pope, Pulaski, Randolph, St. Clair, Saline, Union, Wabash, Washington, Wayne, White, Williamson, Crawford, Daviess, Dubois, Gibson, Knox, Martin, Orange, Pike, Posey, Spencer, Vanderburgh, Warrick, Henderson, McLean, Webster, Cape Girardeau, and Ste. Genevieve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1,288K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731K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499K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295K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$16.5M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$99.34M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$28.12M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$204.97M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$58.16M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Deaconess Health System has 27% inpatient market share, and 17% outpatient market compared to hospitals/clinics in the Deaconess Health System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Deaconess Health System 35%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1,519.6K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2,935.0K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8,964.6K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2,789.8K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5,442.4K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8,871.0K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7,651.6K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12,326.3K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3,916.3K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7,550.8K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1,821.8K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5,602.9K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592.6K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1,663.4K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3,334.0K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5,476.9K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339789"/>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25.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Deaconess Health System’s approved site(s) with network integration, and development of Deaconess Health System’s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683K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$ 14,320K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$ 8,938K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$21,527K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$35,753K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$16,038K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$ 9,801K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$43,053K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$12,055K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$114,559K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$71,506K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$32,076K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$19,932K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Deaconess Health System’s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Deaconess Health System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Deaconess Health System’s managed care with KBA’s programs positions Deaconess Health System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Deaconess Health System’s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Deaconess Health System’s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Deaconess Health System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DEACONESS HEALTH SYSTEM</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Deaconess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DEACONESS HEALTH SYSTEM’S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Deaconess Health System</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229,771</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$2,062,362K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82,856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$317,618K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7,523</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$224,274K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8,343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-$79,364K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131,049</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$1,518,664K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Deaconess Health System estimates commercial insurance reimbursements at 284%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1,518,664K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284%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1,540,749K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3,059,413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1,978,634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$1,080,780K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284%</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534,125K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541,892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1,076,017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1,978,634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-902,617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-84%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27%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17%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824319080"/>
              </p:ext>
            </p:extLst>
          </p:nvPr>
        </p:nvGraphicFramePr>
        <p:xfrm>
          <a:off x="265176" y="914400"/>
          <a:ext cx="9829800" cy="42570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Heartland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198,408.2K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349,250.1K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Crossroads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48,459.3K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211,223.6K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Ferrell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13,592.0K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83,159.6K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Union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17,707.0K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73,414.5K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Lawrence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4,239.1K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51,058.3K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Red Bud Regional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40,554.1K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114,842.1K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Deaconess Midtown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$1,634,604.2K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$2,170,062.6K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Memorial Hospital and Health Care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139,471.7K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676,353.7K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 Womens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124,562.7K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149,633.9K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 Heart Hospital at Deaconess Gateway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95,690.6K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69,615.4K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Deaconess Gibson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6,890.6K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96,279.9K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Deaconess Henderson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102,415.1K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300,360.1K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Deaconess Union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9,648.9K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51,222.8K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84BFE-A66C-EE28-0B82-3FC2737525CB}"/>
              </a:ext>
            </a:extLst>
          </p:cNvPr>
          <p:cNvSpPr txBox="1"/>
          <p:nvPr/>
        </p:nvSpPr>
        <p:spPr>
          <a:xfrm>
            <a:off x="5507537" y="6310364"/>
            <a:ext cx="1385316" cy="369332"/>
          </a:xfrm>
          <a:prstGeom prst="rect">
            <a:avLst/>
          </a:prstGeom>
          <a:noFill/>
        </p:spPr>
        <p:txBody>
          <a:bodyPr wrap="none" rtlCol="0">
            <a:spAutoFit/>
          </a:bodyPr>
          <a:lstStyle/>
          <a:p>
            <a:r>
              <a:rPr lang="en-US" b="1" dirty="0">
                <a:solidFill/>
                <a:latin typeface="Montserrat" panose="00000500000000000000" pitchFamily="2" charset="0"/>
              </a:rPr>
              <a:t>Hospitals droped due to insufficient data:The Heart Hospital at Deaconess Gateway</a:t>
            </a:r>
          </a:p>
        </p:txBody>
      </p:sp>
      <p:graphicFrame>
        <p:nvGraphicFramePr>
          <p:cNvPr id="3" name="Table 2"/>
          <p:cNvGraphicFramePr>
            <a:graphicFrameLocks noGrp="1"/>
          </p:cNvGraphicFramePr>
          <p:nvPr/>
        </p:nvGraphicFramePr>
        <p:xfrm>
          <a:off x="0" y="0"/>
          <a:ext cx="12198096" cy="6858000"/>
        </p:xfrm>
        <a:graphic>
          <a:graphicData uri="http://schemas.openxmlformats.org/drawingml/2006/table">
            <a:tbl>
              <a:tblPr/>
              <a:tblGrid>
                <a:gridCol w="3507955">
                  <a:extLst>
                    <a:ext uri="{9D8B030D-6E8A-4147-A177-3AD203B41FA5}">
                      <a16:colId xmlns:a16="http://schemas.microsoft.com/office/drawing/2014/main" val="20000"/>
                    </a:ext>
                  </a:extLst>
                </a:gridCol>
                <a:gridCol w="2775969">
                  <a:extLst>
                    <a:ext uri="{9D8B030D-6E8A-4147-A177-3AD203B41FA5}">
                      <a16:colId xmlns:a16="http://schemas.microsoft.com/office/drawing/2014/main" val="20001"/>
                    </a:ext>
                  </a:extLst>
                </a:gridCol>
                <a:gridCol w="2631829">
                  <a:extLst>
                    <a:ext uri="{9D8B030D-6E8A-4147-A177-3AD203B41FA5}">
                      <a16:colId xmlns:a16="http://schemas.microsoft.com/office/drawing/2014/main" val="20002"/>
                    </a:ext>
                  </a:extLst>
                </a:gridCol>
                <a:gridCol w="1370213">
                  <a:extLst>
                    <a:ext uri="{9D8B030D-6E8A-4147-A177-3AD203B41FA5}">
                      <a16:colId xmlns:a16="http://schemas.microsoft.com/office/drawing/2014/main" val="20003"/>
                    </a:ext>
                  </a:extLst>
                </a:gridCol>
                <a:gridCol w="1903166">
                  <a:extLst>
                    <a:ext uri="{9D8B030D-6E8A-4147-A177-3AD203B41FA5}">
                      <a16:colId xmlns:a16="http://schemas.microsoft.com/office/drawing/2014/main" val="20004"/>
                    </a:ext>
                  </a:extLst>
                </a:gridCol>
                <a:gridCol w="2885953">
                  <a:extLst>
                    <a:ext uri="{9D8B030D-6E8A-4147-A177-3AD203B41FA5}">
                      <a16:colId xmlns:a16="http://schemas.microsoft.com/office/drawing/2014/main" val="20005"/>
                    </a:ext>
                  </a:extLst>
                </a:gridCol>
                <a:gridCol w="2216673">
                  <a:extLst>
                    <a:ext uri="{9D8B030D-6E8A-4147-A177-3AD203B41FA5}">
                      <a16:colId xmlns:a16="http://schemas.microsoft.com/office/drawing/2014/main" val="20006"/>
                    </a:ext>
                  </a:extLst>
                </a:gridCol>
                <a:gridCol w="2369296">
                  <a:extLst>
                    <a:ext uri="{9D8B030D-6E8A-4147-A177-3AD203B41FA5}">
                      <a16:colId xmlns:a16="http://schemas.microsoft.com/office/drawing/2014/main" val="20007"/>
                    </a:ext>
                  </a:extLst>
                </a:gridCol>
                <a:gridCol w="3301034">
                  <a:extLst>
                    <a:ext uri="{9D8B030D-6E8A-4147-A177-3AD203B41FA5}">
                      <a16:colId xmlns:a16="http://schemas.microsoft.com/office/drawing/2014/main" val="20008"/>
                    </a:ext>
                  </a:extLst>
                </a:gridCol>
                <a:gridCol w="1852639">
                  <a:extLst>
                    <a:ext uri="{9D8B030D-6E8A-4147-A177-3AD203B41FA5}">
                      <a16:colId xmlns:a16="http://schemas.microsoft.com/office/drawing/2014/main" val="20009"/>
                    </a:ext>
                  </a:extLst>
                </a:gridCol>
                <a:gridCol w="2276353">
                  <a:extLst>
                    <a:ext uri="{9D8B030D-6E8A-4147-A177-3AD203B41FA5}">
                      <a16:colId xmlns:a16="http://schemas.microsoft.com/office/drawing/2014/main" val="20010"/>
                    </a:ext>
                  </a:extLst>
                </a:gridCol>
                <a:gridCol w="2547443">
                  <a:extLst>
                    <a:ext uri="{9D8B030D-6E8A-4147-A177-3AD203B41FA5}">
                      <a16:colId xmlns:a16="http://schemas.microsoft.com/office/drawing/2014/main" val="20011"/>
                    </a:ext>
                  </a:extLst>
                </a:gridCol>
                <a:gridCol w="2750296">
                  <a:extLst>
                    <a:ext uri="{9D8B030D-6E8A-4147-A177-3AD203B41FA5}">
                      <a16:colId xmlns:a16="http://schemas.microsoft.com/office/drawing/2014/main" val="20012"/>
                    </a:ext>
                  </a:extLst>
                </a:gridCol>
              </a:tblGrid>
              <a:tr h="399928">
                <a:tc gridSpan="13">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0379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Heartland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Crossroads Community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Ferrell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Union County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Lawrence County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Red Bud Regional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Deaconess Midtown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Memorial Hospital and Health Care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The Womens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Deaconess Gibson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Deaconess Henderson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Deaconess Union County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$34,721K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$9,837K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$6,157K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$5,170K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$1,912K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$9,449K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$505,093K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$44,352K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$63,402K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$3,390K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$32,261K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$4,747K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785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$61,119K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$42,878K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$37,671K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$21,437K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$23,027K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$26,758K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$670,549K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$215,080K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$76,164K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$47,370K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$94,613K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$25,202K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$11,151K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$8,742K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$213,888K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$40,525K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$15,765K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$12,255K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$5,803K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$7,370K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$93,510K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$16,258K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$26,340K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$34,461K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$72,709K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$39,995K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$15,834K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$15,473K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$29,110K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$866,663K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$202,305K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$110,828K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$39,692K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$76,689K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$19,667K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784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$6,884K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$42,323K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$5,079K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784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$29,096K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$12,178K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$6,716K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$14,206K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$502,473K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$31,593K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$56,435K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$31,074K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7853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$51,217K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$53,083K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$41,088K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$24,543K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$40,230K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$667,072K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$153,209K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$67,794K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$39,862K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$91,134K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$20,019K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$80,313K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$65,261K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$47,804K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$36,948K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$26,581K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$54,436K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$1,169,545K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$184,802K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$124,229K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$42,715K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$122,209K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$23,790K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780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$15,803K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$-12,488K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$-10,382K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$-18,244K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$4,516K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$74,287K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$15,214K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$4,705K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65.2%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800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784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799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87.6%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799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8600">
                <a:tc gridSpan="1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8600">
                <a:tc gridSpan="1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8600">
                <a:tc gridSpan="1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8600">
                <a:tc gridSpan="13">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Deaconess Health System has 27% inpatient market share, and 17% outpatient market compared to hospitals/clinics in the Deaconess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Deaconess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07098843"/>
              </p:ext>
            </p:extLst>
          </p:nvPr>
        </p:nvGraphicFramePr>
        <p:xfrm>
          <a:off x="660400" y="904240"/>
          <a:ext cx="7377175" cy="5258811"/>
        </p:xfrm>
        <a:graphic>
          <a:graphicData uri="http://schemas.openxmlformats.org/drawingml/2006/table">
            <a:tbl>
              <a:tblPr/>
              <a:tblGrid>
                <a:gridCol w="1475435">
                  <a:extLst>
                    <a:ext uri="{9D8B030D-6E8A-4147-A177-3AD203B41FA5}">
                      <a16:colId xmlns:a16="http://schemas.microsoft.com/office/drawing/2014/main" val="20000"/>
                    </a:ext>
                  </a:extLst>
                </a:gridCol>
                <a:gridCol w="1475435">
                  <a:extLst>
                    <a:ext uri="{9D8B030D-6E8A-4147-A177-3AD203B41FA5}">
                      <a16:colId xmlns:a16="http://schemas.microsoft.com/office/drawing/2014/main" val="20001"/>
                    </a:ext>
                  </a:extLst>
                </a:gridCol>
                <a:gridCol w="1475435">
                  <a:extLst>
                    <a:ext uri="{9D8B030D-6E8A-4147-A177-3AD203B41FA5}">
                      <a16:colId xmlns:a16="http://schemas.microsoft.com/office/drawing/2014/main" val="20002"/>
                    </a:ext>
                  </a:extLst>
                </a:gridCol>
                <a:gridCol w="1475435">
                  <a:extLst>
                    <a:ext uri="{9D8B030D-6E8A-4147-A177-3AD203B41FA5}">
                      <a16:colId xmlns:a16="http://schemas.microsoft.com/office/drawing/2014/main" val="20003"/>
                    </a:ext>
                  </a:extLst>
                </a:gridCol>
                <a:gridCol w="1475435">
                  <a:extLst>
                    <a:ext uri="{9D8B030D-6E8A-4147-A177-3AD203B41FA5}">
                      <a16:colId xmlns:a16="http://schemas.microsoft.com/office/drawing/2014/main" val="20004"/>
                    </a:ext>
                  </a:extLst>
                </a:gridCol>
              </a:tblGrid>
              <a:tr h="948311">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Deaconess Health System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Deaconess Health System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7,200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$ 5,655,260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$ 6,710,261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$ 3,133,635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$ 15,499,155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$ 1,583,473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$ 1,878,873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$ 877,417.7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$ 4,339,764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$ 8,878,189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$ 8,882,989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$ 8,784,589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$ 14,305,377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$ 22,427,940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$ 10,473,657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$ 47,206,974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$ 4,005,505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$ 6,279,823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$ 2,932,624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$ 13,217,953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27%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$19,636.3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$44,424.2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$2,487.8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$1,388.1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$6,940.6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$932.0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$4,659.9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$23,299.5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$6,523.9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$67,331.3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$18,852.8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$8,806.4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$44,031.8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$2,465.8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$12,328.9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$2,176.1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$10,880.7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$31,443.1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$20,562.5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$5,757.5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$176.5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$683.1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$4,735.4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$24,997.0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0044489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$53,816.5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$15,068.6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$2,864.0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$5,727.9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$28,639.7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$143,198.6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$1,787.6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$3,575.3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$17,876.4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$89,382.1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$40,095.6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$25,027.0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$4,735.4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$24,997.0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0503924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$53,816.5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$15,068.6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$34,039.8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$170,199.0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$116,382.4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$56,165.7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$41,097.0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$497.9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$1,325.9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$7,949.4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$41,067.0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9568769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$10,763.3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$53,816.5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$3,013.7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$15,068.6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$62,055.5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$1,066.0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$11,581.9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$2,046.4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$11,551.9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37</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11999" y="2389219"/>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Deaconess Health System’s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Deaconess Health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Deaconess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Deaconess Health System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Deaconess Health System</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Deaconess Health System’s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46156</TotalTime>
  <Words>5214</Words>
  <Application>Microsoft Office PowerPoint</Application>
  <PresentationFormat>Widescreen</PresentationFormat>
  <Paragraphs>1447</Paragraphs>
  <Slides>41</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41</vt:i4>
      </vt:variant>
    </vt:vector>
  </HeadingPairs>
  <TitlesOfParts>
    <vt:vector size="51"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DEACONESS HEALTH SYSTEM</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DEACONESS HEALTH SYSTEM’S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2025-07-19T03:44:15Z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