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1"/>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456" r:id="rId23"/>
    <p:sldId id="499" r:id="rId24"/>
    <p:sldId id="613" r:id="rId25"/>
    <p:sldId id="458" r:id="rId26"/>
    <p:sldId id="2145726859" r:id="rId27"/>
    <p:sldId id="2145726857" r:id="rId28"/>
    <p:sldId id="469" r:id="rId29"/>
    <p:sldId id="2145726856" r:id="rId30"/>
    <p:sldId id="614" r:id="rId31"/>
    <p:sldId id="281" r:id="rId32"/>
    <p:sldId id="283" r:id="rId33"/>
    <p:sldId id="285" r:id="rId34"/>
    <p:sldId id="2145726866" r:id="rId35"/>
    <p:sldId id="583" r:id="rId36"/>
    <p:sldId id="525" r:id="rId37"/>
    <p:sldId id="2145726868" r:id="rId38"/>
    <p:sldId id="571" r:id="rId39"/>
    <p:sldId id="2145726864" r:id="rId40"/>
    <p:sldId id="585" r:id="rId41"/>
    <p:sldId id="536" r:id="rId42"/>
    <p:sldId id="256" r:id="rId43"/>
    <p:sldId id="574" r:id="rId44"/>
    <p:sldId id="572" r:id="rId45"/>
    <p:sldId id="575" r:id="rId46"/>
    <p:sldId id="498"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A528B-1097-4940-AC54-C84150BCED1E}" v="3" dt="2025-07-24T21:21:42.244"/>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8/10/relationships/authors" Target="author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7/24/2025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MUSC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Ozarks Community Choice</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1954630"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MUSC</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MUSC is the quality and access leader in this service area (see slide 8). Some brand quality concerns might hurt plan sales.</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MUSC.</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MUSC</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34598552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1,417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574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52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106,300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86,100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105,300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143,500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312,000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191,300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189,500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266,400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561,600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00391" y="18567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MUSC service area in Columbus, Mecklenburg, Robeson, Union, Aiken, Bamberg, Barnwell, Berkeley, Calhoun, Charleston, Chester, Chesterfield, Clarendon, Colleton, Darlington, Dillon, Dorchester, Fairfield, Florence, Horry, Kershaw, Lancaster, Lee, Lexington, Marion, Marlboro, Newberry, Orangeburg, Richland, Sumter, Williamsburg, and York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2,801K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1,628K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1,104K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700K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$22.56M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$4.23M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$134.98M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$26.32M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$277.52M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$54.22M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MUSC has 27% inpatient market share, and 14% outpatient market compared to hospitals/clinics in the MUSC service area (see slide 8). The DTE tiered structure will create immediate steerage, with additional steerage over time from patient bonus benefits and the patient card (see slide 32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MUSC 24%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14.2%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19.2%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24.2%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1,382.1K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5,255.8K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8,385.7K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1,072.5K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2,625.1K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5,144.2K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8,307.7K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2,113.9K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4,227.7K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7,837.7K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12,627.8K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1,815.1K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4,110.1K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7,759.7K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12,601.4K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1,382.1K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2,581.8K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4,242.2K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2,435.4K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4,113.8K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254429"/>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MUSC’s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MUSC’s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MUSC</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414507"/>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24.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MUSC’s approved site(s) with network integration, and development of MUSC’s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$10,430K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$ 1,703K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$3,858K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$41,720K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$11,868K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$ 8,010K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$ 7,800K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$40,186K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$7,716K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$123,625K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$83,440K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$23,736K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$16,020K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$15,930K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MUSC’s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MUSC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MUSC’s managed care with KBA’s programs positions MUSC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MUSC’s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MUSC’s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MUSC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20</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MUSC</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MUSC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MUSC’S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MUSC</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385,072</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$3,571,055K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95,484</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$569,810K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23%</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37,423</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$472,669K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10%</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27,617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-$264,342K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224,548</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$2,523,248K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60%</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MUSC estimates commercial insurance reimbursements at 237%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2,523,248K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237%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2,473,752K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4,997,000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3,775,594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$1,221,407K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237%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1,063,338K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1,042,480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2,105,818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3,775,594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-1,669,776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-79%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27%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14%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680883902"/>
              </p:ext>
            </p:extLst>
          </p:nvPr>
        </p:nvGraphicFramePr>
        <p:xfrm>
          <a:off x="265176" y="914399"/>
          <a:ext cx="9829800" cy="4984956"/>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81345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8792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University of South Carolina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873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$4,075,032.8K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$4,016,882.3K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Chester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60,456.0K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173,444.0K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48792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Columbia Medical Center Downtown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502,931.7K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560,363.6K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Lancaster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484,346.3K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696,573.7K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Kershaw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166,030.9K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287,295.3K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Marion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63,461.3K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197,326.8K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 Orangeburg</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292,520.7K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473,737.1K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365943">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MUSC Health Florence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946,745.5K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$1,273,157.8K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87825713"/>
              </p:ext>
            </p:extLst>
          </p:nvPr>
        </p:nvGraphicFramePr>
        <p:xfrm>
          <a:off x="0" y="0"/>
          <a:ext cx="12192000" cy="6857998"/>
        </p:xfrm>
        <a:graphic>
          <a:graphicData uri="http://schemas.openxmlformats.org/drawingml/2006/table">
            <a:tbl>
              <a:tblPr/>
              <a:tblGrid>
                <a:gridCol w="1492639">
                  <a:extLst>
                    <a:ext uri="{9D8B030D-6E8A-4147-A177-3AD203B41FA5}">
                      <a16:colId xmlns:a16="http://schemas.microsoft.com/office/drawing/2014/main" val="20000"/>
                    </a:ext>
                  </a:extLst>
                </a:gridCol>
                <a:gridCol w="1718060">
                  <a:extLst>
                    <a:ext uri="{9D8B030D-6E8A-4147-A177-3AD203B41FA5}">
                      <a16:colId xmlns:a16="http://schemas.microsoft.com/office/drawing/2014/main" val="20001"/>
                    </a:ext>
                  </a:extLst>
                </a:gridCol>
                <a:gridCol w="1256853">
                  <a:extLst>
                    <a:ext uri="{9D8B030D-6E8A-4147-A177-3AD203B41FA5}">
                      <a16:colId xmlns:a16="http://schemas.microsoft.com/office/drawing/2014/main" val="20002"/>
                    </a:ext>
                  </a:extLst>
                </a:gridCol>
                <a:gridCol w="1656570">
                  <a:extLst>
                    <a:ext uri="{9D8B030D-6E8A-4147-A177-3AD203B41FA5}">
                      <a16:colId xmlns:a16="http://schemas.microsoft.com/office/drawing/2014/main" val="20003"/>
                    </a:ext>
                  </a:extLst>
                </a:gridCol>
                <a:gridCol w="1321763">
                  <a:extLst>
                    <a:ext uri="{9D8B030D-6E8A-4147-A177-3AD203B41FA5}">
                      <a16:colId xmlns:a16="http://schemas.microsoft.com/office/drawing/2014/main" val="20004"/>
                    </a:ext>
                  </a:extLst>
                </a:gridCol>
                <a:gridCol w="1285698">
                  <a:extLst>
                    <a:ext uri="{9D8B030D-6E8A-4147-A177-3AD203B41FA5}">
                      <a16:colId xmlns:a16="http://schemas.microsoft.com/office/drawing/2014/main" val="20005"/>
                    </a:ext>
                  </a:extLst>
                </a:gridCol>
                <a:gridCol w="1227944">
                  <a:extLst>
                    <a:ext uri="{9D8B030D-6E8A-4147-A177-3AD203B41FA5}">
                      <a16:colId xmlns:a16="http://schemas.microsoft.com/office/drawing/2014/main" val="20006"/>
                    </a:ext>
                  </a:extLst>
                </a:gridCol>
                <a:gridCol w="946806">
                  <a:extLst>
                    <a:ext uri="{9D8B030D-6E8A-4147-A177-3AD203B41FA5}">
                      <a16:colId xmlns:a16="http://schemas.microsoft.com/office/drawing/2014/main" val="20007"/>
                    </a:ext>
                  </a:extLst>
                </a:gridCol>
                <a:gridCol w="1285667">
                  <a:extLst>
                    <a:ext uri="{9D8B030D-6E8A-4147-A177-3AD203B41FA5}">
                      <a16:colId xmlns:a16="http://schemas.microsoft.com/office/drawing/2014/main" val="20008"/>
                    </a:ext>
                  </a:extLst>
                </a:gridCol>
              </a:tblGrid>
              <a:tr h="319342">
                <a:tc gridSpan="9">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88473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Medical University of South Carolina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Chester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Columbia Medical Center Downtown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Lancaster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Kershaw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Marion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 Orangeburg</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MUSC Health Florence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13574">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$1,316,236K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$14,630K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$97,066K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$52,794K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$31,214K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$8,250K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$74,300K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$107,929K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$1,297,453K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$41,973K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$108,150K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$75,927K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$54,012K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$25,652K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$120,329K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$145,140K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$390,489K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$4,610K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$51,936K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$23,523K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$16,844K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$5,549K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$32,711K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$44,150K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9627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$336,782K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$6,603K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$17,374K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$19,967K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$12,991K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$11,120K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$31,042K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$36,789K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$1,882,404K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$45,252K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$135,696K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$84,710K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$55,122K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$17,148K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$130,921K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$171,995K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$168,816K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$8,193K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$15,803K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$24,576K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$8,535K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$3,395K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$15,165K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$19,859K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$1,340,648K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$17,235K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$121,471K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$58,064K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$37,119K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$10,102K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$89,735K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$115,340K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$1,321,517K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$49,447K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$135,342K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$83,506K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$64,229K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$145,325K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$155,106K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$2,662,164K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$66,682K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$256,812K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$141,570K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$101,348K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$41,512K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$235,060K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$270,446K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7222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$-52,490K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$-10,217K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$-51,806K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$-13,369K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$-16,391K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$-7,695K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$-40,386K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$-17,511K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1357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26.8%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16.7%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25.7%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40815">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40815">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40815">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40815">
                <a:tc gridSpan="9">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MUSC has 27% inpatient market share, and 14% outpatient market compared to hospitals/clinics in the MUSC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MUSC.</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299578572"/>
              </p:ext>
            </p:extLst>
          </p:nvPr>
        </p:nvGraphicFramePr>
        <p:xfrm>
          <a:off x="635000" y="952500"/>
          <a:ext cx="7402575" cy="5042917"/>
        </p:xfrm>
        <a:graphic>
          <a:graphicData uri="http://schemas.openxmlformats.org/drawingml/2006/table">
            <a:tbl>
              <a:tblPr/>
              <a:tblGrid>
                <a:gridCol w="1480515">
                  <a:extLst>
                    <a:ext uri="{9D8B030D-6E8A-4147-A177-3AD203B41FA5}">
                      <a16:colId xmlns:a16="http://schemas.microsoft.com/office/drawing/2014/main" val="20000"/>
                    </a:ext>
                  </a:extLst>
                </a:gridCol>
                <a:gridCol w="1480515">
                  <a:extLst>
                    <a:ext uri="{9D8B030D-6E8A-4147-A177-3AD203B41FA5}">
                      <a16:colId xmlns:a16="http://schemas.microsoft.com/office/drawing/2014/main" val="20001"/>
                    </a:ext>
                  </a:extLst>
                </a:gridCol>
                <a:gridCol w="1480515">
                  <a:extLst>
                    <a:ext uri="{9D8B030D-6E8A-4147-A177-3AD203B41FA5}">
                      <a16:colId xmlns:a16="http://schemas.microsoft.com/office/drawing/2014/main" val="20002"/>
                    </a:ext>
                  </a:extLst>
                </a:gridCol>
                <a:gridCol w="1480515">
                  <a:extLst>
                    <a:ext uri="{9D8B030D-6E8A-4147-A177-3AD203B41FA5}">
                      <a16:colId xmlns:a16="http://schemas.microsoft.com/office/drawing/2014/main" val="20003"/>
                    </a:ext>
                  </a:extLst>
                </a:gridCol>
                <a:gridCol w="1480515">
                  <a:extLst>
                    <a:ext uri="{9D8B030D-6E8A-4147-A177-3AD203B41FA5}">
                      <a16:colId xmlns:a16="http://schemas.microsoft.com/office/drawing/2014/main" val="20004"/>
                    </a:ext>
                  </a:extLst>
                </a:gridCol>
              </a:tblGrid>
              <a:tr h="78129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MUSC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MUSC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3081">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8,500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$ 7,243,630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$ 6,704,359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$ 3,130,879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$ 17,078,867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$ 1,390,777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$ 1,287,237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$ 601,128.7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$ 3,279,142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$ 8,283,677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$ 102,000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$ 8,288,477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$ 8,205,677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$ 18,245,906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$ 28,614,420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$ 13,362,691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$ 60,223,017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$ 3,503,214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$ 5,493,969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$ 2,565,637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$ 11,562,819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27% (inpatient) and 14%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19.2%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19.2%,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45193861"/>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5560">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3004">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5267">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8798">
                <a:tc>
                  <a:txBody>
                    <a:bodyPr/>
                    <a:lstStyle/>
                    <a:p>
                      <a:pPr marL="63500" marR="63500" algn="l">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$21,304.8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$47,942.2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$1,065.5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$26,637.4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$5,114.4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8879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$788.7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$3,943.7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$19,718.7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8879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$72,658.6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$2,790.1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$52,939.9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$203.3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$2,032.9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$10,164.5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8879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$9,208.5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8879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8879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$33,930.9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533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$1,302.9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$24,722.5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0672">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$4,746.7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5336">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$76.5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$483.0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$3,735.1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$19,995.6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4618689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$50,232.0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$20,860.0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$104,299.8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$5,934.0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$29,670.1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$20,025.6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$483.0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$3,735.1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$19,995.6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830303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$50,232.0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$183,759.3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$133,527.3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$44,469.7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$34,825.2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$372.5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$1,075.0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$6,695.0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$34,795.2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7257377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$10,046.4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$50,232.0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$5,014.8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$25,074.2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$125,371.2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$15,027.8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$75,139.2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$17,802.7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$-160.8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$1,361.6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$8,128.2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38</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MUSC’s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MUSC</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MUSC</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MUSC’s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46150</TotalTime>
  <Words>4636</Words>
  <Application>Microsoft Office PowerPoint</Application>
  <PresentationFormat>Widescreen</PresentationFormat>
  <Paragraphs>1269</Paragraphs>
  <Slides>41</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41</vt:i4>
      </vt:variant>
    </vt:vector>
  </HeadingPairs>
  <TitlesOfParts>
    <vt:vector size="51"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MUSC</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MUSC’S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2025-07-24T21:28:38Z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