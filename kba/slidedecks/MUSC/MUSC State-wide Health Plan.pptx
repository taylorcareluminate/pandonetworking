
<file path=[Content_Types].xml><?xml version="1.0" encoding="utf-8"?>
<Types xmlns="http://schemas.openxmlformats.org/package/2006/content-types">
  <Default Extension="jpeg" ContentType="image/jpeg"/>
  <Default Extension="jpg" ContentType="application/octet-stream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44" r:id="rId4"/>
  </p:sldMasterIdLst>
  <p:notesMasterIdLst>
    <p:notesMasterId r:id="rId24"/>
  </p:notesMasterIdLst>
  <p:sldIdLst>
    <p:sldId id="577" r:id="rId5"/>
    <p:sldId id="454" r:id="rId6"/>
    <p:sldId id="549" r:id="rId7"/>
    <p:sldId id="588" r:id="rId8"/>
    <p:sldId id="487" r:id="rId9"/>
    <p:sldId id="589" r:id="rId10"/>
    <p:sldId id="580" r:id="rId11"/>
    <p:sldId id="590" r:id="rId12"/>
    <p:sldId id="548" r:id="rId13"/>
    <p:sldId id="591" r:id="rId14"/>
    <p:sldId id="582" r:id="rId15"/>
    <p:sldId id="458" r:id="rId16"/>
    <p:sldId id="446" r:id="rId17"/>
    <p:sldId id="461" r:id="rId18"/>
    <p:sldId id="462" r:id="rId19"/>
    <p:sldId id="469" r:id="rId20"/>
    <p:sldId id="336" r:id="rId21"/>
    <p:sldId id="337" r:id="rId22"/>
    <p:sldId id="594" r:id="rId23"/>
  </p:sldIdLst>
  <p:sldSz cx="12192000" cy="6858000"/>
  <p:notesSz cx="7315200" cy="9601200"/>
  <p:custDataLst>
    <p:tags r:id="rId25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ill, Jack" initials="HJ" lastIdx="1" clrIdx="0">
    <p:extLst>
      <p:ext uri="{19B8F6BF-5375-455C-9EA6-DF929625EA0E}">
        <p15:presenceInfo xmlns:p15="http://schemas.microsoft.com/office/powerpoint/2012/main" userId="S::Jack.Hill@ahdi.com::a2532604-23e3-4156-966c-b672b0683ed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0589B"/>
    <a:srgbClr val="2F5597"/>
    <a:srgbClr val="6087CE"/>
    <a:srgbClr val="4468A5"/>
    <a:srgbClr val="F2F2F2"/>
    <a:srgbClr val="C55A11"/>
    <a:srgbClr val="F424AA"/>
    <a:srgbClr val="E23440"/>
    <a:srgbClr val="027587"/>
    <a:srgbClr val="7F7F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E759F92-F653-4699-AD28-C3B953EB9001}" v="53" dt="2024-10-10T18:40:22.021"/>
  </p1510:revLst>
</p1510:revInfo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8609" autoAdjust="0"/>
  </p:normalViewPr>
  <p:slideViewPr>
    <p:cSldViewPr snapToGrid="0">
      <p:cViewPr varScale="1">
        <p:scale>
          <a:sx n="95" d="100"/>
          <a:sy n="95" d="100"/>
        </p:scale>
        <p:origin x="1110" y="10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gs" Target="tags/tag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png"/><Relationship Id="rId1" Type="http://schemas.openxmlformats.org/officeDocument/2006/relationships/image" Target="../media/image22.jpe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png"/><Relationship Id="rId1" Type="http://schemas.openxmlformats.org/officeDocument/2006/relationships/image" Target="../media/image22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D150493-506C-4796-9188-B229C3F673EE}" type="doc">
      <dgm:prSet loTypeId="urn:microsoft.com/office/officeart/2005/8/layout/b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23E581B-AA16-403B-8AF5-1BB3E719881C}">
      <dgm:prSet phldrT="[Text]" custT="1"/>
      <dgm:spPr>
        <a:solidFill>
          <a:srgbClr val="59CAE8"/>
        </a:solidFill>
        <a:ln>
          <a:solidFill>
            <a:srgbClr val="59CAE8"/>
          </a:solidFill>
        </a:ln>
      </dgm:spPr>
      <dgm:t>
        <a:bodyPr/>
        <a:lstStyle/>
        <a:p>
          <a:r>
            <a:rPr lang="en-US" sz="2200" b="1" dirty="0"/>
            <a:t>BROKER DEVELOPMENT</a:t>
          </a:r>
        </a:p>
      </dgm:t>
    </dgm:pt>
    <dgm:pt modelId="{B1EFF21B-7CA5-4F93-B9E5-5284C3F28E15}" type="parTrans" cxnId="{2F92E761-FCD0-4BDD-A76B-9C732D3383BD}">
      <dgm:prSet/>
      <dgm:spPr/>
      <dgm:t>
        <a:bodyPr/>
        <a:lstStyle/>
        <a:p>
          <a:endParaRPr lang="en-US"/>
        </a:p>
      </dgm:t>
    </dgm:pt>
    <dgm:pt modelId="{1A5DEF5B-E65A-4FF8-AF95-9D9360F04B85}" type="sibTrans" cxnId="{2F92E761-FCD0-4BDD-A76B-9C732D3383BD}">
      <dgm:prSet/>
      <dgm:spPr/>
      <dgm:t>
        <a:bodyPr/>
        <a:lstStyle/>
        <a:p>
          <a:endParaRPr lang="en-US"/>
        </a:p>
      </dgm:t>
    </dgm:pt>
    <dgm:pt modelId="{7FF46690-C008-4C6D-8B8B-295F75E0DB90}">
      <dgm:prSet phldrT="[Text]" custT="1"/>
      <dgm:spPr>
        <a:solidFill>
          <a:schemeClr val="lt1">
            <a:hueOff val="0"/>
            <a:satOff val="0"/>
            <a:lumOff val="0"/>
            <a:alpha val="80000"/>
          </a:schemeClr>
        </a:solidFill>
        <a:ln>
          <a:solidFill>
            <a:schemeClr val="bg1">
              <a:lumMod val="65000"/>
            </a:schemeClr>
          </a:solidFill>
        </a:ln>
      </dgm:spPr>
      <dgm:t>
        <a:bodyPr tIns="91440"/>
        <a:lstStyle/>
        <a:p>
          <a:pPr marL="285750" indent="-228600">
            <a:lnSpc>
              <a:spcPct val="100000"/>
            </a:lnSpc>
            <a:spcAft>
              <a:spcPts val="300"/>
            </a:spcAft>
          </a:pPr>
          <a:endParaRPr lang="en-US" sz="1800" b="0" dirty="0"/>
        </a:p>
      </dgm:t>
    </dgm:pt>
    <dgm:pt modelId="{8D0C7DC4-BF81-461E-AD4F-3807C09AE856}" type="parTrans" cxnId="{F91C5992-82A2-4E51-88AD-3B34B316A11D}">
      <dgm:prSet/>
      <dgm:spPr/>
      <dgm:t>
        <a:bodyPr/>
        <a:lstStyle/>
        <a:p>
          <a:endParaRPr lang="en-US"/>
        </a:p>
      </dgm:t>
    </dgm:pt>
    <dgm:pt modelId="{B3C1D7E9-AE25-4261-B242-F121DEE18B6F}" type="sibTrans" cxnId="{F91C5992-82A2-4E51-88AD-3B34B316A11D}">
      <dgm:prSet/>
      <dgm:spPr/>
      <dgm:t>
        <a:bodyPr/>
        <a:lstStyle/>
        <a:p>
          <a:endParaRPr lang="en-US"/>
        </a:p>
      </dgm:t>
    </dgm:pt>
    <dgm:pt modelId="{137481BD-655E-4B21-9249-6EBB92970AA3}">
      <dgm:prSet phldrT="[Text]" custT="1"/>
      <dgm:spPr>
        <a:solidFill>
          <a:srgbClr val="59CAE8"/>
        </a:solidFill>
        <a:ln>
          <a:solidFill>
            <a:srgbClr val="59CAE8"/>
          </a:solidFill>
        </a:ln>
      </dgm:spPr>
      <dgm:t>
        <a:bodyPr/>
        <a:lstStyle/>
        <a:p>
          <a:r>
            <a:rPr lang="en-US" sz="2200" b="1" dirty="0"/>
            <a:t>DIRECT SALES</a:t>
          </a:r>
        </a:p>
      </dgm:t>
    </dgm:pt>
    <dgm:pt modelId="{ACB6711E-EC99-4F64-AEE7-58413CCAC090}" type="parTrans" cxnId="{BE4C9AF1-D175-4190-956C-E575898133B0}">
      <dgm:prSet/>
      <dgm:spPr/>
      <dgm:t>
        <a:bodyPr/>
        <a:lstStyle/>
        <a:p>
          <a:endParaRPr lang="en-US"/>
        </a:p>
      </dgm:t>
    </dgm:pt>
    <dgm:pt modelId="{6DA4AAFE-429F-489B-91ED-08FB3BF54110}" type="sibTrans" cxnId="{BE4C9AF1-D175-4190-956C-E575898133B0}">
      <dgm:prSet/>
      <dgm:spPr/>
      <dgm:t>
        <a:bodyPr/>
        <a:lstStyle/>
        <a:p>
          <a:endParaRPr lang="en-US"/>
        </a:p>
      </dgm:t>
    </dgm:pt>
    <dgm:pt modelId="{F7F7C9CC-CBF7-4EC6-A201-AF42BC40F2A0}">
      <dgm:prSet phldrT="[Text]" custT="1"/>
      <dgm:spPr>
        <a:solidFill>
          <a:schemeClr val="lt1">
            <a:hueOff val="0"/>
            <a:satOff val="0"/>
            <a:lumOff val="0"/>
            <a:alpha val="80000"/>
          </a:schemeClr>
        </a:solidFill>
        <a:ln>
          <a:solidFill>
            <a:schemeClr val="bg1">
              <a:lumMod val="65000"/>
            </a:schemeClr>
          </a:solidFill>
        </a:ln>
      </dgm:spPr>
      <dgm:t>
        <a:bodyPr tIns="91440"/>
        <a:lstStyle/>
        <a:p>
          <a:pPr marL="285750" indent="-228600">
            <a:lnSpc>
              <a:spcPct val="100000"/>
            </a:lnSpc>
            <a:spcAft>
              <a:spcPts val="300"/>
            </a:spcAft>
          </a:pPr>
          <a:endParaRPr lang="en-US" sz="1800" b="0" dirty="0"/>
        </a:p>
      </dgm:t>
    </dgm:pt>
    <dgm:pt modelId="{9087CC11-EF03-4DA5-ABF7-19F2B693FB4C}" type="parTrans" cxnId="{E3215492-455E-4EA7-919D-4D44F840E9C9}">
      <dgm:prSet/>
      <dgm:spPr/>
      <dgm:t>
        <a:bodyPr/>
        <a:lstStyle/>
        <a:p>
          <a:endParaRPr lang="en-US"/>
        </a:p>
      </dgm:t>
    </dgm:pt>
    <dgm:pt modelId="{43B95110-FECF-4DEB-82CB-554B129E2221}" type="sibTrans" cxnId="{E3215492-455E-4EA7-919D-4D44F840E9C9}">
      <dgm:prSet/>
      <dgm:spPr/>
      <dgm:t>
        <a:bodyPr/>
        <a:lstStyle/>
        <a:p>
          <a:endParaRPr lang="en-US"/>
        </a:p>
      </dgm:t>
    </dgm:pt>
    <dgm:pt modelId="{8AA02574-A625-4CCB-B607-53FB332909CE}">
      <dgm:prSet phldrT="[Text]"/>
      <dgm:spPr>
        <a:solidFill>
          <a:srgbClr val="59CAE8"/>
        </a:solidFill>
        <a:ln>
          <a:solidFill>
            <a:srgbClr val="59CAE8"/>
          </a:solidFill>
        </a:ln>
      </dgm:spPr>
      <dgm:t>
        <a:bodyPr/>
        <a:lstStyle/>
        <a:p>
          <a:r>
            <a:rPr lang="en-US" b="1" dirty="0"/>
            <a:t>SALES ADMINISTRATION</a:t>
          </a:r>
        </a:p>
      </dgm:t>
    </dgm:pt>
    <dgm:pt modelId="{03E4F07C-7651-4A84-978A-18980E54788A}" type="parTrans" cxnId="{04823003-2C67-4DC4-A96A-9D1D87D33B2A}">
      <dgm:prSet/>
      <dgm:spPr/>
      <dgm:t>
        <a:bodyPr/>
        <a:lstStyle/>
        <a:p>
          <a:endParaRPr lang="en-US"/>
        </a:p>
      </dgm:t>
    </dgm:pt>
    <dgm:pt modelId="{A59D420A-0509-48A4-84B8-BD859CBDE972}" type="sibTrans" cxnId="{04823003-2C67-4DC4-A96A-9D1D87D33B2A}">
      <dgm:prSet/>
      <dgm:spPr/>
      <dgm:t>
        <a:bodyPr/>
        <a:lstStyle/>
        <a:p>
          <a:endParaRPr lang="en-US"/>
        </a:p>
      </dgm:t>
    </dgm:pt>
    <dgm:pt modelId="{8F0095CA-0C27-493A-9874-D794A8A73536}">
      <dgm:prSet phldrT="[Text]" custT="1"/>
      <dgm:spPr>
        <a:solidFill>
          <a:schemeClr val="lt1">
            <a:hueOff val="0"/>
            <a:satOff val="0"/>
            <a:lumOff val="0"/>
            <a:alpha val="80000"/>
          </a:schemeClr>
        </a:solidFill>
        <a:ln>
          <a:solidFill>
            <a:schemeClr val="bg1">
              <a:lumMod val="65000"/>
            </a:schemeClr>
          </a:solidFill>
        </a:ln>
      </dgm:spPr>
      <dgm:t>
        <a:bodyPr tIns="91440"/>
        <a:lstStyle/>
        <a:p>
          <a:pPr marL="285750" indent="-228600">
            <a:lnSpc>
              <a:spcPct val="100000"/>
            </a:lnSpc>
            <a:spcAft>
              <a:spcPts val="300"/>
            </a:spcAft>
          </a:pPr>
          <a:endParaRPr lang="en-US" sz="1800" b="0" dirty="0"/>
        </a:p>
      </dgm:t>
    </dgm:pt>
    <dgm:pt modelId="{CDC7246F-F150-4E81-9FFD-97B9BE41076B}" type="parTrans" cxnId="{A94A4D77-D410-4172-B3AA-E2ACA791F98F}">
      <dgm:prSet/>
      <dgm:spPr/>
      <dgm:t>
        <a:bodyPr/>
        <a:lstStyle/>
        <a:p>
          <a:endParaRPr lang="en-US"/>
        </a:p>
      </dgm:t>
    </dgm:pt>
    <dgm:pt modelId="{510451AB-9983-4AEA-8022-D0BC130E6092}" type="sibTrans" cxnId="{A94A4D77-D410-4172-B3AA-E2ACA791F98F}">
      <dgm:prSet/>
      <dgm:spPr/>
      <dgm:t>
        <a:bodyPr/>
        <a:lstStyle/>
        <a:p>
          <a:endParaRPr lang="en-US"/>
        </a:p>
      </dgm:t>
    </dgm:pt>
    <dgm:pt modelId="{B1FA3D48-7F41-4C46-99D6-6C8591F4198C}">
      <dgm:prSet phldrT="[Text]"/>
      <dgm:spPr>
        <a:solidFill>
          <a:schemeClr val="lt1">
            <a:hueOff val="0"/>
            <a:satOff val="0"/>
            <a:lumOff val="0"/>
            <a:alpha val="80000"/>
          </a:schemeClr>
        </a:solidFill>
        <a:ln>
          <a:solidFill>
            <a:schemeClr val="bg1">
              <a:lumMod val="65000"/>
            </a:schemeClr>
          </a:solidFill>
        </a:ln>
      </dgm:spPr>
      <dgm:t>
        <a:bodyPr tIns="91440"/>
        <a:lstStyle/>
        <a:p>
          <a:pPr marL="114300" indent="0">
            <a:lnSpc>
              <a:spcPct val="100000"/>
            </a:lnSpc>
            <a:spcAft>
              <a:spcPts val="300"/>
            </a:spcAft>
          </a:pPr>
          <a:endParaRPr lang="en-US" sz="1500" b="0" dirty="0"/>
        </a:p>
      </dgm:t>
    </dgm:pt>
    <dgm:pt modelId="{012C922E-7A6C-43B7-A753-53C75D0CB07F}" type="parTrans" cxnId="{EBF30808-A408-4F9D-B9C2-E5FC4507A989}">
      <dgm:prSet/>
      <dgm:spPr/>
      <dgm:t>
        <a:bodyPr/>
        <a:lstStyle/>
        <a:p>
          <a:endParaRPr lang="en-US"/>
        </a:p>
      </dgm:t>
    </dgm:pt>
    <dgm:pt modelId="{4E6B45C1-37A8-43E1-8B00-EA4364BA9A53}" type="sibTrans" cxnId="{EBF30808-A408-4F9D-B9C2-E5FC4507A989}">
      <dgm:prSet/>
      <dgm:spPr/>
      <dgm:t>
        <a:bodyPr/>
        <a:lstStyle/>
        <a:p>
          <a:endParaRPr lang="en-US"/>
        </a:p>
      </dgm:t>
    </dgm:pt>
    <dgm:pt modelId="{5E564713-3E5C-4216-AC76-2C8D569707A1}">
      <dgm:prSet phldrT="[Text]"/>
      <dgm:spPr>
        <a:solidFill>
          <a:schemeClr val="lt1">
            <a:hueOff val="0"/>
            <a:satOff val="0"/>
            <a:lumOff val="0"/>
            <a:alpha val="80000"/>
          </a:schemeClr>
        </a:solidFill>
        <a:ln>
          <a:solidFill>
            <a:schemeClr val="bg1">
              <a:lumMod val="65000"/>
            </a:schemeClr>
          </a:solidFill>
        </a:ln>
      </dgm:spPr>
      <dgm:t>
        <a:bodyPr tIns="91440"/>
        <a:lstStyle/>
        <a:p>
          <a:pPr marL="228600" indent="0">
            <a:lnSpc>
              <a:spcPct val="100000"/>
            </a:lnSpc>
            <a:spcAft>
              <a:spcPts val="300"/>
            </a:spcAft>
          </a:pPr>
          <a:endParaRPr lang="en-US" sz="2100" b="0" dirty="0"/>
        </a:p>
      </dgm:t>
    </dgm:pt>
    <dgm:pt modelId="{0C8DA182-D421-4374-AA69-62A4033F8D61}" type="parTrans" cxnId="{D5EF1BE8-567B-4AEB-9931-155FFDAC15D1}">
      <dgm:prSet/>
      <dgm:spPr/>
      <dgm:t>
        <a:bodyPr/>
        <a:lstStyle/>
        <a:p>
          <a:endParaRPr lang="en-US"/>
        </a:p>
      </dgm:t>
    </dgm:pt>
    <dgm:pt modelId="{C594015F-2B43-47FD-9E44-22D00FC6EB48}" type="sibTrans" cxnId="{D5EF1BE8-567B-4AEB-9931-155FFDAC15D1}">
      <dgm:prSet/>
      <dgm:spPr/>
      <dgm:t>
        <a:bodyPr/>
        <a:lstStyle/>
        <a:p>
          <a:endParaRPr lang="en-US"/>
        </a:p>
      </dgm:t>
    </dgm:pt>
    <dgm:pt modelId="{02E691F9-88D3-4BD2-83C9-F0036F6DAFD4}" type="pres">
      <dgm:prSet presAssocID="{FD150493-506C-4796-9188-B229C3F673EE}" presName="diagram" presStyleCnt="0">
        <dgm:presLayoutVars>
          <dgm:dir/>
          <dgm:animLvl val="lvl"/>
          <dgm:resizeHandles val="exact"/>
        </dgm:presLayoutVars>
      </dgm:prSet>
      <dgm:spPr/>
    </dgm:pt>
    <dgm:pt modelId="{58D04B40-D6D0-4E84-B95B-18F2C07DF5B9}" type="pres">
      <dgm:prSet presAssocID="{D23E581B-AA16-403B-8AF5-1BB3E719881C}" presName="compNode" presStyleCnt="0"/>
      <dgm:spPr/>
    </dgm:pt>
    <dgm:pt modelId="{3F010C22-B439-4BEC-A07A-60ED666B2E08}" type="pres">
      <dgm:prSet presAssocID="{D23E581B-AA16-403B-8AF5-1BB3E719881C}" presName="childRect" presStyleLbl="bgAcc1" presStyleIdx="0" presStyleCnt="3" custScaleY="106070">
        <dgm:presLayoutVars>
          <dgm:bulletEnabled val="1"/>
        </dgm:presLayoutVars>
      </dgm:prSet>
      <dgm:spPr/>
    </dgm:pt>
    <dgm:pt modelId="{5F2862EE-15F0-400F-BA0C-7A5864BA0266}" type="pres">
      <dgm:prSet presAssocID="{D23E581B-AA16-403B-8AF5-1BB3E719881C}" presName="parentText" presStyleLbl="node1" presStyleIdx="0" presStyleCnt="0">
        <dgm:presLayoutVars>
          <dgm:chMax val="0"/>
          <dgm:bulletEnabled val="1"/>
        </dgm:presLayoutVars>
      </dgm:prSet>
      <dgm:spPr/>
    </dgm:pt>
    <dgm:pt modelId="{CBD6250E-21D7-41DA-B5C6-ED9529780301}" type="pres">
      <dgm:prSet presAssocID="{D23E581B-AA16-403B-8AF5-1BB3E719881C}" presName="parentRect" presStyleLbl="alignNode1" presStyleIdx="0" presStyleCnt="3"/>
      <dgm:spPr/>
    </dgm:pt>
    <dgm:pt modelId="{C9DDB7FA-A0FA-4D6A-949B-B117078ADD34}" type="pres">
      <dgm:prSet presAssocID="{D23E581B-AA16-403B-8AF5-1BB3E719881C}" presName="adorn" presStyleLbl="fgAccFollowNode1" presStyleIdx="0" presStyleCnt="3"/>
      <dgm:spPr>
        <a:blipFill>
          <a:blip xmlns:r="http://schemas.openxmlformats.org/officeDocument/2006/relationships" r:embed="rId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</dgm:spPr>
    </dgm:pt>
    <dgm:pt modelId="{E77E4508-34B4-407E-AA04-E065337321D5}" type="pres">
      <dgm:prSet presAssocID="{1A5DEF5B-E65A-4FF8-AF95-9D9360F04B85}" presName="sibTrans" presStyleLbl="sibTrans2D1" presStyleIdx="0" presStyleCnt="0"/>
      <dgm:spPr/>
    </dgm:pt>
    <dgm:pt modelId="{9DA3E70E-BD71-4D3F-B533-03B38D4C3DF0}" type="pres">
      <dgm:prSet presAssocID="{137481BD-655E-4B21-9249-6EBB92970AA3}" presName="compNode" presStyleCnt="0"/>
      <dgm:spPr/>
    </dgm:pt>
    <dgm:pt modelId="{8C4E3136-41AF-48D5-891D-C7A5263CF655}" type="pres">
      <dgm:prSet presAssocID="{137481BD-655E-4B21-9249-6EBB92970AA3}" presName="childRect" presStyleLbl="bgAcc1" presStyleIdx="1" presStyleCnt="3" custScaleY="106070">
        <dgm:presLayoutVars>
          <dgm:bulletEnabled val="1"/>
        </dgm:presLayoutVars>
      </dgm:prSet>
      <dgm:spPr/>
    </dgm:pt>
    <dgm:pt modelId="{87CDE648-3631-45A2-81CB-A378391DE746}" type="pres">
      <dgm:prSet presAssocID="{137481BD-655E-4B21-9249-6EBB92970AA3}" presName="parentText" presStyleLbl="node1" presStyleIdx="0" presStyleCnt="0">
        <dgm:presLayoutVars>
          <dgm:chMax val="0"/>
          <dgm:bulletEnabled val="1"/>
        </dgm:presLayoutVars>
      </dgm:prSet>
      <dgm:spPr/>
    </dgm:pt>
    <dgm:pt modelId="{79A312E4-6849-4D68-ADD1-B772AC6F907C}" type="pres">
      <dgm:prSet presAssocID="{137481BD-655E-4B21-9249-6EBB92970AA3}" presName="parentRect" presStyleLbl="alignNode1" presStyleIdx="1" presStyleCnt="3"/>
      <dgm:spPr/>
    </dgm:pt>
    <dgm:pt modelId="{59AE0CE5-CBA7-420A-835A-5F5591837FE8}" type="pres">
      <dgm:prSet presAssocID="{137481BD-655E-4B21-9249-6EBB92970AA3}" presName="adorn" presStyleLbl="fgAccFollowNode1" presStyleIdx="1" presStyleCnt="3"/>
      <dgm:spPr>
        <a:blipFill>
          <a:blip xmlns:r="http://schemas.openxmlformats.org/officeDocument/2006/relationships"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</dgm:spPr>
    </dgm:pt>
    <dgm:pt modelId="{D3E0BD9C-A15C-4128-8A3E-11E4925B5449}" type="pres">
      <dgm:prSet presAssocID="{6DA4AAFE-429F-489B-91ED-08FB3BF54110}" presName="sibTrans" presStyleLbl="sibTrans2D1" presStyleIdx="0" presStyleCnt="0"/>
      <dgm:spPr/>
    </dgm:pt>
    <dgm:pt modelId="{FEE7CB4D-9AA0-4FA3-ACBC-9D2E9B793FB1}" type="pres">
      <dgm:prSet presAssocID="{8AA02574-A625-4CCB-B607-53FB332909CE}" presName="compNode" presStyleCnt="0"/>
      <dgm:spPr/>
    </dgm:pt>
    <dgm:pt modelId="{35B06EAE-30F4-4745-ACED-5452905F1416}" type="pres">
      <dgm:prSet presAssocID="{8AA02574-A625-4CCB-B607-53FB332909CE}" presName="childRect" presStyleLbl="bgAcc1" presStyleIdx="2" presStyleCnt="3" custScaleY="106070">
        <dgm:presLayoutVars>
          <dgm:bulletEnabled val="1"/>
        </dgm:presLayoutVars>
      </dgm:prSet>
      <dgm:spPr/>
    </dgm:pt>
    <dgm:pt modelId="{9E8AA967-F63D-4462-B3DF-2E61DCE37D82}" type="pres">
      <dgm:prSet presAssocID="{8AA02574-A625-4CCB-B607-53FB332909CE}" presName="parentText" presStyleLbl="node1" presStyleIdx="0" presStyleCnt="0">
        <dgm:presLayoutVars>
          <dgm:chMax val="0"/>
          <dgm:bulletEnabled val="1"/>
        </dgm:presLayoutVars>
      </dgm:prSet>
      <dgm:spPr/>
    </dgm:pt>
    <dgm:pt modelId="{A8558B5A-0979-484B-BD3E-256476C68F9A}" type="pres">
      <dgm:prSet presAssocID="{8AA02574-A625-4CCB-B607-53FB332909CE}" presName="parentRect" presStyleLbl="alignNode1" presStyleIdx="2" presStyleCnt="3"/>
      <dgm:spPr/>
    </dgm:pt>
    <dgm:pt modelId="{1AE27240-F06A-48BF-83C8-82D83CBD609C}" type="pres">
      <dgm:prSet presAssocID="{8AA02574-A625-4CCB-B607-53FB332909CE}" presName="adorn" presStyleLbl="fgAccFollowNode1" presStyleIdx="2" presStyleCnt="3"/>
      <dgm:spPr>
        <a:blipFill>
          <a:blip xmlns:r="http://schemas.openxmlformats.org/officeDocument/2006/relationships"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</dgm:spPr>
    </dgm:pt>
  </dgm:ptLst>
  <dgm:cxnLst>
    <dgm:cxn modelId="{04823003-2C67-4DC4-A96A-9D1D87D33B2A}" srcId="{FD150493-506C-4796-9188-B229C3F673EE}" destId="{8AA02574-A625-4CCB-B607-53FB332909CE}" srcOrd="2" destOrd="0" parTransId="{03E4F07C-7651-4A84-978A-18980E54788A}" sibTransId="{A59D420A-0509-48A4-84B8-BD859CBDE972}"/>
    <dgm:cxn modelId="{54060E05-1455-499C-A6BB-E47A1C8EFC1A}" type="presOf" srcId="{B1FA3D48-7F41-4C46-99D6-6C8591F4198C}" destId="{8C4E3136-41AF-48D5-891D-C7A5263CF655}" srcOrd="0" destOrd="1" presId="urn:microsoft.com/office/officeart/2005/8/layout/bList2"/>
    <dgm:cxn modelId="{EBF30808-A408-4F9D-B9C2-E5FC4507A989}" srcId="{137481BD-655E-4B21-9249-6EBB92970AA3}" destId="{B1FA3D48-7F41-4C46-99D6-6C8591F4198C}" srcOrd="1" destOrd="0" parTransId="{012C922E-7A6C-43B7-A753-53C75D0CB07F}" sibTransId="{4E6B45C1-37A8-43E1-8B00-EA4364BA9A53}"/>
    <dgm:cxn modelId="{67E03231-DB0E-4277-AB75-FBA53D566E93}" type="presOf" srcId="{6DA4AAFE-429F-489B-91ED-08FB3BF54110}" destId="{D3E0BD9C-A15C-4128-8A3E-11E4925B5449}" srcOrd="0" destOrd="0" presId="urn:microsoft.com/office/officeart/2005/8/layout/bList2"/>
    <dgm:cxn modelId="{83C4A231-D186-4969-BA3D-B7D11C49A7DB}" type="presOf" srcId="{FD150493-506C-4796-9188-B229C3F673EE}" destId="{02E691F9-88D3-4BD2-83C9-F0036F6DAFD4}" srcOrd="0" destOrd="0" presId="urn:microsoft.com/office/officeart/2005/8/layout/bList2"/>
    <dgm:cxn modelId="{2F92E761-FCD0-4BDD-A76B-9C732D3383BD}" srcId="{FD150493-506C-4796-9188-B229C3F673EE}" destId="{D23E581B-AA16-403B-8AF5-1BB3E719881C}" srcOrd="0" destOrd="0" parTransId="{B1EFF21B-7CA5-4F93-B9E5-5284C3F28E15}" sibTransId="{1A5DEF5B-E65A-4FF8-AF95-9D9360F04B85}"/>
    <dgm:cxn modelId="{6F5B0544-A529-4966-AB26-9F11B7AE40CA}" type="presOf" srcId="{137481BD-655E-4B21-9249-6EBB92970AA3}" destId="{79A312E4-6849-4D68-ADD1-B772AC6F907C}" srcOrd="1" destOrd="0" presId="urn:microsoft.com/office/officeart/2005/8/layout/bList2"/>
    <dgm:cxn modelId="{A94A4D77-D410-4172-B3AA-E2ACA791F98F}" srcId="{8AA02574-A625-4CCB-B607-53FB332909CE}" destId="{8F0095CA-0C27-493A-9874-D794A8A73536}" srcOrd="0" destOrd="0" parTransId="{CDC7246F-F150-4E81-9FFD-97B9BE41076B}" sibTransId="{510451AB-9983-4AEA-8022-D0BC130E6092}"/>
    <dgm:cxn modelId="{EEE04859-9D6F-4F7C-A816-0425AD38F258}" type="presOf" srcId="{D23E581B-AA16-403B-8AF5-1BB3E719881C}" destId="{CBD6250E-21D7-41DA-B5C6-ED9529780301}" srcOrd="1" destOrd="0" presId="urn:microsoft.com/office/officeart/2005/8/layout/bList2"/>
    <dgm:cxn modelId="{C3C9F559-4F82-4941-A725-E9BCE191CFCA}" type="presOf" srcId="{5E564713-3E5C-4216-AC76-2C8D569707A1}" destId="{35B06EAE-30F4-4745-ACED-5452905F1416}" srcOrd="0" destOrd="1" presId="urn:microsoft.com/office/officeart/2005/8/layout/bList2"/>
    <dgm:cxn modelId="{49843980-F694-4D65-86B3-4D28E75D1CAD}" type="presOf" srcId="{137481BD-655E-4B21-9249-6EBB92970AA3}" destId="{87CDE648-3631-45A2-81CB-A378391DE746}" srcOrd="0" destOrd="0" presId="urn:microsoft.com/office/officeart/2005/8/layout/bList2"/>
    <dgm:cxn modelId="{BAD32D88-086B-4163-8EEE-CFA5FBE13314}" type="presOf" srcId="{F7F7C9CC-CBF7-4EC6-A201-AF42BC40F2A0}" destId="{8C4E3136-41AF-48D5-891D-C7A5263CF655}" srcOrd="0" destOrd="0" presId="urn:microsoft.com/office/officeart/2005/8/layout/bList2"/>
    <dgm:cxn modelId="{E3215492-455E-4EA7-919D-4D44F840E9C9}" srcId="{137481BD-655E-4B21-9249-6EBB92970AA3}" destId="{F7F7C9CC-CBF7-4EC6-A201-AF42BC40F2A0}" srcOrd="0" destOrd="0" parTransId="{9087CC11-EF03-4DA5-ABF7-19F2B693FB4C}" sibTransId="{43B95110-FECF-4DEB-82CB-554B129E2221}"/>
    <dgm:cxn modelId="{F91C5992-82A2-4E51-88AD-3B34B316A11D}" srcId="{D23E581B-AA16-403B-8AF5-1BB3E719881C}" destId="{7FF46690-C008-4C6D-8B8B-295F75E0DB90}" srcOrd="0" destOrd="0" parTransId="{8D0C7DC4-BF81-461E-AD4F-3807C09AE856}" sibTransId="{B3C1D7E9-AE25-4261-B242-F121DEE18B6F}"/>
    <dgm:cxn modelId="{92EAACA0-EC69-4A7A-A0D6-B767ABABFD4D}" type="presOf" srcId="{8AA02574-A625-4CCB-B607-53FB332909CE}" destId="{9E8AA967-F63D-4462-B3DF-2E61DCE37D82}" srcOrd="0" destOrd="0" presId="urn:microsoft.com/office/officeart/2005/8/layout/bList2"/>
    <dgm:cxn modelId="{FB851ADA-FDC3-4AC9-B5D1-634F1680EA45}" type="presOf" srcId="{D23E581B-AA16-403B-8AF5-1BB3E719881C}" destId="{5F2862EE-15F0-400F-BA0C-7A5864BA0266}" srcOrd="0" destOrd="0" presId="urn:microsoft.com/office/officeart/2005/8/layout/bList2"/>
    <dgm:cxn modelId="{D5EF1BE8-567B-4AEB-9931-155FFDAC15D1}" srcId="{8AA02574-A625-4CCB-B607-53FB332909CE}" destId="{5E564713-3E5C-4216-AC76-2C8D569707A1}" srcOrd="1" destOrd="0" parTransId="{0C8DA182-D421-4374-AA69-62A4033F8D61}" sibTransId="{C594015F-2B43-47FD-9E44-22D00FC6EB48}"/>
    <dgm:cxn modelId="{AECB39EB-1DBA-434A-8146-CF9B196B8451}" type="presOf" srcId="{8F0095CA-0C27-493A-9874-D794A8A73536}" destId="{35B06EAE-30F4-4745-ACED-5452905F1416}" srcOrd="0" destOrd="0" presId="urn:microsoft.com/office/officeart/2005/8/layout/bList2"/>
    <dgm:cxn modelId="{A3AD3BED-9760-4A23-A6A8-1FADD02C6B08}" type="presOf" srcId="{1A5DEF5B-E65A-4FF8-AF95-9D9360F04B85}" destId="{E77E4508-34B4-407E-AA04-E065337321D5}" srcOrd="0" destOrd="0" presId="urn:microsoft.com/office/officeart/2005/8/layout/bList2"/>
    <dgm:cxn modelId="{758129EF-89A9-4155-9DEC-39FAD16AFE4C}" type="presOf" srcId="{7FF46690-C008-4C6D-8B8B-295F75E0DB90}" destId="{3F010C22-B439-4BEC-A07A-60ED666B2E08}" srcOrd="0" destOrd="0" presId="urn:microsoft.com/office/officeart/2005/8/layout/bList2"/>
    <dgm:cxn modelId="{9E65D2EF-C724-4A4E-A250-0CDA6B8D3B0C}" type="presOf" srcId="{8AA02574-A625-4CCB-B607-53FB332909CE}" destId="{A8558B5A-0979-484B-BD3E-256476C68F9A}" srcOrd="1" destOrd="0" presId="urn:microsoft.com/office/officeart/2005/8/layout/bList2"/>
    <dgm:cxn modelId="{BE4C9AF1-D175-4190-956C-E575898133B0}" srcId="{FD150493-506C-4796-9188-B229C3F673EE}" destId="{137481BD-655E-4B21-9249-6EBB92970AA3}" srcOrd="1" destOrd="0" parTransId="{ACB6711E-EC99-4F64-AEE7-58413CCAC090}" sibTransId="{6DA4AAFE-429F-489B-91ED-08FB3BF54110}"/>
    <dgm:cxn modelId="{B5885EA0-DA88-4518-B897-8E4982D27502}" type="presParOf" srcId="{02E691F9-88D3-4BD2-83C9-F0036F6DAFD4}" destId="{58D04B40-D6D0-4E84-B95B-18F2C07DF5B9}" srcOrd="0" destOrd="0" presId="urn:microsoft.com/office/officeart/2005/8/layout/bList2"/>
    <dgm:cxn modelId="{0CC27C19-DFA1-4B50-89B5-9D9EF36DF7F7}" type="presParOf" srcId="{58D04B40-D6D0-4E84-B95B-18F2C07DF5B9}" destId="{3F010C22-B439-4BEC-A07A-60ED666B2E08}" srcOrd="0" destOrd="0" presId="urn:microsoft.com/office/officeart/2005/8/layout/bList2"/>
    <dgm:cxn modelId="{902D026E-25F8-4507-85F1-8886A8485D85}" type="presParOf" srcId="{58D04B40-D6D0-4E84-B95B-18F2C07DF5B9}" destId="{5F2862EE-15F0-400F-BA0C-7A5864BA0266}" srcOrd="1" destOrd="0" presId="urn:microsoft.com/office/officeart/2005/8/layout/bList2"/>
    <dgm:cxn modelId="{200FCB12-E1A4-4B3E-91D1-228A8C46AB54}" type="presParOf" srcId="{58D04B40-D6D0-4E84-B95B-18F2C07DF5B9}" destId="{CBD6250E-21D7-41DA-B5C6-ED9529780301}" srcOrd="2" destOrd="0" presId="urn:microsoft.com/office/officeart/2005/8/layout/bList2"/>
    <dgm:cxn modelId="{7012B8A7-875F-46B3-8C5A-A9BD60F7D309}" type="presParOf" srcId="{58D04B40-D6D0-4E84-B95B-18F2C07DF5B9}" destId="{C9DDB7FA-A0FA-4D6A-949B-B117078ADD34}" srcOrd="3" destOrd="0" presId="urn:microsoft.com/office/officeart/2005/8/layout/bList2"/>
    <dgm:cxn modelId="{BC40FDAD-F912-41AF-8C81-6A33BE58279A}" type="presParOf" srcId="{02E691F9-88D3-4BD2-83C9-F0036F6DAFD4}" destId="{E77E4508-34B4-407E-AA04-E065337321D5}" srcOrd="1" destOrd="0" presId="urn:microsoft.com/office/officeart/2005/8/layout/bList2"/>
    <dgm:cxn modelId="{FF99F07A-CF7A-4B8D-99C8-32ABC0973A79}" type="presParOf" srcId="{02E691F9-88D3-4BD2-83C9-F0036F6DAFD4}" destId="{9DA3E70E-BD71-4D3F-B533-03B38D4C3DF0}" srcOrd="2" destOrd="0" presId="urn:microsoft.com/office/officeart/2005/8/layout/bList2"/>
    <dgm:cxn modelId="{293E5CD8-2971-4070-8F9A-C3CF67512C00}" type="presParOf" srcId="{9DA3E70E-BD71-4D3F-B533-03B38D4C3DF0}" destId="{8C4E3136-41AF-48D5-891D-C7A5263CF655}" srcOrd="0" destOrd="0" presId="urn:microsoft.com/office/officeart/2005/8/layout/bList2"/>
    <dgm:cxn modelId="{03C40921-D762-4C86-9E2B-9930035E07F1}" type="presParOf" srcId="{9DA3E70E-BD71-4D3F-B533-03B38D4C3DF0}" destId="{87CDE648-3631-45A2-81CB-A378391DE746}" srcOrd="1" destOrd="0" presId="urn:microsoft.com/office/officeart/2005/8/layout/bList2"/>
    <dgm:cxn modelId="{B22706E5-299E-4A4D-BE8A-BEA92B369AC1}" type="presParOf" srcId="{9DA3E70E-BD71-4D3F-B533-03B38D4C3DF0}" destId="{79A312E4-6849-4D68-ADD1-B772AC6F907C}" srcOrd="2" destOrd="0" presId="urn:microsoft.com/office/officeart/2005/8/layout/bList2"/>
    <dgm:cxn modelId="{BA59C74A-96C1-4D66-B62F-0D9FD3E10D2E}" type="presParOf" srcId="{9DA3E70E-BD71-4D3F-B533-03B38D4C3DF0}" destId="{59AE0CE5-CBA7-420A-835A-5F5591837FE8}" srcOrd="3" destOrd="0" presId="urn:microsoft.com/office/officeart/2005/8/layout/bList2"/>
    <dgm:cxn modelId="{D569563E-4821-4932-9DEE-077AF6C7AC8D}" type="presParOf" srcId="{02E691F9-88D3-4BD2-83C9-F0036F6DAFD4}" destId="{D3E0BD9C-A15C-4128-8A3E-11E4925B5449}" srcOrd="3" destOrd="0" presId="urn:microsoft.com/office/officeart/2005/8/layout/bList2"/>
    <dgm:cxn modelId="{BA380A69-4FA1-47AC-9025-058A2CE8BDB0}" type="presParOf" srcId="{02E691F9-88D3-4BD2-83C9-F0036F6DAFD4}" destId="{FEE7CB4D-9AA0-4FA3-ACBC-9D2E9B793FB1}" srcOrd="4" destOrd="0" presId="urn:microsoft.com/office/officeart/2005/8/layout/bList2"/>
    <dgm:cxn modelId="{7816995C-B8DE-43A8-95DC-F6E98D106E71}" type="presParOf" srcId="{FEE7CB4D-9AA0-4FA3-ACBC-9D2E9B793FB1}" destId="{35B06EAE-30F4-4745-ACED-5452905F1416}" srcOrd="0" destOrd="0" presId="urn:microsoft.com/office/officeart/2005/8/layout/bList2"/>
    <dgm:cxn modelId="{282DD5D8-A007-4939-9EE0-EB47E62C0F7D}" type="presParOf" srcId="{FEE7CB4D-9AA0-4FA3-ACBC-9D2E9B793FB1}" destId="{9E8AA967-F63D-4462-B3DF-2E61DCE37D82}" srcOrd="1" destOrd="0" presId="urn:microsoft.com/office/officeart/2005/8/layout/bList2"/>
    <dgm:cxn modelId="{D9AD3E0C-08BA-47EA-993B-0B017926FEC1}" type="presParOf" srcId="{FEE7CB4D-9AA0-4FA3-ACBC-9D2E9B793FB1}" destId="{A8558B5A-0979-484B-BD3E-256476C68F9A}" srcOrd="2" destOrd="0" presId="urn:microsoft.com/office/officeart/2005/8/layout/bList2"/>
    <dgm:cxn modelId="{AB163A00-5796-4F8F-85A5-9EA91057261F}" type="presParOf" srcId="{FEE7CB4D-9AA0-4FA3-ACBC-9D2E9B793FB1}" destId="{1AE27240-F06A-48BF-83C8-82D83CBD609C}" srcOrd="3" destOrd="0" presId="urn:microsoft.com/office/officeart/2005/8/layout/b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010C22-B439-4BEC-A07A-60ED666B2E08}">
      <dsp:nvSpPr>
        <dsp:cNvPr id="0" name=""/>
        <dsp:cNvSpPr/>
      </dsp:nvSpPr>
      <dsp:spPr>
        <a:xfrm>
          <a:off x="7242" y="681733"/>
          <a:ext cx="3127976" cy="2476700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hueOff val="0"/>
            <a:satOff val="0"/>
            <a:lumOff val="0"/>
            <a:alpha val="80000"/>
          </a:schemeClr>
        </a:solidFill>
        <a:ln w="12700" cap="flat" cmpd="sng" algn="ctr">
          <a:solidFill>
            <a:schemeClr val="bg1">
              <a:lumMod val="6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91440" rIns="22860" bIns="22860" numCol="1" spcCol="1270" anchor="t" anchorCtr="0">
          <a:noAutofit/>
        </a:bodyPr>
        <a:lstStyle/>
        <a:p>
          <a:pPr marL="285750" lvl="1" indent="-228600" algn="l" defTabSz="800100">
            <a:lnSpc>
              <a:spcPct val="100000"/>
            </a:lnSpc>
            <a:spcBef>
              <a:spcPct val="0"/>
            </a:spcBef>
            <a:spcAft>
              <a:spcPts val="300"/>
            </a:spcAft>
            <a:buChar char="•"/>
          </a:pPr>
          <a:endParaRPr lang="en-US" sz="1800" b="0" kern="1200" dirty="0"/>
        </a:p>
      </dsp:txBody>
      <dsp:txXfrm>
        <a:off x="65274" y="739765"/>
        <a:ext cx="3011912" cy="2418668"/>
      </dsp:txXfrm>
    </dsp:sp>
    <dsp:sp modelId="{CBD6250E-21D7-41DA-B5C6-ED9529780301}">
      <dsp:nvSpPr>
        <dsp:cNvPr id="0" name=""/>
        <dsp:cNvSpPr/>
      </dsp:nvSpPr>
      <dsp:spPr>
        <a:xfrm>
          <a:off x="7242" y="3087567"/>
          <a:ext cx="3127976" cy="1004036"/>
        </a:xfrm>
        <a:prstGeom prst="rect">
          <a:avLst/>
        </a:prstGeom>
        <a:solidFill>
          <a:srgbClr val="59CAE8"/>
        </a:solidFill>
        <a:ln w="12700" cap="flat" cmpd="sng" algn="ctr">
          <a:solidFill>
            <a:srgbClr val="59CAE8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0" rIns="27940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/>
            <a:t>BROKER DEVELOPMENT</a:t>
          </a:r>
        </a:p>
      </dsp:txBody>
      <dsp:txXfrm>
        <a:off x="7242" y="3087567"/>
        <a:ext cx="2202800" cy="1004036"/>
      </dsp:txXfrm>
    </dsp:sp>
    <dsp:sp modelId="{C9DDB7FA-A0FA-4D6A-949B-B117078ADD34}">
      <dsp:nvSpPr>
        <dsp:cNvPr id="0" name=""/>
        <dsp:cNvSpPr/>
      </dsp:nvSpPr>
      <dsp:spPr>
        <a:xfrm>
          <a:off x="2298527" y="3247049"/>
          <a:ext cx="1094791" cy="1094791"/>
        </a:xfrm>
        <a:prstGeom prst="ellipse">
          <a:avLst/>
        </a:prstGeom>
        <a:blipFill>
          <a:blip xmlns:r="http://schemas.openxmlformats.org/officeDocument/2006/relationships" r:embed="rId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4E3136-41AF-48D5-891D-C7A5263CF655}">
      <dsp:nvSpPr>
        <dsp:cNvPr id="0" name=""/>
        <dsp:cNvSpPr/>
      </dsp:nvSpPr>
      <dsp:spPr>
        <a:xfrm>
          <a:off x="3664547" y="681733"/>
          <a:ext cx="3127976" cy="2476700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hueOff val="0"/>
            <a:satOff val="0"/>
            <a:lumOff val="0"/>
            <a:alpha val="80000"/>
          </a:schemeClr>
        </a:solidFill>
        <a:ln w="12700" cap="flat" cmpd="sng" algn="ctr">
          <a:solidFill>
            <a:schemeClr val="bg1">
              <a:lumMod val="6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91440" rIns="22860" bIns="22860" numCol="1" spcCol="1270" anchor="t" anchorCtr="0">
          <a:noAutofit/>
        </a:bodyPr>
        <a:lstStyle/>
        <a:p>
          <a:pPr marL="285750" lvl="1" indent="-228600" algn="l" defTabSz="800100">
            <a:lnSpc>
              <a:spcPct val="100000"/>
            </a:lnSpc>
            <a:spcBef>
              <a:spcPct val="0"/>
            </a:spcBef>
            <a:spcAft>
              <a:spcPts val="300"/>
            </a:spcAft>
            <a:buChar char="•"/>
          </a:pPr>
          <a:endParaRPr lang="en-US" sz="1800" b="0" kern="1200" dirty="0"/>
        </a:p>
        <a:p>
          <a:pPr marL="114300" lvl="1" indent="0" algn="l" defTabSz="666750">
            <a:lnSpc>
              <a:spcPct val="100000"/>
            </a:lnSpc>
            <a:spcBef>
              <a:spcPct val="0"/>
            </a:spcBef>
            <a:spcAft>
              <a:spcPts val="300"/>
            </a:spcAft>
            <a:buChar char="•"/>
          </a:pPr>
          <a:endParaRPr lang="en-US" sz="1500" b="0" kern="1200" dirty="0"/>
        </a:p>
      </dsp:txBody>
      <dsp:txXfrm>
        <a:off x="3722579" y="739765"/>
        <a:ext cx="3011912" cy="2418668"/>
      </dsp:txXfrm>
    </dsp:sp>
    <dsp:sp modelId="{79A312E4-6849-4D68-ADD1-B772AC6F907C}">
      <dsp:nvSpPr>
        <dsp:cNvPr id="0" name=""/>
        <dsp:cNvSpPr/>
      </dsp:nvSpPr>
      <dsp:spPr>
        <a:xfrm>
          <a:off x="3664547" y="3087567"/>
          <a:ext cx="3127976" cy="1004036"/>
        </a:xfrm>
        <a:prstGeom prst="rect">
          <a:avLst/>
        </a:prstGeom>
        <a:solidFill>
          <a:srgbClr val="59CAE8"/>
        </a:solidFill>
        <a:ln w="12700" cap="flat" cmpd="sng" algn="ctr">
          <a:solidFill>
            <a:srgbClr val="59CAE8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0" rIns="27940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/>
            <a:t>DIRECT SALES</a:t>
          </a:r>
        </a:p>
      </dsp:txBody>
      <dsp:txXfrm>
        <a:off x="3664547" y="3087567"/>
        <a:ext cx="2202800" cy="1004036"/>
      </dsp:txXfrm>
    </dsp:sp>
    <dsp:sp modelId="{59AE0CE5-CBA7-420A-835A-5F5591837FE8}">
      <dsp:nvSpPr>
        <dsp:cNvPr id="0" name=""/>
        <dsp:cNvSpPr/>
      </dsp:nvSpPr>
      <dsp:spPr>
        <a:xfrm>
          <a:off x="5955832" y="3247049"/>
          <a:ext cx="1094791" cy="1094791"/>
        </a:xfrm>
        <a:prstGeom prst="ellipse">
          <a:avLst/>
        </a:prstGeom>
        <a:blipFill>
          <a:blip xmlns:r="http://schemas.openxmlformats.org/officeDocument/2006/relationships"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5B06EAE-30F4-4745-ACED-5452905F1416}">
      <dsp:nvSpPr>
        <dsp:cNvPr id="0" name=""/>
        <dsp:cNvSpPr/>
      </dsp:nvSpPr>
      <dsp:spPr>
        <a:xfrm>
          <a:off x="7321852" y="681733"/>
          <a:ext cx="3127976" cy="2476700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hueOff val="0"/>
            <a:satOff val="0"/>
            <a:lumOff val="0"/>
            <a:alpha val="80000"/>
          </a:schemeClr>
        </a:solidFill>
        <a:ln w="12700" cap="flat" cmpd="sng" algn="ctr">
          <a:solidFill>
            <a:schemeClr val="bg1">
              <a:lumMod val="6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91440" rIns="22860" bIns="22860" numCol="1" spcCol="1270" anchor="t" anchorCtr="0">
          <a:noAutofit/>
        </a:bodyPr>
        <a:lstStyle/>
        <a:p>
          <a:pPr marL="285750" lvl="1" indent="-228600" algn="l" defTabSz="800100">
            <a:lnSpc>
              <a:spcPct val="100000"/>
            </a:lnSpc>
            <a:spcBef>
              <a:spcPct val="0"/>
            </a:spcBef>
            <a:spcAft>
              <a:spcPts val="300"/>
            </a:spcAft>
            <a:buChar char="•"/>
          </a:pPr>
          <a:endParaRPr lang="en-US" sz="1800" b="0" kern="1200" dirty="0"/>
        </a:p>
        <a:p>
          <a:pPr marL="228600" lvl="1" indent="0" algn="l" defTabSz="933450">
            <a:lnSpc>
              <a:spcPct val="100000"/>
            </a:lnSpc>
            <a:spcBef>
              <a:spcPct val="0"/>
            </a:spcBef>
            <a:spcAft>
              <a:spcPts val="300"/>
            </a:spcAft>
            <a:buChar char="•"/>
          </a:pPr>
          <a:endParaRPr lang="en-US" sz="2100" b="0" kern="1200" dirty="0"/>
        </a:p>
      </dsp:txBody>
      <dsp:txXfrm>
        <a:off x="7379884" y="739765"/>
        <a:ext cx="3011912" cy="2418668"/>
      </dsp:txXfrm>
    </dsp:sp>
    <dsp:sp modelId="{A8558B5A-0979-484B-BD3E-256476C68F9A}">
      <dsp:nvSpPr>
        <dsp:cNvPr id="0" name=""/>
        <dsp:cNvSpPr/>
      </dsp:nvSpPr>
      <dsp:spPr>
        <a:xfrm>
          <a:off x="7321852" y="3087567"/>
          <a:ext cx="3127976" cy="1004036"/>
        </a:xfrm>
        <a:prstGeom prst="rect">
          <a:avLst/>
        </a:prstGeom>
        <a:solidFill>
          <a:srgbClr val="59CAE8"/>
        </a:solidFill>
        <a:ln w="12700" cap="flat" cmpd="sng" algn="ctr">
          <a:solidFill>
            <a:srgbClr val="59CAE8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0" rIns="27940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/>
            <a:t>SALES ADMINISTRATION</a:t>
          </a:r>
        </a:p>
      </dsp:txBody>
      <dsp:txXfrm>
        <a:off x="7321852" y="3087567"/>
        <a:ext cx="2202800" cy="1004036"/>
      </dsp:txXfrm>
    </dsp:sp>
    <dsp:sp modelId="{1AE27240-F06A-48BF-83C8-82D83CBD609C}">
      <dsp:nvSpPr>
        <dsp:cNvPr id="0" name=""/>
        <dsp:cNvSpPr/>
      </dsp:nvSpPr>
      <dsp:spPr>
        <a:xfrm>
          <a:off x="9613138" y="3247049"/>
          <a:ext cx="1094791" cy="1094791"/>
        </a:xfrm>
        <a:prstGeom prst="ellipse">
          <a:avLst/>
        </a:prstGeom>
        <a:blipFill>
          <a:blip xmlns:r="http://schemas.openxmlformats.org/officeDocument/2006/relationships"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bList2">
  <dgm:title val=""/>
  <dgm:desc val=""/>
  <dgm:catLst>
    <dgm:cat type="list" pri="7000"/>
    <dgm:cat type="convert" pri="16000"/>
    <dgm:cat type="picture" pri="28000"/>
    <dgm:cat type="pictureconvert" pri="28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dir/>
      <dgm:animLvl val="lvl"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w" for="ch" ptType="sibTrans" refType="w" refFor="ch" refForName="compNode" op="equ" fact="0.08"/>
      <dgm:constr type="sp" refType="w" refFor="ch" refForName="compNode" op="equ" fact="0.16"/>
      <dgm:constr type="primFontSz" for="des" forName="parentText" op="equ" val="65"/>
      <dgm:constr type="primFontSz" for="des" forName="childRect" op="equ" val="65"/>
    </dgm:constrLst>
    <dgm:ruleLst/>
    <dgm:forEach name="nodesForEach" axis="ch" ptType="node">
      <dgm:layoutNode name="compNode">
        <dgm:alg type="composite">
          <dgm:param type="ar" val="0.943"/>
        </dgm:alg>
        <dgm:shape xmlns:r="http://schemas.openxmlformats.org/officeDocument/2006/relationships" r:blip="">
          <dgm:adjLst/>
        </dgm:shape>
        <dgm:presOf/>
        <dgm:choose name="Name3">
          <dgm:if name="Name4" axis="self" func="var" arg="dir" op="equ" val="norm">
            <dgm:constrLst>
              <dgm:constr type="w" val="1"/>
              <dgm:constr type="h" refType="w" fact="1.06"/>
              <dgm:constr type="h" for="ch" forName="childRect" refType="h" fact="0.65"/>
              <dgm:constr type="w" for="ch" forName="childRect" refType="w" fact="0.923"/>
              <dgm:constr type="l" for="ch" forName="childRect"/>
              <dgm:constr type="t" for="ch" forName="childRect"/>
              <dgm:constr type="w" for="ch" forName="parentText" refType="w" fact="0.65"/>
              <dgm:constr type="h" for="ch" forName="parentText" refType="h" refFor="ch" refForName="childRect" fact="0.43"/>
              <dgm:constr type="l" for="ch" forName="parentText"/>
              <dgm:constr type="t" for="ch" forName="parentText" refType="h" refFor="ch" refForName="childRect"/>
              <dgm:constr type="w" for="ch" forName="parentRect" refType="w" fact="0.923"/>
              <dgm:constr type="h" for="ch" forName="parentRect" refType="h" refFor="ch" refForName="parentText"/>
              <dgm:constr type="l" for="ch" forName="parentRect"/>
              <dgm:constr type="t" for="ch" forName="parentRect" refType="t" refFor="ch" refForName="parentText"/>
              <dgm:constr type="w" for="ch" forName="adorn" refType="w" refFor="ch" refForName="parentRect" fact="0.35"/>
              <dgm:constr type="h" for="ch" forName="adorn" refType="w" refFor="ch" refForName="parentRect" fact="0.35"/>
              <dgm:constr type="b" for="ch" forName="adorn" refType="h"/>
              <dgm:constr type="r" for="ch" forName="adorn" refType="w"/>
            </dgm:constrLst>
          </dgm:if>
          <dgm:else name="Name5">
            <dgm:constrLst>
              <dgm:constr type="w" val="1"/>
              <dgm:constr type="h" refType="w" fact="1.06"/>
              <dgm:constr type="h" for="ch" forName="childRect" refType="h" fact="0.65"/>
              <dgm:constr type="w" for="ch" forName="childRect" refType="w" fact="0.923"/>
              <dgm:constr type="r" for="ch" forName="childRect" refType="w"/>
              <dgm:constr type="t" for="ch" forName="childRect"/>
              <dgm:constr type="w" for="ch" forName="parentText" refType="w" fact="0.65"/>
              <dgm:constr type="h" for="ch" forName="parentText" refType="h" refFor="ch" refForName="childRect" fact="0.43"/>
              <dgm:constr type="r" for="ch" forName="parentText" refType="w"/>
              <dgm:constr type="t" for="ch" forName="parentText" refType="h" refFor="ch" refForName="childRect"/>
              <dgm:constr type="w" for="ch" forName="parentRect" refType="w" fact="0.923"/>
              <dgm:constr type="h" for="ch" forName="parentRect" refType="h" refFor="ch" refForName="parentText"/>
              <dgm:constr type="r" for="ch" forName="parentRect" refType="w"/>
              <dgm:constr type="t" for="ch" forName="parentRect" refType="t" refFor="ch" refForName="parentText"/>
              <dgm:constr type="w" for="ch" forName="adorn" refType="w" refFor="ch" refForName="parentRect" fact="0.35"/>
              <dgm:constr type="h" for="ch" forName="adorn" refType="w" refFor="ch" refForName="parentRect" fact="0.35"/>
              <dgm:constr type="b" for="ch" forName="adorn" refType="h"/>
              <dgm:constr type="l" for="ch" forName="adorn"/>
            </dgm:constrLst>
          </dgm:else>
        </dgm:choose>
        <dgm:ruleLst/>
        <dgm:layoutNode name="childRect" styleLbl="b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2SameRect" r:blip="">
            <dgm:adjLst>
              <dgm:adj idx="1" val="0.08"/>
            </dgm:adjLst>
          </dgm:shape>
          <dgm:presOf axis="des" ptType="node"/>
          <dgm:constrLst>
            <dgm:constr type="secFontSz" refType="primFontSz"/>
            <dgm:constr type="tMarg" refType="primFontSz" fact="0.3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layoutNode name="parentText">
          <dgm:varLst>
            <dgm:chMax val="0"/>
            <dgm:bulletEnabled val="1"/>
          </dgm:varLst>
          <dgm:choose name="Name6">
            <dgm:if name="Name7" func="var" arg="dir" op="equ" val="norm">
              <dgm:alg type="tx">
                <dgm:param type="parTxLTRAlign" val="l"/>
                <dgm:param type="parTxRTLAlign" val="l"/>
              </dgm:alg>
            </dgm:if>
            <dgm:else name="Name8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ect" r:blip="" zOrderOff="1" hideGeom="1">
            <dgm:adjLst/>
          </dgm:shape>
          <dgm:presOf axis="self" ptType="node"/>
          <dgm:constrLst>
            <dgm:constr type="tMarg"/>
            <dgm:constr type="bMarg"/>
            <dgm:constr type="lMarg" refType="primFontSz" fact="0.3"/>
            <dgm:constr type="rMarg" refType="primFontSz" fact="0.1"/>
          </dgm:constrLst>
          <dgm:ruleLst>
            <dgm:rule type="primFontSz" val="5" fact="NaN" max="NaN"/>
          </dgm:ruleLst>
        </dgm:layoutNode>
        <dgm:layoutNode name="parentRect" styleLbl="alignNode1">
          <dgm:alg type="sp"/>
          <dgm:shape xmlns:r="http://schemas.openxmlformats.org/officeDocument/2006/relationships" type="rect" r:blip="">
            <dgm:adjLst/>
          </dgm:shape>
          <dgm:presOf axis="self" ptType="node"/>
          <dgm:constrLst/>
          <dgm:ruleLst/>
        </dgm:layoutNode>
        <dgm:layoutNode name="adorn" styleLbl="fgAccFollowNod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w" val="1"/>
            <dgm:constr type="h" refType="w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3"/>
            <a:ext cx="3169920" cy="481726"/>
          </a:xfrm>
          <a:prstGeom prst="rect">
            <a:avLst/>
          </a:prstGeom>
        </p:spPr>
        <p:txBody>
          <a:bodyPr vert="horz" lIns="95178" tIns="47590" rIns="95178" bIns="4759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3"/>
            <a:ext cx="3169920" cy="481726"/>
          </a:xfrm>
          <a:prstGeom prst="rect">
            <a:avLst/>
          </a:prstGeom>
        </p:spPr>
        <p:txBody>
          <a:bodyPr vert="horz" lIns="95178" tIns="47590" rIns="95178" bIns="47590" rtlCol="0"/>
          <a:lstStyle>
            <a:lvl1pPr algn="r">
              <a:defRPr sz="1200"/>
            </a:lvl1pPr>
          </a:lstStyle>
          <a:p>
            <a:fld id="{7444AE22-21A2-46C1-A42F-3B4E8AE858E0}" type="datetimeFigureOut">
              <a:rPr lang="en-US" smtClean="0"/>
              <a:t>10/11/2024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9463" y="1200150"/>
            <a:ext cx="5756275" cy="32385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178" tIns="47590" rIns="95178" bIns="4759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80"/>
            <a:ext cx="5852160" cy="3780473"/>
          </a:xfrm>
          <a:prstGeom prst="rect">
            <a:avLst/>
          </a:prstGeom>
        </p:spPr>
        <p:txBody>
          <a:bodyPr vert="horz" lIns="95178" tIns="47590" rIns="95178" bIns="4759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7"/>
            <a:ext cx="3169920" cy="481725"/>
          </a:xfrm>
          <a:prstGeom prst="rect">
            <a:avLst/>
          </a:prstGeom>
        </p:spPr>
        <p:txBody>
          <a:bodyPr vert="horz" lIns="95178" tIns="47590" rIns="95178" bIns="4759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7"/>
            <a:ext cx="3169920" cy="481725"/>
          </a:xfrm>
          <a:prstGeom prst="rect">
            <a:avLst/>
          </a:prstGeom>
        </p:spPr>
        <p:txBody>
          <a:bodyPr vert="horz" lIns="95178" tIns="47590" rIns="95178" bIns="47590" rtlCol="0" anchor="b"/>
          <a:lstStyle>
            <a:lvl1pPr algn="r">
              <a:defRPr sz="1200"/>
            </a:lvl1pPr>
          </a:lstStyle>
          <a:p>
            <a:fld id="{4139CA89-B4B2-4050-B038-8DF8E3A335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12282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39CA89-B4B2-4050-B038-8DF8E3A33516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93513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0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9E3A3-CB7F-45DB-8359-15D56BF69054}" type="datetime1">
              <a:rPr lang="en-US" smtClean="0"/>
              <a:t>10/11/2024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3C3935"/>
                </a:solidFill>
              </a:defRPr>
            </a:lvl1pPr>
          </a:lstStyle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64269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1" y="6471095"/>
            <a:ext cx="2743200" cy="250380"/>
          </a:xfrm>
        </p:spPr>
        <p:txBody>
          <a:bodyPr/>
          <a:lstStyle/>
          <a:p>
            <a:fld id="{F72A7C2C-8CBA-48FC-B47E-140B6C446377}" type="datetime1">
              <a:rPr lang="en-US" smtClean="0"/>
              <a:t>10/11/2024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2" y="6471095"/>
            <a:ext cx="4114800" cy="250380"/>
          </a:xfrm>
        </p:spPr>
        <p:txBody>
          <a:bodyPr/>
          <a:lstStyle>
            <a:lvl1pPr>
              <a:defRPr u="none" spc="300"/>
            </a:lvl1pPr>
          </a:lstStyle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1" y="6471095"/>
            <a:ext cx="2743200" cy="250380"/>
          </a:xfrm>
        </p:spPr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0943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2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2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6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11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1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2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2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EA2DF-E8B3-4F59-892A-C88743D6614D}" type="datetime1">
              <a:rPr lang="en-US" smtClean="0"/>
              <a:t>10/11/2024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88758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F09CE-D3E6-4C73-9F86-6AA671224F8D}" type="datetime1">
              <a:rPr lang="en-US" smtClean="0"/>
              <a:t>10/11/2024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811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6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2" y="2505076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F486B-7A2A-4144-9105-81B5F9A702C4}" type="datetime1">
              <a:rPr lang="en-US" smtClean="0"/>
              <a:t>10/11/2024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090408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 b="1" spc="150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1" y="6480530"/>
            <a:ext cx="2743200" cy="365125"/>
          </a:xfrm>
        </p:spPr>
        <p:txBody>
          <a:bodyPr/>
          <a:lstStyle/>
          <a:p>
            <a:fld id="{13273CBB-1638-4F86-93C5-F289BAB372F8}" type="datetime1">
              <a:rPr lang="en-US" smtClean="0"/>
              <a:t>10/11/2024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2" y="6480530"/>
            <a:ext cx="4114800" cy="365125"/>
          </a:xfrm>
        </p:spPr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542866" y="6480530"/>
            <a:ext cx="2743200" cy="365125"/>
          </a:xfrm>
        </p:spPr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58042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223EA-AE71-4F47-9CA1-AC76DEC2B9E8}" type="datetime1">
              <a:rPr lang="en-US" smtClean="0"/>
              <a:t>10/11/2024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04691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31445-0B45-4F5C-971D-F971BB7E35C1}" type="datetime1">
              <a:rPr lang="en-US" smtClean="0"/>
              <a:t>10/11/2024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445348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1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6" indent="0">
              <a:buNone/>
              <a:defRPr sz="2800"/>
            </a:lvl2pPr>
            <a:lvl3pPr marL="914411" indent="0">
              <a:buNone/>
              <a:defRPr sz="2400"/>
            </a:lvl3pPr>
            <a:lvl4pPr marL="1371617" indent="0">
              <a:buNone/>
              <a:defRPr sz="2000"/>
            </a:lvl4pPr>
            <a:lvl5pPr marL="1828823" indent="0">
              <a:buNone/>
              <a:defRPr sz="2000"/>
            </a:lvl5pPr>
            <a:lvl6pPr marL="2286029" indent="0">
              <a:buNone/>
              <a:defRPr sz="2000"/>
            </a:lvl6pPr>
            <a:lvl7pPr marL="2743234" indent="0">
              <a:buNone/>
              <a:defRPr sz="2000"/>
            </a:lvl7pPr>
            <a:lvl8pPr marL="3200440" indent="0">
              <a:buNone/>
              <a:defRPr sz="2000"/>
            </a:lvl8pPr>
            <a:lvl9pPr marL="3657646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79F89-B9FD-40DA-A4A8-5549A4F97D5C}" type="datetime1">
              <a:rPr lang="en-US" smtClean="0"/>
              <a:t>10/11/2024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4758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DCB60-C599-4AF2-9C31-DCD390D25F3F}" type="datetime1">
              <a:rPr lang="en-US" smtClean="0"/>
              <a:t>10/11/2024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22362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899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7DF3D-F650-432E-A6F6-439A0FF53FA0}" type="datetime1">
              <a:rPr lang="en-US" smtClean="0"/>
              <a:t>10/11/2024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98819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2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2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D48873-4569-48AE-9711-BF92EE297A77}" type="datetime1">
              <a:rPr lang="en-US" smtClean="0"/>
              <a:t>10/11/2024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spc="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custDataLst>
      <p:tags r:id="rId13"/>
    </p:custDataLst>
    <p:extLst>
      <p:ext uri="{BB962C8B-B14F-4D97-AF65-F5344CB8AC3E}">
        <p14:creationId xmlns:p14="http://schemas.microsoft.com/office/powerpoint/2010/main" val="3019070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hf hdr="0" dt="0"/>
  <p:txStyles>
    <p:titleStyle>
      <a:lvl1pPr algn="l" defTabSz="914411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3" indent="-228603" algn="l" defTabSz="914411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8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14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20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26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32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37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43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48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1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17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23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29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34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4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4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jpeg"/><Relationship Id="rId7" Type="http://schemas.openxmlformats.org/officeDocument/2006/relationships/image" Target="../media/image30.jpe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10" Type="http://schemas.openxmlformats.org/officeDocument/2006/relationships/image" Target="../media/image33.jpeg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sv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8.svg"/><Relationship Id="rId11" Type="http://schemas.openxmlformats.org/officeDocument/2006/relationships/image" Target="../media/image6.png"/><Relationship Id="rId5" Type="http://schemas.openxmlformats.org/officeDocument/2006/relationships/image" Target="../media/image37.png"/><Relationship Id="rId10" Type="http://schemas.openxmlformats.org/officeDocument/2006/relationships/image" Target="../media/image42.svg"/><Relationship Id="rId4" Type="http://schemas.openxmlformats.org/officeDocument/2006/relationships/image" Target="../media/image36.svg"/><Relationship Id="rId9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82DDCACF-3B2C-45F6-88BB-41D64A301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5345DC2E-CAD1-4A3B-BB6C-627FC995D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1</a:t>
            </a:fld>
            <a:endParaRPr lang="en-US" dirty="0"/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BB2B5697-E648-40EC-88C5-97A77999C18D}"/>
              </a:ext>
            </a:extLst>
          </p:cNvPr>
          <p:cNvSpPr/>
          <p:nvPr/>
        </p:nvSpPr>
        <p:spPr>
          <a:xfrm>
            <a:off x="0" y="0"/>
            <a:ext cx="981075" cy="6858000"/>
          </a:xfrm>
          <a:prstGeom prst="rect">
            <a:avLst/>
          </a:prstGeom>
          <a:solidFill>
            <a:srgbClr val="254F9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9">
            <a:extLst>
              <a:ext uri="{FF2B5EF4-FFF2-40B4-BE49-F238E27FC236}">
                <a16:creationId xmlns:a16="http://schemas.microsoft.com/office/drawing/2014/main" id="{B981BBA2-A3ED-6F7B-693B-880E5B031B26}"/>
              </a:ext>
            </a:extLst>
          </p:cNvPr>
          <p:cNvSpPr txBox="1"/>
          <p:nvPr/>
        </p:nvSpPr>
        <p:spPr>
          <a:xfrm>
            <a:off x="896984" y="0"/>
            <a:ext cx="11295016" cy="707886"/>
          </a:xfrm>
          <a:prstGeom prst="rect">
            <a:avLst/>
          </a:prstGeom>
          <a:solidFill>
            <a:srgbClr val="30589B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MUSC-SPONSORED STATEWIDE DTE HEALTH PLAN</a:t>
            </a:r>
          </a:p>
          <a:p>
            <a:r>
              <a:rPr lang="en-US" sz="2000" b="1">
                <a:solidFill>
                  <a:schemeClr val="bg1"/>
                </a:solidFill>
              </a:rPr>
              <a:t>October 14, </a:t>
            </a:r>
            <a:r>
              <a:rPr lang="en-US" sz="2000" b="1" dirty="0">
                <a:solidFill>
                  <a:schemeClr val="bg1"/>
                </a:solidFill>
              </a:rPr>
              <a:t>2024</a:t>
            </a:r>
          </a:p>
        </p:txBody>
      </p:sp>
      <p:pic>
        <p:nvPicPr>
          <p:cNvPr id="6" name="Picture 5" descr="A close-up of a logo&#10;&#10;Description automatically generated with medium confidence">
            <a:extLst>
              <a:ext uri="{FF2B5EF4-FFF2-40B4-BE49-F238E27FC236}">
                <a16:creationId xmlns:a16="http://schemas.microsoft.com/office/drawing/2014/main" id="{F66A7945-0E55-35D5-B6B3-1588521B85C3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6318" y="735756"/>
            <a:ext cx="1493520" cy="818092"/>
          </a:xfrm>
          <a:prstGeom prst="rect">
            <a:avLst/>
          </a:prstGeom>
        </p:spPr>
      </p:pic>
      <p:pic>
        <p:nvPicPr>
          <p:cNvPr id="7" name="Content Placeholder 6"/>
          <p:cNvPicPr>
            <a:picLocks noGrp="1"/>
          </p:cNvPicPr>
          <p:nvPr>
            <p:ph/>
          </p:nvPr>
        </p:nvPicPr>
        <p:blipFill>
          <a:blip r:embed="rId3" cstate="print"/>
          <a:stretch>
            <a:fillRect/>
          </a:stretch>
        </p:blipFill>
        <p:spPr>
          <a:xfrm>
            <a:off x="987552" y="1636776"/>
            <a:ext cx="11201400" cy="5221224"/>
          </a:xfrm>
          <a:prstGeom prst="rect">
            <a:avLst/>
          </a:prstGeom>
        </p:spPr>
      </p:pic>
      <p:pic>
        <p:nvPicPr>
          <p:cNvPr id="8" name="Content Placeholder 7"/>
          <p:cNvPicPr>
            <a:picLocks noGrp="1"/>
          </p:cNvPicPr>
          <p:nvPr>
            <p:ph/>
          </p:nvPr>
        </p:nvPicPr>
        <p:blipFill>
          <a:blip r:embed="rId4" cstate="print"/>
          <a:stretch>
            <a:fillRect/>
          </a:stretch>
        </p:blipFill>
        <p:spPr>
          <a:xfrm>
            <a:off x="10232136" y="795528"/>
            <a:ext cx="1770665" cy="704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7270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6">
            <a:extLst>
              <a:ext uri="{FF2B5EF4-FFF2-40B4-BE49-F238E27FC236}">
                <a16:creationId xmlns:a16="http://schemas.microsoft.com/office/drawing/2014/main" id="{BB5D2E5F-7796-4A80-A1F0-244E8AA938D3}"/>
              </a:ext>
            </a:extLst>
          </p:cNvPr>
          <p:cNvSpPr/>
          <p:nvPr/>
        </p:nvSpPr>
        <p:spPr>
          <a:xfrm>
            <a:off x="0" y="0"/>
            <a:ext cx="3095625" cy="6845654"/>
          </a:xfrm>
          <a:prstGeom prst="rect">
            <a:avLst/>
          </a:prstGeom>
          <a:gradFill flip="none" rotWithShape="1">
            <a:gsLst>
              <a:gs pos="0">
                <a:srgbClr val="C6C5C5"/>
              </a:gs>
              <a:gs pos="68000">
                <a:srgbClr val="B7B6B6"/>
              </a:gs>
              <a:gs pos="43000">
                <a:srgbClr val="A8A7A7"/>
              </a:gs>
              <a:gs pos="93000">
                <a:srgbClr val="A8A7A7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4" descr="Key Benefit Administrators Office Photos | Glassdoor">
            <a:extLst>
              <a:ext uri="{FF2B5EF4-FFF2-40B4-BE49-F238E27FC236}">
                <a16:creationId xmlns:a16="http://schemas.microsoft.com/office/drawing/2014/main" id="{6CEA05B0-D867-49BD-BC20-745975B6F4C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screen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2828926" y="0"/>
            <a:ext cx="936307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1">
            <a:extLst>
              <a:ext uri="{FF2B5EF4-FFF2-40B4-BE49-F238E27FC236}">
                <a16:creationId xmlns:a16="http://schemas.microsoft.com/office/drawing/2014/main" id="{F9E7BDA1-C2F0-47FC-8E35-E6C155FA11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0" y="-4227"/>
            <a:ext cx="3000375" cy="1000125"/>
          </a:xfrm>
          <a:prstGeom prst="rect">
            <a:avLst/>
          </a:prstGeom>
        </p:spPr>
      </p:pic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49B0828E-DA28-4FBB-9235-C683F78A9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2</a:t>
            </a:fld>
            <a:endParaRPr lang="en-US" dirty="0"/>
          </a:p>
        </p:txBody>
      </p:sp>
      <p:sp>
        <p:nvSpPr>
          <p:cNvPr id="6" name="Rectangle 23">
            <a:extLst>
              <a:ext uri="{FF2B5EF4-FFF2-40B4-BE49-F238E27FC236}">
                <a16:creationId xmlns:a16="http://schemas.microsoft.com/office/drawing/2014/main" id="{88F9B5E8-D3C0-4885-9F6B-379525D51687}"/>
              </a:ext>
            </a:extLst>
          </p:cNvPr>
          <p:cNvSpPr/>
          <p:nvPr/>
        </p:nvSpPr>
        <p:spPr>
          <a:xfrm>
            <a:off x="-3796" y="1415180"/>
            <a:ext cx="7385671" cy="5439997"/>
          </a:xfrm>
          <a:prstGeom prst="rect">
            <a:avLst/>
          </a:prstGeom>
          <a:gradFill flip="none" rotWithShape="1">
            <a:gsLst>
              <a:gs pos="0">
                <a:srgbClr val="C6C5C5"/>
              </a:gs>
              <a:gs pos="68000">
                <a:srgbClr val="B7B6B6"/>
              </a:gs>
              <a:gs pos="43000">
                <a:srgbClr val="A8A7A7"/>
              </a:gs>
              <a:gs pos="93000">
                <a:srgbClr val="A8A7A7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: Single Corner Rounded 4">
            <a:extLst>
              <a:ext uri="{FF2B5EF4-FFF2-40B4-BE49-F238E27FC236}">
                <a16:creationId xmlns:a16="http://schemas.microsoft.com/office/drawing/2014/main" id="{AD1D7B3D-91CE-4826-90BB-5F92F8BB9481}"/>
              </a:ext>
            </a:extLst>
          </p:cNvPr>
          <p:cNvSpPr/>
          <p:nvPr/>
        </p:nvSpPr>
        <p:spPr>
          <a:xfrm>
            <a:off x="0" y="1009650"/>
            <a:ext cx="7477760" cy="5845528"/>
          </a:xfrm>
          <a:prstGeom prst="round1Rect">
            <a:avLst>
              <a:gd name="adj" fmla="val 12082"/>
            </a:avLst>
          </a:prstGeom>
          <a:solidFill>
            <a:srgbClr val="254F96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274320" rtlCol="0" anchor="ctr"/>
          <a:lstStyle/>
          <a:p>
            <a:pPr marL="457206" lvl="1" defTabSz="914411" fontAlgn="base">
              <a:defRPr/>
            </a:pPr>
            <a:endParaRPr lang="en-US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reeform: Shape 5">
            <a:extLst>
              <a:ext uri="{FF2B5EF4-FFF2-40B4-BE49-F238E27FC236}">
                <a16:creationId xmlns:a16="http://schemas.microsoft.com/office/drawing/2014/main" id="{D616A404-B324-4680-9ED6-0746BB2B3A16}"/>
              </a:ext>
            </a:extLst>
          </p:cNvPr>
          <p:cNvSpPr/>
          <p:nvPr/>
        </p:nvSpPr>
        <p:spPr>
          <a:xfrm rot="16200000">
            <a:off x="5385400" y="4759020"/>
            <a:ext cx="1873602" cy="2318710"/>
          </a:xfrm>
          <a:custGeom>
            <a:avLst/>
            <a:gdLst>
              <a:gd name="connsiteX0" fmla="*/ 2160577 w 2160577"/>
              <a:gd name="connsiteY0" fmla="*/ 3114245 h 3114245"/>
              <a:gd name="connsiteX1" fmla="*/ 0 w 2160577"/>
              <a:gd name="connsiteY1" fmla="*/ 3114245 h 3114245"/>
              <a:gd name="connsiteX2" fmla="*/ 0 w 2160577"/>
              <a:gd name="connsiteY2" fmla="*/ 0 h 3114245"/>
              <a:gd name="connsiteX3" fmla="*/ 40185 w 2160577"/>
              <a:gd name="connsiteY3" fmla="*/ 231682 h 3114245"/>
              <a:gd name="connsiteX4" fmla="*/ 2101086 w 2160577"/>
              <a:gd name="connsiteY4" fmla="*/ 3114244 h 3114245"/>
              <a:gd name="connsiteX5" fmla="*/ 2158168 w 2160577"/>
              <a:gd name="connsiteY5" fmla="*/ 3108162 h 3114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60577" h="3114245">
                <a:moveTo>
                  <a:pt x="2160577" y="3114245"/>
                </a:moveTo>
                <a:lnTo>
                  <a:pt x="0" y="3114245"/>
                </a:lnTo>
                <a:lnTo>
                  <a:pt x="0" y="0"/>
                </a:lnTo>
                <a:lnTo>
                  <a:pt x="40185" y="231682"/>
                </a:lnTo>
                <a:cubicBezTo>
                  <a:pt x="379730" y="1925643"/>
                  <a:pt x="1174627" y="3114244"/>
                  <a:pt x="2101086" y="3114244"/>
                </a:cubicBezTo>
                <a:lnTo>
                  <a:pt x="2158168" y="3108162"/>
                </a:lnTo>
                <a:close/>
              </a:path>
            </a:pathLst>
          </a:custGeom>
          <a:solidFill>
            <a:srgbClr val="59CAE8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411">
              <a:defRPr/>
            </a:pPr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B009B747-65C4-4EA6-8340-1E1EB3FE580D}"/>
              </a:ext>
            </a:extLst>
          </p:cNvPr>
          <p:cNvSpPr txBox="1"/>
          <p:nvPr/>
        </p:nvSpPr>
        <p:spPr>
          <a:xfrm>
            <a:off x="452402" y="2374741"/>
            <a:ext cx="665080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3" indent="-285753" defTabSz="914411" fontAlgn="base"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n-US" sz="1600" spc="15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Founded in 1979 and headquartered in Indianapolis, IN​</a:t>
            </a:r>
          </a:p>
          <a:p>
            <a:pPr marL="285753" indent="-285753" defTabSz="914411" fontAlgn="base"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n-US" sz="1600" spc="15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Full-service TPA specializing in the administration of self-funded health plans and population health management​</a:t>
            </a:r>
          </a:p>
          <a:p>
            <a:pPr marL="285753" indent="-285753" defTabSz="914411" fontAlgn="base"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n-US" sz="1600" spc="15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One of the country’s largest independently-owned TPAs </a:t>
            </a:r>
          </a:p>
          <a:p>
            <a:pPr marL="285753" indent="-285753" defTabSz="914411" fontAlgn="base"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n-US" sz="1600" spc="15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Key Family is a commonly-held group of benefits related organizations with:​</a:t>
            </a:r>
          </a:p>
          <a:p>
            <a:pPr marL="742960" lvl="1" indent="-285753" defTabSz="914411" fontAlgn="base"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n-US" sz="1600" spc="15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3,000+ corporate clients​</a:t>
            </a:r>
          </a:p>
          <a:p>
            <a:pPr marL="742960" lvl="1" indent="-285753" defTabSz="914411" fontAlgn="base"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n-US" sz="1600" spc="15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3.0 million members under management​</a:t>
            </a:r>
          </a:p>
          <a:p>
            <a:pPr marL="742960" lvl="1" indent="-285753" defTabSz="914411" fontAlgn="base"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n-US" sz="1600" spc="15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700 Employees</a:t>
            </a:r>
          </a:p>
          <a:p>
            <a:pPr marL="285753" indent="-285753" defTabSz="914411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600" spc="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Exclusive Relationships</a:t>
            </a:r>
          </a:p>
          <a:p>
            <a:pPr marL="285753" indent="-285753" defTabSz="914411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600" spc="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 know The Market – Agents, Networks, and MGAs</a:t>
            </a:r>
          </a:p>
        </p:txBody>
      </p:sp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EFB33B55-1AEB-4BBC-9F3F-C887F0C42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07458" y="6360415"/>
            <a:ext cx="4114800" cy="365125"/>
          </a:xfrm>
        </p:spPr>
        <p:txBody>
          <a:bodyPr/>
          <a:lstStyle/>
          <a:p>
            <a:r>
              <a:rPr lang="en-US" dirty="0"/>
              <a:t>Key Benefit Administrators</a:t>
            </a:r>
          </a:p>
        </p:txBody>
      </p:sp>
      <p:pic>
        <p:nvPicPr>
          <p:cNvPr id="11" name="Picture 4">
            <a:extLst>
              <a:ext uri="{FF2B5EF4-FFF2-40B4-BE49-F238E27FC236}">
                <a16:creationId xmlns:a16="http://schemas.microsoft.com/office/drawing/2014/main" id="{BA081F8A-34EF-4672-9370-DBC0CA8BE7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2402" y="1312679"/>
            <a:ext cx="3951647" cy="767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15615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5">
            <a:extLst>
              <a:ext uri="{FF2B5EF4-FFF2-40B4-BE49-F238E27FC236}">
                <a16:creationId xmlns:a16="http://schemas.microsoft.com/office/drawing/2014/main" id="{E4D4BA5E-072E-BFC4-86A7-A8EC0FA16D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975" y="1574349"/>
            <a:ext cx="7705725" cy="4657725"/>
          </a:xfrm>
          <a:prstGeom prst="rect">
            <a:avLst/>
          </a:prstGeom>
        </p:spPr>
      </p:pic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226CABA5-B853-4CE2-9D0B-B06245726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6376" y="6471095"/>
            <a:ext cx="4114800" cy="250380"/>
          </a:xfrm>
        </p:spPr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F34C8217-D749-4511-B7B5-02F77484B378}"/>
              </a:ext>
            </a:extLst>
          </p:cNvPr>
          <p:cNvSpPr/>
          <p:nvPr/>
        </p:nvSpPr>
        <p:spPr>
          <a:xfrm>
            <a:off x="10887075" y="0"/>
            <a:ext cx="1304925" cy="6872068"/>
          </a:xfrm>
          <a:prstGeom prst="rect">
            <a:avLst/>
          </a:prstGeom>
          <a:solidFill>
            <a:srgbClr val="254F9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EC4C45-7E95-496F-9B8E-C3FD224C0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3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53571B1-9896-47E3-8ADF-78C3864841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376" y="1023915"/>
            <a:ext cx="9984796" cy="502882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 b="1" spc="150" dirty="0">
                <a:solidFill>
                  <a:srgbClr val="0F5DA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Market Leader in Private Labeled DTE Plans</a:t>
            </a:r>
            <a:endParaRPr lang="en-US" sz="2800" b="1" cap="all" spc="150" dirty="0">
              <a:solidFill>
                <a:srgbClr val="0F5DA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654A305B-9BE0-4449-826C-ACCCBB29F8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96376" y="293729"/>
            <a:ext cx="3645898" cy="629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80AE72B-2936-B7FD-B16B-B7DDE61C48BF}"/>
              </a:ext>
            </a:extLst>
          </p:cNvPr>
          <p:cNvSpPr/>
          <p:nvPr/>
        </p:nvSpPr>
        <p:spPr>
          <a:xfrm>
            <a:off x="2659533" y="3974049"/>
            <a:ext cx="2272613" cy="610340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Bentonville, AR</a:t>
            </a:r>
          </a:p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Northwest Health Plan</a:t>
            </a:r>
          </a:p>
        </p:txBody>
      </p:sp>
      <p:sp>
        <p:nvSpPr>
          <p:cNvPr id="9" name="Rectangle: Rounded Corners 9">
            <a:extLst>
              <a:ext uri="{FF2B5EF4-FFF2-40B4-BE49-F238E27FC236}">
                <a16:creationId xmlns:a16="http://schemas.microsoft.com/office/drawing/2014/main" id="{83BAAF75-9BFE-8A09-84C8-29127AD11CC8}"/>
              </a:ext>
            </a:extLst>
          </p:cNvPr>
          <p:cNvSpPr/>
          <p:nvPr/>
        </p:nvSpPr>
        <p:spPr>
          <a:xfrm>
            <a:off x="3572730" y="5257649"/>
            <a:ext cx="2272613" cy="610340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Meridian, MS</a:t>
            </a:r>
          </a:p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Affinity Health Plan</a:t>
            </a:r>
          </a:p>
        </p:txBody>
      </p:sp>
      <p:sp>
        <p:nvSpPr>
          <p:cNvPr id="10" name="Rectangle: Rounded Corners 10">
            <a:extLst>
              <a:ext uri="{FF2B5EF4-FFF2-40B4-BE49-F238E27FC236}">
                <a16:creationId xmlns:a16="http://schemas.microsoft.com/office/drawing/2014/main" id="{F7F76DEC-1B86-5F34-4522-EE137E2BEDC5}"/>
              </a:ext>
            </a:extLst>
          </p:cNvPr>
          <p:cNvSpPr/>
          <p:nvPr/>
        </p:nvSpPr>
        <p:spPr>
          <a:xfrm>
            <a:off x="7452111" y="5382713"/>
            <a:ext cx="2272613" cy="610340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Fort Myers, FL</a:t>
            </a:r>
          </a:p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Lee Health Care Partners</a:t>
            </a:r>
          </a:p>
        </p:txBody>
      </p:sp>
      <p:sp>
        <p:nvSpPr>
          <p:cNvPr id="11" name="Rectangle: Rounded Corners 11">
            <a:extLst>
              <a:ext uri="{FF2B5EF4-FFF2-40B4-BE49-F238E27FC236}">
                <a16:creationId xmlns:a16="http://schemas.microsoft.com/office/drawing/2014/main" id="{B522D9FB-03E8-0475-A3A5-AF33059EA7E6}"/>
              </a:ext>
            </a:extLst>
          </p:cNvPr>
          <p:cNvSpPr/>
          <p:nvPr/>
        </p:nvSpPr>
        <p:spPr>
          <a:xfrm>
            <a:off x="7208737" y="4373211"/>
            <a:ext cx="2272613" cy="610340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Knoxville, TN</a:t>
            </a:r>
          </a:p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East Tennessee Health Plan</a:t>
            </a:r>
          </a:p>
        </p:txBody>
      </p:sp>
      <p:sp>
        <p:nvSpPr>
          <p:cNvPr id="12" name="Rectangle: Rounded Corners 12">
            <a:extLst>
              <a:ext uri="{FF2B5EF4-FFF2-40B4-BE49-F238E27FC236}">
                <a16:creationId xmlns:a16="http://schemas.microsoft.com/office/drawing/2014/main" id="{F3AB3343-FA0C-E9FA-637F-E45BB11DFFC1}"/>
              </a:ext>
            </a:extLst>
          </p:cNvPr>
          <p:cNvSpPr/>
          <p:nvPr/>
        </p:nvSpPr>
        <p:spPr>
          <a:xfrm>
            <a:off x="7047737" y="3363709"/>
            <a:ext cx="2272613" cy="610340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Cincinnati, OH</a:t>
            </a:r>
          </a:p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TCH Optimal</a:t>
            </a:r>
          </a:p>
        </p:txBody>
      </p:sp>
      <p:sp>
        <p:nvSpPr>
          <p:cNvPr id="13" name="Rectangle: Rounded Corners 13">
            <a:extLst>
              <a:ext uri="{FF2B5EF4-FFF2-40B4-BE49-F238E27FC236}">
                <a16:creationId xmlns:a16="http://schemas.microsoft.com/office/drawing/2014/main" id="{A5F1AA97-617E-DEDA-E780-8518ACB143FB}"/>
              </a:ext>
            </a:extLst>
          </p:cNvPr>
          <p:cNvSpPr/>
          <p:nvPr/>
        </p:nvSpPr>
        <p:spPr>
          <a:xfrm>
            <a:off x="3870663" y="2934468"/>
            <a:ext cx="2272613" cy="610340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Louisville, KY</a:t>
            </a:r>
          </a:p>
          <a:p>
            <a:pPr algn="ctr"/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OneHealth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Plan</a:t>
            </a:r>
          </a:p>
        </p:txBody>
      </p:sp>
    </p:spTree>
    <p:extLst>
      <p:ext uri="{BB962C8B-B14F-4D97-AF65-F5344CB8AC3E}">
        <p14:creationId xmlns:p14="http://schemas.microsoft.com/office/powerpoint/2010/main" val="2639721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D6890-C412-2FEE-5C69-ADF65C51E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C1D080-03A9-9F4F-C125-34F8C919FB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7ED6C0-8F5A-E466-1292-3B4C11CCB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Key Benefit Administrators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9385F4-6849-73EA-0BE2-48EEEB366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4</a:t>
            </a:fld>
            <a:endParaRPr lang="en-US" dirty="0"/>
          </a:p>
        </p:txBody>
      </p:sp>
      <p:pic>
        <p:nvPicPr>
          <p:cNvPr id="1026" name="Picture 2" descr="King Street: Charleston, South Carolina">
            <a:extLst>
              <a:ext uri="{FF2B5EF4-FFF2-40B4-BE49-F238E27FC236}">
                <a16:creationId xmlns:a16="http://schemas.microsoft.com/office/drawing/2014/main" id="{36E3F127-5A31-2237-7187-FFB1E86E9DF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333"/>
          <a:stretch/>
        </p:blipFill>
        <p:spPr bwMode="auto">
          <a:xfrm>
            <a:off x="6096000" y="0"/>
            <a:ext cx="6096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Wall Street Explained: History, Naming &amp; Importance | Plus500">
            <a:extLst>
              <a:ext uri="{FF2B5EF4-FFF2-40B4-BE49-F238E27FC236}">
                <a16:creationId xmlns:a16="http://schemas.microsoft.com/office/drawing/2014/main" id="{439035C1-3CCB-8153-117E-F43024EA6A3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391"/>
          <a:stretch/>
        </p:blipFill>
        <p:spPr bwMode="auto">
          <a:xfrm>
            <a:off x="0" y="0"/>
            <a:ext cx="6096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086B112-27E4-3EA1-B673-36BBD6EF784A}"/>
              </a:ext>
            </a:extLst>
          </p:cNvPr>
          <p:cNvSpPr/>
          <p:nvPr/>
        </p:nvSpPr>
        <p:spPr>
          <a:xfrm>
            <a:off x="3120571" y="2902857"/>
            <a:ext cx="5950858" cy="1320800"/>
          </a:xfrm>
          <a:prstGeom prst="rect">
            <a:avLst/>
          </a:prstGeom>
          <a:solidFill>
            <a:srgbClr val="30589B">
              <a:alpha val="7607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Moving Local Healthcare</a:t>
            </a:r>
          </a:p>
          <a:p>
            <a:pPr algn="ctr"/>
            <a:r>
              <a:rPr lang="en-US" sz="3200" dirty="0"/>
              <a:t>From Wall Street to Main Street</a:t>
            </a:r>
          </a:p>
        </p:txBody>
      </p:sp>
    </p:spTree>
    <p:extLst>
      <p:ext uri="{BB962C8B-B14F-4D97-AF65-F5344CB8AC3E}">
        <p14:creationId xmlns:p14="http://schemas.microsoft.com/office/powerpoint/2010/main" val="42263876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F9CFB-714A-4CB7-9915-2C74E697A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6771" y="1907034"/>
            <a:ext cx="3677156" cy="3043929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4000" b="1" dirty="0">
                <a:solidFill>
                  <a:srgbClr val="000B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When Healthcare Providers Control Their Health Plan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5B62E5-A9EF-46A8-AEE5-C69E2BA73B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17763" y="1098549"/>
            <a:ext cx="5672318" cy="4660901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2400" b="1" dirty="0">
                <a:solidFill>
                  <a:srgbClr val="59CAE8"/>
                </a:solidFill>
                <a:latin typeface="Arial Black" panose="020B0A04020102020204" pitchFamily="34" charset="0"/>
              </a:rPr>
              <a:t>YOU</a:t>
            </a:r>
            <a:r>
              <a:rPr lang="en-US" sz="2700" dirty="0">
                <a:solidFill>
                  <a:srgbClr val="9900CC"/>
                </a:solidFill>
              </a:rPr>
              <a:t> </a:t>
            </a:r>
            <a:r>
              <a:rPr lang="en-US" sz="27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Pick the Name of the Health Plan</a:t>
            </a:r>
          </a:p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2400" b="1" dirty="0">
                <a:solidFill>
                  <a:srgbClr val="59CAE8"/>
                </a:solidFill>
                <a:latin typeface="Arial Black" panose="020B0A04020102020204" pitchFamily="34" charset="0"/>
              </a:rPr>
              <a:t>YOU</a:t>
            </a:r>
            <a:r>
              <a:rPr lang="en-US" sz="2700" dirty="0"/>
              <a:t> </a:t>
            </a:r>
            <a:r>
              <a:rPr lang="en-US" sz="27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Determine the Fees Charged</a:t>
            </a:r>
          </a:p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2400" b="1" dirty="0">
                <a:solidFill>
                  <a:srgbClr val="59CAE8"/>
                </a:solidFill>
                <a:latin typeface="Arial Black" panose="020B0A04020102020204" pitchFamily="34" charset="0"/>
              </a:rPr>
              <a:t>YOU</a:t>
            </a:r>
            <a:r>
              <a:rPr lang="en-US" sz="2700" dirty="0"/>
              <a:t> </a:t>
            </a:r>
            <a:r>
              <a:rPr lang="en-US" sz="27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Practice the Medicine </a:t>
            </a:r>
          </a:p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2400" b="1" dirty="0">
                <a:solidFill>
                  <a:srgbClr val="59CAE8"/>
                </a:solidFill>
                <a:latin typeface="Arial Black" panose="020B0A04020102020204" pitchFamily="34" charset="0"/>
              </a:rPr>
              <a:t>YOU</a:t>
            </a:r>
            <a:r>
              <a:rPr lang="en-US" sz="2700" dirty="0">
                <a:solidFill>
                  <a:srgbClr val="9900CC"/>
                </a:solidFill>
              </a:rPr>
              <a:t> </a:t>
            </a:r>
            <a:r>
              <a:rPr lang="en-US" sz="27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Receive the Profits  </a:t>
            </a:r>
          </a:p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2700" b="1" dirty="0">
                <a:solidFill>
                  <a:srgbClr val="59CAE8"/>
                </a:solidFill>
                <a:latin typeface="Arial Black" panose="020B0A04020102020204" pitchFamily="34" charset="0"/>
              </a:rPr>
              <a:t>WE</a:t>
            </a:r>
            <a:r>
              <a:rPr lang="en-US" sz="2700" dirty="0">
                <a:solidFill>
                  <a:srgbClr val="9900CC"/>
                </a:solidFill>
              </a:rPr>
              <a:t> </a:t>
            </a:r>
            <a:r>
              <a:rPr lang="en-US" sz="27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Make it Successful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DCACF-3B2C-45F6-88BB-41D64A301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45DC2E-CAD1-4A3B-BB6C-627FC995D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5</a:t>
            </a:fld>
            <a:endParaRPr lang="en-US" dirty="0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BB2B5697-E648-40EC-88C5-97A77999C18D}"/>
              </a:ext>
            </a:extLst>
          </p:cNvPr>
          <p:cNvSpPr/>
          <p:nvPr/>
        </p:nvSpPr>
        <p:spPr>
          <a:xfrm>
            <a:off x="0" y="0"/>
            <a:ext cx="981075" cy="6858000"/>
          </a:xfrm>
          <a:prstGeom prst="rect">
            <a:avLst/>
          </a:prstGeom>
          <a:solidFill>
            <a:srgbClr val="254F9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" name="Group 41">
            <a:extLst>
              <a:ext uri="{FF2B5EF4-FFF2-40B4-BE49-F238E27FC236}">
                <a16:creationId xmlns:a16="http://schemas.microsoft.com/office/drawing/2014/main" id="{C3A11C0D-6225-4F5F-9034-762253C251A2}"/>
              </a:ext>
            </a:extLst>
          </p:cNvPr>
          <p:cNvGrpSpPr/>
          <p:nvPr/>
        </p:nvGrpSpPr>
        <p:grpSpPr>
          <a:xfrm>
            <a:off x="5489623" y="1098549"/>
            <a:ext cx="640080" cy="4254692"/>
            <a:chOff x="5315974" y="943768"/>
            <a:chExt cx="640080" cy="4254692"/>
          </a:xfrm>
          <a:noFill/>
        </p:grpSpPr>
        <p:pic>
          <p:nvPicPr>
            <p:cNvPr id="8" name="Picture 10" descr="Blue check mark - Transparent PNG &amp; SVG vector file">
              <a:extLst>
                <a:ext uri="{FF2B5EF4-FFF2-40B4-BE49-F238E27FC236}">
                  <a16:creationId xmlns:a16="http://schemas.microsoft.com/office/drawing/2014/main" id="{D8A1C779-0B9F-4A67-8037-7D25A11FFAA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screen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15974" y="4558380"/>
              <a:ext cx="640080" cy="640080"/>
            </a:xfrm>
            <a:prstGeom prst="rect">
              <a:avLst/>
            </a:prstGeom>
            <a:grpFill/>
          </p:spPr>
        </p:pic>
        <p:pic>
          <p:nvPicPr>
            <p:cNvPr id="9" name="Picture 10" descr="Blue check mark - Transparent PNG &amp; SVG vector file">
              <a:extLst>
                <a:ext uri="{FF2B5EF4-FFF2-40B4-BE49-F238E27FC236}">
                  <a16:creationId xmlns:a16="http://schemas.microsoft.com/office/drawing/2014/main" id="{78B72E30-7B45-40B1-9302-CE9A3F3AD97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screen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15974" y="3678222"/>
              <a:ext cx="640080" cy="640080"/>
            </a:xfrm>
            <a:prstGeom prst="rect">
              <a:avLst/>
            </a:prstGeom>
            <a:grpFill/>
          </p:spPr>
        </p:pic>
        <p:pic>
          <p:nvPicPr>
            <p:cNvPr id="10" name="Picture 10" descr="Blue check mark - Transparent PNG &amp; SVG vector file">
              <a:extLst>
                <a:ext uri="{FF2B5EF4-FFF2-40B4-BE49-F238E27FC236}">
                  <a16:creationId xmlns:a16="http://schemas.microsoft.com/office/drawing/2014/main" id="{9D9240A2-869D-4166-9772-32124160B4A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screen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15974" y="2798065"/>
              <a:ext cx="640080" cy="640080"/>
            </a:xfrm>
            <a:prstGeom prst="rect">
              <a:avLst/>
            </a:prstGeom>
            <a:grpFill/>
          </p:spPr>
        </p:pic>
        <p:pic>
          <p:nvPicPr>
            <p:cNvPr id="11" name="Picture 10" descr="Blue check mark - Transparent PNG &amp; SVG vector file">
              <a:extLst>
                <a:ext uri="{FF2B5EF4-FFF2-40B4-BE49-F238E27FC236}">
                  <a16:creationId xmlns:a16="http://schemas.microsoft.com/office/drawing/2014/main" id="{E8C8DD14-AAF4-4762-B170-F052A3B2288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screen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15974" y="1870916"/>
              <a:ext cx="640080" cy="640080"/>
            </a:xfrm>
            <a:prstGeom prst="rect">
              <a:avLst/>
            </a:prstGeom>
            <a:grpFill/>
          </p:spPr>
        </p:pic>
        <p:pic>
          <p:nvPicPr>
            <p:cNvPr id="12" name="Picture 10" descr="Blue check mark - Transparent PNG &amp; SVG vector file">
              <a:extLst>
                <a:ext uri="{FF2B5EF4-FFF2-40B4-BE49-F238E27FC236}">
                  <a16:creationId xmlns:a16="http://schemas.microsoft.com/office/drawing/2014/main" id="{C05F6E83-E756-4853-B3A8-49C6BE03258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screen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15974" y="943768"/>
              <a:ext cx="640080" cy="640080"/>
            </a:xfrm>
            <a:prstGeom prst="rect">
              <a:avLst/>
            </a:prstGeom>
            <a:grpFill/>
          </p:spPr>
        </p:pic>
      </p:grpSp>
    </p:spTree>
    <p:extLst>
      <p:ext uri="{BB962C8B-B14F-4D97-AF65-F5344CB8AC3E}">
        <p14:creationId xmlns:p14="http://schemas.microsoft.com/office/powerpoint/2010/main" val="15528335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4727067A-18A2-DBD9-A253-8B98045979DC}"/>
              </a:ext>
            </a:extLst>
          </p:cNvPr>
          <p:cNvSpPr/>
          <p:nvPr/>
        </p:nvSpPr>
        <p:spPr>
          <a:xfrm>
            <a:off x="-2" y="1321686"/>
            <a:ext cx="12191999" cy="553631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567EA640-C841-E627-E38D-713E38C8F0D8}"/>
              </a:ext>
            </a:extLst>
          </p:cNvPr>
          <p:cNvSpPr/>
          <p:nvPr/>
        </p:nvSpPr>
        <p:spPr>
          <a:xfrm>
            <a:off x="-1" y="-3877"/>
            <a:ext cx="12191999" cy="1325563"/>
          </a:xfrm>
          <a:prstGeom prst="rect">
            <a:avLst/>
          </a:prstGeom>
          <a:solidFill>
            <a:srgbClr val="244F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12F6C6-318E-1B83-5EE2-B0A17D86C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2" y="365125"/>
            <a:ext cx="10515600" cy="727075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Plan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29651F-1A8F-CB5F-89F5-5E77CE43B8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MUSC controls the plan and invites other provider organizations to participate.</a:t>
            </a:r>
          </a:p>
          <a:p>
            <a:r>
              <a:rPr lang="en-US" dirty="0"/>
              <a:t>KBA facilitates the plan to ensure success. </a:t>
            </a:r>
          </a:p>
          <a:p>
            <a:r>
              <a:rPr lang="en-US" dirty="0"/>
              <a:t>All plan members will see within-plan market share growth. </a:t>
            </a:r>
          </a:p>
          <a:p>
            <a:r>
              <a:rPr lang="en-US" dirty="0"/>
              <a:t>Net margins are comparable to commercial plans—prices are 10% below current commercial rates, but friendlier payment policies and higher patient collection rates through the healthcare credit card ensure comparable net margin to other commercial rates.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AD3942-67F4-7659-53CC-67D49D002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Key Benefit Administrators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A48FE8-0512-0AE3-8B65-3E5CB6B51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62105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588DF-56D9-837C-AA1C-128F048C4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2698" y="235398"/>
            <a:ext cx="10515600" cy="1325563"/>
          </a:xfrm>
        </p:spPr>
        <p:txBody>
          <a:bodyPr/>
          <a:lstStyle/>
          <a:p>
            <a:r>
              <a:rPr lang="en-US" dirty="0"/>
              <a:t>Plan Potential Growth Paths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C057C1-F13C-F6D8-AD44-F92FA29D3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Key Benefit Administrators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46B415-80AF-26A8-45D6-1254179BD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7</a:t>
            </a:fld>
            <a:endParaRPr lang="en-US" dirty="0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F102BEAF-097D-41B4-20FD-56D98AD0F034}"/>
              </a:ext>
            </a:extLst>
          </p:cNvPr>
          <p:cNvSpPr/>
          <p:nvPr/>
        </p:nvSpPr>
        <p:spPr>
          <a:xfrm>
            <a:off x="0" y="-7770"/>
            <a:ext cx="978408" cy="6858000"/>
          </a:xfrm>
          <a:prstGeom prst="rect">
            <a:avLst/>
          </a:prstGeom>
          <a:solidFill>
            <a:srgbClr val="254F96">
              <a:alpha val="8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3706D05-011F-D6E5-AB62-168509A0E779}"/>
              </a:ext>
            </a:extLst>
          </p:cNvPr>
          <p:cNvSpPr txBox="1">
            <a:spLocks/>
          </p:cNvSpPr>
          <p:nvPr/>
        </p:nvSpPr>
        <p:spPr>
          <a:xfrm rot="16200000">
            <a:off x="-2814764" y="2993452"/>
            <a:ext cx="6553884" cy="7520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1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3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PLAN GROWTH POTENTIAL</a:t>
            </a:r>
          </a:p>
        </p:txBody>
      </p:sp>
      <p:grpSp>
        <p:nvGrpSpPr>
          <p:cNvPr id="7" name="Group 28">
            <a:extLst>
              <a:ext uri="{FF2B5EF4-FFF2-40B4-BE49-F238E27FC236}">
                <a16:creationId xmlns:a16="http://schemas.microsoft.com/office/drawing/2014/main" id="{69A10699-B4B2-AF88-E1A1-1EF0A88AB471}"/>
              </a:ext>
            </a:extLst>
          </p:cNvPr>
          <p:cNvGrpSpPr/>
          <p:nvPr/>
        </p:nvGrpSpPr>
        <p:grpSpPr>
          <a:xfrm>
            <a:off x="1359766" y="1855590"/>
            <a:ext cx="3960468" cy="3636786"/>
            <a:chOff x="1724978" y="2161521"/>
            <a:chExt cx="8274685" cy="4307840"/>
          </a:xfrm>
        </p:grpSpPr>
        <p:grpSp>
          <p:nvGrpSpPr>
            <p:cNvPr id="8" name="Group 29">
              <a:extLst>
                <a:ext uri="{FF2B5EF4-FFF2-40B4-BE49-F238E27FC236}">
                  <a16:creationId xmlns:a16="http://schemas.microsoft.com/office/drawing/2014/main" id="{11C874E5-E3B4-BAE0-4E2D-2C86D4E7E53A}"/>
                </a:ext>
              </a:extLst>
            </p:cNvPr>
            <p:cNvGrpSpPr/>
            <p:nvPr/>
          </p:nvGrpSpPr>
          <p:grpSpPr>
            <a:xfrm>
              <a:off x="1724978" y="5494001"/>
              <a:ext cx="6872605" cy="975360"/>
              <a:chOff x="1724978" y="5494001"/>
              <a:chExt cx="6872605" cy="975360"/>
            </a:xfrm>
          </p:grpSpPr>
          <p:sp>
            <p:nvSpPr>
              <p:cNvPr id="9" name="Freeform: Shape 72">
                <a:extLst>
                  <a:ext uri="{FF2B5EF4-FFF2-40B4-BE49-F238E27FC236}">
                    <a16:creationId xmlns:a16="http://schemas.microsoft.com/office/drawing/2014/main" id="{C2AD90F2-700F-581B-540A-D6A10D5F84F2}"/>
                  </a:ext>
                </a:extLst>
              </p:cNvPr>
              <p:cNvSpPr/>
              <p:nvPr/>
            </p:nvSpPr>
            <p:spPr>
              <a:xfrm flipV="1">
                <a:off x="2339023" y="5494001"/>
                <a:ext cx="6258560" cy="975360"/>
              </a:xfrm>
              <a:custGeom>
                <a:avLst/>
                <a:gdLst>
                  <a:gd name="connsiteX0" fmla="*/ 0 w 6258560"/>
                  <a:gd name="connsiteY0" fmla="*/ 97536 h 975360"/>
                  <a:gd name="connsiteX1" fmla="*/ 97536 w 6258560"/>
                  <a:gd name="connsiteY1" fmla="*/ 0 h 975360"/>
                  <a:gd name="connsiteX2" fmla="*/ 6161024 w 6258560"/>
                  <a:gd name="connsiteY2" fmla="*/ 0 h 975360"/>
                  <a:gd name="connsiteX3" fmla="*/ 6258560 w 6258560"/>
                  <a:gd name="connsiteY3" fmla="*/ 97536 h 975360"/>
                  <a:gd name="connsiteX4" fmla="*/ 6258560 w 6258560"/>
                  <a:gd name="connsiteY4" fmla="*/ 877824 h 975360"/>
                  <a:gd name="connsiteX5" fmla="*/ 6161024 w 6258560"/>
                  <a:gd name="connsiteY5" fmla="*/ 975360 h 975360"/>
                  <a:gd name="connsiteX6" fmla="*/ 97536 w 6258560"/>
                  <a:gd name="connsiteY6" fmla="*/ 975360 h 975360"/>
                  <a:gd name="connsiteX7" fmla="*/ 0 w 6258560"/>
                  <a:gd name="connsiteY7" fmla="*/ 877824 h 975360"/>
                  <a:gd name="connsiteX8" fmla="*/ 0 w 6258560"/>
                  <a:gd name="connsiteY8" fmla="*/ 97536 h 9753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258560" h="975360">
                    <a:moveTo>
                      <a:pt x="0" y="97536"/>
                    </a:moveTo>
                    <a:cubicBezTo>
                      <a:pt x="0" y="43668"/>
                      <a:pt x="43668" y="0"/>
                      <a:pt x="97536" y="0"/>
                    </a:cubicBezTo>
                    <a:lnTo>
                      <a:pt x="6161024" y="0"/>
                    </a:lnTo>
                    <a:cubicBezTo>
                      <a:pt x="6214892" y="0"/>
                      <a:pt x="6258560" y="43668"/>
                      <a:pt x="6258560" y="97536"/>
                    </a:cubicBezTo>
                    <a:lnTo>
                      <a:pt x="6258560" y="877824"/>
                    </a:lnTo>
                    <a:cubicBezTo>
                      <a:pt x="6258560" y="931692"/>
                      <a:pt x="6214892" y="975360"/>
                      <a:pt x="6161024" y="975360"/>
                    </a:cubicBezTo>
                    <a:lnTo>
                      <a:pt x="97536" y="975360"/>
                    </a:lnTo>
                    <a:cubicBezTo>
                      <a:pt x="43668" y="975360"/>
                      <a:pt x="0" y="931692"/>
                      <a:pt x="0" y="877824"/>
                    </a:cubicBezTo>
                    <a:lnTo>
                      <a:pt x="0" y="97536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188587" tIns="188587" rIns="1298060" bIns="188587" numCol="1" spcCol="1270" anchor="ctr" anchorCtr="0">
                <a:noAutofit/>
              </a:bodyPr>
              <a:lstStyle/>
              <a:p>
                <a:pPr marL="0" lvl="0" indent="0" algn="l" defTabSz="18669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lang="en-IN" sz="4200" kern="1200" dirty="0"/>
              </a:p>
            </p:txBody>
          </p:sp>
          <p:sp>
            <p:nvSpPr>
              <p:cNvPr id="10" name="TextBox 73">
                <a:extLst>
                  <a:ext uri="{FF2B5EF4-FFF2-40B4-BE49-F238E27FC236}">
                    <a16:creationId xmlns:a16="http://schemas.microsoft.com/office/drawing/2014/main" id="{AEAD331A-F2F6-E5AA-6FA8-43463612A331}"/>
                  </a:ext>
                </a:extLst>
              </p:cNvPr>
              <p:cNvSpPr txBox="1"/>
              <p:nvPr/>
            </p:nvSpPr>
            <p:spPr>
              <a:xfrm>
                <a:off x="1724978" y="5759838"/>
                <a:ext cx="3247806" cy="443686"/>
              </a:xfrm>
              <a:prstGeom prst="roundRect">
                <a:avLst/>
              </a:prstGeom>
              <a:solidFill>
                <a:srgbClr val="4468A5"/>
              </a:solidFill>
              <a:ln>
                <a:solidFill>
                  <a:schemeClr val="bg1"/>
                </a:solidFill>
              </a:ln>
              <a:effectLst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sz="1600" b="1" i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Population</a:t>
                </a:r>
                <a:endParaRPr lang="en-IN" sz="1600" b="1" i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1" name="Group 30">
              <a:extLst>
                <a:ext uri="{FF2B5EF4-FFF2-40B4-BE49-F238E27FC236}">
                  <a16:creationId xmlns:a16="http://schemas.microsoft.com/office/drawing/2014/main" id="{689474B3-12FA-8E66-D71F-53822C9C68C9}"/>
                </a:ext>
              </a:extLst>
            </p:cNvPr>
            <p:cNvGrpSpPr/>
            <p:nvPr/>
          </p:nvGrpSpPr>
          <p:grpSpPr>
            <a:xfrm>
              <a:off x="2182178" y="2161521"/>
              <a:ext cx="7817485" cy="3197014"/>
              <a:chOff x="3627756" y="1830493"/>
              <a:chExt cx="7817485" cy="3197014"/>
            </a:xfrm>
          </p:grpSpPr>
          <p:grpSp>
            <p:nvGrpSpPr>
              <p:cNvPr id="12" name="Group 58">
                <a:extLst>
                  <a:ext uri="{FF2B5EF4-FFF2-40B4-BE49-F238E27FC236}">
                    <a16:creationId xmlns:a16="http://schemas.microsoft.com/office/drawing/2014/main" id="{51ED3EA0-1B18-EEE0-293E-BB00AD4DE764}"/>
                  </a:ext>
                </a:extLst>
              </p:cNvPr>
              <p:cNvGrpSpPr/>
              <p:nvPr/>
            </p:nvGrpSpPr>
            <p:grpSpPr>
              <a:xfrm>
                <a:off x="3627756" y="4052147"/>
                <a:ext cx="6882765" cy="975360"/>
                <a:chOff x="3627756" y="4052147"/>
                <a:chExt cx="6882765" cy="975360"/>
              </a:xfrm>
            </p:grpSpPr>
            <p:sp>
              <p:nvSpPr>
                <p:cNvPr id="13" name="Freeform: Shape 62">
                  <a:extLst>
                    <a:ext uri="{FF2B5EF4-FFF2-40B4-BE49-F238E27FC236}">
                      <a16:creationId xmlns:a16="http://schemas.microsoft.com/office/drawing/2014/main" id="{BC70B6BA-E51B-5756-ABB1-C97D21E56F2F}"/>
                    </a:ext>
                  </a:extLst>
                </p:cNvPr>
                <p:cNvSpPr/>
                <p:nvPr/>
              </p:nvSpPr>
              <p:spPr>
                <a:xfrm flipV="1">
                  <a:off x="4251961" y="4052147"/>
                  <a:ext cx="6258560" cy="975360"/>
                </a:xfrm>
                <a:custGeom>
                  <a:avLst/>
                  <a:gdLst>
                    <a:gd name="connsiteX0" fmla="*/ 0 w 6258560"/>
                    <a:gd name="connsiteY0" fmla="*/ 97536 h 975360"/>
                    <a:gd name="connsiteX1" fmla="*/ 97536 w 6258560"/>
                    <a:gd name="connsiteY1" fmla="*/ 0 h 975360"/>
                    <a:gd name="connsiteX2" fmla="*/ 6161024 w 6258560"/>
                    <a:gd name="connsiteY2" fmla="*/ 0 h 975360"/>
                    <a:gd name="connsiteX3" fmla="*/ 6258560 w 6258560"/>
                    <a:gd name="connsiteY3" fmla="*/ 97536 h 975360"/>
                    <a:gd name="connsiteX4" fmla="*/ 6258560 w 6258560"/>
                    <a:gd name="connsiteY4" fmla="*/ 877824 h 975360"/>
                    <a:gd name="connsiteX5" fmla="*/ 6161024 w 6258560"/>
                    <a:gd name="connsiteY5" fmla="*/ 975360 h 975360"/>
                    <a:gd name="connsiteX6" fmla="*/ 97536 w 6258560"/>
                    <a:gd name="connsiteY6" fmla="*/ 975360 h 975360"/>
                    <a:gd name="connsiteX7" fmla="*/ 0 w 6258560"/>
                    <a:gd name="connsiteY7" fmla="*/ 877824 h 975360"/>
                    <a:gd name="connsiteX8" fmla="*/ 0 w 6258560"/>
                    <a:gd name="connsiteY8" fmla="*/ 97536 h 9753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6258560" h="975360">
                      <a:moveTo>
                        <a:pt x="0" y="97536"/>
                      </a:moveTo>
                      <a:cubicBezTo>
                        <a:pt x="0" y="43668"/>
                        <a:pt x="43668" y="0"/>
                        <a:pt x="97536" y="0"/>
                      </a:cubicBezTo>
                      <a:lnTo>
                        <a:pt x="6161024" y="0"/>
                      </a:lnTo>
                      <a:cubicBezTo>
                        <a:pt x="6214892" y="0"/>
                        <a:pt x="6258560" y="43668"/>
                        <a:pt x="6258560" y="97536"/>
                      </a:cubicBezTo>
                      <a:lnTo>
                        <a:pt x="6258560" y="877824"/>
                      </a:lnTo>
                      <a:cubicBezTo>
                        <a:pt x="6258560" y="931692"/>
                        <a:pt x="6214892" y="975360"/>
                        <a:pt x="6161024" y="975360"/>
                      </a:cubicBezTo>
                      <a:lnTo>
                        <a:pt x="97536" y="975360"/>
                      </a:lnTo>
                      <a:cubicBezTo>
                        <a:pt x="43668" y="975360"/>
                        <a:pt x="0" y="931692"/>
                        <a:pt x="0" y="877824"/>
                      </a:cubicBezTo>
                      <a:lnTo>
                        <a:pt x="0" y="97536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188587" tIns="188587" rIns="1289932" bIns="188587" numCol="1" spcCol="1270" anchor="ctr" anchorCtr="0">
                  <a:noAutofit/>
                </a:bodyPr>
                <a:lstStyle/>
                <a:p>
                  <a:pPr marL="0" lvl="0" indent="0" algn="l" defTabSz="18669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en-IN" sz="4200" kern="1200"/>
                </a:p>
              </p:txBody>
            </p:sp>
            <p:sp>
              <p:nvSpPr>
                <p:cNvPr id="14" name="TextBox 63">
                  <a:extLst>
                    <a:ext uri="{FF2B5EF4-FFF2-40B4-BE49-F238E27FC236}">
                      <a16:creationId xmlns:a16="http://schemas.microsoft.com/office/drawing/2014/main" id="{89D49C14-1775-066C-353B-1ACCC4D24138}"/>
                    </a:ext>
                  </a:extLst>
                </p:cNvPr>
                <p:cNvSpPr txBox="1"/>
                <p:nvPr/>
              </p:nvSpPr>
              <p:spPr>
                <a:xfrm>
                  <a:off x="3627756" y="4317984"/>
                  <a:ext cx="3247806" cy="443686"/>
                </a:xfrm>
                <a:prstGeom prst="roundRect">
                  <a:avLst/>
                </a:prstGeom>
                <a:solidFill>
                  <a:srgbClr val="4468A5"/>
                </a:solidFill>
                <a:ln>
                  <a:solidFill>
                    <a:schemeClr val="bg1"/>
                  </a:solidFill>
                </a:ln>
                <a:effectLst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sz="1600" b="1" i="1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Working Age</a:t>
                  </a:r>
                  <a:endParaRPr lang="en-IN" sz="1600" b="1" i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5" name="Group 52">
                <a:extLst>
                  <a:ext uri="{FF2B5EF4-FFF2-40B4-BE49-F238E27FC236}">
                    <a16:creationId xmlns:a16="http://schemas.microsoft.com/office/drawing/2014/main" id="{1DBB449D-FFE3-79BF-CC4B-CBC0A3F03B29}"/>
                  </a:ext>
                </a:extLst>
              </p:cNvPr>
              <p:cNvGrpSpPr/>
              <p:nvPr/>
            </p:nvGrpSpPr>
            <p:grpSpPr>
              <a:xfrm>
                <a:off x="4069948" y="2930285"/>
                <a:ext cx="6907933" cy="975360"/>
                <a:chOff x="4069947" y="2930285"/>
                <a:chExt cx="6907933" cy="975360"/>
              </a:xfrm>
            </p:grpSpPr>
            <p:sp>
              <p:nvSpPr>
                <p:cNvPr id="16" name="Freeform: Shape 56">
                  <a:extLst>
                    <a:ext uri="{FF2B5EF4-FFF2-40B4-BE49-F238E27FC236}">
                      <a16:creationId xmlns:a16="http://schemas.microsoft.com/office/drawing/2014/main" id="{2D2231FB-5290-0F34-19A4-B0491233CE27}"/>
                    </a:ext>
                  </a:extLst>
                </p:cNvPr>
                <p:cNvSpPr/>
                <p:nvPr/>
              </p:nvSpPr>
              <p:spPr>
                <a:xfrm flipV="1">
                  <a:off x="4719320" y="2930285"/>
                  <a:ext cx="6258560" cy="975360"/>
                </a:xfrm>
                <a:custGeom>
                  <a:avLst/>
                  <a:gdLst>
                    <a:gd name="connsiteX0" fmla="*/ 0 w 6258560"/>
                    <a:gd name="connsiteY0" fmla="*/ 97536 h 975360"/>
                    <a:gd name="connsiteX1" fmla="*/ 97536 w 6258560"/>
                    <a:gd name="connsiteY1" fmla="*/ 0 h 975360"/>
                    <a:gd name="connsiteX2" fmla="*/ 6161024 w 6258560"/>
                    <a:gd name="connsiteY2" fmla="*/ 0 h 975360"/>
                    <a:gd name="connsiteX3" fmla="*/ 6258560 w 6258560"/>
                    <a:gd name="connsiteY3" fmla="*/ 97536 h 975360"/>
                    <a:gd name="connsiteX4" fmla="*/ 6258560 w 6258560"/>
                    <a:gd name="connsiteY4" fmla="*/ 877824 h 975360"/>
                    <a:gd name="connsiteX5" fmla="*/ 6161024 w 6258560"/>
                    <a:gd name="connsiteY5" fmla="*/ 975360 h 975360"/>
                    <a:gd name="connsiteX6" fmla="*/ 97536 w 6258560"/>
                    <a:gd name="connsiteY6" fmla="*/ 975360 h 975360"/>
                    <a:gd name="connsiteX7" fmla="*/ 0 w 6258560"/>
                    <a:gd name="connsiteY7" fmla="*/ 877824 h 975360"/>
                    <a:gd name="connsiteX8" fmla="*/ 0 w 6258560"/>
                    <a:gd name="connsiteY8" fmla="*/ 97536 h 9753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6258560" h="975360">
                      <a:moveTo>
                        <a:pt x="0" y="97536"/>
                      </a:moveTo>
                      <a:cubicBezTo>
                        <a:pt x="0" y="43668"/>
                        <a:pt x="43668" y="0"/>
                        <a:pt x="97536" y="0"/>
                      </a:cubicBezTo>
                      <a:lnTo>
                        <a:pt x="6161024" y="0"/>
                      </a:lnTo>
                      <a:cubicBezTo>
                        <a:pt x="6214892" y="0"/>
                        <a:pt x="6258560" y="43668"/>
                        <a:pt x="6258560" y="97536"/>
                      </a:cubicBezTo>
                      <a:lnTo>
                        <a:pt x="6258560" y="877824"/>
                      </a:lnTo>
                      <a:cubicBezTo>
                        <a:pt x="6258560" y="931692"/>
                        <a:pt x="6214892" y="975360"/>
                        <a:pt x="6161024" y="975360"/>
                      </a:cubicBezTo>
                      <a:lnTo>
                        <a:pt x="97536" y="975360"/>
                      </a:lnTo>
                      <a:cubicBezTo>
                        <a:pt x="43668" y="975360"/>
                        <a:pt x="0" y="931692"/>
                        <a:pt x="0" y="877824"/>
                      </a:cubicBezTo>
                      <a:lnTo>
                        <a:pt x="0" y="97536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188587" tIns="188587" rIns="1289932" bIns="188587" numCol="1" spcCol="1270" anchor="ctr" anchorCtr="0">
                  <a:noAutofit/>
                </a:bodyPr>
                <a:lstStyle/>
                <a:p>
                  <a:pPr marL="0" lvl="0" indent="0" algn="l" defTabSz="18669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en-IN" sz="4200" kern="1200" dirty="0"/>
                </a:p>
              </p:txBody>
            </p:sp>
            <p:sp>
              <p:nvSpPr>
                <p:cNvPr id="17" name="TextBox 57">
                  <a:extLst>
                    <a:ext uri="{FF2B5EF4-FFF2-40B4-BE49-F238E27FC236}">
                      <a16:creationId xmlns:a16="http://schemas.microsoft.com/office/drawing/2014/main" id="{3C6B2C41-D61E-2C7A-3D82-5A90E06CEE5A}"/>
                    </a:ext>
                  </a:extLst>
                </p:cNvPr>
                <p:cNvSpPr txBox="1"/>
                <p:nvPr/>
              </p:nvSpPr>
              <p:spPr>
                <a:xfrm>
                  <a:off x="4069947" y="3206963"/>
                  <a:ext cx="3247806" cy="443686"/>
                </a:xfrm>
                <a:prstGeom prst="roundRect">
                  <a:avLst/>
                </a:prstGeom>
                <a:solidFill>
                  <a:srgbClr val="4468A5"/>
                </a:solidFill>
                <a:ln>
                  <a:solidFill>
                    <a:schemeClr val="bg1"/>
                  </a:solidFill>
                </a:ln>
                <a:effectLst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sz="1600" b="1" i="1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Insured</a:t>
                  </a:r>
                  <a:endParaRPr lang="en-IN" sz="1600" b="1" i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8" name="Group 46">
                <a:extLst>
                  <a:ext uri="{FF2B5EF4-FFF2-40B4-BE49-F238E27FC236}">
                    <a16:creationId xmlns:a16="http://schemas.microsoft.com/office/drawing/2014/main" id="{F80321D4-B659-65A7-5D2E-CFE404DB4D8E}"/>
                  </a:ext>
                </a:extLst>
              </p:cNvPr>
              <p:cNvGrpSpPr/>
              <p:nvPr/>
            </p:nvGrpSpPr>
            <p:grpSpPr>
              <a:xfrm>
                <a:off x="4561206" y="1830493"/>
                <a:ext cx="6884035" cy="975360"/>
                <a:chOff x="4561206" y="1830493"/>
                <a:chExt cx="6884035" cy="975360"/>
              </a:xfrm>
            </p:grpSpPr>
            <p:sp>
              <p:nvSpPr>
                <p:cNvPr id="19" name="Freeform: Shape 50">
                  <a:extLst>
                    <a:ext uri="{FF2B5EF4-FFF2-40B4-BE49-F238E27FC236}">
                      <a16:creationId xmlns:a16="http://schemas.microsoft.com/office/drawing/2014/main" id="{19C69411-1E7E-AB74-D150-B508F4902A7E}"/>
                    </a:ext>
                  </a:extLst>
                </p:cNvPr>
                <p:cNvSpPr/>
                <p:nvPr/>
              </p:nvSpPr>
              <p:spPr>
                <a:xfrm flipV="1">
                  <a:off x="5186681" y="1830493"/>
                  <a:ext cx="6258560" cy="975360"/>
                </a:xfrm>
                <a:custGeom>
                  <a:avLst/>
                  <a:gdLst>
                    <a:gd name="connsiteX0" fmla="*/ 0 w 6258560"/>
                    <a:gd name="connsiteY0" fmla="*/ 97536 h 975360"/>
                    <a:gd name="connsiteX1" fmla="*/ 97536 w 6258560"/>
                    <a:gd name="connsiteY1" fmla="*/ 0 h 975360"/>
                    <a:gd name="connsiteX2" fmla="*/ 6161024 w 6258560"/>
                    <a:gd name="connsiteY2" fmla="*/ 0 h 975360"/>
                    <a:gd name="connsiteX3" fmla="*/ 6258560 w 6258560"/>
                    <a:gd name="connsiteY3" fmla="*/ 97536 h 975360"/>
                    <a:gd name="connsiteX4" fmla="*/ 6258560 w 6258560"/>
                    <a:gd name="connsiteY4" fmla="*/ 877824 h 975360"/>
                    <a:gd name="connsiteX5" fmla="*/ 6161024 w 6258560"/>
                    <a:gd name="connsiteY5" fmla="*/ 975360 h 975360"/>
                    <a:gd name="connsiteX6" fmla="*/ 97536 w 6258560"/>
                    <a:gd name="connsiteY6" fmla="*/ 975360 h 975360"/>
                    <a:gd name="connsiteX7" fmla="*/ 0 w 6258560"/>
                    <a:gd name="connsiteY7" fmla="*/ 877824 h 975360"/>
                    <a:gd name="connsiteX8" fmla="*/ 0 w 6258560"/>
                    <a:gd name="connsiteY8" fmla="*/ 97536 h 9753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6258560" h="975360">
                      <a:moveTo>
                        <a:pt x="0" y="97536"/>
                      </a:moveTo>
                      <a:cubicBezTo>
                        <a:pt x="0" y="43668"/>
                        <a:pt x="43668" y="0"/>
                        <a:pt x="97536" y="0"/>
                      </a:cubicBezTo>
                      <a:lnTo>
                        <a:pt x="6161024" y="0"/>
                      </a:lnTo>
                      <a:cubicBezTo>
                        <a:pt x="6214892" y="0"/>
                        <a:pt x="6258560" y="43668"/>
                        <a:pt x="6258560" y="97536"/>
                      </a:cubicBezTo>
                      <a:lnTo>
                        <a:pt x="6258560" y="877824"/>
                      </a:lnTo>
                      <a:cubicBezTo>
                        <a:pt x="6258560" y="931692"/>
                        <a:pt x="6214892" y="975360"/>
                        <a:pt x="6161024" y="975360"/>
                      </a:cubicBezTo>
                      <a:lnTo>
                        <a:pt x="97536" y="975360"/>
                      </a:lnTo>
                      <a:cubicBezTo>
                        <a:pt x="43668" y="975360"/>
                        <a:pt x="0" y="931692"/>
                        <a:pt x="0" y="877824"/>
                      </a:cubicBezTo>
                      <a:lnTo>
                        <a:pt x="0" y="97536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188587" tIns="188587" rIns="1289932" bIns="188587" numCol="1" spcCol="1270" anchor="ctr" anchorCtr="0">
                  <a:noAutofit/>
                </a:bodyPr>
                <a:lstStyle/>
                <a:p>
                  <a:pPr marL="0" lvl="0" indent="0" algn="l" defTabSz="18669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en-IN" sz="4200" kern="1200" dirty="0"/>
                </a:p>
              </p:txBody>
            </p:sp>
            <p:sp>
              <p:nvSpPr>
                <p:cNvPr id="20" name="TextBox 51">
                  <a:extLst>
                    <a:ext uri="{FF2B5EF4-FFF2-40B4-BE49-F238E27FC236}">
                      <a16:creationId xmlns:a16="http://schemas.microsoft.com/office/drawing/2014/main" id="{2AE87841-825C-FE4F-1AB9-6CC03862C17F}"/>
                    </a:ext>
                  </a:extLst>
                </p:cNvPr>
                <p:cNvSpPr txBox="1"/>
                <p:nvPr/>
              </p:nvSpPr>
              <p:spPr>
                <a:xfrm>
                  <a:off x="4561206" y="2096329"/>
                  <a:ext cx="3247806" cy="443686"/>
                </a:xfrm>
                <a:prstGeom prst="roundRect">
                  <a:avLst/>
                </a:prstGeom>
                <a:solidFill>
                  <a:srgbClr val="4468A5"/>
                </a:solidFill>
                <a:ln>
                  <a:solidFill>
                    <a:schemeClr val="bg1"/>
                  </a:solidFill>
                </a:ln>
                <a:effectLst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sz="1600" b="1" i="1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Self Funded</a:t>
                  </a:r>
                  <a:endParaRPr lang="en-IN" sz="1600" b="1" i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21" name="Freeform: Shape 31">
              <a:extLst>
                <a:ext uri="{FF2B5EF4-FFF2-40B4-BE49-F238E27FC236}">
                  <a16:creationId xmlns:a16="http://schemas.microsoft.com/office/drawing/2014/main" id="{93803CD4-6355-5262-37E3-213F86A67BEA}"/>
                </a:ext>
              </a:extLst>
            </p:cNvPr>
            <p:cNvSpPr/>
            <p:nvPr/>
          </p:nvSpPr>
          <p:spPr>
            <a:xfrm flipV="1">
              <a:off x="7997252" y="5175486"/>
              <a:ext cx="393773" cy="318515"/>
            </a:xfrm>
            <a:custGeom>
              <a:avLst/>
              <a:gdLst>
                <a:gd name="connsiteX0" fmla="*/ 0 w 633984"/>
                <a:gd name="connsiteY0" fmla="*/ 348691 h 633984"/>
                <a:gd name="connsiteX1" fmla="*/ 142646 w 633984"/>
                <a:gd name="connsiteY1" fmla="*/ 348691 h 633984"/>
                <a:gd name="connsiteX2" fmla="*/ 142646 w 633984"/>
                <a:gd name="connsiteY2" fmla="*/ 0 h 633984"/>
                <a:gd name="connsiteX3" fmla="*/ 491338 w 633984"/>
                <a:gd name="connsiteY3" fmla="*/ 0 h 633984"/>
                <a:gd name="connsiteX4" fmla="*/ 491338 w 633984"/>
                <a:gd name="connsiteY4" fmla="*/ 348691 h 633984"/>
                <a:gd name="connsiteX5" fmla="*/ 633984 w 633984"/>
                <a:gd name="connsiteY5" fmla="*/ 348691 h 633984"/>
                <a:gd name="connsiteX6" fmla="*/ 316992 w 633984"/>
                <a:gd name="connsiteY6" fmla="*/ 633984 h 633984"/>
                <a:gd name="connsiteX7" fmla="*/ 0 w 633984"/>
                <a:gd name="connsiteY7" fmla="*/ 348691 h 63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33984" h="633984">
                  <a:moveTo>
                    <a:pt x="0" y="348691"/>
                  </a:moveTo>
                  <a:lnTo>
                    <a:pt x="142646" y="348691"/>
                  </a:lnTo>
                  <a:lnTo>
                    <a:pt x="142646" y="0"/>
                  </a:lnTo>
                  <a:lnTo>
                    <a:pt x="491338" y="0"/>
                  </a:lnTo>
                  <a:lnTo>
                    <a:pt x="491338" y="348691"/>
                  </a:lnTo>
                  <a:lnTo>
                    <a:pt x="633984" y="348691"/>
                  </a:lnTo>
                  <a:lnTo>
                    <a:pt x="316992" y="633984"/>
                  </a:lnTo>
                  <a:lnTo>
                    <a:pt x="0" y="348691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8206" tIns="35560" rIns="178206" bIns="192471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2800" kern="1200"/>
            </a:p>
          </p:txBody>
        </p:sp>
        <p:grpSp>
          <p:nvGrpSpPr>
            <p:cNvPr id="22" name="Group 32">
              <a:extLst>
                <a:ext uri="{FF2B5EF4-FFF2-40B4-BE49-F238E27FC236}">
                  <a16:creationId xmlns:a16="http://schemas.microsoft.com/office/drawing/2014/main" id="{C15EBE08-F14E-85B7-24FB-021AE8C94BA3}"/>
                </a:ext>
              </a:extLst>
            </p:cNvPr>
            <p:cNvGrpSpPr/>
            <p:nvPr/>
          </p:nvGrpSpPr>
          <p:grpSpPr>
            <a:xfrm>
              <a:off x="8755080" y="3384449"/>
              <a:ext cx="568098" cy="706284"/>
              <a:chOff x="3970882" y="2311049"/>
              <a:chExt cx="704850" cy="876300"/>
            </a:xfrm>
          </p:grpSpPr>
          <p:sp>
            <p:nvSpPr>
              <p:cNvPr id="23" name="Freeform: Shape 36">
                <a:extLst>
                  <a:ext uri="{FF2B5EF4-FFF2-40B4-BE49-F238E27FC236}">
                    <a16:creationId xmlns:a16="http://schemas.microsoft.com/office/drawing/2014/main" id="{99971868-A4E7-F273-D79D-9C20F2C9304D}"/>
                  </a:ext>
                </a:extLst>
              </p:cNvPr>
              <p:cNvSpPr/>
              <p:nvPr/>
            </p:nvSpPr>
            <p:spPr>
              <a:xfrm>
                <a:off x="3970882" y="2311049"/>
                <a:ext cx="704850" cy="876300"/>
              </a:xfrm>
              <a:custGeom>
                <a:avLst/>
                <a:gdLst>
                  <a:gd name="connsiteX0" fmla="*/ 7144 w 704850"/>
                  <a:gd name="connsiteY0" fmla="*/ 410166 h 876300"/>
                  <a:gd name="connsiteX1" fmla="*/ 7144 w 704850"/>
                  <a:gd name="connsiteY1" fmla="*/ 312791 h 876300"/>
                  <a:gd name="connsiteX2" fmla="*/ 164497 w 704850"/>
                  <a:gd name="connsiteY2" fmla="*/ 221942 h 876300"/>
                  <a:gd name="connsiteX3" fmla="*/ 164497 w 704850"/>
                  <a:gd name="connsiteY3" fmla="*/ 220266 h 876300"/>
                  <a:gd name="connsiteX4" fmla="*/ 164497 w 704850"/>
                  <a:gd name="connsiteY4" fmla="*/ 218589 h 876300"/>
                  <a:gd name="connsiteX5" fmla="*/ 140141 w 704850"/>
                  <a:gd name="connsiteY5" fmla="*/ 162935 h 876300"/>
                  <a:gd name="connsiteX6" fmla="*/ 140141 w 704850"/>
                  <a:gd name="connsiteY6" fmla="*/ 91459 h 876300"/>
                  <a:gd name="connsiteX7" fmla="*/ 156782 w 704850"/>
                  <a:gd name="connsiteY7" fmla="*/ 138608 h 876300"/>
                  <a:gd name="connsiteX8" fmla="*/ 140160 w 704850"/>
                  <a:gd name="connsiteY8" fmla="*/ 91478 h 876300"/>
                  <a:gd name="connsiteX9" fmla="*/ 237554 w 704850"/>
                  <a:gd name="connsiteY9" fmla="*/ 7144 h 876300"/>
                  <a:gd name="connsiteX10" fmla="*/ 334937 w 704850"/>
                  <a:gd name="connsiteY10" fmla="*/ 91488 h 876300"/>
                  <a:gd name="connsiteX11" fmla="*/ 334909 w 704850"/>
                  <a:gd name="connsiteY11" fmla="*/ 91964 h 876300"/>
                  <a:gd name="connsiteX12" fmla="*/ 334909 w 704850"/>
                  <a:gd name="connsiteY12" fmla="*/ 162963 h 876300"/>
                  <a:gd name="connsiteX13" fmla="*/ 334756 w 704850"/>
                  <a:gd name="connsiteY13" fmla="*/ 165440 h 876300"/>
                  <a:gd name="connsiteX14" fmla="*/ 334499 w 704850"/>
                  <a:gd name="connsiteY14" fmla="*/ 170240 h 876300"/>
                  <a:gd name="connsiteX15" fmla="*/ 334261 w 704850"/>
                  <a:gd name="connsiteY15" fmla="*/ 172488 h 876300"/>
                  <a:gd name="connsiteX16" fmla="*/ 332975 w 704850"/>
                  <a:gd name="connsiteY16" fmla="*/ 179756 h 876300"/>
                  <a:gd name="connsiteX17" fmla="*/ 332899 w 704850"/>
                  <a:gd name="connsiteY17" fmla="*/ 180051 h 876300"/>
                  <a:gd name="connsiteX18" fmla="*/ 332261 w 704850"/>
                  <a:gd name="connsiteY18" fmla="*/ 182204 h 876300"/>
                  <a:gd name="connsiteX19" fmla="*/ 467963 w 704850"/>
                  <a:gd name="connsiteY19" fmla="*/ 338880 h 876300"/>
                  <a:gd name="connsiteX20" fmla="*/ 467963 w 704850"/>
                  <a:gd name="connsiteY20" fmla="*/ 436274 h 876300"/>
                  <a:gd name="connsiteX21" fmla="*/ 175803 w 704850"/>
                  <a:gd name="connsiteY21" fmla="*/ 604923 h 876300"/>
                  <a:gd name="connsiteX22" fmla="*/ 7144 w 704850"/>
                  <a:gd name="connsiteY22" fmla="*/ 410166 h 876300"/>
                  <a:gd name="connsiteX23" fmla="*/ 695516 w 704850"/>
                  <a:gd name="connsiteY23" fmla="*/ 699859 h 876300"/>
                  <a:gd name="connsiteX24" fmla="*/ 403384 w 704850"/>
                  <a:gd name="connsiteY24" fmla="*/ 868518 h 876300"/>
                  <a:gd name="connsiteX25" fmla="*/ 401003 w 704850"/>
                  <a:gd name="connsiteY25" fmla="*/ 869156 h 876300"/>
                  <a:gd name="connsiteX26" fmla="*/ 397402 w 704850"/>
                  <a:gd name="connsiteY26" fmla="*/ 867508 h 876300"/>
                  <a:gd name="connsiteX27" fmla="*/ 228724 w 704850"/>
                  <a:gd name="connsiteY27" fmla="*/ 672770 h 876300"/>
                  <a:gd name="connsiteX28" fmla="*/ 227628 w 704850"/>
                  <a:gd name="connsiteY28" fmla="*/ 668865 h 876300"/>
                  <a:gd name="connsiteX29" fmla="*/ 229943 w 704850"/>
                  <a:gd name="connsiteY29" fmla="*/ 665531 h 876300"/>
                  <a:gd name="connsiteX30" fmla="*/ 522094 w 704850"/>
                  <a:gd name="connsiteY30" fmla="*/ 496853 h 876300"/>
                  <a:gd name="connsiteX31" fmla="*/ 528076 w 704850"/>
                  <a:gd name="connsiteY31" fmla="*/ 497853 h 876300"/>
                  <a:gd name="connsiteX32" fmla="*/ 696735 w 704850"/>
                  <a:gd name="connsiteY32" fmla="*/ 692610 h 876300"/>
                  <a:gd name="connsiteX33" fmla="*/ 697830 w 704850"/>
                  <a:gd name="connsiteY33" fmla="*/ 696516 h 876300"/>
                  <a:gd name="connsiteX34" fmla="*/ 695516 w 704850"/>
                  <a:gd name="connsiteY34" fmla="*/ 699859 h 876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704850" h="876300">
                    <a:moveTo>
                      <a:pt x="7144" y="410166"/>
                    </a:moveTo>
                    <a:lnTo>
                      <a:pt x="7144" y="312791"/>
                    </a:lnTo>
                    <a:lnTo>
                      <a:pt x="164497" y="221942"/>
                    </a:lnTo>
                    <a:lnTo>
                      <a:pt x="164497" y="220266"/>
                    </a:lnTo>
                    <a:lnTo>
                      <a:pt x="164497" y="218589"/>
                    </a:lnTo>
                    <a:cubicBezTo>
                      <a:pt x="149390" y="203730"/>
                      <a:pt x="140141" y="184290"/>
                      <a:pt x="140141" y="162935"/>
                    </a:cubicBezTo>
                    <a:lnTo>
                      <a:pt x="140141" y="91459"/>
                    </a:lnTo>
                    <a:cubicBezTo>
                      <a:pt x="140141" y="108918"/>
                      <a:pt x="146275" y="125149"/>
                      <a:pt x="156782" y="138608"/>
                    </a:cubicBezTo>
                    <a:cubicBezTo>
                      <a:pt x="146285" y="125149"/>
                      <a:pt x="140160" y="108937"/>
                      <a:pt x="140160" y="91478"/>
                    </a:cubicBezTo>
                    <a:cubicBezTo>
                      <a:pt x="140160" y="44901"/>
                      <a:pt x="183775" y="7144"/>
                      <a:pt x="237554" y="7144"/>
                    </a:cubicBezTo>
                    <a:cubicBezTo>
                      <a:pt x="291313" y="7144"/>
                      <a:pt x="334918" y="44901"/>
                      <a:pt x="334937" y="91488"/>
                    </a:cubicBezTo>
                    <a:cubicBezTo>
                      <a:pt x="334937" y="91650"/>
                      <a:pt x="334909" y="91802"/>
                      <a:pt x="334909" y="91964"/>
                    </a:cubicBezTo>
                    <a:lnTo>
                      <a:pt x="334909" y="162963"/>
                    </a:lnTo>
                    <a:cubicBezTo>
                      <a:pt x="334909" y="163792"/>
                      <a:pt x="334794" y="164602"/>
                      <a:pt x="334756" y="165440"/>
                    </a:cubicBezTo>
                    <a:cubicBezTo>
                      <a:pt x="334699" y="167040"/>
                      <a:pt x="334632" y="168650"/>
                      <a:pt x="334499" y="170240"/>
                    </a:cubicBezTo>
                    <a:cubicBezTo>
                      <a:pt x="334413" y="170983"/>
                      <a:pt x="334356" y="171736"/>
                      <a:pt x="334261" y="172488"/>
                    </a:cubicBezTo>
                    <a:cubicBezTo>
                      <a:pt x="333927" y="174936"/>
                      <a:pt x="333537" y="177375"/>
                      <a:pt x="332975" y="179756"/>
                    </a:cubicBezTo>
                    <a:cubicBezTo>
                      <a:pt x="332956" y="179851"/>
                      <a:pt x="332918" y="179946"/>
                      <a:pt x="332899" y="180051"/>
                    </a:cubicBezTo>
                    <a:cubicBezTo>
                      <a:pt x="332718" y="180785"/>
                      <a:pt x="332461" y="181480"/>
                      <a:pt x="332261" y="182204"/>
                    </a:cubicBezTo>
                    <a:lnTo>
                      <a:pt x="467963" y="338880"/>
                    </a:lnTo>
                    <a:lnTo>
                      <a:pt x="467963" y="436274"/>
                    </a:lnTo>
                    <a:lnTo>
                      <a:pt x="175803" y="604923"/>
                    </a:lnTo>
                    <a:lnTo>
                      <a:pt x="7144" y="410166"/>
                    </a:lnTo>
                    <a:close/>
                    <a:moveTo>
                      <a:pt x="695516" y="699859"/>
                    </a:moveTo>
                    <a:lnTo>
                      <a:pt x="403384" y="868518"/>
                    </a:lnTo>
                    <a:cubicBezTo>
                      <a:pt x="402641" y="868956"/>
                      <a:pt x="401822" y="869156"/>
                      <a:pt x="401003" y="869156"/>
                    </a:cubicBezTo>
                    <a:cubicBezTo>
                      <a:pt x="399660" y="869156"/>
                      <a:pt x="398336" y="868585"/>
                      <a:pt x="397402" y="867508"/>
                    </a:cubicBezTo>
                    <a:lnTo>
                      <a:pt x="228724" y="672770"/>
                    </a:lnTo>
                    <a:cubicBezTo>
                      <a:pt x="227790" y="671703"/>
                      <a:pt x="227390" y="670265"/>
                      <a:pt x="227628" y="668865"/>
                    </a:cubicBezTo>
                    <a:cubicBezTo>
                      <a:pt x="227867" y="667464"/>
                      <a:pt x="228714" y="666245"/>
                      <a:pt x="229943" y="665531"/>
                    </a:cubicBezTo>
                    <a:lnTo>
                      <a:pt x="522094" y="496853"/>
                    </a:lnTo>
                    <a:cubicBezTo>
                      <a:pt x="524056" y="495700"/>
                      <a:pt x="526590" y="496119"/>
                      <a:pt x="528076" y="497853"/>
                    </a:cubicBezTo>
                    <a:lnTo>
                      <a:pt x="696735" y="692610"/>
                    </a:lnTo>
                    <a:cubicBezTo>
                      <a:pt x="697668" y="693677"/>
                      <a:pt x="698068" y="695115"/>
                      <a:pt x="697830" y="696516"/>
                    </a:cubicBezTo>
                    <a:cubicBezTo>
                      <a:pt x="697592" y="697916"/>
                      <a:pt x="696744" y="699145"/>
                      <a:pt x="695516" y="699859"/>
                    </a:cubicBezTo>
                    <a:close/>
                  </a:path>
                </a:pathLst>
              </a:custGeom>
              <a:no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>
                  <a:solidFill>
                    <a:schemeClr val="bg1"/>
                  </a:solidFill>
                </a:endParaRPr>
              </a:p>
            </p:txBody>
          </p:sp>
          <p:sp>
            <p:nvSpPr>
              <p:cNvPr id="24" name="Freeform: Shape 37">
                <a:extLst>
                  <a:ext uri="{FF2B5EF4-FFF2-40B4-BE49-F238E27FC236}">
                    <a16:creationId xmlns:a16="http://schemas.microsoft.com/office/drawing/2014/main" id="{26D4449C-E24F-47A1-0BA9-B4D1231EE90A}"/>
                  </a:ext>
                </a:extLst>
              </p:cNvPr>
              <p:cNvSpPr/>
              <p:nvPr/>
            </p:nvSpPr>
            <p:spPr>
              <a:xfrm>
                <a:off x="4272815" y="2536792"/>
                <a:ext cx="9525" cy="9525"/>
              </a:xfrm>
              <a:custGeom>
                <a:avLst/>
                <a:gdLst>
                  <a:gd name="connsiteX0" fmla="*/ 7182 w 9525"/>
                  <a:gd name="connsiteY0" fmla="*/ 7144 h 9525"/>
                  <a:gd name="connsiteX1" fmla="*/ 7144 w 9525"/>
                  <a:gd name="connsiteY1" fmla="*/ 7296 h 9525"/>
                  <a:gd name="connsiteX2" fmla="*/ 7182 w 9525"/>
                  <a:gd name="connsiteY2" fmla="*/ 7172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525" h="9525">
                    <a:moveTo>
                      <a:pt x="7182" y="7144"/>
                    </a:moveTo>
                    <a:lnTo>
                      <a:pt x="7144" y="7296"/>
                    </a:lnTo>
                    <a:lnTo>
                      <a:pt x="7182" y="7172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>
                  <a:solidFill>
                    <a:schemeClr val="bg1"/>
                  </a:solidFill>
                </a:endParaRPr>
              </a:p>
            </p:txBody>
          </p:sp>
          <p:sp>
            <p:nvSpPr>
              <p:cNvPr id="25" name="Freeform: Shape 38">
                <a:extLst>
                  <a:ext uri="{FF2B5EF4-FFF2-40B4-BE49-F238E27FC236}">
                    <a16:creationId xmlns:a16="http://schemas.microsoft.com/office/drawing/2014/main" id="{380CB4F0-D598-949F-D94F-54D7DBD5CD13}"/>
                  </a:ext>
                </a:extLst>
              </p:cNvPr>
              <p:cNvSpPr/>
              <p:nvPr/>
            </p:nvSpPr>
            <p:spPr>
              <a:xfrm>
                <a:off x="4234039" y="2448019"/>
                <a:ext cx="38100" cy="28575"/>
              </a:xfrm>
              <a:custGeom>
                <a:avLst/>
                <a:gdLst>
                  <a:gd name="connsiteX0" fmla="*/ 7144 w 38100"/>
                  <a:gd name="connsiteY0" fmla="*/ 23879 h 28575"/>
                  <a:gd name="connsiteX1" fmla="*/ 9049 w 38100"/>
                  <a:gd name="connsiteY1" fmla="*/ 23241 h 28575"/>
                  <a:gd name="connsiteX2" fmla="*/ 9896 w 38100"/>
                  <a:gd name="connsiteY2" fmla="*/ 22927 h 28575"/>
                  <a:gd name="connsiteX3" fmla="*/ 17659 w 38100"/>
                  <a:gd name="connsiteY3" fmla="*/ 19555 h 28575"/>
                  <a:gd name="connsiteX4" fmla="*/ 19040 w 38100"/>
                  <a:gd name="connsiteY4" fmla="*/ 18831 h 28575"/>
                  <a:gd name="connsiteX5" fmla="*/ 20241 w 38100"/>
                  <a:gd name="connsiteY5" fmla="*/ 18202 h 28575"/>
                  <a:gd name="connsiteX6" fmla="*/ 25803 w 38100"/>
                  <a:gd name="connsiteY6" fmla="*/ 15069 h 28575"/>
                  <a:gd name="connsiteX7" fmla="*/ 29518 w 38100"/>
                  <a:gd name="connsiteY7" fmla="*/ 12649 h 28575"/>
                  <a:gd name="connsiteX8" fmla="*/ 30413 w 38100"/>
                  <a:gd name="connsiteY8" fmla="*/ 12049 h 28575"/>
                  <a:gd name="connsiteX9" fmla="*/ 31423 w 38100"/>
                  <a:gd name="connsiteY9" fmla="*/ 11354 h 28575"/>
                  <a:gd name="connsiteX10" fmla="*/ 36376 w 38100"/>
                  <a:gd name="connsiteY10" fmla="*/ 7439 h 28575"/>
                  <a:gd name="connsiteX11" fmla="*/ 36119 w 38100"/>
                  <a:gd name="connsiteY11" fmla="*/ 7144 h 28575"/>
                  <a:gd name="connsiteX12" fmla="*/ 7144 w 38100"/>
                  <a:gd name="connsiteY12" fmla="*/ 23879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8100" h="28575">
                    <a:moveTo>
                      <a:pt x="7144" y="23879"/>
                    </a:moveTo>
                    <a:cubicBezTo>
                      <a:pt x="7772" y="23670"/>
                      <a:pt x="8458" y="23460"/>
                      <a:pt x="9049" y="23241"/>
                    </a:cubicBezTo>
                    <a:lnTo>
                      <a:pt x="9896" y="22927"/>
                    </a:lnTo>
                    <a:cubicBezTo>
                      <a:pt x="12449" y="21955"/>
                      <a:pt x="15059" y="20822"/>
                      <a:pt x="17659" y="19555"/>
                    </a:cubicBezTo>
                    <a:cubicBezTo>
                      <a:pt x="18117" y="19336"/>
                      <a:pt x="18583" y="19079"/>
                      <a:pt x="19040" y="18831"/>
                    </a:cubicBezTo>
                    <a:lnTo>
                      <a:pt x="20241" y="18202"/>
                    </a:lnTo>
                    <a:cubicBezTo>
                      <a:pt x="22117" y="17221"/>
                      <a:pt x="23993" y="16164"/>
                      <a:pt x="25803" y="15069"/>
                    </a:cubicBezTo>
                    <a:cubicBezTo>
                      <a:pt x="27022" y="14316"/>
                      <a:pt x="28270" y="13506"/>
                      <a:pt x="29518" y="12649"/>
                    </a:cubicBezTo>
                    <a:lnTo>
                      <a:pt x="30413" y="12049"/>
                    </a:lnTo>
                    <a:lnTo>
                      <a:pt x="31423" y="11354"/>
                    </a:lnTo>
                    <a:cubicBezTo>
                      <a:pt x="33090" y="10135"/>
                      <a:pt x="34757" y="8820"/>
                      <a:pt x="36376" y="7439"/>
                    </a:cubicBezTo>
                    <a:lnTo>
                      <a:pt x="36119" y="7144"/>
                    </a:lnTo>
                    <a:lnTo>
                      <a:pt x="7144" y="23879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>
                  <a:solidFill>
                    <a:schemeClr val="bg1"/>
                  </a:solidFill>
                </a:endParaRPr>
              </a:p>
            </p:txBody>
          </p:sp>
          <p:sp>
            <p:nvSpPr>
              <p:cNvPr id="26" name="Freeform: Shape 39">
                <a:extLst>
                  <a:ext uri="{FF2B5EF4-FFF2-40B4-BE49-F238E27FC236}">
                    <a16:creationId xmlns:a16="http://schemas.microsoft.com/office/drawing/2014/main" id="{71E01EC1-04E0-F00A-E7D0-A3570350B0AE}"/>
                  </a:ext>
                </a:extLst>
              </p:cNvPr>
              <p:cNvSpPr/>
              <p:nvPr/>
            </p:nvSpPr>
            <p:spPr>
              <a:xfrm>
                <a:off x="4266357" y="2417310"/>
                <a:ext cx="19050" cy="38100"/>
              </a:xfrm>
              <a:custGeom>
                <a:avLst/>
                <a:gdLst>
                  <a:gd name="connsiteX0" fmla="*/ 14792 w 19050"/>
                  <a:gd name="connsiteY0" fmla="*/ 12287 h 38100"/>
                  <a:gd name="connsiteX1" fmla="*/ 14621 w 19050"/>
                  <a:gd name="connsiteY1" fmla="*/ 13954 h 38100"/>
                  <a:gd name="connsiteX2" fmla="*/ 13649 w 19050"/>
                  <a:gd name="connsiteY2" fmla="*/ 19469 h 38100"/>
                  <a:gd name="connsiteX3" fmla="*/ 13611 w 19050"/>
                  <a:gd name="connsiteY3" fmla="*/ 19583 h 38100"/>
                  <a:gd name="connsiteX4" fmla="*/ 12011 w 19050"/>
                  <a:gd name="connsiteY4" fmla="*/ 25003 h 38100"/>
                  <a:gd name="connsiteX5" fmla="*/ 11430 w 19050"/>
                  <a:gd name="connsiteY5" fmla="*/ 26565 h 38100"/>
                  <a:gd name="connsiteX6" fmla="*/ 9754 w 19050"/>
                  <a:gd name="connsiteY6" fmla="*/ 30490 h 38100"/>
                  <a:gd name="connsiteX7" fmla="*/ 9106 w 19050"/>
                  <a:gd name="connsiteY7" fmla="*/ 31899 h 38100"/>
                  <a:gd name="connsiteX8" fmla="*/ 7144 w 19050"/>
                  <a:gd name="connsiteY8" fmla="*/ 35433 h 38100"/>
                  <a:gd name="connsiteX9" fmla="*/ 9830 w 19050"/>
                  <a:gd name="connsiteY9" fmla="*/ 32766 h 38100"/>
                  <a:gd name="connsiteX10" fmla="*/ 10925 w 19050"/>
                  <a:gd name="connsiteY10" fmla="*/ 31566 h 38100"/>
                  <a:gd name="connsiteX11" fmla="*/ 10992 w 19050"/>
                  <a:gd name="connsiteY11" fmla="*/ 31490 h 38100"/>
                  <a:gd name="connsiteX12" fmla="*/ 11316 w 19050"/>
                  <a:gd name="connsiteY12" fmla="*/ 31128 h 38100"/>
                  <a:gd name="connsiteX13" fmla="*/ 14535 w 19050"/>
                  <a:gd name="connsiteY13" fmla="*/ 27403 h 38100"/>
                  <a:gd name="connsiteX14" fmla="*/ 15088 w 19050"/>
                  <a:gd name="connsiteY14" fmla="*/ 26708 h 38100"/>
                  <a:gd name="connsiteX15" fmla="*/ 15088 w 19050"/>
                  <a:gd name="connsiteY15" fmla="*/ 7144 h 38100"/>
                  <a:gd name="connsiteX16" fmla="*/ 14792 w 19050"/>
                  <a:gd name="connsiteY16" fmla="*/ 12287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9050" h="38100">
                    <a:moveTo>
                      <a:pt x="14792" y="12287"/>
                    </a:moveTo>
                    <a:cubicBezTo>
                      <a:pt x="14735" y="12849"/>
                      <a:pt x="14697" y="13402"/>
                      <a:pt x="14621" y="13954"/>
                    </a:cubicBezTo>
                    <a:cubicBezTo>
                      <a:pt x="14373" y="15811"/>
                      <a:pt x="14059" y="17669"/>
                      <a:pt x="13649" y="19469"/>
                    </a:cubicBezTo>
                    <a:cubicBezTo>
                      <a:pt x="13630" y="19507"/>
                      <a:pt x="13630" y="19545"/>
                      <a:pt x="13611" y="19583"/>
                    </a:cubicBezTo>
                    <a:cubicBezTo>
                      <a:pt x="13183" y="21422"/>
                      <a:pt x="12621" y="23222"/>
                      <a:pt x="12011" y="25003"/>
                    </a:cubicBezTo>
                    <a:cubicBezTo>
                      <a:pt x="11820" y="25537"/>
                      <a:pt x="11620" y="26041"/>
                      <a:pt x="11430" y="26565"/>
                    </a:cubicBezTo>
                    <a:cubicBezTo>
                      <a:pt x="10906" y="27899"/>
                      <a:pt x="10363" y="29194"/>
                      <a:pt x="9754" y="30490"/>
                    </a:cubicBezTo>
                    <a:cubicBezTo>
                      <a:pt x="9554" y="30947"/>
                      <a:pt x="9325" y="31432"/>
                      <a:pt x="9106" y="31899"/>
                    </a:cubicBezTo>
                    <a:cubicBezTo>
                      <a:pt x="8506" y="33099"/>
                      <a:pt x="7820" y="34271"/>
                      <a:pt x="7144" y="35433"/>
                    </a:cubicBezTo>
                    <a:cubicBezTo>
                      <a:pt x="7991" y="34623"/>
                      <a:pt x="8887" y="33738"/>
                      <a:pt x="9830" y="32766"/>
                    </a:cubicBezTo>
                    <a:cubicBezTo>
                      <a:pt x="10211" y="32366"/>
                      <a:pt x="10563" y="31966"/>
                      <a:pt x="10925" y="31566"/>
                    </a:cubicBezTo>
                    <a:lnTo>
                      <a:pt x="10992" y="31490"/>
                    </a:lnTo>
                    <a:lnTo>
                      <a:pt x="11316" y="31128"/>
                    </a:lnTo>
                    <a:cubicBezTo>
                      <a:pt x="12440" y="29918"/>
                      <a:pt x="13516" y="28689"/>
                      <a:pt x="14535" y="27403"/>
                    </a:cubicBezTo>
                    <a:lnTo>
                      <a:pt x="15088" y="26708"/>
                    </a:lnTo>
                    <a:lnTo>
                      <a:pt x="15088" y="7144"/>
                    </a:lnTo>
                    <a:cubicBezTo>
                      <a:pt x="15078" y="8868"/>
                      <a:pt x="14973" y="10592"/>
                      <a:pt x="14792" y="12287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>
                  <a:solidFill>
                    <a:schemeClr val="bg1"/>
                  </a:solidFill>
                </a:endParaRPr>
              </a:p>
            </p:txBody>
          </p:sp>
          <p:sp>
            <p:nvSpPr>
              <p:cNvPr id="27" name="Freeform: Shape 40">
                <a:extLst>
                  <a:ext uri="{FF2B5EF4-FFF2-40B4-BE49-F238E27FC236}">
                    <a16:creationId xmlns:a16="http://schemas.microsoft.com/office/drawing/2014/main" id="{3D3A0C0B-3028-02AB-45A9-5AC22941B397}"/>
                  </a:ext>
                </a:extLst>
              </p:cNvPr>
              <p:cNvSpPr/>
              <p:nvPr/>
            </p:nvSpPr>
            <p:spPr>
              <a:xfrm>
                <a:off x="4266319" y="2416967"/>
                <a:ext cx="19050" cy="38100"/>
              </a:xfrm>
              <a:custGeom>
                <a:avLst/>
                <a:gdLst>
                  <a:gd name="connsiteX0" fmla="*/ 9792 w 19050"/>
                  <a:gd name="connsiteY0" fmla="*/ 30832 h 38100"/>
                  <a:gd name="connsiteX1" fmla="*/ 11468 w 19050"/>
                  <a:gd name="connsiteY1" fmla="*/ 26908 h 38100"/>
                  <a:gd name="connsiteX2" fmla="*/ 12049 w 19050"/>
                  <a:gd name="connsiteY2" fmla="*/ 25346 h 38100"/>
                  <a:gd name="connsiteX3" fmla="*/ 13649 w 19050"/>
                  <a:gd name="connsiteY3" fmla="*/ 19926 h 38100"/>
                  <a:gd name="connsiteX4" fmla="*/ 13687 w 19050"/>
                  <a:gd name="connsiteY4" fmla="*/ 19812 h 38100"/>
                  <a:gd name="connsiteX5" fmla="*/ 14659 w 19050"/>
                  <a:gd name="connsiteY5" fmla="*/ 14297 h 38100"/>
                  <a:gd name="connsiteX6" fmla="*/ 14830 w 19050"/>
                  <a:gd name="connsiteY6" fmla="*/ 12630 h 38100"/>
                  <a:gd name="connsiteX7" fmla="*/ 15126 w 19050"/>
                  <a:gd name="connsiteY7" fmla="*/ 7487 h 38100"/>
                  <a:gd name="connsiteX8" fmla="*/ 15126 w 19050"/>
                  <a:gd name="connsiteY8" fmla="*/ 7144 h 38100"/>
                  <a:gd name="connsiteX9" fmla="*/ 14811 w 19050"/>
                  <a:gd name="connsiteY9" fmla="*/ 12621 h 38100"/>
                  <a:gd name="connsiteX10" fmla="*/ 14640 w 19050"/>
                  <a:gd name="connsiteY10" fmla="*/ 14288 h 38100"/>
                  <a:gd name="connsiteX11" fmla="*/ 13668 w 19050"/>
                  <a:gd name="connsiteY11" fmla="*/ 19802 h 38100"/>
                  <a:gd name="connsiteX12" fmla="*/ 13630 w 19050"/>
                  <a:gd name="connsiteY12" fmla="*/ 19917 h 38100"/>
                  <a:gd name="connsiteX13" fmla="*/ 12030 w 19050"/>
                  <a:gd name="connsiteY13" fmla="*/ 25336 h 38100"/>
                  <a:gd name="connsiteX14" fmla="*/ 11449 w 19050"/>
                  <a:gd name="connsiteY14" fmla="*/ 26899 h 38100"/>
                  <a:gd name="connsiteX15" fmla="*/ 9773 w 19050"/>
                  <a:gd name="connsiteY15" fmla="*/ 30823 h 38100"/>
                  <a:gd name="connsiteX16" fmla="*/ 9125 w 19050"/>
                  <a:gd name="connsiteY16" fmla="*/ 32233 h 38100"/>
                  <a:gd name="connsiteX17" fmla="*/ 7144 w 19050"/>
                  <a:gd name="connsiteY17" fmla="*/ 35814 h 38100"/>
                  <a:gd name="connsiteX18" fmla="*/ 7191 w 19050"/>
                  <a:gd name="connsiteY18" fmla="*/ 35776 h 38100"/>
                  <a:gd name="connsiteX19" fmla="*/ 9154 w 19050"/>
                  <a:gd name="connsiteY19" fmla="*/ 32242 h 38100"/>
                  <a:gd name="connsiteX20" fmla="*/ 9792 w 19050"/>
                  <a:gd name="connsiteY20" fmla="*/ 30832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9050" h="38100">
                    <a:moveTo>
                      <a:pt x="9792" y="30832"/>
                    </a:moveTo>
                    <a:cubicBezTo>
                      <a:pt x="10401" y="29537"/>
                      <a:pt x="10944" y="28242"/>
                      <a:pt x="11468" y="26908"/>
                    </a:cubicBezTo>
                    <a:cubicBezTo>
                      <a:pt x="11659" y="26384"/>
                      <a:pt x="11859" y="25879"/>
                      <a:pt x="12049" y="25346"/>
                    </a:cubicBezTo>
                    <a:cubicBezTo>
                      <a:pt x="12659" y="23555"/>
                      <a:pt x="13221" y="21765"/>
                      <a:pt x="13649" y="19926"/>
                    </a:cubicBezTo>
                    <a:cubicBezTo>
                      <a:pt x="13668" y="19888"/>
                      <a:pt x="13668" y="19850"/>
                      <a:pt x="13687" y="19812"/>
                    </a:cubicBezTo>
                    <a:cubicBezTo>
                      <a:pt x="14097" y="18012"/>
                      <a:pt x="14411" y="16154"/>
                      <a:pt x="14659" y="14297"/>
                    </a:cubicBezTo>
                    <a:cubicBezTo>
                      <a:pt x="14735" y="13745"/>
                      <a:pt x="14773" y="13192"/>
                      <a:pt x="14830" y="12630"/>
                    </a:cubicBezTo>
                    <a:cubicBezTo>
                      <a:pt x="15011" y="10935"/>
                      <a:pt x="15116" y="9220"/>
                      <a:pt x="15126" y="7487"/>
                    </a:cubicBezTo>
                    <a:lnTo>
                      <a:pt x="15126" y="7144"/>
                    </a:lnTo>
                    <a:cubicBezTo>
                      <a:pt x="15135" y="8992"/>
                      <a:pt x="15002" y="10820"/>
                      <a:pt x="14811" y="12621"/>
                    </a:cubicBezTo>
                    <a:cubicBezTo>
                      <a:pt x="14754" y="13183"/>
                      <a:pt x="14716" y="13735"/>
                      <a:pt x="14640" y="14288"/>
                    </a:cubicBezTo>
                    <a:cubicBezTo>
                      <a:pt x="14402" y="16145"/>
                      <a:pt x="14078" y="18002"/>
                      <a:pt x="13668" y="19802"/>
                    </a:cubicBezTo>
                    <a:cubicBezTo>
                      <a:pt x="13649" y="19841"/>
                      <a:pt x="13649" y="19879"/>
                      <a:pt x="13630" y="19917"/>
                    </a:cubicBezTo>
                    <a:cubicBezTo>
                      <a:pt x="13202" y="21755"/>
                      <a:pt x="12640" y="23565"/>
                      <a:pt x="12030" y="25336"/>
                    </a:cubicBezTo>
                    <a:cubicBezTo>
                      <a:pt x="11840" y="25870"/>
                      <a:pt x="11640" y="26375"/>
                      <a:pt x="11449" y="26899"/>
                    </a:cubicBezTo>
                    <a:cubicBezTo>
                      <a:pt x="10925" y="28232"/>
                      <a:pt x="10392" y="29527"/>
                      <a:pt x="9773" y="30823"/>
                    </a:cubicBezTo>
                    <a:cubicBezTo>
                      <a:pt x="9573" y="31290"/>
                      <a:pt x="9344" y="31775"/>
                      <a:pt x="9125" y="32233"/>
                    </a:cubicBezTo>
                    <a:cubicBezTo>
                      <a:pt x="8515" y="33452"/>
                      <a:pt x="7820" y="34633"/>
                      <a:pt x="7144" y="35814"/>
                    </a:cubicBezTo>
                    <a:cubicBezTo>
                      <a:pt x="7153" y="35804"/>
                      <a:pt x="7172" y="35785"/>
                      <a:pt x="7191" y="35776"/>
                    </a:cubicBezTo>
                    <a:cubicBezTo>
                      <a:pt x="7868" y="34604"/>
                      <a:pt x="8553" y="33442"/>
                      <a:pt x="9154" y="32242"/>
                    </a:cubicBezTo>
                    <a:cubicBezTo>
                      <a:pt x="9363" y="31775"/>
                      <a:pt x="9592" y="31290"/>
                      <a:pt x="9792" y="30832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28" name="Freeform: Shape 33">
              <a:extLst>
                <a:ext uri="{FF2B5EF4-FFF2-40B4-BE49-F238E27FC236}">
                  <a16:creationId xmlns:a16="http://schemas.microsoft.com/office/drawing/2014/main" id="{F62C5FEE-739C-5CD8-3480-47AFBD4B137D}"/>
                </a:ext>
              </a:extLst>
            </p:cNvPr>
            <p:cNvSpPr/>
            <p:nvPr/>
          </p:nvSpPr>
          <p:spPr>
            <a:xfrm flipV="1">
              <a:off x="8573407" y="4059813"/>
              <a:ext cx="393773" cy="318515"/>
            </a:xfrm>
            <a:custGeom>
              <a:avLst/>
              <a:gdLst>
                <a:gd name="connsiteX0" fmla="*/ 0 w 633984"/>
                <a:gd name="connsiteY0" fmla="*/ 348691 h 633984"/>
                <a:gd name="connsiteX1" fmla="*/ 142646 w 633984"/>
                <a:gd name="connsiteY1" fmla="*/ 348691 h 633984"/>
                <a:gd name="connsiteX2" fmla="*/ 142646 w 633984"/>
                <a:gd name="connsiteY2" fmla="*/ 0 h 633984"/>
                <a:gd name="connsiteX3" fmla="*/ 491338 w 633984"/>
                <a:gd name="connsiteY3" fmla="*/ 0 h 633984"/>
                <a:gd name="connsiteX4" fmla="*/ 491338 w 633984"/>
                <a:gd name="connsiteY4" fmla="*/ 348691 h 633984"/>
                <a:gd name="connsiteX5" fmla="*/ 633984 w 633984"/>
                <a:gd name="connsiteY5" fmla="*/ 348691 h 633984"/>
                <a:gd name="connsiteX6" fmla="*/ 316992 w 633984"/>
                <a:gd name="connsiteY6" fmla="*/ 633984 h 633984"/>
                <a:gd name="connsiteX7" fmla="*/ 0 w 633984"/>
                <a:gd name="connsiteY7" fmla="*/ 348691 h 63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33984" h="633984">
                  <a:moveTo>
                    <a:pt x="0" y="348691"/>
                  </a:moveTo>
                  <a:lnTo>
                    <a:pt x="142646" y="348691"/>
                  </a:lnTo>
                  <a:lnTo>
                    <a:pt x="142646" y="0"/>
                  </a:lnTo>
                  <a:lnTo>
                    <a:pt x="491338" y="0"/>
                  </a:lnTo>
                  <a:lnTo>
                    <a:pt x="491338" y="348691"/>
                  </a:lnTo>
                  <a:lnTo>
                    <a:pt x="633984" y="348691"/>
                  </a:lnTo>
                  <a:lnTo>
                    <a:pt x="316992" y="633984"/>
                  </a:lnTo>
                  <a:lnTo>
                    <a:pt x="0" y="348691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8206" tIns="35560" rIns="178206" bIns="192471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2800" kern="1200"/>
            </a:p>
          </p:txBody>
        </p:sp>
        <p:sp>
          <p:nvSpPr>
            <p:cNvPr id="29" name="Freeform: Shape 34">
              <a:extLst>
                <a:ext uri="{FF2B5EF4-FFF2-40B4-BE49-F238E27FC236}">
                  <a16:creationId xmlns:a16="http://schemas.microsoft.com/office/drawing/2014/main" id="{BCD906C9-9D1F-D350-D161-F4D9B4B287D1}"/>
                </a:ext>
              </a:extLst>
            </p:cNvPr>
            <p:cNvSpPr/>
            <p:nvPr/>
          </p:nvSpPr>
          <p:spPr>
            <a:xfrm flipV="1">
              <a:off x="9021642" y="2937436"/>
              <a:ext cx="393773" cy="318515"/>
            </a:xfrm>
            <a:custGeom>
              <a:avLst/>
              <a:gdLst>
                <a:gd name="connsiteX0" fmla="*/ 0 w 633984"/>
                <a:gd name="connsiteY0" fmla="*/ 348691 h 633984"/>
                <a:gd name="connsiteX1" fmla="*/ 142646 w 633984"/>
                <a:gd name="connsiteY1" fmla="*/ 348691 h 633984"/>
                <a:gd name="connsiteX2" fmla="*/ 142646 w 633984"/>
                <a:gd name="connsiteY2" fmla="*/ 0 h 633984"/>
                <a:gd name="connsiteX3" fmla="*/ 491338 w 633984"/>
                <a:gd name="connsiteY3" fmla="*/ 0 h 633984"/>
                <a:gd name="connsiteX4" fmla="*/ 491338 w 633984"/>
                <a:gd name="connsiteY4" fmla="*/ 348691 h 633984"/>
                <a:gd name="connsiteX5" fmla="*/ 633984 w 633984"/>
                <a:gd name="connsiteY5" fmla="*/ 348691 h 633984"/>
                <a:gd name="connsiteX6" fmla="*/ 316992 w 633984"/>
                <a:gd name="connsiteY6" fmla="*/ 633984 h 633984"/>
                <a:gd name="connsiteX7" fmla="*/ 0 w 633984"/>
                <a:gd name="connsiteY7" fmla="*/ 348691 h 63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33984" h="633984">
                  <a:moveTo>
                    <a:pt x="0" y="348691"/>
                  </a:moveTo>
                  <a:lnTo>
                    <a:pt x="142646" y="348691"/>
                  </a:lnTo>
                  <a:lnTo>
                    <a:pt x="142646" y="0"/>
                  </a:lnTo>
                  <a:lnTo>
                    <a:pt x="491338" y="0"/>
                  </a:lnTo>
                  <a:lnTo>
                    <a:pt x="491338" y="348691"/>
                  </a:lnTo>
                  <a:lnTo>
                    <a:pt x="633984" y="348691"/>
                  </a:lnTo>
                  <a:lnTo>
                    <a:pt x="316992" y="633984"/>
                  </a:lnTo>
                  <a:lnTo>
                    <a:pt x="0" y="348691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8206" tIns="35560" rIns="178206" bIns="192471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2800" kern="1200"/>
            </a:p>
          </p:txBody>
        </p:sp>
      </p:grpSp>
      <p:sp>
        <p:nvSpPr>
          <p:cNvPr id="30" name="TextBox 75">
            <a:extLst>
              <a:ext uri="{FF2B5EF4-FFF2-40B4-BE49-F238E27FC236}">
                <a16:creationId xmlns:a16="http://schemas.microsoft.com/office/drawing/2014/main" id="{02AD65D6-9504-23E6-E4FD-CC294F4A3C64}"/>
              </a:ext>
            </a:extLst>
          </p:cNvPr>
          <p:cNvSpPr txBox="1"/>
          <p:nvPr/>
        </p:nvSpPr>
        <p:spPr>
          <a:xfrm>
            <a:off x="1699594" y="5848141"/>
            <a:ext cx="95143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/>
              </a:rPr>
              <a:t>Estimates include all of South Carolina</a:t>
            </a:r>
          </a:p>
        </p:txBody>
      </p:sp>
      <p:sp>
        <p:nvSpPr>
          <p:cNvPr id="31" name="TextBox 76">
            <a:extLst>
              <a:ext uri="{FF2B5EF4-FFF2-40B4-BE49-F238E27FC236}">
                <a16:creationId xmlns:a16="http://schemas.microsoft.com/office/drawing/2014/main" id="{F3A378C3-B669-3EE2-B76D-98EDB44E8CDF}"/>
              </a:ext>
            </a:extLst>
          </p:cNvPr>
          <p:cNvSpPr txBox="1"/>
          <p:nvPr/>
        </p:nvSpPr>
        <p:spPr>
          <a:xfrm>
            <a:off x="3297507" y="4821984"/>
            <a:ext cx="16131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/>
              </a:rPr>
              <a:t>5,143K</a:t>
            </a:r>
          </a:p>
        </p:txBody>
      </p:sp>
      <p:sp>
        <p:nvSpPr>
          <p:cNvPr id="32" name="TextBox 77">
            <a:extLst>
              <a:ext uri="{FF2B5EF4-FFF2-40B4-BE49-F238E27FC236}">
                <a16:creationId xmlns:a16="http://schemas.microsoft.com/office/drawing/2014/main" id="{F24CF5B8-0E02-1AF3-2A3D-F14253B44FE8}"/>
              </a:ext>
            </a:extLst>
          </p:cNvPr>
          <p:cNvSpPr txBox="1"/>
          <p:nvPr/>
        </p:nvSpPr>
        <p:spPr>
          <a:xfrm>
            <a:off x="3520440" y="3896929"/>
            <a:ext cx="10967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/>
              </a:rPr>
              <a:t>2,950K</a:t>
            </a:r>
          </a:p>
        </p:txBody>
      </p:sp>
      <p:sp>
        <p:nvSpPr>
          <p:cNvPr id="33" name="TextBox 78">
            <a:extLst>
              <a:ext uri="{FF2B5EF4-FFF2-40B4-BE49-F238E27FC236}">
                <a16:creationId xmlns:a16="http://schemas.microsoft.com/office/drawing/2014/main" id="{509B3348-F2D5-63CE-B5D5-5FB7263B3D0F}"/>
              </a:ext>
            </a:extLst>
          </p:cNvPr>
          <p:cNvSpPr txBox="1"/>
          <p:nvPr/>
        </p:nvSpPr>
        <p:spPr>
          <a:xfrm>
            <a:off x="3739896" y="2954184"/>
            <a:ext cx="10791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/>
              </a:rPr>
              <a:t>1,962K</a:t>
            </a:r>
          </a:p>
        </p:txBody>
      </p:sp>
      <p:sp>
        <p:nvSpPr>
          <p:cNvPr id="34" name="TextBox 79">
            <a:extLst>
              <a:ext uri="{FF2B5EF4-FFF2-40B4-BE49-F238E27FC236}">
                <a16:creationId xmlns:a16="http://schemas.microsoft.com/office/drawing/2014/main" id="{7E24246C-24ED-62DA-EA2E-6EA4A6ADAEAC}"/>
              </a:ext>
            </a:extLst>
          </p:cNvPr>
          <p:cNvSpPr txBox="1"/>
          <p:nvPr/>
        </p:nvSpPr>
        <p:spPr>
          <a:xfrm>
            <a:off x="3959352" y="2022649"/>
            <a:ext cx="9220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/>
              </a:rPr>
              <a:t>1,271K</a:t>
            </a:r>
          </a:p>
        </p:txBody>
      </p:sp>
      <p:pic>
        <p:nvPicPr>
          <p:cNvPr id="35" name="Content Placeholder 34"/>
          <p:cNvPicPr>
            <a:picLocks noGrp="1"/>
          </p:cNvPicPr>
          <p:nvPr>
            <p:ph/>
          </p:nvPr>
        </p:nvPicPr>
        <p:blipFill>
          <a:blip r:embed="rId2" cstate="print"/>
          <a:stretch>
            <a:fillRect/>
          </a:stretch>
        </p:blipFill>
        <p:spPr>
          <a:xfrm>
            <a:off x="5705856" y="1911096"/>
            <a:ext cx="6364224" cy="3813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3273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98B34-ED02-4840-8232-D8675185BD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3802" y="-53119"/>
            <a:ext cx="10515600" cy="1325563"/>
          </a:xfrm>
        </p:spPr>
        <p:txBody>
          <a:bodyPr/>
          <a:lstStyle/>
          <a:p>
            <a:r>
              <a:rPr lang="en-US" dirty="0"/>
              <a:t>Plan Steerage Growth Projections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0ADF3E-979B-51A0-741A-05E8BE0D7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Key Benefit Administrators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20F849-83C4-8D63-B960-FCC61373C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8</a:t>
            </a:fld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AD95D89-55EF-241F-A4FB-89F57FCEA6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5537909"/>
              </p:ext>
            </p:extLst>
          </p:nvPr>
        </p:nvGraphicFramePr>
        <p:xfrm>
          <a:off x="1193801" y="1078100"/>
          <a:ext cx="7548265" cy="5153900"/>
        </p:xfrm>
        <a:graphic>
          <a:graphicData uri="http://schemas.openxmlformats.org/drawingml/2006/table">
            <a:tbl>
              <a:tblPr/>
              <a:tblGrid>
                <a:gridCol w="3589214">
                  <a:extLst>
                    <a:ext uri="{9D8B030D-6E8A-4147-A177-3AD203B41FA5}">
                      <a16:colId xmlns:a16="http://schemas.microsoft.com/office/drawing/2014/main" val="3989706617"/>
                    </a:ext>
                  </a:extLst>
                </a:gridCol>
                <a:gridCol w="880542">
                  <a:extLst>
                    <a:ext uri="{9D8B030D-6E8A-4147-A177-3AD203B41FA5}">
                      <a16:colId xmlns:a16="http://schemas.microsoft.com/office/drawing/2014/main" val="3337914293"/>
                    </a:ext>
                  </a:extLst>
                </a:gridCol>
                <a:gridCol w="898017">
                  <a:extLst>
                    <a:ext uri="{9D8B030D-6E8A-4147-A177-3AD203B41FA5}">
                      <a16:colId xmlns:a16="http://schemas.microsoft.com/office/drawing/2014/main" val="2483542773"/>
                    </a:ext>
                  </a:extLst>
                </a:gridCol>
                <a:gridCol w="1034980">
                  <a:extLst>
                    <a:ext uri="{9D8B030D-6E8A-4147-A177-3AD203B41FA5}">
                      <a16:colId xmlns:a16="http://schemas.microsoft.com/office/drawing/2014/main" val="2174965055"/>
                    </a:ext>
                  </a:extLst>
                </a:gridCol>
                <a:gridCol w="1145512">
                  <a:extLst>
                    <a:ext uri="{9D8B030D-6E8A-4147-A177-3AD203B41FA5}">
                      <a16:colId xmlns:a16="http://schemas.microsoft.com/office/drawing/2014/main" val="3616659561"/>
                    </a:ext>
                  </a:extLst>
                </a:gridCol>
              </a:tblGrid>
              <a:tr h="8269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Health System</a:t>
                      </a:r>
                    </a:p>
                  </a:txBody>
                  <a:tcPr marL="6158" marR="6158" marT="61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Current Inpatient Market Share</a:t>
                      </a:r>
                    </a:p>
                  </a:txBody>
                  <a:tcPr marL="6158" marR="6158" marT="61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Current Outpatient Market Share</a:t>
                      </a:r>
                    </a:p>
                  </a:txBody>
                  <a:tcPr marL="6158" marR="6158" marT="6158" marB="0" anchor="b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Within-Plan Expected Inpatient Market Share</a:t>
                      </a:r>
                    </a:p>
                  </a:txBody>
                  <a:tcPr marL="6158" marR="6158" marT="6158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Within-Plan Expected Outpatient Market Share</a:t>
                      </a:r>
                    </a:p>
                  </a:txBody>
                  <a:tcPr marL="6158" marR="6158" marT="61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4062781"/>
                  </a:ext>
                </a:extLst>
              </a:tr>
              <a:tr h="21635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Medical University of South Carolina Health System</a:t>
                      </a:r>
                    </a:p>
                  </a:txBody>
                  <a:tcPr marL="6158" marR="6158" marT="6158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21.11%</a:t>
                      </a:r>
                    </a:p>
                  </a:txBody>
                  <a:tcPr marL="6158" marR="6158" marT="6158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8.71%</a:t>
                      </a:r>
                    </a:p>
                  </a:txBody>
                  <a:tcPr marL="6158" marR="6158" marT="6158" marB="0" anchor="b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26.20%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16.39%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1085"/>
                  </a:ext>
                </a:extLst>
              </a:tr>
              <a:tr h="21635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Bon Secours Mercy Health</a:t>
                      </a:r>
                    </a:p>
                  </a:txBody>
                  <a:tcPr marL="6158" marR="6158" marT="6158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7.31%</a:t>
                      </a:r>
                    </a:p>
                  </a:txBody>
                  <a:tcPr marL="6158" marR="6158" marT="6158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4.82%</a:t>
                      </a:r>
                    </a:p>
                  </a:txBody>
                  <a:tcPr marL="6158" marR="6158" marT="6158" marB="0" anchor="b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12.84%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12.84%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9193493"/>
                  </a:ext>
                </a:extLst>
              </a:tr>
              <a:tr h="21635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Lexington Medical Center</a:t>
                      </a:r>
                    </a:p>
                  </a:txBody>
                  <a:tcPr marL="6158" marR="6158" marT="6158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7.14%</a:t>
                      </a:r>
                    </a:p>
                  </a:txBody>
                  <a:tcPr marL="6158" marR="6158" marT="6158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4.36%</a:t>
                      </a:r>
                    </a:p>
                  </a:txBody>
                  <a:tcPr marL="6158" marR="6158" marT="6158" marB="0" anchor="b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10.84%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10.03%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0932383"/>
                  </a:ext>
                </a:extLst>
              </a:tr>
              <a:tr h="21635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HCA Healthcare</a:t>
                      </a:r>
                    </a:p>
                  </a:txBody>
                  <a:tcPr marL="6158" marR="6158" marT="6158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9.41%</a:t>
                      </a:r>
                    </a:p>
                  </a:txBody>
                  <a:tcPr marL="6158" marR="6158" marT="6158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2.58%</a:t>
                      </a:r>
                    </a:p>
                  </a:txBody>
                  <a:tcPr marL="6158" marR="6158" marT="6158" marB="0" anchor="b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9.74%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4.05%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0622232"/>
                  </a:ext>
                </a:extLst>
              </a:tr>
              <a:tr h="21635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Spartanburg Regional Healthcare System</a:t>
                      </a:r>
                    </a:p>
                  </a:txBody>
                  <a:tcPr marL="6158" marR="6158" marT="6158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7.24%</a:t>
                      </a:r>
                    </a:p>
                  </a:txBody>
                  <a:tcPr marL="6158" marR="6158" marT="6158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4.09%</a:t>
                      </a:r>
                    </a:p>
                  </a:txBody>
                  <a:tcPr marL="6158" marR="6158" marT="6158" marB="0" anchor="b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8.72%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7.47%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8852615"/>
                  </a:ext>
                </a:extLst>
              </a:tr>
              <a:tr h="21635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McLeod Health</a:t>
                      </a:r>
                    </a:p>
                  </a:txBody>
                  <a:tcPr marL="6158" marR="6158" marT="6158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6.83%</a:t>
                      </a:r>
                    </a:p>
                  </a:txBody>
                  <a:tcPr marL="6158" marR="6158" marT="6158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3.63%</a:t>
                      </a:r>
                    </a:p>
                  </a:txBody>
                  <a:tcPr marL="6158" marR="6158" marT="6158" marB="0" anchor="b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7.76%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6.25%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4405617"/>
                  </a:ext>
                </a:extLst>
              </a:tr>
              <a:tr h="21635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AnMed Health System</a:t>
                      </a:r>
                    </a:p>
                  </a:txBody>
                  <a:tcPr marL="6158" marR="6158" marT="6158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3.44%</a:t>
                      </a:r>
                    </a:p>
                  </a:txBody>
                  <a:tcPr marL="6158" marR="6158" marT="6158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1.61%</a:t>
                      </a:r>
                    </a:p>
                  </a:txBody>
                  <a:tcPr marL="6158" marR="6158" marT="6158" marB="0" anchor="b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5.32%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3.78%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9046113"/>
                  </a:ext>
                </a:extLst>
              </a:tr>
              <a:tr h="21635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Prisma Health</a:t>
                      </a:r>
                    </a:p>
                  </a:txBody>
                  <a:tcPr marL="6158" marR="6158" marT="6158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24.22%</a:t>
                      </a:r>
                    </a:p>
                  </a:txBody>
                  <a:tcPr marL="6158" marR="6158" marT="6158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11.61%</a:t>
                      </a:r>
                    </a:p>
                  </a:txBody>
                  <a:tcPr marL="6158" marR="6158" marT="6158" marB="0" anchor="b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4.13%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6.27%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4649153"/>
                  </a:ext>
                </a:extLst>
              </a:tr>
              <a:tr h="21635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Novant Health</a:t>
                      </a:r>
                    </a:p>
                  </a:txBody>
                  <a:tcPr marL="6158" marR="6158" marT="6158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2.67%</a:t>
                      </a:r>
                    </a:p>
                  </a:txBody>
                  <a:tcPr marL="6158" marR="6158" marT="6158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1.17%</a:t>
                      </a:r>
                    </a:p>
                  </a:txBody>
                  <a:tcPr marL="6158" marR="6158" marT="6158" marB="0" anchor="b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2.76%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1.83%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8644439"/>
                  </a:ext>
                </a:extLst>
              </a:tr>
              <a:tr h="21635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Tenet Healthcare</a:t>
                      </a:r>
                    </a:p>
                  </a:txBody>
                  <a:tcPr marL="6158" marR="6158" marT="6158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2.60%</a:t>
                      </a:r>
                    </a:p>
                  </a:txBody>
                  <a:tcPr marL="6158" marR="6158" marT="6158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0.83%</a:t>
                      </a:r>
                    </a:p>
                  </a:txBody>
                  <a:tcPr marL="6158" marR="6158" marT="6158" marB="0" anchor="b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2.71%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1.31%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5970208"/>
                  </a:ext>
                </a:extLst>
              </a:tr>
              <a:tr h="21635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Self Regional Healthcare</a:t>
                      </a:r>
                    </a:p>
                  </a:txBody>
                  <a:tcPr marL="6158" marR="6158" marT="6158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2.11%</a:t>
                      </a:r>
                    </a:p>
                  </a:txBody>
                  <a:tcPr marL="6158" marR="6158" marT="6158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1.33%</a:t>
                      </a:r>
                    </a:p>
                  </a:txBody>
                  <a:tcPr marL="6158" marR="6158" marT="6158" marB="0" anchor="b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2.67%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2.55%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7053114"/>
                  </a:ext>
                </a:extLst>
              </a:tr>
              <a:tr h="21635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Universal Health Services</a:t>
                      </a:r>
                    </a:p>
                  </a:txBody>
                  <a:tcPr marL="6158" marR="6158" marT="6158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1.61%</a:t>
                      </a:r>
                    </a:p>
                  </a:txBody>
                  <a:tcPr marL="6158" marR="6158" marT="6158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0.53%</a:t>
                      </a:r>
                    </a:p>
                  </a:txBody>
                  <a:tcPr marL="6158" marR="6158" marT="6158" marB="0" anchor="b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1.67%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0.83%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5388132"/>
                  </a:ext>
                </a:extLst>
              </a:tr>
              <a:tr h="21635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Tidelands Health</a:t>
                      </a:r>
                    </a:p>
                  </a:txBody>
                  <a:tcPr marL="6158" marR="6158" marT="6158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1.57%</a:t>
                      </a:r>
                    </a:p>
                  </a:txBody>
                  <a:tcPr marL="6158" marR="6158" marT="6158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1.16%</a:t>
                      </a:r>
                    </a:p>
                  </a:txBody>
                  <a:tcPr marL="6158" marR="6158" marT="6158" marB="0" anchor="b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1.62%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1.82%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380646"/>
                  </a:ext>
                </a:extLst>
              </a:tr>
              <a:tr h="21635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Conway Medical Center</a:t>
                      </a:r>
                    </a:p>
                  </a:txBody>
                  <a:tcPr marL="6158" marR="6158" marT="6158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1.19%</a:t>
                      </a:r>
                    </a:p>
                  </a:txBody>
                  <a:tcPr marL="6158" marR="6158" marT="6158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0.82%</a:t>
                      </a:r>
                    </a:p>
                  </a:txBody>
                  <a:tcPr marL="6158" marR="6158" marT="6158" marB="0" anchor="b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1.23%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1.28%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3730542"/>
                  </a:ext>
                </a:extLst>
              </a:tr>
              <a:tr h="21635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Beaufort Memorial Hospital</a:t>
                      </a:r>
                    </a:p>
                  </a:txBody>
                  <a:tcPr marL="6158" marR="6158" marT="6158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0.85%</a:t>
                      </a:r>
                    </a:p>
                  </a:txBody>
                  <a:tcPr marL="6158" marR="6158" marT="6158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1.02%</a:t>
                      </a:r>
                    </a:p>
                  </a:txBody>
                  <a:tcPr marL="6158" marR="6158" marT="6158" marB="0" anchor="b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0.88%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1.60%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8870052"/>
                  </a:ext>
                </a:extLst>
              </a:tr>
              <a:tr h="21635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ScionHealth</a:t>
                      </a:r>
                    </a:p>
                  </a:txBody>
                  <a:tcPr marL="6158" marR="6158" marT="6158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0.40%</a:t>
                      </a:r>
                    </a:p>
                  </a:txBody>
                  <a:tcPr marL="6158" marR="6158" marT="6158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0.30%</a:t>
                      </a:r>
                    </a:p>
                  </a:txBody>
                  <a:tcPr marL="6158" marR="6158" marT="6158" marB="0" anchor="b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0.43%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0.49%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0939342"/>
                  </a:ext>
                </a:extLst>
              </a:tr>
              <a:tr h="21635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Newberry County Memorial Hospital</a:t>
                      </a:r>
                    </a:p>
                  </a:txBody>
                  <a:tcPr marL="6158" marR="6158" marT="6158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0.18%</a:t>
                      </a:r>
                    </a:p>
                  </a:txBody>
                  <a:tcPr marL="6158" marR="6158" marT="6158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0.20%</a:t>
                      </a:r>
                    </a:p>
                  </a:txBody>
                  <a:tcPr marL="6158" marR="6158" marT="6158" marB="0" anchor="b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0.32%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0.53%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7681866"/>
                  </a:ext>
                </a:extLst>
              </a:tr>
              <a:tr h="21635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Abbeville Area Medical Center</a:t>
                      </a:r>
                    </a:p>
                  </a:txBody>
                  <a:tcPr marL="6158" marR="6158" marT="6158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0.05%</a:t>
                      </a:r>
                    </a:p>
                  </a:txBody>
                  <a:tcPr marL="6158" marR="6158" marT="6158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0.17%</a:t>
                      </a:r>
                    </a:p>
                  </a:txBody>
                  <a:tcPr marL="6158" marR="6158" marT="6158" marB="0" anchor="b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0.08%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0.40%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116504"/>
                  </a:ext>
                </a:extLst>
              </a:tr>
              <a:tr h="21635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Hampton Regional Medical Center</a:t>
                      </a:r>
                    </a:p>
                  </a:txBody>
                  <a:tcPr marL="6158" marR="6158" marT="6158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0.05%</a:t>
                      </a:r>
                    </a:p>
                  </a:txBody>
                  <a:tcPr marL="6158" marR="6158" marT="6158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0.11%</a:t>
                      </a:r>
                    </a:p>
                  </a:txBody>
                  <a:tcPr marL="6158" marR="6158" marT="6158" marB="0" anchor="b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0.05%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0.17%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1970402"/>
                  </a:ext>
                </a:extLst>
              </a:tr>
              <a:tr h="21635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Allendale County Hospital</a:t>
                      </a:r>
                    </a:p>
                  </a:txBody>
                  <a:tcPr marL="6158" marR="6158" marT="6158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0.02%</a:t>
                      </a:r>
                    </a:p>
                  </a:txBody>
                  <a:tcPr marL="6158" marR="6158" marT="6158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0.06%</a:t>
                      </a:r>
                    </a:p>
                  </a:txBody>
                  <a:tcPr marL="6158" marR="6158" marT="6158" marB="0" anchor="b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0.02%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0.09%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3153873"/>
                  </a:ext>
                </a:extLst>
              </a:tr>
            </a:tbl>
          </a:graphicData>
        </a:graphic>
      </p:graphicFrame>
      <p:sp>
        <p:nvSpPr>
          <p:cNvPr id="6" name="Rectangle 8">
            <a:extLst>
              <a:ext uri="{FF2B5EF4-FFF2-40B4-BE49-F238E27FC236}">
                <a16:creationId xmlns:a16="http://schemas.microsoft.com/office/drawing/2014/main" id="{C1DCD57A-88D6-5A01-9FCF-0BCF94BF1765}"/>
              </a:ext>
            </a:extLst>
          </p:cNvPr>
          <p:cNvSpPr/>
          <p:nvPr/>
        </p:nvSpPr>
        <p:spPr>
          <a:xfrm>
            <a:off x="0" y="0"/>
            <a:ext cx="981075" cy="6858000"/>
          </a:xfrm>
          <a:prstGeom prst="rect">
            <a:avLst/>
          </a:prstGeom>
          <a:solidFill>
            <a:srgbClr val="254F9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1E7E21-8B78-D5DC-BF06-52865040ADE5}"/>
              </a:ext>
            </a:extLst>
          </p:cNvPr>
          <p:cNvSpPr txBox="1"/>
          <p:nvPr/>
        </p:nvSpPr>
        <p:spPr>
          <a:xfrm>
            <a:off x="9515530" y="2136338"/>
            <a:ext cx="23876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Market share growth modeled by zip code, projecting where patients would go if Prisma Health and some community (unaffiliated) physicians are not included in the network.</a:t>
            </a:r>
          </a:p>
        </p:txBody>
      </p:sp>
    </p:spTree>
    <p:extLst>
      <p:ext uri="{BB962C8B-B14F-4D97-AF65-F5344CB8AC3E}">
        <p14:creationId xmlns:p14="http://schemas.microsoft.com/office/powerpoint/2010/main" val="7707055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DEBD79AC-6896-6E13-B0EE-8405AC1D8926}"/>
              </a:ext>
            </a:extLst>
          </p:cNvPr>
          <p:cNvSpPr/>
          <p:nvPr/>
        </p:nvSpPr>
        <p:spPr>
          <a:xfrm>
            <a:off x="0" y="-7770"/>
            <a:ext cx="978408" cy="6858000"/>
          </a:xfrm>
          <a:prstGeom prst="rect">
            <a:avLst/>
          </a:prstGeom>
          <a:solidFill>
            <a:srgbClr val="254F96">
              <a:alpha val="8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0B88E4A-751F-FB75-BED6-F09D9D7F2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911931" y="3052978"/>
            <a:ext cx="6802269" cy="752041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600"/>
              </a:spcBef>
            </a:pPr>
            <a:r>
              <a:rPr lang="en-US" sz="3600" b="0" dirty="0">
                <a:solidFill>
                  <a:schemeClr val="bg1"/>
                </a:solidFill>
              </a:rPr>
              <a:t>FOUR-YEAR PROJECTIONS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35624" y="0"/>
          <a:ext cx="5943600" cy="22656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8600">
                <a:tc gridSpan="5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Target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Target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Target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Target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Target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Metric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Year 1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Year 2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Year 3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Year 4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Number of Members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4,600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9,100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15,300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23,400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Incremental Margin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809.3K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1,601.0K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2,691.7K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4,116.8K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Network Access Fee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55.2K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109.2K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183.6K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280.8K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Implementation Fee (One-Time)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-150.0K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Sales and Marketing Costs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Net Margin Change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534.5K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1,530.2K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2,695.3K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4,217.6K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135624" y="2286000"/>
          <a:ext cx="5943600" cy="22656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8600">
                <a:tc gridSpan="5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High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High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High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High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High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Metric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Year 1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Year 2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Year 3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Year 4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Number of Members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6,100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12,200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20,400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31,200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Incremental Margin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1,073.2K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2,146.4K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3,589.0K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5,489.0K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Network Access Fee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73.2K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146.4K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244.8K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374.4K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Implementation Fee (One-Time)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-150.0K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Sales and Marketing Costs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Net Margin Change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816.4K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2,112.8K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3,653.8K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5,683.4K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135624" y="4572000"/>
          <a:ext cx="5943600" cy="22656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8600">
                <a:tc gridSpan="5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Low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Low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Low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Low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Low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Metric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Year 1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Year 2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Year 3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Year 4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Number of Members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3,000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6,100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10,200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15,600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Incremental Margin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527.8K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1,073.2K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1,794.5K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2,744.5K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Network Access Fee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36.0K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73.2K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122.4K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187.2K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Implementation Fee (One-Time)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-150.0K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Sales and Marketing Costs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Net Margin Change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233.8K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966.4K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1,736.9K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2,751.7K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7" name="Content Placeholder 6"/>
          <p:cNvPicPr>
            <a:picLocks noGrp="1"/>
          </p:cNvPicPr>
          <p:nvPr>
            <p:ph/>
          </p:nvPr>
        </p:nvPicPr>
        <p:blipFill>
          <a:blip r:embed="rId2" cstate="print"/>
          <a:stretch>
            <a:fillRect/>
          </a:stretch>
        </p:blipFill>
        <p:spPr>
          <a:xfrm>
            <a:off x="1179576" y="0"/>
            <a:ext cx="457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945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3E4D1330-6559-4480-ECC7-66909D09D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Key Benefit Administrators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FAD03FEC-C905-CEF4-1EA9-88A133415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10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Table 5">
            <a:extLst>
              <a:ext uri="{FF2B5EF4-FFF2-40B4-BE49-F238E27FC236}">
                <a16:creationId xmlns:a16="http://schemas.microsoft.com/office/drawing/2014/main" id="{176BAF2A-5136-E457-9AAC-D0878752F10C}"/>
              </a:ext>
            </a:extLst>
          </p:cNvPr>
          <p:cNvGraphicFramePr>
            <a:graphicFrameLocks noGrp="1"/>
          </p:cNvGraphicFramePr>
          <p:nvPr/>
        </p:nvGraphicFramePr>
        <p:xfrm>
          <a:off x="418056" y="764777"/>
          <a:ext cx="6972297" cy="1320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00880">
                  <a:extLst>
                    <a:ext uri="{9D8B030D-6E8A-4147-A177-3AD203B41FA5}">
                      <a16:colId xmlns:a16="http://schemas.microsoft.com/office/drawing/2014/main" val="4044469742"/>
                    </a:ext>
                  </a:extLst>
                </a:gridCol>
                <a:gridCol w="1190742">
                  <a:extLst>
                    <a:ext uri="{9D8B030D-6E8A-4147-A177-3AD203B41FA5}">
                      <a16:colId xmlns:a16="http://schemas.microsoft.com/office/drawing/2014/main" val="3491933230"/>
                    </a:ext>
                  </a:extLst>
                </a:gridCol>
                <a:gridCol w="1319859">
                  <a:extLst>
                    <a:ext uri="{9D8B030D-6E8A-4147-A177-3AD203B41FA5}">
                      <a16:colId xmlns:a16="http://schemas.microsoft.com/office/drawing/2014/main" val="2859159155"/>
                    </a:ext>
                  </a:extLst>
                </a:gridCol>
                <a:gridCol w="1269647">
                  <a:extLst>
                    <a:ext uri="{9D8B030D-6E8A-4147-A177-3AD203B41FA5}">
                      <a16:colId xmlns:a16="http://schemas.microsoft.com/office/drawing/2014/main" val="3987862389"/>
                    </a:ext>
                  </a:extLst>
                </a:gridCol>
                <a:gridCol w="1291169">
                  <a:extLst>
                    <a:ext uri="{9D8B030D-6E8A-4147-A177-3AD203B41FA5}">
                      <a16:colId xmlns:a16="http://schemas.microsoft.com/office/drawing/2014/main" val="27753307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Pre-DTE Cohort of 23,400 Employees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Inpatient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Outpatient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Professional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Total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24240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Revenue†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$ 15,786,150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$ 11,833,469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$ 5,526,129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$ 33,145,748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09782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Net Income‡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$ 3,157,230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$ 2,366,694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$ 1,105,226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$ 6,629,150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4477993"/>
                  </a:ext>
                </a:extLst>
              </a:tr>
            </a:tbl>
          </a:graphicData>
        </a:graphic>
      </p:graphicFrame>
      <p:cxnSp>
        <p:nvCxnSpPr>
          <p:cNvPr id="5" name="Straight Connector 13">
            <a:extLst>
              <a:ext uri="{FF2B5EF4-FFF2-40B4-BE49-F238E27FC236}">
                <a16:creationId xmlns:a16="http://schemas.microsoft.com/office/drawing/2014/main" id="{8EA958C5-E105-8A94-794A-7A8EB2DFEBDC}"/>
              </a:ext>
            </a:extLst>
          </p:cNvPr>
          <p:cNvCxnSpPr/>
          <p:nvPr/>
        </p:nvCxnSpPr>
        <p:spPr>
          <a:xfrm>
            <a:off x="316454" y="3716618"/>
            <a:ext cx="6464300" cy="0"/>
          </a:xfrm>
          <a:prstGeom prst="line">
            <a:avLst/>
          </a:prstGeom>
          <a:ln w="5715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14">
            <a:extLst>
              <a:ext uri="{FF2B5EF4-FFF2-40B4-BE49-F238E27FC236}">
                <a16:creationId xmlns:a16="http://schemas.microsoft.com/office/drawing/2014/main" id="{FF3ACACB-7F38-7EAA-4BDF-1A816CA00AAE}"/>
              </a:ext>
            </a:extLst>
          </p:cNvPr>
          <p:cNvGraphicFramePr>
            <a:graphicFrameLocks noGrp="1"/>
          </p:cNvGraphicFramePr>
          <p:nvPr/>
        </p:nvGraphicFramePr>
        <p:xfrm>
          <a:off x="462503" y="4085951"/>
          <a:ext cx="6927847" cy="2225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622925">
                  <a:extLst>
                    <a:ext uri="{9D8B030D-6E8A-4147-A177-3AD203B41FA5}">
                      <a16:colId xmlns:a16="http://schemas.microsoft.com/office/drawing/2014/main" val="1938271373"/>
                    </a:ext>
                  </a:extLst>
                </a:gridCol>
                <a:gridCol w="1304922">
                  <a:extLst>
                    <a:ext uri="{9D8B030D-6E8A-4147-A177-3AD203B41FA5}">
                      <a16:colId xmlns:a16="http://schemas.microsoft.com/office/drawing/2014/main" val="2320020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Total Increase in Net Income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$ 3,835,970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22657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Network Access Fee (Revenue) of $1 PMPM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$ 280,800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49115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Total Profit Growth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$ 3,840,770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46710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/>
                        </a:rPr>
                        <a:t>Minus Implementation Fee (One-Time)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2"/>
                          </a:solidFill>
                        </a:rPr>
                        <a:t>-$ 0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63599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Minus Sales and Marketing (Annual – Ongoing)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2"/>
                          </a:solidFill>
                        </a:rPr>
                        <a:t>-$ 180,000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28377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Total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$ 3,936,770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9790193"/>
                  </a:ext>
                </a:extLst>
              </a:tr>
            </a:tbl>
          </a:graphicData>
        </a:graphic>
      </p:graphicFrame>
      <p:graphicFrame>
        <p:nvGraphicFramePr>
          <p:cNvPr id="7" name="Table 15">
            <a:extLst>
              <a:ext uri="{FF2B5EF4-FFF2-40B4-BE49-F238E27FC236}">
                <a16:creationId xmlns:a16="http://schemas.microsoft.com/office/drawing/2014/main" id="{32A51F3A-032C-30E2-F635-DD59B5A29A34}"/>
              </a:ext>
            </a:extLst>
          </p:cNvPr>
          <p:cNvGraphicFramePr>
            <a:graphicFrameLocks noGrp="1"/>
          </p:cNvGraphicFramePr>
          <p:nvPr/>
        </p:nvGraphicFramePr>
        <p:xfrm>
          <a:off x="418055" y="2234768"/>
          <a:ext cx="6972296" cy="1005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00880">
                  <a:extLst>
                    <a:ext uri="{9D8B030D-6E8A-4147-A177-3AD203B41FA5}">
                      <a16:colId xmlns:a16="http://schemas.microsoft.com/office/drawing/2014/main" val="4044469742"/>
                    </a:ext>
                  </a:extLst>
                </a:gridCol>
                <a:gridCol w="1190742">
                  <a:extLst>
                    <a:ext uri="{9D8B030D-6E8A-4147-A177-3AD203B41FA5}">
                      <a16:colId xmlns:a16="http://schemas.microsoft.com/office/drawing/2014/main" val="3491933230"/>
                    </a:ext>
                  </a:extLst>
                </a:gridCol>
                <a:gridCol w="1319859">
                  <a:extLst>
                    <a:ext uri="{9D8B030D-6E8A-4147-A177-3AD203B41FA5}">
                      <a16:colId xmlns:a16="http://schemas.microsoft.com/office/drawing/2014/main" val="2859159155"/>
                    </a:ext>
                  </a:extLst>
                </a:gridCol>
                <a:gridCol w="1258888">
                  <a:extLst>
                    <a:ext uri="{9D8B030D-6E8A-4147-A177-3AD203B41FA5}">
                      <a16:colId xmlns:a16="http://schemas.microsoft.com/office/drawing/2014/main" val="3987862389"/>
                    </a:ext>
                  </a:extLst>
                </a:gridCol>
                <a:gridCol w="1301927">
                  <a:extLst>
                    <a:ext uri="{9D8B030D-6E8A-4147-A177-3AD203B41FA5}">
                      <a16:colId xmlns:a16="http://schemas.microsoft.com/office/drawing/2014/main" val="2775330707"/>
                    </a:ext>
                  </a:extLst>
                </a:gridCol>
              </a:tblGrid>
              <a:tr h="272069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With DTE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Inpatient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Outpatient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Professional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Total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2424019"/>
                  </a:ext>
                </a:extLst>
              </a:tr>
              <a:tr h="299554">
                <a:tc>
                  <a:txBody>
                    <a:bodyPr/>
                    <a:lstStyle/>
                    <a:p>
                      <a:r>
                        <a:rPr lang="en-US" sz="1600" dirty="0"/>
                        <a:t>Revenue⁰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$ 19,601,759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$ 22,306,769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$ 10,417,072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$ 52,325,600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0978243"/>
                  </a:ext>
                </a:extLst>
              </a:tr>
              <a:tr h="272069">
                <a:tc>
                  <a:txBody>
                    <a:bodyPr/>
                    <a:lstStyle/>
                    <a:p>
                      <a:r>
                        <a:rPr lang="en-US" sz="1600" dirty="0"/>
                        <a:t>Net Income*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$ 3,920,352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$ 4,461,354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$ 2,083,414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$ 10,465,120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4477993"/>
                  </a:ext>
                </a:extLst>
              </a:tr>
            </a:tbl>
          </a:graphicData>
        </a:graphic>
      </p:graphicFrame>
      <p:sp>
        <p:nvSpPr>
          <p:cNvPr id="8" name="TextBox 1">
            <a:extLst>
              <a:ext uri="{FF2B5EF4-FFF2-40B4-BE49-F238E27FC236}">
                <a16:creationId xmlns:a16="http://schemas.microsoft.com/office/drawing/2014/main" id="{60820A86-1B9D-21A4-BBB6-DDFB73605882}"/>
              </a:ext>
            </a:extLst>
          </p:cNvPr>
          <p:cNvSpPr txBox="1"/>
          <p:nvPr/>
        </p:nvSpPr>
        <p:spPr>
          <a:xfrm>
            <a:off x="7752549" y="953947"/>
            <a:ext cx="431800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/>
                <a:latin typeface="Arial" panose="020B0604020202020204" pitchFamily="34" charset="0"/>
                <a:cs typeface="Arial" panose="020B0604020202020204" pitchFamily="34" charset="0"/>
              </a:rPr>
              <a:t>† Assuming proportional revenues from market shares of 21% (inpatient) and 9% (outpatient)</a:t>
            </a:r>
          </a:p>
        </p:txBody>
      </p:sp>
      <p:sp>
        <p:nvSpPr>
          <p:cNvPr id="9" name="TextBox 2">
            <a:extLst>
              <a:ext uri="{FF2B5EF4-FFF2-40B4-BE49-F238E27FC236}">
                <a16:creationId xmlns:a16="http://schemas.microsoft.com/office/drawing/2014/main" id="{6CDBA057-BBD2-8F54-E977-26B782E37F88}"/>
              </a:ext>
            </a:extLst>
          </p:cNvPr>
          <p:cNvSpPr txBox="1"/>
          <p:nvPr/>
        </p:nvSpPr>
        <p:spPr>
          <a:xfrm>
            <a:off x="7752549" y="1801103"/>
            <a:ext cx="431800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/>
                <a:latin typeface="Arial" panose="020B0604020202020204" pitchFamily="34" charset="0"/>
                <a:cs typeface="Arial" panose="020B0604020202020204" pitchFamily="34" charset="0"/>
              </a:rPr>
              <a:t>‡ Conservatively assuming a commercial margin of 20% (80% of the estimated commercial margin)</a:t>
            </a:r>
          </a:p>
        </p:txBody>
      </p:sp>
      <p:sp>
        <p:nvSpPr>
          <p:cNvPr id="10" name="TextBox 6">
            <a:extLst>
              <a:ext uri="{FF2B5EF4-FFF2-40B4-BE49-F238E27FC236}">
                <a16:creationId xmlns:a16="http://schemas.microsoft.com/office/drawing/2014/main" id="{C690F22E-C9CA-61DC-5584-149573110610}"/>
              </a:ext>
            </a:extLst>
          </p:cNvPr>
          <p:cNvSpPr txBox="1"/>
          <p:nvPr/>
        </p:nvSpPr>
        <p:spPr>
          <a:xfrm>
            <a:off x="7752549" y="2535638"/>
            <a:ext cx="431800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⁰ Assuming </a:t>
            </a:r>
            <a:r>
              <a:rPr lang="en-US" sz="1400" dirty="0">
                <a:solidFill/>
                <a:latin typeface="Arial" panose="020B0604020202020204" pitchFamily="34" charset="0"/>
                <a:cs typeface="Arial" panose="020B0604020202020204" pitchFamily="34" charset="0"/>
              </a:rPr>
              <a:t>26% inpatient and 16% 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market steerage based on KBA narrow network DTE experience </a:t>
            </a:r>
            <a:r>
              <a:rPr lang="en-US" sz="1400" dirty="0">
                <a:solidFill/>
                <a:latin typeface="Arial" panose="020B0604020202020204" pitchFamily="34" charset="0"/>
                <a:cs typeface="Arial" panose="020B0604020202020204" pitchFamily="34" charset="0"/>
              </a:rPr>
              <a:t>(see previous slide)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A897897D-C568-B204-6568-514AD4B71A5C}"/>
              </a:ext>
            </a:extLst>
          </p:cNvPr>
          <p:cNvSpPr txBox="1"/>
          <p:nvPr/>
        </p:nvSpPr>
        <p:spPr>
          <a:xfrm>
            <a:off x="7752548" y="3324229"/>
            <a:ext cx="4318001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* Conservatively assuming a commercial </a:t>
            </a:r>
            <a:r>
              <a:rPr lang="en-US" sz="1400">
                <a:solidFill/>
                <a:latin typeface="Arial" panose="020B0604020202020204" pitchFamily="34" charset="0"/>
                <a:cs typeface="Arial" panose="020B0604020202020204" pitchFamily="34" charset="0"/>
              </a:rPr>
              <a:t>margin of 20%, </a:t>
            </a:r>
            <a:r>
              <a:rPr lang="en-US" sz="1400" dirty="0">
                <a:solidFill/>
                <a:latin typeface="Arial" panose="020B0604020202020204" pitchFamily="34" charset="0"/>
                <a:cs typeface="Arial" panose="020B0604020202020204" pitchFamily="34" charset="0"/>
              </a:rPr>
              <a:t>with a 10 percentage-point reduction to reflect competitive-edge rates and a 10 percentage-point increase to reflect lower billing costs and better patient-responsibility collections because of the plan patient card. 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8">
            <a:extLst>
              <a:ext uri="{FF2B5EF4-FFF2-40B4-BE49-F238E27FC236}">
                <a16:creationId xmlns:a16="http://schemas.microsoft.com/office/drawing/2014/main" id="{1BBEE831-0583-9B2A-D9B8-C57C918E4C3C}"/>
              </a:ext>
            </a:extLst>
          </p:cNvPr>
          <p:cNvSpPr txBox="1"/>
          <p:nvPr/>
        </p:nvSpPr>
        <p:spPr>
          <a:xfrm>
            <a:off x="316454" y="34749"/>
            <a:ext cx="62869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Calibri" panose="020F0502020204030204" pitchFamily="34" charset="0"/>
                <a:cs typeface="Calibri" panose="020F0502020204030204" pitchFamily="34" charset="0"/>
              </a:rPr>
              <a:t>Year </a:t>
            </a:r>
            <a:r>
              <a:rPr lang="en-US" sz="3200" b="1">
                <a:latin typeface="Calibri" panose="020F0502020204030204" pitchFamily="34" charset="0"/>
                <a:cs typeface="Calibri" panose="020F0502020204030204" pitchFamily="34" charset="0"/>
              </a:rPr>
              <a:t>4 Projected </a:t>
            </a:r>
            <a:r>
              <a:rPr lang="en-US" sz="3200" b="1" dirty="0">
                <a:latin typeface="Calibri" panose="020F0502020204030204" pitchFamily="34" charset="0"/>
                <a:cs typeface="Calibri" panose="020F0502020204030204" pitchFamily="34" charset="0"/>
              </a:rPr>
              <a:t>Revenue and Profit</a:t>
            </a:r>
          </a:p>
        </p:txBody>
      </p:sp>
    </p:spTree>
    <p:extLst>
      <p:ext uri="{BB962C8B-B14F-4D97-AF65-F5344CB8AC3E}">
        <p14:creationId xmlns:p14="http://schemas.microsoft.com/office/powerpoint/2010/main" val="2033243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 descr="Royalty-Free photo: Green tall trees near on the lake with overlooking  mountain during daytime | PickPik">
            <a:extLst>
              <a:ext uri="{FF2B5EF4-FFF2-40B4-BE49-F238E27FC236}">
                <a16:creationId xmlns:a16="http://schemas.microsoft.com/office/drawing/2014/main" id="{2478D38F-2055-3BED-F325-F30BC9616D5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alphaModFix amt="2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528"/>
          <a:stretch/>
        </p:blipFill>
        <p:spPr bwMode="auto">
          <a:xfrm>
            <a:off x="-31771" y="1"/>
            <a:ext cx="10918845" cy="68720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C03588DF-56D9-837C-AA1C-128F048C4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590" y="144962"/>
            <a:ext cx="10515600" cy="1325563"/>
          </a:xfrm>
        </p:spPr>
        <p:txBody>
          <a:bodyPr/>
          <a:lstStyle/>
          <a:p>
            <a:r>
              <a:rPr lang="en-US" dirty="0"/>
              <a:t>Long-Term Revenue and Profit Growth</a:t>
            </a: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69C057C1-F13C-F6D8-AD44-F92FA29D3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52413" y="6480529"/>
            <a:ext cx="4114800" cy="365125"/>
          </a:xfrm>
        </p:spPr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BF46B415-80AF-26A8-45D6-1254179BD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11</a:t>
            </a:fld>
            <a:endParaRPr lang="en-US" dirty="0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239038F2-C307-DC75-4AEA-316E0211A3AE}"/>
              </a:ext>
            </a:extLst>
          </p:cNvPr>
          <p:cNvSpPr/>
          <p:nvPr/>
        </p:nvSpPr>
        <p:spPr>
          <a:xfrm>
            <a:off x="10887075" y="0"/>
            <a:ext cx="1304925" cy="6872068"/>
          </a:xfrm>
          <a:prstGeom prst="rect">
            <a:avLst/>
          </a:prstGeom>
          <a:solidFill>
            <a:srgbClr val="254F9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10">
            <a:extLst>
              <a:ext uri="{FF2B5EF4-FFF2-40B4-BE49-F238E27FC236}">
                <a16:creationId xmlns:a16="http://schemas.microsoft.com/office/drawing/2014/main" id="{C0C1C4CA-44D9-9691-E058-46CEB5C35DF2}"/>
              </a:ext>
            </a:extLst>
          </p:cNvPr>
          <p:cNvSpPr/>
          <p:nvPr/>
        </p:nvSpPr>
        <p:spPr>
          <a:xfrm>
            <a:off x="4401177" y="1868993"/>
            <a:ext cx="1914733" cy="41198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11">
            <a:extLst>
              <a:ext uri="{FF2B5EF4-FFF2-40B4-BE49-F238E27FC236}">
                <a16:creationId xmlns:a16="http://schemas.microsoft.com/office/drawing/2014/main" id="{8DCAE5A5-11EC-16C5-5F5F-C5DF9E3B0859}"/>
              </a:ext>
            </a:extLst>
          </p:cNvPr>
          <p:cNvSpPr/>
          <p:nvPr/>
        </p:nvSpPr>
        <p:spPr>
          <a:xfrm>
            <a:off x="6315910" y="1868991"/>
            <a:ext cx="1914733" cy="41198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98C73641-C807-1985-E19A-CA79DA10785E}"/>
              </a:ext>
            </a:extLst>
          </p:cNvPr>
          <p:cNvSpPr/>
          <p:nvPr/>
        </p:nvSpPr>
        <p:spPr>
          <a:xfrm>
            <a:off x="8230644" y="1868990"/>
            <a:ext cx="1914732" cy="41198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13">
            <a:extLst>
              <a:ext uri="{FF2B5EF4-FFF2-40B4-BE49-F238E27FC236}">
                <a16:creationId xmlns:a16="http://schemas.microsoft.com/office/drawing/2014/main" id="{8546D6DB-89F3-8B35-A9E8-670CED022928}"/>
              </a:ext>
            </a:extLst>
          </p:cNvPr>
          <p:cNvSpPr txBox="1"/>
          <p:nvPr/>
        </p:nvSpPr>
        <p:spPr>
          <a:xfrm>
            <a:off x="572430" y="1636954"/>
            <a:ext cx="2568332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6087CE"/>
                </a:solidFill>
              </a:rPr>
              <a:t>Early Stage</a:t>
            </a:r>
          </a:p>
          <a:p>
            <a:pPr algn="ctr"/>
            <a:r>
              <a:rPr lang="en-US" sz="1100" dirty="0">
                <a:solidFill>
                  <a:srgbClr val="6087CE"/>
                </a:solidFill>
              </a:rPr>
              <a:t>Gaining Name Recognition, Early Growth</a:t>
            </a:r>
          </a:p>
        </p:txBody>
      </p:sp>
      <p:sp>
        <p:nvSpPr>
          <p:cNvPr id="11" name="TextBox 6">
            <a:extLst>
              <a:ext uri="{FF2B5EF4-FFF2-40B4-BE49-F238E27FC236}">
                <a16:creationId xmlns:a16="http://schemas.microsoft.com/office/drawing/2014/main" id="{0C35DE11-AC92-1958-1813-38A8A86CBCE8}"/>
              </a:ext>
            </a:extLst>
          </p:cNvPr>
          <p:cNvSpPr txBox="1"/>
          <p:nvPr/>
        </p:nvSpPr>
        <p:spPr>
          <a:xfrm>
            <a:off x="135286" y="2293880"/>
            <a:ext cx="16241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6087CE"/>
                </a:solidFill>
              </a:rPr>
              <a:t>New Revenue:</a:t>
            </a:r>
          </a:p>
        </p:txBody>
      </p:sp>
      <p:sp>
        <p:nvSpPr>
          <p:cNvPr id="12" name="TextBox 7">
            <a:extLst>
              <a:ext uri="{FF2B5EF4-FFF2-40B4-BE49-F238E27FC236}">
                <a16:creationId xmlns:a16="http://schemas.microsoft.com/office/drawing/2014/main" id="{2E2DA353-8032-9A29-CBFC-5E2CAB8FA818}"/>
              </a:ext>
            </a:extLst>
          </p:cNvPr>
          <p:cNvSpPr txBox="1"/>
          <p:nvPr/>
        </p:nvSpPr>
        <p:spPr>
          <a:xfrm>
            <a:off x="2219510" y="2293880"/>
            <a:ext cx="11180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6087CE"/>
                </a:solidFill>
              </a:rPr>
              <a:t>New Profit:</a:t>
            </a:r>
          </a:p>
        </p:txBody>
      </p:sp>
      <p:sp>
        <p:nvSpPr>
          <p:cNvPr id="13" name="TextBox 9">
            <a:extLst>
              <a:ext uri="{FF2B5EF4-FFF2-40B4-BE49-F238E27FC236}">
                <a16:creationId xmlns:a16="http://schemas.microsoft.com/office/drawing/2014/main" id="{2EE70FCE-698F-980C-DE5B-A5E0DD82F2B7}"/>
              </a:ext>
            </a:extLst>
          </p:cNvPr>
          <p:cNvSpPr txBox="1"/>
          <p:nvPr/>
        </p:nvSpPr>
        <p:spPr>
          <a:xfrm>
            <a:off x="129001" y="2539605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6087CE"/>
                </a:solidFill>
              </a:rPr>
              <a:t>$16.25M</a:t>
            </a:r>
            <a:endParaRPr lang="en-US" sz="2000" dirty="0"/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DBAF8120-09F6-4EB0-E666-C1CBDC5CF295}"/>
              </a:ext>
            </a:extLst>
          </p:cNvPr>
          <p:cNvSpPr txBox="1"/>
          <p:nvPr/>
        </p:nvSpPr>
        <p:spPr>
          <a:xfrm>
            <a:off x="1922550" y="2539605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6087CE"/>
                </a:solidFill>
              </a:rPr>
              <a:t>$3.53M</a:t>
            </a:r>
            <a:endParaRPr lang="en-US" sz="2000" dirty="0"/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5B374298-411A-3F68-B672-E1DC32DEA9AE}"/>
              </a:ext>
            </a:extLst>
          </p:cNvPr>
          <p:cNvSpPr txBox="1"/>
          <p:nvPr/>
        </p:nvSpPr>
        <p:spPr>
          <a:xfrm>
            <a:off x="781431" y="3151370"/>
            <a:ext cx="2132315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2F5597"/>
                </a:solidFill>
              </a:rPr>
              <a:t>Growth Stage</a:t>
            </a:r>
          </a:p>
          <a:p>
            <a:pPr algn="ctr"/>
            <a:r>
              <a:rPr lang="en-US" sz="1100" dirty="0">
                <a:solidFill>
                  <a:srgbClr val="2F5597"/>
                </a:solidFill>
              </a:rPr>
              <a:t>Strong Reputation, Strong Growth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734215D0-1B81-9E25-D893-D1A81A7D90DE}"/>
              </a:ext>
            </a:extLst>
          </p:cNvPr>
          <p:cNvSpPr txBox="1"/>
          <p:nvPr/>
        </p:nvSpPr>
        <p:spPr>
          <a:xfrm>
            <a:off x="126277" y="3808296"/>
            <a:ext cx="16241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</a:rPr>
              <a:t>New Revenue: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44D03DDF-E57A-E22B-A334-B0D6BAD568C1}"/>
              </a:ext>
            </a:extLst>
          </p:cNvPr>
          <p:cNvSpPr txBox="1"/>
          <p:nvPr/>
        </p:nvSpPr>
        <p:spPr>
          <a:xfrm>
            <a:off x="2210501" y="3808296"/>
            <a:ext cx="11180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</a:rPr>
              <a:t>New Profit:</a:t>
            </a:r>
          </a:p>
        </p:txBody>
      </p:sp>
      <p:sp>
        <p:nvSpPr>
          <p:cNvPr id="18" name="TextBox 20">
            <a:extLst>
              <a:ext uri="{FF2B5EF4-FFF2-40B4-BE49-F238E27FC236}">
                <a16:creationId xmlns:a16="http://schemas.microsoft.com/office/drawing/2014/main" id="{2F96F890-CA85-53B4-4C86-B02186E9E89E}"/>
              </a:ext>
            </a:extLst>
          </p:cNvPr>
          <p:cNvSpPr txBox="1"/>
          <p:nvPr/>
        </p:nvSpPr>
        <p:spPr>
          <a:xfrm>
            <a:off x="119992" y="4054021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</a:rPr>
              <a:t>$111.29M</a:t>
            </a:r>
            <a:endParaRPr lang="en-US" sz="2000" dirty="0">
              <a:solidFill>
                <a:srgbClr val="2F5597"/>
              </a:solidFill>
            </a:endParaRPr>
          </a:p>
        </p:txBody>
      </p:sp>
      <p:sp>
        <p:nvSpPr>
          <p:cNvPr id="19" name="TextBox 21">
            <a:extLst>
              <a:ext uri="{FF2B5EF4-FFF2-40B4-BE49-F238E27FC236}">
                <a16:creationId xmlns:a16="http://schemas.microsoft.com/office/drawing/2014/main" id="{BD5125C9-83DD-4D9F-DE79-D476BE3F058D}"/>
              </a:ext>
            </a:extLst>
          </p:cNvPr>
          <p:cNvSpPr txBox="1"/>
          <p:nvPr/>
        </p:nvSpPr>
        <p:spPr>
          <a:xfrm>
            <a:off x="1913541" y="4054021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</a:rPr>
              <a:t>$25.34M</a:t>
            </a:r>
            <a:endParaRPr lang="en-US" sz="2000" dirty="0">
              <a:solidFill>
                <a:srgbClr val="2F5597"/>
              </a:solidFill>
            </a:endParaRPr>
          </a:p>
        </p:txBody>
      </p:sp>
      <p:sp>
        <p:nvSpPr>
          <p:cNvPr id="20" name="TextBox 22">
            <a:extLst>
              <a:ext uri="{FF2B5EF4-FFF2-40B4-BE49-F238E27FC236}">
                <a16:creationId xmlns:a16="http://schemas.microsoft.com/office/drawing/2014/main" id="{DEBB9E11-84A3-58F8-237D-4A265C29D49C}"/>
              </a:ext>
            </a:extLst>
          </p:cNvPr>
          <p:cNvSpPr txBox="1"/>
          <p:nvPr/>
        </p:nvSpPr>
        <p:spPr>
          <a:xfrm>
            <a:off x="729525" y="4771937"/>
            <a:ext cx="2254143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2F5597"/>
                </a:solidFill>
              </a:rPr>
              <a:t>Mature Stage</a:t>
            </a:r>
          </a:p>
          <a:p>
            <a:pPr algn="ctr"/>
            <a:r>
              <a:rPr lang="en-US" sz="1100" dirty="0">
                <a:solidFill>
                  <a:srgbClr val="2F5597"/>
                </a:solidFill>
              </a:rPr>
              <a:t>High Profitability, Market Saturation</a:t>
            </a:r>
          </a:p>
        </p:txBody>
      </p:sp>
      <p:sp>
        <p:nvSpPr>
          <p:cNvPr id="21" name="TextBox 23">
            <a:extLst>
              <a:ext uri="{FF2B5EF4-FFF2-40B4-BE49-F238E27FC236}">
                <a16:creationId xmlns:a16="http://schemas.microsoft.com/office/drawing/2014/main" id="{E4C2D887-78BC-455D-E84B-4706DBDF3CA1}"/>
              </a:ext>
            </a:extLst>
          </p:cNvPr>
          <p:cNvSpPr txBox="1"/>
          <p:nvPr/>
        </p:nvSpPr>
        <p:spPr>
          <a:xfrm>
            <a:off x="135286" y="5428863"/>
            <a:ext cx="16241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</a:rPr>
              <a:t>New Revenue:</a:t>
            </a:r>
          </a:p>
        </p:txBody>
      </p:sp>
      <p:sp>
        <p:nvSpPr>
          <p:cNvPr id="22" name="TextBox 24">
            <a:extLst>
              <a:ext uri="{FF2B5EF4-FFF2-40B4-BE49-F238E27FC236}">
                <a16:creationId xmlns:a16="http://schemas.microsoft.com/office/drawing/2014/main" id="{FC3AFD72-934E-C314-76C9-3BD3C3ADC5D7}"/>
              </a:ext>
            </a:extLst>
          </p:cNvPr>
          <p:cNvSpPr txBox="1"/>
          <p:nvPr/>
        </p:nvSpPr>
        <p:spPr>
          <a:xfrm>
            <a:off x="2219510" y="5428863"/>
            <a:ext cx="11180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</a:rPr>
              <a:t>New Profit:</a:t>
            </a:r>
          </a:p>
        </p:txBody>
      </p:sp>
      <p:sp>
        <p:nvSpPr>
          <p:cNvPr id="23" name="TextBox 25">
            <a:extLst>
              <a:ext uri="{FF2B5EF4-FFF2-40B4-BE49-F238E27FC236}">
                <a16:creationId xmlns:a16="http://schemas.microsoft.com/office/drawing/2014/main" id="{AFC7E587-98BA-0E7B-D632-50ECCC546F0C}"/>
              </a:ext>
            </a:extLst>
          </p:cNvPr>
          <p:cNvSpPr txBox="1"/>
          <p:nvPr/>
        </p:nvSpPr>
        <p:spPr>
          <a:xfrm>
            <a:off x="129001" y="5674588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</a:rPr>
              <a:t>$219.04M</a:t>
            </a:r>
            <a:endParaRPr lang="en-US" sz="2000" dirty="0">
              <a:solidFill>
                <a:srgbClr val="2F5597"/>
              </a:solidFill>
            </a:endParaRPr>
          </a:p>
        </p:txBody>
      </p:sp>
      <p:sp>
        <p:nvSpPr>
          <p:cNvPr id="24" name="TextBox 26">
            <a:extLst>
              <a:ext uri="{FF2B5EF4-FFF2-40B4-BE49-F238E27FC236}">
                <a16:creationId xmlns:a16="http://schemas.microsoft.com/office/drawing/2014/main" id="{CDADE326-124A-38EC-26DF-B19515A72278}"/>
              </a:ext>
            </a:extLst>
          </p:cNvPr>
          <p:cNvSpPr txBox="1"/>
          <p:nvPr/>
        </p:nvSpPr>
        <p:spPr>
          <a:xfrm>
            <a:off x="1922550" y="5674588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</a:rPr>
              <a:t>$50.04M</a:t>
            </a:r>
            <a:endParaRPr lang="en-US" sz="2000" dirty="0">
              <a:solidFill>
                <a:srgbClr val="2F5597"/>
              </a:solidFill>
            </a:endParaRPr>
          </a:p>
        </p:txBody>
      </p:sp>
      <p:pic>
        <p:nvPicPr>
          <p:cNvPr id="25" name="Content Placeholder 24"/>
          <p:cNvPicPr>
            <a:picLocks noGrp="1"/>
          </p:cNvPicPr>
          <p:nvPr>
            <p:ph/>
          </p:nvPr>
        </p:nvPicPr>
        <p:blipFill>
          <a:blip r:embed="rId4" cstate="print"/>
          <a:stretch>
            <a:fillRect/>
          </a:stretch>
        </p:blipFill>
        <p:spPr>
          <a:xfrm>
            <a:off x="4078224" y="1472184"/>
            <a:ext cx="6364224" cy="477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0513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>
            <a:extLst>
              <a:ext uri="{FF2B5EF4-FFF2-40B4-BE49-F238E27FC236}">
                <a16:creationId xmlns:a16="http://schemas.microsoft.com/office/drawing/2014/main" id="{4BDBD4FD-FFB4-4EDA-B509-71118D163D8A}"/>
              </a:ext>
            </a:extLst>
          </p:cNvPr>
          <p:cNvSpPr/>
          <p:nvPr/>
        </p:nvSpPr>
        <p:spPr>
          <a:xfrm>
            <a:off x="-1" y="-3877"/>
            <a:ext cx="12191999" cy="5021418"/>
          </a:xfrm>
          <a:prstGeom prst="rect">
            <a:avLst/>
          </a:prstGeom>
          <a:solidFill>
            <a:srgbClr val="244F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20BED0-748B-492F-A227-2FDEC8B68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599" y="6395154"/>
            <a:ext cx="4114800" cy="365125"/>
          </a:xfrm>
        </p:spPr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B79CFB-A771-4B11-8488-3E54ACE4F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36377" y="6389509"/>
            <a:ext cx="2743200" cy="365125"/>
          </a:xfrm>
        </p:spPr>
        <p:txBody>
          <a:bodyPr/>
          <a:lstStyle/>
          <a:p>
            <a:fld id="{3AFC719D-C4A7-4544-876E-D411D11AF6C9}" type="slidenum">
              <a:rPr lang="en-US" smtClean="0"/>
              <a:t>12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78CFBEA-CEF2-471A-842D-8314716A34E9}"/>
              </a:ext>
            </a:extLst>
          </p:cNvPr>
          <p:cNvSpPr/>
          <p:nvPr/>
        </p:nvSpPr>
        <p:spPr>
          <a:xfrm>
            <a:off x="3860800" y="406401"/>
            <a:ext cx="7800623" cy="44478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371480" indent="-342905" defTabSz="914411">
              <a:lnSpc>
                <a:spcPct val="90000"/>
              </a:lnSpc>
              <a:spcAft>
                <a:spcPts val="1200"/>
              </a:spcAft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bg1"/>
                </a:solidFill>
              </a:rPr>
              <a:t>Patient engagement is the failure point of population health efforts. Direct employer participation and MUSC’s clinical leadership is key to driving patient engagement. </a:t>
            </a:r>
          </a:p>
          <a:p>
            <a:pPr marL="371480" indent="-342905" defTabSz="914411">
              <a:lnSpc>
                <a:spcPct val="90000"/>
              </a:lnSpc>
              <a:spcAft>
                <a:spcPts val="1200"/>
              </a:spcAft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bg1"/>
                </a:solidFill>
              </a:rPr>
              <a:t>KBA’s DTE strategy positions Medical University of South Carolina Health System to grow commercial market share by reducing per-employee plan costs even further at a time when employers are desperate for a path to better value. </a:t>
            </a:r>
          </a:p>
          <a:p>
            <a:pPr marL="371480" indent="-342905" defTabSz="914411">
              <a:lnSpc>
                <a:spcPct val="90000"/>
              </a:lnSpc>
              <a:spcAft>
                <a:spcPts val="1200"/>
              </a:spcAft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bg1"/>
                </a:solidFill>
              </a:rPr>
              <a:t>Medical University of South Carolina Health System can demonstrate greater completion rates for Standards of Care for the Chronically Ill, driving better care &amp; cost outcomes. </a:t>
            </a:r>
          </a:p>
          <a:p>
            <a:pPr marL="371480" indent="-342905" defTabSz="914411">
              <a:lnSpc>
                <a:spcPct val="90000"/>
              </a:lnSpc>
              <a:spcAft>
                <a:spcPts val="1800"/>
              </a:spcAft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bg1"/>
                </a:solidFill>
              </a:rPr>
              <a:t>Adding MUSC’s managed care processes to KBA’s patented care management programs will turbocharge results – Positioning MUSC as a transformational population health leader.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CEEE520-446E-4089-8426-4255347085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503" y="406401"/>
            <a:ext cx="3053314" cy="2504922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US" sz="3600" cap="all" dirty="0">
                <a:solidFill>
                  <a:schemeClr val="bg1"/>
                </a:solidFill>
              </a:rPr>
              <a:t>the missing piece to population health success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35A72B5-FEF9-458B-B242-8157703AFF9D}"/>
              </a:ext>
            </a:extLst>
          </p:cNvPr>
          <p:cNvSpPr/>
          <p:nvPr/>
        </p:nvSpPr>
        <p:spPr>
          <a:xfrm>
            <a:off x="2170444" y="5369550"/>
            <a:ext cx="9490980" cy="4247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6" defTabSz="914411">
              <a:lnSpc>
                <a:spcPct val="90000"/>
              </a:lnSpc>
              <a:spcAft>
                <a:spcPts val="1200"/>
              </a:spcAft>
              <a:buClr>
                <a:schemeClr val="accent5">
                  <a:lumMod val="50000"/>
                </a:schemeClr>
              </a:buClr>
            </a:pPr>
            <a:r>
              <a:rPr lang="en-US" sz="2400" b="1" cap="all" dirty="0">
                <a:solidFill>
                  <a:srgbClr val="000B2E"/>
                </a:solidFill>
              </a:rPr>
              <a:t>Medical University of South Carolina Health System </a:t>
            </a:r>
            <a:r>
              <a:rPr lang="en-US" sz="2400" b="1" cap="small" dirty="0">
                <a:solidFill>
                  <a:srgbClr val="000B2E"/>
                </a:solidFill>
              </a:rPr>
              <a:t>CAN PROMOTE THESE RESULTS FROM DAY ONE!!</a:t>
            </a:r>
          </a:p>
        </p:txBody>
      </p:sp>
      <p:pic>
        <p:nvPicPr>
          <p:cNvPr id="8" name="Graphic 9" descr="Puzzle pieces with solid fill">
            <a:extLst>
              <a:ext uri="{FF2B5EF4-FFF2-40B4-BE49-F238E27FC236}">
                <a16:creationId xmlns:a16="http://schemas.microsoft.com/office/drawing/2014/main" id="{0CA67572-0D3A-6B78-1AF5-F6A1BEB1B5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6428" y="2426082"/>
            <a:ext cx="2767464" cy="2767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2997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8">
            <a:extLst>
              <a:ext uri="{FF2B5EF4-FFF2-40B4-BE49-F238E27FC236}">
                <a16:creationId xmlns:a16="http://schemas.microsoft.com/office/drawing/2014/main" id="{44DBAA81-6BB1-41F2-821B-655745573DD6}"/>
              </a:ext>
            </a:extLst>
          </p:cNvPr>
          <p:cNvGraphicFramePr>
            <a:graphicFrameLocks noGrp="1"/>
          </p:cNvGraphicFramePr>
          <p:nvPr/>
        </p:nvGraphicFramePr>
        <p:xfrm>
          <a:off x="4726294" y="136525"/>
          <a:ext cx="7205513" cy="6625708"/>
        </p:xfrm>
        <a:graphic>
          <a:graphicData uri="http://schemas.openxmlformats.org/drawingml/2006/table">
            <a:tbl>
              <a:tblPr firstRow="1" firstCol="1" bandRow="1"/>
              <a:tblGrid>
                <a:gridCol w="2597015">
                  <a:extLst>
                    <a:ext uri="{9D8B030D-6E8A-4147-A177-3AD203B41FA5}">
                      <a16:colId xmlns:a16="http://schemas.microsoft.com/office/drawing/2014/main" val="2366274540"/>
                    </a:ext>
                  </a:extLst>
                </a:gridCol>
                <a:gridCol w="1444924">
                  <a:extLst>
                    <a:ext uri="{9D8B030D-6E8A-4147-A177-3AD203B41FA5}">
                      <a16:colId xmlns:a16="http://schemas.microsoft.com/office/drawing/2014/main" val="3062753151"/>
                    </a:ext>
                  </a:extLst>
                </a:gridCol>
                <a:gridCol w="1581787">
                  <a:extLst>
                    <a:ext uri="{9D8B030D-6E8A-4147-A177-3AD203B41FA5}">
                      <a16:colId xmlns:a16="http://schemas.microsoft.com/office/drawing/2014/main" val="3107867473"/>
                    </a:ext>
                  </a:extLst>
                </a:gridCol>
                <a:gridCol w="1581787">
                  <a:extLst>
                    <a:ext uri="{9D8B030D-6E8A-4147-A177-3AD203B41FA5}">
                      <a16:colId xmlns:a16="http://schemas.microsoft.com/office/drawing/2014/main" val="1167931325"/>
                    </a:ext>
                  </a:extLst>
                </a:gridCol>
              </a:tblGrid>
              <a:tr h="14488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CHRONIC CONDITION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120" marR="35120" marT="0" marB="0" anchor="ctr">
                    <a:lnL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F9A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MINIMUM ANNUAL CARE RECOMMENDED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120" marR="351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F9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6498281"/>
                  </a:ext>
                </a:extLst>
              </a:tr>
              <a:tr h="29646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ASTHMA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120" marR="3512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 Clinical Evaluations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 Spirometry (for patients 10 years of age or older)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120" marR="3512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0014585"/>
                  </a:ext>
                </a:extLst>
              </a:tr>
              <a:tr h="14488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ATRIAL FIBRILLATION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120" marR="3512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 Clinical Evaluation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120" marR="3512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6190503"/>
                  </a:ext>
                </a:extLst>
              </a:tr>
              <a:tr h="29646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CHRONIC OBSTRUCTIVE PULMONARY DISEASE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120" marR="3512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 Clinical Evaluation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 Spirometry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120" marR="3512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1583740"/>
                  </a:ext>
                </a:extLst>
              </a:tr>
              <a:tr h="59167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CHRONIC VENOUS THROMBOTIC DISEASE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i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previously listed as Thrombo-embolic Disease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120" marR="3512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 Clinical Evaluation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120" marR="3512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8317387"/>
                  </a:ext>
                </a:extLst>
              </a:tr>
              <a:tr h="29646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COPD WITH PULMONARY HYPERTENSION/COR PULMONALE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120" marR="3512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 Clinical Evaluations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12 months of supplemental 02 Tx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120" marR="3512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5065669"/>
                  </a:ext>
                </a:extLst>
              </a:tr>
              <a:tr h="29646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CHRONIC KIDNEY DISEASE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120" marR="3512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 Clinical Evaluation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 Hgb or Hcrt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120" marR="3512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 Serum Creatinine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 Serum Potassium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120" marR="3512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 Serum Calcium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 Serum Phosphorus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120" marR="3512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7466772"/>
                  </a:ext>
                </a:extLst>
              </a:tr>
              <a:tr h="14488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CONGESTIVE HEART FAILURE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120" marR="3512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 Clinical Evaluation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120" marR="3512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 Serum Creatinine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120" marR="3512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 Serum Potassium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120" marR="3512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2705431"/>
                  </a:ext>
                </a:extLst>
              </a:tr>
              <a:tr h="14488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CORONARY ARTERY DISEASE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120" marR="3512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 Clinical Evaluation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120" marR="3512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 LDL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120" marR="3512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120" marR="3512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2143464"/>
                  </a:ext>
                </a:extLst>
              </a:tr>
              <a:tr h="14488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DEPRESSION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120" marR="3512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 Clinical Evaluation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120" marR="3512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8016476"/>
                  </a:ext>
                </a:extLst>
              </a:tr>
              <a:tr h="44804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DIABETES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120" marR="3512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 Clinical Evaluations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 Glycohemoglobins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 Serum Creatinine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120" marR="3512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 Lipid Panel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IF no nephropathy Dx or ACE/ARB Rx,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 Urine Albumin/Creatinine ratio, Total Protein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120" marR="3512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3754943"/>
                  </a:ext>
                </a:extLst>
              </a:tr>
              <a:tr h="14488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EPILEPSY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120" marR="3512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 Clinical Evaluation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120" marR="3512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120" marR="3512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120" marR="3512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0324191"/>
                  </a:ext>
                </a:extLst>
              </a:tr>
              <a:tr h="44804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HUMAN IMMUNODEFICIENCY VIRUS INFECTION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120" marR="3512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 Clinical Evaluations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2CBCs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 T-Cell/CD-4 Count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120" marR="3512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 HIV Quantifications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 Pap Smear (for women only, 21 years of age or older)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120" marR="3512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5771183"/>
                  </a:ext>
                </a:extLst>
              </a:tr>
              <a:tr h="14488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200" cap="all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Hyperlipidemia</a:t>
                      </a:r>
                      <a:endParaRPr lang="en-US" sz="900" cap="all" baseline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120" marR="3512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 Lipid Panel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120" marR="3512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120" marR="3512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120" marR="3512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26325"/>
                  </a:ext>
                </a:extLst>
              </a:tr>
              <a:tr h="14488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HYPERTENSION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120" marR="3512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 Clinical Evaluation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120" marR="3512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 Serum Creatinine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120" marR="3512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120" marR="3512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2869988"/>
                  </a:ext>
                </a:extLst>
              </a:tr>
              <a:tr h="14488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HYPERTHYROIDISM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120" marR="3512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 Clinical Evaluation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120" marR="3512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 TSH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120" marR="3512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 T4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120" marR="3512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1188136"/>
                  </a:ext>
                </a:extLst>
              </a:tr>
              <a:tr h="14488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HYPOTHYROIDISM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120" marR="3512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 Clinical Evaluation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120" marR="3512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 TSH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120" marR="3512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120" marR="3512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5030"/>
                  </a:ext>
                </a:extLst>
              </a:tr>
              <a:tr h="14488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METABOLIC SYNDROME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120" marR="3512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 Clinical Evaluation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120" marR="3512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 Lipid Panel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120" marR="3512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 FBS or HgbA1c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120" marR="3512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9260277"/>
                  </a:ext>
                </a:extLst>
              </a:tr>
              <a:tr h="14488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MULTIPLE SCLEROSIS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120" marR="3512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 Clinical Evaluation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120" marR="3512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120" marR="3512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120" marR="3512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0610097"/>
                  </a:ext>
                </a:extLst>
              </a:tr>
              <a:tr h="14488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PARKINSON'S DISEASE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120" marR="3512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 Clinical Evaluation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120" marR="3512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120" marR="3512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120" marR="3512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7539696"/>
                  </a:ext>
                </a:extLst>
              </a:tr>
              <a:tr h="59961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PERIPHERAL ARTERIAL DISEASE (ATHEROSCLEROSIS]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i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previously listed as Peripheral Vascular Disease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120" marR="3512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 Clinical Evaluation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 LDL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120" marR="3512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120" marR="3512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120" marR="3512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8695282"/>
                  </a:ext>
                </a:extLst>
              </a:tr>
              <a:tr h="14488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PRE-DIABETES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120" marR="3512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 Clinical Evaluation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120" marR="3512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 Lipid Panel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120" marR="3512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 FBS or HgbA1c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120" marR="3512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5897494"/>
                  </a:ext>
                </a:extLst>
              </a:tr>
              <a:tr h="14488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POLYMYALGIA RHEUMATICA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120" marR="3512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 Clinical Evaluation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120" marR="3512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 ESR or CRP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120" marR="3512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 CBC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120" marR="3512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3089292"/>
                  </a:ext>
                </a:extLst>
              </a:tr>
              <a:tr h="29646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PULMONARY HYPERTENSION (UNRELATED TO COPD)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120" marR="3512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 Clinical Evaluation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120" marR="3512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120" marR="3512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120" marR="3512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9373926"/>
                  </a:ext>
                </a:extLst>
              </a:tr>
              <a:tr h="29646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REGIONAL ENTERITIS (INFLAMMATORY BOWEL DISEASE)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120" marR="3512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 Clinical Evaluation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120" marR="3512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120" marR="3512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120" marR="3512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1541292"/>
                  </a:ext>
                </a:extLst>
              </a:tr>
              <a:tr h="14488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RHEUMATOID ARTHRITIS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120" marR="3512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 Clinical Evaluation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120" marR="3512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120" marR="3512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120" marR="3512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0789343"/>
                  </a:ext>
                </a:extLst>
              </a:tr>
              <a:tr h="14488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SLEEP APNEA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120" marR="3512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 Clinical Evaluation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120" marR="3512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120" marR="3512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120" marR="3512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8131130"/>
                  </a:ext>
                </a:extLst>
              </a:tr>
              <a:tr h="29646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ULCERATIVE COLITIS (INFLAMMATORY BOWEL DISEASE)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120" marR="3512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 Clinical Evaluation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120" marR="3512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120" marR="3512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120" marR="3512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8385909"/>
                  </a:ext>
                </a:extLst>
              </a:tr>
            </a:tbl>
          </a:graphicData>
        </a:graphic>
      </p:graphicFrame>
      <p:sp>
        <p:nvSpPr>
          <p:cNvPr id="3" name="Title 1">
            <a:extLst>
              <a:ext uri="{FF2B5EF4-FFF2-40B4-BE49-F238E27FC236}">
                <a16:creationId xmlns:a16="http://schemas.microsoft.com/office/drawing/2014/main" id="{F97470F7-7696-413D-9209-D155562954BB}"/>
              </a:ext>
            </a:extLst>
          </p:cNvPr>
          <p:cNvSpPr txBox="1">
            <a:spLocks/>
          </p:cNvSpPr>
          <p:nvPr/>
        </p:nvSpPr>
        <p:spPr>
          <a:xfrm>
            <a:off x="657037" y="1646141"/>
            <a:ext cx="3494834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3200" b="1" kern="1200">
                <a:solidFill>
                  <a:srgbClr val="F3734E"/>
                </a:solidFill>
                <a:latin typeface="Helvetica"/>
                <a:ea typeface="+mj-ea"/>
                <a:cs typeface="Helvetica"/>
              </a:defRPr>
            </a:lvl1pPr>
          </a:lstStyle>
          <a:p>
            <a:pPr algn="l"/>
            <a:r>
              <a:rPr lang="en-US" dirty="0">
                <a:solidFill>
                  <a:schemeClr val="bg1"/>
                </a:solidFill>
                <a:latin typeface="+mj-lt"/>
              </a:rPr>
              <a:t>CHRONIC DISEASE MANAGEMENT   </a:t>
            </a: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B8534B2B-9B09-497C-8FF0-E0C8506830D0}"/>
              </a:ext>
            </a:extLst>
          </p:cNvPr>
          <p:cNvSpPr txBox="1"/>
          <p:nvPr/>
        </p:nvSpPr>
        <p:spPr>
          <a:xfrm>
            <a:off x="689518" y="2889855"/>
            <a:ext cx="279413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solidFill>
                  <a:schemeClr val="bg1"/>
                </a:solidFill>
                <a:latin typeface="+mj-lt"/>
              </a:rPr>
              <a:t>The chronic diseases identified include a list of services (i.e. exams, lab work and diagnostics) rendered by a network provider payable at 100% and not subject to the deductible or copay. </a:t>
            </a:r>
            <a:endParaRPr lang="en-US" sz="20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5" name="Slide Number Placeholder 15">
            <a:extLst>
              <a:ext uri="{FF2B5EF4-FFF2-40B4-BE49-F238E27FC236}">
                <a16:creationId xmlns:a16="http://schemas.microsoft.com/office/drawing/2014/main" id="{1C3A6D29-B425-4835-A19F-07D86D104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89572" y="6424927"/>
            <a:ext cx="2743200" cy="365125"/>
          </a:xfrm>
        </p:spPr>
        <p:txBody>
          <a:bodyPr/>
          <a:lstStyle/>
          <a:p>
            <a:fld id="{3AFC719D-C4A7-4544-876E-D411D11AF6C9}" type="slidenum">
              <a:rPr lang="en-US" smtClean="0"/>
              <a:t>13</a:t>
            </a:fld>
            <a:endParaRPr lang="en-US" dirty="0"/>
          </a:p>
        </p:txBody>
      </p:sp>
      <p:sp>
        <p:nvSpPr>
          <p:cNvPr id="6" name="Rectangle 11">
            <a:extLst>
              <a:ext uri="{FF2B5EF4-FFF2-40B4-BE49-F238E27FC236}">
                <a16:creationId xmlns:a16="http://schemas.microsoft.com/office/drawing/2014/main" id="{5B293367-A455-490C-8A35-4511AA3B90CE}"/>
              </a:ext>
            </a:extLst>
          </p:cNvPr>
          <p:cNvSpPr/>
          <p:nvPr/>
        </p:nvSpPr>
        <p:spPr>
          <a:xfrm>
            <a:off x="-1" y="984"/>
            <a:ext cx="4275989" cy="6871084"/>
          </a:xfrm>
          <a:prstGeom prst="rect">
            <a:avLst/>
          </a:prstGeom>
          <a:solidFill>
            <a:srgbClr val="244F9A">
              <a:alpha val="9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0" rIns="457200" rtlCol="0" anchor="ctr"/>
          <a:lstStyle/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sz="1600" b="1" spc="120" dirty="0">
              <a:solidFill>
                <a:schemeClr val="bg1"/>
              </a:solidFill>
            </a:endParaRPr>
          </a:p>
        </p:txBody>
      </p:sp>
      <p:sp>
        <p:nvSpPr>
          <p:cNvPr id="7" name="TextBox 1">
            <a:extLst>
              <a:ext uri="{FF2B5EF4-FFF2-40B4-BE49-F238E27FC236}">
                <a16:creationId xmlns:a16="http://schemas.microsoft.com/office/drawing/2014/main" id="{0255DED4-CAB2-4C40-8464-BA04A291D04E}"/>
              </a:ext>
            </a:extLst>
          </p:cNvPr>
          <p:cNvSpPr txBox="1"/>
          <p:nvPr/>
        </p:nvSpPr>
        <p:spPr>
          <a:xfrm>
            <a:off x="0" y="523930"/>
            <a:ext cx="427598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8142"/>
            <a:r>
              <a:rPr lang="en-US" sz="2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INTEGRATION WITH EPIC EHR SYSTEM</a:t>
            </a:r>
            <a:endParaRPr lang="en-US" sz="2400" spc="1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" name="Straight Connector 17">
            <a:extLst>
              <a:ext uri="{FF2B5EF4-FFF2-40B4-BE49-F238E27FC236}">
                <a16:creationId xmlns:a16="http://schemas.microsoft.com/office/drawing/2014/main" id="{654FDC49-A8BF-414E-8760-AA338D9AABBF}"/>
              </a:ext>
            </a:extLst>
          </p:cNvPr>
          <p:cNvCxnSpPr>
            <a:cxnSpLocks/>
          </p:cNvCxnSpPr>
          <p:nvPr/>
        </p:nvCxnSpPr>
        <p:spPr>
          <a:xfrm>
            <a:off x="437631" y="1627549"/>
            <a:ext cx="320759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9" name="Freeform: Shape 12">
            <a:extLst>
              <a:ext uri="{FF2B5EF4-FFF2-40B4-BE49-F238E27FC236}">
                <a16:creationId xmlns:a16="http://schemas.microsoft.com/office/drawing/2014/main" id="{85E02AAF-B329-4E86-B476-C851852352F8}"/>
              </a:ext>
            </a:extLst>
          </p:cNvPr>
          <p:cNvSpPr/>
          <p:nvPr/>
        </p:nvSpPr>
        <p:spPr>
          <a:xfrm rot="16200000">
            <a:off x="2097937" y="4698539"/>
            <a:ext cx="1873602" cy="2482501"/>
          </a:xfrm>
          <a:custGeom>
            <a:avLst/>
            <a:gdLst>
              <a:gd name="connsiteX0" fmla="*/ 2160577 w 2160577"/>
              <a:gd name="connsiteY0" fmla="*/ 3114245 h 3114245"/>
              <a:gd name="connsiteX1" fmla="*/ 0 w 2160577"/>
              <a:gd name="connsiteY1" fmla="*/ 3114245 h 3114245"/>
              <a:gd name="connsiteX2" fmla="*/ 0 w 2160577"/>
              <a:gd name="connsiteY2" fmla="*/ 0 h 3114245"/>
              <a:gd name="connsiteX3" fmla="*/ 40185 w 2160577"/>
              <a:gd name="connsiteY3" fmla="*/ 231682 h 3114245"/>
              <a:gd name="connsiteX4" fmla="*/ 2101086 w 2160577"/>
              <a:gd name="connsiteY4" fmla="*/ 3114244 h 3114245"/>
              <a:gd name="connsiteX5" fmla="*/ 2158168 w 2160577"/>
              <a:gd name="connsiteY5" fmla="*/ 3108162 h 3114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60577" h="3114245">
                <a:moveTo>
                  <a:pt x="2160577" y="3114245"/>
                </a:moveTo>
                <a:lnTo>
                  <a:pt x="0" y="3114245"/>
                </a:lnTo>
                <a:lnTo>
                  <a:pt x="0" y="0"/>
                </a:lnTo>
                <a:lnTo>
                  <a:pt x="40185" y="231682"/>
                </a:lnTo>
                <a:cubicBezTo>
                  <a:pt x="379730" y="1925643"/>
                  <a:pt x="1174627" y="3114244"/>
                  <a:pt x="2101086" y="3114244"/>
                </a:cubicBezTo>
                <a:lnTo>
                  <a:pt x="2158168" y="3108162"/>
                </a:lnTo>
                <a:close/>
              </a:path>
            </a:pathLst>
          </a:custGeom>
          <a:solidFill>
            <a:srgbClr val="59CAE8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411">
              <a:defRPr/>
            </a:pPr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897791F9-80A6-4A45-A936-C4A4E5494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0451" y="6424927"/>
            <a:ext cx="3871949" cy="323354"/>
          </a:xfrm>
        </p:spPr>
        <p:txBody>
          <a:bodyPr/>
          <a:lstStyle/>
          <a:p>
            <a:r>
              <a:rPr lang="en-US" dirty="0"/>
              <a:t>Key Benefit Administrators</a:t>
            </a:r>
          </a:p>
        </p:txBody>
      </p:sp>
      <p:pic>
        <p:nvPicPr>
          <p:cNvPr id="11" name="Picture 2" descr="Epic launches long-planned &quot;App Orchard&quot; app store | MobiHealthNews">
            <a:extLst>
              <a:ext uri="{FF2B5EF4-FFF2-40B4-BE49-F238E27FC236}">
                <a16:creationId xmlns:a16="http://schemas.microsoft.com/office/drawing/2014/main" id="{308658F5-D0C7-2129-4BB2-5ED078F194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168" y="2044461"/>
            <a:ext cx="3494834" cy="195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4">
            <a:extLst>
              <a:ext uri="{FF2B5EF4-FFF2-40B4-BE49-F238E27FC236}">
                <a16:creationId xmlns:a16="http://schemas.microsoft.com/office/drawing/2014/main" id="{E37C4D6D-E015-C93E-59BD-2C619644D714}"/>
              </a:ext>
            </a:extLst>
          </p:cNvPr>
          <p:cNvSpPr txBox="1"/>
          <p:nvPr/>
        </p:nvSpPr>
        <p:spPr>
          <a:xfrm>
            <a:off x="260193" y="4477165"/>
            <a:ext cx="349483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l" rtl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kern="1200" spc="120" dirty="0">
                <a:solidFill>
                  <a:srgbClr val="FFFFFF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KBA shares evidence-based standards of care for 27 chronic conditions</a:t>
            </a:r>
            <a:r>
              <a:rPr lang="en-US" spc="120" dirty="0">
                <a:solidFill>
                  <a:srgbClr val="FFFFFF"/>
                </a:solidFill>
                <a:latin typeface="Calibri" panose="020F0502020204030204" pitchFamily="34" charset="0"/>
              </a:rPr>
              <a:t> directly into Epic. </a:t>
            </a:r>
            <a:endParaRPr lang="en-US" dirty="0">
              <a:effectLst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699286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6B12664C-5A76-42DD-9387-37E05409FC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2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-1" y="14068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5">
            <a:extLst>
              <a:ext uri="{FF2B5EF4-FFF2-40B4-BE49-F238E27FC236}">
                <a16:creationId xmlns:a16="http://schemas.microsoft.com/office/drawing/2014/main" id="{C5B343BF-74E3-4449-BD50-77404688474B}"/>
              </a:ext>
            </a:extLst>
          </p:cNvPr>
          <p:cNvSpPr/>
          <p:nvPr/>
        </p:nvSpPr>
        <p:spPr>
          <a:xfrm>
            <a:off x="-1" y="0"/>
            <a:ext cx="12192001" cy="3429000"/>
          </a:xfrm>
          <a:prstGeom prst="rect">
            <a:avLst/>
          </a:prstGeom>
          <a:solidFill>
            <a:srgbClr val="244F9A">
              <a:alpha val="7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DB678D7-E940-4D9A-BC92-54EDE0B96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305" y="351058"/>
            <a:ext cx="10515600" cy="740459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Transparent PBM Integration 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37D3F8B8-2E49-4602-96D2-63DBC785B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41289746-C0F3-4064-B405-1E696D5C7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14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AFDC632-7C4B-44BF-B435-0CED1B7481B2}"/>
              </a:ext>
            </a:extLst>
          </p:cNvPr>
          <p:cNvSpPr/>
          <p:nvPr/>
        </p:nvSpPr>
        <p:spPr>
          <a:xfrm>
            <a:off x="562791" y="1138424"/>
            <a:ext cx="4970417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3" indent="-285753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bg1"/>
                </a:solidFill>
                <a:cs typeface="Century Gothic"/>
              </a:rPr>
              <a:t>Support of MUSC’s retail pharmacy(s)</a:t>
            </a:r>
          </a:p>
          <a:p>
            <a:pPr marL="285753" indent="-285753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bg1"/>
                </a:solidFill>
                <a:cs typeface="Century Gothic"/>
              </a:rPr>
              <a:t>Optimize MUSC’s 340B drug pricing program</a:t>
            </a:r>
          </a:p>
          <a:p>
            <a:pPr marL="285753" indent="-285753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bg1"/>
                </a:solidFill>
              </a:rPr>
              <a:t>Allows MUSC to create its own PBM program if desired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A8BB229-42C0-4FB6-AD0C-615BF4260145}"/>
              </a:ext>
            </a:extLst>
          </p:cNvPr>
          <p:cNvSpPr/>
          <p:nvPr/>
        </p:nvSpPr>
        <p:spPr>
          <a:xfrm>
            <a:off x="6095999" y="1173180"/>
            <a:ext cx="5715585" cy="20928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3" indent="-285753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bg1"/>
                </a:solidFill>
              </a:rPr>
              <a:t>Custom telephone number with personalized scripting and separate call tracking &amp; reporting</a:t>
            </a:r>
          </a:p>
          <a:p>
            <a:pPr marL="285753" indent="-285753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bg1"/>
                </a:solidFill>
              </a:rPr>
              <a:t>Fully customizable member welcome booklet &amp; materials</a:t>
            </a:r>
          </a:p>
          <a:p>
            <a:pPr marL="285753" indent="-285753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bg1"/>
                </a:solidFill>
              </a:rPr>
              <a:t>White labeled formulary document and marketing materials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A0477AD-A883-49D0-84C0-1846E555302E}"/>
              </a:ext>
            </a:extLst>
          </p:cNvPr>
          <p:cNvSpPr/>
          <p:nvPr/>
        </p:nvSpPr>
        <p:spPr>
          <a:xfrm>
            <a:off x="472441" y="3804933"/>
            <a:ext cx="5168707" cy="21390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spc="150" dirty="0">
                <a:solidFill>
                  <a:srgbClr val="59CAE8"/>
                </a:solidFill>
              </a:rPr>
              <a:t>CUSTOM CLIENT SUPPORT</a:t>
            </a:r>
            <a:r>
              <a:rPr lang="en-US" b="1" spc="150" dirty="0">
                <a:solidFill>
                  <a:srgbClr val="0063A3"/>
                </a:solidFill>
              </a:rPr>
              <a:t>:</a:t>
            </a:r>
          </a:p>
          <a:p>
            <a:pPr marL="285753" indent="-285753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dirty="0"/>
              <a:t>Specialized call center capabilities</a:t>
            </a:r>
          </a:p>
          <a:p>
            <a:pPr marL="285753" indent="-285753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dirty="0"/>
              <a:t>Fully customizable plan designs</a:t>
            </a:r>
          </a:p>
          <a:p>
            <a:pPr marL="285753" indent="-285753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dirty="0"/>
              <a:t>Operational access to the platform</a:t>
            </a:r>
          </a:p>
          <a:p>
            <a:pPr marL="285753" indent="-285753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dirty="0"/>
              <a:t>Customized process and functions to promote DTE strategy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E1BE5C-BB73-4F75-AB8A-06D533303EDE}"/>
              </a:ext>
            </a:extLst>
          </p:cNvPr>
          <p:cNvSpPr/>
          <p:nvPr/>
        </p:nvSpPr>
        <p:spPr>
          <a:xfrm>
            <a:off x="6163406" y="3781627"/>
            <a:ext cx="5739036" cy="26930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spc="150" dirty="0">
                <a:solidFill>
                  <a:srgbClr val="59CAE8"/>
                </a:solidFill>
              </a:rPr>
              <a:t>CLINICAL FLEXIBILITY: </a:t>
            </a:r>
          </a:p>
          <a:p>
            <a:pPr>
              <a:spcBef>
                <a:spcPts val="600"/>
              </a:spcBef>
            </a:pPr>
            <a:r>
              <a:rPr lang="en-US" dirty="0"/>
              <a:t>Full portfolio of custom formulary offerings – with optimized formulary shield</a:t>
            </a:r>
          </a:p>
          <a:p>
            <a:pPr>
              <a:spcBef>
                <a:spcPts val="600"/>
              </a:spcBef>
            </a:pPr>
            <a:r>
              <a:rPr lang="en-US" dirty="0"/>
              <a:t>Clinical programs that drive towards overall DTE strategy</a:t>
            </a:r>
          </a:p>
          <a:p>
            <a:pPr>
              <a:spcBef>
                <a:spcPts val="600"/>
              </a:spcBef>
            </a:pPr>
            <a:r>
              <a:rPr lang="en-US" dirty="0"/>
              <a:t>Options for additional drug savings by driving members to lower cost alternatives</a:t>
            </a:r>
          </a:p>
          <a:p>
            <a:pPr>
              <a:spcBef>
                <a:spcPts val="600"/>
              </a:spcBef>
            </a:pPr>
            <a:r>
              <a:rPr lang="en-US" dirty="0"/>
              <a:t>Flexibility to customize or layer on utilization management programs</a:t>
            </a:r>
          </a:p>
        </p:txBody>
      </p:sp>
    </p:spTree>
    <p:extLst>
      <p:ext uri="{BB962C8B-B14F-4D97-AF65-F5344CB8AC3E}">
        <p14:creationId xmlns:p14="http://schemas.microsoft.com/office/powerpoint/2010/main" val="14034239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24FCE51A-FD08-4E39-82DE-62E323002D4D}"/>
              </a:ext>
            </a:extLst>
          </p:cNvPr>
          <p:cNvSpPr/>
          <p:nvPr/>
        </p:nvSpPr>
        <p:spPr>
          <a:xfrm>
            <a:off x="9748911" y="0"/>
            <a:ext cx="2443089" cy="6859722"/>
          </a:xfrm>
          <a:prstGeom prst="rect">
            <a:avLst/>
          </a:prstGeom>
          <a:solidFill>
            <a:srgbClr val="244F9A">
              <a:alpha val="9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200000"/>
              </a:lnSpc>
            </a:pPr>
            <a:r>
              <a:rPr lang="en-US" dirty="0"/>
              <a:t>Tokio Marine</a:t>
            </a:r>
          </a:p>
          <a:p>
            <a:pPr algn="ctr">
              <a:lnSpc>
                <a:spcPct val="200000"/>
              </a:lnSpc>
            </a:pPr>
            <a:r>
              <a:rPr lang="en-US" dirty="0"/>
              <a:t>Nationwide</a:t>
            </a:r>
          </a:p>
          <a:p>
            <a:pPr algn="ctr">
              <a:lnSpc>
                <a:spcPct val="200000"/>
              </a:lnSpc>
            </a:pPr>
            <a:r>
              <a:rPr lang="en-US" dirty="0"/>
              <a:t>Berkshire Hathaway</a:t>
            </a:r>
          </a:p>
          <a:p>
            <a:pPr algn="ctr">
              <a:lnSpc>
                <a:spcPct val="200000"/>
              </a:lnSpc>
            </a:pPr>
            <a:r>
              <a:rPr lang="en-US" dirty="0"/>
              <a:t>Sun Life</a:t>
            </a:r>
          </a:p>
          <a:p>
            <a:pPr algn="ctr">
              <a:lnSpc>
                <a:spcPct val="200000"/>
              </a:lnSpc>
            </a:pPr>
            <a:r>
              <a:rPr lang="en-US" dirty="0"/>
              <a:t>Liberty Mutual</a:t>
            </a:r>
          </a:p>
          <a:p>
            <a:pPr algn="ctr">
              <a:lnSpc>
                <a:spcPct val="200000"/>
              </a:lnSpc>
            </a:pPr>
            <a:r>
              <a:rPr lang="en-US" dirty="0"/>
              <a:t>Granular (Google)</a:t>
            </a:r>
          </a:p>
          <a:p>
            <a:pPr algn="ctr">
              <a:lnSpc>
                <a:spcPct val="200000"/>
              </a:lnSpc>
            </a:pPr>
            <a:r>
              <a:rPr lang="en-US" dirty="0"/>
              <a:t>Companion Life</a:t>
            </a:r>
          </a:p>
          <a:p>
            <a:pPr algn="ctr">
              <a:lnSpc>
                <a:spcPct val="200000"/>
              </a:lnSpc>
            </a:pPr>
            <a:r>
              <a:rPr lang="en-US" dirty="0"/>
              <a:t>Crum &amp; Forster</a:t>
            </a:r>
          </a:p>
          <a:p>
            <a:pPr algn="ctr">
              <a:lnSpc>
                <a:spcPct val="200000"/>
              </a:lnSpc>
            </a:pPr>
            <a:r>
              <a:rPr lang="en-US" dirty="0"/>
              <a:t>American Fidelity</a:t>
            </a:r>
          </a:p>
          <a:p>
            <a:pPr algn="ctr">
              <a:lnSpc>
                <a:spcPct val="200000"/>
              </a:lnSpc>
            </a:pPr>
            <a:r>
              <a:rPr lang="en-US" dirty="0"/>
              <a:t>RGA</a:t>
            </a:r>
          </a:p>
          <a:p>
            <a:pPr algn="ctr"/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B174226-47B5-4659-83B1-FE9CD406E9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456" y="244670"/>
            <a:ext cx="8784101" cy="1095361"/>
          </a:xfrm>
        </p:spPr>
        <p:txBody>
          <a:bodyPr>
            <a:normAutofit/>
          </a:bodyPr>
          <a:lstStyle/>
          <a:p>
            <a:r>
              <a:rPr lang="en-US" sz="3200" spc="200" dirty="0">
                <a:solidFill>
                  <a:srgbClr val="59CAE8"/>
                </a:solidFill>
              </a:rPr>
              <a:t>STOP-LOSS INSURANCE</a:t>
            </a: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A577469E-ACE0-4E96-83D4-09F32AADC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18106" y="6430767"/>
            <a:ext cx="4114800" cy="365125"/>
          </a:xfrm>
        </p:spPr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588E06CA-EBB4-47C7-805A-78F1EC936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73894" y="6430766"/>
            <a:ext cx="2743200" cy="365125"/>
          </a:xfrm>
        </p:spPr>
        <p:txBody>
          <a:bodyPr/>
          <a:lstStyle/>
          <a:p>
            <a:fld id="{3AFC719D-C4A7-4544-876E-D411D11AF6C9}" type="slidenum">
              <a:rPr lang="en-US" smtClean="0"/>
              <a:t>15</a:t>
            </a:fld>
            <a:endParaRPr lang="en-US" dirty="0"/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2FF25A3A-C156-4EF4-AAF0-4C022A00A18A}"/>
              </a:ext>
            </a:extLst>
          </p:cNvPr>
          <p:cNvSpPr txBox="1"/>
          <p:nvPr/>
        </p:nvSpPr>
        <p:spPr>
          <a:xfrm>
            <a:off x="683456" y="1340031"/>
            <a:ext cx="8629357" cy="46320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3" indent="-285753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dirty="0"/>
              <a:t>KBA has over 20 stop-loss underwriters and carriers that we work with on core employer sponsored plans and DTE health plans;</a:t>
            </a:r>
          </a:p>
          <a:p>
            <a:pPr marL="285753" indent="-285753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dirty="0"/>
              <a:t>KBA performs a comprehensive analysis of each stop-loss partner to approve them for our business;</a:t>
            </a:r>
          </a:p>
          <a:p>
            <a:pPr marL="285753" indent="-285753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dirty="0"/>
              <a:t>KBA provides comprehensive pricing and medical service analysis for each DTE health plan to ensure proper pricing;</a:t>
            </a:r>
          </a:p>
          <a:p>
            <a:pPr marL="285753" indent="-285753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dirty="0"/>
              <a:t>KBA is also evaluated by the stop-loss markets to be an approved claims payer for them;</a:t>
            </a:r>
          </a:p>
          <a:p>
            <a:pPr marL="285753" indent="-285753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dirty="0"/>
              <a:t>KBA provides the administration required of the stop-loss markets:</a:t>
            </a:r>
          </a:p>
          <a:p>
            <a:pPr marL="742960" lvl="1" indent="-285753">
              <a:buFont typeface="Arial" panose="020B0604020202020204" pitchFamily="34" charset="0"/>
              <a:buChar char="•"/>
            </a:pPr>
            <a:r>
              <a:rPr lang="en-US" dirty="0"/>
              <a:t>Bordereau Reporting;</a:t>
            </a:r>
          </a:p>
          <a:p>
            <a:pPr marL="742960" lvl="1" indent="-285753">
              <a:buFont typeface="Arial" panose="020B0604020202020204" pitchFamily="34" charset="0"/>
              <a:buChar char="•"/>
            </a:pPr>
            <a:r>
              <a:rPr lang="en-US" dirty="0"/>
              <a:t>Claim Reporting and Reconciliation;</a:t>
            </a:r>
          </a:p>
          <a:p>
            <a:pPr marL="742960" lvl="1" indent="-285753">
              <a:buFont typeface="Arial" panose="020B0604020202020204" pitchFamily="34" charset="0"/>
              <a:buChar char="•"/>
            </a:pPr>
            <a:r>
              <a:rPr lang="en-US" dirty="0"/>
              <a:t>Evaluation of Networks;</a:t>
            </a:r>
          </a:p>
          <a:p>
            <a:pPr marL="742960" lvl="1" indent="-285753">
              <a:buFont typeface="Arial" panose="020B0604020202020204" pitchFamily="34" charset="0"/>
              <a:buChar char="•"/>
            </a:pPr>
            <a:r>
              <a:rPr lang="en-US" dirty="0"/>
              <a:t>Care Management;</a:t>
            </a:r>
          </a:p>
          <a:p>
            <a:pPr marL="742960" lvl="1" indent="-285753">
              <a:buFont typeface="Arial" panose="020B0604020202020204" pitchFamily="34" charset="0"/>
              <a:buChar char="•"/>
            </a:pPr>
            <a:r>
              <a:rPr lang="en-US" dirty="0"/>
              <a:t>Initial Underwriting; </a:t>
            </a:r>
          </a:p>
          <a:p>
            <a:pPr marL="742960" lvl="1" indent="-285753">
              <a:buFont typeface="Arial" panose="020B0604020202020204" pitchFamily="34" charset="0"/>
              <a:buChar char="•"/>
            </a:pPr>
            <a:r>
              <a:rPr lang="en-US" dirty="0"/>
              <a:t>Negotiation of rates and terms; and</a:t>
            </a:r>
          </a:p>
          <a:p>
            <a:pPr marL="742960" lvl="1" indent="-285753">
              <a:buFont typeface="Arial" panose="020B0604020202020204" pitchFamily="34" charset="0"/>
              <a:buChar char="•"/>
            </a:pPr>
            <a:r>
              <a:rPr lang="en-US" dirty="0"/>
              <a:t>Plan Design Actuarial</a:t>
            </a:r>
            <a:r>
              <a:rPr lang="en-US" b="1" dirty="0">
                <a:solidFill>
                  <a:srgbClr val="0070C0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024928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 descr="7 Steps to Creating a Successful Sales Meeting">
            <a:extLst>
              <a:ext uri="{FF2B5EF4-FFF2-40B4-BE49-F238E27FC236}">
                <a16:creationId xmlns:a16="http://schemas.microsoft.com/office/drawing/2014/main" id="{429A0FED-F4B3-4E4D-82D7-8EADBA62183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screen">
            <a:alphaModFix amt="8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2819712" y="0"/>
            <a:ext cx="9372289" cy="6858000"/>
          </a:xfrm>
          <a:prstGeom prst="rect">
            <a:avLst/>
          </a:prstGeom>
          <a:solidFill>
            <a:srgbClr val="59CAE8"/>
          </a:solidFill>
        </p:spPr>
      </p:pic>
      <p:sp>
        <p:nvSpPr>
          <p:cNvPr id="3" name="Rectangle 4">
            <a:extLst>
              <a:ext uri="{FF2B5EF4-FFF2-40B4-BE49-F238E27FC236}">
                <a16:creationId xmlns:a16="http://schemas.microsoft.com/office/drawing/2014/main" id="{7BABB220-4ACE-4E11-A8BE-59C504FE2125}"/>
              </a:ext>
            </a:extLst>
          </p:cNvPr>
          <p:cNvSpPr/>
          <p:nvPr/>
        </p:nvSpPr>
        <p:spPr>
          <a:xfrm>
            <a:off x="0" y="2771775"/>
            <a:ext cx="6191250" cy="4086225"/>
          </a:xfrm>
          <a:prstGeom prst="rect">
            <a:avLst/>
          </a:prstGeom>
          <a:solidFill>
            <a:srgbClr val="59CAE8"/>
          </a:solidFill>
        </p:spPr>
        <p:txBody>
          <a:bodyPr vert="horz" lIns="91440" tIns="45720" rIns="91440" bIns="45720" rtlCol="0" anchor="t" anchorCtr="0">
            <a:noAutofit/>
          </a:bodyPr>
          <a:lstStyle/>
          <a:p>
            <a:pPr marL="347667" lvl="2" defTabSz="914411">
              <a:lnSpc>
                <a:spcPct val="90000"/>
              </a:lnSpc>
              <a:spcAft>
                <a:spcPts val="1200"/>
              </a:spcAft>
            </a:pPr>
            <a:endParaRPr lang="en-US" sz="1600" b="1" spc="150" dirty="0">
              <a:solidFill>
                <a:schemeClr val="bg1"/>
              </a:solidFill>
            </a:endParaRPr>
          </a:p>
          <a:p>
            <a:pPr marL="347667" lvl="2" defTabSz="914411">
              <a:lnSpc>
                <a:spcPct val="150000"/>
              </a:lnSpc>
              <a:spcAft>
                <a:spcPts val="1200"/>
              </a:spcAft>
            </a:pPr>
            <a:r>
              <a:rPr lang="en-US" sz="2000" b="1" spc="150" dirty="0">
                <a:solidFill>
                  <a:schemeClr val="bg1"/>
                </a:solidFill>
              </a:rPr>
              <a:t>KBA WORKS WITH YOU TO MANAGE &amp; SELL:</a:t>
            </a:r>
          </a:p>
          <a:p>
            <a:pPr marL="628658" lvl="1" indent="-285753" defTabSz="914411">
              <a:lnSpc>
                <a:spcPct val="900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bg1"/>
                </a:solidFill>
              </a:rPr>
              <a:t>Branding &amp; Messaging</a:t>
            </a:r>
          </a:p>
          <a:p>
            <a:pPr marL="628658" lvl="1" indent="-285753" defTabSz="914411">
              <a:lnSpc>
                <a:spcPct val="900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bg1"/>
                </a:solidFill>
              </a:rPr>
              <a:t>Direct &amp; Brokerage Sales Distribution – Focused Sales Representative</a:t>
            </a:r>
          </a:p>
          <a:p>
            <a:pPr marL="628658" lvl="1" indent="-285753" defTabSz="914411">
              <a:lnSpc>
                <a:spcPct val="900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bg1"/>
                </a:solidFill>
              </a:rPr>
              <a:t>Brochures, Web Site, Media, etc.</a:t>
            </a:r>
          </a:p>
          <a:p>
            <a:pPr marL="628658" lvl="1" indent="-285753" defTabSz="914411">
              <a:lnSpc>
                <a:spcPct val="900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bg1"/>
                </a:solidFill>
              </a:rPr>
              <a:t>Stop-Loss/Level Funded Down to 20 EE Lives</a:t>
            </a:r>
          </a:p>
          <a:p>
            <a:pPr marL="628658" lvl="1" indent="-285753" defTabSz="914411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bg1"/>
                </a:solidFill>
              </a:rPr>
              <a:t>Sell Through Established Brokers in Your Service Area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E4CC181-8C0A-4FE1-B12F-4C934443F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205" y="483394"/>
            <a:ext cx="2580190" cy="1928812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rgbClr val="244F9A"/>
                </a:solidFill>
              </a:rPr>
              <a:t>DTE </a:t>
            </a:r>
            <a:br>
              <a:rPr lang="en-US" sz="2400" dirty="0">
                <a:solidFill>
                  <a:srgbClr val="244F9A"/>
                </a:solidFill>
              </a:rPr>
            </a:br>
            <a:r>
              <a:rPr lang="en-US" sz="2400" dirty="0">
                <a:solidFill>
                  <a:srgbClr val="244F9A"/>
                </a:solidFill>
              </a:rPr>
              <a:t>PROGRAM MARKETING </a:t>
            </a:r>
            <a:br>
              <a:rPr lang="en-US" sz="2400" dirty="0">
                <a:solidFill>
                  <a:srgbClr val="244F9A"/>
                </a:solidFill>
              </a:rPr>
            </a:br>
            <a:r>
              <a:rPr lang="en-US" sz="2400" dirty="0">
                <a:solidFill>
                  <a:srgbClr val="244F9A"/>
                </a:solidFill>
              </a:rPr>
              <a:t>&amp; SALES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AE6A2D3A-1C06-4981-9D70-783E21219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38225" y="6374606"/>
            <a:ext cx="4114800" cy="365125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Key Benefit Administrators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432D94ED-38DB-4C84-A193-F82ECDE09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63336" y="6374605"/>
            <a:ext cx="2743200" cy="365125"/>
          </a:xfrm>
        </p:spPr>
        <p:txBody>
          <a:bodyPr/>
          <a:lstStyle/>
          <a:p>
            <a:fld id="{3AFC719D-C4A7-4544-876E-D411D11AF6C9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07209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 descr="7 Steps to Creating a Successful Sales Meeting">
            <a:extLst>
              <a:ext uri="{FF2B5EF4-FFF2-40B4-BE49-F238E27FC236}">
                <a16:creationId xmlns:a16="http://schemas.microsoft.com/office/drawing/2014/main" id="{5B70C6AA-61AD-4DD0-B983-F52567B64AF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screen">
            <a:duotone>
              <a:schemeClr val="bg2">
                <a:shade val="45000"/>
                <a:satMod val="135000"/>
              </a:schemeClr>
              <a:prstClr val="white"/>
            </a:duotone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E3AEE789-2E94-43A2-BF20-56F3182F3E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1038" y="626557"/>
            <a:ext cx="8809923" cy="938167"/>
          </a:xfrm>
          <a:noFill/>
          <a:ln>
            <a:noFill/>
          </a:ln>
        </p:spPr>
        <p:txBody>
          <a:bodyPr>
            <a:noAutofit/>
          </a:bodyPr>
          <a:lstStyle/>
          <a:p>
            <a:r>
              <a:rPr lang="en-US" sz="2800" cap="all" dirty="0">
                <a:solidFill>
                  <a:srgbClr val="244F9A"/>
                </a:solidFill>
              </a:rPr>
              <a:t>Complete Sales Distribution System</a:t>
            </a:r>
          </a:p>
        </p:txBody>
      </p:sp>
      <p:graphicFrame>
        <p:nvGraphicFramePr>
          <p:cNvPr id="4" name="Diagram 6">
            <a:extLst>
              <a:ext uri="{FF2B5EF4-FFF2-40B4-BE49-F238E27FC236}">
                <a16:creationId xmlns:a16="http://schemas.microsoft.com/office/drawing/2014/main" id="{9538C73A-9FA7-458F-A114-0449E816E242}"/>
              </a:ext>
            </a:extLst>
          </p:cNvPr>
          <p:cNvGraphicFramePr/>
          <p:nvPr/>
        </p:nvGraphicFramePr>
        <p:xfrm>
          <a:off x="738414" y="1667230"/>
          <a:ext cx="10715172" cy="50235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26AD7A8A-66DD-4BA6-A8DA-CC8BB638D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6428186"/>
            <a:ext cx="44805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11">
              <a:spcAft>
                <a:spcPts val="600"/>
              </a:spcAft>
            </a:pPr>
            <a:fld id="{3AFC719D-C4A7-4544-876E-D411D11AF6C9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 defTabSz="914411">
                <a:spcAft>
                  <a:spcPts val="600"/>
                </a:spcAft>
              </a:pPr>
              <a:t>17</a:t>
            </a:fld>
            <a:endParaRPr lang="en-US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" name="Footer Placeholder 1">
            <a:extLst>
              <a:ext uri="{FF2B5EF4-FFF2-40B4-BE49-F238E27FC236}">
                <a16:creationId xmlns:a16="http://schemas.microsoft.com/office/drawing/2014/main" id="{73EB584F-B688-4D65-AC70-27857B058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812A6EF0-F485-2EBB-BDEB-7A43025A5A29}"/>
              </a:ext>
            </a:extLst>
          </p:cNvPr>
          <p:cNvSpPr txBox="1"/>
          <p:nvPr/>
        </p:nvSpPr>
        <p:spPr>
          <a:xfrm>
            <a:off x="856622" y="2494128"/>
            <a:ext cx="2811026" cy="151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700" b="0" dirty="0"/>
              <a:t>Identification of Key Distribution Agents</a:t>
            </a:r>
          </a:p>
          <a:p>
            <a:pPr marL="285750" lvl="0" indent="-285750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700" b="0" dirty="0"/>
              <a:t>Training and Development</a:t>
            </a:r>
          </a:p>
          <a:p>
            <a:pPr marL="285750" lvl="0" indent="-285750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700" b="0" dirty="0"/>
              <a:t>Quote Evaluation</a:t>
            </a:r>
          </a:p>
          <a:p>
            <a:pPr marL="285750" lvl="0" indent="-285750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700" b="0" dirty="0"/>
              <a:t>Compensation</a:t>
            </a:r>
          </a:p>
        </p:txBody>
      </p:sp>
      <p:sp>
        <p:nvSpPr>
          <p:cNvPr id="8" name="TextBox 9">
            <a:extLst>
              <a:ext uri="{FF2B5EF4-FFF2-40B4-BE49-F238E27FC236}">
                <a16:creationId xmlns:a16="http://schemas.microsoft.com/office/drawing/2014/main" id="{537397C7-FB49-032A-7017-50CDF43FA202}"/>
              </a:ext>
            </a:extLst>
          </p:cNvPr>
          <p:cNvSpPr txBox="1"/>
          <p:nvPr/>
        </p:nvSpPr>
        <p:spPr>
          <a:xfrm>
            <a:off x="4499567" y="2525884"/>
            <a:ext cx="2885971" cy="20774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700" b="0" dirty="0"/>
              <a:t>Identification of Key Targets</a:t>
            </a:r>
          </a:p>
          <a:p>
            <a:pPr marL="285750" lvl="0" indent="-285750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700" b="0" dirty="0">
                <a:solidFill/>
              </a:rPr>
              <a:t>Working with MUSC to Engage Specific Employers</a:t>
            </a:r>
          </a:p>
          <a:p>
            <a:pPr marL="285750" lvl="0" indent="-285750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700" b="0" dirty="0"/>
              <a:t>Meet and Greet</a:t>
            </a:r>
          </a:p>
          <a:p>
            <a:pPr marL="285750" lvl="0" indent="-285750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700" b="0" dirty="0"/>
              <a:t>Sales Process</a:t>
            </a:r>
          </a:p>
          <a:p>
            <a:pPr marL="285750" lvl="0" indent="-285750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700" b="0" dirty="0"/>
              <a:t>Closing</a:t>
            </a:r>
          </a:p>
        </p:txBody>
      </p:sp>
      <p:sp>
        <p:nvSpPr>
          <p:cNvPr id="9" name="TextBox 11">
            <a:extLst>
              <a:ext uri="{FF2B5EF4-FFF2-40B4-BE49-F238E27FC236}">
                <a16:creationId xmlns:a16="http://schemas.microsoft.com/office/drawing/2014/main" id="{32AE8163-8376-4B77-CD83-691410ECD2AE}"/>
              </a:ext>
            </a:extLst>
          </p:cNvPr>
          <p:cNvSpPr txBox="1"/>
          <p:nvPr/>
        </p:nvSpPr>
        <p:spPr>
          <a:xfrm>
            <a:off x="8217457" y="2525884"/>
            <a:ext cx="2690445" cy="1554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700" b="0" dirty="0"/>
              <a:t>Quote System</a:t>
            </a:r>
          </a:p>
          <a:p>
            <a:pPr marL="285750" lvl="0" indent="-285750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700" b="0" dirty="0"/>
              <a:t>Proposal Development</a:t>
            </a:r>
          </a:p>
          <a:p>
            <a:pPr marL="285750" lvl="0" indent="-285750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700" b="0" dirty="0"/>
              <a:t>Stop Loss Negotiations</a:t>
            </a:r>
          </a:p>
          <a:p>
            <a:pPr marL="285750" lvl="0" indent="-285750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700" b="0" dirty="0"/>
              <a:t>Reporting &amp; Analysis</a:t>
            </a:r>
          </a:p>
          <a:p>
            <a:pPr marL="342900" lvl="0" indent="-342900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en-US" sz="1700" b="0" dirty="0"/>
          </a:p>
        </p:txBody>
      </p:sp>
    </p:spTree>
    <p:extLst>
      <p:ext uri="{BB962C8B-B14F-4D97-AF65-F5344CB8AC3E}">
        <p14:creationId xmlns:p14="http://schemas.microsoft.com/office/powerpoint/2010/main" val="10926639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AEF7E883-34E5-46DB-B50C-C63CA63E190C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32682" y="174481"/>
            <a:ext cx="5529323" cy="3080297"/>
          </a:xfrm>
          <a:prstGeom prst="rect">
            <a:avLst/>
          </a:prstGeom>
        </p:spPr>
      </p:pic>
      <p:sp>
        <p:nvSpPr>
          <p:cNvPr id="3" name="Rectangle: Single Corner Rounded 2">
            <a:extLst>
              <a:ext uri="{FF2B5EF4-FFF2-40B4-BE49-F238E27FC236}">
                <a16:creationId xmlns:a16="http://schemas.microsoft.com/office/drawing/2014/main" id="{0E0827A4-8831-4F72-BCCA-ED2FC12E6729}"/>
              </a:ext>
            </a:extLst>
          </p:cNvPr>
          <p:cNvSpPr/>
          <p:nvPr/>
        </p:nvSpPr>
        <p:spPr>
          <a:xfrm flipV="1">
            <a:off x="-12708" y="-1"/>
            <a:ext cx="6201467" cy="2586748"/>
          </a:xfrm>
          <a:prstGeom prst="round1Rect">
            <a:avLst>
              <a:gd name="adj" fmla="val 14176"/>
            </a:avLst>
          </a:prstGeom>
          <a:solidFill>
            <a:srgbClr val="59CAE8">
              <a:alpha val="94000"/>
            </a:srgbClr>
          </a:solidFill>
          <a:ln>
            <a:solidFill>
              <a:srgbClr val="59CAE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25BDB08-48BA-4014-94E1-0CA6432F6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320" y="174481"/>
            <a:ext cx="6597641" cy="580655"/>
          </a:xfrm>
          <a:noFill/>
        </p:spPr>
        <p:txBody>
          <a:bodyPr>
            <a:normAutofit/>
          </a:bodyPr>
          <a:lstStyle/>
          <a:p>
            <a:r>
              <a:rPr lang="en-US" sz="2400" cap="all" dirty="0">
                <a:solidFill>
                  <a:schemeClr val="bg1"/>
                </a:solidFill>
              </a:rPr>
              <a:t>Complete Marketing System</a:t>
            </a:r>
          </a:p>
        </p:txBody>
      </p:sp>
      <p:sp>
        <p:nvSpPr>
          <p:cNvPr id="5" name="TextBox 9">
            <a:extLst>
              <a:ext uri="{FF2B5EF4-FFF2-40B4-BE49-F238E27FC236}">
                <a16:creationId xmlns:a16="http://schemas.microsoft.com/office/drawing/2014/main" id="{ED71BB9D-3705-447C-AA44-226373980B76}"/>
              </a:ext>
            </a:extLst>
          </p:cNvPr>
          <p:cNvSpPr txBox="1"/>
          <p:nvPr/>
        </p:nvSpPr>
        <p:spPr>
          <a:xfrm>
            <a:off x="296181" y="755136"/>
            <a:ext cx="579981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5" indent="-342905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chemeClr val="bg1"/>
                </a:solidFill>
              </a:rPr>
              <a:t>Customized Branding and Messaging</a:t>
            </a:r>
          </a:p>
          <a:p>
            <a:pPr marL="342905" indent="-342905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chemeClr val="bg1"/>
                </a:solidFill>
              </a:rPr>
              <a:t>Customized Brochures</a:t>
            </a:r>
          </a:p>
          <a:p>
            <a:pPr marL="342905" indent="-342905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chemeClr val="bg1"/>
                </a:solidFill>
              </a:rPr>
              <a:t>Customized Web Site</a:t>
            </a:r>
          </a:p>
          <a:p>
            <a:pPr marL="342905" indent="-342905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chemeClr val="bg1"/>
                </a:solidFill>
              </a:rPr>
              <a:t>Targeted Employer Outreach</a:t>
            </a:r>
          </a:p>
          <a:p>
            <a:pPr marL="342905" indent="-342905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chemeClr val="bg1"/>
                </a:solidFill>
              </a:rPr>
              <a:t>Sales System (Social Media, Email, Text, etc.)</a:t>
            </a:r>
          </a:p>
        </p:txBody>
      </p:sp>
      <p:pic>
        <p:nvPicPr>
          <p:cNvPr id="6" name="Picture 10">
            <a:extLst>
              <a:ext uri="{FF2B5EF4-FFF2-40B4-BE49-F238E27FC236}">
                <a16:creationId xmlns:a16="http://schemas.microsoft.com/office/drawing/2014/main" id="{611A4305-92DF-45EF-9B03-0DB9043431A7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6485" y="2995528"/>
            <a:ext cx="2223274" cy="280851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11">
            <a:extLst>
              <a:ext uri="{FF2B5EF4-FFF2-40B4-BE49-F238E27FC236}">
                <a16:creationId xmlns:a16="http://schemas.microsoft.com/office/drawing/2014/main" id="{FED11506-66B0-49FB-A0EF-209B82231847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8496" y="2995528"/>
            <a:ext cx="2233972" cy="280851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12">
            <a:extLst>
              <a:ext uri="{FF2B5EF4-FFF2-40B4-BE49-F238E27FC236}">
                <a16:creationId xmlns:a16="http://schemas.microsoft.com/office/drawing/2014/main" id="{71A4353A-F77C-46E5-A059-7B4875A5C5EA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71205" y="2995528"/>
            <a:ext cx="2316270" cy="284749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13">
            <a:extLst>
              <a:ext uri="{FF2B5EF4-FFF2-40B4-BE49-F238E27FC236}">
                <a16:creationId xmlns:a16="http://schemas.microsoft.com/office/drawing/2014/main" id="{2CFB10C7-2DC6-451E-90C6-2D68BD31A6EC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26212" y="2995528"/>
            <a:ext cx="2197436" cy="286497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Picture 14">
            <a:extLst>
              <a:ext uri="{FF2B5EF4-FFF2-40B4-BE49-F238E27FC236}">
                <a16:creationId xmlns:a16="http://schemas.microsoft.com/office/drawing/2014/main" id="{775544D0-D189-4053-BD03-A061BD918D83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62385" y="2995528"/>
            <a:ext cx="2329516" cy="28614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Picture 15">
            <a:extLst>
              <a:ext uri="{FF2B5EF4-FFF2-40B4-BE49-F238E27FC236}">
                <a16:creationId xmlns:a16="http://schemas.microsoft.com/office/drawing/2014/main" id="{C064D670-84E1-4B9A-97F8-E62D958DB0B5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30638" y="2995528"/>
            <a:ext cx="2525626" cy="291932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6">
            <a:extLst>
              <a:ext uri="{FF2B5EF4-FFF2-40B4-BE49-F238E27FC236}">
                <a16:creationId xmlns:a16="http://schemas.microsoft.com/office/drawing/2014/main" id="{87B797F5-B8C2-4C24-8A7A-FE90F04BE322}"/>
              </a:ext>
            </a:extLst>
          </p:cNvPr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95002" y="2995528"/>
            <a:ext cx="2372536" cy="293605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43B0C0D7-286F-40CC-99F2-E1758486F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664"/>
            <a:ext cx="44805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11">
              <a:spcAft>
                <a:spcPts val="600"/>
              </a:spcAft>
            </a:pPr>
            <a:fld id="{3AFC719D-C4A7-4544-876E-D411D11AF6C9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 defTabSz="914411">
                <a:spcAft>
                  <a:spcPts val="600"/>
                </a:spcAft>
              </a:pPr>
              <a:t>18</a:t>
            </a:fld>
            <a:endParaRPr lang="en-US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4" name="Footer Placeholder 1">
            <a:extLst>
              <a:ext uri="{FF2B5EF4-FFF2-40B4-BE49-F238E27FC236}">
                <a16:creationId xmlns:a16="http://schemas.microsoft.com/office/drawing/2014/main" id="{CDED59B1-EA18-471C-9E96-59ECEF4AB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pic>
        <p:nvPicPr>
          <p:cNvPr id="15" name="Picture 4">
            <a:extLst>
              <a:ext uri="{FF2B5EF4-FFF2-40B4-BE49-F238E27FC236}">
                <a16:creationId xmlns:a16="http://schemas.microsoft.com/office/drawing/2014/main" id="{95AED82D-3AD7-4F96-899E-4F246EB12576}"/>
              </a:ext>
            </a:extLst>
          </p:cNvPr>
          <p:cNvPicPr>
            <a:picLocks noChangeAspect="1"/>
          </p:cNvPicPr>
          <p:nvPr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57012" y="2543534"/>
            <a:ext cx="5291531" cy="3637660"/>
          </a:xfrm>
          <a:prstGeom prst="rect">
            <a:avLst/>
          </a:prstGeom>
          <a:effectLst>
            <a:outerShdw blurRad="203200" dist="38100" algn="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06352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 descr="Key Benefit Administrators Office Photos | Glassdoor">
            <a:extLst>
              <a:ext uri="{FF2B5EF4-FFF2-40B4-BE49-F238E27FC236}">
                <a16:creationId xmlns:a16="http://schemas.microsoft.com/office/drawing/2014/main" id="{1892E4D4-7A08-4B2B-AE4B-53A6D73CC0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screen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4"/>
          <a:stretch/>
        </p:blipFill>
        <p:spPr bwMode="auto">
          <a:xfrm>
            <a:off x="0" y="-1057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8">
            <a:extLst>
              <a:ext uri="{FF2B5EF4-FFF2-40B4-BE49-F238E27FC236}">
                <a16:creationId xmlns:a16="http://schemas.microsoft.com/office/drawing/2014/main" id="{ABE43D6C-8B57-42E8-B1DC-2390ECA42EAC}"/>
              </a:ext>
            </a:extLst>
          </p:cNvPr>
          <p:cNvSpPr/>
          <p:nvPr/>
        </p:nvSpPr>
        <p:spPr>
          <a:xfrm>
            <a:off x="1" y="-1057"/>
            <a:ext cx="12203289" cy="6865412"/>
          </a:xfrm>
          <a:prstGeom prst="rect">
            <a:avLst/>
          </a:prstGeom>
          <a:solidFill>
            <a:srgbClr val="59CAE8">
              <a:alpha val="7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BB9A266-2718-4687-903B-B87AB1E45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266" y="560444"/>
            <a:ext cx="6850224" cy="782540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A Partner You Can Trust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049F6874-178E-4F82-9DAB-D6100F3B6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0530"/>
            <a:ext cx="4114800" cy="365125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Key Benefit Administrators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777C4E82-3249-4BC7-AAC4-401977969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>
                <a:solidFill>
                  <a:schemeClr val="bg1"/>
                </a:solidFill>
              </a:rPr>
              <a:t>19</a:t>
            </a:fld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7" name="Group 26">
            <a:extLst>
              <a:ext uri="{FF2B5EF4-FFF2-40B4-BE49-F238E27FC236}">
                <a16:creationId xmlns:a16="http://schemas.microsoft.com/office/drawing/2014/main" id="{CE5A4C1D-715F-46F5-A80B-647078B97ADE}"/>
              </a:ext>
            </a:extLst>
          </p:cNvPr>
          <p:cNvGrpSpPr/>
          <p:nvPr/>
        </p:nvGrpSpPr>
        <p:grpSpPr>
          <a:xfrm>
            <a:off x="667280" y="3021140"/>
            <a:ext cx="10857442" cy="1200329"/>
            <a:chOff x="908754" y="2695500"/>
            <a:chExt cx="10558665" cy="1200329"/>
          </a:xfrm>
        </p:grpSpPr>
        <p:sp>
          <p:nvSpPr>
            <p:cNvPr id="8" name="Rectangle 21">
              <a:extLst>
                <a:ext uri="{FF2B5EF4-FFF2-40B4-BE49-F238E27FC236}">
                  <a16:creationId xmlns:a16="http://schemas.microsoft.com/office/drawing/2014/main" id="{E53A35DC-3649-45F8-BE1C-71234D1F47FC}"/>
                </a:ext>
              </a:extLst>
            </p:cNvPr>
            <p:cNvSpPr/>
            <p:nvPr/>
          </p:nvSpPr>
          <p:spPr>
            <a:xfrm>
              <a:off x="908754" y="2695500"/>
              <a:ext cx="2058812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</a:rPr>
                <a:t>OUR OBJECTIVES ARE ALIGNED</a:t>
              </a:r>
            </a:p>
          </p:txBody>
        </p:sp>
        <p:sp>
          <p:nvSpPr>
            <p:cNvPr id="9" name="Rectangle 23">
              <a:extLst>
                <a:ext uri="{FF2B5EF4-FFF2-40B4-BE49-F238E27FC236}">
                  <a16:creationId xmlns:a16="http://schemas.microsoft.com/office/drawing/2014/main" id="{9BB7B37B-58E4-4EF5-8BCD-B5AFD3FF7576}"/>
                </a:ext>
              </a:extLst>
            </p:cNvPr>
            <p:cNvSpPr/>
            <p:nvPr/>
          </p:nvSpPr>
          <p:spPr>
            <a:xfrm>
              <a:off x="3464860" y="2695500"/>
              <a:ext cx="2096575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</a:rPr>
                <a:t>WE KNOW THE </a:t>
              </a:r>
            </a:p>
            <a:p>
              <a:r>
                <a:rPr lang="en-US" b="1" dirty="0">
                  <a:solidFill>
                    <a:schemeClr val="bg1"/>
                  </a:solidFill>
                </a:rPr>
                <a:t>MARKET</a:t>
              </a:r>
            </a:p>
          </p:txBody>
        </p:sp>
        <p:sp>
          <p:nvSpPr>
            <p:cNvPr id="10" name="Rectangle 24">
              <a:extLst>
                <a:ext uri="{FF2B5EF4-FFF2-40B4-BE49-F238E27FC236}">
                  <a16:creationId xmlns:a16="http://schemas.microsoft.com/office/drawing/2014/main" id="{712D71E1-CFC6-401F-B564-C6DB174E5C25}"/>
                </a:ext>
              </a:extLst>
            </p:cNvPr>
            <p:cNvSpPr/>
            <p:nvPr/>
          </p:nvSpPr>
          <p:spPr>
            <a:xfrm>
              <a:off x="6105045" y="2695500"/>
              <a:ext cx="1861517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</a:rPr>
                <a:t>COMPLETELY TRANSPARENT</a:t>
              </a:r>
            </a:p>
          </p:txBody>
        </p:sp>
        <p:sp>
          <p:nvSpPr>
            <p:cNvPr id="11" name="Rectangle 25">
              <a:extLst>
                <a:ext uri="{FF2B5EF4-FFF2-40B4-BE49-F238E27FC236}">
                  <a16:creationId xmlns:a16="http://schemas.microsoft.com/office/drawing/2014/main" id="{3219F81E-41A2-4D21-B41F-E66CCE1EAA9D}"/>
                </a:ext>
              </a:extLst>
            </p:cNvPr>
            <p:cNvSpPr/>
            <p:nvPr/>
          </p:nvSpPr>
          <p:spPr>
            <a:xfrm>
              <a:off x="9062157" y="2695500"/>
              <a:ext cx="2405262" cy="12003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</a:rPr>
                <a:t>WE HAVE THE SOPHISTICATION AND INFRASTRUCTURE TO EFFECTIVELY COMPETE</a:t>
              </a:r>
            </a:p>
          </p:txBody>
        </p:sp>
      </p:grpSp>
      <p:cxnSp>
        <p:nvCxnSpPr>
          <p:cNvPr id="12" name="Straight Connector 28">
            <a:extLst>
              <a:ext uri="{FF2B5EF4-FFF2-40B4-BE49-F238E27FC236}">
                <a16:creationId xmlns:a16="http://schemas.microsoft.com/office/drawing/2014/main" id="{E6766B73-ED58-4B01-BD6B-A7599019575A}"/>
              </a:ext>
            </a:extLst>
          </p:cNvPr>
          <p:cNvCxnSpPr>
            <a:cxnSpLocks/>
          </p:cNvCxnSpPr>
          <p:nvPr/>
        </p:nvCxnSpPr>
        <p:spPr>
          <a:xfrm>
            <a:off x="2917120" y="2646538"/>
            <a:ext cx="0" cy="18288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30">
            <a:extLst>
              <a:ext uri="{FF2B5EF4-FFF2-40B4-BE49-F238E27FC236}">
                <a16:creationId xmlns:a16="http://schemas.microsoft.com/office/drawing/2014/main" id="{C9A43ED8-AB6C-4F7E-9885-C690563292F2}"/>
              </a:ext>
            </a:extLst>
          </p:cNvPr>
          <p:cNvCxnSpPr>
            <a:cxnSpLocks/>
          </p:cNvCxnSpPr>
          <p:nvPr/>
        </p:nvCxnSpPr>
        <p:spPr>
          <a:xfrm>
            <a:off x="8372475" y="2646538"/>
            <a:ext cx="0" cy="18288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31">
            <a:extLst>
              <a:ext uri="{FF2B5EF4-FFF2-40B4-BE49-F238E27FC236}">
                <a16:creationId xmlns:a16="http://schemas.microsoft.com/office/drawing/2014/main" id="{1BD031DC-C93A-4161-9A46-6F11F2AEF085}"/>
              </a:ext>
            </a:extLst>
          </p:cNvPr>
          <p:cNvCxnSpPr>
            <a:cxnSpLocks/>
          </p:cNvCxnSpPr>
          <p:nvPr/>
        </p:nvCxnSpPr>
        <p:spPr>
          <a:xfrm>
            <a:off x="5468408" y="2646538"/>
            <a:ext cx="0" cy="18288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48">
            <a:extLst>
              <a:ext uri="{FF2B5EF4-FFF2-40B4-BE49-F238E27FC236}">
                <a16:creationId xmlns:a16="http://schemas.microsoft.com/office/drawing/2014/main" id="{4CFD71DC-84A4-44EC-928A-6D9297F1CEFD}"/>
              </a:ext>
            </a:extLst>
          </p:cNvPr>
          <p:cNvGrpSpPr/>
          <p:nvPr/>
        </p:nvGrpSpPr>
        <p:grpSpPr>
          <a:xfrm>
            <a:off x="1051119" y="1991365"/>
            <a:ext cx="9064429" cy="723514"/>
            <a:chOff x="1051119" y="1877065"/>
            <a:chExt cx="8870575" cy="723514"/>
          </a:xfrm>
        </p:grpSpPr>
        <p:pic>
          <p:nvPicPr>
            <p:cNvPr id="16" name="Graphic 35" descr="Cycle with people">
              <a:extLst>
                <a:ext uri="{FF2B5EF4-FFF2-40B4-BE49-F238E27FC236}">
                  <a16:creationId xmlns:a16="http://schemas.microsoft.com/office/drawing/2014/main" id="{DD87A908-9804-4DB4-9FF4-150E55D0A4D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51119" y="1877065"/>
              <a:ext cx="723514" cy="723514"/>
            </a:xfrm>
            <a:prstGeom prst="rect">
              <a:avLst/>
            </a:prstGeom>
          </p:spPr>
        </p:pic>
        <p:pic>
          <p:nvPicPr>
            <p:cNvPr id="17" name="Graphic 37" descr="Bar graph with upward trend">
              <a:extLst>
                <a:ext uri="{FF2B5EF4-FFF2-40B4-BE49-F238E27FC236}">
                  <a16:creationId xmlns:a16="http://schemas.microsoft.com/office/drawing/2014/main" id="{A43C7D21-D600-499C-ADE1-3389B478D59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742481" y="1952990"/>
              <a:ext cx="571664" cy="571664"/>
            </a:xfrm>
            <a:prstGeom prst="rect">
              <a:avLst/>
            </a:prstGeom>
          </p:spPr>
        </p:pic>
        <p:pic>
          <p:nvPicPr>
            <p:cNvPr id="18" name="Graphic 41" descr="Research">
              <a:extLst>
                <a:ext uri="{FF2B5EF4-FFF2-40B4-BE49-F238E27FC236}">
                  <a16:creationId xmlns:a16="http://schemas.microsoft.com/office/drawing/2014/main" id="{EB5D0031-3DC4-4608-96CB-BE0770B1915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417105" y="1930239"/>
              <a:ext cx="617166" cy="617166"/>
            </a:xfrm>
            <a:prstGeom prst="rect">
              <a:avLst/>
            </a:prstGeom>
          </p:spPr>
        </p:pic>
        <p:pic>
          <p:nvPicPr>
            <p:cNvPr id="19" name="Graphic 47" descr="Bullseye">
              <a:extLst>
                <a:ext uri="{FF2B5EF4-FFF2-40B4-BE49-F238E27FC236}">
                  <a16:creationId xmlns:a16="http://schemas.microsoft.com/office/drawing/2014/main" id="{F0079980-31B3-4896-9D2D-D82AEDFA3E2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9285554" y="1920753"/>
              <a:ext cx="636140" cy="636140"/>
            </a:xfrm>
            <a:prstGeom prst="rect">
              <a:avLst/>
            </a:prstGeom>
          </p:spPr>
        </p:pic>
      </p:grpSp>
      <p:pic>
        <p:nvPicPr>
          <p:cNvPr id="20" name="Picture 4">
            <a:extLst>
              <a:ext uri="{FF2B5EF4-FFF2-40B4-BE49-F238E27FC236}">
                <a16:creationId xmlns:a16="http://schemas.microsoft.com/office/drawing/2014/main" id="{9A68CCDA-F69E-4E1A-9343-202FFC37DC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120176" y="4961762"/>
            <a:ext cx="3951647" cy="767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37AD4757-49A8-4E8D-B5EB-262D21C155F1}"/>
              </a:ext>
            </a:extLst>
          </p:cNvPr>
          <p:cNvSpPr txBox="1"/>
          <p:nvPr/>
        </p:nvSpPr>
        <p:spPr>
          <a:xfrm>
            <a:off x="2976561" y="5746908"/>
            <a:ext cx="6238875" cy="646331"/>
          </a:xfrm>
          <a:prstGeom prst="rect">
            <a:avLst/>
          </a:prstGeom>
          <a:solidFill>
            <a:srgbClr val="244F9A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Derek Moore, Senior Vice President – KBA</a:t>
            </a:r>
          </a:p>
          <a:p>
            <a:pPr algn="ctr"/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845-283-9973 * derek.moore@keybenefit.com</a:t>
            </a:r>
          </a:p>
        </p:txBody>
      </p:sp>
    </p:spTree>
    <p:extLst>
      <p:ext uri="{BB962C8B-B14F-4D97-AF65-F5344CB8AC3E}">
        <p14:creationId xmlns:p14="http://schemas.microsoft.com/office/powerpoint/2010/main" val="27609135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29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0643EB6F1B5124D9F8A552D994B00B3" ma:contentTypeVersion="15" ma:contentTypeDescription="Create a new document." ma:contentTypeScope="" ma:versionID="07f1af8f4acde182c1b3188558a15fee">
  <xsd:schema xmlns:xsd="http://www.w3.org/2001/XMLSchema" xmlns:xs="http://www.w3.org/2001/XMLSchema" xmlns:p="http://schemas.microsoft.com/office/2006/metadata/properties" xmlns:ns1="http://schemas.microsoft.com/sharepoint/v3" xmlns:ns3="73b4665c-884a-4375-a2af-95b1b9fefebd" xmlns:ns4="f00513cd-d03f-4a36-8031-96ec2b1a2332" targetNamespace="http://schemas.microsoft.com/office/2006/metadata/properties" ma:root="true" ma:fieldsID="b940c9d8acf570648efc7a679d034003" ns1:_="" ns3:_="" ns4:_="">
    <xsd:import namespace="http://schemas.microsoft.com/sharepoint/v3"/>
    <xsd:import namespace="73b4665c-884a-4375-a2af-95b1b9fefebd"/>
    <xsd:import namespace="f00513cd-d03f-4a36-8031-96ec2b1a233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DateTaken" minOccurs="0"/>
                <xsd:element ref="ns3:MediaServiceOCR" minOccurs="0"/>
                <xsd:element ref="ns3:MediaServiceEventHashCode" minOccurs="0"/>
                <xsd:element ref="ns3:MediaServiceGenerationTime" minOccurs="0"/>
                <xsd:element ref="ns3:MediaServiceLocation" minOccurs="0"/>
                <xsd:element ref="ns1:_ip_UnifiedCompliancePolicyProperties" minOccurs="0"/>
                <xsd:element ref="ns1:_ip_UnifiedCompliancePolicyUIAction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6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7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3b4665c-884a-4375-a2af-95b1b9fefeb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2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2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0513cd-d03f-4a36-8031-96ec2b1a2332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56F5604B-F201-4300-A086-2482203EA6B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F208B6D-7736-4F94-9580-EE469D7406F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3b4665c-884a-4375-a2af-95b1b9fefebd"/>
    <ds:schemaRef ds:uri="f00513cd-d03f-4a36-8031-96ec2b1a233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2DF0AA1-9465-45DA-A905-9501DB639AB6}">
  <ds:schemaRefs>
    <ds:schemaRef ds:uri="http://schemas.openxmlformats.org/package/2006/metadata/core-properties"/>
    <ds:schemaRef ds:uri="http://schemas.microsoft.com/sharepoint/v3"/>
    <ds:schemaRef ds:uri="http://schemas.microsoft.com/office/2006/metadata/properties"/>
    <ds:schemaRef ds:uri="http://schemas.microsoft.com/office/2006/documentManagement/types"/>
    <ds:schemaRef ds:uri="http://purl.org/dc/dcmitype/"/>
    <ds:schemaRef ds:uri="http://purl.org/dc/terms/"/>
    <ds:schemaRef ds:uri="http://purl.org/dc/elements/1.1/"/>
    <ds:schemaRef ds:uri="73b4665c-884a-4375-a2af-95b1b9fefebd"/>
    <ds:schemaRef ds:uri="http://www.w3.org/XML/1998/namespace"/>
    <ds:schemaRef ds:uri="http://schemas.microsoft.com/office/infopath/2007/PartnerControls"/>
    <ds:schemaRef ds:uri="f00513cd-d03f-4a36-8031-96ec2b1a2332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46136</TotalTime>
  <Words>2021</Words>
  <Application>Microsoft Office PowerPoint</Application>
  <PresentationFormat>Widescreen</PresentationFormat>
  <Paragraphs>568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Aptos Narrow</vt:lpstr>
      <vt:lpstr>Arial</vt:lpstr>
      <vt:lpstr>Arial Black</vt:lpstr>
      <vt:lpstr>Calibri</vt:lpstr>
      <vt:lpstr>Calibri Light</vt:lpstr>
      <vt:lpstr>Century Gothic</vt:lpstr>
      <vt:lpstr>Wingdings</vt:lpstr>
      <vt:lpstr>Office Theme</vt:lpstr>
      <vt:lpstr>PowerPoint Presentation</vt:lpstr>
      <vt:lpstr>PowerPoint Presentation</vt:lpstr>
      <vt:lpstr>Market Leader in Private Labeled DTE Plans</vt:lpstr>
      <vt:lpstr>PowerPoint Presentation</vt:lpstr>
      <vt:lpstr>When Healthcare Providers Control Their Health Plan</vt:lpstr>
      <vt:lpstr>Plan Overview</vt:lpstr>
      <vt:lpstr>Plan Potential Growth Paths</vt:lpstr>
      <vt:lpstr>Plan Steerage Growth Projections</vt:lpstr>
      <vt:lpstr>FOUR-YEAR PROJECTIONS</vt:lpstr>
      <vt:lpstr>PowerPoint Presentation</vt:lpstr>
      <vt:lpstr>Long-Term Revenue and Profit Growth</vt:lpstr>
      <vt:lpstr>the missing piece to population health success</vt:lpstr>
      <vt:lpstr>PowerPoint Presentation</vt:lpstr>
      <vt:lpstr>Transparent PBM Integration </vt:lpstr>
      <vt:lpstr>STOP-LOSS INSURANCE</vt:lpstr>
      <vt:lpstr>DTE  PROGRAM MARKETING  &amp; SALES</vt:lpstr>
      <vt:lpstr>Complete Sales Distribution System</vt:lpstr>
      <vt:lpstr>Complete Marketing System</vt:lpstr>
      <vt:lpstr>A Partner You Can Trust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Hill, Jack</dc:creator>
  <cp:lastModifiedBy>Taylor Davis</cp:lastModifiedBy>
  <cp:revision>111</cp:revision>
  <cp:lastPrinted>2023-07-13T10:24:43Z</cp:lastPrinted>
  <dcterms:created xsi:type="dcterms:W3CDTF">2021-01-20T14:12:11Z</dcterms:created>
  <dcterms:modified xsi:type="dcterms:W3CDTF">2024-10-11T20:07:44Z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0x01010070643EB6F1B5124D9F8A552D994B00B3</vt:lpwstr>
  </property>
</Properties>
</file>