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4"/>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564" r:id="rId23"/>
    <p:sldId id="456" r:id="rId24"/>
    <p:sldId id="489" r:id="rId25"/>
    <p:sldId id="499" r:id="rId26"/>
    <p:sldId id="613" r:id="rId27"/>
    <p:sldId id="458" r:id="rId28"/>
    <p:sldId id="2145726859" r:id="rId29"/>
    <p:sldId id="2145726857" r:id="rId30"/>
    <p:sldId id="469" r:id="rId31"/>
    <p:sldId id="2145726856" r:id="rId32"/>
    <p:sldId id="614" r:id="rId33"/>
    <p:sldId id="281" r:id="rId34"/>
    <p:sldId id="283" r:id="rId35"/>
    <p:sldId id="285" r:id="rId36"/>
    <p:sldId id="2145726866" r:id="rId37"/>
    <p:sldId id="583" r:id="rId38"/>
    <p:sldId id="525" r:id="rId39"/>
    <p:sldId id="2145726868" r:id="rId40"/>
    <p:sldId id="571" r:id="rId41"/>
    <p:sldId id="2145726864" r:id="rId42"/>
    <p:sldId id="585" r:id="rId43"/>
    <p:sldId id="536" r:id="rId44"/>
    <p:sldId id="256" r:id="rId45"/>
    <p:sldId id="574" r:id="rId46"/>
    <p:sldId id="572" r:id="rId47"/>
    <p:sldId id="575" r:id="rId48"/>
    <p:sldId id="498" r:id="rId49"/>
    <p:sldId id="325" r:id="rId50"/>
    <p:sldId id="326" r:id="rId51"/>
    <p:sldId id="491" r:id="rId52"/>
    <p:sldId id="472" r:id="rId53"/>
  </p:sldIdLst>
  <p:sldSz cx="12192000" cy="6858000"/>
  <p:notesSz cx="7315200" cy="96012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9A66D-CA12-4B38-81A7-2BF082505A6E}" v="3" dt="2025-03-01T12:57:18.692"/>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1710" y="57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3/1/2025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3/1/2025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3/1/2025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3/1/2025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3/1/2025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3/1/2025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3/1/2025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3/1/2025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3/1/2025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3/1/2025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3/1/2025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3/1/2025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3/1/2025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3/1/2025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3/1/2025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3/1/2025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3/1/2025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3/1/2025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3/1/2025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3/1/2025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3/1/2025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3/1/2025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3/1/2025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3/1/2025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3/1/2025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3/1/2025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3/1/2025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3/1/2025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4.emf"/><Relationship Id="rId5" Type="http://schemas.openxmlformats.org/officeDocument/2006/relationships/image" Target="../media/image6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CSHS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8810001" y="429717"/>
            <a:ext cx="2467429"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CSHS</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Cedars-Sinai Health System is the quality leader in this service area (see slide 8). Lack of access could negatively impact plan growth, but as the quality leader, CSHS could partner with another health system to expand access.</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Cedars-Sinai Health System.</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Cedars-Sinai Health System</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3.5K+ Employers       1.5M</a:t>
            </a:r>
            <a:r>
              <a:rPr lang="en-US" sz="1600" spc="200" dirty="0">
                <a:latin typeface="Montserrat" panose="00000500000000000000" pitchFamily="2" charset="0"/>
                <a:cs typeface="+mj-cs"/>
                <a:sym typeface="Wingdings" panose="05000000000000000000" pitchFamily="2" charset="2"/>
              </a:rPr>
              <a:t>+ Employees       3M+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777610" y="1656395"/>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474816" y="1656395"/>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664507671"/>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9,220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4,030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2,498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1,363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414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218</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691,500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604,500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749,400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954,100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828,000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1,308,000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1,244,700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1,088,100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1,348,900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1,717,400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1,490,400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2,354,400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1095016" y="1915334"/>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Cedars-Sinai Health System service area in Los Angeles, Orange, and Ventura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9,845K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6,189K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3,881K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1,494K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$76.91M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$19.71M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$456.11M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$117.82M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$933.03M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$241.07M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Cedars-Sinai Health System has 19% inpatient market share, and 10% outpatient market compared to hospitals/clinics in the Cedars-Sinai Health System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CSHS 32%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20.6%</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25.6%</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30.6%</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6,486.6K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12,969.0K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23,765.2K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37,982.0K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6,201.0K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12,877.8K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23,730.4K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38,020.4K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9,642.2K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19,278.2K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35,746.1K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56,973.0K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9,378.2K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19,230.2K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35,784.5K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57,120.6K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3,155.6K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6,484.5K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11,784.4K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18,991.0K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2,847.2K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6,348.9K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11,676.4K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18,920.2K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993724"/>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CSHS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CSHS has the strongest brand quality in Los Angeles, Orange, and Ventura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339847009"/>
              </p:ext>
            </p:extLst>
          </p:nvPr>
        </p:nvGraphicFramePr>
        <p:xfrm>
          <a:off x="752275" y="1329488"/>
          <a:ext cx="8652982" cy="4961020"/>
        </p:xfrm>
        <a:graphic>
          <a:graphicData uri="http://schemas.openxmlformats.org/drawingml/2006/table">
            <a:tbl>
              <a:tblPr/>
              <a:tblGrid>
                <a:gridCol w="3040380">
                  <a:extLst>
                    <a:ext uri="{9D8B030D-6E8A-4147-A177-3AD203B41FA5}">
                      <a16:colId xmlns:a16="http://schemas.microsoft.com/office/drawing/2014/main" val="20000"/>
                    </a:ext>
                  </a:extLst>
                </a:gridCol>
                <a:gridCol w="1432875">
                  <a:extLst>
                    <a:ext uri="{9D8B030D-6E8A-4147-A177-3AD203B41FA5}">
                      <a16:colId xmlns:a16="http://schemas.microsoft.com/office/drawing/2014/main" val="20001"/>
                    </a:ext>
                  </a:extLst>
                </a:gridCol>
                <a:gridCol w="959478">
                  <a:extLst>
                    <a:ext uri="{9D8B030D-6E8A-4147-A177-3AD203B41FA5}">
                      <a16:colId xmlns:a16="http://schemas.microsoft.com/office/drawing/2014/main" val="20002"/>
                    </a:ext>
                  </a:extLst>
                </a:gridCol>
                <a:gridCol w="928578">
                  <a:extLst>
                    <a:ext uri="{9D8B030D-6E8A-4147-A177-3AD203B41FA5}">
                      <a16:colId xmlns:a16="http://schemas.microsoft.com/office/drawing/2014/main" val="20003"/>
                    </a:ext>
                  </a:extLst>
                </a:gridCol>
                <a:gridCol w="1130283">
                  <a:extLst>
                    <a:ext uri="{9D8B030D-6E8A-4147-A177-3AD203B41FA5}">
                      <a16:colId xmlns:a16="http://schemas.microsoft.com/office/drawing/2014/main" val="20004"/>
                    </a:ext>
                  </a:extLst>
                </a:gridCol>
                <a:gridCol w="1161388">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Cedars-Sinai Health System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C88B8">
                        <a:alpha val="100000"/>
                      </a:srgbClr>
                    </a:solidFill>
                  </a:tcPr>
                </a:tc>
                <a:extLst>
                  <a:ext uri="{0D108BD9-81ED-4DB2-BD59-A6C34878D82A}">
                    <a16:rowId xmlns:a16="http://schemas.microsoft.com/office/drawing/2014/main" val="10001"/>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Providence St Joseph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2"/>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Kaiser Permanente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ABAD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3"/>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PIH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4"/>
                  </a:ext>
                </a:extLst>
              </a:tr>
              <a:tr h="390173">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Henry Mayo Newhall Hospital</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5"/>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MemorialCare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6"/>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Keck Medicine of USC</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7"/>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University of California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8"/>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E63A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09"/>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CommonSpirit Health</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BA1C6">
                        <a:alpha val="100000"/>
                      </a:srgbClr>
                    </a:solidFill>
                  </a:tcPr>
                </a:tc>
                <a:extLst>
                  <a:ext uri="{0D108BD9-81ED-4DB2-BD59-A6C34878D82A}">
                    <a16:rowId xmlns:a16="http://schemas.microsoft.com/office/drawing/2014/main" val="10015"/>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Adventist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CSHS’s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Cedars-Sinai Health System’s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Cedars-Sinai Health System</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27691" y="4234107"/>
            <a:ext cx="1042416" cy="328361"/>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16</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latin typeface="Montserrat" panose="00000500000000000000" pitchFamily="2" charset="0"/>
            </a:endParaRPr>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dirty="0">
                <a:latin typeface="Montserrat" panose="00000500000000000000" pitchFamily="2" charset="0"/>
              </a:rPr>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00539F">
              <a:alpha val="9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latin typeface="Montserrat" panose="00000500000000000000" pitchFamily="2" charset="0"/>
            </a:endParaRPr>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71860"/>
            <a:ext cx="11877152" cy="954107"/>
          </a:xfrm>
          <a:prstGeom prst="rect">
            <a:avLst/>
          </a:prstGeom>
          <a:noFill/>
        </p:spPr>
        <p:txBody>
          <a:bodyPr wrap="square">
            <a:spAutoFit/>
          </a:bodyPr>
          <a:lstStyle/>
          <a:p>
            <a:pPr algn="ctr"/>
            <a:r>
              <a:rPr lang="en-US" sz="2800" dirty="0">
                <a:solidFill>
                  <a:schemeClr val="bg1"/>
                </a:solidFill>
                <a:latin typeface="Montserrat" panose="00000500000000000000" pitchFamily="2" charset="0"/>
              </a:rPr>
              <a:t>BENEFIT PLAN DESIGNS THAT OPTIMIZE STEERAGE TO CSHS</a:t>
            </a:r>
          </a:p>
        </p:txBody>
      </p:sp>
      <p:pic>
        <p:nvPicPr>
          <p:cNvPr id="9" name="Content Placeholder 8"/>
          <p:cNvPicPr>
            <a:picLocks noGrp="1"/>
          </p:cNvPicPr>
          <p:nvPr>
            <p:ph/>
          </p:nvPr>
        </p:nvPicPr>
        <p:blipFill>
          <a:blip r:embed="rId3" cstate="print"/>
          <a:stretch>
            <a:fillRect/>
          </a:stretch>
        </p:blipFill>
        <p:spPr>
          <a:xfrm>
            <a:off x="8703852" y="5088115"/>
            <a:ext cx="2902857" cy="914400"/>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34.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CSHS’s approved site(s) with network integration, and development of CSHS’s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25.6%.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4,472K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3,401K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547K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8,945K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6,801K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$ 1,741K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$ 1,423K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$ 1,372K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$ 22,362K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$ 17,003K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$ 5,725K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$ 4,353K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$ 4,053K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$21,435K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$ 5,487K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$ 89,448K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$ 68,013K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$22,899K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$17,411K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$17,201K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$42,870K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$10,975K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$178,895K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$136,026K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$45,797K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$34,823K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$34,733K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CSHS’s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CSHS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CSHS’s managed care with KBA’s programs positions CSHS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CSHS’s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CSHS’s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CSHS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CSHS</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CSHS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CSHS’S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CSHS</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546,728</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$5,577,212K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179,539</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$1,096,292K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43,768</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$384,796K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9%</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28,653</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-$262,342K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294,768</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$4,094,925K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52%</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CSHS estimates commercial insurance reimbursements at 312%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4,094,925K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312%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4,615,938K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8,710,863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5,908,891</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$2,801,971K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312%</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1,313,914K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1,481,088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2,795,002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5,908,891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-3,113,889</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-111%</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53.7%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19%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10%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1893117131"/>
              </p:ext>
            </p:extLst>
          </p:nvPr>
        </p:nvGraphicFramePr>
        <p:xfrm>
          <a:off x="266700" y="2398267"/>
          <a:ext cx="9829800" cy="20472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53.7%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Torrance Memorial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493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$ 3,054,720.6K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$ 2,313,636.6K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Huntington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468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$ 2,972,838.8K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$ 1,179,397.0K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Cedars-Sinai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908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$15,809,448.9K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$10,199,500.3K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Cedars-Sinai Marina Del Rey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577,037.6K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442,091.8K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214498838"/>
              </p:ext>
            </p:extLst>
          </p:nvPr>
        </p:nvGraphicFramePr>
        <p:xfrm>
          <a:off x="0" y="0"/>
          <a:ext cx="12192001" cy="6573520"/>
        </p:xfrm>
        <a:graphic>
          <a:graphicData uri="http://schemas.openxmlformats.org/drawingml/2006/table">
            <a:tbl>
              <a:tblPr/>
              <a:tblGrid>
                <a:gridCol w="3224142">
                  <a:extLst>
                    <a:ext uri="{9D8B030D-6E8A-4147-A177-3AD203B41FA5}">
                      <a16:colId xmlns:a16="http://schemas.microsoft.com/office/drawing/2014/main" val="20000"/>
                    </a:ext>
                  </a:extLst>
                </a:gridCol>
                <a:gridCol w="2528191">
                  <a:extLst>
                    <a:ext uri="{9D8B030D-6E8A-4147-A177-3AD203B41FA5}">
                      <a16:colId xmlns:a16="http://schemas.microsoft.com/office/drawing/2014/main" val="20001"/>
                    </a:ext>
                  </a:extLst>
                </a:gridCol>
                <a:gridCol w="1577864">
                  <a:extLst>
                    <a:ext uri="{9D8B030D-6E8A-4147-A177-3AD203B41FA5}">
                      <a16:colId xmlns:a16="http://schemas.microsoft.com/office/drawing/2014/main" val="20002"/>
                    </a:ext>
                  </a:extLst>
                </a:gridCol>
                <a:gridCol w="2131236">
                  <a:extLst>
                    <a:ext uri="{9D8B030D-6E8A-4147-A177-3AD203B41FA5}">
                      <a16:colId xmlns:a16="http://schemas.microsoft.com/office/drawing/2014/main" val="20003"/>
                    </a:ext>
                  </a:extLst>
                </a:gridCol>
                <a:gridCol w="2730568">
                  <a:extLst>
                    <a:ext uri="{9D8B030D-6E8A-4147-A177-3AD203B41FA5}">
                      <a16:colId xmlns:a16="http://schemas.microsoft.com/office/drawing/2014/main" val="20004"/>
                    </a:ext>
                  </a:extLst>
                </a:gridCol>
              </a:tblGrid>
              <a:tr h="262654">
                <a:tc gridSpan="5">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17662">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Torrance Memorial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Huntington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Montserrat"/>
                          <a:cs typeface="Arial"/>
                          <a:sym typeface="Arial"/>
                        </a:rPr>
                        <a:t>Cedars-Sinai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Cedars-Sinai Marina Del Rey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$449,044K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$502,410K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$2,387,227K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$90,018K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$340,105K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$199,318K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$1,540,125K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$68,966K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$132,592K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$137,275K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$792,048K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$34,378K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6599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$32,985K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$69,343K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$271,546K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$10,922K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$625,008K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$497,038K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$2,859,152K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$113,727K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$38,604K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$83,365K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$116,931K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$23,443K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$449,498K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$574,532K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$2,516,052K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$100,328K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$340,448K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$227,931K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$1,623,237K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$76,865K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$789,946K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$802,463K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$4,139,289K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$177,193K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$638K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$-98,807K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$-216,543K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$-18,166K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25.5%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38.8%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 9.7%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65993">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66.9%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48.6%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36.6%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3681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33.0%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30.5%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10984">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0984">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0984">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10984">
                <a:tc gridSpan="5">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Cedars-Sinai Health System has 19% inpatient market share, and 10% outpatient market compared to hospitals/clinics in the Cedars-Sinai Health System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Cedars-Sinai Health System.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129664658"/>
              </p:ext>
            </p:extLst>
          </p:nvPr>
        </p:nvGraphicFramePr>
        <p:xfrm>
          <a:off x="838200" y="1054578"/>
          <a:ext cx="7199375" cy="4940842"/>
        </p:xfrm>
        <a:graphic>
          <a:graphicData uri="http://schemas.openxmlformats.org/drawingml/2006/table">
            <a:tbl>
              <a:tblPr/>
              <a:tblGrid>
                <a:gridCol w="1439875">
                  <a:extLst>
                    <a:ext uri="{9D8B030D-6E8A-4147-A177-3AD203B41FA5}">
                      <a16:colId xmlns:a16="http://schemas.microsoft.com/office/drawing/2014/main" val="20000"/>
                    </a:ext>
                  </a:extLst>
                </a:gridCol>
                <a:gridCol w="1439875">
                  <a:extLst>
                    <a:ext uri="{9D8B030D-6E8A-4147-A177-3AD203B41FA5}">
                      <a16:colId xmlns:a16="http://schemas.microsoft.com/office/drawing/2014/main" val="20001"/>
                    </a:ext>
                  </a:extLst>
                </a:gridCol>
                <a:gridCol w="1439875">
                  <a:extLst>
                    <a:ext uri="{9D8B030D-6E8A-4147-A177-3AD203B41FA5}">
                      <a16:colId xmlns:a16="http://schemas.microsoft.com/office/drawing/2014/main" val="20002"/>
                    </a:ext>
                  </a:extLst>
                </a:gridCol>
                <a:gridCol w="1439875">
                  <a:extLst>
                    <a:ext uri="{9D8B030D-6E8A-4147-A177-3AD203B41FA5}">
                      <a16:colId xmlns:a16="http://schemas.microsoft.com/office/drawing/2014/main" val="20003"/>
                    </a:ext>
                  </a:extLst>
                </a:gridCol>
                <a:gridCol w="1439875">
                  <a:extLst>
                    <a:ext uri="{9D8B030D-6E8A-4147-A177-3AD203B41FA5}">
                      <a16:colId xmlns:a16="http://schemas.microsoft.com/office/drawing/2014/main" val="20004"/>
                    </a:ext>
                  </a:extLst>
                </a:gridCol>
              </a:tblGrid>
              <a:tr h="76548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CSHS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Percent of Members Choosing CSHS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876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18,200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$ 16,283,925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$ 15,492,477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$ 7,234,855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$ 39,011,257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$ 4,168,685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$ 3,966,074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$ 1,852,123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$ 9,986,882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$ 37,763,571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$ 218,400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$ 37,768,371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$ 37,801,971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$ 56,515,180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$ 88,623,572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$ 41,386,455</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$ 186,525,206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$ 14,467,886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$ 22,687,634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$ 10,594,932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$ 47,750,453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19% (inpatient) and 10%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25.6%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25.6%,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5025020"/>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29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2705">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57261">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$894.7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$4,473.6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$22,368.0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$1,145.2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$5,726.2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$1,388.1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$2,776.2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$13,880.9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$69,404.3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$710.7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$3,553.5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$17,767.5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$940.7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$9,407.3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$47,036.3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$240.8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$481.7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$2,408.3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$12,041.3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$851.2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$4,256.2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$21,280.9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$1,089.6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$5,447.9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$4,204.9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$21,024.6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$105,123.1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$5,382.3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$26,911.5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$1,676.8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$3,353.7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$16,768.4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$83,842.2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$429.3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$858.5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$4,292.7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$21,463.6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$198.8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$397.5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$1,987.6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$9,938.0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$2,544.1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$981.8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$1,963.7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$9,818.3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$49,091.6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57261">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$2,513.5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$12,567.4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$1,566.1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$39,153.6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39058">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$200.5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$400.9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$2,004.7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$10,023.3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57261">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$546.6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$1,423.1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$8,435.6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$43,498.2</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2898505"/>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$1,071.7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$2,143.5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$10,717.4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$53,586.9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$2,743.6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$13,718.2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$4,472.4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$8,944.8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$44,723.8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$223,619.0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$6,801.3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$34,006.4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$170,032.1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$1,144.9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$11,449.3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$57,246.5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$870.6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$1,741.1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$8,705.6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$43,528.2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$1,423.1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$8,435.6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$43,498.2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3119508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$1,071.7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$2,143.5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$10,717.4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$53,586.9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$2,743.6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$13,718.2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$10,638.3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$53,191.6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$265,957.9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$4,247.4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$8,494.8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$42,474.2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$212,371.0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$1,627.7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$3,255.3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$16,276.6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$81,383.1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$13,533.0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$67,664.9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$1,029.3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$2,388.6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$13,263.0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$67,634.9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56876855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$1,071.7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$2,143.5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$10,717.4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$53,586.9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$2,743.6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$13,718.2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$3,624.5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$7,249.0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$36,244.9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$181,224.7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$2,552.8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$5,105.5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$25,527.6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$127,637.8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$1,493.3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$7,466.5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$37,332.3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$4,722.8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$23,614.0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$148.3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$626.6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$4,452.8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$23,584.0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CSHS’s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Cedars-Sinai Health System</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Cedars-Sinai Health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CSHS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CSHS</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CSHS’s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46153</TotalTime>
  <Words>4941</Words>
  <Application>Microsoft Office PowerPoint</Application>
  <PresentationFormat>Widescreen</PresentationFormat>
  <Paragraphs>1348</Paragraphs>
  <Slides>44</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44</vt:i4>
      </vt:variant>
    </vt:vector>
  </HeadingPairs>
  <TitlesOfParts>
    <vt:vector size="54"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CSHS</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CSHS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CSHS’S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2025-03-01T13:05:55Z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