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  <p:sldMasterId id="2147483758" r:id="rId6"/>
    <p:sldMasterId id="2147483773" r:id="rId7"/>
  </p:sldMasterIdLst>
  <p:notesMasterIdLst>
    <p:notesMasterId r:id="rId20"/>
  </p:notesMasterIdLst>
  <p:sldIdLst>
    <p:sldId id="588" r:id="rId8"/>
    <p:sldId id="454" r:id="rId9"/>
    <p:sldId id="549" r:id="rId10"/>
    <p:sldId id="521" r:id="rId11"/>
    <p:sldId id="564" r:id="rId12"/>
    <p:sldId id="559" r:id="rId13"/>
    <p:sldId id="580" r:id="rId14"/>
    <p:sldId id="582" r:id="rId15"/>
    <p:sldId id="548" r:id="rId16"/>
    <p:sldId id="585" r:id="rId17"/>
    <p:sldId id="536" r:id="rId18"/>
    <p:sldId id="472" r:id="rId19"/>
  </p:sldIdLst>
  <p:sldSz cx="12192000" cy="6858000"/>
  <p:notesSz cx="7315200" cy="960120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  <p188:author id="{6244F3C6-ED6E-17B5-41BE-FE4DD862B991}" name="Taylor Davis" initials="TD" userId="S::taylordavis@careluminate.com::5c9e72a0-c39f-4aa1-9d7d-64125e78cbe6" providerId="AD"/>
  <p188:author id="{66F9D3D0-34A3-8F09-07C8-70124CEFC9C1}" name="Guest User" initials="GU" userId="S::urn:spo:anon#24b610c975cf575f85befe109f115faf394b3198ecce54128fd3ac5d0276f2d0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9F"/>
    <a:srgbClr val="244F9A"/>
    <a:srgbClr val="30589B"/>
    <a:srgbClr val="2F5597"/>
    <a:srgbClr val="6087CE"/>
    <a:srgbClr val="4468A5"/>
    <a:srgbClr val="F2F2F2"/>
    <a:srgbClr val="C55A11"/>
    <a:srgbClr val="F424AA"/>
    <a:srgbClr val="E23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26B532-03CF-4602-8BB8-A5EB1A176011}" v="3" dt="2025-03-01T13:07:05.780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88609" autoAdjust="0"/>
  </p:normalViewPr>
  <p:slideViewPr>
    <p:cSldViewPr snapToGrid="0">
      <p:cViewPr>
        <p:scale>
          <a:sx n="75" d="100"/>
          <a:sy n="75" d="100"/>
        </p:scale>
        <p:origin x="1710" y="5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2626B532-03CF-4602-8BB8-A5EB1A176011}"/>
    <pc:docChg chg="undo custSel delSld modSld sldOrd delMainMaster">
      <pc:chgData name="Taylor Davis" userId="5c9e72a0-c39f-4aa1-9d7d-64125e78cbe6" providerId="ADAL" clId="{2626B532-03CF-4602-8BB8-A5EB1A176011}" dt="2025-03-01T13:08:18.226" v="27" actId="20577"/>
      <pc:docMkLst>
        <pc:docMk/>
      </pc:docMkLst>
      <pc:sldChg chg="del">
        <pc:chgData name="Taylor Davis" userId="5c9e72a0-c39f-4aa1-9d7d-64125e78cbe6" providerId="ADAL" clId="{2626B532-03CF-4602-8BB8-A5EB1A176011}" dt="2025-03-01T13:07:46.262" v="12" actId="47"/>
        <pc:sldMkLst>
          <pc:docMk/>
          <pc:sldMk cId="0" sldId="256"/>
        </pc:sldMkLst>
      </pc:sldChg>
      <pc:sldChg chg="del">
        <pc:chgData name="Taylor Davis" userId="5c9e72a0-c39f-4aa1-9d7d-64125e78cbe6" providerId="ADAL" clId="{2626B532-03CF-4602-8BB8-A5EB1A176011}" dt="2025-03-01T13:07:41.337" v="11" actId="47"/>
        <pc:sldMkLst>
          <pc:docMk/>
          <pc:sldMk cId="3543401867" sldId="281"/>
        </pc:sldMkLst>
      </pc:sldChg>
      <pc:sldChg chg="del">
        <pc:chgData name="Taylor Davis" userId="5c9e72a0-c39f-4aa1-9d7d-64125e78cbe6" providerId="ADAL" clId="{2626B532-03CF-4602-8BB8-A5EB1A176011}" dt="2025-03-01T13:07:41.337" v="11" actId="47"/>
        <pc:sldMkLst>
          <pc:docMk/>
          <pc:sldMk cId="2605732402" sldId="283"/>
        </pc:sldMkLst>
      </pc:sldChg>
      <pc:sldChg chg="del">
        <pc:chgData name="Taylor Davis" userId="5c9e72a0-c39f-4aa1-9d7d-64125e78cbe6" providerId="ADAL" clId="{2626B532-03CF-4602-8BB8-A5EB1A176011}" dt="2025-03-01T13:07:41.337" v="11" actId="47"/>
        <pc:sldMkLst>
          <pc:docMk/>
          <pc:sldMk cId="514031403" sldId="285"/>
        </pc:sldMkLst>
      </pc:sldChg>
      <pc:sldChg chg="del">
        <pc:chgData name="Taylor Davis" userId="5c9e72a0-c39f-4aa1-9d7d-64125e78cbe6" providerId="ADAL" clId="{2626B532-03CF-4602-8BB8-A5EB1A176011}" dt="2025-03-01T13:07:46.262" v="12" actId="47"/>
        <pc:sldMkLst>
          <pc:docMk/>
          <pc:sldMk cId="211951504" sldId="325"/>
        </pc:sldMkLst>
      </pc:sldChg>
      <pc:sldChg chg="del">
        <pc:chgData name="Taylor Davis" userId="5c9e72a0-c39f-4aa1-9d7d-64125e78cbe6" providerId="ADAL" clId="{2626B532-03CF-4602-8BB8-A5EB1A176011}" dt="2025-03-01T13:07:46.262" v="12" actId="47"/>
        <pc:sldMkLst>
          <pc:docMk/>
          <pc:sldMk cId="225422285" sldId="326"/>
        </pc:sldMkLst>
      </pc:sldChg>
      <pc:sldChg chg="del">
        <pc:chgData name="Taylor Davis" userId="5c9e72a0-c39f-4aa1-9d7d-64125e78cbe6" providerId="ADAL" clId="{2626B532-03CF-4602-8BB8-A5EB1A176011}" dt="2025-03-01T13:06:25.167" v="0" actId="47"/>
        <pc:sldMkLst>
          <pc:docMk/>
          <pc:sldMk cId="4059548579" sldId="452"/>
        </pc:sldMkLst>
      </pc:sldChg>
      <pc:sldChg chg="del">
        <pc:chgData name="Taylor Davis" userId="5c9e72a0-c39f-4aa1-9d7d-64125e78cbe6" providerId="ADAL" clId="{2626B532-03CF-4602-8BB8-A5EB1A176011}" dt="2025-03-01T13:07:41.337" v="11" actId="47"/>
        <pc:sldMkLst>
          <pc:docMk/>
          <pc:sldMk cId="1700621358" sldId="456"/>
        </pc:sldMkLst>
      </pc:sldChg>
      <pc:sldChg chg="del">
        <pc:chgData name="Taylor Davis" userId="5c9e72a0-c39f-4aa1-9d7d-64125e78cbe6" providerId="ADAL" clId="{2626B532-03CF-4602-8BB8-A5EB1A176011}" dt="2025-03-01T13:07:41.337" v="11" actId="47"/>
        <pc:sldMkLst>
          <pc:docMk/>
          <pc:sldMk cId="3958060990" sldId="458"/>
        </pc:sldMkLst>
      </pc:sldChg>
      <pc:sldChg chg="del">
        <pc:chgData name="Taylor Davis" userId="5c9e72a0-c39f-4aa1-9d7d-64125e78cbe6" providerId="ADAL" clId="{2626B532-03CF-4602-8BB8-A5EB1A176011}" dt="2025-03-01T13:06:25.167" v="0" actId="47"/>
        <pc:sldMkLst>
          <pc:docMk/>
          <pc:sldMk cId="1714126014" sldId="466"/>
        </pc:sldMkLst>
      </pc:sldChg>
      <pc:sldChg chg="del">
        <pc:chgData name="Taylor Davis" userId="5c9e72a0-c39f-4aa1-9d7d-64125e78cbe6" providerId="ADAL" clId="{2626B532-03CF-4602-8BB8-A5EB1A176011}" dt="2025-03-01T13:07:41.337" v="11" actId="47"/>
        <pc:sldMkLst>
          <pc:docMk/>
          <pc:sldMk cId="2680122054" sldId="469"/>
        </pc:sldMkLst>
      </pc:sldChg>
      <pc:sldChg chg="del">
        <pc:chgData name="Taylor Davis" userId="5c9e72a0-c39f-4aa1-9d7d-64125e78cbe6" providerId="ADAL" clId="{2626B532-03CF-4602-8BB8-A5EB1A176011}" dt="2025-03-01T13:07:41.337" v="11" actId="47"/>
        <pc:sldMkLst>
          <pc:docMk/>
          <pc:sldMk cId="3325436177" sldId="489"/>
        </pc:sldMkLst>
      </pc:sldChg>
      <pc:sldChg chg="del">
        <pc:chgData name="Taylor Davis" userId="5c9e72a0-c39f-4aa1-9d7d-64125e78cbe6" providerId="ADAL" clId="{2626B532-03CF-4602-8BB8-A5EB1A176011}" dt="2025-03-01T13:07:46.262" v="12" actId="47"/>
        <pc:sldMkLst>
          <pc:docMk/>
          <pc:sldMk cId="2660124243" sldId="491"/>
        </pc:sldMkLst>
      </pc:sldChg>
      <pc:sldChg chg="del">
        <pc:chgData name="Taylor Davis" userId="5c9e72a0-c39f-4aa1-9d7d-64125e78cbe6" providerId="ADAL" clId="{2626B532-03CF-4602-8BB8-A5EB1A176011}" dt="2025-03-01T13:07:46.262" v="12" actId="47"/>
        <pc:sldMkLst>
          <pc:docMk/>
          <pc:sldMk cId="3144192130" sldId="498"/>
        </pc:sldMkLst>
      </pc:sldChg>
      <pc:sldChg chg="del">
        <pc:chgData name="Taylor Davis" userId="5c9e72a0-c39f-4aa1-9d7d-64125e78cbe6" providerId="ADAL" clId="{2626B532-03CF-4602-8BB8-A5EB1A176011}" dt="2025-03-01T13:07:41.337" v="11" actId="47"/>
        <pc:sldMkLst>
          <pc:docMk/>
          <pc:sldMk cId="2203540903" sldId="499"/>
        </pc:sldMkLst>
      </pc:sldChg>
      <pc:sldChg chg="ord">
        <pc:chgData name="Taylor Davis" userId="5c9e72a0-c39f-4aa1-9d7d-64125e78cbe6" providerId="ADAL" clId="{2626B532-03CF-4602-8BB8-A5EB1A176011}" dt="2025-03-01T13:07:58.728" v="14"/>
        <pc:sldMkLst>
          <pc:docMk/>
          <pc:sldMk cId="500461553" sldId="521"/>
        </pc:sldMkLst>
      </pc:sldChg>
      <pc:sldChg chg="del">
        <pc:chgData name="Taylor Davis" userId="5c9e72a0-c39f-4aa1-9d7d-64125e78cbe6" providerId="ADAL" clId="{2626B532-03CF-4602-8BB8-A5EB1A176011}" dt="2025-03-01T13:07:41.337" v="11" actId="47"/>
        <pc:sldMkLst>
          <pc:docMk/>
          <pc:sldMk cId="36791873" sldId="525"/>
        </pc:sldMkLst>
      </pc:sldChg>
      <pc:sldChg chg="modSp mod">
        <pc:chgData name="Taylor Davis" userId="5c9e72a0-c39f-4aa1-9d7d-64125e78cbe6" providerId="ADAL" clId="{2626B532-03CF-4602-8BB8-A5EB1A176011}" dt="2025-03-01T13:08:18.226" v="27" actId="20577"/>
        <pc:sldMkLst>
          <pc:docMk/>
          <pc:sldMk cId="1419816550" sldId="536"/>
        </pc:sldMkLst>
        <pc:spChg chg="mod">
          <ac:chgData name="Taylor Davis" userId="5c9e72a0-c39f-4aa1-9d7d-64125e78cbe6" providerId="ADAL" clId="{2626B532-03CF-4602-8BB8-A5EB1A176011}" dt="2025-03-01T13:08:18.226" v="27" actId="20577"/>
          <ac:spMkLst>
            <pc:docMk/>
            <pc:sldMk cId="1419816550" sldId="536"/>
            <ac:spMk id="8" creationId="{C690F22E-C9CA-61DC-5584-149573110610}"/>
          </ac:spMkLst>
        </pc:spChg>
      </pc:sldChg>
      <pc:sldChg chg="del">
        <pc:chgData name="Taylor Davis" userId="5c9e72a0-c39f-4aa1-9d7d-64125e78cbe6" providerId="ADAL" clId="{2626B532-03CF-4602-8BB8-A5EB1A176011}" dt="2025-03-01T13:07:28.083" v="10" actId="47"/>
        <pc:sldMkLst>
          <pc:docMk/>
          <pc:sldMk cId="3470905217" sldId="558"/>
        </pc:sldMkLst>
      </pc:sldChg>
      <pc:sldChg chg="addSp modSp mod">
        <pc:chgData name="Taylor Davis" userId="5c9e72a0-c39f-4aa1-9d7d-64125e78cbe6" providerId="ADAL" clId="{2626B532-03CF-4602-8BB8-A5EB1A176011}" dt="2025-03-01T13:07:09.982" v="9" actId="14100"/>
        <pc:sldMkLst>
          <pc:docMk/>
          <pc:sldMk cId="1660060508" sldId="559"/>
        </pc:sldMkLst>
        <pc:spChg chg="add mod">
          <ac:chgData name="Taylor Davis" userId="5c9e72a0-c39f-4aa1-9d7d-64125e78cbe6" providerId="ADAL" clId="{2626B532-03CF-4602-8BB8-A5EB1A176011}" dt="2025-03-01T13:06:58.879" v="4" actId="2085"/>
          <ac:spMkLst>
            <pc:docMk/>
            <pc:sldMk cId="1660060508" sldId="559"/>
            <ac:spMk id="10" creationId="{B97CFCA7-1E87-9515-58C9-98CD190A1002}"/>
          </ac:spMkLst>
        </pc:spChg>
        <pc:spChg chg="add mod">
          <ac:chgData name="Taylor Davis" userId="5c9e72a0-c39f-4aa1-9d7d-64125e78cbe6" providerId="ADAL" clId="{2626B532-03CF-4602-8BB8-A5EB1A176011}" dt="2025-03-01T13:07:01.713" v="5" actId="571"/>
          <ac:spMkLst>
            <pc:docMk/>
            <pc:sldMk cId="1660060508" sldId="559"/>
            <ac:spMk id="11" creationId="{3367FAAB-CAAD-F48A-1361-ED8DC4250A36}"/>
          </ac:spMkLst>
        </pc:spChg>
        <pc:spChg chg="add mod">
          <ac:chgData name="Taylor Davis" userId="5c9e72a0-c39f-4aa1-9d7d-64125e78cbe6" providerId="ADAL" clId="{2626B532-03CF-4602-8BB8-A5EB1A176011}" dt="2025-03-01T13:07:09.982" v="9" actId="14100"/>
          <ac:spMkLst>
            <pc:docMk/>
            <pc:sldMk cId="1660060508" sldId="559"/>
            <ac:spMk id="12" creationId="{3E6ABC39-8775-B9E1-B11C-C63600D16A12}"/>
          </ac:spMkLst>
        </pc:spChg>
        <pc:spChg chg="add mod">
          <ac:chgData name="Taylor Davis" userId="5c9e72a0-c39f-4aa1-9d7d-64125e78cbe6" providerId="ADAL" clId="{2626B532-03CF-4602-8BB8-A5EB1A176011}" dt="2025-03-01T13:07:08.046" v="8" actId="14100"/>
          <ac:spMkLst>
            <pc:docMk/>
            <pc:sldMk cId="1660060508" sldId="559"/>
            <ac:spMk id="13" creationId="{D8824615-2EF3-1E77-9428-3356BB641B56}"/>
          </ac:spMkLst>
        </pc:spChg>
      </pc:sldChg>
      <pc:sldChg chg="ord">
        <pc:chgData name="Taylor Davis" userId="5c9e72a0-c39f-4aa1-9d7d-64125e78cbe6" providerId="ADAL" clId="{2626B532-03CF-4602-8BB8-A5EB1A176011}" dt="2025-03-01T13:07:58.728" v="14"/>
        <pc:sldMkLst>
          <pc:docMk/>
          <pc:sldMk cId="4064752386" sldId="564"/>
        </pc:sldMkLst>
      </pc:sldChg>
      <pc:sldChg chg="del">
        <pc:chgData name="Taylor Davis" userId="5c9e72a0-c39f-4aa1-9d7d-64125e78cbe6" providerId="ADAL" clId="{2626B532-03CF-4602-8BB8-A5EB1A176011}" dt="2025-03-01T13:07:41.337" v="11" actId="47"/>
        <pc:sldMkLst>
          <pc:docMk/>
          <pc:sldMk cId="0" sldId="571"/>
        </pc:sldMkLst>
      </pc:sldChg>
      <pc:sldChg chg="del">
        <pc:chgData name="Taylor Davis" userId="5c9e72a0-c39f-4aa1-9d7d-64125e78cbe6" providerId="ADAL" clId="{2626B532-03CF-4602-8BB8-A5EB1A176011}" dt="2025-03-01T13:07:46.262" v="12" actId="47"/>
        <pc:sldMkLst>
          <pc:docMk/>
          <pc:sldMk cId="0" sldId="572"/>
        </pc:sldMkLst>
      </pc:sldChg>
      <pc:sldChg chg="del">
        <pc:chgData name="Taylor Davis" userId="5c9e72a0-c39f-4aa1-9d7d-64125e78cbe6" providerId="ADAL" clId="{2626B532-03CF-4602-8BB8-A5EB1A176011}" dt="2025-03-01T13:07:46.262" v="12" actId="47"/>
        <pc:sldMkLst>
          <pc:docMk/>
          <pc:sldMk cId="1064222983" sldId="574"/>
        </pc:sldMkLst>
      </pc:sldChg>
      <pc:sldChg chg="del">
        <pc:chgData name="Taylor Davis" userId="5c9e72a0-c39f-4aa1-9d7d-64125e78cbe6" providerId="ADAL" clId="{2626B532-03CF-4602-8BB8-A5EB1A176011}" dt="2025-03-01T13:07:46.262" v="12" actId="47"/>
        <pc:sldMkLst>
          <pc:docMk/>
          <pc:sldMk cId="3790917938" sldId="575"/>
        </pc:sldMkLst>
      </pc:sldChg>
      <pc:sldChg chg="del">
        <pc:chgData name="Taylor Davis" userId="5c9e72a0-c39f-4aa1-9d7d-64125e78cbe6" providerId="ADAL" clId="{2626B532-03CF-4602-8BB8-A5EB1A176011}" dt="2025-03-01T13:07:41.337" v="11" actId="47"/>
        <pc:sldMkLst>
          <pc:docMk/>
          <pc:sldMk cId="838631500" sldId="583"/>
        </pc:sldMkLst>
      </pc:sldChg>
      <pc:sldChg chg="del">
        <pc:chgData name="Taylor Davis" userId="5c9e72a0-c39f-4aa1-9d7d-64125e78cbe6" providerId="ADAL" clId="{2626B532-03CF-4602-8BB8-A5EB1A176011}" dt="2025-03-01T13:07:41.337" v="11" actId="47"/>
        <pc:sldMkLst>
          <pc:docMk/>
          <pc:sldMk cId="4042275972" sldId="613"/>
        </pc:sldMkLst>
      </pc:sldChg>
      <pc:sldChg chg="del">
        <pc:chgData name="Taylor Davis" userId="5c9e72a0-c39f-4aa1-9d7d-64125e78cbe6" providerId="ADAL" clId="{2626B532-03CF-4602-8BB8-A5EB1A176011}" dt="2025-03-01T13:07:41.337" v="11" actId="47"/>
        <pc:sldMkLst>
          <pc:docMk/>
          <pc:sldMk cId="1281542618" sldId="614"/>
        </pc:sldMkLst>
      </pc:sldChg>
      <pc:sldChg chg="del">
        <pc:chgData name="Taylor Davis" userId="5c9e72a0-c39f-4aa1-9d7d-64125e78cbe6" providerId="ADAL" clId="{2626B532-03CF-4602-8BB8-A5EB1A176011}" dt="2025-03-01T13:07:41.337" v="11" actId="47"/>
        <pc:sldMkLst>
          <pc:docMk/>
          <pc:sldMk cId="2174952421" sldId="2145726856"/>
        </pc:sldMkLst>
      </pc:sldChg>
      <pc:sldChg chg="del">
        <pc:chgData name="Taylor Davis" userId="5c9e72a0-c39f-4aa1-9d7d-64125e78cbe6" providerId="ADAL" clId="{2626B532-03CF-4602-8BB8-A5EB1A176011}" dt="2025-03-01T13:07:41.337" v="11" actId="47"/>
        <pc:sldMkLst>
          <pc:docMk/>
          <pc:sldMk cId="4161310751" sldId="2145726857"/>
        </pc:sldMkLst>
      </pc:sldChg>
      <pc:sldChg chg="del">
        <pc:chgData name="Taylor Davis" userId="5c9e72a0-c39f-4aa1-9d7d-64125e78cbe6" providerId="ADAL" clId="{2626B532-03CF-4602-8BB8-A5EB1A176011}" dt="2025-03-01T13:07:41.337" v="11" actId="47"/>
        <pc:sldMkLst>
          <pc:docMk/>
          <pc:sldMk cId="1389453819" sldId="2145726859"/>
        </pc:sldMkLst>
      </pc:sldChg>
      <pc:sldChg chg="del">
        <pc:chgData name="Taylor Davis" userId="5c9e72a0-c39f-4aa1-9d7d-64125e78cbe6" providerId="ADAL" clId="{2626B532-03CF-4602-8BB8-A5EB1A176011}" dt="2025-03-01T13:07:41.337" v="11" actId="47"/>
        <pc:sldMkLst>
          <pc:docMk/>
          <pc:sldMk cId="0" sldId="2145726864"/>
        </pc:sldMkLst>
      </pc:sldChg>
      <pc:sldChg chg="del">
        <pc:chgData name="Taylor Davis" userId="5c9e72a0-c39f-4aa1-9d7d-64125e78cbe6" providerId="ADAL" clId="{2626B532-03CF-4602-8BB8-A5EB1A176011}" dt="2025-03-01T13:07:41.337" v="11" actId="47"/>
        <pc:sldMkLst>
          <pc:docMk/>
          <pc:sldMk cId="1010235892" sldId="2145726866"/>
        </pc:sldMkLst>
      </pc:sldChg>
      <pc:sldChg chg="del">
        <pc:chgData name="Taylor Davis" userId="5c9e72a0-c39f-4aa1-9d7d-64125e78cbe6" providerId="ADAL" clId="{2626B532-03CF-4602-8BB8-A5EB1A176011}" dt="2025-03-01T13:06:25.167" v="0" actId="47"/>
        <pc:sldMkLst>
          <pc:docMk/>
          <pc:sldMk cId="0" sldId="2145726867"/>
        </pc:sldMkLst>
      </pc:sldChg>
      <pc:sldChg chg="del">
        <pc:chgData name="Taylor Davis" userId="5c9e72a0-c39f-4aa1-9d7d-64125e78cbe6" providerId="ADAL" clId="{2626B532-03CF-4602-8BB8-A5EB1A176011}" dt="2025-03-01T13:07:41.337" v="11" actId="47"/>
        <pc:sldMkLst>
          <pc:docMk/>
          <pc:sldMk cId="4087636236" sldId="2145726868"/>
        </pc:sldMkLst>
      </pc:sldChg>
      <pc:sldChg chg="del">
        <pc:chgData name="Taylor Davis" userId="5c9e72a0-c39f-4aa1-9d7d-64125e78cbe6" providerId="ADAL" clId="{2626B532-03CF-4602-8BB8-A5EB1A176011}" dt="2025-03-01T13:06:25.167" v="0" actId="47"/>
        <pc:sldMkLst>
          <pc:docMk/>
          <pc:sldMk cId="3306748702" sldId="2145726869"/>
        </pc:sldMkLst>
      </pc:sldChg>
      <pc:sldMasterChg chg="del delSldLayout">
        <pc:chgData name="Taylor Davis" userId="5c9e72a0-c39f-4aa1-9d7d-64125e78cbe6" providerId="ADAL" clId="{2626B532-03CF-4602-8BB8-A5EB1A176011}" dt="2025-03-01T13:07:41.337" v="11" actId="47"/>
        <pc:sldMasterMkLst>
          <pc:docMk/>
          <pc:sldMasterMk cId="1265540980" sldId="2147483785"/>
        </pc:sldMasterMkLst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1265540980" sldId="2147483785"/>
            <pc:sldLayoutMk cId="2498378428" sldId="2147483786"/>
          </pc:sldLayoutMkLst>
        </pc:sldLayoutChg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1265540980" sldId="2147483785"/>
            <pc:sldLayoutMk cId="2601881731" sldId="2147483787"/>
          </pc:sldLayoutMkLst>
        </pc:sldLayoutChg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1265540980" sldId="2147483785"/>
            <pc:sldLayoutMk cId="1562686733" sldId="2147483788"/>
          </pc:sldLayoutMkLst>
        </pc:sldLayoutChg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1265540980" sldId="2147483785"/>
            <pc:sldLayoutMk cId="4003081434" sldId="2147483789"/>
          </pc:sldLayoutMkLst>
        </pc:sldLayoutChg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1265540980" sldId="2147483785"/>
            <pc:sldLayoutMk cId="1910118790" sldId="2147483790"/>
          </pc:sldLayoutMkLst>
        </pc:sldLayoutChg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1265540980" sldId="2147483785"/>
            <pc:sldLayoutMk cId="3711328393" sldId="2147483791"/>
          </pc:sldLayoutMkLst>
        </pc:sldLayoutChg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1265540980" sldId="2147483785"/>
            <pc:sldLayoutMk cId="1423940963" sldId="2147483792"/>
          </pc:sldLayoutMkLst>
        </pc:sldLayoutChg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1265540980" sldId="2147483785"/>
            <pc:sldLayoutMk cId="4032606110" sldId="2147483793"/>
          </pc:sldLayoutMkLst>
        </pc:sldLayoutChg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1265540980" sldId="2147483785"/>
            <pc:sldLayoutMk cId="2254392230" sldId="2147483794"/>
          </pc:sldLayoutMkLst>
        </pc:sldLayoutChg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1265540980" sldId="2147483785"/>
            <pc:sldLayoutMk cId="1920540095" sldId="2147483795"/>
          </pc:sldLayoutMkLst>
        </pc:sldLayoutChg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1265540980" sldId="2147483785"/>
            <pc:sldLayoutMk cId="4278865784" sldId="2147483796"/>
          </pc:sldLayoutMkLst>
        </pc:sldLayoutChg>
      </pc:sldMasterChg>
      <pc:sldMasterChg chg="del delSldLayout">
        <pc:chgData name="Taylor Davis" userId="5c9e72a0-c39f-4aa1-9d7d-64125e78cbe6" providerId="ADAL" clId="{2626B532-03CF-4602-8BB8-A5EB1A176011}" dt="2025-03-01T13:07:41.337" v="11" actId="47"/>
        <pc:sldMasterMkLst>
          <pc:docMk/>
          <pc:sldMasterMk cId="3563936643" sldId="2147483797"/>
        </pc:sldMasterMkLst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3563936643" sldId="2147483797"/>
            <pc:sldLayoutMk cId="2824293841" sldId="2147483798"/>
          </pc:sldLayoutMkLst>
        </pc:sldLayoutChg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3563936643" sldId="2147483797"/>
            <pc:sldLayoutMk cId="150421858" sldId="2147483799"/>
          </pc:sldLayoutMkLst>
        </pc:sldLayoutChg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3563936643" sldId="2147483797"/>
            <pc:sldLayoutMk cId="2298163207" sldId="2147483800"/>
          </pc:sldLayoutMkLst>
        </pc:sldLayoutChg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3563936643" sldId="2147483797"/>
            <pc:sldLayoutMk cId="1991304296" sldId="2147483801"/>
          </pc:sldLayoutMkLst>
        </pc:sldLayoutChg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3563936643" sldId="2147483797"/>
            <pc:sldLayoutMk cId="1121920882" sldId="2147483802"/>
          </pc:sldLayoutMkLst>
        </pc:sldLayoutChg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3563936643" sldId="2147483797"/>
            <pc:sldLayoutMk cId="2885874120" sldId="2147483803"/>
          </pc:sldLayoutMkLst>
        </pc:sldLayoutChg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3563936643" sldId="2147483797"/>
            <pc:sldLayoutMk cId="1906534417" sldId="2147483804"/>
          </pc:sldLayoutMkLst>
        </pc:sldLayoutChg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3563936643" sldId="2147483797"/>
            <pc:sldLayoutMk cId="491300616" sldId="2147483805"/>
          </pc:sldLayoutMkLst>
        </pc:sldLayoutChg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3563936643" sldId="2147483797"/>
            <pc:sldLayoutMk cId="2921565179" sldId="2147483806"/>
          </pc:sldLayoutMkLst>
        </pc:sldLayoutChg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3563936643" sldId="2147483797"/>
            <pc:sldLayoutMk cId="1159210513" sldId="2147483807"/>
          </pc:sldLayoutMkLst>
        </pc:sldLayoutChg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3563936643" sldId="2147483797"/>
            <pc:sldLayoutMk cId="1217176151" sldId="2147483808"/>
          </pc:sldLayoutMkLst>
        </pc:sldLayoutChg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3563936643" sldId="2147483797"/>
            <pc:sldLayoutMk cId="895843817" sldId="2147483809"/>
          </pc:sldLayoutMkLst>
        </pc:sldLayoutChg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3563936643" sldId="2147483797"/>
            <pc:sldLayoutMk cId="684719445" sldId="2147483810"/>
          </pc:sldLayoutMkLst>
        </pc:sldLayoutChg>
        <pc:sldLayoutChg chg="del">
          <pc:chgData name="Taylor Davis" userId="5c9e72a0-c39f-4aa1-9d7d-64125e78cbe6" providerId="ADAL" clId="{2626B532-03CF-4602-8BB8-A5EB1A176011}" dt="2025-03-01T13:07:41.337" v="11" actId="47"/>
          <pc:sldLayoutMkLst>
            <pc:docMk/>
            <pc:sldMasterMk cId="3563936643" sldId="2147483797"/>
            <pc:sldLayoutMk cId="2530460957" sldId="214748381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7444AE22-21A2-46C1-A42F-3B4E8AE858E0}" type="datetimeFigureOut">
              <a:rPr lang="en-US" smtClean="0"/>
              <a:pPr/>
              <a:t>3/1/2025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4139CA89-B4B2-4050-B038-8DF8E3A335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737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65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57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83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3/1/2025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99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3/1/2025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50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3/1/2025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796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3/1/2025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47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3/1/2025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9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3/1/2025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915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91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0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</p:spPr>
        <p:txBody>
          <a:bodyPr wrap="square" lIns="0" tIns="0" rIns="0" bIns="0" rtlCol="0"/>
          <a:lstStyle/>
          <a:p>
            <a:endParaRPr>
              <a:latin typeface="Montserrat" panose="00000500000000000000" pitchFamily="2" charset="0"/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07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3/1/2025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 marL="118745">
              <a:spcBef>
                <a:spcPts val="25"/>
              </a:spcBef>
            </a:pPr>
            <a:fld id="{81D60167-4931-47E6-BA6A-407CBD079E47}" type="slidenum">
              <a:rPr lang="en-US" spc="-50" smtClean="0">
                <a:solidFill>
                  <a:srgbClr val="767676"/>
                </a:solidFill>
              </a:rPr>
              <a:pPr marL="118745">
                <a:spcBef>
                  <a:spcPts val="25"/>
                </a:spcBef>
              </a:pPr>
              <a:t>‹#›</a:t>
            </a:fld>
            <a:endParaRPr lang="en-US" spc="-50" dirty="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895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274F3-D212-A6CA-42D8-FA4F764F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847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333A-D7F4-8BF6-7FE6-B245E061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FD55F-2B6A-BC81-01A1-E169ABA4D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A2D5-089E-22AF-3D0B-4F19067E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94B4-59C2-ED48-02F2-59E034C4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1B42-85D1-521C-676B-AEF121AD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261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4B23-3A0F-2FFB-F140-0ED21664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7193-0571-3183-9568-FBC2C4C4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BE860-C86D-39CD-1793-0B867B6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02B-89A3-6032-AD27-5B274772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BC3B-8A86-AA5A-AD97-AFE05C1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58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9683-D972-023F-219D-7BB60D67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BF06F-33B9-F6B7-D0B0-58368CF72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91E4-3B21-B2C2-F89D-019DFA1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F9B1F-218C-4099-354A-77985CA8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B7BA-EB30-276C-F6A4-57FBE4B1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09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3683-51F3-237C-28D3-307EE44F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47C5-37A5-7576-DF3F-A03DBF5DC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1057-0101-3CB8-D158-2EAE2463F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A133-63CE-4F37-E482-EA1EECCA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3D78-6D9B-64CF-B7D6-AEEA3A6E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38F0-00C1-C0D4-F298-433BE1D1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716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A98D-65C1-1E26-EDD7-90B5F4CA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BA72-820B-660B-EB15-EF77956B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EE162-1C58-9826-D133-1AD84A30A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50119-C4BF-8D07-DED7-073F40FB5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9C018-AAE1-01C5-C4E7-1C69A018E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C6F45-ECE2-F081-F98C-EECF3EBF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19771-6EC0-7828-5F14-219FFD62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BBDB-D016-3519-189F-C3EF7A0A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58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90F4-6BF3-9A05-11B0-CFDC94F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2DC46-DA37-DBBE-5107-914E8DF1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D90FD-81A9-E6FB-27D3-24713EF1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16EA0-D473-AC28-DECA-DEAEF656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6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7604C-AB91-78A2-2DA4-6D1088A3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85361-F6B7-FAAB-4738-E0ADE5E1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3D6D1-624B-8B3C-90BE-2C90B19A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574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8A9-03E2-CC5E-A121-E5984E9A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3174-A575-A915-92B0-207B93D1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26E49-3074-8C94-B0CC-8EFA1B825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9E3CC-7C4A-D7EC-E46C-5A842B8A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30E3-0B96-933C-829B-04B30C41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57A92-1BAA-DAA4-E90F-EDFBED3D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84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07BE-FE86-FD17-6855-F4BBD305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FE0AE-B8E3-6453-74A9-2CCBC448E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BFAC6-51C3-1D27-7E41-47878F27E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98224-E0A8-36C0-DDF7-27FA70A4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4AEAA-95D8-5BA2-2F25-047DDCC1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86F25-6C70-7C4B-DFD4-192375D5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519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3B00-617F-6CDB-FC05-71E366A0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BB096-36EC-BC27-3A10-9065A2B11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F6E8-F910-F328-584A-CA901BB3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3A474-10C6-034E-0576-8B73F4B7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C70E-6DC2-4298-EEB8-A2AC6AD7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269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8DBE0-CED9-F7B0-5642-5731DA249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7D136-9913-226C-7C14-436B6CF99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D2C8-E528-BF1F-C711-971E74B5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753D-C084-2ADF-0E12-AA92D30C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82D8B-8E1E-F47C-7C0F-AEDE48C2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0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3/1/2025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293135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8BEE0-7577-10C8-2F70-A988114D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88FE-EDC7-60BB-7A69-AF9890EA0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E3C9-054B-7BB4-0692-08B96E994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anose="00000500000000000000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svg"/><Relationship Id="rId11" Type="http://schemas.openxmlformats.org/officeDocument/2006/relationships/image" Target="../media/image10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19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0" cap="none" spc="47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9072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24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DIRECT-TO-EMPLOYER GTM STRATEGY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18209" y="5372101"/>
            <a:ext cx="7723655" cy="3111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Exploring a CSHS DTE Health Plan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pic>
        <p:nvPicPr>
          <p:cNvPr id="6" name="Object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2769" y="0"/>
            <a:ext cx="3866183" cy="6856286"/>
          </a:xfrm>
          <a:prstGeom prst="rect">
            <a:avLst/>
          </a:prstGeom>
        </p:spPr>
      </p:pic>
      <p:sp>
        <p:nvSpPr>
          <p:cNvPr id="7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9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7" cstate="print"/>
          <a:stretch>
            <a:fillRect/>
          </a:stretch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A large white monument in a city&#10;&#10;Description automatically generated">
            <a:extLst>
              <a:ext uri="{FF2B5EF4-FFF2-40B4-BE49-F238E27FC236}">
                <a16:creationId xmlns:a16="http://schemas.microsoft.com/office/drawing/2014/main" id="{BE8CB555-2013-D606-CB39-161E7EAEF5C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: Single Corner Rounded 4">
            <a:extLst>
              <a:ext uri="{FF2B5EF4-FFF2-40B4-BE49-F238E27FC236}">
                <a16:creationId xmlns:a16="http://schemas.microsoft.com/office/drawing/2014/main" id="{90B02A10-01E7-2494-66B5-078DDFE69A60}"/>
              </a:ext>
            </a:extLst>
          </p:cNvPr>
          <p:cNvSpPr/>
          <p:nvPr/>
        </p:nvSpPr>
        <p:spPr>
          <a:xfrm>
            <a:off x="-8238" y="1163706"/>
            <a:ext cx="5843847" cy="5702531"/>
          </a:xfrm>
          <a:prstGeom prst="round1Rect">
            <a:avLst>
              <a:gd name="adj" fmla="val 12082"/>
            </a:avLst>
          </a:prstGeom>
          <a:solidFill>
            <a:srgbClr val="0053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marR="0" lvl="1" indent="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3359629-7405-5BED-0491-4C3A6C6FF755}"/>
              </a:ext>
            </a:extLst>
          </p:cNvPr>
          <p:cNvSpPr txBox="1"/>
          <p:nvPr/>
        </p:nvSpPr>
        <p:spPr>
          <a:xfrm>
            <a:off x="81069" y="2184943"/>
            <a:ext cx="5681708" cy="40164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Founded in 1979, headquartered in Indianapolis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Largest Independently-Owned Full-Service Third-Party Administrator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Specialize in Administration of Self-Funded Plans and Population Health Management​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Leader in the Direct-to-Employer Movement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We Know and Understand the Market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Experience Working with All Professional Teams: Agents, Networks, MGAs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The Key Family of Companies is a Vertically Integrated group of benefit related organizations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3,000+ Corporate Clients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 Million Members under Management 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700 Employees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7533ABB-0CFF-7B45-D905-4C9D5855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0497" y="1415781"/>
            <a:ext cx="3302852" cy="64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1" y="759389"/>
            <a:ext cx="8455729" cy="5111065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8816521" y="0"/>
            <a:ext cx="3375480" cy="6872068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592372" y="3693371"/>
            <a:ext cx="2053120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Bentonville, 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384431" y="4574952"/>
            <a:ext cx="1781467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Meridian, MS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4645491" y="5362115"/>
            <a:ext cx="2132682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Fort Myers, FL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5957116" y="4048009"/>
            <a:ext cx="2272613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Knoxville, TN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6678138" y="3093352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Cincinnati, OH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4102202" y="2976014"/>
            <a:ext cx="1854914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Louisville, KY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OneHealth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Plan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1FBDB55F-E2EE-D357-32A6-FEC23D86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7C6371C7-344C-3C21-F253-96E09F12864E}"/>
              </a:ext>
            </a:extLst>
          </p:cNvPr>
          <p:cNvSpPr txBox="1">
            <a:spLocks/>
          </p:cNvSpPr>
          <p:nvPr/>
        </p:nvSpPr>
        <p:spPr>
          <a:xfrm>
            <a:off x="8881352" y="1661020"/>
            <a:ext cx="3245817" cy="3307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2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MARKET LEADER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PRIVATE LABELED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DTE PLANS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157" y="136525"/>
            <a:ext cx="11569498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0B2E"/>
                </a:solidFill>
                <a:cs typeface="Arial" panose="020B0604020202020204" pitchFamily="34" charset="0"/>
              </a:rPr>
              <a:t>DIRECT-TO-EMPLOYER STRATEGY:</a:t>
            </a:r>
            <a:br>
              <a:rPr lang="en-US" sz="36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000B2E"/>
                </a:solidFill>
                <a:cs typeface="Arial" panose="020B0604020202020204" pitchFamily="34" charset="0"/>
              </a:rPr>
              <a:t>ONLY AVAILABLE TO </a:t>
            </a:r>
            <a:r>
              <a:rPr lang="en-US" sz="3200" b="1" i="1" dirty="0">
                <a:solidFill>
                  <a:srgbClr val="000B2E"/>
                </a:solidFill>
                <a:cs typeface="Arial" panose="020B0604020202020204" pitchFamily="34" charset="0"/>
              </a:rPr>
              <a:t>PREMIER</a:t>
            </a:r>
            <a:r>
              <a:rPr lang="en-US" sz="3200" b="1" dirty="0">
                <a:solidFill>
                  <a:srgbClr val="000B2E"/>
                </a:solidFill>
                <a:cs typeface="Arial" panose="020B0604020202020204" pitchFamily="34" charset="0"/>
              </a:rPr>
              <a:t> HEALTH SYSTEMS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2859" y="1848935"/>
            <a:ext cx="6028455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STRONG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Brand Quality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EXTENSIVE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 Access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AFFORDABLE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 Pricing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EXCELLENT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Care Quality  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182E78E4-84F7-ECC4-4085-D8F128942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63B286E7-A296-8685-AC6B-CA7B2EB60EBD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6" name="Content Placeholder 5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1508760" y="2834640"/>
            <a:ext cx="3154680" cy="99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461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157AD-9D57-0448-105A-79BA8850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73" y="136525"/>
            <a:ext cx="11590512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dirty="0">
                <a:solidFill>
                  <a:srgbClr val="000B2E"/>
                </a:solidFill>
                <a:cs typeface="Arial" panose="020B0604020202020204" pitchFamily="34" charset="0"/>
              </a:rPr>
              <a:t>CSHS IS PATIENT RECOMMENDED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E0219A2-C97D-9E0E-9C52-C5207AB41BD4}"/>
              </a:ext>
            </a:extLst>
          </p:cNvPr>
          <p:cNvSpPr/>
          <p:nvPr/>
        </p:nvSpPr>
        <p:spPr>
          <a:xfrm>
            <a:off x="9405257" y="1989573"/>
            <a:ext cx="2532185" cy="34867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Montserrat" panose="00000500000000000000" pitchFamily="2" charset="0"/>
              </a:rPr>
              <a:t>Based on quality measures and HCAHPS feedback, KBA estimates that CSHS has the strongest brand quality in Los Angeles, Orange, and Ventura Counties.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2AD52701-1DE7-13B3-FBF0-4BD24A480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A6B1301C-BF63-22CC-7705-C12ACB4A1EC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847009"/>
              </p:ext>
            </p:extLst>
          </p:nvPr>
        </p:nvGraphicFramePr>
        <p:xfrm>
          <a:off x="752275" y="1329488"/>
          <a:ext cx="8652982" cy="4961020"/>
        </p:xfrm>
        <a:graphic>
          <a:graphicData uri="http://schemas.openxmlformats.org/drawingml/2006/table">
            <a:tbl>
              <a:tblPr/>
              <a:tblGrid>
                <a:gridCol w="3040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85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02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7527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HCAHPS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Recommendation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CMS Stars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Mortality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Readmission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KBA Brand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Quality Score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7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Cedars-Sinai 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D7CB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468A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C95C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C95C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C88B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24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Providence St Joseph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48F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777A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777A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29AC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28DB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888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Kaiser Permanente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99FC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690B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29AC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ABAD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A94B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956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PIH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FA4C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E97C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08BB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3A8C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C95C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173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Henry Mayo Newhall Hospital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FB2D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29AC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C95C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DA3C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C95C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7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MemorialCare 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FA4C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ECBE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E97C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28D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C95C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18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Keck Medicine of USC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DA3C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777A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381B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29AC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C95C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87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University of California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5A9C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099C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785B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C95C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E97C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418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HCA Healthcare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7AB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29AC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E63A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7AB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099C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24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CommonSpirit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AC7D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48F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28D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49CC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BA1C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62956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Adventist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AC7D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C95C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F7EB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1A6C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BA1C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4752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27045" y="1330559"/>
            <a:ext cx="11737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spc="2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  <a:cs typeface="+mj-cs"/>
              </a:rPr>
              <a:t>Target Market</a:t>
            </a:r>
            <a:br>
              <a:rPr lang="en-US" sz="1600" spc="200" dirty="0">
                <a:latin typeface="Montserrat" panose="00000500000000000000" pitchFamily="2" charset="0"/>
                <a:cs typeface="+mj-cs"/>
              </a:rPr>
            </a:br>
            <a:r>
              <a:rPr lang="en-US" sz="1600" spc="200" dirty="0">
                <a:latin typeface="Montserrat" panose="00000500000000000000" pitchFamily="2" charset="0"/>
                <a:cs typeface="+mj-cs"/>
              </a:rPr>
              <a:t>3.5K+ Employers       1.5M</a:t>
            </a:r>
            <a:r>
              <a:rPr lang="en-US" sz="1600" spc="200" dirty="0">
                <a:latin typeface="Montserrat" panose="00000500000000000000" pitchFamily="2" charset="0"/>
                <a:cs typeface="+mj-cs"/>
                <a:sym typeface="Wingdings" panose="05000000000000000000" pitchFamily="2" charset="2"/>
              </a:rPr>
              <a:t>+ Employees       3M+ Members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777610" y="1656395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474816" y="1656395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    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" y="43143"/>
            <a:ext cx="1202842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b="0" dirty="0">
                <a:solidFill>
                  <a:srgbClr val="000B2E"/>
                </a:solidFill>
              </a:rPr>
              <a:t>SIGNIFICANT OPPORTUNITY FOR PLAN GROWTH</a:t>
            </a:r>
            <a:br>
              <a:rPr lang="en-US" sz="3200" dirty="0">
                <a:solidFill>
                  <a:srgbClr val="000B2E"/>
                </a:solidFill>
              </a:rPr>
            </a:br>
            <a:r>
              <a:rPr lang="en-US" sz="2000" b="0" dirty="0">
                <a:solidFill>
                  <a:srgbClr val="000B2E"/>
                </a:solidFill>
              </a:rPr>
              <a:t>Researched for the below highlighted service area</a:t>
            </a:r>
            <a:endParaRPr lang="en-US" sz="1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B9E0A44D-EDC5-EBD5-4D77-F30FF46B0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507671"/>
              </p:ext>
            </p:extLst>
          </p:nvPr>
        </p:nvGraphicFramePr>
        <p:xfrm>
          <a:off x="4889297" y="2140949"/>
          <a:ext cx="6949427" cy="344135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9,220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4,030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2,498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1,363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691,500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604,500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749,400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954,100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828,000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1,308,000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1,244,700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1,088,100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1,348,900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1,717,400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1,490,400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2,354,400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-1095016" y="1915334"/>
            <a:ext cx="6096000" cy="48768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97CFCA7-1E87-9515-58C9-98CD190A1002}"/>
              </a:ext>
            </a:extLst>
          </p:cNvPr>
          <p:cNvSpPr/>
          <p:nvPr/>
        </p:nvSpPr>
        <p:spPr>
          <a:xfrm>
            <a:off x="1485900" y="4904207"/>
            <a:ext cx="1231900" cy="1003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67FAAB-CAAD-F48A-1361-ED8DC4250A36}"/>
              </a:ext>
            </a:extLst>
          </p:cNvPr>
          <p:cNvSpPr/>
          <p:nvPr/>
        </p:nvSpPr>
        <p:spPr>
          <a:xfrm>
            <a:off x="1485900" y="5659792"/>
            <a:ext cx="1231900" cy="1003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6ABC39-8775-B9E1-B11C-C63600D16A12}"/>
              </a:ext>
            </a:extLst>
          </p:cNvPr>
          <p:cNvSpPr/>
          <p:nvPr/>
        </p:nvSpPr>
        <p:spPr>
          <a:xfrm>
            <a:off x="0" y="5158142"/>
            <a:ext cx="1016102" cy="1003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824615-2EF3-1E77-9428-3356BB641B56}"/>
              </a:ext>
            </a:extLst>
          </p:cNvPr>
          <p:cNvSpPr/>
          <p:nvPr/>
        </p:nvSpPr>
        <p:spPr>
          <a:xfrm>
            <a:off x="81786" y="3852084"/>
            <a:ext cx="647158" cy="910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b="0" dirty="0"/>
              <a:t>PLAN POTENTIAL GROWTH PATHS</a:t>
            </a:r>
          </a:p>
        </p:txBody>
      </p:sp>
      <p:grpSp>
        <p:nvGrpSpPr>
          <p:cNvPr id="3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315991" y="1915224"/>
            <a:ext cx="4179295" cy="3636786"/>
            <a:chOff x="1267778" y="2161521"/>
            <a:chExt cx="8731885" cy="4307840"/>
          </a:xfrm>
        </p:grpSpPr>
        <p:grpSp>
          <p:nvGrpSpPr>
            <p:cNvPr id="4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5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8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9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12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15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6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7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18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9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0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1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2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3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24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25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26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981590" y="5731169"/>
            <a:ext cx="9514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/>
                <a:latin typeface="Montserrat" panose="00000500000000000000" pitchFamily="2" charset="0"/>
              </a:rPr>
              <a:t>Estimates includes the Cedars-Sinai Health System service area in Los Angeles, Orange, and Ventura Counties</a:t>
            </a:r>
          </a:p>
        </p:txBody>
      </p:sp>
      <p:sp>
        <p:nvSpPr>
          <p:cNvPr id="27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2326255" y="4909050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9,845K</a:t>
            </a:r>
          </a:p>
        </p:txBody>
      </p:sp>
      <p:sp>
        <p:nvSpPr>
          <p:cNvPr id="28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2549188" y="3983995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6,189K</a:t>
            </a:r>
          </a:p>
        </p:txBody>
      </p:sp>
      <p:sp>
        <p:nvSpPr>
          <p:cNvPr id="29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2768644" y="3041250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3,881K</a:t>
            </a:r>
          </a:p>
        </p:txBody>
      </p:sp>
      <p:sp>
        <p:nvSpPr>
          <p:cNvPr id="30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2988100" y="2109715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1,494K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0D8A2093-EE63-6F98-17FC-8FA2F27D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2" name="Freeform 13">
            <a:extLst>
              <a:ext uri="{FF2B5EF4-FFF2-40B4-BE49-F238E27FC236}">
                <a16:creationId xmlns:a16="http://schemas.microsoft.com/office/drawing/2014/main" id="{28524B04-16FE-D5D9-4125-86AD5B994E04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33" name="Content Placeholder 32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$76.91M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$19.71M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$456.11M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$117.82M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$933.03M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$241.07M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GROWING POWERFUL, LASTING PROFITABILITY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00539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18,200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6,486.6K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12,969.0K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23,765.2K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37,982.0K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44.4K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88.8K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145.2K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218.4K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6,201.0K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12,877.8K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23,730.4K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38,020.4K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11,000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18,200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27,300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9,642.2K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19,278.2K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35,746.1K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56,973.0K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132.0K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218.4K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327.6K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9,378.2K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19,230.2K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35,784.5K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57,120.6K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1,800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3,155.6K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6,484.5K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11,784.4K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18,991.0K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21.6K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44.4K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109.2K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2,847.2K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6,348.9K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11,676.4K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18,920.2K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E799F91A-3FD1-47AB-858A-263DC729BC42}"/>
              </a:ext>
            </a:extLst>
          </p:cNvPr>
          <p:cNvSpPr txBox="1"/>
          <p:nvPr/>
        </p:nvSpPr>
        <p:spPr>
          <a:xfrm>
            <a:off x="8932985" y="1054579"/>
            <a:ext cx="286817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/>
                <a:latin typeface="Montserrat" panose="00000500000000000000" pitchFamily="2" charset="0"/>
              </a:rPr>
              <a:t>KBA currently estimates that Cedars-Sinai Health System has 19% inpatient market share, and 10% outpatient market compared to hospitals/clinics in the Cedars-Sinai Health System service area (see slide 8).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Based on previous DTE experience, KBA expects a significant bump in patient steerage to Cedars-Sinai Health System.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Additional steerage will occur from additional steerage patient benefits and the patient card. 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High estimates start nearly 10% higher than target with low estimates at 10% lower than target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PROJECTED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664658"/>
              </p:ext>
            </p:extLst>
          </p:nvPr>
        </p:nvGraphicFramePr>
        <p:xfrm>
          <a:off x="838200" y="1054578"/>
          <a:ext cx="7199375" cy="4940842"/>
        </p:xfrm>
        <a:graphic>
          <a:graphicData uri="http://schemas.openxmlformats.org/drawingml/2006/table">
            <a:tbl>
              <a:tblPr/>
              <a:tblGrid>
                <a:gridCol w="143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9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54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CSHS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CSHS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35,500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26,100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47,000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33,500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41,900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51,000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91,800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108,500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125,100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78,000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140,400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85,600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154,100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92,000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165,600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97,300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175,100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101,500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182,700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104,700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188,500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107,200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193,000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109,000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196,200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724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56461"/>
              </p:ext>
            </p:extLst>
          </p:nvPr>
        </p:nvGraphicFramePr>
        <p:xfrm>
          <a:off x="418056" y="764777"/>
          <a:ext cx="697229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Pre-DTE Cohort of 18,200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$ 16,283,925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$ 15,492,477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$ 7,234,855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$ 39,011,257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$ 4,168,685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$ 3,966,074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$ 1,852,123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$ 9,986,882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940483"/>
              </p:ext>
            </p:extLst>
          </p:nvPr>
        </p:nvGraphicFramePr>
        <p:xfrm>
          <a:off x="462503" y="4085951"/>
          <a:ext cx="713405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5589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$ 37,763,571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$ 218,400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$ 37,768,371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/>
                          <a:latin typeface="Montserrat" panose="00000500000000000000" pitchFamily="2" charset="0"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$ 37,801,971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198922"/>
              </p:ext>
            </p:extLst>
          </p:nvPr>
        </p:nvGraphicFramePr>
        <p:xfrm>
          <a:off x="418055" y="2234768"/>
          <a:ext cx="6972296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$ 56,515,180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$ 88,623,572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$ 41,386,455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$ 186,525,206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$ 14,467,886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$ 22,687,634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$ 10,594,932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$ 47,750,453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† Assuming proportional revenues from market shares of 19% (inpatient) and 10% (outpatient)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‡ Conservatively assuming a commercial margin of 25.6% (80% of the estimated commercial margin)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⁰ Assuming 67% inpatient and 58%  market steerage based on KBA narrow network DTE experience (see previous slide)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* Conservatively assuming a commercial margin of 25.6%, with a 10 percentage-point reduction to reflect competitive-edge rates and a 10 percentage-point increase due to lower billing costs and higher patient responsibility collections because of the member credit card.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1028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cs typeface="Calibri" panose="020F0502020204030204" pitchFamily="34" charset="0"/>
              </a:rPr>
              <a:t>YEAR 4 PROJECTED REVENUE AND PROFIT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7D073370-D0BE-1A39-1DCE-8896BD0D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Freeform 13">
            <a:extLst>
              <a:ext uri="{FF2B5EF4-FFF2-40B4-BE49-F238E27FC236}">
                <a16:creationId xmlns:a16="http://schemas.microsoft.com/office/drawing/2014/main" id="{47B20ECB-E742-CAF7-0C94-E491C5D3F04B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816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5" y="560444"/>
            <a:ext cx="10479445" cy="78254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z="1100" smtClean="0">
                <a:solidFill>
                  <a:schemeClr val="bg1"/>
                </a:solidFill>
              </a:rPr>
              <a:t>12</a:t>
            </a:fld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569660"/>
            <a:chOff x="908754" y="2695500"/>
            <a:chExt cx="10558665" cy="1569660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KNOW THE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584775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2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46156</TotalTime>
  <Words>1182</Words>
  <Application>Microsoft Office PowerPoint</Application>
  <PresentationFormat>Widescreen</PresentationFormat>
  <Paragraphs>468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 Narrow</vt:lpstr>
      <vt:lpstr>Arial</vt:lpstr>
      <vt:lpstr>Montserrat</vt:lpstr>
      <vt:lpstr>Office Theme</vt:lpstr>
      <vt:lpstr>1_Office Theme</vt:lpstr>
      <vt:lpstr>2_Office Theme</vt:lpstr>
      <vt:lpstr>3_Office Theme</vt:lpstr>
      <vt:lpstr>PowerPoint Presentation</vt:lpstr>
      <vt:lpstr>PowerPoint Presentation</vt:lpstr>
      <vt:lpstr>PowerPoint Presentation</vt:lpstr>
      <vt:lpstr>DIRECT-TO-EMPLOYER STRATEGY: ONLY AVAILABLE TO PREMIER HEALTH SYSTEMS</vt:lpstr>
      <vt:lpstr>CSHS IS PATIENT RECOMMENDED</vt:lpstr>
      <vt:lpstr>SIGNIFICANT OPPORTUNITY FOR PLAN GROWTH Researched for the below highlighted service area</vt:lpstr>
      <vt:lpstr>PLAN POTENTIAL GROWTH PATHS</vt:lpstr>
      <vt:lpstr>GROWING POWERFUL, LASTING PROFITABILITY</vt:lpstr>
      <vt:lpstr>FOUR-YEAR PROJECTIONS</vt:lpstr>
      <vt:lpstr>PROJECTED PLAN GROWTH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111</cp:revision>
  <cp:lastPrinted>2023-07-13T10:24:43Z</cp:lastPrinted>
  <dcterms:created xsi:type="dcterms:W3CDTF">2021-01-20T14:12:11Z</dcterms:created>
  <dcterms:modified xsi:type="dcterms:W3CDTF">2025-03-01T13:08:27Z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