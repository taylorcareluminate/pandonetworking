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5"/>
  </p:notesMasterIdLst>
  <p:sldIdLst>
    <p:sldId id="588" r:id="rId10"/>
    <p:sldId id="454" r:id="rId11"/>
    <p:sldId id="2145726874" r:id="rId12"/>
    <p:sldId id="549"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912" r:id="rId42"/>
    <p:sldId id="2145726864" r:id="rId43"/>
    <p:sldId id="585" r:id="rId44"/>
    <p:sldId id="536" r:id="rId45"/>
    <p:sldId id="256" r:id="rId46"/>
    <p:sldId id="574" r:id="rId47"/>
    <p:sldId id="572" r:id="rId48"/>
    <p:sldId id="575" r:id="rId49"/>
    <p:sldId id="498" r:id="rId50"/>
    <p:sldId id="325" r:id="rId51"/>
    <p:sldId id="326" r:id="rId52"/>
    <p:sldId id="491" r:id="rId53"/>
    <p:sldId id="472" r:id="rId54"/>
  </p:sldIdLst>
  <p:sldSz cx="12192000" cy="6858000"/>
  <p:notesSz cx="7315200" cy="9601200"/>
  <p:custDataLst>
    <p:tags r:id="rId5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0EE58-A8CA-4A0B-BD2C-1DF8A06AAE54}" v="7" dt="2026-01-10T17:35:59.45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78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ags" Target="tags/tag1.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commentAuthors" Target="commentAuthor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1/10/2026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1/10/2026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1/10/2026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1/10/2026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1/10/2026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1/10/2026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1/10/2026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1/10/2026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5.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CHRISTUS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5"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189720" y="274269"/>
            <a:ext cx="2499666"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CHRISTUS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57435" y="1353600"/>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3,800+ Employers       830,000</a:t>
            </a:r>
            <a:r>
              <a:rPr lang="en-US" sz="1600" spc="200" dirty="0">
                <a:latin typeface="Montserrat" panose="00000500000000000000" pitchFamily="2" charset="0"/>
                <a:cs typeface="+mj-cs"/>
                <a:sym typeface="Wingdings" panose="05000000000000000000" pitchFamily="2" charset="2"/>
              </a:rPr>
              <a:t>+ Employees       1.5M+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787648104"/>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2,016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543</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308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86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58</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151,200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162,900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215,600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172,000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348,000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272,200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293,200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388,100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309,600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626,400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694944" y="19688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2340670" y="5592852"/>
            <a:ext cx="9514366" cy="1107996"/>
          </a:xfrm>
          <a:prstGeom prst="rect">
            <a:avLst/>
          </a:prstGeom>
          <a:noFill/>
        </p:spPr>
        <p:txBody>
          <a:bodyPr wrap="square" rtlCol="0">
            <a:spAutoFit/>
          </a:bodyPr>
          <a:lstStyle/>
          <a:p>
            <a:r>
              <a:rPr lang="en-US" sz="1100" dirty="0">
                <a:solidFill/>
                <a:latin typeface="Montserrat" panose="00000500000000000000" pitchFamily="2" charset="0"/>
              </a:rPr>
              <a:t>Estimates includes the CHRISTUS Health service area in Hempstead, Howard, Lafayette, Little River, Miller, Sevier, Caddo, Calcasieu, Cameron, Anderson, Angelina, Aransas, Atascosa, Bandera, Bee, Bexar, Blanco, Bowie, Brooks, Caldwell, Camp, Cass, Chambers, Cherokee, Comal, Delta, Duval, Fannin, Franklin, Goliad, Gregg, Guadalupe, Hardin, Harrison, Hays, Henderson, Hopkins, Houston, Hunt, Jasper, Jefferson, Jim Wells, Karnes, Kendall, Kenedy, Kleberg, Lamar, Liberty, Live Oak, Marion, Medina, Morris, Nacogdoches, Newton, Nueces, Orange, Panola, Rains, Red River, Refugio, Rusk, Sabine, San Augustine, San Patricio, Smith, Titus, Travis, Tyler, Upshur, Van Zandt, Wilson, and Wood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5,137K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2,963K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1,819K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1,016K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566973" y="1615659"/>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$77.15M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$9.98M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$460.23M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$60.41M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$944.52M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$123.97M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CHRISTUS Health has 18% inpatient market share, and 15% outpatient market compared to hospitals/clinics in the CHRISTUS Health service area (see slide 8). The DTE tiered structure will create immediate steerage, with additional steerage over time from patient bonus benefits and the patient convenience card (see slide 35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CHRISTUS Health 16%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7.8%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12.8%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17.8%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3,229.4K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6,458.8K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2,959.4K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6,398.8K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12,044.6K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19,395.6K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4,456.6K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8,913.2K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16,472.8K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26,507.2K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8,898.8K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16,564.0K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26,736.4K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7,507.5K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12,048.7K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1,709.4K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3,898.9K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7,451.1K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12,054.7K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98090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0"/>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CHRISTUS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Montserrat" panose="00000500000000000000" pitchFamily="2" charset="0"/>
              </a:rPr>
              <a:t>Based on quality measures and HCAHPS feedback, KBA estimates that CHRISTUS Health has the strongest brand quality in Hempstead, Howard, Lafayette, Little River, Miller, Sevier, Caddo, Calcasieu, Cameron, Anderson, Angelina, Aransas, Atascosa, Bandera, Bee, Bexar, Blanco, Bowie, Brooks, Caldwell, Camp, Cass, Chambers, Cherokee, Comal, Delta, Duval, Fannin, Franklin, Goliad, Gregg, Guadalupe, Hardin, Harrison, Hays, Henderson, Hopkins, Houston, Hunt, Jasper, Jefferson, Jim Wells, Karnes, Kendall, Kenedy, Kleberg, Lamar, Liberty, Live Oak, Marion, Medina, Morris, Nacogdoches, Newton, Nueces, Orange, Panola, Rains, Red River, Refugio, Rusk, Sabine, San Augustine, San Patricio, Smith, Titus, Travis, Tyler, Upshur, Van Zandt, Wilson, and Wood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05334619"/>
              </p:ext>
            </p:extLst>
          </p:nvPr>
        </p:nvGraphicFramePr>
        <p:xfrm>
          <a:off x="385915" y="1259034"/>
          <a:ext cx="8561699" cy="4817032"/>
        </p:xfrm>
        <a:graphic>
          <a:graphicData uri="http://schemas.openxmlformats.org/drawingml/2006/table">
            <a:tbl>
              <a:tblPr/>
              <a:tblGrid>
                <a:gridCol w="2472876">
                  <a:extLst>
                    <a:ext uri="{9D8B030D-6E8A-4147-A177-3AD203B41FA5}">
                      <a16:colId xmlns:a16="http://schemas.microsoft.com/office/drawing/2014/main" val="20000"/>
                    </a:ext>
                  </a:extLst>
                </a:gridCol>
                <a:gridCol w="1554452">
                  <a:extLst>
                    <a:ext uri="{9D8B030D-6E8A-4147-A177-3AD203B41FA5}">
                      <a16:colId xmlns:a16="http://schemas.microsoft.com/office/drawing/2014/main" val="20001"/>
                    </a:ext>
                  </a:extLst>
                </a:gridCol>
                <a:gridCol w="1040888">
                  <a:extLst>
                    <a:ext uri="{9D8B030D-6E8A-4147-A177-3AD203B41FA5}">
                      <a16:colId xmlns:a16="http://schemas.microsoft.com/office/drawing/2014/main" val="20002"/>
                    </a:ext>
                  </a:extLst>
                </a:gridCol>
                <a:gridCol w="1007367">
                  <a:extLst>
                    <a:ext uri="{9D8B030D-6E8A-4147-A177-3AD203B41FA5}">
                      <a16:colId xmlns:a16="http://schemas.microsoft.com/office/drawing/2014/main" val="20003"/>
                    </a:ext>
                  </a:extLst>
                </a:gridCol>
                <a:gridCol w="1226186">
                  <a:extLst>
                    <a:ext uri="{9D8B030D-6E8A-4147-A177-3AD203B41FA5}">
                      <a16:colId xmlns:a16="http://schemas.microsoft.com/office/drawing/2014/main" val="20004"/>
                    </a:ext>
                  </a:extLst>
                </a:gridCol>
                <a:gridCol w="1259930">
                  <a:extLst>
                    <a:ext uri="{9D8B030D-6E8A-4147-A177-3AD203B41FA5}">
                      <a16:colId xmlns:a16="http://schemas.microsoft.com/office/drawing/2014/main" val="20005"/>
                    </a:ext>
                  </a:extLst>
                </a:gridCol>
              </a:tblGrid>
              <a:tr h="682998">
                <a:tc>
                  <a:txBody>
                    <a:bodyPr/>
                    <a:lstStyle/>
                    <a:p>
                      <a:pPr marL="63500" marR="63500" algn="l">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CMS Stars</a:t>
                      </a:r>
                      <a:br>
                        <a:rPr sz="1100" b="1" i="0" u="none" strike="noStrike" cap="none" dirty="0">
                          <a:solidFill>
                            <a:srgbClr val="000000">
                              <a:alpha val="100000"/>
                            </a:srgbClr>
                          </a:solidFill>
                          <a:latin typeface="Montserrat"/>
                          <a:cs typeface="Arial"/>
                          <a:sym typeface="Arial"/>
                        </a:rPr>
                      </a:br>
                      <a:r>
                        <a:rPr sz="1100" b="1" i="0" u="none" strike="noStrik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5878">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Community Hospital Corporation</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1"/>
                  </a:ext>
                </a:extLst>
              </a:tr>
              <a:tr h="252318">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University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2"/>
                  </a:ext>
                </a:extLst>
              </a:tr>
              <a:tr h="252318">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Community Health Systems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3"/>
                  </a:ext>
                </a:extLst>
              </a:tr>
              <a:tr h="252318">
                <a:tc>
                  <a:txBody>
                    <a:bodyPr/>
                    <a:lstStyle/>
                    <a:p>
                      <a:pPr marL="63500" marR="63500" algn="l">
                        <a:lnSpc>
                          <a:spcPct val="100000"/>
                        </a:lnSpc>
                        <a:spcBef>
                          <a:spcPts val="500"/>
                        </a:spcBef>
                        <a:spcAft>
                          <a:spcPts val="500"/>
                        </a:spcAft>
                        <a:buNone/>
                      </a:pPr>
                      <a:r>
                        <a:rPr sz="1100" b="1" i="0" u="none" strike="noStrike" cap="none" dirty="0">
                          <a:solidFill>
                            <a:srgbClr val="7030A0"/>
                          </a:solidFill>
                          <a:latin typeface="Montserrat"/>
                          <a:cs typeface="Arial"/>
                          <a:sym typeface="Arial"/>
                        </a:rPr>
                        <a:t>CHRISTUS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7030A0"/>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7030A0"/>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7030A0"/>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7030A0"/>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7030A0"/>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4"/>
                  </a:ext>
                </a:extLst>
              </a:tr>
              <a:tr h="39587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5"/>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Ardent</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6"/>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7"/>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8"/>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9"/>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Tenet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10"/>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ScionHealth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1"/>
                  </a:ext>
                </a:extLst>
              </a:tr>
              <a:tr h="39587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Healthcare Systems of America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12"/>
                  </a:ext>
                </a:extLst>
              </a:tr>
              <a:tr h="25231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2F4F9">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CHRISTUS Health’s approved site(s) with network integration, and development of CHRISTUS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3,518K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$ 2,476K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$ 4,952K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316K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$ 5,211K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$ 17,591K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$12,381K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$ 1,285K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$20,843K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$2,668K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$ 70,365K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$49,522K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$ 6,339K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$ 6,129K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$41,685K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$5,336K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$140,730K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$99,044K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$18,013K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$12,678K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$12,588K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CHRISTUS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CHRISTUS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CHRISTUS Health’s managed care with KBA’s programs positions CHRISTUS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CHRISTUS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CHRISTUS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CHRISTUS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400" dirty="0">
                <a:solidFill>
                  <a:srgbClr val="000000"/>
                </a:solidFill>
              </a:rPr>
              <a:t>CHRISTUS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CHRISTUS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CHRISTUS HEALTH</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CHRISTUS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673,349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$4,710,947K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150,737</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$539,168K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15,897</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$692,450K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65,897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-$491,310K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9%</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440,818</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$3,482,641K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2023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CHRISTUS Health estimates commercial insurance reimbursements at 201%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3,482,641K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201%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2,472,076K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5,954,717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5,024,476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$930,242K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201%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1,735,094K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1,231,618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2,966,712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5,024,476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-2,057,763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-69%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15%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112938410"/>
              </p:ext>
            </p:extLst>
          </p:nvPr>
        </p:nvGraphicFramePr>
        <p:xfrm>
          <a:off x="265176" y="914400"/>
          <a:ext cx="9829800" cy="52476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Good Shepherd Medical Center - Marshall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$ 1,450,697.3K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$2,371,055.6K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Southeast Texas - St Elizabeth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$ 1,080,899.6K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$1,355,277.1K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CHRISTUS Spohn Hospital Corpus Christi - Shoreline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$ 2,098,201.5K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$2,346,316.8K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Spohn Hospital - Beeville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70,620.7K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239,603.4K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Mother Frances Hospital - Tyler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$ 3,226,916.9K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$4,804,399.1K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Spohn Hospital - Kleberg</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94,491.6K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253,324.1K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Mother Frances Hospital - Sulphur Springs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256,237.2K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600,945.9K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Santa Rosa Hospital - Alamo Heights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Health Santa Rosa Hospital - San Marcos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243,261.8K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526,311.9K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Southeast Texas Jasper Memorial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15,846.5K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131,635.5K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St Michael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$ 1,065,333.4K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$1,701,442.3K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Spohn Hospital - Alice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141,743.4K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372,739.2K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Mother Frances Hospital -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33,009.8K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469,051.6K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Mother Frances Hospital - Winnsboro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14,214.8K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94,345.3K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CHRISTUS Childrens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668,753.5K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752,553.8K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69588831"/>
              </p:ext>
            </p:extLst>
          </p:nvPr>
        </p:nvGraphicFramePr>
        <p:xfrm>
          <a:off x="0" y="1"/>
          <a:ext cx="12191998" cy="6578600"/>
        </p:xfrm>
        <a:graphic>
          <a:graphicData uri="http://schemas.openxmlformats.org/drawingml/2006/table">
            <a:tbl>
              <a:tblPr/>
              <a:tblGrid>
                <a:gridCol w="1448984">
                  <a:extLst>
                    <a:ext uri="{9D8B030D-6E8A-4147-A177-3AD203B41FA5}">
                      <a16:colId xmlns:a16="http://schemas.microsoft.com/office/drawing/2014/main" val="20000"/>
                    </a:ext>
                  </a:extLst>
                </a:gridCol>
                <a:gridCol w="1552270">
                  <a:extLst>
                    <a:ext uri="{9D8B030D-6E8A-4147-A177-3AD203B41FA5}">
                      <a16:colId xmlns:a16="http://schemas.microsoft.com/office/drawing/2014/main" val="20008"/>
                    </a:ext>
                  </a:extLst>
                </a:gridCol>
                <a:gridCol w="1674788">
                  <a:extLst>
                    <a:ext uri="{9D8B030D-6E8A-4147-A177-3AD203B41FA5}">
                      <a16:colId xmlns:a16="http://schemas.microsoft.com/office/drawing/2014/main" val="20009"/>
                    </a:ext>
                  </a:extLst>
                </a:gridCol>
                <a:gridCol w="1461564">
                  <a:extLst>
                    <a:ext uri="{9D8B030D-6E8A-4147-A177-3AD203B41FA5}">
                      <a16:colId xmlns:a16="http://schemas.microsoft.com/office/drawing/2014/main" val="20010"/>
                    </a:ext>
                  </a:extLst>
                </a:gridCol>
                <a:gridCol w="1024112">
                  <a:extLst>
                    <a:ext uri="{9D8B030D-6E8A-4147-A177-3AD203B41FA5}">
                      <a16:colId xmlns:a16="http://schemas.microsoft.com/office/drawing/2014/main" val="20011"/>
                    </a:ext>
                  </a:extLst>
                </a:gridCol>
                <a:gridCol w="1114973">
                  <a:extLst>
                    <a:ext uri="{9D8B030D-6E8A-4147-A177-3AD203B41FA5}">
                      <a16:colId xmlns:a16="http://schemas.microsoft.com/office/drawing/2014/main" val="20012"/>
                    </a:ext>
                  </a:extLst>
                </a:gridCol>
                <a:gridCol w="1611901">
                  <a:extLst>
                    <a:ext uri="{9D8B030D-6E8A-4147-A177-3AD203B41FA5}">
                      <a16:colId xmlns:a16="http://schemas.microsoft.com/office/drawing/2014/main" val="20013"/>
                    </a:ext>
                  </a:extLst>
                </a:gridCol>
                <a:gridCol w="1566133">
                  <a:extLst>
                    <a:ext uri="{9D8B030D-6E8A-4147-A177-3AD203B41FA5}">
                      <a16:colId xmlns:a16="http://schemas.microsoft.com/office/drawing/2014/main" val="20014"/>
                    </a:ext>
                  </a:extLst>
                </a:gridCol>
                <a:gridCol w="737273">
                  <a:extLst>
                    <a:ext uri="{9D8B030D-6E8A-4147-A177-3AD203B41FA5}">
                      <a16:colId xmlns:a16="http://schemas.microsoft.com/office/drawing/2014/main" val="20015"/>
                    </a:ext>
                  </a:extLst>
                </a:gridCol>
              </a:tblGrid>
              <a:tr h="158721">
                <a:tc gridSpan="9">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59517">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Santa Rosa Hospital - Alamo Heights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Health Santa Rosa Hospital - San Marcos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Southeast Texas Jasper Memorial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St Michael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Spohn Hospital - Alice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Mother Frances Hospital - Jacksonville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Mother Frances Hospital - Winnsboro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Childrens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$242,298K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$38,679K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$3,993K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$180,041K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$19,135K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$5,678K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$3,156K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$203,301K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05904">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$287,226K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$83,684K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$33,172K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$287,544K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$50,320K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$80,677K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$20,945K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$228,776K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188033">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$16,250K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$4,541K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$80,883K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$8,576K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$-4,636K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64839">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$21,942K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$10,459K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$62,826K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$19,372K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$13,118K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$4,589K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$529,524K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$84,204K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$22,236K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$322,809K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$41,450K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$77,751K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$19,240K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$431,448K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$14,124K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$6,180K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$33,953K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$12,481K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$4,420K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$2,025K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$258,117K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$37,283K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$3,414K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$177,627K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$15,256K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$5,019K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$2,815K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$201,926K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$305,979K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$80,664K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$28,359K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$283,688K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$40,119K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$71,311K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$18,686K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$227,229K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$564,096K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$117,947K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$31,773K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$461,315K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$55,376K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$76,329K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$21,502K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$429,155K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188033">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$-34,572K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$4,449K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$5,464K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$5,203K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$14,022K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$9,904K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$2,564K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$2,347K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4696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dirty="0">
                          <a:solidFill>
                            <a:srgbClr val="000000">
                              <a:alpha val="100000"/>
                            </a:srgbClr>
                          </a:solidFill>
                          <a:latin typeface="Montserrat"/>
                          <a:cs typeface="Arial"/>
                          <a:sym typeface="Arial"/>
                        </a:rPr>
                        <a:t>26.7%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dirty="0">
                          <a:solidFill>
                            <a:srgbClr val="000000">
                              <a:alpha val="100000"/>
                            </a:srgbClr>
                          </a:solidFill>
                          <a:latin typeface="Montserrat"/>
                          <a:cs typeface="Arial"/>
                          <a:sym typeface="Arial"/>
                        </a:rPr>
                        <a:t>39.3%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dirty="0">
                          <a:solidFill>
                            <a:srgbClr val="000000">
                              <a:alpha val="100000"/>
                            </a:srgbClr>
                          </a:solidFill>
                          <a:latin typeface="Montserrat"/>
                          <a:cs typeface="Arial"/>
                          <a:sym typeface="Arial"/>
                        </a:rPr>
                        <a:t>24.5%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43.2%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dirty="0">
                          <a:solidFill>
                            <a:srgbClr val="000000">
                              <a:alpha val="100000"/>
                            </a:srgbClr>
                          </a:solidFill>
                          <a:latin typeface="Montserrat"/>
                          <a:cs typeface="Arial"/>
                          <a:sym typeface="Arial"/>
                        </a:rPr>
                        <a:t>25.7%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dirty="0">
                          <a:solidFill>
                            <a:srgbClr val="000000">
                              <a:alpha val="100000"/>
                            </a:srgbClr>
                          </a:solidFill>
                          <a:latin typeface="Montserrat"/>
                          <a:cs typeface="Arial"/>
                          <a:sym typeface="Arial"/>
                        </a:rPr>
                        <a:t>0.6%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0">
                <a:tc gridSpan="9">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gridSpan="9">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2. Medicare costs are taken from the Medicare Provider Analysis and Review (</a:t>
                      </a:r>
                      <a:r>
                        <a:rPr sz="700" b="0" i="0" u="none" strike="noStrike" cap="none" dirty="0" err="1">
                          <a:solidFill>
                            <a:srgbClr val="666666">
                              <a:alpha val="100000"/>
                            </a:srgbClr>
                          </a:solidFill>
                          <a:latin typeface="Montserrat"/>
                          <a:cs typeface="Arial"/>
                          <a:sym typeface="Arial"/>
                        </a:rPr>
                        <a:t>MedPAR</a:t>
                      </a:r>
                      <a:r>
                        <a:rPr sz="700" b="0" i="0" u="none" strike="noStrik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gridSpan="9">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54355">
                <a:tc gridSpan="9">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2CAC-698E-390B-C571-2E3FF269D0B6}"/>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58D60AB-CBE8-FE0E-F91F-E65880E41E5F}"/>
              </a:ext>
            </a:extLst>
          </p:cNvPr>
          <p:cNvGraphicFramePr>
            <a:graphicFrameLocks noGrp="1"/>
          </p:cNvGraphicFramePr>
          <p:nvPr>
            <p:extLst>
              <p:ext uri="{D42A27DB-BD31-4B8C-83A1-F6EECF244321}">
                <p14:modId xmlns:p14="http://schemas.microsoft.com/office/powerpoint/2010/main" val="2447132563"/>
              </p:ext>
            </p:extLst>
          </p:nvPr>
        </p:nvGraphicFramePr>
        <p:xfrm>
          <a:off x="0" y="1"/>
          <a:ext cx="12192000" cy="6850793"/>
        </p:xfrm>
        <a:graphic>
          <a:graphicData uri="http://schemas.openxmlformats.org/drawingml/2006/table">
            <a:tbl>
              <a:tblPr/>
              <a:tblGrid>
                <a:gridCol w="1506440">
                  <a:extLst>
                    <a:ext uri="{9D8B030D-6E8A-4147-A177-3AD203B41FA5}">
                      <a16:colId xmlns:a16="http://schemas.microsoft.com/office/drawing/2014/main" val="20000"/>
                    </a:ext>
                  </a:extLst>
                </a:gridCol>
                <a:gridCol w="1762928">
                  <a:extLst>
                    <a:ext uri="{9D8B030D-6E8A-4147-A177-3AD203B41FA5}">
                      <a16:colId xmlns:a16="http://schemas.microsoft.com/office/drawing/2014/main" val="20001"/>
                    </a:ext>
                  </a:extLst>
                </a:gridCol>
                <a:gridCol w="1413873">
                  <a:extLst>
                    <a:ext uri="{9D8B030D-6E8A-4147-A177-3AD203B41FA5}">
                      <a16:colId xmlns:a16="http://schemas.microsoft.com/office/drawing/2014/main" val="20002"/>
                    </a:ext>
                  </a:extLst>
                </a:gridCol>
                <a:gridCol w="1773666">
                  <a:extLst>
                    <a:ext uri="{9D8B030D-6E8A-4147-A177-3AD203B41FA5}">
                      <a16:colId xmlns:a16="http://schemas.microsoft.com/office/drawing/2014/main" val="20003"/>
                    </a:ext>
                  </a:extLst>
                </a:gridCol>
                <a:gridCol w="1250162">
                  <a:extLst>
                    <a:ext uri="{9D8B030D-6E8A-4147-A177-3AD203B41FA5}">
                      <a16:colId xmlns:a16="http://schemas.microsoft.com/office/drawing/2014/main" val="20004"/>
                    </a:ext>
                  </a:extLst>
                </a:gridCol>
                <a:gridCol w="1442952">
                  <a:extLst>
                    <a:ext uri="{9D8B030D-6E8A-4147-A177-3AD203B41FA5}">
                      <a16:colId xmlns:a16="http://schemas.microsoft.com/office/drawing/2014/main" val="20005"/>
                    </a:ext>
                  </a:extLst>
                </a:gridCol>
                <a:gridCol w="1246424">
                  <a:extLst>
                    <a:ext uri="{9D8B030D-6E8A-4147-A177-3AD203B41FA5}">
                      <a16:colId xmlns:a16="http://schemas.microsoft.com/office/drawing/2014/main" val="20006"/>
                    </a:ext>
                  </a:extLst>
                </a:gridCol>
                <a:gridCol w="1795555">
                  <a:extLst>
                    <a:ext uri="{9D8B030D-6E8A-4147-A177-3AD203B41FA5}">
                      <a16:colId xmlns:a16="http://schemas.microsoft.com/office/drawing/2014/main" val="20007"/>
                    </a:ext>
                  </a:extLst>
                </a:gridCol>
              </a:tblGrid>
              <a:tr h="287450">
                <a:tc gridSpan="8">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050398">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Good Shepherd Medical Center - Marshall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Southeast Texas - St Elizabeth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Spohn Hospital Corpus Christi - Shoreline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Spohn Hospital - Beeville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Mother Frances Hospital - Tyler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Spohn Hospital - Kleberg</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CHRISTUS Mother Frances Hospital - Sulphur Springs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$235,013K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$190,238K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$327,319K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$9,039K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$393,684K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$13,229K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$39,717K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87205">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$384,111K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$238,529K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$366,025K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$30,669K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$586,137K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$35,465K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$93,147K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9475">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$81,218K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$61,655K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$88,715K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$4,593K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$171,777K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$4,622K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$20,683K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49698">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$112,462K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$70,072K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$194,618K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$13,028K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$128,322K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$16,830K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$24,811K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$425,440K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$297,598K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$411,606K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$22,188K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$682,681K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$27,325K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$87,142K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$63,656K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$49,486K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$213,332K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$9,061K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$62,439K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$9,998K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$10,156K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$232,197K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$185,000K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$354,766K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$8,273K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$518,725K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$12,058K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$34,400K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$379,509K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$231,961K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$396,717K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$28,069K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$772,304K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$32,327K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$80,677K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$611,707K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$416,961K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$751,483K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$36,341K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$1,291,028K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$44,385K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$115,076K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9475">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$7,413K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$12,364K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$-56,544K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$3,469K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$-308,248K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$4,393K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$17,559K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93341">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24.9%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25.8%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23.3%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-0.5%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36.9%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strike="noStrike" cap="none">
                          <a:solidFill>
                            <a:srgbClr val="000000">
                              <a:alpha val="100000"/>
                            </a:srgbClr>
                          </a:solidFill>
                          <a:latin typeface="Montserrat"/>
                          <a:cs typeface="Arial"/>
                          <a:sym typeface="Arial"/>
                        </a:rPr>
                        <a:t>35.5%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4708">
                <a:tc gridSpan="8">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4708">
                <a:tc gridSpan="8">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2. Medicare costs are taken from the Medicare Provider Analysis and Review (</a:t>
                      </a:r>
                      <a:r>
                        <a:rPr sz="700" b="0" i="0" u="none" strike="noStrike" cap="none" dirty="0" err="1">
                          <a:solidFill>
                            <a:srgbClr val="666666">
                              <a:alpha val="100000"/>
                            </a:srgbClr>
                          </a:solidFill>
                          <a:latin typeface="Montserrat"/>
                          <a:cs typeface="Arial"/>
                          <a:sym typeface="Arial"/>
                        </a:rPr>
                        <a:t>MedPAR</a:t>
                      </a:r>
                      <a:r>
                        <a:rPr sz="700" b="0" i="0" u="none" strike="noStrik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4708">
                <a:tc gridSpan="8">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4708">
                <a:tc gridSpan="8">
                  <a:txBody>
                    <a:bodyPr/>
                    <a:lstStyle/>
                    <a:p>
                      <a:pPr marL="63500" marR="63500" algn="l">
                        <a:lnSpc>
                          <a:spcPct val="100000"/>
                        </a:lnSpc>
                        <a:spcBef>
                          <a:spcPts val="500"/>
                        </a:spcBef>
                        <a:spcAft>
                          <a:spcPts val="500"/>
                        </a:spcAft>
                        <a:buNone/>
                      </a:pPr>
                      <a:r>
                        <a:rPr sz="7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43411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CHRISTUS Health has 18% inpatient market share, and 15% outpatient market compared to hospitals/clinics in the CHRISTUS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CHRISTUS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190370078"/>
              </p:ext>
            </p:extLst>
          </p:nvPr>
        </p:nvGraphicFramePr>
        <p:xfrm>
          <a:off x="599440" y="924560"/>
          <a:ext cx="7438135" cy="5238487"/>
        </p:xfrm>
        <a:graphic>
          <a:graphicData uri="http://schemas.openxmlformats.org/drawingml/2006/table">
            <a:tbl>
              <a:tblPr/>
              <a:tblGrid>
                <a:gridCol w="1487627">
                  <a:extLst>
                    <a:ext uri="{9D8B030D-6E8A-4147-A177-3AD203B41FA5}">
                      <a16:colId xmlns:a16="http://schemas.microsoft.com/office/drawing/2014/main" val="20000"/>
                    </a:ext>
                  </a:extLst>
                </a:gridCol>
                <a:gridCol w="1487627">
                  <a:extLst>
                    <a:ext uri="{9D8B030D-6E8A-4147-A177-3AD203B41FA5}">
                      <a16:colId xmlns:a16="http://schemas.microsoft.com/office/drawing/2014/main" val="20001"/>
                    </a:ext>
                  </a:extLst>
                </a:gridCol>
                <a:gridCol w="1487627">
                  <a:extLst>
                    <a:ext uri="{9D8B030D-6E8A-4147-A177-3AD203B41FA5}">
                      <a16:colId xmlns:a16="http://schemas.microsoft.com/office/drawing/2014/main" val="20002"/>
                    </a:ext>
                  </a:extLst>
                </a:gridCol>
                <a:gridCol w="1487627">
                  <a:extLst>
                    <a:ext uri="{9D8B030D-6E8A-4147-A177-3AD203B41FA5}">
                      <a16:colId xmlns:a16="http://schemas.microsoft.com/office/drawing/2014/main" val="20003"/>
                    </a:ext>
                  </a:extLst>
                </a:gridCol>
                <a:gridCol w="1487627">
                  <a:extLst>
                    <a:ext uri="{9D8B030D-6E8A-4147-A177-3AD203B41FA5}">
                      <a16:colId xmlns:a16="http://schemas.microsoft.com/office/drawing/2014/main" val="20004"/>
                    </a:ext>
                  </a:extLst>
                </a:gridCol>
              </a:tblGrid>
              <a:tr h="94464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CHRISTUS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CHRISTUS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24,800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$ 16,250,485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$ 24,157,915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$ 11,281,541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$ 51,689,940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$ 2,080,062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$ 3,092,213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$ 1,444,037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$ 6,616,312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$ 18,980,391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$ 297,600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$ 18,985,191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$ 19,097,991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$ 60,589,772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$ 95,013,825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$ 44,370,649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$ 199,974,246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$ 7,755,491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$ 12,161,770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$ 5,679,443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$ 25,596,704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18% (inpatient) and 15%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12.8%,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97642228"/>
              </p:ext>
            </p:extLst>
          </p:nvPr>
        </p:nvGraphicFramePr>
        <p:xfrm>
          <a:off x="0" y="0"/>
          <a:ext cx="12198096" cy="6751318"/>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7754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49792">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5150">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$16,381.5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$2,183.3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$10,916.3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$54,581.7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$1,397.3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$6,986.5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$38,200.1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$977.9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$4,889.6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$487.1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$974.1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$4,870.5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$24,352.7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$16,541.4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$82,707.1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$2,117.3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$10,586.5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$2,334.2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$58,354.4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$1,493.9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$7,469.4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$11,372.5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$772.5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$7,724.7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$38,623.5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515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$1,090.0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$5,450.2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$27,251.0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8856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$697.6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$3,488.1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5150">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$315.9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$2,899.4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$15,817.1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0419798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$2,084.3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$52,106.8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$7,036.5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$35,182.5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$175,912.3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$4,952.2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$24,761.1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$123,805.5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$22,516.8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$633.9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$15,847.1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$315.9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$2,899.4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$15,817.1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88730499"/>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$2,084.3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$52,106.8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$8,369.7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$209,243.2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$3,142.7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$6,285.5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$31,427.3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$157,136.4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$7,449.1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$37,245.3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$6,115.1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$30,575.6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$287.5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$905.0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$5,845.1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$30,545.6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16326054"/>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$2,084.3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$10,421.4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$52,106.8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$5,702.9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$28,514.3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$142,571.4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$90,464.6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$-235.0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$620.2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$4,420.9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41</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49520" y="24317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CHRISTUS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CHRISTUS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CHRISTUS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CHRISTUS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CHRISTUS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CHRISTUS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44</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45</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46178</TotalTime>
  <Words>6001</Words>
  <Application>Microsoft Office PowerPoint</Application>
  <PresentationFormat>Widescreen</PresentationFormat>
  <Paragraphs>1553</Paragraphs>
  <Slides>45</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45</vt:i4>
      </vt:variant>
    </vt:vector>
  </HeadingPairs>
  <TitlesOfParts>
    <vt:vector size="59"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CHRISTUS HEALTH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CHRISTUS HEALTH’S 2023 PAYER MIX</vt:lpstr>
      <vt:lpstr>ESTIMATION OF MARGIN FOR COMMERCIAL VS. GOVERNMENT PAY</vt:lpstr>
      <vt:lpstr>ESTIMATING MARKET SHARE</vt:lpstr>
      <vt:lpstr>PowerPoint Presentation</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2026-01-10T17:38:48Z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