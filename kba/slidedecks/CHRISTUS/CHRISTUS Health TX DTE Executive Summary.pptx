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0"/>
  </p:notesMasterIdLst>
  <p:sldIdLst>
    <p:sldId id="588" r:id="rId8"/>
    <p:sldId id="454" r:id="rId9"/>
    <p:sldId id="2145726874" r:id="rId10"/>
    <p:sldId id="549" r:id="rId11"/>
    <p:sldId id="559" r:id="rId12"/>
    <p:sldId id="580" r:id="rId13"/>
    <p:sldId id="582" r:id="rId14"/>
    <p:sldId id="548" r:id="rId15"/>
    <p:sldId id="2145726870" r:id="rId16"/>
    <p:sldId id="585" r:id="rId17"/>
    <p:sldId id="536" r:id="rId18"/>
    <p:sldId id="472" r:id="rId19"/>
  </p:sldIdLst>
  <p:sldSz cx="12192000" cy="6858000"/>
  <p:notesSz cx="7315200" cy="96012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78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ommentAuthors" Target="commentAuthors.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1/10/2026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9</a:t>
            </a:fld>
            <a:endParaRPr lang="en-US" altLang="en-US">
              <a:solidFill>
                <a:srgbClr val="000000"/>
              </a:solidFill>
              <a:latin typeface="Montserrat" panose="000005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1/10/2026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1/10/2026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1/10/2026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1/10/2026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1/10/2026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1/10/2026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1/10/2026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1/10/2026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25.svg"/><Relationship Id="rId11" Type="http://schemas.openxmlformats.org/officeDocument/2006/relationships/image" Target="../media/image1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CHRISTUS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dirty="0">
                <a:solidFill>
                  <a:srgbClr val="000B2E"/>
                </a:solidFill>
              </a:rPr>
              <a:t>Our Founding and Heritage:</a:t>
            </a:r>
            <a:br>
              <a:rPr lang="en-US" sz="4000" b="1" dirty="0">
                <a:solidFill>
                  <a:srgbClr val="000B2E"/>
                </a:solidFill>
              </a:rPr>
            </a:br>
            <a:r>
              <a:rPr lang="en-US" sz="3600" b="0" dirty="0">
                <a:solidFill>
                  <a:srgbClr val="000B2E"/>
                </a:solidFill>
              </a:rPr>
              <a:t>47 Years of Striving for Honesty in Healthcare</a:t>
            </a:r>
            <a:endParaRPr lang="en-US" sz="1600" b="0" dirty="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5"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26397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57435" y="1353600"/>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3,800+ Employers       830,000</a:t>
            </a:r>
            <a:r>
              <a:rPr lang="en-US" sz="1600" spc="200" dirty="0">
                <a:latin typeface="Montserrat" panose="00000500000000000000" pitchFamily="2" charset="0"/>
                <a:cs typeface="+mj-cs"/>
                <a:sym typeface="Wingdings" panose="05000000000000000000" pitchFamily="2" charset="2"/>
              </a:rPr>
              <a:t>+ Employees       1.5M+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787648104"/>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2,016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543</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308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86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58</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151,200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135,000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162,900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215,600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172,000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348,000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272,200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243,000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293,200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388,100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309,600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626,400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694944" y="19688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2340670" y="5592852"/>
            <a:ext cx="9514366" cy="1107996"/>
          </a:xfrm>
          <a:prstGeom prst="rect">
            <a:avLst/>
          </a:prstGeom>
          <a:noFill/>
        </p:spPr>
        <p:txBody>
          <a:bodyPr wrap="square" rtlCol="0">
            <a:spAutoFit/>
          </a:bodyPr>
          <a:lstStyle/>
          <a:p>
            <a:r>
              <a:rPr lang="en-US" sz="1100" dirty="0">
                <a:solidFill/>
                <a:latin typeface="Montserrat" panose="00000500000000000000" pitchFamily="2" charset="0"/>
              </a:rPr>
              <a:t>Estimates includes the CHRISTUS Health service area in Hempstead, Howard, Lafayette, Little River, Miller, Sevier, Caddo, Calcasieu, Cameron, Anderson, Angelina, Aransas, Atascosa, Bandera, Bee, Bexar, Blanco, Bowie, Brooks, Caldwell, Camp, Cass, Chambers, Cherokee, Comal, Delta, Duval, Fannin, Franklin, Goliad, Gregg, Guadalupe, Hardin, Harrison, Hays, Henderson, Hopkins, Houston, Hunt, Jasper, Jefferson, Jim Wells, Karnes, Kendall, Kenedy, Kleberg, Lamar, Liberty, Live Oak, Marion, Medina, Morris, Nacogdoches, Newton, Nueces, Orange, Panola, Rains, Red River, Refugio, Rusk, Sabine, San Augustine, San Patricio, Smith, Titus, Travis, Tyler, Upshur, Van Zandt, Wilson, and Wood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5,137K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2,963K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1,819K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1,016K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566973" y="1615659"/>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$77.15M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$9.98M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$460.23M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$60.41M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$944.52M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$123.97M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3,229.4K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6,458.8K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12,026.6K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2,959.4K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6,398.8K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12,044.6K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19,395.6K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4,456.6K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8,913.2K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16,472.8K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26,507.2K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4,209.4K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8,898.8K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16,564.0K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26,736.4K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7,507.5K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12,048.7K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1,709.4K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3,898.9K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7,451.1K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12,054.7K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9</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400" dirty="0">
                <a:solidFill>
                  <a:srgbClr val="000000"/>
                </a:solidFill>
              </a:rPr>
              <a:t>CHRISTUS Health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CHRISTUS</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CHRISTUS Health has 18% inpatient market share, and 15% outpatient market compared to hospitals/clinics in the CHRISTUS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CHRISTUS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190370078"/>
              </p:ext>
            </p:extLst>
          </p:nvPr>
        </p:nvGraphicFramePr>
        <p:xfrm>
          <a:off x="599440" y="924560"/>
          <a:ext cx="7438135" cy="5238487"/>
        </p:xfrm>
        <a:graphic>
          <a:graphicData uri="http://schemas.openxmlformats.org/drawingml/2006/table">
            <a:tbl>
              <a:tblPr/>
              <a:tblGrid>
                <a:gridCol w="1487627">
                  <a:extLst>
                    <a:ext uri="{9D8B030D-6E8A-4147-A177-3AD203B41FA5}">
                      <a16:colId xmlns:a16="http://schemas.microsoft.com/office/drawing/2014/main" val="20000"/>
                    </a:ext>
                  </a:extLst>
                </a:gridCol>
                <a:gridCol w="1487627">
                  <a:extLst>
                    <a:ext uri="{9D8B030D-6E8A-4147-A177-3AD203B41FA5}">
                      <a16:colId xmlns:a16="http://schemas.microsoft.com/office/drawing/2014/main" val="20001"/>
                    </a:ext>
                  </a:extLst>
                </a:gridCol>
                <a:gridCol w="1487627">
                  <a:extLst>
                    <a:ext uri="{9D8B030D-6E8A-4147-A177-3AD203B41FA5}">
                      <a16:colId xmlns:a16="http://schemas.microsoft.com/office/drawing/2014/main" val="20002"/>
                    </a:ext>
                  </a:extLst>
                </a:gridCol>
                <a:gridCol w="1487627">
                  <a:extLst>
                    <a:ext uri="{9D8B030D-6E8A-4147-A177-3AD203B41FA5}">
                      <a16:colId xmlns:a16="http://schemas.microsoft.com/office/drawing/2014/main" val="20003"/>
                    </a:ext>
                  </a:extLst>
                </a:gridCol>
                <a:gridCol w="1487627">
                  <a:extLst>
                    <a:ext uri="{9D8B030D-6E8A-4147-A177-3AD203B41FA5}">
                      <a16:colId xmlns:a16="http://schemas.microsoft.com/office/drawing/2014/main" val="20004"/>
                    </a:ext>
                  </a:extLst>
                </a:gridCol>
              </a:tblGrid>
              <a:tr h="94464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CHRISTUS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CHRISTUS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469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24,800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$ 16,250,485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$ 24,157,915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$ 11,281,541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$ 51,689,940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$ 2,080,062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$ 3,092,213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$ 1,444,037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$ 6,616,312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$ 18,980,391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$ 297,600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$ 18,985,191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$ 19,097,991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$ 60,589,772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$ 95,013,825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$ 44,370,649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$ 199,974,246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$ 7,755,491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$ 12,161,770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$ 5,679,443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$ 25,596,704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18% (inpatient) and 15%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12.8%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12.8%,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12</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46181</TotalTime>
  <Words>1297</Words>
  <Application>Microsoft Office PowerPoint</Application>
  <PresentationFormat>Widescreen</PresentationFormat>
  <Paragraphs>416</Paragraphs>
  <Slides>12</Slides>
  <Notes>3</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12</vt:i4>
      </vt:variant>
    </vt:vector>
  </HeadingPairs>
  <TitlesOfParts>
    <vt:vector size="19"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Our Founding and Heritage: 47 Years of Striving for Honesty in Healthcare</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PowerPoint Presentation</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2026-01-10T17:41:44Z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