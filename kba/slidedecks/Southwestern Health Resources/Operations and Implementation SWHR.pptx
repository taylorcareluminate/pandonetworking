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719" r:id="rId2"/>
  </p:sldMasterIdLst>
  <p:notesMasterIdLst>
    <p:notesMasterId r:id="rId13"/>
  </p:notesMasterIdLst>
  <p:sldIdLst>
    <p:sldId id="256" r:id="rId3"/>
    <p:sldId id="288" r:id="rId4"/>
    <p:sldId id="289" r:id="rId5"/>
    <p:sldId id="290" r:id="rId6"/>
    <p:sldId id="2145726904" r:id="rId7"/>
    <p:sldId id="2145726906" r:id="rId8"/>
    <p:sldId id="471" r:id="rId9"/>
    <p:sldId id="2145726907" r:id="rId10"/>
    <p:sldId id="474" r:id="rId11"/>
    <p:sldId id="475" r:id="rId12"/>
  </p:sldIdLst>
  <p:sldSz cx="12192000" cy="6858000"/>
  <p:notesSz cx="6858000" cy="12192000"/>
  <p:embeddedFontLst>
    <p:embeddedFont>
      <p:font typeface="Aptos Narrow" panose="020B0004020202020204" pitchFamily="34" charset="0"/>
      <p:regular r:id="rId14"/>
      <p:bold r:id="rId15"/>
      <p:italic r:id="rId16"/>
      <p:boldItalic r:id="rId17"/>
    </p:embeddedFont>
    <p:embeddedFont>
      <p:font typeface="Montserrat" panose="00000500000000000000" pitchFamily="2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E2597A-94BE-EE4F-A6CE-E20FE57E2F9C}" name="Guest User" initials="GU" userId="S::urn:spo:anon#4882e948f16bd08fe685987adb7b014b58869755eb6e2ab80c2be75a5daf6f48::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627"/>
    <a:srgbClr val="F2F2F2"/>
    <a:srgbClr val="D9D9D9"/>
    <a:srgbClr val="00539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C6A479-2B13-4E73-B5C0-752C17262EDA}" v="2" dt="2025-09-09T14:11:05.9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6043" autoAdjust="0"/>
  </p:normalViewPr>
  <p:slideViewPr>
    <p:cSldViewPr snapToGrid="0" snapToObjects="1">
      <p:cViewPr varScale="1">
        <p:scale>
          <a:sx n="106" d="100"/>
          <a:sy n="106" d="100"/>
        </p:scale>
        <p:origin x="7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microsoft.com/office/2015/10/relationships/revisionInfo" Target="revisionInfo.xml"/><Relationship Id="rId3" Type="http://schemas.openxmlformats.org/officeDocument/2006/relationships/slide" Target="slides/slide1.xml"/><Relationship Id="rId21" Type="http://schemas.openxmlformats.org/officeDocument/2006/relationships/font" Target="fonts/font8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78C014-5C7B-4F8F-BC56-FC5533991E38}" type="doc">
      <dgm:prSet loTypeId="urn:microsoft.com/office/officeart/2005/8/layout/chevron2" loCatId="process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7D64AA0B-E088-43C2-9893-99B89A7A17F8}">
      <dgm:prSet phldrT="[Text]"/>
      <dgm:spPr/>
      <dgm:t>
        <a:bodyPr/>
        <a:lstStyle/>
        <a:p>
          <a:r>
            <a:rPr lang="en-US" dirty="0"/>
            <a:t>Claim Processed and Released</a:t>
          </a:r>
        </a:p>
      </dgm:t>
    </dgm:pt>
    <dgm:pt modelId="{3B646130-37CD-4C73-853E-5C0DB724E84D}" type="parTrans" cxnId="{6EDB594F-164E-412C-BA49-10E75F1FD030}">
      <dgm:prSet/>
      <dgm:spPr/>
      <dgm:t>
        <a:bodyPr/>
        <a:lstStyle/>
        <a:p>
          <a:endParaRPr lang="en-US"/>
        </a:p>
      </dgm:t>
    </dgm:pt>
    <dgm:pt modelId="{2D27CCDA-A1B9-4A74-A18D-2E13D85DCFFE}" type="sibTrans" cxnId="{6EDB594F-164E-412C-BA49-10E75F1FD030}">
      <dgm:prSet/>
      <dgm:spPr/>
      <dgm:t>
        <a:bodyPr/>
        <a:lstStyle/>
        <a:p>
          <a:endParaRPr lang="en-US"/>
        </a:p>
      </dgm:t>
    </dgm:pt>
    <dgm:pt modelId="{5FB22D29-551C-4759-AE50-DD655E633B70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Claim is processed and paid</a:t>
          </a:r>
        </a:p>
      </dgm:t>
    </dgm:pt>
    <dgm:pt modelId="{C96AC9A8-7850-4AE7-A4CF-927AFAC8C0A2}" type="parTrans" cxnId="{B6839759-ADDB-46D7-9A72-1FCB695C5E07}">
      <dgm:prSet/>
      <dgm:spPr/>
      <dgm:t>
        <a:bodyPr/>
        <a:lstStyle/>
        <a:p>
          <a:endParaRPr lang="en-US"/>
        </a:p>
      </dgm:t>
    </dgm:pt>
    <dgm:pt modelId="{F99BA1C2-8631-41F5-AA06-B381F710BF72}" type="sibTrans" cxnId="{B6839759-ADDB-46D7-9A72-1FCB695C5E07}">
      <dgm:prSet/>
      <dgm:spPr/>
      <dgm:t>
        <a:bodyPr/>
        <a:lstStyle/>
        <a:p>
          <a:endParaRPr lang="en-US"/>
        </a:p>
      </dgm:t>
    </dgm:pt>
    <dgm:pt modelId="{3AA5A593-42A2-461D-811C-1195D32CC147}">
      <dgm:prSet phldrT="[Text]"/>
      <dgm:spPr/>
      <dgm:t>
        <a:bodyPr/>
        <a:lstStyle/>
        <a:p>
          <a:r>
            <a:rPr lang="en-US" dirty="0"/>
            <a:t>Claim Audited</a:t>
          </a:r>
        </a:p>
      </dgm:t>
    </dgm:pt>
    <dgm:pt modelId="{260E687E-BA90-40A6-B9EE-5AF7D4002B5D}" type="parTrans" cxnId="{75FE4F1D-0BA1-47D3-8852-5199EC7CA8CC}">
      <dgm:prSet/>
      <dgm:spPr/>
      <dgm:t>
        <a:bodyPr/>
        <a:lstStyle/>
        <a:p>
          <a:endParaRPr lang="en-US"/>
        </a:p>
      </dgm:t>
    </dgm:pt>
    <dgm:pt modelId="{C7B6DB01-8EF7-421E-8CC2-96A1E3B08BD7}" type="sibTrans" cxnId="{75FE4F1D-0BA1-47D3-8852-5199EC7CA8CC}">
      <dgm:prSet/>
      <dgm:spPr/>
      <dgm:t>
        <a:bodyPr/>
        <a:lstStyle/>
        <a:p>
          <a:endParaRPr lang="en-US"/>
        </a:p>
      </dgm:t>
    </dgm:pt>
    <dgm:pt modelId="{6CF34F05-6464-4A73-87BA-E3E57202BF8A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1" dirty="0"/>
            <a:t>After </a:t>
          </a:r>
          <a:r>
            <a:rPr lang="en-US" dirty="0"/>
            <a:t>the claim has been paid, a post payment audit review is completed</a:t>
          </a:r>
        </a:p>
      </dgm:t>
    </dgm:pt>
    <dgm:pt modelId="{9D87304B-922B-42EF-808E-05D3ED0945D3}" type="parTrans" cxnId="{4A1DBAD9-45C1-4AC9-B11B-1A233EED4D02}">
      <dgm:prSet/>
      <dgm:spPr/>
      <dgm:t>
        <a:bodyPr/>
        <a:lstStyle/>
        <a:p>
          <a:endParaRPr lang="en-US"/>
        </a:p>
      </dgm:t>
    </dgm:pt>
    <dgm:pt modelId="{442BE301-5B10-4DA3-AF9E-74602400796B}" type="sibTrans" cxnId="{4A1DBAD9-45C1-4AC9-B11B-1A233EED4D02}">
      <dgm:prSet/>
      <dgm:spPr/>
      <dgm:t>
        <a:bodyPr/>
        <a:lstStyle/>
        <a:p>
          <a:endParaRPr lang="en-US"/>
        </a:p>
      </dgm:t>
    </dgm:pt>
    <dgm:pt modelId="{668CC48A-FAFB-460C-A90A-94E5C574A6DA}">
      <dgm:prSet phldrT="[Text]"/>
      <dgm:spPr/>
      <dgm:t>
        <a:bodyPr/>
        <a:lstStyle/>
        <a:p>
          <a:r>
            <a:rPr lang="en-US" dirty="0"/>
            <a:t>Sent for Corrections</a:t>
          </a:r>
        </a:p>
      </dgm:t>
    </dgm:pt>
    <dgm:pt modelId="{CA67BC21-8059-4D03-A104-9F56AD93067C}" type="parTrans" cxnId="{2B588645-D124-4CE2-9E11-3B7E4A1E9B55}">
      <dgm:prSet/>
      <dgm:spPr/>
      <dgm:t>
        <a:bodyPr/>
        <a:lstStyle/>
        <a:p>
          <a:endParaRPr lang="en-US"/>
        </a:p>
      </dgm:t>
    </dgm:pt>
    <dgm:pt modelId="{18415F26-5A5C-4AE5-BA45-896162ECD430}" type="sibTrans" cxnId="{2B588645-D124-4CE2-9E11-3B7E4A1E9B55}">
      <dgm:prSet/>
      <dgm:spPr/>
      <dgm:t>
        <a:bodyPr/>
        <a:lstStyle/>
        <a:p>
          <a:endParaRPr lang="en-US"/>
        </a:p>
      </dgm:t>
    </dgm:pt>
    <dgm:pt modelId="{E81B153F-7934-411A-857D-8ACA6EA2C507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Costly adjustments are handled </a:t>
          </a:r>
          <a:r>
            <a:rPr lang="en-US" i="1" dirty="0"/>
            <a:t>after</a:t>
          </a:r>
          <a:r>
            <a:rPr lang="en-US" dirty="0"/>
            <a:t> the claims have been paid</a:t>
          </a:r>
        </a:p>
      </dgm:t>
    </dgm:pt>
    <dgm:pt modelId="{0BBE45C6-6828-444F-BD6F-42E628348E97}" type="parTrans" cxnId="{E13114F8-0F7A-405F-AADB-6D7EE968DED0}">
      <dgm:prSet/>
      <dgm:spPr/>
      <dgm:t>
        <a:bodyPr/>
        <a:lstStyle/>
        <a:p>
          <a:endParaRPr lang="en-US"/>
        </a:p>
      </dgm:t>
    </dgm:pt>
    <dgm:pt modelId="{6E7548C1-A478-4C58-944A-90CC31258985}" type="sibTrans" cxnId="{E13114F8-0F7A-405F-AADB-6D7EE968DED0}">
      <dgm:prSet/>
      <dgm:spPr/>
      <dgm:t>
        <a:bodyPr/>
        <a:lstStyle/>
        <a:p>
          <a:endParaRPr lang="en-US"/>
        </a:p>
      </dgm:t>
    </dgm:pt>
    <dgm:pt modelId="{79F67C37-0A3D-4C6B-B7EA-333F35290678}" type="pres">
      <dgm:prSet presAssocID="{3878C014-5C7B-4F8F-BC56-FC5533991E38}" presName="linearFlow" presStyleCnt="0">
        <dgm:presLayoutVars>
          <dgm:dir/>
          <dgm:animLvl val="lvl"/>
          <dgm:resizeHandles val="exact"/>
        </dgm:presLayoutVars>
      </dgm:prSet>
      <dgm:spPr/>
    </dgm:pt>
    <dgm:pt modelId="{AF2F2C5E-1608-4061-87FF-A1D063A90BF2}" type="pres">
      <dgm:prSet presAssocID="{7D64AA0B-E088-43C2-9893-99B89A7A17F8}" presName="composite" presStyleCnt="0"/>
      <dgm:spPr/>
    </dgm:pt>
    <dgm:pt modelId="{D7B7A642-2657-4582-BC07-14E821A39627}" type="pres">
      <dgm:prSet presAssocID="{7D64AA0B-E088-43C2-9893-99B89A7A17F8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C16ACEC4-03D1-40D9-8CD4-E6827ED5BD8F}" type="pres">
      <dgm:prSet presAssocID="{7D64AA0B-E088-43C2-9893-99B89A7A17F8}" presName="descendantText" presStyleLbl="alignAcc1" presStyleIdx="0" presStyleCnt="3" custLinFactNeighborX="-179" custLinFactNeighborY="-194">
        <dgm:presLayoutVars>
          <dgm:bulletEnabled val="1"/>
        </dgm:presLayoutVars>
      </dgm:prSet>
      <dgm:spPr/>
    </dgm:pt>
    <dgm:pt modelId="{32279E74-1FE4-4A32-AAC1-AFBF9A8173C9}" type="pres">
      <dgm:prSet presAssocID="{2D27CCDA-A1B9-4A74-A18D-2E13D85DCFFE}" presName="sp" presStyleCnt="0"/>
      <dgm:spPr/>
    </dgm:pt>
    <dgm:pt modelId="{17AD2DF5-13DE-43AD-9042-5A3EF93AEDA1}" type="pres">
      <dgm:prSet presAssocID="{3AA5A593-42A2-461D-811C-1195D32CC147}" presName="composite" presStyleCnt="0"/>
      <dgm:spPr/>
    </dgm:pt>
    <dgm:pt modelId="{1581A877-B86B-4F38-9DD4-81806E234168}" type="pres">
      <dgm:prSet presAssocID="{3AA5A593-42A2-461D-811C-1195D32CC147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67A2CA64-CBDF-48EE-B99B-3E1431F4CD9D}" type="pres">
      <dgm:prSet presAssocID="{3AA5A593-42A2-461D-811C-1195D32CC147}" presName="descendantText" presStyleLbl="alignAcc1" presStyleIdx="1" presStyleCnt="3" custScaleX="100265" custScaleY="96053">
        <dgm:presLayoutVars>
          <dgm:bulletEnabled val="1"/>
        </dgm:presLayoutVars>
      </dgm:prSet>
      <dgm:spPr/>
    </dgm:pt>
    <dgm:pt modelId="{D0C4EC4B-7184-4F80-B42B-505C0EED9945}" type="pres">
      <dgm:prSet presAssocID="{C7B6DB01-8EF7-421E-8CC2-96A1E3B08BD7}" presName="sp" presStyleCnt="0"/>
      <dgm:spPr/>
    </dgm:pt>
    <dgm:pt modelId="{5B0CD942-3438-4BC7-820F-1724457954CD}" type="pres">
      <dgm:prSet presAssocID="{668CC48A-FAFB-460C-A90A-94E5C574A6DA}" presName="composite" presStyleCnt="0"/>
      <dgm:spPr/>
    </dgm:pt>
    <dgm:pt modelId="{6AD3DDAD-8571-42C3-92B1-DA60C1C007DA}" type="pres">
      <dgm:prSet presAssocID="{668CC48A-FAFB-460C-A90A-94E5C574A6DA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8170D3C7-C652-4557-A219-C4E5876A5581}" type="pres">
      <dgm:prSet presAssocID="{668CC48A-FAFB-460C-A90A-94E5C574A6DA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71900A09-4C73-4E4B-8EBB-5E4AC75C02A1}" type="presOf" srcId="{7D64AA0B-E088-43C2-9893-99B89A7A17F8}" destId="{D7B7A642-2657-4582-BC07-14E821A39627}" srcOrd="0" destOrd="0" presId="urn:microsoft.com/office/officeart/2005/8/layout/chevron2"/>
    <dgm:cxn modelId="{61CB300E-9897-4E73-AF68-BFAAAE728AEB}" type="presOf" srcId="{3878C014-5C7B-4F8F-BC56-FC5533991E38}" destId="{79F67C37-0A3D-4C6B-B7EA-333F35290678}" srcOrd="0" destOrd="0" presId="urn:microsoft.com/office/officeart/2005/8/layout/chevron2"/>
    <dgm:cxn modelId="{75FE4F1D-0BA1-47D3-8852-5199EC7CA8CC}" srcId="{3878C014-5C7B-4F8F-BC56-FC5533991E38}" destId="{3AA5A593-42A2-461D-811C-1195D32CC147}" srcOrd="1" destOrd="0" parTransId="{260E687E-BA90-40A6-B9EE-5AF7D4002B5D}" sibTransId="{C7B6DB01-8EF7-421E-8CC2-96A1E3B08BD7}"/>
    <dgm:cxn modelId="{4F8CA320-9619-43E6-A029-1F4C713B59E4}" type="presOf" srcId="{668CC48A-FAFB-460C-A90A-94E5C574A6DA}" destId="{6AD3DDAD-8571-42C3-92B1-DA60C1C007DA}" srcOrd="0" destOrd="0" presId="urn:microsoft.com/office/officeart/2005/8/layout/chevron2"/>
    <dgm:cxn modelId="{2B588645-D124-4CE2-9E11-3B7E4A1E9B55}" srcId="{3878C014-5C7B-4F8F-BC56-FC5533991E38}" destId="{668CC48A-FAFB-460C-A90A-94E5C574A6DA}" srcOrd="2" destOrd="0" parTransId="{CA67BC21-8059-4D03-A104-9F56AD93067C}" sibTransId="{18415F26-5A5C-4AE5-BA45-896162ECD430}"/>
    <dgm:cxn modelId="{6EDB594F-164E-412C-BA49-10E75F1FD030}" srcId="{3878C014-5C7B-4F8F-BC56-FC5533991E38}" destId="{7D64AA0B-E088-43C2-9893-99B89A7A17F8}" srcOrd="0" destOrd="0" parTransId="{3B646130-37CD-4C73-853E-5C0DB724E84D}" sibTransId="{2D27CCDA-A1B9-4A74-A18D-2E13D85DCFFE}"/>
    <dgm:cxn modelId="{05216A76-27C6-436F-9F1B-3D7B850C6231}" type="presOf" srcId="{E81B153F-7934-411A-857D-8ACA6EA2C507}" destId="{8170D3C7-C652-4557-A219-C4E5876A5581}" srcOrd="0" destOrd="0" presId="urn:microsoft.com/office/officeart/2005/8/layout/chevron2"/>
    <dgm:cxn modelId="{6F88BA77-DFF3-45E7-A604-F4CEAD9F2241}" type="presOf" srcId="{5FB22D29-551C-4759-AE50-DD655E633B70}" destId="{C16ACEC4-03D1-40D9-8CD4-E6827ED5BD8F}" srcOrd="0" destOrd="0" presId="urn:microsoft.com/office/officeart/2005/8/layout/chevron2"/>
    <dgm:cxn modelId="{B6839759-ADDB-46D7-9A72-1FCB695C5E07}" srcId="{7D64AA0B-E088-43C2-9893-99B89A7A17F8}" destId="{5FB22D29-551C-4759-AE50-DD655E633B70}" srcOrd="0" destOrd="0" parTransId="{C96AC9A8-7850-4AE7-A4CF-927AFAC8C0A2}" sibTransId="{F99BA1C2-8631-41F5-AA06-B381F710BF72}"/>
    <dgm:cxn modelId="{E7FB3CCB-A3F4-4F04-A363-519E1432008C}" type="presOf" srcId="{3AA5A593-42A2-461D-811C-1195D32CC147}" destId="{1581A877-B86B-4F38-9DD4-81806E234168}" srcOrd="0" destOrd="0" presId="urn:microsoft.com/office/officeart/2005/8/layout/chevron2"/>
    <dgm:cxn modelId="{4A1DBAD9-45C1-4AC9-B11B-1A233EED4D02}" srcId="{3AA5A593-42A2-461D-811C-1195D32CC147}" destId="{6CF34F05-6464-4A73-87BA-E3E57202BF8A}" srcOrd="0" destOrd="0" parTransId="{9D87304B-922B-42EF-808E-05D3ED0945D3}" sibTransId="{442BE301-5B10-4DA3-AF9E-74602400796B}"/>
    <dgm:cxn modelId="{010004F3-1FB3-4976-BEFC-EBC8AF2F02A3}" type="presOf" srcId="{6CF34F05-6464-4A73-87BA-E3E57202BF8A}" destId="{67A2CA64-CBDF-48EE-B99B-3E1431F4CD9D}" srcOrd="0" destOrd="0" presId="urn:microsoft.com/office/officeart/2005/8/layout/chevron2"/>
    <dgm:cxn modelId="{E13114F8-0F7A-405F-AADB-6D7EE968DED0}" srcId="{668CC48A-FAFB-460C-A90A-94E5C574A6DA}" destId="{E81B153F-7934-411A-857D-8ACA6EA2C507}" srcOrd="0" destOrd="0" parTransId="{0BBE45C6-6828-444F-BD6F-42E628348E97}" sibTransId="{6E7548C1-A478-4C58-944A-90CC31258985}"/>
    <dgm:cxn modelId="{E76EBF81-316C-4C29-A21E-D37FDF9CEECD}" type="presParOf" srcId="{79F67C37-0A3D-4C6B-B7EA-333F35290678}" destId="{AF2F2C5E-1608-4061-87FF-A1D063A90BF2}" srcOrd="0" destOrd="0" presId="urn:microsoft.com/office/officeart/2005/8/layout/chevron2"/>
    <dgm:cxn modelId="{799C8ADE-1304-4B67-B6F2-1506B68C98BA}" type="presParOf" srcId="{AF2F2C5E-1608-4061-87FF-A1D063A90BF2}" destId="{D7B7A642-2657-4582-BC07-14E821A39627}" srcOrd="0" destOrd="0" presId="urn:microsoft.com/office/officeart/2005/8/layout/chevron2"/>
    <dgm:cxn modelId="{84D69041-F315-4BF2-ACAE-DA1A816BA7DB}" type="presParOf" srcId="{AF2F2C5E-1608-4061-87FF-A1D063A90BF2}" destId="{C16ACEC4-03D1-40D9-8CD4-E6827ED5BD8F}" srcOrd="1" destOrd="0" presId="urn:microsoft.com/office/officeart/2005/8/layout/chevron2"/>
    <dgm:cxn modelId="{6BAF6A6A-AE6A-463B-B31A-6712D927553E}" type="presParOf" srcId="{79F67C37-0A3D-4C6B-B7EA-333F35290678}" destId="{32279E74-1FE4-4A32-AAC1-AFBF9A8173C9}" srcOrd="1" destOrd="0" presId="urn:microsoft.com/office/officeart/2005/8/layout/chevron2"/>
    <dgm:cxn modelId="{E4B4A5FD-6981-46D3-9301-E47DC899D154}" type="presParOf" srcId="{79F67C37-0A3D-4C6B-B7EA-333F35290678}" destId="{17AD2DF5-13DE-43AD-9042-5A3EF93AEDA1}" srcOrd="2" destOrd="0" presId="urn:microsoft.com/office/officeart/2005/8/layout/chevron2"/>
    <dgm:cxn modelId="{118A06DF-36BC-4BDE-92F9-EC79C2646288}" type="presParOf" srcId="{17AD2DF5-13DE-43AD-9042-5A3EF93AEDA1}" destId="{1581A877-B86B-4F38-9DD4-81806E234168}" srcOrd="0" destOrd="0" presId="urn:microsoft.com/office/officeart/2005/8/layout/chevron2"/>
    <dgm:cxn modelId="{79699BCB-92ED-4881-8A41-C2CD00D19308}" type="presParOf" srcId="{17AD2DF5-13DE-43AD-9042-5A3EF93AEDA1}" destId="{67A2CA64-CBDF-48EE-B99B-3E1431F4CD9D}" srcOrd="1" destOrd="0" presId="urn:microsoft.com/office/officeart/2005/8/layout/chevron2"/>
    <dgm:cxn modelId="{F7A975A3-D6B2-472F-BE89-1C0B99E7D143}" type="presParOf" srcId="{79F67C37-0A3D-4C6B-B7EA-333F35290678}" destId="{D0C4EC4B-7184-4F80-B42B-505C0EED9945}" srcOrd="3" destOrd="0" presId="urn:microsoft.com/office/officeart/2005/8/layout/chevron2"/>
    <dgm:cxn modelId="{77F224AB-0618-482D-92E4-4EFFE12A92B6}" type="presParOf" srcId="{79F67C37-0A3D-4C6B-B7EA-333F35290678}" destId="{5B0CD942-3438-4BC7-820F-1724457954CD}" srcOrd="4" destOrd="0" presId="urn:microsoft.com/office/officeart/2005/8/layout/chevron2"/>
    <dgm:cxn modelId="{DF4ACAE7-AAA0-4EE4-AA4C-3C9C4D01A876}" type="presParOf" srcId="{5B0CD942-3438-4BC7-820F-1724457954CD}" destId="{6AD3DDAD-8571-42C3-92B1-DA60C1C007DA}" srcOrd="0" destOrd="0" presId="urn:microsoft.com/office/officeart/2005/8/layout/chevron2"/>
    <dgm:cxn modelId="{4EBC71A2-C512-4722-B205-95945E1391DF}" type="presParOf" srcId="{5B0CD942-3438-4BC7-820F-1724457954CD}" destId="{8170D3C7-C652-4557-A219-C4E5876A558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878C014-5C7B-4F8F-BC56-FC5533991E38}" type="doc">
      <dgm:prSet loTypeId="urn:microsoft.com/office/officeart/2005/8/layout/chevron2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7D64AA0B-E088-43C2-9893-99B89A7A17F8}">
      <dgm:prSet phldrT="[Text]"/>
      <dgm:spPr/>
      <dgm:t>
        <a:bodyPr/>
        <a:lstStyle/>
        <a:p>
          <a:r>
            <a:rPr lang="en-US" dirty="0"/>
            <a:t>Claim Processed</a:t>
          </a:r>
        </a:p>
      </dgm:t>
    </dgm:pt>
    <dgm:pt modelId="{3B646130-37CD-4C73-853E-5C0DB724E84D}" type="parTrans" cxnId="{6EDB594F-164E-412C-BA49-10E75F1FD030}">
      <dgm:prSet/>
      <dgm:spPr/>
      <dgm:t>
        <a:bodyPr/>
        <a:lstStyle/>
        <a:p>
          <a:endParaRPr lang="en-US"/>
        </a:p>
      </dgm:t>
    </dgm:pt>
    <dgm:pt modelId="{2D27CCDA-A1B9-4A74-A18D-2E13D85DCFFE}" type="sibTrans" cxnId="{6EDB594F-164E-412C-BA49-10E75F1FD030}">
      <dgm:prSet/>
      <dgm:spPr/>
      <dgm:t>
        <a:bodyPr/>
        <a:lstStyle/>
        <a:p>
          <a:endParaRPr lang="en-US"/>
        </a:p>
      </dgm:t>
    </dgm:pt>
    <dgm:pt modelId="{5FB22D29-551C-4759-AE50-DD655E633B70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dirty="0"/>
            <a:t>Processing completed by claim processor</a:t>
          </a:r>
        </a:p>
      </dgm:t>
    </dgm:pt>
    <dgm:pt modelId="{C96AC9A8-7850-4AE7-A4CF-927AFAC8C0A2}" type="parTrans" cxnId="{B6839759-ADDB-46D7-9A72-1FCB695C5E07}">
      <dgm:prSet/>
      <dgm:spPr/>
      <dgm:t>
        <a:bodyPr/>
        <a:lstStyle/>
        <a:p>
          <a:endParaRPr lang="en-US"/>
        </a:p>
      </dgm:t>
    </dgm:pt>
    <dgm:pt modelId="{F99BA1C2-8631-41F5-AA06-B381F710BF72}" type="sibTrans" cxnId="{B6839759-ADDB-46D7-9A72-1FCB695C5E07}">
      <dgm:prSet/>
      <dgm:spPr/>
      <dgm:t>
        <a:bodyPr/>
        <a:lstStyle/>
        <a:p>
          <a:endParaRPr lang="en-US"/>
        </a:p>
      </dgm:t>
    </dgm:pt>
    <dgm:pt modelId="{3AA5A593-42A2-461D-811C-1195D32CC147}">
      <dgm:prSet phldrT="[Text]"/>
      <dgm:spPr/>
      <dgm:t>
        <a:bodyPr/>
        <a:lstStyle/>
        <a:p>
          <a:r>
            <a:rPr lang="en-US" dirty="0"/>
            <a:t>Claim Audited</a:t>
          </a:r>
        </a:p>
      </dgm:t>
    </dgm:pt>
    <dgm:pt modelId="{260E687E-BA90-40A6-B9EE-5AF7D4002B5D}" type="parTrans" cxnId="{75FE4F1D-0BA1-47D3-8852-5199EC7CA8CC}">
      <dgm:prSet/>
      <dgm:spPr/>
      <dgm:t>
        <a:bodyPr/>
        <a:lstStyle/>
        <a:p>
          <a:endParaRPr lang="en-US"/>
        </a:p>
      </dgm:t>
    </dgm:pt>
    <dgm:pt modelId="{C7B6DB01-8EF7-421E-8CC2-96A1E3B08BD7}" type="sibTrans" cxnId="{75FE4F1D-0BA1-47D3-8852-5199EC7CA8CC}">
      <dgm:prSet/>
      <dgm:spPr/>
      <dgm:t>
        <a:bodyPr/>
        <a:lstStyle/>
        <a:p>
          <a:endParaRPr lang="en-US"/>
        </a:p>
      </dgm:t>
    </dgm:pt>
    <dgm:pt modelId="{6CF34F05-6464-4A73-87BA-E3E57202BF8A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dirty="0"/>
            <a:t>Claim not released until determined that it is correct</a:t>
          </a:r>
        </a:p>
      </dgm:t>
    </dgm:pt>
    <dgm:pt modelId="{9D87304B-922B-42EF-808E-05D3ED0945D3}" type="parTrans" cxnId="{4A1DBAD9-45C1-4AC9-B11B-1A233EED4D02}">
      <dgm:prSet/>
      <dgm:spPr/>
      <dgm:t>
        <a:bodyPr/>
        <a:lstStyle/>
        <a:p>
          <a:endParaRPr lang="en-US"/>
        </a:p>
      </dgm:t>
    </dgm:pt>
    <dgm:pt modelId="{442BE301-5B10-4DA3-AF9E-74602400796B}" type="sibTrans" cxnId="{4A1DBAD9-45C1-4AC9-B11B-1A233EED4D02}">
      <dgm:prSet/>
      <dgm:spPr/>
      <dgm:t>
        <a:bodyPr/>
        <a:lstStyle/>
        <a:p>
          <a:endParaRPr lang="en-US"/>
        </a:p>
      </dgm:t>
    </dgm:pt>
    <dgm:pt modelId="{668CC48A-FAFB-460C-A90A-94E5C574A6DA}">
      <dgm:prSet phldrT="[Text]"/>
      <dgm:spPr/>
      <dgm:t>
        <a:bodyPr/>
        <a:lstStyle/>
        <a:p>
          <a:r>
            <a:rPr lang="en-US" dirty="0"/>
            <a:t>Sent for Corrections</a:t>
          </a:r>
        </a:p>
      </dgm:t>
    </dgm:pt>
    <dgm:pt modelId="{CA67BC21-8059-4D03-A104-9F56AD93067C}" type="parTrans" cxnId="{2B588645-D124-4CE2-9E11-3B7E4A1E9B55}">
      <dgm:prSet/>
      <dgm:spPr/>
      <dgm:t>
        <a:bodyPr/>
        <a:lstStyle/>
        <a:p>
          <a:endParaRPr lang="en-US"/>
        </a:p>
      </dgm:t>
    </dgm:pt>
    <dgm:pt modelId="{18415F26-5A5C-4AE5-BA45-896162ECD430}" type="sibTrans" cxnId="{2B588645-D124-4CE2-9E11-3B7E4A1E9B55}">
      <dgm:prSet/>
      <dgm:spPr/>
      <dgm:t>
        <a:bodyPr/>
        <a:lstStyle/>
        <a:p>
          <a:endParaRPr lang="en-US"/>
        </a:p>
      </dgm:t>
    </dgm:pt>
    <dgm:pt modelId="{E81B153F-7934-411A-857D-8ACA6EA2C507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dirty="0"/>
            <a:t>If incorrect, sent to processor for correction and monitored </a:t>
          </a:r>
        </a:p>
      </dgm:t>
    </dgm:pt>
    <dgm:pt modelId="{0BBE45C6-6828-444F-BD6F-42E628348E97}" type="parTrans" cxnId="{E13114F8-0F7A-405F-AADB-6D7EE968DED0}">
      <dgm:prSet/>
      <dgm:spPr/>
      <dgm:t>
        <a:bodyPr/>
        <a:lstStyle/>
        <a:p>
          <a:endParaRPr lang="en-US"/>
        </a:p>
      </dgm:t>
    </dgm:pt>
    <dgm:pt modelId="{6E7548C1-A478-4C58-944A-90CC31258985}" type="sibTrans" cxnId="{E13114F8-0F7A-405F-AADB-6D7EE968DED0}">
      <dgm:prSet/>
      <dgm:spPr/>
      <dgm:t>
        <a:bodyPr/>
        <a:lstStyle/>
        <a:p>
          <a:endParaRPr lang="en-US"/>
        </a:p>
      </dgm:t>
    </dgm:pt>
    <dgm:pt modelId="{A278C60B-7BF9-4B09-9E29-EA35508DFC4E}">
      <dgm:prSet phldrT="[Text]"/>
      <dgm:spPr/>
      <dgm:t>
        <a:bodyPr/>
        <a:lstStyle/>
        <a:p>
          <a:r>
            <a:rPr lang="en-US" dirty="0"/>
            <a:t>Claim Released</a:t>
          </a:r>
        </a:p>
      </dgm:t>
    </dgm:pt>
    <dgm:pt modelId="{913FB1F8-7CC2-43DE-A1AF-B6015CE66C2B}" type="parTrans" cxnId="{14D63BB0-B990-4C47-98D0-6F1577C46561}">
      <dgm:prSet/>
      <dgm:spPr/>
      <dgm:t>
        <a:bodyPr/>
        <a:lstStyle/>
        <a:p>
          <a:endParaRPr lang="en-US"/>
        </a:p>
      </dgm:t>
    </dgm:pt>
    <dgm:pt modelId="{49003942-06A3-499E-B76C-BC7375A05CFD}" type="sibTrans" cxnId="{14D63BB0-B990-4C47-98D0-6F1577C46561}">
      <dgm:prSet/>
      <dgm:spPr/>
      <dgm:t>
        <a:bodyPr/>
        <a:lstStyle/>
        <a:p>
          <a:endParaRPr lang="en-US"/>
        </a:p>
      </dgm:t>
    </dgm:pt>
    <dgm:pt modelId="{DEE84727-C3B9-4EDF-BF97-F46889DE4F7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dirty="0"/>
            <a:t>Once correct, claim released for payment</a:t>
          </a:r>
        </a:p>
      </dgm:t>
    </dgm:pt>
    <dgm:pt modelId="{B65724D7-03C3-41E7-A645-B92820D87CAF}" type="parTrans" cxnId="{92B0826A-B25E-481D-AA99-E62E1EBF164D}">
      <dgm:prSet/>
      <dgm:spPr/>
      <dgm:t>
        <a:bodyPr/>
        <a:lstStyle/>
        <a:p>
          <a:endParaRPr lang="en-US"/>
        </a:p>
      </dgm:t>
    </dgm:pt>
    <dgm:pt modelId="{B78ABCC4-BADF-43EE-A5CB-5AB48DA25ACA}" type="sibTrans" cxnId="{92B0826A-B25E-481D-AA99-E62E1EBF164D}">
      <dgm:prSet/>
      <dgm:spPr/>
      <dgm:t>
        <a:bodyPr/>
        <a:lstStyle/>
        <a:p>
          <a:endParaRPr lang="en-US"/>
        </a:p>
      </dgm:t>
    </dgm:pt>
    <dgm:pt modelId="{79F67C37-0A3D-4C6B-B7EA-333F35290678}" type="pres">
      <dgm:prSet presAssocID="{3878C014-5C7B-4F8F-BC56-FC5533991E38}" presName="linearFlow" presStyleCnt="0">
        <dgm:presLayoutVars>
          <dgm:dir/>
          <dgm:animLvl val="lvl"/>
          <dgm:resizeHandles val="exact"/>
        </dgm:presLayoutVars>
      </dgm:prSet>
      <dgm:spPr/>
    </dgm:pt>
    <dgm:pt modelId="{AF2F2C5E-1608-4061-87FF-A1D063A90BF2}" type="pres">
      <dgm:prSet presAssocID="{7D64AA0B-E088-43C2-9893-99B89A7A17F8}" presName="composite" presStyleCnt="0"/>
      <dgm:spPr/>
    </dgm:pt>
    <dgm:pt modelId="{D7B7A642-2657-4582-BC07-14E821A39627}" type="pres">
      <dgm:prSet presAssocID="{7D64AA0B-E088-43C2-9893-99B89A7A17F8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C16ACEC4-03D1-40D9-8CD4-E6827ED5BD8F}" type="pres">
      <dgm:prSet presAssocID="{7D64AA0B-E088-43C2-9893-99B89A7A17F8}" presName="descendantText" presStyleLbl="alignAcc1" presStyleIdx="0" presStyleCnt="4" custLinFactNeighborX="0" custLinFactNeighborY="-82">
        <dgm:presLayoutVars>
          <dgm:bulletEnabled val="1"/>
        </dgm:presLayoutVars>
      </dgm:prSet>
      <dgm:spPr/>
    </dgm:pt>
    <dgm:pt modelId="{32279E74-1FE4-4A32-AAC1-AFBF9A8173C9}" type="pres">
      <dgm:prSet presAssocID="{2D27CCDA-A1B9-4A74-A18D-2E13D85DCFFE}" presName="sp" presStyleCnt="0"/>
      <dgm:spPr/>
    </dgm:pt>
    <dgm:pt modelId="{17AD2DF5-13DE-43AD-9042-5A3EF93AEDA1}" type="pres">
      <dgm:prSet presAssocID="{3AA5A593-42A2-461D-811C-1195D32CC147}" presName="composite" presStyleCnt="0"/>
      <dgm:spPr/>
    </dgm:pt>
    <dgm:pt modelId="{1581A877-B86B-4F38-9DD4-81806E234168}" type="pres">
      <dgm:prSet presAssocID="{3AA5A593-42A2-461D-811C-1195D32CC147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67A2CA64-CBDF-48EE-B99B-3E1431F4CD9D}" type="pres">
      <dgm:prSet presAssocID="{3AA5A593-42A2-461D-811C-1195D32CC147}" presName="descendantText" presStyleLbl="alignAcc1" presStyleIdx="1" presStyleCnt="4">
        <dgm:presLayoutVars>
          <dgm:bulletEnabled val="1"/>
        </dgm:presLayoutVars>
      </dgm:prSet>
      <dgm:spPr/>
    </dgm:pt>
    <dgm:pt modelId="{D0C4EC4B-7184-4F80-B42B-505C0EED9945}" type="pres">
      <dgm:prSet presAssocID="{C7B6DB01-8EF7-421E-8CC2-96A1E3B08BD7}" presName="sp" presStyleCnt="0"/>
      <dgm:spPr/>
    </dgm:pt>
    <dgm:pt modelId="{5B0CD942-3438-4BC7-820F-1724457954CD}" type="pres">
      <dgm:prSet presAssocID="{668CC48A-FAFB-460C-A90A-94E5C574A6DA}" presName="composite" presStyleCnt="0"/>
      <dgm:spPr/>
    </dgm:pt>
    <dgm:pt modelId="{6AD3DDAD-8571-42C3-92B1-DA60C1C007DA}" type="pres">
      <dgm:prSet presAssocID="{668CC48A-FAFB-460C-A90A-94E5C574A6DA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8170D3C7-C652-4557-A219-C4E5876A5581}" type="pres">
      <dgm:prSet presAssocID="{668CC48A-FAFB-460C-A90A-94E5C574A6DA}" presName="descendantText" presStyleLbl="alignAcc1" presStyleIdx="2" presStyleCnt="4">
        <dgm:presLayoutVars>
          <dgm:bulletEnabled val="1"/>
        </dgm:presLayoutVars>
      </dgm:prSet>
      <dgm:spPr/>
    </dgm:pt>
    <dgm:pt modelId="{3F55AEDC-29B2-4D7C-879D-3F453C8F8467}" type="pres">
      <dgm:prSet presAssocID="{18415F26-5A5C-4AE5-BA45-896162ECD430}" presName="sp" presStyleCnt="0"/>
      <dgm:spPr/>
    </dgm:pt>
    <dgm:pt modelId="{F3380FF7-28A4-4509-8EDE-204CD0019DD5}" type="pres">
      <dgm:prSet presAssocID="{A278C60B-7BF9-4B09-9E29-EA35508DFC4E}" presName="composite" presStyleCnt="0"/>
      <dgm:spPr/>
    </dgm:pt>
    <dgm:pt modelId="{2110353A-1EF8-4D65-9FA7-048C058987DD}" type="pres">
      <dgm:prSet presAssocID="{A278C60B-7BF9-4B09-9E29-EA35508DFC4E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A465B2F1-FB39-4B2E-9463-C1B097CB1227}" type="pres">
      <dgm:prSet presAssocID="{A278C60B-7BF9-4B09-9E29-EA35508DFC4E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71900A09-4C73-4E4B-8EBB-5E4AC75C02A1}" type="presOf" srcId="{7D64AA0B-E088-43C2-9893-99B89A7A17F8}" destId="{D7B7A642-2657-4582-BC07-14E821A39627}" srcOrd="0" destOrd="0" presId="urn:microsoft.com/office/officeart/2005/8/layout/chevron2"/>
    <dgm:cxn modelId="{61CB300E-9897-4E73-AF68-BFAAAE728AEB}" type="presOf" srcId="{3878C014-5C7B-4F8F-BC56-FC5533991E38}" destId="{79F67C37-0A3D-4C6B-B7EA-333F35290678}" srcOrd="0" destOrd="0" presId="urn:microsoft.com/office/officeart/2005/8/layout/chevron2"/>
    <dgm:cxn modelId="{75FE4F1D-0BA1-47D3-8852-5199EC7CA8CC}" srcId="{3878C014-5C7B-4F8F-BC56-FC5533991E38}" destId="{3AA5A593-42A2-461D-811C-1195D32CC147}" srcOrd="1" destOrd="0" parTransId="{260E687E-BA90-40A6-B9EE-5AF7D4002B5D}" sibTransId="{C7B6DB01-8EF7-421E-8CC2-96A1E3B08BD7}"/>
    <dgm:cxn modelId="{4F8CA320-9619-43E6-A029-1F4C713B59E4}" type="presOf" srcId="{668CC48A-FAFB-460C-A90A-94E5C574A6DA}" destId="{6AD3DDAD-8571-42C3-92B1-DA60C1C007DA}" srcOrd="0" destOrd="0" presId="urn:microsoft.com/office/officeart/2005/8/layout/chevron2"/>
    <dgm:cxn modelId="{2B588645-D124-4CE2-9E11-3B7E4A1E9B55}" srcId="{3878C014-5C7B-4F8F-BC56-FC5533991E38}" destId="{668CC48A-FAFB-460C-A90A-94E5C574A6DA}" srcOrd="2" destOrd="0" parTransId="{CA67BC21-8059-4D03-A104-9F56AD93067C}" sibTransId="{18415F26-5A5C-4AE5-BA45-896162ECD430}"/>
    <dgm:cxn modelId="{4AA40A6A-908B-4036-A16A-9A214BC67519}" type="presOf" srcId="{DEE84727-C3B9-4EDF-BF97-F46889DE4F76}" destId="{A465B2F1-FB39-4B2E-9463-C1B097CB1227}" srcOrd="0" destOrd="0" presId="urn:microsoft.com/office/officeart/2005/8/layout/chevron2"/>
    <dgm:cxn modelId="{92B0826A-B25E-481D-AA99-E62E1EBF164D}" srcId="{A278C60B-7BF9-4B09-9E29-EA35508DFC4E}" destId="{DEE84727-C3B9-4EDF-BF97-F46889DE4F76}" srcOrd="0" destOrd="0" parTransId="{B65724D7-03C3-41E7-A645-B92820D87CAF}" sibTransId="{B78ABCC4-BADF-43EE-A5CB-5AB48DA25ACA}"/>
    <dgm:cxn modelId="{6EDB594F-164E-412C-BA49-10E75F1FD030}" srcId="{3878C014-5C7B-4F8F-BC56-FC5533991E38}" destId="{7D64AA0B-E088-43C2-9893-99B89A7A17F8}" srcOrd="0" destOrd="0" parTransId="{3B646130-37CD-4C73-853E-5C0DB724E84D}" sibTransId="{2D27CCDA-A1B9-4A74-A18D-2E13D85DCFFE}"/>
    <dgm:cxn modelId="{05216A76-27C6-436F-9F1B-3D7B850C6231}" type="presOf" srcId="{E81B153F-7934-411A-857D-8ACA6EA2C507}" destId="{8170D3C7-C652-4557-A219-C4E5876A5581}" srcOrd="0" destOrd="0" presId="urn:microsoft.com/office/officeart/2005/8/layout/chevron2"/>
    <dgm:cxn modelId="{5CBBB457-8FC2-4B8B-961A-F04845D4ADD3}" type="presOf" srcId="{A278C60B-7BF9-4B09-9E29-EA35508DFC4E}" destId="{2110353A-1EF8-4D65-9FA7-048C058987DD}" srcOrd="0" destOrd="0" presId="urn:microsoft.com/office/officeart/2005/8/layout/chevron2"/>
    <dgm:cxn modelId="{6F88BA77-DFF3-45E7-A604-F4CEAD9F2241}" type="presOf" srcId="{5FB22D29-551C-4759-AE50-DD655E633B70}" destId="{C16ACEC4-03D1-40D9-8CD4-E6827ED5BD8F}" srcOrd="0" destOrd="0" presId="urn:microsoft.com/office/officeart/2005/8/layout/chevron2"/>
    <dgm:cxn modelId="{B6839759-ADDB-46D7-9A72-1FCB695C5E07}" srcId="{7D64AA0B-E088-43C2-9893-99B89A7A17F8}" destId="{5FB22D29-551C-4759-AE50-DD655E633B70}" srcOrd="0" destOrd="0" parTransId="{C96AC9A8-7850-4AE7-A4CF-927AFAC8C0A2}" sibTransId="{F99BA1C2-8631-41F5-AA06-B381F710BF72}"/>
    <dgm:cxn modelId="{14D63BB0-B990-4C47-98D0-6F1577C46561}" srcId="{3878C014-5C7B-4F8F-BC56-FC5533991E38}" destId="{A278C60B-7BF9-4B09-9E29-EA35508DFC4E}" srcOrd="3" destOrd="0" parTransId="{913FB1F8-7CC2-43DE-A1AF-B6015CE66C2B}" sibTransId="{49003942-06A3-499E-B76C-BC7375A05CFD}"/>
    <dgm:cxn modelId="{E7FB3CCB-A3F4-4F04-A363-519E1432008C}" type="presOf" srcId="{3AA5A593-42A2-461D-811C-1195D32CC147}" destId="{1581A877-B86B-4F38-9DD4-81806E234168}" srcOrd="0" destOrd="0" presId="urn:microsoft.com/office/officeart/2005/8/layout/chevron2"/>
    <dgm:cxn modelId="{4A1DBAD9-45C1-4AC9-B11B-1A233EED4D02}" srcId="{3AA5A593-42A2-461D-811C-1195D32CC147}" destId="{6CF34F05-6464-4A73-87BA-E3E57202BF8A}" srcOrd="0" destOrd="0" parTransId="{9D87304B-922B-42EF-808E-05D3ED0945D3}" sibTransId="{442BE301-5B10-4DA3-AF9E-74602400796B}"/>
    <dgm:cxn modelId="{010004F3-1FB3-4976-BEFC-EBC8AF2F02A3}" type="presOf" srcId="{6CF34F05-6464-4A73-87BA-E3E57202BF8A}" destId="{67A2CA64-CBDF-48EE-B99B-3E1431F4CD9D}" srcOrd="0" destOrd="0" presId="urn:microsoft.com/office/officeart/2005/8/layout/chevron2"/>
    <dgm:cxn modelId="{E13114F8-0F7A-405F-AADB-6D7EE968DED0}" srcId="{668CC48A-FAFB-460C-A90A-94E5C574A6DA}" destId="{E81B153F-7934-411A-857D-8ACA6EA2C507}" srcOrd="0" destOrd="0" parTransId="{0BBE45C6-6828-444F-BD6F-42E628348E97}" sibTransId="{6E7548C1-A478-4C58-944A-90CC31258985}"/>
    <dgm:cxn modelId="{E76EBF81-316C-4C29-A21E-D37FDF9CEECD}" type="presParOf" srcId="{79F67C37-0A3D-4C6B-B7EA-333F35290678}" destId="{AF2F2C5E-1608-4061-87FF-A1D063A90BF2}" srcOrd="0" destOrd="0" presId="urn:microsoft.com/office/officeart/2005/8/layout/chevron2"/>
    <dgm:cxn modelId="{799C8ADE-1304-4B67-B6F2-1506B68C98BA}" type="presParOf" srcId="{AF2F2C5E-1608-4061-87FF-A1D063A90BF2}" destId="{D7B7A642-2657-4582-BC07-14E821A39627}" srcOrd="0" destOrd="0" presId="urn:microsoft.com/office/officeart/2005/8/layout/chevron2"/>
    <dgm:cxn modelId="{84D69041-F315-4BF2-ACAE-DA1A816BA7DB}" type="presParOf" srcId="{AF2F2C5E-1608-4061-87FF-A1D063A90BF2}" destId="{C16ACEC4-03D1-40D9-8CD4-E6827ED5BD8F}" srcOrd="1" destOrd="0" presId="urn:microsoft.com/office/officeart/2005/8/layout/chevron2"/>
    <dgm:cxn modelId="{6BAF6A6A-AE6A-463B-B31A-6712D927553E}" type="presParOf" srcId="{79F67C37-0A3D-4C6B-B7EA-333F35290678}" destId="{32279E74-1FE4-4A32-AAC1-AFBF9A8173C9}" srcOrd="1" destOrd="0" presId="urn:microsoft.com/office/officeart/2005/8/layout/chevron2"/>
    <dgm:cxn modelId="{E4B4A5FD-6981-46D3-9301-E47DC899D154}" type="presParOf" srcId="{79F67C37-0A3D-4C6B-B7EA-333F35290678}" destId="{17AD2DF5-13DE-43AD-9042-5A3EF93AEDA1}" srcOrd="2" destOrd="0" presId="urn:microsoft.com/office/officeart/2005/8/layout/chevron2"/>
    <dgm:cxn modelId="{118A06DF-36BC-4BDE-92F9-EC79C2646288}" type="presParOf" srcId="{17AD2DF5-13DE-43AD-9042-5A3EF93AEDA1}" destId="{1581A877-B86B-4F38-9DD4-81806E234168}" srcOrd="0" destOrd="0" presId="urn:microsoft.com/office/officeart/2005/8/layout/chevron2"/>
    <dgm:cxn modelId="{79699BCB-92ED-4881-8A41-C2CD00D19308}" type="presParOf" srcId="{17AD2DF5-13DE-43AD-9042-5A3EF93AEDA1}" destId="{67A2CA64-CBDF-48EE-B99B-3E1431F4CD9D}" srcOrd="1" destOrd="0" presId="urn:microsoft.com/office/officeart/2005/8/layout/chevron2"/>
    <dgm:cxn modelId="{F7A975A3-D6B2-472F-BE89-1C0B99E7D143}" type="presParOf" srcId="{79F67C37-0A3D-4C6B-B7EA-333F35290678}" destId="{D0C4EC4B-7184-4F80-B42B-505C0EED9945}" srcOrd="3" destOrd="0" presId="urn:microsoft.com/office/officeart/2005/8/layout/chevron2"/>
    <dgm:cxn modelId="{77F224AB-0618-482D-92E4-4EFFE12A92B6}" type="presParOf" srcId="{79F67C37-0A3D-4C6B-B7EA-333F35290678}" destId="{5B0CD942-3438-4BC7-820F-1724457954CD}" srcOrd="4" destOrd="0" presId="urn:microsoft.com/office/officeart/2005/8/layout/chevron2"/>
    <dgm:cxn modelId="{DF4ACAE7-AAA0-4EE4-AA4C-3C9C4D01A876}" type="presParOf" srcId="{5B0CD942-3438-4BC7-820F-1724457954CD}" destId="{6AD3DDAD-8571-42C3-92B1-DA60C1C007DA}" srcOrd="0" destOrd="0" presId="urn:microsoft.com/office/officeart/2005/8/layout/chevron2"/>
    <dgm:cxn modelId="{4EBC71A2-C512-4722-B205-95945E1391DF}" type="presParOf" srcId="{5B0CD942-3438-4BC7-820F-1724457954CD}" destId="{8170D3C7-C652-4557-A219-C4E5876A5581}" srcOrd="1" destOrd="0" presId="urn:microsoft.com/office/officeart/2005/8/layout/chevron2"/>
    <dgm:cxn modelId="{F1A35B73-5976-4C29-A2CB-E83D9C59C06B}" type="presParOf" srcId="{79F67C37-0A3D-4C6B-B7EA-333F35290678}" destId="{3F55AEDC-29B2-4D7C-879D-3F453C8F8467}" srcOrd="5" destOrd="0" presId="urn:microsoft.com/office/officeart/2005/8/layout/chevron2"/>
    <dgm:cxn modelId="{4DAA84FC-B2F8-460A-A049-048F9A3CFD25}" type="presParOf" srcId="{79F67C37-0A3D-4C6B-B7EA-333F35290678}" destId="{F3380FF7-28A4-4509-8EDE-204CD0019DD5}" srcOrd="6" destOrd="0" presId="urn:microsoft.com/office/officeart/2005/8/layout/chevron2"/>
    <dgm:cxn modelId="{CCA8722D-300B-42CD-AA6B-71870E196E3D}" type="presParOf" srcId="{F3380FF7-28A4-4509-8EDE-204CD0019DD5}" destId="{2110353A-1EF8-4D65-9FA7-048C058987DD}" srcOrd="0" destOrd="0" presId="urn:microsoft.com/office/officeart/2005/8/layout/chevron2"/>
    <dgm:cxn modelId="{86A428A9-99C6-4D81-85E4-EA795D254E4A}" type="presParOf" srcId="{F3380FF7-28A4-4509-8EDE-204CD0019DD5}" destId="{A465B2F1-FB39-4B2E-9463-C1B097CB1227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B7A642-2657-4582-BC07-14E821A39627}">
      <dsp:nvSpPr>
        <dsp:cNvPr id="0" name=""/>
        <dsp:cNvSpPr/>
      </dsp:nvSpPr>
      <dsp:spPr>
        <a:xfrm rot="5400000">
          <a:off x="-236715" y="237633"/>
          <a:ext cx="1560921" cy="1092645"/>
        </a:xfrm>
        <a:prstGeom prst="chevron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Claim Processed and Released</a:t>
          </a:r>
        </a:p>
      </dsp:txBody>
      <dsp:txXfrm rot="-5400000">
        <a:off x="-2576" y="549818"/>
        <a:ext cx="1092645" cy="468276"/>
      </dsp:txXfrm>
    </dsp:sp>
    <dsp:sp modelId="{C16ACEC4-03D1-40D9-8CD4-E6827ED5BD8F}">
      <dsp:nvSpPr>
        <dsp:cNvPr id="0" name=""/>
        <dsp:cNvSpPr/>
      </dsp:nvSpPr>
      <dsp:spPr>
        <a:xfrm rot="5400000">
          <a:off x="2520989" y="-1436358"/>
          <a:ext cx="1014599" cy="389036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kern="1200" dirty="0"/>
            <a:t>Claim is processed and paid</a:t>
          </a:r>
        </a:p>
      </dsp:txBody>
      <dsp:txXfrm rot="-5400000">
        <a:off x="1083105" y="51055"/>
        <a:ext cx="3840840" cy="915541"/>
      </dsp:txXfrm>
    </dsp:sp>
    <dsp:sp modelId="{1581A877-B86B-4F38-9DD4-81806E234168}">
      <dsp:nvSpPr>
        <dsp:cNvPr id="0" name=""/>
        <dsp:cNvSpPr/>
      </dsp:nvSpPr>
      <dsp:spPr>
        <a:xfrm rot="5400000">
          <a:off x="-236715" y="1604142"/>
          <a:ext cx="1560921" cy="1092645"/>
        </a:xfrm>
        <a:prstGeom prst="chevron">
          <a:avLst/>
        </a:prstGeom>
        <a:solidFill>
          <a:schemeClr val="accent1">
            <a:shade val="50000"/>
            <a:hueOff val="393099"/>
            <a:satOff val="-41319"/>
            <a:lumOff val="35655"/>
            <a:alphaOff val="0"/>
          </a:schemeClr>
        </a:solidFill>
        <a:ln w="19050" cap="flat" cmpd="sng" algn="ctr">
          <a:solidFill>
            <a:schemeClr val="accent1">
              <a:shade val="50000"/>
              <a:hueOff val="393099"/>
              <a:satOff val="-41319"/>
              <a:lumOff val="3565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Claim Audited</a:t>
          </a:r>
        </a:p>
      </dsp:txBody>
      <dsp:txXfrm rot="-5400000">
        <a:off x="-2576" y="1916327"/>
        <a:ext cx="1092645" cy="468276"/>
      </dsp:txXfrm>
    </dsp:sp>
    <dsp:sp modelId="{67A2CA64-CBDF-48EE-B99B-3E1431F4CD9D}">
      <dsp:nvSpPr>
        <dsp:cNvPr id="0" name=""/>
        <dsp:cNvSpPr/>
      </dsp:nvSpPr>
      <dsp:spPr>
        <a:xfrm rot="5400000">
          <a:off x="2547976" y="-73035"/>
          <a:ext cx="974552" cy="390067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50000"/>
              <a:hueOff val="393099"/>
              <a:satOff val="-41319"/>
              <a:lumOff val="3565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b="1" i="1" kern="1200" dirty="0"/>
            <a:t>After </a:t>
          </a:r>
          <a:r>
            <a:rPr lang="en-US" sz="2000" kern="1200" dirty="0"/>
            <a:t>the claim has been paid, a post payment audit review is completed</a:t>
          </a:r>
        </a:p>
      </dsp:txBody>
      <dsp:txXfrm rot="-5400000">
        <a:off x="1084913" y="1437602"/>
        <a:ext cx="3853105" cy="879404"/>
      </dsp:txXfrm>
    </dsp:sp>
    <dsp:sp modelId="{6AD3DDAD-8571-42C3-92B1-DA60C1C007DA}">
      <dsp:nvSpPr>
        <dsp:cNvPr id="0" name=""/>
        <dsp:cNvSpPr/>
      </dsp:nvSpPr>
      <dsp:spPr>
        <a:xfrm rot="5400000">
          <a:off x="-236715" y="2970652"/>
          <a:ext cx="1560921" cy="1092645"/>
        </a:xfrm>
        <a:prstGeom prst="chevron">
          <a:avLst/>
        </a:prstGeom>
        <a:solidFill>
          <a:schemeClr val="accent1">
            <a:shade val="50000"/>
            <a:hueOff val="393099"/>
            <a:satOff val="-41319"/>
            <a:lumOff val="35655"/>
            <a:alphaOff val="0"/>
          </a:schemeClr>
        </a:solidFill>
        <a:ln w="19050" cap="flat" cmpd="sng" algn="ctr">
          <a:solidFill>
            <a:schemeClr val="accent1">
              <a:shade val="50000"/>
              <a:hueOff val="393099"/>
              <a:satOff val="-41319"/>
              <a:lumOff val="3565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Sent for Corrections</a:t>
          </a:r>
        </a:p>
      </dsp:txBody>
      <dsp:txXfrm rot="-5400000">
        <a:off x="-2576" y="3282837"/>
        <a:ext cx="1092645" cy="468276"/>
      </dsp:txXfrm>
    </dsp:sp>
    <dsp:sp modelId="{8170D3C7-C652-4557-A219-C4E5876A5581}">
      <dsp:nvSpPr>
        <dsp:cNvPr id="0" name=""/>
        <dsp:cNvSpPr/>
      </dsp:nvSpPr>
      <dsp:spPr>
        <a:xfrm rot="5400000">
          <a:off x="2527953" y="1298628"/>
          <a:ext cx="1014599" cy="389036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50000"/>
              <a:hueOff val="393099"/>
              <a:satOff val="-41319"/>
              <a:lumOff val="3565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kern="1200" dirty="0"/>
            <a:t>Costly adjustments are handled </a:t>
          </a:r>
          <a:r>
            <a:rPr lang="en-US" sz="2000" i="1" kern="1200" dirty="0"/>
            <a:t>after</a:t>
          </a:r>
          <a:r>
            <a:rPr lang="en-US" sz="2000" kern="1200" dirty="0"/>
            <a:t> the claims have been paid</a:t>
          </a:r>
        </a:p>
      </dsp:txBody>
      <dsp:txXfrm rot="-5400000">
        <a:off x="1090069" y="2786042"/>
        <a:ext cx="3840840" cy="9155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B7A642-2657-4582-BC07-14E821A39627}">
      <dsp:nvSpPr>
        <dsp:cNvPr id="0" name=""/>
        <dsp:cNvSpPr/>
      </dsp:nvSpPr>
      <dsp:spPr>
        <a:xfrm rot="5400000">
          <a:off x="-175828" y="177587"/>
          <a:ext cx="1172188" cy="820531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Claim Processed</a:t>
          </a:r>
        </a:p>
      </dsp:txBody>
      <dsp:txXfrm rot="-5400000">
        <a:off x="1" y="412025"/>
        <a:ext cx="820531" cy="351657"/>
      </dsp:txXfrm>
    </dsp:sp>
    <dsp:sp modelId="{C16ACEC4-03D1-40D9-8CD4-E6827ED5BD8F}">
      <dsp:nvSpPr>
        <dsp:cNvPr id="0" name=""/>
        <dsp:cNvSpPr/>
      </dsp:nvSpPr>
      <dsp:spPr>
        <a:xfrm rot="5400000">
          <a:off x="2852371" y="-2030705"/>
          <a:ext cx="761922" cy="482560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kern="1200" dirty="0"/>
            <a:t>Processing completed by claim processor</a:t>
          </a:r>
        </a:p>
      </dsp:txBody>
      <dsp:txXfrm rot="-5400000">
        <a:off x="820531" y="38329"/>
        <a:ext cx="4788408" cy="687534"/>
      </dsp:txXfrm>
    </dsp:sp>
    <dsp:sp modelId="{1581A877-B86B-4F38-9DD4-81806E234168}">
      <dsp:nvSpPr>
        <dsp:cNvPr id="0" name=""/>
        <dsp:cNvSpPr/>
      </dsp:nvSpPr>
      <dsp:spPr>
        <a:xfrm rot="5400000">
          <a:off x="-175828" y="1201993"/>
          <a:ext cx="1172188" cy="820531"/>
        </a:xfrm>
        <a:prstGeom prst="chevron">
          <a:avLst/>
        </a:prstGeom>
        <a:solidFill>
          <a:schemeClr val="accent3">
            <a:hueOff val="1372388"/>
            <a:satOff val="8237"/>
            <a:lumOff val="6275"/>
            <a:alphaOff val="0"/>
          </a:schemeClr>
        </a:solidFill>
        <a:ln w="19050" cap="flat" cmpd="sng" algn="ctr">
          <a:solidFill>
            <a:schemeClr val="accent3">
              <a:hueOff val="1372388"/>
              <a:satOff val="8237"/>
              <a:lumOff val="627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Claim Audited</a:t>
          </a:r>
        </a:p>
      </dsp:txBody>
      <dsp:txXfrm rot="-5400000">
        <a:off x="1" y="1436431"/>
        <a:ext cx="820531" cy="351657"/>
      </dsp:txXfrm>
    </dsp:sp>
    <dsp:sp modelId="{67A2CA64-CBDF-48EE-B99B-3E1431F4CD9D}">
      <dsp:nvSpPr>
        <dsp:cNvPr id="0" name=""/>
        <dsp:cNvSpPr/>
      </dsp:nvSpPr>
      <dsp:spPr>
        <a:xfrm rot="5400000">
          <a:off x="2852371" y="-1005674"/>
          <a:ext cx="761922" cy="482560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1372388"/>
              <a:satOff val="8237"/>
              <a:lumOff val="627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kern="1200" dirty="0"/>
            <a:t>Claim not released until determined that it is correct</a:t>
          </a:r>
        </a:p>
      </dsp:txBody>
      <dsp:txXfrm rot="-5400000">
        <a:off x="820531" y="1063360"/>
        <a:ext cx="4788408" cy="687534"/>
      </dsp:txXfrm>
    </dsp:sp>
    <dsp:sp modelId="{6AD3DDAD-8571-42C3-92B1-DA60C1C007DA}">
      <dsp:nvSpPr>
        <dsp:cNvPr id="0" name=""/>
        <dsp:cNvSpPr/>
      </dsp:nvSpPr>
      <dsp:spPr>
        <a:xfrm rot="5400000">
          <a:off x="-175828" y="2226398"/>
          <a:ext cx="1172188" cy="820531"/>
        </a:xfrm>
        <a:prstGeom prst="chevron">
          <a:avLst/>
        </a:prstGeom>
        <a:solidFill>
          <a:schemeClr val="accent3">
            <a:hueOff val="2744775"/>
            <a:satOff val="16475"/>
            <a:lumOff val="12550"/>
            <a:alphaOff val="0"/>
          </a:schemeClr>
        </a:solidFill>
        <a:ln w="19050" cap="flat" cmpd="sng" algn="ctr">
          <a:solidFill>
            <a:schemeClr val="accent3">
              <a:hueOff val="2744775"/>
              <a:satOff val="16475"/>
              <a:lumOff val="1255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Sent for Corrections</a:t>
          </a:r>
        </a:p>
      </dsp:txBody>
      <dsp:txXfrm rot="-5400000">
        <a:off x="1" y="2460836"/>
        <a:ext cx="820531" cy="351657"/>
      </dsp:txXfrm>
    </dsp:sp>
    <dsp:sp modelId="{8170D3C7-C652-4557-A219-C4E5876A5581}">
      <dsp:nvSpPr>
        <dsp:cNvPr id="0" name=""/>
        <dsp:cNvSpPr/>
      </dsp:nvSpPr>
      <dsp:spPr>
        <a:xfrm rot="5400000">
          <a:off x="2852371" y="18730"/>
          <a:ext cx="761922" cy="482560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2744775"/>
              <a:satOff val="16475"/>
              <a:lumOff val="1255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kern="1200" dirty="0"/>
            <a:t>If incorrect, sent to processor for correction and monitored </a:t>
          </a:r>
        </a:p>
      </dsp:txBody>
      <dsp:txXfrm rot="-5400000">
        <a:off x="820531" y="2087764"/>
        <a:ext cx="4788408" cy="687534"/>
      </dsp:txXfrm>
    </dsp:sp>
    <dsp:sp modelId="{2110353A-1EF8-4D65-9FA7-048C058987DD}">
      <dsp:nvSpPr>
        <dsp:cNvPr id="0" name=""/>
        <dsp:cNvSpPr/>
      </dsp:nvSpPr>
      <dsp:spPr>
        <a:xfrm rot="5400000">
          <a:off x="-175828" y="3250804"/>
          <a:ext cx="1172188" cy="820531"/>
        </a:xfrm>
        <a:prstGeom prst="chevron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accent3">
              <a:hueOff val="4117163"/>
              <a:satOff val="24712"/>
              <a:lumOff val="188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Claim Released</a:t>
          </a:r>
        </a:p>
      </dsp:txBody>
      <dsp:txXfrm rot="-5400000">
        <a:off x="1" y="3485242"/>
        <a:ext cx="820531" cy="351657"/>
      </dsp:txXfrm>
    </dsp:sp>
    <dsp:sp modelId="{A465B2F1-FB39-4B2E-9463-C1B097CB1227}">
      <dsp:nvSpPr>
        <dsp:cNvPr id="0" name=""/>
        <dsp:cNvSpPr/>
      </dsp:nvSpPr>
      <dsp:spPr>
        <a:xfrm rot="5400000">
          <a:off x="2852371" y="1043136"/>
          <a:ext cx="761922" cy="482560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4117163"/>
              <a:satOff val="24712"/>
              <a:lumOff val="188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kern="1200" dirty="0"/>
            <a:t>Once correct, claim released for payment</a:t>
          </a:r>
        </a:p>
      </dsp:txBody>
      <dsp:txXfrm rot="-5400000">
        <a:off x="820531" y="3112170"/>
        <a:ext cx="4788408" cy="6875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9964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>
                <a:latin typeface="Montserrat" panose="00000500000000000000" pitchFamily="2" charset="0"/>
              </a:rPr>
              <a:t>1</a:t>
            </a:fld>
            <a:endParaRPr lang="en-US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456B7-9C0A-49F5-36C0-0102B4E0C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207E52-FFA2-257D-E7F1-9576C2C487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0DBCF-7CFE-7387-4E17-DD7957315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816B7-6228-4381-BEE2-80C5BEF0DD46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6F3C1-2AB0-333F-3C41-E483A337A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31007-B6DD-E046-CAA4-BCEE1777F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8B862-A8FD-455F-899F-C92FEEEC7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08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399CB-55FE-B04B-8C39-3AEF9BEBA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6ED65-23F3-02D8-C595-E6B6AB245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35F3C-511F-6BBA-BAF3-656D0152B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816B7-6228-4381-BEE2-80C5BEF0DD46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7ABDB-2596-734E-DCC6-3C4648710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C1623-E8B1-17D8-5279-8B54879FB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8B862-A8FD-455F-899F-C92FEEEC7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465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492E5-B162-33F9-F5B9-83413206C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6DD31-E983-912E-BEB5-EE88F023D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6DBAB-DA73-4226-7AF0-FC717F2E7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816B7-6228-4381-BEE2-80C5BEF0DD46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50AD3-4688-FD84-7472-000FC21C2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39084-7411-BE70-2199-8ED77EACA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8B862-A8FD-455F-899F-C92FEEEC7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663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5F5D4-DA78-E279-4987-7FDACFD4A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B1AD6-5C5F-EB8B-E9EB-3D597FE0E1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E8B38C-0BDC-70AE-7C87-53BC2C3F44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05E38-BE99-AF1B-F24B-3C02760A4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816B7-6228-4381-BEE2-80C5BEF0DD46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982BDE-F236-BC3C-924E-82997C1E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7E6B94-E4C1-DE2C-EE04-E0BCBF6F0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8B862-A8FD-455F-899F-C92FEEEC7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781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801AC-EAF8-CD17-FBDA-5FFE4D184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8CD255-DE78-23B8-1150-106F73EFC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01C66-E513-6138-D9D4-FB04931F08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53D86D-A2ED-469A-7ACB-550883F030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08463A-BB96-99E6-2D9E-187BAA46E0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BEB623-3EB4-F8A1-97CE-2814DDC99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816B7-6228-4381-BEE2-80C5BEF0DD46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821366-7807-5BAE-BC6C-85991914D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FF4AEB-FF4C-6FB0-6FA9-551661380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8B862-A8FD-455F-899F-C92FEEEC7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142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29264-50CB-B65B-2945-45BE63629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F680BD-8D56-3A44-F0A8-FE41131A0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816B7-6228-4381-BEE2-80C5BEF0DD46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08C874-5FC9-8422-A6F1-F22A3B601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6959E0-953F-8276-5803-6C11FF7C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8B862-A8FD-455F-899F-C92FEEEC7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733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DE53B1-482D-0C92-6964-C9F688C25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816B7-6228-4381-BEE2-80C5BEF0DD46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54B3DB-DA1A-8A19-4F76-A9E131D87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B5634-AAF1-3290-AEAE-FFAA1FB64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8B862-A8FD-455F-899F-C92FEEEC7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89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CEC91-F501-5CE0-3834-FFF950A37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434D7-BDAD-4A9D-ED5A-9C7C74F38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44D966-4427-EFA9-F001-D1737C7D3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EA85EA-4DA8-C8E7-FB8E-29ABD0163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816B7-6228-4381-BEE2-80C5BEF0DD46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ED72C-DF46-8B97-96AD-1E406523A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2A81F-007D-B9EB-FD5C-5EEE66F7C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8B862-A8FD-455F-899F-C92FEEEC7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474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62F39-A1FA-20D4-5ABA-1DE1C541D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024521-4A2C-C5B7-A16A-D1BA972338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49D04E-6241-67A9-D458-135BB437F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C221C-BB72-F244-4159-3718C9FAE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816B7-6228-4381-BEE2-80C5BEF0DD46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A0847-0F46-18C5-1E34-86B83382F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E05A3-C42F-F00C-F953-9B9C04539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8B862-A8FD-455F-899F-C92FEEEC7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693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7CCDC-AC70-5631-7622-C0F1A48C9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902B91-2C8C-5138-2816-2D2C463A4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28B27-869C-9591-10FD-2A31C00B8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816B7-6228-4381-BEE2-80C5BEF0DD46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C0BD6-18E5-DB67-A1A6-36C516771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0BDC9-410E-678D-7577-0E00596D3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8B862-A8FD-455F-899F-C92FEEEC7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725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584117-B76E-06FB-D444-D75535574A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4611B6-2077-15A1-4DD5-2FEC0C83F8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50774-EA7F-B3D8-CF51-6F65911F5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816B7-6228-4381-BEE2-80C5BEF0DD46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D9EE7-BFFF-4AD0-7FB8-D9C23E3D6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C8E85-31E8-B1D8-D5F7-AB29E6404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8B862-A8FD-455F-899F-C92FEEEC7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055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15E242-B3C2-A557-DBAF-70FA74AB1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0C96A-CD33-130E-6C5C-8EFE79E47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B167D-8985-02AA-5FBE-5AB5216FE7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8FF816B7-6228-4381-BEE2-80C5BEF0DD46}" type="datetimeFigureOut">
              <a:rPr lang="en-US" smtClean="0"/>
              <a:pPr/>
              <a:t>9/9/2025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141A1-D9E0-748B-08A0-0F37CCFFEB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5081F-E5B4-EB99-BB1F-B2A533EE43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FE88B862-A8FD-455F-899F-C92FEEEC78F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908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rfectiongeeks.com/ai-in-claims-processing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rfectiongeeks.com/ai-in-claims-processing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hyperlink" Target="mailto:Christine.Vinesett@keybenefit.com" TargetMode="External"/><Relationship Id="rId7" Type="http://schemas.openxmlformats.org/officeDocument/2006/relationships/hyperlink" Target="mailto:Julie.Caskey@keybenefit.com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g"/><Relationship Id="rId5" Type="http://schemas.openxmlformats.org/officeDocument/2006/relationships/hyperlink" Target="mailto:Darlene.Grindstaff@keybenefit.com" TargetMode="Externa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Rachel.morris@keybenefit.com" TargetMode="External"/><Relationship Id="rId2" Type="http://schemas.openxmlformats.org/officeDocument/2006/relationships/hyperlink" Target="mailto:Christine.Vinesett@keybenefit.com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Nicole.oliver@keybenefit.com" TargetMode="External"/><Relationship Id="rId4" Type="http://schemas.openxmlformats.org/officeDocument/2006/relationships/hyperlink" Target="mailto:Ashley.gowen@keybenefit.com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14271" cy="6856286"/>
          </a:xfrm>
          <a:prstGeom prst="rect">
            <a:avLst/>
          </a:prstGeom>
        </p:spPr>
      </p:pic>
      <p:sp>
        <p:nvSpPr>
          <p:cNvPr id="3" name="Object 2"/>
          <p:cNvSpPr/>
          <p:nvPr/>
        </p:nvSpPr>
        <p:spPr>
          <a:xfrm>
            <a:off x="2180680" y="1196279"/>
            <a:ext cx="5761184" cy="2483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>
              <a:lnSpc>
                <a:spcPts val="1956"/>
              </a:lnSpc>
              <a:buNone/>
            </a:pPr>
            <a:r>
              <a:rPr lang="en-US" sz="1552" kern="0" spc="47" dirty="0">
                <a:solidFill>
                  <a:srgbClr val="FFFFFF">
                    <a:alpha val="80000"/>
                  </a:srgbClr>
                </a:solidFill>
                <a:latin typeface="Montserrat" panose="00000500000000000000" pitchFamily="2" charset="0"/>
                <a:ea typeface="Jost*" pitchFamily="34" charset="-122"/>
                <a:cs typeface="Jost*" pitchFamily="34" charset="-120"/>
              </a:rPr>
              <a:t>BREAKOUT DISCUSSION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Object 3"/>
          <p:cNvSpPr/>
          <p:nvPr/>
        </p:nvSpPr>
        <p:spPr>
          <a:xfrm>
            <a:off x="1178743" y="1685802"/>
            <a:ext cx="6953573" cy="11517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>
              <a:lnSpc>
                <a:spcPts val="9072"/>
              </a:lnSpc>
              <a:spcBef>
                <a:spcPts val="975"/>
              </a:spcBef>
              <a:buNone/>
            </a:pPr>
            <a:r>
              <a:rPr lang="en-US" sz="6600" kern="0" spc="243" dirty="0">
                <a:solidFill>
                  <a:srgbClr val="FFFFFF"/>
                </a:solidFill>
                <a:latin typeface="Montserrat"/>
                <a:ea typeface="Jost*"/>
                <a:cs typeface="Jost*" pitchFamily="34" charset="-120"/>
              </a:rPr>
              <a:t>OPERATIONS</a:t>
            </a:r>
          </a:p>
          <a:p>
            <a:pPr algn="r">
              <a:lnSpc>
                <a:spcPts val="9072"/>
              </a:lnSpc>
              <a:spcBef>
                <a:spcPts val="975"/>
              </a:spcBef>
              <a:buNone/>
            </a:pPr>
            <a:r>
              <a:rPr lang="en-US" sz="6600" kern="0" spc="243" dirty="0">
                <a:solidFill>
                  <a:srgbClr val="FFFFFF"/>
                </a:solidFill>
                <a:latin typeface="Montserrat"/>
                <a:ea typeface="Jost*"/>
              </a:rPr>
              <a:t>PARTNERSHIP</a:t>
            </a:r>
            <a:endParaRPr lang="en-US" sz="1200" dirty="0">
              <a:latin typeface="Montserrat"/>
              <a:ea typeface="Jost*"/>
            </a:endParaRPr>
          </a:p>
        </p:txBody>
      </p:sp>
      <p:sp>
        <p:nvSpPr>
          <p:cNvPr id="7" name="Object 6"/>
          <p:cNvSpPr/>
          <p:nvPr/>
        </p:nvSpPr>
        <p:spPr>
          <a:xfrm>
            <a:off x="2180680" y="5382363"/>
            <a:ext cx="5761184" cy="3008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>
              <a:lnSpc>
                <a:spcPts val="2370"/>
              </a:lnSpc>
              <a:spcBef>
                <a:spcPts val="599"/>
              </a:spcBef>
            </a:pPr>
            <a:r>
              <a:rPr lang="en-US" sz="1750" kern="0" spc="53" dirty="0">
                <a:solidFill>
                  <a:srgbClr val="FFFFFF">
                    <a:alpha val="80000"/>
                  </a:srgbClr>
                </a:solidFill>
                <a:latin typeface="Montserrat"/>
                <a:ea typeface="Jost*"/>
                <a:cs typeface="Jost*" pitchFamily="34" charset="-120"/>
              </a:rPr>
              <a:t>Exploring a Southwestern Health Resources  Plan Operations</a:t>
            </a:r>
            <a:endParaRPr lang="en-US" sz="1750" dirty="0">
              <a:latin typeface="Montserrat"/>
              <a:ea typeface="Jost*"/>
            </a:endParaRPr>
          </a:p>
        </p:txBody>
      </p:sp>
      <p:sp>
        <p:nvSpPr>
          <p:cNvPr id="9" name="Object 8"/>
          <p:cNvSpPr/>
          <p:nvPr/>
        </p:nvSpPr>
        <p:spPr>
          <a:xfrm>
            <a:off x="495176" y="285679"/>
            <a:ext cx="2005028" cy="47613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 dirty="0">
              <a:latin typeface="Montserrat" panose="00000500000000000000" pitchFamily="2" charset="0"/>
            </a:endParaRPr>
          </a:p>
        </p:txBody>
      </p:sp>
      <p:pic>
        <p:nvPicPr>
          <p:cNvPr id="10" name="Object 9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7538" y="380905"/>
            <a:ext cx="1700304" cy="285679"/>
          </a:xfrm>
          <a:prstGeom prst="rect">
            <a:avLst/>
          </a:prstGeom>
        </p:spPr>
      </p:pic>
      <p:pic>
        <p:nvPicPr>
          <p:cNvPr id="2052" name="Picture 4" descr="Texas Health Resources – Texan 20">
            <a:extLst>
              <a:ext uri="{FF2B5EF4-FFF2-40B4-BE49-F238E27FC236}">
                <a16:creationId xmlns:a16="http://schemas.microsoft.com/office/drawing/2014/main" id="{E0B5255A-A734-1706-0ACF-00C87DF14C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58" t="-25" r="39331" b="25"/>
          <a:stretch>
            <a:fillRect/>
          </a:stretch>
        </p:blipFill>
        <p:spPr bwMode="auto">
          <a:xfrm>
            <a:off x="8432769" y="-1714"/>
            <a:ext cx="375923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7DD81-E488-663E-734E-D11B62C39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573" y="88915"/>
            <a:ext cx="6839743" cy="721519"/>
          </a:xfrm>
        </p:spPr>
        <p:txBody>
          <a:bodyPr/>
          <a:lstStyle/>
          <a:p>
            <a:r>
              <a:rPr lang="en-US" dirty="0"/>
              <a:t>Claims Processing Excellence</a:t>
            </a:r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0635402A-A5FE-5B59-AA66-D36C62E717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4867" r="24867"/>
          <a:stretch/>
        </p:blipFill>
        <p:spPr>
          <a:xfrm>
            <a:off x="7887573" y="14832"/>
            <a:ext cx="4304427" cy="6843167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6" name="Picture 14">
            <a:extLst>
              <a:ext uri="{FF2B5EF4-FFF2-40B4-BE49-F238E27FC236}">
                <a16:creationId xmlns:a16="http://schemas.microsoft.com/office/drawing/2014/main" id="{E61AF1B5-AA77-90DD-F844-E9896FA03F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7" name="Freeform 15">
            <a:extLst>
              <a:ext uri="{FF2B5EF4-FFF2-40B4-BE49-F238E27FC236}">
                <a16:creationId xmlns:a16="http://schemas.microsoft.com/office/drawing/2014/main" id="{33EE36E4-60E3-19D6-8060-7B1E7A2C3476}"/>
              </a:ext>
            </a:extLst>
          </p:cNvPr>
          <p:cNvSpPr/>
          <p:nvPr/>
        </p:nvSpPr>
        <p:spPr>
          <a:xfrm rot="16200000" flipV="1">
            <a:off x="7280237" y="1931405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FB0EB8E-1550-F54F-58C0-044760364F9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20670" y="767237"/>
            <a:ext cx="7029547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Delivering a positive member and provider experience starts with accurate, efficient, and transparent claims processing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b="1" dirty="0"/>
              <a:t>Key Benefit Administrators leverages: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Proven </a:t>
            </a:r>
            <a:r>
              <a:rPr lang="en-US" altLang="en-US" sz="1200" dirty="0"/>
              <a:t>technology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Steamlined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workflows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team dedicated to first pass accuracy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dirty="0"/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 Consistently: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/>
              <a:t>Exceed industry standard turnaround times and quality metrics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</a:t>
            </a:r>
            <a:r>
              <a:rPr lang="en-US" altLang="en-US" sz="1200" dirty="0"/>
              <a:t>educe administrative burdens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/>
              <a:t>Maintain high member and provider satisfaction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Strategic Partnerships: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/>
              <a:t>We partner with </a:t>
            </a:r>
            <a:r>
              <a:rPr lang="en-US" altLang="en-US" sz="1200" b="1" dirty="0"/>
              <a:t>Smart Data Solutions </a:t>
            </a:r>
            <a:r>
              <a:rPr lang="en-US" altLang="en-US" sz="1200" dirty="0"/>
              <a:t>for clearinghouse services to empower providers with electronic claims submission and transparency tools.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Currently 82% of our claim volume is received electronically.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/>
              <a:t>Ongoing efforts to increase electronic submissions:</a:t>
            </a:r>
          </a:p>
          <a:p>
            <a:pPr marL="1200150" lvl="2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Analyze paper and non-electronic claims</a:t>
            </a:r>
          </a:p>
          <a:p>
            <a:pPr marL="1200150" lvl="2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Proactively engage providers for electronic claim setup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 also partner with top tier vendors to provide cost containment solutions to include:</a:t>
            </a:r>
          </a:p>
          <a:p>
            <a:pPr marL="1200150" lvl="2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Out of network discounts</a:t>
            </a:r>
          </a:p>
          <a:p>
            <a:pPr marL="1200150" lvl="2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 dollar bill reviews</a:t>
            </a:r>
          </a:p>
          <a:p>
            <a:pPr marL="1200150" lvl="2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Specialized networks for high-cost conditions such as transplants and dialysis.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96912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7DD81-E488-663E-734E-D11B62C39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573" y="320584"/>
            <a:ext cx="6839743" cy="532319"/>
          </a:xfrm>
        </p:spPr>
        <p:txBody>
          <a:bodyPr>
            <a:normAutofit/>
          </a:bodyPr>
          <a:lstStyle/>
          <a:p>
            <a:r>
              <a:rPr lang="en-US" dirty="0"/>
              <a:t>Claims Statistics</a:t>
            </a:r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0635402A-A5FE-5B59-AA66-D36C62E717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4867" r="24867"/>
          <a:stretch/>
        </p:blipFill>
        <p:spPr>
          <a:xfrm>
            <a:off x="8913655" y="14832"/>
            <a:ext cx="3278345" cy="6843167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6" name="Picture 14">
            <a:extLst>
              <a:ext uri="{FF2B5EF4-FFF2-40B4-BE49-F238E27FC236}">
                <a16:creationId xmlns:a16="http://schemas.microsoft.com/office/drawing/2014/main" id="{E61AF1B5-AA77-90DD-F844-E9896FA03F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7" name="Freeform 15">
            <a:extLst>
              <a:ext uri="{FF2B5EF4-FFF2-40B4-BE49-F238E27FC236}">
                <a16:creationId xmlns:a16="http://schemas.microsoft.com/office/drawing/2014/main" id="{33EE36E4-60E3-19D6-8060-7B1E7A2C3476}"/>
              </a:ext>
            </a:extLst>
          </p:cNvPr>
          <p:cNvSpPr/>
          <p:nvPr/>
        </p:nvSpPr>
        <p:spPr>
          <a:xfrm rot="16200000" flipV="1">
            <a:off x="7280237" y="1931405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9FE4F6-B6C7-17F9-9A99-7F799375CD40}"/>
              </a:ext>
            </a:extLst>
          </p:cNvPr>
          <p:cNvGraphicFramePr>
            <a:graphicFrameLocks noGrp="1"/>
          </p:cNvGraphicFramePr>
          <p:nvPr/>
        </p:nvGraphicFramePr>
        <p:xfrm>
          <a:off x="215573" y="1048018"/>
          <a:ext cx="8519664" cy="212344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129916">
                  <a:extLst>
                    <a:ext uri="{9D8B030D-6E8A-4147-A177-3AD203B41FA5}">
                      <a16:colId xmlns:a16="http://schemas.microsoft.com/office/drawing/2014/main" val="4076455432"/>
                    </a:ext>
                  </a:extLst>
                </a:gridCol>
                <a:gridCol w="2129916">
                  <a:extLst>
                    <a:ext uri="{9D8B030D-6E8A-4147-A177-3AD203B41FA5}">
                      <a16:colId xmlns:a16="http://schemas.microsoft.com/office/drawing/2014/main" val="567022854"/>
                    </a:ext>
                  </a:extLst>
                </a:gridCol>
                <a:gridCol w="2129916">
                  <a:extLst>
                    <a:ext uri="{9D8B030D-6E8A-4147-A177-3AD203B41FA5}">
                      <a16:colId xmlns:a16="http://schemas.microsoft.com/office/drawing/2014/main" val="1765131716"/>
                    </a:ext>
                  </a:extLst>
                </a:gridCol>
                <a:gridCol w="2129916">
                  <a:extLst>
                    <a:ext uri="{9D8B030D-6E8A-4147-A177-3AD203B41FA5}">
                      <a16:colId xmlns:a16="http://schemas.microsoft.com/office/drawing/2014/main" val="10804416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Montserrat" panose="00000500000000000000" pitchFamily="2" charset="0"/>
                        </a:rPr>
                        <a:t>Claims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Montserrat" panose="00000500000000000000" pitchFamily="2" charset="0"/>
                        </a:rPr>
                        <a:t>Industry 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Montserrat" panose="00000500000000000000" pitchFamily="2" charset="0"/>
                        </a:rPr>
                        <a:t>Corporate 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Montserrat" panose="00000500000000000000" pitchFamily="2" charset="0"/>
                        </a:rPr>
                        <a:t>Self-Funded Medical Achieved*</a:t>
                      </a:r>
                    </a:p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3136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Montserrat" panose="00000500000000000000" pitchFamily="2" charset="0"/>
                        </a:rPr>
                        <a:t>Turn Around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Montserrat" panose="00000500000000000000" pitchFamily="2" charset="0"/>
                        </a:rPr>
                        <a:t>10 calendar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Montserrat" panose="00000500000000000000" pitchFamily="2" charset="0"/>
                        </a:rPr>
                        <a:t>7 calendar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Montserrat" panose="00000500000000000000" pitchFamily="2" charset="0"/>
                        </a:rPr>
                        <a:t>4.25 calendar 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04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Montserrat" panose="00000500000000000000" pitchFamily="2" charset="0"/>
                        </a:rPr>
                        <a:t>% Paid in 10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Montserrat" panose="00000500000000000000" pitchFamily="2" charset="0"/>
                        </a:rPr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Montserrat" panose="00000500000000000000" pitchFamily="2" charset="0"/>
                        </a:rP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Montserrat" panose="00000500000000000000" pitchFamily="2" charset="0"/>
                        </a:rPr>
                        <a:t>86.7%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4920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Montserrat" panose="00000500000000000000" pitchFamily="2" charset="0"/>
                        </a:rPr>
                        <a:t>Financial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Montserrat" panose="00000500000000000000" pitchFamily="2" charset="0"/>
                        </a:rPr>
                        <a:t>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Montserrat" panose="00000500000000000000" pitchFamily="2" charset="0"/>
                        </a:rPr>
                        <a:t>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Montserrat" panose="00000500000000000000" pitchFamily="2" charset="0"/>
                        </a:rPr>
                        <a:t>99.6%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0702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Montserrat" panose="00000500000000000000" pitchFamily="2" charset="0"/>
                        </a:rPr>
                        <a:t>Payment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Montserrat" panose="00000500000000000000" pitchFamily="2" charset="0"/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Montserrat" panose="00000500000000000000" pitchFamily="2" charset="0"/>
                        </a:rPr>
                        <a:t>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Montserrat" panose="00000500000000000000" pitchFamily="2" charset="0"/>
                        </a:rPr>
                        <a:t>97.4%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595248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3E1D5E2-E92A-03BB-B4A4-E9814C3C04C1}"/>
              </a:ext>
            </a:extLst>
          </p:cNvPr>
          <p:cNvSpPr txBox="1"/>
          <p:nvPr/>
        </p:nvSpPr>
        <p:spPr>
          <a:xfrm>
            <a:off x="215573" y="3235768"/>
            <a:ext cx="80690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* Data achieved is for Jan-Jun 2025 calendar year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E4C3B6-26D2-9774-6392-A9A5C275D7E6}"/>
              </a:ext>
            </a:extLst>
          </p:cNvPr>
          <p:cNvSpPr txBox="1"/>
          <p:nvPr/>
        </p:nvSpPr>
        <p:spPr>
          <a:xfrm>
            <a:off x="215573" y="3986857"/>
            <a:ext cx="827846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Groups are provided with a dedicated specialist to handle escalated issues and concerns promptly.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We offer comprehensive, interactive training for claims and customer service staff to prepare them for their roles, using a collaborative LMS system to ensure consistency and accuracy in KBA processes. 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7596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7DD81-E488-663E-734E-D11B62C39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3458" y="208645"/>
            <a:ext cx="3784054" cy="434094"/>
          </a:xfrm>
        </p:spPr>
        <p:txBody>
          <a:bodyPr>
            <a:normAutofit fontScale="90000"/>
          </a:bodyPr>
          <a:lstStyle/>
          <a:p>
            <a:r>
              <a:rPr lang="en-US" dirty="0"/>
              <a:t>KBA Claim Audits</a:t>
            </a:r>
          </a:p>
        </p:txBody>
      </p:sp>
      <p:pic>
        <p:nvPicPr>
          <p:cNvPr id="6" name="Picture 14">
            <a:extLst>
              <a:ext uri="{FF2B5EF4-FFF2-40B4-BE49-F238E27FC236}">
                <a16:creationId xmlns:a16="http://schemas.microsoft.com/office/drawing/2014/main" id="{E61AF1B5-AA77-90DD-F844-E9896FA03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7" name="Freeform 15">
            <a:extLst>
              <a:ext uri="{FF2B5EF4-FFF2-40B4-BE49-F238E27FC236}">
                <a16:creationId xmlns:a16="http://schemas.microsoft.com/office/drawing/2014/main" id="{33EE36E4-60E3-19D6-8060-7B1E7A2C3476}"/>
              </a:ext>
            </a:extLst>
          </p:cNvPr>
          <p:cNvSpPr/>
          <p:nvPr/>
        </p:nvSpPr>
        <p:spPr>
          <a:xfrm rot="16200000" flipV="1">
            <a:off x="7280237" y="1931405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E526A59-A78E-1111-CCFC-B65487BE935D}"/>
              </a:ext>
            </a:extLst>
          </p:cNvPr>
          <p:cNvGraphicFramePr/>
          <p:nvPr/>
        </p:nvGraphicFramePr>
        <p:xfrm>
          <a:off x="217201" y="1116779"/>
          <a:ext cx="4983015" cy="43009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AE1D7FB-E7CC-A2EA-7160-CF4FB76EACA2}"/>
              </a:ext>
            </a:extLst>
          </p:cNvPr>
          <p:cNvSpPr txBox="1"/>
          <p:nvPr/>
        </p:nvSpPr>
        <p:spPr>
          <a:xfrm>
            <a:off x="164992" y="642739"/>
            <a:ext cx="30022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Post Payment Reviews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8898E5CF-527A-649B-51DD-D0B05641FD1E}"/>
              </a:ext>
            </a:extLst>
          </p:cNvPr>
          <p:cNvGraphicFramePr/>
          <p:nvPr/>
        </p:nvGraphicFramePr>
        <p:xfrm>
          <a:off x="5981991" y="1072496"/>
          <a:ext cx="5646134" cy="42489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5" name="Title 1">
            <a:extLst>
              <a:ext uri="{FF2B5EF4-FFF2-40B4-BE49-F238E27FC236}">
                <a16:creationId xmlns:a16="http://schemas.microsoft.com/office/drawing/2014/main" id="{497CA920-104D-9ED0-09FC-FE483FB1BAD3}"/>
              </a:ext>
            </a:extLst>
          </p:cNvPr>
          <p:cNvSpPr txBox="1">
            <a:spLocks/>
          </p:cNvSpPr>
          <p:nvPr/>
        </p:nvSpPr>
        <p:spPr>
          <a:xfrm>
            <a:off x="164992" y="282091"/>
            <a:ext cx="3784054" cy="43409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Industry Claim Audits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AB86DC-FEE2-80C2-BFCF-594BA048270B}"/>
              </a:ext>
            </a:extLst>
          </p:cNvPr>
          <p:cNvSpPr txBox="1"/>
          <p:nvPr/>
        </p:nvSpPr>
        <p:spPr>
          <a:xfrm>
            <a:off x="5889834" y="559173"/>
            <a:ext cx="30022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Pre Payment Reviews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689631-A247-DBA0-5FA5-A0A91FEB6F00}"/>
              </a:ext>
            </a:extLst>
          </p:cNvPr>
          <p:cNvSpPr txBox="1"/>
          <p:nvPr/>
        </p:nvSpPr>
        <p:spPr>
          <a:xfrm>
            <a:off x="6926638" y="5050306"/>
            <a:ext cx="564613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We target to audit 1.5%-2.5% of processed claims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Claims are selected with multiple criteria for review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Random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Processor Set Check Amounts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Group Maximums</a:t>
            </a:r>
          </a:p>
        </p:txBody>
      </p:sp>
    </p:spTree>
    <p:extLst>
      <p:ext uri="{BB962C8B-B14F-4D97-AF65-F5344CB8AC3E}">
        <p14:creationId xmlns:p14="http://schemas.microsoft.com/office/powerpoint/2010/main" val="3288151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990A0-B199-0CE8-C6C1-303498D08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3B4E5-39BA-72F4-8B6F-5E333F57A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573" y="162535"/>
            <a:ext cx="9906201" cy="532319"/>
          </a:xfrm>
        </p:spPr>
        <p:txBody>
          <a:bodyPr>
            <a:normAutofit/>
          </a:bodyPr>
          <a:lstStyle/>
          <a:p>
            <a:r>
              <a:rPr lang="en-US" sz="2800" dirty="0"/>
              <a:t>KBA 2023-2024 Total Quality Management Statistics</a:t>
            </a:r>
          </a:p>
        </p:txBody>
      </p:sp>
      <p:pic>
        <p:nvPicPr>
          <p:cNvPr id="6" name="Picture 14">
            <a:extLst>
              <a:ext uri="{FF2B5EF4-FFF2-40B4-BE49-F238E27FC236}">
                <a16:creationId xmlns:a16="http://schemas.microsoft.com/office/drawing/2014/main" id="{3B930FF4-E39B-4635-5A7F-62C75F794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7" name="Freeform 15">
            <a:extLst>
              <a:ext uri="{FF2B5EF4-FFF2-40B4-BE49-F238E27FC236}">
                <a16:creationId xmlns:a16="http://schemas.microsoft.com/office/drawing/2014/main" id="{01FCC95D-26C9-9272-557D-2A18ABE7CD53}"/>
              </a:ext>
            </a:extLst>
          </p:cNvPr>
          <p:cNvSpPr/>
          <p:nvPr/>
        </p:nvSpPr>
        <p:spPr>
          <a:xfrm rot="16200000" flipV="1">
            <a:off x="7280237" y="1931405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610A5C-B434-DC6D-A026-587495EC2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64" y="2121976"/>
            <a:ext cx="2189341" cy="6449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1DA7312-7614-9CCE-1897-1D284F740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931" y="3021139"/>
            <a:ext cx="2070379" cy="5564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6E4506F-D250-CA5F-DC34-ADF5D4C1AE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17" y="3942998"/>
            <a:ext cx="2354205" cy="53232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86F52CA-09AE-0CD0-7474-303EF39C6D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3676" y="760502"/>
            <a:ext cx="9027371" cy="5634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38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EE6C6-52D8-113B-C26D-6D3BC5159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Single Corner Rounded 2">
            <a:extLst>
              <a:ext uri="{FF2B5EF4-FFF2-40B4-BE49-F238E27FC236}">
                <a16:creationId xmlns:a16="http://schemas.microsoft.com/office/drawing/2014/main" id="{8DB1C982-C4FC-1129-29B4-48726C14E06B}"/>
              </a:ext>
            </a:extLst>
          </p:cNvPr>
          <p:cNvSpPr/>
          <p:nvPr/>
        </p:nvSpPr>
        <p:spPr>
          <a:xfrm flipV="1">
            <a:off x="-12707" y="-2"/>
            <a:ext cx="4787908" cy="5524593"/>
          </a:xfrm>
          <a:prstGeom prst="round1Rect">
            <a:avLst>
              <a:gd name="adj" fmla="val 14176"/>
            </a:avLst>
          </a:prstGeom>
          <a:solidFill>
            <a:srgbClr val="00539F">
              <a:alpha val="93725"/>
            </a:srgbClr>
          </a:solidFill>
          <a:ln>
            <a:solidFill>
              <a:srgbClr val="59CA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F33AB84-0288-F50D-0315-A621E71DE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320" y="174481"/>
            <a:ext cx="3839251" cy="943119"/>
          </a:xfrm>
          <a:noFill/>
        </p:spPr>
        <p:txBody>
          <a:bodyPr>
            <a:normAutofit/>
          </a:bodyPr>
          <a:lstStyle/>
          <a:p>
            <a:r>
              <a:rPr lang="en-US" sz="2400" cap="all" dirty="0">
                <a:solidFill>
                  <a:schemeClr val="bg1"/>
                </a:solidFill>
              </a:rPr>
              <a:t>TRANSPARENT ANALYTICS ACCESS</a:t>
            </a: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A8575679-017C-ACF9-77AA-2566A1C9D39A}"/>
              </a:ext>
            </a:extLst>
          </p:cNvPr>
          <p:cNvSpPr txBox="1"/>
          <p:nvPr/>
        </p:nvSpPr>
        <p:spPr>
          <a:xfrm>
            <a:off x="326132" y="1333409"/>
            <a:ext cx="4029076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5" marR="0" lvl="0" indent="-34290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EZView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 analytics platform provides instant access to critical analytics insights. </a:t>
            </a:r>
          </a:p>
          <a:p>
            <a:pPr marL="342905" marR="0" lvl="0" indent="-34290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Filter to a population by data source, group, plan, or geographic location. </a:t>
            </a:r>
          </a:p>
          <a:p>
            <a:pPr marL="342905" marR="0" lvl="0" indent="-34290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Identifications of chronic conditions, patient acuity, compliance with nurse coaching, regimens of care, steerage rates or claims costs. </a:t>
            </a:r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EB5FDA5D-628A-2986-1FC7-454BB42B486C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EC490BA-B756-4E8D-294D-11D21DF35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20" name="Object 3">
            <a:extLst>
              <a:ext uri="{FF2B5EF4-FFF2-40B4-BE49-F238E27FC236}">
                <a16:creationId xmlns:a16="http://schemas.microsoft.com/office/drawing/2014/main" id="{78F0DBBF-275F-DFB6-D114-44CDF821D969}"/>
              </a:ext>
            </a:extLst>
          </p:cNvPr>
          <p:cNvSpPr/>
          <p:nvPr/>
        </p:nvSpPr>
        <p:spPr>
          <a:xfrm>
            <a:off x="6260477" y="1869754"/>
            <a:ext cx="4672331" cy="2916602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7E8AA3-6686-4683-863D-039F4B9F4ECF}"/>
              </a:ext>
            </a:extLst>
          </p:cNvPr>
          <p:cNvGrpSpPr/>
          <p:nvPr/>
        </p:nvGrpSpPr>
        <p:grpSpPr>
          <a:xfrm>
            <a:off x="4968667" y="1191045"/>
            <a:ext cx="6982231" cy="4540024"/>
            <a:chOff x="1567178" y="1319078"/>
            <a:chExt cx="9057640" cy="5400675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7377C34-25B9-4425-A9D0-632127AD8249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67178" y="1319078"/>
              <a:ext cx="9057640" cy="5400675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D91CA6F-7193-4C55-81B2-D73039FE2B3E}"/>
                </a:ext>
              </a:extLst>
            </p:cNvPr>
            <p:cNvSpPr/>
            <p:nvPr/>
          </p:nvSpPr>
          <p:spPr>
            <a:xfrm>
              <a:off x="5023945" y="2879834"/>
              <a:ext cx="5370784" cy="283780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39700">
                    <a:srgbClr val="0F9ED5">
                      <a:satMod val="175000"/>
                      <a:alpha val="40000"/>
                    </a:srgbClr>
                  </a:glow>
                </a:effectLst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6CC832-77C3-4E6A-8D26-6F422247D41E}"/>
                </a:ext>
              </a:extLst>
            </p:cNvPr>
            <p:cNvSpPr/>
            <p:nvPr/>
          </p:nvSpPr>
          <p:spPr>
            <a:xfrm>
              <a:off x="5023945" y="3673391"/>
              <a:ext cx="2543504" cy="131353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39700">
                    <a:srgbClr val="0F9ED5">
                      <a:satMod val="175000"/>
                      <a:alpha val="40000"/>
                    </a:srgbClr>
                  </a:glow>
                </a:effectLst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E074EC1-9219-490A-9E38-4C2A7C3F3754}"/>
                </a:ext>
              </a:extLst>
            </p:cNvPr>
            <p:cNvSpPr/>
            <p:nvPr/>
          </p:nvSpPr>
          <p:spPr>
            <a:xfrm>
              <a:off x="7851225" y="3804744"/>
              <a:ext cx="2543504" cy="767256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39700">
                    <a:srgbClr val="0F9ED5">
                      <a:satMod val="175000"/>
                      <a:alpha val="40000"/>
                    </a:srgbClr>
                  </a:glow>
                </a:effectLst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E90F4AD-BE15-4925-A5D5-EDCEFF21D8A4}"/>
                </a:ext>
              </a:extLst>
            </p:cNvPr>
            <p:cNvSpPr/>
            <p:nvPr/>
          </p:nvSpPr>
          <p:spPr>
            <a:xfrm>
              <a:off x="1619728" y="3916437"/>
              <a:ext cx="3125692" cy="767256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39700">
                    <a:srgbClr val="0F9ED5">
                      <a:satMod val="175000"/>
                      <a:alpha val="40000"/>
                    </a:srgbClr>
                  </a:glow>
                </a:effectLst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9825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3875B3A-E8E7-396A-340C-869A80BCF6D5}"/>
              </a:ext>
            </a:extLst>
          </p:cNvPr>
          <p:cNvSpPr/>
          <p:nvPr/>
        </p:nvSpPr>
        <p:spPr>
          <a:xfrm>
            <a:off x="-4322" y="0"/>
            <a:ext cx="4662586" cy="6858000"/>
          </a:xfrm>
          <a:prstGeom prst="rect">
            <a:avLst/>
          </a:prstGeom>
          <a:solidFill>
            <a:srgbClr val="2168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A41767-0A1E-88B1-2CBC-111CE6EEC58C}"/>
              </a:ext>
            </a:extLst>
          </p:cNvPr>
          <p:cNvSpPr txBox="1"/>
          <p:nvPr/>
        </p:nvSpPr>
        <p:spPr>
          <a:xfrm>
            <a:off x="64699" y="328497"/>
            <a:ext cx="44598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DTE Implementation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Team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F426DD-C737-F23C-E076-4D3361674291}"/>
              </a:ext>
            </a:extLst>
          </p:cNvPr>
          <p:cNvSpPr txBox="1"/>
          <p:nvPr/>
        </p:nvSpPr>
        <p:spPr>
          <a:xfrm>
            <a:off x="103517" y="2225853"/>
            <a:ext cx="438221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The DTE Implementation Team is responsible  for the overall management of the DTE project plan for the DTE Network and KBA Administrative Operations.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We are always excited about new partnerships and look forward to developing a solid foundation to build upon. </a:t>
            </a:r>
          </a:p>
        </p:txBody>
      </p:sp>
      <p:pic>
        <p:nvPicPr>
          <p:cNvPr id="12" name="Picture Placeholder 23">
            <a:extLst>
              <a:ext uri="{FF2B5EF4-FFF2-40B4-BE49-F238E27FC236}">
                <a16:creationId xmlns:a16="http://schemas.microsoft.com/office/drawing/2014/main" id="{CEB39739-96E7-E26A-CBE4-CC5CB40430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897" r="12897"/>
          <a:stretch>
            <a:fillRect/>
          </a:stretch>
        </p:blipFill>
        <p:spPr>
          <a:xfrm>
            <a:off x="5284422" y="382866"/>
            <a:ext cx="972000" cy="972000"/>
          </a:xfrm>
          <a:prstGeom prst="ellipse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30F847C-9B90-0D20-A5F9-30A70EB2A5B2}"/>
              </a:ext>
            </a:extLst>
          </p:cNvPr>
          <p:cNvSpPr txBox="1"/>
          <p:nvPr/>
        </p:nvSpPr>
        <p:spPr>
          <a:xfrm>
            <a:off x="6582000" y="382866"/>
            <a:ext cx="5199323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Director, Implementation and Network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I joined Key Benefit Administrators in 2000 and have been in the Health Insurance Industry for 20+ years. My focus has been Leadership in Operations, Carrier and Provider Network Relations and Implementation Management.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Calibri" panose="020F0502020204030204" pitchFamily="34" charset="0"/>
              </a:rPr>
              <a:t>Office: (803) 323-7974  |  Email: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Calibri" panose="020F0502020204030204" pitchFamily="34" charset="0"/>
                <a:hlinkClick r:id="rId3"/>
              </a:rPr>
              <a:t>Christine.Vinesett@keybenefit.com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D7455B-FEFD-A1FB-F3E6-8457781513C4}"/>
              </a:ext>
            </a:extLst>
          </p:cNvPr>
          <p:cNvSpPr txBox="1"/>
          <p:nvPr/>
        </p:nvSpPr>
        <p:spPr>
          <a:xfrm>
            <a:off x="5070343" y="1479795"/>
            <a:ext cx="151165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Christine Vinesett</a:t>
            </a:r>
          </a:p>
        </p:txBody>
      </p:sp>
      <p:pic>
        <p:nvPicPr>
          <p:cNvPr id="15" name="Picture Placeholder 27" descr="A picture containing person, wall, indoor, smiling&#10;&#10;Description automatically generated">
            <a:extLst>
              <a:ext uri="{FF2B5EF4-FFF2-40B4-BE49-F238E27FC236}">
                <a16:creationId xmlns:a16="http://schemas.microsoft.com/office/drawing/2014/main" id="{E6F8E71D-B9A1-1F6F-56C1-A374B14715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779" b="19436"/>
          <a:stretch/>
        </p:blipFill>
        <p:spPr>
          <a:xfrm>
            <a:off x="5261239" y="5399579"/>
            <a:ext cx="972000" cy="1012351"/>
          </a:xfrm>
          <a:prstGeom prst="ellipse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C85C698-2514-528F-2548-B2056ED11AF9}"/>
              </a:ext>
            </a:extLst>
          </p:cNvPr>
          <p:cNvSpPr txBox="1"/>
          <p:nvPr/>
        </p:nvSpPr>
        <p:spPr>
          <a:xfrm>
            <a:off x="5070343" y="6488685"/>
            <a:ext cx="151165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Darlene Grindstaff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154E73-91F6-A28B-A0C5-9B2B03F61743}"/>
              </a:ext>
            </a:extLst>
          </p:cNvPr>
          <p:cNvSpPr txBox="1"/>
          <p:nvPr/>
        </p:nvSpPr>
        <p:spPr>
          <a:xfrm>
            <a:off x="6582000" y="5399580"/>
            <a:ext cx="5199323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DTE Implementation and Relationship Coordinator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Darlene Grindstaff joined Key Benefit Administrators in 2014 and has been in the Health Insurance Industry for 11 years. Darlene’s focus has been in Implementation, Provider Network, and Relationship Management.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Office: 803-396-4784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|   Email: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  <a:hlinkClick r:id="rId5"/>
              </a:rPr>
              <a:t>Darlene.Grindstaff@keybenefit.com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18" name="Picture Placeholder 27">
            <a:extLst>
              <a:ext uri="{FF2B5EF4-FFF2-40B4-BE49-F238E27FC236}">
                <a16:creationId xmlns:a16="http://schemas.microsoft.com/office/drawing/2014/main" id="{86BBA40F-FF55-6F38-4EBA-12630421AC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5" r="12500" b="7087"/>
          <a:stretch/>
        </p:blipFill>
        <p:spPr>
          <a:xfrm rot="16200000">
            <a:off x="5270791" y="3668043"/>
            <a:ext cx="952896" cy="972000"/>
          </a:xfrm>
          <a:prstGeom prst="ellipse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080BF80-934D-0E46-38A3-A253354B204E}"/>
              </a:ext>
            </a:extLst>
          </p:cNvPr>
          <p:cNvSpPr txBox="1"/>
          <p:nvPr/>
        </p:nvSpPr>
        <p:spPr>
          <a:xfrm>
            <a:off x="5070343" y="4766700"/>
            <a:ext cx="151165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Dejanetta (Deja) Pettaway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63FA30-65BB-8BE6-5D9A-BD9349F13578}"/>
              </a:ext>
            </a:extLst>
          </p:cNvPr>
          <p:cNvSpPr txBox="1"/>
          <p:nvPr/>
        </p:nvSpPr>
        <p:spPr>
          <a:xfrm>
            <a:off x="6582000" y="3677595"/>
            <a:ext cx="519932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DTE Implementation and Relationship Coordinator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Deja joined Key Benefit Administrators in 2023 and has been in the Health Insurance Industry for 10 years. Deja’s focus has been in Provider Network and Relationship Management.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Office: 803-396-4836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|   Email: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  <a:hlinkClick r:id="rId5"/>
              </a:rPr>
              <a:t>Dejanetta.Pettaway@keybenefit.com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480D46-918E-08B5-A5C4-304F9E457AA1}"/>
              </a:ext>
            </a:extLst>
          </p:cNvPr>
          <p:cNvSpPr txBox="1"/>
          <p:nvPr/>
        </p:nvSpPr>
        <p:spPr>
          <a:xfrm>
            <a:off x="5070343" y="3044714"/>
            <a:ext cx="151165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Julie Caskey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2C32A3-016B-E62A-A9C8-31E790545AF7}"/>
              </a:ext>
            </a:extLst>
          </p:cNvPr>
          <p:cNvSpPr txBox="1"/>
          <p:nvPr/>
        </p:nvSpPr>
        <p:spPr>
          <a:xfrm>
            <a:off x="6582000" y="1866962"/>
            <a:ext cx="5199323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Network Operations Lead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Julie Caskey joined Key Benefit Administrators (KBA) in 2021. Julie brings an extensive background with 30+ years in the Health Insurance Industry. Julie’s focus has been in Provider Network and Relationship Management.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Calibri" panose="020F0502020204030204" pitchFamily="34" charset="0"/>
              </a:rPr>
              <a:t>Office: 317-712-4003   |   Email: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Calibri" panose="020F0502020204030204" pitchFamily="34" charset="0"/>
                <a:hlinkClick r:id="rId7"/>
              </a:rPr>
              <a:t>Julie.Caskey@keybenefit.com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Calibri" panose="020F0502020204030204" pitchFamily="34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5" name="Picture Placeholder 22">
            <a:extLst>
              <a:ext uri="{FF2B5EF4-FFF2-40B4-BE49-F238E27FC236}">
                <a16:creationId xmlns:a16="http://schemas.microsoft.com/office/drawing/2014/main" id="{A7B34476-3F5A-A654-1C44-001205E50CA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499" b="1499"/>
          <a:stretch>
            <a:fillRect/>
          </a:stretch>
        </p:blipFill>
        <p:spPr>
          <a:xfrm>
            <a:off x="5284422" y="1942504"/>
            <a:ext cx="972000" cy="9720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127478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363EF-E2D3-9F6A-D290-ACBB0E7D6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8964"/>
            <a:ext cx="10515600" cy="490008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Aptos Narrow" panose="020B0004020202020204" pitchFamily="34" charset="0"/>
              </a:rPr>
              <a:t>DTE IMPLEMENTATION OVERVIEW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FD305A6-D55E-C904-8B1A-0AD6B20916BC}"/>
              </a:ext>
            </a:extLst>
          </p:cNvPr>
          <p:cNvGraphicFramePr>
            <a:graphicFrameLocks noGrp="1"/>
          </p:cNvGraphicFramePr>
          <p:nvPr/>
        </p:nvGraphicFramePr>
        <p:xfrm>
          <a:off x="158620" y="686964"/>
          <a:ext cx="11877870" cy="5937972"/>
        </p:xfrm>
        <a:graphic>
          <a:graphicData uri="http://schemas.openxmlformats.org/drawingml/2006/table">
            <a:tbl>
              <a:tblPr firstRow="1" bandRow="1"/>
              <a:tblGrid>
                <a:gridCol w="2050433">
                  <a:extLst>
                    <a:ext uri="{9D8B030D-6E8A-4147-A177-3AD203B41FA5}">
                      <a16:colId xmlns:a16="http://schemas.microsoft.com/office/drawing/2014/main" val="1212300948"/>
                    </a:ext>
                  </a:extLst>
                </a:gridCol>
                <a:gridCol w="1947912">
                  <a:extLst>
                    <a:ext uri="{9D8B030D-6E8A-4147-A177-3AD203B41FA5}">
                      <a16:colId xmlns:a16="http://schemas.microsoft.com/office/drawing/2014/main" val="2778512441"/>
                    </a:ext>
                  </a:extLst>
                </a:gridCol>
                <a:gridCol w="2278419">
                  <a:extLst>
                    <a:ext uri="{9D8B030D-6E8A-4147-A177-3AD203B41FA5}">
                      <a16:colId xmlns:a16="http://schemas.microsoft.com/office/drawing/2014/main" val="3090959120"/>
                    </a:ext>
                  </a:extLst>
                </a:gridCol>
                <a:gridCol w="2717947">
                  <a:extLst>
                    <a:ext uri="{9D8B030D-6E8A-4147-A177-3AD203B41FA5}">
                      <a16:colId xmlns:a16="http://schemas.microsoft.com/office/drawing/2014/main" val="1348456886"/>
                    </a:ext>
                  </a:extLst>
                </a:gridCol>
                <a:gridCol w="2883159">
                  <a:extLst>
                    <a:ext uri="{9D8B030D-6E8A-4147-A177-3AD203B41FA5}">
                      <a16:colId xmlns:a16="http://schemas.microsoft.com/office/drawing/2014/main" val="3283441047"/>
                    </a:ext>
                  </a:extLst>
                </a:gridCol>
              </a:tblGrid>
              <a:tr h="294555">
                <a:tc>
                  <a:txBody>
                    <a:bodyPr/>
                    <a:lstStyle/>
                    <a:p>
                      <a:pPr marL="91440" algn="l" rtl="0" fontAlgn="ctr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Phase 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1440" algn="ctr" rtl="0" fontAlgn="ctr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Phase 2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1440" algn="l" rtl="0" fontAlgn="ctr"/>
                      <a:endParaRPr lang="en-US" sz="1500" b="0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132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1440" algn="ctr" rtl="0" fontAlgn="ctr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Phase 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1440" algn="l" rtl="0" fontAlgn="ctr"/>
                      <a:endParaRPr lang="en-US" sz="1500" b="0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13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07112"/>
                  </a:ext>
                </a:extLst>
              </a:tr>
              <a:tr h="600441">
                <a:tc>
                  <a:txBody>
                    <a:bodyPr/>
                    <a:lstStyle/>
                    <a:p>
                      <a:pPr marL="91440" algn="l" rtl="0" fontAlgn="ctr"/>
                      <a:r>
                        <a:rPr lang="en-US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DTE Network Setup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rtl="0" fontAlgn="ctr"/>
                      <a:r>
                        <a:rPr lang="en-US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DTE Marketing &amp; Website Setup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rtl="0" fontAlgn="ctr"/>
                      <a:r>
                        <a:rPr lang="en-US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DTE Provider File Setup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rtl="0" fontAlgn="ctr"/>
                      <a:r>
                        <a:rPr lang="en-US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Group Sales  &amp; Plan Design Setup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rtl="0" fontAlgn="ctr"/>
                      <a:r>
                        <a:rPr lang="en-US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Group Administration Setup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355127"/>
                  </a:ext>
                </a:extLst>
              </a:tr>
              <a:tr h="566453">
                <a:tc>
                  <a:txBody>
                    <a:bodyPr/>
                    <a:lstStyle/>
                    <a:p>
                      <a:pPr marL="91440" lvl="0" algn="l" rtl="0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 panose="020B0604020202020204" pitchFamily="34" charset="0"/>
                        </a:rPr>
                        <a:t>☐ </a:t>
                      </a:r>
                      <a:r>
                        <a:rPr lang="en-US" sz="1300" b="0" i="0" u="none" strike="noStrike" dirty="0">
                          <a:solidFill>
                            <a:srgbClr val="00132E"/>
                          </a:solidFill>
                          <a:effectLst/>
                          <a:latin typeface="Aptos Narrow" panose="020B0004020202020204" pitchFamily="34" charset="0"/>
                        </a:rPr>
                        <a:t>Legal Contracts and Agreements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91440" lvl="0" algn="l" rtl="0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 panose="020B0604020202020204" pitchFamily="34" charset="0"/>
                        </a:rPr>
                        <a:t>☐ </a:t>
                      </a:r>
                      <a:r>
                        <a:rPr lang="en-US" sz="1300" b="0" i="0" u="none" strike="noStrike" dirty="0">
                          <a:solidFill>
                            <a:srgbClr val="00132E"/>
                          </a:solidFill>
                          <a:effectLst/>
                          <a:latin typeface="Aptos Narrow" panose="020B0004020202020204" pitchFamily="34" charset="0"/>
                        </a:rPr>
                        <a:t>DTE Name Established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91440" lvl="0" algn="l" rtl="0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 panose="020B0604020202020204" pitchFamily="34" charset="0"/>
                        </a:rPr>
                        <a:t>☐ </a:t>
                      </a:r>
                      <a:r>
                        <a:rPr lang="en-US" sz="1300" b="0" i="0" u="none" strike="noStrike" dirty="0">
                          <a:solidFill>
                            <a:srgbClr val="00132E"/>
                          </a:solidFill>
                          <a:effectLst/>
                          <a:latin typeface="Aptos Narrow" panose="020B0004020202020204" pitchFamily="34" charset="0"/>
                        </a:rPr>
                        <a:t>Provider data and file analysis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91440" lvl="0" algn="l" rtl="0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 panose="020B0604020202020204" pitchFamily="34" charset="0"/>
                        </a:rPr>
                        <a:t>☐ </a:t>
                      </a:r>
                      <a:r>
                        <a:rPr lang="en-US" sz="1300" b="0" i="0" u="none" strike="noStrike" dirty="0">
                          <a:solidFill>
                            <a:srgbClr val="00132E"/>
                          </a:solidFill>
                          <a:effectLst/>
                          <a:latin typeface="Aptos Narrow" panose="020B0004020202020204" pitchFamily="34" charset="0"/>
                        </a:rPr>
                        <a:t>Group Sales and Marketing Strategy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91440" lvl="0" algn="l" rtl="0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 panose="020B0604020202020204" pitchFamily="34" charset="0"/>
                        </a:rPr>
                        <a:t>☐ </a:t>
                      </a:r>
                      <a:r>
                        <a:rPr lang="en-US" sz="1300" b="0" i="0" u="none" strike="noStrike" dirty="0">
                          <a:solidFill>
                            <a:srgbClr val="00132E"/>
                          </a:solidFill>
                          <a:effectLst/>
                          <a:latin typeface="Aptos Narrow" panose="020B0004020202020204" pitchFamily="34" charset="0"/>
                        </a:rPr>
                        <a:t>Proposal system setup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249549"/>
                  </a:ext>
                </a:extLst>
              </a:tr>
              <a:tr h="555125">
                <a:tc>
                  <a:txBody>
                    <a:bodyPr/>
                    <a:lstStyle/>
                    <a:p>
                      <a:pPr marL="91440" lvl="0" algn="l" rtl="0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 panose="020B0604020202020204" pitchFamily="34" charset="0"/>
                        </a:rPr>
                        <a:t>☐ </a:t>
                      </a:r>
                      <a:r>
                        <a:rPr lang="en-US" sz="1300" b="0" i="0" u="none" strike="noStrike" dirty="0">
                          <a:solidFill>
                            <a:srgbClr val="00132E"/>
                          </a:solidFill>
                          <a:effectLst/>
                          <a:latin typeface="Aptos Narrow" panose="020B0004020202020204" pitchFamily="34" charset="0"/>
                        </a:rPr>
                        <a:t>Security and Compliance review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lvl="0" algn="l" rtl="0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 panose="020B0604020202020204" pitchFamily="34" charset="0"/>
                        </a:rPr>
                        <a:t>☐ </a:t>
                      </a:r>
                      <a:r>
                        <a:rPr lang="en-US" sz="1300" b="0" i="0" u="none" strike="noStrike" dirty="0">
                          <a:solidFill>
                            <a:srgbClr val="00132E"/>
                          </a:solidFill>
                          <a:effectLst/>
                          <a:latin typeface="Aptos Narrow" panose="020B0004020202020204" pitchFamily="34" charset="0"/>
                        </a:rPr>
                        <a:t>DTE logo and messaging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lvl="0" algn="l" rtl="0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 panose="020B0604020202020204" pitchFamily="34" charset="0"/>
                        </a:rPr>
                        <a:t>☐ </a:t>
                      </a:r>
                      <a:r>
                        <a:rPr lang="en-US" sz="1300" b="0" i="0" u="none" strike="noStrike" dirty="0">
                          <a:solidFill>
                            <a:srgbClr val="00132E"/>
                          </a:solidFill>
                          <a:effectLst/>
                          <a:latin typeface="Aptos Narrow" panose="020B0004020202020204" pitchFamily="34" charset="0"/>
                        </a:rPr>
                        <a:t>Provider file requirements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lvl="0" algn="l" rtl="0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 panose="020B0604020202020204" pitchFamily="34" charset="0"/>
                        </a:rPr>
                        <a:t>☐ </a:t>
                      </a:r>
                      <a:r>
                        <a:rPr lang="en-US" sz="1300" b="0" i="0" u="none" strike="noStrike" dirty="0">
                          <a:solidFill>
                            <a:srgbClr val="00132E"/>
                          </a:solidFill>
                          <a:effectLst/>
                          <a:latin typeface="Aptos Narrow" panose="020B0004020202020204" pitchFamily="34" charset="0"/>
                        </a:rPr>
                        <a:t>Group Sales collateral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lvl="0" algn="l" rtl="0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 panose="020B0604020202020204" pitchFamily="34" charset="0"/>
                        </a:rPr>
                        <a:t>☐ </a:t>
                      </a:r>
                      <a:r>
                        <a:rPr lang="en-US" sz="1300" b="0" i="0" u="none" strike="noStrike" dirty="0">
                          <a:solidFill>
                            <a:srgbClr val="00132E"/>
                          </a:solidFill>
                          <a:effectLst/>
                          <a:latin typeface="Aptos Narrow" panose="020B0004020202020204" pitchFamily="34" charset="0"/>
                        </a:rPr>
                        <a:t>Group Implementation and Renewal Collateral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9425224"/>
                  </a:ext>
                </a:extLst>
              </a:tr>
              <a:tr h="827022">
                <a:tc>
                  <a:txBody>
                    <a:bodyPr/>
                    <a:lstStyle/>
                    <a:p>
                      <a:pPr marL="91440" lvl="0" algn="l" rtl="0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 panose="020B0604020202020204" pitchFamily="34" charset="0"/>
                        </a:rPr>
                        <a:t>☐ </a:t>
                      </a:r>
                      <a:r>
                        <a:rPr lang="en-US" sz="1300" b="0" i="0" u="none" strike="noStrike" dirty="0">
                          <a:solidFill>
                            <a:srgbClr val="00132E"/>
                          </a:solidFill>
                          <a:effectLst/>
                          <a:latin typeface="Aptos Narrow" panose="020B0004020202020204" pitchFamily="34" charset="0"/>
                        </a:rPr>
                        <a:t>Secure email connection - Transport Layer Security (TLS)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91440" lvl="0" algn="l" rtl="0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 panose="020B0604020202020204" pitchFamily="34" charset="0"/>
                        </a:rPr>
                        <a:t>☐ </a:t>
                      </a:r>
                      <a:r>
                        <a:rPr lang="en-US" sz="1300" b="0" i="0" u="none" strike="noStrike" dirty="0">
                          <a:solidFill>
                            <a:srgbClr val="00132E"/>
                          </a:solidFill>
                          <a:effectLst/>
                          <a:latin typeface="Aptos Narrow" panose="020B0004020202020204" pitchFamily="34" charset="0"/>
                        </a:rPr>
                        <a:t>DTE Marketing Collateral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91440" lvl="0" algn="l" rtl="0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 panose="020B0604020202020204" pitchFamily="34" charset="0"/>
                        </a:rPr>
                        <a:t>☐ </a:t>
                      </a:r>
                      <a:r>
                        <a:rPr lang="en-US" sz="1300" b="0" i="0" u="none" strike="noStrike" dirty="0">
                          <a:solidFill>
                            <a:srgbClr val="00132E"/>
                          </a:solidFill>
                          <a:effectLst/>
                          <a:latin typeface="Aptos Narrow" panose="020B0004020202020204" pitchFamily="34" charset="0"/>
                        </a:rPr>
                        <a:t>Provider file transfer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91440" lvl="0" algn="l" rtl="0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 panose="020B0604020202020204" pitchFamily="34" charset="0"/>
                        </a:rPr>
                        <a:t>☐ </a:t>
                      </a:r>
                      <a:r>
                        <a:rPr lang="en-US" sz="1300" b="0" i="0" u="none" strike="noStrike" dirty="0">
                          <a:solidFill>
                            <a:srgbClr val="00132E"/>
                          </a:solidFill>
                          <a:effectLst/>
                          <a:latin typeface="Aptos Narrow" panose="020B0004020202020204" pitchFamily="34" charset="0"/>
                        </a:rPr>
                        <a:t>Group plan design and benefit structure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91440" lvl="0" algn="l" rtl="0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 panose="020B0604020202020204" pitchFamily="34" charset="0"/>
                        </a:rPr>
                        <a:t>☐ </a:t>
                      </a:r>
                      <a:r>
                        <a:rPr lang="en-US" sz="1300" b="0" i="0" u="none" strike="noStrike" dirty="0">
                          <a:solidFill>
                            <a:srgbClr val="00132E"/>
                          </a:solidFill>
                          <a:effectLst/>
                          <a:latin typeface="Aptos Narrow" panose="020B0004020202020204" pitchFamily="34" charset="0"/>
                        </a:rPr>
                        <a:t>Administration system programming (DTE product, plan design, billing, distribution, extract files)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527028"/>
                  </a:ext>
                </a:extLst>
              </a:tr>
              <a:tr h="827022">
                <a:tc>
                  <a:txBody>
                    <a:bodyPr/>
                    <a:lstStyle/>
                    <a:p>
                      <a:pPr marL="91440" lvl="0" algn="l" rtl="0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 panose="020B0604020202020204" pitchFamily="34" charset="0"/>
                        </a:rPr>
                        <a:t>☐ </a:t>
                      </a:r>
                      <a:r>
                        <a:rPr lang="en-US" sz="1300" b="0" i="0" u="none" strike="noStrike" dirty="0">
                          <a:solidFill>
                            <a:srgbClr val="00132E"/>
                          </a:solidFill>
                          <a:effectLst/>
                          <a:latin typeface="Aptos Narrow" panose="020B0004020202020204" pitchFamily="34" charset="0"/>
                        </a:rPr>
                        <a:t>Secure file and reporting connection - Secure File Transfer Protocol (SFTP)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lvl="0" algn="l" rtl="0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 panose="020B0604020202020204" pitchFamily="34" charset="0"/>
                        </a:rPr>
                        <a:t>☐ </a:t>
                      </a:r>
                      <a:r>
                        <a:rPr lang="en-US" sz="1300" b="0" i="0" u="none" strike="noStrike" dirty="0">
                          <a:solidFill>
                            <a:srgbClr val="00132E"/>
                          </a:solidFill>
                          <a:effectLst/>
                          <a:latin typeface="Aptos Narrow" panose="020B0004020202020204" pitchFamily="34" charset="0"/>
                        </a:rPr>
                        <a:t>DTE Website URL (domain)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lvl="0" algn="l" rtl="0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 panose="020B0604020202020204" pitchFamily="34" charset="0"/>
                        </a:rPr>
                        <a:t>☐ </a:t>
                      </a:r>
                      <a:r>
                        <a:rPr lang="en-US" sz="1300" b="0" i="0" u="none" strike="noStrike" dirty="0">
                          <a:solidFill>
                            <a:srgbClr val="00132E"/>
                          </a:solidFill>
                          <a:effectLst/>
                          <a:latin typeface="Aptos Narrow" panose="020B0004020202020204" pitchFamily="34" charset="0"/>
                        </a:rPr>
                        <a:t>Provider file programming and website testing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lvl="0" algn="l" rtl="0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 panose="020B0604020202020204" pitchFamily="34" charset="0"/>
                        </a:rPr>
                        <a:t>☐ </a:t>
                      </a:r>
                      <a:r>
                        <a:rPr lang="en-US" sz="1300" b="0" i="0" u="none" strike="noStrike" dirty="0">
                          <a:solidFill>
                            <a:srgbClr val="00132E"/>
                          </a:solidFill>
                          <a:effectLst/>
                          <a:latin typeface="Aptos Narrow" panose="020B0004020202020204" pitchFamily="34" charset="0"/>
                        </a:rPr>
                        <a:t>PBM plans and benefits review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1440" lvl="0" algn="l" rtl="0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 panose="020B0604020202020204" pitchFamily="34" charset="0"/>
                        </a:rPr>
                        <a:t>☐ </a:t>
                      </a:r>
                      <a:r>
                        <a:rPr lang="en-US" sz="1300" b="0" i="0" u="none" strike="noStrike" dirty="0">
                          <a:solidFill>
                            <a:srgbClr val="00132E"/>
                          </a:solidFill>
                          <a:effectLst/>
                          <a:latin typeface="Aptos Narrow" panose="020B0004020202020204" pitchFamily="34" charset="0"/>
                        </a:rPr>
                        <a:t>Claims adjudication system programming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105442"/>
                  </a:ext>
                </a:extLst>
              </a:tr>
              <a:tr h="827022">
                <a:tc>
                  <a:txBody>
                    <a:bodyPr/>
                    <a:lstStyle/>
                    <a:p>
                      <a:pPr marL="91440" lvl="0" algn="l" rtl="0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 panose="020B0604020202020204" pitchFamily="34" charset="0"/>
                        </a:rPr>
                        <a:t>☐ </a:t>
                      </a:r>
                      <a:r>
                        <a:rPr lang="en-US" sz="1300" b="0" i="0" u="none" strike="noStrike" dirty="0">
                          <a:solidFill>
                            <a:srgbClr val="00132E"/>
                          </a:solidFill>
                          <a:effectLst/>
                          <a:latin typeface="Aptos Narrow" panose="020B0004020202020204" pitchFamily="34" charset="0"/>
                        </a:rPr>
                        <a:t>Network review of providers, specialties and sub-specialties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91440" lvl="0" algn="l" rtl="0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 panose="020B0604020202020204" pitchFamily="34" charset="0"/>
                        </a:rPr>
                        <a:t>☐ </a:t>
                      </a:r>
                      <a:r>
                        <a:rPr lang="en-US" sz="1300" b="0" i="0" u="none" strike="noStrike" dirty="0">
                          <a:solidFill>
                            <a:srgbClr val="00132E"/>
                          </a:solidFill>
                          <a:effectLst/>
                          <a:latin typeface="Aptos Narrow" panose="020B0004020202020204" pitchFamily="34" charset="0"/>
                        </a:rPr>
                        <a:t>DTE Website design and content creation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91440" lvl="0" algn="l" rtl="0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 panose="020B0604020202020204" pitchFamily="34" charset="0"/>
                        </a:rPr>
                        <a:t>☐ </a:t>
                      </a:r>
                      <a:r>
                        <a:rPr lang="en-US" sz="1300" b="0" i="0" u="none" strike="noStrike" dirty="0">
                          <a:solidFill>
                            <a:srgbClr val="00132E"/>
                          </a:solidFill>
                          <a:effectLst/>
                          <a:latin typeface="Aptos Narrow" panose="020B0004020202020204" pitchFamily="34" charset="0"/>
                        </a:rPr>
                        <a:t>Provider maintenance file established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lvl="0" algn="l" rtl="0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 panose="020B0604020202020204" pitchFamily="34" charset="0"/>
                        </a:rPr>
                        <a:t>☐ </a:t>
                      </a:r>
                      <a:r>
                        <a:rPr lang="en-US" sz="1300" b="0" i="0" u="none" strike="noStrike" dirty="0">
                          <a:solidFill>
                            <a:srgbClr val="00132E"/>
                          </a:solidFill>
                          <a:effectLst/>
                          <a:latin typeface="Aptos Narrow" panose="020B0004020202020204" pitchFamily="34" charset="0"/>
                        </a:rPr>
                        <a:t>PBM structure analysis (systems, data import, data export, billing and invoicing)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lvl="0" algn="l" rtl="0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 panose="020B0604020202020204" pitchFamily="34" charset="0"/>
                        </a:rPr>
                        <a:t>☐ </a:t>
                      </a:r>
                      <a:r>
                        <a:rPr lang="en-US" sz="1300" b="0" i="0" u="none" strike="noStrike" dirty="0">
                          <a:solidFill>
                            <a:srgbClr val="00132E"/>
                          </a:solidFill>
                          <a:effectLst/>
                          <a:latin typeface="Aptos Narrow" panose="020B0004020202020204" pitchFamily="34" charset="0"/>
                        </a:rPr>
                        <a:t>Fulfillment programming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7134628"/>
                  </a:ext>
                </a:extLst>
              </a:tr>
              <a:tr h="555125">
                <a:tc>
                  <a:txBody>
                    <a:bodyPr/>
                    <a:lstStyle/>
                    <a:p>
                      <a:pPr marL="91440" lvl="0" algn="l" rtl="0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 panose="020B0604020202020204" pitchFamily="34" charset="0"/>
                        </a:rPr>
                        <a:t>☐ </a:t>
                      </a:r>
                      <a:r>
                        <a:rPr lang="en-US" sz="1300" b="0" i="0" u="none" strike="noStrike" dirty="0">
                          <a:solidFill>
                            <a:srgbClr val="00132E"/>
                          </a:solidFill>
                          <a:effectLst/>
                          <a:latin typeface="Aptos Narrow" panose="020B0004020202020204" pitchFamily="34" charset="0"/>
                        </a:rPr>
                        <a:t>Network contracting and pricing analysis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 panose="020B0604020202020204" pitchFamily="34" charset="0"/>
                        </a:rPr>
                        <a:t>☐ </a:t>
                      </a:r>
                      <a:r>
                        <a:rPr lang="en-US" sz="1300" b="0" i="0" u="none" strike="noStrike" dirty="0">
                          <a:solidFill>
                            <a:srgbClr val="00132E"/>
                          </a:solidFill>
                          <a:effectLst/>
                          <a:latin typeface="Aptos Narrow" panose="020B0004020202020204" pitchFamily="34" charset="0"/>
                        </a:rPr>
                        <a:t>DTE Website provider portal setup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b="0" i="0" u="none" strike="noStrike" dirty="0">
                        <a:solidFill>
                          <a:srgbClr val="00132E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marL="9144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 panose="020B0604020202020204" pitchFamily="34" charset="0"/>
                        </a:rPr>
                        <a:t>☐ </a:t>
                      </a:r>
                      <a:r>
                        <a:rPr lang="en-US" sz="1300" b="0" i="0" u="none" strike="noStrike" dirty="0">
                          <a:solidFill>
                            <a:srgbClr val="00132E"/>
                          </a:solidFill>
                          <a:effectLst/>
                          <a:latin typeface="Aptos Narrow" panose="020B0004020202020204" pitchFamily="34" charset="0"/>
                        </a:rPr>
                        <a:t>DTE Website review for launch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1440" lvl="0" algn="l" rtl="0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 panose="020B0604020202020204" pitchFamily="34" charset="0"/>
                        </a:rPr>
                        <a:t>☐ </a:t>
                      </a:r>
                      <a:r>
                        <a:rPr lang="en-US" sz="1300" b="0" i="0" u="none" strike="noStrike" dirty="0">
                          <a:solidFill>
                            <a:srgbClr val="00132E"/>
                          </a:solidFill>
                          <a:effectLst/>
                          <a:latin typeface="Aptos Narrow" panose="020B0004020202020204" pitchFamily="34" charset="0"/>
                        </a:rPr>
                        <a:t>PBM file structure programming and testing (claims, accumulators, elig, invoice feed)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1440" lvl="0" algn="l" rtl="0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 panose="020B0604020202020204" pitchFamily="34" charset="0"/>
                        </a:rPr>
                        <a:t>☐ </a:t>
                      </a:r>
                      <a:r>
                        <a:rPr lang="en-US" sz="1300" b="0" i="0" u="none" strike="noStrike" dirty="0">
                          <a:solidFill>
                            <a:srgbClr val="00132E"/>
                          </a:solidFill>
                          <a:effectLst/>
                          <a:latin typeface="Aptos Narrow" panose="020B0004020202020204" pitchFamily="34" charset="0"/>
                        </a:rPr>
                        <a:t>Customer Service programming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3620519"/>
                  </a:ext>
                </a:extLst>
              </a:tr>
              <a:tr h="555125">
                <a:tc>
                  <a:txBody>
                    <a:bodyPr/>
                    <a:lstStyle/>
                    <a:p>
                      <a:pPr marL="91440" lvl="0" algn="l" rtl="0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 panose="020B0604020202020204" pitchFamily="34" charset="0"/>
                        </a:rPr>
                        <a:t>☐ </a:t>
                      </a:r>
                      <a:r>
                        <a:rPr lang="en-US" sz="1300" b="0" i="0" u="none" strike="noStrike" dirty="0">
                          <a:solidFill>
                            <a:srgbClr val="00132E"/>
                          </a:solidFill>
                          <a:effectLst/>
                          <a:latin typeface="Aptos Narrow" panose="020B0004020202020204" pitchFamily="34" charset="0"/>
                        </a:rPr>
                        <a:t>Network fee schedule programming and testing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91440" lvl="0" algn="l" fontAlgn="t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lvl="0" algn="l" rtl="0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 panose="020B0604020202020204" pitchFamily="34" charset="0"/>
                        </a:rPr>
                        <a:t>☐ </a:t>
                      </a:r>
                      <a:r>
                        <a:rPr lang="en-US" sz="1300" b="0" i="0" u="none" strike="noStrike" dirty="0">
                          <a:solidFill>
                            <a:srgbClr val="00132E"/>
                          </a:solidFill>
                          <a:effectLst/>
                          <a:latin typeface="Aptos Narrow" panose="020B0004020202020204" pitchFamily="34" charset="0"/>
                        </a:rPr>
                        <a:t>Reinsurance Carrier education on DTE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lvl="0" algn="l" rtl="0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 panose="020B0604020202020204" pitchFamily="34" charset="0"/>
                        </a:rPr>
                        <a:t>☐ </a:t>
                      </a:r>
                      <a:r>
                        <a:rPr lang="en-US" sz="1300" b="0" i="0" u="none" strike="noStrike" dirty="0">
                          <a:solidFill>
                            <a:srgbClr val="00132E"/>
                          </a:solidFill>
                          <a:effectLst/>
                          <a:latin typeface="Aptos Narrow" panose="020B0004020202020204" pitchFamily="34" charset="0"/>
                        </a:rPr>
                        <a:t>Complete End to End Testing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6052463"/>
                  </a:ext>
                </a:extLst>
              </a:tr>
              <a:tr h="283227">
                <a:tc>
                  <a:txBody>
                    <a:bodyPr/>
                    <a:lstStyle/>
                    <a:p>
                      <a:pPr marL="91440" algn="l" rtl="0" fontAlgn="ctr"/>
                      <a:r>
                        <a:rPr lang="en-US" sz="1300" b="1" i="0" u="none" strike="noStrike">
                          <a:solidFill>
                            <a:srgbClr val="00132E"/>
                          </a:solidFill>
                          <a:effectLst/>
                          <a:latin typeface="Aptos Narrow" panose="020B0004020202020204" pitchFamily="34" charset="0"/>
                        </a:rPr>
                        <a:t>Network launch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E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1440" algn="ctr" rtl="0" fontAlgn="ctr"/>
                      <a:r>
                        <a:rPr lang="en-US" sz="1300" b="1" i="0" u="none" strike="noStrike" dirty="0">
                          <a:solidFill>
                            <a:srgbClr val="00132E"/>
                          </a:solidFill>
                          <a:effectLst/>
                          <a:latin typeface="Aptos Narrow" panose="020B0004020202020204" pitchFamily="34" charset="0"/>
                        </a:rPr>
                        <a:t>Website launch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E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1440" algn="l" rtl="0" fontAlgn="ctr"/>
                      <a:endParaRPr lang="en-US" sz="1300" b="1" i="0" u="none" strike="noStrike" dirty="0">
                        <a:solidFill>
                          <a:srgbClr val="00132E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E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00132E"/>
                          </a:solidFill>
                          <a:effectLst/>
                          <a:latin typeface="Aptos Narrow" panose="020B0004020202020204" pitchFamily="34" charset="0"/>
                        </a:rPr>
                        <a:t>Group Sales launch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7239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3076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83462-FA81-FE92-8813-279D18CE8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CE5CA40-0947-1CC9-3F43-4EC991F47D23}"/>
              </a:ext>
            </a:extLst>
          </p:cNvPr>
          <p:cNvSpPr/>
          <p:nvPr/>
        </p:nvSpPr>
        <p:spPr>
          <a:xfrm>
            <a:off x="-4322" y="0"/>
            <a:ext cx="466258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9EF6C5-23F4-430E-6D67-0220766F0324}"/>
              </a:ext>
            </a:extLst>
          </p:cNvPr>
          <p:cNvSpPr txBox="1"/>
          <p:nvPr/>
        </p:nvSpPr>
        <p:spPr>
          <a:xfrm>
            <a:off x="25879" y="275144"/>
            <a:ext cx="46323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Implementation and Client Relations Team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A71FAD-FDF9-E67F-CA45-E18AD70BA3D5}"/>
              </a:ext>
            </a:extLst>
          </p:cNvPr>
          <p:cNvSpPr txBox="1"/>
          <p:nvPr/>
        </p:nvSpPr>
        <p:spPr>
          <a:xfrm>
            <a:off x="135862" y="2303217"/>
            <a:ext cx="438221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>
                <a:solidFill>
                  <a:schemeClr val="bg1"/>
                </a:solidFill>
              </a:rPr>
              <a:t>Group implementations are assigned members from the Implementation and Client Relations Team. KBA is committed to delivering a “WOW” level of customer service and our team will ensure a smooth and timely transition to KBA.</a:t>
            </a:r>
          </a:p>
          <a:p>
            <a:endParaRPr lang="en-US" sz="2200" dirty="0">
              <a:solidFill>
                <a:schemeClr val="bg1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>
                <a:solidFill>
                  <a:schemeClr val="bg1"/>
                </a:solidFill>
              </a:rPr>
              <a:t>It is our priority to execute a successful implementation.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A92922-7907-04D8-E92B-E9A856064EAD}"/>
              </a:ext>
            </a:extLst>
          </p:cNvPr>
          <p:cNvSpPr txBox="1"/>
          <p:nvPr/>
        </p:nvSpPr>
        <p:spPr>
          <a:xfrm>
            <a:off x="4917228" y="275144"/>
            <a:ext cx="7063273" cy="375487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Implementation Leadership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/>
              <a:t>Implementation Director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Christine Vinesett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Email: </a:t>
            </a:r>
            <a:r>
              <a:rPr lang="en-US" sz="1600" dirty="0">
                <a:hlinkClick r:id="rId2"/>
              </a:rPr>
              <a:t>Christine.Vinesett@keybenefit.com</a:t>
            </a:r>
            <a:r>
              <a:rPr lang="en-US" sz="1600" dirty="0"/>
              <a:t> | Phone: (803) 323-7974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/>
              <a:t>Implementation Manager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Rachel Morris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Email: </a:t>
            </a:r>
            <a:r>
              <a:rPr lang="en-US" sz="1600" dirty="0">
                <a:hlinkClick r:id="rId3"/>
              </a:rPr>
              <a:t>Rachel.morris@keybenefit.com</a:t>
            </a:r>
            <a:r>
              <a:rPr lang="en-US" sz="1600" dirty="0"/>
              <a:t> | Phone: (803) 396-4775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/>
              <a:t>Implementation Lead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Ashley Gowen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Email: </a:t>
            </a:r>
            <a:r>
              <a:rPr lang="en-US" sz="1600" dirty="0">
                <a:hlinkClick r:id="rId4"/>
              </a:rPr>
              <a:t>Ashley.gowen@keybenefit.com</a:t>
            </a:r>
            <a:r>
              <a:rPr lang="en-US" sz="1600" dirty="0"/>
              <a:t> | Phone: (317) 284-7863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Implementation Coordinator’s will be assigned at kick-off.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F8AB3E-E9B7-69A4-22F3-DB49898AF804}"/>
              </a:ext>
            </a:extLst>
          </p:cNvPr>
          <p:cNvSpPr txBox="1"/>
          <p:nvPr/>
        </p:nvSpPr>
        <p:spPr>
          <a:xfrm>
            <a:off x="4917229" y="4521606"/>
            <a:ext cx="7063273" cy="181588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 Relations Leadership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/>
              <a:t>Senior Vice President, Client Relations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Nicole Oliver 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Email: </a:t>
            </a:r>
            <a:r>
              <a:rPr lang="en-US" sz="1600" dirty="0">
                <a:hlinkClick r:id="rId5"/>
              </a:rPr>
              <a:t>Nicole.oliver@keybenefit.com</a:t>
            </a:r>
            <a:r>
              <a:rPr lang="en-US" sz="1600" dirty="0"/>
              <a:t> | Phone: (803) 396-4720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Client Relations VP and Account Representative will be assigned at kick-off</a:t>
            </a:r>
            <a:r>
              <a:rPr lang="en-US" sz="13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5753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29CF95-E453-0419-54F1-29EEF779285F}"/>
              </a:ext>
            </a:extLst>
          </p:cNvPr>
          <p:cNvSpPr txBox="1">
            <a:spLocks/>
          </p:cNvSpPr>
          <p:nvPr/>
        </p:nvSpPr>
        <p:spPr>
          <a:xfrm>
            <a:off x="838200" y="55986"/>
            <a:ext cx="10515600" cy="49000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56082">
                    <a:lumMod val="75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GROUP IMPLEMENTATION OVERVIEW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08CE76-5B46-AFB3-6FA4-118073A9FBFE}"/>
              </a:ext>
            </a:extLst>
          </p:cNvPr>
          <p:cNvGraphicFramePr>
            <a:graphicFrameLocks noGrp="1"/>
          </p:cNvGraphicFramePr>
          <p:nvPr/>
        </p:nvGraphicFramePr>
        <p:xfrm>
          <a:off x="213049" y="456956"/>
          <a:ext cx="11765901" cy="6839704"/>
        </p:xfrm>
        <a:graphic>
          <a:graphicData uri="http://schemas.openxmlformats.org/drawingml/2006/table">
            <a:tbl>
              <a:tblPr/>
              <a:tblGrid>
                <a:gridCol w="2494822">
                  <a:extLst>
                    <a:ext uri="{9D8B030D-6E8A-4147-A177-3AD203B41FA5}">
                      <a16:colId xmlns:a16="http://schemas.microsoft.com/office/drawing/2014/main" val="2855351431"/>
                    </a:ext>
                  </a:extLst>
                </a:gridCol>
                <a:gridCol w="3170838">
                  <a:extLst>
                    <a:ext uri="{9D8B030D-6E8A-4147-A177-3AD203B41FA5}">
                      <a16:colId xmlns:a16="http://schemas.microsoft.com/office/drawing/2014/main" val="1792154934"/>
                    </a:ext>
                  </a:extLst>
                </a:gridCol>
                <a:gridCol w="3170838">
                  <a:extLst>
                    <a:ext uri="{9D8B030D-6E8A-4147-A177-3AD203B41FA5}">
                      <a16:colId xmlns:a16="http://schemas.microsoft.com/office/drawing/2014/main" val="1609162919"/>
                    </a:ext>
                  </a:extLst>
                </a:gridCol>
                <a:gridCol w="2929403">
                  <a:extLst>
                    <a:ext uri="{9D8B030D-6E8A-4147-A177-3AD203B41FA5}">
                      <a16:colId xmlns:a16="http://schemas.microsoft.com/office/drawing/2014/main" val="3694631187"/>
                    </a:ext>
                  </a:extLst>
                </a:gridCol>
              </a:tblGrid>
              <a:tr h="2600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Phase 1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Phase 2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Phase 3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Phase 4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618848"/>
                  </a:ext>
                </a:extLst>
              </a:tr>
              <a:tr h="622041">
                <a:tc>
                  <a:txBody>
                    <a:bodyPr/>
                    <a:lstStyle/>
                    <a:p>
                      <a:pPr marL="91440" algn="l" fontAlgn="ctr"/>
                      <a:r>
                        <a:rPr lang="en-US" sz="1350" b="1" i="0" u="none" strike="noStrike" dirty="0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Implementation Begins</a:t>
                      </a:r>
                    </a:p>
                  </a:txBody>
                  <a:tcPr marL="5487" marR="5487" marT="5487" marB="0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ctr"/>
                      <a:r>
                        <a:rPr lang="en-US" sz="1350" b="1" i="0" u="none" strike="noStrike" dirty="0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Group Details - Open Enrollment, Eligibility Setup, ID Card, Banking, and Vendors</a:t>
                      </a:r>
                    </a:p>
                  </a:txBody>
                  <a:tcPr marL="5487" marR="5487" marT="5487" marB="0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ctr"/>
                      <a:r>
                        <a:rPr lang="en-US" sz="1350" b="1" i="0" u="none" strike="noStrike" dirty="0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Finalize Setups -  Open Enrollment, Eligibility, ID Card, Banking and Vendors</a:t>
                      </a:r>
                    </a:p>
                  </a:txBody>
                  <a:tcPr marL="5487" marR="5487" marT="5487" marB="0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ctr"/>
                      <a:r>
                        <a:rPr lang="en-US" sz="1350" b="1" i="0" u="none" strike="noStrike" dirty="0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Confirmations - Fulfillment, Post Implementation Planning, GO LIVE!</a:t>
                      </a:r>
                    </a:p>
                  </a:txBody>
                  <a:tcPr marL="5487" marR="5487" marT="5487" marB="0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934142"/>
                  </a:ext>
                </a:extLst>
              </a:tr>
              <a:tr h="387087"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Identify key group contacts and their Roles and Responsibilities.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Confirm Open Enrollment dates.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Introduce Billing and Customer Service Teams.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Confirm eligibility loaded.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9185486"/>
                  </a:ext>
                </a:extLst>
              </a:tr>
              <a:tr h="387087"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Review contracts and electronic signature process.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Discuss materials needed for Open Enrollment and expected delivery.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Process Open Enrollment eligibility. 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Confirm fulfillment mail date.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1195460"/>
                  </a:ext>
                </a:extLst>
              </a:tr>
              <a:tr h="387087"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Confirm Signor information.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Discuss COBRA Administration. (if applicable)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Finalize COBRA Administration setup. (if applicable)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Confirm COBRA letter and packet mail dates. (if applicable)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5153966"/>
                  </a:ext>
                </a:extLst>
              </a:tr>
              <a:tr h="387087"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Establish meeting schedule, frequency and set target dates.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Discuss Customer Service setup.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Finalize EZ Benefits setup.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Confirm all group setups are complete. 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64342"/>
                  </a:ext>
                </a:extLst>
              </a:tr>
              <a:tr h="387087"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Begin KBA Client Profile.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Review EDI Setup and initial eligibility file submission.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Finalize ID Card setup.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Confirm plan document has been signed.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6888982"/>
                  </a:ext>
                </a:extLst>
              </a:tr>
              <a:tr h="372475"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Request prior plan document.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Schedule EDI meeting. (if applicable) 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Finalize banking setups.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Deliver 1st Months Invoice and finalize.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870920"/>
                  </a:ext>
                </a:extLst>
              </a:tr>
              <a:tr h="387087"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Review plan document, benefits and discuss changes.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Review EZ Benefits platform. 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Finalize claims and EOB setups.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Deliver final reinsurance contract.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913940"/>
                  </a:ext>
                </a:extLst>
              </a:tr>
              <a:tr h="387087"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Request claim file and accumulator data.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Discuss ID Card setup, approval process and delivery expectations.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</a:t>
                      </a:r>
                      <a:r>
                        <a:rPr lang="fr-F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Finalize</a:t>
                      </a: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PBM </a:t>
                      </a:r>
                      <a:r>
                        <a:rPr lang="fr-F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Implementation</a:t>
                      </a: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.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Discuss reporting needs for plan year.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012601"/>
                  </a:ext>
                </a:extLst>
              </a:tr>
              <a:tr h="387087"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Review Fee Schedule, Implementation Fee.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Discuss Banking and Funding setup for monthly premiums and claims.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</a:t>
                      </a:r>
                      <a:r>
                        <a:rPr lang="fr-F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Finalize</a:t>
                      </a: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Plan Document.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Complete full transition to Client Relationship Team for administration.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385302"/>
                  </a:ext>
                </a:extLst>
              </a:tr>
              <a:tr h="577987"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Discuss Notice of Termination to prior carrier and obtain copy.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Discuss frequency of check runs, large dollar claims review, exception process and EOBs.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Review status of EDI setup. (if applicable)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 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04553"/>
                  </a:ext>
                </a:extLst>
              </a:tr>
              <a:tr h="387087"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 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Discuss monthly premium billing preferences.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 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 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680499"/>
                  </a:ext>
                </a:extLst>
              </a:tr>
              <a:tr h="387087"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 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Begin PBM Implementation and schedule meetings.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 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 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308725"/>
                  </a:ext>
                </a:extLst>
              </a:tr>
              <a:tr h="196187"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 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Discuss vendor setup process.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 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 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094394"/>
                  </a:ext>
                </a:extLst>
              </a:tr>
              <a:tr h="196187"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 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☐ Review special programs. (if applicable)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 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 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858990"/>
                  </a:ext>
                </a:extLst>
              </a:tr>
              <a:tr h="210872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Montserrat" panose="00000500000000000000" pitchFamily="2" charset="0"/>
                        </a:rPr>
                        <a:t>Live Group Administration</a:t>
                      </a:r>
                    </a:p>
                  </a:txBody>
                  <a:tcPr marL="5487" marR="5487" marT="5487" marB="0" anchor="b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740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9703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9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5189</TotalTime>
  <Words>1566</Words>
  <Application>Microsoft Office PowerPoint</Application>
  <PresentationFormat>Widescreen</PresentationFormat>
  <Paragraphs>237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Wingdings</vt:lpstr>
      <vt:lpstr>Montserrat</vt:lpstr>
      <vt:lpstr>Arial</vt:lpstr>
      <vt:lpstr>Aptos Narrow</vt:lpstr>
      <vt:lpstr>Office Theme</vt:lpstr>
      <vt:lpstr>9_Office Theme</vt:lpstr>
      <vt:lpstr>PowerPoint Presentation</vt:lpstr>
      <vt:lpstr>Claims Processing Excellence</vt:lpstr>
      <vt:lpstr>Claims Statistics</vt:lpstr>
      <vt:lpstr>KBA Claim Audits</vt:lpstr>
      <vt:lpstr>KBA 2023-2024 Total Quality Management Statistics</vt:lpstr>
      <vt:lpstr>TRANSPARENT ANALYTICS ACCESS</vt:lpstr>
      <vt:lpstr>PowerPoint Presentation</vt:lpstr>
      <vt:lpstr>DTE IMPLEMENTATION OVERVIEW</vt:lpstr>
      <vt:lpstr>PowerPoint Presentation</vt:lpstr>
      <vt:lpstr>PowerPoint Presentation</vt:lpstr>
    </vt:vector>
  </TitlesOfParts>
  <Company>Beautiful.ai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#4</dc:title>
  <dc:subject>Untitled #4</dc:subject>
  <dc:creator>taylordavis@careluminate.com</dc:creator>
  <cp:lastModifiedBy>Taylor Davis</cp:lastModifiedBy>
  <cp:revision>7</cp:revision>
  <dcterms:created xsi:type="dcterms:W3CDTF">2024-12-03T04:16:29Z</dcterms:created>
  <dcterms:modified xsi:type="dcterms:W3CDTF">2025-09-09T14:18:04Z</dcterms:modified>
</cp:coreProperties>
</file>