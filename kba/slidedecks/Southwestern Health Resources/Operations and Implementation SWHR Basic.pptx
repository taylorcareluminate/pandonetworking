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31" r:id="rId4"/>
    <p:sldMasterId id="2147483719" r:id="rId5"/>
  </p:sldMasterIdLst>
  <p:notesMasterIdLst>
    <p:notesMasterId r:id="rId40"/>
  </p:notesMasterIdLst>
  <p:sldIdLst>
    <p:sldId id="2145726934" r:id="rId6"/>
    <p:sldId id="2145726908" r:id="rId7"/>
    <p:sldId id="2145726924" r:id="rId8"/>
    <p:sldId id="2145726925" r:id="rId9"/>
    <p:sldId id="2145726926" r:id="rId10"/>
    <p:sldId id="2145726927" r:id="rId11"/>
    <p:sldId id="471" r:id="rId12"/>
    <p:sldId id="476" r:id="rId13"/>
    <p:sldId id="2145726907" r:id="rId14"/>
    <p:sldId id="474" r:id="rId15"/>
    <p:sldId id="475" r:id="rId16"/>
    <p:sldId id="2145726683" r:id="rId17"/>
    <p:sldId id="2145726684" r:id="rId18"/>
    <p:sldId id="2145726685" r:id="rId19"/>
    <p:sldId id="2145726686" r:id="rId20"/>
    <p:sldId id="768" r:id="rId21"/>
    <p:sldId id="2145726646" r:id="rId22"/>
    <p:sldId id="2145726647" r:id="rId23"/>
    <p:sldId id="378" r:id="rId24"/>
    <p:sldId id="833" r:id="rId25"/>
    <p:sldId id="2145726932" r:id="rId26"/>
    <p:sldId id="2145726933" r:id="rId27"/>
    <p:sldId id="2145726923" r:id="rId28"/>
    <p:sldId id="2145726629" r:id="rId29"/>
    <p:sldId id="313" r:id="rId30"/>
    <p:sldId id="312" r:id="rId31"/>
    <p:sldId id="2145726920" r:id="rId32"/>
    <p:sldId id="2145726928" r:id="rId33"/>
    <p:sldId id="288" r:id="rId34"/>
    <p:sldId id="289" r:id="rId35"/>
    <p:sldId id="290" r:id="rId36"/>
    <p:sldId id="2145726904" r:id="rId37"/>
    <p:sldId id="2145726921" r:id="rId38"/>
    <p:sldId id="2145726931" r:id="rId39"/>
  </p:sldIdLst>
  <p:sldSz cx="12192000" cy="6858000"/>
  <p:notesSz cx="6858000" cy="9144000"/>
  <p:embeddedFontLst>
    <p:embeddedFont>
      <p:font typeface="Aptos Narrow" panose="020B0004020202020204" pitchFamily="34" charset="0"/>
      <p:regular r:id="rId41"/>
      <p:bold r:id="rId42"/>
      <p:italic r:id="rId43"/>
      <p:boldItalic r:id="rId44"/>
    </p:embeddedFont>
    <p:embeddedFont>
      <p:font typeface="Arial Nova" panose="020B0504020202020204" pitchFamily="34" charset="0"/>
      <p:regular r:id="rId45"/>
      <p:bold r:id="rId46"/>
      <p:italic r:id="rId47"/>
      <p:boldItalic r:id="rId48"/>
    </p:embeddedFont>
    <p:embeddedFont>
      <p:font typeface="Montserrat" panose="00000500000000000000" pitchFamily="2" charset="0"/>
      <p:regular r:id="rId49"/>
      <p:bold r:id="rId50"/>
      <p:italic r:id="rId51"/>
      <p:boldItalic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11627"/>
    <a:srgbClr val="F2F2F2"/>
    <a:srgbClr val="D9D9D9"/>
    <a:srgbClr val="00539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C75C93-FEE9-4B10-BB29-DE6910E9B822}" v="7" dt="2025-09-15T18:42:50.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6.fntdata"/><Relationship Id="rId59" Type="http://schemas.microsoft.com/office/2018/10/relationships/authors" Target="authors.xml"/><Relationship Id="rId20" Type="http://schemas.openxmlformats.org/officeDocument/2006/relationships/slide" Target="slides/slide15.xml"/><Relationship Id="rId41" Type="http://schemas.openxmlformats.org/officeDocument/2006/relationships/font" Target="fonts/font1.fntdata"/><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9.fntdata"/><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4.fntdata"/><Relationship Id="rId52"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0B6B51-DA5F-4021-8848-39BD0005AA08}"/>
    <pc:docChg chg="custSel delSld modSld sldOrd delMainMaster">
      <pc:chgData name="Taylor Davis" userId="5c9e72a0-c39f-4aa1-9d7d-64125e78cbe6" providerId="ADAL" clId="{7D0B6B51-DA5F-4021-8848-39BD0005AA08}" dt="2025-09-15T18:43:03.985" v="43" actId="47"/>
      <pc:docMkLst>
        <pc:docMk/>
      </pc:docMkLst>
      <pc:sldChg chg="del ord">
        <pc:chgData name="Taylor Davis" userId="5c9e72a0-c39f-4aa1-9d7d-64125e78cbe6" providerId="ADAL" clId="{7D0B6B51-DA5F-4021-8848-39BD0005AA08}" dt="2025-09-15T18:43:03.985" v="43" actId="47"/>
        <pc:sldMkLst>
          <pc:docMk/>
          <pc:sldMk cId="0" sldId="256"/>
        </pc:sldMkLst>
      </pc:sldChg>
      <pc:sldChg chg="addSp delSp modSp mod">
        <pc:chgData name="Taylor Davis" userId="5c9e72a0-c39f-4aa1-9d7d-64125e78cbe6" providerId="ADAL" clId="{7D0B6B51-DA5F-4021-8848-39BD0005AA08}" dt="2025-09-15T18:42:15.875" v="22" actId="478"/>
        <pc:sldMkLst>
          <pc:docMk/>
          <pc:sldMk cId="696912010" sldId="288"/>
        </pc:sldMkLst>
        <pc:spChg chg="add del mod">
          <ac:chgData name="Taylor Davis" userId="5c9e72a0-c39f-4aa1-9d7d-64125e78cbe6" providerId="ADAL" clId="{7D0B6B51-DA5F-4021-8848-39BD0005AA08}" dt="2025-09-15T18:42:15.875" v="22" actId="478"/>
          <ac:spMkLst>
            <pc:docMk/>
            <pc:sldMk cId="696912010" sldId="288"/>
            <ac:spMk id="4" creationId="{C250ABD9-B880-ADBB-5B7D-CC56D613C75C}"/>
          </ac:spMkLst>
        </pc:spChg>
        <pc:picChg chg="del">
          <ac:chgData name="Taylor Davis" userId="5c9e72a0-c39f-4aa1-9d7d-64125e78cbe6" providerId="ADAL" clId="{7D0B6B51-DA5F-4021-8848-39BD0005AA08}" dt="2025-09-15T18:42:12.196" v="21" actId="478"/>
          <ac:picMkLst>
            <pc:docMk/>
            <pc:sldMk cId="696912010" sldId="288"/>
            <ac:picMk id="5" creationId="{0635402A-A5FE-5B59-AA66-D36C62E71792}"/>
          </ac:picMkLst>
        </pc:picChg>
      </pc:sldChg>
      <pc:sldChg chg="addSp delSp modSp mod">
        <pc:chgData name="Taylor Davis" userId="5c9e72a0-c39f-4aa1-9d7d-64125e78cbe6" providerId="ADAL" clId="{7D0B6B51-DA5F-4021-8848-39BD0005AA08}" dt="2025-09-15T18:42:20.363" v="24" actId="478"/>
        <pc:sldMkLst>
          <pc:docMk/>
          <pc:sldMk cId="2277596449" sldId="289"/>
        </pc:sldMkLst>
        <pc:spChg chg="add del mod">
          <ac:chgData name="Taylor Davis" userId="5c9e72a0-c39f-4aa1-9d7d-64125e78cbe6" providerId="ADAL" clId="{7D0B6B51-DA5F-4021-8848-39BD0005AA08}" dt="2025-09-15T18:42:20.363" v="24" actId="478"/>
          <ac:spMkLst>
            <pc:docMk/>
            <pc:sldMk cId="2277596449" sldId="289"/>
            <ac:spMk id="6" creationId="{D3E24EC9-689C-C83A-B176-395F3C040A92}"/>
          </ac:spMkLst>
        </pc:spChg>
        <pc:picChg chg="del">
          <ac:chgData name="Taylor Davis" userId="5c9e72a0-c39f-4aa1-9d7d-64125e78cbe6" providerId="ADAL" clId="{7D0B6B51-DA5F-4021-8848-39BD0005AA08}" dt="2025-09-15T18:42:18.381" v="23" actId="478"/>
          <ac:picMkLst>
            <pc:docMk/>
            <pc:sldMk cId="2277596449" sldId="289"/>
            <ac:picMk id="5" creationId="{0635402A-A5FE-5B59-AA66-D36C62E71792}"/>
          </ac:picMkLst>
        </pc:picChg>
      </pc:sldChg>
      <pc:sldChg chg="delSp">
        <pc:chgData name="Taylor Davis" userId="5c9e72a0-c39f-4aa1-9d7d-64125e78cbe6" providerId="ADAL" clId="{7D0B6B51-DA5F-4021-8848-39BD0005AA08}" dt="2025-09-15T18:42:37.305" v="30" actId="478"/>
        <pc:sldMkLst>
          <pc:docMk/>
          <pc:sldMk cId="2086198846" sldId="378"/>
        </pc:sldMkLst>
        <pc:picChg chg="del">
          <ac:chgData name="Taylor Davis" userId="5c9e72a0-c39f-4aa1-9d7d-64125e78cbe6" providerId="ADAL" clId="{7D0B6B51-DA5F-4021-8848-39BD0005AA08}" dt="2025-09-15T18:42:37.305" v="30" actId="478"/>
          <ac:picMkLst>
            <pc:docMk/>
            <pc:sldMk cId="2086198846" sldId="378"/>
            <ac:picMk id="4100" creationId="{9F2AEFD6-5BF5-47A7-99F6-1F226CFAA0A0}"/>
          </ac:picMkLst>
        </pc:picChg>
      </pc:sldChg>
      <pc:sldChg chg="delSp mod">
        <pc:chgData name="Taylor Davis" userId="5c9e72a0-c39f-4aa1-9d7d-64125e78cbe6" providerId="ADAL" clId="{7D0B6B51-DA5F-4021-8848-39BD0005AA08}" dt="2025-09-15T18:42:57.738" v="42" actId="478"/>
        <pc:sldMkLst>
          <pc:docMk/>
          <pc:sldMk cId="3585848403" sldId="768"/>
        </pc:sldMkLst>
        <pc:spChg chg="del">
          <ac:chgData name="Taylor Davis" userId="5c9e72a0-c39f-4aa1-9d7d-64125e78cbe6" providerId="ADAL" clId="{7D0B6B51-DA5F-4021-8848-39BD0005AA08}" dt="2025-09-15T18:42:57.241" v="41" actId="478"/>
          <ac:spMkLst>
            <pc:docMk/>
            <pc:sldMk cId="3585848403" sldId="768"/>
            <ac:spMk id="8" creationId="{F17CE112-4488-47A8-95A8-CFB2ED3BF1EC}"/>
          </ac:spMkLst>
        </pc:spChg>
        <pc:spChg chg="del">
          <ac:chgData name="Taylor Davis" userId="5c9e72a0-c39f-4aa1-9d7d-64125e78cbe6" providerId="ADAL" clId="{7D0B6B51-DA5F-4021-8848-39BD0005AA08}" dt="2025-09-15T18:42:57.738" v="42" actId="478"/>
          <ac:spMkLst>
            <pc:docMk/>
            <pc:sldMk cId="3585848403" sldId="768"/>
            <ac:spMk id="9" creationId="{3C917736-A33F-4A40-ABA1-635EF9B9D8AC}"/>
          </ac:spMkLst>
        </pc:spChg>
      </pc:sldChg>
      <pc:sldChg chg="delSp mod">
        <pc:chgData name="Taylor Davis" userId="5c9e72a0-c39f-4aa1-9d7d-64125e78cbe6" providerId="ADAL" clId="{7D0B6B51-DA5F-4021-8848-39BD0005AA08}" dt="2025-09-15T18:42:42.194" v="33" actId="478"/>
        <pc:sldMkLst>
          <pc:docMk/>
          <pc:sldMk cId="1998957615" sldId="833"/>
        </pc:sldMkLst>
        <pc:spChg chg="del">
          <ac:chgData name="Taylor Davis" userId="5c9e72a0-c39f-4aa1-9d7d-64125e78cbe6" providerId="ADAL" clId="{7D0B6B51-DA5F-4021-8848-39BD0005AA08}" dt="2025-09-15T18:42:42.194" v="33" actId="478"/>
          <ac:spMkLst>
            <pc:docMk/>
            <pc:sldMk cId="1998957615" sldId="833"/>
            <ac:spMk id="4" creationId="{B5ECD0A6-AF07-4D31-B1B4-998115BCDB46}"/>
          </ac:spMkLst>
        </pc:spChg>
        <pc:spChg chg="del">
          <ac:chgData name="Taylor Davis" userId="5c9e72a0-c39f-4aa1-9d7d-64125e78cbe6" providerId="ADAL" clId="{7D0B6B51-DA5F-4021-8848-39BD0005AA08}" dt="2025-09-15T18:42:41.501" v="32" actId="478"/>
          <ac:spMkLst>
            <pc:docMk/>
            <pc:sldMk cId="1998957615" sldId="833"/>
            <ac:spMk id="6" creationId="{17B22F01-1860-499B-9212-F29C22049786}"/>
          </ac:spMkLst>
        </pc:spChg>
        <pc:picChg chg="del">
          <ac:chgData name="Taylor Davis" userId="5c9e72a0-c39f-4aa1-9d7d-64125e78cbe6" providerId="ADAL" clId="{7D0B6B51-DA5F-4021-8848-39BD0005AA08}" dt="2025-09-15T18:42:39.762" v="31" actId="478"/>
          <ac:picMkLst>
            <pc:docMk/>
            <pc:sldMk cId="1998957615" sldId="833"/>
            <ac:picMk id="14" creationId="{67F42581-7471-4532-AD0F-E00FFB85290C}"/>
          </ac:picMkLst>
        </pc:picChg>
      </pc:sldChg>
      <pc:sldChg chg="del">
        <pc:chgData name="Taylor Davis" userId="5c9e72a0-c39f-4aa1-9d7d-64125e78cbe6" providerId="ADAL" clId="{7D0B6B51-DA5F-4021-8848-39BD0005AA08}" dt="2025-09-15T18:41:14.802" v="7" actId="47"/>
        <pc:sldMkLst>
          <pc:docMk/>
          <pc:sldMk cId="3331002552" sldId="2145726682"/>
        </pc:sldMkLst>
      </pc:sldChg>
      <pc:sldChg chg="delSp modSp">
        <pc:chgData name="Taylor Davis" userId="5c9e72a0-c39f-4aa1-9d7d-64125e78cbe6" providerId="ADAL" clId="{7D0B6B51-DA5F-4021-8848-39BD0005AA08}" dt="2025-09-15T18:42:48.112" v="35" actId="478"/>
        <pc:sldMkLst>
          <pc:docMk/>
          <pc:sldMk cId="3256749439" sldId="2145726683"/>
        </pc:sldMkLst>
        <pc:picChg chg="del mod">
          <ac:chgData name="Taylor Davis" userId="5c9e72a0-c39f-4aa1-9d7d-64125e78cbe6" providerId="ADAL" clId="{7D0B6B51-DA5F-4021-8848-39BD0005AA08}" dt="2025-09-15T18:42:48.112" v="35" actId="478"/>
          <ac:picMkLst>
            <pc:docMk/>
            <pc:sldMk cId="3256749439" sldId="2145726683"/>
            <ac:picMk id="2054" creationId="{2AFCE1AF-58C5-AF1D-596D-A71C06AA48C7}"/>
          </ac:picMkLst>
        </pc:picChg>
      </pc:sldChg>
      <pc:sldChg chg="delSp">
        <pc:chgData name="Taylor Davis" userId="5c9e72a0-c39f-4aa1-9d7d-64125e78cbe6" providerId="ADAL" clId="{7D0B6B51-DA5F-4021-8848-39BD0005AA08}" dt="2025-09-15T18:42:49.510" v="36" actId="478"/>
        <pc:sldMkLst>
          <pc:docMk/>
          <pc:sldMk cId="806984956" sldId="2145726684"/>
        </pc:sldMkLst>
        <pc:picChg chg="del">
          <ac:chgData name="Taylor Davis" userId="5c9e72a0-c39f-4aa1-9d7d-64125e78cbe6" providerId="ADAL" clId="{7D0B6B51-DA5F-4021-8848-39BD0005AA08}" dt="2025-09-15T18:42:49.510" v="36" actId="478"/>
          <ac:picMkLst>
            <pc:docMk/>
            <pc:sldMk cId="806984956" sldId="2145726684"/>
            <ac:picMk id="4104" creationId="{A403C03E-B334-BEA3-7658-927710AB0DF6}"/>
          </ac:picMkLst>
        </pc:picChg>
      </pc:sldChg>
      <pc:sldChg chg="delSp">
        <pc:chgData name="Taylor Davis" userId="5c9e72a0-c39f-4aa1-9d7d-64125e78cbe6" providerId="ADAL" clId="{7D0B6B51-DA5F-4021-8848-39BD0005AA08}" dt="2025-09-15T18:42:50.615" v="37" actId="478"/>
        <pc:sldMkLst>
          <pc:docMk/>
          <pc:sldMk cId="2984450925" sldId="2145726685"/>
        </pc:sldMkLst>
        <pc:picChg chg="del">
          <ac:chgData name="Taylor Davis" userId="5c9e72a0-c39f-4aa1-9d7d-64125e78cbe6" providerId="ADAL" clId="{7D0B6B51-DA5F-4021-8848-39BD0005AA08}" dt="2025-09-15T18:42:50.615" v="37" actId="478"/>
          <ac:picMkLst>
            <pc:docMk/>
            <pc:sldMk cId="2984450925" sldId="2145726685"/>
            <ac:picMk id="5126" creationId="{F669DE3B-2845-4AA1-F24C-415D5803BCDB}"/>
          </ac:picMkLst>
        </pc:picChg>
      </pc:sldChg>
      <pc:sldChg chg="delSp mod">
        <pc:chgData name="Taylor Davis" userId="5c9e72a0-c39f-4aa1-9d7d-64125e78cbe6" providerId="ADAL" clId="{7D0B6B51-DA5F-4021-8848-39BD0005AA08}" dt="2025-09-15T18:42:54.439" v="40" actId="478"/>
        <pc:sldMkLst>
          <pc:docMk/>
          <pc:sldMk cId="1684977169" sldId="2145726686"/>
        </pc:sldMkLst>
        <pc:spChg chg="del">
          <ac:chgData name="Taylor Davis" userId="5c9e72a0-c39f-4aa1-9d7d-64125e78cbe6" providerId="ADAL" clId="{7D0B6B51-DA5F-4021-8848-39BD0005AA08}" dt="2025-09-15T18:42:53.902" v="39" actId="478"/>
          <ac:spMkLst>
            <pc:docMk/>
            <pc:sldMk cId="1684977169" sldId="2145726686"/>
            <ac:spMk id="7" creationId="{DBF9883C-96A2-44F5-BCCC-8F880C6F8DC0}"/>
          </ac:spMkLst>
        </pc:spChg>
        <pc:spChg chg="del">
          <ac:chgData name="Taylor Davis" userId="5c9e72a0-c39f-4aa1-9d7d-64125e78cbe6" providerId="ADAL" clId="{7D0B6B51-DA5F-4021-8848-39BD0005AA08}" dt="2025-09-15T18:42:53.305" v="38" actId="478"/>
          <ac:spMkLst>
            <pc:docMk/>
            <pc:sldMk cId="1684977169" sldId="2145726686"/>
            <ac:spMk id="8" creationId="{F17CE112-4488-47A8-95A8-CFB2ED3BF1EC}"/>
          </ac:spMkLst>
        </pc:spChg>
        <pc:spChg chg="del">
          <ac:chgData name="Taylor Davis" userId="5c9e72a0-c39f-4aa1-9d7d-64125e78cbe6" providerId="ADAL" clId="{7D0B6B51-DA5F-4021-8848-39BD0005AA08}" dt="2025-09-15T18:42:54.439" v="40" actId="478"/>
          <ac:spMkLst>
            <pc:docMk/>
            <pc:sldMk cId="1684977169" sldId="2145726686"/>
            <ac:spMk id="9" creationId="{3C917736-A33F-4A40-ABA1-635EF9B9D8AC}"/>
          </ac:spMkLst>
        </pc:spChg>
      </pc:sldChg>
      <pc:sldChg chg="addSp delSp modSp mod">
        <pc:chgData name="Taylor Davis" userId="5c9e72a0-c39f-4aa1-9d7d-64125e78cbe6" providerId="ADAL" clId="{7D0B6B51-DA5F-4021-8848-39BD0005AA08}" dt="2025-09-15T18:40:55.050" v="2" actId="478"/>
        <pc:sldMkLst>
          <pc:docMk/>
          <pc:sldMk cId="1738611874" sldId="2145726908"/>
        </pc:sldMkLst>
        <pc:spChg chg="add mod">
          <ac:chgData name="Taylor Davis" userId="5c9e72a0-c39f-4aa1-9d7d-64125e78cbe6" providerId="ADAL" clId="{7D0B6B51-DA5F-4021-8848-39BD0005AA08}" dt="2025-09-15T18:40:55.050" v="2" actId="478"/>
          <ac:spMkLst>
            <pc:docMk/>
            <pc:sldMk cId="1738611874" sldId="2145726908"/>
            <ac:spMk id="6" creationId="{003D5D4A-2E38-BC8E-B0B7-C424397F895D}"/>
          </ac:spMkLst>
        </pc:spChg>
        <pc:picChg chg="del">
          <ac:chgData name="Taylor Davis" userId="5c9e72a0-c39f-4aa1-9d7d-64125e78cbe6" providerId="ADAL" clId="{7D0B6B51-DA5F-4021-8848-39BD0005AA08}" dt="2025-09-15T18:40:55.050" v="2" actId="478"/>
          <ac:picMkLst>
            <pc:docMk/>
            <pc:sldMk cId="1738611874" sldId="2145726908"/>
            <ac:picMk id="5" creationId="{E319E1F9-63EB-4A1F-ABA0-3D3BBD48FAEA}"/>
          </ac:picMkLst>
        </pc:picChg>
      </pc:sldChg>
      <pc:sldChg chg="del">
        <pc:chgData name="Taylor Davis" userId="5c9e72a0-c39f-4aa1-9d7d-64125e78cbe6" providerId="ADAL" clId="{7D0B6B51-DA5F-4021-8848-39BD0005AA08}" dt="2025-09-15T18:41:25.505" v="9" actId="47"/>
        <pc:sldMkLst>
          <pc:docMk/>
          <pc:sldMk cId="1044481459" sldId="2145726911"/>
        </pc:sldMkLst>
      </pc:sldChg>
      <pc:sldChg chg="delSp mod">
        <pc:chgData name="Taylor Davis" userId="5c9e72a0-c39f-4aa1-9d7d-64125e78cbe6" providerId="ADAL" clId="{7D0B6B51-DA5F-4021-8848-39BD0005AA08}" dt="2025-09-15T18:42:03.842" v="18" actId="478"/>
        <pc:sldMkLst>
          <pc:docMk/>
          <pc:sldMk cId="1248825995" sldId="2145726920"/>
        </pc:sldMkLst>
        <pc:picChg chg="del">
          <ac:chgData name="Taylor Davis" userId="5c9e72a0-c39f-4aa1-9d7d-64125e78cbe6" providerId="ADAL" clId="{7D0B6B51-DA5F-4021-8848-39BD0005AA08}" dt="2025-09-15T18:42:03.842" v="18" actId="478"/>
          <ac:picMkLst>
            <pc:docMk/>
            <pc:sldMk cId="1248825995" sldId="2145726920"/>
            <ac:picMk id="5" creationId="{66EC2087-FA71-BD40-D28D-89D3E511179C}"/>
          </ac:picMkLst>
        </pc:picChg>
      </pc:sldChg>
      <pc:sldChg chg="addSp delSp modSp mod">
        <pc:chgData name="Taylor Davis" userId="5c9e72a0-c39f-4aa1-9d7d-64125e78cbe6" providerId="ADAL" clId="{7D0B6B51-DA5F-4021-8848-39BD0005AA08}" dt="2025-09-15T18:42:24.610" v="26" actId="478"/>
        <pc:sldMkLst>
          <pc:docMk/>
          <pc:sldMk cId="1075630326" sldId="2145726921"/>
        </pc:sldMkLst>
        <pc:spChg chg="add del mod">
          <ac:chgData name="Taylor Davis" userId="5c9e72a0-c39f-4aa1-9d7d-64125e78cbe6" providerId="ADAL" clId="{7D0B6B51-DA5F-4021-8848-39BD0005AA08}" dt="2025-09-15T18:42:24.610" v="26" actId="478"/>
          <ac:spMkLst>
            <pc:docMk/>
            <pc:sldMk cId="1075630326" sldId="2145726921"/>
            <ac:spMk id="3" creationId="{C273137C-3859-96EE-60E1-E939CB30398D}"/>
          </ac:spMkLst>
        </pc:spChg>
        <pc:picChg chg="del">
          <ac:chgData name="Taylor Davis" userId="5c9e72a0-c39f-4aa1-9d7d-64125e78cbe6" providerId="ADAL" clId="{7D0B6B51-DA5F-4021-8848-39BD0005AA08}" dt="2025-09-15T18:42:23.024" v="25" actId="478"/>
          <ac:picMkLst>
            <pc:docMk/>
            <pc:sldMk cId="1075630326" sldId="2145726921"/>
            <ac:picMk id="5" creationId="{6DF96332-D23F-8FC2-8C0E-26F7BEDC6A1C}"/>
          </ac:picMkLst>
        </pc:picChg>
      </pc:sldChg>
      <pc:sldChg chg="addSp delSp modSp mod">
        <pc:chgData name="Taylor Davis" userId="5c9e72a0-c39f-4aa1-9d7d-64125e78cbe6" providerId="ADAL" clId="{7D0B6B51-DA5F-4021-8848-39BD0005AA08}" dt="2025-09-15T18:41:55.266" v="16" actId="478"/>
        <pc:sldMkLst>
          <pc:docMk/>
          <pc:sldMk cId="3383159621" sldId="2145726923"/>
        </pc:sldMkLst>
        <pc:spChg chg="add del mod">
          <ac:chgData name="Taylor Davis" userId="5c9e72a0-c39f-4aa1-9d7d-64125e78cbe6" providerId="ADAL" clId="{7D0B6B51-DA5F-4021-8848-39BD0005AA08}" dt="2025-09-15T18:41:55.266" v="16" actId="478"/>
          <ac:spMkLst>
            <pc:docMk/>
            <pc:sldMk cId="3383159621" sldId="2145726923"/>
            <ac:spMk id="4" creationId="{AE91297E-80DF-8C6A-EA57-471451836561}"/>
          </ac:spMkLst>
        </pc:spChg>
        <pc:picChg chg="del">
          <ac:chgData name="Taylor Davis" userId="5c9e72a0-c39f-4aa1-9d7d-64125e78cbe6" providerId="ADAL" clId="{7D0B6B51-DA5F-4021-8848-39BD0005AA08}" dt="2025-09-15T18:41:53.618" v="15" actId="478"/>
          <ac:picMkLst>
            <pc:docMk/>
            <pc:sldMk cId="3383159621" sldId="2145726923"/>
            <ac:picMk id="5" creationId="{7920DF8A-EAB2-0EF9-36B1-D8DA454C5066}"/>
          </ac:picMkLst>
        </pc:picChg>
      </pc:sldChg>
      <pc:sldChg chg="delSp modSp mod">
        <pc:chgData name="Taylor Davis" userId="5c9e72a0-c39f-4aa1-9d7d-64125e78cbe6" providerId="ADAL" clId="{7D0B6B51-DA5F-4021-8848-39BD0005AA08}" dt="2025-09-15T18:41:03.616" v="5" actId="14100"/>
        <pc:sldMkLst>
          <pc:docMk/>
          <pc:sldMk cId="2131425929" sldId="2145726924"/>
        </pc:sldMkLst>
        <pc:graphicFrameChg chg="mod">
          <ac:chgData name="Taylor Davis" userId="5c9e72a0-c39f-4aa1-9d7d-64125e78cbe6" providerId="ADAL" clId="{7D0B6B51-DA5F-4021-8848-39BD0005AA08}" dt="2025-09-15T18:41:03.616" v="5" actId="14100"/>
          <ac:graphicFrameMkLst>
            <pc:docMk/>
            <pc:sldMk cId="2131425929" sldId="2145726924"/>
            <ac:graphicFrameMk id="6" creationId="{D25156B1-7880-DC24-19F6-DD76B8D6A8DD}"/>
          </ac:graphicFrameMkLst>
        </pc:graphicFrameChg>
        <pc:picChg chg="del">
          <ac:chgData name="Taylor Davis" userId="5c9e72a0-c39f-4aa1-9d7d-64125e78cbe6" providerId="ADAL" clId="{7D0B6B51-DA5F-4021-8848-39BD0005AA08}" dt="2025-09-15T18:40:59.201" v="4" actId="478"/>
          <ac:picMkLst>
            <pc:docMk/>
            <pc:sldMk cId="2131425929" sldId="2145726924"/>
            <ac:picMk id="62" creationId="{D5E917CF-A1D0-76B9-EF06-E074FC1EF18D}"/>
          </ac:picMkLst>
        </pc:picChg>
      </pc:sldChg>
      <pc:sldChg chg="delSp mod">
        <pc:chgData name="Taylor Davis" userId="5c9e72a0-c39f-4aa1-9d7d-64125e78cbe6" providerId="ADAL" clId="{7D0B6B51-DA5F-4021-8848-39BD0005AA08}" dt="2025-09-15T18:40:57.506" v="3" actId="478"/>
        <pc:sldMkLst>
          <pc:docMk/>
          <pc:sldMk cId="1982814106" sldId="2145726925"/>
        </pc:sldMkLst>
        <pc:picChg chg="del">
          <ac:chgData name="Taylor Davis" userId="5c9e72a0-c39f-4aa1-9d7d-64125e78cbe6" providerId="ADAL" clId="{7D0B6B51-DA5F-4021-8848-39BD0005AA08}" dt="2025-09-15T18:40:57.506" v="3" actId="478"/>
          <ac:picMkLst>
            <pc:docMk/>
            <pc:sldMk cId="1982814106" sldId="2145726925"/>
            <ac:picMk id="16" creationId="{E445CAB6-5864-AE40-7D6C-451417190E90}"/>
          </ac:picMkLst>
        </pc:picChg>
      </pc:sldChg>
      <pc:sldChg chg="delSp mod">
        <pc:chgData name="Taylor Davis" userId="5c9e72a0-c39f-4aa1-9d7d-64125e78cbe6" providerId="ADAL" clId="{7D0B6B51-DA5F-4021-8848-39BD0005AA08}" dt="2025-09-15T18:41:07.195" v="6" actId="478"/>
        <pc:sldMkLst>
          <pc:docMk/>
          <pc:sldMk cId="4102468791" sldId="2145726926"/>
        </pc:sldMkLst>
        <pc:picChg chg="del">
          <ac:chgData name="Taylor Davis" userId="5c9e72a0-c39f-4aa1-9d7d-64125e78cbe6" providerId="ADAL" clId="{7D0B6B51-DA5F-4021-8848-39BD0005AA08}" dt="2025-09-15T18:41:07.195" v="6" actId="478"/>
          <ac:picMkLst>
            <pc:docMk/>
            <pc:sldMk cId="4102468791" sldId="2145726926"/>
            <ac:picMk id="6" creationId="{44BD9F34-76E3-5A6F-2EA2-B775DAB1F56F}"/>
          </ac:picMkLst>
        </pc:picChg>
      </pc:sldChg>
      <pc:sldChg chg="addSp delSp modSp mod">
        <pc:chgData name="Taylor Davis" userId="5c9e72a0-c39f-4aa1-9d7d-64125e78cbe6" providerId="ADAL" clId="{7D0B6B51-DA5F-4021-8848-39BD0005AA08}" dt="2025-09-15T18:42:10.601" v="20" actId="478"/>
        <pc:sldMkLst>
          <pc:docMk/>
          <pc:sldMk cId="4208658305" sldId="2145726928"/>
        </pc:sldMkLst>
        <pc:spChg chg="add del mod">
          <ac:chgData name="Taylor Davis" userId="5c9e72a0-c39f-4aa1-9d7d-64125e78cbe6" providerId="ADAL" clId="{7D0B6B51-DA5F-4021-8848-39BD0005AA08}" dt="2025-09-15T18:42:10.601" v="20" actId="478"/>
          <ac:spMkLst>
            <pc:docMk/>
            <pc:sldMk cId="4208658305" sldId="2145726928"/>
            <ac:spMk id="6" creationId="{36CAE53B-7F9D-20E1-B805-A6A227423285}"/>
          </ac:spMkLst>
        </pc:spChg>
        <pc:picChg chg="del">
          <ac:chgData name="Taylor Davis" userId="5c9e72a0-c39f-4aa1-9d7d-64125e78cbe6" providerId="ADAL" clId="{7D0B6B51-DA5F-4021-8848-39BD0005AA08}" dt="2025-09-15T18:42:09.051" v="19" actId="478"/>
          <ac:picMkLst>
            <pc:docMk/>
            <pc:sldMk cId="4208658305" sldId="2145726928"/>
            <ac:picMk id="7" creationId="{E54D13D0-1D14-547D-28ED-5CCACD0B823C}"/>
          </ac:picMkLst>
        </pc:picChg>
      </pc:sldChg>
      <pc:sldChg chg="del">
        <pc:chgData name="Taylor Davis" userId="5c9e72a0-c39f-4aa1-9d7d-64125e78cbe6" providerId="ADAL" clId="{7D0B6B51-DA5F-4021-8848-39BD0005AA08}" dt="2025-09-15T18:41:45.120" v="11" actId="47"/>
        <pc:sldMkLst>
          <pc:docMk/>
          <pc:sldMk cId="1269374302" sldId="2145726929"/>
        </pc:sldMkLst>
      </pc:sldChg>
      <pc:sldChg chg="del">
        <pc:chgData name="Taylor Davis" userId="5c9e72a0-c39f-4aa1-9d7d-64125e78cbe6" providerId="ADAL" clId="{7D0B6B51-DA5F-4021-8848-39BD0005AA08}" dt="2025-09-15T18:41:56.463" v="17" actId="47"/>
        <pc:sldMkLst>
          <pc:docMk/>
          <pc:sldMk cId="4035798595" sldId="2145726930"/>
        </pc:sldMkLst>
      </pc:sldChg>
      <pc:sldChg chg="addSp delSp modSp mod">
        <pc:chgData name="Taylor Davis" userId="5c9e72a0-c39f-4aa1-9d7d-64125e78cbe6" providerId="ADAL" clId="{7D0B6B51-DA5F-4021-8848-39BD0005AA08}" dt="2025-09-15T18:42:28.881" v="29" actId="478"/>
        <pc:sldMkLst>
          <pc:docMk/>
          <pc:sldMk cId="3118967888" sldId="2145726931"/>
        </pc:sldMkLst>
        <pc:spChg chg="add del mod">
          <ac:chgData name="Taylor Davis" userId="5c9e72a0-c39f-4aa1-9d7d-64125e78cbe6" providerId="ADAL" clId="{7D0B6B51-DA5F-4021-8848-39BD0005AA08}" dt="2025-09-15T18:42:27.595" v="28" actId="478"/>
          <ac:spMkLst>
            <pc:docMk/>
            <pc:sldMk cId="3118967888" sldId="2145726931"/>
            <ac:spMk id="6" creationId="{3B9886B2-86BF-1126-C3B0-B6257044056B}"/>
          </ac:spMkLst>
        </pc:spChg>
        <pc:picChg chg="del">
          <ac:chgData name="Taylor Davis" userId="5c9e72a0-c39f-4aa1-9d7d-64125e78cbe6" providerId="ADAL" clId="{7D0B6B51-DA5F-4021-8848-39BD0005AA08}" dt="2025-09-15T18:42:26.045" v="27" actId="478"/>
          <ac:picMkLst>
            <pc:docMk/>
            <pc:sldMk cId="3118967888" sldId="2145726931"/>
            <ac:picMk id="4" creationId="{7ABD5510-2EFB-8FC4-CE79-953C44EFC6F4}"/>
          </ac:picMkLst>
        </pc:picChg>
        <pc:picChg chg="del">
          <ac:chgData name="Taylor Davis" userId="5c9e72a0-c39f-4aa1-9d7d-64125e78cbe6" providerId="ADAL" clId="{7D0B6B51-DA5F-4021-8848-39BD0005AA08}" dt="2025-09-15T18:42:28.881" v="29" actId="478"/>
          <ac:picMkLst>
            <pc:docMk/>
            <pc:sldMk cId="3118967888" sldId="2145726931"/>
            <ac:picMk id="1026" creationId="{BFCC10CF-08F2-F6A5-C333-4CA9922A7E4F}"/>
          </ac:picMkLst>
        </pc:picChg>
      </pc:sldChg>
      <pc:sldChg chg="addSp delSp modSp mod">
        <pc:chgData name="Taylor Davis" userId="5c9e72a0-c39f-4aa1-9d7d-64125e78cbe6" providerId="ADAL" clId="{7D0B6B51-DA5F-4021-8848-39BD0005AA08}" dt="2025-09-15T18:41:47.085" v="12" actId="478"/>
        <pc:sldMkLst>
          <pc:docMk/>
          <pc:sldMk cId="1910582264" sldId="2145726932"/>
        </pc:sldMkLst>
        <pc:spChg chg="add mod">
          <ac:chgData name="Taylor Davis" userId="5c9e72a0-c39f-4aa1-9d7d-64125e78cbe6" providerId="ADAL" clId="{7D0B6B51-DA5F-4021-8848-39BD0005AA08}" dt="2025-09-15T18:41:47.085" v="12" actId="478"/>
          <ac:spMkLst>
            <pc:docMk/>
            <pc:sldMk cId="1910582264" sldId="2145726932"/>
            <ac:spMk id="4" creationId="{968CC919-E61C-DEF2-0638-E127BC0813BD}"/>
          </ac:spMkLst>
        </pc:spChg>
        <pc:picChg chg="del">
          <ac:chgData name="Taylor Davis" userId="5c9e72a0-c39f-4aa1-9d7d-64125e78cbe6" providerId="ADAL" clId="{7D0B6B51-DA5F-4021-8848-39BD0005AA08}" dt="2025-09-15T18:41:47.085" v="12" actId="478"/>
          <ac:picMkLst>
            <pc:docMk/>
            <pc:sldMk cId="1910582264" sldId="2145726932"/>
            <ac:picMk id="5" creationId="{CB7CFFC9-CBC8-A8B4-396C-B604A10E3225}"/>
          </ac:picMkLst>
        </pc:picChg>
      </pc:sldChg>
      <pc:sldChg chg="addSp delSp modSp mod">
        <pc:chgData name="Taylor Davis" userId="5c9e72a0-c39f-4aa1-9d7d-64125e78cbe6" providerId="ADAL" clId="{7D0B6B51-DA5F-4021-8848-39BD0005AA08}" dt="2025-09-15T18:41:51.313" v="14" actId="478"/>
        <pc:sldMkLst>
          <pc:docMk/>
          <pc:sldMk cId="202016729" sldId="2145726933"/>
        </pc:sldMkLst>
        <pc:spChg chg="add del mod">
          <ac:chgData name="Taylor Davis" userId="5c9e72a0-c39f-4aa1-9d7d-64125e78cbe6" providerId="ADAL" clId="{7D0B6B51-DA5F-4021-8848-39BD0005AA08}" dt="2025-09-15T18:41:51.313" v="14" actId="478"/>
          <ac:spMkLst>
            <pc:docMk/>
            <pc:sldMk cId="202016729" sldId="2145726933"/>
            <ac:spMk id="6" creationId="{DE823782-3BC5-4DBF-FAE5-A5CFFCFCE86B}"/>
          </ac:spMkLst>
        </pc:spChg>
        <pc:picChg chg="del">
          <ac:chgData name="Taylor Davis" userId="5c9e72a0-c39f-4aa1-9d7d-64125e78cbe6" providerId="ADAL" clId="{7D0B6B51-DA5F-4021-8848-39BD0005AA08}" dt="2025-09-15T18:41:48.980" v="13" actId="478"/>
          <ac:picMkLst>
            <pc:docMk/>
            <pc:sldMk cId="202016729" sldId="2145726933"/>
            <ac:picMk id="5" creationId="{B80004BA-1AC5-E36F-7515-D4F2AE6AFA7A}"/>
          </ac:picMkLst>
        </pc:picChg>
      </pc:sldChg>
      <pc:sldChg chg="delSp mod">
        <pc:chgData name="Taylor Davis" userId="5c9e72a0-c39f-4aa1-9d7d-64125e78cbe6" providerId="ADAL" clId="{7D0B6B51-DA5F-4021-8848-39BD0005AA08}" dt="2025-09-15T18:40:53.141" v="1" actId="478"/>
        <pc:sldMkLst>
          <pc:docMk/>
          <pc:sldMk cId="474474859" sldId="2145726934"/>
        </pc:sldMkLst>
        <pc:picChg chg="del">
          <ac:chgData name="Taylor Davis" userId="5c9e72a0-c39f-4aa1-9d7d-64125e78cbe6" providerId="ADAL" clId="{7D0B6B51-DA5F-4021-8848-39BD0005AA08}" dt="2025-09-15T18:40:53.141" v="1" actId="478"/>
          <ac:picMkLst>
            <pc:docMk/>
            <pc:sldMk cId="474474859" sldId="2145726934"/>
            <ac:picMk id="5" creationId="{0143A5A1-6AD8-A1D8-1819-E4B70CFF7D63}"/>
          </ac:picMkLst>
        </pc:picChg>
      </pc:sldChg>
      <pc:sldChg chg="del">
        <pc:chgData name="Taylor Davis" userId="5c9e72a0-c39f-4aa1-9d7d-64125e78cbe6" providerId="ADAL" clId="{7D0B6B51-DA5F-4021-8848-39BD0005AA08}" dt="2025-09-15T18:41:28.472" v="10" actId="47"/>
        <pc:sldMkLst>
          <pc:docMk/>
          <pc:sldMk cId="2719442826" sldId="2145726935"/>
        </pc:sldMkLst>
      </pc:sldChg>
      <pc:sldChg chg="del">
        <pc:chgData name="Taylor Davis" userId="5c9e72a0-c39f-4aa1-9d7d-64125e78cbe6" providerId="ADAL" clId="{7D0B6B51-DA5F-4021-8848-39BD0005AA08}" dt="2025-09-15T18:41:18.614" v="8" actId="47"/>
        <pc:sldMkLst>
          <pc:docMk/>
          <pc:sldMk cId="1182702724" sldId="2145726936"/>
        </pc:sldMkLst>
      </pc:sldChg>
      <pc:sldMasterChg chg="del delSldLayout">
        <pc:chgData name="Taylor Davis" userId="5c9e72a0-c39f-4aa1-9d7d-64125e78cbe6" providerId="ADAL" clId="{7D0B6B51-DA5F-4021-8848-39BD0005AA08}" dt="2025-09-15T18:43:03.985" v="43" actId="47"/>
        <pc:sldMasterMkLst>
          <pc:docMk/>
          <pc:sldMasterMk cId="0" sldId="2147483648"/>
        </pc:sldMasterMkLst>
        <pc:sldLayoutChg chg="del">
          <pc:chgData name="Taylor Davis" userId="5c9e72a0-c39f-4aa1-9d7d-64125e78cbe6" providerId="ADAL" clId="{7D0B6B51-DA5F-4021-8848-39BD0005AA08}" dt="2025-09-15T18:43:03.985" v="43" actId="47"/>
          <pc:sldLayoutMkLst>
            <pc:docMk/>
            <pc:sldMasterMk cId="0" sldId="2147483648"/>
            <pc:sldLayoutMk cId="0" sldId="214748364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2FE3FE-D6C5-4EFC-BD1D-D560A39B400A}" type="doc">
      <dgm:prSet loTypeId="urn:microsoft.com/office/officeart/2018/5/layout/CenteredIconLabelDescription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D545ACFA-EB5B-40F9-94C4-FC99386155B9}">
      <dgm:prSet/>
      <dgm:spPr/>
      <dgm:t>
        <a:bodyPr/>
        <a:lstStyle/>
        <a:p>
          <a:pPr>
            <a:lnSpc>
              <a:spcPct val="100000"/>
            </a:lnSpc>
            <a:defRPr b="1"/>
          </a:pPr>
          <a:r>
            <a:rPr lang="en-US">
              <a:latin typeface="Montserrat" panose="00000500000000000000" pitchFamily="2" charset="0"/>
            </a:rPr>
            <a:t>Technology Stack:</a:t>
          </a:r>
        </a:p>
      </dgm:t>
    </dgm:pt>
    <dgm:pt modelId="{0A193111-97BC-465D-88B7-EC9F18C11ADF}" type="parTrans" cxnId="{A51B75FD-F920-47FE-AF9C-BEF54FF23D73}">
      <dgm:prSet/>
      <dgm:spPr/>
      <dgm:t>
        <a:bodyPr/>
        <a:lstStyle/>
        <a:p>
          <a:endParaRPr lang="en-US">
            <a:latin typeface="Montserrat" panose="00000500000000000000" pitchFamily="2" charset="0"/>
          </a:endParaRPr>
        </a:p>
      </dgm:t>
    </dgm:pt>
    <dgm:pt modelId="{447B823F-D5A0-4EB9-B756-103FB7F9B7C9}" type="sibTrans" cxnId="{A51B75FD-F920-47FE-AF9C-BEF54FF23D73}">
      <dgm:prSet/>
      <dgm:spPr/>
      <dgm:t>
        <a:bodyPr/>
        <a:lstStyle/>
        <a:p>
          <a:endParaRPr lang="en-US">
            <a:latin typeface="Montserrat" panose="00000500000000000000" pitchFamily="2" charset="0"/>
          </a:endParaRPr>
        </a:p>
      </dgm:t>
    </dgm:pt>
    <dgm:pt modelId="{8517BD3C-1CD5-40CB-99AE-D136ECEBECCB}">
      <dgm:prSet/>
      <dgm:spPr/>
      <dgm:t>
        <a:bodyPr/>
        <a:lstStyle/>
        <a:p>
          <a:pPr>
            <a:lnSpc>
              <a:spcPct val="100000"/>
            </a:lnSpc>
          </a:pPr>
          <a:r>
            <a:rPr lang="en-US" b="1">
              <a:latin typeface="Montserrat" panose="00000500000000000000" pitchFamily="2" charset="0"/>
            </a:rPr>
            <a:t>Microsoft-based</a:t>
          </a:r>
          <a:r>
            <a:rPr lang="en-US">
              <a:latin typeface="Montserrat" panose="00000500000000000000" pitchFamily="2" charset="0"/>
            </a:rPr>
            <a:t>: .NET, SQL Server, Azure.</a:t>
          </a:r>
        </a:p>
      </dgm:t>
    </dgm:pt>
    <dgm:pt modelId="{85B4D4FF-1557-4DFF-94D5-FB12A8D3916F}" type="parTrans" cxnId="{6BA64DA6-4DDB-411E-9D24-07815928DD47}">
      <dgm:prSet/>
      <dgm:spPr/>
      <dgm:t>
        <a:bodyPr/>
        <a:lstStyle/>
        <a:p>
          <a:endParaRPr lang="en-US">
            <a:latin typeface="Montserrat" panose="00000500000000000000" pitchFamily="2" charset="0"/>
          </a:endParaRPr>
        </a:p>
      </dgm:t>
    </dgm:pt>
    <dgm:pt modelId="{B1AFAB3A-5A57-44EA-83E7-98F0DE6E9306}" type="sibTrans" cxnId="{6BA64DA6-4DDB-411E-9D24-07815928DD47}">
      <dgm:prSet/>
      <dgm:spPr/>
      <dgm:t>
        <a:bodyPr/>
        <a:lstStyle/>
        <a:p>
          <a:endParaRPr lang="en-US">
            <a:latin typeface="Montserrat" panose="00000500000000000000" pitchFamily="2" charset="0"/>
          </a:endParaRPr>
        </a:p>
      </dgm:t>
    </dgm:pt>
    <dgm:pt modelId="{F97CC297-771A-42F9-9FB1-643BEFD0387E}">
      <dgm:prSet/>
      <dgm:spPr/>
      <dgm:t>
        <a:bodyPr/>
        <a:lstStyle/>
        <a:p>
          <a:pPr>
            <a:lnSpc>
              <a:spcPct val="100000"/>
            </a:lnSpc>
          </a:pPr>
          <a:r>
            <a:rPr lang="en-US" b="1">
              <a:latin typeface="Montserrat" panose="00000500000000000000" pitchFamily="2" charset="0"/>
            </a:rPr>
            <a:t>Secure hosting</a:t>
          </a:r>
          <a:r>
            <a:rPr lang="en-US">
              <a:latin typeface="Montserrat" panose="00000500000000000000" pitchFamily="2" charset="0"/>
            </a:rPr>
            <a:t>: IIS in DMZ network.</a:t>
          </a:r>
        </a:p>
      </dgm:t>
    </dgm:pt>
    <dgm:pt modelId="{71132C55-3574-4193-A416-0AF13C58FC19}" type="parTrans" cxnId="{F8457F15-6078-4BCD-A988-85BD885943F7}">
      <dgm:prSet/>
      <dgm:spPr/>
      <dgm:t>
        <a:bodyPr/>
        <a:lstStyle/>
        <a:p>
          <a:endParaRPr lang="en-US">
            <a:latin typeface="Montserrat" panose="00000500000000000000" pitchFamily="2" charset="0"/>
          </a:endParaRPr>
        </a:p>
      </dgm:t>
    </dgm:pt>
    <dgm:pt modelId="{DF748F68-8265-4C20-83FF-FE702BCC4B48}" type="sibTrans" cxnId="{F8457F15-6078-4BCD-A988-85BD885943F7}">
      <dgm:prSet/>
      <dgm:spPr/>
      <dgm:t>
        <a:bodyPr/>
        <a:lstStyle/>
        <a:p>
          <a:endParaRPr lang="en-US">
            <a:latin typeface="Montserrat" panose="00000500000000000000" pitchFamily="2" charset="0"/>
          </a:endParaRPr>
        </a:p>
      </dgm:t>
    </dgm:pt>
    <dgm:pt modelId="{0C49E3F5-A4EE-434B-89EE-A25351008E5F}">
      <dgm:prSet/>
      <dgm:spPr/>
      <dgm:t>
        <a:bodyPr/>
        <a:lstStyle/>
        <a:p>
          <a:pPr>
            <a:lnSpc>
              <a:spcPct val="100000"/>
            </a:lnSpc>
          </a:pPr>
          <a:r>
            <a:rPr lang="en-US" b="1">
              <a:latin typeface="Montserrat" panose="00000500000000000000" pitchFamily="2" charset="0"/>
            </a:rPr>
            <a:t>DevOps</a:t>
          </a:r>
          <a:r>
            <a:rPr lang="en-US">
              <a:latin typeface="Montserrat" panose="00000500000000000000" pitchFamily="2" charset="0"/>
            </a:rPr>
            <a:t>: Azure DevOps for lifecycle management.</a:t>
          </a:r>
        </a:p>
      </dgm:t>
    </dgm:pt>
    <dgm:pt modelId="{B60A0C45-1C98-4AB5-A33C-8C06BA42FB3E}" type="parTrans" cxnId="{E92CECE9-44A9-4B6F-A490-5204C343C4E3}">
      <dgm:prSet/>
      <dgm:spPr/>
      <dgm:t>
        <a:bodyPr/>
        <a:lstStyle/>
        <a:p>
          <a:endParaRPr lang="en-US">
            <a:latin typeface="Montserrat" panose="00000500000000000000" pitchFamily="2" charset="0"/>
          </a:endParaRPr>
        </a:p>
      </dgm:t>
    </dgm:pt>
    <dgm:pt modelId="{E4B09B18-80E3-430B-A1FA-BFB484B88E0C}" type="sibTrans" cxnId="{E92CECE9-44A9-4B6F-A490-5204C343C4E3}">
      <dgm:prSet/>
      <dgm:spPr/>
      <dgm:t>
        <a:bodyPr/>
        <a:lstStyle/>
        <a:p>
          <a:endParaRPr lang="en-US">
            <a:latin typeface="Montserrat" panose="00000500000000000000" pitchFamily="2" charset="0"/>
          </a:endParaRPr>
        </a:p>
      </dgm:t>
    </dgm:pt>
    <dgm:pt modelId="{53043949-84EB-4A6D-A579-3EB218019E91}">
      <dgm:prSet/>
      <dgm:spPr/>
      <dgm:t>
        <a:bodyPr/>
        <a:lstStyle/>
        <a:p>
          <a:pPr>
            <a:lnSpc>
              <a:spcPct val="100000"/>
            </a:lnSpc>
          </a:pPr>
          <a:r>
            <a:rPr lang="en-US" b="1">
              <a:latin typeface="Montserrat" panose="00000500000000000000" pitchFamily="2" charset="0"/>
            </a:rPr>
            <a:t>Web presence</a:t>
          </a:r>
          <a:r>
            <a:rPr lang="en-US">
              <a:latin typeface="Montserrat" panose="00000500000000000000" pitchFamily="2" charset="0"/>
            </a:rPr>
            <a:t>: WordPress + SiteGround.</a:t>
          </a:r>
        </a:p>
      </dgm:t>
    </dgm:pt>
    <dgm:pt modelId="{9137BECF-73F5-4494-9D91-9C781A01DFBE}" type="parTrans" cxnId="{37E96665-D6A1-42B2-B794-717A197F7DA2}">
      <dgm:prSet/>
      <dgm:spPr/>
      <dgm:t>
        <a:bodyPr/>
        <a:lstStyle/>
        <a:p>
          <a:endParaRPr lang="en-US">
            <a:latin typeface="Montserrat" panose="00000500000000000000" pitchFamily="2" charset="0"/>
          </a:endParaRPr>
        </a:p>
      </dgm:t>
    </dgm:pt>
    <dgm:pt modelId="{0458DEF5-728A-4F4E-9E1A-71FC10EA3D56}" type="sibTrans" cxnId="{37E96665-D6A1-42B2-B794-717A197F7DA2}">
      <dgm:prSet/>
      <dgm:spPr/>
      <dgm:t>
        <a:bodyPr/>
        <a:lstStyle/>
        <a:p>
          <a:endParaRPr lang="en-US">
            <a:latin typeface="Montserrat" panose="00000500000000000000" pitchFamily="2" charset="0"/>
          </a:endParaRPr>
        </a:p>
      </dgm:t>
    </dgm:pt>
    <dgm:pt modelId="{FB4E8C65-436D-4FDE-9681-339B4E1A297E}">
      <dgm:prSet/>
      <dgm:spPr/>
      <dgm:t>
        <a:bodyPr/>
        <a:lstStyle/>
        <a:p>
          <a:pPr>
            <a:lnSpc>
              <a:spcPct val="100000"/>
            </a:lnSpc>
            <a:defRPr b="1"/>
          </a:pPr>
          <a:r>
            <a:rPr lang="en-US">
              <a:latin typeface="Montserrat" panose="00000500000000000000" pitchFamily="2" charset="0"/>
            </a:rPr>
            <a:t>Cloud Based Architecture</a:t>
          </a:r>
        </a:p>
      </dgm:t>
    </dgm:pt>
    <dgm:pt modelId="{59C9FD73-65FA-4ED1-8EDC-15EE128D6CCB}" type="parTrans" cxnId="{49686A27-C65D-4D51-8F51-C7BD3FE301B1}">
      <dgm:prSet/>
      <dgm:spPr/>
      <dgm:t>
        <a:bodyPr/>
        <a:lstStyle/>
        <a:p>
          <a:endParaRPr lang="en-US">
            <a:latin typeface="Montserrat" panose="00000500000000000000" pitchFamily="2" charset="0"/>
          </a:endParaRPr>
        </a:p>
      </dgm:t>
    </dgm:pt>
    <dgm:pt modelId="{8BF0751D-9319-4312-A6F5-12DDEFEC7183}" type="sibTrans" cxnId="{49686A27-C65D-4D51-8F51-C7BD3FE301B1}">
      <dgm:prSet/>
      <dgm:spPr/>
      <dgm:t>
        <a:bodyPr/>
        <a:lstStyle/>
        <a:p>
          <a:endParaRPr lang="en-US">
            <a:latin typeface="Montserrat" panose="00000500000000000000" pitchFamily="2" charset="0"/>
          </a:endParaRPr>
        </a:p>
      </dgm:t>
    </dgm:pt>
    <dgm:pt modelId="{10AC8E94-F9AA-4EF7-9CF0-8D1056663B54}">
      <dgm:prSet/>
      <dgm:spPr/>
      <dgm:t>
        <a:bodyPr/>
        <a:lstStyle/>
        <a:p>
          <a:pPr>
            <a:lnSpc>
              <a:spcPct val="100000"/>
            </a:lnSpc>
          </a:pPr>
          <a:r>
            <a:rPr lang="en-US" b="1">
              <a:latin typeface="Montserrat" panose="00000500000000000000" pitchFamily="2" charset="0"/>
            </a:rPr>
            <a:t>Hybrid Cloud Model</a:t>
          </a:r>
          <a:r>
            <a:rPr lang="en-US">
              <a:latin typeface="Montserrat" panose="00000500000000000000" pitchFamily="2" charset="0"/>
            </a:rPr>
            <a:t>: We operate across Microsoft Azure and Expedient Cloud, supporting scalable, secure hosting for applications and data. </a:t>
          </a:r>
        </a:p>
      </dgm:t>
    </dgm:pt>
    <dgm:pt modelId="{404B11DC-459E-4B53-AD92-17D765C7D3A2}" type="parTrans" cxnId="{9FB5886E-42F4-4DF4-9019-09D15D20E7DA}">
      <dgm:prSet/>
      <dgm:spPr/>
      <dgm:t>
        <a:bodyPr/>
        <a:lstStyle/>
        <a:p>
          <a:endParaRPr lang="en-US">
            <a:latin typeface="Montserrat" panose="00000500000000000000" pitchFamily="2" charset="0"/>
          </a:endParaRPr>
        </a:p>
      </dgm:t>
    </dgm:pt>
    <dgm:pt modelId="{BEF25858-0FC6-4381-9899-258676501BD3}" type="sibTrans" cxnId="{9FB5886E-42F4-4DF4-9019-09D15D20E7DA}">
      <dgm:prSet/>
      <dgm:spPr/>
      <dgm:t>
        <a:bodyPr/>
        <a:lstStyle/>
        <a:p>
          <a:endParaRPr lang="en-US">
            <a:latin typeface="Montserrat" panose="00000500000000000000" pitchFamily="2" charset="0"/>
          </a:endParaRPr>
        </a:p>
      </dgm:t>
    </dgm:pt>
    <dgm:pt modelId="{3B3BF4EF-97D8-422F-A18C-CB33665E812A}">
      <dgm:prSet/>
      <dgm:spPr/>
      <dgm:t>
        <a:bodyPr/>
        <a:lstStyle/>
        <a:p>
          <a:pPr>
            <a:lnSpc>
              <a:spcPct val="100000"/>
            </a:lnSpc>
          </a:pPr>
          <a:r>
            <a:rPr lang="en-US" b="1">
              <a:latin typeface="Montserrat" panose="00000500000000000000" pitchFamily="2" charset="0"/>
            </a:rPr>
            <a:t>Cloud-Native Design</a:t>
          </a:r>
          <a:r>
            <a:rPr lang="en-US">
              <a:latin typeface="Montserrat" panose="00000500000000000000" pitchFamily="2" charset="0"/>
            </a:rPr>
            <a:t>: Our architecture leverages Azure DevOps, Microsoft 365, and Genesys Cloud for rapid deployment, centralized access, and enterprise-grade reliability. </a:t>
          </a:r>
        </a:p>
      </dgm:t>
    </dgm:pt>
    <dgm:pt modelId="{6986EF97-B71C-4F3B-A993-DE4DD40B40DB}" type="parTrans" cxnId="{B90C427C-D039-41BB-AC26-FDD421EDBE91}">
      <dgm:prSet/>
      <dgm:spPr/>
      <dgm:t>
        <a:bodyPr/>
        <a:lstStyle/>
        <a:p>
          <a:endParaRPr lang="en-US">
            <a:latin typeface="Montserrat" panose="00000500000000000000" pitchFamily="2" charset="0"/>
          </a:endParaRPr>
        </a:p>
      </dgm:t>
    </dgm:pt>
    <dgm:pt modelId="{DB20116E-317F-467C-822C-63CE2C326233}" type="sibTrans" cxnId="{B90C427C-D039-41BB-AC26-FDD421EDBE91}">
      <dgm:prSet/>
      <dgm:spPr/>
      <dgm:t>
        <a:bodyPr/>
        <a:lstStyle/>
        <a:p>
          <a:endParaRPr lang="en-US">
            <a:latin typeface="Montserrat" panose="00000500000000000000" pitchFamily="2" charset="0"/>
          </a:endParaRPr>
        </a:p>
      </dgm:t>
    </dgm:pt>
    <dgm:pt modelId="{C42A3C81-F7DF-4740-8FE2-DED46E17FFDF}" type="pres">
      <dgm:prSet presAssocID="{B02FE3FE-D6C5-4EFC-BD1D-D560A39B400A}" presName="root" presStyleCnt="0">
        <dgm:presLayoutVars>
          <dgm:dir/>
          <dgm:resizeHandles val="exact"/>
        </dgm:presLayoutVars>
      </dgm:prSet>
      <dgm:spPr/>
    </dgm:pt>
    <dgm:pt modelId="{C9065C78-28E3-449C-8197-4E0B4DD5FAAE}" type="pres">
      <dgm:prSet presAssocID="{D545ACFA-EB5B-40F9-94C4-FC99386155B9}" presName="compNode" presStyleCnt="0"/>
      <dgm:spPr/>
    </dgm:pt>
    <dgm:pt modelId="{41FA8B2C-1283-421F-A47F-2869219439C7}" type="pres">
      <dgm:prSet presAssocID="{D545ACFA-EB5B-40F9-94C4-FC99386155B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3B6CAF15-D9EF-45E3-9370-5C80379408BC}" type="pres">
      <dgm:prSet presAssocID="{D545ACFA-EB5B-40F9-94C4-FC99386155B9}" presName="iconSpace" presStyleCnt="0"/>
      <dgm:spPr/>
    </dgm:pt>
    <dgm:pt modelId="{315C46E0-56B2-4721-9928-C9A3739B8FE5}" type="pres">
      <dgm:prSet presAssocID="{D545ACFA-EB5B-40F9-94C4-FC99386155B9}" presName="parTx" presStyleLbl="revTx" presStyleIdx="0" presStyleCnt="4">
        <dgm:presLayoutVars>
          <dgm:chMax val="0"/>
          <dgm:chPref val="0"/>
        </dgm:presLayoutVars>
      </dgm:prSet>
      <dgm:spPr/>
    </dgm:pt>
    <dgm:pt modelId="{36BF71A8-73CD-4CC2-B25B-8C5DC321D1A0}" type="pres">
      <dgm:prSet presAssocID="{D545ACFA-EB5B-40F9-94C4-FC99386155B9}" presName="txSpace" presStyleCnt="0"/>
      <dgm:spPr/>
    </dgm:pt>
    <dgm:pt modelId="{D8CDAC14-0BEF-4884-8AD3-F188499433E4}" type="pres">
      <dgm:prSet presAssocID="{D545ACFA-EB5B-40F9-94C4-FC99386155B9}" presName="desTx" presStyleLbl="revTx" presStyleIdx="1" presStyleCnt="4">
        <dgm:presLayoutVars/>
      </dgm:prSet>
      <dgm:spPr/>
    </dgm:pt>
    <dgm:pt modelId="{3A751E88-580B-44AA-9AFD-B92924251E99}" type="pres">
      <dgm:prSet presAssocID="{447B823F-D5A0-4EB9-B756-103FB7F9B7C9}" presName="sibTrans" presStyleCnt="0"/>
      <dgm:spPr/>
    </dgm:pt>
    <dgm:pt modelId="{8DDC0652-1449-4350-B14A-45415B67275B}" type="pres">
      <dgm:prSet presAssocID="{FB4E8C65-436D-4FDE-9681-339B4E1A297E}" presName="compNode" presStyleCnt="0"/>
      <dgm:spPr/>
    </dgm:pt>
    <dgm:pt modelId="{B3713EFB-DB88-4E39-B210-593974157CA4}" type="pres">
      <dgm:prSet presAssocID="{FB4E8C65-436D-4FDE-9681-339B4E1A297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a:ext>
      </dgm:extLst>
    </dgm:pt>
    <dgm:pt modelId="{C9B5D35E-6784-454B-BAAB-7CF7A6169CF9}" type="pres">
      <dgm:prSet presAssocID="{FB4E8C65-436D-4FDE-9681-339B4E1A297E}" presName="iconSpace" presStyleCnt="0"/>
      <dgm:spPr/>
    </dgm:pt>
    <dgm:pt modelId="{F5B09261-72BD-4CF3-A7F3-B85BC158DF99}" type="pres">
      <dgm:prSet presAssocID="{FB4E8C65-436D-4FDE-9681-339B4E1A297E}" presName="parTx" presStyleLbl="revTx" presStyleIdx="2" presStyleCnt="4">
        <dgm:presLayoutVars>
          <dgm:chMax val="0"/>
          <dgm:chPref val="0"/>
        </dgm:presLayoutVars>
      </dgm:prSet>
      <dgm:spPr/>
    </dgm:pt>
    <dgm:pt modelId="{4C5CBD8D-CE75-4528-91A9-E7B881852B3E}" type="pres">
      <dgm:prSet presAssocID="{FB4E8C65-436D-4FDE-9681-339B4E1A297E}" presName="txSpace" presStyleCnt="0"/>
      <dgm:spPr/>
    </dgm:pt>
    <dgm:pt modelId="{BE220E0F-1CA9-47DE-BC98-605AC3C727EF}" type="pres">
      <dgm:prSet presAssocID="{FB4E8C65-436D-4FDE-9681-339B4E1A297E}" presName="desTx" presStyleLbl="revTx" presStyleIdx="3" presStyleCnt="4">
        <dgm:presLayoutVars/>
      </dgm:prSet>
      <dgm:spPr/>
    </dgm:pt>
  </dgm:ptLst>
  <dgm:cxnLst>
    <dgm:cxn modelId="{F8457F15-6078-4BCD-A988-85BD885943F7}" srcId="{D545ACFA-EB5B-40F9-94C4-FC99386155B9}" destId="{F97CC297-771A-42F9-9FB1-643BEFD0387E}" srcOrd="1" destOrd="0" parTransId="{71132C55-3574-4193-A416-0AF13C58FC19}" sibTransId="{DF748F68-8265-4C20-83FF-FE702BCC4B48}"/>
    <dgm:cxn modelId="{4BE2D324-596B-49F8-9AD0-AAAD8D06791B}" type="presOf" srcId="{B02FE3FE-D6C5-4EFC-BD1D-D560A39B400A}" destId="{C42A3C81-F7DF-4740-8FE2-DED46E17FFDF}" srcOrd="0" destOrd="0" presId="urn:microsoft.com/office/officeart/2018/5/layout/CenteredIconLabelDescriptionList"/>
    <dgm:cxn modelId="{49686A27-C65D-4D51-8F51-C7BD3FE301B1}" srcId="{B02FE3FE-D6C5-4EFC-BD1D-D560A39B400A}" destId="{FB4E8C65-436D-4FDE-9681-339B4E1A297E}" srcOrd="1" destOrd="0" parTransId="{59C9FD73-65FA-4ED1-8EDC-15EE128D6CCB}" sibTransId="{8BF0751D-9319-4312-A6F5-12DDEFEC7183}"/>
    <dgm:cxn modelId="{D6DB9E27-5251-4FC9-BE54-AA163F305CBC}" type="presOf" srcId="{8517BD3C-1CD5-40CB-99AE-D136ECEBECCB}" destId="{D8CDAC14-0BEF-4884-8AD3-F188499433E4}" srcOrd="0" destOrd="0" presId="urn:microsoft.com/office/officeart/2018/5/layout/CenteredIconLabelDescriptionList"/>
    <dgm:cxn modelId="{37E96665-D6A1-42B2-B794-717A197F7DA2}" srcId="{D545ACFA-EB5B-40F9-94C4-FC99386155B9}" destId="{53043949-84EB-4A6D-A579-3EB218019E91}" srcOrd="3" destOrd="0" parTransId="{9137BECF-73F5-4494-9D91-9C781A01DFBE}" sibTransId="{0458DEF5-728A-4F4E-9E1A-71FC10EA3D56}"/>
    <dgm:cxn modelId="{9FB5886E-42F4-4DF4-9019-09D15D20E7DA}" srcId="{FB4E8C65-436D-4FDE-9681-339B4E1A297E}" destId="{10AC8E94-F9AA-4EF7-9CF0-8D1056663B54}" srcOrd="0" destOrd="0" parTransId="{404B11DC-459E-4B53-AD92-17D765C7D3A2}" sibTransId="{BEF25858-0FC6-4381-9899-258676501BD3}"/>
    <dgm:cxn modelId="{72CDB64F-05AB-4BD6-BEB3-084DEE439146}" type="presOf" srcId="{0C49E3F5-A4EE-434B-89EE-A25351008E5F}" destId="{D8CDAC14-0BEF-4884-8AD3-F188499433E4}" srcOrd="0" destOrd="2" presId="urn:microsoft.com/office/officeart/2018/5/layout/CenteredIconLabelDescriptionList"/>
    <dgm:cxn modelId="{B90C427C-D039-41BB-AC26-FDD421EDBE91}" srcId="{FB4E8C65-436D-4FDE-9681-339B4E1A297E}" destId="{3B3BF4EF-97D8-422F-A18C-CB33665E812A}" srcOrd="1" destOrd="0" parTransId="{6986EF97-B71C-4F3B-A993-DE4DD40B40DB}" sibTransId="{DB20116E-317F-467C-822C-63CE2C326233}"/>
    <dgm:cxn modelId="{EB666286-6282-44A1-90EE-34F27EB7EC71}" type="presOf" srcId="{D545ACFA-EB5B-40F9-94C4-FC99386155B9}" destId="{315C46E0-56B2-4721-9928-C9A3739B8FE5}" srcOrd="0" destOrd="0" presId="urn:microsoft.com/office/officeart/2018/5/layout/CenteredIconLabelDescriptionList"/>
    <dgm:cxn modelId="{E2F8BB94-D1EC-4B59-954C-F0DB76ABEEF7}" type="presOf" srcId="{FB4E8C65-436D-4FDE-9681-339B4E1A297E}" destId="{F5B09261-72BD-4CF3-A7F3-B85BC158DF99}" srcOrd="0" destOrd="0" presId="urn:microsoft.com/office/officeart/2018/5/layout/CenteredIconLabelDescriptionList"/>
    <dgm:cxn modelId="{6BA64DA6-4DDB-411E-9D24-07815928DD47}" srcId="{D545ACFA-EB5B-40F9-94C4-FC99386155B9}" destId="{8517BD3C-1CD5-40CB-99AE-D136ECEBECCB}" srcOrd="0" destOrd="0" parTransId="{85B4D4FF-1557-4DFF-94D5-FB12A8D3916F}" sibTransId="{B1AFAB3A-5A57-44EA-83E7-98F0DE6E9306}"/>
    <dgm:cxn modelId="{79ACB4AF-1FEF-4557-9C7E-233EFC30912D}" type="presOf" srcId="{53043949-84EB-4A6D-A579-3EB218019E91}" destId="{D8CDAC14-0BEF-4884-8AD3-F188499433E4}" srcOrd="0" destOrd="3" presId="urn:microsoft.com/office/officeart/2018/5/layout/CenteredIconLabelDescriptionList"/>
    <dgm:cxn modelId="{998189CD-781E-41F2-991A-126CEBEDCD3F}" type="presOf" srcId="{F97CC297-771A-42F9-9FB1-643BEFD0387E}" destId="{D8CDAC14-0BEF-4884-8AD3-F188499433E4}" srcOrd="0" destOrd="1" presId="urn:microsoft.com/office/officeart/2018/5/layout/CenteredIconLabelDescriptionList"/>
    <dgm:cxn modelId="{E92CECE9-44A9-4B6F-A490-5204C343C4E3}" srcId="{D545ACFA-EB5B-40F9-94C4-FC99386155B9}" destId="{0C49E3F5-A4EE-434B-89EE-A25351008E5F}" srcOrd="2" destOrd="0" parTransId="{B60A0C45-1C98-4AB5-A33C-8C06BA42FB3E}" sibTransId="{E4B09B18-80E3-430B-A1FA-BFB484B88E0C}"/>
    <dgm:cxn modelId="{55C736EC-B837-48FD-A525-8201D4CB7DF3}" type="presOf" srcId="{10AC8E94-F9AA-4EF7-9CF0-8D1056663B54}" destId="{BE220E0F-1CA9-47DE-BC98-605AC3C727EF}" srcOrd="0" destOrd="0" presId="urn:microsoft.com/office/officeart/2018/5/layout/CenteredIconLabelDescriptionList"/>
    <dgm:cxn modelId="{DEA1BCED-2E50-4F75-8CFA-82983DE181FC}" type="presOf" srcId="{3B3BF4EF-97D8-422F-A18C-CB33665E812A}" destId="{BE220E0F-1CA9-47DE-BC98-605AC3C727EF}" srcOrd="0" destOrd="1" presId="urn:microsoft.com/office/officeart/2018/5/layout/CenteredIconLabelDescriptionList"/>
    <dgm:cxn modelId="{A51B75FD-F920-47FE-AF9C-BEF54FF23D73}" srcId="{B02FE3FE-D6C5-4EFC-BD1D-D560A39B400A}" destId="{D545ACFA-EB5B-40F9-94C4-FC99386155B9}" srcOrd="0" destOrd="0" parTransId="{0A193111-97BC-465D-88B7-EC9F18C11ADF}" sibTransId="{447B823F-D5A0-4EB9-B756-103FB7F9B7C9}"/>
    <dgm:cxn modelId="{BA39C9E1-D77C-4858-9DC1-A112BFF2E2DB}" type="presParOf" srcId="{C42A3C81-F7DF-4740-8FE2-DED46E17FFDF}" destId="{C9065C78-28E3-449C-8197-4E0B4DD5FAAE}" srcOrd="0" destOrd="0" presId="urn:microsoft.com/office/officeart/2018/5/layout/CenteredIconLabelDescriptionList"/>
    <dgm:cxn modelId="{2F90F97F-EE06-40F2-9C34-2A1504EC591C}" type="presParOf" srcId="{C9065C78-28E3-449C-8197-4E0B4DD5FAAE}" destId="{41FA8B2C-1283-421F-A47F-2869219439C7}" srcOrd="0" destOrd="0" presId="urn:microsoft.com/office/officeart/2018/5/layout/CenteredIconLabelDescriptionList"/>
    <dgm:cxn modelId="{A24A4AA5-9DE4-4A80-B8F3-17997BEB0CD5}" type="presParOf" srcId="{C9065C78-28E3-449C-8197-4E0B4DD5FAAE}" destId="{3B6CAF15-D9EF-45E3-9370-5C80379408BC}" srcOrd="1" destOrd="0" presId="urn:microsoft.com/office/officeart/2018/5/layout/CenteredIconLabelDescriptionList"/>
    <dgm:cxn modelId="{7923B137-E64C-4A1F-A568-75410BB291EA}" type="presParOf" srcId="{C9065C78-28E3-449C-8197-4E0B4DD5FAAE}" destId="{315C46E0-56B2-4721-9928-C9A3739B8FE5}" srcOrd="2" destOrd="0" presId="urn:microsoft.com/office/officeart/2018/5/layout/CenteredIconLabelDescriptionList"/>
    <dgm:cxn modelId="{3667636E-6D6E-4D8C-998B-DA8CC8FE77B3}" type="presParOf" srcId="{C9065C78-28E3-449C-8197-4E0B4DD5FAAE}" destId="{36BF71A8-73CD-4CC2-B25B-8C5DC321D1A0}" srcOrd="3" destOrd="0" presId="urn:microsoft.com/office/officeart/2018/5/layout/CenteredIconLabelDescriptionList"/>
    <dgm:cxn modelId="{3C2F76AD-B2A6-423E-B2F5-480E61112AFC}" type="presParOf" srcId="{C9065C78-28E3-449C-8197-4E0B4DD5FAAE}" destId="{D8CDAC14-0BEF-4884-8AD3-F188499433E4}" srcOrd="4" destOrd="0" presId="urn:microsoft.com/office/officeart/2018/5/layout/CenteredIconLabelDescriptionList"/>
    <dgm:cxn modelId="{1BAB207E-9457-470C-96B1-875E0CE39902}" type="presParOf" srcId="{C42A3C81-F7DF-4740-8FE2-DED46E17FFDF}" destId="{3A751E88-580B-44AA-9AFD-B92924251E99}" srcOrd="1" destOrd="0" presId="urn:microsoft.com/office/officeart/2018/5/layout/CenteredIconLabelDescriptionList"/>
    <dgm:cxn modelId="{41893592-8099-43AC-8E1B-04B245F1902F}" type="presParOf" srcId="{C42A3C81-F7DF-4740-8FE2-DED46E17FFDF}" destId="{8DDC0652-1449-4350-B14A-45415B67275B}" srcOrd="2" destOrd="0" presId="urn:microsoft.com/office/officeart/2018/5/layout/CenteredIconLabelDescriptionList"/>
    <dgm:cxn modelId="{F7FFF8F7-A9A2-4929-967C-29456E5BC61C}" type="presParOf" srcId="{8DDC0652-1449-4350-B14A-45415B67275B}" destId="{B3713EFB-DB88-4E39-B210-593974157CA4}" srcOrd="0" destOrd="0" presId="urn:microsoft.com/office/officeart/2018/5/layout/CenteredIconLabelDescriptionList"/>
    <dgm:cxn modelId="{E3793B98-0FEB-44CF-A68D-64A41466B917}" type="presParOf" srcId="{8DDC0652-1449-4350-B14A-45415B67275B}" destId="{C9B5D35E-6784-454B-BAAB-7CF7A6169CF9}" srcOrd="1" destOrd="0" presId="urn:microsoft.com/office/officeart/2018/5/layout/CenteredIconLabelDescriptionList"/>
    <dgm:cxn modelId="{DBCCE0B6-7B2D-423B-87E2-8612BECEAC97}" type="presParOf" srcId="{8DDC0652-1449-4350-B14A-45415B67275B}" destId="{F5B09261-72BD-4CF3-A7F3-B85BC158DF99}" srcOrd="2" destOrd="0" presId="urn:microsoft.com/office/officeart/2018/5/layout/CenteredIconLabelDescriptionList"/>
    <dgm:cxn modelId="{07EA2398-4398-484F-A1A9-D87E31813D87}" type="presParOf" srcId="{8DDC0652-1449-4350-B14A-45415B67275B}" destId="{4C5CBD8D-CE75-4528-91A9-E7B881852B3E}" srcOrd="3" destOrd="0" presId="urn:microsoft.com/office/officeart/2018/5/layout/CenteredIconLabelDescriptionList"/>
    <dgm:cxn modelId="{E2303AA7-D570-410E-9511-3D0C72987D10}" type="presParOf" srcId="{8DDC0652-1449-4350-B14A-45415B67275B}" destId="{BE220E0F-1CA9-47DE-BC98-605AC3C727E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F12514-CEE5-4BBE-A685-AB0EBD71849D}"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05AB845B-4DAC-4A1A-A5B5-4DF0069E41AC}">
      <dgm:prSet/>
      <dgm:spPr/>
      <dgm:t>
        <a:bodyPr/>
        <a:lstStyle/>
        <a:p>
          <a:r>
            <a:rPr lang="en-US" b="1">
              <a:latin typeface="Montserrat" panose="00000500000000000000" pitchFamily="2" charset="0"/>
            </a:rPr>
            <a:t>Zero Trust</a:t>
          </a:r>
          <a:r>
            <a:rPr lang="en-US">
              <a:latin typeface="Montserrat" panose="00000500000000000000" pitchFamily="2" charset="0"/>
            </a:rPr>
            <a:t>: Least-privilege, just-in-time access.</a:t>
          </a:r>
        </a:p>
      </dgm:t>
    </dgm:pt>
    <dgm:pt modelId="{AC6CB868-496F-4048-A938-35A957D9BC1C}" type="parTrans" cxnId="{F1B0920B-DF85-4550-93EE-82029E748E52}">
      <dgm:prSet/>
      <dgm:spPr/>
      <dgm:t>
        <a:bodyPr/>
        <a:lstStyle/>
        <a:p>
          <a:endParaRPr lang="en-US">
            <a:latin typeface="Montserrat" panose="00000500000000000000" pitchFamily="2" charset="0"/>
          </a:endParaRPr>
        </a:p>
      </dgm:t>
    </dgm:pt>
    <dgm:pt modelId="{F6BA5660-9C73-45ED-8AB7-8D7DFAB37BFA}" type="sibTrans" cxnId="{F1B0920B-DF85-4550-93EE-82029E748E52}">
      <dgm:prSet/>
      <dgm:spPr/>
      <dgm:t>
        <a:bodyPr/>
        <a:lstStyle/>
        <a:p>
          <a:endParaRPr lang="en-US">
            <a:latin typeface="Montserrat" panose="00000500000000000000" pitchFamily="2" charset="0"/>
          </a:endParaRPr>
        </a:p>
      </dgm:t>
    </dgm:pt>
    <dgm:pt modelId="{12F069CE-750D-4790-B04A-4427541C53C1}">
      <dgm:prSet/>
      <dgm:spPr/>
      <dgm:t>
        <a:bodyPr/>
        <a:lstStyle/>
        <a:p>
          <a:r>
            <a:rPr lang="en-US" b="1">
              <a:latin typeface="Montserrat" panose="00000500000000000000" pitchFamily="2" charset="0"/>
            </a:rPr>
            <a:t>Cloud Secure</a:t>
          </a:r>
          <a:r>
            <a:rPr lang="en-US">
              <a:latin typeface="Montserrat" panose="00000500000000000000" pitchFamily="2" charset="0"/>
            </a:rPr>
            <a:t>: Compliant cloud data center with centralized secure edge controls.</a:t>
          </a:r>
        </a:p>
      </dgm:t>
    </dgm:pt>
    <dgm:pt modelId="{CB4B89B4-409D-4405-A68A-58FDED4EF673}" type="parTrans" cxnId="{17ABB2F1-1492-4443-89D9-FB0E2CC94E51}">
      <dgm:prSet/>
      <dgm:spPr/>
      <dgm:t>
        <a:bodyPr/>
        <a:lstStyle/>
        <a:p>
          <a:endParaRPr lang="en-US">
            <a:latin typeface="Montserrat" panose="00000500000000000000" pitchFamily="2" charset="0"/>
          </a:endParaRPr>
        </a:p>
      </dgm:t>
    </dgm:pt>
    <dgm:pt modelId="{B8132B4B-8259-4772-943B-CC19459F44D8}" type="sibTrans" cxnId="{17ABB2F1-1492-4443-89D9-FB0E2CC94E51}">
      <dgm:prSet/>
      <dgm:spPr/>
      <dgm:t>
        <a:bodyPr/>
        <a:lstStyle/>
        <a:p>
          <a:endParaRPr lang="en-US">
            <a:latin typeface="Montserrat" panose="00000500000000000000" pitchFamily="2" charset="0"/>
          </a:endParaRPr>
        </a:p>
      </dgm:t>
    </dgm:pt>
    <dgm:pt modelId="{6A5CCA23-083D-41E1-A78D-CB249F4E28D2}">
      <dgm:prSet/>
      <dgm:spPr/>
      <dgm:t>
        <a:bodyPr/>
        <a:lstStyle/>
        <a:p>
          <a:r>
            <a:rPr lang="en-US" b="1">
              <a:latin typeface="Montserrat" panose="00000500000000000000" pitchFamily="2" charset="0"/>
            </a:rPr>
            <a:t>MFA Only</a:t>
          </a:r>
          <a:r>
            <a:rPr lang="en-US">
              <a:latin typeface="Montserrat" panose="00000500000000000000" pitchFamily="2" charset="0"/>
            </a:rPr>
            <a:t>: Authenticator app required.</a:t>
          </a:r>
        </a:p>
      </dgm:t>
    </dgm:pt>
    <dgm:pt modelId="{087A8595-E232-4E05-9EF6-DD4AF1CE2BC0}" type="parTrans" cxnId="{793574CE-09B2-4D5F-84E7-BB1FEB588BA1}">
      <dgm:prSet/>
      <dgm:spPr/>
      <dgm:t>
        <a:bodyPr/>
        <a:lstStyle/>
        <a:p>
          <a:endParaRPr lang="en-US">
            <a:latin typeface="Montserrat" panose="00000500000000000000" pitchFamily="2" charset="0"/>
          </a:endParaRPr>
        </a:p>
      </dgm:t>
    </dgm:pt>
    <dgm:pt modelId="{B10DF805-A1DF-474A-A9F3-3A23DAF752A7}" type="sibTrans" cxnId="{793574CE-09B2-4D5F-84E7-BB1FEB588BA1}">
      <dgm:prSet/>
      <dgm:spPr/>
      <dgm:t>
        <a:bodyPr/>
        <a:lstStyle/>
        <a:p>
          <a:endParaRPr lang="en-US">
            <a:latin typeface="Montserrat" panose="00000500000000000000" pitchFamily="2" charset="0"/>
          </a:endParaRPr>
        </a:p>
      </dgm:t>
    </dgm:pt>
    <dgm:pt modelId="{4077680F-98CC-4ED4-98F3-585AD93600DE}">
      <dgm:prSet/>
      <dgm:spPr/>
      <dgm:t>
        <a:bodyPr/>
        <a:lstStyle/>
        <a:p>
          <a:r>
            <a:rPr lang="en-US" b="1">
              <a:latin typeface="Montserrat" panose="00000500000000000000" pitchFamily="2" charset="0"/>
            </a:rPr>
            <a:t>24/7 SOC</a:t>
          </a:r>
          <a:r>
            <a:rPr lang="en-US">
              <a:latin typeface="Montserrat" panose="00000500000000000000" pitchFamily="2" charset="0"/>
            </a:rPr>
            <a:t>: Real-time monitoring &amp; response.</a:t>
          </a:r>
        </a:p>
      </dgm:t>
    </dgm:pt>
    <dgm:pt modelId="{B5ED9D99-F45E-4AD0-9A4A-C7D9F4997119}" type="parTrans" cxnId="{4CEDA0FC-B776-431B-AE92-00F0335F9CC0}">
      <dgm:prSet/>
      <dgm:spPr/>
      <dgm:t>
        <a:bodyPr/>
        <a:lstStyle/>
        <a:p>
          <a:endParaRPr lang="en-US">
            <a:latin typeface="Montserrat" panose="00000500000000000000" pitchFamily="2" charset="0"/>
          </a:endParaRPr>
        </a:p>
      </dgm:t>
    </dgm:pt>
    <dgm:pt modelId="{CC4E5405-A3B5-4E3B-8969-7E3602C77BF3}" type="sibTrans" cxnId="{4CEDA0FC-B776-431B-AE92-00F0335F9CC0}">
      <dgm:prSet/>
      <dgm:spPr/>
      <dgm:t>
        <a:bodyPr/>
        <a:lstStyle/>
        <a:p>
          <a:endParaRPr lang="en-US">
            <a:latin typeface="Montserrat" panose="00000500000000000000" pitchFamily="2" charset="0"/>
          </a:endParaRPr>
        </a:p>
      </dgm:t>
    </dgm:pt>
    <dgm:pt modelId="{4E18FECD-75B9-487D-99B4-F5F93CABE8D6}" type="pres">
      <dgm:prSet presAssocID="{6DF12514-CEE5-4BBE-A685-AB0EBD71849D}" presName="vert0" presStyleCnt="0">
        <dgm:presLayoutVars>
          <dgm:dir/>
          <dgm:animOne val="branch"/>
          <dgm:animLvl val="lvl"/>
        </dgm:presLayoutVars>
      </dgm:prSet>
      <dgm:spPr/>
    </dgm:pt>
    <dgm:pt modelId="{7CF6E8BB-AB8C-49FB-8AFF-53DB0C91F0A3}" type="pres">
      <dgm:prSet presAssocID="{05AB845B-4DAC-4A1A-A5B5-4DF0069E41AC}" presName="thickLine" presStyleLbl="alignNode1" presStyleIdx="0" presStyleCnt="4"/>
      <dgm:spPr/>
    </dgm:pt>
    <dgm:pt modelId="{FD20F8CC-68C1-42AF-9834-DE8AA65F3515}" type="pres">
      <dgm:prSet presAssocID="{05AB845B-4DAC-4A1A-A5B5-4DF0069E41AC}" presName="horz1" presStyleCnt="0"/>
      <dgm:spPr/>
    </dgm:pt>
    <dgm:pt modelId="{D1CD7F4F-6EAE-413F-A341-074C85AB43CA}" type="pres">
      <dgm:prSet presAssocID="{05AB845B-4DAC-4A1A-A5B5-4DF0069E41AC}" presName="tx1" presStyleLbl="revTx" presStyleIdx="0" presStyleCnt="4"/>
      <dgm:spPr/>
    </dgm:pt>
    <dgm:pt modelId="{6067877E-A672-4F6F-8E68-0E0366845FC3}" type="pres">
      <dgm:prSet presAssocID="{05AB845B-4DAC-4A1A-A5B5-4DF0069E41AC}" presName="vert1" presStyleCnt="0"/>
      <dgm:spPr/>
    </dgm:pt>
    <dgm:pt modelId="{0EFDEA76-20DE-48DF-A2F2-6C740F6A5C95}" type="pres">
      <dgm:prSet presAssocID="{12F069CE-750D-4790-B04A-4427541C53C1}" presName="thickLine" presStyleLbl="alignNode1" presStyleIdx="1" presStyleCnt="4"/>
      <dgm:spPr/>
    </dgm:pt>
    <dgm:pt modelId="{A4941196-C676-4659-B9B2-1B7B3FB2D249}" type="pres">
      <dgm:prSet presAssocID="{12F069CE-750D-4790-B04A-4427541C53C1}" presName="horz1" presStyleCnt="0"/>
      <dgm:spPr/>
    </dgm:pt>
    <dgm:pt modelId="{20C85436-F8D3-435C-95D5-FB8E9CE26E01}" type="pres">
      <dgm:prSet presAssocID="{12F069CE-750D-4790-B04A-4427541C53C1}" presName="tx1" presStyleLbl="revTx" presStyleIdx="1" presStyleCnt="4"/>
      <dgm:spPr/>
    </dgm:pt>
    <dgm:pt modelId="{9593D741-5DDF-44CD-B014-53ABD347363C}" type="pres">
      <dgm:prSet presAssocID="{12F069CE-750D-4790-B04A-4427541C53C1}" presName="vert1" presStyleCnt="0"/>
      <dgm:spPr/>
    </dgm:pt>
    <dgm:pt modelId="{B8D401A0-4977-489E-B9C8-73B1E285FA10}" type="pres">
      <dgm:prSet presAssocID="{6A5CCA23-083D-41E1-A78D-CB249F4E28D2}" presName="thickLine" presStyleLbl="alignNode1" presStyleIdx="2" presStyleCnt="4"/>
      <dgm:spPr/>
    </dgm:pt>
    <dgm:pt modelId="{CB8E6EEF-361F-4491-87AA-8214CD5C6EAC}" type="pres">
      <dgm:prSet presAssocID="{6A5CCA23-083D-41E1-A78D-CB249F4E28D2}" presName="horz1" presStyleCnt="0"/>
      <dgm:spPr/>
    </dgm:pt>
    <dgm:pt modelId="{E4D0DF9F-DFA4-47B7-A763-070682DD6A7B}" type="pres">
      <dgm:prSet presAssocID="{6A5CCA23-083D-41E1-A78D-CB249F4E28D2}" presName="tx1" presStyleLbl="revTx" presStyleIdx="2" presStyleCnt="4"/>
      <dgm:spPr/>
    </dgm:pt>
    <dgm:pt modelId="{E305B514-58EC-4D31-B30C-9D1F28F3C16C}" type="pres">
      <dgm:prSet presAssocID="{6A5CCA23-083D-41E1-A78D-CB249F4E28D2}" presName="vert1" presStyleCnt="0"/>
      <dgm:spPr/>
    </dgm:pt>
    <dgm:pt modelId="{A18E489E-737F-4927-A414-5D009AB165DE}" type="pres">
      <dgm:prSet presAssocID="{4077680F-98CC-4ED4-98F3-585AD93600DE}" presName="thickLine" presStyleLbl="alignNode1" presStyleIdx="3" presStyleCnt="4"/>
      <dgm:spPr/>
    </dgm:pt>
    <dgm:pt modelId="{364A4511-BD96-4C5B-8BFF-60A8DD63CE15}" type="pres">
      <dgm:prSet presAssocID="{4077680F-98CC-4ED4-98F3-585AD93600DE}" presName="horz1" presStyleCnt="0"/>
      <dgm:spPr/>
    </dgm:pt>
    <dgm:pt modelId="{0F3B8183-F2F4-4D1E-9800-79B805E7143B}" type="pres">
      <dgm:prSet presAssocID="{4077680F-98CC-4ED4-98F3-585AD93600DE}" presName="tx1" presStyleLbl="revTx" presStyleIdx="3" presStyleCnt="4"/>
      <dgm:spPr/>
    </dgm:pt>
    <dgm:pt modelId="{54C3C159-BB00-4FC8-92BB-0195466EBFC7}" type="pres">
      <dgm:prSet presAssocID="{4077680F-98CC-4ED4-98F3-585AD93600DE}" presName="vert1" presStyleCnt="0"/>
      <dgm:spPr/>
    </dgm:pt>
  </dgm:ptLst>
  <dgm:cxnLst>
    <dgm:cxn modelId="{F1B0920B-DF85-4550-93EE-82029E748E52}" srcId="{6DF12514-CEE5-4BBE-A685-AB0EBD71849D}" destId="{05AB845B-4DAC-4A1A-A5B5-4DF0069E41AC}" srcOrd="0" destOrd="0" parTransId="{AC6CB868-496F-4048-A938-35A957D9BC1C}" sibTransId="{F6BA5660-9C73-45ED-8AB7-8D7DFAB37BFA}"/>
    <dgm:cxn modelId="{B7AA6325-4DEF-462E-9501-119DE7B75B24}" type="presOf" srcId="{6A5CCA23-083D-41E1-A78D-CB249F4E28D2}" destId="{E4D0DF9F-DFA4-47B7-A763-070682DD6A7B}" srcOrd="0" destOrd="0" presId="urn:microsoft.com/office/officeart/2008/layout/LinedList"/>
    <dgm:cxn modelId="{B6A4D538-B5E8-49FF-80E3-D39780B64BC6}" type="presOf" srcId="{6DF12514-CEE5-4BBE-A685-AB0EBD71849D}" destId="{4E18FECD-75B9-487D-99B4-F5F93CABE8D6}" srcOrd="0" destOrd="0" presId="urn:microsoft.com/office/officeart/2008/layout/LinedList"/>
    <dgm:cxn modelId="{2F5CB14B-2EC8-4B3A-8F47-4A8E6B64E682}" type="presOf" srcId="{4077680F-98CC-4ED4-98F3-585AD93600DE}" destId="{0F3B8183-F2F4-4D1E-9800-79B805E7143B}" srcOrd="0" destOrd="0" presId="urn:microsoft.com/office/officeart/2008/layout/LinedList"/>
    <dgm:cxn modelId="{2904DE70-DF58-4424-B499-DC2BA410A297}" type="presOf" srcId="{05AB845B-4DAC-4A1A-A5B5-4DF0069E41AC}" destId="{D1CD7F4F-6EAE-413F-A341-074C85AB43CA}" srcOrd="0" destOrd="0" presId="urn:microsoft.com/office/officeart/2008/layout/LinedList"/>
    <dgm:cxn modelId="{CCDC4B59-B322-4C0E-B03C-FFD6CB5EDA21}" type="presOf" srcId="{12F069CE-750D-4790-B04A-4427541C53C1}" destId="{20C85436-F8D3-435C-95D5-FB8E9CE26E01}" srcOrd="0" destOrd="0" presId="urn:microsoft.com/office/officeart/2008/layout/LinedList"/>
    <dgm:cxn modelId="{793574CE-09B2-4D5F-84E7-BB1FEB588BA1}" srcId="{6DF12514-CEE5-4BBE-A685-AB0EBD71849D}" destId="{6A5CCA23-083D-41E1-A78D-CB249F4E28D2}" srcOrd="2" destOrd="0" parTransId="{087A8595-E232-4E05-9EF6-DD4AF1CE2BC0}" sibTransId="{B10DF805-A1DF-474A-A9F3-3A23DAF752A7}"/>
    <dgm:cxn modelId="{17ABB2F1-1492-4443-89D9-FB0E2CC94E51}" srcId="{6DF12514-CEE5-4BBE-A685-AB0EBD71849D}" destId="{12F069CE-750D-4790-B04A-4427541C53C1}" srcOrd="1" destOrd="0" parTransId="{CB4B89B4-409D-4405-A68A-58FDED4EF673}" sibTransId="{B8132B4B-8259-4772-943B-CC19459F44D8}"/>
    <dgm:cxn modelId="{4CEDA0FC-B776-431B-AE92-00F0335F9CC0}" srcId="{6DF12514-CEE5-4BBE-A685-AB0EBD71849D}" destId="{4077680F-98CC-4ED4-98F3-585AD93600DE}" srcOrd="3" destOrd="0" parTransId="{B5ED9D99-F45E-4AD0-9A4A-C7D9F4997119}" sibTransId="{CC4E5405-A3B5-4E3B-8969-7E3602C77BF3}"/>
    <dgm:cxn modelId="{09EDDAEA-7140-45DA-9E87-DF0B95D32165}" type="presParOf" srcId="{4E18FECD-75B9-487D-99B4-F5F93CABE8D6}" destId="{7CF6E8BB-AB8C-49FB-8AFF-53DB0C91F0A3}" srcOrd="0" destOrd="0" presId="urn:microsoft.com/office/officeart/2008/layout/LinedList"/>
    <dgm:cxn modelId="{79100BB8-0234-4BB5-BF9B-4EE6B3E09544}" type="presParOf" srcId="{4E18FECD-75B9-487D-99B4-F5F93CABE8D6}" destId="{FD20F8CC-68C1-42AF-9834-DE8AA65F3515}" srcOrd="1" destOrd="0" presId="urn:microsoft.com/office/officeart/2008/layout/LinedList"/>
    <dgm:cxn modelId="{B5667E8C-1026-46D4-9FFE-2BBA0D39FD52}" type="presParOf" srcId="{FD20F8CC-68C1-42AF-9834-DE8AA65F3515}" destId="{D1CD7F4F-6EAE-413F-A341-074C85AB43CA}" srcOrd="0" destOrd="0" presId="urn:microsoft.com/office/officeart/2008/layout/LinedList"/>
    <dgm:cxn modelId="{A9F4C23A-4D27-4E62-9BAA-F7E614020055}" type="presParOf" srcId="{FD20F8CC-68C1-42AF-9834-DE8AA65F3515}" destId="{6067877E-A672-4F6F-8E68-0E0366845FC3}" srcOrd="1" destOrd="0" presId="urn:microsoft.com/office/officeart/2008/layout/LinedList"/>
    <dgm:cxn modelId="{B11CCDBE-59FB-41E6-AF64-318D983289DE}" type="presParOf" srcId="{4E18FECD-75B9-487D-99B4-F5F93CABE8D6}" destId="{0EFDEA76-20DE-48DF-A2F2-6C740F6A5C95}" srcOrd="2" destOrd="0" presId="urn:microsoft.com/office/officeart/2008/layout/LinedList"/>
    <dgm:cxn modelId="{41034F94-8CF2-4109-BAF9-AFBD3C05400C}" type="presParOf" srcId="{4E18FECD-75B9-487D-99B4-F5F93CABE8D6}" destId="{A4941196-C676-4659-B9B2-1B7B3FB2D249}" srcOrd="3" destOrd="0" presId="urn:microsoft.com/office/officeart/2008/layout/LinedList"/>
    <dgm:cxn modelId="{FF79429A-1C7D-4429-8601-A2209BCF6B2F}" type="presParOf" srcId="{A4941196-C676-4659-B9B2-1B7B3FB2D249}" destId="{20C85436-F8D3-435C-95D5-FB8E9CE26E01}" srcOrd="0" destOrd="0" presId="urn:microsoft.com/office/officeart/2008/layout/LinedList"/>
    <dgm:cxn modelId="{D9A5AC40-8FA6-4DC3-82E7-F0382EC7F695}" type="presParOf" srcId="{A4941196-C676-4659-B9B2-1B7B3FB2D249}" destId="{9593D741-5DDF-44CD-B014-53ABD347363C}" srcOrd="1" destOrd="0" presId="urn:microsoft.com/office/officeart/2008/layout/LinedList"/>
    <dgm:cxn modelId="{E107C759-C76F-4C8F-8CB1-1661AD7BC88F}" type="presParOf" srcId="{4E18FECD-75B9-487D-99B4-F5F93CABE8D6}" destId="{B8D401A0-4977-489E-B9C8-73B1E285FA10}" srcOrd="4" destOrd="0" presId="urn:microsoft.com/office/officeart/2008/layout/LinedList"/>
    <dgm:cxn modelId="{7605626A-E781-4C6E-913A-617DE78FE3A7}" type="presParOf" srcId="{4E18FECD-75B9-487D-99B4-F5F93CABE8D6}" destId="{CB8E6EEF-361F-4491-87AA-8214CD5C6EAC}" srcOrd="5" destOrd="0" presId="urn:microsoft.com/office/officeart/2008/layout/LinedList"/>
    <dgm:cxn modelId="{C939ECA0-6EC8-478D-B3DE-E8D580AAB03C}" type="presParOf" srcId="{CB8E6EEF-361F-4491-87AA-8214CD5C6EAC}" destId="{E4D0DF9F-DFA4-47B7-A763-070682DD6A7B}" srcOrd="0" destOrd="0" presId="urn:microsoft.com/office/officeart/2008/layout/LinedList"/>
    <dgm:cxn modelId="{C27495C3-2288-4019-8518-1D479005807F}" type="presParOf" srcId="{CB8E6EEF-361F-4491-87AA-8214CD5C6EAC}" destId="{E305B514-58EC-4D31-B30C-9D1F28F3C16C}" srcOrd="1" destOrd="0" presId="urn:microsoft.com/office/officeart/2008/layout/LinedList"/>
    <dgm:cxn modelId="{4CFCA22F-7883-4DA7-BFD8-409C02DF1931}" type="presParOf" srcId="{4E18FECD-75B9-487D-99B4-F5F93CABE8D6}" destId="{A18E489E-737F-4927-A414-5D009AB165DE}" srcOrd="6" destOrd="0" presId="urn:microsoft.com/office/officeart/2008/layout/LinedList"/>
    <dgm:cxn modelId="{AF3652AD-092F-4E56-857D-BF93B7B3C7CE}" type="presParOf" srcId="{4E18FECD-75B9-487D-99B4-F5F93CABE8D6}" destId="{364A4511-BD96-4C5B-8BFF-60A8DD63CE15}" srcOrd="7" destOrd="0" presId="urn:microsoft.com/office/officeart/2008/layout/LinedList"/>
    <dgm:cxn modelId="{D76C2C1B-36B4-4BD8-A951-B01650CD4F81}" type="presParOf" srcId="{364A4511-BD96-4C5B-8BFF-60A8DD63CE15}" destId="{0F3B8183-F2F4-4D1E-9800-79B805E7143B}" srcOrd="0" destOrd="0" presId="urn:microsoft.com/office/officeart/2008/layout/LinedList"/>
    <dgm:cxn modelId="{7388EAF7-A0D1-47A7-93EA-5D56C16C11FA}" type="presParOf" srcId="{364A4511-BD96-4C5B-8BFF-60A8DD63CE15}" destId="{54C3C159-BB00-4FC8-92BB-0195466EBFC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8905E0-46CC-4DA1-AF1C-AA9D71A391C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0D1C21F-48BE-48A4-9E6B-DCCCEDFD51EC}">
      <dgm:prSet/>
      <dgm:spPr/>
      <dgm:t>
        <a:bodyPr/>
        <a:lstStyle/>
        <a:p>
          <a:pPr>
            <a:lnSpc>
              <a:spcPct val="100000"/>
            </a:lnSpc>
          </a:pPr>
          <a:r>
            <a:rPr lang="en-US" b="1"/>
            <a:t>Streamlined Data Exchange</a:t>
          </a:r>
          <a:r>
            <a:rPr lang="en-US"/>
            <a:t> – Seamless EDI connections with benefit administration partners for improved accuracy and efficiency</a:t>
          </a:r>
        </a:p>
      </dgm:t>
    </dgm:pt>
    <dgm:pt modelId="{7C9CB0E0-DF78-42AA-BB82-183E8ECBD6B2}" type="parTrans" cxnId="{8F00CD48-B6A4-4D3A-BE11-ED8744C89A0A}">
      <dgm:prSet/>
      <dgm:spPr/>
      <dgm:t>
        <a:bodyPr/>
        <a:lstStyle/>
        <a:p>
          <a:endParaRPr lang="en-US"/>
        </a:p>
      </dgm:t>
    </dgm:pt>
    <dgm:pt modelId="{44F06D3B-4EF9-45C1-BF6B-00AB62669008}" type="sibTrans" cxnId="{8F00CD48-B6A4-4D3A-BE11-ED8744C89A0A}">
      <dgm:prSet/>
      <dgm:spPr/>
      <dgm:t>
        <a:bodyPr/>
        <a:lstStyle/>
        <a:p>
          <a:endParaRPr lang="en-US"/>
        </a:p>
      </dgm:t>
    </dgm:pt>
    <dgm:pt modelId="{E99AA004-9B45-4CC0-88F8-8387ED61FF5E}">
      <dgm:prSet/>
      <dgm:spPr/>
      <dgm:t>
        <a:bodyPr/>
        <a:lstStyle/>
        <a:p>
          <a:pPr>
            <a:lnSpc>
              <a:spcPct val="100000"/>
            </a:lnSpc>
          </a:pPr>
          <a:r>
            <a:rPr lang="en-US" b="1"/>
            <a:t>Proven Experience</a:t>
          </a:r>
          <a:r>
            <a:rPr lang="en-US"/>
            <a:t> – 100+ successful partner engagements</a:t>
          </a:r>
        </a:p>
      </dgm:t>
    </dgm:pt>
    <dgm:pt modelId="{99F9A8AE-2727-4D79-B211-EA8BFE9C03F4}" type="parTrans" cxnId="{A378386C-9705-430E-8DA7-18C4A263C12A}">
      <dgm:prSet/>
      <dgm:spPr/>
      <dgm:t>
        <a:bodyPr/>
        <a:lstStyle/>
        <a:p>
          <a:endParaRPr lang="en-US"/>
        </a:p>
      </dgm:t>
    </dgm:pt>
    <dgm:pt modelId="{EF00A0DE-F24D-4BFA-9275-B91618642A65}" type="sibTrans" cxnId="{A378386C-9705-430E-8DA7-18C4A263C12A}">
      <dgm:prSet/>
      <dgm:spPr/>
      <dgm:t>
        <a:bodyPr/>
        <a:lstStyle/>
        <a:p>
          <a:endParaRPr lang="en-US"/>
        </a:p>
      </dgm:t>
    </dgm:pt>
    <dgm:pt modelId="{5ADA237C-3E1D-402B-BFCB-235B19A39155}">
      <dgm:prSet/>
      <dgm:spPr/>
      <dgm:t>
        <a:bodyPr/>
        <a:lstStyle/>
        <a:p>
          <a:pPr>
            <a:lnSpc>
              <a:spcPct val="100000"/>
            </a:lnSpc>
          </a:pPr>
          <a:r>
            <a:rPr lang="en-US" b="1"/>
            <a:t>Standardized Approach</a:t>
          </a:r>
          <a:r>
            <a:rPr lang="en-US"/>
            <a:t> – Simple file layout for consistent data accuracy</a:t>
          </a:r>
        </a:p>
      </dgm:t>
    </dgm:pt>
    <dgm:pt modelId="{E697C85A-BE51-48DD-B748-03A68F4EB999}" type="parTrans" cxnId="{86275677-2401-4697-AA85-A62ACD25BAC8}">
      <dgm:prSet/>
      <dgm:spPr/>
      <dgm:t>
        <a:bodyPr/>
        <a:lstStyle/>
        <a:p>
          <a:endParaRPr lang="en-US"/>
        </a:p>
      </dgm:t>
    </dgm:pt>
    <dgm:pt modelId="{802B3560-F439-40D6-A9AA-D72672CDAC3D}" type="sibTrans" cxnId="{86275677-2401-4697-AA85-A62ACD25BAC8}">
      <dgm:prSet/>
      <dgm:spPr/>
      <dgm:t>
        <a:bodyPr/>
        <a:lstStyle/>
        <a:p>
          <a:endParaRPr lang="en-US"/>
        </a:p>
      </dgm:t>
    </dgm:pt>
    <dgm:pt modelId="{1201A5DB-B1EA-45BC-86F6-0D565A5BCAE5}">
      <dgm:prSet/>
      <dgm:spPr/>
      <dgm:t>
        <a:bodyPr/>
        <a:lstStyle/>
        <a:p>
          <a:pPr>
            <a:lnSpc>
              <a:spcPct val="100000"/>
            </a:lnSpc>
          </a:pPr>
          <a:r>
            <a:rPr lang="en-US" b="1"/>
            <a:t>Dedicated Support</a:t>
          </a:r>
          <a:r>
            <a:rPr lang="en-US"/>
            <a:t> – Assigned EDI coordinator to manage implementation and ongoing needs</a:t>
          </a:r>
        </a:p>
      </dgm:t>
    </dgm:pt>
    <dgm:pt modelId="{3B34E338-0298-4AD5-955A-42427C87ECA5}" type="parTrans" cxnId="{3AE8252E-3FCF-4B7E-BD19-0D9BFBAD480E}">
      <dgm:prSet/>
      <dgm:spPr/>
      <dgm:t>
        <a:bodyPr/>
        <a:lstStyle/>
        <a:p>
          <a:endParaRPr lang="en-US"/>
        </a:p>
      </dgm:t>
    </dgm:pt>
    <dgm:pt modelId="{58DF2A5C-2C94-4E21-8A4B-1C9C2BC4F7DD}" type="sibTrans" cxnId="{3AE8252E-3FCF-4B7E-BD19-0D9BFBAD480E}">
      <dgm:prSet/>
      <dgm:spPr/>
      <dgm:t>
        <a:bodyPr/>
        <a:lstStyle/>
        <a:p>
          <a:endParaRPr lang="en-US"/>
        </a:p>
      </dgm:t>
    </dgm:pt>
    <dgm:pt modelId="{1F291BC0-62D1-4BF7-BEFD-3F9EC9D38027}">
      <dgm:prSet/>
      <dgm:spPr/>
      <dgm:t>
        <a:bodyPr/>
        <a:lstStyle/>
        <a:p>
          <a:pPr>
            <a:lnSpc>
              <a:spcPct val="100000"/>
            </a:lnSpc>
          </a:pPr>
          <a:r>
            <a:rPr lang="en-US" b="1"/>
            <a:t>Efficient Implementation</a:t>
          </a:r>
          <a:r>
            <a:rPr lang="en-US"/>
            <a:t> – Simple, proven project plan from introduction to production in just 3–6 weeks</a:t>
          </a:r>
        </a:p>
      </dgm:t>
    </dgm:pt>
    <dgm:pt modelId="{A598A7F3-9F37-4882-B2FD-B07FEF95F93E}" type="parTrans" cxnId="{8086F286-52D5-4D5D-8E05-8431209C1BBC}">
      <dgm:prSet/>
      <dgm:spPr/>
      <dgm:t>
        <a:bodyPr/>
        <a:lstStyle/>
        <a:p>
          <a:endParaRPr lang="en-US"/>
        </a:p>
      </dgm:t>
    </dgm:pt>
    <dgm:pt modelId="{653DBB87-01A6-48A3-A317-48D31A4F12E6}" type="sibTrans" cxnId="{8086F286-52D5-4D5D-8E05-8431209C1BBC}">
      <dgm:prSet/>
      <dgm:spPr/>
      <dgm:t>
        <a:bodyPr/>
        <a:lstStyle/>
        <a:p>
          <a:endParaRPr lang="en-US"/>
        </a:p>
      </dgm:t>
    </dgm:pt>
    <dgm:pt modelId="{19EA8B13-10B1-48D8-92B5-B84467C8FB46}" type="pres">
      <dgm:prSet presAssocID="{978905E0-46CC-4DA1-AF1C-AA9D71A391C4}" presName="root" presStyleCnt="0">
        <dgm:presLayoutVars>
          <dgm:dir/>
          <dgm:resizeHandles val="exact"/>
        </dgm:presLayoutVars>
      </dgm:prSet>
      <dgm:spPr/>
    </dgm:pt>
    <dgm:pt modelId="{2F3D1693-B7FC-42DA-BC32-4D5464BDCF5C}" type="pres">
      <dgm:prSet presAssocID="{00D1C21F-48BE-48A4-9E6B-DCCCEDFD51EC}" presName="compNode" presStyleCnt="0"/>
      <dgm:spPr/>
    </dgm:pt>
    <dgm:pt modelId="{0A93244D-BB28-4A66-B8A5-552E91CC2A37}" type="pres">
      <dgm:prSet presAssocID="{00D1C21F-48BE-48A4-9E6B-DCCCEDFD51E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612F6334-8169-4E26-9B97-12DB45008D33}" type="pres">
      <dgm:prSet presAssocID="{00D1C21F-48BE-48A4-9E6B-DCCCEDFD51EC}" presName="spaceRect" presStyleCnt="0"/>
      <dgm:spPr/>
    </dgm:pt>
    <dgm:pt modelId="{A2297AFC-9F73-40B9-AB0E-A7B4538CC235}" type="pres">
      <dgm:prSet presAssocID="{00D1C21F-48BE-48A4-9E6B-DCCCEDFD51EC}" presName="textRect" presStyleLbl="revTx" presStyleIdx="0" presStyleCnt="5">
        <dgm:presLayoutVars>
          <dgm:chMax val="1"/>
          <dgm:chPref val="1"/>
        </dgm:presLayoutVars>
      </dgm:prSet>
      <dgm:spPr/>
    </dgm:pt>
    <dgm:pt modelId="{71A2ECEA-031B-4476-943E-1B6CB129BA89}" type="pres">
      <dgm:prSet presAssocID="{44F06D3B-4EF9-45C1-BF6B-00AB62669008}" presName="sibTrans" presStyleCnt="0"/>
      <dgm:spPr/>
    </dgm:pt>
    <dgm:pt modelId="{6607C776-A9AD-4ED7-AC9F-106EEA41C38D}" type="pres">
      <dgm:prSet presAssocID="{E99AA004-9B45-4CC0-88F8-8387ED61FF5E}" presName="compNode" presStyleCnt="0"/>
      <dgm:spPr/>
    </dgm:pt>
    <dgm:pt modelId="{EBE1E378-8CDB-494F-A430-24F282B1C204}" type="pres">
      <dgm:prSet presAssocID="{E99AA004-9B45-4CC0-88F8-8387ED61FF5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andshake"/>
        </a:ext>
      </dgm:extLst>
    </dgm:pt>
    <dgm:pt modelId="{93B24DBF-1C09-46EB-A20E-90D1BD8B9EF5}" type="pres">
      <dgm:prSet presAssocID="{E99AA004-9B45-4CC0-88F8-8387ED61FF5E}" presName="spaceRect" presStyleCnt="0"/>
      <dgm:spPr/>
    </dgm:pt>
    <dgm:pt modelId="{4905DDF4-2B94-41F6-A2F5-15031C595C8F}" type="pres">
      <dgm:prSet presAssocID="{E99AA004-9B45-4CC0-88F8-8387ED61FF5E}" presName="textRect" presStyleLbl="revTx" presStyleIdx="1" presStyleCnt="5">
        <dgm:presLayoutVars>
          <dgm:chMax val="1"/>
          <dgm:chPref val="1"/>
        </dgm:presLayoutVars>
      </dgm:prSet>
      <dgm:spPr/>
    </dgm:pt>
    <dgm:pt modelId="{825C6477-6776-43D3-BD79-10C90EBF9C05}" type="pres">
      <dgm:prSet presAssocID="{EF00A0DE-F24D-4BFA-9275-B91618642A65}" presName="sibTrans" presStyleCnt="0"/>
      <dgm:spPr/>
    </dgm:pt>
    <dgm:pt modelId="{0E9F624E-4BE0-496A-84A4-CF8D53650C31}" type="pres">
      <dgm:prSet presAssocID="{5ADA237C-3E1D-402B-BFCB-235B19A39155}" presName="compNode" presStyleCnt="0"/>
      <dgm:spPr/>
    </dgm:pt>
    <dgm:pt modelId="{93E35509-67D1-4DC1-AC00-78E6660C2138}" type="pres">
      <dgm:prSet presAssocID="{5ADA237C-3E1D-402B-BFCB-235B19A3915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92ED1BA7-49DA-404F-ADE1-9DD2A5F21C6B}" type="pres">
      <dgm:prSet presAssocID="{5ADA237C-3E1D-402B-BFCB-235B19A39155}" presName="spaceRect" presStyleCnt="0"/>
      <dgm:spPr/>
    </dgm:pt>
    <dgm:pt modelId="{1001949B-8F5F-4EA7-AA79-F86718355CA0}" type="pres">
      <dgm:prSet presAssocID="{5ADA237C-3E1D-402B-BFCB-235B19A39155}" presName="textRect" presStyleLbl="revTx" presStyleIdx="2" presStyleCnt="5">
        <dgm:presLayoutVars>
          <dgm:chMax val="1"/>
          <dgm:chPref val="1"/>
        </dgm:presLayoutVars>
      </dgm:prSet>
      <dgm:spPr/>
    </dgm:pt>
    <dgm:pt modelId="{4A380A0F-8DA6-4B0C-93C7-E805649858E8}" type="pres">
      <dgm:prSet presAssocID="{802B3560-F439-40D6-A9AA-D72672CDAC3D}" presName="sibTrans" presStyleCnt="0"/>
      <dgm:spPr/>
    </dgm:pt>
    <dgm:pt modelId="{5793BFA7-48F8-4E61-A248-48BE426C441E}" type="pres">
      <dgm:prSet presAssocID="{1201A5DB-B1EA-45BC-86F6-0D565A5BCAE5}" presName="compNode" presStyleCnt="0"/>
      <dgm:spPr/>
    </dgm:pt>
    <dgm:pt modelId="{A0975B99-81B8-4B45-B454-D95FA16D5D25}" type="pres">
      <dgm:prSet presAssocID="{1201A5DB-B1EA-45BC-86F6-0D565A5BCAE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all center"/>
        </a:ext>
      </dgm:extLst>
    </dgm:pt>
    <dgm:pt modelId="{262CCE6C-CF50-4405-82D2-4B5C2B7B9D12}" type="pres">
      <dgm:prSet presAssocID="{1201A5DB-B1EA-45BC-86F6-0D565A5BCAE5}" presName="spaceRect" presStyleCnt="0"/>
      <dgm:spPr/>
    </dgm:pt>
    <dgm:pt modelId="{21FADBFA-C9EE-4F18-BE44-3F675798D7EA}" type="pres">
      <dgm:prSet presAssocID="{1201A5DB-B1EA-45BC-86F6-0D565A5BCAE5}" presName="textRect" presStyleLbl="revTx" presStyleIdx="3" presStyleCnt="5">
        <dgm:presLayoutVars>
          <dgm:chMax val="1"/>
          <dgm:chPref val="1"/>
        </dgm:presLayoutVars>
      </dgm:prSet>
      <dgm:spPr/>
    </dgm:pt>
    <dgm:pt modelId="{63A56313-5726-44DA-8CC2-850BDA23DB8C}" type="pres">
      <dgm:prSet presAssocID="{58DF2A5C-2C94-4E21-8A4B-1C9C2BC4F7DD}" presName="sibTrans" presStyleCnt="0"/>
      <dgm:spPr/>
    </dgm:pt>
    <dgm:pt modelId="{3D47C765-760C-488D-BBE0-EB0A393D5F50}" type="pres">
      <dgm:prSet presAssocID="{1F291BC0-62D1-4BF7-BEFD-3F9EC9D38027}" presName="compNode" presStyleCnt="0"/>
      <dgm:spPr/>
    </dgm:pt>
    <dgm:pt modelId="{5DE41095-3CFB-4EFB-9047-9B64AD264196}" type="pres">
      <dgm:prSet presAssocID="{1F291BC0-62D1-4BF7-BEFD-3F9EC9D3802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7B22C80D-F4E8-4BE6-A34E-3DAC9206DD78}" type="pres">
      <dgm:prSet presAssocID="{1F291BC0-62D1-4BF7-BEFD-3F9EC9D38027}" presName="spaceRect" presStyleCnt="0"/>
      <dgm:spPr/>
    </dgm:pt>
    <dgm:pt modelId="{615613D6-1F5E-470E-B188-00C0C09E1B76}" type="pres">
      <dgm:prSet presAssocID="{1F291BC0-62D1-4BF7-BEFD-3F9EC9D38027}" presName="textRect" presStyleLbl="revTx" presStyleIdx="4" presStyleCnt="5">
        <dgm:presLayoutVars>
          <dgm:chMax val="1"/>
          <dgm:chPref val="1"/>
        </dgm:presLayoutVars>
      </dgm:prSet>
      <dgm:spPr/>
    </dgm:pt>
  </dgm:ptLst>
  <dgm:cxnLst>
    <dgm:cxn modelId="{19AC3E01-BA99-4DD4-A36B-4BCC99CA1425}" type="presOf" srcId="{00D1C21F-48BE-48A4-9E6B-DCCCEDFD51EC}" destId="{A2297AFC-9F73-40B9-AB0E-A7B4538CC235}" srcOrd="0" destOrd="0" presId="urn:microsoft.com/office/officeart/2018/2/layout/IconLabelList"/>
    <dgm:cxn modelId="{221E2B0B-CCD8-484A-AFD0-1BD377C9CE68}" type="presOf" srcId="{E99AA004-9B45-4CC0-88F8-8387ED61FF5E}" destId="{4905DDF4-2B94-41F6-A2F5-15031C595C8F}" srcOrd="0" destOrd="0" presId="urn:microsoft.com/office/officeart/2018/2/layout/IconLabelList"/>
    <dgm:cxn modelId="{19119D2C-E10E-4889-910D-68F18FCB1C55}" type="presOf" srcId="{5ADA237C-3E1D-402B-BFCB-235B19A39155}" destId="{1001949B-8F5F-4EA7-AA79-F86718355CA0}" srcOrd="0" destOrd="0" presId="urn:microsoft.com/office/officeart/2018/2/layout/IconLabelList"/>
    <dgm:cxn modelId="{3AE8252E-3FCF-4B7E-BD19-0D9BFBAD480E}" srcId="{978905E0-46CC-4DA1-AF1C-AA9D71A391C4}" destId="{1201A5DB-B1EA-45BC-86F6-0D565A5BCAE5}" srcOrd="3" destOrd="0" parTransId="{3B34E338-0298-4AD5-955A-42427C87ECA5}" sibTransId="{58DF2A5C-2C94-4E21-8A4B-1C9C2BC4F7DD}"/>
    <dgm:cxn modelId="{8F00CD48-B6A4-4D3A-BE11-ED8744C89A0A}" srcId="{978905E0-46CC-4DA1-AF1C-AA9D71A391C4}" destId="{00D1C21F-48BE-48A4-9E6B-DCCCEDFD51EC}" srcOrd="0" destOrd="0" parTransId="{7C9CB0E0-DF78-42AA-BB82-183E8ECBD6B2}" sibTransId="{44F06D3B-4EF9-45C1-BF6B-00AB62669008}"/>
    <dgm:cxn modelId="{A378386C-9705-430E-8DA7-18C4A263C12A}" srcId="{978905E0-46CC-4DA1-AF1C-AA9D71A391C4}" destId="{E99AA004-9B45-4CC0-88F8-8387ED61FF5E}" srcOrd="1" destOrd="0" parTransId="{99F9A8AE-2727-4D79-B211-EA8BFE9C03F4}" sibTransId="{EF00A0DE-F24D-4BFA-9275-B91618642A65}"/>
    <dgm:cxn modelId="{86275677-2401-4697-AA85-A62ACD25BAC8}" srcId="{978905E0-46CC-4DA1-AF1C-AA9D71A391C4}" destId="{5ADA237C-3E1D-402B-BFCB-235B19A39155}" srcOrd="2" destOrd="0" parTransId="{E697C85A-BE51-48DD-B748-03A68F4EB999}" sibTransId="{802B3560-F439-40D6-A9AA-D72672CDAC3D}"/>
    <dgm:cxn modelId="{8086F286-52D5-4D5D-8E05-8431209C1BBC}" srcId="{978905E0-46CC-4DA1-AF1C-AA9D71A391C4}" destId="{1F291BC0-62D1-4BF7-BEFD-3F9EC9D38027}" srcOrd="4" destOrd="0" parTransId="{A598A7F3-9F37-4882-B2FD-B07FEF95F93E}" sibTransId="{653DBB87-01A6-48A3-A317-48D31A4F12E6}"/>
    <dgm:cxn modelId="{9E259998-ED76-412D-B56B-998BC0C1F9CF}" type="presOf" srcId="{1201A5DB-B1EA-45BC-86F6-0D565A5BCAE5}" destId="{21FADBFA-C9EE-4F18-BE44-3F675798D7EA}" srcOrd="0" destOrd="0" presId="urn:microsoft.com/office/officeart/2018/2/layout/IconLabelList"/>
    <dgm:cxn modelId="{3728499E-DB6A-462C-85C3-50BBA88D968B}" type="presOf" srcId="{1F291BC0-62D1-4BF7-BEFD-3F9EC9D38027}" destId="{615613D6-1F5E-470E-B188-00C0C09E1B76}" srcOrd="0" destOrd="0" presId="urn:microsoft.com/office/officeart/2018/2/layout/IconLabelList"/>
    <dgm:cxn modelId="{1CF0FCD7-6181-4728-8678-981BB39E9700}" type="presOf" srcId="{978905E0-46CC-4DA1-AF1C-AA9D71A391C4}" destId="{19EA8B13-10B1-48D8-92B5-B84467C8FB46}" srcOrd="0" destOrd="0" presId="urn:microsoft.com/office/officeart/2018/2/layout/IconLabelList"/>
    <dgm:cxn modelId="{6251B60E-886A-4431-82B2-2A7C061B6271}" type="presParOf" srcId="{19EA8B13-10B1-48D8-92B5-B84467C8FB46}" destId="{2F3D1693-B7FC-42DA-BC32-4D5464BDCF5C}" srcOrd="0" destOrd="0" presId="urn:microsoft.com/office/officeart/2018/2/layout/IconLabelList"/>
    <dgm:cxn modelId="{48CEC707-BE98-45AF-8532-092D923F96B6}" type="presParOf" srcId="{2F3D1693-B7FC-42DA-BC32-4D5464BDCF5C}" destId="{0A93244D-BB28-4A66-B8A5-552E91CC2A37}" srcOrd="0" destOrd="0" presId="urn:microsoft.com/office/officeart/2018/2/layout/IconLabelList"/>
    <dgm:cxn modelId="{5DF79349-6DA1-404E-B408-6155603554AF}" type="presParOf" srcId="{2F3D1693-B7FC-42DA-BC32-4D5464BDCF5C}" destId="{612F6334-8169-4E26-9B97-12DB45008D33}" srcOrd="1" destOrd="0" presId="urn:microsoft.com/office/officeart/2018/2/layout/IconLabelList"/>
    <dgm:cxn modelId="{91CDA1EC-F704-473E-8C68-C59FE1AD18D8}" type="presParOf" srcId="{2F3D1693-B7FC-42DA-BC32-4D5464BDCF5C}" destId="{A2297AFC-9F73-40B9-AB0E-A7B4538CC235}" srcOrd="2" destOrd="0" presId="urn:microsoft.com/office/officeart/2018/2/layout/IconLabelList"/>
    <dgm:cxn modelId="{336E4BC2-4901-4676-8909-5F51A90E6C71}" type="presParOf" srcId="{19EA8B13-10B1-48D8-92B5-B84467C8FB46}" destId="{71A2ECEA-031B-4476-943E-1B6CB129BA89}" srcOrd="1" destOrd="0" presId="urn:microsoft.com/office/officeart/2018/2/layout/IconLabelList"/>
    <dgm:cxn modelId="{06DBEF34-1650-46E0-A3AE-06B4F4844151}" type="presParOf" srcId="{19EA8B13-10B1-48D8-92B5-B84467C8FB46}" destId="{6607C776-A9AD-4ED7-AC9F-106EEA41C38D}" srcOrd="2" destOrd="0" presId="urn:microsoft.com/office/officeart/2018/2/layout/IconLabelList"/>
    <dgm:cxn modelId="{EBC3CBDA-717C-41F5-8786-2CDF5449401E}" type="presParOf" srcId="{6607C776-A9AD-4ED7-AC9F-106EEA41C38D}" destId="{EBE1E378-8CDB-494F-A430-24F282B1C204}" srcOrd="0" destOrd="0" presId="urn:microsoft.com/office/officeart/2018/2/layout/IconLabelList"/>
    <dgm:cxn modelId="{431392DE-9016-4106-BE59-B936EB48B16E}" type="presParOf" srcId="{6607C776-A9AD-4ED7-AC9F-106EEA41C38D}" destId="{93B24DBF-1C09-46EB-A20E-90D1BD8B9EF5}" srcOrd="1" destOrd="0" presId="urn:microsoft.com/office/officeart/2018/2/layout/IconLabelList"/>
    <dgm:cxn modelId="{75D3007C-EB28-4E12-B623-6AAB149AB20C}" type="presParOf" srcId="{6607C776-A9AD-4ED7-AC9F-106EEA41C38D}" destId="{4905DDF4-2B94-41F6-A2F5-15031C595C8F}" srcOrd="2" destOrd="0" presId="urn:microsoft.com/office/officeart/2018/2/layout/IconLabelList"/>
    <dgm:cxn modelId="{263899D4-D45C-4D7C-900A-5EF0A7610F3F}" type="presParOf" srcId="{19EA8B13-10B1-48D8-92B5-B84467C8FB46}" destId="{825C6477-6776-43D3-BD79-10C90EBF9C05}" srcOrd="3" destOrd="0" presId="urn:microsoft.com/office/officeart/2018/2/layout/IconLabelList"/>
    <dgm:cxn modelId="{DAEA21F4-B33C-4A01-B1F3-0C75CEA5C87D}" type="presParOf" srcId="{19EA8B13-10B1-48D8-92B5-B84467C8FB46}" destId="{0E9F624E-4BE0-496A-84A4-CF8D53650C31}" srcOrd="4" destOrd="0" presId="urn:microsoft.com/office/officeart/2018/2/layout/IconLabelList"/>
    <dgm:cxn modelId="{FFC646B0-F047-4148-B37E-199BD6709EE1}" type="presParOf" srcId="{0E9F624E-4BE0-496A-84A4-CF8D53650C31}" destId="{93E35509-67D1-4DC1-AC00-78E6660C2138}" srcOrd="0" destOrd="0" presId="urn:microsoft.com/office/officeart/2018/2/layout/IconLabelList"/>
    <dgm:cxn modelId="{2A20EA50-8B77-401D-9AA4-C8FCA74407A7}" type="presParOf" srcId="{0E9F624E-4BE0-496A-84A4-CF8D53650C31}" destId="{92ED1BA7-49DA-404F-ADE1-9DD2A5F21C6B}" srcOrd="1" destOrd="0" presId="urn:microsoft.com/office/officeart/2018/2/layout/IconLabelList"/>
    <dgm:cxn modelId="{E52D1565-148B-40A4-9235-FDE2709D3AE9}" type="presParOf" srcId="{0E9F624E-4BE0-496A-84A4-CF8D53650C31}" destId="{1001949B-8F5F-4EA7-AA79-F86718355CA0}" srcOrd="2" destOrd="0" presId="urn:microsoft.com/office/officeart/2018/2/layout/IconLabelList"/>
    <dgm:cxn modelId="{60EF4AD7-E4B1-4672-A897-0DDB65E0C887}" type="presParOf" srcId="{19EA8B13-10B1-48D8-92B5-B84467C8FB46}" destId="{4A380A0F-8DA6-4B0C-93C7-E805649858E8}" srcOrd="5" destOrd="0" presId="urn:microsoft.com/office/officeart/2018/2/layout/IconLabelList"/>
    <dgm:cxn modelId="{09BE1FB2-A470-4142-9F68-E0E55BBA82E0}" type="presParOf" srcId="{19EA8B13-10B1-48D8-92B5-B84467C8FB46}" destId="{5793BFA7-48F8-4E61-A248-48BE426C441E}" srcOrd="6" destOrd="0" presId="urn:microsoft.com/office/officeart/2018/2/layout/IconLabelList"/>
    <dgm:cxn modelId="{7EC57535-F698-49E2-BF2A-5B5728080CE7}" type="presParOf" srcId="{5793BFA7-48F8-4E61-A248-48BE426C441E}" destId="{A0975B99-81B8-4B45-B454-D95FA16D5D25}" srcOrd="0" destOrd="0" presId="urn:microsoft.com/office/officeart/2018/2/layout/IconLabelList"/>
    <dgm:cxn modelId="{9F63633A-6282-44BE-A82E-1A445845DABB}" type="presParOf" srcId="{5793BFA7-48F8-4E61-A248-48BE426C441E}" destId="{262CCE6C-CF50-4405-82D2-4B5C2B7B9D12}" srcOrd="1" destOrd="0" presId="urn:microsoft.com/office/officeart/2018/2/layout/IconLabelList"/>
    <dgm:cxn modelId="{FCD99050-9254-4EE5-8516-635C360D81AC}" type="presParOf" srcId="{5793BFA7-48F8-4E61-A248-48BE426C441E}" destId="{21FADBFA-C9EE-4F18-BE44-3F675798D7EA}" srcOrd="2" destOrd="0" presId="urn:microsoft.com/office/officeart/2018/2/layout/IconLabelList"/>
    <dgm:cxn modelId="{A7B1BFD1-7BA3-4BCC-BE98-0620061970F6}" type="presParOf" srcId="{19EA8B13-10B1-48D8-92B5-B84467C8FB46}" destId="{63A56313-5726-44DA-8CC2-850BDA23DB8C}" srcOrd="7" destOrd="0" presId="urn:microsoft.com/office/officeart/2018/2/layout/IconLabelList"/>
    <dgm:cxn modelId="{5DF253E2-07C4-40A0-8799-C664DCB092EB}" type="presParOf" srcId="{19EA8B13-10B1-48D8-92B5-B84467C8FB46}" destId="{3D47C765-760C-488D-BBE0-EB0A393D5F50}" srcOrd="8" destOrd="0" presId="urn:microsoft.com/office/officeart/2018/2/layout/IconLabelList"/>
    <dgm:cxn modelId="{A09343BE-51A8-4E4D-82C3-0DE84129CDF2}" type="presParOf" srcId="{3D47C765-760C-488D-BBE0-EB0A393D5F50}" destId="{5DE41095-3CFB-4EFB-9047-9B64AD264196}" srcOrd="0" destOrd="0" presId="urn:microsoft.com/office/officeart/2018/2/layout/IconLabelList"/>
    <dgm:cxn modelId="{74FB0465-AD37-49C9-AF2C-8D27A9165809}" type="presParOf" srcId="{3D47C765-760C-488D-BBE0-EB0A393D5F50}" destId="{7B22C80D-F4E8-4BE6-A34E-3DAC9206DD78}" srcOrd="1" destOrd="0" presId="urn:microsoft.com/office/officeart/2018/2/layout/IconLabelList"/>
    <dgm:cxn modelId="{3DAF7175-99D3-4D1A-93B7-2978878C4C4F}" type="presParOf" srcId="{3D47C765-760C-488D-BBE0-EB0A393D5F50}" destId="{615613D6-1F5E-470E-B188-00C0C09E1B7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E9DE493-19D7-4EC9-97C9-5F26233F1106}" type="doc">
      <dgm:prSet loTypeId="urn:microsoft.com/office/officeart/2005/8/layout/hProcess4" loCatId="process" qsTypeId="urn:microsoft.com/office/officeart/2005/8/quickstyle/simple1" qsCatId="simple" csTypeId="urn:microsoft.com/office/officeart/2005/8/colors/accent0_3" csCatId="mainScheme" phldr="1"/>
      <dgm:spPr/>
      <dgm:t>
        <a:bodyPr/>
        <a:lstStyle/>
        <a:p>
          <a:endParaRPr lang="en-US"/>
        </a:p>
      </dgm:t>
    </dgm:pt>
    <dgm:pt modelId="{635E6DB1-7188-4C29-9686-5B65566B19C5}">
      <dgm:prSet/>
      <dgm:spPr/>
      <dgm:t>
        <a:bodyPr/>
        <a:lstStyle/>
        <a:p>
          <a:r>
            <a:rPr lang="en-US" b="1">
              <a:latin typeface="Aptos Display" panose="020B0004020202020204" pitchFamily="34" charset="0"/>
            </a:rPr>
            <a:t>“Ashlee was beyond wonderful at helping me resolve a months‑long issue.”</a:t>
          </a:r>
        </a:p>
      </dgm:t>
    </dgm:pt>
    <dgm:pt modelId="{6F19E60D-3D19-48B7-B3A4-FF87859819C5}" type="parTrans" cxnId="{CD3D33A3-63A9-43A6-B68C-58C91EBB2A74}">
      <dgm:prSet/>
      <dgm:spPr/>
      <dgm:t>
        <a:bodyPr/>
        <a:lstStyle/>
        <a:p>
          <a:endParaRPr lang="en-US"/>
        </a:p>
      </dgm:t>
    </dgm:pt>
    <dgm:pt modelId="{198E8B40-168C-4624-9F12-DA5462DD57DE}" type="sibTrans" cxnId="{CD3D33A3-63A9-43A6-B68C-58C91EBB2A74}">
      <dgm:prSet/>
      <dgm:spPr/>
      <dgm:t>
        <a:bodyPr/>
        <a:lstStyle/>
        <a:p>
          <a:endParaRPr lang="en-US"/>
        </a:p>
      </dgm:t>
    </dgm:pt>
    <dgm:pt modelId="{C13D923D-839C-4FE1-94E6-11E76A3DDEE5}">
      <dgm:prSet/>
      <dgm:spPr/>
      <dgm:t>
        <a:bodyPr/>
        <a:lstStyle/>
        <a:p>
          <a:r>
            <a:rPr lang="en-US" b="1">
              <a:latin typeface="Aptos Display" panose="020B0004020202020204" pitchFamily="34" charset="0"/>
            </a:rPr>
            <a:t>“She explained my claims in a way I could understand. Please give her kudos for a job well done.”</a:t>
          </a:r>
        </a:p>
      </dgm:t>
    </dgm:pt>
    <dgm:pt modelId="{A64220DA-32D2-41CB-B3BA-9FFD1B2C378B}" type="parTrans" cxnId="{118AC030-7609-40CF-B6A6-784B37379E07}">
      <dgm:prSet/>
      <dgm:spPr/>
      <dgm:t>
        <a:bodyPr/>
        <a:lstStyle/>
        <a:p>
          <a:endParaRPr lang="en-US"/>
        </a:p>
      </dgm:t>
    </dgm:pt>
    <dgm:pt modelId="{20082A92-63A0-460C-9BF5-80C14A945939}" type="sibTrans" cxnId="{118AC030-7609-40CF-B6A6-784B37379E07}">
      <dgm:prSet/>
      <dgm:spPr/>
      <dgm:t>
        <a:bodyPr/>
        <a:lstStyle/>
        <a:p>
          <a:endParaRPr lang="en-US"/>
        </a:p>
      </dgm:t>
    </dgm:pt>
    <dgm:pt modelId="{76DF5CF9-CB78-45F1-9AD2-F40F4B2063DD}">
      <dgm:prSet custT="1"/>
      <dgm:spPr/>
      <dgm:t>
        <a:bodyPr/>
        <a:lstStyle/>
        <a:p>
          <a:r>
            <a:rPr lang="en-US" sz="1200">
              <a:latin typeface="Aptos" panose="020B0004020202020204" pitchFamily="34" charset="0"/>
            </a:rPr>
            <a:t>“Amy took the time to walk me through how to find in-network providers and explained the benefits clearly and patiently.”</a:t>
          </a:r>
        </a:p>
      </dgm:t>
    </dgm:pt>
    <dgm:pt modelId="{D75ED9DE-8B15-4728-9B77-DB510A2F59E3}" type="parTrans" cxnId="{3A29EA02-311D-4064-B24A-82B631C999D4}">
      <dgm:prSet/>
      <dgm:spPr/>
      <dgm:t>
        <a:bodyPr/>
        <a:lstStyle/>
        <a:p>
          <a:endParaRPr lang="en-US"/>
        </a:p>
      </dgm:t>
    </dgm:pt>
    <dgm:pt modelId="{A136032A-13C7-4A74-98AF-DB988C9DEE08}" type="sibTrans" cxnId="{3A29EA02-311D-4064-B24A-82B631C999D4}">
      <dgm:prSet/>
      <dgm:spPr/>
      <dgm:t>
        <a:bodyPr/>
        <a:lstStyle/>
        <a:p>
          <a:endParaRPr lang="en-US"/>
        </a:p>
      </dgm:t>
    </dgm:pt>
    <dgm:pt modelId="{813E2325-8943-489F-846A-1FE88E44BA8B}">
      <dgm:prSet custT="1"/>
      <dgm:spPr/>
      <dgm:t>
        <a:bodyPr/>
        <a:lstStyle/>
        <a:p>
          <a:r>
            <a:rPr lang="en-US" sz="1200">
              <a:latin typeface="Aptos Display" panose="020B0004020202020204" pitchFamily="34" charset="0"/>
            </a:rPr>
            <a:t>“I called frustrated after a long day, and the representative was cordial, professional, and knowledgeable. She changed my mood with her calm voice – please acknowledge her!”</a:t>
          </a:r>
        </a:p>
      </dgm:t>
    </dgm:pt>
    <dgm:pt modelId="{FDBBBD84-69FB-4B5F-8BB8-82F32833D21B}" type="parTrans" cxnId="{51E266EA-594E-4960-91DE-00071B6E2695}">
      <dgm:prSet/>
      <dgm:spPr/>
      <dgm:t>
        <a:bodyPr/>
        <a:lstStyle/>
        <a:p>
          <a:endParaRPr lang="en-US"/>
        </a:p>
      </dgm:t>
    </dgm:pt>
    <dgm:pt modelId="{761BE8BD-2528-4A0C-A84F-2789452CB1E6}" type="sibTrans" cxnId="{51E266EA-594E-4960-91DE-00071B6E2695}">
      <dgm:prSet/>
      <dgm:spPr/>
      <dgm:t>
        <a:bodyPr/>
        <a:lstStyle/>
        <a:p>
          <a:endParaRPr lang="en-US"/>
        </a:p>
      </dgm:t>
    </dgm:pt>
    <dgm:pt modelId="{63F2473B-0AC0-4F4C-AD26-1340E072A274}">
      <dgm:prSet custT="1"/>
      <dgm:spPr/>
      <dgm:t>
        <a:bodyPr/>
        <a:lstStyle/>
        <a:p>
          <a:endParaRPr lang="en-US" sz="1000">
            <a:latin typeface="Aptos Display" panose="020B0004020202020204" pitchFamily="34" charset="0"/>
          </a:endParaRPr>
        </a:p>
      </dgm:t>
    </dgm:pt>
    <dgm:pt modelId="{316CD11D-FC3D-4C8E-8931-63D8E316F413}" type="parTrans" cxnId="{4496E14E-E4F8-4A94-AEB3-08AC40AA3C38}">
      <dgm:prSet/>
      <dgm:spPr/>
      <dgm:t>
        <a:bodyPr/>
        <a:lstStyle/>
        <a:p>
          <a:endParaRPr lang="en-US"/>
        </a:p>
      </dgm:t>
    </dgm:pt>
    <dgm:pt modelId="{D2DF0A99-F183-4905-86C6-DC705C5BB627}" type="sibTrans" cxnId="{4496E14E-E4F8-4A94-AEB3-08AC40AA3C38}">
      <dgm:prSet/>
      <dgm:spPr/>
      <dgm:t>
        <a:bodyPr/>
        <a:lstStyle/>
        <a:p>
          <a:endParaRPr lang="en-US"/>
        </a:p>
      </dgm:t>
    </dgm:pt>
    <dgm:pt modelId="{FB986F71-3126-4196-BD30-74AEDC39A1CA}">
      <dgm:prSet phldrT="[Text]" custT="1"/>
      <dgm:spPr/>
      <dgm:t>
        <a:bodyPr/>
        <a:lstStyle/>
        <a:p>
          <a:r>
            <a:rPr lang="en-US" sz="1200" b="1" dirty="0">
              <a:latin typeface="Aptos" panose="020B0004020202020204" pitchFamily="34" charset="0"/>
            </a:rPr>
            <a:t>Our Agents advocate for our members…</a:t>
          </a:r>
        </a:p>
      </dgm:t>
    </dgm:pt>
    <dgm:pt modelId="{D0B150DF-3AA4-454C-8652-25880449C422}" type="sibTrans" cxnId="{1423FC72-83C7-4510-8021-28EAEA493E68}">
      <dgm:prSet/>
      <dgm:spPr/>
      <dgm:t>
        <a:bodyPr/>
        <a:lstStyle/>
        <a:p>
          <a:endParaRPr lang="en-US"/>
        </a:p>
      </dgm:t>
    </dgm:pt>
    <dgm:pt modelId="{9B3CE34A-9B3E-4D5F-94E0-DFBB94FF5A03}" type="parTrans" cxnId="{1423FC72-83C7-4510-8021-28EAEA493E68}">
      <dgm:prSet/>
      <dgm:spPr/>
      <dgm:t>
        <a:bodyPr/>
        <a:lstStyle/>
        <a:p>
          <a:endParaRPr lang="en-US"/>
        </a:p>
      </dgm:t>
    </dgm:pt>
    <dgm:pt modelId="{07919EDB-97D1-41CC-AA36-322B9CF4E501}">
      <dgm:prSet phldrT="[Text]"/>
      <dgm:spPr/>
      <dgm:t>
        <a:bodyPr/>
        <a:lstStyle/>
        <a:p>
          <a:endParaRPr lang="en-US" sz="700"/>
        </a:p>
      </dgm:t>
    </dgm:pt>
    <dgm:pt modelId="{DC4160A5-8569-4AD3-B605-B1159CB6BEEC}" type="sibTrans" cxnId="{4364E39B-7CC7-482E-822D-394E76814CFC}">
      <dgm:prSet/>
      <dgm:spPr/>
      <dgm:t>
        <a:bodyPr/>
        <a:lstStyle/>
        <a:p>
          <a:endParaRPr lang="en-US"/>
        </a:p>
      </dgm:t>
    </dgm:pt>
    <dgm:pt modelId="{C6530E4B-2F6A-4627-A40A-A03EFCC6CD9F}" type="parTrans" cxnId="{4364E39B-7CC7-482E-822D-394E76814CFC}">
      <dgm:prSet/>
      <dgm:spPr/>
      <dgm:t>
        <a:bodyPr/>
        <a:lstStyle/>
        <a:p>
          <a:endParaRPr lang="en-US"/>
        </a:p>
      </dgm:t>
    </dgm:pt>
    <dgm:pt modelId="{F54F74DF-DB3E-4F82-9A2D-A08A478DEFD2}">
      <dgm:prSet phldrT="[Text]"/>
      <dgm:spPr/>
      <dgm:t>
        <a:bodyPr/>
        <a:lstStyle/>
        <a:p>
          <a:endParaRPr lang="en-US" sz="700"/>
        </a:p>
      </dgm:t>
    </dgm:pt>
    <dgm:pt modelId="{480D7E52-B1C8-48DC-9398-6FF879F718F2}" type="sibTrans" cxnId="{58232977-9E12-4BE5-8A31-C7F133990B36}">
      <dgm:prSet/>
      <dgm:spPr/>
      <dgm:t>
        <a:bodyPr/>
        <a:lstStyle/>
        <a:p>
          <a:endParaRPr lang="en-US"/>
        </a:p>
      </dgm:t>
    </dgm:pt>
    <dgm:pt modelId="{40EB171A-8E0E-4D3C-9ADE-280C20753934}" type="parTrans" cxnId="{58232977-9E12-4BE5-8A31-C7F133990B36}">
      <dgm:prSet/>
      <dgm:spPr/>
      <dgm:t>
        <a:bodyPr/>
        <a:lstStyle/>
        <a:p>
          <a:endParaRPr lang="en-US"/>
        </a:p>
      </dgm:t>
    </dgm:pt>
    <dgm:pt modelId="{CB6C5FB0-7519-4D4E-8984-85BFBE9B9BC8}">
      <dgm:prSet phldrT="[Text]" custT="1"/>
      <dgm:spPr/>
      <dgm:t>
        <a:bodyPr/>
        <a:lstStyle/>
        <a:p>
          <a:endParaRPr lang="en-US" sz="1400"/>
        </a:p>
      </dgm:t>
    </dgm:pt>
    <dgm:pt modelId="{30834B43-DE7C-42AE-903D-F8E3B0E6B7A5}" type="sibTrans" cxnId="{2ED6BAFC-65AB-4D7C-BE44-B8D84B0249CB}">
      <dgm:prSet/>
      <dgm:spPr/>
      <dgm:t>
        <a:bodyPr/>
        <a:lstStyle/>
        <a:p>
          <a:endParaRPr lang="en-US"/>
        </a:p>
      </dgm:t>
    </dgm:pt>
    <dgm:pt modelId="{314DDB8B-0366-4491-ABA6-94EE13F395A6}" type="parTrans" cxnId="{2ED6BAFC-65AB-4D7C-BE44-B8D84B0249CB}">
      <dgm:prSet/>
      <dgm:spPr/>
      <dgm:t>
        <a:bodyPr/>
        <a:lstStyle/>
        <a:p>
          <a:endParaRPr lang="en-US"/>
        </a:p>
      </dgm:t>
    </dgm:pt>
    <dgm:pt modelId="{D09E02C2-F656-4897-AFD1-11432FCDDA88}">
      <dgm:prSet phldrT="[Text]" custT="1"/>
      <dgm:spPr/>
      <dgm:t>
        <a:bodyPr/>
        <a:lstStyle/>
        <a:p>
          <a:r>
            <a:rPr lang="en-US" sz="1400">
              <a:latin typeface="Aptos Display" panose="020B0004020202020204" pitchFamily="34" charset="0"/>
            </a:rPr>
            <a:t>“Michelle was a gift to me the day I called in. She took control and got everything going – amazing!”</a:t>
          </a:r>
        </a:p>
      </dgm:t>
    </dgm:pt>
    <dgm:pt modelId="{9051FE55-559D-4373-B3C4-F13FC88CBC3F}" type="sibTrans" cxnId="{56618E36-6DC7-4F33-87DC-173706153E59}">
      <dgm:prSet/>
      <dgm:spPr/>
      <dgm:t>
        <a:bodyPr/>
        <a:lstStyle/>
        <a:p>
          <a:endParaRPr lang="en-US"/>
        </a:p>
      </dgm:t>
    </dgm:pt>
    <dgm:pt modelId="{F4D877A0-3B85-4096-8D0E-F693FB0EEC1B}" type="parTrans" cxnId="{56618E36-6DC7-4F33-87DC-173706153E59}">
      <dgm:prSet/>
      <dgm:spPr/>
      <dgm:t>
        <a:bodyPr/>
        <a:lstStyle/>
        <a:p>
          <a:endParaRPr lang="en-US"/>
        </a:p>
      </dgm:t>
    </dgm:pt>
    <dgm:pt modelId="{0B00F5A8-A0EF-4111-9D86-004317B4F49E}">
      <dgm:prSet phldrT="[Text]"/>
      <dgm:spPr/>
      <dgm:t>
        <a:bodyPr/>
        <a:lstStyle/>
        <a:p>
          <a:r>
            <a:rPr lang="en-US" b="1">
              <a:latin typeface="Aptos Display" panose="020B0004020202020204" pitchFamily="34" charset="0"/>
            </a:rPr>
            <a:t>Our Agents understand the Journey …</a:t>
          </a:r>
        </a:p>
      </dgm:t>
    </dgm:pt>
    <dgm:pt modelId="{CE48C676-980A-4BAC-A3C8-9ABC315DAE51}" type="sibTrans" cxnId="{86F910E7-C9D0-48E5-A3A3-C70127E96FC1}">
      <dgm:prSet/>
      <dgm:spPr/>
      <dgm:t>
        <a:bodyPr/>
        <a:lstStyle/>
        <a:p>
          <a:endParaRPr lang="en-US"/>
        </a:p>
      </dgm:t>
    </dgm:pt>
    <dgm:pt modelId="{EC916B99-8D26-4265-B7BE-BB461C68DA5C}" type="parTrans" cxnId="{86F910E7-C9D0-48E5-A3A3-C70127E96FC1}">
      <dgm:prSet/>
      <dgm:spPr/>
      <dgm:t>
        <a:bodyPr/>
        <a:lstStyle/>
        <a:p>
          <a:endParaRPr lang="en-US"/>
        </a:p>
      </dgm:t>
    </dgm:pt>
    <dgm:pt modelId="{D40877DF-41AF-42C7-972A-8DCC7FBED45E}">
      <dgm:prSet custT="1"/>
      <dgm:spPr/>
      <dgm:t>
        <a:bodyPr/>
        <a:lstStyle/>
        <a:p>
          <a:r>
            <a:rPr lang="en-US" sz="1200">
              <a:latin typeface="Aptos Display" panose="020B0004020202020204" pitchFamily="34" charset="0"/>
            </a:rPr>
            <a:t>“Teresa was kind, helpful, and went above and beyond with superb customer service.”</a:t>
          </a:r>
        </a:p>
      </dgm:t>
    </dgm:pt>
    <dgm:pt modelId="{D862023A-7995-4DE6-B9BD-638D7F169EB4}" type="sibTrans" cxnId="{632BF9CD-07BD-4CB7-9126-7714C2F1507C}">
      <dgm:prSet/>
      <dgm:spPr/>
      <dgm:t>
        <a:bodyPr/>
        <a:lstStyle/>
        <a:p>
          <a:endParaRPr lang="en-US"/>
        </a:p>
      </dgm:t>
    </dgm:pt>
    <dgm:pt modelId="{6E9ECF3E-6A03-4A4C-A85F-B0491873704B}" type="parTrans" cxnId="{632BF9CD-07BD-4CB7-9126-7714C2F1507C}">
      <dgm:prSet/>
      <dgm:spPr/>
      <dgm:t>
        <a:bodyPr/>
        <a:lstStyle/>
        <a:p>
          <a:endParaRPr lang="en-US"/>
        </a:p>
      </dgm:t>
    </dgm:pt>
    <dgm:pt modelId="{3960CFF8-4383-4382-8D6D-F2A00F508E8D}" type="pres">
      <dgm:prSet presAssocID="{0E9DE493-19D7-4EC9-97C9-5F26233F1106}" presName="Name0" presStyleCnt="0">
        <dgm:presLayoutVars>
          <dgm:dir/>
          <dgm:animLvl val="lvl"/>
          <dgm:resizeHandles val="exact"/>
        </dgm:presLayoutVars>
      </dgm:prSet>
      <dgm:spPr/>
    </dgm:pt>
    <dgm:pt modelId="{366CFF54-5C8F-47F9-BFD8-D9AF3EADDA3E}" type="pres">
      <dgm:prSet presAssocID="{0E9DE493-19D7-4EC9-97C9-5F26233F1106}" presName="tSp" presStyleCnt="0"/>
      <dgm:spPr/>
    </dgm:pt>
    <dgm:pt modelId="{13688FBD-4079-41FE-A6A2-B5B0F293E6BF}" type="pres">
      <dgm:prSet presAssocID="{0E9DE493-19D7-4EC9-97C9-5F26233F1106}" presName="bSp" presStyleCnt="0"/>
      <dgm:spPr/>
    </dgm:pt>
    <dgm:pt modelId="{224851B6-C14D-49DE-883B-A13003DA4601}" type="pres">
      <dgm:prSet presAssocID="{0E9DE493-19D7-4EC9-97C9-5F26233F1106}" presName="process" presStyleCnt="0"/>
      <dgm:spPr/>
    </dgm:pt>
    <dgm:pt modelId="{1439717B-283C-48FF-AF62-1990F52B6512}" type="pres">
      <dgm:prSet presAssocID="{FB986F71-3126-4196-BD30-74AEDC39A1CA}" presName="composite1" presStyleCnt="0"/>
      <dgm:spPr/>
    </dgm:pt>
    <dgm:pt modelId="{BCCE6711-D1D8-4B2C-917E-41AB5A6114A8}" type="pres">
      <dgm:prSet presAssocID="{FB986F71-3126-4196-BD30-74AEDC39A1CA}" presName="dummyNode1" presStyleLbl="node1" presStyleIdx="0" presStyleCnt="4"/>
      <dgm:spPr/>
    </dgm:pt>
    <dgm:pt modelId="{96015622-8A46-45CF-A72A-2856B699B374}" type="pres">
      <dgm:prSet presAssocID="{FB986F71-3126-4196-BD30-74AEDC39A1CA}" presName="childNode1" presStyleLbl="bgAcc1" presStyleIdx="0" presStyleCnt="4">
        <dgm:presLayoutVars>
          <dgm:bulletEnabled val="1"/>
        </dgm:presLayoutVars>
      </dgm:prSet>
      <dgm:spPr/>
    </dgm:pt>
    <dgm:pt modelId="{BFE859F2-A9E8-4F95-9161-8EC68F2D30C4}" type="pres">
      <dgm:prSet presAssocID="{FB986F71-3126-4196-BD30-74AEDC39A1CA}" presName="childNode1tx" presStyleLbl="bgAcc1" presStyleIdx="0" presStyleCnt="4">
        <dgm:presLayoutVars>
          <dgm:bulletEnabled val="1"/>
        </dgm:presLayoutVars>
      </dgm:prSet>
      <dgm:spPr/>
    </dgm:pt>
    <dgm:pt modelId="{E18C6CF4-EDEB-4539-A36D-E0355B626199}" type="pres">
      <dgm:prSet presAssocID="{FB986F71-3126-4196-BD30-74AEDC39A1CA}" presName="parentNode1" presStyleLbl="node1" presStyleIdx="0" presStyleCnt="4" custLinFactNeighborX="1386" custLinFactNeighborY="39153">
        <dgm:presLayoutVars>
          <dgm:chMax val="1"/>
          <dgm:bulletEnabled val="1"/>
        </dgm:presLayoutVars>
      </dgm:prSet>
      <dgm:spPr/>
    </dgm:pt>
    <dgm:pt modelId="{D9FCD5E9-9E94-4534-BAB4-3DB8EB44E7D0}" type="pres">
      <dgm:prSet presAssocID="{FB986F71-3126-4196-BD30-74AEDC39A1CA}" presName="connSite1" presStyleCnt="0"/>
      <dgm:spPr/>
    </dgm:pt>
    <dgm:pt modelId="{6A63D16E-EEE6-4267-97EA-5AD7D2BC4E84}" type="pres">
      <dgm:prSet presAssocID="{D0B150DF-3AA4-454C-8652-25880449C422}" presName="Name9" presStyleLbl="sibTrans2D1" presStyleIdx="0" presStyleCnt="3"/>
      <dgm:spPr/>
    </dgm:pt>
    <dgm:pt modelId="{CEE25565-827D-4625-B2B5-68EFE4B5D82B}" type="pres">
      <dgm:prSet presAssocID="{C13D923D-839C-4FE1-94E6-11E76A3DDEE5}" presName="composite2" presStyleCnt="0"/>
      <dgm:spPr/>
    </dgm:pt>
    <dgm:pt modelId="{7CC55F41-BE8F-4BAB-A444-751BBE15F656}" type="pres">
      <dgm:prSet presAssocID="{C13D923D-839C-4FE1-94E6-11E76A3DDEE5}" presName="dummyNode2" presStyleLbl="node1" presStyleIdx="0" presStyleCnt="4"/>
      <dgm:spPr/>
    </dgm:pt>
    <dgm:pt modelId="{0C5CCCF8-E1F0-4109-A542-1524360C0AC9}" type="pres">
      <dgm:prSet presAssocID="{C13D923D-839C-4FE1-94E6-11E76A3DDEE5}" presName="childNode2" presStyleLbl="bgAcc1" presStyleIdx="1" presStyleCnt="4">
        <dgm:presLayoutVars>
          <dgm:bulletEnabled val="1"/>
        </dgm:presLayoutVars>
      </dgm:prSet>
      <dgm:spPr/>
    </dgm:pt>
    <dgm:pt modelId="{4BDA023E-B5B3-48EF-A6DD-9959EC1FB668}" type="pres">
      <dgm:prSet presAssocID="{C13D923D-839C-4FE1-94E6-11E76A3DDEE5}" presName="childNode2tx" presStyleLbl="bgAcc1" presStyleIdx="1" presStyleCnt="4">
        <dgm:presLayoutVars>
          <dgm:bulletEnabled val="1"/>
        </dgm:presLayoutVars>
      </dgm:prSet>
      <dgm:spPr/>
    </dgm:pt>
    <dgm:pt modelId="{A447120D-D64E-48E5-8719-D0674B96E0F0}" type="pres">
      <dgm:prSet presAssocID="{C13D923D-839C-4FE1-94E6-11E76A3DDEE5}" presName="parentNode2" presStyleLbl="node1" presStyleIdx="1" presStyleCnt="4">
        <dgm:presLayoutVars>
          <dgm:chMax val="0"/>
          <dgm:bulletEnabled val="1"/>
        </dgm:presLayoutVars>
      </dgm:prSet>
      <dgm:spPr/>
    </dgm:pt>
    <dgm:pt modelId="{9BF2A6FB-CE34-4CD1-8E9D-CF7E72FB4275}" type="pres">
      <dgm:prSet presAssocID="{C13D923D-839C-4FE1-94E6-11E76A3DDEE5}" presName="connSite2" presStyleCnt="0"/>
      <dgm:spPr/>
    </dgm:pt>
    <dgm:pt modelId="{49494610-4F53-4811-AE89-20499768BD44}" type="pres">
      <dgm:prSet presAssocID="{20082A92-63A0-460C-9BF5-80C14A945939}" presName="Name18" presStyleLbl="sibTrans2D1" presStyleIdx="1" presStyleCnt="3"/>
      <dgm:spPr/>
    </dgm:pt>
    <dgm:pt modelId="{AB214F7F-75DC-4F48-8F05-7CF27863BE38}" type="pres">
      <dgm:prSet presAssocID="{635E6DB1-7188-4C29-9686-5B65566B19C5}" presName="composite1" presStyleCnt="0"/>
      <dgm:spPr/>
    </dgm:pt>
    <dgm:pt modelId="{7B94A74C-6EE4-4113-B78D-D5F417AC4F32}" type="pres">
      <dgm:prSet presAssocID="{635E6DB1-7188-4C29-9686-5B65566B19C5}" presName="dummyNode1" presStyleLbl="node1" presStyleIdx="1" presStyleCnt="4"/>
      <dgm:spPr/>
    </dgm:pt>
    <dgm:pt modelId="{D3237FB3-7AF6-4D06-A930-B7E928B679D2}" type="pres">
      <dgm:prSet presAssocID="{635E6DB1-7188-4C29-9686-5B65566B19C5}" presName="childNode1" presStyleLbl="bgAcc1" presStyleIdx="2" presStyleCnt="4">
        <dgm:presLayoutVars>
          <dgm:bulletEnabled val="1"/>
        </dgm:presLayoutVars>
      </dgm:prSet>
      <dgm:spPr/>
    </dgm:pt>
    <dgm:pt modelId="{F933D371-0FBA-4B00-9076-AA4A8766668D}" type="pres">
      <dgm:prSet presAssocID="{635E6DB1-7188-4C29-9686-5B65566B19C5}" presName="childNode1tx" presStyleLbl="bgAcc1" presStyleIdx="2" presStyleCnt="4">
        <dgm:presLayoutVars>
          <dgm:bulletEnabled val="1"/>
        </dgm:presLayoutVars>
      </dgm:prSet>
      <dgm:spPr/>
    </dgm:pt>
    <dgm:pt modelId="{F3122355-B2D5-4473-A34C-5853E8F96516}" type="pres">
      <dgm:prSet presAssocID="{635E6DB1-7188-4C29-9686-5B65566B19C5}" presName="parentNode1" presStyleLbl="node1" presStyleIdx="2" presStyleCnt="4" custLinFactNeighborX="9750" custLinFactNeighborY="20184">
        <dgm:presLayoutVars>
          <dgm:chMax val="1"/>
          <dgm:bulletEnabled val="1"/>
        </dgm:presLayoutVars>
      </dgm:prSet>
      <dgm:spPr/>
    </dgm:pt>
    <dgm:pt modelId="{21BA99DD-DBC2-4F60-B4C5-10C4F7A26EF5}" type="pres">
      <dgm:prSet presAssocID="{635E6DB1-7188-4C29-9686-5B65566B19C5}" presName="connSite1" presStyleCnt="0"/>
      <dgm:spPr/>
    </dgm:pt>
    <dgm:pt modelId="{511AD637-F431-4132-8EAB-B33AB5632303}" type="pres">
      <dgm:prSet presAssocID="{198E8B40-168C-4624-9F12-DA5462DD57DE}" presName="Name9" presStyleLbl="sibTrans2D1" presStyleIdx="2" presStyleCnt="3"/>
      <dgm:spPr/>
    </dgm:pt>
    <dgm:pt modelId="{C6281E2D-9B6C-442C-8D88-8D3487F1E6AF}" type="pres">
      <dgm:prSet presAssocID="{0B00F5A8-A0EF-4111-9D86-004317B4F49E}" presName="composite2" presStyleCnt="0"/>
      <dgm:spPr/>
    </dgm:pt>
    <dgm:pt modelId="{37B1F8D0-8C2D-42E0-B8AD-628DF5B5E279}" type="pres">
      <dgm:prSet presAssocID="{0B00F5A8-A0EF-4111-9D86-004317B4F49E}" presName="dummyNode2" presStyleLbl="node1" presStyleIdx="2" presStyleCnt="4"/>
      <dgm:spPr/>
    </dgm:pt>
    <dgm:pt modelId="{7F6F8B03-CC8A-4864-90B7-6CF2FA5B61F9}" type="pres">
      <dgm:prSet presAssocID="{0B00F5A8-A0EF-4111-9D86-004317B4F49E}" presName="childNode2" presStyleLbl="bgAcc1" presStyleIdx="3" presStyleCnt="4" custLinFactNeighborX="-1390" custLinFactNeighborY="371">
        <dgm:presLayoutVars>
          <dgm:bulletEnabled val="1"/>
        </dgm:presLayoutVars>
      </dgm:prSet>
      <dgm:spPr/>
    </dgm:pt>
    <dgm:pt modelId="{6AF3F773-A416-44D0-9F2B-ACCAF49AA1DC}" type="pres">
      <dgm:prSet presAssocID="{0B00F5A8-A0EF-4111-9D86-004317B4F49E}" presName="childNode2tx" presStyleLbl="bgAcc1" presStyleIdx="3" presStyleCnt="4">
        <dgm:presLayoutVars>
          <dgm:bulletEnabled val="1"/>
        </dgm:presLayoutVars>
      </dgm:prSet>
      <dgm:spPr/>
    </dgm:pt>
    <dgm:pt modelId="{E18167B4-3060-4D43-85E5-FC43F4E8B3E2}" type="pres">
      <dgm:prSet presAssocID="{0B00F5A8-A0EF-4111-9D86-004317B4F49E}" presName="parentNode2" presStyleLbl="node1" presStyleIdx="3" presStyleCnt="4" custLinFactNeighborX="-3539" custLinFactNeighborY="2615">
        <dgm:presLayoutVars>
          <dgm:chMax val="0"/>
          <dgm:bulletEnabled val="1"/>
        </dgm:presLayoutVars>
      </dgm:prSet>
      <dgm:spPr/>
    </dgm:pt>
    <dgm:pt modelId="{C9141A38-C94E-4279-9B66-035129E91CBA}" type="pres">
      <dgm:prSet presAssocID="{0B00F5A8-A0EF-4111-9D86-004317B4F49E}" presName="connSite2" presStyleCnt="0"/>
      <dgm:spPr/>
    </dgm:pt>
  </dgm:ptLst>
  <dgm:cxnLst>
    <dgm:cxn modelId="{3A29EA02-311D-4064-B24A-82B631C999D4}" srcId="{C13D923D-839C-4FE1-94E6-11E76A3DDEE5}" destId="{76DF5CF9-CB78-45F1-9AD2-F40F4B2063DD}" srcOrd="0" destOrd="0" parTransId="{D75ED9DE-8B15-4728-9B77-DB510A2F59E3}" sibTransId="{A136032A-13C7-4A74-98AF-DB988C9DEE08}"/>
    <dgm:cxn modelId="{25289B0C-EB62-4A54-A7D7-6C365F098C58}" type="presOf" srcId="{76DF5CF9-CB78-45F1-9AD2-F40F4B2063DD}" destId="{0C5CCCF8-E1F0-4109-A542-1524360C0AC9}" srcOrd="0" destOrd="0" presId="urn:microsoft.com/office/officeart/2005/8/layout/hProcess4"/>
    <dgm:cxn modelId="{ABE5D61B-7645-4E25-B30E-3D2D63479081}" type="presOf" srcId="{20082A92-63A0-460C-9BF5-80C14A945939}" destId="{49494610-4F53-4811-AE89-20499768BD44}" srcOrd="0" destOrd="0" presId="urn:microsoft.com/office/officeart/2005/8/layout/hProcess4"/>
    <dgm:cxn modelId="{82EB6C1E-5908-4E88-BA09-1BB81A2E40E3}" type="presOf" srcId="{D09E02C2-F656-4897-AFD1-11432FCDDA88}" destId="{96015622-8A46-45CF-A72A-2856B699B374}" srcOrd="0" destOrd="3" presId="urn:microsoft.com/office/officeart/2005/8/layout/hProcess4"/>
    <dgm:cxn modelId="{118AC030-7609-40CF-B6A6-784B37379E07}" srcId="{0E9DE493-19D7-4EC9-97C9-5F26233F1106}" destId="{C13D923D-839C-4FE1-94E6-11E76A3DDEE5}" srcOrd="1" destOrd="0" parTransId="{A64220DA-32D2-41CB-B3BA-9FFD1B2C378B}" sibTransId="{20082A92-63A0-460C-9BF5-80C14A945939}"/>
    <dgm:cxn modelId="{8393BD33-4339-4416-9E08-1F1EF68A46B8}" type="presOf" srcId="{635E6DB1-7188-4C29-9686-5B65566B19C5}" destId="{F3122355-B2D5-4473-A34C-5853E8F96516}" srcOrd="0" destOrd="0" presId="urn:microsoft.com/office/officeart/2005/8/layout/hProcess4"/>
    <dgm:cxn modelId="{56618E36-6DC7-4F33-87DC-173706153E59}" srcId="{FB986F71-3126-4196-BD30-74AEDC39A1CA}" destId="{D09E02C2-F656-4897-AFD1-11432FCDDA88}" srcOrd="3" destOrd="0" parTransId="{F4D877A0-3B85-4096-8D0E-F693FB0EEC1B}" sibTransId="{9051FE55-559D-4373-B3C4-F13FC88CBC3F}"/>
    <dgm:cxn modelId="{85E1BE3F-8C5B-4270-BFA0-4242CB721D62}" type="presOf" srcId="{D40877DF-41AF-42C7-972A-8DCC7FBED45E}" destId="{7F6F8B03-CC8A-4864-90B7-6CF2FA5B61F9}" srcOrd="0" destOrd="0" presId="urn:microsoft.com/office/officeart/2005/8/layout/hProcess4"/>
    <dgm:cxn modelId="{B8FD3C40-DE9A-4904-986F-D0B75FAAB3C2}" type="presOf" srcId="{F54F74DF-DB3E-4F82-9A2D-A08A478DEFD2}" destId="{BFE859F2-A9E8-4F95-9161-8EC68F2D30C4}" srcOrd="1" destOrd="1" presId="urn:microsoft.com/office/officeart/2005/8/layout/hProcess4"/>
    <dgm:cxn modelId="{241A4F42-3815-4A3A-A31B-C5E11FFB5E6D}" type="presOf" srcId="{FB986F71-3126-4196-BD30-74AEDC39A1CA}" destId="{E18C6CF4-EDEB-4539-A36D-E0355B626199}" srcOrd="0" destOrd="0" presId="urn:microsoft.com/office/officeart/2005/8/layout/hProcess4"/>
    <dgm:cxn modelId="{3AF62D49-956B-4B05-919E-132B3090C201}" type="presOf" srcId="{F54F74DF-DB3E-4F82-9A2D-A08A478DEFD2}" destId="{96015622-8A46-45CF-A72A-2856B699B374}" srcOrd="0" destOrd="1" presId="urn:microsoft.com/office/officeart/2005/8/layout/hProcess4"/>
    <dgm:cxn modelId="{0F43F14A-87C3-4780-8ECB-BA1479C75C16}" type="presOf" srcId="{D09E02C2-F656-4897-AFD1-11432FCDDA88}" destId="{BFE859F2-A9E8-4F95-9161-8EC68F2D30C4}" srcOrd="1" destOrd="3" presId="urn:microsoft.com/office/officeart/2005/8/layout/hProcess4"/>
    <dgm:cxn modelId="{4496E14E-E4F8-4A94-AEB3-08AC40AA3C38}" srcId="{635E6DB1-7188-4C29-9686-5B65566B19C5}" destId="{63F2473B-0AC0-4F4C-AD26-1340E072A274}" srcOrd="0" destOrd="0" parTransId="{316CD11D-FC3D-4C8E-8931-63D8E316F413}" sibTransId="{D2DF0A99-F183-4905-86C6-DC705C5BB627}"/>
    <dgm:cxn modelId="{BA9DBB70-F99D-4DAF-B074-E4FC4DCBC9BA}" type="presOf" srcId="{CB6C5FB0-7519-4D4E-8984-85BFBE9B9BC8}" destId="{BFE859F2-A9E8-4F95-9161-8EC68F2D30C4}" srcOrd="1" destOrd="2" presId="urn:microsoft.com/office/officeart/2005/8/layout/hProcess4"/>
    <dgm:cxn modelId="{93609972-57A4-46FC-8F28-482799A63FFD}" type="presOf" srcId="{63F2473B-0AC0-4F4C-AD26-1340E072A274}" destId="{F933D371-0FBA-4B00-9076-AA4A8766668D}" srcOrd="1" destOrd="0" presId="urn:microsoft.com/office/officeart/2005/8/layout/hProcess4"/>
    <dgm:cxn modelId="{1423FC72-83C7-4510-8021-28EAEA493E68}" srcId="{0E9DE493-19D7-4EC9-97C9-5F26233F1106}" destId="{FB986F71-3126-4196-BD30-74AEDC39A1CA}" srcOrd="0" destOrd="0" parTransId="{9B3CE34A-9B3E-4D5F-94E0-DFBB94FF5A03}" sibTransId="{D0B150DF-3AA4-454C-8652-25880449C422}"/>
    <dgm:cxn modelId="{21332676-E80B-4593-B8BD-E0DBD99BACBE}" type="presOf" srcId="{76DF5CF9-CB78-45F1-9AD2-F40F4B2063DD}" destId="{4BDA023E-B5B3-48EF-A6DD-9959EC1FB668}" srcOrd="1" destOrd="0" presId="urn:microsoft.com/office/officeart/2005/8/layout/hProcess4"/>
    <dgm:cxn modelId="{2117F456-AC63-4288-B5D1-BC80746C5E3C}" type="presOf" srcId="{813E2325-8943-489F-846A-1FE88E44BA8B}" destId="{D3237FB3-7AF6-4D06-A930-B7E928B679D2}" srcOrd="0" destOrd="1" presId="urn:microsoft.com/office/officeart/2005/8/layout/hProcess4"/>
    <dgm:cxn modelId="{58232977-9E12-4BE5-8A31-C7F133990B36}" srcId="{FB986F71-3126-4196-BD30-74AEDC39A1CA}" destId="{F54F74DF-DB3E-4F82-9A2D-A08A478DEFD2}" srcOrd="1" destOrd="0" parTransId="{40EB171A-8E0E-4D3C-9ADE-280C20753934}" sibTransId="{480D7E52-B1C8-48DC-9398-6FF879F718F2}"/>
    <dgm:cxn modelId="{986F6584-D761-451A-A9D7-AB9FDE7D559C}" type="presOf" srcId="{CB6C5FB0-7519-4D4E-8984-85BFBE9B9BC8}" destId="{96015622-8A46-45CF-A72A-2856B699B374}" srcOrd="0" destOrd="2" presId="urn:microsoft.com/office/officeart/2005/8/layout/hProcess4"/>
    <dgm:cxn modelId="{4364E39B-7CC7-482E-822D-394E76814CFC}" srcId="{FB986F71-3126-4196-BD30-74AEDC39A1CA}" destId="{07919EDB-97D1-41CC-AA36-322B9CF4E501}" srcOrd="0" destOrd="0" parTransId="{C6530E4B-2F6A-4627-A40A-A03EFCC6CD9F}" sibTransId="{DC4160A5-8569-4AD3-B605-B1159CB6BEEC}"/>
    <dgm:cxn modelId="{CD3D33A3-63A9-43A6-B68C-58C91EBB2A74}" srcId="{0E9DE493-19D7-4EC9-97C9-5F26233F1106}" destId="{635E6DB1-7188-4C29-9686-5B65566B19C5}" srcOrd="2" destOrd="0" parTransId="{6F19E60D-3D19-48B7-B3A4-FF87859819C5}" sibTransId="{198E8B40-168C-4624-9F12-DA5462DD57DE}"/>
    <dgm:cxn modelId="{2251C1B8-8668-47F7-83DD-47F0E422F0D9}" type="presOf" srcId="{07919EDB-97D1-41CC-AA36-322B9CF4E501}" destId="{96015622-8A46-45CF-A72A-2856B699B374}" srcOrd="0" destOrd="0" presId="urn:microsoft.com/office/officeart/2005/8/layout/hProcess4"/>
    <dgm:cxn modelId="{4E74EABF-20DE-46D5-9BE9-0F84CEAF66AB}" type="presOf" srcId="{D0B150DF-3AA4-454C-8652-25880449C422}" destId="{6A63D16E-EEE6-4267-97EA-5AD7D2BC4E84}" srcOrd="0" destOrd="0" presId="urn:microsoft.com/office/officeart/2005/8/layout/hProcess4"/>
    <dgm:cxn modelId="{95276BC3-D2A9-422F-9390-BED3FD8C7BB0}" type="presOf" srcId="{0E9DE493-19D7-4EC9-97C9-5F26233F1106}" destId="{3960CFF8-4383-4382-8D6D-F2A00F508E8D}" srcOrd="0" destOrd="0" presId="urn:microsoft.com/office/officeart/2005/8/layout/hProcess4"/>
    <dgm:cxn modelId="{3ACBD8C3-8839-42D4-9E67-7E03417A6F05}" type="presOf" srcId="{07919EDB-97D1-41CC-AA36-322B9CF4E501}" destId="{BFE859F2-A9E8-4F95-9161-8EC68F2D30C4}" srcOrd="1" destOrd="0" presId="urn:microsoft.com/office/officeart/2005/8/layout/hProcess4"/>
    <dgm:cxn modelId="{632BF9CD-07BD-4CB7-9126-7714C2F1507C}" srcId="{0B00F5A8-A0EF-4111-9D86-004317B4F49E}" destId="{D40877DF-41AF-42C7-972A-8DCC7FBED45E}" srcOrd="0" destOrd="0" parTransId="{6E9ECF3E-6A03-4A4C-A85F-B0491873704B}" sibTransId="{D862023A-7995-4DE6-B9BD-638D7F169EB4}"/>
    <dgm:cxn modelId="{765778D4-380A-42D4-B488-E2AE77161EE8}" type="presOf" srcId="{63F2473B-0AC0-4F4C-AD26-1340E072A274}" destId="{D3237FB3-7AF6-4D06-A930-B7E928B679D2}" srcOrd="0" destOrd="0" presId="urn:microsoft.com/office/officeart/2005/8/layout/hProcess4"/>
    <dgm:cxn modelId="{82E9D2DE-F7D3-4E52-AFFF-3D9D250E5A7A}" type="presOf" srcId="{198E8B40-168C-4624-9F12-DA5462DD57DE}" destId="{511AD637-F431-4132-8EAB-B33AB5632303}" srcOrd="0" destOrd="0" presId="urn:microsoft.com/office/officeart/2005/8/layout/hProcess4"/>
    <dgm:cxn modelId="{86F910E7-C9D0-48E5-A3A3-C70127E96FC1}" srcId="{0E9DE493-19D7-4EC9-97C9-5F26233F1106}" destId="{0B00F5A8-A0EF-4111-9D86-004317B4F49E}" srcOrd="3" destOrd="0" parTransId="{EC916B99-8D26-4265-B7BE-BB461C68DA5C}" sibTransId="{CE48C676-980A-4BAC-A3C8-9ABC315DAE51}"/>
    <dgm:cxn modelId="{C49245EA-289B-4EAB-9836-BB09535A3668}" type="presOf" srcId="{C13D923D-839C-4FE1-94E6-11E76A3DDEE5}" destId="{A447120D-D64E-48E5-8719-D0674B96E0F0}" srcOrd="0" destOrd="0" presId="urn:microsoft.com/office/officeart/2005/8/layout/hProcess4"/>
    <dgm:cxn modelId="{51E266EA-594E-4960-91DE-00071B6E2695}" srcId="{635E6DB1-7188-4C29-9686-5B65566B19C5}" destId="{813E2325-8943-489F-846A-1FE88E44BA8B}" srcOrd="1" destOrd="0" parTransId="{FDBBBD84-69FB-4B5F-8BB8-82F32833D21B}" sibTransId="{761BE8BD-2528-4A0C-A84F-2789452CB1E6}"/>
    <dgm:cxn modelId="{8FB092EB-6B6D-4F63-84CF-F53CD446992B}" type="presOf" srcId="{813E2325-8943-489F-846A-1FE88E44BA8B}" destId="{F933D371-0FBA-4B00-9076-AA4A8766668D}" srcOrd="1" destOrd="1" presId="urn:microsoft.com/office/officeart/2005/8/layout/hProcess4"/>
    <dgm:cxn modelId="{188E62ED-ACF2-455D-94B5-87C7289D7F63}" type="presOf" srcId="{0B00F5A8-A0EF-4111-9D86-004317B4F49E}" destId="{E18167B4-3060-4D43-85E5-FC43F4E8B3E2}" srcOrd="0" destOrd="0" presId="urn:microsoft.com/office/officeart/2005/8/layout/hProcess4"/>
    <dgm:cxn modelId="{2ED6BAFC-65AB-4D7C-BE44-B8D84B0249CB}" srcId="{FB986F71-3126-4196-BD30-74AEDC39A1CA}" destId="{CB6C5FB0-7519-4D4E-8984-85BFBE9B9BC8}" srcOrd="2" destOrd="0" parTransId="{314DDB8B-0366-4491-ABA6-94EE13F395A6}" sibTransId="{30834B43-DE7C-42AE-903D-F8E3B0E6B7A5}"/>
    <dgm:cxn modelId="{7A2024FF-646D-4428-BE9A-A070BF9E445B}" type="presOf" srcId="{D40877DF-41AF-42C7-972A-8DCC7FBED45E}" destId="{6AF3F773-A416-44D0-9F2B-ACCAF49AA1DC}" srcOrd="1" destOrd="0" presId="urn:microsoft.com/office/officeart/2005/8/layout/hProcess4"/>
    <dgm:cxn modelId="{89F19664-F574-44B4-924E-3D107B743F23}" type="presParOf" srcId="{3960CFF8-4383-4382-8D6D-F2A00F508E8D}" destId="{366CFF54-5C8F-47F9-BFD8-D9AF3EADDA3E}" srcOrd="0" destOrd="0" presId="urn:microsoft.com/office/officeart/2005/8/layout/hProcess4"/>
    <dgm:cxn modelId="{75C41B37-1CBE-4C45-8C4B-850855BD27C4}" type="presParOf" srcId="{3960CFF8-4383-4382-8D6D-F2A00F508E8D}" destId="{13688FBD-4079-41FE-A6A2-B5B0F293E6BF}" srcOrd="1" destOrd="0" presId="urn:microsoft.com/office/officeart/2005/8/layout/hProcess4"/>
    <dgm:cxn modelId="{3AA8FE4E-D0FB-4F4F-9F35-7B6B4E7D5E8D}" type="presParOf" srcId="{3960CFF8-4383-4382-8D6D-F2A00F508E8D}" destId="{224851B6-C14D-49DE-883B-A13003DA4601}" srcOrd="2" destOrd="0" presId="urn:microsoft.com/office/officeart/2005/8/layout/hProcess4"/>
    <dgm:cxn modelId="{A4DAABAE-FB49-4E79-80B0-1264A8E539FF}" type="presParOf" srcId="{224851B6-C14D-49DE-883B-A13003DA4601}" destId="{1439717B-283C-48FF-AF62-1990F52B6512}" srcOrd="0" destOrd="0" presId="urn:microsoft.com/office/officeart/2005/8/layout/hProcess4"/>
    <dgm:cxn modelId="{6FFC75D9-47EB-48FF-90CD-91F117AC22B7}" type="presParOf" srcId="{1439717B-283C-48FF-AF62-1990F52B6512}" destId="{BCCE6711-D1D8-4B2C-917E-41AB5A6114A8}" srcOrd="0" destOrd="0" presId="urn:microsoft.com/office/officeart/2005/8/layout/hProcess4"/>
    <dgm:cxn modelId="{FEE85E3F-72E5-4071-8EA1-3623F81173A1}" type="presParOf" srcId="{1439717B-283C-48FF-AF62-1990F52B6512}" destId="{96015622-8A46-45CF-A72A-2856B699B374}" srcOrd="1" destOrd="0" presId="urn:microsoft.com/office/officeart/2005/8/layout/hProcess4"/>
    <dgm:cxn modelId="{AC4982ED-AD83-45D0-AD2F-455F7901AF9F}" type="presParOf" srcId="{1439717B-283C-48FF-AF62-1990F52B6512}" destId="{BFE859F2-A9E8-4F95-9161-8EC68F2D30C4}" srcOrd="2" destOrd="0" presId="urn:microsoft.com/office/officeart/2005/8/layout/hProcess4"/>
    <dgm:cxn modelId="{565E0706-6737-49AB-A631-19EA6E16791C}" type="presParOf" srcId="{1439717B-283C-48FF-AF62-1990F52B6512}" destId="{E18C6CF4-EDEB-4539-A36D-E0355B626199}" srcOrd="3" destOrd="0" presId="urn:microsoft.com/office/officeart/2005/8/layout/hProcess4"/>
    <dgm:cxn modelId="{0F8395D2-489A-4650-9E19-52FEC57A410B}" type="presParOf" srcId="{1439717B-283C-48FF-AF62-1990F52B6512}" destId="{D9FCD5E9-9E94-4534-BAB4-3DB8EB44E7D0}" srcOrd="4" destOrd="0" presId="urn:microsoft.com/office/officeart/2005/8/layout/hProcess4"/>
    <dgm:cxn modelId="{9204B803-0CC8-4F9E-AC95-C709626A9F47}" type="presParOf" srcId="{224851B6-C14D-49DE-883B-A13003DA4601}" destId="{6A63D16E-EEE6-4267-97EA-5AD7D2BC4E84}" srcOrd="1" destOrd="0" presId="urn:microsoft.com/office/officeart/2005/8/layout/hProcess4"/>
    <dgm:cxn modelId="{2D6318D9-2711-40AC-BF18-D6F11513CACA}" type="presParOf" srcId="{224851B6-C14D-49DE-883B-A13003DA4601}" destId="{CEE25565-827D-4625-B2B5-68EFE4B5D82B}" srcOrd="2" destOrd="0" presId="urn:microsoft.com/office/officeart/2005/8/layout/hProcess4"/>
    <dgm:cxn modelId="{DA42D925-03CF-4A75-B58C-2EEC3DD7F18E}" type="presParOf" srcId="{CEE25565-827D-4625-B2B5-68EFE4B5D82B}" destId="{7CC55F41-BE8F-4BAB-A444-751BBE15F656}" srcOrd="0" destOrd="0" presId="urn:microsoft.com/office/officeart/2005/8/layout/hProcess4"/>
    <dgm:cxn modelId="{313FA81C-1129-4B60-80A0-A999F2791ADD}" type="presParOf" srcId="{CEE25565-827D-4625-B2B5-68EFE4B5D82B}" destId="{0C5CCCF8-E1F0-4109-A542-1524360C0AC9}" srcOrd="1" destOrd="0" presId="urn:microsoft.com/office/officeart/2005/8/layout/hProcess4"/>
    <dgm:cxn modelId="{682BDF15-75DD-4A36-8F6B-05D7952188DA}" type="presParOf" srcId="{CEE25565-827D-4625-B2B5-68EFE4B5D82B}" destId="{4BDA023E-B5B3-48EF-A6DD-9959EC1FB668}" srcOrd="2" destOrd="0" presId="urn:microsoft.com/office/officeart/2005/8/layout/hProcess4"/>
    <dgm:cxn modelId="{DEFC6F51-902E-4907-8B6D-542A2CB5DC41}" type="presParOf" srcId="{CEE25565-827D-4625-B2B5-68EFE4B5D82B}" destId="{A447120D-D64E-48E5-8719-D0674B96E0F0}" srcOrd="3" destOrd="0" presId="urn:microsoft.com/office/officeart/2005/8/layout/hProcess4"/>
    <dgm:cxn modelId="{AC0016FC-CEB0-4267-99B9-D541D3B404EA}" type="presParOf" srcId="{CEE25565-827D-4625-B2B5-68EFE4B5D82B}" destId="{9BF2A6FB-CE34-4CD1-8E9D-CF7E72FB4275}" srcOrd="4" destOrd="0" presId="urn:microsoft.com/office/officeart/2005/8/layout/hProcess4"/>
    <dgm:cxn modelId="{D7C57074-6CAF-4D1D-AED8-CCEEF4C2C965}" type="presParOf" srcId="{224851B6-C14D-49DE-883B-A13003DA4601}" destId="{49494610-4F53-4811-AE89-20499768BD44}" srcOrd="3" destOrd="0" presId="urn:microsoft.com/office/officeart/2005/8/layout/hProcess4"/>
    <dgm:cxn modelId="{6C97CD2C-9EDF-4E59-853A-60812E3D77EC}" type="presParOf" srcId="{224851B6-C14D-49DE-883B-A13003DA4601}" destId="{AB214F7F-75DC-4F48-8F05-7CF27863BE38}" srcOrd="4" destOrd="0" presId="urn:microsoft.com/office/officeart/2005/8/layout/hProcess4"/>
    <dgm:cxn modelId="{25FA6E45-0E3E-4CF0-8BED-613456B68580}" type="presParOf" srcId="{AB214F7F-75DC-4F48-8F05-7CF27863BE38}" destId="{7B94A74C-6EE4-4113-B78D-D5F417AC4F32}" srcOrd="0" destOrd="0" presId="urn:microsoft.com/office/officeart/2005/8/layout/hProcess4"/>
    <dgm:cxn modelId="{3D081342-B5C5-4E0C-999E-776A9DE9CF65}" type="presParOf" srcId="{AB214F7F-75DC-4F48-8F05-7CF27863BE38}" destId="{D3237FB3-7AF6-4D06-A930-B7E928B679D2}" srcOrd="1" destOrd="0" presId="urn:microsoft.com/office/officeart/2005/8/layout/hProcess4"/>
    <dgm:cxn modelId="{F9B490DC-C682-4F43-A2BD-09F86ADA6DBB}" type="presParOf" srcId="{AB214F7F-75DC-4F48-8F05-7CF27863BE38}" destId="{F933D371-0FBA-4B00-9076-AA4A8766668D}" srcOrd="2" destOrd="0" presId="urn:microsoft.com/office/officeart/2005/8/layout/hProcess4"/>
    <dgm:cxn modelId="{1B0D0B16-09D6-4470-B258-AC975A9C2612}" type="presParOf" srcId="{AB214F7F-75DC-4F48-8F05-7CF27863BE38}" destId="{F3122355-B2D5-4473-A34C-5853E8F96516}" srcOrd="3" destOrd="0" presId="urn:microsoft.com/office/officeart/2005/8/layout/hProcess4"/>
    <dgm:cxn modelId="{A32DA1C3-7872-45A8-84FF-097AC3CC43D6}" type="presParOf" srcId="{AB214F7F-75DC-4F48-8F05-7CF27863BE38}" destId="{21BA99DD-DBC2-4F60-B4C5-10C4F7A26EF5}" srcOrd="4" destOrd="0" presId="urn:microsoft.com/office/officeart/2005/8/layout/hProcess4"/>
    <dgm:cxn modelId="{7DAF611C-15A5-48F5-9B26-9033DE0FCA0A}" type="presParOf" srcId="{224851B6-C14D-49DE-883B-A13003DA4601}" destId="{511AD637-F431-4132-8EAB-B33AB5632303}" srcOrd="5" destOrd="0" presId="urn:microsoft.com/office/officeart/2005/8/layout/hProcess4"/>
    <dgm:cxn modelId="{97115532-1FAE-4324-9AFC-3CEA960CDE65}" type="presParOf" srcId="{224851B6-C14D-49DE-883B-A13003DA4601}" destId="{C6281E2D-9B6C-442C-8D88-8D3487F1E6AF}" srcOrd="6" destOrd="0" presId="urn:microsoft.com/office/officeart/2005/8/layout/hProcess4"/>
    <dgm:cxn modelId="{EC73FCCD-431C-4A33-994C-7A614DE4C603}" type="presParOf" srcId="{C6281E2D-9B6C-442C-8D88-8D3487F1E6AF}" destId="{37B1F8D0-8C2D-42E0-B8AD-628DF5B5E279}" srcOrd="0" destOrd="0" presId="urn:microsoft.com/office/officeart/2005/8/layout/hProcess4"/>
    <dgm:cxn modelId="{6CC55DFB-8FF0-4CD2-A0D9-3088EF7BB3CA}" type="presParOf" srcId="{C6281E2D-9B6C-442C-8D88-8D3487F1E6AF}" destId="{7F6F8B03-CC8A-4864-90B7-6CF2FA5B61F9}" srcOrd="1" destOrd="0" presId="urn:microsoft.com/office/officeart/2005/8/layout/hProcess4"/>
    <dgm:cxn modelId="{CEC22F41-FEB4-422F-984F-04F48615C781}" type="presParOf" srcId="{C6281E2D-9B6C-442C-8D88-8D3487F1E6AF}" destId="{6AF3F773-A416-44D0-9F2B-ACCAF49AA1DC}" srcOrd="2" destOrd="0" presId="urn:microsoft.com/office/officeart/2005/8/layout/hProcess4"/>
    <dgm:cxn modelId="{6FB326B9-D95D-40A7-8018-F1544CF5FB8B}" type="presParOf" srcId="{C6281E2D-9B6C-442C-8D88-8D3487F1E6AF}" destId="{E18167B4-3060-4D43-85E5-FC43F4E8B3E2}" srcOrd="3" destOrd="0" presId="urn:microsoft.com/office/officeart/2005/8/layout/hProcess4"/>
    <dgm:cxn modelId="{288FFA1C-95B0-4917-B2AA-711DFD73D54E}" type="presParOf" srcId="{C6281E2D-9B6C-442C-8D88-8D3487F1E6AF}" destId="{C9141A38-C94E-4279-9B66-035129E91CBA}" srcOrd="4" destOrd="0" presId="urn:microsoft.com/office/officeart/2005/8/layout/hProcess4"/>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78C014-5C7B-4F8F-BC56-FC5533991E38}" type="doc">
      <dgm:prSet loTypeId="urn:microsoft.com/office/officeart/2005/8/layout/chevron2" loCatId="process" qsTypeId="urn:microsoft.com/office/officeart/2005/8/quickstyle/simple1" qsCatId="simple" csTypeId="urn:microsoft.com/office/officeart/2005/8/colors/accent1_4" csCatId="accent1" phldr="1"/>
      <dgm:spPr/>
      <dgm:t>
        <a:bodyPr/>
        <a:lstStyle/>
        <a:p>
          <a:endParaRPr lang="en-US"/>
        </a:p>
      </dgm:t>
    </dgm:pt>
    <dgm:pt modelId="{7D64AA0B-E088-43C2-9893-99B89A7A17F8}">
      <dgm:prSet phldrT="[Text]"/>
      <dgm:spPr/>
      <dgm:t>
        <a:bodyPr/>
        <a:lstStyle/>
        <a:p>
          <a:r>
            <a:rPr lang="en-US"/>
            <a:t>Claim Processed and Released</a:t>
          </a:r>
        </a:p>
      </dgm:t>
    </dgm:pt>
    <dgm:pt modelId="{3B646130-37CD-4C73-853E-5C0DB724E84D}" type="parTrans" cxnId="{6EDB594F-164E-412C-BA49-10E75F1FD030}">
      <dgm:prSet/>
      <dgm:spPr/>
      <dgm:t>
        <a:bodyPr/>
        <a:lstStyle/>
        <a:p>
          <a:endParaRPr lang="en-US"/>
        </a:p>
      </dgm:t>
    </dgm:pt>
    <dgm:pt modelId="{2D27CCDA-A1B9-4A74-A18D-2E13D85DCFFE}" type="sibTrans" cxnId="{6EDB594F-164E-412C-BA49-10E75F1FD030}">
      <dgm:prSet/>
      <dgm:spPr/>
      <dgm:t>
        <a:bodyPr/>
        <a:lstStyle/>
        <a:p>
          <a:endParaRPr lang="en-US"/>
        </a:p>
      </dgm:t>
    </dgm:pt>
    <dgm:pt modelId="{5FB22D29-551C-4759-AE50-DD655E633B70}">
      <dgm:prSet phldrT="[Text]"/>
      <dgm:spPr/>
      <dgm:t>
        <a:bodyPr/>
        <a:lstStyle/>
        <a:p>
          <a:pPr>
            <a:buFont typeface="Arial" panose="020B0604020202020204" pitchFamily="34" charset="0"/>
            <a:buChar char="•"/>
          </a:pPr>
          <a:r>
            <a:rPr lang="en-US"/>
            <a:t>Claim is processed and paid</a:t>
          </a:r>
        </a:p>
      </dgm:t>
    </dgm:pt>
    <dgm:pt modelId="{C96AC9A8-7850-4AE7-A4CF-927AFAC8C0A2}" type="parTrans" cxnId="{B6839759-ADDB-46D7-9A72-1FCB695C5E07}">
      <dgm:prSet/>
      <dgm:spPr/>
      <dgm:t>
        <a:bodyPr/>
        <a:lstStyle/>
        <a:p>
          <a:endParaRPr lang="en-US"/>
        </a:p>
      </dgm:t>
    </dgm:pt>
    <dgm:pt modelId="{F99BA1C2-8631-41F5-AA06-B381F710BF72}" type="sibTrans" cxnId="{B6839759-ADDB-46D7-9A72-1FCB695C5E07}">
      <dgm:prSet/>
      <dgm:spPr/>
      <dgm:t>
        <a:bodyPr/>
        <a:lstStyle/>
        <a:p>
          <a:endParaRPr lang="en-US"/>
        </a:p>
      </dgm:t>
    </dgm:pt>
    <dgm:pt modelId="{3AA5A593-42A2-461D-811C-1195D32CC147}">
      <dgm:prSet phldrT="[Text]"/>
      <dgm:spPr/>
      <dgm:t>
        <a:bodyPr/>
        <a:lstStyle/>
        <a:p>
          <a:r>
            <a:rPr lang="en-US"/>
            <a:t>Claim Audited</a:t>
          </a:r>
        </a:p>
      </dgm:t>
    </dgm:pt>
    <dgm:pt modelId="{260E687E-BA90-40A6-B9EE-5AF7D4002B5D}" type="parTrans" cxnId="{75FE4F1D-0BA1-47D3-8852-5199EC7CA8CC}">
      <dgm:prSet/>
      <dgm:spPr/>
      <dgm:t>
        <a:bodyPr/>
        <a:lstStyle/>
        <a:p>
          <a:endParaRPr lang="en-US"/>
        </a:p>
      </dgm:t>
    </dgm:pt>
    <dgm:pt modelId="{C7B6DB01-8EF7-421E-8CC2-96A1E3B08BD7}" type="sibTrans" cxnId="{75FE4F1D-0BA1-47D3-8852-5199EC7CA8CC}">
      <dgm:prSet/>
      <dgm:spPr/>
      <dgm:t>
        <a:bodyPr/>
        <a:lstStyle/>
        <a:p>
          <a:endParaRPr lang="en-US"/>
        </a:p>
      </dgm:t>
    </dgm:pt>
    <dgm:pt modelId="{6CF34F05-6464-4A73-87BA-E3E57202BF8A}">
      <dgm:prSet phldrT="[Text]"/>
      <dgm:spPr/>
      <dgm:t>
        <a:bodyPr/>
        <a:lstStyle/>
        <a:p>
          <a:pPr>
            <a:buFont typeface="Arial" panose="020B0604020202020204" pitchFamily="34" charset="0"/>
            <a:buChar char="•"/>
          </a:pPr>
          <a:r>
            <a:rPr lang="en-US" b="1" i="1"/>
            <a:t>After </a:t>
          </a:r>
          <a:r>
            <a:rPr lang="en-US"/>
            <a:t>the claim has been paid, a post payment audit review is completed</a:t>
          </a:r>
        </a:p>
      </dgm:t>
    </dgm:pt>
    <dgm:pt modelId="{9D87304B-922B-42EF-808E-05D3ED0945D3}" type="parTrans" cxnId="{4A1DBAD9-45C1-4AC9-B11B-1A233EED4D02}">
      <dgm:prSet/>
      <dgm:spPr/>
      <dgm:t>
        <a:bodyPr/>
        <a:lstStyle/>
        <a:p>
          <a:endParaRPr lang="en-US"/>
        </a:p>
      </dgm:t>
    </dgm:pt>
    <dgm:pt modelId="{442BE301-5B10-4DA3-AF9E-74602400796B}" type="sibTrans" cxnId="{4A1DBAD9-45C1-4AC9-B11B-1A233EED4D02}">
      <dgm:prSet/>
      <dgm:spPr/>
      <dgm:t>
        <a:bodyPr/>
        <a:lstStyle/>
        <a:p>
          <a:endParaRPr lang="en-US"/>
        </a:p>
      </dgm:t>
    </dgm:pt>
    <dgm:pt modelId="{668CC48A-FAFB-460C-A90A-94E5C574A6DA}">
      <dgm:prSet phldrT="[Text]"/>
      <dgm:spPr/>
      <dgm:t>
        <a:bodyPr/>
        <a:lstStyle/>
        <a:p>
          <a:r>
            <a:rPr lang="en-US"/>
            <a:t>Sent for Corrections</a:t>
          </a:r>
        </a:p>
      </dgm:t>
    </dgm:pt>
    <dgm:pt modelId="{CA67BC21-8059-4D03-A104-9F56AD93067C}" type="parTrans" cxnId="{2B588645-D124-4CE2-9E11-3B7E4A1E9B55}">
      <dgm:prSet/>
      <dgm:spPr/>
      <dgm:t>
        <a:bodyPr/>
        <a:lstStyle/>
        <a:p>
          <a:endParaRPr lang="en-US"/>
        </a:p>
      </dgm:t>
    </dgm:pt>
    <dgm:pt modelId="{18415F26-5A5C-4AE5-BA45-896162ECD430}" type="sibTrans" cxnId="{2B588645-D124-4CE2-9E11-3B7E4A1E9B55}">
      <dgm:prSet/>
      <dgm:spPr/>
      <dgm:t>
        <a:bodyPr/>
        <a:lstStyle/>
        <a:p>
          <a:endParaRPr lang="en-US"/>
        </a:p>
      </dgm:t>
    </dgm:pt>
    <dgm:pt modelId="{E81B153F-7934-411A-857D-8ACA6EA2C507}">
      <dgm:prSet phldrT="[Text]"/>
      <dgm:spPr/>
      <dgm:t>
        <a:bodyPr/>
        <a:lstStyle/>
        <a:p>
          <a:pPr>
            <a:buFont typeface="Arial" panose="020B0604020202020204" pitchFamily="34" charset="0"/>
            <a:buChar char="•"/>
          </a:pPr>
          <a:r>
            <a:rPr lang="en-US"/>
            <a:t>Costly adjustments are handled </a:t>
          </a:r>
          <a:r>
            <a:rPr lang="en-US" i="1"/>
            <a:t>after</a:t>
          </a:r>
          <a:r>
            <a:rPr lang="en-US"/>
            <a:t> the claims have been paid</a:t>
          </a:r>
        </a:p>
      </dgm:t>
    </dgm:pt>
    <dgm:pt modelId="{0BBE45C6-6828-444F-BD6F-42E628348E97}" type="parTrans" cxnId="{E13114F8-0F7A-405F-AADB-6D7EE968DED0}">
      <dgm:prSet/>
      <dgm:spPr/>
      <dgm:t>
        <a:bodyPr/>
        <a:lstStyle/>
        <a:p>
          <a:endParaRPr lang="en-US"/>
        </a:p>
      </dgm:t>
    </dgm:pt>
    <dgm:pt modelId="{6E7548C1-A478-4C58-944A-90CC31258985}" type="sibTrans" cxnId="{E13114F8-0F7A-405F-AADB-6D7EE968DED0}">
      <dgm:prSet/>
      <dgm:spPr/>
      <dgm:t>
        <a:bodyPr/>
        <a:lstStyle/>
        <a:p>
          <a:endParaRPr lang="en-US"/>
        </a:p>
      </dgm:t>
    </dgm:pt>
    <dgm:pt modelId="{79F67C37-0A3D-4C6B-B7EA-333F35290678}" type="pres">
      <dgm:prSet presAssocID="{3878C014-5C7B-4F8F-BC56-FC5533991E38}" presName="linearFlow" presStyleCnt="0">
        <dgm:presLayoutVars>
          <dgm:dir/>
          <dgm:animLvl val="lvl"/>
          <dgm:resizeHandles val="exact"/>
        </dgm:presLayoutVars>
      </dgm:prSet>
      <dgm:spPr/>
    </dgm:pt>
    <dgm:pt modelId="{AF2F2C5E-1608-4061-87FF-A1D063A90BF2}" type="pres">
      <dgm:prSet presAssocID="{7D64AA0B-E088-43C2-9893-99B89A7A17F8}" presName="composite" presStyleCnt="0"/>
      <dgm:spPr/>
    </dgm:pt>
    <dgm:pt modelId="{D7B7A642-2657-4582-BC07-14E821A39627}" type="pres">
      <dgm:prSet presAssocID="{7D64AA0B-E088-43C2-9893-99B89A7A17F8}" presName="parentText" presStyleLbl="alignNode1" presStyleIdx="0" presStyleCnt="3">
        <dgm:presLayoutVars>
          <dgm:chMax val="1"/>
          <dgm:bulletEnabled val="1"/>
        </dgm:presLayoutVars>
      </dgm:prSet>
      <dgm:spPr/>
    </dgm:pt>
    <dgm:pt modelId="{C16ACEC4-03D1-40D9-8CD4-E6827ED5BD8F}" type="pres">
      <dgm:prSet presAssocID="{7D64AA0B-E088-43C2-9893-99B89A7A17F8}" presName="descendantText" presStyleLbl="alignAcc1" presStyleIdx="0" presStyleCnt="3" custLinFactNeighborX="-179" custLinFactNeighborY="-194">
        <dgm:presLayoutVars>
          <dgm:bulletEnabled val="1"/>
        </dgm:presLayoutVars>
      </dgm:prSet>
      <dgm:spPr/>
    </dgm:pt>
    <dgm:pt modelId="{32279E74-1FE4-4A32-AAC1-AFBF9A8173C9}" type="pres">
      <dgm:prSet presAssocID="{2D27CCDA-A1B9-4A74-A18D-2E13D85DCFFE}" presName="sp" presStyleCnt="0"/>
      <dgm:spPr/>
    </dgm:pt>
    <dgm:pt modelId="{17AD2DF5-13DE-43AD-9042-5A3EF93AEDA1}" type="pres">
      <dgm:prSet presAssocID="{3AA5A593-42A2-461D-811C-1195D32CC147}" presName="composite" presStyleCnt="0"/>
      <dgm:spPr/>
    </dgm:pt>
    <dgm:pt modelId="{1581A877-B86B-4F38-9DD4-81806E234168}" type="pres">
      <dgm:prSet presAssocID="{3AA5A593-42A2-461D-811C-1195D32CC147}" presName="parentText" presStyleLbl="alignNode1" presStyleIdx="1" presStyleCnt="3">
        <dgm:presLayoutVars>
          <dgm:chMax val="1"/>
          <dgm:bulletEnabled val="1"/>
        </dgm:presLayoutVars>
      </dgm:prSet>
      <dgm:spPr/>
    </dgm:pt>
    <dgm:pt modelId="{67A2CA64-CBDF-48EE-B99B-3E1431F4CD9D}" type="pres">
      <dgm:prSet presAssocID="{3AA5A593-42A2-461D-811C-1195D32CC147}" presName="descendantText" presStyleLbl="alignAcc1" presStyleIdx="1" presStyleCnt="3" custScaleX="100265" custScaleY="96053">
        <dgm:presLayoutVars>
          <dgm:bulletEnabled val="1"/>
        </dgm:presLayoutVars>
      </dgm:prSet>
      <dgm:spPr/>
    </dgm:pt>
    <dgm:pt modelId="{D0C4EC4B-7184-4F80-B42B-505C0EED9945}" type="pres">
      <dgm:prSet presAssocID="{C7B6DB01-8EF7-421E-8CC2-96A1E3B08BD7}" presName="sp" presStyleCnt="0"/>
      <dgm:spPr/>
    </dgm:pt>
    <dgm:pt modelId="{5B0CD942-3438-4BC7-820F-1724457954CD}" type="pres">
      <dgm:prSet presAssocID="{668CC48A-FAFB-460C-A90A-94E5C574A6DA}" presName="composite" presStyleCnt="0"/>
      <dgm:spPr/>
    </dgm:pt>
    <dgm:pt modelId="{6AD3DDAD-8571-42C3-92B1-DA60C1C007DA}" type="pres">
      <dgm:prSet presAssocID="{668CC48A-FAFB-460C-A90A-94E5C574A6DA}" presName="parentText" presStyleLbl="alignNode1" presStyleIdx="2" presStyleCnt="3">
        <dgm:presLayoutVars>
          <dgm:chMax val="1"/>
          <dgm:bulletEnabled val="1"/>
        </dgm:presLayoutVars>
      </dgm:prSet>
      <dgm:spPr/>
    </dgm:pt>
    <dgm:pt modelId="{8170D3C7-C652-4557-A219-C4E5876A5581}" type="pres">
      <dgm:prSet presAssocID="{668CC48A-FAFB-460C-A90A-94E5C574A6DA}" presName="descendantText" presStyleLbl="alignAcc1" presStyleIdx="2" presStyleCnt="3">
        <dgm:presLayoutVars>
          <dgm:bulletEnabled val="1"/>
        </dgm:presLayoutVars>
      </dgm:prSet>
      <dgm:spPr/>
    </dgm:pt>
  </dgm:ptLst>
  <dgm:cxnLst>
    <dgm:cxn modelId="{71900A09-4C73-4E4B-8EBB-5E4AC75C02A1}" type="presOf" srcId="{7D64AA0B-E088-43C2-9893-99B89A7A17F8}" destId="{D7B7A642-2657-4582-BC07-14E821A39627}" srcOrd="0" destOrd="0" presId="urn:microsoft.com/office/officeart/2005/8/layout/chevron2"/>
    <dgm:cxn modelId="{61CB300E-9897-4E73-AF68-BFAAAE728AEB}" type="presOf" srcId="{3878C014-5C7B-4F8F-BC56-FC5533991E38}" destId="{79F67C37-0A3D-4C6B-B7EA-333F35290678}" srcOrd="0" destOrd="0" presId="urn:microsoft.com/office/officeart/2005/8/layout/chevron2"/>
    <dgm:cxn modelId="{75FE4F1D-0BA1-47D3-8852-5199EC7CA8CC}" srcId="{3878C014-5C7B-4F8F-BC56-FC5533991E38}" destId="{3AA5A593-42A2-461D-811C-1195D32CC147}" srcOrd="1" destOrd="0" parTransId="{260E687E-BA90-40A6-B9EE-5AF7D4002B5D}" sibTransId="{C7B6DB01-8EF7-421E-8CC2-96A1E3B08BD7}"/>
    <dgm:cxn modelId="{4F8CA320-9619-43E6-A029-1F4C713B59E4}" type="presOf" srcId="{668CC48A-FAFB-460C-A90A-94E5C574A6DA}" destId="{6AD3DDAD-8571-42C3-92B1-DA60C1C007DA}" srcOrd="0" destOrd="0" presId="urn:microsoft.com/office/officeart/2005/8/layout/chevron2"/>
    <dgm:cxn modelId="{2B588645-D124-4CE2-9E11-3B7E4A1E9B55}" srcId="{3878C014-5C7B-4F8F-BC56-FC5533991E38}" destId="{668CC48A-FAFB-460C-A90A-94E5C574A6DA}" srcOrd="2" destOrd="0" parTransId="{CA67BC21-8059-4D03-A104-9F56AD93067C}" sibTransId="{18415F26-5A5C-4AE5-BA45-896162ECD430}"/>
    <dgm:cxn modelId="{6EDB594F-164E-412C-BA49-10E75F1FD030}" srcId="{3878C014-5C7B-4F8F-BC56-FC5533991E38}" destId="{7D64AA0B-E088-43C2-9893-99B89A7A17F8}" srcOrd="0" destOrd="0" parTransId="{3B646130-37CD-4C73-853E-5C0DB724E84D}" sibTransId="{2D27CCDA-A1B9-4A74-A18D-2E13D85DCFFE}"/>
    <dgm:cxn modelId="{05216A76-27C6-436F-9F1B-3D7B850C6231}" type="presOf" srcId="{E81B153F-7934-411A-857D-8ACA6EA2C507}" destId="{8170D3C7-C652-4557-A219-C4E5876A5581}" srcOrd="0" destOrd="0" presId="urn:microsoft.com/office/officeart/2005/8/layout/chevron2"/>
    <dgm:cxn modelId="{6F88BA77-DFF3-45E7-A604-F4CEAD9F2241}" type="presOf" srcId="{5FB22D29-551C-4759-AE50-DD655E633B70}" destId="{C16ACEC4-03D1-40D9-8CD4-E6827ED5BD8F}" srcOrd="0" destOrd="0" presId="urn:microsoft.com/office/officeart/2005/8/layout/chevron2"/>
    <dgm:cxn modelId="{B6839759-ADDB-46D7-9A72-1FCB695C5E07}" srcId="{7D64AA0B-E088-43C2-9893-99B89A7A17F8}" destId="{5FB22D29-551C-4759-AE50-DD655E633B70}" srcOrd="0" destOrd="0" parTransId="{C96AC9A8-7850-4AE7-A4CF-927AFAC8C0A2}" sibTransId="{F99BA1C2-8631-41F5-AA06-B381F710BF72}"/>
    <dgm:cxn modelId="{E7FB3CCB-A3F4-4F04-A363-519E1432008C}" type="presOf" srcId="{3AA5A593-42A2-461D-811C-1195D32CC147}" destId="{1581A877-B86B-4F38-9DD4-81806E234168}" srcOrd="0" destOrd="0" presId="urn:microsoft.com/office/officeart/2005/8/layout/chevron2"/>
    <dgm:cxn modelId="{4A1DBAD9-45C1-4AC9-B11B-1A233EED4D02}" srcId="{3AA5A593-42A2-461D-811C-1195D32CC147}" destId="{6CF34F05-6464-4A73-87BA-E3E57202BF8A}" srcOrd="0" destOrd="0" parTransId="{9D87304B-922B-42EF-808E-05D3ED0945D3}" sibTransId="{442BE301-5B10-4DA3-AF9E-74602400796B}"/>
    <dgm:cxn modelId="{010004F3-1FB3-4976-BEFC-EBC8AF2F02A3}" type="presOf" srcId="{6CF34F05-6464-4A73-87BA-E3E57202BF8A}" destId="{67A2CA64-CBDF-48EE-B99B-3E1431F4CD9D}" srcOrd="0" destOrd="0" presId="urn:microsoft.com/office/officeart/2005/8/layout/chevron2"/>
    <dgm:cxn modelId="{E13114F8-0F7A-405F-AADB-6D7EE968DED0}" srcId="{668CC48A-FAFB-460C-A90A-94E5C574A6DA}" destId="{E81B153F-7934-411A-857D-8ACA6EA2C507}" srcOrd="0" destOrd="0" parTransId="{0BBE45C6-6828-444F-BD6F-42E628348E97}" sibTransId="{6E7548C1-A478-4C58-944A-90CC31258985}"/>
    <dgm:cxn modelId="{E76EBF81-316C-4C29-A21E-D37FDF9CEECD}" type="presParOf" srcId="{79F67C37-0A3D-4C6B-B7EA-333F35290678}" destId="{AF2F2C5E-1608-4061-87FF-A1D063A90BF2}" srcOrd="0" destOrd="0" presId="urn:microsoft.com/office/officeart/2005/8/layout/chevron2"/>
    <dgm:cxn modelId="{799C8ADE-1304-4B67-B6F2-1506B68C98BA}" type="presParOf" srcId="{AF2F2C5E-1608-4061-87FF-A1D063A90BF2}" destId="{D7B7A642-2657-4582-BC07-14E821A39627}" srcOrd="0" destOrd="0" presId="urn:microsoft.com/office/officeart/2005/8/layout/chevron2"/>
    <dgm:cxn modelId="{84D69041-F315-4BF2-ACAE-DA1A816BA7DB}" type="presParOf" srcId="{AF2F2C5E-1608-4061-87FF-A1D063A90BF2}" destId="{C16ACEC4-03D1-40D9-8CD4-E6827ED5BD8F}" srcOrd="1" destOrd="0" presId="urn:microsoft.com/office/officeart/2005/8/layout/chevron2"/>
    <dgm:cxn modelId="{6BAF6A6A-AE6A-463B-B31A-6712D927553E}" type="presParOf" srcId="{79F67C37-0A3D-4C6B-B7EA-333F35290678}" destId="{32279E74-1FE4-4A32-AAC1-AFBF9A8173C9}" srcOrd="1" destOrd="0" presId="urn:microsoft.com/office/officeart/2005/8/layout/chevron2"/>
    <dgm:cxn modelId="{E4B4A5FD-6981-46D3-9301-E47DC899D154}" type="presParOf" srcId="{79F67C37-0A3D-4C6B-B7EA-333F35290678}" destId="{17AD2DF5-13DE-43AD-9042-5A3EF93AEDA1}" srcOrd="2" destOrd="0" presId="urn:microsoft.com/office/officeart/2005/8/layout/chevron2"/>
    <dgm:cxn modelId="{118A06DF-36BC-4BDE-92F9-EC79C2646288}" type="presParOf" srcId="{17AD2DF5-13DE-43AD-9042-5A3EF93AEDA1}" destId="{1581A877-B86B-4F38-9DD4-81806E234168}" srcOrd="0" destOrd="0" presId="urn:microsoft.com/office/officeart/2005/8/layout/chevron2"/>
    <dgm:cxn modelId="{79699BCB-92ED-4881-8A41-C2CD00D19308}" type="presParOf" srcId="{17AD2DF5-13DE-43AD-9042-5A3EF93AEDA1}" destId="{67A2CA64-CBDF-48EE-B99B-3E1431F4CD9D}" srcOrd="1" destOrd="0" presId="urn:microsoft.com/office/officeart/2005/8/layout/chevron2"/>
    <dgm:cxn modelId="{F7A975A3-D6B2-472F-BE89-1C0B99E7D143}" type="presParOf" srcId="{79F67C37-0A3D-4C6B-B7EA-333F35290678}" destId="{D0C4EC4B-7184-4F80-B42B-505C0EED9945}" srcOrd="3" destOrd="0" presId="urn:microsoft.com/office/officeart/2005/8/layout/chevron2"/>
    <dgm:cxn modelId="{77F224AB-0618-482D-92E4-4EFFE12A92B6}" type="presParOf" srcId="{79F67C37-0A3D-4C6B-B7EA-333F35290678}" destId="{5B0CD942-3438-4BC7-820F-1724457954CD}" srcOrd="4" destOrd="0" presId="urn:microsoft.com/office/officeart/2005/8/layout/chevron2"/>
    <dgm:cxn modelId="{DF4ACAE7-AAA0-4EE4-AA4C-3C9C4D01A876}" type="presParOf" srcId="{5B0CD942-3438-4BC7-820F-1724457954CD}" destId="{6AD3DDAD-8571-42C3-92B1-DA60C1C007DA}" srcOrd="0" destOrd="0" presId="urn:microsoft.com/office/officeart/2005/8/layout/chevron2"/>
    <dgm:cxn modelId="{4EBC71A2-C512-4722-B205-95945E1391DF}" type="presParOf" srcId="{5B0CD942-3438-4BC7-820F-1724457954CD}" destId="{8170D3C7-C652-4557-A219-C4E5876A558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78C014-5C7B-4F8F-BC56-FC5533991E38}" type="doc">
      <dgm:prSet loTypeId="urn:microsoft.com/office/officeart/2005/8/layout/chevron2" loCatId="process" qsTypeId="urn:microsoft.com/office/officeart/2005/8/quickstyle/simple1" qsCatId="simple" csTypeId="urn:microsoft.com/office/officeart/2005/8/colors/colorful3" csCatId="colorful" phldr="1"/>
      <dgm:spPr/>
      <dgm:t>
        <a:bodyPr/>
        <a:lstStyle/>
        <a:p>
          <a:endParaRPr lang="en-US"/>
        </a:p>
      </dgm:t>
    </dgm:pt>
    <dgm:pt modelId="{7D64AA0B-E088-43C2-9893-99B89A7A17F8}">
      <dgm:prSet phldrT="[Text]"/>
      <dgm:spPr/>
      <dgm:t>
        <a:bodyPr/>
        <a:lstStyle/>
        <a:p>
          <a:r>
            <a:rPr lang="en-US"/>
            <a:t>Claim Processed</a:t>
          </a:r>
        </a:p>
      </dgm:t>
    </dgm:pt>
    <dgm:pt modelId="{3B646130-37CD-4C73-853E-5C0DB724E84D}" type="parTrans" cxnId="{6EDB594F-164E-412C-BA49-10E75F1FD030}">
      <dgm:prSet/>
      <dgm:spPr/>
      <dgm:t>
        <a:bodyPr/>
        <a:lstStyle/>
        <a:p>
          <a:endParaRPr lang="en-US"/>
        </a:p>
      </dgm:t>
    </dgm:pt>
    <dgm:pt modelId="{2D27CCDA-A1B9-4A74-A18D-2E13D85DCFFE}" type="sibTrans" cxnId="{6EDB594F-164E-412C-BA49-10E75F1FD030}">
      <dgm:prSet/>
      <dgm:spPr/>
      <dgm:t>
        <a:bodyPr/>
        <a:lstStyle/>
        <a:p>
          <a:endParaRPr lang="en-US"/>
        </a:p>
      </dgm:t>
    </dgm:pt>
    <dgm:pt modelId="{5FB22D29-551C-4759-AE50-DD655E633B70}">
      <dgm:prSet phldrT="[Text]" custT="1"/>
      <dgm:spPr/>
      <dgm:t>
        <a:bodyPr/>
        <a:lstStyle/>
        <a:p>
          <a:pPr>
            <a:buFont typeface="Arial" panose="020B0604020202020204" pitchFamily="34" charset="0"/>
            <a:buChar char="•"/>
          </a:pPr>
          <a:r>
            <a:rPr lang="en-US" sz="2000"/>
            <a:t>Processing completed by claim processor</a:t>
          </a:r>
        </a:p>
      </dgm:t>
    </dgm:pt>
    <dgm:pt modelId="{C96AC9A8-7850-4AE7-A4CF-927AFAC8C0A2}" type="parTrans" cxnId="{B6839759-ADDB-46D7-9A72-1FCB695C5E07}">
      <dgm:prSet/>
      <dgm:spPr/>
      <dgm:t>
        <a:bodyPr/>
        <a:lstStyle/>
        <a:p>
          <a:endParaRPr lang="en-US"/>
        </a:p>
      </dgm:t>
    </dgm:pt>
    <dgm:pt modelId="{F99BA1C2-8631-41F5-AA06-B381F710BF72}" type="sibTrans" cxnId="{B6839759-ADDB-46D7-9A72-1FCB695C5E07}">
      <dgm:prSet/>
      <dgm:spPr/>
      <dgm:t>
        <a:bodyPr/>
        <a:lstStyle/>
        <a:p>
          <a:endParaRPr lang="en-US"/>
        </a:p>
      </dgm:t>
    </dgm:pt>
    <dgm:pt modelId="{3AA5A593-42A2-461D-811C-1195D32CC147}">
      <dgm:prSet phldrT="[Text]"/>
      <dgm:spPr/>
      <dgm:t>
        <a:bodyPr/>
        <a:lstStyle/>
        <a:p>
          <a:r>
            <a:rPr lang="en-US"/>
            <a:t>Claim Audited</a:t>
          </a:r>
        </a:p>
      </dgm:t>
    </dgm:pt>
    <dgm:pt modelId="{260E687E-BA90-40A6-B9EE-5AF7D4002B5D}" type="parTrans" cxnId="{75FE4F1D-0BA1-47D3-8852-5199EC7CA8CC}">
      <dgm:prSet/>
      <dgm:spPr/>
      <dgm:t>
        <a:bodyPr/>
        <a:lstStyle/>
        <a:p>
          <a:endParaRPr lang="en-US"/>
        </a:p>
      </dgm:t>
    </dgm:pt>
    <dgm:pt modelId="{C7B6DB01-8EF7-421E-8CC2-96A1E3B08BD7}" type="sibTrans" cxnId="{75FE4F1D-0BA1-47D3-8852-5199EC7CA8CC}">
      <dgm:prSet/>
      <dgm:spPr/>
      <dgm:t>
        <a:bodyPr/>
        <a:lstStyle/>
        <a:p>
          <a:endParaRPr lang="en-US"/>
        </a:p>
      </dgm:t>
    </dgm:pt>
    <dgm:pt modelId="{6CF34F05-6464-4A73-87BA-E3E57202BF8A}">
      <dgm:prSet phldrT="[Text]" custT="1"/>
      <dgm:spPr/>
      <dgm:t>
        <a:bodyPr/>
        <a:lstStyle/>
        <a:p>
          <a:pPr>
            <a:buFont typeface="Arial" panose="020B0604020202020204" pitchFamily="34" charset="0"/>
            <a:buChar char="•"/>
          </a:pPr>
          <a:r>
            <a:rPr lang="en-US" sz="2000"/>
            <a:t>Claim not released until determined that it is correct</a:t>
          </a:r>
        </a:p>
      </dgm:t>
    </dgm:pt>
    <dgm:pt modelId="{9D87304B-922B-42EF-808E-05D3ED0945D3}" type="parTrans" cxnId="{4A1DBAD9-45C1-4AC9-B11B-1A233EED4D02}">
      <dgm:prSet/>
      <dgm:spPr/>
      <dgm:t>
        <a:bodyPr/>
        <a:lstStyle/>
        <a:p>
          <a:endParaRPr lang="en-US"/>
        </a:p>
      </dgm:t>
    </dgm:pt>
    <dgm:pt modelId="{442BE301-5B10-4DA3-AF9E-74602400796B}" type="sibTrans" cxnId="{4A1DBAD9-45C1-4AC9-B11B-1A233EED4D02}">
      <dgm:prSet/>
      <dgm:spPr/>
      <dgm:t>
        <a:bodyPr/>
        <a:lstStyle/>
        <a:p>
          <a:endParaRPr lang="en-US"/>
        </a:p>
      </dgm:t>
    </dgm:pt>
    <dgm:pt modelId="{668CC48A-FAFB-460C-A90A-94E5C574A6DA}">
      <dgm:prSet phldrT="[Text]"/>
      <dgm:spPr/>
      <dgm:t>
        <a:bodyPr/>
        <a:lstStyle/>
        <a:p>
          <a:r>
            <a:rPr lang="en-US"/>
            <a:t>Sent for Corrections</a:t>
          </a:r>
        </a:p>
      </dgm:t>
    </dgm:pt>
    <dgm:pt modelId="{CA67BC21-8059-4D03-A104-9F56AD93067C}" type="parTrans" cxnId="{2B588645-D124-4CE2-9E11-3B7E4A1E9B55}">
      <dgm:prSet/>
      <dgm:spPr/>
      <dgm:t>
        <a:bodyPr/>
        <a:lstStyle/>
        <a:p>
          <a:endParaRPr lang="en-US"/>
        </a:p>
      </dgm:t>
    </dgm:pt>
    <dgm:pt modelId="{18415F26-5A5C-4AE5-BA45-896162ECD430}" type="sibTrans" cxnId="{2B588645-D124-4CE2-9E11-3B7E4A1E9B55}">
      <dgm:prSet/>
      <dgm:spPr/>
      <dgm:t>
        <a:bodyPr/>
        <a:lstStyle/>
        <a:p>
          <a:endParaRPr lang="en-US"/>
        </a:p>
      </dgm:t>
    </dgm:pt>
    <dgm:pt modelId="{E81B153F-7934-411A-857D-8ACA6EA2C507}">
      <dgm:prSet phldrT="[Text]" custT="1"/>
      <dgm:spPr/>
      <dgm:t>
        <a:bodyPr/>
        <a:lstStyle/>
        <a:p>
          <a:pPr>
            <a:buFont typeface="Arial" panose="020B0604020202020204" pitchFamily="34" charset="0"/>
            <a:buChar char="•"/>
          </a:pPr>
          <a:r>
            <a:rPr lang="en-US" sz="2000"/>
            <a:t>If incorrect, sent to processor for correction and monitored </a:t>
          </a:r>
        </a:p>
      </dgm:t>
    </dgm:pt>
    <dgm:pt modelId="{0BBE45C6-6828-444F-BD6F-42E628348E97}" type="parTrans" cxnId="{E13114F8-0F7A-405F-AADB-6D7EE968DED0}">
      <dgm:prSet/>
      <dgm:spPr/>
      <dgm:t>
        <a:bodyPr/>
        <a:lstStyle/>
        <a:p>
          <a:endParaRPr lang="en-US"/>
        </a:p>
      </dgm:t>
    </dgm:pt>
    <dgm:pt modelId="{6E7548C1-A478-4C58-944A-90CC31258985}" type="sibTrans" cxnId="{E13114F8-0F7A-405F-AADB-6D7EE968DED0}">
      <dgm:prSet/>
      <dgm:spPr/>
      <dgm:t>
        <a:bodyPr/>
        <a:lstStyle/>
        <a:p>
          <a:endParaRPr lang="en-US"/>
        </a:p>
      </dgm:t>
    </dgm:pt>
    <dgm:pt modelId="{A278C60B-7BF9-4B09-9E29-EA35508DFC4E}">
      <dgm:prSet phldrT="[Text]"/>
      <dgm:spPr/>
      <dgm:t>
        <a:bodyPr/>
        <a:lstStyle/>
        <a:p>
          <a:r>
            <a:rPr lang="en-US"/>
            <a:t>Claim Released</a:t>
          </a:r>
        </a:p>
      </dgm:t>
    </dgm:pt>
    <dgm:pt modelId="{913FB1F8-7CC2-43DE-A1AF-B6015CE66C2B}" type="parTrans" cxnId="{14D63BB0-B990-4C47-98D0-6F1577C46561}">
      <dgm:prSet/>
      <dgm:spPr/>
      <dgm:t>
        <a:bodyPr/>
        <a:lstStyle/>
        <a:p>
          <a:endParaRPr lang="en-US"/>
        </a:p>
      </dgm:t>
    </dgm:pt>
    <dgm:pt modelId="{49003942-06A3-499E-B76C-BC7375A05CFD}" type="sibTrans" cxnId="{14D63BB0-B990-4C47-98D0-6F1577C46561}">
      <dgm:prSet/>
      <dgm:spPr/>
      <dgm:t>
        <a:bodyPr/>
        <a:lstStyle/>
        <a:p>
          <a:endParaRPr lang="en-US"/>
        </a:p>
      </dgm:t>
    </dgm:pt>
    <dgm:pt modelId="{DEE84727-C3B9-4EDF-BF97-F46889DE4F76}">
      <dgm:prSet custT="1"/>
      <dgm:spPr/>
      <dgm:t>
        <a:bodyPr/>
        <a:lstStyle/>
        <a:p>
          <a:pPr>
            <a:buFont typeface="Arial" panose="020B0604020202020204" pitchFamily="34" charset="0"/>
            <a:buChar char="•"/>
          </a:pPr>
          <a:r>
            <a:rPr lang="en-US" sz="2000"/>
            <a:t>Once correct, claim released for payment</a:t>
          </a:r>
        </a:p>
      </dgm:t>
    </dgm:pt>
    <dgm:pt modelId="{B65724D7-03C3-41E7-A645-B92820D87CAF}" type="parTrans" cxnId="{92B0826A-B25E-481D-AA99-E62E1EBF164D}">
      <dgm:prSet/>
      <dgm:spPr/>
      <dgm:t>
        <a:bodyPr/>
        <a:lstStyle/>
        <a:p>
          <a:endParaRPr lang="en-US"/>
        </a:p>
      </dgm:t>
    </dgm:pt>
    <dgm:pt modelId="{B78ABCC4-BADF-43EE-A5CB-5AB48DA25ACA}" type="sibTrans" cxnId="{92B0826A-B25E-481D-AA99-E62E1EBF164D}">
      <dgm:prSet/>
      <dgm:spPr/>
      <dgm:t>
        <a:bodyPr/>
        <a:lstStyle/>
        <a:p>
          <a:endParaRPr lang="en-US"/>
        </a:p>
      </dgm:t>
    </dgm:pt>
    <dgm:pt modelId="{79F67C37-0A3D-4C6B-B7EA-333F35290678}" type="pres">
      <dgm:prSet presAssocID="{3878C014-5C7B-4F8F-BC56-FC5533991E38}" presName="linearFlow" presStyleCnt="0">
        <dgm:presLayoutVars>
          <dgm:dir/>
          <dgm:animLvl val="lvl"/>
          <dgm:resizeHandles val="exact"/>
        </dgm:presLayoutVars>
      </dgm:prSet>
      <dgm:spPr/>
    </dgm:pt>
    <dgm:pt modelId="{AF2F2C5E-1608-4061-87FF-A1D063A90BF2}" type="pres">
      <dgm:prSet presAssocID="{7D64AA0B-E088-43C2-9893-99B89A7A17F8}" presName="composite" presStyleCnt="0"/>
      <dgm:spPr/>
    </dgm:pt>
    <dgm:pt modelId="{D7B7A642-2657-4582-BC07-14E821A39627}" type="pres">
      <dgm:prSet presAssocID="{7D64AA0B-E088-43C2-9893-99B89A7A17F8}" presName="parentText" presStyleLbl="alignNode1" presStyleIdx="0" presStyleCnt="4">
        <dgm:presLayoutVars>
          <dgm:chMax val="1"/>
          <dgm:bulletEnabled val="1"/>
        </dgm:presLayoutVars>
      </dgm:prSet>
      <dgm:spPr/>
    </dgm:pt>
    <dgm:pt modelId="{C16ACEC4-03D1-40D9-8CD4-E6827ED5BD8F}" type="pres">
      <dgm:prSet presAssocID="{7D64AA0B-E088-43C2-9893-99B89A7A17F8}" presName="descendantText" presStyleLbl="alignAcc1" presStyleIdx="0" presStyleCnt="4" custLinFactNeighborX="0" custLinFactNeighborY="-82">
        <dgm:presLayoutVars>
          <dgm:bulletEnabled val="1"/>
        </dgm:presLayoutVars>
      </dgm:prSet>
      <dgm:spPr/>
    </dgm:pt>
    <dgm:pt modelId="{32279E74-1FE4-4A32-AAC1-AFBF9A8173C9}" type="pres">
      <dgm:prSet presAssocID="{2D27CCDA-A1B9-4A74-A18D-2E13D85DCFFE}" presName="sp" presStyleCnt="0"/>
      <dgm:spPr/>
    </dgm:pt>
    <dgm:pt modelId="{17AD2DF5-13DE-43AD-9042-5A3EF93AEDA1}" type="pres">
      <dgm:prSet presAssocID="{3AA5A593-42A2-461D-811C-1195D32CC147}" presName="composite" presStyleCnt="0"/>
      <dgm:spPr/>
    </dgm:pt>
    <dgm:pt modelId="{1581A877-B86B-4F38-9DD4-81806E234168}" type="pres">
      <dgm:prSet presAssocID="{3AA5A593-42A2-461D-811C-1195D32CC147}" presName="parentText" presStyleLbl="alignNode1" presStyleIdx="1" presStyleCnt="4">
        <dgm:presLayoutVars>
          <dgm:chMax val="1"/>
          <dgm:bulletEnabled val="1"/>
        </dgm:presLayoutVars>
      </dgm:prSet>
      <dgm:spPr/>
    </dgm:pt>
    <dgm:pt modelId="{67A2CA64-CBDF-48EE-B99B-3E1431F4CD9D}" type="pres">
      <dgm:prSet presAssocID="{3AA5A593-42A2-461D-811C-1195D32CC147}" presName="descendantText" presStyleLbl="alignAcc1" presStyleIdx="1" presStyleCnt="4">
        <dgm:presLayoutVars>
          <dgm:bulletEnabled val="1"/>
        </dgm:presLayoutVars>
      </dgm:prSet>
      <dgm:spPr/>
    </dgm:pt>
    <dgm:pt modelId="{D0C4EC4B-7184-4F80-B42B-505C0EED9945}" type="pres">
      <dgm:prSet presAssocID="{C7B6DB01-8EF7-421E-8CC2-96A1E3B08BD7}" presName="sp" presStyleCnt="0"/>
      <dgm:spPr/>
    </dgm:pt>
    <dgm:pt modelId="{5B0CD942-3438-4BC7-820F-1724457954CD}" type="pres">
      <dgm:prSet presAssocID="{668CC48A-FAFB-460C-A90A-94E5C574A6DA}" presName="composite" presStyleCnt="0"/>
      <dgm:spPr/>
    </dgm:pt>
    <dgm:pt modelId="{6AD3DDAD-8571-42C3-92B1-DA60C1C007DA}" type="pres">
      <dgm:prSet presAssocID="{668CC48A-FAFB-460C-A90A-94E5C574A6DA}" presName="parentText" presStyleLbl="alignNode1" presStyleIdx="2" presStyleCnt="4">
        <dgm:presLayoutVars>
          <dgm:chMax val="1"/>
          <dgm:bulletEnabled val="1"/>
        </dgm:presLayoutVars>
      </dgm:prSet>
      <dgm:spPr/>
    </dgm:pt>
    <dgm:pt modelId="{8170D3C7-C652-4557-A219-C4E5876A5581}" type="pres">
      <dgm:prSet presAssocID="{668CC48A-FAFB-460C-A90A-94E5C574A6DA}" presName="descendantText" presStyleLbl="alignAcc1" presStyleIdx="2" presStyleCnt="4">
        <dgm:presLayoutVars>
          <dgm:bulletEnabled val="1"/>
        </dgm:presLayoutVars>
      </dgm:prSet>
      <dgm:spPr/>
    </dgm:pt>
    <dgm:pt modelId="{3F55AEDC-29B2-4D7C-879D-3F453C8F8467}" type="pres">
      <dgm:prSet presAssocID="{18415F26-5A5C-4AE5-BA45-896162ECD430}" presName="sp" presStyleCnt="0"/>
      <dgm:spPr/>
    </dgm:pt>
    <dgm:pt modelId="{F3380FF7-28A4-4509-8EDE-204CD0019DD5}" type="pres">
      <dgm:prSet presAssocID="{A278C60B-7BF9-4B09-9E29-EA35508DFC4E}" presName="composite" presStyleCnt="0"/>
      <dgm:spPr/>
    </dgm:pt>
    <dgm:pt modelId="{2110353A-1EF8-4D65-9FA7-048C058987DD}" type="pres">
      <dgm:prSet presAssocID="{A278C60B-7BF9-4B09-9E29-EA35508DFC4E}" presName="parentText" presStyleLbl="alignNode1" presStyleIdx="3" presStyleCnt="4">
        <dgm:presLayoutVars>
          <dgm:chMax val="1"/>
          <dgm:bulletEnabled val="1"/>
        </dgm:presLayoutVars>
      </dgm:prSet>
      <dgm:spPr/>
    </dgm:pt>
    <dgm:pt modelId="{A465B2F1-FB39-4B2E-9463-C1B097CB1227}" type="pres">
      <dgm:prSet presAssocID="{A278C60B-7BF9-4B09-9E29-EA35508DFC4E}" presName="descendantText" presStyleLbl="alignAcc1" presStyleIdx="3" presStyleCnt="4">
        <dgm:presLayoutVars>
          <dgm:bulletEnabled val="1"/>
        </dgm:presLayoutVars>
      </dgm:prSet>
      <dgm:spPr/>
    </dgm:pt>
  </dgm:ptLst>
  <dgm:cxnLst>
    <dgm:cxn modelId="{71900A09-4C73-4E4B-8EBB-5E4AC75C02A1}" type="presOf" srcId="{7D64AA0B-E088-43C2-9893-99B89A7A17F8}" destId="{D7B7A642-2657-4582-BC07-14E821A39627}" srcOrd="0" destOrd="0" presId="urn:microsoft.com/office/officeart/2005/8/layout/chevron2"/>
    <dgm:cxn modelId="{61CB300E-9897-4E73-AF68-BFAAAE728AEB}" type="presOf" srcId="{3878C014-5C7B-4F8F-BC56-FC5533991E38}" destId="{79F67C37-0A3D-4C6B-B7EA-333F35290678}" srcOrd="0" destOrd="0" presId="urn:microsoft.com/office/officeart/2005/8/layout/chevron2"/>
    <dgm:cxn modelId="{75FE4F1D-0BA1-47D3-8852-5199EC7CA8CC}" srcId="{3878C014-5C7B-4F8F-BC56-FC5533991E38}" destId="{3AA5A593-42A2-461D-811C-1195D32CC147}" srcOrd="1" destOrd="0" parTransId="{260E687E-BA90-40A6-B9EE-5AF7D4002B5D}" sibTransId="{C7B6DB01-8EF7-421E-8CC2-96A1E3B08BD7}"/>
    <dgm:cxn modelId="{4F8CA320-9619-43E6-A029-1F4C713B59E4}" type="presOf" srcId="{668CC48A-FAFB-460C-A90A-94E5C574A6DA}" destId="{6AD3DDAD-8571-42C3-92B1-DA60C1C007DA}" srcOrd="0" destOrd="0" presId="urn:microsoft.com/office/officeart/2005/8/layout/chevron2"/>
    <dgm:cxn modelId="{2B588645-D124-4CE2-9E11-3B7E4A1E9B55}" srcId="{3878C014-5C7B-4F8F-BC56-FC5533991E38}" destId="{668CC48A-FAFB-460C-A90A-94E5C574A6DA}" srcOrd="2" destOrd="0" parTransId="{CA67BC21-8059-4D03-A104-9F56AD93067C}" sibTransId="{18415F26-5A5C-4AE5-BA45-896162ECD430}"/>
    <dgm:cxn modelId="{4AA40A6A-908B-4036-A16A-9A214BC67519}" type="presOf" srcId="{DEE84727-C3B9-4EDF-BF97-F46889DE4F76}" destId="{A465B2F1-FB39-4B2E-9463-C1B097CB1227}" srcOrd="0" destOrd="0" presId="urn:microsoft.com/office/officeart/2005/8/layout/chevron2"/>
    <dgm:cxn modelId="{92B0826A-B25E-481D-AA99-E62E1EBF164D}" srcId="{A278C60B-7BF9-4B09-9E29-EA35508DFC4E}" destId="{DEE84727-C3B9-4EDF-BF97-F46889DE4F76}" srcOrd="0" destOrd="0" parTransId="{B65724D7-03C3-41E7-A645-B92820D87CAF}" sibTransId="{B78ABCC4-BADF-43EE-A5CB-5AB48DA25ACA}"/>
    <dgm:cxn modelId="{6EDB594F-164E-412C-BA49-10E75F1FD030}" srcId="{3878C014-5C7B-4F8F-BC56-FC5533991E38}" destId="{7D64AA0B-E088-43C2-9893-99B89A7A17F8}" srcOrd="0" destOrd="0" parTransId="{3B646130-37CD-4C73-853E-5C0DB724E84D}" sibTransId="{2D27CCDA-A1B9-4A74-A18D-2E13D85DCFFE}"/>
    <dgm:cxn modelId="{05216A76-27C6-436F-9F1B-3D7B850C6231}" type="presOf" srcId="{E81B153F-7934-411A-857D-8ACA6EA2C507}" destId="{8170D3C7-C652-4557-A219-C4E5876A5581}" srcOrd="0" destOrd="0" presId="urn:microsoft.com/office/officeart/2005/8/layout/chevron2"/>
    <dgm:cxn modelId="{5CBBB457-8FC2-4B8B-961A-F04845D4ADD3}" type="presOf" srcId="{A278C60B-7BF9-4B09-9E29-EA35508DFC4E}" destId="{2110353A-1EF8-4D65-9FA7-048C058987DD}" srcOrd="0" destOrd="0" presId="urn:microsoft.com/office/officeart/2005/8/layout/chevron2"/>
    <dgm:cxn modelId="{6F88BA77-DFF3-45E7-A604-F4CEAD9F2241}" type="presOf" srcId="{5FB22D29-551C-4759-AE50-DD655E633B70}" destId="{C16ACEC4-03D1-40D9-8CD4-E6827ED5BD8F}" srcOrd="0" destOrd="0" presId="urn:microsoft.com/office/officeart/2005/8/layout/chevron2"/>
    <dgm:cxn modelId="{B6839759-ADDB-46D7-9A72-1FCB695C5E07}" srcId="{7D64AA0B-E088-43C2-9893-99B89A7A17F8}" destId="{5FB22D29-551C-4759-AE50-DD655E633B70}" srcOrd="0" destOrd="0" parTransId="{C96AC9A8-7850-4AE7-A4CF-927AFAC8C0A2}" sibTransId="{F99BA1C2-8631-41F5-AA06-B381F710BF72}"/>
    <dgm:cxn modelId="{14D63BB0-B990-4C47-98D0-6F1577C46561}" srcId="{3878C014-5C7B-4F8F-BC56-FC5533991E38}" destId="{A278C60B-7BF9-4B09-9E29-EA35508DFC4E}" srcOrd="3" destOrd="0" parTransId="{913FB1F8-7CC2-43DE-A1AF-B6015CE66C2B}" sibTransId="{49003942-06A3-499E-B76C-BC7375A05CFD}"/>
    <dgm:cxn modelId="{E7FB3CCB-A3F4-4F04-A363-519E1432008C}" type="presOf" srcId="{3AA5A593-42A2-461D-811C-1195D32CC147}" destId="{1581A877-B86B-4F38-9DD4-81806E234168}" srcOrd="0" destOrd="0" presId="urn:microsoft.com/office/officeart/2005/8/layout/chevron2"/>
    <dgm:cxn modelId="{4A1DBAD9-45C1-4AC9-B11B-1A233EED4D02}" srcId="{3AA5A593-42A2-461D-811C-1195D32CC147}" destId="{6CF34F05-6464-4A73-87BA-E3E57202BF8A}" srcOrd="0" destOrd="0" parTransId="{9D87304B-922B-42EF-808E-05D3ED0945D3}" sibTransId="{442BE301-5B10-4DA3-AF9E-74602400796B}"/>
    <dgm:cxn modelId="{010004F3-1FB3-4976-BEFC-EBC8AF2F02A3}" type="presOf" srcId="{6CF34F05-6464-4A73-87BA-E3E57202BF8A}" destId="{67A2CA64-CBDF-48EE-B99B-3E1431F4CD9D}" srcOrd="0" destOrd="0" presId="urn:microsoft.com/office/officeart/2005/8/layout/chevron2"/>
    <dgm:cxn modelId="{E13114F8-0F7A-405F-AADB-6D7EE968DED0}" srcId="{668CC48A-FAFB-460C-A90A-94E5C574A6DA}" destId="{E81B153F-7934-411A-857D-8ACA6EA2C507}" srcOrd="0" destOrd="0" parTransId="{0BBE45C6-6828-444F-BD6F-42E628348E97}" sibTransId="{6E7548C1-A478-4C58-944A-90CC31258985}"/>
    <dgm:cxn modelId="{E76EBF81-316C-4C29-A21E-D37FDF9CEECD}" type="presParOf" srcId="{79F67C37-0A3D-4C6B-B7EA-333F35290678}" destId="{AF2F2C5E-1608-4061-87FF-A1D063A90BF2}" srcOrd="0" destOrd="0" presId="urn:microsoft.com/office/officeart/2005/8/layout/chevron2"/>
    <dgm:cxn modelId="{799C8ADE-1304-4B67-B6F2-1506B68C98BA}" type="presParOf" srcId="{AF2F2C5E-1608-4061-87FF-A1D063A90BF2}" destId="{D7B7A642-2657-4582-BC07-14E821A39627}" srcOrd="0" destOrd="0" presId="urn:microsoft.com/office/officeart/2005/8/layout/chevron2"/>
    <dgm:cxn modelId="{84D69041-F315-4BF2-ACAE-DA1A816BA7DB}" type="presParOf" srcId="{AF2F2C5E-1608-4061-87FF-A1D063A90BF2}" destId="{C16ACEC4-03D1-40D9-8CD4-E6827ED5BD8F}" srcOrd="1" destOrd="0" presId="urn:microsoft.com/office/officeart/2005/8/layout/chevron2"/>
    <dgm:cxn modelId="{6BAF6A6A-AE6A-463B-B31A-6712D927553E}" type="presParOf" srcId="{79F67C37-0A3D-4C6B-B7EA-333F35290678}" destId="{32279E74-1FE4-4A32-AAC1-AFBF9A8173C9}" srcOrd="1" destOrd="0" presId="urn:microsoft.com/office/officeart/2005/8/layout/chevron2"/>
    <dgm:cxn modelId="{E4B4A5FD-6981-46D3-9301-E47DC899D154}" type="presParOf" srcId="{79F67C37-0A3D-4C6B-B7EA-333F35290678}" destId="{17AD2DF5-13DE-43AD-9042-5A3EF93AEDA1}" srcOrd="2" destOrd="0" presId="urn:microsoft.com/office/officeart/2005/8/layout/chevron2"/>
    <dgm:cxn modelId="{118A06DF-36BC-4BDE-92F9-EC79C2646288}" type="presParOf" srcId="{17AD2DF5-13DE-43AD-9042-5A3EF93AEDA1}" destId="{1581A877-B86B-4F38-9DD4-81806E234168}" srcOrd="0" destOrd="0" presId="urn:microsoft.com/office/officeart/2005/8/layout/chevron2"/>
    <dgm:cxn modelId="{79699BCB-92ED-4881-8A41-C2CD00D19308}" type="presParOf" srcId="{17AD2DF5-13DE-43AD-9042-5A3EF93AEDA1}" destId="{67A2CA64-CBDF-48EE-B99B-3E1431F4CD9D}" srcOrd="1" destOrd="0" presId="urn:microsoft.com/office/officeart/2005/8/layout/chevron2"/>
    <dgm:cxn modelId="{F7A975A3-D6B2-472F-BE89-1C0B99E7D143}" type="presParOf" srcId="{79F67C37-0A3D-4C6B-B7EA-333F35290678}" destId="{D0C4EC4B-7184-4F80-B42B-505C0EED9945}" srcOrd="3" destOrd="0" presId="urn:microsoft.com/office/officeart/2005/8/layout/chevron2"/>
    <dgm:cxn modelId="{77F224AB-0618-482D-92E4-4EFFE12A92B6}" type="presParOf" srcId="{79F67C37-0A3D-4C6B-B7EA-333F35290678}" destId="{5B0CD942-3438-4BC7-820F-1724457954CD}" srcOrd="4" destOrd="0" presId="urn:microsoft.com/office/officeart/2005/8/layout/chevron2"/>
    <dgm:cxn modelId="{DF4ACAE7-AAA0-4EE4-AA4C-3C9C4D01A876}" type="presParOf" srcId="{5B0CD942-3438-4BC7-820F-1724457954CD}" destId="{6AD3DDAD-8571-42C3-92B1-DA60C1C007DA}" srcOrd="0" destOrd="0" presId="urn:microsoft.com/office/officeart/2005/8/layout/chevron2"/>
    <dgm:cxn modelId="{4EBC71A2-C512-4722-B205-95945E1391DF}" type="presParOf" srcId="{5B0CD942-3438-4BC7-820F-1724457954CD}" destId="{8170D3C7-C652-4557-A219-C4E5876A5581}" srcOrd="1" destOrd="0" presId="urn:microsoft.com/office/officeart/2005/8/layout/chevron2"/>
    <dgm:cxn modelId="{F1A35B73-5976-4C29-A2CB-E83D9C59C06B}" type="presParOf" srcId="{79F67C37-0A3D-4C6B-B7EA-333F35290678}" destId="{3F55AEDC-29B2-4D7C-879D-3F453C8F8467}" srcOrd="5" destOrd="0" presId="urn:microsoft.com/office/officeart/2005/8/layout/chevron2"/>
    <dgm:cxn modelId="{4DAA84FC-B2F8-460A-A049-048F9A3CFD25}" type="presParOf" srcId="{79F67C37-0A3D-4C6B-B7EA-333F35290678}" destId="{F3380FF7-28A4-4509-8EDE-204CD0019DD5}" srcOrd="6" destOrd="0" presId="urn:microsoft.com/office/officeart/2005/8/layout/chevron2"/>
    <dgm:cxn modelId="{CCA8722D-300B-42CD-AA6B-71870E196E3D}" type="presParOf" srcId="{F3380FF7-28A4-4509-8EDE-204CD0019DD5}" destId="{2110353A-1EF8-4D65-9FA7-048C058987DD}" srcOrd="0" destOrd="0" presId="urn:microsoft.com/office/officeart/2005/8/layout/chevron2"/>
    <dgm:cxn modelId="{86A428A9-99C6-4D81-85E4-EA795D254E4A}" type="presParOf" srcId="{F3380FF7-28A4-4509-8EDE-204CD0019DD5}" destId="{A465B2F1-FB39-4B2E-9463-C1B097CB1227}"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A8B2C-1283-421F-A47F-2869219439C7}">
      <dsp:nvSpPr>
        <dsp:cNvPr id="0" name=""/>
        <dsp:cNvSpPr/>
      </dsp:nvSpPr>
      <dsp:spPr>
        <a:xfrm>
          <a:off x="1835804" y="0"/>
          <a:ext cx="1509048" cy="14690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5C46E0-56B2-4721-9928-C9A3739B8FE5}">
      <dsp:nvSpPr>
        <dsp:cNvPr id="0" name=""/>
        <dsp:cNvSpPr/>
      </dsp:nvSpPr>
      <dsp:spPr>
        <a:xfrm>
          <a:off x="434545" y="1654999"/>
          <a:ext cx="4311566" cy="629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en-US" sz="2500" kern="1200">
              <a:latin typeface="Montserrat" panose="00000500000000000000" pitchFamily="2" charset="0"/>
            </a:rPr>
            <a:t>Technology Stack:</a:t>
          </a:r>
        </a:p>
      </dsp:txBody>
      <dsp:txXfrm>
        <a:off x="434545" y="1654999"/>
        <a:ext cx="4311566" cy="629593"/>
      </dsp:txXfrm>
    </dsp:sp>
    <dsp:sp modelId="{D8CDAC14-0BEF-4884-8AD3-F188499433E4}">
      <dsp:nvSpPr>
        <dsp:cNvPr id="0" name=""/>
        <dsp:cNvSpPr/>
      </dsp:nvSpPr>
      <dsp:spPr>
        <a:xfrm>
          <a:off x="434545" y="2371081"/>
          <a:ext cx="4311566" cy="2075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b="1" kern="1200">
              <a:latin typeface="Montserrat" panose="00000500000000000000" pitchFamily="2" charset="0"/>
            </a:rPr>
            <a:t>Microsoft-based</a:t>
          </a:r>
          <a:r>
            <a:rPr lang="en-US" sz="1700" kern="1200">
              <a:latin typeface="Montserrat" panose="00000500000000000000" pitchFamily="2" charset="0"/>
            </a:rPr>
            <a:t>: .NET, SQL Server, Azure.</a:t>
          </a:r>
        </a:p>
        <a:p>
          <a:pPr marL="0" lvl="0" indent="0" algn="ctr" defTabSz="755650">
            <a:lnSpc>
              <a:spcPct val="100000"/>
            </a:lnSpc>
            <a:spcBef>
              <a:spcPct val="0"/>
            </a:spcBef>
            <a:spcAft>
              <a:spcPct val="35000"/>
            </a:spcAft>
            <a:buNone/>
          </a:pPr>
          <a:r>
            <a:rPr lang="en-US" sz="1700" b="1" kern="1200">
              <a:latin typeface="Montserrat" panose="00000500000000000000" pitchFamily="2" charset="0"/>
            </a:rPr>
            <a:t>Secure hosting</a:t>
          </a:r>
          <a:r>
            <a:rPr lang="en-US" sz="1700" kern="1200">
              <a:latin typeface="Montserrat" panose="00000500000000000000" pitchFamily="2" charset="0"/>
            </a:rPr>
            <a:t>: IIS in DMZ network.</a:t>
          </a:r>
        </a:p>
        <a:p>
          <a:pPr marL="0" lvl="0" indent="0" algn="ctr" defTabSz="755650">
            <a:lnSpc>
              <a:spcPct val="100000"/>
            </a:lnSpc>
            <a:spcBef>
              <a:spcPct val="0"/>
            </a:spcBef>
            <a:spcAft>
              <a:spcPct val="35000"/>
            </a:spcAft>
            <a:buNone/>
          </a:pPr>
          <a:r>
            <a:rPr lang="en-US" sz="1700" b="1" kern="1200">
              <a:latin typeface="Montserrat" panose="00000500000000000000" pitchFamily="2" charset="0"/>
            </a:rPr>
            <a:t>DevOps</a:t>
          </a:r>
          <a:r>
            <a:rPr lang="en-US" sz="1700" kern="1200">
              <a:latin typeface="Montserrat" panose="00000500000000000000" pitchFamily="2" charset="0"/>
            </a:rPr>
            <a:t>: Azure DevOps for lifecycle management.</a:t>
          </a:r>
        </a:p>
        <a:p>
          <a:pPr marL="0" lvl="0" indent="0" algn="ctr" defTabSz="755650">
            <a:lnSpc>
              <a:spcPct val="100000"/>
            </a:lnSpc>
            <a:spcBef>
              <a:spcPct val="0"/>
            </a:spcBef>
            <a:spcAft>
              <a:spcPct val="35000"/>
            </a:spcAft>
            <a:buNone/>
          </a:pPr>
          <a:r>
            <a:rPr lang="en-US" sz="1700" b="1" kern="1200">
              <a:latin typeface="Montserrat" panose="00000500000000000000" pitchFamily="2" charset="0"/>
            </a:rPr>
            <a:t>Web presence</a:t>
          </a:r>
          <a:r>
            <a:rPr lang="en-US" sz="1700" kern="1200">
              <a:latin typeface="Montserrat" panose="00000500000000000000" pitchFamily="2" charset="0"/>
            </a:rPr>
            <a:t>: WordPress + SiteGround.</a:t>
          </a:r>
        </a:p>
      </dsp:txBody>
      <dsp:txXfrm>
        <a:off x="434545" y="2371081"/>
        <a:ext cx="4311566" cy="2075404"/>
      </dsp:txXfrm>
    </dsp:sp>
    <dsp:sp modelId="{B3713EFB-DB88-4E39-B210-593974157CA4}">
      <dsp:nvSpPr>
        <dsp:cNvPr id="0" name=""/>
        <dsp:cNvSpPr/>
      </dsp:nvSpPr>
      <dsp:spPr>
        <a:xfrm>
          <a:off x="6901895" y="0"/>
          <a:ext cx="1509048" cy="14690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B09261-72BD-4CF3-A7F3-B85BC158DF99}">
      <dsp:nvSpPr>
        <dsp:cNvPr id="0" name=""/>
        <dsp:cNvSpPr/>
      </dsp:nvSpPr>
      <dsp:spPr>
        <a:xfrm>
          <a:off x="5500636" y="1654999"/>
          <a:ext cx="4311566" cy="629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en-US" sz="2500" kern="1200">
              <a:latin typeface="Montserrat" panose="00000500000000000000" pitchFamily="2" charset="0"/>
            </a:rPr>
            <a:t>Cloud Based Architecture</a:t>
          </a:r>
        </a:p>
      </dsp:txBody>
      <dsp:txXfrm>
        <a:off x="5500636" y="1654999"/>
        <a:ext cx="4311566" cy="629593"/>
      </dsp:txXfrm>
    </dsp:sp>
    <dsp:sp modelId="{BE220E0F-1CA9-47DE-BC98-605AC3C727EF}">
      <dsp:nvSpPr>
        <dsp:cNvPr id="0" name=""/>
        <dsp:cNvSpPr/>
      </dsp:nvSpPr>
      <dsp:spPr>
        <a:xfrm>
          <a:off x="5500636" y="2371081"/>
          <a:ext cx="4311566" cy="2075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b="1" kern="1200">
              <a:latin typeface="Montserrat" panose="00000500000000000000" pitchFamily="2" charset="0"/>
            </a:rPr>
            <a:t>Hybrid Cloud Model</a:t>
          </a:r>
          <a:r>
            <a:rPr lang="en-US" sz="1700" kern="1200">
              <a:latin typeface="Montserrat" panose="00000500000000000000" pitchFamily="2" charset="0"/>
            </a:rPr>
            <a:t>: We operate across Microsoft Azure and Expedient Cloud, supporting scalable, secure hosting for applications and data. </a:t>
          </a:r>
        </a:p>
        <a:p>
          <a:pPr marL="0" lvl="0" indent="0" algn="ctr" defTabSz="755650">
            <a:lnSpc>
              <a:spcPct val="100000"/>
            </a:lnSpc>
            <a:spcBef>
              <a:spcPct val="0"/>
            </a:spcBef>
            <a:spcAft>
              <a:spcPct val="35000"/>
            </a:spcAft>
            <a:buNone/>
          </a:pPr>
          <a:r>
            <a:rPr lang="en-US" sz="1700" b="1" kern="1200">
              <a:latin typeface="Montserrat" panose="00000500000000000000" pitchFamily="2" charset="0"/>
            </a:rPr>
            <a:t>Cloud-Native Design</a:t>
          </a:r>
          <a:r>
            <a:rPr lang="en-US" sz="1700" kern="1200">
              <a:latin typeface="Montserrat" panose="00000500000000000000" pitchFamily="2" charset="0"/>
            </a:rPr>
            <a:t>: Our architecture leverages Azure DevOps, Microsoft 365, and Genesys Cloud for rapid deployment, centralized access, and enterprise-grade reliability. </a:t>
          </a:r>
        </a:p>
      </dsp:txBody>
      <dsp:txXfrm>
        <a:off x="5500636" y="2371081"/>
        <a:ext cx="4311566" cy="20754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6E8BB-AB8C-49FB-8AFF-53DB0C91F0A3}">
      <dsp:nvSpPr>
        <dsp:cNvPr id="0" name=""/>
        <dsp:cNvSpPr/>
      </dsp:nvSpPr>
      <dsp:spPr>
        <a:xfrm>
          <a:off x="0" y="0"/>
          <a:ext cx="4619621"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1CD7F4F-6EAE-413F-A341-074C85AB43CA}">
      <dsp:nvSpPr>
        <dsp:cNvPr id="0" name=""/>
        <dsp:cNvSpPr/>
      </dsp:nvSpPr>
      <dsp:spPr>
        <a:xfrm>
          <a:off x="0" y="0"/>
          <a:ext cx="4619621" cy="960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a:latin typeface="Montserrat" panose="00000500000000000000" pitchFamily="2" charset="0"/>
            </a:rPr>
            <a:t>Zero Trust</a:t>
          </a:r>
          <a:r>
            <a:rPr lang="en-US" sz="1900" kern="1200">
              <a:latin typeface="Montserrat" panose="00000500000000000000" pitchFamily="2" charset="0"/>
            </a:rPr>
            <a:t>: Least-privilege, just-in-time access.</a:t>
          </a:r>
        </a:p>
      </dsp:txBody>
      <dsp:txXfrm>
        <a:off x="0" y="0"/>
        <a:ext cx="4619621" cy="960916"/>
      </dsp:txXfrm>
    </dsp:sp>
    <dsp:sp modelId="{0EFDEA76-20DE-48DF-A2F2-6C740F6A5C95}">
      <dsp:nvSpPr>
        <dsp:cNvPr id="0" name=""/>
        <dsp:cNvSpPr/>
      </dsp:nvSpPr>
      <dsp:spPr>
        <a:xfrm>
          <a:off x="0" y="960916"/>
          <a:ext cx="4619621"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0C85436-F8D3-435C-95D5-FB8E9CE26E01}">
      <dsp:nvSpPr>
        <dsp:cNvPr id="0" name=""/>
        <dsp:cNvSpPr/>
      </dsp:nvSpPr>
      <dsp:spPr>
        <a:xfrm>
          <a:off x="0" y="960916"/>
          <a:ext cx="4619621" cy="960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a:latin typeface="Montserrat" panose="00000500000000000000" pitchFamily="2" charset="0"/>
            </a:rPr>
            <a:t>Cloud Secure</a:t>
          </a:r>
          <a:r>
            <a:rPr lang="en-US" sz="1900" kern="1200">
              <a:latin typeface="Montserrat" panose="00000500000000000000" pitchFamily="2" charset="0"/>
            </a:rPr>
            <a:t>: Compliant cloud data center with centralized secure edge controls.</a:t>
          </a:r>
        </a:p>
      </dsp:txBody>
      <dsp:txXfrm>
        <a:off x="0" y="960916"/>
        <a:ext cx="4619621" cy="960916"/>
      </dsp:txXfrm>
    </dsp:sp>
    <dsp:sp modelId="{B8D401A0-4977-489E-B9C8-73B1E285FA10}">
      <dsp:nvSpPr>
        <dsp:cNvPr id="0" name=""/>
        <dsp:cNvSpPr/>
      </dsp:nvSpPr>
      <dsp:spPr>
        <a:xfrm>
          <a:off x="0" y="1921833"/>
          <a:ext cx="4619621"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4D0DF9F-DFA4-47B7-A763-070682DD6A7B}">
      <dsp:nvSpPr>
        <dsp:cNvPr id="0" name=""/>
        <dsp:cNvSpPr/>
      </dsp:nvSpPr>
      <dsp:spPr>
        <a:xfrm>
          <a:off x="0" y="1921833"/>
          <a:ext cx="4619621" cy="960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a:latin typeface="Montserrat" panose="00000500000000000000" pitchFamily="2" charset="0"/>
            </a:rPr>
            <a:t>MFA Only</a:t>
          </a:r>
          <a:r>
            <a:rPr lang="en-US" sz="1900" kern="1200">
              <a:latin typeface="Montserrat" panose="00000500000000000000" pitchFamily="2" charset="0"/>
            </a:rPr>
            <a:t>: Authenticator app required.</a:t>
          </a:r>
        </a:p>
      </dsp:txBody>
      <dsp:txXfrm>
        <a:off x="0" y="1921833"/>
        <a:ext cx="4619621" cy="960916"/>
      </dsp:txXfrm>
    </dsp:sp>
    <dsp:sp modelId="{A18E489E-737F-4927-A414-5D009AB165DE}">
      <dsp:nvSpPr>
        <dsp:cNvPr id="0" name=""/>
        <dsp:cNvSpPr/>
      </dsp:nvSpPr>
      <dsp:spPr>
        <a:xfrm>
          <a:off x="0" y="2882749"/>
          <a:ext cx="4619621"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F3B8183-F2F4-4D1E-9800-79B805E7143B}">
      <dsp:nvSpPr>
        <dsp:cNvPr id="0" name=""/>
        <dsp:cNvSpPr/>
      </dsp:nvSpPr>
      <dsp:spPr>
        <a:xfrm>
          <a:off x="0" y="2882749"/>
          <a:ext cx="4619621" cy="960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a:latin typeface="Montserrat" panose="00000500000000000000" pitchFamily="2" charset="0"/>
            </a:rPr>
            <a:t>24/7 SOC</a:t>
          </a:r>
          <a:r>
            <a:rPr lang="en-US" sz="1900" kern="1200">
              <a:latin typeface="Montserrat" panose="00000500000000000000" pitchFamily="2" charset="0"/>
            </a:rPr>
            <a:t>: Real-time monitoring &amp; response.</a:t>
          </a:r>
        </a:p>
      </dsp:txBody>
      <dsp:txXfrm>
        <a:off x="0" y="2882749"/>
        <a:ext cx="4619621" cy="9609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3244D-BB28-4A66-B8A5-552E91CC2A37}">
      <dsp:nvSpPr>
        <dsp:cNvPr id="0" name=""/>
        <dsp:cNvSpPr/>
      </dsp:nvSpPr>
      <dsp:spPr>
        <a:xfrm>
          <a:off x="1365113" y="358971"/>
          <a:ext cx="734062" cy="73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97AFC-9F73-40B9-AB0E-A7B4538CC235}">
      <dsp:nvSpPr>
        <dsp:cNvPr id="0" name=""/>
        <dsp:cNvSpPr/>
      </dsp:nvSpPr>
      <dsp:spPr>
        <a:xfrm>
          <a:off x="916520" y="1375550"/>
          <a:ext cx="1631250" cy="77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Streamlined Data Exchange</a:t>
          </a:r>
          <a:r>
            <a:rPr lang="en-US" sz="1100" kern="1200"/>
            <a:t> – Seamless EDI connections with benefit administration partners for improved accuracy and efficiency</a:t>
          </a:r>
        </a:p>
      </dsp:txBody>
      <dsp:txXfrm>
        <a:off x="916520" y="1375550"/>
        <a:ext cx="1631250" cy="774843"/>
      </dsp:txXfrm>
    </dsp:sp>
    <dsp:sp modelId="{EBE1E378-8CDB-494F-A430-24F282B1C204}">
      <dsp:nvSpPr>
        <dsp:cNvPr id="0" name=""/>
        <dsp:cNvSpPr/>
      </dsp:nvSpPr>
      <dsp:spPr>
        <a:xfrm>
          <a:off x="3281832" y="358971"/>
          <a:ext cx="734062" cy="73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05DDF4-2B94-41F6-A2F5-15031C595C8F}">
      <dsp:nvSpPr>
        <dsp:cNvPr id="0" name=""/>
        <dsp:cNvSpPr/>
      </dsp:nvSpPr>
      <dsp:spPr>
        <a:xfrm>
          <a:off x="2833239" y="1375550"/>
          <a:ext cx="1631250" cy="77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Proven Experience</a:t>
          </a:r>
          <a:r>
            <a:rPr lang="en-US" sz="1100" kern="1200"/>
            <a:t> – 100+ successful partner engagements</a:t>
          </a:r>
        </a:p>
      </dsp:txBody>
      <dsp:txXfrm>
        <a:off x="2833239" y="1375550"/>
        <a:ext cx="1631250" cy="774843"/>
      </dsp:txXfrm>
    </dsp:sp>
    <dsp:sp modelId="{93E35509-67D1-4DC1-AC00-78E6660C2138}">
      <dsp:nvSpPr>
        <dsp:cNvPr id="0" name=""/>
        <dsp:cNvSpPr/>
      </dsp:nvSpPr>
      <dsp:spPr>
        <a:xfrm>
          <a:off x="5198551" y="358971"/>
          <a:ext cx="734062" cy="7340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01949B-8F5F-4EA7-AA79-F86718355CA0}">
      <dsp:nvSpPr>
        <dsp:cNvPr id="0" name=""/>
        <dsp:cNvSpPr/>
      </dsp:nvSpPr>
      <dsp:spPr>
        <a:xfrm>
          <a:off x="4749957" y="1375550"/>
          <a:ext cx="1631250" cy="77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Standardized Approach</a:t>
          </a:r>
          <a:r>
            <a:rPr lang="en-US" sz="1100" kern="1200"/>
            <a:t> – Simple file layout for consistent data accuracy</a:t>
          </a:r>
        </a:p>
      </dsp:txBody>
      <dsp:txXfrm>
        <a:off x="4749957" y="1375550"/>
        <a:ext cx="1631250" cy="774843"/>
      </dsp:txXfrm>
    </dsp:sp>
    <dsp:sp modelId="{A0975B99-81B8-4B45-B454-D95FA16D5D25}">
      <dsp:nvSpPr>
        <dsp:cNvPr id="0" name=""/>
        <dsp:cNvSpPr/>
      </dsp:nvSpPr>
      <dsp:spPr>
        <a:xfrm>
          <a:off x="2323473" y="2558206"/>
          <a:ext cx="734062" cy="73406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FADBFA-C9EE-4F18-BE44-3F675798D7EA}">
      <dsp:nvSpPr>
        <dsp:cNvPr id="0" name=""/>
        <dsp:cNvSpPr/>
      </dsp:nvSpPr>
      <dsp:spPr>
        <a:xfrm>
          <a:off x="1874879" y="3574785"/>
          <a:ext cx="1631250" cy="77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Dedicated Support</a:t>
          </a:r>
          <a:r>
            <a:rPr lang="en-US" sz="1100" kern="1200"/>
            <a:t> – Assigned EDI coordinator to manage implementation and ongoing needs</a:t>
          </a:r>
        </a:p>
      </dsp:txBody>
      <dsp:txXfrm>
        <a:off x="1874879" y="3574785"/>
        <a:ext cx="1631250" cy="774843"/>
      </dsp:txXfrm>
    </dsp:sp>
    <dsp:sp modelId="{5DE41095-3CFB-4EFB-9047-9B64AD264196}">
      <dsp:nvSpPr>
        <dsp:cNvPr id="0" name=""/>
        <dsp:cNvSpPr/>
      </dsp:nvSpPr>
      <dsp:spPr>
        <a:xfrm>
          <a:off x="4240192" y="2558206"/>
          <a:ext cx="734062" cy="73406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5613D6-1F5E-470E-B188-00C0C09E1B76}">
      <dsp:nvSpPr>
        <dsp:cNvPr id="0" name=""/>
        <dsp:cNvSpPr/>
      </dsp:nvSpPr>
      <dsp:spPr>
        <a:xfrm>
          <a:off x="3791598" y="3574785"/>
          <a:ext cx="1631250" cy="77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Efficient Implementation</a:t>
          </a:r>
          <a:r>
            <a:rPr lang="en-US" sz="1100" kern="1200"/>
            <a:t> – Simple, proven project plan from introduction to production in just 3–6 weeks</a:t>
          </a:r>
        </a:p>
      </dsp:txBody>
      <dsp:txXfrm>
        <a:off x="3791598" y="3574785"/>
        <a:ext cx="1631250" cy="7748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015622-8A46-45CF-A72A-2856B699B374}">
      <dsp:nvSpPr>
        <dsp:cNvPr id="0" name=""/>
        <dsp:cNvSpPr/>
      </dsp:nvSpPr>
      <dsp:spPr>
        <a:xfrm>
          <a:off x="1472" y="1440965"/>
          <a:ext cx="2233863" cy="1842469"/>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311150">
            <a:lnSpc>
              <a:spcPct val="90000"/>
            </a:lnSpc>
            <a:spcBef>
              <a:spcPct val="0"/>
            </a:spcBef>
            <a:spcAft>
              <a:spcPct val="15000"/>
            </a:spcAft>
            <a:buChar char="•"/>
          </a:pPr>
          <a:endParaRPr lang="en-US" sz="700" kern="1200"/>
        </a:p>
        <a:p>
          <a:pPr marL="57150" lvl="1" indent="-57150" algn="l" defTabSz="311150">
            <a:lnSpc>
              <a:spcPct val="90000"/>
            </a:lnSpc>
            <a:spcBef>
              <a:spcPct val="0"/>
            </a:spcBef>
            <a:spcAft>
              <a:spcPct val="15000"/>
            </a:spcAft>
            <a:buChar char="•"/>
          </a:pPr>
          <a:endParaRPr lang="en-US" sz="700" kern="1200"/>
        </a:p>
        <a:p>
          <a:pPr marL="114300" lvl="1"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r>
            <a:rPr lang="en-US" sz="1400" kern="1200">
              <a:latin typeface="Aptos Display" panose="020B0004020202020204" pitchFamily="34" charset="0"/>
            </a:rPr>
            <a:t>“Michelle was a gift to me the day I called in. She took control and got everything going – amazing!”</a:t>
          </a:r>
        </a:p>
      </dsp:txBody>
      <dsp:txXfrm>
        <a:off x="43872" y="1483365"/>
        <a:ext cx="2149063" cy="1362854"/>
      </dsp:txXfrm>
    </dsp:sp>
    <dsp:sp modelId="{6A63D16E-EEE6-4267-97EA-5AD7D2BC4E84}">
      <dsp:nvSpPr>
        <dsp:cNvPr id="0" name=""/>
        <dsp:cNvSpPr/>
      </dsp:nvSpPr>
      <dsp:spPr>
        <a:xfrm>
          <a:off x="1161474" y="1959099"/>
          <a:ext cx="2584976" cy="2584976"/>
        </a:xfrm>
        <a:prstGeom prst="leftCircularArrow">
          <a:avLst>
            <a:gd name="adj1" fmla="val 3646"/>
            <a:gd name="adj2" fmla="val 453955"/>
            <a:gd name="adj3" fmla="val 1714155"/>
            <a:gd name="adj4" fmla="val 8509178"/>
            <a:gd name="adj5" fmla="val 4254"/>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18C6CF4-EDEB-4539-A36D-E0355B626199}">
      <dsp:nvSpPr>
        <dsp:cNvPr id="0" name=""/>
        <dsp:cNvSpPr/>
      </dsp:nvSpPr>
      <dsp:spPr>
        <a:xfrm>
          <a:off x="525407" y="3197783"/>
          <a:ext cx="1985656" cy="78962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ptos" panose="020B0004020202020204" pitchFamily="34" charset="0"/>
            </a:rPr>
            <a:t>Our Agents advocate for our members…</a:t>
          </a:r>
        </a:p>
      </dsp:txBody>
      <dsp:txXfrm>
        <a:off x="548534" y="3220910"/>
        <a:ext cx="1939402" cy="743375"/>
      </dsp:txXfrm>
    </dsp:sp>
    <dsp:sp modelId="{0C5CCCF8-E1F0-4109-A542-1524360C0AC9}">
      <dsp:nvSpPr>
        <dsp:cNvPr id="0" name=""/>
        <dsp:cNvSpPr/>
      </dsp:nvSpPr>
      <dsp:spPr>
        <a:xfrm>
          <a:off x="2932333" y="1440965"/>
          <a:ext cx="2233863" cy="1842469"/>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Aptos" panose="020B0004020202020204" pitchFamily="34" charset="0"/>
            </a:rPr>
            <a:t>“Amy took the time to walk me through how to find in-network providers and explained the benefits clearly and patiently.”</a:t>
          </a:r>
        </a:p>
      </dsp:txBody>
      <dsp:txXfrm>
        <a:off x="2974733" y="1878180"/>
        <a:ext cx="2149063" cy="1362854"/>
      </dsp:txXfrm>
    </dsp:sp>
    <dsp:sp modelId="{49494610-4F53-4811-AE89-20499768BD44}">
      <dsp:nvSpPr>
        <dsp:cNvPr id="0" name=""/>
        <dsp:cNvSpPr/>
      </dsp:nvSpPr>
      <dsp:spPr>
        <a:xfrm>
          <a:off x="4145269" y="268001"/>
          <a:ext cx="2875367" cy="2875367"/>
        </a:xfrm>
        <a:prstGeom prst="circularArrow">
          <a:avLst>
            <a:gd name="adj1" fmla="val 3278"/>
            <a:gd name="adj2" fmla="val 404544"/>
            <a:gd name="adj3" fmla="val 19419945"/>
            <a:gd name="adj4" fmla="val 12575511"/>
            <a:gd name="adj5" fmla="val 3824"/>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447120D-D64E-48E5-8719-D0674B96E0F0}">
      <dsp:nvSpPr>
        <dsp:cNvPr id="0" name=""/>
        <dsp:cNvSpPr/>
      </dsp:nvSpPr>
      <dsp:spPr>
        <a:xfrm>
          <a:off x="3428747" y="1046150"/>
          <a:ext cx="1985656" cy="78962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a:latin typeface="Aptos Display" panose="020B0004020202020204" pitchFamily="34" charset="0"/>
            </a:rPr>
            <a:t>“She explained my claims in a way I could understand. Please give her kudos for a job well done.”</a:t>
          </a:r>
        </a:p>
      </dsp:txBody>
      <dsp:txXfrm>
        <a:off x="3451874" y="1069277"/>
        <a:ext cx="1939402" cy="743375"/>
      </dsp:txXfrm>
    </dsp:sp>
    <dsp:sp modelId="{D3237FB3-7AF6-4D06-A930-B7E928B679D2}">
      <dsp:nvSpPr>
        <dsp:cNvPr id="0" name=""/>
        <dsp:cNvSpPr/>
      </dsp:nvSpPr>
      <dsp:spPr>
        <a:xfrm>
          <a:off x="5863195" y="1440965"/>
          <a:ext cx="2233863" cy="1842469"/>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endParaRPr lang="en-US" sz="1000" kern="1200">
            <a:latin typeface="Aptos Display" panose="020B0004020202020204" pitchFamily="34" charset="0"/>
          </a:endParaRPr>
        </a:p>
        <a:p>
          <a:pPr marL="114300" lvl="1" indent="-114300" algn="l" defTabSz="533400">
            <a:lnSpc>
              <a:spcPct val="90000"/>
            </a:lnSpc>
            <a:spcBef>
              <a:spcPct val="0"/>
            </a:spcBef>
            <a:spcAft>
              <a:spcPct val="15000"/>
            </a:spcAft>
            <a:buChar char="•"/>
          </a:pPr>
          <a:r>
            <a:rPr lang="en-US" sz="1200" kern="1200">
              <a:latin typeface="Aptos Display" panose="020B0004020202020204" pitchFamily="34" charset="0"/>
            </a:rPr>
            <a:t>“I called frustrated after a long day, and the representative was cordial, professional, and knowledgeable. She changed my mood with her calm voice – please acknowledge her!”</a:t>
          </a:r>
        </a:p>
      </dsp:txBody>
      <dsp:txXfrm>
        <a:off x="5905595" y="1483365"/>
        <a:ext cx="2149063" cy="1362854"/>
      </dsp:txXfrm>
    </dsp:sp>
    <dsp:sp modelId="{511AD637-F431-4132-8EAB-B33AB5632303}">
      <dsp:nvSpPr>
        <dsp:cNvPr id="0" name=""/>
        <dsp:cNvSpPr/>
      </dsp:nvSpPr>
      <dsp:spPr>
        <a:xfrm>
          <a:off x="7258272" y="2066688"/>
          <a:ext cx="2338799" cy="2338799"/>
        </a:xfrm>
        <a:prstGeom prst="leftCircularArrow">
          <a:avLst>
            <a:gd name="adj1" fmla="val 4030"/>
            <a:gd name="adj2" fmla="val 506399"/>
            <a:gd name="adj3" fmla="val 1999071"/>
            <a:gd name="adj4" fmla="val 8741651"/>
            <a:gd name="adj5" fmla="val 470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122355-B2D5-4473-A34C-5853E8F96516}">
      <dsp:nvSpPr>
        <dsp:cNvPr id="0" name=""/>
        <dsp:cNvSpPr/>
      </dsp:nvSpPr>
      <dsp:spPr>
        <a:xfrm>
          <a:off x="6553210" y="3047998"/>
          <a:ext cx="1985656" cy="78962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a:latin typeface="Aptos Display" panose="020B0004020202020204" pitchFamily="34" charset="0"/>
            </a:rPr>
            <a:t>“Ashlee was beyond wonderful at helping me resolve a months‑long issue.”</a:t>
          </a:r>
        </a:p>
      </dsp:txBody>
      <dsp:txXfrm>
        <a:off x="6576337" y="3071125"/>
        <a:ext cx="1939402" cy="743375"/>
      </dsp:txXfrm>
    </dsp:sp>
    <dsp:sp modelId="{7F6F8B03-CC8A-4864-90B7-6CF2FA5B61F9}">
      <dsp:nvSpPr>
        <dsp:cNvPr id="0" name=""/>
        <dsp:cNvSpPr/>
      </dsp:nvSpPr>
      <dsp:spPr>
        <a:xfrm>
          <a:off x="8763005" y="1447800"/>
          <a:ext cx="2233863" cy="1842469"/>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Aptos Display" panose="020B0004020202020204" pitchFamily="34" charset="0"/>
            </a:rPr>
            <a:t>“Teresa was kind, helpful, and went above and beyond with superb customer service.”</a:t>
          </a:r>
        </a:p>
      </dsp:txBody>
      <dsp:txXfrm>
        <a:off x="8805405" y="1885015"/>
        <a:ext cx="2149063" cy="1362854"/>
      </dsp:txXfrm>
    </dsp:sp>
    <dsp:sp modelId="{E18167B4-3060-4D43-85E5-FC43F4E8B3E2}">
      <dsp:nvSpPr>
        <dsp:cNvPr id="0" name=""/>
        <dsp:cNvSpPr/>
      </dsp:nvSpPr>
      <dsp:spPr>
        <a:xfrm>
          <a:off x="9220198" y="1066798"/>
          <a:ext cx="1985656" cy="78962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a:latin typeface="Aptos Display" panose="020B0004020202020204" pitchFamily="34" charset="0"/>
            </a:rPr>
            <a:t>Our Agents understand the Journey …</a:t>
          </a:r>
        </a:p>
      </dsp:txBody>
      <dsp:txXfrm>
        <a:off x="9243325" y="1089925"/>
        <a:ext cx="1939402" cy="7433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7A642-2657-4582-BC07-14E821A39627}">
      <dsp:nvSpPr>
        <dsp:cNvPr id="0" name=""/>
        <dsp:cNvSpPr/>
      </dsp:nvSpPr>
      <dsp:spPr>
        <a:xfrm rot="5400000">
          <a:off x="-236715" y="237633"/>
          <a:ext cx="1560922" cy="1092645"/>
        </a:xfrm>
        <a:prstGeom prst="chevron">
          <a:avLst/>
        </a:prstGeom>
        <a:solidFill>
          <a:schemeClr val="accent1">
            <a:shade val="50000"/>
            <a:hueOff val="0"/>
            <a:satOff val="0"/>
            <a:lumOff val="0"/>
            <a:alphaOff val="0"/>
          </a:schemeClr>
        </a:solidFill>
        <a:ln w="19050" cap="flat" cmpd="sng" algn="ctr">
          <a:solidFill>
            <a:schemeClr val="accent1">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Claim Processed and Released</a:t>
          </a:r>
        </a:p>
      </dsp:txBody>
      <dsp:txXfrm rot="-5400000">
        <a:off x="-2576" y="549818"/>
        <a:ext cx="1092645" cy="468277"/>
      </dsp:txXfrm>
    </dsp:sp>
    <dsp:sp modelId="{C16ACEC4-03D1-40D9-8CD4-E6827ED5BD8F}">
      <dsp:nvSpPr>
        <dsp:cNvPr id="0" name=""/>
        <dsp:cNvSpPr/>
      </dsp:nvSpPr>
      <dsp:spPr>
        <a:xfrm rot="5400000">
          <a:off x="2520989" y="-1436358"/>
          <a:ext cx="1014599" cy="3890369"/>
        </a:xfrm>
        <a:prstGeom prst="round2SameRect">
          <a:avLst/>
        </a:prstGeom>
        <a:solidFill>
          <a:schemeClr val="lt1">
            <a:alpha val="90000"/>
            <a:hueOff val="0"/>
            <a:satOff val="0"/>
            <a:lumOff val="0"/>
            <a:alphaOff val="0"/>
          </a:schemeClr>
        </a:solidFill>
        <a:ln w="19050" cap="flat" cmpd="sng" algn="ctr">
          <a:solidFill>
            <a:schemeClr val="accent1">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Claim is processed and paid</a:t>
          </a:r>
        </a:p>
      </dsp:txBody>
      <dsp:txXfrm rot="-5400000">
        <a:off x="1083105" y="51055"/>
        <a:ext cx="3840840" cy="915541"/>
      </dsp:txXfrm>
    </dsp:sp>
    <dsp:sp modelId="{1581A877-B86B-4F38-9DD4-81806E234168}">
      <dsp:nvSpPr>
        <dsp:cNvPr id="0" name=""/>
        <dsp:cNvSpPr/>
      </dsp:nvSpPr>
      <dsp:spPr>
        <a:xfrm rot="5400000">
          <a:off x="-236715" y="1604143"/>
          <a:ext cx="1560922" cy="1092645"/>
        </a:xfrm>
        <a:prstGeom prst="chevron">
          <a:avLst/>
        </a:prstGeom>
        <a:solidFill>
          <a:schemeClr val="accent1">
            <a:shade val="50000"/>
            <a:hueOff val="393099"/>
            <a:satOff val="-41319"/>
            <a:lumOff val="35655"/>
            <a:alphaOff val="0"/>
          </a:schemeClr>
        </a:solidFill>
        <a:ln w="19050" cap="flat" cmpd="sng" algn="ctr">
          <a:solidFill>
            <a:schemeClr val="accent1">
              <a:shade val="50000"/>
              <a:hueOff val="393099"/>
              <a:satOff val="-41319"/>
              <a:lumOff val="356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Claim Audited</a:t>
          </a:r>
        </a:p>
      </dsp:txBody>
      <dsp:txXfrm rot="-5400000">
        <a:off x="-2576" y="1916328"/>
        <a:ext cx="1092645" cy="468277"/>
      </dsp:txXfrm>
    </dsp:sp>
    <dsp:sp modelId="{67A2CA64-CBDF-48EE-B99B-3E1431F4CD9D}">
      <dsp:nvSpPr>
        <dsp:cNvPr id="0" name=""/>
        <dsp:cNvSpPr/>
      </dsp:nvSpPr>
      <dsp:spPr>
        <a:xfrm rot="5400000">
          <a:off x="2547976" y="-73034"/>
          <a:ext cx="974553" cy="3900678"/>
        </a:xfrm>
        <a:prstGeom prst="round2SameRect">
          <a:avLst/>
        </a:prstGeom>
        <a:solidFill>
          <a:schemeClr val="lt1">
            <a:alpha val="90000"/>
            <a:hueOff val="0"/>
            <a:satOff val="0"/>
            <a:lumOff val="0"/>
            <a:alphaOff val="0"/>
          </a:schemeClr>
        </a:solidFill>
        <a:ln w="19050" cap="flat" cmpd="sng" algn="ctr">
          <a:solidFill>
            <a:schemeClr val="accent1">
              <a:shade val="50000"/>
              <a:hueOff val="393099"/>
              <a:satOff val="-41319"/>
              <a:lumOff val="356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b="1" i="1" kern="1200"/>
            <a:t>After </a:t>
          </a:r>
          <a:r>
            <a:rPr lang="en-US" sz="2000" kern="1200"/>
            <a:t>the claim has been paid, a post payment audit review is completed</a:t>
          </a:r>
        </a:p>
      </dsp:txBody>
      <dsp:txXfrm rot="-5400000">
        <a:off x="1084914" y="1437602"/>
        <a:ext cx="3853104" cy="879405"/>
      </dsp:txXfrm>
    </dsp:sp>
    <dsp:sp modelId="{6AD3DDAD-8571-42C3-92B1-DA60C1C007DA}">
      <dsp:nvSpPr>
        <dsp:cNvPr id="0" name=""/>
        <dsp:cNvSpPr/>
      </dsp:nvSpPr>
      <dsp:spPr>
        <a:xfrm rot="5400000">
          <a:off x="-236715" y="2970652"/>
          <a:ext cx="1560922" cy="1092645"/>
        </a:xfrm>
        <a:prstGeom prst="chevron">
          <a:avLst/>
        </a:prstGeom>
        <a:solidFill>
          <a:schemeClr val="accent1">
            <a:shade val="50000"/>
            <a:hueOff val="393099"/>
            <a:satOff val="-41319"/>
            <a:lumOff val="35655"/>
            <a:alphaOff val="0"/>
          </a:schemeClr>
        </a:solidFill>
        <a:ln w="19050" cap="flat" cmpd="sng" algn="ctr">
          <a:solidFill>
            <a:schemeClr val="accent1">
              <a:shade val="50000"/>
              <a:hueOff val="393099"/>
              <a:satOff val="-41319"/>
              <a:lumOff val="356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Sent for Corrections</a:t>
          </a:r>
        </a:p>
      </dsp:txBody>
      <dsp:txXfrm rot="-5400000">
        <a:off x="-2576" y="3282837"/>
        <a:ext cx="1092645" cy="468277"/>
      </dsp:txXfrm>
    </dsp:sp>
    <dsp:sp modelId="{8170D3C7-C652-4557-A219-C4E5876A5581}">
      <dsp:nvSpPr>
        <dsp:cNvPr id="0" name=""/>
        <dsp:cNvSpPr/>
      </dsp:nvSpPr>
      <dsp:spPr>
        <a:xfrm rot="5400000">
          <a:off x="2527953" y="1298629"/>
          <a:ext cx="1014599" cy="3890369"/>
        </a:xfrm>
        <a:prstGeom prst="round2SameRect">
          <a:avLst/>
        </a:prstGeom>
        <a:solidFill>
          <a:schemeClr val="lt1">
            <a:alpha val="90000"/>
            <a:hueOff val="0"/>
            <a:satOff val="0"/>
            <a:lumOff val="0"/>
            <a:alphaOff val="0"/>
          </a:schemeClr>
        </a:solidFill>
        <a:ln w="19050" cap="flat" cmpd="sng" algn="ctr">
          <a:solidFill>
            <a:schemeClr val="accent1">
              <a:shade val="50000"/>
              <a:hueOff val="393099"/>
              <a:satOff val="-41319"/>
              <a:lumOff val="356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Costly adjustments are handled </a:t>
          </a:r>
          <a:r>
            <a:rPr lang="en-US" sz="2000" i="1" kern="1200"/>
            <a:t>after</a:t>
          </a:r>
          <a:r>
            <a:rPr lang="en-US" sz="2000" kern="1200"/>
            <a:t> the claims have been paid</a:t>
          </a:r>
        </a:p>
      </dsp:txBody>
      <dsp:txXfrm rot="-5400000">
        <a:off x="1090069" y="2786043"/>
        <a:ext cx="3840840" cy="9155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7A642-2657-4582-BC07-14E821A39627}">
      <dsp:nvSpPr>
        <dsp:cNvPr id="0" name=""/>
        <dsp:cNvSpPr/>
      </dsp:nvSpPr>
      <dsp:spPr>
        <a:xfrm rot="5400000">
          <a:off x="-175828" y="177587"/>
          <a:ext cx="1172188" cy="820531"/>
        </a:xfrm>
        <a:prstGeom prst="chevron">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Claim Processed</a:t>
          </a:r>
        </a:p>
      </dsp:txBody>
      <dsp:txXfrm rot="-5400000">
        <a:off x="1" y="412025"/>
        <a:ext cx="820531" cy="351657"/>
      </dsp:txXfrm>
    </dsp:sp>
    <dsp:sp modelId="{C16ACEC4-03D1-40D9-8CD4-E6827ED5BD8F}">
      <dsp:nvSpPr>
        <dsp:cNvPr id="0" name=""/>
        <dsp:cNvSpPr/>
      </dsp:nvSpPr>
      <dsp:spPr>
        <a:xfrm rot="5400000">
          <a:off x="2852371" y="-2030704"/>
          <a:ext cx="761922" cy="4825601"/>
        </a:xfrm>
        <a:prstGeom prst="round2Same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Processing completed by claim processor</a:t>
          </a:r>
        </a:p>
      </dsp:txBody>
      <dsp:txXfrm rot="-5400000">
        <a:off x="820532" y="38329"/>
        <a:ext cx="4788407" cy="687534"/>
      </dsp:txXfrm>
    </dsp:sp>
    <dsp:sp modelId="{1581A877-B86B-4F38-9DD4-81806E234168}">
      <dsp:nvSpPr>
        <dsp:cNvPr id="0" name=""/>
        <dsp:cNvSpPr/>
      </dsp:nvSpPr>
      <dsp:spPr>
        <a:xfrm rot="5400000">
          <a:off x="-175828" y="1201993"/>
          <a:ext cx="1172188" cy="820531"/>
        </a:xfrm>
        <a:prstGeom prst="chevron">
          <a:avLst/>
        </a:prstGeom>
        <a:solidFill>
          <a:schemeClr val="accent3">
            <a:hueOff val="1372388"/>
            <a:satOff val="8237"/>
            <a:lumOff val="6275"/>
            <a:alphaOff val="0"/>
          </a:schemeClr>
        </a:solidFill>
        <a:ln w="19050" cap="flat" cmpd="sng" algn="ctr">
          <a:solidFill>
            <a:schemeClr val="accent3">
              <a:hueOff val="1372388"/>
              <a:satOff val="8237"/>
              <a:lumOff val="627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Claim Audited</a:t>
          </a:r>
        </a:p>
      </dsp:txBody>
      <dsp:txXfrm rot="-5400000">
        <a:off x="1" y="1436431"/>
        <a:ext cx="820531" cy="351657"/>
      </dsp:txXfrm>
    </dsp:sp>
    <dsp:sp modelId="{67A2CA64-CBDF-48EE-B99B-3E1431F4CD9D}">
      <dsp:nvSpPr>
        <dsp:cNvPr id="0" name=""/>
        <dsp:cNvSpPr/>
      </dsp:nvSpPr>
      <dsp:spPr>
        <a:xfrm rot="5400000">
          <a:off x="2852371" y="-1005674"/>
          <a:ext cx="761922" cy="4825601"/>
        </a:xfrm>
        <a:prstGeom prst="round2SameRect">
          <a:avLst/>
        </a:prstGeom>
        <a:solidFill>
          <a:schemeClr val="lt1">
            <a:alpha val="90000"/>
            <a:hueOff val="0"/>
            <a:satOff val="0"/>
            <a:lumOff val="0"/>
            <a:alphaOff val="0"/>
          </a:schemeClr>
        </a:solidFill>
        <a:ln w="19050" cap="flat" cmpd="sng" algn="ctr">
          <a:solidFill>
            <a:schemeClr val="accent3">
              <a:hueOff val="1372388"/>
              <a:satOff val="8237"/>
              <a:lumOff val="627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Claim not released until determined that it is correct</a:t>
          </a:r>
        </a:p>
      </dsp:txBody>
      <dsp:txXfrm rot="-5400000">
        <a:off x="820532" y="1063359"/>
        <a:ext cx="4788407" cy="687534"/>
      </dsp:txXfrm>
    </dsp:sp>
    <dsp:sp modelId="{6AD3DDAD-8571-42C3-92B1-DA60C1C007DA}">
      <dsp:nvSpPr>
        <dsp:cNvPr id="0" name=""/>
        <dsp:cNvSpPr/>
      </dsp:nvSpPr>
      <dsp:spPr>
        <a:xfrm rot="5400000">
          <a:off x="-175828" y="2226398"/>
          <a:ext cx="1172188" cy="820531"/>
        </a:xfrm>
        <a:prstGeom prst="chevron">
          <a:avLst/>
        </a:prstGeom>
        <a:solidFill>
          <a:schemeClr val="accent3">
            <a:hueOff val="2744775"/>
            <a:satOff val="16475"/>
            <a:lumOff val="12550"/>
            <a:alphaOff val="0"/>
          </a:schemeClr>
        </a:solidFill>
        <a:ln w="19050" cap="flat" cmpd="sng" algn="ctr">
          <a:solidFill>
            <a:schemeClr val="accent3">
              <a:hueOff val="2744775"/>
              <a:satOff val="16475"/>
              <a:lumOff val="1255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Sent for Corrections</a:t>
          </a:r>
        </a:p>
      </dsp:txBody>
      <dsp:txXfrm rot="-5400000">
        <a:off x="1" y="2460836"/>
        <a:ext cx="820531" cy="351657"/>
      </dsp:txXfrm>
    </dsp:sp>
    <dsp:sp modelId="{8170D3C7-C652-4557-A219-C4E5876A5581}">
      <dsp:nvSpPr>
        <dsp:cNvPr id="0" name=""/>
        <dsp:cNvSpPr/>
      </dsp:nvSpPr>
      <dsp:spPr>
        <a:xfrm rot="5400000">
          <a:off x="2852371" y="18731"/>
          <a:ext cx="761922" cy="4825601"/>
        </a:xfrm>
        <a:prstGeom prst="round2SameRect">
          <a:avLst/>
        </a:prstGeom>
        <a:solidFill>
          <a:schemeClr val="lt1">
            <a:alpha val="90000"/>
            <a:hueOff val="0"/>
            <a:satOff val="0"/>
            <a:lumOff val="0"/>
            <a:alphaOff val="0"/>
          </a:schemeClr>
        </a:solidFill>
        <a:ln w="19050" cap="flat" cmpd="sng" algn="ctr">
          <a:solidFill>
            <a:schemeClr val="accent3">
              <a:hueOff val="2744775"/>
              <a:satOff val="16475"/>
              <a:lumOff val="125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If incorrect, sent to processor for correction and monitored </a:t>
          </a:r>
        </a:p>
      </dsp:txBody>
      <dsp:txXfrm rot="-5400000">
        <a:off x="820532" y="2087764"/>
        <a:ext cx="4788407" cy="687534"/>
      </dsp:txXfrm>
    </dsp:sp>
    <dsp:sp modelId="{2110353A-1EF8-4D65-9FA7-048C058987DD}">
      <dsp:nvSpPr>
        <dsp:cNvPr id="0" name=""/>
        <dsp:cNvSpPr/>
      </dsp:nvSpPr>
      <dsp:spPr>
        <a:xfrm rot="5400000">
          <a:off x="-175828" y="3250804"/>
          <a:ext cx="1172188" cy="820531"/>
        </a:xfrm>
        <a:prstGeom prst="chevron">
          <a:avLst/>
        </a:prstGeom>
        <a:solidFill>
          <a:schemeClr val="accent3">
            <a:hueOff val="4117163"/>
            <a:satOff val="24712"/>
            <a:lumOff val="18825"/>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Claim Released</a:t>
          </a:r>
        </a:p>
      </dsp:txBody>
      <dsp:txXfrm rot="-5400000">
        <a:off x="1" y="3485242"/>
        <a:ext cx="820531" cy="351657"/>
      </dsp:txXfrm>
    </dsp:sp>
    <dsp:sp modelId="{A465B2F1-FB39-4B2E-9463-C1B097CB1227}">
      <dsp:nvSpPr>
        <dsp:cNvPr id="0" name=""/>
        <dsp:cNvSpPr/>
      </dsp:nvSpPr>
      <dsp:spPr>
        <a:xfrm rot="5400000">
          <a:off x="2852371" y="1043137"/>
          <a:ext cx="761922" cy="4825601"/>
        </a:xfrm>
        <a:prstGeom prst="round2Same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Once correct, claim released for payment</a:t>
          </a:r>
        </a:p>
      </dsp:txBody>
      <dsp:txXfrm rot="-5400000">
        <a:off x="820532" y="3112170"/>
        <a:ext cx="4788407" cy="687534"/>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96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438494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r>
              <a:rPr lang="en-US"/>
              <a:t>Patrick</a:t>
            </a:r>
          </a:p>
        </p:txBody>
      </p:sp>
    </p:spTree>
    <p:extLst>
      <p:ext uri="{BB962C8B-B14F-4D97-AF65-F5344CB8AC3E}">
        <p14:creationId xmlns:p14="http://schemas.microsoft.com/office/powerpoint/2010/main" val="44667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707533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36458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1959041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459440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r>
              <a:rPr lang="en-US"/>
              <a:t>Patrick</a:t>
            </a:r>
          </a:p>
        </p:txBody>
      </p:sp>
    </p:spTree>
    <p:extLst>
      <p:ext uri="{BB962C8B-B14F-4D97-AF65-F5344CB8AC3E}">
        <p14:creationId xmlns:p14="http://schemas.microsoft.com/office/powerpoint/2010/main" val="2291165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406007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r>
              <a:rPr lang="en-US"/>
              <a:t>Patric</a:t>
            </a:r>
          </a:p>
        </p:txBody>
      </p:sp>
    </p:spTree>
    <p:extLst>
      <p:ext uri="{BB962C8B-B14F-4D97-AF65-F5344CB8AC3E}">
        <p14:creationId xmlns:p14="http://schemas.microsoft.com/office/powerpoint/2010/main" val="2288207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r>
              <a:rPr lang="en-US"/>
              <a:t>Patrick/Nicole</a:t>
            </a:r>
          </a:p>
        </p:txBody>
      </p:sp>
    </p:spTree>
    <p:extLst>
      <p:ext uri="{BB962C8B-B14F-4D97-AF65-F5344CB8AC3E}">
        <p14:creationId xmlns:p14="http://schemas.microsoft.com/office/powerpoint/2010/main" val="329677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1093357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Nicole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373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0733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1047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4029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15D0E5-5042-47C0-BF59-F47A3BD5F6F1}" type="slidenum">
              <a:rPr lang="en-US" smtClean="0"/>
              <a:t>16</a:t>
            </a:fld>
            <a:endParaRPr lang="en-US"/>
          </a:p>
        </p:txBody>
      </p:sp>
    </p:spTree>
    <p:extLst>
      <p:ext uri="{BB962C8B-B14F-4D97-AF65-F5344CB8AC3E}">
        <p14:creationId xmlns:p14="http://schemas.microsoft.com/office/powerpoint/2010/main" val="3631508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1762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15D0E5-5042-47C0-BF59-F47A3BD5F6F1}" type="slidenum">
              <a:rPr lang="en-US" smtClean="0"/>
              <a:t>18</a:t>
            </a:fld>
            <a:endParaRPr lang="en-US"/>
          </a:p>
        </p:txBody>
      </p:sp>
    </p:spTree>
    <p:extLst>
      <p:ext uri="{BB962C8B-B14F-4D97-AF65-F5344CB8AC3E}">
        <p14:creationId xmlns:p14="http://schemas.microsoft.com/office/powerpoint/2010/main" val="286274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531522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111178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0844195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13175038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247643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15D0E5-5042-47C0-BF59-F47A3BD5F6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7806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a Third-Party Administrator in a complex benefits environment, our contact center isn’t just meeting standard benchmarks—it’s surpassing them. We’re seeing an industry-leading 1.04% abandonment rate and are answering calls in just 17 seconds on average, which translates to an exceptional member experience and minimal dropped connections.</a:t>
            </a:r>
          </a:p>
          <a:p>
            <a:r>
              <a:rPr lang="en-US"/>
              <a:t>Our 90% service-level compliance further underscores our commitment to rapid access—far above the 80% industry target—while our audit scores in excess of 99% across soft skills, procedures, email, and chat demonstrate rock-solid quality assurance.</a:t>
            </a:r>
          </a:p>
          <a:p>
            <a:r>
              <a:rPr lang="en-US"/>
              <a:t>Although our average handle time is slightly higher than the 4–6-minute norm, this reflects the depth of support required for detailed benefit inquiries, claim resolutions, and coordination of care. In short, we combine speed and quality to ensure that your members and providers receive prompt, accurate, and compassionate service every time they call.</a:t>
            </a:r>
          </a:p>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25</a:t>
            </a:fld>
            <a:endParaRPr lang="en-US"/>
          </a:p>
        </p:txBody>
      </p:sp>
    </p:spTree>
    <p:extLst>
      <p:ext uri="{BB962C8B-B14F-4D97-AF65-F5344CB8AC3E}">
        <p14:creationId xmlns:p14="http://schemas.microsoft.com/office/powerpoint/2010/main" val="1567071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27901480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6551312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1193241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13881556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1845941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41190793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2580953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391582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1"/>
          </a:xfrm>
          <a:prstGeom prst="rect">
            <a:avLst/>
          </a:prstGeom>
        </p:spPr>
        <p:txBody>
          <a:bodyPr/>
          <a:lstStyle/>
          <a:p>
            <a:endParaRPr lang="en-US"/>
          </a:p>
        </p:txBody>
      </p:sp>
    </p:spTree>
    <p:extLst>
      <p:ext uri="{BB962C8B-B14F-4D97-AF65-F5344CB8AC3E}">
        <p14:creationId xmlns:p14="http://schemas.microsoft.com/office/powerpoint/2010/main" val="2836507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A04A-7E5A-41ED-8CEB-7462680D14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3ABCD4-5472-4449-A56D-204BDE9BF3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0AB7F-EBF2-41EA-90FE-98F29B82E637}"/>
              </a:ext>
            </a:extLst>
          </p:cNvPr>
          <p:cNvSpPr>
            <a:spLocks noGrp="1"/>
          </p:cNvSpPr>
          <p:nvPr>
            <p:ph type="dt" sz="half" idx="10"/>
          </p:nvPr>
        </p:nvSpPr>
        <p:spPr/>
        <p:txBody>
          <a:bodyPr/>
          <a:lstStyle/>
          <a:p>
            <a:fld id="{DF6776A0-F2CD-4983-99C3-3CD5E415D45A}" type="datetime1">
              <a:rPr lang="en-US" smtClean="0"/>
              <a:t>9/15/2025</a:t>
            </a:fld>
            <a:endParaRPr lang="en-US"/>
          </a:p>
        </p:txBody>
      </p:sp>
      <p:sp>
        <p:nvSpPr>
          <p:cNvPr id="5" name="Footer Placeholder 4">
            <a:extLst>
              <a:ext uri="{FF2B5EF4-FFF2-40B4-BE49-F238E27FC236}">
                <a16:creationId xmlns:a16="http://schemas.microsoft.com/office/drawing/2014/main" id="{D74D1392-959B-429E-BB3A-2B6E7AFD5E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A0DCC8-454C-4C7F-8DA1-69EA0C1CA567}"/>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421622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A04A-7E5A-41ED-8CEB-7462680D14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3ABCD4-5472-4449-A56D-204BDE9BF389}"/>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0AB7F-EBF2-41EA-90FE-98F29B82E637}"/>
              </a:ext>
            </a:extLst>
          </p:cNvPr>
          <p:cNvSpPr>
            <a:spLocks noGrp="1"/>
          </p:cNvSpPr>
          <p:nvPr>
            <p:ph type="dt" sz="half" idx="10"/>
          </p:nvPr>
        </p:nvSpPr>
        <p:spPr/>
        <p:txBody>
          <a:bodyPr/>
          <a:lstStyle/>
          <a:p>
            <a:fld id="{DF6776A0-F2CD-4983-99C3-3CD5E415D45A}" type="datetime1">
              <a:rPr lang="en-US" smtClean="0"/>
              <a:t>9/15/2025</a:t>
            </a:fld>
            <a:endParaRPr lang="en-US"/>
          </a:p>
        </p:txBody>
      </p:sp>
      <p:sp>
        <p:nvSpPr>
          <p:cNvPr id="5" name="Footer Placeholder 4">
            <a:extLst>
              <a:ext uri="{FF2B5EF4-FFF2-40B4-BE49-F238E27FC236}">
                <a16:creationId xmlns:a16="http://schemas.microsoft.com/office/drawing/2014/main" id="{D74D1392-959B-429E-BB3A-2B6E7AFD5E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A0DCC8-454C-4C7F-8DA1-69EA0C1CA567}"/>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766578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A5C7-781A-4B3D-9E00-F6A240429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8E319B-34AD-4F4A-93BA-78F3D6F605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D4865D-4AB7-4439-BD10-42B34B7403D0}"/>
              </a:ext>
            </a:extLst>
          </p:cNvPr>
          <p:cNvSpPr>
            <a:spLocks noGrp="1"/>
          </p:cNvSpPr>
          <p:nvPr>
            <p:ph type="dt" sz="half" idx="10"/>
          </p:nvPr>
        </p:nvSpPr>
        <p:spPr/>
        <p:txBody>
          <a:bodyPr/>
          <a:lstStyle/>
          <a:p>
            <a:fld id="{3C1718B2-3887-49B3-AB07-F289DEBCA871}" type="datetime1">
              <a:rPr lang="en-US" smtClean="0"/>
              <a:t>9/15/2025</a:t>
            </a:fld>
            <a:endParaRPr lang="en-US"/>
          </a:p>
        </p:txBody>
      </p:sp>
      <p:sp>
        <p:nvSpPr>
          <p:cNvPr id="5" name="Footer Placeholder 4">
            <a:extLst>
              <a:ext uri="{FF2B5EF4-FFF2-40B4-BE49-F238E27FC236}">
                <a16:creationId xmlns:a16="http://schemas.microsoft.com/office/drawing/2014/main" id="{C231FFAA-E0AD-4E37-A14A-6A9A057F7877}"/>
              </a:ext>
            </a:extLst>
          </p:cNvPr>
          <p:cNvSpPr>
            <a:spLocks noGrp="1"/>
          </p:cNvSpPr>
          <p:nvPr>
            <p:ph type="ftr" sz="quarter" idx="11"/>
          </p:nvPr>
        </p:nvSpPr>
        <p:spPr>
          <a:xfrm>
            <a:off x="7841478" y="6363177"/>
            <a:ext cx="4114800" cy="365125"/>
          </a:xfrm>
        </p:spPr>
        <p:txBody>
          <a:bodyPr/>
          <a:lstStyle/>
          <a:p>
            <a:endParaRPr lang="en-US"/>
          </a:p>
        </p:txBody>
      </p:sp>
      <p:sp>
        <p:nvSpPr>
          <p:cNvPr id="6" name="Slide Number Placeholder 5">
            <a:extLst>
              <a:ext uri="{FF2B5EF4-FFF2-40B4-BE49-F238E27FC236}">
                <a16:creationId xmlns:a16="http://schemas.microsoft.com/office/drawing/2014/main" id="{CAA66C55-3850-4211-8CFC-B6032B919DB7}"/>
              </a:ext>
            </a:extLst>
          </p:cNvPr>
          <p:cNvSpPr>
            <a:spLocks noGrp="1"/>
          </p:cNvSpPr>
          <p:nvPr>
            <p:ph type="sldNum" sz="quarter" idx="12"/>
          </p:nvPr>
        </p:nvSpPr>
        <p:spPr>
          <a:xfrm>
            <a:off x="4350523" y="6363177"/>
            <a:ext cx="2743200" cy="365125"/>
          </a:xfrm>
        </p:spPr>
        <p:txBody>
          <a:bodyPr/>
          <a:lstStyle>
            <a:lvl1pPr algn="ctr">
              <a:defRPr/>
            </a:lvl1pPr>
          </a:lstStyle>
          <a:p>
            <a:fld id="{C41B7D62-7D4B-4EC0-9445-56A6951E1D90}" type="slidenum">
              <a:rPr lang="en-US" smtClean="0"/>
              <a:pPr/>
              <a:t>‹#›</a:t>
            </a:fld>
            <a:endParaRPr lang="en-US"/>
          </a:p>
        </p:txBody>
      </p:sp>
    </p:spTree>
    <p:extLst>
      <p:ext uri="{BB962C8B-B14F-4D97-AF65-F5344CB8AC3E}">
        <p14:creationId xmlns:p14="http://schemas.microsoft.com/office/powerpoint/2010/main" val="20629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7B5-3B5E-4912-9B94-07967374B7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277039-3B6E-46AC-B4C8-75E04685D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0C6CA0-9C58-4CD6-85FF-8D0170A86118}"/>
              </a:ext>
            </a:extLst>
          </p:cNvPr>
          <p:cNvSpPr>
            <a:spLocks noGrp="1"/>
          </p:cNvSpPr>
          <p:nvPr>
            <p:ph type="dt" sz="half" idx="10"/>
          </p:nvPr>
        </p:nvSpPr>
        <p:spPr/>
        <p:txBody>
          <a:bodyPr/>
          <a:lstStyle/>
          <a:p>
            <a:fld id="{5BDE6980-F38E-45D1-A600-A93892EE6A63}" type="datetime1">
              <a:rPr lang="en-US" smtClean="0"/>
              <a:t>9/15/2025</a:t>
            </a:fld>
            <a:endParaRPr lang="en-US"/>
          </a:p>
        </p:txBody>
      </p:sp>
      <p:sp>
        <p:nvSpPr>
          <p:cNvPr id="5" name="Footer Placeholder 4">
            <a:extLst>
              <a:ext uri="{FF2B5EF4-FFF2-40B4-BE49-F238E27FC236}">
                <a16:creationId xmlns:a16="http://schemas.microsoft.com/office/drawing/2014/main" id="{9C5663E7-8698-48C3-8B4A-48AB5CB86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E4DCD-84D2-436A-B9E3-EDDBB8E934F5}"/>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2663440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7B5-3B5E-4912-9B94-07967374B75B}"/>
              </a:ext>
            </a:extLst>
          </p:cNvPr>
          <p:cNvSpPr>
            <a:spLocks noGrp="1"/>
          </p:cNvSpPr>
          <p:nvPr>
            <p:ph type="title"/>
          </p:nvPr>
        </p:nvSpPr>
        <p:spPr>
          <a:xfrm>
            <a:off x="831853"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277039-3B6E-46AC-B4C8-75E04685D26C}"/>
              </a:ext>
            </a:extLst>
          </p:cNvPr>
          <p:cNvSpPr>
            <a:spLocks noGrp="1"/>
          </p:cNvSpPr>
          <p:nvPr>
            <p:ph type="body" idx="1"/>
          </p:nvPr>
        </p:nvSpPr>
        <p:spPr>
          <a:xfrm>
            <a:off x="831853" y="4589465"/>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0C6CA0-9C58-4CD6-85FF-8D0170A86118}"/>
              </a:ext>
            </a:extLst>
          </p:cNvPr>
          <p:cNvSpPr>
            <a:spLocks noGrp="1"/>
          </p:cNvSpPr>
          <p:nvPr>
            <p:ph type="dt" sz="half" idx="10"/>
          </p:nvPr>
        </p:nvSpPr>
        <p:spPr/>
        <p:txBody>
          <a:bodyPr/>
          <a:lstStyle/>
          <a:p>
            <a:fld id="{5BDE6980-F38E-45D1-A600-A93892EE6A63}" type="datetime1">
              <a:rPr lang="en-US" smtClean="0"/>
              <a:t>9/15/2025</a:t>
            </a:fld>
            <a:endParaRPr lang="en-US"/>
          </a:p>
        </p:txBody>
      </p:sp>
      <p:sp>
        <p:nvSpPr>
          <p:cNvPr id="5" name="Footer Placeholder 4">
            <a:extLst>
              <a:ext uri="{FF2B5EF4-FFF2-40B4-BE49-F238E27FC236}">
                <a16:creationId xmlns:a16="http://schemas.microsoft.com/office/drawing/2014/main" id="{9C5663E7-8698-48C3-8B4A-48AB5CB86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E4DCD-84D2-436A-B9E3-EDDBB8E934F5}"/>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249918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0247-24EA-43BE-A1E4-E6120DE2C5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7C7678-CB91-439B-BB84-C43FBBE95F68}"/>
              </a:ext>
            </a:extLst>
          </p:cNvPr>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605A33-9A42-4A71-9255-B88EF29B5A94}"/>
              </a:ext>
            </a:extLst>
          </p:cNvPr>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A8EB5C-F88F-4BFB-B423-57DD3F7DF6F1}"/>
              </a:ext>
            </a:extLst>
          </p:cNvPr>
          <p:cNvSpPr>
            <a:spLocks noGrp="1"/>
          </p:cNvSpPr>
          <p:nvPr>
            <p:ph type="dt" sz="half" idx="10"/>
          </p:nvPr>
        </p:nvSpPr>
        <p:spPr/>
        <p:txBody>
          <a:bodyPr/>
          <a:lstStyle/>
          <a:p>
            <a:fld id="{07490995-7B2D-4BA7-9953-2A5187EFC21A}" type="datetime1">
              <a:rPr lang="en-US" smtClean="0"/>
              <a:t>9/15/2025</a:t>
            </a:fld>
            <a:endParaRPr lang="en-US"/>
          </a:p>
        </p:txBody>
      </p:sp>
      <p:sp>
        <p:nvSpPr>
          <p:cNvPr id="6" name="Footer Placeholder 5">
            <a:extLst>
              <a:ext uri="{FF2B5EF4-FFF2-40B4-BE49-F238E27FC236}">
                <a16:creationId xmlns:a16="http://schemas.microsoft.com/office/drawing/2014/main" id="{944887F0-DC4B-4F74-9EF8-0DA8B602AB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DDB6C9-5C8F-4D9E-A02D-52729812C280}"/>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318925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A084-EF04-408E-ADA9-21EDFF386B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8AE67C-D248-4250-96BB-ABE14F91E9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9270C4-7DBF-450B-8A8B-A13AE328ADA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C5CAD4-29EE-4F14-9F13-97FDE42DEB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5ABDE0-1505-4A5F-BFBA-41E8CD71631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97D3FB-4F84-4004-88ED-847B6DDC294D}"/>
              </a:ext>
            </a:extLst>
          </p:cNvPr>
          <p:cNvSpPr>
            <a:spLocks noGrp="1"/>
          </p:cNvSpPr>
          <p:nvPr>
            <p:ph type="dt" sz="half" idx="10"/>
          </p:nvPr>
        </p:nvSpPr>
        <p:spPr/>
        <p:txBody>
          <a:bodyPr/>
          <a:lstStyle/>
          <a:p>
            <a:fld id="{245B80EE-35AD-4E1E-8EA8-8396EFE9B45C}" type="datetime1">
              <a:rPr lang="en-US" smtClean="0"/>
              <a:t>9/15/2025</a:t>
            </a:fld>
            <a:endParaRPr lang="en-US"/>
          </a:p>
        </p:txBody>
      </p:sp>
      <p:sp>
        <p:nvSpPr>
          <p:cNvPr id="8" name="Footer Placeholder 7">
            <a:extLst>
              <a:ext uri="{FF2B5EF4-FFF2-40B4-BE49-F238E27FC236}">
                <a16:creationId xmlns:a16="http://schemas.microsoft.com/office/drawing/2014/main" id="{5FDA0231-DB90-40D1-B4F8-9F43A5B777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2E6C55-61C4-4613-8CCD-F135ED907066}"/>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1692557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A084-EF04-408E-ADA9-21EDFF386B50}"/>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8AE67C-D248-4250-96BB-ABE14F91E939}"/>
              </a:ext>
            </a:extLst>
          </p:cNvPr>
          <p:cNvSpPr>
            <a:spLocks noGrp="1"/>
          </p:cNvSpPr>
          <p:nvPr>
            <p:ph type="body" idx="1"/>
          </p:nvPr>
        </p:nvSpPr>
        <p:spPr>
          <a:xfrm>
            <a:off x="839791"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9270C4-7DBF-450B-8A8B-A13AE328ADA0}"/>
              </a:ext>
            </a:extLst>
          </p:cNvPr>
          <p:cNvSpPr>
            <a:spLocks noGrp="1"/>
          </p:cNvSpPr>
          <p:nvPr>
            <p:ph sz="half" idx="2"/>
          </p:nvPr>
        </p:nvSpPr>
        <p:spPr>
          <a:xfrm>
            <a:off x="839791"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C5CAD4-29EE-4F14-9F13-97FDE42DEB33}"/>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5ABDE0-1505-4A5F-BFBA-41E8CD716319}"/>
              </a:ext>
            </a:extLst>
          </p:cNvPr>
          <p:cNvSpPr>
            <a:spLocks noGrp="1"/>
          </p:cNvSpPr>
          <p:nvPr>
            <p:ph sz="quarter" idx="4"/>
          </p:nvPr>
        </p:nvSpPr>
        <p:spPr>
          <a:xfrm>
            <a:off x="6172203"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97D3FB-4F84-4004-88ED-847B6DDC294D}"/>
              </a:ext>
            </a:extLst>
          </p:cNvPr>
          <p:cNvSpPr>
            <a:spLocks noGrp="1"/>
          </p:cNvSpPr>
          <p:nvPr>
            <p:ph type="dt" sz="half" idx="10"/>
          </p:nvPr>
        </p:nvSpPr>
        <p:spPr/>
        <p:txBody>
          <a:bodyPr/>
          <a:lstStyle/>
          <a:p>
            <a:fld id="{245B80EE-35AD-4E1E-8EA8-8396EFE9B45C}" type="datetime1">
              <a:rPr lang="en-US" smtClean="0"/>
              <a:t>9/15/2025</a:t>
            </a:fld>
            <a:endParaRPr lang="en-US"/>
          </a:p>
        </p:txBody>
      </p:sp>
      <p:sp>
        <p:nvSpPr>
          <p:cNvPr id="8" name="Footer Placeholder 7">
            <a:extLst>
              <a:ext uri="{FF2B5EF4-FFF2-40B4-BE49-F238E27FC236}">
                <a16:creationId xmlns:a16="http://schemas.microsoft.com/office/drawing/2014/main" id="{5FDA0231-DB90-40D1-B4F8-9F43A5B777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2E6C55-61C4-4613-8CCD-F135ED907066}"/>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1286079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420F5-4606-497A-8F46-E3269BFAF4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328507-CB3E-49F4-B5F9-E63BE18AD815}"/>
              </a:ext>
            </a:extLst>
          </p:cNvPr>
          <p:cNvSpPr>
            <a:spLocks noGrp="1"/>
          </p:cNvSpPr>
          <p:nvPr>
            <p:ph type="dt" sz="half" idx="10"/>
          </p:nvPr>
        </p:nvSpPr>
        <p:spPr/>
        <p:txBody>
          <a:bodyPr/>
          <a:lstStyle/>
          <a:p>
            <a:fld id="{DFDF6EE3-3ABB-4253-8550-5AF318677D77}" type="datetime1">
              <a:rPr lang="en-US" smtClean="0"/>
              <a:t>9/15/2025</a:t>
            </a:fld>
            <a:endParaRPr lang="en-US"/>
          </a:p>
        </p:txBody>
      </p:sp>
      <p:sp>
        <p:nvSpPr>
          <p:cNvPr id="4" name="Footer Placeholder 3">
            <a:extLst>
              <a:ext uri="{FF2B5EF4-FFF2-40B4-BE49-F238E27FC236}">
                <a16:creationId xmlns:a16="http://schemas.microsoft.com/office/drawing/2014/main" id="{28A47880-01F8-4D16-A2D4-183A494DF1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D2B4E5-7F45-4473-806D-31091CC5032D}"/>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4198607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FE5346-0FD0-446A-8F0D-F46A629FD6BB}"/>
              </a:ext>
            </a:extLst>
          </p:cNvPr>
          <p:cNvSpPr>
            <a:spLocks noGrp="1"/>
          </p:cNvSpPr>
          <p:nvPr>
            <p:ph type="dt" sz="half" idx="10"/>
          </p:nvPr>
        </p:nvSpPr>
        <p:spPr/>
        <p:txBody>
          <a:bodyPr/>
          <a:lstStyle/>
          <a:p>
            <a:fld id="{FFC70A06-606B-4AC7-A24A-3FDB02739443}" type="datetime1">
              <a:rPr lang="en-US" smtClean="0"/>
              <a:t>9/15/2025</a:t>
            </a:fld>
            <a:endParaRPr lang="en-US"/>
          </a:p>
        </p:txBody>
      </p:sp>
      <p:sp>
        <p:nvSpPr>
          <p:cNvPr id="3" name="Footer Placeholder 2">
            <a:extLst>
              <a:ext uri="{FF2B5EF4-FFF2-40B4-BE49-F238E27FC236}">
                <a16:creationId xmlns:a16="http://schemas.microsoft.com/office/drawing/2014/main" id="{72CB3FEF-0968-4681-8E63-5D7539CA05E9}"/>
              </a:ext>
            </a:extLst>
          </p:cNvPr>
          <p:cNvSpPr>
            <a:spLocks noGrp="1"/>
          </p:cNvSpPr>
          <p:nvPr>
            <p:ph type="ftr" sz="quarter" idx="11"/>
          </p:nvPr>
        </p:nvSpPr>
        <p:spPr>
          <a:xfrm>
            <a:off x="7841482" y="6354630"/>
            <a:ext cx="4114800" cy="365125"/>
          </a:xfrm>
        </p:spPr>
        <p:txBody>
          <a:bodyPr/>
          <a:lstStyle/>
          <a:p>
            <a:endParaRPr lang="en-US"/>
          </a:p>
        </p:txBody>
      </p:sp>
      <p:sp>
        <p:nvSpPr>
          <p:cNvPr id="4" name="Slide Number Placeholder 3">
            <a:extLst>
              <a:ext uri="{FF2B5EF4-FFF2-40B4-BE49-F238E27FC236}">
                <a16:creationId xmlns:a16="http://schemas.microsoft.com/office/drawing/2014/main" id="{3D43C2B3-7D2B-4F8C-90D7-36C643EAC587}"/>
              </a:ext>
            </a:extLst>
          </p:cNvPr>
          <p:cNvSpPr>
            <a:spLocks noGrp="1"/>
          </p:cNvSpPr>
          <p:nvPr>
            <p:ph type="sldNum" sz="quarter" idx="12"/>
          </p:nvPr>
        </p:nvSpPr>
        <p:spPr>
          <a:xfrm>
            <a:off x="4724400" y="6354630"/>
            <a:ext cx="2743200" cy="365125"/>
          </a:xfrm>
        </p:spPr>
        <p:txBody>
          <a:bodyPr/>
          <a:lstStyle>
            <a:lvl1pPr algn="ctr">
              <a:defRPr/>
            </a:lvl1pPr>
          </a:lstStyle>
          <a:p>
            <a:fld id="{C41B7D62-7D4B-4EC0-9445-56A6951E1D90}" type="slidenum">
              <a:rPr lang="en-US" smtClean="0"/>
              <a:pPr/>
              <a:t>‹#›</a:t>
            </a:fld>
            <a:endParaRPr lang="en-US"/>
          </a:p>
        </p:txBody>
      </p:sp>
    </p:spTree>
    <p:extLst>
      <p:ext uri="{BB962C8B-B14F-4D97-AF65-F5344CB8AC3E}">
        <p14:creationId xmlns:p14="http://schemas.microsoft.com/office/powerpoint/2010/main" val="427688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D1C5-59CB-4797-823C-49381B1A29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4FC69-F32D-4F89-A1CF-9B3F7CFC4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3574A2-0E50-43F9-8F03-3DB2DCEBE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6F1214-8CA4-4A0F-918B-8F2D841E5C25}"/>
              </a:ext>
            </a:extLst>
          </p:cNvPr>
          <p:cNvSpPr>
            <a:spLocks noGrp="1"/>
          </p:cNvSpPr>
          <p:nvPr>
            <p:ph type="dt" sz="half" idx="10"/>
          </p:nvPr>
        </p:nvSpPr>
        <p:spPr/>
        <p:txBody>
          <a:bodyPr/>
          <a:lstStyle/>
          <a:p>
            <a:fld id="{AEF662C8-171B-40BF-A47B-9C35BFE4CCDC}" type="datetime1">
              <a:rPr lang="en-US" smtClean="0"/>
              <a:t>9/15/2025</a:t>
            </a:fld>
            <a:endParaRPr lang="en-US"/>
          </a:p>
        </p:txBody>
      </p:sp>
      <p:sp>
        <p:nvSpPr>
          <p:cNvPr id="6" name="Footer Placeholder 5">
            <a:extLst>
              <a:ext uri="{FF2B5EF4-FFF2-40B4-BE49-F238E27FC236}">
                <a16:creationId xmlns:a16="http://schemas.microsoft.com/office/drawing/2014/main" id="{C39821E8-B08F-45C5-9407-17BF3AE98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1DD895-5EF8-475A-B708-1F9482C2DDE4}"/>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3170442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F575-20D6-438A-8EC0-8A6F860003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846FCB-C632-4AE8-B7CC-88099A895D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96D8A1-7E6F-4B48-9966-4AEE8E6B6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567910-A198-46DA-906A-A00F3E86FD84}"/>
              </a:ext>
            </a:extLst>
          </p:cNvPr>
          <p:cNvSpPr>
            <a:spLocks noGrp="1"/>
          </p:cNvSpPr>
          <p:nvPr>
            <p:ph type="dt" sz="half" idx="10"/>
          </p:nvPr>
        </p:nvSpPr>
        <p:spPr/>
        <p:txBody>
          <a:bodyPr/>
          <a:lstStyle/>
          <a:p>
            <a:fld id="{9ED5D85C-0581-4938-8DBC-C2BCE75498E6}" type="datetime1">
              <a:rPr lang="en-US" smtClean="0"/>
              <a:t>9/15/2025</a:t>
            </a:fld>
            <a:endParaRPr lang="en-US"/>
          </a:p>
        </p:txBody>
      </p:sp>
      <p:sp>
        <p:nvSpPr>
          <p:cNvPr id="6" name="Footer Placeholder 5">
            <a:extLst>
              <a:ext uri="{FF2B5EF4-FFF2-40B4-BE49-F238E27FC236}">
                <a16:creationId xmlns:a16="http://schemas.microsoft.com/office/drawing/2014/main" id="{6DF0BD25-1257-400A-A846-0788A97AB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5117CA-857E-4F7B-AE46-1E2051279118}"/>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24615461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D1C5-59CB-4797-823C-49381B1A2993}"/>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4FC69-F32D-4F89-A1CF-9B3F7CFC4909}"/>
              </a:ext>
            </a:extLst>
          </p:cNvPr>
          <p:cNvSpPr>
            <a:spLocks noGrp="1"/>
          </p:cNvSpPr>
          <p:nvPr>
            <p:ph idx="1"/>
          </p:nvPr>
        </p:nvSpPr>
        <p:spPr>
          <a:xfrm>
            <a:off x="5183190"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3574A2-0E50-43F9-8F03-3DB2DCEBE775}"/>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Edit Master text styles</a:t>
            </a:r>
          </a:p>
        </p:txBody>
      </p:sp>
      <p:sp>
        <p:nvSpPr>
          <p:cNvPr id="5" name="Date Placeholder 4">
            <a:extLst>
              <a:ext uri="{FF2B5EF4-FFF2-40B4-BE49-F238E27FC236}">
                <a16:creationId xmlns:a16="http://schemas.microsoft.com/office/drawing/2014/main" id="{146F1214-8CA4-4A0F-918B-8F2D841E5C25}"/>
              </a:ext>
            </a:extLst>
          </p:cNvPr>
          <p:cNvSpPr>
            <a:spLocks noGrp="1"/>
          </p:cNvSpPr>
          <p:nvPr>
            <p:ph type="dt" sz="half" idx="10"/>
          </p:nvPr>
        </p:nvSpPr>
        <p:spPr/>
        <p:txBody>
          <a:bodyPr/>
          <a:lstStyle/>
          <a:p>
            <a:fld id="{AEF662C8-171B-40BF-A47B-9C35BFE4CCDC}" type="datetime1">
              <a:rPr lang="en-US" smtClean="0"/>
              <a:t>9/15/2025</a:t>
            </a:fld>
            <a:endParaRPr lang="en-US"/>
          </a:p>
        </p:txBody>
      </p:sp>
      <p:sp>
        <p:nvSpPr>
          <p:cNvPr id="6" name="Footer Placeholder 5">
            <a:extLst>
              <a:ext uri="{FF2B5EF4-FFF2-40B4-BE49-F238E27FC236}">
                <a16:creationId xmlns:a16="http://schemas.microsoft.com/office/drawing/2014/main" id="{C39821E8-B08F-45C5-9407-17BF3AE98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1DD895-5EF8-475A-B708-1F9482C2DDE4}"/>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2655620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F575-20D6-438A-8EC0-8A6F86000306}"/>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846FCB-C632-4AE8-B7CC-88099A895DC8}"/>
              </a:ext>
            </a:extLst>
          </p:cNvPr>
          <p:cNvSpPr>
            <a:spLocks noGrp="1"/>
          </p:cNvSpPr>
          <p:nvPr>
            <p:ph type="pic" idx="1"/>
          </p:nvPr>
        </p:nvSpPr>
        <p:spPr>
          <a:xfrm>
            <a:off x="5183190"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a:p>
        </p:txBody>
      </p:sp>
      <p:sp>
        <p:nvSpPr>
          <p:cNvPr id="4" name="Text Placeholder 3">
            <a:extLst>
              <a:ext uri="{FF2B5EF4-FFF2-40B4-BE49-F238E27FC236}">
                <a16:creationId xmlns:a16="http://schemas.microsoft.com/office/drawing/2014/main" id="{CB96D8A1-7E6F-4B48-9966-4AEE8E6B63CA}"/>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Edit Master text styles</a:t>
            </a:r>
          </a:p>
        </p:txBody>
      </p:sp>
      <p:sp>
        <p:nvSpPr>
          <p:cNvPr id="5" name="Date Placeholder 4">
            <a:extLst>
              <a:ext uri="{FF2B5EF4-FFF2-40B4-BE49-F238E27FC236}">
                <a16:creationId xmlns:a16="http://schemas.microsoft.com/office/drawing/2014/main" id="{42567910-A198-46DA-906A-A00F3E86FD84}"/>
              </a:ext>
            </a:extLst>
          </p:cNvPr>
          <p:cNvSpPr>
            <a:spLocks noGrp="1"/>
          </p:cNvSpPr>
          <p:nvPr>
            <p:ph type="dt" sz="half" idx="10"/>
          </p:nvPr>
        </p:nvSpPr>
        <p:spPr/>
        <p:txBody>
          <a:bodyPr/>
          <a:lstStyle/>
          <a:p>
            <a:fld id="{9ED5D85C-0581-4938-8DBC-C2BCE75498E6}" type="datetime1">
              <a:rPr lang="en-US" smtClean="0"/>
              <a:t>9/15/2025</a:t>
            </a:fld>
            <a:endParaRPr lang="en-US"/>
          </a:p>
        </p:txBody>
      </p:sp>
      <p:sp>
        <p:nvSpPr>
          <p:cNvPr id="6" name="Footer Placeholder 5">
            <a:extLst>
              <a:ext uri="{FF2B5EF4-FFF2-40B4-BE49-F238E27FC236}">
                <a16:creationId xmlns:a16="http://schemas.microsoft.com/office/drawing/2014/main" id="{6DF0BD25-1257-400A-A846-0788A97AB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5117CA-857E-4F7B-AE46-1E2051279118}"/>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886787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02E3-238A-49EF-BD30-2CC9B1C7A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C651A6-BBF7-493E-B41B-6B2CF49C7A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028B8-20B1-453B-856B-E232DC757F5F}"/>
              </a:ext>
            </a:extLst>
          </p:cNvPr>
          <p:cNvSpPr>
            <a:spLocks noGrp="1"/>
          </p:cNvSpPr>
          <p:nvPr>
            <p:ph type="dt" sz="half" idx="10"/>
          </p:nvPr>
        </p:nvSpPr>
        <p:spPr/>
        <p:txBody>
          <a:bodyPr/>
          <a:lstStyle/>
          <a:p>
            <a:fld id="{4FB150B9-4228-45A9-9683-E7817EC8A9D9}" type="datetime1">
              <a:rPr lang="en-US" smtClean="0"/>
              <a:t>9/15/2025</a:t>
            </a:fld>
            <a:endParaRPr lang="en-US"/>
          </a:p>
        </p:txBody>
      </p:sp>
      <p:sp>
        <p:nvSpPr>
          <p:cNvPr id="5" name="Footer Placeholder 4">
            <a:extLst>
              <a:ext uri="{FF2B5EF4-FFF2-40B4-BE49-F238E27FC236}">
                <a16:creationId xmlns:a16="http://schemas.microsoft.com/office/drawing/2014/main" id="{4329732D-10F3-4373-8618-B8F78586DD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DCE766-6C7E-4E88-BCC0-23F0CEC12FB3}"/>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1249944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E500D5-F5BC-499B-8592-F26732F84C01}"/>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076694-E3BC-4EDB-9386-741C07D102FC}"/>
              </a:ext>
            </a:extLst>
          </p:cNvPr>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55E5F-5910-4B6C-9240-BBD067429806}"/>
              </a:ext>
            </a:extLst>
          </p:cNvPr>
          <p:cNvSpPr>
            <a:spLocks noGrp="1"/>
          </p:cNvSpPr>
          <p:nvPr>
            <p:ph type="dt" sz="half" idx="10"/>
          </p:nvPr>
        </p:nvSpPr>
        <p:spPr/>
        <p:txBody>
          <a:bodyPr/>
          <a:lstStyle/>
          <a:p>
            <a:fld id="{DCAA65A5-C55B-43A3-A87E-166D80409E13}" type="datetime1">
              <a:rPr lang="en-US" smtClean="0"/>
              <a:t>9/15/2025</a:t>
            </a:fld>
            <a:endParaRPr lang="en-US"/>
          </a:p>
        </p:txBody>
      </p:sp>
      <p:sp>
        <p:nvSpPr>
          <p:cNvPr id="5" name="Footer Placeholder 4">
            <a:extLst>
              <a:ext uri="{FF2B5EF4-FFF2-40B4-BE49-F238E27FC236}">
                <a16:creationId xmlns:a16="http://schemas.microsoft.com/office/drawing/2014/main" id="{5325C43F-1442-47BB-B1A9-060E9F035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3904EC-62F1-4608-B751-533533F6661D}"/>
              </a:ext>
            </a:extLst>
          </p:cNvPr>
          <p:cNvSpPr>
            <a:spLocks noGrp="1"/>
          </p:cNvSpPr>
          <p:nvPr>
            <p:ph type="sldNum" sz="quarter" idx="12"/>
          </p:nvPr>
        </p:nvSpPr>
        <p:spPr/>
        <p:txBody>
          <a:bodyPr/>
          <a:lstStyle/>
          <a:p>
            <a:fld id="{C41B7D62-7D4B-4EC0-9445-56A6951E1D90}" type="slidenum">
              <a:rPr lang="en-US" smtClean="0"/>
              <a:t>‹#›</a:t>
            </a:fld>
            <a:endParaRPr lang="en-US"/>
          </a:p>
        </p:txBody>
      </p:sp>
    </p:spTree>
    <p:extLst>
      <p:ext uri="{BB962C8B-B14F-4D97-AF65-F5344CB8AC3E}">
        <p14:creationId xmlns:p14="http://schemas.microsoft.com/office/powerpoint/2010/main" val="2154309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56B7-9C0A-49F5-36C0-0102B4E0CE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207E52-FFA2-257D-E7F1-9576C2C4877D}"/>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90DBCF-7CFE-7387-4E17-DD7957315B02}"/>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5" name="Footer Placeholder 4">
            <a:extLst>
              <a:ext uri="{FF2B5EF4-FFF2-40B4-BE49-F238E27FC236}">
                <a16:creationId xmlns:a16="http://schemas.microsoft.com/office/drawing/2014/main" id="{87F6F3C1-2AB0-333F-3C41-E483A337A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31007-B6DD-E046-CAA4-BCEE1777FB0B}"/>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1019008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399CB-55FE-B04B-8C39-3AEF9BEBAE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C6ED65-23F3-02D8-C595-E6B6AB245B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A35F3C-511F-6BBA-BAF3-656D0152B5CB}"/>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5" name="Footer Placeholder 4">
            <a:extLst>
              <a:ext uri="{FF2B5EF4-FFF2-40B4-BE49-F238E27FC236}">
                <a16:creationId xmlns:a16="http://schemas.microsoft.com/office/drawing/2014/main" id="{2627ABDB-2596-734E-DCC6-3C46487105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AC1623-E8B1-17D8-5279-8B54879FB061}"/>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1387465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492E5-B162-33F9-F5B9-83413206C462}"/>
              </a:ext>
            </a:extLst>
          </p:cNvPr>
          <p:cNvSpPr>
            <a:spLocks noGrp="1"/>
          </p:cNvSpPr>
          <p:nvPr>
            <p:ph type="title"/>
          </p:nvPr>
        </p:nvSpPr>
        <p:spPr>
          <a:xfrm>
            <a:off x="831853"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F6DD31-E983-912E-BEB5-EE88F023D28E}"/>
              </a:ext>
            </a:extLst>
          </p:cNvPr>
          <p:cNvSpPr>
            <a:spLocks noGrp="1"/>
          </p:cNvSpPr>
          <p:nvPr>
            <p:ph type="body" idx="1"/>
          </p:nvPr>
        </p:nvSpPr>
        <p:spPr>
          <a:xfrm>
            <a:off x="831853" y="4589465"/>
            <a:ext cx="10515600" cy="1500187"/>
          </a:xfrm>
        </p:spPr>
        <p:txBody>
          <a:bodyPr/>
          <a:lstStyle>
            <a:lvl1pPr marL="0" indent="0">
              <a:buNone/>
              <a:defRPr sz="2400">
                <a:solidFill>
                  <a:schemeClr val="tx1">
                    <a:tint val="82000"/>
                  </a:schemeClr>
                </a:solidFill>
              </a:defRPr>
            </a:lvl1pPr>
            <a:lvl2pPr marL="457206" indent="0">
              <a:buNone/>
              <a:defRPr sz="2000">
                <a:solidFill>
                  <a:schemeClr val="tx1">
                    <a:tint val="82000"/>
                  </a:schemeClr>
                </a:solidFill>
              </a:defRPr>
            </a:lvl2pPr>
            <a:lvl3pPr marL="914411" indent="0">
              <a:buNone/>
              <a:defRPr sz="1801">
                <a:solidFill>
                  <a:schemeClr val="tx1">
                    <a:tint val="82000"/>
                  </a:schemeClr>
                </a:solidFill>
              </a:defRPr>
            </a:lvl3pPr>
            <a:lvl4pPr marL="1371617" indent="0">
              <a:buNone/>
              <a:defRPr sz="1600">
                <a:solidFill>
                  <a:schemeClr val="tx1">
                    <a:tint val="82000"/>
                  </a:schemeClr>
                </a:solidFill>
              </a:defRPr>
            </a:lvl4pPr>
            <a:lvl5pPr marL="1828823" indent="0">
              <a:buNone/>
              <a:defRPr sz="1600">
                <a:solidFill>
                  <a:schemeClr val="tx1">
                    <a:tint val="82000"/>
                  </a:schemeClr>
                </a:solidFill>
              </a:defRPr>
            </a:lvl5pPr>
            <a:lvl6pPr marL="2286029" indent="0">
              <a:buNone/>
              <a:defRPr sz="1600">
                <a:solidFill>
                  <a:schemeClr val="tx1">
                    <a:tint val="82000"/>
                  </a:schemeClr>
                </a:solidFill>
              </a:defRPr>
            </a:lvl6pPr>
            <a:lvl7pPr marL="2743234" indent="0">
              <a:buNone/>
              <a:defRPr sz="1600">
                <a:solidFill>
                  <a:schemeClr val="tx1">
                    <a:tint val="82000"/>
                  </a:schemeClr>
                </a:solidFill>
              </a:defRPr>
            </a:lvl7pPr>
            <a:lvl8pPr marL="3200440" indent="0">
              <a:buNone/>
              <a:defRPr sz="1600">
                <a:solidFill>
                  <a:schemeClr val="tx1">
                    <a:tint val="82000"/>
                  </a:schemeClr>
                </a:solidFill>
              </a:defRPr>
            </a:lvl8pPr>
            <a:lvl9pPr marL="3657646"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D6DBAB-DA73-4226-7AF0-FC717F2E748B}"/>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5" name="Footer Placeholder 4">
            <a:extLst>
              <a:ext uri="{FF2B5EF4-FFF2-40B4-BE49-F238E27FC236}">
                <a16:creationId xmlns:a16="http://schemas.microsoft.com/office/drawing/2014/main" id="{6D750AD3-4688-FD84-7472-000FC21C27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39084-7411-BE70-2199-8ED77EACAD1F}"/>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38696630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F5D4-DA78-E279-4987-7FDACFD4A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1B1AD6-5C5F-EB8B-E9EB-3D597FE0E1EF}"/>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E8B38C-0BDC-70AE-7C87-53BC2C3F4486}"/>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05E38-BE99-AF1B-F24B-3C02760A446A}"/>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6" name="Footer Placeholder 5">
            <a:extLst>
              <a:ext uri="{FF2B5EF4-FFF2-40B4-BE49-F238E27FC236}">
                <a16:creationId xmlns:a16="http://schemas.microsoft.com/office/drawing/2014/main" id="{F3982BDE-F236-BC3C-924E-82997C1E14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E6B94-E4C1-DE2C-EE04-E0BCBF6F03F7}"/>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30867812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801AC-EAF8-CD17-FBDA-5FFE4D184DF5}"/>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8CD255-DE78-23B8-1150-106F73EFCA01}"/>
              </a:ext>
            </a:extLst>
          </p:cNvPr>
          <p:cNvSpPr>
            <a:spLocks noGrp="1"/>
          </p:cNvSpPr>
          <p:nvPr>
            <p:ph type="body" idx="1"/>
          </p:nvPr>
        </p:nvSpPr>
        <p:spPr>
          <a:xfrm>
            <a:off x="839791"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201C66-E513-6138-D9D4-FB04931F0862}"/>
              </a:ext>
            </a:extLst>
          </p:cNvPr>
          <p:cNvSpPr>
            <a:spLocks noGrp="1"/>
          </p:cNvSpPr>
          <p:nvPr>
            <p:ph sz="half" idx="2"/>
          </p:nvPr>
        </p:nvSpPr>
        <p:spPr>
          <a:xfrm>
            <a:off x="839791"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53D86D-A2ED-469A-7ACB-550883F03056}"/>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08463A-BB96-99E6-2D9E-187BAA46E0C5}"/>
              </a:ext>
            </a:extLst>
          </p:cNvPr>
          <p:cNvSpPr>
            <a:spLocks noGrp="1"/>
          </p:cNvSpPr>
          <p:nvPr>
            <p:ph sz="quarter" idx="4"/>
          </p:nvPr>
        </p:nvSpPr>
        <p:spPr>
          <a:xfrm>
            <a:off x="6172203"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BEB623-3EB4-F8A1-97CE-2814DDC9981A}"/>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8" name="Footer Placeholder 7">
            <a:extLst>
              <a:ext uri="{FF2B5EF4-FFF2-40B4-BE49-F238E27FC236}">
                <a16:creationId xmlns:a16="http://schemas.microsoft.com/office/drawing/2014/main" id="{29821366-7807-5BAE-BC6C-85991914DF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FF4AEB-FF4C-6FB0-6FA9-55166138007C}"/>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31071425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29264-50CB-B65B-2945-45BE636293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F680BD-8D56-3A44-F0A8-FE41131A09B9}"/>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4" name="Footer Placeholder 3">
            <a:extLst>
              <a:ext uri="{FF2B5EF4-FFF2-40B4-BE49-F238E27FC236}">
                <a16:creationId xmlns:a16="http://schemas.microsoft.com/office/drawing/2014/main" id="{3808C874-5FC9-8422-A6F1-F22A3B6016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6959E0-953F-8276-5803-6C11FF7C0FA0}"/>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1208733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DE53B1-482D-0C92-6964-C9F688C250AF}"/>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3" name="Footer Placeholder 2">
            <a:extLst>
              <a:ext uri="{FF2B5EF4-FFF2-40B4-BE49-F238E27FC236}">
                <a16:creationId xmlns:a16="http://schemas.microsoft.com/office/drawing/2014/main" id="{4654B3DB-DA1A-8A19-4F76-A9E131D872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5B5634-AAF1-3290-AEAE-FFAA1FB64727}"/>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1974689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CEC91-F501-5CE0-3834-FFF950A37755}"/>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1434D7-BDAD-4A9D-ED5A-9C7C74F38FD4}"/>
              </a:ext>
            </a:extLst>
          </p:cNvPr>
          <p:cNvSpPr>
            <a:spLocks noGrp="1"/>
          </p:cNvSpPr>
          <p:nvPr>
            <p:ph idx="1"/>
          </p:nvPr>
        </p:nvSpPr>
        <p:spPr>
          <a:xfrm>
            <a:off x="5183190"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44D966-4427-EFA9-F001-D1737C7D3D6D}"/>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CEEA85EA-4DA8-C8E7-FB8E-29ABD0163D07}"/>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6" name="Footer Placeholder 5">
            <a:extLst>
              <a:ext uri="{FF2B5EF4-FFF2-40B4-BE49-F238E27FC236}">
                <a16:creationId xmlns:a16="http://schemas.microsoft.com/office/drawing/2014/main" id="{E46ED72C-DF46-8B97-96AD-1E406523A5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52A81F-007D-B9EB-FD5C-5EEE66F7C0B3}"/>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199147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2F39-A1FA-20D4-5ABA-1DE1C541DBA5}"/>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024521-4A2C-C5B7-A16A-D1BA97233812}"/>
              </a:ext>
            </a:extLst>
          </p:cNvPr>
          <p:cNvSpPr>
            <a:spLocks noGrp="1"/>
          </p:cNvSpPr>
          <p:nvPr>
            <p:ph type="pic" idx="1"/>
          </p:nvPr>
        </p:nvSpPr>
        <p:spPr>
          <a:xfrm>
            <a:off x="5183190"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a:p>
        </p:txBody>
      </p:sp>
      <p:sp>
        <p:nvSpPr>
          <p:cNvPr id="4" name="Text Placeholder 3">
            <a:extLst>
              <a:ext uri="{FF2B5EF4-FFF2-40B4-BE49-F238E27FC236}">
                <a16:creationId xmlns:a16="http://schemas.microsoft.com/office/drawing/2014/main" id="{AD49D04E-6241-67A9-D458-135BB437FFA5}"/>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750C221C-BB72-F244-4159-3718C9FAE96A}"/>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6" name="Footer Placeholder 5">
            <a:extLst>
              <a:ext uri="{FF2B5EF4-FFF2-40B4-BE49-F238E27FC236}">
                <a16:creationId xmlns:a16="http://schemas.microsoft.com/office/drawing/2014/main" id="{4EDA0847-0F46-18C5-1E34-86B83382FE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2E05A3-C42F-F00C-F953-9B9C045398F5}"/>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3229693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7CCDC-AC70-5631-7622-C0F1A48C90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902B91-2C8C-5138-2816-2D2C463A44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428B27-869C-9591-10FD-2A31C00B8DDD}"/>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5" name="Footer Placeholder 4">
            <a:extLst>
              <a:ext uri="{FF2B5EF4-FFF2-40B4-BE49-F238E27FC236}">
                <a16:creationId xmlns:a16="http://schemas.microsoft.com/office/drawing/2014/main" id="{CC8C0BD6-18E5-DB67-A1A6-36C516771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0BDC9-410E-678D-7577-0E00596D3758}"/>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397872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84117-B76E-06FB-D444-D75535574AB7}"/>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611B6-2077-15A1-4DD5-2FEC0C83F8BA}"/>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C50774-EA7F-B3D8-CF51-6F65911F530C}"/>
              </a:ext>
            </a:extLst>
          </p:cNvPr>
          <p:cNvSpPr>
            <a:spLocks noGrp="1"/>
          </p:cNvSpPr>
          <p:nvPr>
            <p:ph type="dt" sz="half" idx="10"/>
          </p:nvPr>
        </p:nvSpPr>
        <p:spPr/>
        <p:txBody>
          <a:bodyPr/>
          <a:lstStyle/>
          <a:p>
            <a:fld id="{8FF816B7-6228-4381-BEE2-80C5BEF0DD46}" type="datetimeFigureOut">
              <a:rPr lang="en-US" smtClean="0"/>
              <a:t>9/15/2025</a:t>
            </a:fld>
            <a:endParaRPr lang="en-US"/>
          </a:p>
        </p:txBody>
      </p:sp>
      <p:sp>
        <p:nvSpPr>
          <p:cNvPr id="5" name="Footer Placeholder 4">
            <a:extLst>
              <a:ext uri="{FF2B5EF4-FFF2-40B4-BE49-F238E27FC236}">
                <a16:creationId xmlns:a16="http://schemas.microsoft.com/office/drawing/2014/main" id="{427D9EE7-BFFF-4AD0-7FB8-D9C23E3D6D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C8E85-31E8-B1D8-D5F7-AB29E64042F3}"/>
              </a:ext>
            </a:extLst>
          </p:cNvPr>
          <p:cNvSpPr>
            <a:spLocks noGrp="1"/>
          </p:cNvSpPr>
          <p:nvPr>
            <p:ph type="sldNum" sz="quarter" idx="12"/>
          </p:nvPr>
        </p:nvSpPr>
        <p:spPr/>
        <p:txBody>
          <a:bodyPr/>
          <a:lstStyle/>
          <a:p>
            <a:fld id="{FE88B862-A8FD-455F-899F-C92FEEEC78FA}" type="slidenum">
              <a:rPr lang="en-US" smtClean="0"/>
              <a:t>‹#›</a:t>
            </a:fld>
            <a:endParaRPr lang="en-US"/>
          </a:p>
        </p:txBody>
      </p:sp>
    </p:spTree>
    <p:extLst>
      <p:ext uri="{BB962C8B-B14F-4D97-AF65-F5344CB8AC3E}">
        <p14:creationId xmlns:p14="http://schemas.microsoft.com/office/powerpoint/2010/main" val="2118055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B51140-C23B-45C0-B1FB-D7EA759F66EC}"/>
              </a:ext>
            </a:extLst>
          </p:cNvPr>
          <p:cNvSpPr>
            <a:spLocks noGrp="1"/>
          </p:cNvSpPr>
          <p:nvPr>
            <p:ph type="title"/>
          </p:nvPr>
        </p:nvSpPr>
        <p:spPr>
          <a:xfrm>
            <a:off x="838204"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AA45C9-EA98-45C3-82AA-05460373C853}"/>
              </a:ext>
            </a:extLst>
          </p:cNvPr>
          <p:cNvSpPr>
            <a:spLocks noGrp="1"/>
          </p:cNvSpPr>
          <p:nvPr>
            <p:ph type="body" idx="1"/>
          </p:nvPr>
        </p:nvSpPr>
        <p:spPr>
          <a:xfrm>
            <a:off x="838204"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FDF4F-D3D1-4511-BF40-F17702C09459}"/>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CFF6DC-A61B-41EE-B460-3322EA2273CD}" type="datetime1">
              <a:rPr lang="en-US" smtClean="0"/>
              <a:t>9/15/2025</a:t>
            </a:fld>
            <a:endParaRPr lang="en-US"/>
          </a:p>
        </p:txBody>
      </p:sp>
      <p:sp>
        <p:nvSpPr>
          <p:cNvPr id="5" name="Footer Placeholder 4">
            <a:extLst>
              <a:ext uri="{FF2B5EF4-FFF2-40B4-BE49-F238E27FC236}">
                <a16:creationId xmlns:a16="http://schemas.microsoft.com/office/drawing/2014/main" id="{DF9C521E-7FA6-4F70-832E-72E430F2D578}"/>
              </a:ext>
            </a:extLst>
          </p:cNvPr>
          <p:cNvSpPr>
            <a:spLocks noGrp="1"/>
          </p:cNvSpPr>
          <p:nvPr>
            <p:ph type="ftr" sz="quarter" idx="3"/>
          </p:nvPr>
        </p:nvSpPr>
        <p:spPr>
          <a:xfrm>
            <a:off x="4038604"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8196BC-C87C-4997-9858-64C1882D1F5E}"/>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B7D62-7D4B-4EC0-9445-56A6951E1D90}" type="slidenum">
              <a:rPr lang="en-US" smtClean="0"/>
              <a:t>‹#›</a:t>
            </a:fld>
            <a:endParaRPr lang="en-US"/>
          </a:p>
        </p:txBody>
      </p:sp>
    </p:spTree>
    <p:extLst>
      <p:ext uri="{BB962C8B-B14F-4D97-AF65-F5344CB8AC3E}">
        <p14:creationId xmlns:p14="http://schemas.microsoft.com/office/powerpoint/2010/main" val="982913371"/>
      </p:ext>
    </p:extLst>
  </p:cSld>
  <p:clrMap bg1="lt1" tx1="dk1" bg2="lt2" tx2="dk2" accent1="accent1" accent2="accent2" accent3="accent3" accent4="accent4" accent5="accent5" accent6="accent6" hlink="hlink" folHlink="folHlink"/>
  <p:sldLayoutIdLst>
    <p:sldLayoutId id="2147483661" r:id="rId1"/>
    <p:sldLayoutId id="2147483732" r:id="rId2"/>
    <p:sldLayoutId id="2147483733" r:id="rId3"/>
    <p:sldLayoutId id="2147483663" r:id="rId4"/>
    <p:sldLayoutId id="2147483734" r:id="rId5"/>
    <p:sldLayoutId id="2147483735" r:id="rId6"/>
    <p:sldLayoutId id="2147483665" r:id="rId7"/>
    <p:sldLayoutId id="2147483736" r:id="rId8"/>
    <p:sldLayoutId id="2147483737" r:id="rId9"/>
    <p:sldLayoutId id="2147483738" r:id="rId10"/>
    <p:sldLayoutId id="2147483668" r:id="rId11"/>
    <p:sldLayoutId id="2147483669" r:id="rId12"/>
    <p:sldLayoutId id="2147483739" r:id="rId13"/>
    <p:sldLayoutId id="2147483740" r:id="rId14"/>
    <p:sldLayoutId id="2147483741" r:id="rId15"/>
    <p:sldLayoutId id="2147483742" r:id="rId16"/>
  </p:sldLayoutIdLst>
  <p:hf hdr="0" ft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15E242-B3C2-A557-DBAF-70FA74AB1E8E}"/>
              </a:ext>
            </a:extLst>
          </p:cNvPr>
          <p:cNvSpPr>
            <a:spLocks noGrp="1"/>
          </p:cNvSpPr>
          <p:nvPr>
            <p:ph type="title"/>
          </p:nvPr>
        </p:nvSpPr>
        <p:spPr>
          <a:xfrm>
            <a:off x="838204"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F0C96A-CD33-130E-6C5C-8EFE79E47D09}"/>
              </a:ext>
            </a:extLst>
          </p:cNvPr>
          <p:cNvSpPr>
            <a:spLocks noGrp="1"/>
          </p:cNvSpPr>
          <p:nvPr>
            <p:ph type="body" idx="1"/>
          </p:nvPr>
        </p:nvSpPr>
        <p:spPr>
          <a:xfrm>
            <a:off x="83820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1B167D-8985-02AA-5FBE-5AB5216FE71B}"/>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panose="00000500000000000000" pitchFamily="2" charset="0"/>
              </a:defRPr>
            </a:lvl1pPr>
          </a:lstStyle>
          <a:p>
            <a:fld id="{8FF816B7-6228-4381-BEE2-80C5BEF0DD46}" type="datetimeFigureOut">
              <a:rPr lang="en-US" smtClean="0"/>
              <a:pPr/>
              <a:t>9/15/2025</a:t>
            </a:fld>
            <a:endParaRPr lang="en-US"/>
          </a:p>
        </p:txBody>
      </p:sp>
      <p:sp>
        <p:nvSpPr>
          <p:cNvPr id="5" name="Footer Placeholder 4">
            <a:extLst>
              <a:ext uri="{FF2B5EF4-FFF2-40B4-BE49-F238E27FC236}">
                <a16:creationId xmlns:a16="http://schemas.microsoft.com/office/drawing/2014/main" id="{F37141A1-D9E0-748B-08A0-0F37CCFFEB2B}"/>
              </a:ext>
            </a:extLst>
          </p:cNvPr>
          <p:cNvSpPr>
            <a:spLocks noGrp="1"/>
          </p:cNvSpPr>
          <p:nvPr>
            <p:ph type="ftr" sz="quarter" idx="3"/>
          </p:nvPr>
        </p:nvSpPr>
        <p:spPr>
          <a:xfrm>
            <a:off x="4038604" y="6356352"/>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F7A5081F-E5B4-EB99-BB1F-B2A533EE43D6}"/>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FE88B862-A8FD-455F-899F-C92FEEEC78FA}" type="slidenum">
              <a:rPr lang="en-US" smtClean="0"/>
              <a:pPr/>
              <a:t>‹#›</a:t>
            </a:fld>
            <a:endParaRPr lang="en-US"/>
          </a:p>
        </p:txBody>
      </p:sp>
    </p:spTree>
    <p:extLst>
      <p:ext uri="{BB962C8B-B14F-4D97-AF65-F5344CB8AC3E}">
        <p14:creationId xmlns:p14="http://schemas.microsoft.com/office/powerpoint/2010/main" val="220190863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ontserrat" panose="00000500000000000000" pitchFamily="2" charset="0"/>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ontserrat" panose="00000500000000000000" pitchFamily="2" charset="0"/>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hyperlink" Target="mailto:Julie.Caskey@keybenefit.com" TargetMode="External"/><Relationship Id="rId3" Type="http://schemas.openxmlformats.org/officeDocument/2006/relationships/image" Target="../media/image7.jpeg"/><Relationship Id="rId7"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hyperlink" Target="mailto:Darlene.Grindstaff@keybenefit.com" TargetMode="External"/><Relationship Id="rId5" Type="http://schemas.openxmlformats.org/officeDocument/2006/relationships/image" Target="../media/image8.png"/><Relationship Id="rId4" Type="http://schemas.openxmlformats.org/officeDocument/2006/relationships/hyperlink" Target="mailto:Christine.Vinesett@keybenefit.com" TargetMode="External"/><Relationship Id="rId9"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tags" Target="../tags/tag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6.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1.xml"/><Relationship Id="rId1" Type="http://schemas.openxmlformats.org/officeDocument/2006/relationships/slideLayout" Target="../slideLayouts/slideLayout24.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76EB5C-AE6C-94FD-3A08-A4A684D4EDA4}"/>
              </a:ext>
            </a:extLst>
          </p:cNvPr>
          <p:cNvSpPr>
            <a:spLocks noGrp="1"/>
          </p:cNvSpPr>
          <p:nvPr>
            <p:ph type="title"/>
          </p:nvPr>
        </p:nvSpPr>
        <p:spPr>
          <a:xfrm>
            <a:off x="6513788" y="365125"/>
            <a:ext cx="4840010" cy="1004665"/>
          </a:xfrm>
        </p:spPr>
        <p:txBody>
          <a:bodyPr vert="horz" lIns="91440" tIns="45720" rIns="91440" bIns="45720" rtlCol="0" anchor="ctr">
            <a:normAutofit/>
          </a:bodyPr>
          <a:lstStyle/>
          <a:p>
            <a:pPr defTabSz="914400"/>
            <a:r>
              <a:rPr lang="en-US" sz="4400">
                <a:latin typeface="+mj-lt"/>
              </a:rPr>
              <a:t>Operational Purpose</a:t>
            </a:r>
          </a:p>
        </p:txBody>
      </p:sp>
      <p:sp>
        <p:nvSpPr>
          <p:cNvPr id="3" name="Content Placeholder 2">
            <a:extLst>
              <a:ext uri="{FF2B5EF4-FFF2-40B4-BE49-F238E27FC236}">
                <a16:creationId xmlns:a16="http://schemas.microsoft.com/office/drawing/2014/main" id="{342B934D-35D6-4DED-3CF6-9D3504CE842F}"/>
              </a:ext>
            </a:extLst>
          </p:cNvPr>
          <p:cNvSpPr>
            <a:spLocks noGrp="1"/>
          </p:cNvSpPr>
          <p:nvPr>
            <p:ph idx="1"/>
          </p:nvPr>
        </p:nvSpPr>
        <p:spPr>
          <a:xfrm>
            <a:off x="6117548" y="1368097"/>
            <a:ext cx="5662970" cy="4808866"/>
          </a:xfrm>
        </p:spPr>
        <p:txBody>
          <a:bodyPr vert="horz" lIns="91440" tIns="45720" rIns="91440" bIns="45720" rtlCol="0" anchor="t">
            <a:noAutofit/>
          </a:bodyPr>
          <a:lstStyle/>
          <a:p>
            <a:pPr marL="228600" indent="-228600" defTabSz="914400"/>
            <a:r>
              <a:rPr lang="en-US" sz="1600">
                <a:latin typeface="+mn-lt"/>
              </a:rPr>
              <a:t>Operational Purpose Statement</a:t>
            </a:r>
          </a:p>
          <a:p>
            <a:pPr marL="685800" lvl="1" indent="-228600" defTabSz="914400"/>
            <a:r>
              <a:rPr lang="en-US" sz="1600">
                <a:latin typeface="+mn-lt"/>
              </a:rPr>
              <a:t>Our operational purpose is to enable and accelerate the corporate mission of reducing healthcare costs while improving health through high-quality, cost-effective care. </a:t>
            </a:r>
          </a:p>
          <a:p>
            <a:pPr marL="685800" lvl="1" indent="-228600" defTabSz="914400"/>
            <a:r>
              <a:rPr lang="en-US" sz="1600">
                <a:latin typeface="+mn-lt"/>
              </a:rPr>
              <a:t>We do this by delivering responsive, efficient, and innovative operational support that empowers every department to perform at its best.</a:t>
            </a:r>
          </a:p>
          <a:p>
            <a:pPr marL="228600" indent="-228600" defTabSz="914400"/>
            <a:r>
              <a:rPr lang="en-US" sz="1600">
                <a:latin typeface="+mn-lt"/>
              </a:rPr>
              <a:t>We are committed to:</a:t>
            </a:r>
          </a:p>
          <a:p>
            <a:pPr marL="685800" lvl="1" indent="-228600" defTabSz="914400"/>
            <a:r>
              <a:rPr lang="en-US" sz="1600">
                <a:latin typeface="+mn-lt"/>
              </a:rPr>
              <a:t>Driving operational excellence through optimized processes, resource stewardship, and continuous improvement.</a:t>
            </a:r>
          </a:p>
          <a:p>
            <a:pPr marL="685800" lvl="1" indent="-228600" defTabSz="914400"/>
            <a:r>
              <a:rPr lang="en-US" sz="1600">
                <a:latin typeface="+mn-lt"/>
              </a:rPr>
              <a:t>Fostering a culture of innovation, where bold ideas are encouraged and breakthroughs are celebrated.</a:t>
            </a:r>
          </a:p>
          <a:p>
            <a:pPr marL="685800" lvl="1" indent="-228600" defTabSz="914400"/>
            <a:r>
              <a:rPr lang="en-US" sz="1600">
                <a:latin typeface="+mn-lt"/>
              </a:rPr>
              <a:t>Maintaining a resilient and responsive infrastructure that adapts to change and supports strategic growth.</a:t>
            </a:r>
          </a:p>
          <a:p>
            <a:pPr marL="685800" lvl="1" indent="-228600" defTabSz="914400"/>
            <a:r>
              <a:rPr lang="en-US" sz="1600">
                <a:latin typeface="+mn-lt"/>
              </a:rPr>
              <a:t>Connecting every operational role to the broader mission, ensuring that all team members understand how their work contributes to the success of our clients and the health of our communities.</a:t>
            </a:r>
          </a:p>
        </p:txBody>
      </p:sp>
    </p:spTree>
    <p:extLst>
      <p:ext uri="{BB962C8B-B14F-4D97-AF65-F5344CB8AC3E}">
        <p14:creationId xmlns:p14="http://schemas.microsoft.com/office/powerpoint/2010/main" val="474474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8DE218-476F-6F62-53FA-5C26320AE66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AD46AE-16AC-8DBE-C0D7-4DC4BB2A19DE}"/>
              </a:ext>
            </a:extLst>
          </p:cNvPr>
          <p:cNvSpPr>
            <a:spLocks noGrp="1"/>
          </p:cNvSpPr>
          <p:nvPr>
            <p:ph type="title"/>
          </p:nvPr>
        </p:nvSpPr>
        <p:spPr>
          <a:xfrm>
            <a:off x="6513788" y="598805"/>
            <a:ext cx="4840010" cy="1573625"/>
          </a:xfrm>
        </p:spPr>
        <p:txBody>
          <a:bodyPr vert="horz" lIns="91440" tIns="45720" rIns="91440" bIns="45720" rtlCol="0" anchor="ctr">
            <a:normAutofit/>
          </a:bodyPr>
          <a:lstStyle/>
          <a:p>
            <a:pPr defTabSz="914400"/>
            <a:r>
              <a:rPr lang="en-US" sz="4400">
                <a:latin typeface="+mj-lt"/>
              </a:rPr>
              <a:t>Agenda</a:t>
            </a:r>
          </a:p>
        </p:txBody>
      </p:sp>
      <p:sp>
        <p:nvSpPr>
          <p:cNvPr id="8" name="Rectangle 1">
            <a:extLst>
              <a:ext uri="{FF2B5EF4-FFF2-40B4-BE49-F238E27FC236}">
                <a16:creationId xmlns:a16="http://schemas.microsoft.com/office/drawing/2014/main" id="{35CF9A33-8FCB-82CB-914C-E149E6C166CE}"/>
              </a:ext>
            </a:extLst>
          </p:cNvPr>
          <p:cNvSpPr>
            <a:spLocks noGrp="1" noChangeArrowheads="1"/>
          </p:cNvSpPr>
          <p:nvPr>
            <p:ph type="body" sz="half" idx="2"/>
          </p:nvPr>
        </p:nvSpPr>
        <p:spPr bwMode="auto">
          <a:xfrm>
            <a:off x="5995628" y="1947217"/>
            <a:ext cx="5500410" cy="422974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800100" lvl="1" indent="-285750" defTabSz="914400" fontAlgn="base">
              <a:spcBef>
                <a:spcPct val="0"/>
              </a:spcBef>
              <a:spcAft>
                <a:spcPts val="600"/>
              </a:spcAft>
              <a:buChar char="•"/>
            </a:pPr>
            <a:r>
              <a:rPr lang="en-US" altLang="en-US" sz="1600" b="1">
                <a:latin typeface="Montserrat"/>
              </a:rPr>
              <a:t>Technology </a:t>
            </a:r>
            <a:endParaRPr lang="en-US"/>
          </a:p>
          <a:p>
            <a:pPr marL="800100" lvl="1" indent="-285750" defTabSz="914400">
              <a:spcBef>
                <a:spcPct val="0"/>
              </a:spcBef>
              <a:spcAft>
                <a:spcPts val="600"/>
              </a:spcAft>
              <a:buChar char="•"/>
            </a:pPr>
            <a:r>
              <a:rPr lang="en-US" altLang="en-US" sz="1600" b="1">
                <a:latin typeface="Montserrat"/>
              </a:rPr>
              <a:t>Security</a:t>
            </a:r>
            <a:endParaRPr lang="en-US" sz="1400"/>
          </a:p>
          <a:p>
            <a:pPr marL="800100" lvl="1" indent="-285750" defTabSz="914400" fontAlgn="base">
              <a:spcBef>
                <a:spcPct val="0"/>
              </a:spcBef>
              <a:spcAft>
                <a:spcPts val="600"/>
              </a:spcAft>
              <a:buChar char="•"/>
            </a:pPr>
            <a:r>
              <a:rPr lang="en-US" altLang="en-US" sz="1600" b="1">
                <a:latin typeface="Montserrat"/>
              </a:rPr>
              <a:t>Distributed Workforce</a:t>
            </a:r>
          </a:p>
          <a:p>
            <a:pPr marL="800100" lvl="1" indent="-285750" defTabSz="914400" fontAlgn="base">
              <a:spcBef>
                <a:spcPct val="0"/>
              </a:spcBef>
              <a:spcAft>
                <a:spcPts val="600"/>
              </a:spcAft>
              <a:buChar char="•"/>
            </a:pPr>
            <a:r>
              <a:rPr kumimoji="0" lang="en-US" altLang="en-US" sz="1600" b="1" i="0" u="none" strike="noStrike" cap="none" normalizeH="0" baseline="0">
                <a:ln>
                  <a:noFill/>
                </a:ln>
                <a:effectLst/>
                <a:latin typeface="Montserrat"/>
              </a:rPr>
              <a:t>DTE Implementation Strategy</a:t>
            </a:r>
            <a:endParaRPr lang="en-US" altLang="en-US" sz="1600" b="1" i="0" u="none" strike="noStrike" cap="none" normalizeH="0" baseline="0">
              <a:ln>
                <a:noFill/>
              </a:ln>
              <a:effectLst/>
              <a:latin typeface="Montserrat"/>
            </a:endParaRPr>
          </a:p>
          <a:p>
            <a:pPr marL="800100" lvl="1" indent="-285750" defTabSz="914400" fontAlgn="base">
              <a:spcBef>
                <a:spcPct val="0"/>
              </a:spcBef>
              <a:spcAft>
                <a:spcPts val="600"/>
              </a:spcAft>
              <a:buChar char="•"/>
            </a:pPr>
            <a:r>
              <a:rPr lang="en-US" altLang="en-US" sz="1600" b="1">
                <a:latin typeface="Montserrat"/>
              </a:rPr>
              <a:t>Group Implementation Strategy</a:t>
            </a:r>
          </a:p>
          <a:p>
            <a:pPr marL="800100" lvl="1" indent="-285750" defTabSz="914400" fontAlgn="base">
              <a:spcBef>
                <a:spcPct val="0"/>
              </a:spcBef>
              <a:spcAft>
                <a:spcPts val="600"/>
              </a:spcAft>
              <a:buChar char="•"/>
            </a:pPr>
            <a:r>
              <a:rPr lang="en-US" altLang="en-US" sz="1600" b="1">
                <a:latin typeface="Montserrat"/>
              </a:rPr>
              <a:t>Our Service Model</a:t>
            </a:r>
          </a:p>
          <a:p>
            <a:pPr marL="800100" lvl="1" indent="-285750" defTabSz="914400" fontAlgn="base">
              <a:spcBef>
                <a:spcPct val="0"/>
              </a:spcBef>
              <a:spcAft>
                <a:spcPts val="600"/>
              </a:spcAft>
              <a:buChar char="•"/>
            </a:pPr>
            <a:r>
              <a:rPr lang="en-US" altLang="en-US" sz="1600" b="1">
                <a:latin typeface="Montserrat"/>
              </a:rPr>
              <a:t>Group Administration </a:t>
            </a:r>
          </a:p>
          <a:p>
            <a:pPr marL="800100" lvl="1" indent="-285750" defTabSz="914400" fontAlgn="base">
              <a:spcBef>
                <a:spcPct val="0"/>
              </a:spcBef>
              <a:spcAft>
                <a:spcPts val="600"/>
              </a:spcAft>
              <a:buChar char="•"/>
            </a:pPr>
            <a:r>
              <a:rPr lang="en-US" altLang="en-US" sz="1600" b="1">
                <a:latin typeface="Montserrat"/>
              </a:rPr>
              <a:t>Hospital Integration / Connectivity</a:t>
            </a:r>
          </a:p>
          <a:p>
            <a:pPr marL="800100" lvl="1" indent="-285750" defTabSz="914400" fontAlgn="base">
              <a:spcBef>
                <a:spcPct val="0"/>
              </a:spcBef>
              <a:spcAft>
                <a:spcPts val="600"/>
              </a:spcAft>
              <a:buChar char="•"/>
            </a:pPr>
            <a:r>
              <a:rPr lang="en-US" altLang="en-US" sz="1600" b="1">
                <a:latin typeface="Montserrat"/>
              </a:rPr>
              <a:t>DTE Performance / Plan Performance</a:t>
            </a:r>
          </a:p>
          <a:p>
            <a:pPr marL="800100" lvl="1" indent="-285750" defTabSz="914400">
              <a:spcBef>
                <a:spcPct val="0"/>
              </a:spcBef>
              <a:spcAft>
                <a:spcPts val="600"/>
              </a:spcAft>
              <a:buChar char="•"/>
            </a:pPr>
            <a:r>
              <a:rPr lang="en-US" altLang="en-US" sz="1600" b="1">
                <a:latin typeface="Montserrat"/>
              </a:rPr>
              <a:t>Open Discussion / Take Away Items / Next Steps</a:t>
            </a:r>
          </a:p>
          <a:p>
            <a:pPr marL="457200" lvl="1" indent="-228600" defTabSz="914400" fontAlgn="base">
              <a:spcBef>
                <a:spcPct val="0"/>
              </a:spcBef>
              <a:spcAft>
                <a:spcPts val="600"/>
              </a:spcAft>
              <a:buFont typeface="Arial" panose="020B0604020202020204" pitchFamily="34" charset="0"/>
              <a:buChar char="•"/>
            </a:pPr>
            <a:endParaRPr lang="en-US" altLang="en-US" sz="1600" b="1">
              <a:latin typeface="Montserrat"/>
            </a:endParaRPr>
          </a:p>
          <a:p>
            <a:pPr marL="457200" lvl="1" indent="-228600" defTabSz="914400" fontAlgn="base">
              <a:spcBef>
                <a:spcPct val="0"/>
              </a:spcBef>
              <a:spcAft>
                <a:spcPts val="600"/>
              </a:spcAft>
              <a:buFont typeface="Arial" panose="020B0604020202020204" pitchFamily="34" charset="0"/>
              <a:buChar char="•"/>
            </a:pPr>
            <a:endParaRPr lang="en-US" altLang="en-US" sz="1600" b="1">
              <a:latin typeface="Montserrat"/>
            </a:endParaRPr>
          </a:p>
          <a:p>
            <a:pPr marL="457200" lvl="1" indent="-228600" defTabSz="914400" fontAlgn="base">
              <a:spcBef>
                <a:spcPct val="0"/>
              </a:spcBef>
              <a:spcAft>
                <a:spcPts val="600"/>
              </a:spcAft>
              <a:buFont typeface="Arial" panose="020B0604020202020204" pitchFamily="34" charset="0"/>
              <a:buChar char="•"/>
            </a:pPr>
            <a:endParaRPr lang="en-US" altLang="en-US" sz="1600" b="1" i="0" u="none" strike="noStrike" cap="none" normalizeH="0" baseline="0">
              <a:ln>
                <a:noFill/>
              </a:ln>
              <a:effectLst/>
              <a:latin typeface="Montserrat"/>
            </a:endParaRPr>
          </a:p>
          <a:p>
            <a:pPr marL="742950" lvl="1" indent="-228600" defTabSz="914400" fontAlgn="base">
              <a:spcBef>
                <a:spcPct val="0"/>
              </a:spcBef>
              <a:spcAft>
                <a:spcPts val="600"/>
              </a:spcAft>
              <a:buFont typeface="Arial" panose="020B0604020202020204" pitchFamily="34" charset="0"/>
              <a:buChar char="•"/>
            </a:pPr>
            <a:endParaRPr lang="en-US" altLang="en-US" sz="1600" b="1" i="0" u="none" strike="noStrike" cap="none" normalizeH="0" baseline="0">
              <a:ln>
                <a:noFill/>
              </a:ln>
              <a:effectLst/>
              <a:latin typeface="Montserrat"/>
            </a:endParaRPr>
          </a:p>
          <a:p>
            <a:pPr marL="457200" lvl="1" indent="-228600" defTabSz="914400" fontAlgn="base">
              <a:spcBef>
                <a:spcPct val="0"/>
              </a:spcBef>
              <a:spcAft>
                <a:spcPts val="600"/>
              </a:spcAft>
              <a:buFont typeface="Arial" panose="020B0604020202020204" pitchFamily="34" charset="0"/>
              <a:buChar char="•"/>
            </a:pPr>
            <a:endParaRPr lang="en-US" altLang="en-US" sz="1600">
              <a:latin typeface="Montserrat"/>
            </a:endParaRPr>
          </a:p>
        </p:txBody>
      </p:sp>
      <p:sp>
        <p:nvSpPr>
          <p:cNvPr id="3" name="Title 1">
            <a:extLst>
              <a:ext uri="{FF2B5EF4-FFF2-40B4-BE49-F238E27FC236}">
                <a16:creationId xmlns:a16="http://schemas.microsoft.com/office/drawing/2014/main" id="{BF900129-FFC5-45CB-178F-B9727BF3348B}"/>
              </a:ext>
            </a:extLst>
          </p:cNvPr>
          <p:cNvSpPr txBox="1">
            <a:spLocks/>
          </p:cNvSpPr>
          <p:nvPr/>
        </p:nvSpPr>
        <p:spPr>
          <a:xfrm>
            <a:off x="163276" y="3791341"/>
            <a:ext cx="6839742" cy="721518"/>
          </a:xfrm>
          <a:prstGeom prst="rect">
            <a:avLst/>
          </a:prstGeom>
        </p:spPr>
        <p:txBody>
          <a:bodyPr vert="horz" lIns="91440" tIns="45721" rIns="91440" bIns="45721" rtlCol="0" anchor="b">
            <a:normAutofit/>
          </a:bodyPr>
          <a:lstStyle>
            <a:lvl1pPr algn="l" defTabSz="914400" rtl="0" eaLnBrk="1" latinLnBrk="0" hangingPunct="1">
              <a:lnSpc>
                <a:spcPct val="90000"/>
              </a:lnSpc>
              <a:spcBef>
                <a:spcPct val="0"/>
              </a:spcBef>
              <a:buNone/>
              <a:defRPr sz="3200" kern="1200">
                <a:solidFill>
                  <a:schemeClr val="tx1"/>
                </a:solidFill>
                <a:latin typeface="Montserrat" panose="00000500000000000000" pitchFamily="2" charset="0"/>
                <a:ea typeface="+mj-ea"/>
                <a:cs typeface="+mj-cs"/>
              </a:defRPr>
            </a:lvl1pPr>
          </a:lstStyle>
          <a:p>
            <a:endParaRPr lang="en-US"/>
          </a:p>
        </p:txBody>
      </p:sp>
      <p:sp>
        <p:nvSpPr>
          <p:cNvPr id="6" name="Content Placeholder 5">
            <a:extLst>
              <a:ext uri="{FF2B5EF4-FFF2-40B4-BE49-F238E27FC236}">
                <a16:creationId xmlns:a16="http://schemas.microsoft.com/office/drawing/2014/main" id="{003D5D4A-2E38-BC8E-B0B7-C424397F89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38611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13E5B-AAC5-F871-4EF3-04860070F60B}"/>
              </a:ext>
            </a:extLst>
          </p:cNvPr>
          <p:cNvSpPr>
            <a:spLocks noGrp="1"/>
          </p:cNvSpPr>
          <p:nvPr>
            <p:ph type="title"/>
          </p:nvPr>
        </p:nvSpPr>
        <p:spPr>
          <a:xfrm>
            <a:off x="838201" y="365125"/>
            <a:ext cx="5251316" cy="1807305"/>
          </a:xfrm>
        </p:spPr>
        <p:txBody>
          <a:bodyPr vert="horz" lIns="91440" tIns="45720" rIns="91440" bIns="45720" rtlCol="0" anchor="ctr">
            <a:normAutofit/>
          </a:bodyPr>
          <a:lstStyle/>
          <a:p>
            <a:pPr defTabSz="914400"/>
            <a:r>
              <a:rPr lang="en-US" sz="4400"/>
              <a:t>Technology</a:t>
            </a:r>
          </a:p>
        </p:txBody>
      </p:sp>
      <p:graphicFrame>
        <p:nvGraphicFramePr>
          <p:cNvPr id="6" name="Content Placeholder 2">
            <a:extLst>
              <a:ext uri="{FF2B5EF4-FFF2-40B4-BE49-F238E27FC236}">
                <a16:creationId xmlns:a16="http://schemas.microsoft.com/office/drawing/2014/main" id="{D25156B1-7880-DC24-19F6-DD76B8D6A8DD}"/>
              </a:ext>
            </a:extLst>
          </p:cNvPr>
          <p:cNvGraphicFramePr>
            <a:graphicFrameLocks noGrp="1"/>
          </p:cNvGraphicFramePr>
          <p:nvPr>
            <p:ph idx="1"/>
            <p:extLst>
              <p:ext uri="{D42A27DB-BD31-4B8C-83A1-F6EECF244321}">
                <p14:modId xmlns:p14="http://schemas.microsoft.com/office/powerpoint/2010/main" val="3794335284"/>
              </p:ext>
            </p:extLst>
          </p:nvPr>
        </p:nvGraphicFramePr>
        <p:xfrm>
          <a:off x="552314" y="1750141"/>
          <a:ext cx="10246749" cy="44464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1425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FC81A8-2BFE-3D24-BCDF-B3BB15A6372D}"/>
              </a:ext>
            </a:extLst>
          </p:cNvPr>
          <p:cNvSpPr>
            <a:spLocks noGrp="1"/>
          </p:cNvSpPr>
          <p:nvPr>
            <p:ph type="title"/>
          </p:nvPr>
        </p:nvSpPr>
        <p:spPr>
          <a:xfrm>
            <a:off x="838201" y="365125"/>
            <a:ext cx="5251316" cy="1807305"/>
          </a:xfrm>
        </p:spPr>
        <p:txBody>
          <a:bodyPr vert="horz" lIns="91440" tIns="45720" rIns="91440" bIns="45720" rtlCol="0" anchor="ctr">
            <a:normAutofit/>
          </a:bodyPr>
          <a:lstStyle/>
          <a:p>
            <a:pPr defTabSz="914400"/>
            <a:r>
              <a:rPr lang="en-US" sz="4400"/>
              <a:t>Security</a:t>
            </a:r>
          </a:p>
        </p:txBody>
      </p:sp>
      <p:graphicFrame>
        <p:nvGraphicFramePr>
          <p:cNvPr id="6" name="Content Placeholder 2">
            <a:extLst>
              <a:ext uri="{FF2B5EF4-FFF2-40B4-BE49-F238E27FC236}">
                <a16:creationId xmlns:a16="http://schemas.microsoft.com/office/drawing/2014/main" id="{CEBBF3C1-BF1E-D5A1-A79D-84F508FC9121}"/>
              </a:ext>
            </a:extLst>
          </p:cNvPr>
          <p:cNvGraphicFramePr>
            <a:graphicFrameLocks noGrp="1"/>
          </p:cNvGraphicFramePr>
          <p:nvPr>
            <p:ph idx="1"/>
            <p:extLst>
              <p:ext uri="{D42A27DB-BD31-4B8C-83A1-F6EECF244321}">
                <p14:modId xmlns:p14="http://schemas.microsoft.com/office/powerpoint/2010/main" val="2816298970"/>
              </p:ext>
            </p:extLst>
          </p:nvPr>
        </p:nvGraphicFramePr>
        <p:xfrm>
          <a:off x="838200" y="2333297"/>
          <a:ext cx="4619621" cy="3843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2814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EC1F9-CCD1-CB7D-C428-E6245BBE6224}"/>
              </a:ext>
            </a:extLst>
          </p:cNvPr>
          <p:cNvSpPr>
            <a:spLocks noGrp="1"/>
          </p:cNvSpPr>
          <p:nvPr>
            <p:ph type="title"/>
          </p:nvPr>
        </p:nvSpPr>
        <p:spPr>
          <a:xfrm>
            <a:off x="6321405" y="85852"/>
            <a:ext cx="5165131" cy="1807305"/>
          </a:xfrm>
        </p:spPr>
        <p:txBody>
          <a:bodyPr vert="horz" lIns="91440" tIns="45720" rIns="91440" bIns="45720" rtlCol="0" anchor="ctr">
            <a:normAutofit/>
          </a:bodyPr>
          <a:lstStyle/>
          <a:p>
            <a:pPr defTabSz="914400"/>
            <a:r>
              <a:rPr lang="en-US" sz="4400">
                <a:latin typeface="Montserrat"/>
              </a:rPr>
              <a:t>Distributed</a:t>
            </a:r>
            <a:br>
              <a:rPr lang="en-US" sz="4400">
                <a:latin typeface="Montserrat"/>
              </a:rPr>
            </a:br>
            <a:r>
              <a:rPr lang="en-US" sz="4400">
                <a:latin typeface="Montserrat"/>
              </a:rPr>
              <a:t>Workforce</a:t>
            </a:r>
          </a:p>
        </p:txBody>
      </p:sp>
      <p:sp>
        <p:nvSpPr>
          <p:cNvPr id="5" name="Content Placeholder 3">
            <a:extLst>
              <a:ext uri="{FF2B5EF4-FFF2-40B4-BE49-F238E27FC236}">
                <a16:creationId xmlns:a16="http://schemas.microsoft.com/office/drawing/2014/main" id="{2445CF9B-7FE9-4C85-83E6-23FD5381689D}"/>
              </a:ext>
            </a:extLst>
          </p:cNvPr>
          <p:cNvSpPr>
            <a:spLocks noGrp="1"/>
          </p:cNvSpPr>
          <p:nvPr/>
        </p:nvSpPr>
        <p:spPr>
          <a:xfrm>
            <a:off x="6321404" y="1979008"/>
            <a:ext cx="5165132" cy="44634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spcBef>
                <a:spcPts val="0"/>
              </a:spcBef>
            </a:pPr>
            <a:r>
              <a:rPr lang="en-US" sz="1400" b="1" spc="20">
                <a:latin typeface="Montserrat" panose="00000500000000000000" pitchFamily="2" charset="0"/>
              </a:rPr>
              <a:t>An Intentionally Distributed Workforce:</a:t>
            </a:r>
          </a:p>
          <a:p>
            <a:pPr>
              <a:spcBef>
                <a:spcPts val="0"/>
              </a:spcBef>
              <a:buClr>
                <a:srgbClr val="45B4E5"/>
              </a:buClr>
            </a:pPr>
            <a:r>
              <a:rPr lang="en-US" sz="1400">
                <a:latin typeface="Montserrat" panose="00000500000000000000" pitchFamily="2" charset="0"/>
              </a:rPr>
              <a:t>KBA Claims Administrators and Customer Service Reps were first to go to a remote work model in 2001</a:t>
            </a:r>
          </a:p>
          <a:p>
            <a:pPr>
              <a:spcBef>
                <a:spcPts val="0"/>
              </a:spcBef>
              <a:buClr>
                <a:srgbClr val="45B4E5"/>
              </a:buClr>
            </a:pPr>
            <a:r>
              <a:rPr lang="en-US" sz="1400">
                <a:latin typeface="Montserrat" panose="00000500000000000000" pitchFamily="2" charset="0"/>
              </a:rPr>
              <a:t>As technology advanced KBA continued to steer more positions into a Distributed status</a:t>
            </a:r>
          </a:p>
          <a:p>
            <a:pPr>
              <a:spcBef>
                <a:spcPts val="0"/>
              </a:spcBef>
              <a:buClr>
                <a:srgbClr val="45B4E5"/>
              </a:buClr>
            </a:pPr>
            <a:r>
              <a:rPr lang="en-US" sz="1400">
                <a:latin typeface="Montserrat" panose="00000500000000000000" pitchFamily="2" charset="0"/>
              </a:rPr>
              <a:t>As of the start of the March 2020 Pandemic KBA had over 80% of the workforce working remotely, and 95% able to work from home.</a:t>
            </a:r>
          </a:p>
          <a:p>
            <a:pPr>
              <a:spcBef>
                <a:spcPts val="0"/>
              </a:spcBef>
              <a:buClr>
                <a:srgbClr val="45B4E5"/>
              </a:buClr>
            </a:pPr>
            <a:endParaRPr lang="en-US" sz="1400">
              <a:latin typeface="Montserrat" panose="00000500000000000000" pitchFamily="2" charset="0"/>
            </a:endParaRPr>
          </a:p>
          <a:p>
            <a:pPr marL="0">
              <a:spcBef>
                <a:spcPts val="0"/>
              </a:spcBef>
            </a:pPr>
            <a:r>
              <a:rPr lang="en-US" sz="1400" b="1" spc="20">
                <a:latin typeface="Montserrat" panose="00000500000000000000" pitchFamily="2" charset="0"/>
              </a:rPr>
              <a:t>ADVANTAGES:</a:t>
            </a:r>
          </a:p>
          <a:p>
            <a:pPr>
              <a:spcBef>
                <a:spcPts val="0"/>
              </a:spcBef>
              <a:buClr>
                <a:srgbClr val="45B4E5"/>
              </a:buClr>
            </a:pPr>
            <a:r>
              <a:rPr lang="en-US" sz="1400">
                <a:latin typeface="Montserrat" panose="00000500000000000000" pitchFamily="2" charset="0"/>
              </a:rPr>
              <a:t>Improvement in attendance, tardiness, and availability</a:t>
            </a:r>
          </a:p>
          <a:p>
            <a:pPr>
              <a:spcBef>
                <a:spcPts val="0"/>
              </a:spcBef>
              <a:buClr>
                <a:srgbClr val="45B4E5"/>
              </a:buClr>
            </a:pPr>
            <a:r>
              <a:rPr lang="en-US" sz="1400">
                <a:latin typeface="Montserrat" panose="00000500000000000000" pitchFamily="2" charset="0"/>
              </a:rPr>
              <a:t>Protection from regional or localized outages</a:t>
            </a:r>
          </a:p>
          <a:p>
            <a:pPr>
              <a:spcBef>
                <a:spcPts val="0"/>
              </a:spcBef>
              <a:buClr>
                <a:srgbClr val="45B4E5"/>
              </a:buClr>
            </a:pPr>
            <a:r>
              <a:rPr lang="en-US" sz="1400">
                <a:latin typeface="Montserrat" panose="00000500000000000000" pitchFamily="2" charset="0"/>
              </a:rPr>
              <a:t>Employee satisfaction and award-winning work life balance</a:t>
            </a:r>
          </a:p>
          <a:p>
            <a:pPr>
              <a:spcBef>
                <a:spcPts val="0"/>
              </a:spcBef>
              <a:buClr>
                <a:srgbClr val="45B4E5"/>
              </a:buClr>
            </a:pPr>
            <a:r>
              <a:rPr lang="en-US" sz="1400">
                <a:latin typeface="Montserrat" panose="00000500000000000000" pitchFamily="2" charset="0"/>
              </a:rPr>
              <a:t>Ability to recruit talent nationally, vs. regionally</a:t>
            </a:r>
          </a:p>
          <a:p>
            <a:pPr>
              <a:spcBef>
                <a:spcPts val="0"/>
              </a:spcBef>
              <a:buClr>
                <a:srgbClr val="45B4E5"/>
              </a:buClr>
            </a:pPr>
            <a:endParaRPr lang="en-US" sz="1400">
              <a:latin typeface="Montserrat" panose="00000500000000000000" pitchFamily="2" charset="0"/>
            </a:endParaRPr>
          </a:p>
          <a:p>
            <a:pPr marL="0">
              <a:spcBef>
                <a:spcPts val="0"/>
              </a:spcBef>
            </a:pPr>
            <a:r>
              <a:rPr lang="en-US" sz="1400" b="1" spc="20">
                <a:latin typeface="Montserrat" panose="00000500000000000000" pitchFamily="2" charset="0"/>
              </a:rPr>
              <a:t>CONTROLS:</a:t>
            </a:r>
          </a:p>
          <a:p>
            <a:pPr>
              <a:spcBef>
                <a:spcPts val="0"/>
              </a:spcBef>
              <a:buClr>
                <a:srgbClr val="45B4E5"/>
              </a:buClr>
            </a:pPr>
            <a:r>
              <a:rPr lang="en-US" sz="1400">
                <a:latin typeface="Montserrat" panose="00000500000000000000" pitchFamily="2" charset="0"/>
              </a:rPr>
              <a:t>HIPPA compliant workforce management tools</a:t>
            </a:r>
          </a:p>
          <a:p>
            <a:pPr>
              <a:spcBef>
                <a:spcPts val="0"/>
              </a:spcBef>
              <a:buClr>
                <a:srgbClr val="45B4E5"/>
              </a:buClr>
            </a:pPr>
            <a:r>
              <a:rPr lang="en-US" sz="1400">
                <a:latin typeface="Montserrat" panose="00000500000000000000" pitchFamily="2" charset="0"/>
              </a:rPr>
              <a:t>Measured and actionable performance and production standards </a:t>
            </a:r>
          </a:p>
          <a:p>
            <a:pPr>
              <a:spcBef>
                <a:spcPts val="0"/>
              </a:spcBef>
              <a:buClr>
                <a:srgbClr val="45B4E5"/>
              </a:buClr>
            </a:pPr>
            <a:r>
              <a:rPr lang="en-US" sz="1400">
                <a:latin typeface="Montserrat" panose="00000500000000000000" pitchFamily="2" charset="0"/>
              </a:rPr>
              <a:t>Benchmarking for Productivity, Focus, and Collaboration Activities</a:t>
            </a:r>
          </a:p>
          <a:p>
            <a:pPr>
              <a:spcBef>
                <a:spcPts val="0"/>
              </a:spcBef>
              <a:buClr>
                <a:srgbClr val="45B4E5"/>
              </a:buClr>
            </a:pPr>
            <a:r>
              <a:rPr lang="en-US" sz="1400">
                <a:latin typeface="Montserrat" panose="00000500000000000000" pitchFamily="2" charset="0"/>
              </a:rPr>
              <a:t>Proactive system monitoring and individual coaching opportunities</a:t>
            </a:r>
          </a:p>
          <a:p>
            <a:pPr>
              <a:spcBef>
                <a:spcPts val="0"/>
              </a:spcBef>
              <a:buClr>
                <a:srgbClr val="45B4E5"/>
              </a:buClr>
            </a:pPr>
            <a:endParaRPr lang="en-US" sz="1400">
              <a:latin typeface="Montserrat" panose="00000500000000000000" pitchFamily="2" charset="0"/>
            </a:endParaRPr>
          </a:p>
          <a:p>
            <a:endParaRPr lang="en-US" sz="1400">
              <a:latin typeface="Montserrat" panose="00000500000000000000" pitchFamily="2" charset="0"/>
            </a:endParaRPr>
          </a:p>
          <a:p>
            <a:endParaRPr lang="en-US" sz="1400">
              <a:latin typeface="Montserrat" panose="00000500000000000000" pitchFamily="2" charset="0"/>
            </a:endParaRPr>
          </a:p>
        </p:txBody>
      </p:sp>
    </p:spTree>
    <p:extLst>
      <p:ext uri="{BB962C8B-B14F-4D97-AF65-F5344CB8AC3E}">
        <p14:creationId xmlns:p14="http://schemas.microsoft.com/office/powerpoint/2010/main" val="4102468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CB04A-06FF-FD31-D225-B1D5917E2858}"/>
              </a:ext>
            </a:extLst>
          </p:cNvPr>
          <p:cNvSpPr>
            <a:spLocks noGrp="1"/>
          </p:cNvSpPr>
          <p:nvPr>
            <p:ph type="title"/>
          </p:nvPr>
        </p:nvSpPr>
        <p:spPr>
          <a:xfrm>
            <a:off x="838204" y="558165"/>
            <a:ext cx="10515600" cy="1163003"/>
          </a:xfrm>
        </p:spPr>
        <p:txBody>
          <a:bodyPr/>
          <a:lstStyle/>
          <a:p>
            <a:pPr algn="ctr"/>
            <a:r>
              <a:rPr lang="en-US"/>
              <a:t>Workforce Management</a:t>
            </a:r>
          </a:p>
        </p:txBody>
      </p:sp>
      <p:pic>
        <p:nvPicPr>
          <p:cNvPr id="6" name="Content Placeholder 5">
            <a:extLst>
              <a:ext uri="{FF2B5EF4-FFF2-40B4-BE49-F238E27FC236}">
                <a16:creationId xmlns:a16="http://schemas.microsoft.com/office/drawing/2014/main" id="{5E7E2BBD-9066-C745-45D8-219198B4C9E0}"/>
              </a:ext>
            </a:extLst>
          </p:cNvPr>
          <p:cNvPicPr>
            <a:picLocks noGrp="1" noChangeAspect="1"/>
          </p:cNvPicPr>
          <p:nvPr>
            <p:ph sz="half" idx="1"/>
          </p:nvPr>
        </p:nvPicPr>
        <p:blipFill>
          <a:blip r:embed="rId3"/>
          <a:stretch>
            <a:fillRect/>
          </a:stretch>
        </p:blipFill>
        <p:spPr>
          <a:xfrm>
            <a:off x="2764" y="1820836"/>
            <a:ext cx="6096842" cy="4461320"/>
          </a:xfrm>
          <a:prstGeom prst="rect">
            <a:avLst/>
          </a:prstGeom>
        </p:spPr>
      </p:pic>
      <p:pic>
        <p:nvPicPr>
          <p:cNvPr id="8" name="Content Placeholder 7">
            <a:extLst>
              <a:ext uri="{FF2B5EF4-FFF2-40B4-BE49-F238E27FC236}">
                <a16:creationId xmlns:a16="http://schemas.microsoft.com/office/drawing/2014/main" id="{667CADB8-A115-A073-A1B2-247F45AD7D14}"/>
              </a:ext>
            </a:extLst>
          </p:cNvPr>
          <p:cNvPicPr>
            <a:picLocks noGrp="1" noChangeAspect="1"/>
          </p:cNvPicPr>
          <p:nvPr>
            <p:ph sz="half" idx="2"/>
          </p:nvPr>
        </p:nvPicPr>
        <p:blipFill>
          <a:blip r:embed="rId4"/>
          <a:stretch>
            <a:fillRect/>
          </a:stretch>
        </p:blipFill>
        <p:spPr>
          <a:xfrm>
            <a:off x="6096984" y="1820833"/>
            <a:ext cx="6095648" cy="4593649"/>
          </a:xfrm>
          <a:prstGeom prst="rect">
            <a:avLst/>
          </a:prstGeom>
        </p:spPr>
      </p:pic>
    </p:spTree>
    <p:extLst>
      <p:ext uri="{BB962C8B-B14F-4D97-AF65-F5344CB8AC3E}">
        <p14:creationId xmlns:p14="http://schemas.microsoft.com/office/powerpoint/2010/main" val="2963025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875B3A-E8E7-396A-340C-869A80BCF6D5}"/>
              </a:ext>
            </a:extLst>
          </p:cNvPr>
          <p:cNvSpPr/>
          <p:nvPr/>
        </p:nvSpPr>
        <p:spPr>
          <a:xfrm>
            <a:off x="-4322" y="0"/>
            <a:ext cx="4662586" cy="685800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11">
              <a:defRPr/>
            </a:pPr>
            <a:endParaRPr lang="en-US" sz="3200" b="1">
              <a:solidFill>
                <a:prstClr val="white"/>
              </a:solidFill>
              <a:latin typeface="Montserrat" panose="00000500000000000000" pitchFamily="2" charset="0"/>
            </a:endParaRPr>
          </a:p>
        </p:txBody>
      </p:sp>
      <p:sp>
        <p:nvSpPr>
          <p:cNvPr id="7" name="TextBox 6">
            <a:extLst>
              <a:ext uri="{FF2B5EF4-FFF2-40B4-BE49-F238E27FC236}">
                <a16:creationId xmlns:a16="http://schemas.microsoft.com/office/drawing/2014/main" id="{B9A41767-0A1E-88B1-2CBC-111CE6EEC58C}"/>
              </a:ext>
            </a:extLst>
          </p:cNvPr>
          <p:cNvSpPr txBox="1"/>
          <p:nvPr/>
        </p:nvSpPr>
        <p:spPr>
          <a:xfrm>
            <a:off x="64701" y="328499"/>
            <a:ext cx="4459854" cy="1754326"/>
          </a:xfrm>
          <a:prstGeom prst="rect">
            <a:avLst/>
          </a:prstGeom>
          <a:noFill/>
        </p:spPr>
        <p:txBody>
          <a:bodyPr wrap="square" rtlCol="0">
            <a:spAutoFit/>
          </a:bodyPr>
          <a:lstStyle/>
          <a:p>
            <a:pPr defTabSz="914411">
              <a:defRPr/>
            </a:pPr>
            <a:r>
              <a:rPr lang="en-US" sz="3600">
                <a:solidFill>
                  <a:prstClr val="white"/>
                </a:solidFill>
                <a:latin typeface="Montserrat" panose="00000500000000000000" pitchFamily="2" charset="0"/>
                <a:cs typeface="Arial" panose="020B0604020202020204" pitchFamily="34" charset="0"/>
              </a:rPr>
              <a:t>DTE Implementation </a:t>
            </a:r>
          </a:p>
          <a:p>
            <a:pPr defTabSz="914411">
              <a:defRPr/>
            </a:pPr>
            <a:r>
              <a:rPr lang="en-US" sz="3600">
                <a:solidFill>
                  <a:prstClr val="white"/>
                </a:solidFill>
                <a:latin typeface="Montserrat" panose="00000500000000000000" pitchFamily="2" charset="0"/>
                <a:cs typeface="Arial" panose="020B0604020202020204" pitchFamily="34" charset="0"/>
              </a:rPr>
              <a:t>Team</a:t>
            </a:r>
          </a:p>
        </p:txBody>
      </p:sp>
      <p:sp>
        <p:nvSpPr>
          <p:cNvPr id="11" name="TextBox 10">
            <a:extLst>
              <a:ext uri="{FF2B5EF4-FFF2-40B4-BE49-F238E27FC236}">
                <a16:creationId xmlns:a16="http://schemas.microsoft.com/office/drawing/2014/main" id="{3DF426DD-C737-F23C-E076-4D3361674291}"/>
              </a:ext>
            </a:extLst>
          </p:cNvPr>
          <p:cNvSpPr txBox="1"/>
          <p:nvPr/>
        </p:nvSpPr>
        <p:spPr>
          <a:xfrm>
            <a:off x="103519" y="2225854"/>
            <a:ext cx="4382217" cy="3231654"/>
          </a:xfrm>
          <a:prstGeom prst="rect">
            <a:avLst/>
          </a:prstGeom>
          <a:noFill/>
        </p:spPr>
        <p:txBody>
          <a:bodyPr wrap="square" rtlCol="0">
            <a:spAutoFit/>
          </a:bodyPr>
          <a:lstStyle/>
          <a:p>
            <a:pPr defTabSz="914411">
              <a:defRPr/>
            </a:pPr>
            <a:r>
              <a:rPr lang="en-US" sz="2000">
                <a:solidFill>
                  <a:prstClr val="white"/>
                </a:solidFill>
                <a:latin typeface="Montserrat" panose="00000500000000000000" pitchFamily="2" charset="0"/>
              </a:rPr>
              <a:t>The DTE Implementation Team is responsible  for the overall management of the DTE project plan for the DTE Network and KBA Administrative Operations. </a:t>
            </a:r>
          </a:p>
          <a:p>
            <a:pPr defTabSz="914411">
              <a:defRPr/>
            </a:pPr>
            <a:endParaRPr lang="en-US" sz="2400">
              <a:solidFill>
                <a:prstClr val="white"/>
              </a:solidFill>
              <a:latin typeface="Montserrat" panose="00000500000000000000" pitchFamily="2" charset="0"/>
            </a:endParaRPr>
          </a:p>
          <a:p>
            <a:pPr defTabSz="914411">
              <a:defRPr/>
            </a:pPr>
            <a:r>
              <a:rPr lang="en-US" sz="2000">
                <a:solidFill>
                  <a:prstClr val="white"/>
                </a:solidFill>
                <a:latin typeface="Montserrat" panose="00000500000000000000" pitchFamily="2" charset="0"/>
              </a:rPr>
              <a:t>We are always excited about new partnerships and look forward to developing a solid foundation to build upon. </a:t>
            </a:r>
          </a:p>
        </p:txBody>
      </p:sp>
      <p:pic>
        <p:nvPicPr>
          <p:cNvPr id="12" name="Picture Placeholder 23">
            <a:extLst>
              <a:ext uri="{FF2B5EF4-FFF2-40B4-BE49-F238E27FC236}">
                <a16:creationId xmlns:a16="http://schemas.microsoft.com/office/drawing/2014/main" id="{CEB39739-96E7-E26A-CBE4-CC5CB404303B}"/>
              </a:ext>
            </a:extLst>
          </p:cNvPr>
          <p:cNvPicPr>
            <a:picLocks noChangeAspect="1"/>
          </p:cNvPicPr>
          <p:nvPr/>
        </p:nvPicPr>
        <p:blipFill>
          <a:blip r:embed="rId3"/>
          <a:srcRect l="12897" r="12897"/>
          <a:stretch>
            <a:fillRect/>
          </a:stretch>
        </p:blipFill>
        <p:spPr>
          <a:xfrm>
            <a:off x="5284421" y="382867"/>
            <a:ext cx="972000" cy="972000"/>
          </a:xfrm>
          <a:prstGeom prst="ellipse">
            <a:avLst/>
          </a:prstGeom>
        </p:spPr>
      </p:pic>
      <p:sp>
        <p:nvSpPr>
          <p:cNvPr id="13" name="TextBox 12">
            <a:extLst>
              <a:ext uri="{FF2B5EF4-FFF2-40B4-BE49-F238E27FC236}">
                <a16:creationId xmlns:a16="http://schemas.microsoft.com/office/drawing/2014/main" id="{530F847C-9B90-0D20-A5F9-30A70EB2A5B2}"/>
              </a:ext>
            </a:extLst>
          </p:cNvPr>
          <p:cNvSpPr txBox="1"/>
          <p:nvPr/>
        </p:nvSpPr>
        <p:spPr>
          <a:xfrm>
            <a:off x="6582003" y="382869"/>
            <a:ext cx="5199323" cy="1461939"/>
          </a:xfrm>
          <a:prstGeom prst="rect">
            <a:avLst/>
          </a:prstGeom>
          <a:noFill/>
        </p:spPr>
        <p:txBody>
          <a:bodyPr wrap="square" rtlCol="0">
            <a:spAutoFit/>
          </a:bodyPr>
          <a:lstStyle/>
          <a:p>
            <a:pPr defTabSz="914411">
              <a:defRPr/>
            </a:pPr>
            <a:r>
              <a:rPr lang="en-US" sz="1200" b="1">
                <a:solidFill>
                  <a:prstClr val="black"/>
                </a:solidFill>
                <a:latin typeface="Montserrat" panose="00000500000000000000" pitchFamily="2" charset="0"/>
              </a:rPr>
              <a:t>Director, Implementation and Network</a:t>
            </a:r>
          </a:p>
          <a:p>
            <a:pPr defTabSz="914411">
              <a:spcAft>
                <a:spcPts val="601"/>
              </a:spcAft>
              <a:defRPr/>
            </a:pPr>
            <a:r>
              <a:rPr lang="en-US" sz="1200">
                <a:solidFill>
                  <a:prstClr val="black"/>
                </a:solidFill>
                <a:latin typeface="Montserrat" panose="00000500000000000000" pitchFamily="2" charset="0"/>
              </a:rPr>
              <a:t>I joined Key Benefit Administrators in 2000 and have been in the Health Insurance Industry for 20+ years. My focus has been Leadership in Operations, Carrier and Provider Network Relations and Implementation Management. </a:t>
            </a:r>
          </a:p>
          <a:p>
            <a:pPr defTabSz="914411">
              <a:defRPr/>
            </a:pPr>
            <a:r>
              <a:rPr lang="en-US" sz="1200">
                <a:solidFill>
                  <a:prstClr val="black"/>
                </a:solidFill>
                <a:latin typeface="Montserrat" panose="00000500000000000000" pitchFamily="2" charset="0"/>
                <a:cs typeface="Calibri" panose="020F0502020204030204" pitchFamily="34" charset="0"/>
              </a:rPr>
              <a:t>Office: (803) 323-7974  |  Email: </a:t>
            </a:r>
            <a:r>
              <a:rPr lang="en-US" sz="1200">
                <a:solidFill>
                  <a:prstClr val="black"/>
                </a:solidFill>
                <a:latin typeface="Montserrat" panose="00000500000000000000" pitchFamily="2" charset="0"/>
                <a:cs typeface="Calibri" panose="020F0502020204030204" pitchFamily="34" charset="0"/>
                <a:hlinkClick r:id="rId4"/>
              </a:rPr>
              <a:t>Christine.Vinesett@keybenefit.com</a:t>
            </a:r>
            <a:r>
              <a:rPr lang="en-US" sz="1200">
                <a:solidFill>
                  <a:prstClr val="black"/>
                </a:solidFill>
                <a:latin typeface="Montserrat" panose="00000500000000000000" pitchFamily="2" charset="0"/>
                <a:cs typeface="Calibri" panose="020F0502020204030204" pitchFamily="34" charset="0"/>
              </a:rPr>
              <a:t> </a:t>
            </a:r>
          </a:p>
        </p:txBody>
      </p:sp>
      <p:sp>
        <p:nvSpPr>
          <p:cNvPr id="14" name="TextBox 13">
            <a:extLst>
              <a:ext uri="{FF2B5EF4-FFF2-40B4-BE49-F238E27FC236}">
                <a16:creationId xmlns:a16="http://schemas.microsoft.com/office/drawing/2014/main" id="{8FD7455B-FEFD-A1FB-F3E6-8457781513C4}"/>
              </a:ext>
            </a:extLst>
          </p:cNvPr>
          <p:cNvSpPr txBox="1"/>
          <p:nvPr/>
        </p:nvSpPr>
        <p:spPr>
          <a:xfrm>
            <a:off x="5070346" y="1479796"/>
            <a:ext cx="1511657" cy="254044"/>
          </a:xfrm>
          <a:prstGeom prst="rect">
            <a:avLst/>
          </a:prstGeom>
          <a:noFill/>
        </p:spPr>
        <p:txBody>
          <a:bodyPr wrap="square" rtlCol="0">
            <a:spAutoFit/>
          </a:bodyPr>
          <a:lstStyle/>
          <a:p>
            <a:pPr algn="ctr" defTabSz="914411">
              <a:defRPr/>
            </a:pPr>
            <a:r>
              <a:rPr lang="en-US" sz="1051">
                <a:solidFill>
                  <a:prstClr val="black"/>
                </a:solidFill>
                <a:latin typeface="Montserrat" panose="00000500000000000000" pitchFamily="2" charset="0"/>
              </a:rPr>
              <a:t>Christine Vinesett</a:t>
            </a:r>
          </a:p>
        </p:txBody>
      </p:sp>
      <p:pic>
        <p:nvPicPr>
          <p:cNvPr id="15" name="Picture Placeholder 27" descr="A picture containing person, wall, indoor, smiling&#10;&#10;Description automatically generated">
            <a:extLst>
              <a:ext uri="{FF2B5EF4-FFF2-40B4-BE49-F238E27FC236}">
                <a16:creationId xmlns:a16="http://schemas.microsoft.com/office/drawing/2014/main" id="{E6F8E71D-B9A1-1F6F-56C1-A374B1471537}"/>
              </a:ext>
            </a:extLst>
          </p:cNvPr>
          <p:cNvPicPr>
            <a:picLocks noChangeAspect="1"/>
          </p:cNvPicPr>
          <p:nvPr/>
        </p:nvPicPr>
        <p:blipFill>
          <a:blip r:embed="rId5"/>
          <a:srcRect t="21779" b="19436"/>
          <a:stretch/>
        </p:blipFill>
        <p:spPr>
          <a:xfrm>
            <a:off x="5261239" y="5399581"/>
            <a:ext cx="972000" cy="1012350"/>
          </a:xfrm>
          <a:prstGeom prst="ellipse">
            <a:avLst/>
          </a:prstGeom>
        </p:spPr>
      </p:pic>
      <p:sp>
        <p:nvSpPr>
          <p:cNvPr id="16" name="TextBox 15">
            <a:extLst>
              <a:ext uri="{FF2B5EF4-FFF2-40B4-BE49-F238E27FC236}">
                <a16:creationId xmlns:a16="http://schemas.microsoft.com/office/drawing/2014/main" id="{4C85C698-2514-528F-2548-B2056ED11AF9}"/>
              </a:ext>
            </a:extLst>
          </p:cNvPr>
          <p:cNvSpPr txBox="1"/>
          <p:nvPr/>
        </p:nvSpPr>
        <p:spPr>
          <a:xfrm>
            <a:off x="5070346" y="6488686"/>
            <a:ext cx="1511657" cy="254044"/>
          </a:xfrm>
          <a:prstGeom prst="rect">
            <a:avLst/>
          </a:prstGeom>
          <a:noFill/>
        </p:spPr>
        <p:txBody>
          <a:bodyPr wrap="square" rtlCol="0">
            <a:spAutoFit/>
          </a:bodyPr>
          <a:lstStyle/>
          <a:p>
            <a:pPr algn="ctr" defTabSz="914411">
              <a:defRPr/>
            </a:pPr>
            <a:r>
              <a:rPr lang="en-US" sz="1051">
                <a:solidFill>
                  <a:prstClr val="black"/>
                </a:solidFill>
                <a:latin typeface="Montserrat" panose="00000500000000000000" pitchFamily="2" charset="0"/>
              </a:rPr>
              <a:t>Darlene Grindstaff</a:t>
            </a:r>
          </a:p>
        </p:txBody>
      </p:sp>
      <p:sp>
        <p:nvSpPr>
          <p:cNvPr id="17" name="TextBox 16">
            <a:extLst>
              <a:ext uri="{FF2B5EF4-FFF2-40B4-BE49-F238E27FC236}">
                <a16:creationId xmlns:a16="http://schemas.microsoft.com/office/drawing/2014/main" id="{0D154E73-91F6-A28B-A0C5-9B2B03F61743}"/>
              </a:ext>
            </a:extLst>
          </p:cNvPr>
          <p:cNvSpPr txBox="1"/>
          <p:nvPr/>
        </p:nvSpPr>
        <p:spPr>
          <a:xfrm>
            <a:off x="6582003" y="5203633"/>
            <a:ext cx="5199323" cy="1785104"/>
          </a:xfrm>
          <a:prstGeom prst="rect">
            <a:avLst/>
          </a:prstGeom>
          <a:noFill/>
        </p:spPr>
        <p:txBody>
          <a:bodyPr wrap="square" rtlCol="0">
            <a:spAutoFit/>
          </a:bodyPr>
          <a:lstStyle/>
          <a:p>
            <a:pPr defTabSz="914411">
              <a:spcAft>
                <a:spcPts val="601"/>
              </a:spcAft>
              <a:defRPr/>
            </a:pPr>
            <a:r>
              <a:rPr lang="en-US" sz="1200" b="1">
                <a:solidFill>
                  <a:prstClr val="black"/>
                </a:solidFill>
                <a:latin typeface="Montserrat" panose="00000500000000000000" pitchFamily="2" charset="0"/>
              </a:rPr>
              <a:t>DTE Implementation and Relationship Coordinator</a:t>
            </a:r>
            <a:endParaRPr lang="en-US" sz="1200">
              <a:solidFill>
                <a:prstClr val="black"/>
              </a:solidFill>
              <a:latin typeface="Montserrat" panose="00000500000000000000" pitchFamily="2" charset="0"/>
            </a:endParaRPr>
          </a:p>
          <a:p>
            <a:pPr defTabSz="914411">
              <a:spcAft>
                <a:spcPts val="601"/>
              </a:spcAft>
              <a:defRPr/>
            </a:pPr>
            <a:r>
              <a:rPr lang="en-US" sz="1200">
                <a:solidFill>
                  <a:prstClr val="black"/>
                </a:solidFill>
                <a:latin typeface="Montserrat" panose="00000500000000000000" pitchFamily="2" charset="0"/>
              </a:rPr>
              <a:t>Darlene Grindstaff joined Key Benefit Administrators in 2014 and has been in the Health Insurance Industry for 11 years. Darlene’s focus has been in Implementation, Provider Network, and Relationship Management. </a:t>
            </a:r>
          </a:p>
          <a:p>
            <a:pPr defTabSz="914411">
              <a:spcAft>
                <a:spcPts val="601"/>
              </a:spcAft>
              <a:defRPr/>
            </a:pPr>
            <a:r>
              <a:rPr lang="en-US" sz="1200">
                <a:solidFill>
                  <a:prstClr val="black"/>
                </a:solidFill>
                <a:latin typeface="Montserrat" panose="00000500000000000000" pitchFamily="2" charset="0"/>
                <a:ea typeface="Calibri" panose="020F0502020204030204" pitchFamily="34" charset="0"/>
                <a:cs typeface="Calibri" panose="020F0502020204030204" pitchFamily="34" charset="0"/>
              </a:rPr>
              <a:t>Office: 803-396-4784   </a:t>
            </a:r>
            <a:r>
              <a:rPr lang="en-US" sz="1200">
                <a:solidFill>
                  <a:prstClr val="black"/>
                </a:solidFill>
                <a:latin typeface="Montserrat" panose="00000500000000000000" pitchFamily="2" charset="0"/>
              </a:rPr>
              <a:t>|   Email: </a:t>
            </a:r>
            <a:r>
              <a:rPr lang="en-US" sz="1200">
                <a:solidFill>
                  <a:prstClr val="black"/>
                </a:solidFill>
                <a:latin typeface="Montserrat" panose="00000500000000000000" pitchFamily="2" charset="0"/>
                <a:hlinkClick r:id="rId6"/>
              </a:rPr>
              <a:t>Darlene.Grindstaff@keybenefit.com</a:t>
            </a:r>
            <a:r>
              <a:rPr lang="en-US" sz="1200">
                <a:solidFill>
                  <a:prstClr val="black"/>
                </a:solidFill>
                <a:latin typeface="Montserrat" panose="00000500000000000000" pitchFamily="2" charset="0"/>
              </a:rPr>
              <a:t> </a:t>
            </a:r>
          </a:p>
          <a:p>
            <a:pPr defTabSz="914411">
              <a:spcAft>
                <a:spcPts val="601"/>
              </a:spcAft>
              <a:defRPr/>
            </a:pPr>
            <a:endParaRPr lang="en-US" sz="1100">
              <a:solidFill>
                <a:prstClr val="black"/>
              </a:solidFill>
              <a:latin typeface="Montserrat" panose="00000500000000000000" pitchFamily="2" charset="0"/>
            </a:endParaRPr>
          </a:p>
        </p:txBody>
      </p:sp>
      <p:pic>
        <p:nvPicPr>
          <p:cNvPr id="18" name="Picture Placeholder 27">
            <a:extLst>
              <a:ext uri="{FF2B5EF4-FFF2-40B4-BE49-F238E27FC236}">
                <a16:creationId xmlns:a16="http://schemas.microsoft.com/office/drawing/2014/main" id="{86BBA40F-FF55-6F38-4EBA-12630421ACE0}"/>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rot="16200000">
            <a:off x="5270791" y="3668044"/>
            <a:ext cx="952896" cy="972000"/>
          </a:xfrm>
          <a:prstGeom prst="ellipse">
            <a:avLst/>
          </a:prstGeom>
        </p:spPr>
      </p:pic>
      <p:sp>
        <p:nvSpPr>
          <p:cNvPr id="19" name="TextBox 18">
            <a:extLst>
              <a:ext uri="{FF2B5EF4-FFF2-40B4-BE49-F238E27FC236}">
                <a16:creationId xmlns:a16="http://schemas.microsoft.com/office/drawing/2014/main" id="{1080BF80-934D-0E46-38A3-A253354B204E}"/>
              </a:ext>
            </a:extLst>
          </p:cNvPr>
          <p:cNvSpPr txBox="1"/>
          <p:nvPr/>
        </p:nvSpPr>
        <p:spPr>
          <a:xfrm>
            <a:off x="5070346" y="4766703"/>
            <a:ext cx="1511657" cy="415755"/>
          </a:xfrm>
          <a:prstGeom prst="rect">
            <a:avLst/>
          </a:prstGeom>
          <a:noFill/>
        </p:spPr>
        <p:txBody>
          <a:bodyPr wrap="square" rtlCol="0">
            <a:spAutoFit/>
          </a:bodyPr>
          <a:lstStyle/>
          <a:p>
            <a:pPr algn="ctr" defTabSz="914411">
              <a:defRPr/>
            </a:pPr>
            <a:r>
              <a:rPr lang="en-US" sz="1051">
                <a:solidFill>
                  <a:prstClr val="black"/>
                </a:solidFill>
                <a:latin typeface="Montserrat" panose="00000500000000000000" pitchFamily="2" charset="0"/>
              </a:rPr>
              <a:t>Dejanetta (Deja) Pettaway</a:t>
            </a:r>
          </a:p>
        </p:txBody>
      </p:sp>
      <p:sp>
        <p:nvSpPr>
          <p:cNvPr id="20" name="TextBox 19">
            <a:extLst>
              <a:ext uri="{FF2B5EF4-FFF2-40B4-BE49-F238E27FC236}">
                <a16:creationId xmlns:a16="http://schemas.microsoft.com/office/drawing/2014/main" id="{8763FA30-65BB-8BE6-5D9A-BD9349F13578}"/>
              </a:ext>
            </a:extLst>
          </p:cNvPr>
          <p:cNvSpPr txBox="1"/>
          <p:nvPr/>
        </p:nvSpPr>
        <p:spPr>
          <a:xfrm>
            <a:off x="6582003" y="3677595"/>
            <a:ext cx="5199323" cy="1600438"/>
          </a:xfrm>
          <a:prstGeom prst="rect">
            <a:avLst/>
          </a:prstGeom>
          <a:noFill/>
        </p:spPr>
        <p:txBody>
          <a:bodyPr wrap="square" rtlCol="0">
            <a:spAutoFit/>
          </a:bodyPr>
          <a:lstStyle/>
          <a:p>
            <a:pPr defTabSz="914411">
              <a:spcAft>
                <a:spcPts val="601"/>
              </a:spcAft>
              <a:defRPr/>
            </a:pPr>
            <a:r>
              <a:rPr lang="en-US" sz="1200" b="1">
                <a:solidFill>
                  <a:prstClr val="black"/>
                </a:solidFill>
                <a:latin typeface="Montserrat" panose="00000500000000000000" pitchFamily="2" charset="0"/>
              </a:rPr>
              <a:t>DTE Implementation and Relationship Coordinator</a:t>
            </a:r>
          </a:p>
          <a:p>
            <a:pPr defTabSz="914411">
              <a:spcAft>
                <a:spcPts val="601"/>
              </a:spcAft>
              <a:defRPr/>
            </a:pPr>
            <a:r>
              <a:rPr lang="en-US" sz="1200">
                <a:solidFill>
                  <a:prstClr val="black"/>
                </a:solidFill>
                <a:latin typeface="Montserrat" panose="00000500000000000000" pitchFamily="2" charset="0"/>
              </a:rPr>
              <a:t>Deja joined Key Benefit Administrators in 2023 and has been in the Health Insurance Industry for 10 years. Deja’s focus has been in Provider Network and Relationship Management.</a:t>
            </a:r>
          </a:p>
          <a:p>
            <a:pPr defTabSz="914411">
              <a:spcAft>
                <a:spcPts val="601"/>
              </a:spcAft>
              <a:defRPr/>
            </a:pPr>
            <a:r>
              <a:rPr lang="en-US" sz="1200">
                <a:solidFill>
                  <a:prstClr val="black"/>
                </a:solidFill>
                <a:latin typeface="Montserrat" panose="00000500000000000000" pitchFamily="2" charset="0"/>
                <a:ea typeface="Calibri" panose="020F0502020204030204" pitchFamily="34" charset="0"/>
                <a:cs typeface="Calibri" panose="020F0502020204030204" pitchFamily="34" charset="0"/>
              </a:rPr>
              <a:t>Office: 803-396-4836   </a:t>
            </a:r>
            <a:r>
              <a:rPr lang="en-US" sz="1200">
                <a:solidFill>
                  <a:prstClr val="black"/>
                </a:solidFill>
                <a:latin typeface="Montserrat" panose="00000500000000000000" pitchFamily="2" charset="0"/>
              </a:rPr>
              <a:t>|   Email: </a:t>
            </a:r>
            <a:r>
              <a:rPr lang="en-US" sz="1200">
                <a:solidFill>
                  <a:prstClr val="black"/>
                </a:solidFill>
                <a:latin typeface="Montserrat" panose="00000500000000000000" pitchFamily="2" charset="0"/>
                <a:hlinkClick r:id="rId6"/>
              </a:rPr>
              <a:t>Dejanetta.Pettaway@keybenefit.com</a:t>
            </a:r>
            <a:r>
              <a:rPr lang="en-US" sz="1200">
                <a:solidFill>
                  <a:prstClr val="black"/>
                </a:solidFill>
                <a:latin typeface="Montserrat" panose="00000500000000000000" pitchFamily="2" charset="0"/>
              </a:rPr>
              <a:t> </a:t>
            </a:r>
          </a:p>
          <a:p>
            <a:pPr defTabSz="914411">
              <a:spcAft>
                <a:spcPts val="601"/>
              </a:spcAft>
              <a:defRPr/>
            </a:pPr>
            <a:endParaRPr lang="en-US" sz="1100">
              <a:solidFill>
                <a:prstClr val="black"/>
              </a:solidFill>
              <a:latin typeface="Montserrat" panose="00000500000000000000" pitchFamily="2" charset="0"/>
            </a:endParaRPr>
          </a:p>
        </p:txBody>
      </p:sp>
      <p:sp>
        <p:nvSpPr>
          <p:cNvPr id="3" name="TextBox 2">
            <a:extLst>
              <a:ext uri="{FF2B5EF4-FFF2-40B4-BE49-F238E27FC236}">
                <a16:creationId xmlns:a16="http://schemas.microsoft.com/office/drawing/2014/main" id="{E7480D46-918E-08B5-A5C4-304F9E457AA1}"/>
              </a:ext>
            </a:extLst>
          </p:cNvPr>
          <p:cNvSpPr txBox="1"/>
          <p:nvPr/>
        </p:nvSpPr>
        <p:spPr>
          <a:xfrm>
            <a:off x="5070346" y="3044715"/>
            <a:ext cx="1511657" cy="254044"/>
          </a:xfrm>
          <a:prstGeom prst="rect">
            <a:avLst/>
          </a:prstGeom>
          <a:noFill/>
        </p:spPr>
        <p:txBody>
          <a:bodyPr wrap="square" rtlCol="0">
            <a:spAutoFit/>
          </a:bodyPr>
          <a:lstStyle/>
          <a:p>
            <a:pPr algn="ctr" defTabSz="914411">
              <a:defRPr/>
            </a:pPr>
            <a:r>
              <a:rPr lang="en-US" sz="1051">
                <a:solidFill>
                  <a:prstClr val="black"/>
                </a:solidFill>
                <a:latin typeface="Montserrat" panose="00000500000000000000" pitchFamily="2" charset="0"/>
              </a:rPr>
              <a:t>Julie Caskey</a:t>
            </a:r>
          </a:p>
        </p:txBody>
      </p:sp>
      <p:sp>
        <p:nvSpPr>
          <p:cNvPr id="4" name="TextBox 3">
            <a:extLst>
              <a:ext uri="{FF2B5EF4-FFF2-40B4-BE49-F238E27FC236}">
                <a16:creationId xmlns:a16="http://schemas.microsoft.com/office/drawing/2014/main" id="{C72C32A3-016B-E62A-A9C8-31E790545AF7}"/>
              </a:ext>
            </a:extLst>
          </p:cNvPr>
          <p:cNvSpPr txBox="1"/>
          <p:nvPr/>
        </p:nvSpPr>
        <p:spPr>
          <a:xfrm>
            <a:off x="6582003" y="1866963"/>
            <a:ext cx="5199323" cy="1862048"/>
          </a:xfrm>
          <a:prstGeom prst="rect">
            <a:avLst/>
          </a:prstGeom>
          <a:noFill/>
        </p:spPr>
        <p:txBody>
          <a:bodyPr wrap="square" rtlCol="0">
            <a:spAutoFit/>
          </a:bodyPr>
          <a:lstStyle/>
          <a:p>
            <a:pPr defTabSz="914411">
              <a:spcAft>
                <a:spcPts val="601"/>
              </a:spcAft>
              <a:defRPr/>
            </a:pPr>
            <a:r>
              <a:rPr lang="en-US" sz="1200" b="1">
                <a:solidFill>
                  <a:prstClr val="black"/>
                </a:solidFill>
                <a:latin typeface="Montserrat" panose="00000500000000000000" pitchFamily="2" charset="0"/>
              </a:rPr>
              <a:t>Network Operations Lead </a:t>
            </a:r>
          </a:p>
          <a:p>
            <a:pPr defTabSz="914411">
              <a:spcAft>
                <a:spcPts val="601"/>
              </a:spcAft>
              <a:defRPr/>
            </a:pPr>
            <a:r>
              <a:rPr lang="en-US" sz="1200">
                <a:solidFill>
                  <a:prstClr val="black"/>
                </a:solidFill>
                <a:latin typeface="Montserrat" panose="00000500000000000000" pitchFamily="2" charset="0"/>
              </a:rPr>
              <a:t>Julie Caskey joined Key Benefit Administrators (KBA) in 2021. Julie brings an extensive background with 30+ years in the Health Insurance Industry. Julie’s focus has been in Provider Network and Relationship Management.</a:t>
            </a:r>
          </a:p>
          <a:p>
            <a:pPr defTabSz="914411">
              <a:spcAft>
                <a:spcPts val="601"/>
              </a:spcAft>
              <a:defRPr/>
            </a:pPr>
            <a:endParaRPr lang="en-US" sz="1200">
              <a:solidFill>
                <a:prstClr val="black"/>
              </a:solidFill>
              <a:latin typeface="Montserrat" panose="00000500000000000000" pitchFamily="2" charset="0"/>
            </a:endParaRPr>
          </a:p>
          <a:p>
            <a:pPr defTabSz="914411">
              <a:spcAft>
                <a:spcPts val="601"/>
              </a:spcAft>
              <a:defRPr/>
            </a:pPr>
            <a:r>
              <a:rPr lang="en-US" sz="1200">
                <a:solidFill>
                  <a:prstClr val="black"/>
                </a:solidFill>
                <a:latin typeface="Montserrat" panose="00000500000000000000" pitchFamily="2" charset="0"/>
              </a:rPr>
              <a:t> </a:t>
            </a:r>
            <a:r>
              <a:rPr lang="en-US" sz="1200">
                <a:solidFill>
                  <a:prstClr val="black"/>
                </a:solidFill>
                <a:latin typeface="Montserrat" panose="00000500000000000000" pitchFamily="2" charset="0"/>
                <a:cs typeface="Calibri" panose="020F0502020204030204" pitchFamily="34" charset="0"/>
              </a:rPr>
              <a:t>Office: 317-712-4003   |   Email: </a:t>
            </a:r>
            <a:r>
              <a:rPr lang="en-US" sz="1200">
                <a:solidFill>
                  <a:prstClr val="black"/>
                </a:solidFill>
                <a:latin typeface="Montserrat" panose="00000500000000000000" pitchFamily="2" charset="0"/>
                <a:cs typeface="Calibri" panose="020F0502020204030204" pitchFamily="34" charset="0"/>
                <a:hlinkClick r:id="rId8"/>
              </a:rPr>
              <a:t>Julie.Caskey@keybenefit.com</a:t>
            </a:r>
            <a:r>
              <a:rPr lang="en-US" sz="1200">
                <a:solidFill>
                  <a:prstClr val="black"/>
                </a:solidFill>
                <a:latin typeface="Montserrat" panose="00000500000000000000" pitchFamily="2" charset="0"/>
                <a:cs typeface="Calibri" panose="020F0502020204030204" pitchFamily="34" charset="0"/>
              </a:rPr>
              <a:t> </a:t>
            </a:r>
          </a:p>
          <a:p>
            <a:pPr defTabSz="914411">
              <a:spcAft>
                <a:spcPts val="601"/>
              </a:spcAft>
              <a:defRPr/>
            </a:pPr>
            <a:endParaRPr lang="en-US" sz="1100">
              <a:solidFill>
                <a:prstClr val="black"/>
              </a:solidFill>
              <a:latin typeface="Montserrat" panose="00000500000000000000" pitchFamily="2" charset="0"/>
            </a:endParaRPr>
          </a:p>
        </p:txBody>
      </p:sp>
      <p:pic>
        <p:nvPicPr>
          <p:cNvPr id="5" name="Picture Placeholder 22">
            <a:extLst>
              <a:ext uri="{FF2B5EF4-FFF2-40B4-BE49-F238E27FC236}">
                <a16:creationId xmlns:a16="http://schemas.microsoft.com/office/drawing/2014/main" id="{A7B34476-3F5A-A654-1C44-001205E50CAC}"/>
              </a:ext>
            </a:extLst>
          </p:cNvPr>
          <p:cNvPicPr>
            <a:picLocks noChangeAspect="1"/>
          </p:cNvPicPr>
          <p:nvPr/>
        </p:nvPicPr>
        <p:blipFill>
          <a:blip r:embed="rId9"/>
          <a:srcRect t="1499" b="1499"/>
          <a:stretch>
            <a:fillRect/>
          </a:stretch>
        </p:blipFill>
        <p:spPr>
          <a:xfrm>
            <a:off x="5284421" y="1942504"/>
            <a:ext cx="972000" cy="972000"/>
          </a:xfrm>
          <a:prstGeom prst="ellipse">
            <a:avLst/>
          </a:prstGeom>
        </p:spPr>
      </p:pic>
    </p:spTree>
    <p:extLst>
      <p:ext uri="{BB962C8B-B14F-4D97-AF65-F5344CB8AC3E}">
        <p14:creationId xmlns:p14="http://schemas.microsoft.com/office/powerpoint/2010/main" val="4127478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4977649-3266-2110-ED8E-BB309FBE19ED}"/>
              </a:ext>
            </a:extLst>
          </p:cNvPr>
          <p:cNvGrpSpPr/>
          <p:nvPr/>
        </p:nvGrpSpPr>
        <p:grpSpPr>
          <a:xfrm>
            <a:off x="4807386" y="1637101"/>
            <a:ext cx="7335785" cy="4458899"/>
            <a:chOff x="4807386" y="1637101"/>
            <a:chExt cx="7335785" cy="4458899"/>
          </a:xfrm>
        </p:grpSpPr>
        <p:sp>
          <p:nvSpPr>
            <p:cNvPr id="7" name="Rectangle 6">
              <a:extLst>
                <a:ext uri="{FF2B5EF4-FFF2-40B4-BE49-F238E27FC236}">
                  <a16:creationId xmlns:a16="http://schemas.microsoft.com/office/drawing/2014/main" id="{403A4184-133C-18CC-5EFD-ACCB51718B5E}"/>
                </a:ext>
              </a:extLst>
            </p:cNvPr>
            <p:cNvSpPr/>
            <p:nvPr/>
          </p:nvSpPr>
          <p:spPr>
            <a:xfrm>
              <a:off x="4807386" y="1637101"/>
              <a:ext cx="7335785" cy="4458899"/>
            </a:xfrm>
            <a:prstGeom prst="rect">
              <a:avLst/>
            </a:prstGeom>
            <a:solidFill>
              <a:schemeClr val="bg1"/>
            </a:solidFill>
          </p:spPr>
          <p:txBody>
            <a:bodyPr/>
            <a:lstStyle/>
            <a:p>
              <a:endParaRPr lang="en-US"/>
            </a:p>
          </p:txBody>
        </p:sp>
        <p:sp>
          <p:nvSpPr>
            <p:cNvPr id="8" name="L-Shape 7">
              <a:extLst>
                <a:ext uri="{FF2B5EF4-FFF2-40B4-BE49-F238E27FC236}">
                  <a16:creationId xmlns:a16="http://schemas.microsoft.com/office/drawing/2014/main" id="{FC9E1F31-E353-DB5B-F158-D69902211658}"/>
                </a:ext>
              </a:extLst>
            </p:cNvPr>
            <p:cNvSpPr/>
            <p:nvPr/>
          </p:nvSpPr>
          <p:spPr>
            <a:xfrm rot="5400000">
              <a:off x="5129835" y="3879026"/>
              <a:ext cx="959031" cy="1595807"/>
            </a:xfrm>
            <a:prstGeom prst="corner">
              <a:avLst>
                <a:gd name="adj1" fmla="val 16120"/>
                <a:gd name="adj2" fmla="val 16110"/>
              </a:avLst>
            </a:prstGeom>
            <a:solidFill>
              <a:srgbClr val="002B5C"/>
            </a:solidFill>
          </p:spPr>
          <p:style>
            <a:lnRef idx="2">
              <a:schemeClr val="accent1">
                <a:shade val="80000"/>
                <a:hueOff val="0"/>
                <a:satOff val="0"/>
                <a:lumOff val="0"/>
                <a:alphaOff val="0"/>
              </a:schemeClr>
            </a:lnRef>
            <a:fillRef idx="1">
              <a:scrgbClr r="0" g="0" b="0"/>
            </a:fillRef>
            <a:effectRef idx="0">
              <a:schemeClr val="accent1">
                <a:shade val="80000"/>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C17F370D-7FD0-DE12-5FEA-C94743956ECB}"/>
                </a:ext>
              </a:extLst>
            </p:cNvPr>
            <p:cNvSpPr/>
            <p:nvPr/>
          </p:nvSpPr>
          <p:spPr>
            <a:xfrm>
              <a:off x="4975446" y="4335457"/>
              <a:ext cx="1732402" cy="1760542"/>
            </a:xfrm>
            <a:custGeom>
              <a:avLst/>
              <a:gdLst>
                <a:gd name="connsiteX0" fmla="*/ 0 w 1732402"/>
                <a:gd name="connsiteY0" fmla="*/ 0 h 1760542"/>
                <a:gd name="connsiteX1" fmla="*/ 1732402 w 1732402"/>
                <a:gd name="connsiteY1" fmla="*/ 0 h 1760542"/>
                <a:gd name="connsiteX2" fmla="*/ 1732402 w 1732402"/>
                <a:gd name="connsiteY2" fmla="*/ 1760542 h 1760542"/>
                <a:gd name="connsiteX3" fmla="*/ 0 w 1732402"/>
                <a:gd name="connsiteY3" fmla="*/ 1760542 h 1760542"/>
                <a:gd name="connsiteX4" fmla="*/ 0 w 1732402"/>
                <a:gd name="connsiteY4" fmla="*/ 0 h 1760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2402" h="1760542">
                  <a:moveTo>
                    <a:pt x="0" y="0"/>
                  </a:moveTo>
                  <a:lnTo>
                    <a:pt x="1732402" y="0"/>
                  </a:lnTo>
                  <a:lnTo>
                    <a:pt x="1732402" y="1760542"/>
                  </a:lnTo>
                  <a:lnTo>
                    <a:pt x="0" y="176054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000B2E"/>
                  </a:solidFill>
                </a:rPr>
                <a:t>MONTH 1-2</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Business Contracts and Agreements</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Network Contracts and Agreements</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Information Technology</a:t>
              </a:r>
            </a:p>
          </p:txBody>
        </p:sp>
        <p:sp>
          <p:nvSpPr>
            <p:cNvPr id="10" name="Isosceles Triangle 9">
              <a:extLst>
                <a:ext uri="{FF2B5EF4-FFF2-40B4-BE49-F238E27FC236}">
                  <a16:creationId xmlns:a16="http://schemas.microsoft.com/office/drawing/2014/main" id="{23299767-0BF9-ED72-2161-1E2B3EFD6999}"/>
                </a:ext>
              </a:extLst>
            </p:cNvPr>
            <p:cNvSpPr/>
            <p:nvPr/>
          </p:nvSpPr>
          <p:spPr>
            <a:xfrm>
              <a:off x="6138621" y="3761541"/>
              <a:ext cx="271830" cy="271830"/>
            </a:xfrm>
            <a:prstGeom prst="triangle">
              <a:avLst>
                <a:gd name="adj" fmla="val 100000"/>
              </a:avLst>
            </a:prstGeom>
            <a:solidFill>
              <a:schemeClr val="accent1">
                <a:lumMod val="50000"/>
                <a:alpha val="80000"/>
              </a:schemeClr>
            </a:solidFill>
          </p:spPr>
          <p:style>
            <a:lnRef idx="2">
              <a:schemeClr val="accent1">
                <a:shade val="80000"/>
                <a:hueOff val="58214"/>
                <a:satOff val="-1043"/>
                <a:lumOff val="4431"/>
                <a:alphaOff val="0"/>
              </a:schemeClr>
            </a:lnRef>
            <a:fillRef idx="1">
              <a:scrgbClr r="0" g="0" b="0"/>
            </a:fillRef>
            <a:effectRef idx="0">
              <a:schemeClr val="accent1">
                <a:shade val="80000"/>
                <a:hueOff val="58214"/>
                <a:satOff val="-1043"/>
                <a:lumOff val="4431"/>
                <a:alphaOff val="0"/>
              </a:schemeClr>
            </a:effectRef>
            <a:fontRef idx="minor">
              <a:schemeClr val="lt1"/>
            </a:fontRef>
          </p:style>
          <p:txBody>
            <a:bodyPr/>
            <a:lstStyle/>
            <a:p>
              <a:endParaRPr lang="en-US"/>
            </a:p>
          </p:txBody>
        </p:sp>
        <p:sp>
          <p:nvSpPr>
            <p:cNvPr id="11" name="L-Shape 10">
              <a:extLst>
                <a:ext uri="{FF2B5EF4-FFF2-40B4-BE49-F238E27FC236}">
                  <a16:creationId xmlns:a16="http://schemas.microsoft.com/office/drawing/2014/main" id="{68EA04F6-7359-2198-14AA-BA0A83CA7552}"/>
                </a:ext>
              </a:extLst>
            </p:cNvPr>
            <p:cNvSpPr/>
            <p:nvPr/>
          </p:nvSpPr>
          <p:spPr>
            <a:xfrm rot="5400000">
              <a:off x="7039387" y="3148071"/>
              <a:ext cx="959031" cy="1595807"/>
            </a:xfrm>
            <a:prstGeom prst="corner">
              <a:avLst>
                <a:gd name="adj1" fmla="val 16120"/>
                <a:gd name="adj2" fmla="val 16110"/>
              </a:avLst>
            </a:prstGeom>
            <a:solidFill>
              <a:schemeClr val="accent1">
                <a:lumMod val="50000"/>
                <a:alpha val="80000"/>
              </a:schemeClr>
            </a:solidFill>
          </p:spPr>
          <p:style>
            <a:lnRef idx="2">
              <a:schemeClr val="accent1">
                <a:shade val="80000"/>
                <a:hueOff val="116428"/>
                <a:satOff val="-2085"/>
                <a:lumOff val="8862"/>
                <a:alphaOff val="0"/>
              </a:schemeClr>
            </a:lnRef>
            <a:fillRef idx="1">
              <a:scrgbClr r="0" g="0" b="0"/>
            </a:fillRef>
            <a:effectRef idx="0">
              <a:schemeClr val="accent1">
                <a:shade val="80000"/>
                <a:hueOff val="116428"/>
                <a:satOff val="-2085"/>
                <a:lumOff val="8862"/>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DCB252D0-19D8-D95E-3CFE-1BFAEF1FC1E8}"/>
                </a:ext>
              </a:extLst>
            </p:cNvPr>
            <p:cNvSpPr/>
            <p:nvPr/>
          </p:nvSpPr>
          <p:spPr>
            <a:xfrm>
              <a:off x="6896517" y="3623106"/>
              <a:ext cx="1440703" cy="1851910"/>
            </a:xfrm>
            <a:custGeom>
              <a:avLst/>
              <a:gdLst>
                <a:gd name="connsiteX0" fmla="*/ 0 w 1440703"/>
                <a:gd name="connsiteY0" fmla="*/ 0 h 1851910"/>
                <a:gd name="connsiteX1" fmla="*/ 1440703 w 1440703"/>
                <a:gd name="connsiteY1" fmla="*/ 0 h 1851910"/>
                <a:gd name="connsiteX2" fmla="*/ 1440703 w 1440703"/>
                <a:gd name="connsiteY2" fmla="*/ 1851910 h 1851910"/>
                <a:gd name="connsiteX3" fmla="*/ 0 w 1440703"/>
                <a:gd name="connsiteY3" fmla="*/ 1851910 h 1851910"/>
                <a:gd name="connsiteX4" fmla="*/ 0 w 1440703"/>
                <a:gd name="connsiteY4" fmla="*/ 0 h 1851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0703" h="1851910">
                  <a:moveTo>
                    <a:pt x="0" y="0"/>
                  </a:moveTo>
                  <a:lnTo>
                    <a:pt x="1440703" y="0"/>
                  </a:lnTo>
                  <a:lnTo>
                    <a:pt x="1440703" y="1851910"/>
                  </a:lnTo>
                  <a:lnTo>
                    <a:pt x="0" y="185191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000B2E"/>
                  </a:solidFill>
                </a:rPr>
                <a:t>MONTH 1-3</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DTE Name, Logo &amp; Branding</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DTE Marketing and Website</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Network Setup</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Provider Setup</a:t>
              </a:r>
            </a:p>
          </p:txBody>
        </p:sp>
        <p:sp>
          <p:nvSpPr>
            <p:cNvPr id="13" name="Isosceles Triangle 12">
              <a:extLst>
                <a:ext uri="{FF2B5EF4-FFF2-40B4-BE49-F238E27FC236}">
                  <a16:creationId xmlns:a16="http://schemas.microsoft.com/office/drawing/2014/main" id="{231CF70B-53DD-0AC6-BEF3-39A0F4356E37}"/>
                </a:ext>
              </a:extLst>
            </p:cNvPr>
            <p:cNvSpPr/>
            <p:nvPr/>
          </p:nvSpPr>
          <p:spPr>
            <a:xfrm>
              <a:off x="8048174" y="3030586"/>
              <a:ext cx="271830" cy="271830"/>
            </a:xfrm>
            <a:prstGeom prst="triangle">
              <a:avLst>
                <a:gd name="adj" fmla="val 100000"/>
              </a:avLst>
            </a:prstGeom>
            <a:solidFill>
              <a:schemeClr val="accent1">
                <a:lumMod val="50000"/>
                <a:alpha val="60000"/>
              </a:schemeClr>
            </a:solidFill>
          </p:spPr>
          <p:style>
            <a:lnRef idx="2">
              <a:schemeClr val="accent1">
                <a:shade val="80000"/>
                <a:hueOff val="174641"/>
                <a:satOff val="-3128"/>
                <a:lumOff val="13293"/>
                <a:alphaOff val="0"/>
              </a:schemeClr>
            </a:lnRef>
            <a:fillRef idx="1">
              <a:scrgbClr r="0" g="0" b="0"/>
            </a:fillRef>
            <a:effectRef idx="0">
              <a:schemeClr val="accent1">
                <a:shade val="80000"/>
                <a:hueOff val="174641"/>
                <a:satOff val="-3128"/>
                <a:lumOff val="13293"/>
                <a:alphaOff val="0"/>
              </a:schemeClr>
            </a:effectRef>
            <a:fontRef idx="minor">
              <a:schemeClr val="lt1"/>
            </a:fontRef>
          </p:style>
          <p:txBody>
            <a:bodyPr/>
            <a:lstStyle/>
            <a:p>
              <a:endParaRPr lang="en-US"/>
            </a:p>
          </p:txBody>
        </p:sp>
        <p:sp>
          <p:nvSpPr>
            <p:cNvPr id="14" name="L-Shape 13">
              <a:extLst>
                <a:ext uri="{FF2B5EF4-FFF2-40B4-BE49-F238E27FC236}">
                  <a16:creationId xmlns:a16="http://schemas.microsoft.com/office/drawing/2014/main" id="{060686F2-3FE2-ACBB-17AB-4C98B4EE5989}"/>
                </a:ext>
              </a:extLst>
            </p:cNvPr>
            <p:cNvSpPr/>
            <p:nvPr/>
          </p:nvSpPr>
          <p:spPr>
            <a:xfrm rot="5400000">
              <a:off x="8948939" y="2050483"/>
              <a:ext cx="959031" cy="1595807"/>
            </a:xfrm>
            <a:prstGeom prst="corner">
              <a:avLst>
                <a:gd name="adj1" fmla="val 16120"/>
                <a:gd name="adj2" fmla="val 16110"/>
              </a:avLst>
            </a:prstGeom>
            <a:solidFill>
              <a:schemeClr val="accent1">
                <a:lumMod val="50000"/>
                <a:alpha val="60000"/>
              </a:schemeClr>
            </a:solidFill>
          </p:spPr>
          <p:style>
            <a:lnRef idx="2">
              <a:schemeClr val="accent1">
                <a:shade val="80000"/>
                <a:hueOff val="232855"/>
                <a:satOff val="-4171"/>
                <a:lumOff val="17723"/>
                <a:alphaOff val="0"/>
              </a:schemeClr>
            </a:lnRef>
            <a:fillRef idx="1">
              <a:scrgbClr r="0" g="0" b="0"/>
            </a:fillRef>
            <a:effectRef idx="0">
              <a:schemeClr val="accent1">
                <a:shade val="80000"/>
                <a:hueOff val="232855"/>
                <a:satOff val="-4171"/>
                <a:lumOff val="17723"/>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1EA4EE47-CABD-07E4-A02B-D25E1DEE3168}"/>
                </a:ext>
              </a:extLst>
            </p:cNvPr>
            <p:cNvSpPr/>
            <p:nvPr/>
          </p:nvSpPr>
          <p:spPr>
            <a:xfrm>
              <a:off x="8786980" y="2539952"/>
              <a:ext cx="1723974" cy="2585177"/>
            </a:xfrm>
            <a:custGeom>
              <a:avLst/>
              <a:gdLst>
                <a:gd name="connsiteX0" fmla="*/ 0 w 1723974"/>
                <a:gd name="connsiteY0" fmla="*/ 0 h 2585177"/>
                <a:gd name="connsiteX1" fmla="*/ 1723974 w 1723974"/>
                <a:gd name="connsiteY1" fmla="*/ 0 h 2585177"/>
                <a:gd name="connsiteX2" fmla="*/ 1723974 w 1723974"/>
                <a:gd name="connsiteY2" fmla="*/ 2585177 h 2585177"/>
                <a:gd name="connsiteX3" fmla="*/ 0 w 1723974"/>
                <a:gd name="connsiteY3" fmla="*/ 2585177 h 2585177"/>
                <a:gd name="connsiteX4" fmla="*/ 0 w 1723974"/>
                <a:gd name="connsiteY4" fmla="*/ 0 h 2585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974" h="2585177">
                  <a:moveTo>
                    <a:pt x="0" y="0"/>
                  </a:moveTo>
                  <a:lnTo>
                    <a:pt x="1723974" y="0"/>
                  </a:lnTo>
                  <a:lnTo>
                    <a:pt x="1723974" y="2585177"/>
                  </a:lnTo>
                  <a:lnTo>
                    <a:pt x="0" y="25851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solidFill>
                    <a:srgbClr val="000B2E"/>
                  </a:solidFill>
                </a:rPr>
                <a:t>MONTH 3-6</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Group Marketing Collateral</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Sales Operations</a:t>
              </a:r>
            </a:p>
            <a:p>
              <a:pPr marL="171450" lvl="0" indent="-171450" algn="l" defTabSz="533400">
                <a:lnSpc>
                  <a:spcPct val="90000"/>
                </a:lnSpc>
                <a:spcBef>
                  <a:spcPct val="0"/>
                </a:spcBef>
                <a:spcAft>
                  <a:spcPts val="1000"/>
                </a:spcAft>
                <a:buFont typeface="Arial" panose="020B0604020202020204" pitchFamily="34" charset="0"/>
                <a:buChar char="•"/>
              </a:pPr>
              <a:r>
                <a:rPr lang="en-US" sz="1200" b="0" kern="1200"/>
                <a:t>KBA TPA Operations</a:t>
              </a:r>
            </a:p>
            <a:p>
              <a:pPr marL="0" lvl="0" indent="0" algn="l" defTabSz="533400">
                <a:lnSpc>
                  <a:spcPct val="90000"/>
                </a:lnSpc>
                <a:spcBef>
                  <a:spcPct val="0"/>
                </a:spcBef>
                <a:spcAft>
                  <a:spcPct val="35000"/>
                </a:spcAft>
                <a:buNone/>
              </a:pPr>
              <a:endParaRPr lang="en-US" sz="1200" b="0" kern="1200"/>
            </a:p>
          </p:txBody>
        </p:sp>
        <p:sp>
          <p:nvSpPr>
            <p:cNvPr id="16" name="Isosceles Triangle 15">
              <a:extLst>
                <a:ext uri="{FF2B5EF4-FFF2-40B4-BE49-F238E27FC236}">
                  <a16:creationId xmlns:a16="http://schemas.microsoft.com/office/drawing/2014/main" id="{385D5E40-EA5F-D59D-4121-C84D4BA90EC2}"/>
                </a:ext>
              </a:extLst>
            </p:cNvPr>
            <p:cNvSpPr/>
            <p:nvPr/>
          </p:nvSpPr>
          <p:spPr>
            <a:xfrm>
              <a:off x="9957726" y="1932998"/>
              <a:ext cx="271830" cy="271830"/>
            </a:xfrm>
            <a:prstGeom prst="triangle">
              <a:avLst>
                <a:gd name="adj" fmla="val 100000"/>
              </a:avLst>
            </a:prstGeom>
            <a:solidFill>
              <a:schemeClr val="accent1">
                <a:lumMod val="50000"/>
                <a:alpha val="40000"/>
              </a:schemeClr>
            </a:solidFill>
          </p:spPr>
          <p:style>
            <a:lnRef idx="2">
              <a:schemeClr val="accent1">
                <a:shade val="80000"/>
                <a:hueOff val="291069"/>
                <a:satOff val="-5213"/>
                <a:lumOff val="22154"/>
                <a:alphaOff val="0"/>
              </a:schemeClr>
            </a:lnRef>
            <a:fillRef idx="1">
              <a:scrgbClr r="0" g="0" b="0"/>
            </a:fillRef>
            <a:effectRef idx="0">
              <a:schemeClr val="accent1">
                <a:shade val="80000"/>
                <a:hueOff val="291069"/>
                <a:satOff val="-5213"/>
                <a:lumOff val="22154"/>
                <a:alphaOff val="0"/>
              </a:schemeClr>
            </a:effectRef>
            <a:fontRef idx="minor">
              <a:schemeClr val="lt1"/>
            </a:fontRef>
          </p:style>
          <p:txBody>
            <a:bodyPr/>
            <a:lstStyle/>
            <a:p>
              <a:endParaRPr lang="en-US"/>
            </a:p>
          </p:txBody>
        </p:sp>
        <p:sp>
          <p:nvSpPr>
            <p:cNvPr id="17" name="L-Shape 16">
              <a:extLst>
                <a:ext uri="{FF2B5EF4-FFF2-40B4-BE49-F238E27FC236}">
                  <a16:creationId xmlns:a16="http://schemas.microsoft.com/office/drawing/2014/main" id="{4A884940-022F-8EA4-9302-025205C28E5C}"/>
                </a:ext>
              </a:extLst>
            </p:cNvPr>
            <p:cNvSpPr/>
            <p:nvPr/>
          </p:nvSpPr>
          <p:spPr>
            <a:xfrm rot="5400000">
              <a:off x="10858492" y="1547183"/>
              <a:ext cx="959031" cy="1595807"/>
            </a:xfrm>
            <a:prstGeom prst="corner">
              <a:avLst>
                <a:gd name="adj1" fmla="val 16120"/>
                <a:gd name="adj2" fmla="val 16110"/>
              </a:avLst>
            </a:prstGeom>
            <a:solidFill>
              <a:schemeClr val="accent1">
                <a:lumMod val="50000"/>
                <a:alpha val="40000"/>
              </a:schemeClr>
            </a:solidFill>
          </p:spPr>
          <p:style>
            <a:lnRef idx="2">
              <a:schemeClr val="accent1">
                <a:shade val="80000"/>
                <a:hueOff val="349283"/>
                <a:satOff val="-6256"/>
                <a:lumOff val="26585"/>
                <a:alphaOff val="0"/>
              </a:schemeClr>
            </a:lnRef>
            <a:fillRef idx="1">
              <a:scrgbClr r="0" g="0" b="0"/>
            </a:fillRef>
            <a:effectRef idx="0">
              <a:schemeClr val="accent1">
                <a:shade val="80000"/>
                <a:hueOff val="349283"/>
                <a:satOff val="-6256"/>
                <a:lumOff val="26585"/>
                <a:alphaOff val="0"/>
              </a:schemeClr>
            </a:effectRef>
            <a:fontRef idx="minor">
              <a:schemeClr val="lt1"/>
            </a:fontRef>
          </p:style>
          <p:txBody>
            <a:bodyPr/>
            <a:lstStyle/>
            <a:p>
              <a:endParaRPr lang="en-US"/>
            </a:p>
          </p:txBody>
        </p:sp>
        <p:sp>
          <p:nvSpPr>
            <p:cNvPr id="18" name="Freeform: Shape 17">
              <a:extLst>
                <a:ext uri="{FF2B5EF4-FFF2-40B4-BE49-F238E27FC236}">
                  <a16:creationId xmlns:a16="http://schemas.microsoft.com/office/drawing/2014/main" id="{5DFCED12-7AB4-7817-09A4-48BB5386EB41}"/>
                </a:ext>
              </a:extLst>
            </p:cNvPr>
            <p:cNvSpPr/>
            <p:nvPr/>
          </p:nvSpPr>
          <p:spPr>
            <a:xfrm>
              <a:off x="10698405" y="2023985"/>
              <a:ext cx="1440703" cy="1262861"/>
            </a:xfrm>
            <a:custGeom>
              <a:avLst/>
              <a:gdLst>
                <a:gd name="connsiteX0" fmla="*/ 0 w 1440703"/>
                <a:gd name="connsiteY0" fmla="*/ 0 h 1262861"/>
                <a:gd name="connsiteX1" fmla="*/ 1440703 w 1440703"/>
                <a:gd name="connsiteY1" fmla="*/ 0 h 1262861"/>
                <a:gd name="connsiteX2" fmla="*/ 1440703 w 1440703"/>
                <a:gd name="connsiteY2" fmla="*/ 1262861 h 1262861"/>
                <a:gd name="connsiteX3" fmla="*/ 0 w 1440703"/>
                <a:gd name="connsiteY3" fmla="*/ 1262861 h 1262861"/>
                <a:gd name="connsiteX4" fmla="*/ 0 w 1440703"/>
                <a:gd name="connsiteY4" fmla="*/ 0 h 126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0703" h="1262861">
                  <a:moveTo>
                    <a:pt x="0" y="0"/>
                  </a:moveTo>
                  <a:lnTo>
                    <a:pt x="1440703" y="0"/>
                  </a:lnTo>
                  <a:lnTo>
                    <a:pt x="1440703" y="1262861"/>
                  </a:lnTo>
                  <a:lnTo>
                    <a:pt x="0" y="12628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solidFill>
                    <a:srgbClr val="000B2E"/>
                  </a:solidFill>
                </a:rPr>
                <a:t>GO LIVE!!</a:t>
              </a:r>
            </a:p>
          </p:txBody>
        </p:sp>
      </p:grpSp>
      <p:pic>
        <p:nvPicPr>
          <p:cNvPr id="4" name="Picture 6" descr="What is a project manager responsible for? Here's everything you ...">
            <a:extLst>
              <a:ext uri="{FF2B5EF4-FFF2-40B4-BE49-F238E27FC236}">
                <a16:creationId xmlns:a16="http://schemas.microsoft.com/office/drawing/2014/main" id="{CFA23F37-FAA5-FAC9-F98D-45F33FA192C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0AE3157-4B10-1619-FF16-AF844D2688B2}"/>
              </a:ext>
            </a:extLst>
          </p:cNvPr>
          <p:cNvSpPr>
            <a:spLocks noGrp="1"/>
          </p:cNvSpPr>
          <p:nvPr>
            <p:ph type="title"/>
          </p:nvPr>
        </p:nvSpPr>
        <p:spPr>
          <a:xfrm>
            <a:off x="4807386" y="365125"/>
            <a:ext cx="6546413" cy="1325563"/>
          </a:xfrm>
        </p:spPr>
        <p:txBody>
          <a:bodyPr>
            <a:normAutofit fontScale="90000"/>
          </a:bodyPr>
          <a:lstStyle/>
          <a:p>
            <a:r>
              <a:rPr lang="en-US">
                <a:solidFill>
                  <a:schemeClr val="tx2"/>
                </a:solidFill>
              </a:rPr>
              <a:t>DTE IMPLEMENTATION TIMELINE</a:t>
            </a:r>
          </a:p>
        </p:txBody>
      </p:sp>
      <p:sp>
        <p:nvSpPr>
          <p:cNvPr id="3" name="TextBox 2">
            <a:extLst>
              <a:ext uri="{FF2B5EF4-FFF2-40B4-BE49-F238E27FC236}">
                <a16:creationId xmlns:a16="http://schemas.microsoft.com/office/drawing/2014/main" id="{BAC3DA2A-7235-D52B-11BF-A6FB92D9923B}"/>
              </a:ext>
            </a:extLst>
          </p:cNvPr>
          <p:cNvSpPr txBox="1"/>
          <p:nvPr/>
        </p:nvSpPr>
        <p:spPr>
          <a:xfrm>
            <a:off x="7872219" y="6308209"/>
            <a:ext cx="4094069" cy="369332"/>
          </a:xfrm>
          <a:prstGeom prst="rect">
            <a:avLst/>
          </a:prstGeom>
          <a:noFill/>
        </p:spPr>
        <p:txBody>
          <a:bodyPr wrap="none" lIns="91440" tIns="45720" rIns="91440" bIns="45720" rtlCol="0" anchor="t">
            <a:spAutoFit/>
          </a:bodyPr>
          <a:lstStyle/>
          <a:p>
            <a:r>
              <a:rPr lang="en-US"/>
              <a:t>Included: SWHR Implementation Guide</a:t>
            </a:r>
          </a:p>
        </p:txBody>
      </p:sp>
    </p:spTree>
    <p:extLst>
      <p:ext uri="{BB962C8B-B14F-4D97-AF65-F5344CB8AC3E}">
        <p14:creationId xmlns:p14="http://schemas.microsoft.com/office/powerpoint/2010/main" val="2868585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63EF-E2D3-9F6A-D290-ACBB0E7D6EB0}"/>
              </a:ext>
            </a:extLst>
          </p:cNvPr>
          <p:cNvSpPr>
            <a:spLocks noGrp="1"/>
          </p:cNvSpPr>
          <p:nvPr>
            <p:ph type="title"/>
          </p:nvPr>
        </p:nvSpPr>
        <p:spPr>
          <a:xfrm>
            <a:off x="838200" y="168966"/>
            <a:ext cx="10515600" cy="490009"/>
          </a:xfrm>
        </p:spPr>
        <p:txBody>
          <a:bodyPr>
            <a:noAutofit/>
          </a:bodyPr>
          <a:lstStyle/>
          <a:p>
            <a:pPr algn="ctr"/>
            <a:r>
              <a:rPr lang="en-US" sz="2800" b="1">
                <a:solidFill>
                  <a:schemeClr val="accent1">
                    <a:lumMod val="75000"/>
                  </a:schemeClr>
                </a:solidFill>
                <a:latin typeface="Aptos Narrow" panose="020B0004020202020204" pitchFamily="34" charset="0"/>
              </a:rPr>
              <a:t>DTE IMPLEMENTATION OVERVIEW</a:t>
            </a:r>
          </a:p>
        </p:txBody>
      </p:sp>
      <p:graphicFrame>
        <p:nvGraphicFramePr>
          <p:cNvPr id="4" name="Table 3">
            <a:extLst>
              <a:ext uri="{FF2B5EF4-FFF2-40B4-BE49-F238E27FC236}">
                <a16:creationId xmlns:a16="http://schemas.microsoft.com/office/drawing/2014/main" id="{CFD305A6-D55E-C904-8B1A-0AD6B20916BC}"/>
              </a:ext>
            </a:extLst>
          </p:cNvPr>
          <p:cNvGraphicFramePr>
            <a:graphicFrameLocks noGrp="1"/>
          </p:cNvGraphicFramePr>
          <p:nvPr>
            <p:extLst>
              <p:ext uri="{D42A27DB-BD31-4B8C-83A1-F6EECF244321}">
                <p14:modId xmlns:p14="http://schemas.microsoft.com/office/powerpoint/2010/main" val="3022343082"/>
              </p:ext>
            </p:extLst>
          </p:nvPr>
        </p:nvGraphicFramePr>
        <p:xfrm>
          <a:off x="158621" y="686965"/>
          <a:ext cx="11877873" cy="5937972"/>
        </p:xfrm>
        <a:graphic>
          <a:graphicData uri="http://schemas.openxmlformats.org/drawingml/2006/table">
            <a:tbl>
              <a:tblPr firstRow="1" bandRow="1"/>
              <a:tblGrid>
                <a:gridCol w="2050434">
                  <a:extLst>
                    <a:ext uri="{9D8B030D-6E8A-4147-A177-3AD203B41FA5}">
                      <a16:colId xmlns:a16="http://schemas.microsoft.com/office/drawing/2014/main" val="1212300948"/>
                    </a:ext>
                  </a:extLst>
                </a:gridCol>
                <a:gridCol w="1947913">
                  <a:extLst>
                    <a:ext uri="{9D8B030D-6E8A-4147-A177-3AD203B41FA5}">
                      <a16:colId xmlns:a16="http://schemas.microsoft.com/office/drawing/2014/main" val="2778512441"/>
                    </a:ext>
                  </a:extLst>
                </a:gridCol>
                <a:gridCol w="2278420">
                  <a:extLst>
                    <a:ext uri="{9D8B030D-6E8A-4147-A177-3AD203B41FA5}">
                      <a16:colId xmlns:a16="http://schemas.microsoft.com/office/drawing/2014/main" val="3090959120"/>
                    </a:ext>
                  </a:extLst>
                </a:gridCol>
                <a:gridCol w="2717947">
                  <a:extLst>
                    <a:ext uri="{9D8B030D-6E8A-4147-A177-3AD203B41FA5}">
                      <a16:colId xmlns:a16="http://schemas.microsoft.com/office/drawing/2014/main" val="1348456886"/>
                    </a:ext>
                  </a:extLst>
                </a:gridCol>
                <a:gridCol w="2883159">
                  <a:extLst>
                    <a:ext uri="{9D8B030D-6E8A-4147-A177-3AD203B41FA5}">
                      <a16:colId xmlns:a16="http://schemas.microsoft.com/office/drawing/2014/main" val="3283441047"/>
                    </a:ext>
                  </a:extLst>
                </a:gridCol>
              </a:tblGrid>
              <a:tr h="294555">
                <a:tc>
                  <a:txBody>
                    <a:bodyPr/>
                    <a:lstStyle/>
                    <a:p>
                      <a:pPr marL="91440" algn="l" rtl="0" fontAlgn="ctr"/>
                      <a:r>
                        <a:rPr lang="en-US" sz="1600" b="1" i="0" u="none" strike="noStrike">
                          <a:solidFill>
                            <a:srgbClr val="FFFFFF"/>
                          </a:solidFill>
                          <a:effectLst/>
                          <a:latin typeface="Aptos Narrow" panose="020B0004020202020204" pitchFamily="34" charset="0"/>
                        </a:rPr>
                        <a:t>Phase 1</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gridSpan="2">
                  <a:txBody>
                    <a:bodyPr/>
                    <a:lstStyle/>
                    <a:p>
                      <a:pPr marL="91440" algn="ctr" rtl="0" fontAlgn="ctr"/>
                      <a:r>
                        <a:rPr lang="en-US" sz="1600" b="1" i="0" u="none" strike="noStrike">
                          <a:solidFill>
                            <a:srgbClr val="FFFFFF"/>
                          </a:solidFill>
                          <a:effectLst/>
                          <a:latin typeface="Aptos Narrow" panose="020B0004020202020204" pitchFamily="34" charset="0"/>
                        </a:rPr>
                        <a:t>Phase 2 </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hMerge="1">
                  <a:txBody>
                    <a:bodyPr/>
                    <a:lstStyle/>
                    <a:p>
                      <a:pPr marL="91440" algn="l" rtl="0" fontAlgn="ctr"/>
                      <a:endParaRPr lang="en-US" sz="1500" b="0" i="0" u="none" strike="noStrike">
                        <a:solidFill>
                          <a:srgbClr val="FFFFFF"/>
                        </a:solidFill>
                        <a:effectLst/>
                        <a:latin typeface="Aptos Narrow" panose="020B0004020202020204" pitchFamily="34" charset="0"/>
                      </a:endParaRP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a:noFill/>
                    </a:lnB>
                    <a:solidFill>
                      <a:srgbClr val="00132E"/>
                    </a:solidFill>
                  </a:tcPr>
                </a:tc>
                <a:tc gridSpan="2">
                  <a:txBody>
                    <a:bodyPr/>
                    <a:lstStyle/>
                    <a:p>
                      <a:pPr marL="91440" algn="ctr" rtl="0" fontAlgn="ctr"/>
                      <a:r>
                        <a:rPr lang="en-US" sz="1600" b="1" i="0" u="none" strike="noStrike">
                          <a:solidFill>
                            <a:srgbClr val="FFFFFF"/>
                          </a:solidFill>
                          <a:effectLst/>
                          <a:latin typeface="Aptos Narrow" panose="020B0004020202020204" pitchFamily="34" charset="0"/>
                        </a:rPr>
                        <a:t>Phase 3</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hMerge="1">
                  <a:txBody>
                    <a:bodyPr/>
                    <a:lstStyle/>
                    <a:p>
                      <a:pPr marL="91440" algn="l" rtl="0" fontAlgn="ctr"/>
                      <a:endParaRPr lang="en-US" sz="1500" b="0" i="0" u="none" strike="noStrike">
                        <a:solidFill>
                          <a:srgbClr val="FFFFFF"/>
                        </a:solidFill>
                        <a:effectLst/>
                        <a:latin typeface="Aptos Narrow" panose="020B0004020202020204" pitchFamily="34" charset="0"/>
                      </a:endParaRP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a:noFill/>
                    </a:lnB>
                    <a:solidFill>
                      <a:srgbClr val="00132E"/>
                    </a:solidFill>
                  </a:tcPr>
                </a:tc>
                <a:extLst>
                  <a:ext uri="{0D108BD9-81ED-4DB2-BD59-A6C34878D82A}">
                    <a16:rowId xmlns:a16="http://schemas.microsoft.com/office/drawing/2014/main" val="300607112"/>
                  </a:ext>
                </a:extLst>
              </a:tr>
              <a:tr h="600441">
                <a:tc>
                  <a:txBody>
                    <a:bodyPr/>
                    <a:lstStyle/>
                    <a:p>
                      <a:pPr marL="91440" algn="ctr" rtl="0" fontAlgn="ctr"/>
                      <a:r>
                        <a:rPr lang="en-US" sz="1400" b="1" i="0" u="none" strike="noStrike">
                          <a:solidFill>
                            <a:srgbClr val="FFFFFF"/>
                          </a:solidFill>
                          <a:effectLst/>
                          <a:latin typeface="Aptos Narrow" panose="020B0004020202020204" pitchFamily="34" charset="0"/>
                        </a:rPr>
                        <a:t>DTE Network Setup</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A5A5A5"/>
                      </a:solidFill>
                      <a:prstDash val="solid"/>
                      <a:round/>
                      <a:headEnd type="none" w="med" len="med"/>
                      <a:tailEnd type="none" w="med" len="med"/>
                    </a:lnB>
                    <a:solidFill>
                      <a:schemeClr val="tx2">
                        <a:lumMod val="75000"/>
                        <a:lumOff val="25000"/>
                      </a:schemeClr>
                    </a:solidFill>
                  </a:tcPr>
                </a:tc>
                <a:tc>
                  <a:txBody>
                    <a:bodyPr/>
                    <a:lstStyle/>
                    <a:p>
                      <a:pPr marL="91440" algn="ctr" rtl="0" fontAlgn="ctr"/>
                      <a:r>
                        <a:rPr lang="en-US" sz="1400" b="1" i="0" u="none" strike="noStrike">
                          <a:solidFill>
                            <a:srgbClr val="FFFFFF"/>
                          </a:solidFill>
                          <a:effectLst/>
                          <a:latin typeface="Aptos Narrow" panose="020B0004020202020204" pitchFamily="34" charset="0"/>
                        </a:rPr>
                        <a:t>DTE Marketing &amp; Website Setup</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A5A5A5"/>
                      </a:solidFill>
                      <a:prstDash val="solid"/>
                      <a:round/>
                      <a:headEnd type="none" w="med" len="med"/>
                      <a:tailEnd type="none" w="med" len="med"/>
                    </a:lnB>
                    <a:solidFill>
                      <a:schemeClr val="tx2">
                        <a:lumMod val="75000"/>
                        <a:lumOff val="25000"/>
                      </a:schemeClr>
                    </a:solidFill>
                  </a:tcPr>
                </a:tc>
                <a:tc>
                  <a:txBody>
                    <a:bodyPr/>
                    <a:lstStyle/>
                    <a:p>
                      <a:pPr marL="91440" algn="ctr" rtl="0" fontAlgn="ctr"/>
                      <a:r>
                        <a:rPr lang="en-US" sz="1400" b="1" i="0" u="none" strike="noStrike">
                          <a:solidFill>
                            <a:srgbClr val="FFFFFF"/>
                          </a:solidFill>
                          <a:effectLst/>
                          <a:latin typeface="Aptos Narrow" panose="020B0004020202020204" pitchFamily="34" charset="0"/>
                        </a:rPr>
                        <a:t>DTE Provider File Setup</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A5A5A5"/>
                      </a:solidFill>
                      <a:prstDash val="solid"/>
                      <a:round/>
                      <a:headEnd type="none" w="med" len="med"/>
                      <a:tailEnd type="none" w="med" len="med"/>
                    </a:lnB>
                    <a:solidFill>
                      <a:schemeClr val="tx2">
                        <a:lumMod val="75000"/>
                        <a:lumOff val="25000"/>
                      </a:schemeClr>
                    </a:solidFill>
                  </a:tcPr>
                </a:tc>
                <a:tc>
                  <a:txBody>
                    <a:bodyPr/>
                    <a:lstStyle/>
                    <a:p>
                      <a:pPr marL="91440" algn="ctr" rtl="0" fontAlgn="ctr"/>
                      <a:r>
                        <a:rPr lang="en-US" sz="1400" b="1" i="0" u="none" strike="noStrike">
                          <a:solidFill>
                            <a:srgbClr val="FFFFFF"/>
                          </a:solidFill>
                          <a:effectLst/>
                          <a:latin typeface="Aptos Narrow" panose="020B0004020202020204" pitchFamily="34" charset="0"/>
                        </a:rPr>
                        <a:t>Group Sales  &amp; Plan Design Setup</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A5A5A5"/>
                      </a:solidFill>
                      <a:prstDash val="solid"/>
                      <a:round/>
                      <a:headEnd type="none" w="med" len="med"/>
                      <a:tailEnd type="none" w="med" len="med"/>
                    </a:lnB>
                    <a:solidFill>
                      <a:schemeClr val="tx2">
                        <a:lumMod val="75000"/>
                        <a:lumOff val="25000"/>
                      </a:schemeClr>
                    </a:solidFill>
                  </a:tcPr>
                </a:tc>
                <a:tc>
                  <a:txBody>
                    <a:bodyPr/>
                    <a:lstStyle/>
                    <a:p>
                      <a:pPr marL="91440" algn="ctr" rtl="0" fontAlgn="ctr"/>
                      <a:r>
                        <a:rPr lang="en-US" sz="1400" b="1" i="0" u="none" strike="noStrike">
                          <a:solidFill>
                            <a:srgbClr val="FFFFFF"/>
                          </a:solidFill>
                          <a:effectLst/>
                          <a:latin typeface="Aptos Narrow" panose="020B0004020202020204" pitchFamily="34" charset="0"/>
                        </a:rPr>
                        <a:t>Group Administration Setup</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3625355127"/>
                  </a:ext>
                </a:extLst>
              </a:tr>
              <a:tr h="566453">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Legal Contracts and Agreements</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90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Name Established</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90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Provider data and file analysis</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90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Group Sales and Marketing Strategy</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905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Proposal system setup</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extLst>
                  <a:ext uri="{0D108BD9-81ED-4DB2-BD59-A6C34878D82A}">
                    <a16:rowId xmlns:a16="http://schemas.microsoft.com/office/drawing/2014/main" val="2171249549"/>
                  </a:ext>
                </a:extLst>
              </a:tr>
              <a:tr h="555125">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Security and Compliance review</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logo and messaging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Provider file requirements</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Group Sales collateral</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Group Implementation and Renewal Collateral</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459425224"/>
                  </a:ext>
                </a:extLst>
              </a:tr>
              <a:tr h="827022">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Secure email connection - Transport Layer Security (TLS) </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Marketing Collateral</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Provider file transfer</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Group plan design and benefit structure</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Administration system programming (DTE product, plan design, billing, distribution, extract files)</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extLst>
                  <a:ext uri="{0D108BD9-81ED-4DB2-BD59-A6C34878D82A}">
                    <a16:rowId xmlns:a16="http://schemas.microsoft.com/office/drawing/2014/main" val="797527028"/>
                  </a:ext>
                </a:extLst>
              </a:tr>
              <a:tr h="827022">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Secure file and reporting connection - Secure File Transfer Protocol (SFTP) </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Website URL (domain) </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Provider file programming and website testing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PBM plans and benefits review</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Claims adjudication system programming </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solidFill>
                  </a:tcPr>
                </a:tc>
                <a:extLst>
                  <a:ext uri="{0D108BD9-81ED-4DB2-BD59-A6C34878D82A}">
                    <a16:rowId xmlns:a16="http://schemas.microsoft.com/office/drawing/2014/main" val="1472105442"/>
                  </a:ext>
                </a:extLst>
              </a:tr>
              <a:tr h="827022">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Network review of providers, specialties and sub-specialties</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Website design and content creation</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Provider maintenance file established</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lumMod val="95000"/>
                      </a:schemeClr>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PBM structure analysis (systems, data import, data export, billing and invoicing)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lumMod val="95000"/>
                      </a:schemeClr>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Fulfillment programming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extLst>
                  <a:ext uri="{0D108BD9-81ED-4DB2-BD59-A6C34878D82A}">
                    <a16:rowId xmlns:a16="http://schemas.microsoft.com/office/drawing/2014/main" val="2117134628"/>
                  </a:ext>
                </a:extLst>
              </a:tr>
              <a:tr h="601980">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Network contracting and pricing analysis</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marR="0" lvl="0" indent="0" algn="l" defTabSz="914400" rtl="0" eaLnBrk="1" fontAlgn="ctr" latinLnBrk="0" hangingPunct="1">
                        <a:lnSpc>
                          <a:spcPct val="100000"/>
                        </a:lnSpc>
                        <a:spcBef>
                          <a:spcPts val="0"/>
                        </a:spcBef>
                        <a:spcAft>
                          <a:spcPts val="600"/>
                        </a:spcAft>
                        <a:buClrTx/>
                        <a:buSzTx/>
                        <a:buFontTx/>
                        <a:buNone/>
                        <a:tabLst/>
                        <a:defRPr/>
                      </a:pP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Website provider portal setup </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91440" marR="0" lvl="0" indent="0" algn="l" defTabSz="914400" rtl="0" eaLnBrk="1" fontAlgn="t" latinLnBrk="0" hangingPunct="1">
                        <a:lnSpc>
                          <a:spcPct val="100000"/>
                        </a:lnSpc>
                        <a:spcBef>
                          <a:spcPts val="0"/>
                        </a:spcBef>
                        <a:spcAft>
                          <a:spcPts val="0"/>
                        </a:spcAft>
                        <a:buClrTx/>
                        <a:buSzTx/>
                        <a:buFontTx/>
                        <a:buNone/>
                        <a:tabLst/>
                        <a:defRPr/>
                      </a:pPr>
                      <a:endParaRPr lang="en-US" sz="1200" b="0" i="0" u="none" strike="noStrike">
                        <a:solidFill>
                          <a:srgbClr val="00132E"/>
                        </a:solidFill>
                        <a:effectLst/>
                        <a:latin typeface="Aptos Narrow" panose="020B0004020202020204" pitchFamily="34" charset="0"/>
                      </a:endParaRPr>
                    </a:p>
                    <a:p>
                      <a:pPr marL="91440" marR="0" lvl="0" indent="0" algn="l" defTabSz="914400" rtl="0" eaLnBrk="1" fontAlgn="t"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DTE Website review for launch</a:t>
                      </a:r>
                    </a:p>
                  </a:txBody>
                  <a:tcPr marL="7620" marR="7620" marT="7620" marB="0">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PBM file structure programming and testing (claims, accumulators, elig, invoice feed)</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Customer Service programming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3143620519"/>
                  </a:ext>
                </a:extLst>
              </a:tr>
              <a:tr h="555125">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Network fee schedule programming and testing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lvl="0" algn="l" fontAlgn="t"/>
                      <a:r>
                        <a:rPr lang="en-US" sz="1200" b="0" i="0" u="none" strike="noStrike">
                          <a:solidFill>
                            <a:srgbClr val="000000"/>
                          </a:solidFill>
                          <a:effectLst/>
                          <a:latin typeface="Arial" panose="020B0604020202020204" pitchFamily="34" charset="0"/>
                        </a:rPr>
                        <a:t> </a:t>
                      </a:r>
                    </a:p>
                  </a:txBody>
                  <a:tcPr marL="7620" marR="7620" marT="7620" marB="0">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0F0F0"/>
                    </a:solidFill>
                  </a:tcPr>
                </a:tc>
                <a:tc>
                  <a:txBody>
                    <a:bodyPr/>
                    <a:lstStyle/>
                    <a:p>
                      <a:pPr marL="91440" marR="0" lvl="0" indent="0" algn="l" defTabSz="914400" rtl="0" eaLnBrk="1" fontAlgn="t"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rial" panose="020B0604020202020204" pitchFamily="34" charset="0"/>
                        </a:rPr>
                        <a:t> </a:t>
                      </a:r>
                    </a:p>
                  </a:txBody>
                  <a:tcPr marL="7620" marR="7620" marT="7620" marB="0">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lumMod val="95000"/>
                      </a:schemeClr>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Reinsurance Carrier education on DTE</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lumMod val="95000"/>
                      </a:schemeClr>
                    </a:solidFill>
                  </a:tcPr>
                </a:tc>
                <a:tc>
                  <a:txBody>
                    <a:bodyPr/>
                    <a:lstStyle/>
                    <a:p>
                      <a:pPr marL="91440" lvl="0" algn="l" rtl="0" fontAlgn="ctr"/>
                      <a:r>
                        <a:rPr lang="en-US" sz="1200" b="0" i="0" u="none" strike="noStrike">
                          <a:solidFill>
                            <a:srgbClr val="000000"/>
                          </a:solidFill>
                          <a:effectLst/>
                          <a:latin typeface="Aptos Narrow" panose="020B0004020202020204" pitchFamily="34" charset="0"/>
                          <a:cs typeface="Arial" panose="020B0604020202020204" pitchFamily="34" charset="0"/>
                        </a:rPr>
                        <a:t>☐ </a:t>
                      </a:r>
                      <a:r>
                        <a:rPr lang="en-US" sz="1200" b="0" i="0" u="none" strike="noStrike">
                          <a:solidFill>
                            <a:srgbClr val="00132E"/>
                          </a:solidFill>
                          <a:effectLst/>
                          <a:latin typeface="Aptos Narrow" panose="020B0004020202020204" pitchFamily="34" charset="0"/>
                        </a:rPr>
                        <a:t>Complete End to End Testing</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6052463"/>
                  </a:ext>
                </a:extLst>
              </a:tr>
              <a:tr h="283227">
                <a:tc>
                  <a:txBody>
                    <a:bodyPr/>
                    <a:lstStyle/>
                    <a:p>
                      <a:pPr marL="91440" algn="l" rtl="0" fontAlgn="ctr"/>
                      <a:r>
                        <a:rPr lang="en-US" sz="1200" b="1" i="0" u="none" strike="noStrike">
                          <a:solidFill>
                            <a:srgbClr val="00132E"/>
                          </a:solidFill>
                          <a:effectLst/>
                          <a:latin typeface="Aptos Narrow" panose="020B0004020202020204" pitchFamily="34" charset="0"/>
                        </a:rPr>
                        <a:t>Network launch</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E7F2E9"/>
                    </a:solidFill>
                  </a:tcPr>
                </a:tc>
                <a:tc gridSpan="2">
                  <a:txBody>
                    <a:bodyPr/>
                    <a:lstStyle/>
                    <a:p>
                      <a:pPr marL="91440" algn="ctr" rtl="0" fontAlgn="ctr"/>
                      <a:r>
                        <a:rPr lang="en-US" sz="1200" b="1" i="0" u="none" strike="noStrike">
                          <a:solidFill>
                            <a:srgbClr val="00132E"/>
                          </a:solidFill>
                          <a:effectLst/>
                          <a:latin typeface="Aptos Narrow" panose="020B0004020202020204" pitchFamily="34" charset="0"/>
                        </a:rPr>
                        <a:t>Website launch</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E7F2E9"/>
                    </a:solidFill>
                  </a:tcPr>
                </a:tc>
                <a:tc hMerge="1">
                  <a:txBody>
                    <a:bodyPr/>
                    <a:lstStyle/>
                    <a:p>
                      <a:pPr marL="91440" algn="l" rtl="0" fontAlgn="ctr"/>
                      <a:endParaRPr lang="en-US" sz="1300" b="1" i="0" u="none" strike="noStrike">
                        <a:solidFill>
                          <a:srgbClr val="00132E"/>
                        </a:solidFill>
                        <a:effectLst/>
                        <a:latin typeface="Aptos Narrow" panose="020B0004020202020204" pitchFamily="34" charset="0"/>
                      </a:endParaRP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E7F2E9"/>
                    </a:solidFill>
                  </a:tcPr>
                </a:tc>
                <a:tc gridSpan="2">
                  <a:txBody>
                    <a:bodyPr/>
                    <a:lstStyle/>
                    <a:p>
                      <a:pPr algn="ctr" rtl="0" fontAlgn="ctr"/>
                      <a:r>
                        <a:rPr lang="en-US" sz="1200" b="1" i="0" u="none" strike="noStrike">
                          <a:solidFill>
                            <a:srgbClr val="00132E"/>
                          </a:solidFill>
                          <a:effectLst/>
                          <a:latin typeface="Aptos Narrow" panose="020B0004020202020204" pitchFamily="34" charset="0"/>
                        </a:rPr>
                        <a:t>Group Sales launch</a:t>
                      </a:r>
                    </a:p>
                  </a:txBody>
                  <a:tcPr marL="7620" marR="7620" marT="7620"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E7F2E9"/>
                    </a:solidFill>
                  </a:tcPr>
                </a:tc>
                <a:tc hMerge="1">
                  <a:txBody>
                    <a:bodyPr/>
                    <a:lstStyle/>
                    <a:p>
                      <a:endParaRPr lang="en-US"/>
                    </a:p>
                  </a:txBody>
                  <a:tcPr/>
                </a:tc>
                <a:extLst>
                  <a:ext uri="{0D108BD9-81ED-4DB2-BD59-A6C34878D82A}">
                    <a16:rowId xmlns:a16="http://schemas.microsoft.com/office/drawing/2014/main" val="1907239732"/>
                  </a:ext>
                </a:extLst>
              </a:tr>
            </a:tbl>
          </a:graphicData>
        </a:graphic>
      </p:graphicFrame>
    </p:spTree>
    <p:extLst>
      <p:ext uri="{BB962C8B-B14F-4D97-AF65-F5344CB8AC3E}">
        <p14:creationId xmlns:p14="http://schemas.microsoft.com/office/powerpoint/2010/main" val="833076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83462-FA81-FE92-8813-279D18CE8D6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CE5CA40-0947-1CC9-3F43-4EC991F47D23}"/>
              </a:ext>
            </a:extLst>
          </p:cNvPr>
          <p:cNvSpPr/>
          <p:nvPr/>
        </p:nvSpPr>
        <p:spPr>
          <a:xfrm>
            <a:off x="-4322" y="0"/>
            <a:ext cx="4662586" cy="685800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3200" b="1">
              <a:solidFill>
                <a:schemeClr val="bg1"/>
              </a:solidFill>
            </a:endParaRPr>
          </a:p>
        </p:txBody>
      </p:sp>
      <p:sp>
        <p:nvSpPr>
          <p:cNvPr id="7" name="TextBox 6">
            <a:extLst>
              <a:ext uri="{FF2B5EF4-FFF2-40B4-BE49-F238E27FC236}">
                <a16:creationId xmlns:a16="http://schemas.microsoft.com/office/drawing/2014/main" id="{CA9EF6C5-23F4-430E-6D67-0220766F0324}"/>
              </a:ext>
            </a:extLst>
          </p:cNvPr>
          <p:cNvSpPr txBox="1"/>
          <p:nvPr/>
        </p:nvSpPr>
        <p:spPr>
          <a:xfrm>
            <a:off x="0" y="779724"/>
            <a:ext cx="4662586" cy="954107"/>
          </a:xfrm>
          <a:prstGeom prst="rect">
            <a:avLst/>
          </a:prstGeom>
          <a:noFill/>
        </p:spPr>
        <p:txBody>
          <a:bodyPr wrap="square" rtlCol="0">
            <a:spAutoFit/>
          </a:bodyPr>
          <a:lstStyle/>
          <a:p>
            <a:pPr algn="ctr"/>
            <a:r>
              <a:rPr lang="en-US" sz="2800">
                <a:solidFill>
                  <a:schemeClr val="bg1"/>
                </a:solidFill>
                <a:latin typeface="Arial" panose="020B0604020202020204" pitchFamily="34" charset="0"/>
                <a:cs typeface="Arial" panose="020B0604020202020204" pitchFamily="34" charset="0"/>
              </a:rPr>
              <a:t>Group Implementation Approach</a:t>
            </a:r>
          </a:p>
        </p:txBody>
      </p:sp>
      <p:sp>
        <p:nvSpPr>
          <p:cNvPr id="11" name="TextBox 10">
            <a:extLst>
              <a:ext uri="{FF2B5EF4-FFF2-40B4-BE49-F238E27FC236}">
                <a16:creationId xmlns:a16="http://schemas.microsoft.com/office/drawing/2014/main" id="{0DA71FAD-FDF9-E67F-CA45-E18AD70BA3D5}"/>
              </a:ext>
            </a:extLst>
          </p:cNvPr>
          <p:cNvSpPr txBox="1"/>
          <p:nvPr/>
        </p:nvSpPr>
        <p:spPr>
          <a:xfrm>
            <a:off x="135864" y="2303217"/>
            <a:ext cx="4382217" cy="3371308"/>
          </a:xfrm>
          <a:prstGeom prst="rect">
            <a:avLst/>
          </a:prstGeom>
          <a:noFill/>
        </p:spPr>
        <p:txBody>
          <a:bodyPr wrap="square" rtlCol="0">
            <a:spAutoFit/>
          </a:bodyPr>
          <a:lstStyle/>
          <a:p>
            <a:pPr>
              <a:spcBef>
                <a:spcPts val="601"/>
              </a:spcBef>
              <a:spcAft>
                <a:spcPts val="601"/>
              </a:spcAft>
            </a:pPr>
            <a:r>
              <a:rPr lang="en-US" sz="2201">
                <a:solidFill>
                  <a:schemeClr val="bg1"/>
                </a:solidFill>
              </a:rPr>
              <a:t>Group implementations teams have members from both the Implementation Department and Client Relations Team. </a:t>
            </a:r>
          </a:p>
          <a:p>
            <a:pPr>
              <a:spcBef>
                <a:spcPts val="601"/>
              </a:spcBef>
              <a:spcAft>
                <a:spcPts val="601"/>
              </a:spcAft>
            </a:pPr>
            <a:r>
              <a:rPr lang="en-US" sz="2201">
                <a:solidFill>
                  <a:schemeClr val="bg1"/>
                </a:solidFill>
              </a:rPr>
              <a:t>KBA is committed to delivering a “WOW” level of customer service and our team will ensure a smooth and timely transition to KBA.</a:t>
            </a:r>
          </a:p>
          <a:p>
            <a:endParaRPr lang="en-US" sz="2201">
              <a:solidFill>
                <a:schemeClr val="bg1"/>
              </a:solidFill>
            </a:endParaRPr>
          </a:p>
        </p:txBody>
      </p:sp>
      <p:sp>
        <p:nvSpPr>
          <p:cNvPr id="25" name="TextBox 24">
            <a:extLst>
              <a:ext uri="{FF2B5EF4-FFF2-40B4-BE49-F238E27FC236}">
                <a16:creationId xmlns:a16="http://schemas.microsoft.com/office/drawing/2014/main" id="{3BA92922-7907-04D8-E92B-E9A856064EAD}"/>
              </a:ext>
            </a:extLst>
          </p:cNvPr>
          <p:cNvSpPr txBox="1"/>
          <p:nvPr/>
        </p:nvSpPr>
        <p:spPr>
          <a:xfrm>
            <a:off x="4917231" y="275145"/>
            <a:ext cx="7063273" cy="3447098"/>
          </a:xfrm>
          <a:prstGeom prst="rect">
            <a:avLst/>
          </a:prstGeom>
          <a:noFill/>
          <a:ln w="12700">
            <a:noFill/>
          </a:ln>
        </p:spPr>
        <p:txBody>
          <a:bodyPr wrap="square" lIns="91440" tIns="45720" rIns="91440" bIns="45720" rtlCol="0" anchor="t">
            <a:spAutoFit/>
          </a:bodyPr>
          <a:lstStyle/>
          <a:p>
            <a:pPr algn="ctr">
              <a:spcAft>
                <a:spcPts val="601"/>
              </a:spcAft>
            </a:pPr>
            <a:r>
              <a:rPr lang="en-US" sz="1600" b="1" u="sng">
                <a:solidFill>
                  <a:schemeClr val="accent1">
                    <a:lumMod val="75000"/>
                  </a:schemeClr>
                </a:solidFill>
                <a:latin typeface="Montserrat"/>
                <a:cs typeface="Arial"/>
              </a:rPr>
              <a:t>A Collaborative and Dedicated Strategy</a:t>
            </a:r>
          </a:p>
          <a:p>
            <a:pPr algn="ctr">
              <a:spcAft>
                <a:spcPts val="601"/>
              </a:spcAft>
            </a:pPr>
            <a:endParaRPr lang="en-US" sz="1200" b="1" u="sng">
              <a:solidFill>
                <a:schemeClr val="accent1">
                  <a:lumMod val="75000"/>
                </a:schemeClr>
              </a:solidFill>
              <a:latin typeface="Montserrat" panose="00000500000000000000" pitchFamily="2" charset="0"/>
              <a:cs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1200" b="1">
                <a:latin typeface="Montserrat" panose="00000500000000000000" pitchFamily="2" charset="0"/>
              </a:rPr>
              <a:t>Dedicated Implementation Team:</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a:rPr>
              <a:t>Specialized Leadership</a:t>
            </a:r>
            <a:r>
              <a:rPr lang="en-US" altLang="en-US" sz="1200">
                <a:latin typeface="Montserrat"/>
              </a:rPr>
              <a:t>: Each group is assigned a Director, Manager, Lead, and Coordinator for focused execution.</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a:rPr>
              <a:t>A Project Framework</a:t>
            </a:r>
            <a:r>
              <a:rPr lang="en-US" altLang="en-US" sz="1200">
                <a:latin typeface="Montserrat"/>
              </a:rPr>
              <a:t>: Structured setup, finalization, confirmation, and go-live ensure smooth transitions.</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a:rPr>
              <a:t>Measurable and Transparent Status</a:t>
            </a:r>
            <a:r>
              <a:rPr lang="en-US" altLang="en-US" sz="1200">
                <a:latin typeface="Montserrat"/>
              </a:rPr>
              <a:t>:  From lead to sold case, and through Implementation Salesforce tracks all critical milestones and is monitored through real time dashboarding.</a:t>
            </a:r>
            <a:endParaRPr lang="en-US" altLang="en-US" sz="1200" b="1">
              <a:latin typeface="Montserrat"/>
            </a:endParaRP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a:rPr>
              <a:t>Client-Centric Coordination</a:t>
            </a:r>
            <a:r>
              <a:rPr lang="en-US" altLang="en-US" sz="1200">
                <a:latin typeface="Montserrat"/>
              </a:rPr>
              <a:t>: Kick-off meetings align stakeholders with tailored timelines and materials.</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a:rPr>
              <a:t>Operational Readiness</a:t>
            </a:r>
            <a:r>
              <a:rPr lang="en-US" altLang="en-US" sz="1200">
                <a:latin typeface="Montserrat"/>
              </a:rPr>
              <a:t>: Proactive management of eligibility, billing, ID cards, and vendor integration.</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a:rPr>
              <a:t>Improved Outcomes</a:t>
            </a:r>
            <a:r>
              <a:rPr lang="en-US" altLang="en-US" sz="1200">
                <a:latin typeface="Montserrat"/>
              </a:rPr>
              <a:t>: A departmental approach drives consistency, faster issue resolution, and higher client satisfaction</a:t>
            </a:r>
            <a:endParaRPr lang="en-US" sz="1200" b="1" u="sng">
              <a:solidFill>
                <a:schemeClr val="accent1">
                  <a:lumMod val="75000"/>
                </a:schemeClr>
              </a:solidFill>
              <a:latin typeface="Montserrat" panose="00000500000000000000" pitchFamily="2" charset="0"/>
              <a:cs typeface="Arial" panose="020B0604020202020204" pitchFamily="34" charset="0"/>
            </a:endParaRPr>
          </a:p>
          <a:p>
            <a:pPr algn="ctr">
              <a:spcAft>
                <a:spcPts val="601"/>
              </a:spcAft>
            </a:pPr>
            <a:endParaRPr lang="en-US" sz="1200" b="1" u="sng">
              <a:solidFill>
                <a:schemeClr val="accent1">
                  <a:lumMod val="75000"/>
                </a:schemeClr>
              </a:solidFill>
              <a:latin typeface="Montserrat" panose="00000500000000000000" pitchFamily="2" charset="0"/>
              <a:cs typeface="Arial" panose="020B0604020202020204" pitchFamily="34" charset="0"/>
            </a:endParaRPr>
          </a:p>
        </p:txBody>
      </p:sp>
      <p:sp>
        <p:nvSpPr>
          <p:cNvPr id="26" name="TextBox 25">
            <a:extLst>
              <a:ext uri="{FF2B5EF4-FFF2-40B4-BE49-F238E27FC236}">
                <a16:creationId xmlns:a16="http://schemas.microsoft.com/office/drawing/2014/main" id="{34F8AB3E-E9B7-69A4-22F3-DB49898AF804}"/>
              </a:ext>
            </a:extLst>
          </p:cNvPr>
          <p:cNvSpPr txBox="1"/>
          <p:nvPr/>
        </p:nvSpPr>
        <p:spPr>
          <a:xfrm>
            <a:off x="4917230" y="3911902"/>
            <a:ext cx="7063273" cy="2462213"/>
          </a:xfrm>
          <a:prstGeom prst="rect">
            <a:avLst/>
          </a:prstGeom>
          <a:noFill/>
          <a:ln w="12700">
            <a:noFill/>
          </a:ln>
        </p:spPr>
        <p:txBody>
          <a:bodyPr wrap="square" lIns="91440" tIns="45720" rIns="91440" bIns="45720" rtlCol="0" anchor="t">
            <a:spAutoFit/>
          </a:bodyPr>
          <a:lstStyle/>
          <a:p>
            <a:pPr marL="171450" indent="-171450">
              <a:spcAft>
                <a:spcPts val="601"/>
              </a:spcAft>
              <a:buFont typeface="Arial" panose="020B0604020202020204" pitchFamily="34" charset="0"/>
              <a:buChar char="•"/>
            </a:pPr>
            <a:r>
              <a:rPr lang="en-US" altLang="en-US" sz="1200" b="1">
                <a:latin typeface="Montserrat" panose="00000500000000000000" pitchFamily="2" charset="0"/>
                <a:cs typeface="Arial" panose="020B0604020202020204" pitchFamily="34" charset="0"/>
              </a:rPr>
              <a:t>Dedicated Service Team:</a:t>
            </a:r>
          </a:p>
          <a:p>
            <a:pPr marL="628650" lvl="1" indent="-171450">
              <a:spcAft>
                <a:spcPts val="601"/>
              </a:spcAft>
              <a:buFont typeface="Courier New" panose="020B0604020202020204" pitchFamily="34" charset="0"/>
              <a:buChar char="o"/>
            </a:pPr>
            <a:r>
              <a:rPr lang="en-US" altLang="en-US" sz="1200" b="1">
                <a:latin typeface="Montserrat" panose="00000500000000000000" pitchFamily="2" charset="0"/>
              </a:rPr>
              <a:t>Early Engagement</a:t>
            </a:r>
            <a:r>
              <a:rPr lang="en-US" altLang="en-US" sz="1200">
                <a:latin typeface="Montserrat" panose="00000500000000000000" pitchFamily="2" charset="0"/>
              </a:rPr>
              <a:t>: Client Services is looped in during the kickoff phase to align expectations and ensure seamless communication with the group.</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panose="00000500000000000000" pitchFamily="2" charset="0"/>
              </a:rPr>
              <a:t>Dedicated Support</a:t>
            </a:r>
            <a:r>
              <a:rPr lang="en-US" altLang="en-US" sz="1200">
                <a:latin typeface="Montserrat" panose="00000500000000000000" pitchFamily="2" charset="0"/>
              </a:rPr>
              <a:t>: A Client Services representative is assigned to each group to provide continuity and personalized assistance throughout onboarding.</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panose="00000500000000000000" pitchFamily="2" charset="0"/>
              </a:rPr>
              <a:t>Issue Resolution</a:t>
            </a:r>
            <a:r>
              <a:rPr lang="en-US" altLang="en-US" sz="1200">
                <a:latin typeface="Montserrat" panose="00000500000000000000" pitchFamily="2" charset="0"/>
              </a:rPr>
              <a:t>: The team proactively monitors onboarding milestones and escalates any delays or concerns to ensure timely resolution.</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panose="00000500000000000000" pitchFamily="2" charset="0"/>
              </a:rPr>
              <a:t>Training &amp; Resources</a:t>
            </a:r>
            <a:r>
              <a:rPr lang="en-US" altLang="en-US" sz="1200">
                <a:latin typeface="Montserrat" panose="00000500000000000000" pitchFamily="2" charset="0"/>
              </a:rPr>
              <a:t>: Client Services facilitates access to training materials, system walkthroughs, and support documentation for group administrators.</a:t>
            </a:r>
          </a:p>
          <a:p>
            <a:pPr marL="628650" lvl="1" indent="-171450" eaLnBrk="0" fontAlgn="base" hangingPunct="0">
              <a:spcBef>
                <a:spcPct val="0"/>
              </a:spcBef>
              <a:spcAft>
                <a:spcPct val="0"/>
              </a:spcAft>
              <a:buFont typeface="Courier New" panose="020B0604020202020204" pitchFamily="34" charset="0"/>
              <a:buChar char="o"/>
            </a:pPr>
            <a:r>
              <a:rPr lang="en-US" altLang="en-US" sz="1200" b="1">
                <a:latin typeface="Montserrat" panose="00000500000000000000" pitchFamily="2" charset="0"/>
              </a:rPr>
              <a:t>Post-Go-Live Follow-Up</a:t>
            </a:r>
            <a:r>
              <a:rPr lang="en-US" altLang="en-US" sz="1200">
                <a:latin typeface="Montserrat" panose="00000500000000000000" pitchFamily="2" charset="0"/>
              </a:rPr>
              <a:t>: After launch, Client Services continues to engage with the group to confirm satisfaction and address any lingering setup needs.</a:t>
            </a:r>
          </a:p>
          <a:p>
            <a:pPr algn="ctr">
              <a:spcAft>
                <a:spcPts val="601"/>
              </a:spcAft>
            </a:pPr>
            <a:endParaRPr lang="en-US" sz="1200" b="1" u="sng">
              <a:solidFill>
                <a:schemeClr val="accent1">
                  <a:lumMod val="75000"/>
                </a:schemeClr>
              </a:solidFill>
              <a:latin typeface="Montserrat" panose="00000500000000000000" pitchFamily="2" charset="0"/>
              <a:cs typeface="Arial" panose="020B0604020202020204" pitchFamily="34" charset="0"/>
            </a:endParaRPr>
          </a:p>
        </p:txBody>
      </p:sp>
      <p:sp>
        <p:nvSpPr>
          <p:cNvPr id="5" name="Rectangle 3">
            <a:extLst>
              <a:ext uri="{FF2B5EF4-FFF2-40B4-BE49-F238E27FC236}">
                <a16:creationId xmlns:a16="http://schemas.microsoft.com/office/drawing/2014/main" id="{C0D2EF63-3E4C-4201-9594-8204C40ABAC2}"/>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335753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29CF95-E453-0419-54F1-29EEF779285F}"/>
              </a:ext>
            </a:extLst>
          </p:cNvPr>
          <p:cNvSpPr txBox="1">
            <a:spLocks/>
          </p:cNvSpPr>
          <p:nvPr/>
        </p:nvSpPr>
        <p:spPr>
          <a:xfrm>
            <a:off x="838202" y="55987"/>
            <a:ext cx="10515600" cy="49000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11">
              <a:defRPr/>
            </a:pPr>
            <a:r>
              <a:rPr lang="en-US" sz="2400" b="1">
                <a:solidFill>
                  <a:srgbClr val="156082">
                    <a:lumMod val="75000"/>
                  </a:srgbClr>
                </a:solidFill>
                <a:latin typeface="Montserrat" panose="00000500000000000000" pitchFamily="2" charset="0"/>
              </a:rPr>
              <a:t>GROUP IMPLEMENTATION OVERVIEW</a:t>
            </a:r>
          </a:p>
        </p:txBody>
      </p:sp>
      <p:graphicFrame>
        <p:nvGraphicFramePr>
          <p:cNvPr id="6" name="Table 5">
            <a:extLst>
              <a:ext uri="{FF2B5EF4-FFF2-40B4-BE49-F238E27FC236}">
                <a16:creationId xmlns:a16="http://schemas.microsoft.com/office/drawing/2014/main" id="{B008CE76-5B46-AFB3-6FA4-118073A9FBFE}"/>
              </a:ext>
            </a:extLst>
          </p:cNvPr>
          <p:cNvGraphicFramePr>
            <a:graphicFrameLocks noGrp="1"/>
          </p:cNvGraphicFramePr>
          <p:nvPr>
            <p:extLst>
              <p:ext uri="{D42A27DB-BD31-4B8C-83A1-F6EECF244321}">
                <p14:modId xmlns:p14="http://schemas.microsoft.com/office/powerpoint/2010/main" val="3628242435"/>
              </p:ext>
            </p:extLst>
          </p:nvPr>
        </p:nvGraphicFramePr>
        <p:xfrm>
          <a:off x="331039" y="488952"/>
          <a:ext cx="10887568" cy="6313061"/>
        </p:xfrm>
        <a:graphic>
          <a:graphicData uri="http://schemas.openxmlformats.org/drawingml/2006/table">
            <a:tbl>
              <a:tblPr/>
              <a:tblGrid>
                <a:gridCol w="2308581">
                  <a:extLst>
                    <a:ext uri="{9D8B030D-6E8A-4147-A177-3AD203B41FA5}">
                      <a16:colId xmlns:a16="http://schemas.microsoft.com/office/drawing/2014/main" val="2855351431"/>
                    </a:ext>
                  </a:extLst>
                </a:gridCol>
                <a:gridCol w="2934133">
                  <a:extLst>
                    <a:ext uri="{9D8B030D-6E8A-4147-A177-3AD203B41FA5}">
                      <a16:colId xmlns:a16="http://schemas.microsoft.com/office/drawing/2014/main" val="1792154934"/>
                    </a:ext>
                  </a:extLst>
                </a:gridCol>
                <a:gridCol w="2934133">
                  <a:extLst>
                    <a:ext uri="{9D8B030D-6E8A-4147-A177-3AD203B41FA5}">
                      <a16:colId xmlns:a16="http://schemas.microsoft.com/office/drawing/2014/main" val="1609162919"/>
                    </a:ext>
                  </a:extLst>
                </a:gridCol>
                <a:gridCol w="2710721">
                  <a:extLst>
                    <a:ext uri="{9D8B030D-6E8A-4147-A177-3AD203B41FA5}">
                      <a16:colId xmlns:a16="http://schemas.microsoft.com/office/drawing/2014/main" val="3694631187"/>
                    </a:ext>
                  </a:extLst>
                </a:gridCol>
              </a:tblGrid>
              <a:tr h="205284">
                <a:tc>
                  <a:txBody>
                    <a:bodyPr/>
                    <a:lstStyle/>
                    <a:p>
                      <a:pPr algn="ctr" fontAlgn="b"/>
                      <a:r>
                        <a:rPr lang="en-US" sz="1050" b="1" i="0" u="none" strike="noStrike">
                          <a:solidFill>
                            <a:srgbClr val="FFFFFF"/>
                          </a:solidFill>
                          <a:effectLst/>
                          <a:latin typeface="Montserrat" panose="00000500000000000000" pitchFamily="2" charset="0"/>
                        </a:rPr>
                        <a:t>Phase 1</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4861"/>
                    </a:solidFill>
                  </a:tcPr>
                </a:tc>
                <a:tc>
                  <a:txBody>
                    <a:bodyPr/>
                    <a:lstStyle/>
                    <a:p>
                      <a:pPr algn="ctr" fontAlgn="b"/>
                      <a:r>
                        <a:rPr lang="en-US" sz="1050" b="1" i="0" u="none" strike="noStrike">
                          <a:solidFill>
                            <a:srgbClr val="FFFFFF"/>
                          </a:solidFill>
                          <a:effectLst/>
                          <a:latin typeface="Montserrat" panose="00000500000000000000" pitchFamily="2" charset="0"/>
                        </a:rPr>
                        <a:t>Phase 2</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4861"/>
                    </a:solidFill>
                  </a:tcPr>
                </a:tc>
                <a:tc>
                  <a:txBody>
                    <a:bodyPr/>
                    <a:lstStyle/>
                    <a:p>
                      <a:pPr algn="ctr" fontAlgn="b"/>
                      <a:r>
                        <a:rPr lang="en-US" sz="1050" b="1" i="0" u="none" strike="noStrike">
                          <a:solidFill>
                            <a:srgbClr val="FFFFFF"/>
                          </a:solidFill>
                          <a:effectLst/>
                          <a:latin typeface="Montserrat" panose="00000500000000000000" pitchFamily="2" charset="0"/>
                        </a:rPr>
                        <a:t>Phase 3</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4861"/>
                    </a:solidFill>
                  </a:tcPr>
                </a:tc>
                <a:tc>
                  <a:txBody>
                    <a:bodyPr/>
                    <a:lstStyle/>
                    <a:p>
                      <a:pPr algn="ctr" fontAlgn="b"/>
                      <a:r>
                        <a:rPr lang="en-US" sz="1050" b="1" i="0" u="none" strike="noStrike">
                          <a:solidFill>
                            <a:srgbClr val="FFFFFF"/>
                          </a:solidFill>
                          <a:effectLst/>
                          <a:latin typeface="Montserrat" panose="00000500000000000000" pitchFamily="2" charset="0"/>
                        </a:rPr>
                        <a:t>Phase 4</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4861"/>
                    </a:solidFill>
                  </a:tcPr>
                </a:tc>
                <a:extLst>
                  <a:ext uri="{0D108BD9-81ED-4DB2-BD59-A6C34878D82A}">
                    <a16:rowId xmlns:a16="http://schemas.microsoft.com/office/drawing/2014/main" val="2562618848"/>
                  </a:ext>
                </a:extLst>
              </a:tr>
              <a:tr h="707200">
                <a:tc>
                  <a:txBody>
                    <a:bodyPr/>
                    <a:lstStyle/>
                    <a:p>
                      <a:pPr marL="91440" algn="l" fontAlgn="ctr"/>
                      <a:r>
                        <a:rPr lang="en-US" sz="1050" b="1" i="0" u="none" strike="noStrike">
                          <a:solidFill>
                            <a:srgbClr val="FFFFFF"/>
                          </a:solidFill>
                          <a:effectLst/>
                          <a:latin typeface="Montserrat" panose="00000500000000000000" pitchFamily="2" charset="0"/>
                        </a:rPr>
                        <a:t>Implementation Begins</a:t>
                      </a:r>
                    </a:p>
                  </a:txBody>
                  <a:tcPr marL="5486" marR="5486" marT="5486" marB="0" anchor="ctr">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chemeClr val="tx2">
                        <a:lumMod val="75000"/>
                        <a:lumOff val="25000"/>
                      </a:schemeClr>
                    </a:solidFill>
                  </a:tcPr>
                </a:tc>
                <a:tc>
                  <a:txBody>
                    <a:bodyPr/>
                    <a:lstStyle/>
                    <a:p>
                      <a:pPr marL="91440" algn="l" fontAlgn="ctr"/>
                      <a:r>
                        <a:rPr lang="en-US" sz="1050" b="1" i="0" u="none" strike="noStrike">
                          <a:solidFill>
                            <a:srgbClr val="FFFFFF"/>
                          </a:solidFill>
                          <a:effectLst/>
                          <a:latin typeface="Montserrat" panose="00000500000000000000" pitchFamily="2" charset="0"/>
                        </a:rPr>
                        <a:t>Group Details - Open Enrollment, Eligibility Setup, ID Card, Banking, and Vendors</a:t>
                      </a:r>
                    </a:p>
                  </a:txBody>
                  <a:tcPr marL="5486" marR="5486" marT="5486" marB="0" anchor="ctr">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chemeClr val="tx2">
                        <a:lumMod val="75000"/>
                        <a:lumOff val="25000"/>
                      </a:schemeClr>
                    </a:solidFill>
                  </a:tcPr>
                </a:tc>
                <a:tc>
                  <a:txBody>
                    <a:bodyPr/>
                    <a:lstStyle/>
                    <a:p>
                      <a:pPr marL="91440" algn="l" fontAlgn="ctr"/>
                      <a:r>
                        <a:rPr lang="en-US" sz="1050" b="1" i="0" u="none" strike="noStrike">
                          <a:solidFill>
                            <a:srgbClr val="FFFFFF"/>
                          </a:solidFill>
                          <a:effectLst/>
                          <a:latin typeface="Montserrat" panose="00000500000000000000" pitchFamily="2" charset="0"/>
                        </a:rPr>
                        <a:t>Finalize Setups -  Open Enrollment, Eligibility, ID Card, Banking and Vendors</a:t>
                      </a:r>
                    </a:p>
                  </a:txBody>
                  <a:tcPr marL="5486" marR="5486" marT="5486" marB="0" anchor="ctr">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chemeClr val="tx2">
                        <a:lumMod val="75000"/>
                        <a:lumOff val="25000"/>
                      </a:schemeClr>
                    </a:solidFill>
                  </a:tcPr>
                </a:tc>
                <a:tc>
                  <a:txBody>
                    <a:bodyPr/>
                    <a:lstStyle/>
                    <a:p>
                      <a:pPr marL="91440" algn="l" fontAlgn="ctr"/>
                      <a:r>
                        <a:rPr lang="en-US" sz="1050" b="1" i="0" u="none" strike="noStrike">
                          <a:solidFill>
                            <a:srgbClr val="FFFFFF"/>
                          </a:solidFill>
                          <a:effectLst/>
                          <a:latin typeface="Montserrat" panose="00000500000000000000" pitchFamily="2" charset="0"/>
                        </a:rPr>
                        <a:t>Confirmations - Fulfillment, Post Implementation Planning, GO LIVE!</a:t>
                      </a:r>
                    </a:p>
                  </a:txBody>
                  <a:tcPr marL="5486" marR="5486" marT="5486" marB="0" anchor="ctr">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3037934142"/>
                  </a:ext>
                </a:extLst>
              </a:tr>
              <a:tr h="456242">
                <a:tc>
                  <a:txBody>
                    <a:bodyPr/>
                    <a:lstStyle/>
                    <a:p>
                      <a:pPr marL="91440" algn="l" fontAlgn="b"/>
                      <a:r>
                        <a:rPr lang="en-US" sz="1050" b="0" i="0" u="none" strike="noStrike">
                          <a:solidFill>
                            <a:srgbClr val="000000"/>
                          </a:solidFill>
                          <a:effectLst/>
                          <a:latin typeface="Montserrat" panose="00000500000000000000" pitchFamily="2" charset="0"/>
                        </a:rPr>
                        <a:t>☐ Identify key group contacts and their Roles and Responsibilities.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Confirm Open Enrollment dates.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Introduce Billing and Customer Service Teams.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Confirm eligibility loaded.</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extLst>
                  <a:ext uri="{0D108BD9-81ED-4DB2-BD59-A6C34878D82A}">
                    <a16:rowId xmlns:a16="http://schemas.microsoft.com/office/drawing/2014/main" val="1159185486"/>
                  </a:ext>
                </a:extLst>
              </a:tr>
              <a:tr h="456242">
                <a:tc>
                  <a:txBody>
                    <a:bodyPr/>
                    <a:lstStyle/>
                    <a:p>
                      <a:pPr marL="91440" algn="l" fontAlgn="b"/>
                      <a:r>
                        <a:rPr lang="en-US" sz="1050" b="0" i="0" u="none" strike="noStrike">
                          <a:solidFill>
                            <a:srgbClr val="000000"/>
                          </a:solidFill>
                          <a:effectLst/>
                          <a:latin typeface="Montserrat" panose="00000500000000000000" pitchFamily="2" charset="0"/>
                        </a:rPr>
                        <a:t>☐ Review contracts and electronic signature process.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materials needed for Open Enrollment and expected delivery.</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Process Open Enrollment eligibility.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Confirm fulfillment mail date.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extLst>
                  <a:ext uri="{0D108BD9-81ED-4DB2-BD59-A6C34878D82A}">
                    <a16:rowId xmlns:a16="http://schemas.microsoft.com/office/drawing/2014/main" val="4251195460"/>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Confirm Signor information.</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Discuss COBRA Administration. (if applicable)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Finalize COBRA Administration setup. (if applicable)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Confirm COBRA letter and packet mail dates. (if applicable)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extLst>
                  <a:ext uri="{0D108BD9-81ED-4DB2-BD59-A6C34878D82A}">
                    <a16:rowId xmlns:a16="http://schemas.microsoft.com/office/drawing/2014/main" val="2475153966"/>
                  </a:ext>
                </a:extLst>
              </a:tr>
              <a:tr h="456242">
                <a:tc>
                  <a:txBody>
                    <a:bodyPr/>
                    <a:lstStyle/>
                    <a:p>
                      <a:pPr marL="91440" algn="l" fontAlgn="b"/>
                      <a:r>
                        <a:rPr lang="en-US" sz="1050" b="0" i="0" u="none" strike="noStrike">
                          <a:solidFill>
                            <a:srgbClr val="000000"/>
                          </a:solidFill>
                          <a:effectLst/>
                          <a:latin typeface="Montserrat" panose="00000500000000000000" pitchFamily="2" charset="0"/>
                        </a:rPr>
                        <a:t>☐ Establish meeting schedule, frequency and set target dates.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Customer Service setup.</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Finalize EZ Benefits setup.</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Confirm all group setups are complete.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extLst>
                  <a:ext uri="{0D108BD9-81ED-4DB2-BD59-A6C34878D82A}">
                    <a16:rowId xmlns:a16="http://schemas.microsoft.com/office/drawing/2014/main" val="280364342"/>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Begin KBA Client Profile.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Review EDI Setup and initial eligibility file submission.</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Finalize ID Card setup.</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Confirm plan document has been signed.</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extLst>
                  <a:ext uri="{0D108BD9-81ED-4DB2-BD59-A6C34878D82A}">
                    <a16:rowId xmlns:a16="http://schemas.microsoft.com/office/drawing/2014/main" val="3816888982"/>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Request prior plan document.</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Schedule EDI meeting. (if applicable)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Finalize banking setups.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Deliver 1st Months Invoice and finalize.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extLst>
                  <a:ext uri="{0D108BD9-81ED-4DB2-BD59-A6C34878D82A}">
                    <a16:rowId xmlns:a16="http://schemas.microsoft.com/office/drawing/2014/main" val="792870920"/>
                  </a:ext>
                </a:extLst>
              </a:tr>
              <a:tr h="456242">
                <a:tc>
                  <a:txBody>
                    <a:bodyPr/>
                    <a:lstStyle/>
                    <a:p>
                      <a:pPr marL="91440" algn="l" fontAlgn="b"/>
                      <a:r>
                        <a:rPr lang="en-US" sz="1050" b="0" i="0" u="none" strike="noStrike">
                          <a:solidFill>
                            <a:srgbClr val="000000"/>
                          </a:solidFill>
                          <a:effectLst/>
                          <a:latin typeface="Montserrat" panose="00000500000000000000" pitchFamily="2" charset="0"/>
                        </a:rPr>
                        <a:t>☐ Review plan document, benefits and discuss changes.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Review EZ Benefits platform.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Finalize claims and EOB setups.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Deliver final reinsurance contract.</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extLst>
                  <a:ext uri="{0D108BD9-81ED-4DB2-BD59-A6C34878D82A}">
                    <a16:rowId xmlns:a16="http://schemas.microsoft.com/office/drawing/2014/main" val="3611913940"/>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Request claim file and accumulator data.</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ID Card setup, approval process and delivery expectations.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fr-FR" sz="1050" b="0" i="0" u="none" strike="noStrike">
                          <a:solidFill>
                            <a:srgbClr val="000000"/>
                          </a:solidFill>
                          <a:effectLst/>
                          <a:latin typeface="Montserrat" panose="00000500000000000000" pitchFamily="2" charset="0"/>
                        </a:rPr>
                        <a:t>☐ Finalize PBM Implementation.</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reporting needs for plan year.</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extLst>
                  <a:ext uri="{0D108BD9-81ED-4DB2-BD59-A6C34878D82A}">
                    <a16:rowId xmlns:a16="http://schemas.microsoft.com/office/drawing/2014/main" val="3113012601"/>
                  </a:ext>
                </a:extLst>
              </a:tr>
              <a:tr h="456242">
                <a:tc>
                  <a:txBody>
                    <a:bodyPr/>
                    <a:lstStyle/>
                    <a:p>
                      <a:pPr marL="91440" algn="l" fontAlgn="b"/>
                      <a:r>
                        <a:rPr lang="en-US" sz="1050" b="0" i="0" u="none" strike="noStrike">
                          <a:solidFill>
                            <a:srgbClr val="000000"/>
                          </a:solidFill>
                          <a:effectLst/>
                          <a:latin typeface="Montserrat" panose="00000500000000000000" pitchFamily="2" charset="0"/>
                        </a:rPr>
                        <a:t>☐ Review Fee Schedule, Implementation Fee.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Discuss Banking and Funding setup for monthly premiums and claims.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fr-FR" sz="1050" b="0" i="0" u="none" strike="noStrike">
                          <a:solidFill>
                            <a:srgbClr val="000000"/>
                          </a:solidFill>
                          <a:effectLst/>
                          <a:latin typeface="Montserrat" panose="00000500000000000000" pitchFamily="2" charset="0"/>
                        </a:rPr>
                        <a:t>☐ Finalize Plan Document.</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Complete full transition to Client Relationship Team for administration.</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extLst>
                  <a:ext uri="{0D108BD9-81ED-4DB2-BD59-A6C34878D82A}">
                    <a16:rowId xmlns:a16="http://schemas.microsoft.com/office/drawing/2014/main" val="133385302"/>
                  </a:ext>
                </a:extLst>
              </a:tr>
              <a:tr h="456242">
                <a:tc>
                  <a:txBody>
                    <a:bodyPr/>
                    <a:lstStyle/>
                    <a:p>
                      <a:pPr marL="91440" algn="l" fontAlgn="b"/>
                      <a:r>
                        <a:rPr lang="en-US" sz="1050" b="0" i="0" u="none" strike="noStrike">
                          <a:solidFill>
                            <a:srgbClr val="000000"/>
                          </a:solidFill>
                          <a:effectLst/>
                          <a:latin typeface="Montserrat" panose="00000500000000000000" pitchFamily="2" charset="0"/>
                        </a:rPr>
                        <a:t>☐ Discuss Notice of Termination to prior carrier and obtain copy.</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frequency of check runs, large dollar claims review, exception process and EOBs.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Review status of EDI setup. (if applicable)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extLst>
                  <a:ext uri="{0D108BD9-81ED-4DB2-BD59-A6C34878D82A}">
                    <a16:rowId xmlns:a16="http://schemas.microsoft.com/office/drawing/2014/main" val="87704553"/>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monthly premium billing preferences.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2296680499"/>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Begin PBM Implementation and schedule meetings.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1896308725"/>
                  </a:ext>
                </a:extLst>
              </a:tr>
              <a:tr h="155092">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Discuss vendor setup process.</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no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2291094394"/>
                  </a:ext>
                </a:extLst>
              </a:tr>
              <a:tr h="305667">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Review special programs. (if applicable)</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D9D9D9"/>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tc>
                  <a:txBody>
                    <a:bodyPr/>
                    <a:lstStyle/>
                    <a:p>
                      <a:pPr marL="91440" algn="l" fontAlgn="b"/>
                      <a:r>
                        <a:rPr lang="en-US" sz="1050" b="0" i="0" u="none" strike="noStrike">
                          <a:solidFill>
                            <a:srgbClr val="000000"/>
                          </a:solidFill>
                          <a:effectLst/>
                          <a:latin typeface="Montserrat" panose="00000500000000000000" pitchFamily="2" charset="0"/>
                        </a:rPr>
                        <a:t> </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4066858990"/>
                  </a:ext>
                </a:extLst>
              </a:tr>
              <a:tr h="180188">
                <a:tc gridSpan="4">
                  <a:txBody>
                    <a:bodyPr/>
                    <a:lstStyle/>
                    <a:p>
                      <a:pPr algn="ctr" fontAlgn="b"/>
                      <a:r>
                        <a:rPr lang="en-US" sz="1050" b="1" i="0" u="none" strike="noStrike">
                          <a:solidFill>
                            <a:schemeClr val="accent1">
                              <a:lumMod val="75000"/>
                            </a:schemeClr>
                          </a:solidFill>
                          <a:effectLst/>
                          <a:latin typeface="Montserrat" panose="00000500000000000000" pitchFamily="2" charset="0"/>
                        </a:rPr>
                        <a:t>Live Group Administration</a:t>
                      </a:r>
                    </a:p>
                  </a:txBody>
                  <a:tcPr marL="5486" marR="5486" marT="5486" marB="0" anchor="b">
                    <a:lnL w="12700" cap="flat" cmpd="sng" algn="ctr">
                      <a:solidFill>
                        <a:srgbClr val="ADADAD"/>
                      </a:solidFill>
                      <a:prstDash val="solid"/>
                      <a:round/>
                      <a:headEnd type="none" w="med" len="med"/>
                      <a:tailEnd type="none" w="med" len="med"/>
                    </a:lnL>
                    <a:lnR w="12700" cap="flat" cmpd="sng" algn="ctr">
                      <a:solidFill>
                        <a:srgbClr val="ADADAD"/>
                      </a:solidFill>
                      <a:prstDash val="solid"/>
                      <a:round/>
                      <a:headEnd type="none" w="med" len="med"/>
                      <a:tailEnd type="none" w="med" len="med"/>
                    </a:lnR>
                    <a:lnT w="12700" cap="flat" cmpd="sng" algn="ctr">
                      <a:solidFill>
                        <a:srgbClr val="ADADAD"/>
                      </a:solidFill>
                      <a:prstDash val="solid"/>
                      <a:round/>
                      <a:headEnd type="none" w="med" len="med"/>
                      <a:tailEnd type="none" w="med" len="med"/>
                    </a:lnT>
                    <a:lnB w="12700" cap="flat" cmpd="sng" algn="ctr">
                      <a:solidFill>
                        <a:srgbClr val="ADADAD"/>
                      </a:solidFill>
                      <a:prstDash val="solid"/>
                      <a:round/>
                      <a:headEnd type="none" w="med" len="med"/>
                      <a:tailEnd type="none" w="med" len="med"/>
                    </a:lnB>
                    <a:solidFill>
                      <a:srgbClr val="ECF9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62740940"/>
                  </a:ext>
                </a:extLst>
              </a:tr>
            </a:tbl>
          </a:graphicData>
        </a:graphic>
      </p:graphicFrame>
    </p:spTree>
    <p:extLst>
      <p:ext uri="{BB962C8B-B14F-4D97-AF65-F5344CB8AC3E}">
        <p14:creationId xmlns:p14="http://schemas.microsoft.com/office/powerpoint/2010/main" val="3479703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BD31-35CC-49B9-A03E-140D1797F39B}"/>
              </a:ext>
            </a:extLst>
          </p:cNvPr>
          <p:cNvSpPr>
            <a:spLocks noGrp="1"/>
          </p:cNvSpPr>
          <p:nvPr>
            <p:ph type="ctrTitle"/>
          </p:nvPr>
        </p:nvSpPr>
        <p:spPr>
          <a:xfrm>
            <a:off x="5990893" y="320635"/>
            <a:ext cx="5579260" cy="809680"/>
          </a:xfrm>
          <a:noFill/>
        </p:spPr>
        <p:txBody>
          <a:bodyPr anchor="t" anchorCtr="0">
            <a:noAutofit/>
          </a:bodyPr>
          <a:lstStyle/>
          <a:p>
            <a:r>
              <a:rPr lang="en-US" sz="2000" b="1" u="sng" spc="300">
                <a:solidFill>
                  <a:schemeClr val="bg1"/>
                </a:solidFill>
                <a:latin typeface="Arial" panose="020B0604020202020204" pitchFamily="34" charset="0"/>
                <a:cs typeface="Arial" panose="020B0604020202020204" pitchFamily="34" charset="0"/>
              </a:rPr>
              <a:t>Your Service Team</a:t>
            </a:r>
          </a:p>
        </p:txBody>
      </p:sp>
      <p:sp>
        <p:nvSpPr>
          <p:cNvPr id="25" name="Content Placeholder 8">
            <a:extLst>
              <a:ext uri="{FF2B5EF4-FFF2-40B4-BE49-F238E27FC236}">
                <a16:creationId xmlns:a16="http://schemas.microsoft.com/office/drawing/2014/main" id="{129F4ED2-7D72-4040-A224-F0618DB0D734}"/>
              </a:ext>
            </a:extLst>
          </p:cNvPr>
          <p:cNvSpPr txBox="1">
            <a:spLocks/>
          </p:cNvSpPr>
          <p:nvPr/>
        </p:nvSpPr>
        <p:spPr bwMode="white">
          <a:xfrm>
            <a:off x="6110257" y="214726"/>
            <a:ext cx="6032939" cy="5158553"/>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11">
              <a:lnSpc>
                <a:spcPct val="120000"/>
              </a:lnSpc>
              <a:spcBef>
                <a:spcPts val="100"/>
              </a:spcBef>
              <a:buNone/>
              <a:defRPr/>
            </a:pPr>
            <a:r>
              <a:rPr lang="en-US" sz="1801" b="1" spc="300">
                <a:latin typeface="Montserrat" panose="00000500000000000000" pitchFamily="2" charset="0"/>
              </a:rPr>
              <a:t>Availability &amp; Dedication</a:t>
            </a:r>
          </a:p>
          <a:p>
            <a:pPr marL="0" marR="5081" indent="0" defTabSz="914411">
              <a:lnSpc>
                <a:spcPct val="100000"/>
              </a:lnSpc>
              <a:spcBef>
                <a:spcPts val="601"/>
              </a:spcBef>
              <a:buNone/>
              <a:defRPr/>
            </a:pPr>
            <a:r>
              <a:rPr lang="en-US" sz="1801" spc="-14">
                <a:latin typeface="Montserrat" panose="00000500000000000000" pitchFamily="2" charset="0"/>
                <a:cs typeface="Arial"/>
              </a:rPr>
              <a:t>A dedicated and customized service team will be assigned to each account, with a focus on a WOW level of availability and responsiveness to their inquiries and needs. Our teams strive for partnerships that begin with trust and confidence. </a:t>
            </a:r>
          </a:p>
          <a:p>
            <a:pPr marL="0" marR="5081" indent="0" defTabSz="914411">
              <a:lnSpc>
                <a:spcPct val="100000"/>
              </a:lnSpc>
              <a:spcBef>
                <a:spcPts val="601"/>
              </a:spcBef>
              <a:buNone/>
              <a:defRPr/>
            </a:pPr>
            <a:endParaRPr lang="en-US" sz="1801" spc="-14">
              <a:latin typeface="Montserrat" panose="00000500000000000000" pitchFamily="2" charset="0"/>
              <a:cs typeface="Arial"/>
            </a:endParaRPr>
          </a:p>
          <a:p>
            <a:pPr marL="0" indent="0" defTabSz="914411">
              <a:spcBef>
                <a:spcPts val="100"/>
              </a:spcBef>
              <a:buNone/>
              <a:defRPr/>
            </a:pPr>
            <a:r>
              <a:rPr lang="en-US" sz="1801" b="1" spc="300">
                <a:latin typeface="Montserrat" panose="00000500000000000000" pitchFamily="2" charset="0"/>
              </a:rPr>
              <a:t>Superior Consulting</a:t>
            </a:r>
          </a:p>
          <a:p>
            <a:pPr marL="0" marR="5081" indent="0" defTabSz="914411">
              <a:spcBef>
                <a:spcPts val="601"/>
              </a:spcBef>
              <a:buNone/>
              <a:defRPr/>
            </a:pPr>
            <a:r>
              <a:rPr lang="en-US" sz="1801" spc="-14">
                <a:latin typeface="Montserrat" panose="00000500000000000000" pitchFamily="2" charset="0"/>
                <a:cs typeface="Arial"/>
              </a:rPr>
              <a:t>Expert consulting services are provided based on industry knowledge paired with the goals of the client and the objectives of the Direct to Employer platform. Data analytics are reviewed with clients quarterly and measured for key indicators, trends and successes. </a:t>
            </a:r>
          </a:p>
          <a:p>
            <a:pPr marL="228604" marR="5081" indent="-228604" defTabSz="914411">
              <a:spcBef>
                <a:spcPts val="601"/>
              </a:spcBef>
              <a:defRPr/>
            </a:pPr>
            <a:endParaRPr lang="en-US" sz="1801" spc="-14">
              <a:latin typeface="Montserrat" panose="00000500000000000000" pitchFamily="2" charset="0"/>
              <a:cs typeface="Arial"/>
            </a:endParaRPr>
          </a:p>
          <a:p>
            <a:pPr marL="0" indent="0" defTabSz="914411">
              <a:lnSpc>
                <a:spcPct val="120000"/>
              </a:lnSpc>
              <a:spcBef>
                <a:spcPts val="100"/>
              </a:spcBef>
              <a:buNone/>
              <a:defRPr/>
            </a:pPr>
            <a:r>
              <a:rPr lang="en-US" sz="1801" b="1" spc="300">
                <a:latin typeface="Montserrat" panose="00000500000000000000" pitchFamily="2" charset="0"/>
              </a:rPr>
              <a:t>Custom Solutions</a:t>
            </a:r>
          </a:p>
          <a:p>
            <a:pPr marL="0" marR="5081" indent="0" defTabSz="914411">
              <a:lnSpc>
                <a:spcPct val="100000"/>
              </a:lnSpc>
              <a:spcBef>
                <a:spcPts val="601"/>
              </a:spcBef>
              <a:buNone/>
              <a:defRPr/>
            </a:pPr>
            <a:r>
              <a:rPr lang="en-US" sz="1801" spc="-14">
                <a:latin typeface="Montserrat" panose="00000500000000000000" pitchFamily="2" charset="0"/>
                <a:cs typeface="Arial"/>
              </a:rPr>
              <a:t>An intimate knowledge of each client’s goals, challenges and industry allows us to partner with them to analyze the benefit plan offering and execute specific risk and cost management strategies to fit their needs.</a:t>
            </a:r>
          </a:p>
          <a:p>
            <a:pPr marL="0" marR="5081" indent="0" defTabSz="914411">
              <a:lnSpc>
                <a:spcPct val="100000"/>
              </a:lnSpc>
              <a:spcBef>
                <a:spcPts val="601"/>
              </a:spcBef>
              <a:buNone/>
              <a:defRPr/>
            </a:pPr>
            <a:endParaRPr lang="en-US" sz="1700" spc="-14">
              <a:latin typeface="Montserrat" panose="00000500000000000000" pitchFamily="2" charset="0"/>
              <a:cs typeface="Arial"/>
            </a:endParaRPr>
          </a:p>
        </p:txBody>
      </p:sp>
      <p:sp>
        <p:nvSpPr>
          <p:cNvPr id="29" name="Content Placeholder 9">
            <a:extLst>
              <a:ext uri="{FF2B5EF4-FFF2-40B4-BE49-F238E27FC236}">
                <a16:creationId xmlns:a16="http://schemas.microsoft.com/office/drawing/2014/main" id="{272326F2-0782-440D-A1B6-F7D90970E984}"/>
              </a:ext>
            </a:extLst>
          </p:cNvPr>
          <p:cNvSpPr txBox="1">
            <a:spLocks/>
          </p:cNvSpPr>
          <p:nvPr/>
        </p:nvSpPr>
        <p:spPr bwMode="white">
          <a:xfrm>
            <a:off x="6313317" y="4614932"/>
            <a:ext cx="5626821" cy="19224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11">
              <a:lnSpc>
                <a:spcPct val="120000"/>
              </a:lnSpc>
              <a:spcBef>
                <a:spcPts val="100"/>
              </a:spcBef>
              <a:buNone/>
              <a:defRPr/>
            </a:pPr>
            <a:endParaRPr lang="en-US" sz="1801" i="1" spc="-14">
              <a:solidFill>
                <a:prstClr val="black"/>
              </a:solidFill>
              <a:latin typeface="Calibri" panose="020F0502020204030204"/>
              <a:cs typeface="Arial"/>
            </a:endParaRPr>
          </a:p>
        </p:txBody>
      </p:sp>
    </p:spTree>
    <p:extLst>
      <p:ext uri="{BB962C8B-B14F-4D97-AF65-F5344CB8AC3E}">
        <p14:creationId xmlns:p14="http://schemas.microsoft.com/office/powerpoint/2010/main" val="325674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BD31-35CC-49B9-A03E-140D1797F39B}"/>
              </a:ext>
            </a:extLst>
          </p:cNvPr>
          <p:cNvSpPr>
            <a:spLocks noGrp="1"/>
          </p:cNvSpPr>
          <p:nvPr>
            <p:ph type="ctrTitle"/>
          </p:nvPr>
        </p:nvSpPr>
        <p:spPr>
          <a:xfrm>
            <a:off x="5878689" y="104658"/>
            <a:ext cx="6310380" cy="809680"/>
          </a:xfrm>
          <a:noFill/>
        </p:spPr>
        <p:txBody>
          <a:bodyPr anchor="t" anchorCtr="0">
            <a:noAutofit/>
          </a:bodyPr>
          <a:lstStyle/>
          <a:p>
            <a:r>
              <a:rPr lang="en-US" sz="2000" b="1" u="sng" spc="300">
                <a:solidFill>
                  <a:schemeClr val="bg1"/>
                </a:solidFill>
                <a:latin typeface="Arial" panose="020B0604020202020204" pitchFamily="34" charset="0"/>
                <a:cs typeface="Arial" panose="020B0604020202020204" pitchFamily="34" charset="0"/>
              </a:rPr>
              <a:t>The Customized Development of the KBA Service Team</a:t>
            </a:r>
          </a:p>
        </p:txBody>
      </p:sp>
      <p:sp>
        <p:nvSpPr>
          <p:cNvPr id="25" name="Content Placeholder 8">
            <a:extLst>
              <a:ext uri="{FF2B5EF4-FFF2-40B4-BE49-F238E27FC236}">
                <a16:creationId xmlns:a16="http://schemas.microsoft.com/office/drawing/2014/main" id="{129F4ED2-7D72-4040-A224-F0618DB0D734}"/>
              </a:ext>
            </a:extLst>
          </p:cNvPr>
          <p:cNvSpPr txBox="1">
            <a:spLocks/>
          </p:cNvSpPr>
          <p:nvPr/>
        </p:nvSpPr>
        <p:spPr bwMode="white">
          <a:xfrm>
            <a:off x="5901627" y="176981"/>
            <a:ext cx="6264505" cy="6427019"/>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11">
              <a:lnSpc>
                <a:spcPct val="100000"/>
              </a:lnSpc>
              <a:spcBef>
                <a:spcPts val="0"/>
              </a:spcBef>
              <a:buNone/>
              <a:defRPr/>
            </a:pPr>
            <a:r>
              <a:rPr lang="en-US" sz="2400" b="1" u="sng">
                <a:latin typeface="Montserrat" panose="00000500000000000000" pitchFamily="2" charset="0"/>
              </a:rPr>
              <a:t>Client Service Team Development Process</a:t>
            </a:r>
          </a:p>
          <a:p>
            <a:pPr marL="0" indent="0" defTabSz="914411">
              <a:lnSpc>
                <a:spcPct val="100000"/>
              </a:lnSpc>
              <a:spcBef>
                <a:spcPts val="0"/>
              </a:spcBef>
              <a:buNone/>
              <a:defRPr/>
            </a:pPr>
            <a:endParaRPr lang="en-US" sz="1100" b="1">
              <a:latin typeface="Montserrat" panose="00000500000000000000" pitchFamily="2" charset="0"/>
            </a:endParaRPr>
          </a:p>
          <a:p>
            <a:pPr marL="0" indent="0" defTabSz="914411">
              <a:lnSpc>
                <a:spcPct val="100000"/>
              </a:lnSpc>
              <a:spcBef>
                <a:spcPts val="0"/>
              </a:spcBef>
              <a:spcAft>
                <a:spcPts val="601"/>
              </a:spcAft>
              <a:buNone/>
              <a:defRPr/>
            </a:pPr>
            <a:r>
              <a:rPr lang="en-US" sz="1801" b="1">
                <a:latin typeface="Montserrat" panose="00000500000000000000" pitchFamily="2" charset="0"/>
              </a:rPr>
              <a:t>Client Team and KBA Introduction and Acquaintance</a:t>
            </a:r>
          </a:p>
          <a:p>
            <a:pPr marL="742959" lvl="1" indent="-285753" defTabSz="914411">
              <a:lnSpc>
                <a:spcPct val="100000"/>
              </a:lnSpc>
              <a:spcBef>
                <a:spcPts val="0"/>
              </a:spcBef>
              <a:buFont typeface="Wingdings" panose="05000000000000000000" pitchFamily="2" charset="2"/>
              <a:buChar char="§"/>
              <a:defRPr/>
            </a:pPr>
            <a:r>
              <a:rPr lang="en-US" sz="1401">
                <a:latin typeface="Montserrat" panose="00000500000000000000" pitchFamily="2" charset="0"/>
              </a:rPr>
              <a:t>On site visit to the client by VP, Client Relations</a:t>
            </a:r>
          </a:p>
          <a:p>
            <a:pPr marL="1200164" lvl="2" indent="-285753" defTabSz="914411">
              <a:lnSpc>
                <a:spcPct val="100000"/>
              </a:lnSpc>
              <a:spcBef>
                <a:spcPts val="0"/>
              </a:spcBef>
              <a:buFont typeface="Wingdings" panose="05000000000000000000" pitchFamily="2" charset="2"/>
              <a:buChar char="§"/>
              <a:defRPr/>
            </a:pPr>
            <a:r>
              <a:rPr lang="en-US" sz="1401">
                <a:latin typeface="Montserrat" panose="00000500000000000000" pitchFamily="2" charset="0"/>
              </a:rPr>
              <a:t>Education on Roles of the HR Team and Their Goals and Objectives</a:t>
            </a:r>
          </a:p>
          <a:p>
            <a:pPr marL="1200164" lvl="2" indent="-285753" defTabSz="914411">
              <a:lnSpc>
                <a:spcPct val="100000"/>
              </a:lnSpc>
              <a:spcBef>
                <a:spcPts val="0"/>
              </a:spcBef>
              <a:buFont typeface="Wingdings" panose="05000000000000000000" pitchFamily="2" charset="2"/>
              <a:buChar char="§"/>
              <a:defRPr/>
            </a:pPr>
            <a:r>
              <a:rPr lang="en-US" sz="1401">
                <a:latin typeface="Montserrat" panose="00000500000000000000" pitchFamily="2" charset="0"/>
              </a:rPr>
              <a:t>Collaboration on Wants and Needs of the HR Team to Include Reporting,  Data and Support Expectations</a:t>
            </a:r>
          </a:p>
          <a:p>
            <a:pPr marL="1200164" lvl="2" indent="-285753" defTabSz="914411">
              <a:lnSpc>
                <a:spcPct val="100000"/>
              </a:lnSpc>
              <a:spcBef>
                <a:spcPts val="0"/>
              </a:spcBef>
              <a:buFont typeface="Wingdings" panose="05000000000000000000" pitchFamily="2" charset="2"/>
              <a:buChar char="§"/>
              <a:defRPr/>
            </a:pPr>
            <a:r>
              <a:rPr lang="en-US" sz="1401">
                <a:latin typeface="Montserrat" panose="00000500000000000000" pitchFamily="2" charset="0"/>
              </a:rPr>
              <a:t>Identify the Frequency and Format of In-Depth Plan Performance Reviews and Analytics</a:t>
            </a:r>
          </a:p>
          <a:p>
            <a:pPr marL="0" indent="0" defTabSz="914411">
              <a:lnSpc>
                <a:spcPct val="100000"/>
              </a:lnSpc>
              <a:spcBef>
                <a:spcPts val="0"/>
              </a:spcBef>
              <a:spcAft>
                <a:spcPts val="601"/>
              </a:spcAft>
              <a:buNone/>
              <a:defRPr/>
            </a:pPr>
            <a:r>
              <a:rPr lang="en-US" sz="1801" b="1">
                <a:latin typeface="Montserrat" panose="00000500000000000000" pitchFamily="2" charset="0"/>
              </a:rPr>
              <a:t>Tailored KBA  Service Team</a:t>
            </a:r>
          </a:p>
          <a:p>
            <a:pPr marL="742959" lvl="1" indent="-285753" defTabSz="914411">
              <a:lnSpc>
                <a:spcPct val="100000"/>
              </a:lnSpc>
              <a:spcBef>
                <a:spcPts val="0"/>
              </a:spcBef>
              <a:spcAft>
                <a:spcPts val="601"/>
              </a:spcAft>
              <a:buFont typeface="Wingdings" panose="05000000000000000000" pitchFamily="2" charset="2"/>
              <a:buChar char="§"/>
              <a:defRPr/>
            </a:pPr>
            <a:r>
              <a:rPr lang="en-US" sz="1401">
                <a:latin typeface="Montserrat" panose="00000500000000000000" pitchFamily="2" charset="0"/>
              </a:rPr>
              <a:t>Service Team will be Customized and Assigned Based on the Wants, Needs and Expectations of Each Client, as Well as the Assessment Above.</a:t>
            </a:r>
          </a:p>
          <a:p>
            <a:pPr marL="742959" lvl="1" indent="-285753" defTabSz="914411">
              <a:lnSpc>
                <a:spcPct val="100000"/>
              </a:lnSpc>
              <a:spcBef>
                <a:spcPts val="0"/>
              </a:spcBef>
              <a:spcAft>
                <a:spcPts val="601"/>
              </a:spcAft>
              <a:buFont typeface="Wingdings" panose="05000000000000000000" pitchFamily="2" charset="2"/>
              <a:buChar char="§"/>
              <a:defRPr/>
            </a:pPr>
            <a:r>
              <a:rPr lang="en-US" sz="1401">
                <a:latin typeface="Montserrat" panose="00000500000000000000" pitchFamily="2" charset="0"/>
              </a:rPr>
              <a:t>Identifying Key Characteristics of the Client’s Leadership and HR Team in Conjunction with the Evaluation of the KBA Team to Apply the Appropriate Level of Expertise and Support</a:t>
            </a:r>
          </a:p>
          <a:p>
            <a:pPr marL="0" indent="0" defTabSz="914411">
              <a:lnSpc>
                <a:spcPct val="100000"/>
              </a:lnSpc>
              <a:spcBef>
                <a:spcPts val="0"/>
              </a:spcBef>
              <a:spcAft>
                <a:spcPts val="601"/>
              </a:spcAft>
              <a:buNone/>
              <a:defRPr/>
            </a:pPr>
            <a:r>
              <a:rPr lang="en-US" sz="1801" b="1">
                <a:latin typeface="Montserrat" panose="00000500000000000000" pitchFamily="2" charset="0"/>
              </a:rPr>
              <a:t>Continued Team Growth</a:t>
            </a:r>
          </a:p>
          <a:p>
            <a:pPr marL="742959" lvl="1" indent="-285753" defTabSz="914411">
              <a:lnSpc>
                <a:spcPct val="100000"/>
              </a:lnSpc>
              <a:spcBef>
                <a:spcPts val="0"/>
              </a:spcBef>
              <a:buFont typeface="Wingdings" panose="05000000000000000000" pitchFamily="2" charset="2"/>
              <a:buChar char="§"/>
              <a:defRPr/>
            </a:pPr>
            <a:r>
              <a:rPr lang="en-US" sz="1401">
                <a:latin typeface="Montserrat" panose="00000500000000000000" pitchFamily="2" charset="0"/>
              </a:rPr>
              <a:t>As the Process of Consulting, Data Analytics and Day to Day Service Progress, Additional Resources Will Be Assessed and Introduced to Clients as Needed</a:t>
            </a:r>
          </a:p>
        </p:txBody>
      </p:sp>
      <p:sp>
        <p:nvSpPr>
          <p:cNvPr id="29" name="Content Placeholder 9">
            <a:extLst>
              <a:ext uri="{FF2B5EF4-FFF2-40B4-BE49-F238E27FC236}">
                <a16:creationId xmlns:a16="http://schemas.microsoft.com/office/drawing/2014/main" id="{272326F2-0782-440D-A1B6-F7D90970E984}"/>
              </a:ext>
            </a:extLst>
          </p:cNvPr>
          <p:cNvSpPr txBox="1">
            <a:spLocks/>
          </p:cNvSpPr>
          <p:nvPr/>
        </p:nvSpPr>
        <p:spPr bwMode="white">
          <a:xfrm>
            <a:off x="6349390" y="4595494"/>
            <a:ext cx="5626821" cy="19224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11">
              <a:lnSpc>
                <a:spcPct val="120000"/>
              </a:lnSpc>
              <a:spcBef>
                <a:spcPts val="100"/>
              </a:spcBef>
              <a:buNone/>
              <a:defRPr/>
            </a:pPr>
            <a:endParaRPr lang="en-US" sz="1801" i="1" spc="-14">
              <a:solidFill>
                <a:prstClr val="black"/>
              </a:solidFill>
              <a:latin typeface="Calibri" panose="020F0502020204030204"/>
              <a:cs typeface="Arial"/>
            </a:endParaRPr>
          </a:p>
        </p:txBody>
      </p:sp>
    </p:spTree>
    <p:extLst>
      <p:ext uri="{BB962C8B-B14F-4D97-AF65-F5344CB8AC3E}">
        <p14:creationId xmlns:p14="http://schemas.microsoft.com/office/powerpoint/2010/main" val="806984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BD31-35CC-49B9-A03E-140D1797F39B}"/>
              </a:ext>
            </a:extLst>
          </p:cNvPr>
          <p:cNvSpPr>
            <a:spLocks noGrp="1"/>
          </p:cNvSpPr>
          <p:nvPr>
            <p:ph type="ctrTitle"/>
          </p:nvPr>
        </p:nvSpPr>
        <p:spPr>
          <a:xfrm>
            <a:off x="5881621" y="354146"/>
            <a:ext cx="6310380" cy="809680"/>
          </a:xfrm>
          <a:noFill/>
        </p:spPr>
        <p:txBody>
          <a:bodyPr anchor="t" anchorCtr="0">
            <a:noAutofit/>
          </a:bodyPr>
          <a:lstStyle/>
          <a:p>
            <a:r>
              <a:rPr lang="en-US" sz="2000" b="1" u="sng" spc="300">
                <a:solidFill>
                  <a:schemeClr val="bg1"/>
                </a:solidFill>
                <a:latin typeface="Arial" panose="020B0604020202020204" pitchFamily="34" charset="0"/>
                <a:cs typeface="Arial" panose="020B0604020202020204" pitchFamily="34" charset="0"/>
              </a:rPr>
              <a:t>What Clients Can Expect </a:t>
            </a:r>
            <a:br>
              <a:rPr lang="en-US" sz="2000" b="1" u="sng" spc="300">
                <a:solidFill>
                  <a:schemeClr val="bg1"/>
                </a:solidFill>
                <a:latin typeface="Arial" panose="020B0604020202020204" pitchFamily="34" charset="0"/>
                <a:cs typeface="Arial" panose="020B0604020202020204" pitchFamily="34" charset="0"/>
              </a:rPr>
            </a:br>
            <a:r>
              <a:rPr lang="en-US" sz="2000" b="1" u="sng" spc="300">
                <a:solidFill>
                  <a:schemeClr val="bg1"/>
                </a:solidFill>
                <a:latin typeface="Arial" panose="020B0604020202020204" pitchFamily="34" charset="0"/>
                <a:cs typeface="Arial" panose="020B0604020202020204" pitchFamily="34" charset="0"/>
              </a:rPr>
              <a:t>From Our Service Team</a:t>
            </a:r>
          </a:p>
        </p:txBody>
      </p:sp>
      <p:sp>
        <p:nvSpPr>
          <p:cNvPr id="25" name="Content Placeholder 8">
            <a:extLst>
              <a:ext uri="{FF2B5EF4-FFF2-40B4-BE49-F238E27FC236}">
                <a16:creationId xmlns:a16="http://schemas.microsoft.com/office/drawing/2014/main" id="{129F4ED2-7D72-4040-A224-F0618DB0D734}"/>
              </a:ext>
            </a:extLst>
          </p:cNvPr>
          <p:cNvSpPr txBox="1">
            <a:spLocks/>
          </p:cNvSpPr>
          <p:nvPr/>
        </p:nvSpPr>
        <p:spPr bwMode="white">
          <a:xfrm>
            <a:off x="5816960" y="762759"/>
            <a:ext cx="6264505" cy="3491739"/>
          </a:xfrm>
          <a:prstGeom prst="rect">
            <a:avLst/>
          </a:prstGeom>
          <a:noFill/>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11">
              <a:lnSpc>
                <a:spcPct val="100000"/>
              </a:lnSpc>
              <a:spcBef>
                <a:spcPts val="0"/>
              </a:spcBef>
              <a:buNone/>
              <a:defRPr/>
            </a:pPr>
            <a:r>
              <a:rPr lang="en-US" sz="1800" b="1" u="sng">
                <a:latin typeface="Montserrat" panose="00000500000000000000" pitchFamily="2" charset="0"/>
              </a:rPr>
              <a:t>Consistent and Structured Communication Touchpoints</a:t>
            </a:r>
            <a:r>
              <a:rPr lang="en-US" sz="2400" b="1">
                <a:latin typeface="Montserrat" panose="00000500000000000000" pitchFamily="2" charset="0"/>
              </a:rPr>
              <a:t> </a:t>
            </a:r>
            <a:r>
              <a:rPr lang="en-US" sz="1800" b="1">
                <a:latin typeface="Montserrat" panose="00000500000000000000" pitchFamily="2" charset="0"/>
              </a:rPr>
              <a:t> </a:t>
            </a:r>
            <a:endParaRPr lang="en-US">
              <a:latin typeface="Montserrat" panose="00000500000000000000" pitchFamily="2" charset="0"/>
            </a:endParaRPr>
          </a:p>
          <a:p>
            <a:pPr marL="0" indent="0" defTabSz="914411">
              <a:lnSpc>
                <a:spcPct val="100000"/>
              </a:lnSpc>
              <a:spcBef>
                <a:spcPts val="0"/>
              </a:spcBef>
              <a:buNone/>
              <a:defRPr/>
            </a:pPr>
            <a:endParaRPr lang="en-US" sz="1100" b="1">
              <a:latin typeface="Montserrat" panose="00000500000000000000" pitchFamily="2" charset="0"/>
            </a:endParaRPr>
          </a:p>
          <a:p>
            <a:pPr marL="0" indent="0" defTabSz="914411">
              <a:lnSpc>
                <a:spcPct val="100000"/>
              </a:lnSpc>
              <a:spcBef>
                <a:spcPts val="0"/>
              </a:spcBef>
              <a:spcAft>
                <a:spcPts val="601"/>
              </a:spcAft>
              <a:buNone/>
              <a:defRPr/>
            </a:pPr>
            <a:r>
              <a:rPr lang="en-US" sz="1801" b="1">
                <a:latin typeface="Montserrat" panose="00000500000000000000" pitchFamily="2" charset="0"/>
              </a:rPr>
              <a:t>Quarterly Meetings with a Focus On:</a:t>
            </a:r>
          </a:p>
          <a:p>
            <a:pPr marL="742950" lvl="1" indent="-285750" defTabSz="914411">
              <a:lnSpc>
                <a:spcPct val="100000"/>
              </a:lnSpc>
              <a:spcBef>
                <a:spcPts val="0"/>
              </a:spcBef>
              <a:buFont typeface="Wingdings" panose="05000000000000000000" pitchFamily="2" charset="2"/>
              <a:buChar char="§"/>
              <a:defRPr/>
            </a:pPr>
            <a:r>
              <a:rPr lang="en-US" sz="1600">
                <a:latin typeface="Montserrat" panose="00000500000000000000" pitchFamily="2" charset="0"/>
              </a:rPr>
              <a:t>Plan Performance</a:t>
            </a:r>
            <a:endParaRPr lang="en-US" sz="1600">
              <a:latin typeface="Montserrat" panose="00000500000000000000" pitchFamily="2" charset="0"/>
              <a:ea typeface="Calibri" panose="020F0502020204030204"/>
              <a:cs typeface="Calibri" panose="020F0502020204030204"/>
            </a:endParaRPr>
          </a:p>
          <a:p>
            <a:pPr marL="742950" lvl="1" indent="-285750" defTabSz="914411">
              <a:lnSpc>
                <a:spcPct val="100000"/>
              </a:lnSpc>
              <a:spcBef>
                <a:spcPts val="0"/>
              </a:spcBef>
              <a:buFont typeface="Wingdings" panose="05000000000000000000" pitchFamily="2" charset="2"/>
              <a:buChar char="§"/>
              <a:defRPr/>
            </a:pPr>
            <a:r>
              <a:rPr lang="en-US" sz="1600">
                <a:latin typeface="Montserrat" panose="00000500000000000000" pitchFamily="2" charset="0"/>
              </a:rPr>
              <a:t>Risk Management and Reporting</a:t>
            </a:r>
            <a:endParaRPr lang="en-US" sz="1600">
              <a:latin typeface="Montserrat" panose="00000500000000000000" pitchFamily="2" charset="0"/>
              <a:ea typeface="Calibri" panose="020F0502020204030204"/>
              <a:cs typeface="Calibri" panose="020F0502020204030204"/>
            </a:endParaRPr>
          </a:p>
          <a:p>
            <a:pPr marL="742950" lvl="1" indent="-285750" defTabSz="914411">
              <a:lnSpc>
                <a:spcPct val="100000"/>
              </a:lnSpc>
              <a:spcBef>
                <a:spcPts val="0"/>
              </a:spcBef>
              <a:buFont typeface="Wingdings" panose="05000000000000000000" pitchFamily="2" charset="2"/>
              <a:buChar char="§"/>
              <a:defRPr/>
            </a:pPr>
            <a:r>
              <a:rPr lang="en-US" sz="1600">
                <a:latin typeface="Montserrat" panose="00000500000000000000" pitchFamily="2" charset="0"/>
              </a:rPr>
              <a:t>Health and Wellness Initiatives</a:t>
            </a:r>
            <a:endParaRPr lang="en-US" sz="1600">
              <a:latin typeface="Montserrat" panose="00000500000000000000" pitchFamily="2" charset="0"/>
              <a:ea typeface="Calibri" panose="020F0502020204030204"/>
              <a:cs typeface="Calibri" panose="020F0502020204030204"/>
            </a:endParaRPr>
          </a:p>
          <a:p>
            <a:pPr marL="742950" lvl="1" indent="-285750" defTabSz="914411">
              <a:lnSpc>
                <a:spcPct val="100000"/>
              </a:lnSpc>
              <a:spcBef>
                <a:spcPts val="0"/>
              </a:spcBef>
              <a:spcAft>
                <a:spcPts val="601"/>
              </a:spcAft>
              <a:buFont typeface="Wingdings" panose="05000000000000000000" pitchFamily="2" charset="2"/>
              <a:buChar char="§"/>
              <a:defRPr/>
            </a:pPr>
            <a:r>
              <a:rPr lang="en-US" sz="1600">
                <a:latin typeface="Montserrat" panose="00000500000000000000" pitchFamily="2" charset="0"/>
              </a:rPr>
              <a:t>Analytical Analysis with Recommendations and Solutions Developed Upon the Specific Client Data and Objectives</a:t>
            </a:r>
            <a:endParaRPr lang="en-US" sz="1600">
              <a:latin typeface="Montserrat" panose="00000500000000000000" pitchFamily="2" charset="0"/>
              <a:ea typeface="Calibri" panose="020F0502020204030204"/>
              <a:cs typeface="Calibri" panose="020F0502020204030204"/>
            </a:endParaRPr>
          </a:p>
          <a:p>
            <a:pPr marL="0" indent="0" defTabSz="914411">
              <a:lnSpc>
                <a:spcPct val="100000"/>
              </a:lnSpc>
              <a:spcBef>
                <a:spcPts val="0"/>
              </a:spcBef>
              <a:spcAft>
                <a:spcPts val="601"/>
              </a:spcAft>
              <a:buNone/>
              <a:defRPr/>
            </a:pPr>
            <a:r>
              <a:rPr lang="en-US" sz="1801">
                <a:latin typeface="Montserrat" panose="00000500000000000000" pitchFamily="2" charset="0"/>
              </a:rPr>
              <a:t> </a:t>
            </a:r>
            <a:r>
              <a:rPr lang="en-US" sz="1801" b="1">
                <a:latin typeface="Montserrat" panose="00000500000000000000" pitchFamily="2" charset="0"/>
              </a:rPr>
              <a:t>3 Year Healthcare Strategy</a:t>
            </a:r>
          </a:p>
          <a:p>
            <a:pPr marL="742950" lvl="1" indent="-285750" defTabSz="914411">
              <a:lnSpc>
                <a:spcPct val="100000"/>
              </a:lnSpc>
              <a:spcBef>
                <a:spcPts val="0"/>
              </a:spcBef>
              <a:spcAft>
                <a:spcPts val="601"/>
              </a:spcAft>
              <a:buFont typeface="Wingdings" panose="05000000000000000000" pitchFamily="2" charset="2"/>
              <a:buChar char="§"/>
              <a:defRPr/>
            </a:pPr>
            <a:r>
              <a:rPr lang="en-US" sz="1600">
                <a:latin typeface="Montserrat" panose="00000500000000000000" pitchFamily="2" charset="0"/>
              </a:rPr>
              <a:t>Partnering With Each Client to Develop a 3 Year Healthcare Strategy Based Upon Plan Utilization and Costs, Provider Steerage, Plan Design, Wellness Initiatives and Employee Engagement</a:t>
            </a:r>
            <a:endParaRPr lang="en-US" sz="1600">
              <a:latin typeface="Montserrat" panose="00000500000000000000" pitchFamily="2" charset="0"/>
              <a:ea typeface="Calibri" panose="020F0502020204030204"/>
              <a:cs typeface="Calibri" panose="020F0502020204030204"/>
            </a:endParaRPr>
          </a:p>
          <a:p>
            <a:pPr marL="0" indent="0" defTabSz="914411">
              <a:lnSpc>
                <a:spcPct val="100000"/>
              </a:lnSpc>
              <a:spcBef>
                <a:spcPts val="0"/>
              </a:spcBef>
              <a:spcAft>
                <a:spcPts val="601"/>
              </a:spcAft>
              <a:buNone/>
              <a:defRPr/>
            </a:pPr>
            <a:r>
              <a:rPr lang="en-US" sz="1801">
                <a:latin typeface="Montserrat" panose="00000500000000000000" pitchFamily="2" charset="0"/>
              </a:rPr>
              <a:t> </a:t>
            </a:r>
            <a:r>
              <a:rPr lang="en-US" sz="1801" b="1">
                <a:latin typeface="Montserrat" panose="00000500000000000000" pitchFamily="2" charset="0"/>
              </a:rPr>
              <a:t>Compliance Guidance</a:t>
            </a:r>
          </a:p>
          <a:p>
            <a:pPr marL="742950" lvl="1" indent="-285750" defTabSz="914411">
              <a:lnSpc>
                <a:spcPct val="100000"/>
              </a:lnSpc>
              <a:spcBef>
                <a:spcPts val="0"/>
              </a:spcBef>
              <a:buFont typeface="Wingdings" panose="05000000000000000000" pitchFamily="2" charset="2"/>
              <a:buChar char="§"/>
              <a:defRPr/>
            </a:pPr>
            <a:r>
              <a:rPr lang="en-US" sz="1600">
                <a:latin typeface="Montserrat" panose="00000500000000000000" pitchFamily="2" charset="0"/>
              </a:rPr>
              <a:t>Recommendations and suggestions based on required compliance items </a:t>
            </a:r>
            <a:endParaRPr lang="en-US" sz="1600">
              <a:latin typeface="Montserrat" panose="00000500000000000000" pitchFamily="2" charset="0"/>
              <a:ea typeface="Calibri" panose="020F0502020204030204"/>
              <a:cs typeface="Calibri" panose="020F0502020204030204"/>
            </a:endParaRPr>
          </a:p>
        </p:txBody>
      </p:sp>
      <p:sp>
        <p:nvSpPr>
          <p:cNvPr id="29" name="Content Placeholder 9">
            <a:extLst>
              <a:ext uri="{FF2B5EF4-FFF2-40B4-BE49-F238E27FC236}">
                <a16:creationId xmlns:a16="http://schemas.microsoft.com/office/drawing/2014/main" id="{272326F2-0782-440D-A1B6-F7D90970E984}"/>
              </a:ext>
            </a:extLst>
          </p:cNvPr>
          <p:cNvSpPr txBox="1">
            <a:spLocks/>
          </p:cNvSpPr>
          <p:nvPr/>
        </p:nvSpPr>
        <p:spPr bwMode="white">
          <a:xfrm>
            <a:off x="6313317" y="4614932"/>
            <a:ext cx="5626821" cy="19224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11">
              <a:lnSpc>
                <a:spcPct val="120000"/>
              </a:lnSpc>
              <a:spcBef>
                <a:spcPts val="100"/>
              </a:spcBef>
              <a:buNone/>
              <a:defRPr/>
            </a:pPr>
            <a:endParaRPr lang="en-US" sz="1801" i="1" spc="-14">
              <a:solidFill>
                <a:prstClr val="black"/>
              </a:solidFill>
              <a:latin typeface="Calibri" panose="020F0502020204030204"/>
              <a:cs typeface="Arial"/>
            </a:endParaRPr>
          </a:p>
        </p:txBody>
      </p:sp>
    </p:spTree>
    <p:extLst>
      <p:ext uri="{BB962C8B-B14F-4D97-AF65-F5344CB8AC3E}">
        <p14:creationId xmlns:p14="http://schemas.microsoft.com/office/powerpoint/2010/main" val="2984450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08156ED-6BAC-4C8E-D60E-750072741D78}"/>
              </a:ext>
            </a:extLst>
          </p:cNvPr>
          <p:cNvSpPr/>
          <p:nvPr/>
        </p:nvSpPr>
        <p:spPr>
          <a:xfrm rot="16200000" flipV="1">
            <a:off x="2769842" y="-2290870"/>
            <a:ext cx="6391060" cy="11930747"/>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chemeClr val="bg1">
              <a:lumMod val="8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sz="1801">
              <a:solidFill>
                <a:prstClr val="white"/>
              </a:solidFill>
              <a:latin typeface="Calibri" panose="020F0502020204030204"/>
            </a:endParaRPr>
          </a:p>
        </p:txBody>
      </p:sp>
      <p:sp>
        <p:nvSpPr>
          <p:cNvPr id="2" name="Title 1">
            <a:extLst>
              <a:ext uri="{FF2B5EF4-FFF2-40B4-BE49-F238E27FC236}">
                <a16:creationId xmlns:a16="http://schemas.microsoft.com/office/drawing/2014/main" id="{B9601239-08BC-4D87-AAA4-3EA4870E8DA7}"/>
              </a:ext>
            </a:extLst>
          </p:cNvPr>
          <p:cNvSpPr>
            <a:spLocks noGrp="1"/>
          </p:cNvSpPr>
          <p:nvPr>
            <p:ph type="title"/>
          </p:nvPr>
        </p:nvSpPr>
        <p:spPr>
          <a:xfrm>
            <a:off x="0" y="92643"/>
            <a:ext cx="12192000" cy="560034"/>
          </a:xfrm>
        </p:spPr>
        <p:txBody>
          <a:bodyPr>
            <a:noAutofit/>
          </a:bodyPr>
          <a:lstStyle/>
          <a:p>
            <a:pPr algn="ctr"/>
            <a:r>
              <a:rPr lang="en-US" sz="2400" b="1" spc="300">
                <a:solidFill>
                  <a:srgbClr val="0076A9"/>
                </a:solidFill>
                <a:cs typeface="Arial" panose="020B0604020202020204" pitchFamily="34" charset="0"/>
              </a:rPr>
              <a:t>KBA DEDICATED TEAM ROLES</a:t>
            </a:r>
          </a:p>
        </p:txBody>
      </p:sp>
      <p:sp>
        <p:nvSpPr>
          <p:cNvPr id="4" name="Rectangle: Rounded Corners 3">
            <a:extLst>
              <a:ext uri="{FF2B5EF4-FFF2-40B4-BE49-F238E27FC236}">
                <a16:creationId xmlns:a16="http://schemas.microsoft.com/office/drawing/2014/main" id="{216ABE68-A13C-4A50-832B-EEC42A4C1F79}"/>
              </a:ext>
            </a:extLst>
          </p:cNvPr>
          <p:cNvSpPr/>
          <p:nvPr/>
        </p:nvSpPr>
        <p:spPr>
          <a:xfrm>
            <a:off x="233082" y="2161655"/>
            <a:ext cx="3931920" cy="4875562"/>
          </a:xfrm>
          <a:prstGeom prst="roundRect">
            <a:avLst>
              <a:gd name="adj" fmla="val 8732"/>
            </a:avLst>
          </a:prstGeom>
          <a:solidFill>
            <a:srgbClr val="1B8CBF"/>
          </a:solidFill>
        </p:spPr>
        <p:txBody>
          <a:bodyPr wrap="square" bIns="0" anchor="ctr" anchorCtr="0">
            <a:spAutoFit/>
          </a:bodyPr>
          <a:lstStyle/>
          <a:p>
            <a:pPr defTabSz="914411">
              <a:defRPr/>
            </a:pPr>
            <a:endParaRPr lang="en-US" sz="2000" u="sng">
              <a:solidFill>
                <a:prstClr val="white"/>
              </a:solidFill>
              <a:latin typeface="Montserrat" panose="00000500000000000000" pitchFamily="2" charset="0"/>
            </a:endParaRPr>
          </a:p>
          <a:p>
            <a:pPr defTabSz="914411">
              <a:defRPr/>
            </a:pPr>
            <a:endParaRPr lang="en-US" sz="2000" u="sng">
              <a:solidFill>
                <a:prstClr val="white"/>
              </a:solidFill>
              <a:latin typeface="Montserrat" panose="00000500000000000000" pitchFamily="2" charset="0"/>
            </a:endParaRPr>
          </a:p>
          <a:p>
            <a:pPr defTabSz="914411">
              <a:spcAft>
                <a:spcPts val="1200"/>
              </a:spcAft>
              <a:defRPr/>
            </a:pPr>
            <a:r>
              <a:rPr lang="en-US" sz="1801" b="1" spc="300">
                <a:solidFill>
                  <a:prstClr val="white"/>
                </a:solidFill>
                <a:latin typeface="Montserrat" panose="00000500000000000000" pitchFamily="2" charset="0"/>
                <a:cs typeface="Arial" panose="020B0604020202020204" pitchFamily="34" charset="0"/>
              </a:rPr>
              <a:t>Client Vice President (CVP)</a:t>
            </a:r>
          </a:p>
          <a:p>
            <a:pPr defTabSz="914411">
              <a:spcAft>
                <a:spcPts val="1200"/>
              </a:spcAft>
              <a:defRPr/>
            </a:pPr>
            <a:r>
              <a:rPr lang="en-US" sz="1401" b="1" spc="300">
                <a:solidFill>
                  <a:prstClr val="white"/>
                </a:solidFill>
                <a:latin typeface="Montserrat" panose="00000500000000000000" pitchFamily="2" charset="0"/>
                <a:cs typeface="Arial" panose="020B0604020202020204" pitchFamily="34" charset="0"/>
              </a:rPr>
              <a:t>Average Tenure of 15 Years</a:t>
            </a:r>
            <a:endParaRPr lang="en-US" sz="1401" u="sng">
              <a:solidFill>
                <a:prstClr val="white"/>
              </a:solidFill>
              <a:latin typeface="Montserrat" panose="00000500000000000000" pitchFamily="2" charset="0"/>
            </a:endParaRPr>
          </a:p>
          <a:p>
            <a:pPr defTabSz="914411">
              <a:defRPr/>
            </a:pPr>
            <a:r>
              <a:rPr lang="en-US" sz="1200">
                <a:solidFill>
                  <a:prstClr val="white"/>
                </a:solidFill>
                <a:latin typeface="Montserrat" panose="00000500000000000000" pitchFamily="2" charset="0"/>
              </a:rPr>
              <a:t>Dedicated individual that delivers solutions for client needs, driven by </a:t>
            </a:r>
            <a:r>
              <a:rPr lang="en-US" sz="1200" u="sng">
                <a:solidFill>
                  <a:prstClr val="white"/>
                </a:solidFill>
                <a:latin typeface="Montserrat" panose="00000500000000000000" pitchFamily="2" charset="0"/>
              </a:rPr>
              <a:t>their</a:t>
            </a:r>
            <a:r>
              <a:rPr lang="en-US" sz="1200">
                <a:solidFill>
                  <a:prstClr val="white"/>
                </a:solidFill>
                <a:latin typeface="Montserrat" panose="00000500000000000000" pitchFamily="2" charset="0"/>
              </a:rPr>
              <a:t> data. The KBA CVP will be knowledgeable about their demographics, goals and plans, as well as the state of health of their membership. Through unparalleled analytics, the CVP will illuminate the intelligence of the data. They are there to coordinate and conduct plan performance reviews that include not only observations, but also provide meaningful recommendations. The CVP can also  assist with employee enrollment meetings, presentations and announcement materials. The CVP will stay informed on client issues and initiatives, tracking all information related to the account. </a:t>
            </a:r>
          </a:p>
        </p:txBody>
      </p:sp>
      <p:sp>
        <p:nvSpPr>
          <p:cNvPr id="5" name="Rectangle: Rounded Corners 4">
            <a:extLst>
              <a:ext uri="{FF2B5EF4-FFF2-40B4-BE49-F238E27FC236}">
                <a16:creationId xmlns:a16="http://schemas.microsoft.com/office/drawing/2014/main" id="{AC74F4FD-4A50-496D-8214-07A3FF8D1C90}"/>
              </a:ext>
            </a:extLst>
          </p:cNvPr>
          <p:cNvSpPr/>
          <p:nvPr/>
        </p:nvSpPr>
        <p:spPr>
          <a:xfrm>
            <a:off x="4349677" y="2011682"/>
            <a:ext cx="3677326" cy="4846320"/>
          </a:xfrm>
          <a:prstGeom prst="roundRect">
            <a:avLst>
              <a:gd name="adj" fmla="val 14199"/>
            </a:avLst>
          </a:prstGeom>
          <a:solidFill>
            <a:srgbClr val="1B8CBF"/>
          </a:solidFill>
        </p:spPr>
        <p:txBody>
          <a:bodyPr wrap="square" bIns="0" anchor="ctr" anchorCtr="0">
            <a:noAutofit/>
          </a:bodyPr>
          <a:lstStyle/>
          <a:p>
            <a:pPr defTabSz="914411">
              <a:spcAft>
                <a:spcPts val="1200"/>
              </a:spcAft>
              <a:defRPr/>
            </a:pPr>
            <a:endParaRPr lang="en-US" sz="1801" b="1" spc="300">
              <a:solidFill>
                <a:prstClr val="white"/>
              </a:solidFill>
              <a:latin typeface="Montserrat" panose="00000500000000000000" pitchFamily="2" charset="0"/>
            </a:endParaRPr>
          </a:p>
          <a:p>
            <a:pPr defTabSz="914411">
              <a:spcAft>
                <a:spcPts val="1200"/>
              </a:spcAft>
              <a:defRPr/>
            </a:pPr>
            <a:endParaRPr lang="en-US" sz="1801" b="1" spc="300">
              <a:solidFill>
                <a:prstClr val="white"/>
              </a:solidFill>
              <a:latin typeface="Montserrat" panose="00000500000000000000" pitchFamily="2" charset="0"/>
            </a:endParaRPr>
          </a:p>
          <a:p>
            <a:pPr defTabSz="914411">
              <a:spcAft>
                <a:spcPts val="1200"/>
              </a:spcAft>
              <a:defRPr/>
            </a:pPr>
            <a:r>
              <a:rPr lang="en-US" sz="1801" b="1" spc="300">
                <a:solidFill>
                  <a:prstClr val="white"/>
                </a:solidFill>
                <a:latin typeface="Montserrat" panose="00000500000000000000" pitchFamily="2" charset="0"/>
              </a:rPr>
              <a:t>Benefit Consultant (BC)</a:t>
            </a:r>
          </a:p>
          <a:p>
            <a:pPr defTabSz="914411">
              <a:spcAft>
                <a:spcPts val="1200"/>
              </a:spcAft>
              <a:defRPr/>
            </a:pPr>
            <a:r>
              <a:rPr lang="en-US" sz="1401" b="1" spc="300">
                <a:solidFill>
                  <a:prstClr val="white"/>
                </a:solidFill>
                <a:latin typeface="Montserrat" panose="00000500000000000000" pitchFamily="2" charset="0"/>
              </a:rPr>
              <a:t>Average Tenure of 5 Years</a:t>
            </a:r>
            <a:endParaRPr lang="en-US" sz="1401" u="sng">
              <a:solidFill>
                <a:prstClr val="white"/>
              </a:solidFill>
              <a:latin typeface="Montserrat" panose="00000500000000000000" pitchFamily="2" charset="0"/>
            </a:endParaRPr>
          </a:p>
          <a:p>
            <a:pPr defTabSz="914411">
              <a:defRPr/>
            </a:pPr>
            <a:r>
              <a:rPr lang="en-US" sz="1200">
                <a:solidFill>
                  <a:prstClr val="white"/>
                </a:solidFill>
                <a:latin typeface="Montserrat" panose="00000500000000000000" pitchFamily="2" charset="0"/>
              </a:rPr>
              <a:t>Delivers strategic consultation to the client in conjunction with the CVP, with a focus on reporting. Upon renewal season, the BC will assist in preparing renewal proposals that will include services, fee structures, time frames and coordinate/conduct employee enrollment meetings as needed. </a:t>
            </a:r>
          </a:p>
          <a:p>
            <a:pPr defTabSz="914411">
              <a:defRPr/>
            </a:pPr>
            <a:endParaRPr lang="en-US" sz="1040">
              <a:solidFill>
                <a:prstClr val="white"/>
              </a:solidFill>
              <a:latin typeface="Montserrat" panose="00000500000000000000" pitchFamily="2" charset="0"/>
            </a:endParaRPr>
          </a:p>
          <a:p>
            <a:pPr defTabSz="914411">
              <a:defRPr/>
            </a:pPr>
            <a:endParaRPr lang="en-US" sz="1040">
              <a:solidFill>
                <a:prstClr val="white"/>
              </a:solidFill>
              <a:latin typeface="Montserrat" panose="00000500000000000000" pitchFamily="2" charset="0"/>
            </a:endParaRPr>
          </a:p>
          <a:p>
            <a:pPr defTabSz="914411">
              <a:defRPr/>
            </a:pPr>
            <a:endParaRPr lang="en-US" sz="1040">
              <a:solidFill>
                <a:prstClr val="white"/>
              </a:solidFill>
              <a:latin typeface="Montserrat" panose="00000500000000000000" pitchFamily="2" charset="0"/>
            </a:endParaRPr>
          </a:p>
          <a:p>
            <a:pPr defTabSz="914411">
              <a:defRPr/>
            </a:pPr>
            <a:endParaRPr lang="en-US" sz="1040">
              <a:solidFill>
                <a:prstClr val="white"/>
              </a:solidFill>
              <a:latin typeface="Montserrat" panose="00000500000000000000" pitchFamily="2" charset="0"/>
            </a:endParaRPr>
          </a:p>
          <a:p>
            <a:pPr defTabSz="914411">
              <a:defRPr/>
            </a:pPr>
            <a:endParaRPr lang="en-US" sz="1040">
              <a:solidFill>
                <a:prstClr val="white"/>
              </a:solidFill>
              <a:latin typeface="Montserrat" panose="00000500000000000000" pitchFamily="2" charset="0"/>
            </a:endParaRPr>
          </a:p>
          <a:p>
            <a:pPr defTabSz="914411">
              <a:defRPr/>
            </a:pPr>
            <a:endParaRPr lang="en-US" sz="1401">
              <a:solidFill>
                <a:prstClr val="white"/>
              </a:solidFill>
              <a:latin typeface="Montserrat" panose="00000500000000000000" pitchFamily="2" charset="0"/>
            </a:endParaRPr>
          </a:p>
        </p:txBody>
      </p:sp>
      <p:sp>
        <p:nvSpPr>
          <p:cNvPr id="6" name="Rectangle: Rounded Corners 5">
            <a:extLst>
              <a:ext uri="{FF2B5EF4-FFF2-40B4-BE49-F238E27FC236}">
                <a16:creationId xmlns:a16="http://schemas.microsoft.com/office/drawing/2014/main" id="{ECCC8F85-DAC5-48FF-AF60-FBE5BF85BA0B}"/>
              </a:ext>
            </a:extLst>
          </p:cNvPr>
          <p:cNvSpPr/>
          <p:nvPr/>
        </p:nvSpPr>
        <p:spPr>
          <a:xfrm>
            <a:off x="8222434" y="2235089"/>
            <a:ext cx="3745451" cy="4622912"/>
          </a:xfrm>
          <a:prstGeom prst="roundRect">
            <a:avLst>
              <a:gd name="adj" fmla="val 10989"/>
            </a:avLst>
          </a:prstGeom>
          <a:solidFill>
            <a:srgbClr val="1B8CBF"/>
          </a:solidFill>
        </p:spPr>
        <p:txBody>
          <a:bodyPr wrap="square" bIns="0" anchor="ctr" anchorCtr="0">
            <a:noAutofit/>
          </a:bodyPr>
          <a:lstStyle/>
          <a:p>
            <a:pPr defTabSz="914411">
              <a:spcAft>
                <a:spcPts val="1200"/>
              </a:spcAft>
              <a:defRPr/>
            </a:pPr>
            <a:endParaRPr lang="en-US" sz="1801" b="1" spc="300">
              <a:solidFill>
                <a:prstClr val="white"/>
              </a:solidFill>
              <a:latin typeface="Montserrat" panose="00000500000000000000" pitchFamily="2" charset="0"/>
            </a:endParaRPr>
          </a:p>
          <a:p>
            <a:pPr defTabSz="914411">
              <a:spcAft>
                <a:spcPts val="1200"/>
              </a:spcAft>
              <a:defRPr/>
            </a:pPr>
            <a:r>
              <a:rPr lang="en-US" sz="1801" b="1" spc="300">
                <a:solidFill>
                  <a:prstClr val="white"/>
                </a:solidFill>
                <a:latin typeface="Montserrat" panose="00000500000000000000" pitchFamily="2" charset="0"/>
              </a:rPr>
              <a:t>Account Representative (AR)</a:t>
            </a:r>
          </a:p>
          <a:p>
            <a:pPr defTabSz="914411">
              <a:spcAft>
                <a:spcPts val="1200"/>
              </a:spcAft>
              <a:defRPr/>
            </a:pPr>
            <a:r>
              <a:rPr lang="en-US" sz="1401" b="1" spc="300">
                <a:solidFill>
                  <a:prstClr val="white"/>
                </a:solidFill>
                <a:latin typeface="Montserrat" panose="00000500000000000000" pitchFamily="2" charset="0"/>
              </a:rPr>
              <a:t>Average Tenure of 3 Years</a:t>
            </a:r>
          </a:p>
          <a:p>
            <a:pPr defTabSz="914411" fontAlgn="base">
              <a:defRPr/>
            </a:pPr>
            <a:r>
              <a:rPr lang="en-US" sz="1200">
                <a:solidFill>
                  <a:prstClr val="white"/>
                </a:solidFill>
                <a:latin typeface="Montserrat" panose="00000500000000000000" pitchFamily="2" charset="0"/>
              </a:rPr>
              <a:t>Will service the account by addressing their day to day needs and providing consistent communications, follow-up services and monitoring the account. They will oversee the new case implementation and renewal processes alongside of the KBA operations team. The AR will be responsible for the distribution of monthly reports, facilitating plan design changes and obtaining signatures for Plan documents / amendments. Additionally, they will be able to help manage funding including ACH transfer of funds and various other inquiries.</a:t>
            </a:r>
          </a:p>
          <a:p>
            <a:pPr defTabSz="914411" fontAlgn="base">
              <a:defRPr/>
            </a:pPr>
            <a:endParaRPr lang="en-US" sz="1100">
              <a:solidFill>
                <a:prstClr val="white"/>
              </a:solidFill>
              <a:latin typeface="Montserrat" panose="00000500000000000000" pitchFamily="2" charset="0"/>
            </a:endParaRPr>
          </a:p>
        </p:txBody>
      </p:sp>
      <p:sp>
        <p:nvSpPr>
          <p:cNvPr id="13" name="Slide Number Placeholder 3">
            <a:extLst>
              <a:ext uri="{FF2B5EF4-FFF2-40B4-BE49-F238E27FC236}">
                <a16:creationId xmlns:a16="http://schemas.microsoft.com/office/drawing/2014/main" id="{1F120047-839D-475A-B341-C83EE8DA21B7}"/>
              </a:ext>
            </a:extLst>
          </p:cNvPr>
          <p:cNvSpPr txBox="1">
            <a:spLocks/>
          </p:cNvSpPr>
          <p:nvPr/>
        </p:nvSpPr>
        <p:spPr>
          <a:xfrm>
            <a:off x="5644246" y="6307400"/>
            <a:ext cx="903515" cy="365125"/>
          </a:xfrm>
          <a:prstGeom prst="rect">
            <a:avLst/>
          </a:prstGeom>
        </p:spPr>
        <p:txBody>
          <a:bodyPr vert="horz" lIns="91440" tIns="45721" rIns="91440" bIns="45721"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11">
              <a:defRPr/>
            </a:pP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C0A94F9A-89B3-40B6-99CF-34A57EF815AA}"/>
              </a:ext>
            </a:extLst>
          </p:cNvPr>
          <p:cNvSpPr/>
          <p:nvPr/>
        </p:nvSpPr>
        <p:spPr>
          <a:xfrm>
            <a:off x="-1" y="239486"/>
            <a:ext cx="224118" cy="5600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sz="1801">
              <a:solidFill>
                <a:prstClr val="white"/>
              </a:solidFill>
              <a:latin typeface="Calibri" panose="020F0502020204030204"/>
            </a:endParaRPr>
          </a:p>
        </p:txBody>
      </p:sp>
    </p:spTree>
    <p:extLst>
      <p:ext uri="{BB962C8B-B14F-4D97-AF65-F5344CB8AC3E}">
        <p14:creationId xmlns:p14="http://schemas.microsoft.com/office/powerpoint/2010/main" val="1684977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2FFCBD5-DA9D-4CBD-B3E4-B34F9DE01827}"/>
              </a:ext>
            </a:extLst>
          </p:cNvPr>
          <p:cNvSpPr/>
          <p:nvPr/>
        </p:nvSpPr>
        <p:spPr>
          <a:xfrm rot="16200000" flipV="1">
            <a:off x="2769841" y="-2290872"/>
            <a:ext cx="6391060" cy="11930746"/>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chemeClr val="bg1">
              <a:lumMod val="8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9601239-08BC-4D87-AAA4-3EA4870E8DA7}"/>
              </a:ext>
            </a:extLst>
          </p:cNvPr>
          <p:cNvSpPr>
            <a:spLocks noGrp="1"/>
          </p:cNvSpPr>
          <p:nvPr>
            <p:ph type="title"/>
          </p:nvPr>
        </p:nvSpPr>
        <p:spPr>
          <a:xfrm>
            <a:off x="0" y="144523"/>
            <a:ext cx="12192000" cy="560033"/>
          </a:xfrm>
        </p:spPr>
        <p:txBody>
          <a:bodyPr>
            <a:noAutofit/>
          </a:bodyPr>
          <a:lstStyle/>
          <a:p>
            <a:pPr algn="ctr"/>
            <a:r>
              <a:rPr lang="en-US" sz="2400" b="1" spc="300">
                <a:solidFill>
                  <a:srgbClr val="0076A9"/>
                </a:solidFill>
                <a:cs typeface="Arial" panose="020B0604020202020204" pitchFamily="34" charset="0"/>
              </a:rPr>
              <a:t>ADDITIONAL KBA TEAM MEMBERS</a:t>
            </a:r>
          </a:p>
        </p:txBody>
      </p:sp>
      <p:sp>
        <p:nvSpPr>
          <p:cNvPr id="4" name="Rectangle: Rounded Corners 3">
            <a:extLst>
              <a:ext uri="{FF2B5EF4-FFF2-40B4-BE49-F238E27FC236}">
                <a16:creationId xmlns:a16="http://schemas.microsoft.com/office/drawing/2014/main" id="{216ABE68-A13C-4A50-832B-EEC42A4C1F79}"/>
              </a:ext>
            </a:extLst>
          </p:cNvPr>
          <p:cNvSpPr/>
          <p:nvPr/>
        </p:nvSpPr>
        <p:spPr>
          <a:xfrm>
            <a:off x="1749911" y="2438010"/>
            <a:ext cx="3931920" cy="4183329"/>
          </a:xfrm>
          <a:prstGeom prst="roundRect">
            <a:avLst>
              <a:gd name="adj" fmla="val 8732"/>
            </a:avLst>
          </a:prstGeom>
          <a:solidFill>
            <a:srgbClr val="1B8CBF"/>
          </a:solidFill>
        </p:spPr>
        <p:txBody>
          <a:bodyPr wrap="square" tIns="182880" bIns="0" anchor="t" anchorCtr="0">
            <a:noAutofit/>
          </a:bodyPr>
          <a:lstStyle/>
          <a:p>
            <a:endParaRPr lang="en-US" sz="2000" u="sng">
              <a:latin typeface="Montserrat" panose="00000500000000000000" pitchFamily="2" charset="0"/>
            </a:endParaRPr>
          </a:p>
          <a:p>
            <a:endParaRPr lang="en-US" sz="2000" u="sng">
              <a:latin typeface="Montserrat" panose="00000500000000000000" pitchFamily="2" charset="0"/>
            </a:endParaRPr>
          </a:p>
          <a:p>
            <a:pPr>
              <a:spcAft>
                <a:spcPts val="1200"/>
              </a:spcAft>
            </a:pPr>
            <a:r>
              <a:rPr lang="en-US" b="1" spc="300">
                <a:solidFill>
                  <a:schemeClr val="bg1"/>
                </a:solidFill>
                <a:latin typeface="Montserrat" panose="00000500000000000000" pitchFamily="2" charset="0"/>
                <a:cs typeface="Arial" panose="020B0604020202020204" pitchFamily="34" charset="0"/>
              </a:rPr>
              <a:t>On-Site KBA Support</a:t>
            </a:r>
            <a:endParaRPr lang="en-US" u="sng">
              <a:solidFill>
                <a:schemeClr val="bg1"/>
              </a:solidFill>
              <a:latin typeface="Montserrat" panose="00000500000000000000" pitchFamily="2" charset="0"/>
            </a:endParaRPr>
          </a:p>
          <a:p>
            <a:r>
              <a:rPr lang="en-US" sz="1400">
                <a:solidFill>
                  <a:schemeClr val="bg1"/>
                </a:solidFill>
                <a:latin typeface="Montserrat" panose="00000500000000000000" pitchFamily="2" charset="0"/>
              </a:rPr>
              <a:t>On-site resource for members to ask questions surrounding benefits, eligibility or claims questions, as well as a resource for HR for plan administration support.</a:t>
            </a:r>
          </a:p>
        </p:txBody>
      </p:sp>
      <p:sp>
        <p:nvSpPr>
          <p:cNvPr id="6" name="Rectangle: Rounded Corners 5">
            <a:extLst>
              <a:ext uri="{FF2B5EF4-FFF2-40B4-BE49-F238E27FC236}">
                <a16:creationId xmlns:a16="http://schemas.microsoft.com/office/drawing/2014/main" id="{ECCC8F85-DAC5-48FF-AF60-FBE5BF85BA0B}"/>
              </a:ext>
            </a:extLst>
          </p:cNvPr>
          <p:cNvSpPr/>
          <p:nvPr/>
        </p:nvSpPr>
        <p:spPr>
          <a:xfrm>
            <a:off x="6551456" y="2323257"/>
            <a:ext cx="4136264" cy="4298083"/>
          </a:xfrm>
          <a:prstGeom prst="roundRect">
            <a:avLst>
              <a:gd name="adj" fmla="val 10989"/>
            </a:avLst>
          </a:prstGeom>
          <a:solidFill>
            <a:srgbClr val="1B8CBF"/>
          </a:solidFill>
        </p:spPr>
        <p:txBody>
          <a:bodyPr wrap="square" tIns="0" bIns="0" anchor="b" anchorCtr="0">
            <a:noAutofit/>
          </a:bodyPr>
          <a:lstStyle/>
          <a:p>
            <a:pPr>
              <a:spcAft>
                <a:spcPts val="1200"/>
              </a:spcAft>
            </a:pPr>
            <a:r>
              <a:rPr lang="en-US" b="1" spc="300">
                <a:solidFill>
                  <a:schemeClr val="bg1"/>
                </a:solidFill>
                <a:latin typeface="Arial" panose="020B0604020202020204" pitchFamily="34" charset="0"/>
              </a:rPr>
              <a:t>Economist/Analyst</a:t>
            </a:r>
          </a:p>
          <a:p>
            <a:pPr fontAlgn="base"/>
            <a:r>
              <a:rPr lang="en-US" sz="1400">
                <a:solidFill>
                  <a:schemeClr val="bg1"/>
                </a:solidFill>
                <a:ea typeface="+mn-lt"/>
                <a:cs typeface="Calibri" panose="020F0502020204030204"/>
              </a:rPr>
              <a:t>George Avery, PhD, MPA. Dr Avery has a doctorate in Health Services Research, Policy, and Administration from the University of Minnesota and has been a professor at Purdue University and the University of Minnesota Duluth. He has authored six book chapters, over 20 peer-reviewed journal articles, and has served as an advisor for the Indiana Office of Rural Health, the Centers for Disease Control and Prevention, the Department of Defense, and the United States Environmental Protection Agency. He has over 30 years’ experience in public health, health economics, and econometric analysis.</a:t>
            </a:r>
            <a:endParaRPr lang="en-US" sz="1400">
              <a:solidFill>
                <a:schemeClr val="bg1"/>
              </a:solidFill>
              <a:latin typeface="Arial" panose="020B0604020202020204" pitchFamily="34" charset="0"/>
            </a:endParaRPr>
          </a:p>
        </p:txBody>
      </p:sp>
      <p:sp>
        <p:nvSpPr>
          <p:cNvPr id="16" name="Rectangle 15">
            <a:extLst>
              <a:ext uri="{FF2B5EF4-FFF2-40B4-BE49-F238E27FC236}">
                <a16:creationId xmlns:a16="http://schemas.microsoft.com/office/drawing/2014/main" id="{B2E5060C-BEC6-4184-BC23-82E5C02CBB5C}"/>
              </a:ext>
            </a:extLst>
          </p:cNvPr>
          <p:cNvSpPr/>
          <p:nvPr/>
        </p:nvSpPr>
        <p:spPr>
          <a:xfrm>
            <a:off x="-1" y="239486"/>
            <a:ext cx="224118" cy="5600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lide Number Placeholder 3">
            <a:extLst>
              <a:ext uri="{FF2B5EF4-FFF2-40B4-BE49-F238E27FC236}">
                <a16:creationId xmlns:a16="http://schemas.microsoft.com/office/drawing/2014/main" id="{58508654-CDD0-41A6-B291-12FC423339B7}"/>
              </a:ext>
            </a:extLst>
          </p:cNvPr>
          <p:cNvSpPr txBox="1">
            <a:spLocks/>
          </p:cNvSpPr>
          <p:nvPr/>
        </p:nvSpPr>
        <p:spPr>
          <a:xfrm>
            <a:off x="5644243" y="6307396"/>
            <a:ext cx="90351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E50FE5-931D-4CFC-A065-262EFD975273}" type="slidenum">
              <a:rPr lang="en-US" smtClean="0">
                <a:solidFill>
                  <a:schemeClr val="tx1">
                    <a:lumMod val="50000"/>
                    <a:lumOff val="50000"/>
                  </a:schemeClr>
                </a:solidFill>
              </a:rPr>
              <a:pPr/>
              <a:t>16</a:t>
            </a:fld>
            <a:endParaRPr lang="en-US">
              <a:solidFill>
                <a:schemeClr val="tx1">
                  <a:lumMod val="50000"/>
                  <a:lumOff val="50000"/>
                </a:schemeClr>
              </a:solidFill>
            </a:endParaRPr>
          </a:p>
        </p:txBody>
      </p:sp>
    </p:spTree>
    <p:extLst>
      <p:ext uri="{BB962C8B-B14F-4D97-AF65-F5344CB8AC3E}">
        <p14:creationId xmlns:p14="http://schemas.microsoft.com/office/powerpoint/2010/main" val="3585848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C22F9-D115-4E75-BCC1-E353FF110FF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41B7D62-7D4B-4EC0-9445-56A6951E1D90}"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9DEED08F-3994-419D-8F8F-CBCC95808F09}"/>
              </a:ext>
            </a:extLst>
          </p:cNvPr>
          <p:cNvSpPr/>
          <p:nvPr/>
        </p:nvSpPr>
        <p:spPr>
          <a:xfrm>
            <a:off x="0" y="2984939"/>
            <a:ext cx="12192000" cy="38899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Flowchart: Document 4">
            <a:extLst>
              <a:ext uri="{FF2B5EF4-FFF2-40B4-BE49-F238E27FC236}">
                <a16:creationId xmlns:a16="http://schemas.microsoft.com/office/drawing/2014/main" id="{E70F9838-89E1-4821-BF06-C4307CDB9A83}"/>
              </a:ext>
            </a:extLst>
          </p:cNvPr>
          <p:cNvSpPr/>
          <p:nvPr/>
        </p:nvSpPr>
        <p:spPr>
          <a:xfrm>
            <a:off x="-1" y="0"/>
            <a:ext cx="12191999" cy="3429000"/>
          </a:xfrm>
          <a:prstGeom prst="flowChartDocument">
            <a:avLst/>
          </a:prstGeom>
          <a:solidFill>
            <a:srgbClr val="0076A9"/>
          </a:solidFill>
        </p:spPr>
        <p:txBody>
          <a:bodyPr wrap="square" lIns="548640" tIns="18288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300" normalizeH="0" baseline="0" noProof="0">
                <a:ln>
                  <a:noFill/>
                </a:ln>
                <a:solidFill>
                  <a:srgbClr val="FFFFFF"/>
                </a:solidFill>
                <a:effectLst/>
                <a:uLnTx/>
                <a:uFillTx/>
                <a:latin typeface="Montserrat" panose="00000500000000000000" pitchFamily="2" charset="0"/>
                <a:ea typeface="Calibri" panose="020F0502020204030204" pitchFamily="34" charset="0"/>
                <a:cs typeface="Arial" panose="020B0604020202020204" pitchFamily="34" charset="0"/>
              </a:rPr>
              <a:t>Analytics</a:t>
            </a:r>
            <a:r>
              <a:rPr kumimoji="0" lang="en-US" sz="2800" b="1" i="0" u="none" strike="noStrike" kern="1200" cap="none" spc="30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 Engine - </a:t>
            </a:r>
            <a:r>
              <a:rPr kumimoji="0" lang="en-US" sz="2800" b="1" i="0" u="none" strike="noStrike" kern="1200" cap="none" spc="300" normalizeH="0" baseline="0" noProof="0" err="1">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EZView</a:t>
            </a:r>
            <a:r>
              <a:rPr kumimoji="0" lang="en-US" sz="2800" b="1" i="0" u="none" strike="noStrike" kern="1200" cap="none" spc="300" normalizeH="0" baseline="30000" noProof="0" err="1">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SM</a:t>
            </a:r>
            <a:endParaRPr kumimoji="0" lang="en-US" sz="2800" b="0" i="0" u="none" strike="noStrike" kern="1200" cap="none" spc="300" normalizeH="0" baseline="3000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30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rPr>
              <a:t>Turning Data into Actionable Intelligence</a:t>
            </a:r>
            <a:endParaRPr kumimoji="0" lang="en-US" sz="2800" b="0" i="0" u="none" strike="noStrike" kern="1200" cap="none" spc="300" normalizeH="0" baseline="0" noProof="0">
              <a:ln>
                <a:noFill/>
              </a:ln>
              <a:solidFill>
                <a:srgbClr val="FFFFFF"/>
              </a:solidFill>
              <a:effectLst/>
              <a:uLnTx/>
              <a:uFillTx/>
              <a:latin typeface="Arial" panose="020B060402020202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F4FA5A2-A365-4719-AF5D-CE30BBF0E40B}"/>
              </a:ext>
            </a:extLst>
          </p:cNvPr>
          <p:cNvPicPr/>
          <p:nvPr/>
        </p:nvPicPr>
        <p:blipFill>
          <a:blip r:embed="rId3">
            <a:extLst>
              <a:ext uri="{28A0092B-C50C-407E-A947-70E740481C1C}">
                <a14:useLocalDpi xmlns:a14="http://schemas.microsoft.com/office/drawing/2010/main" val="0"/>
              </a:ext>
            </a:extLst>
          </a:blip>
          <a:stretch>
            <a:fillRect/>
          </a:stretch>
        </p:blipFill>
        <p:spPr>
          <a:xfrm>
            <a:off x="564840" y="1295815"/>
            <a:ext cx="9020593" cy="5381897"/>
          </a:xfrm>
          <a:prstGeom prst="rect">
            <a:avLst/>
          </a:prstGeom>
        </p:spPr>
      </p:pic>
      <p:sp>
        <p:nvSpPr>
          <p:cNvPr id="7" name="Slide Number Placeholder 3">
            <a:extLst>
              <a:ext uri="{FF2B5EF4-FFF2-40B4-BE49-F238E27FC236}">
                <a16:creationId xmlns:a16="http://schemas.microsoft.com/office/drawing/2014/main" id="{3DDB256B-F315-42DD-9B56-A99FDBCB6B08}"/>
              </a:ext>
            </a:extLst>
          </p:cNvPr>
          <p:cNvSpPr txBox="1">
            <a:spLocks/>
          </p:cNvSpPr>
          <p:nvPr/>
        </p:nvSpPr>
        <p:spPr>
          <a:xfrm>
            <a:off x="0" y="6338514"/>
            <a:ext cx="11627160" cy="550601"/>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437438" marR="0" lvl="0" indent="0" algn="r" defTabSz="914400" rtl="0" eaLnBrk="1" fontAlgn="auto" latinLnBrk="0" hangingPunct="1">
              <a:lnSpc>
                <a:spcPct val="100000"/>
              </a:lnSpc>
              <a:spcBef>
                <a:spcPts val="0"/>
              </a:spcBef>
              <a:spcAft>
                <a:spcPts val="0"/>
              </a:spcAft>
              <a:buClrTx/>
              <a:buSzTx/>
              <a:buFontTx/>
              <a:buNone/>
              <a:tabLst/>
              <a:defRPr/>
            </a:pPr>
            <a:fld id="{77E50FE5-931D-4CFC-A065-262EFD975273}" type="slidenum">
              <a:rPr kumimoji="0" lang="en-US" sz="1400" b="0" i="0" u="none" strike="noStrike" kern="1200" cap="none" spc="600" normalizeH="0" baseline="0" noProof="0" smtClean="0">
                <a:ln>
                  <a:noFill/>
                </a:ln>
                <a:solidFill>
                  <a:prstClr val="white"/>
                </a:solidFill>
                <a:effectLst/>
                <a:uLnTx/>
                <a:uFillTx/>
                <a:latin typeface="Calibri" panose="020F0502020204030204"/>
                <a:ea typeface="+mn-ea"/>
                <a:cs typeface="+mn-cs"/>
              </a:rPr>
              <a:pPr marL="7437438" marR="0" lvl="0" indent="0" algn="r" defTabSz="914400" rtl="0" eaLnBrk="1" fontAlgn="auto" latinLnBrk="0" hangingPunct="1">
                <a:lnSpc>
                  <a:spcPct val="100000"/>
                </a:lnSpc>
                <a:spcBef>
                  <a:spcPts val="0"/>
                </a:spcBef>
                <a:spcAft>
                  <a:spcPts val="0"/>
                </a:spcAft>
                <a:buClrTx/>
                <a:buSzTx/>
                <a:buFontTx/>
                <a:buNone/>
                <a:tabLst/>
                <a:defRPr/>
              </a:pPr>
              <a:t>17</a:t>
            </a:fld>
            <a:r>
              <a:rPr kumimoji="0" lang="en-US" sz="1400" b="0" i="0" u="none" strike="noStrike" kern="1200" cap="none" spc="600" normalizeH="0" baseline="0" noProof="0">
                <a:ln>
                  <a:noFill/>
                </a:ln>
                <a:solidFill>
                  <a:prstClr val="white"/>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482814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BE7E8AA3-6686-4683-863D-039F4B9F4ECF}"/>
              </a:ext>
            </a:extLst>
          </p:cNvPr>
          <p:cNvGrpSpPr/>
          <p:nvPr/>
        </p:nvGrpSpPr>
        <p:grpSpPr>
          <a:xfrm>
            <a:off x="1567178" y="415193"/>
            <a:ext cx="9057640" cy="5400675"/>
            <a:chOff x="1567178" y="1319078"/>
            <a:chExt cx="9057640" cy="5400675"/>
          </a:xfrm>
        </p:grpSpPr>
        <p:pic>
          <p:nvPicPr>
            <p:cNvPr id="7" name="Picture 6">
              <a:extLst>
                <a:ext uri="{FF2B5EF4-FFF2-40B4-BE49-F238E27FC236}">
                  <a16:creationId xmlns:a16="http://schemas.microsoft.com/office/drawing/2014/main" id="{17377C34-25B9-4425-A9D0-632127AD8249}"/>
                </a:ext>
              </a:extLst>
            </p:cNvPr>
            <p:cNvPicPr/>
            <p:nvPr/>
          </p:nvPicPr>
          <p:blipFill>
            <a:blip r:embed="rId3">
              <a:extLst>
                <a:ext uri="{28A0092B-C50C-407E-A947-70E740481C1C}">
                  <a14:useLocalDpi xmlns:a14="http://schemas.microsoft.com/office/drawing/2010/main" val="0"/>
                </a:ext>
              </a:extLst>
            </a:blip>
            <a:stretch>
              <a:fillRect/>
            </a:stretch>
          </p:blipFill>
          <p:spPr>
            <a:xfrm>
              <a:off x="1567178" y="1319078"/>
              <a:ext cx="9057640" cy="5400675"/>
            </a:xfrm>
            <a:prstGeom prst="rect">
              <a:avLst/>
            </a:prstGeom>
          </p:spPr>
        </p:pic>
        <p:sp>
          <p:nvSpPr>
            <p:cNvPr id="11" name="Rectangle 10">
              <a:extLst>
                <a:ext uri="{FF2B5EF4-FFF2-40B4-BE49-F238E27FC236}">
                  <a16:creationId xmlns:a16="http://schemas.microsoft.com/office/drawing/2014/main" id="{BD91CA6F-7193-4C55-81B2-D73039FE2B3E}"/>
                </a:ext>
              </a:extLst>
            </p:cNvPr>
            <p:cNvSpPr/>
            <p:nvPr/>
          </p:nvSpPr>
          <p:spPr>
            <a:xfrm>
              <a:off x="5023945" y="2879834"/>
              <a:ext cx="5370784" cy="283780"/>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glow rad="139700">
                    <a:schemeClr val="accent4">
                      <a:satMod val="175000"/>
                      <a:alpha val="40000"/>
                    </a:schemeClr>
                  </a:glow>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B6CC832-77C3-4E6A-8D26-6F422247D41E}"/>
                </a:ext>
              </a:extLst>
            </p:cNvPr>
            <p:cNvSpPr/>
            <p:nvPr/>
          </p:nvSpPr>
          <p:spPr>
            <a:xfrm>
              <a:off x="5023945" y="3673391"/>
              <a:ext cx="2543504" cy="131353"/>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glow rad="139700">
                    <a:schemeClr val="accent4">
                      <a:satMod val="175000"/>
                      <a:alpha val="40000"/>
                    </a:schemeClr>
                  </a:glow>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E074EC1-9219-490A-9E38-4C2A7C3F3754}"/>
                </a:ext>
              </a:extLst>
            </p:cNvPr>
            <p:cNvSpPr/>
            <p:nvPr/>
          </p:nvSpPr>
          <p:spPr>
            <a:xfrm>
              <a:off x="7851225" y="3804744"/>
              <a:ext cx="2543504"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glow rad="139700">
                    <a:schemeClr val="accent4">
                      <a:satMod val="175000"/>
                      <a:alpha val="40000"/>
                    </a:schemeClr>
                  </a:glow>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AE90F4AD-BE15-4925-A5D5-EDCEFF21D8A4}"/>
                </a:ext>
              </a:extLst>
            </p:cNvPr>
            <p:cNvSpPr/>
            <p:nvPr/>
          </p:nvSpPr>
          <p:spPr>
            <a:xfrm>
              <a:off x="1619728" y="3916437"/>
              <a:ext cx="3125692"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glow rad="139700">
                    <a:schemeClr val="accent4">
                      <a:satMod val="175000"/>
                      <a:alpha val="40000"/>
                    </a:schemeClr>
                  </a:glow>
                </a:effectLst>
                <a:uLnTx/>
                <a:uFillTx/>
                <a:latin typeface="Calibri" panose="020F0502020204030204"/>
                <a:ea typeface="+mn-ea"/>
                <a:cs typeface="+mn-cs"/>
              </a:endParaRPr>
            </a:p>
          </p:txBody>
        </p:sp>
      </p:grpSp>
      <p:sp>
        <p:nvSpPr>
          <p:cNvPr id="3" name="Speech Bubble: Rectangle 2">
            <a:extLst>
              <a:ext uri="{FF2B5EF4-FFF2-40B4-BE49-F238E27FC236}">
                <a16:creationId xmlns:a16="http://schemas.microsoft.com/office/drawing/2014/main" id="{B9C9D577-CEBE-4AC8-923F-BA769D4BB565}"/>
              </a:ext>
            </a:extLst>
          </p:cNvPr>
          <p:cNvSpPr/>
          <p:nvPr/>
        </p:nvSpPr>
        <p:spPr>
          <a:xfrm>
            <a:off x="200549" y="751524"/>
            <a:ext cx="1166080" cy="1773591"/>
          </a:xfrm>
          <a:prstGeom prst="wedgeRectCallout">
            <a:avLst>
              <a:gd name="adj1" fmla="val 72005"/>
              <a:gd name="adj2" fmla="val -20467"/>
            </a:avLst>
          </a:prstGeom>
          <a:solidFill>
            <a:srgbClr val="0076A9"/>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All Patient, Provider, and Location Data Regardless of Network Affiliation  </a:t>
            </a:r>
          </a:p>
        </p:txBody>
      </p:sp>
      <p:sp>
        <p:nvSpPr>
          <p:cNvPr id="9" name="Speech Bubble: Rectangle 8">
            <a:extLst>
              <a:ext uri="{FF2B5EF4-FFF2-40B4-BE49-F238E27FC236}">
                <a16:creationId xmlns:a16="http://schemas.microsoft.com/office/drawing/2014/main" id="{23E0A51F-5DA6-4A3F-8D20-0C13E6E9FAFA}"/>
              </a:ext>
            </a:extLst>
          </p:cNvPr>
          <p:cNvSpPr/>
          <p:nvPr/>
        </p:nvSpPr>
        <p:spPr>
          <a:xfrm>
            <a:off x="10825367" y="1342715"/>
            <a:ext cx="1197614" cy="738339"/>
          </a:xfrm>
          <a:prstGeom prst="wedgeRectCallout">
            <a:avLst>
              <a:gd name="adj1" fmla="val -76447"/>
              <a:gd name="adj2" fmla="val 35320"/>
            </a:avLst>
          </a:prstGeom>
          <a:solidFill>
            <a:srgbClr val="0076A9"/>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Identify the sickest of the sick</a:t>
            </a:r>
          </a:p>
        </p:txBody>
      </p:sp>
      <p:sp>
        <p:nvSpPr>
          <p:cNvPr id="12" name="Speech Bubble: Rectangle 11">
            <a:extLst>
              <a:ext uri="{FF2B5EF4-FFF2-40B4-BE49-F238E27FC236}">
                <a16:creationId xmlns:a16="http://schemas.microsoft.com/office/drawing/2014/main" id="{99C9C8C9-BC21-4EF2-BCCF-61138AF197CA}"/>
              </a:ext>
            </a:extLst>
          </p:cNvPr>
          <p:cNvSpPr/>
          <p:nvPr/>
        </p:nvSpPr>
        <p:spPr>
          <a:xfrm>
            <a:off x="3841105" y="5579654"/>
            <a:ext cx="1566042" cy="885482"/>
          </a:xfrm>
          <a:prstGeom prst="wedgeRectCallout">
            <a:avLst>
              <a:gd name="adj1" fmla="val 36269"/>
              <a:gd name="adj2" fmla="val -136788"/>
            </a:avLst>
          </a:prstGeom>
          <a:solidFill>
            <a:srgbClr val="0076A9">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Regimens of Care for Chronic Illnesses</a:t>
            </a:r>
          </a:p>
        </p:txBody>
      </p:sp>
      <p:sp>
        <p:nvSpPr>
          <p:cNvPr id="15" name="Speech Bubble: Rectangle 14">
            <a:extLst>
              <a:ext uri="{FF2B5EF4-FFF2-40B4-BE49-F238E27FC236}">
                <a16:creationId xmlns:a16="http://schemas.microsoft.com/office/drawing/2014/main" id="{B2C42829-971C-4412-819E-B9C8B2DE95F5}"/>
              </a:ext>
            </a:extLst>
          </p:cNvPr>
          <p:cNvSpPr/>
          <p:nvPr/>
        </p:nvSpPr>
        <p:spPr>
          <a:xfrm>
            <a:off x="10800007" y="2695878"/>
            <a:ext cx="1191444" cy="1849822"/>
          </a:xfrm>
          <a:prstGeom prst="wedgeRectCallout">
            <a:avLst>
              <a:gd name="adj1" fmla="val -76411"/>
              <a:gd name="adj2" fmla="val -20782"/>
            </a:avLst>
          </a:prstGeom>
          <a:solidFill>
            <a:srgbClr val="0076A9">
              <a:alpha val="70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Monitor Compliance with Nurse Coaching and Triage to Providers</a:t>
            </a:r>
          </a:p>
        </p:txBody>
      </p:sp>
      <p:sp>
        <p:nvSpPr>
          <p:cNvPr id="14" name="Speech Bubble: Rectangle 13">
            <a:extLst>
              <a:ext uri="{FF2B5EF4-FFF2-40B4-BE49-F238E27FC236}">
                <a16:creationId xmlns:a16="http://schemas.microsoft.com/office/drawing/2014/main" id="{9BA67BD1-7D54-4D98-B3FF-4D310F8932AA}"/>
              </a:ext>
            </a:extLst>
          </p:cNvPr>
          <p:cNvSpPr/>
          <p:nvPr/>
        </p:nvSpPr>
        <p:spPr>
          <a:xfrm>
            <a:off x="200549" y="3154445"/>
            <a:ext cx="1166080" cy="1912883"/>
          </a:xfrm>
          <a:prstGeom prst="wedgeRectCallout">
            <a:avLst>
              <a:gd name="adj1" fmla="val 72005"/>
              <a:gd name="adj2" fmla="val -20467"/>
            </a:avLst>
          </a:prstGeom>
          <a:solidFill>
            <a:srgbClr val="0076A9">
              <a:alpha val="70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Identify Every Chronic Condition by Patient for Intervention</a:t>
            </a:r>
          </a:p>
        </p:txBody>
      </p:sp>
    </p:spTree>
    <p:extLst>
      <p:ext uri="{BB962C8B-B14F-4D97-AF65-F5344CB8AC3E}">
        <p14:creationId xmlns:p14="http://schemas.microsoft.com/office/powerpoint/2010/main" val="3521000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70425"/>
            <a:ext cx="12191999" cy="1384803"/>
          </a:xfrm>
          <a:solidFill>
            <a:srgbClr val="FFFFFF">
              <a:alpha val="69804"/>
            </a:srgbClr>
          </a:solidFill>
        </p:spPr>
        <p:txBody>
          <a:bodyPr>
            <a:normAutofit/>
          </a:bodyPr>
          <a:lstStyle/>
          <a:p>
            <a:pPr marL="400050" indent="-53975">
              <a:lnSpc>
                <a:spcPct val="100000"/>
              </a:lnSpc>
              <a:spcBef>
                <a:spcPts val="600"/>
              </a:spcBef>
              <a:spcAft>
                <a:spcPts val="1800"/>
              </a:spcAft>
            </a:pPr>
            <a:r>
              <a:rPr lang="en-US" sz="3200" b="1" spc="300">
                <a:solidFill>
                  <a:srgbClr val="0076A9"/>
                </a:solidFill>
                <a:cs typeface="Arial" panose="020B0604020202020204" pitchFamily="34" charset="0"/>
              </a:rPr>
              <a:t>THE “PHOTO” MOMENT</a:t>
            </a:r>
            <a:br>
              <a:rPr lang="en-US" sz="3600" b="1">
                <a:solidFill>
                  <a:srgbClr val="0076A9"/>
                </a:solidFill>
                <a:cs typeface="Arial" panose="020B0604020202020204" pitchFamily="34" charset="0"/>
              </a:rPr>
            </a:br>
            <a:r>
              <a:rPr kumimoji="0" lang="en-US" sz="1700" b="0" i="0" u="none" strike="noStrike" kern="1200" cap="none" spc="300" normalizeH="0" baseline="0" noProof="0">
                <a:ln>
                  <a:noFill/>
                </a:ln>
                <a:solidFill>
                  <a:srgbClr val="3C3935"/>
                </a:solidFill>
                <a:effectLst/>
                <a:uLnTx/>
                <a:uFillTx/>
                <a:ea typeface="+mn-ea"/>
                <a:cs typeface="+mn-cs"/>
              </a:rPr>
              <a:t>Real discussions with the employer discussing the health of their population</a:t>
            </a:r>
            <a:endParaRPr lang="en-US" sz="3600" b="1" spc="300">
              <a:solidFill>
                <a:srgbClr val="0076A9"/>
              </a:solidFill>
              <a:cs typeface="Arial" panose="020B0604020202020204" pitchFamily="34" charset="0"/>
            </a:endParaRPr>
          </a:p>
        </p:txBody>
      </p:sp>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101414" y="2525000"/>
            <a:ext cx="8597900" cy="3113758"/>
          </a:xfrm>
          <a:prstGeom prst="rect">
            <a:avLst/>
          </a:prstGeom>
        </p:spPr>
      </p:pic>
      <p:sp>
        <p:nvSpPr>
          <p:cNvPr id="9" name="TextBox 8"/>
          <p:cNvSpPr txBox="1"/>
          <p:nvPr/>
        </p:nvSpPr>
        <p:spPr>
          <a:xfrm>
            <a:off x="9562231" y="4648653"/>
            <a:ext cx="546847" cy="369332"/>
          </a:xfrm>
          <a:prstGeom prst="rect">
            <a:avLst/>
          </a:prstGeom>
          <a:solidFill>
            <a:schemeClr val="bg1"/>
          </a:solidFill>
        </p:spPr>
        <p:txBody>
          <a:bodyPr wrap="square" rtlCol="0">
            <a:spAutoFit/>
          </a:bodyPr>
          <a:lstStyle/>
          <a:p>
            <a:pPr algn="ctr"/>
            <a:r>
              <a:rPr lang="en-US"/>
              <a:t>10</a:t>
            </a:r>
          </a:p>
        </p:txBody>
      </p:sp>
    </p:spTree>
    <p:custDataLst>
      <p:tags r:id="rId1"/>
    </p:custDataLst>
    <p:extLst>
      <p:ext uri="{BB962C8B-B14F-4D97-AF65-F5344CB8AC3E}">
        <p14:creationId xmlns:p14="http://schemas.microsoft.com/office/powerpoint/2010/main" val="208619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867E1EC-42E8-603A-B016-3C7A820B27D5}"/>
              </a:ext>
            </a:extLst>
          </p:cNvPr>
          <p:cNvSpPr>
            <a:spLocks noGrp="1"/>
          </p:cNvSpPr>
          <p:nvPr>
            <p:ph type="title"/>
          </p:nvPr>
        </p:nvSpPr>
        <p:spPr>
          <a:xfrm>
            <a:off x="-1" y="5477162"/>
            <a:ext cx="12191999" cy="1384803"/>
          </a:xfrm>
          <a:solidFill>
            <a:srgbClr val="FFFFFF">
              <a:alpha val="69804"/>
            </a:srgbClr>
          </a:solidFill>
        </p:spPr>
        <p:txBody>
          <a:bodyPr>
            <a:normAutofit/>
          </a:bodyPr>
          <a:lstStyle/>
          <a:p>
            <a:pPr marL="400050" indent="-53975">
              <a:lnSpc>
                <a:spcPct val="100000"/>
              </a:lnSpc>
              <a:spcBef>
                <a:spcPts val="600"/>
              </a:spcBef>
              <a:spcAft>
                <a:spcPts val="1800"/>
              </a:spcAft>
            </a:pPr>
            <a:r>
              <a:rPr lang="en-US" sz="3200" b="1" spc="300">
                <a:solidFill>
                  <a:srgbClr val="0076A9"/>
                </a:solidFill>
                <a:latin typeface="Montserrat"/>
                <a:cs typeface="Arial"/>
              </a:rPr>
              <a:t>Actual Data that Displays What is Being Done to Change Behaviors and Improve Health</a:t>
            </a:r>
            <a:endParaRPr lang="en-US"/>
          </a:p>
        </p:txBody>
      </p:sp>
      <p:pic>
        <p:nvPicPr>
          <p:cNvPr id="10" name="Picture 9" descr="A graph of health care index by population&#10;&#10;AI-generated content may be incorrect.">
            <a:extLst>
              <a:ext uri="{FF2B5EF4-FFF2-40B4-BE49-F238E27FC236}">
                <a16:creationId xmlns:a16="http://schemas.microsoft.com/office/drawing/2014/main" id="{DA00B978-0B81-8C7C-FA71-D475F331FA24}"/>
              </a:ext>
            </a:extLst>
          </p:cNvPr>
          <p:cNvPicPr>
            <a:picLocks noChangeAspect="1"/>
          </p:cNvPicPr>
          <p:nvPr/>
        </p:nvPicPr>
        <p:blipFill>
          <a:blip r:embed="rId3"/>
          <a:stretch>
            <a:fillRect/>
          </a:stretch>
        </p:blipFill>
        <p:spPr>
          <a:xfrm>
            <a:off x="3345447" y="716547"/>
            <a:ext cx="8696158" cy="3285958"/>
          </a:xfrm>
          <a:prstGeom prst="rect">
            <a:avLst/>
          </a:prstGeom>
        </p:spPr>
      </p:pic>
    </p:spTree>
    <p:extLst>
      <p:ext uri="{BB962C8B-B14F-4D97-AF65-F5344CB8AC3E}">
        <p14:creationId xmlns:p14="http://schemas.microsoft.com/office/powerpoint/2010/main" val="1998957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8EAFE6-F700-62E3-8FFF-E1CA0EA7FFE6}"/>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543573D-5A6F-0656-4198-FC6157033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2" name="Title 1">
            <a:extLst>
              <a:ext uri="{FF2B5EF4-FFF2-40B4-BE49-F238E27FC236}">
                <a16:creationId xmlns:a16="http://schemas.microsoft.com/office/drawing/2014/main" id="{63F1A2EC-298D-2F85-5BE4-3A8AD5780135}"/>
              </a:ext>
            </a:extLst>
          </p:cNvPr>
          <p:cNvSpPr>
            <a:spLocks noGrp="1"/>
          </p:cNvSpPr>
          <p:nvPr>
            <p:ph type="title"/>
          </p:nvPr>
        </p:nvSpPr>
        <p:spPr>
          <a:xfrm>
            <a:off x="175565" y="215165"/>
            <a:ext cx="6398888" cy="739167"/>
          </a:xfrm>
        </p:spPr>
        <p:txBody>
          <a:bodyPr vert="horz" lIns="91440" tIns="45721" rIns="91440" bIns="45721" rtlCol="0" anchor="ctr">
            <a:normAutofit/>
          </a:bodyPr>
          <a:lstStyle/>
          <a:p>
            <a:r>
              <a:rPr lang="en-US" sz="4000">
                <a:latin typeface="+mj-lt"/>
              </a:rPr>
              <a:t>Employer Experience</a:t>
            </a:r>
          </a:p>
        </p:txBody>
      </p:sp>
      <p:graphicFrame>
        <p:nvGraphicFramePr>
          <p:cNvPr id="34" name="Text Placeholder 3">
            <a:extLst>
              <a:ext uri="{FF2B5EF4-FFF2-40B4-BE49-F238E27FC236}">
                <a16:creationId xmlns:a16="http://schemas.microsoft.com/office/drawing/2014/main" id="{29EBDA1C-E205-2C5C-3EE4-CB90ED4E8FAC}"/>
              </a:ext>
            </a:extLst>
          </p:cNvPr>
          <p:cNvGraphicFramePr/>
          <p:nvPr>
            <p:extLst>
              <p:ext uri="{D42A27DB-BD31-4B8C-83A1-F6EECF244321}">
                <p14:modId xmlns:p14="http://schemas.microsoft.com/office/powerpoint/2010/main" val="3300965666"/>
              </p:ext>
            </p:extLst>
          </p:nvPr>
        </p:nvGraphicFramePr>
        <p:xfrm>
          <a:off x="-3051" y="1934234"/>
          <a:ext cx="7297728" cy="4708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C818F6A0-BAFA-2C49-AB78-892D25058131}"/>
              </a:ext>
            </a:extLst>
          </p:cNvPr>
          <p:cNvSpPr txBox="1"/>
          <p:nvPr/>
        </p:nvSpPr>
        <p:spPr>
          <a:xfrm>
            <a:off x="2397474" y="1418338"/>
            <a:ext cx="4001414" cy="461665"/>
          </a:xfrm>
          <a:prstGeom prst="rect">
            <a:avLst/>
          </a:prstGeom>
          <a:noFill/>
        </p:spPr>
        <p:txBody>
          <a:bodyPr wrap="square" rtlCol="0">
            <a:spAutoFit/>
          </a:bodyPr>
          <a:lstStyle/>
          <a:p>
            <a:r>
              <a:rPr lang="en-US" sz="2400" b="1">
                <a:latin typeface="Montserrat" panose="00000500000000000000" pitchFamily="2" charset="0"/>
              </a:rPr>
              <a:t>Electronic Eligibility</a:t>
            </a:r>
          </a:p>
        </p:txBody>
      </p:sp>
      <p:sp>
        <p:nvSpPr>
          <p:cNvPr id="4" name="Content Placeholder 3">
            <a:extLst>
              <a:ext uri="{FF2B5EF4-FFF2-40B4-BE49-F238E27FC236}">
                <a16:creationId xmlns:a16="http://schemas.microsoft.com/office/drawing/2014/main" id="{968CC919-E61C-DEF2-0638-E127BC0813B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10582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DF17F-C3F3-338E-0AAC-435C8F5A1ED8}"/>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904C26-F406-15B8-311A-0DE911409EDD}"/>
              </a:ext>
            </a:extLst>
          </p:cNvPr>
          <p:cNvSpPr>
            <a:spLocks noGrp="1"/>
          </p:cNvSpPr>
          <p:nvPr>
            <p:ph type="title"/>
          </p:nvPr>
        </p:nvSpPr>
        <p:spPr>
          <a:xfrm>
            <a:off x="120220" y="363321"/>
            <a:ext cx="4683321" cy="2148841"/>
          </a:xfrm>
        </p:spPr>
        <p:txBody>
          <a:bodyPr vert="horz" lIns="91440" tIns="45720" rIns="91440" bIns="45720" rtlCol="0" anchor="t">
            <a:normAutofit/>
          </a:bodyPr>
          <a:lstStyle/>
          <a:p>
            <a:pPr defTabSz="914400"/>
            <a:r>
              <a:rPr lang="en-US" sz="4400">
                <a:latin typeface="+mj-lt"/>
              </a:rPr>
              <a:t>Employer Experience</a:t>
            </a:r>
          </a:p>
        </p:txBody>
      </p:sp>
      <p:sp>
        <p:nvSpPr>
          <p:cNvPr id="4" name="Text Placeholder 3">
            <a:extLst>
              <a:ext uri="{FF2B5EF4-FFF2-40B4-BE49-F238E27FC236}">
                <a16:creationId xmlns:a16="http://schemas.microsoft.com/office/drawing/2014/main" id="{C6EE5B39-2031-422C-4AE7-508FBD05BDE1}"/>
              </a:ext>
            </a:extLst>
          </p:cNvPr>
          <p:cNvSpPr>
            <a:spLocks noGrp="1"/>
          </p:cNvSpPr>
          <p:nvPr>
            <p:ph type="body" sz="half" idx="2"/>
          </p:nvPr>
        </p:nvSpPr>
        <p:spPr>
          <a:xfrm>
            <a:off x="5890436" y="250543"/>
            <a:ext cx="6181344" cy="6356909"/>
          </a:xfrm>
        </p:spPr>
        <p:txBody>
          <a:bodyPr vert="horz" lIns="91440" tIns="45720" rIns="91440" bIns="45720" rtlCol="0" anchor="t">
            <a:normAutofit/>
          </a:bodyPr>
          <a:lstStyle/>
          <a:p>
            <a:pPr defTabSz="914400"/>
            <a:r>
              <a:rPr lang="en-US" sz="2800" b="1"/>
              <a:t>Web Portal  Eligibility</a:t>
            </a:r>
          </a:p>
          <a:p>
            <a:pPr indent="-228600" defTabSz="914400">
              <a:buFont typeface="Arial" panose="020B0604020202020204" pitchFamily="34" charset="0"/>
              <a:buChar char="•"/>
            </a:pPr>
            <a:endParaRPr lang="en-US" sz="1400" b="1"/>
          </a:p>
          <a:p>
            <a:pPr indent="-228600" defTabSz="914400">
              <a:buFont typeface="Arial" panose="020B0604020202020204" pitchFamily="34" charset="0"/>
              <a:buChar char="•"/>
            </a:pPr>
            <a:r>
              <a:rPr lang="en-US" sz="1400" b="1"/>
              <a:t>Self-Service Updates</a:t>
            </a:r>
            <a:r>
              <a:rPr lang="en-US" sz="1400"/>
              <a:t> – Employers can make eligibility changes anytime without manual submissions or waiting on support staff</a:t>
            </a:r>
          </a:p>
          <a:p>
            <a:pPr indent="-228600" defTabSz="914400">
              <a:buFont typeface="Arial" panose="020B0604020202020204" pitchFamily="34" charset="0"/>
              <a:buChar char="•"/>
            </a:pPr>
            <a:endParaRPr lang="en-US" sz="1400"/>
          </a:p>
          <a:p>
            <a:pPr indent="-228600" defTabSz="914400">
              <a:buFont typeface="Arial" panose="020B0604020202020204" pitchFamily="34" charset="0"/>
              <a:buChar char="•"/>
            </a:pPr>
            <a:r>
              <a:rPr lang="en-US" sz="1400" b="1"/>
              <a:t>User-Friendly Design</a:t>
            </a:r>
            <a:r>
              <a:rPr lang="en-US" sz="1400"/>
              <a:t> – Intuitive, easy-to-use interface for efficient management of employee eligibility</a:t>
            </a:r>
          </a:p>
          <a:p>
            <a:pPr indent="-228600" defTabSz="914400">
              <a:buFont typeface="Arial" panose="020B0604020202020204" pitchFamily="34" charset="0"/>
              <a:buChar char="•"/>
            </a:pPr>
            <a:endParaRPr lang="en-US" sz="1400"/>
          </a:p>
          <a:p>
            <a:pPr indent="-228600" defTabSz="914400">
              <a:buFont typeface="Arial" panose="020B0604020202020204" pitchFamily="34" charset="0"/>
              <a:buChar char="•"/>
            </a:pPr>
            <a:r>
              <a:rPr lang="en-US" sz="1400" b="1"/>
              <a:t>Operational Efficiency</a:t>
            </a:r>
            <a:r>
              <a:rPr lang="en-US" sz="1400"/>
              <a:t> – Reduces administrative workload while improving accuracy of eligibility data</a:t>
            </a:r>
          </a:p>
          <a:p>
            <a:pPr indent="-228600" defTabSz="914400">
              <a:buFont typeface="Arial" panose="020B0604020202020204" pitchFamily="34" charset="0"/>
              <a:buChar char="•"/>
            </a:pPr>
            <a:endParaRPr lang="en-US" sz="1400"/>
          </a:p>
          <a:p>
            <a:pPr indent="-228600" defTabSz="914400">
              <a:buFont typeface="Arial" panose="020B0604020202020204" pitchFamily="34" charset="0"/>
              <a:buChar char="•"/>
            </a:pPr>
            <a:r>
              <a:rPr lang="en-US" sz="1400" b="1"/>
              <a:t>Comprehensive Online Features</a:t>
            </a:r>
            <a:endParaRPr lang="en-US" sz="1400"/>
          </a:p>
          <a:p>
            <a:pPr lvl="1" indent="-228600" defTabSz="914400">
              <a:buFont typeface="Arial" panose="020B0604020202020204" pitchFamily="34" charset="0"/>
              <a:buChar char="•"/>
            </a:pPr>
            <a:r>
              <a:rPr lang="en-US" sz="1400"/>
              <a:t>Online claims look-up</a:t>
            </a:r>
          </a:p>
          <a:p>
            <a:pPr lvl="1" indent="-228600" defTabSz="914400">
              <a:buFont typeface="Arial" panose="020B0604020202020204" pitchFamily="34" charset="0"/>
              <a:buChar char="•"/>
            </a:pPr>
            <a:r>
              <a:rPr lang="en-US" sz="1400"/>
              <a:t>Online invoice delivery with automated notifications</a:t>
            </a:r>
          </a:p>
          <a:p>
            <a:pPr lvl="1" indent="-228600" defTabSz="914400">
              <a:buFont typeface="Arial" panose="020B0604020202020204" pitchFamily="34" charset="0"/>
              <a:buChar char="•"/>
            </a:pPr>
            <a:r>
              <a:rPr lang="en-US" sz="1400"/>
              <a:t>Eligibility detail inquiry</a:t>
            </a:r>
          </a:p>
          <a:p>
            <a:pPr lvl="1" indent="-228600" defTabSz="914400">
              <a:buFont typeface="Arial" panose="020B0604020202020204" pitchFamily="34" charset="0"/>
              <a:buChar char="•"/>
            </a:pPr>
            <a:r>
              <a:rPr lang="en-US" sz="1400"/>
              <a:t>Provider network look-up</a:t>
            </a:r>
          </a:p>
          <a:p>
            <a:pPr lvl="1" indent="-228600" defTabSz="914400">
              <a:buFont typeface="Arial" panose="020B0604020202020204" pitchFamily="34" charset="0"/>
              <a:buChar char="•"/>
            </a:pPr>
            <a:r>
              <a:rPr lang="en-US" sz="1400"/>
              <a:t>Express requests &amp; ID card requests</a:t>
            </a:r>
          </a:p>
          <a:p>
            <a:pPr lvl="1" indent="-228600" defTabSz="914400">
              <a:buFont typeface="Arial" panose="020B0604020202020204" pitchFamily="34" charset="0"/>
              <a:buChar char="•"/>
            </a:pPr>
            <a:r>
              <a:rPr lang="en-US" sz="1400"/>
              <a:t>Forms and plan document retrieval</a:t>
            </a:r>
          </a:p>
          <a:p>
            <a:pPr lvl="1" indent="-228600" defTabSz="914400">
              <a:buFont typeface="Arial" panose="020B0604020202020204" pitchFamily="34" charset="0"/>
              <a:buChar char="•"/>
            </a:pPr>
            <a:r>
              <a:rPr lang="en-US" sz="1400"/>
              <a:t>Full benefit administration functionality (for non-EDI clients)</a:t>
            </a:r>
          </a:p>
          <a:p>
            <a:pPr lvl="1" indent="-228600" defTabSz="914400">
              <a:buFont typeface="Arial" panose="020B0604020202020204" pitchFamily="34" charset="0"/>
              <a:buChar char="•"/>
            </a:pPr>
            <a:r>
              <a:rPr lang="en-US" sz="1400"/>
              <a:t>Add/remove dependents, update coverages, review eligibility status</a:t>
            </a:r>
          </a:p>
          <a:p>
            <a:pPr indent="-228600" defTabSz="914400">
              <a:buFont typeface="Arial" panose="020B0604020202020204" pitchFamily="34" charset="0"/>
              <a:buChar char="•"/>
            </a:pPr>
            <a:endParaRPr lang="en-US" sz="1100">
              <a:latin typeface="+mn-lt"/>
            </a:endParaRPr>
          </a:p>
        </p:txBody>
      </p:sp>
    </p:spTree>
    <p:extLst>
      <p:ext uri="{BB962C8B-B14F-4D97-AF65-F5344CB8AC3E}">
        <p14:creationId xmlns:p14="http://schemas.microsoft.com/office/powerpoint/2010/main" val="202016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EAECC8-D2A7-0D79-D01C-C9B3A9CF8413}"/>
            </a:ext>
          </a:extLst>
        </p:cNvPr>
        <p:cNvGrpSpPr/>
        <p:nvPr/>
      </p:nvGrpSpPr>
      <p:grpSpPr>
        <a:xfrm>
          <a:off x="0" y="0"/>
          <a:ext cx="0" cy="0"/>
          <a:chOff x="0" y="0"/>
          <a:chExt cx="0" cy="0"/>
        </a:xfrm>
      </p:grpSpPr>
      <p:sp useBgFill="1">
        <p:nvSpPr>
          <p:cNvPr id="134" name="Rectangle 13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A30CA0-981B-1D3C-25A7-06FCE74D8314}"/>
              </a:ext>
            </a:extLst>
          </p:cNvPr>
          <p:cNvSpPr>
            <a:spLocks noGrp="1"/>
          </p:cNvSpPr>
          <p:nvPr>
            <p:ph type="title"/>
          </p:nvPr>
        </p:nvSpPr>
        <p:spPr>
          <a:xfrm>
            <a:off x="126732" y="365125"/>
            <a:ext cx="6647143" cy="1207643"/>
          </a:xfrm>
        </p:spPr>
        <p:txBody>
          <a:bodyPr vert="horz" lIns="91440" tIns="45720" rIns="91440" bIns="45720" rtlCol="0" anchor="ctr">
            <a:normAutofit fontScale="90000"/>
          </a:bodyPr>
          <a:lstStyle/>
          <a:p>
            <a:pPr defTabSz="914400"/>
            <a:r>
              <a:rPr lang="en-US" sz="4400">
                <a:latin typeface="+mj-lt"/>
              </a:rPr>
              <a:t>Billing – Premiums and Claim Funding</a:t>
            </a:r>
          </a:p>
        </p:txBody>
      </p:sp>
      <p:sp>
        <p:nvSpPr>
          <p:cNvPr id="78" name="Text Placeholder 3">
            <a:extLst>
              <a:ext uri="{FF2B5EF4-FFF2-40B4-BE49-F238E27FC236}">
                <a16:creationId xmlns:a16="http://schemas.microsoft.com/office/drawing/2014/main" id="{5A6B69C0-D192-CFA1-C334-DF0AD4F49B0E}"/>
              </a:ext>
            </a:extLst>
          </p:cNvPr>
          <p:cNvSpPr>
            <a:spLocks noGrp="1"/>
          </p:cNvSpPr>
          <p:nvPr>
            <p:ph type="body" sz="half" idx="2"/>
          </p:nvPr>
        </p:nvSpPr>
        <p:spPr>
          <a:xfrm>
            <a:off x="267614" y="1507167"/>
            <a:ext cx="6012536" cy="4985708"/>
          </a:xfrm>
        </p:spPr>
        <p:txBody>
          <a:bodyPr vert="horz" lIns="91440" tIns="45720" rIns="91440" bIns="45720" rtlCol="0">
            <a:normAutofit lnSpcReduction="10000"/>
          </a:bodyPr>
          <a:lstStyle/>
          <a:p>
            <a:pPr marL="285753" indent="-228600" defTabSz="914400">
              <a:buFont typeface="Arial" panose="020B0604020202020204" pitchFamily="34" charset="0"/>
              <a:buChar char="•"/>
            </a:pPr>
            <a:endParaRPr lang="en-US" sz="1000">
              <a:latin typeface="+mn-lt"/>
            </a:endParaRPr>
          </a:p>
          <a:p>
            <a:pPr defTabSz="914400" fontAlgn="base"/>
            <a:r>
              <a:rPr lang="en-US" sz="1200" b="1"/>
              <a:t>Dedicated Billing Specialist</a:t>
            </a:r>
            <a:r>
              <a:rPr lang="en-US" sz="1200"/>
              <a:t>​</a:t>
            </a:r>
          </a:p>
          <a:p>
            <a:pPr marL="285750" indent="-228600" defTabSz="914400" fontAlgn="base">
              <a:buFont typeface="Arial" panose="020B0604020202020204" pitchFamily="34" charset="0"/>
              <a:buChar char="•"/>
            </a:pPr>
            <a:r>
              <a:rPr lang="en-US" sz="1200"/>
              <a:t>Each client has a dedicated specialist providing personalized billing support and promptly addressing issues.​</a:t>
            </a:r>
          </a:p>
          <a:p>
            <a:pPr indent="-228600" defTabSz="914400" fontAlgn="base">
              <a:buFont typeface="Arial" panose="020B0604020202020204" pitchFamily="34" charset="0"/>
              <a:buChar char="•"/>
            </a:pPr>
            <a:endParaRPr lang="en-US" sz="1200"/>
          </a:p>
          <a:p>
            <a:pPr defTabSz="914400" fontAlgn="base"/>
            <a:r>
              <a:rPr lang="en-US" sz="1200" b="1"/>
              <a:t>Advance Premium Billing</a:t>
            </a:r>
            <a:r>
              <a:rPr lang="en-US" sz="1200"/>
              <a:t>​</a:t>
            </a:r>
          </a:p>
          <a:p>
            <a:pPr marL="285750" indent="-228600" defTabSz="914400" fontAlgn="base">
              <a:buFont typeface="Arial" panose="020B0604020202020204" pitchFamily="34" charset="0"/>
              <a:buChar char="•"/>
            </a:pPr>
            <a:r>
              <a:rPr lang="en-US" sz="1200"/>
              <a:t>Premiums are billed in advance on the 15th, allowing clients to plan finances and avoid missed payments.​</a:t>
            </a:r>
          </a:p>
          <a:p>
            <a:pPr indent="-228600" defTabSz="914400" fontAlgn="base">
              <a:buFont typeface="Arial" panose="020B0604020202020204" pitchFamily="34" charset="0"/>
              <a:buChar char="•"/>
            </a:pPr>
            <a:endParaRPr lang="en-US" sz="1200"/>
          </a:p>
          <a:p>
            <a:pPr defTabSz="914400" fontAlgn="base"/>
            <a:r>
              <a:rPr lang="en-US" sz="1200" b="1"/>
              <a:t>Transparent Communication</a:t>
            </a:r>
            <a:r>
              <a:rPr lang="en-US" sz="1200"/>
              <a:t>​</a:t>
            </a:r>
          </a:p>
          <a:p>
            <a:pPr marL="285750" indent="-228600" defTabSz="914400" fontAlgn="base">
              <a:buFont typeface="Arial" panose="020B0604020202020204" pitchFamily="34" charset="0"/>
              <a:buChar char="•"/>
            </a:pPr>
            <a:r>
              <a:rPr lang="en-US" sz="1200"/>
              <a:t>Proactive communication from billing specialists fosters transparency and builds client trust.​</a:t>
            </a:r>
          </a:p>
          <a:p>
            <a:pPr indent="-228600" defTabSz="914400" fontAlgn="base">
              <a:buFont typeface="Arial" panose="020B0604020202020204" pitchFamily="34" charset="0"/>
              <a:buChar char="•"/>
            </a:pPr>
            <a:endParaRPr lang="en-US" sz="1200"/>
          </a:p>
          <a:p>
            <a:pPr defTabSz="914400" fontAlgn="base"/>
            <a:r>
              <a:rPr lang="en-US" sz="1200" b="1"/>
              <a:t>Financial Stability and Satisfaction</a:t>
            </a:r>
            <a:r>
              <a:rPr lang="en-US" sz="1200"/>
              <a:t>​</a:t>
            </a:r>
          </a:p>
          <a:p>
            <a:pPr marL="285750" indent="-228600" defTabSz="914400">
              <a:buFont typeface="Arial" panose="020B0604020202020204" pitchFamily="34" charset="0"/>
              <a:buChar char="•"/>
            </a:pPr>
            <a:r>
              <a:rPr lang="en-US" sz="1200"/>
              <a:t>Consistent billing schedule and support enhance financial stability and improve client satisfaction.</a:t>
            </a:r>
          </a:p>
          <a:p>
            <a:pPr marL="57150" defTabSz="914400"/>
            <a:endParaRPr lang="en-US" sz="1000">
              <a:latin typeface="+mn-lt"/>
            </a:endParaRPr>
          </a:p>
          <a:p>
            <a:pPr defTabSz="914400" fontAlgn="base"/>
            <a:r>
              <a:rPr lang="en-US" sz="1200" b="1"/>
              <a:t>Claim Funding</a:t>
            </a:r>
            <a:endParaRPr lang="en-US" sz="1200"/>
          </a:p>
          <a:p>
            <a:pPr marL="285750" indent="-228600" defTabSz="914400">
              <a:buFont typeface="Arial" panose="020B0604020202020204" pitchFamily="34" charset="0"/>
              <a:buChar char="•"/>
            </a:pPr>
            <a:r>
              <a:rPr lang="en-US" sz="1200"/>
              <a:t>Funding requests are provided in advance of check cycles and are set with ACH pull or push options.</a:t>
            </a:r>
            <a:endParaRPr lang="en-US" sz="1200">
              <a:latin typeface="+mn-lt"/>
            </a:endParaRPr>
          </a:p>
          <a:p>
            <a:pPr marL="742959" lvl="1" indent="-228600" defTabSz="914400">
              <a:buFont typeface="Arial" panose="020B0604020202020204" pitchFamily="34" charset="0"/>
              <a:buChar char="•"/>
            </a:pPr>
            <a:endParaRPr lang="en-US" sz="1000">
              <a:latin typeface="+mn-lt"/>
            </a:endParaRPr>
          </a:p>
          <a:p>
            <a:pPr marL="742959" lvl="1" indent="-228600" defTabSz="914400">
              <a:buFont typeface="Arial" panose="020B0604020202020204" pitchFamily="34" charset="0"/>
              <a:buChar char="•"/>
            </a:pPr>
            <a:endParaRPr lang="en-US" sz="1000">
              <a:latin typeface="+mn-lt"/>
            </a:endParaRPr>
          </a:p>
          <a:p>
            <a:pPr indent="-228600" defTabSz="914400">
              <a:buFont typeface="Arial" panose="020B0604020202020204" pitchFamily="34" charset="0"/>
              <a:buChar char="•"/>
            </a:pPr>
            <a:endParaRPr lang="en-US" sz="1000">
              <a:latin typeface="+mn-lt"/>
            </a:endParaRPr>
          </a:p>
        </p:txBody>
      </p:sp>
    </p:spTree>
    <p:extLst>
      <p:ext uri="{BB962C8B-B14F-4D97-AF65-F5344CB8AC3E}">
        <p14:creationId xmlns:p14="http://schemas.microsoft.com/office/powerpoint/2010/main" val="3383159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hand holding a cell phone&#10;&#10;Description generated with high confidence">
            <a:extLst>
              <a:ext uri="{FF2B5EF4-FFF2-40B4-BE49-F238E27FC236}">
                <a16:creationId xmlns:a16="http://schemas.microsoft.com/office/drawing/2014/main" id="{29446CC1-16CA-4530-9910-7FA0AEC71ACD}"/>
              </a:ext>
            </a:extLst>
          </p:cNvPr>
          <p:cNvPicPr>
            <a:picLocks noChangeAspect="1"/>
          </p:cNvPicPr>
          <p:nvPr/>
        </p:nvPicPr>
        <p:blipFill rotWithShape="1">
          <a:blip r:embed="rId3" cstate="print">
            <a:alphaModFix amt="70000"/>
            <a:extLst>
              <a:ext uri="{28A0092B-C50C-407E-A947-70E740481C1C}">
                <a14:useLocalDpi xmlns:a14="http://schemas.microsoft.com/office/drawing/2010/main" val="0"/>
              </a:ext>
            </a:extLst>
          </a:blip>
          <a:srcRect b="1759"/>
          <a:stretch/>
        </p:blipFill>
        <p:spPr>
          <a:xfrm>
            <a:off x="3928262" y="32859"/>
            <a:ext cx="8263738" cy="6887380"/>
          </a:xfrm>
          <a:prstGeom prst="rect">
            <a:avLst/>
          </a:prstGeom>
        </p:spPr>
      </p:pic>
      <p:sp>
        <p:nvSpPr>
          <p:cNvPr id="2" name="Rectangle 1">
            <a:extLst>
              <a:ext uri="{FF2B5EF4-FFF2-40B4-BE49-F238E27FC236}">
                <a16:creationId xmlns:a16="http://schemas.microsoft.com/office/drawing/2014/main" id="{E6492F0A-A8C0-4F77-FAED-F025F36E66A2}"/>
              </a:ext>
            </a:extLst>
          </p:cNvPr>
          <p:cNvSpPr/>
          <p:nvPr/>
        </p:nvSpPr>
        <p:spPr>
          <a:xfrm>
            <a:off x="1" y="0"/>
            <a:ext cx="6096000" cy="6825141"/>
          </a:xfrm>
          <a:prstGeom prst="rect">
            <a:avLst/>
          </a:prstGeom>
          <a:gradFill>
            <a:gsLst>
              <a:gs pos="0">
                <a:schemeClr val="bg1"/>
              </a:gs>
              <a:gs pos="72000">
                <a:schemeClr val="bg1"/>
              </a:gs>
              <a:gs pos="10000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ED0C98-D2F3-4AAF-8C56-B34EC1D6D72E}"/>
              </a:ext>
            </a:extLst>
          </p:cNvPr>
          <p:cNvSpPr txBox="1"/>
          <p:nvPr/>
        </p:nvSpPr>
        <p:spPr>
          <a:xfrm>
            <a:off x="124239" y="1533764"/>
            <a:ext cx="4330517" cy="470898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Nova" panose="020B05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Gives you accessibility to your benefit plan information, claims data, eligibility details and so much more!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Dashboard with menu options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Claim Status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Benefit Information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View/Request an ID Card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Geofencing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Push Notifications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Rx Price Comparison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Nova" panose="020B0504020202020204" pitchFamily="34" charset="0"/>
                <a:ea typeface="+mn-ea"/>
                <a:cs typeface="+mn-cs"/>
              </a:rPr>
              <a:t>• Customer Service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Arial Nova" panose="020B0504020202020204" pitchFamily="34" charset="0"/>
                <a:ea typeface="+mn-ea"/>
                <a:cs typeface="+mn-cs"/>
              </a:rPr>
              <a:t> </a:t>
            </a:r>
            <a:endParaRPr kumimoji="0" lang="en-US" sz="2000" b="0" i="0" u="none" strike="noStrike" kern="1200" cap="none" spc="0" normalizeH="0" baseline="0" noProof="0">
              <a:ln>
                <a:noFill/>
              </a:ln>
              <a:solidFill>
                <a:prstClr val="black"/>
              </a:solidFill>
              <a:effectLst/>
              <a:uLnTx/>
              <a:uFillTx/>
              <a:latin typeface="Arial Nova" panose="020B05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Nova" panose="020B0504020202020204" pitchFamily="34" charset="0"/>
              <a:ea typeface="+mn-ea"/>
              <a:cs typeface="+mn-cs"/>
            </a:endParaRPr>
          </a:p>
        </p:txBody>
      </p:sp>
      <p:sp>
        <p:nvSpPr>
          <p:cNvPr id="7" name="TextBox 6">
            <a:extLst>
              <a:ext uri="{FF2B5EF4-FFF2-40B4-BE49-F238E27FC236}">
                <a16:creationId xmlns:a16="http://schemas.microsoft.com/office/drawing/2014/main" id="{AF93F6B8-043F-4549-A6D1-4C5578DD61BB}"/>
              </a:ext>
            </a:extLst>
          </p:cNvPr>
          <p:cNvSpPr txBox="1"/>
          <p:nvPr/>
        </p:nvSpPr>
        <p:spPr>
          <a:xfrm>
            <a:off x="124239" y="1115726"/>
            <a:ext cx="5092594" cy="5047536"/>
          </a:xfrm>
          <a:prstGeom prst="rect">
            <a:avLst/>
          </a:prstGeom>
          <a:solidFill>
            <a:schemeClr val="bg1">
              <a:lumMod val="95000"/>
            </a:schemeClr>
          </a:solidFill>
        </p:spPr>
        <p:txBody>
          <a:bodyPr wrap="square" rtlCol="0">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Gives you accessibility to your benefit plan information, claims data, eligibility details and much more! </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lang="en-US" sz="1400">
                <a:solidFill>
                  <a:prstClr val="black">
                    <a:lumMod val="65000"/>
                    <a:lumOff val="35000"/>
                  </a:prstClr>
                </a:solidFill>
                <a:latin typeface="Montserrat" panose="00000500000000000000" pitchFamily="2" charset="0"/>
                <a:cs typeface="Arial" panose="020B0604020202020204" pitchFamily="34" charset="0"/>
              </a:rPr>
              <a:t>Biometric Login for ease of access (Fingerprint &amp; Facial Recognition)</a:t>
            </a: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Simplified Accumulator</a:t>
            </a:r>
            <a:r>
              <a:rPr lang="en-US" sz="1400">
                <a:solidFill>
                  <a:prstClr val="black">
                    <a:lumMod val="65000"/>
                    <a:lumOff val="35000"/>
                  </a:prstClr>
                </a:solidFill>
                <a:latin typeface="Montserrat" panose="00000500000000000000" pitchFamily="2" charset="0"/>
                <a:cs typeface="Arial" panose="020B0604020202020204" pitchFamily="34" charset="0"/>
              </a:rPr>
              <a:t> View</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Recent Claims Summary and Full Detail</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Benefit Information</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View/Request an ID Card </a:t>
            </a:r>
            <a:r>
              <a:rPr lang="en-US" sz="1400">
                <a:solidFill>
                  <a:prstClr val="black">
                    <a:lumMod val="65000"/>
                    <a:lumOff val="35000"/>
                  </a:prstClr>
                </a:solidFill>
                <a:latin typeface="Montserrat" panose="00000500000000000000" pitchFamily="2" charset="0"/>
                <a:cs typeface="Arial" panose="020B0604020202020204" pitchFamily="34" charset="0"/>
              </a:rPr>
              <a:t>                           </a:t>
            </a: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a:t>
            </a:r>
            <a:r>
              <a:rPr lang="en-US" sz="1400">
                <a:solidFill>
                  <a:prstClr val="black">
                    <a:lumMod val="65000"/>
                    <a:lumOff val="35000"/>
                  </a:prstClr>
                </a:solidFill>
                <a:latin typeface="Montserrat" panose="00000500000000000000" pitchFamily="2" charset="0"/>
                <a:cs typeface="Arial" panose="020B0604020202020204" pitchFamily="34" charset="0"/>
              </a:rPr>
              <a:t>Display - </a:t>
            </a: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Print – Fax – Email)</a:t>
            </a: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lang="en-US" sz="1400">
                <a:solidFill>
                  <a:prstClr val="black">
                    <a:lumMod val="65000"/>
                    <a:lumOff val="35000"/>
                  </a:prstClr>
                </a:solidFill>
                <a:latin typeface="Montserrat" panose="00000500000000000000" pitchFamily="2" charset="0"/>
                <a:cs typeface="Arial" panose="020B0604020202020204" pitchFamily="34" charset="0"/>
              </a:rPr>
              <a:t>SSO directly to Vendor Solutions</a:t>
            </a: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120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Rx Price Comparison and Pharmacy Discount Programs (</a:t>
            </a:r>
            <a:r>
              <a:rPr lang="en-US" sz="1400">
                <a:solidFill>
                  <a:prstClr val="black">
                    <a:lumMod val="65000"/>
                    <a:lumOff val="35000"/>
                  </a:prstClr>
                </a:solidFill>
                <a:latin typeface="Montserrat" panose="00000500000000000000" pitchFamily="2" charset="0"/>
                <a:cs typeface="Arial" panose="020B0604020202020204" pitchFamily="34" charset="0"/>
              </a:rPr>
              <a:t>if applicable)</a:t>
            </a:r>
            <a:endPar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endParaRPr>
          </a:p>
          <a:p>
            <a:pPr marL="914400" marR="0" lvl="1" indent="-342900" algn="l" defTabSz="457200" rtl="0" eaLnBrk="1" fontAlgn="auto" latinLnBrk="0" hangingPunct="1">
              <a:lnSpc>
                <a:spcPct val="100000"/>
              </a:lnSpc>
              <a:spcBef>
                <a:spcPts val="0"/>
              </a:spcBef>
              <a:spcAft>
                <a:spcPts val="0"/>
              </a:spcAft>
              <a:buClr>
                <a:srgbClr val="1D97C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lumMod val="65000"/>
                    <a:lumOff val="35000"/>
                  </a:prstClr>
                </a:solidFill>
                <a:effectLst/>
                <a:uLnTx/>
                <a:uFillTx/>
                <a:latin typeface="Montserrat" panose="00000500000000000000" pitchFamily="2" charset="0"/>
                <a:cs typeface="Arial" panose="020B0604020202020204" pitchFamily="34" charset="0"/>
              </a:rPr>
              <a:t>Express Requests to Customer Support</a:t>
            </a:r>
          </a:p>
          <a:p>
            <a:pPr marL="914400" marR="0" lvl="1" indent="-342900" algn="l" defTabSz="457200" rtl="0" eaLnBrk="1" fontAlgn="auto" latinLnBrk="0" hangingPunct="1">
              <a:lnSpc>
                <a:spcPct val="100000"/>
              </a:lnSpc>
              <a:spcBef>
                <a:spcPts val="0"/>
              </a:spcBef>
              <a:spcAft>
                <a:spcPts val="0"/>
              </a:spcAft>
              <a:buClr>
                <a:srgbClr val="1D97CD"/>
              </a:buClr>
              <a:buSzTx/>
              <a:buFont typeface="Wingdings" panose="05000000000000000000" pitchFamily="2" charset="2"/>
              <a:buChar char="§"/>
              <a:tabLst/>
              <a:defRPr/>
            </a:pPr>
            <a:endParaRPr lang="en-US" sz="1400">
              <a:solidFill>
                <a:prstClr val="black">
                  <a:lumMod val="65000"/>
                  <a:lumOff val="35000"/>
                </a:prstClr>
              </a:solidFill>
              <a:latin typeface="Montserrat" panose="00000500000000000000" pitchFamily="2" charset="0"/>
              <a:cs typeface="Arial" panose="020B0604020202020204" pitchFamily="34" charset="0"/>
            </a:endParaRPr>
          </a:p>
          <a:p>
            <a:pPr marL="914400" lvl="1" indent="-342900" defTabSz="457200">
              <a:buClr>
                <a:srgbClr val="1D97CD"/>
              </a:buClr>
              <a:buFont typeface="Wingdings" panose="05000000000000000000" pitchFamily="2" charset="2"/>
              <a:buChar char="§"/>
              <a:defRPr/>
            </a:pPr>
            <a:r>
              <a:rPr lang="en-US" sz="1400">
                <a:solidFill>
                  <a:prstClr val="black">
                    <a:lumMod val="65000"/>
                    <a:lumOff val="35000"/>
                  </a:prstClr>
                </a:solidFill>
                <a:latin typeface="Montserrat" panose="00000500000000000000" pitchFamily="2" charset="0"/>
                <a:cs typeface="Arial" panose="020B0604020202020204" pitchFamily="34" charset="0"/>
              </a:rPr>
              <a:t>Push Notifications (Mobile App)</a:t>
            </a:r>
          </a:p>
          <a:p>
            <a:pPr marL="114300" marR="0" lvl="0" indent="0" algn="l" defTabSz="457200" rtl="0" eaLnBrk="1" fontAlgn="auto" latinLnBrk="0" hangingPunct="1">
              <a:lnSpc>
                <a:spcPct val="100000"/>
              </a:lnSpc>
              <a:spcBef>
                <a:spcPts val="0"/>
              </a:spcBef>
              <a:spcAft>
                <a:spcPts val="0"/>
              </a:spcAft>
              <a:buClr>
                <a:srgbClr val="0076C0"/>
              </a:buClr>
              <a:buSzTx/>
              <a:buFontTx/>
              <a:buNone/>
              <a:tabLst/>
              <a:defRPr/>
            </a:pPr>
            <a:endParaRPr kumimoji="0" lang="en-US" sz="1400" b="0" i="0" u="none" strike="noStrike" kern="1200" cap="none" spc="0" normalizeH="0" baseline="0" noProof="0">
              <a:ln>
                <a:noFill/>
              </a:ln>
              <a:solidFill>
                <a:prstClr val="black"/>
              </a:solidFill>
              <a:effectLst/>
              <a:uLnTx/>
              <a:uFillTx/>
              <a:latin typeface="Montserrat" panose="00000500000000000000" pitchFamily="2" charset="0"/>
              <a:cs typeface="Arial" panose="020B0604020202020204" pitchFamily="34" charset="0"/>
            </a:endParaRPr>
          </a:p>
        </p:txBody>
      </p:sp>
      <p:sp>
        <p:nvSpPr>
          <p:cNvPr id="8" name="Rectangle 7">
            <a:extLst>
              <a:ext uri="{FF2B5EF4-FFF2-40B4-BE49-F238E27FC236}">
                <a16:creationId xmlns:a16="http://schemas.microsoft.com/office/drawing/2014/main" id="{9D102BFD-8124-4AAE-B64F-4B7B0BDA5294}"/>
              </a:ext>
            </a:extLst>
          </p:cNvPr>
          <p:cNvSpPr/>
          <p:nvPr/>
        </p:nvSpPr>
        <p:spPr>
          <a:xfrm>
            <a:off x="419813" y="1990165"/>
            <a:ext cx="3276640" cy="325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3">
            <a:extLst>
              <a:ext uri="{FF2B5EF4-FFF2-40B4-BE49-F238E27FC236}">
                <a16:creationId xmlns:a16="http://schemas.microsoft.com/office/drawing/2014/main" id="{1084C65C-54B0-4134-A03C-07CD9FF3BD21}"/>
              </a:ext>
            </a:extLst>
          </p:cNvPr>
          <p:cNvSpPr>
            <a:spLocks noGrp="1"/>
          </p:cNvSpPr>
          <p:nvPr>
            <p:ph type="title"/>
          </p:nvPr>
        </p:nvSpPr>
        <p:spPr>
          <a:xfrm>
            <a:off x="168643" y="317179"/>
            <a:ext cx="5360858" cy="596152"/>
          </a:xfrm>
        </p:spPr>
        <p:txBody>
          <a:bodyPr>
            <a:normAutofit fontScale="90000"/>
          </a:bodyPr>
          <a:lstStyle/>
          <a:p>
            <a:r>
              <a:rPr lang="en-US" sz="2800" b="1" spc="150">
                <a:solidFill>
                  <a:srgbClr val="0076A9"/>
                </a:solidFill>
                <a:cs typeface="Arial" panose="020B0604020202020204" pitchFamily="34" charset="0"/>
              </a:rPr>
              <a:t>Web Portal and Mobile Application</a:t>
            </a:r>
          </a:p>
        </p:txBody>
      </p:sp>
      <p:sp>
        <p:nvSpPr>
          <p:cNvPr id="10" name="Rectangle 9">
            <a:extLst>
              <a:ext uri="{FF2B5EF4-FFF2-40B4-BE49-F238E27FC236}">
                <a16:creationId xmlns:a16="http://schemas.microsoft.com/office/drawing/2014/main" id="{23877204-8B24-4E96-9E93-135502D8C8AC}"/>
              </a:ext>
            </a:extLst>
          </p:cNvPr>
          <p:cNvSpPr/>
          <p:nvPr/>
        </p:nvSpPr>
        <p:spPr>
          <a:xfrm>
            <a:off x="279031" y="1986750"/>
            <a:ext cx="3711944" cy="3077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8" name="Picture 6" descr="App Store Google Play Logo Vectors &amp; Illustrations for Free Download ...">
            <a:extLst>
              <a:ext uri="{FF2B5EF4-FFF2-40B4-BE49-F238E27FC236}">
                <a16:creationId xmlns:a16="http://schemas.microsoft.com/office/drawing/2014/main" id="{EDA0EA21-0B60-7BB6-939E-1494FC5030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23858" y="41455"/>
            <a:ext cx="1868141" cy="1868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14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12192000" cy="1400530"/>
          </a:xfrm>
        </p:spPr>
        <p:txBody>
          <a:bodyPr/>
          <a:lstStyle/>
          <a:p>
            <a:pPr algn="ctr"/>
            <a:r>
              <a:rPr lang="en-US" sz="3200"/>
              <a:t>Measuring Success: Customer Experience </a:t>
            </a:r>
            <a:br>
              <a:rPr lang="en-US" sz="3200"/>
            </a:br>
            <a:r>
              <a:rPr lang="en-US" sz="3200"/>
              <a:t>Key Performance Indicators</a:t>
            </a:r>
          </a:p>
        </p:txBody>
      </p:sp>
      <p:sp>
        <p:nvSpPr>
          <p:cNvPr id="3" name="Content Placeholder 2"/>
          <p:cNvSpPr>
            <a:spLocks noGrp="1"/>
          </p:cNvSpPr>
          <p:nvPr>
            <p:ph sz="half" idx="1"/>
          </p:nvPr>
        </p:nvSpPr>
        <p:spPr>
          <a:xfrm>
            <a:off x="8881535" y="1975556"/>
            <a:ext cx="2847621" cy="4289777"/>
          </a:xfrm>
          <a:ln>
            <a:solidFill>
              <a:schemeClr val="accent1"/>
            </a:solidFill>
          </a:ln>
        </p:spPr>
        <p:txBody>
          <a:bodyPr>
            <a:normAutofit fontScale="92500"/>
          </a:bodyPr>
          <a:lstStyle/>
          <a:p>
            <a:pPr>
              <a:buFont typeface="Wingdings" panose="05000000000000000000" pitchFamily="2" charset="2"/>
              <a:buChar char="ü"/>
            </a:pPr>
            <a:r>
              <a:rPr lang="en-US" sz="1600" b="1">
                <a:latin typeface="Aptos Display" panose="020B0004020202020204" pitchFamily="34" charset="0"/>
              </a:rPr>
              <a:t>Industry-leading responsiveness</a:t>
            </a:r>
          </a:p>
          <a:p>
            <a:pPr marL="0" indent="0">
              <a:buNone/>
            </a:pPr>
            <a:r>
              <a:rPr lang="en-US" sz="1600">
                <a:latin typeface="Aptos Display" panose="020B0004020202020204" pitchFamily="34" charset="0"/>
              </a:rPr>
              <a:t>1.04% </a:t>
            </a:r>
            <a:r>
              <a:rPr lang="en-US" sz="1600"/>
              <a:t>abandonment</a:t>
            </a:r>
            <a:r>
              <a:rPr lang="en-US" sz="1600">
                <a:latin typeface="Aptos Display" panose="020B0004020202020204" pitchFamily="34" charset="0"/>
              </a:rPr>
              <a:t> and 17 s average speed of answer—minimal dropped calls, maximum access. </a:t>
            </a:r>
          </a:p>
          <a:p>
            <a:pPr marL="0" indent="0">
              <a:buNone/>
            </a:pPr>
            <a:endParaRPr lang="en-US" sz="1600">
              <a:latin typeface="Aptos Display" panose="020B0004020202020204" pitchFamily="34" charset="0"/>
            </a:endParaRPr>
          </a:p>
          <a:p>
            <a:pPr>
              <a:buFont typeface="Wingdings" panose="05000000000000000000" pitchFamily="2" charset="2"/>
              <a:buChar char="ü"/>
            </a:pPr>
            <a:r>
              <a:rPr lang="en-US" sz="1600" b="1">
                <a:latin typeface="Aptos Display" panose="020B0004020202020204" pitchFamily="34" charset="0"/>
              </a:rPr>
              <a:t>Outstanding quality &amp; access</a:t>
            </a:r>
          </a:p>
          <a:p>
            <a:pPr marL="0" indent="0">
              <a:buNone/>
            </a:pPr>
            <a:r>
              <a:rPr lang="en-US" sz="1600">
                <a:latin typeface="Aptos Display" panose="020B0004020202020204" pitchFamily="34" charset="0"/>
              </a:rPr>
              <a:t>90% of calls answered within 30s (vs. 80% target) and 99%+ audit scores across voice, email &amp; chat.</a:t>
            </a:r>
          </a:p>
          <a:p>
            <a:pPr marL="0" indent="0">
              <a:buNone/>
            </a:pPr>
            <a:endParaRPr lang="en-US" sz="1600">
              <a:latin typeface="Aptos Display" panose="020B0004020202020204" pitchFamily="34" charset="0"/>
            </a:endParaRPr>
          </a:p>
          <a:p>
            <a:pPr>
              <a:buFont typeface="Wingdings" panose="05000000000000000000" pitchFamily="2" charset="2"/>
              <a:buChar char="ü"/>
            </a:pPr>
            <a:r>
              <a:rPr lang="en-US" sz="1600">
                <a:latin typeface="Aptos Display" panose="020B0004020202020204" pitchFamily="34" charset="0"/>
              </a:rPr>
              <a:t> </a:t>
            </a:r>
            <a:r>
              <a:rPr lang="en-US" sz="1600" b="1">
                <a:latin typeface="Aptos Display" panose="020B0004020202020204" pitchFamily="34" charset="0"/>
              </a:rPr>
              <a:t>Balanced efficiency &amp; depth</a:t>
            </a:r>
          </a:p>
          <a:p>
            <a:pPr marL="0" indent="0">
              <a:buNone/>
            </a:pPr>
            <a:r>
              <a:rPr lang="en-US" sz="1600">
                <a:latin typeface="Aptos Display" panose="020B0004020202020204" pitchFamily="34" charset="0"/>
              </a:rPr>
              <a:t>Handle time reflects the detailed, compassionate TPA support your members need.</a:t>
            </a:r>
          </a:p>
        </p:txBody>
      </p:sp>
      <p:graphicFrame>
        <p:nvGraphicFramePr>
          <p:cNvPr id="10" name="Content Placeholder 9">
            <a:extLst>
              <a:ext uri="{FF2B5EF4-FFF2-40B4-BE49-F238E27FC236}">
                <a16:creationId xmlns:a16="http://schemas.microsoft.com/office/drawing/2014/main" id="{55E3AAC9-28B3-721B-63E3-3592885967C4}"/>
              </a:ext>
            </a:extLst>
          </p:cNvPr>
          <p:cNvGraphicFramePr>
            <a:graphicFrameLocks noGrp="1"/>
          </p:cNvGraphicFramePr>
          <p:nvPr>
            <p:ph sz="half" idx="2"/>
            <p:extLst>
              <p:ext uri="{D42A27DB-BD31-4B8C-83A1-F6EECF244321}">
                <p14:modId xmlns:p14="http://schemas.microsoft.com/office/powerpoint/2010/main" val="4176831632"/>
              </p:ext>
            </p:extLst>
          </p:nvPr>
        </p:nvGraphicFramePr>
        <p:xfrm>
          <a:off x="403118" y="1425678"/>
          <a:ext cx="8081025" cy="4839657"/>
        </p:xfrm>
        <a:graphic>
          <a:graphicData uri="http://schemas.openxmlformats.org/drawingml/2006/table">
            <a:tbl>
              <a:tblPr/>
              <a:tblGrid>
                <a:gridCol w="2308863">
                  <a:extLst>
                    <a:ext uri="{9D8B030D-6E8A-4147-A177-3AD203B41FA5}">
                      <a16:colId xmlns:a16="http://schemas.microsoft.com/office/drawing/2014/main" val="799036455"/>
                    </a:ext>
                  </a:extLst>
                </a:gridCol>
                <a:gridCol w="1684666">
                  <a:extLst>
                    <a:ext uri="{9D8B030D-6E8A-4147-A177-3AD203B41FA5}">
                      <a16:colId xmlns:a16="http://schemas.microsoft.com/office/drawing/2014/main" val="2139756308"/>
                    </a:ext>
                  </a:extLst>
                </a:gridCol>
                <a:gridCol w="2043748">
                  <a:extLst>
                    <a:ext uri="{9D8B030D-6E8A-4147-A177-3AD203B41FA5}">
                      <a16:colId xmlns:a16="http://schemas.microsoft.com/office/drawing/2014/main" val="2370403289"/>
                    </a:ext>
                  </a:extLst>
                </a:gridCol>
                <a:gridCol w="2043748">
                  <a:extLst>
                    <a:ext uri="{9D8B030D-6E8A-4147-A177-3AD203B41FA5}">
                      <a16:colId xmlns:a16="http://schemas.microsoft.com/office/drawing/2014/main" val="1894781978"/>
                    </a:ext>
                  </a:extLst>
                </a:gridCol>
              </a:tblGrid>
              <a:tr h="1309316">
                <a:tc>
                  <a:txBody>
                    <a:bodyPr/>
                    <a:lstStyle/>
                    <a:p>
                      <a:pPr algn="ctr">
                        <a:buNone/>
                      </a:pPr>
                      <a:r>
                        <a:rPr lang="en-US" sz="1300" b="1">
                          <a:latin typeface="Montserrat" panose="00000500000000000000" pitchFamily="2" charset="0"/>
                        </a:rPr>
                        <a:t>Metric</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2025 YTD</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Industry Benchmark</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How We Compare</a:t>
                      </a:r>
                      <a:endParaRPr lang="en-US" sz="1300">
                        <a:latin typeface="Montserrat" panose="00000500000000000000" pitchFamily="2" charset="0"/>
                      </a:endParaRPr>
                    </a:p>
                  </a:txBody>
                  <a:tcPr marL="44242" marR="44242" marT="22121" marB="22121" anchor="ctr">
                    <a:lnL>
                      <a:noFill/>
                    </a:lnL>
                    <a:lnR>
                      <a:noFill/>
                    </a:lnR>
                    <a:lnT>
                      <a:noFill/>
                    </a:lnT>
                    <a:lnB>
                      <a:noFill/>
                    </a:lnB>
                    <a:noFill/>
                  </a:tcPr>
                </a:tc>
                <a:extLst>
                  <a:ext uri="{0D108BD9-81ED-4DB2-BD59-A6C34878D82A}">
                    <a16:rowId xmlns:a16="http://schemas.microsoft.com/office/drawing/2014/main" val="284748808"/>
                  </a:ext>
                </a:extLst>
              </a:tr>
              <a:tr h="507445">
                <a:tc>
                  <a:txBody>
                    <a:bodyPr/>
                    <a:lstStyle/>
                    <a:p>
                      <a:pPr algn="l">
                        <a:buNone/>
                      </a:pPr>
                      <a:r>
                        <a:rPr lang="en-US" sz="1300" b="1">
                          <a:latin typeface="Montserrat" panose="00000500000000000000" pitchFamily="2" charset="0"/>
                        </a:rPr>
                        <a:t>Abandonment Rate</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1.04%</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3–5% (acceptable), &lt;2% (best-in-class)</a:t>
                      </a: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Excellent</a:t>
                      </a:r>
                      <a:r>
                        <a:rPr lang="en-US" sz="1300">
                          <a:latin typeface="Montserrat" panose="00000500000000000000" pitchFamily="2" charset="0"/>
                        </a:rPr>
                        <a:t> 👏</a:t>
                      </a:r>
                    </a:p>
                  </a:txBody>
                  <a:tcPr marL="44242" marR="44242" marT="22121" marB="22121" anchor="ctr">
                    <a:lnL>
                      <a:noFill/>
                    </a:lnL>
                    <a:lnR>
                      <a:noFill/>
                    </a:lnR>
                    <a:lnT>
                      <a:noFill/>
                    </a:lnT>
                    <a:lnB>
                      <a:noFill/>
                    </a:lnB>
                    <a:noFill/>
                  </a:tcPr>
                </a:tc>
                <a:extLst>
                  <a:ext uri="{0D108BD9-81ED-4DB2-BD59-A6C34878D82A}">
                    <a16:rowId xmlns:a16="http://schemas.microsoft.com/office/drawing/2014/main" val="1370486147"/>
                  </a:ext>
                </a:extLst>
              </a:tr>
              <a:tr h="704668">
                <a:tc>
                  <a:txBody>
                    <a:bodyPr/>
                    <a:lstStyle/>
                    <a:p>
                      <a:pPr algn="l">
                        <a:buNone/>
                      </a:pPr>
                      <a:r>
                        <a:rPr lang="en-US" sz="1300" b="1">
                          <a:latin typeface="Montserrat" panose="00000500000000000000" pitchFamily="2" charset="0"/>
                        </a:rPr>
                        <a:t>Average Speed of Answer (ASA)</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17 seconds</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&lt;28 seconds (typical target); ~3 min in healthcare BPO</a:t>
                      </a: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Excellent</a:t>
                      </a:r>
                      <a:r>
                        <a:rPr lang="en-US" sz="1300">
                          <a:latin typeface="Montserrat" panose="00000500000000000000" pitchFamily="2" charset="0"/>
                        </a:rPr>
                        <a:t> 👏</a:t>
                      </a:r>
                    </a:p>
                  </a:txBody>
                  <a:tcPr marL="44242" marR="44242" marT="22121" marB="22121" anchor="ctr">
                    <a:lnL>
                      <a:noFill/>
                    </a:lnL>
                    <a:lnR>
                      <a:noFill/>
                    </a:lnR>
                    <a:lnT>
                      <a:noFill/>
                    </a:lnT>
                    <a:lnB>
                      <a:noFill/>
                    </a:lnB>
                    <a:noFill/>
                  </a:tcPr>
                </a:tc>
                <a:extLst>
                  <a:ext uri="{0D108BD9-81ED-4DB2-BD59-A6C34878D82A}">
                    <a16:rowId xmlns:a16="http://schemas.microsoft.com/office/drawing/2014/main" val="1430044168"/>
                  </a:ext>
                </a:extLst>
              </a:tr>
              <a:tr h="563734">
                <a:tc>
                  <a:txBody>
                    <a:bodyPr/>
                    <a:lstStyle/>
                    <a:p>
                      <a:pPr algn="l">
                        <a:buNone/>
                      </a:pPr>
                      <a:r>
                        <a:rPr lang="en-US" sz="1300" b="1">
                          <a:latin typeface="Montserrat" panose="00000500000000000000" pitchFamily="2" charset="0"/>
                        </a:rPr>
                        <a:t>SLA (80% ≤ 30 sec)</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90.00%</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80% in 20–30 seconds (standard)</a:t>
                      </a: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Above target</a:t>
                      </a:r>
                      <a:r>
                        <a:rPr lang="en-US" sz="1300">
                          <a:latin typeface="Montserrat" panose="00000500000000000000" pitchFamily="2" charset="0"/>
                        </a:rPr>
                        <a:t> ✅</a:t>
                      </a:r>
                    </a:p>
                  </a:txBody>
                  <a:tcPr marL="44242" marR="44242" marT="22121" marB="22121" anchor="ctr">
                    <a:lnL>
                      <a:noFill/>
                    </a:lnL>
                    <a:lnR>
                      <a:noFill/>
                    </a:lnR>
                    <a:lnT>
                      <a:noFill/>
                    </a:lnT>
                    <a:lnB>
                      <a:noFill/>
                    </a:lnB>
                    <a:noFill/>
                  </a:tcPr>
                </a:tc>
                <a:extLst>
                  <a:ext uri="{0D108BD9-81ED-4DB2-BD59-A6C34878D82A}">
                    <a16:rowId xmlns:a16="http://schemas.microsoft.com/office/drawing/2014/main" val="3034648963"/>
                  </a:ext>
                </a:extLst>
              </a:tr>
              <a:tr h="673388">
                <a:tc>
                  <a:txBody>
                    <a:bodyPr/>
                    <a:lstStyle/>
                    <a:p>
                      <a:pPr algn="l">
                        <a:buNone/>
                      </a:pPr>
                      <a:r>
                        <a:rPr lang="en-US" sz="1300" b="1">
                          <a:latin typeface="Montserrat" panose="00000500000000000000" pitchFamily="2" charset="0"/>
                        </a:rPr>
                        <a:t>Average Handle Time</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7 minutes 47 seconds</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4–6 minutes typical; 7–8+ mins for complex TPA calls</a:t>
                      </a: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Higher than industry</a:t>
                      </a:r>
                      <a:r>
                        <a:rPr lang="en-US" sz="1300">
                          <a:latin typeface="Montserrat" panose="00000500000000000000" pitchFamily="2" charset="0"/>
                        </a:rPr>
                        <a:t>, but expected</a:t>
                      </a:r>
                    </a:p>
                  </a:txBody>
                  <a:tcPr marL="44242" marR="44242" marT="22121" marB="22121" anchor="ctr">
                    <a:lnL>
                      <a:noFill/>
                    </a:lnL>
                    <a:lnR>
                      <a:noFill/>
                    </a:lnR>
                    <a:lnT>
                      <a:noFill/>
                    </a:lnT>
                    <a:lnB>
                      <a:noFill/>
                    </a:lnB>
                    <a:noFill/>
                  </a:tcPr>
                </a:tc>
                <a:extLst>
                  <a:ext uri="{0D108BD9-81ED-4DB2-BD59-A6C34878D82A}">
                    <a16:rowId xmlns:a16="http://schemas.microsoft.com/office/drawing/2014/main" val="1076806336"/>
                  </a:ext>
                </a:extLst>
              </a:tr>
              <a:tr h="407718">
                <a:tc>
                  <a:txBody>
                    <a:bodyPr/>
                    <a:lstStyle/>
                    <a:p>
                      <a:pPr algn="l">
                        <a:buNone/>
                      </a:pPr>
                      <a:r>
                        <a:rPr lang="en-US" sz="1300" b="1">
                          <a:latin typeface="Montserrat" panose="00000500000000000000" pitchFamily="2" charset="0"/>
                        </a:rPr>
                        <a:t>After Call Work (ACW)</a:t>
                      </a:r>
                      <a:endParaRPr lang="en-US" sz="1300">
                        <a:latin typeface="Montserrat" panose="00000500000000000000" pitchFamily="2" charset="0"/>
                      </a:endParaRP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49 seconds</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30–60 seconds typical</a:t>
                      </a: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Within range</a:t>
                      </a:r>
                      <a:r>
                        <a:rPr lang="en-US" sz="1300">
                          <a:latin typeface="Montserrat" panose="00000500000000000000" pitchFamily="2" charset="0"/>
                        </a:rPr>
                        <a:t> 🟢</a:t>
                      </a:r>
                    </a:p>
                  </a:txBody>
                  <a:tcPr marL="44242" marR="44242" marT="22121" marB="22121" anchor="ctr">
                    <a:lnL>
                      <a:noFill/>
                    </a:lnL>
                    <a:lnR>
                      <a:noFill/>
                    </a:lnR>
                    <a:lnT>
                      <a:noFill/>
                    </a:lnT>
                    <a:lnB>
                      <a:noFill/>
                    </a:lnB>
                    <a:noFill/>
                  </a:tcPr>
                </a:tc>
                <a:extLst>
                  <a:ext uri="{0D108BD9-81ED-4DB2-BD59-A6C34878D82A}">
                    <a16:rowId xmlns:a16="http://schemas.microsoft.com/office/drawing/2014/main" val="3364222059"/>
                  </a:ext>
                </a:extLst>
              </a:tr>
              <a:tr h="673388">
                <a:tc>
                  <a:txBody>
                    <a:bodyPr/>
                    <a:lstStyle/>
                    <a:p>
                      <a:pPr algn="l">
                        <a:buNone/>
                      </a:pPr>
                      <a:r>
                        <a:rPr lang="en-US" sz="1300" b="1">
                          <a:latin typeface="Montserrat" panose="00000500000000000000" pitchFamily="2" charset="0"/>
                        </a:rPr>
                        <a:t>Quality Audits</a:t>
                      </a:r>
                      <a:r>
                        <a:rPr lang="en-US" sz="1300">
                          <a:latin typeface="Montserrat" panose="00000500000000000000" pitchFamily="2" charset="0"/>
                        </a:rPr>
                        <a:t> (Email, Chat, Soft Skills, Procedural)</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99%+</a:t>
                      </a:r>
                    </a:p>
                  </a:txBody>
                  <a:tcPr marL="44242" marR="44242" marT="22121" marB="22121" anchor="ctr">
                    <a:lnL>
                      <a:noFill/>
                    </a:lnL>
                    <a:lnR>
                      <a:noFill/>
                    </a:lnR>
                    <a:lnT>
                      <a:noFill/>
                    </a:lnT>
                    <a:lnB>
                      <a:noFill/>
                    </a:lnB>
                    <a:noFill/>
                  </a:tcPr>
                </a:tc>
                <a:tc>
                  <a:txBody>
                    <a:bodyPr/>
                    <a:lstStyle/>
                    <a:p>
                      <a:pPr algn="ctr">
                        <a:buNone/>
                      </a:pPr>
                      <a:r>
                        <a:rPr lang="en-US" sz="1300">
                          <a:latin typeface="Montserrat" panose="00000500000000000000" pitchFamily="2" charset="0"/>
                        </a:rPr>
                        <a:t>95–97% considered strong</a:t>
                      </a:r>
                    </a:p>
                  </a:txBody>
                  <a:tcPr marL="44242" marR="44242" marT="22121" marB="22121" anchor="ctr">
                    <a:lnL>
                      <a:noFill/>
                    </a:lnL>
                    <a:lnR>
                      <a:noFill/>
                    </a:lnR>
                    <a:lnT>
                      <a:noFill/>
                    </a:lnT>
                    <a:lnB>
                      <a:noFill/>
                    </a:lnB>
                    <a:noFill/>
                  </a:tcPr>
                </a:tc>
                <a:tc>
                  <a:txBody>
                    <a:bodyPr/>
                    <a:lstStyle/>
                    <a:p>
                      <a:pPr algn="ctr">
                        <a:buNone/>
                      </a:pPr>
                      <a:r>
                        <a:rPr lang="en-US" sz="1300" b="1">
                          <a:latin typeface="Montserrat" panose="00000500000000000000" pitchFamily="2" charset="0"/>
                        </a:rPr>
                        <a:t>Outstanding</a:t>
                      </a:r>
                      <a:r>
                        <a:rPr lang="en-US" sz="1300">
                          <a:latin typeface="Montserrat" panose="00000500000000000000" pitchFamily="2" charset="0"/>
                        </a:rPr>
                        <a:t> 💯</a:t>
                      </a:r>
                    </a:p>
                  </a:txBody>
                  <a:tcPr marL="44242" marR="44242" marT="22121" marB="22121" anchor="ctr">
                    <a:lnL>
                      <a:noFill/>
                    </a:lnL>
                    <a:lnR>
                      <a:noFill/>
                    </a:lnR>
                    <a:lnT>
                      <a:noFill/>
                    </a:lnT>
                    <a:lnB>
                      <a:noFill/>
                    </a:lnB>
                    <a:noFill/>
                  </a:tcPr>
                </a:tc>
                <a:extLst>
                  <a:ext uri="{0D108BD9-81ED-4DB2-BD59-A6C34878D82A}">
                    <a16:rowId xmlns:a16="http://schemas.microsoft.com/office/drawing/2014/main" val="1590069587"/>
                  </a:ext>
                </a:extLst>
              </a:tr>
            </a:tbl>
          </a:graphicData>
        </a:graphic>
      </p:graphicFrame>
    </p:spTree>
    <p:extLst>
      <p:ext uri="{BB962C8B-B14F-4D97-AF65-F5344CB8AC3E}">
        <p14:creationId xmlns:p14="http://schemas.microsoft.com/office/powerpoint/2010/main" val="420698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ctr"/>
            <a:r>
              <a:rPr lang="en-US" sz="3200" dirty="0"/>
              <a:t>What Our Members Are Saying: Real Feedback on Their Call Center Experience</a:t>
            </a:r>
          </a:p>
        </p:txBody>
      </p:sp>
      <p:graphicFrame>
        <p:nvGraphicFramePr>
          <p:cNvPr id="3" name="Content Placeholder 2" descr="Alternating Flow diagram showing 3 groups arranged from left to right with a title and bullet points in each group and a curved arrow showing the flow from one group to the next."/>
          <p:cNvGraphicFramePr>
            <a:graphicFrameLocks noGrp="1"/>
          </p:cNvGraphicFramePr>
          <p:nvPr>
            <p:ph idx="1"/>
          </p:nvPr>
        </p:nvGraphicFramePr>
        <p:xfrm>
          <a:off x="457201" y="1828800"/>
          <a:ext cx="11277599"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223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E099DA-B922-827A-6FB1-E8BCF8426D6F}"/>
              </a:ext>
            </a:extLst>
          </p:cNvPr>
          <p:cNvSpPr>
            <a:spLocks noGrp="1"/>
          </p:cNvSpPr>
          <p:nvPr>
            <p:ph type="title"/>
          </p:nvPr>
        </p:nvSpPr>
        <p:spPr>
          <a:xfrm>
            <a:off x="5833475" y="262996"/>
            <a:ext cx="4840010" cy="1807305"/>
          </a:xfrm>
        </p:spPr>
        <p:txBody>
          <a:bodyPr vert="horz" lIns="91440" tIns="45720" rIns="91440" bIns="45720" rtlCol="0" anchor="ctr">
            <a:normAutofit/>
          </a:bodyPr>
          <a:lstStyle/>
          <a:p>
            <a:pPr defTabSz="914400"/>
            <a:r>
              <a:rPr lang="en-US" sz="3700">
                <a:latin typeface="+mj-lt"/>
              </a:rPr>
              <a:t>Customized Plan Solutions for </a:t>
            </a:r>
            <a:br>
              <a:rPr lang="en-US" sz="3700">
                <a:latin typeface="+mj-lt"/>
              </a:rPr>
            </a:br>
            <a:r>
              <a:rPr lang="en-US" sz="3700">
                <a:latin typeface="+mj-lt"/>
              </a:rPr>
              <a:t>Complex Client Needs</a:t>
            </a:r>
          </a:p>
        </p:txBody>
      </p:sp>
      <p:sp>
        <p:nvSpPr>
          <p:cNvPr id="3" name="TextBox 2">
            <a:extLst>
              <a:ext uri="{FF2B5EF4-FFF2-40B4-BE49-F238E27FC236}">
                <a16:creationId xmlns:a16="http://schemas.microsoft.com/office/drawing/2014/main" id="{008198F9-2731-DD67-98C1-889608537825}"/>
              </a:ext>
            </a:extLst>
          </p:cNvPr>
          <p:cNvSpPr txBox="1"/>
          <p:nvPr/>
        </p:nvSpPr>
        <p:spPr>
          <a:xfrm>
            <a:off x="5581497" y="2333297"/>
            <a:ext cx="6239865" cy="384366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b="1"/>
              <a:t>Flexible Plan Designs</a:t>
            </a:r>
            <a:endParaRPr lang="en-US" sz="1400"/>
          </a:p>
          <a:p>
            <a:pPr indent="-228600">
              <a:lnSpc>
                <a:spcPct val="90000"/>
              </a:lnSpc>
              <a:spcAft>
                <a:spcPts val="600"/>
              </a:spcAft>
              <a:buFont typeface="Arial" panose="020B0604020202020204" pitchFamily="34" charset="0"/>
              <a:buChar char="•"/>
            </a:pPr>
            <a:r>
              <a:rPr lang="en-US" sz="1400"/>
              <a:t>Customizable benefit structures to meet diverse organizational needs.</a:t>
            </a:r>
          </a:p>
          <a:p>
            <a:pPr indent="-228600">
              <a:lnSpc>
                <a:spcPct val="90000"/>
              </a:lnSpc>
              <a:spcAft>
                <a:spcPts val="600"/>
              </a:spcAft>
              <a:buFont typeface="Arial" panose="020B0604020202020204" pitchFamily="34" charset="0"/>
              <a:buChar char="•"/>
            </a:pPr>
            <a:r>
              <a:rPr lang="en-US" sz="1400"/>
              <a:t>Streamlined plan management for operational efficiency.</a:t>
            </a:r>
          </a:p>
          <a:p>
            <a:pPr indent="-228600">
              <a:lnSpc>
                <a:spcPct val="90000"/>
              </a:lnSpc>
              <a:spcAft>
                <a:spcPts val="600"/>
              </a:spcAft>
              <a:buFont typeface="Arial" panose="020B0604020202020204" pitchFamily="34" charset="0"/>
              <a:buChar char="•"/>
            </a:pPr>
            <a:r>
              <a:rPr lang="en-US" sz="1400"/>
              <a:t>Capable of high frequency plan change requirements.</a:t>
            </a:r>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r>
              <a:rPr lang="en-US" sz="1400" b="1"/>
              <a:t>Large Client Plan Process</a:t>
            </a:r>
          </a:p>
          <a:p>
            <a:pPr indent="-228600">
              <a:lnSpc>
                <a:spcPct val="90000"/>
              </a:lnSpc>
              <a:spcAft>
                <a:spcPts val="600"/>
              </a:spcAft>
              <a:buFont typeface="Arial" panose="020B0604020202020204" pitchFamily="34" charset="0"/>
              <a:buChar char="•"/>
            </a:pPr>
            <a:r>
              <a:rPr lang="en-US" sz="1400"/>
              <a:t>In-depth analysis of current plan design challenges.</a:t>
            </a:r>
          </a:p>
          <a:p>
            <a:pPr indent="-228600">
              <a:lnSpc>
                <a:spcPct val="90000"/>
              </a:lnSpc>
              <a:spcAft>
                <a:spcPts val="600"/>
              </a:spcAft>
              <a:buFont typeface="Arial" panose="020B0604020202020204" pitchFamily="34" charset="0"/>
              <a:buChar char="•"/>
            </a:pPr>
            <a:r>
              <a:rPr lang="en-US" sz="1400"/>
              <a:t>Compliance review of existing plan documentation.</a:t>
            </a:r>
          </a:p>
          <a:p>
            <a:pPr indent="-228600">
              <a:lnSpc>
                <a:spcPct val="90000"/>
              </a:lnSpc>
              <a:spcAft>
                <a:spcPts val="600"/>
              </a:spcAft>
              <a:buFont typeface="Arial" panose="020B0604020202020204" pitchFamily="34" charset="0"/>
              <a:buChar char="•"/>
            </a:pPr>
            <a:r>
              <a:rPr lang="en-US" sz="1400"/>
              <a:t>Interactive Q&amp;A to clarify benefit intent and administrative practices.</a:t>
            </a:r>
          </a:p>
          <a:p>
            <a:pPr indent="-228600">
              <a:lnSpc>
                <a:spcPct val="90000"/>
              </a:lnSpc>
              <a:spcAft>
                <a:spcPts val="600"/>
              </a:spcAft>
              <a:buFont typeface="Arial" panose="020B0604020202020204" pitchFamily="34" charset="0"/>
              <a:buChar char="•"/>
            </a:pPr>
            <a:r>
              <a:rPr lang="en-US" sz="1400"/>
              <a:t>Strategic consultation based on plan review and claims data insights.</a:t>
            </a:r>
          </a:p>
        </p:txBody>
      </p:sp>
    </p:spTree>
    <p:extLst>
      <p:ext uri="{BB962C8B-B14F-4D97-AF65-F5344CB8AC3E}">
        <p14:creationId xmlns:p14="http://schemas.microsoft.com/office/powerpoint/2010/main" val="1248825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5116B-E12C-732E-DDD0-A472E89B4359}"/>
              </a:ext>
            </a:extLst>
          </p:cNvPr>
          <p:cNvSpPr>
            <a:spLocks noGrp="1"/>
          </p:cNvSpPr>
          <p:nvPr>
            <p:ph type="title"/>
          </p:nvPr>
        </p:nvSpPr>
        <p:spPr>
          <a:xfrm>
            <a:off x="104235" y="3953306"/>
            <a:ext cx="2302465" cy="1492301"/>
          </a:xfrm>
        </p:spPr>
        <p:txBody>
          <a:bodyPr vert="horz" lIns="91440" tIns="45720" rIns="91440" bIns="45720" rtlCol="0" anchor="ctr">
            <a:normAutofit/>
          </a:bodyPr>
          <a:lstStyle/>
          <a:p>
            <a:pPr defTabSz="914400"/>
            <a:r>
              <a:rPr lang="en-US" sz="3600"/>
              <a:t>Training Overview</a:t>
            </a:r>
          </a:p>
        </p:txBody>
      </p:sp>
      <p:sp>
        <p:nvSpPr>
          <p:cNvPr id="30" name="Text Placeholder 3">
            <a:extLst>
              <a:ext uri="{FF2B5EF4-FFF2-40B4-BE49-F238E27FC236}">
                <a16:creationId xmlns:a16="http://schemas.microsoft.com/office/drawing/2014/main" id="{5B4ED9D4-A0D6-250A-AE8B-40C315B17EC2}"/>
              </a:ext>
            </a:extLst>
          </p:cNvPr>
          <p:cNvSpPr>
            <a:spLocks noGrp="1"/>
          </p:cNvSpPr>
          <p:nvPr>
            <p:ph type="body" sz="half" idx="2"/>
          </p:nvPr>
        </p:nvSpPr>
        <p:spPr>
          <a:xfrm>
            <a:off x="2662174" y="2870353"/>
            <a:ext cx="9582912" cy="4365980"/>
          </a:xfrm>
        </p:spPr>
        <p:txBody>
          <a:bodyPr vert="horz" lIns="91440" tIns="45720" rIns="91440" bIns="45720" rtlCol="0" anchor="ctr">
            <a:noAutofit/>
          </a:bodyPr>
          <a:lstStyle/>
          <a:p>
            <a:pPr indent="-228600" defTabSz="914400" fontAlgn="base">
              <a:buFont typeface="Arial" panose="020B0604020202020204" pitchFamily="34" charset="0"/>
              <a:buChar char="•"/>
            </a:pPr>
            <a:r>
              <a:rPr lang="en-US" sz="1400" b="1"/>
              <a:t>Diverse Learning Formats</a:t>
            </a:r>
            <a:r>
              <a:rPr lang="en-US" sz="1400"/>
              <a:t>​</a:t>
            </a:r>
          </a:p>
          <a:p>
            <a:pPr defTabSz="914400" fontAlgn="base"/>
            <a:r>
              <a:rPr lang="en-US" sz="1400"/>
              <a:t>          The LMS supports video tutorials, quizzes, discussion forums, and real-time feedback to enhance learning engagement.​</a:t>
            </a:r>
          </a:p>
          <a:p>
            <a:pPr indent="-228600" defTabSz="914400" fontAlgn="base">
              <a:buFont typeface="Arial" panose="020B0604020202020204" pitchFamily="34" charset="0"/>
              <a:buChar char="•"/>
            </a:pPr>
            <a:r>
              <a:rPr lang="en-US" sz="1400" b="1"/>
              <a:t>Active Trainee Participation</a:t>
            </a:r>
            <a:r>
              <a:rPr lang="en-US" sz="1400"/>
              <a:t>​</a:t>
            </a:r>
          </a:p>
          <a:p>
            <a:pPr defTabSz="914400" fontAlgn="base"/>
            <a:r>
              <a:rPr lang="en-US" sz="1400"/>
              <a:t>           An interactive environment encourages trainees to engage and retain knowledge effectively during their learning journey.​</a:t>
            </a:r>
          </a:p>
          <a:p>
            <a:pPr indent="-228600" defTabSz="914400" fontAlgn="base">
              <a:buFont typeface="Arial" panose="020B0604020202020204" pitchFamily="34" charset="0"/>
              <a:buChar char="•"/>
            </a:pPr>
            <a:r>
              <a:rPr lang="en-US" sz="1400" b="1"/>
              <a:t>Progress Monitoring and Adaptation</a:t>
            </a:r>
            <a:r>
              <a:rPr lang="en-US" sz="1400"/>
              <a:t>​</a:t>
            </a:r>
          </a:p>
          <a:p>
            <a:pPr defTabSz="914400" fontAlgn="base"/>
            <a:r>
              <a:rPr lang="en-US" sz="1400"/>
              <a:t>           Trainers can monitor progress, identify gaps, and customize content to meet individual learning needs.​</a:t>
            </a:r>
          </a:p>
          <a:p>
            <a:pPr indent="-228600" defTabSz="914400" fontAlgn="base">
              <a:buFont typeface="Arial" panose="020B0604020202020204" pitchFamily="34" charset="0"/>
              <a:buChar char="•"/>
            </a:pPr>
            <a:r>
              <a:rPr lang="en-US" sz="1400" b="1"/>
              <a:t>Scalable Training Solution</a:t>
            </a:r>
            <a:r>
              <a:rPr lang="en-US" sz="1400"/>
              <a:t>​</a:t>
            </a:r>
          </a:p>
          <a:p>
            <a:pPr defTabSz="914400" fontAlgn="base"/>
            <a:r>
              <a:rPr lang="en-US" sz="1400"/>
              <a:t>           The LMS provides a scalable and adaptive platform ensuring consistent instructional quality across the organization.</a:t>
            </a:r>
          </a:p>
          <a:p>
            <a:pPr indent="-228600" defTabSz="914400">
              <a:buFont typeface="Arial" panose="020B0604020202020204" pitchFamily="34" charset="0"/>
              <a:buChar char="•"/>
            </a:pPr>
            <a:r>
              <a:rPr lang="en-US" sz="1400" b="1"/>
              <a:t>Mandatory Training Modules</a:t>
            </a:r>
          </a:p>
          <a:p>
            <a:pPr defTabSz="914400"/>
            <a:r>
              <a:rPr lang="en-US" sz="1400"/>
              <a:t>            Training includes legal, ethical and procedural aspects essential for insurance compliance.</a:t>
            </a:r>
          </a:p>
        </p:txBody>
      </p:sp>
      <p:sp>
        <p:nvSpPr>
          <p:cNvPr id="5" name="Slide Number Placeholder 4">
            <a:extLst>
              <a:ext uri="{FF2B5EF4-FFF2-40B4-BE49-F238E27FC236}">
                <a16:creationId xmlns:a16="http://schemas.microsoft.com/office/drawing/2014/main" id="{DB1EE3CB-D0EC-677B-A624-BA4E85B376B9}"/>
              </a:ext>
            </a:extLst>
          </p:cNvPr>
          <p:cNvSpPr>
            <a:spLocks noGrp="1"/>
          </p:cNvSpPr>
          <p:nvPr>
            <p:ph type="sldNum" sz="quarter" idx="12"/>
          </p:nvPr>
        </p:nvSpPr>
        <p:spPr>
          <a:xfrm>
            <a:off x="8864600" y="6356350"/>
            <a:ext cx="2743200" cy="365125"/>
          </a:xfrm>
        </p:spPr>
        <p:txBody>
          <a:bodyPr vert="horz" lIns="91440" tIns="45720" rIns="91440" bIns="45720" rtlCol="0" anchor="ctr">
            <a:normAutofit/>
          </a:bodyPr>
          <a:lstStyle/>
          <a:p>
            <a:pPr>
              <a:spcAft>
                <a:spcPts val="600"/>
              </a:spcAft>
              <a:defRPr/>
            </a:pPr>
            <a:fld id="{C41B7D62-7D4B-4EC0-9445-56A6951E1D90}" type="slidenum">
              <a:rPr lang="en-US">
                <a:solidFill>
                  <a:schemeClr val="tx1">
                    <a:lumMod val="75000"/>
                    <a:lumOff val="25000"/>
                  </a:schemeClr>
                </a:solidFill>
                <a:latin typeface="Calibri" panose="020F0502020204030204"/>
              </a:rPr>
              <a:pPr>
                <a:spcAft>
                  <a:spcPts val="600"/>
                </a:spcAft>
                <a:defRPr/>
              </a:pPr>
              <a:t>28</a:t>
            </a:fld>
            <a:endParaRPr lang="en-US">
              <a:solidFill>
                <a:schemeClr val="tx1">
                  <a:lumMod val="75000"/>
                  <a:lumOff val="25000"/>
                </a:schemeClr>
              </a:solidFill>
              <a:latin typeface="Calibri" panose="020F0502020204030204"/>
            </a:endParaRPr>
          </a:p>
        </p:txBody>
      </p:sp>
      <p:sp>
        <p:nvSpPr>
          <p:cNvPr id="3" name="TextBox 2">
            <a:extLst>
              <a:ext uri="{FF2B5EF4-FFF2-40B4-BE49-F238E27FC236}">
                <a16:creationId xmlns:a16="http://schemas.microsoft.com/office/drawing/2014/main" id="{5C4DB25E-E8D0-6730-816B-E30A2381F399}"/>
              </a:ext>
            </a:extLst>
          </p:cNvPr>
          <p:cNvSpPr txBox="1"/>
          <p:nvPr/>
        </p:nvSpPr>
        <p:spPr>
          <a:xfrm>
            <a:off x="2662174" y="2898049"/>
            <a:ext cx="5981700" cy="400110"/>
          </a:xfrm>
          <a:prstGeom prst="rect">
            <a:avLst/>
          </a:prstGeom>
          <a:noFill/>
        </p:spPr>
        <p:txBody>
          <a:bodyPr wrap="square" rtlCol="0">
            <a:spAutoFit/>
          </a:bodyPr>
          <a:lstStyle/>
          <a:p>
            <a:r>
              <a:rPr lang="en-US" sz="2000" b="1">
                <a:latin typeface="Montserrat" panose="00000500000000000000" pitchFamily="2" charset="0"/>
              </a:rPr>
              <a:t>Robust LMS System</a:t>
            </a:r>
          </a:p>
        </p:txBody>
      </p:sp>
    </p:spTree>
    <p:extLst>
      <p:ext uri="{BB962C8B-B14F-4D97-AF65-F5344CB8AC3E}">
        <p14:creationId xmlns:p14="http://schemas.microsoft.com/office/powerpoint/2010/main" val="4208658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47DD81-E488-663E-734E-D11B62C390D4}"/>
              </a:ext>
            </a:extLst>
          </p:cNvPr>
          <p:cNvSpPr>
            <a:spLocks noGrp="1"/>
          </p:cNvSpPr>
          <p:nvPr>
            <p:ph type="title"/>
          </p:nvPr>
        </p:nvSpPr>
        <p:spPr>
          <a:xfrm>
            <a:off x="113996" y="160301"/>
            <a:ext cx="7600492" cy="849198"/>
          </a:xfrm>
        </p:spPr>
        <p:txBody>
          <a:bodyPr vert="horz" lIns="91440" tIns="45720" rIns="91440" bIns="45720" rtlCol="0" anchor="ctr">
            <a:normAutofit/>
          </a:bodyPr>
          <a:lstStyle/>
          <a:p>
            <a:pPr defTabSz="914400"/>
            <a:r>
              <a:rPr lang="en-US" sz="3600"/>
              <a:t>Claims Processing Excellence</a:t>
            </a:r>
          </a:p>
        </p:txBody>
      </p:sp>
      <p:sp>
        <p:nvSpPr>
          <p:cNvPr id="8" name="Rectangle 1">
            <a:extLst>
              <a:ext uri="{FF2B5EF4-FFF2-40B4-BE49-F238E27FC236}">
                <a16:creationId xmlns:a16="http://schemas.microsoft.com/office/drawing/2014/main" id="{5FB0EB8E-1550-F54F-58C0-044760364F9E}"/>
              </a:ext>
            </a:extLst>
          </p:cNvPr>
          <p:cNvSpPr>
            <a:spLocks noGrp="1" noChangeArrowheads="1"/>
          </p:cNvSpPr>
          <p:nvPr>
            <p:ph type="body" sz="half" idx="2"/>
          </p:nvPr>
        </p:nvSpPr>
        <p:spPr bwMode="auto">
          <a:xfrm>
            <a:off x="219456" y="1169790"/>
            <a:ext cx="7600492" cy="545046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lnSpcReduction="10000"/>
          </a:bodyPr>
          <a:lstStyle/>
          <a:p>
            <a:pPr marL="285753" indent="-228600" defTabSz="914400" fontAlgn="base">
              <a:spcBef>
                <a:spcPct val="0"/>
              </a:spcBef>
              <a:spcAft>
                <a:spcPts val="600"/>
              </a:spcAft>
              <a:buFont typeface="Arial" panose="020B0604020202020204" pitchFamily="34" charset="0"/>
              <a:buChar char="•"/>
            </a:pPr>
            <a:r>
              <a:rPr kumimoji="0" lang="en-US" altLang="en-US" sz="1400" b="0" i="0" u="none" strike="noStrike" cap="none" normalizeH="0" baseline="0">
                <a:ln>
                  <a:noFill/>
                </a:ln>
                <a:effectLst/>
              </a:rPr>
              <a:t>Delivering a positive member and provider experience starts with accurate, efficient, and transparent claims processing</a:t>
            </a:r>
          </a:p>
          <a:p>
            <a:pPr marL="285753" indent="-228600" defTabSz="914400" fontAlgn="base">
              <a:spcBef>
                <a:spcPct val="0"/>
              </a:spcBef>
              <a:spcAft>
                <a:spcPts val="600"/>
              </a:spcAft>
              <a:buFont typeface="Arial" panose="020B0604020202020204" pitchFamily="34" charset="0"/>
              <a:buChar char="•"/>
            </a:pPr>
            <a:endParaRPr kumimoji="0" lang="en-US" altLang="en-US" sz="1200" b="0" i="0" u="none" strike="noStrike" cap="none" normalizeH="0" baseline="0">
              <a:ln>
                <a:noFill/>
              </a:ln>
              <a:effectLst/>
            </a:endParaRPr>
          </a:p>
          <a:p>
            <a:pPr marL="285753" indent="-228600" defTabSz="914400" fontAlgn="base">
              <a:spcBef>
                <a:spcPct val="0"/>
              </a:spcBef>
              <a:spcAft>
                <a:spcPts val="600"/>
              </a:spcAft>
              <a:buFont typeface="Arial" panose="020B0604020202020204" pitchFamily="34" charset="0"/>
              <a:buChar char="•"/>
            </a:pPr>
            <a:r>
              <a:rPr lang="en-US" altLang="en-US" sz="1200" b="1"/>
              <a:t>Key Benefit Administrators leverages:</a:t>
            </a:r>
          </a:p>
          <a:p>
            <a:pPr marL="742959" lvl="1" indent="-228600" defTabSz="914400" fontAlgn="base">
              <a:spcBef>
                <a:spcPct val="0"/>
              </a:spcBef>
              <a:spcAft>
                <a:spcPts val="600"/>
              </a:spcAft>
              <a:buFont typeface="Arial" panose="020B0604020202020204" pitchFamily="34" charset="0"/>
              <a:buChar char="•"/>
            </a:pPr>
            <a:r>
              <a:rPr lang="en-US" altLang="en-US" sz="1200"/>
              <a:t>State of the art technology</a:t>
            </a:r>
          </a:p>
          <a:p>
            <a:pPr marL="742959" lvl="1" indent="-228600" defTabSz="914400" fontAlgn="base">
              <a:spcBef>
                <a:spcPct val="0"/>
              </a:spcBef>
              <a:spcAft>
                <a:spcPts val="600"/>
              </a:spcAft>
              <a:buFont typeface="Arial" panose="020B0604020202020204" pitchFamily="34" charset="0"/>
              <a:buChar char="•"/>
            </a:pPr>
            <a:r>
              <a:rPr lang="en-US" altLang="en-US" sz="1200"/>
              <a:t>Streamlined workflows</a:t>
            </a:r>
          </a:p>
          <a:p>
            <a:pPr marL="742959" lvl="1" indent="-228600" defTabSz="914400" fontAlgn="base">
              <a:spcBef>
                <a:spcPct val="0"/>
              </a:spcBef>
              <a:spcAft>
                <a:spcPts val="600"/>
              </a:spcAft>
              <a:buFont typeface="Arial" panose="020B0604020202020204" pitchFamily="34" charset="0"/>
              <a:buChar char="•"/>
            </a:pPr>
            <a:r>
              <a:rPr lang="en-US" altLang="en-US" sz="1200"/>
              <a:t>A team dedicated to first pass accuracy</a:t>
            </a:r>
          </a:p>
          <a:p>
            <a:pPr lvl="1" indent="-228600" defTabSz="914400" fontAlgn="base">
              <a:spcBef>
                <a:spcPct val="0"/>
              </a:spcBef>
              <a:spcAft>
                <a:spcPts val="600"/>
              </a:spcAft>
              <a:buFont typeface="Arial" panose="020B0604020202020204" pitchFamily="34" charset="0"/>
              <a:buChar char="•"/>
            </a:pPr>
            <a:endParaRPr lang="en-US" altLang="en-US" sz="1200"/>
          </a:p>
          <a:p>
            <a:pPr marL="285753" indent="-228600" defTabSz="914400" fontAlgn="base">
              <a:spcBef>
                <a:spcPct val="0"/>
              </a:spcBef>
              <a:spcAft>
                <a:spcPts val="600"/>
              </a:spcAft>
              <a:buFont typeface="Arial" panose="020B0604020202020204" pitchFamily="34" charset="0"/>
              <a:buChar char="•"/>
            </a:pPr>
            <a:r>
              <a:rPr kumimoji="0" lang="en-US" altLang="en-US" sz="1200" b="1" i="0" u="none" strike="noStrike" cap="none" normalizeH="0" baseline="0">
                <a:ln>
                  <a:noFill/>
                </a:ln>
                <a:effectLst/>
              </a:rPr>
              <a:t>Consistently:</a:t>
            </a:r>
          </a:p>
          <a:p>
            <a:pPr marL="742959" lvl="1" indent="-228600" defTabSz="914400" fontAlgn="base">
              <a:spcBef>
                <a:spcPct val="0"/>
              </a:spcBef>
              <a:spcAft>
                <a:spcPts val="600"/>
              </a:spcAft>
              <a:buFont typeface="Arial" panose="020B0604020202020204" pitchFamily="34" charset="0"/>
              <a:buChar char="•"/>
            </a:pPr>
            <a:r>
              <a:rPr lang="en-US" altLang="en-US" sz="1200"/>
              <a:t>Exceed industry standard turnaround times and quality metrics</a:t>
            </a:r>
          </a:p>
          <a:p>
            <a:pPr marL="742959" lvl="1" indent="-228600" defTabSz="914400" fontAlgn="base">
              <a:spcBef>
                <a:spcPct val="0"/>
              </a:spcBef>
              <a:spcAft>
                <a:spcPts val="600"/>
              </a:spcAft>
              <a:buFont typeface="Arial" panose="020B0604020202020204" pitchFamily="34" charset="0"/>
              <a:buChar char="•"/>
            </a:pPr>
            <a:r>
              <a:rPr lang="en-US" altLang="en-US" sz="1200"/>
              <a:t>Reduce administrative burdens</a:t>
            </a:r>
          </a:p>
          <a:p>
            <a:pPr marL="742959" lvl="1" indent="-228600" defTabSz="914400" fontAlgn="base">
              <a:spcBef>
                <a:spcPct val="0"/>
              </a:spcBef>
              <a:spcAft>
                <a:spcPts val="600"/>
              </a:spcAft>
              <a:buFont typeface="Arial" panose="020B0604020202020204" pitchFamily="34" charset="0"/>
              <a:buChar char="•"/>
            </a:pPr>
            <a:r>
              <a:rPr lang="en-US" altLang="en-US" sz="1200"/>
              <a:t>Maintain high member and provider satisfaction</a:t>
            </a:r>
          </a:p>
          <a:p>
            <a:pPr marL="742959" lvl="1" indent="-228600" defTabSz="914400" fontAlgn="base">
              <a:spcBef>
                <a:spcPct val="0"/>
              </a:spcBef>
              <a:spcAft>
                <a:spcPts val="600"/>
              </a:spcAft>
              <a:buFont typeface="Arial" panose="020B0604020202020204" pitchFamily="34" charset="0"/>
              <a:buChar char="•"/>
            </a:pPr>
            <a:endParaRPr kumimoji="0" lang="en-US" altLang="en-US" sz="1200" b="0" i="0" u="none" strike="noStrike" cap="none" normalizeH="0" baseline="0">
              <a:ln>
                <a:noFill/>
              </a:ln>
              <a:effectLst/>
            </a:endParaRPr>
          </a:p>
          <a:p>
            <a:pPr marL="285753" indent="-228600" defTabSz="914400" fontAlgn="base">
              <a:spcBef>
                <a:spcPct val="0"/>
              </a:spcBef>
              <a:spcAft>
                <a:spcPts val="600"/>
              </a:spcAft>
              <a:buFont typeface="Arial" panose="020B0604020202020204" pitchFamily="34" charset="0"/>
              <a:buChar char="•"/>
            </a:pPr>
            <a:r>
              <a:rPr kumimoji="0" lang="en-US" altLang="en-US" sz="1200" b="1" i="0" u="none" strike="noStrike" cap="none" normalizeH="0" baseline="0">
                <a:ln>
                  <a:noFill/>
                </a:ln>
                <a:effectLst/>
              </a:rPr>
              <a:t>Strategic Partnerships:</a:t>
            </a:r>
          </a:p>
          <a:p>
            <a:pPr marL="742959" lvl="1" indent="-228600" defTabSz="914400" fontAlgn="base">
              <a:spcBef>
                <a:spcPct val="0"/>
              </a:spcBef>
              <a:spcAft>
                <a:spcPts val="600"/>
              </a:spcAft>
              <a:buFont typeface="Arial" panose="020B0604020202020204" pitchFamily="34" charset="0"/>
              <a:buChar char="•"/>
            </a:pPr>
            <a:r>
              <a:rPr lang="en-US" altLang="en-US" sz="1200"/>
              <a:t>We partner with </a:t>
            </a:r>
            <a:r>
              <a:rPr lang="en-US" altLang="en-US" sz="1200" b="1"/>
              <a:t>Smart Data Solutions </a:t>
            </a:r>
            <a:r>
              <a:rPr lang="en-US" altLang="en-US" sz="1200"/>
              <a:t>for clearinghouse services to empower providers with electronic claims submission and transparency tools.</a:t>
            </a:r>
          </a:p>
          <a:p>
            <a:pPr marL="742959" lvl="1" indent="-228600" defTabSz="914400" fontAlgn="base">
              <a:spcBef>
                <a:spcPct val="0"/>
              </a:spcBef>
              <a:spcAft>
                <a:spcPts val="600"/>
              </a:spcAft>
              <a:buFont typeface="Arial" panose="020B0604020202020204" pitchFamily="34" charset="0"/>
              <a:buChar char="•"/>
            </a:pPr>
            <a:r>
              <a:rPr lang="en-US" altLang="en-US" sz="1200"/>
              <a:t>Currently 82% of our claim volume is received electronically.</a:t>
            </a:r>
          </a:p>
          <a:p>
            <a:pPr marL="742959" lvl="1" indent="-228600" defTabSz="914400" fontAlgn="base">
              <a:spcBef>
                <a:spcPct val="0"/>
              </a:spcBef>
              <a:spcAft>
                <a:spcPts val="600"/>
              </a:spcAft>
              <a:buFont typeface="Arial" panose="020B0604020202020204" pitchFamily="34" charset="0"/>
              <a:buChar char="•"/>
            </a:pPr>
            <a:r>
              <a:rPr lang="en-US" altLang="en-US" sz="1200"/>
              <a:t>Ongoing efforts to increase electronic submissions:</a:t>
            </a:r>
          </a:p>
          <a:p>
            <a:pPr marL="1200164" lvl="2" indent="-228600" defTabSz="914400" fontAlgn="base">
              <a:spcBef>
                <a:spcPct val="0"/>
              </a:spcBef>
              <a:spcAft>
                <a:spcPts val="600"/>
              </a:spcAft>
              <a:buFont typeface="Arial" panose="020B0604020202020204" pitchFamily="34" charset="0"/>
              <a:buChar char="•"/>
            </a:pPr>
            <a:r>
              <a:rPr kumimoji="0" lang="en-US" altLang="en-US" b="0" i="0" u="none" strike="noStrike" cap="none" normalizeH="0" baseline="0">
                <a:ln>
                  <a:noFill/>
                </a:ln>
                <a:effectLst/>
              </a:rPr>
              <a:t>Analyze paper and non-electronic claims</a:t>
            </a:r>
          </a:p>
          <a:p>
            <a:pPr marL="1200164" lvl="2" indent="-228600" defTabSz="914400" fontAlgn="base">
              <a:spcBef>
                <a:spcPct val="0"/>
              </a:spcBef>
              <a:spcAft>
                <a:spcPts val="600"/>
              </a:spcAft>
              <a:buFont typeface="Arial" panose="020B0604020202020204" pitchFamily="34" charset="0"/>
              <a:buChar char="•"/>
            </a:pPr>
            <a:r>
              <a:rPr lang="en-US" altLang="en-US"/>
              <a:t>Proactively engage providers for electronic claim setup</a:t>
            </a:r>
          </a:p>
          <a:p>
            <a:pPr marL="742959" lvl="1" indent="-228600" defTabSz="914400" fontAlgn="base">
              <a:spcBef>
                <a:spcPct val="0"/>
              </a:spcBef>
              <a:spcAft>
                <a:spcPts val="600"/>
              </a:spcAft>
              <a:buFont typeface="Arial" panose="020B0604020202020204" pitchFamily="34" charset="0"/>
              <a:buChar char="•"/>
            </a:pPr>
            <a:r>
              <a:rPr lang="en-US" altLang="en-US" sz="1200"/>
              <a:t>We also partner with top tier vendors to provide cost containment solutions to include:</a:t>
            </a:r>
          </a:p>
          <a:p>
            <a:pPr marL="1200164" lvl="2" indent="-228600" defTabSz="914400" fontAlgn="base">
              <a:spcBef>
                <a:spcPct val="0"/>
              </a:spcBef>
              <a:spcAft>
                <a:spcPts val="600"/>
              </a:spcAft>
              <a:buFont typeface="Arial" panose="020B0604020202020204" pitchFamily="34" charset="0"/>
              <a:buChar char="•"/>
            </a:pPr>
            <a:r>
              <a:rPr lang="en-US" altLang="en-US"/>
              <a:t>Out of network discounts</a:t>
            </a:r>
          </a:p>
          <a:p>
            <a:pPr marL="1200164" lvl="2" indent="-228600" defTabSz="914400" fontAlgn="base">
              <a:spcBef>
                <a:spcPct val="0"/>
              </a:spcBef>
              <a:spcAft>
                <a:spcPts val="600"/>
              </a:spcAft>
              <a:buFont typeface="Arial" panose="020B0604020202020204" pitchFamily="34" charset="0"/>
              <a:buChar char="•"/>
            </a:pPr>
            <a:r>
              <a:rPr kumimoji="0" lang="en-US" altLang="en-US" b="0" i="0" u="none" strike="noStrike" cap="none" normalizeH="0" baseline="0">
                <a:ln>
                  <a:noFill/>
                </a:ln>
                <a:effectLst/>
              </a:rPr>
              <a:t>High dollar bill reviews</a:t>
            </a:r>
          </a:p>
          <a:p>
            <a:pPr marL="1200164" lvl="2" indent="-228600" defTabSz="914400" fontAlgn="base">
              <a:spcBef>
                <a:spcPct val="0"/>
              </a:spcBef>
              <a:spcAft>
                <a:spcPts val="600"/>
              </a:spcAft>
              <a:buFont typeface="Arial" panose="020B0604020202020204" pitchFamily="34" charset="0"/>
              <a:buChar char="•"/>
            </a:pPr>
            <a:r>
              <a:rPr lang="en-US" altLang="en-US"/>
              <a:t>Specialized networks for high-cost conditions such as transplants and dialysis.</a:t>
            </a:r>
            <a:endParaRPr kumimoji="0" lang="en-US" altLang="en-US" b="0" i="0" u="none" strike="noStrike" cap="none" normalizeH="0" baseline="0">
              <a:ln>
                <a:noFill/>
              </a:ln>
              <a:effectLst/>
            </a:endParaRPr>
          </a:p>
          <a:p>
            <a:pPr marL="285753" indent="-228600" defTabSz="914400" fontAlgn="base">
              <a:spcBef>
                <a:spcPct val="0"/>
              </a:spcBef>
              <a:spcAft>
                <a:spcPts val="600"/>
              </a:spcAft>
              <a:buFont typeface="Arial" panose="020B0604020202020204" pitchFamily="34" charset="0"/>
              <a:buChar char="•"/>
            </a:pPr>
            <a:endParaRPr lang="en-US" altLang="en-US" sz="500">
              <a:latin typeface="+mn-lt"/>
            </a:endParaRPr>
          </a:p>
        </p:txBody>
      </p:sp>
    </p:spTree>
    <p:extLst>
      <p:ext uri="{BB962C8B-B14F-4D97-AF65-F5344CB8AC3E}">
        <p14:creationId xmlns:p14="http://schemas.microsoft.com/office/powerpoint/2010/main" val="696912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DD81-E488-663E-734E-D11B62C390D4}"/>
              </a:ext>
            </a:extLst>
          </p:cNvPr>
          <p:cNvSpPr>
            <a:spLocks noGrp="1"/>
          </p:cNvSpPr>
          <p:nvPr>
            <p:ph type="title"/>
          </p:nvPr>
        </p:nvSpPr>
        <p:spPr>
          <a:xfrm>
            <a:off x="215574" y="320587"/>
            <a:ext cx="6839742" cy="532318"/>
          </a:xfrm>
        </p:spPr>
        <p:txBody>
          <a:bodyPr>
            <a:normAutofit/>
          </a:bodyPr>
          <a:lstStyle/>
          <a:p>
            <a:r>
              <a:rPr lang="en-US"/>
              <a:t>Claims Statistics</a:t>
            </a:r>
          </a:p>
        </p:txBody>
      </p:sp>
      <p:graphicFrame>
        <p:nvGraphicFramePr>
          <p:cNvPr id="4" name="Table 3">
            <a:extLst>
              <a:ext uri="{FF2B5EF4-FFF2-40B4-BE49-F238E27FC236}">
                <a16:creationId xmlns:a16="http://schemas.microsoft.com/office/drawing/2014/main" id="{139FE4F6-B6C7-17F9-9A99-7F799375CD40}"/>
              </a:ext>
            </a:extLst>
          </p:cNvPr>
          <p:cNvGraphicFramePr>
            <a:graphicFrameLocks noGrp="1"/>
          </p:cNvGraphicFramePr>
          <p:nvPr>
            <p:extLst>
              <p:ext uri="{D42A27DB-BD31-4B8C-83A1-F6EECF244321}">
                <p14:modId xmlns:p14="http://schemas.microsoft.com/office/powerpoint/2010/main" val="334650355"/>
              </p:ext>
            </p:extLst>
          </p:nvPr>
        </p:nvGraphicFramePr>
        <p:xfrm>
          <a:off x="215574" y="1048020"/>
          <a:ext cx="8519664" cy="2143766"/>
        </p:xfrm>
        <a:graphic>
          <a:graphicData uri="http://schemas.openxmlformats.org/drawingml/2006/table">
            <a:tbl>
              <a:tblPr firstRow="1" bandRow="1">
                <a:tableStyleId>{6E25E649-3F16-4E02-A733-19D2CDBF48F0}</a:tableStyleId>
              </a:tblPr>
              <a:tblGrid>
                <a:gridCol w="2129916">
                  <a:extLst>
                    <a:ext uri="{9D8B030D-6E8A-4147-A177-3AD203B41FA5}">
                      <a16:colId xmlns:a16="http://schemas.microsoft.com/office/drawing/2014/main" val="4076455432"/>
                    </a:ext>
                  </a:extLst>
                </a:gridCol>
                <a:gridCol w="2129916">
                  <a:extLst>
                    <a:ext uri="{9D8B030D-6E8A-4147-A177-3AD203B41FA5}">
                      <a16:colId xmlns:a16="http://schemas.microsoft.com/office/drawing/2014/main" val="567022854"/>
                    </a:ext>
                  </a:extLst>
                </a:gridCol>
                <a:gridCol w="2129916">
                  <a:extLst>
                    <a:ext uri="{9D8B030D-6E8A-4147-A177-3AD203B41FA5}">
                      <a16:colId xmlns:a16="http://schemas.microsoft.com/office/drawing/2014/main" val="1765131716"/>
                    </a:ext>
                  </a:extLst>
                </a:gridCol>
                <a:gridCol w="2129916">
                  <a:extLst>
                    <a:ext uri="{9D8B030D-6E8A-4147-A177-3AD203B41FA5}">
                      <a16:colId xmlns:a16="http://schemas.microsoft.com/office/drawing/2014/main" val="1080441654"/>
                    </a:ext>
                  </a:extLst>
                </a:gridCol>
              </a:tblGrid>
              <a:tr h="660402">
                <a:tc>
                  <a:txBody>
                    <a:bodyPr/>
                    <a:lstStyle/>
                    <a:p>
                      <a:pPr algn="ctr"/>
                      <a:r>
                        <a:rPr lang="en-US" sz="1200">
                          <a:latin typeface="Montserrat" panose="00000500000000000000" pitchFamily="2" charset="0"/>
                        </a:rPr>
                        <a:t>Claims</a:t>
                      </a:r>
                    </a:p>
                  </a:txBody>
                  <a:tcPr marT="45721" marB="45721"/>
                </a:tc>
                <a:tc>
                  <a:txBody>
                    <a:bodyPr/>
                    <a:lstStyle/>
                    <a:p>
                      <a:pPr algn="ctr"/>
                      <a:r>
                        <a:rPr lang="en-US" sz="1200">
                          <a:latin typeface="Montserrat" panose="00000500000000000000" pitchFamily="2" charset="0"/>
                        </a:rPr>
                        <a:t>Industry Standard</a:t>
                      </a:r>
                    </a:p>
                  </a:txBody>
                  <a:tcPr marT="45721" marB="45721"/>
                </a:tc>
                <a:tc>
                  <a:txBody>
                    <a:bodyPr/>
                    <a:lstStyle/>
                    <a:p>
                      <a:pPr algn="ctr"/>
                      <a:r>
                        <a:rPr lang="en-US" sz="1200">
                          <a:latin typeface="Montserrat" panose="00000500000000000000" pitchFamily="2" charset="0"/>
                        </a:rPr>
                        <a:t>Corporate Goal</a:t>
                      </a:r>
                    </a:p>
                  </a:txBody>
                  <a:tcPr marT="45721" marB="45721"/>
                </a:tc>
                <a:tc>
                  <a:txBody>
                    <a:bodyPr/>
                    <a:lstStyle/>
                    <a:p>
                      <a:pPr algn="ctr"/>
                      <a:r>
                        <a:rPr lang="en-US" sz="1200">
                          <a:latin typeface="Montserrat" panose="00000500000000000000" pitchFamily="2" charset="0"/>
                        </a:rPr>
                        <a:t>Self-Funded Medical Achieved*</a:t>
                      </a:r>
                    </a:p>
                    <a:p>
                      <a:pPr algn="ctr"/>
                      <a:endParaRPr lang="en-US" sz="1200"/>
                    </a:p>
                  </a:txBody>
                  <a:tcPr marT="45721" marB="45721"/>
                </a:tc>
                <a:extLst>
                  <a:ext uri="{0D108BD9-81ED-4DB2-BD59-A6C34878D82A}">
                    <a16:rowId xmlns:a16="http://schemas.microsoft.com/office/drawing/2014/main" val="1373136258"/>
                  </a:ext>
                </a:extLst>
              </a:tr>
              <a:tr h="370841">
                <a:tc>
                  <a:txBody>
                    <a:bodyPr/>
                    <a:lstStyle/>
                    <a:p>
                      <a:r>
                        <a:rPr lang="en-US" sz="1200">
                          <a:latin typeface="Montserrat" panose="00000500000000000000" pitchFamily="2" charset="0"/>
                        </a:rPr>
                        <a:t>Turn Around Time</a:t>
                      </a:r>
                    </a:p>
                  </a:txBody>
                  <a:tcPr marT="45721" marB="45721"/>
                </a:tc>
                <a:tc>
                  <a:txBody>
                    <a:bodyPr/>
                    <a:lstStyle/>
                    <a:p>
                      <a:pPr algn="ctr"/>
                      <a:r>
                        <a:rPr lang="en-US" sz="1200">
                          <a:latin typeface="Montserrat" panose="00000500000000000000" pitchFamily="2" charset="0"/>
                        </a:rPr>
                        <a:t>10 calendar days</a:t>
                      </a:r>
                    </a:p>
                  </a:txBody>
                  <a:tcPr marT="45721" marB="45721"/>
                </a:tc>
                <a:tc>
                  <a:txBody>
                    <a:bodyPr/>
                    <a:lstStyle/>
                    <a:p>
                      <a:pPr algn="ctr"/>
                      <a:r>
                        <a:rPr lang="en-US" sz="1200">
                          <a:latin typeface="Montserrat" panose="00000500000000000000" pitchFamily="2" charset="0"/>
                        </a:rPr>
                        <a:t>7 calendar days</a:t>
                      </a:r>
                    </a:p>
                  </a:txBody>
                  <a:tcPr marT="45721" marB="45721"/>
                </a:tc>
                <a:tc>
                  <a:txBody>
                    <a:bodyPr/>
                    <a:lstStyle/>
                    <a:p>
                      <a:pPr algn="ctr"/>
                      <a:r>
                        <a:rPr lang="en-US" sz="1200">
                          <a:latin typeface="Montserrat" panose="00000500000000000000" pitchFamily="2" charset="0"/>
                        </a:rPr>
                        <a:t>4.25 calendar days</a:t>
                      </a:r>
                    </a:p>
                  </a:txBody>
                  <a:tcPr marT="45721" marB="45721"/>
                </a:tc>
                <a:extLst>
                  <a:ext uri="{0D108BD9-81ED-4DB2-BD59-A6C34878D82A}">
                    <a16:rowId xmlns:a16="http://schemas.microsoft.com/office/drawing/2014/main" val="149304990"/>
                  </a:ext>
                </a:extLst>
              </a:tr>
              <a:tr h="370841">
                <a:tc>
                  <a:txBody>
                    <a:bodyPr/>
                    <a:lstStyle/>
                    <a:p>
                      <a:r>
                        <a:rPr lang="en-US" sz="1200">
                          <a:latin typeface="Montserrat" panose="00000500000000000000" pitchFamily="2" charset="0"/>
                        </a:rPr>
                        <a:t>% Paid in 10 days</a:t>
                      </a:r>
                    </a:p>
                  </a:txBody>
                  <a:tcPr marT="45721" marB="45721"/>
                </a:tc>
                <a:tc>
                  <a:txBody>
                    <a:bodyPr/>
                    <a:lstStyle/>
                    <a:p>
                      <a:pPr algn="ctr"/>
                      <a:r>
                        <a:rPr lang="en-US" sz="1200">
                          <a:latin typeface="Montserrat" panose="00000500000000000000" pitchFamily="2" charset="0"/>
                        </a:rPr>
                        <a:t>80%</a:t>
                      </a:r>
                    </a:p>
                  </a:txBody>
                  <a:tcPr marT="45721" marB="45721"/>
                </a:tc>
                <a:tc>
                  <a:txBody>
                    <a:bodyPr/>
                    <a:lstStyle/>
                    <a:p>
                      <a:pPr algn="ctr"/>
                      <a:r>
                        <a:rPr lang="en-US" sz="1200">
                          <a:latin typeface="Montserrat" panose="00000500000000000000" pitchFamily="2" charset="0"/>
                        </a:rPr>
                        <a:t>85%</a:t>
                      </a:r>
                    </a:p>
                  </a:txBody>
                  <a:tcPr marT="45721" marB="45721"/>
                </a:tc>
                <a:tc>
                  <a:txBody>
                    <a:bodyPr/>
                    <a:lstStyle/>
                    <a:p>
                      <a:pPr algn="ctr"/>
                      <a:r>
                        <a:rPr lang="en-US" sz="1200">
                          <a:latin typeface="Montserrat" panose="00000500000000000000" pitchFamily="2" charset="0"/>
                        </a:rPr>
                        <a:t>86.7%</a:t>
                      </a:r>
                    </a:p>
                  </a:txBody>
                  <a:tcPr marT="45721" marB="45721"/>
                </a:tc>
                <a:extLst>
                  <a:ext uri="{0D108BD9-81ED-4DB2-BD59-A6C34878D82A}">
                    <a16:rowId xmlns:a16="http://schemas.microsoft.com/office/drawing/2014/main" val="2684920851"/>
                  </a:ext>
                </a:extLst>
              </a:tr>
              <a:tr h="370841">
                <a:tc>
                  <a:txBody>
                    <a:bodyPr/>
                    <a:lstStyle/>
                    <a:p>
                      <a:r>
                        <a:rPr lang="en-US" sz="1200">
                          <a:latin typeface="Montserrat" panose="00000500000000000000" pitchFamily="2" charset="0"/>
                        </a:rPr>
                        <a:t>Financial Quality</a:t>
                      </a:r>
                    </a:p>
                  </a:txBody>
                  <a:tcPr marT="45721" marB="45721"/>
                </a:tc>
                <a:tc>
                  <a:txBody>
                    <a:bodyPr/>
                    <a:lstStyle/>
                    <a:p>
                      <a:pPr algn="ctr"/>
                      <a:r>
                        <a:rPr lang="en-US" sz="1200">
                          <a:latin typeface="Montserrat" panose="00000500000000000000" pitchFamily="2" charset="0"/>
                        </a:rPr>
                        <a:t>99%</a:t>
                      </a:r>
                    </a:p>
                  </a:txBody>
                  <a:tcPr marT="45721" marB="45721"/>
                </a:tc>
                <a:tc>
                  <a:txBody>
                    <a:bodyPr/>
                    <a:lstStyle/>
                    <a:p>
                      <a:pPr algn="ctr"/>
                      <a:r>
                        <a:rPr lang="en-US" sz="1200">
                          <a:latin typeface="Montserrat" panose="00000500000000000000" pitchFamily="2" charset="0"/>
                        </a:rPr>
                        <a:t>99%</a:t>
                      </a:r>
                    </a:p>
                  </a:txBody>
                  <a:tcPr marT="45721" marB="45721"/>
                </a:tc>
                <a:tc>
                  <a:txBody>
                    <a:bodyPr/>
                    <a:lstStyle/>
                    <a:p>
                      <a:pPr algn="ctr"/>
                      <a:r>
                        <a:rPr lang="en-US" sz="1200">
                          <a:latin typeface="Montserrat" panose="00000500000000000000" pitchFamily="2" charset="0"/>
                        </a:rPr>
                        <a:t>99.6%</a:t>
                      </a:r>
                    </a:p>
                  </a:txBody>
                  <a:tcPr marT="45721" marB="45721"/>
                </a:tc>
                <a:extLst>
                  <a:ext uri="{0D108BD9-81ED-4DB2-BD59-A6C34878D82A}">
                    <a16:rowId xmlns:a16="http://schemas.microsoft.com/office/drawing/2014/main" val="3360702736"/>
                  </a:ext>
                </a:extLst>
              </a:tr>
              <a:tr h="370841">
                <a:tc>
                  <a:txBody>
                    <a:bodyPr/>
                    <a:lstStyle/>
                    <a:p>
                      <a:r>
                        <a:rPr lang="en-US" sz="1200">
                          <a:latin typeface="Montserrat" panose="00000500000000000000" pitchFamily="2" charset="0"/>
                        </a:rPr>
                        <a:t>Payment Accuracy</a:t>
                      </a:r>
                    </a:p>
                  </a:txBody>
                  <a:tcPr marT="45721" marB="45721"/>
                </a:tc>
                <a:tc>
                  <a:txBody>
                    <a:bodyPr/>
                    <a:lstStyle/>
                    <a:p>
                      <a:pPr algn="ctr"/>
                      <a:r>
                        <a:rPr lang="en-US" sz="1200">
                          <a:latin typeface="Montserrat" panose="00000500000000000000" pitchFamily="2" charset="0"/>
                        </a:rPr>
                        <a:t>NA</a:t>
                      </a:r>
                    </a:p>
                  </a:txBody>
                  <a:tcPr marT="45721" marB="45721"/>
                </a:tc>
                <a:tc>
                  <a:txBody>
                    <a:bodyPr/>
                    <a:lstStyle/>
                    <a:p>
                      <a:pPr algn="ctr"/>
                      <a:r>
                        <a:rPr lang="en-US" sz="1200">
                          <a:latin typeface="Montserrat" panose="00000500000000000000" pitchFamily="2" charset="0"/>
                        </a:rPr>
                        <a:t>95%</a:t>
                      </a:r>
                    </a:p>
                  </a:txBody>
                  <a:tcPr marT="45721" marB="45721"/>
                </a:tc>
                <a:tc>
                  <a:txBody>
                    <a:bodyPr/>
                    <a:lstStyle/>
                    <a:p>
                      <a:pPr algn="ctr"/>
                      <a:r>
                        <a:rPr lang="en-US" sz="1200">
                          <a:latin typeface="Montserrat" panose="00000500000000000000" pitchFamily="2" charset="0"/>
                        </a:rPr>
                        <a:t>97.4%</a:t>
                      </a:r>
                    </a:p>
                  </a:txBody>
                  <a:tcPr marT="45721" marB="45721"/>
                </a:tc>
                <a:extLst>
                  <a:ext uri="{0D108BD9-81ED-4DB2-BD59-A6C34878D82A}">
                    <a16:rowId xmlns:a16="http://schemas.microsoft.com/office/drawing/2014/main" val="2625952483"/>
                  </a:ext>
                </a:extLst>
              </a:tr>
            </a:tbl>
          </a:graphicData>
        </a:graphic>
      </p:graphicFrame>
      <p:sp>
        <p:nvSpPr>
          <p:cNvPr id="9" name="TextBox 8">
            <a:extLst>
              <a:ext uri="{FF2B5EF4-FFF2-40B4-BE49-F238E27FC236}">
                <a16:creationId xmlns:a16="http://schemas.microsoft.com/office/drawing/2014/main" id="{D3E1D5E2-E92A-03BB-B4A4-E9814C3C04C1}"/>
              </a:ext>
            </a:extLst>
          </p:cNvPr>
          <p:cNvSpPr txBox="1"/>
          <p:nvPr/>
        </p:nvSpPr>
        <p:spPr>
          <a:xfrm>
            <a:off x="215574" y="3235770"/>
            <a:ext cx="8069058" cy="261610"/>
          </a:xfrm>
          <a:prstGeom prst="rect">
            <a:avLst/>
          </a:prstGeom>
          <a:noFill/>
        </p:spPr>
        <p:txBody>
          <a:bodyPr wrap="square" rtlCol="0">
            <a:spAutoFit/>
          </a:bodyPr>
          <a:lstStyle/>
          <a:p>
            <a:pPr defTabSz="914411">
              <a:defRPr/>
            </a:pPr>
            <a:r>
              <a:rPr lang="en-US" sz="1100">
                <a:solidFill>
                  <a:prstClr val="black"/>
                </a:solidFill>
                <a:latin typeface="Montserrat" panose="00000500000000000000" pitchFamily="2" charset="0"/>
              </a:rPr>
              <a:t>* Data achieved is for Jan-Jun 2025 calendar year</a:t>
            </a:r>
          </a:p>
        </p:txBody>
      </p:sp>
      <p:sp>
        <p:nvSpPr>
          <p:cNvPr id="13" name="TextBox 12">
            <a:extLst>
              <a:ext uri="{FF2B5EF4-FFF2-40B4-BE49-F238E27FC236}">
                <a16:creationId xmlns:a16="http://schemas.microsoft.com/office/drawing/2014/main" id="{35E4C3B6-26D2-9774-6392-A9A5C275D7E6}"/>
              </a:ext>
            </a:extLst>
          </p:cNvPr>
          <p:cNvSpPr txBox="1"/>
          <p:nvPr/>
        </p:nvSpPr>
        <p:spPr>
          <a:xfrm>
            <a:off x="406074" y="3720029"/>
            <a:ext cx="8278460" cy="4493666"/>
          </a:xfrm>
          <a:prstGeom prst="rect">
            <a:avLst/>
          </a:prstGeom>
          <a:noFill/>
        </p:spPr>
        <p:txBody>
          <a:bodyPr wrap="square" rtlCol="0">
            <a:spAutoFit/>
          </a:bodyPr>
          <a:lstStyle/>
          <a:p>
            <a:pPr marL="285753" indent="-285753" defTabSz="914411">
              <a:buFont typeface="Arial" panose="020B0604020202020204" pitchFamily="34" charset="0"/>
              <a:buChar char="•"/>
              <a:defRPr/>
            </a:pPr>
            <a:endParaRPr lang="en-US" sz="1600">
              <a:solidFill>
                <a:prstClr val="black"/>
              </a:solidFill>
              <a:latin typeface="Montserrat" panose="00000500000000000000" pitchFamily="2" charset="0"/>
            </a:endParaRPr>
          </a:p>
          <a:p>
            <a:pPr marL="285753" indent="-285753" defTabSz="914411">
              <a:buFont typeface="Arial" panose="020B0604020202020204" pitchFamily="34" charset="0"/>
              <a:buChar char="•"/>
              <a:defRPr/>
            </a:pPr>
            <a:r>
              <a:rPr lang="en-US" sz="1400">
                <a:solidFill>
                  <a:prstClr val="black"/>
                </a:solidFill>
                <a:latin typeface="Montserrat" panose="00000500000000000000" pitchFamily="2" charset="0"/>
              </a:rPr>
              <a:t>Our claims staff has an average of 14 years of experience.</a:t>
            </a:r>
          </a:p>
          <a:p>
            <a:pPr marL="285753" indent="-285753" defTabSz="914411">
              <a:buFont typeface="Arial" panose="020B0604020202020204" pitchFamily="34" charset="0"/>
              <a:buChar char="•"/>
              <a:defRPr/>
            </a:pPr>
            <a:endParaRPr lang="en-US" sz="1400">
              <a:solidFill>
                <a:prstClr val="black"/>
              </a:solidFill>
              <a:latin typeface="Montserrat" panose="00000500000000000000" pitchFamily="2" charset="0"/>
            </a:endParaRPr>
          </a:p>
          <a:p>
            <a:pPr marL="285753" indent="-285753" defTabSz="914411">
              <a:buFont typeface="Arial" panose="020B0604020202020204" pitchFamily="34" charset="0"/>
              <a:buChar char="•"/>
              <a:defRPr/>
            </a:pPr>
            <a:r>
              <a:rPr lang="en-US" sz="1400">
                <a:solidFill>
                  <a:prstClr val="black"/>
                </a:solidFill>
                <a:latin typeface="Montserrat" panose="00000500000000000000" pitchFamily="2" charset="0"/>
              </a:rPr>
              <a:t>Our team structure is intentionally designed to provide dedicated focus across specialized functions, enabling streamlined workflows and efficient claims processing.</a:t>
            </a:r>
          </a:p>
          <a:p>
            <a:pPr defTabSz="914411">
              <a:defRPr/>
            </a:pPr>
            <a:endParaRPr lang="en-US" sz="1400">
              <a:solidFill>
                <a:prstClr val="black"/>
              </a:solidFill>
              <a:latin typeface="Montserrat" panose="00000500000000000000" pitchFamily="2" charset="0"/>
            </a:endParaRPr>
          </a:p>
          <a:p>
            <a:pPr marL="285753" indent="-285753" defTabSz="914411">
              <a:buFont typeface="Arial" panose="020B0604020202020204" pitchFamily="34" charset="0"/>
              <a:buChar char="•"/>
              <a:defRPr/>
            </a:pPr>
            <a:r>
              <a:rPr lang="en-US" sz="1400">
                <a:solidFill>
                  <a:prstClr val="black"/>
                </a:solidFill>
                <a:latin typeface="Montserrat" panose="00000500000000000000" pitchFamily="2" charset="0"/>
              </a:rPr>
              <a:t>Groups are provided with a dedicated claims specialist to handle escalated issues and concerns promptly.</a:t>
            </a:r>
          </a:p>
          <a:p>
            <a:pPr marL="285753" indent="-285753" defTabSz="914411">
              <a:buFont typeface="Arial" panose="020B0604020202020204" pitchFamily="34" charset="0"/>
              <a:buChar char="•"/>
              <a:defRPr/>
            </a:pPr>
            <a:endParaRPr lang="en-US" sz="1400">
              <a:solidFill>
                <a:prstClr val="black"/>
              </a:solidFill>
              <a:latin typeface="Montserrat" panose="00000500000000000000" pitchFamily="2" charset="0"/>
            </a:endParaRPr>
          </a:p>
          <a:p>
            <a:pPr marL="285753" indent="-285753" defTabSz="914411">
              <a:buFont typeface="Arial" panose="020B0604020202020204" pitchFamily="34" charset="0"/>
              <a:buChar char="•"/>
              <a:defRPr/>
            </a:pPr>
            <a:r>
              <a:rPr lang="en-US" sz="1400">
                <a:solidFill>
                  <a:prstClr val="black"/>
                </a:solidFill>
                <a:latin typeface="Montserrat" panose="00000500000000000000" pitchFamily="2" charset="0"/>
              </a:rPr>
              <a:t>The claims team works proactively to identify and resolve potential issues before they affect members, minimizing rework and reducing appeals. </a:t>
            </a:r>
          </a:p>
          <a:p>
            <a:pPr marL="285753" indent="-285753" defTabSz="914411">
              <a:buFont typeface="Arial" panose="020B0604020202020204" pitchFamily="34" charset="0"/>
              <a:buChar char="•"/>
              <a:defRPr/>
            </a:pPr>
            <a:endParaRPr lang="en-US" sz="1600">
              <a:solidFill>
                <a:prstClr val="black"/>
              </a:solidFill>
              <a:latin typeface="Montserrat" panose="00000500000000000000" pitchFamily="2" charset="0"/>
            </a:endParaRPr>
          </a:p>
          <a:p>
            <a:pPr marL="285753" indent="-285753" defTabSz="914411">
              <a:buFont typeface="Arial" panose="020B0604020202020204" pitchFamily="34" charset="0"/>
              <a:buChar char="•"/>
              <a:defRPr/>
            </a:pPr>
            <a:endParaRPr lang="en-US" sz="1600">
              <a:solidFill>
                <a:prstClr val="black"/>
              </a:solidFill>
              <a:latin typeface="Montserrat" panose="00000500000000000000" pitchFamily="2" charset="0"/>
            </a:endParaRPr>
          </a:p>
          <a:p>
            <a:pPr marL="285753" indent="-285753" defTabSz="914411">
              <a:buFont typeface="Arial" panose="020B0604020202020204" pitchFamily="34" charset="0"/>
              <a:buChar char="•"/>
              <a:defRPr/>
            </a:pPr>
            <a:endParaRPr lang="en-US" sz="1600">
              <a:solidFill>
                <a:prstClr val="black"/>
              </a:solidFill>
              <a:latin typeface="Montserrat" panose="00000500000000000000" pitchFamily="2" charset="0"/>
            </a:endParaRPr>
          </a:p>
          <a:p>
            <a:pPr defTabSz="914411">
              <a:defRPr/>
            </a:pPr>
            <a:endParaRPr lang="en-US" sz="1600">
              <a:solidFill>
                <a:prstClr val="black"/>
              </a:solidFill>
              <a:latin typeface="Montserrat" panose="00000500000000000000" pitchFamily="2" charset="0"/>
            </a:endParaRPr>
          </a:p>
          <a:p>
            <a:pPr marL="285753" indent="-285753" defTabSz="914411">
              <a:buFont typeface="Arial" panose="020B0604020202020204" pitchFamily="34" charset="0"/>
              <a:buChar char="•"/>
              <a:defRPr/>
            </a:pPr>
            <a:endParaRPr lang="en-US" sz="1600">
              <a:solidFill>
                <a:prstClr val="black"/>
              </a:solidFill>
              <a:latin typeface="Montserrat" panose="00000500000000000000" pitchFamily="2" charset="0"/>
            </a:endParaRPr>
          </a:p>
          <a:p>
            <a:pPr defTabSz="914411">
              <a:defRPr/>
            </a:pPr>
            <a:endParaRPr lang="en-US" sz="1600">
              <a:solidFill>
                <a:prstClr val="black"/>
              </a:solidFill>
              <a:latin typeface="Montserrat" panose="00000500000000000000" pitchFamily="2" charset="0"/>
            </a:endParaRPr>
          </a:p>
          <a:p>
            <a:pPr defTabSz="914411">
              <a:defRPr/>
            </a:pPr>
            <a:endParaRPr lang="en-US" sz="1600">
              <a:solidFill>
                <a:prstClr val="black"/>
              </a:solidFill>
              <a:latin typeface="Montserrat" panose="00000500000000000000" pitchFamily="2" charset="0"/>
            </a:endParaRPr>
          </a:p>
          <a:p>
            <a:pPr defTabSz="914411">
              <a:defRPr/>
            </a:pPr>
            <a:endParaRPr lang="en-US" sz="1801">
              <a:solidFill>
                <a:prstClr val="black"/>
              </a:solidFill>
              <a:latin typeface="Montserrat" panose="00000500000000000000" pitchFamily="2" charset="0"/>
            </a:endParaRPr>
          </a:p>
        </p:txBody>
      </p:sp>
    </p:spTree>
    <p:extLst>
      <p:ext uri="{BB962C8B-B14F-4D97-AF65-F5344CB8AC3E}">
        <p14:creationId xmlns:p14="http://schemas.microsoft.com/office/powerpoint/2010/main" val="2277596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DD81-E488-663E-734E-D11B62C390D4}"/>
              </a:ext>
            </a:extLst>
          </p:cNvPr>
          <p:cNvSpPr>
            <a:spLocks noGrp="1"/>
          </p:cNvSpPr>
          <p:nvPr>
            <p:ph type="title"/>
          </p:nvPr>
        </p:nvSpPr>
        <p:spPr>
          <a:xfrm>
            <a:off x="5883460" y="208645"/>
            <a:ext cx="3784053" cy="434094"/>
          </a:xfrm>
        </p:spPr>
        <p:txBody>
          <a:bodyPr>
            <a:normAutofit fontScale="90000"/>
          </a:bodyPr>
          <a:lstStyle/>
          <a:p>
            <a:r>
              <a:rPr lang="en-US"/>
              <a:t>KBA Claim Audits</a:t>
            </a:r>
          </a:p>
        </p:txBody>
      </p:sp>
      <p:graphicFrame>
        <p:nvGraphicFramePr>
          <p:cNvPr id="3" name="Diagram 2">
            <a:extLst>
              <a:ext uri="{FF2B5EF4-FFF2-40B4-BE49-F238E27FC236}">
                <a16:creationId xmlns:a16="http://schemas.microsoft.com/office/drawing/2014/main" id="{AE526A59-A78E-1111-CCFC-B65487BE935D}"/>
              </a:ext>
            </a:extLst>
          </p:cNvPr>
          <p:cNvGraphicFramePr/>
          <p:nvPr/>
        </p:nvGraphicFramePr>
        <p:xfrm>
          <a:off x="217202" y="1116779"/>
          <a:ext cx="4983015" cy="4300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AAE1D7FB-E7CC-A2EA-7160-CF4FB76EACA2}"/>
              </a:ext>
            </a:extLst>
          </p:cNvPr>
          <p:cNvSpPr txBox="1"/>
          <p:nvPr/>
        </p:nvSpPr>
        <p:spPr>
          <a:xfrm>
            <a:off x="164992" y="642739"/>
            <a:ext cx="3002279" cy="646587"/>
          </a:xfrm>
          <a:prstGeom prst="rect">
            <a:avLst/>
          </a:prstGeom>
          <a:noFill/>
        </p:spPr>
        <p:txBody>
          <a:bodyPr wrap="square" rtlCol="0">
            <a:spAutoFit/>
          </a:bodyPr>
          <a:lstStyle/>
          <a:p>
            <a:pPr defTabSz="914411">
              <a:defRPr/>
            </a:pPr>
            <a:r>
              <a:rPr lang="en-US" sz="1801">
                <a:solidFill>
                  <a:srgbClr val="0E2841">
                    <a:lumMod val="75000"/>
                    <a:lumOff val="25000"/>
                  </a:srgbClr>
                </a:solidFill>
                <a:latin typeface="Montserrat" panose="00000500000000000000" pitchFamily="2" charset="0"/>
              </a:rPr>
              <a:t>Post Payment Reviews </a:t>
            </a:r>
          </a:p>
          <a:p>
            <a:pPr defTabSz="914411">
              <a:defRPr/>
            </a:pPr>
            <a:endParaRPr lang="en-US" sz="1801">
              <a:solidFill>
                <a:prstClr val="black"/>
              </a:solidFill>
              <a:latin typeface="Montserrat" panose="00000500000000000000" pitchFamily="2" charset="0"/>
            </a:endParaRPr>
          </a:p>
        </p:txBody>
      </p:sp>
      <p:graphicFrame>
        <p:nvGraphicFramePr>
          <p:cNvPr id="14" name="Diagram 13">
            <a:extLst>
              <a:ext uri="{FF2B5EF4-FFF2-40B4-BE49-F238E27FC236}">
                <a16:creationId xmlns:a16="http://schemas.microsoft.com/office/drawing/2014/main" id="{8898E5CF-527A-649B-51DD-D0B05641FD1E}"/>
              </a:ext>
            </a:extLst>
          </p:cNvPr>
          <p:cNvGraphicFramePr/>
          <p:nvPr/>
        </p:nvGraphicFramePr>
        <p:xfrm>
          <a:off x="5981993" y="1072495"/>
          <a:ext cx="5646133" cy="42489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5" name="Title 1">
            <a:extLst>
              <a:ext uri="{FF2B5EF4-FFF2-40B4-BE49-F238E27FC236}">
                <a16:creationId xmlns:a16="http://schemas.microsoft.com/office/drawing/2014/main" id="{497CA920-104D-9ED0-09FC-FE483FB1BAD3}"/>
              </a:ext>
            </a:extLst>
          </p:cNvPr>
          <p:cNvSpPr txBox="1">
            <a:spLocks/>
          </p:cNvSpPr>
          <p:nvPr/>
        </p:nvSpPr>
        <p:spPr>
          <a:xfrm>
            <a:off x="164992" y="282092"/>
            <a:ext cx="3784053" cy="434094"/>
          </a:xfrm>
          <a:prstGeom prst="rect">
            <a:avLst/>
          </a:prstGeom>
        </p:spPr>
        <p:txBody>
          <a:bodyPr vert="horz" lIns="91440" tIns="45721" rIns="91440" bIns="45721" rtlCol="0" anchor="b">
            <a:normAutofit fontScale="825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defTabSz="914411">
              <a:defRPr/>
            </a:pPr>
            <a:r>
              <a:rPr lang="en-US">
                <a:solidFill>
                  <a:prstClr val="black"/>
                </a:solidFill>
                <a:latin typeface="Montserrat" panose="00000500000000000000" pitchFamily="2" charset="0"/>
              </a:rPr>
              <a:t>Industry Claim Audits</a:t>
            </a:r>
          </a:p>
        </p:txBody>
      </p:sp>
      <p:sp>
        <p:nvSpPr>
          <p:cNvPr id="16" name="TextBox 15">
            <a:extLst>
              <a:ext uri="{FF2B5EF4-FFF2-40B4-BE49-F238E27FC236}">
                <a16:creationId xmlns:a16="http://schemas.microsoft.com/office/drawing/2014/main" id="{E3AB86DC-FEE2-80C2-BFCF-594BA048270B}"/>
              </a:ext>
            </a:extLst>
          </p:cNvPr>
          <p:cNvSpPr txBox="1"/>
          <p:nvPr/>
        </p:nvSpPr>
        <p:spPr>
          <a:xfrm>
            <a:off x="5889837" y="559176"/>
            <a:ext cx="3002279" cy="646587"/>
          </a:xfrm>
          <a:prstGeom prst="rect">
            <a:avLst/>
          </a:prstGeom>
          <a:noFill/>
        </p:spPr>
        <p:txBody>
          <a:bodyPr wrap="square" rtlCol="0">
            <a:spAutoFit/>
          </a:bodyPr>
          <a:lstStyle/>
          <a:p>
            <a:pPr defTabSz="914411">
              <a:defRPr/>
            </a:pPr>
            <a:r>
              <a:rPr lang="en-US" sz="1801">
                <a:solidFill>
                  <a:srgbClr val="4EA72E">
                    <a:lumMod val="75000"/>
                  </a:srgbClr>
                </a:solidFill>
                <a:latin typeface="Montserrat" panose="00000500000000000000" pitchFamily="2" charset="0"/>
              </a:rPr>
              <a:t>Pre Payment Reviews </a:t>
            </a:r>
          </a:p>
          <a:p>
            <a:pPr defTabSz="914411">
              <a:defRPr/>
            </a:pPr>
            <a:endParaRPr lang="en-US" sz="1801">
              <a:solidFill>
                <a:prstClr val="black"/>
              </a:solidFill>
              <a:latin typeface="Montserrat" panose="00000500000000000000" pitchFamily="2" charset="0"/>
            </a:endParaRPr>
          </a:p>
        </p:txBody>
      </p:sp>
      <p:sp>
        <p:nvSpPr>
          <p:cNvPr id="17" name="TextBox 16">
            <a:extLst>
              <a:ext uri="{FF2B5EF4-FFF2-40B4-BE49-F238E27FC236}">
                <a16:creationId xmlns:a16="http://schemas.microsoft.com/office/drawing/2014/main" id="{6A689631-A247-DBA0-5FA5-A0A91FEB6F00}"/>
              </a:ext>
            </a:extLst>
          </p:cNvPr>
          <p:cNvSpPr txBox="1"/>
          <p:nvPr/>
        </p:nvSpPr>
        <p:spPr>
          <a:xfrm>
            <a:off x="6926640" y="5050307"/>
            <a:ext cx="5646133" cy="1170192"/>
          </a:xfrm>
          <a:prstGeom prst="rect">
            <a:avLst/>
          </a:prstGeom>
          <a:noFill/>
        </p:spPr>
        <p:txBody>
          <a:bodyPr wrap="square" rtlCol="0">
            <a:spAutoFit/>
          </a:bodyPr>
          <a:lstStyle/>
          <a:p>
            <a:pPr marL="285753" indent="-285753" defTabSz="914411">
              <a:buFont typeface="Arial" panose="020B0604020202020204" pitchFamily="34" charset="0"/>
              <a:buChar char="•"/>
              <a:defRPr/>
            </a:pPr>
            <a:r>
              <a:rPr lang="en-US" sz="1401">
                <a:solidFill>
                  <a:prstClr val="black"/>
                </a:solidFill>
                <a:latin typeface="Montserrat" panose="00000500000000000000" pitchFamily="2" charset="0"/>
              </a:rPr>
              <a:t>We target to audit 1.5%-2.5% of processed claims</a:t>
            </a:r>
          </a:p>
          <a:p>
            <a:pPr marL="285753" indent="-285753" defTabSz="914411">
              <a:buFont typeface="Arial" panose="020B0604020202020204" pitchFamily="34" charset="0"/>
              <a:buChar char="•"/>
              <a:defRPr/>
            </a:pPr>
            <a:r>
              <a:rPr lang="en-US" sz="1401">
                <a:solidFill>
                  <a:prstClr val="black"/>
                </a:solidFill>
                <a:latin typeface="Montserrat" panose="00000500000000000000" pitchFamily="2" charset="0"/>
              </a:rPr>
              <a:t>Claims are selected with multiple criteria for review</a:t>
            </a:r>
          </a:p>
          <a:p>
            <a:pPr marL="742959" lvl="1" indent="-285753" defTabSz="914411">
              <a:buFont typeface="Arial" panose="020B0604020202020204" pitchFamily="34" charset="0"/>
              <a:buChar char="•"/>
              <a:defRPr/>
            </a:pPr>
            <a:r>
              <a:rPr lang="en-US" sz="1401">
                <a:solidFill>
                  <a:prstClr val="black"/>
                </a:solidFill>
                <a:latin typeface="Montserrat" panose="00000500000000000000" pitchFamily="2" charset="0"/>
              </a:rPr>
              <a:t>Random</a:t>
            </a:r>
          </a:p>
          <a:p>
            <a:pPr marL="742959" lvl="1" indent="-285753" defTabSz="914411">
              <a:buFont typeface="Arial" panose="020B0604020202020204" pitchFamily="34" charset="0"/>
              <a:buChar char="•"/>
              <a:defRPr/>
            </a:pPr>
            <a:r>
              <a:rPr lang="en-US" sz="1401">
                <a:solidFill>
                  <a:prstClr val="black"/>
                </a:solidFill>
                <a:latin typeface="Montserrat" panose="00000500000000000000" pitchFamily="2" charset="0"/>
              </a:rPr>
              <a:t>Processor Set Check Amounts</a:t>
            </a:r>
          </a:p>
          <a:p>
            <a:pPr marL="742959" lvl="1" indent="-285753" defTabSz="914411">
              <a:buFont typeface="Arial" panose="020B0604020202020204" pitchFamily="34" charset="0"/>
              <a:buChar char="•"/>
              <a:defRPr/>
            </a:pPr>
            <a:r>
              <a:rPr lang="en-US" sz="1401">
                <a:solidFill>
                  <a:prstClr val="black"/>
                </a:solidFill>
                <a:latin typeface="Montserrat" panose="00000500000000000000" pitchFamily="2" charset="0"/>
              </a:rPr>
              <a:t>Group Maximums</a:t>
            </a:r>
          </a:p>
        </p:txBody>
      </p:sp>
    </p:spTree>
    <p:extLst>
      <p:ext uri="{BB962C8B-B14F-4D97-AF65-F5344CB8AC3E}">
        <p14:creationId xmlns:p14="http://schemas.microsoft.com/office/powerpoint/2010/main" val="3288151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90A0-B199-0CE8-C6C1-303498D08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3B4E5-39BA-72F4-8B6F-5E333F57A213}"/>
              </a:ext>
            </a:extLst>
          </p:cNvPr>
          <p:cNvSpPr>
            <a:spLocks noGrp="1"/>
          </p:cNvSpPr>
          <p:nvPr>
            <p:ph type="title"/>
          </p:nvPr>
        </p:nvSpPr>
        <p:spPr>
          <a:xfrm>
            <a:off x="215573" y="162537"/>
            <a:ext cx="9906201" cy="532318"/>
          </a:xfrm>
        </p:spPr>
        <p:txBody>
          <a:bodyPr>
            <a:normAutofit/>
          </a:bodyPr>
          <a:lstStyle/>
          <a:p>
            <a:r>
              <a:rPr lang="en-US" sz="2800"/>
              <a:t>KBA 2023-2024 Total Quality Management Statistics</a:t>
            </a:r>
          </a:p>
        </p:txBody>
      </p:sp>
      <p:pic>
        <p:nvPicPr>
          <p:cNvPr id="10" name="Picture 9">
            <a:extLst>
              <a:ext uri="{FF2B5EF4-FFF2-40B4-BE49-F238E27FC236}">
                <a16:creationId xmlns:a16="http://schemas.microsoft.com/office/drawing/2014/main" id="{33610A5C-B434-DC6D-A026-587495EC2713}"/>
              </a:ext>
            </a:extLst>
          </p:cNvPr>
          <p:cNvPicPr>
            <a:picLocks noChangeAspect="1"/>
          </p:cNvPicPr>
          <p:nvPr/>
        </p:nvPicPr>
        <p:blipFill>
          <a:blip r:embed="rId3"/>
          <a:stretch>
            <a:fillRect/>
          </a:stretch>
        </p:blipFill>
        <p:spPr>
          <a:xfrm>
            <a:off x="164864" y="2121977"/>
            <a:ext cx="2189340" cy="644923"/>
          </a:xfrm>
          <a:prstGeom prst="rect">
            <a:avLst/>
          </a:prstGeom>
        </p:spPr>
      </p:pic>
      <p:pic>
        <p:nvPicPr>
          <p:cNvPr id="13" name="Picture 12">
            <a:extLst>
              <a:ext uri="{FF2B5EF4-FFF2-40B4-BE49-F238E27FC236}">
                <a16:creationId xmlns:a16="http://schemas.microsoft.com/office/drawing/2014/main" id="{D1DA7312-7614-9CCE-1897-1D284F740DBE}"/>
              </a:ext>
            </a:extLst>
          </p:cNvPr>
          <p:cNvPicPr>
            <a:picLocks noChangeAspect="1"/>
          </p:cNvPicPr>
          <p:nvPr/>
        </p:nvPicPr>
        <p:blipFill>
          <a:blip r:embed="rId4"/>
          <a:stretch>
            <a:fillRect/>
          </a:stretch>
        </p:blipFill>
        <p:spPr>
          <a:xfrm>
            <a:off x="242931" y="3021139"/>
            <a:ext cx="2070379" cy="556466"/>
          </a:xfrm>
          <a:prstGeom prst="rect">
            <a:avLst/>
          </a:prstGeom>
        </p:spPr>
      </p:pic>
      <p:pic>
        <p:nvPicPr>
          <p:cNvPr id="15" name="Picture 14">
            <a:extLst>
              <a:ext uri="{FF2B5EF4-FFF2-40B4-BE49-F238E27FC236}">
                <a16:creationId xmlns:a16="http://schemas.microsoft.com/office/drawing/2014/main" id="{46E4506F-D250-CA5F-DC34-ADF5D4C1AE58}"/>
              </a:ext>
            </a:extLst>
          </p:cNvPr>
          <p:cNvPicPr>
            <a:picLocks noChangeAspect="1"/>
          </p:cNvPicPr>
          <p:nvPr/>
        </p:nvPicPr>
        <p:blipFill>
          <a:blip r:embed="rId5"/>
          <a:stretch>
            <a:fillRect/>
          </a:stretch>
        </p:blipFill>
        <p:spPr>
          <a:xfrm>
            <a:off x="101019" y="3942998"/>
            <a:ext cx="2354204" cy="532320"/>
          </a:xfrm>
          <a:prstGeom prst="rect">
            <a:avLst/>
          </a:prstGeom>
        </p:spPr>
      </p:pic>
      <p:pic>
        <p:nvPicPr>
          <p:cNvPr id="17" name="Picture 16">
            <a:extLst>
              <a:ext uri="{FF2B5EF4-FFF2-40B4-BE49-F238E27FC236}">
                <a16:creationId xmlns:a16="http://schemas.microsoft.com/office/drawing/2014/main" id="{986F52CA-09AE-0CD0-7474-303EF39C6DED}"/>
              </a:ext>
            </a:extLst>
          </p:cNvPr>
          <p:cNvPicPr>
            <a:picLocks noChangeAspect="1"/>
          </p:cNvPicPr>
          <p:nvPr/>
        </p:nvPicPr>
        <p:blipFill>
          <a:blip r:embed="rId6"/>
          <a:stretch>
            <a:fillRect/>
          </a:stretch>
        </p:blipFill>
        <p:spPr>
          <a:xfrm>
            <a:off x="2644878" y="740837"/>
            <a:ext cx="9246172" cy="5888417"/>
          </a:xfrm>
          <a:prstGeom prst="rect">
            <a:avLst/>
          </a:prstGeom>
        </p:spPr>
      </p:pic>
    </p:spTree>
    <p:extLst>
      <p:ext uri="{BB962C8B-B14F-4D97-AF65-F5344CB8AC3E}">
        <p14:creationId xmlns:p14="http://schemas.microsoft.com/office/powerpoint/2010/main" val="1904238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E5E5C6-0884-6F11-66E8-7167CA97A6CC}"/>
              </a:ext>
            </a:extLst>
          </p:cNvPr>
          <p:cNvSpPr>
            <a:spLocks noGrp="1"/>
          </p:cNvSpPr>
          <p:nvPr>
            <p:ph type="title"/>
          </p:nvPr>
        </p:nvSpPr>
        <p:spPr>
          <a:xfrm>
            <a:off x="838201" y="365125"/>
            <a:ext cx="5251316" cy="1807305"/>
          </a:xfrm>
        </p:spPr>
        <p:txBody>
          <a:bodyPr vert="horz" lIns="91440" tIns="45720" rIns="91440" bIns="45720" rtlCol="0" anchor="ctr">
            <a:normAutofit/>
          </a:bodyPr>
          <a:lstStyle/>
          <a:p>
            <a:pPr defTabSz="914400"/>
            <a:r>
              <a:rPr lang="en-US" sz="4400">
                <a:latin typeface="+mj-lt"/>
              </a:rPr>
              <a:t>Hospital Connectivity</a:t>
            </a:r>
          </a:p>
        </p:txBody>
      </p:sp>
      <p:sp>
        <p:nvSpPr>
          <p:cNvPr id="9" name="Text Placeholder 3">
            <a:extLst>
              <a:ext uri="{FF2B5EF4-FFF2-40B4-BE49-F238E27FC236}">
                <a16:creationId xmlns:a16="http://schemas.microsoft.com/office/drawing/2014/main" id="{9406A59D-3C2A-6D65-A2B4-77E533390635}"/>
              </a:ext>
            </a:extLst>
          </p:cNvPr>
          <p:cNvSpPr>
            <a:spLocks noGrp="1"/>
          </p:cNvSpPr>
          <p:nvPr>
            <p:ph type="body" sz="half" idx="2"/>
          </p:nvPr>
        </p:nvSpPr>
        <p:spPr>
          <a:xfrm>
            <a:off x="318820" y="2033374"/>
            <a:ext cx="5962785" cy="3843666"/>
          </a:xfrm>
        </p:spPr>
        <p:txBody>
          <a:bodyPr vert="horz" lIns="91440" tIns="45720" rIns="91440" bIns="45720" rtlCol="0">
            <a:normAutofit/>
          </a:bodyPr>
          <a:lstStyle/>
          <a:p>
            <a:pPr marL="285753" indent="-228600" defTabSz="914400">
              <a:buFont typeface="Arial" panose="020B0604020202020204" pitchFamily="34" charset="0"/>
              <a:buChar char="•"/>
            </a:pPr>
            <a:r>
              <a:rPr lang="en-US" sz="2000">
                <a:latin typeface="+mn-lt"/>
              </a:rPr>
              <a:t>Provider Experience</a:t>
            </a:r>
          </a:p>
          <a:p>
            <a:pPr marL="742959" lvl="1" indent="-228600" defTabSz="914400">
              <a:buFont typeface="Arial" panose="020B0604020202020204" pitchFamily="34" charset="0"/>
              <a:buChar char="•"/>
            </a:pPr>
            <a:r>
              <a:rPr lang="en-US" sz="1801">
                <a:latin typeface="+mn-lt"/>
              </a:rPr>
              <a:t>Flexible provider payment options: EFT, Credit Card or Check</a:t>
            </a:r>
          </a:p>
          <a:p>
            <a:pPr marL="742959" lvl="1" indent="-228600" defTabSz="914400">
              <a:buFont typeface="Arial" panose="020B0604020202020204" pitchFamily="34" charset="0"/>
              <a:buChar char="•"/>
            </a:pPr>
            <a:r>
              <a:rPr lang="en-US" sz="1801">
                <a:latin typeface="+mn-lt"/>
              </a:rPr>
              <a:t>835 transaction sets available for enrolled providers</a:t>
            </a:r>
          </a:p>
          <a:p>
            <a:pPr marL="742959" lvl="1" indent="-228600" defTabSz="914400">
              <a:buFont typeface="Arial" panose="020B0604020202020204" pitchFamily="34" charset="0"/>
              <a:buChar char="•"/>
            </a:pPr>
            <a:r>
              <a:rPr lang="en-US" sz="1801">
                <a:latin typeface="+mn-lt"/>
              </a:rPr>
              <a:t>Option for no payment remittance for clients not requiring cash transactions.</a:t>
            </a:r>
          </a:p>
          <a:p>
            <a:pPr marL="285753" indent="-228600" defTabSz="914400">
              <a:buFont typeface="Arial" panose="020B0604020202020204" pitchFamily="34" charset="0"/>
              <a:buChar char="•"/>
            </a:pPr>
            <a:endParaRPr lang="en-US" sz="2000">
              <a:latin typeface="+mn-lt"/>
            </a:endParaRPr>
          </a:p>
          <a:p>
            <a:pPr marL="285753" indent="-228600" defTabSz="914400">
              <a:buFont typeface="Arial" panose="020B0604020202020204" pitchFamily="34" charset="0"/>
              <a:buChar char="•"/>
            </a:pPr>
            <a:r>
              <a:rPr lang="en-US" sz="2000">
                <a:latin typeface="+mn-lt"/>
              </a:rPr>
              <a:t>DTE Performance Reporting </a:t>
            </a:r>
          </a:p>
          <a:p>
            <a:pPr marL="742959" lvl="1" indent="-228600" defTabSz="914400">
              <a:buFont typeface="Arial" panose="020B0604020202020204" pitchFamily="34" charset="0"/>
              <a:buChar char="•"/>
            </a:pPr>
            <a:r>
              <a:rPr lang="en-US" sz="1801">
                <a:latin typeface="+mn-lt"/>
              </a:rPr>
              <a:t>Sales Pipeline / Group Implementation / Network Performance</a:t>
            </a:r>
          </a:p>
          <a:p>
            <a:pPr marL="57149" indent="-228600" defTabSz="914400">
              <a:buFont typeface="Arial" panose="020B0604020202020204" pitchFamily="34" charset="0"/>
              <a:buChar char="•"/>
            </a:pPr>
            <a:endParaRPr lang="en-US" sz="2000">
              <a:latin typeface="+mn-lt"/>
            </a:endParaRPr>
          </a:p>
        </p:txBody>
      </p:sp>
    </p:spTree>
    <p:extLst>
      <p:ext uri="{BB962C8B-B14F-4D97-AF65-F5344CB8AC3E}">
        <p14:creationId xmlns:p14="http://schemas.microsoft.com/office/powerpoint/2010/main" val="1075630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DD0C08-5342-B2E7-4259-5D603DEEA1F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5B1C5D-E031-D7E3-8350-D9BF5140DD67}"/>
              </a:ext>
            </a:extLst>
          </p:cNvPr>
          <p:cNvSpPr>
            <a:spLocks noGrp="1"/>
          </p:cNvSpPr>
          <p:nvPr>
            <p:ph type="title"/>
          </p:nvPr>
        </p:nvSpPr>
        <p:spPr>
          <a:xfrm>
            <a:off x="189271" y="129151"/>
            <a:ext cx="6645249" cy="1807305"/>
          </a:xfrm>
        </p:spPr>
        <p:txBody>
          <a:bodyPr vert="horz" lIns="91440" tIns="45720" rIns="91440" bIns="45720" rtlCol="0" anchor="ctr">
            <a:normAutofit/>
          </a:bodyPr>
          <a:lstStyle/>
          <a:p>
            <a:pPr defTabSz="914400"/>
            <a:r>
              <a:rPr lang="en-US" sz="4400">
                <a:latin typeface="+mj-lt"/>
              </a:rPr>
              <a:t>Discussion / Take Aways</a:t>
            </a:r>
          </a:p>
        </p:txBody>
      </p:sp>
      <p:sp>
        <p:nvSpPr>
          <p:cNvPr id="3" name="Text Placeholder 3">
            <a:extLst>
              <a:ext uri="{FF2B5EF4-FFF2-40B4-BE49-F238E27FC236}">
                <a16:creationId xmlns:a16="http://schemas.microsoft.com/office/drawing/2014/main" id="{7F7B239F-87ED-790A-8ACB-E2CB69A914E7}"/>
              </a:ext>
            </a:extLst>
          </p:cNvPr>
          <p:cNvSpPr>
            <a:spLocks noGrp="1"/>
          </p:cNvSpPr>
          <p:nvPr>
            <p:ph type="body" sz="half" idx="2"/>
          </p:nvPr>
        </p:nvSpPr>
        <p:spPr>
          <a:xfrm>
            <a:off x="318820" y="2033374"/>
            <a:ext cx="5643965" cy="1807305"/>
          </a:xfrm>
        </p:spPr>
        <p:txBody>
          <a:bodyPr vert="horz" lIns="91440" tIns="45720" rIns="91440" bIns="45720" rtlCol="0">
            <a:normAutofit/>
          </a:bodyPr>
          <a:lstStyle/>
          <a:p>
            <a:pPr marL="285753" indent="-228600" defTabSz="914400">
              <a:buFont typeface="Arial" panose="020B0604020202020204" pitchFamily="34" charset="0"/>
              <a:buChar char="•"/>
            </a:pPr>
            <a:r>
              <a:rPr lang="en-US" sz="2000">
                <a:latin typeface="+mn-lt"/>
              </a:rPr>
              <a:t>Take inventory of follow ups</a:t>
            </a:r>
          </a:p>
          <a:p>
            <a:pPr marL="285753" indent="-228600" defTabSz="914400">
              <a:buFont typeface="Arial" panose="020B0604020202020204" pitchFamily="34" charset="0"/>
              <a:buChar char="•"/>
            </a:pPr>
            <a:r>
              <a:rPr lang="en-US" sz="2000">
                <a:latin typeface="+mn-lt"/>
              </a:rPr>
              <a:t>Set additional break out meetings as identified</a:t>
            </a:r>
          </a:p>
          <a:p>
            <a:pPr marL="285753" indent="-228600" defTabSz="914400">
              <a:buFont typeface="Arial" panose="020B0604020202020204" pitchFamily="34" charset="0"/>
              <a:buChar char="•"/>
            </a:pPr>
            <a:r>
              <a:rPr lang="en-US" sz="2000">
                <a:latin typeface="+mn-lt"/>
              </a:rPr>
              <a:t>Open discussion and wrap up</a:t>
            </a:r>
            <a:endParaRPr lang="en-US" sz="1801">
              <a:latin typeface="+mn-lt"/>
            </a:endParaRPr>
          </a:p>
          <a:p>
            <a:pPr marL="57149" indent="-228600" defTabSz="914400">
              <a:buFont typeface="Arial" panose="020B0604020202020204" pitchFamily="34" charset="0"/>
              <a:buChar char="•"/>
            </a:pPr>
            <a:endParaRPr lang="en-US" sz="2000">
              <a:latin typeface="+mn-lt"/>
            </a:endParaRPr>
          </a:p>
        </p:txBody>
      </p:sp>
    </p:spTree>
    <p:extLst>
      <p:ext uri="{BB962C8B-B14F-4D97-AF65-F5344CB8AC3E}">
        <p14:creationId xmlns:p14="http://schemas.microsoft.com/office/powerpoint/2010/main" val="31189678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9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349422217C3B4089C746CFA7CED71F" ma:contentTypeVersion="6" ma:contentTypeDescription="Create a new document." ma:contentTypeScope="" ma:versionID="883cea5f794e78107b82915457ad5446">
  <xsd:schema xmlns:xsd="http://www.w3.org/2001/XMLSchema" xmlns:xs="http://www.w3.org/2001/XMLSchema" xmlns:p="http://schemas.microsoft.com/office/2006/metadata/properties" xmlns:ns2="f15da77a-3b7b-475f-ae76-724c8d950e8a" xmlns:ns3="b7032330-714b-4eee-8eb7-5d2f3efa0ea9" targetNamespace="http://schemas.microsoft.com/office/2006/metadata/properties" ma:root="true" ma:fieldsID="e96742733249cfb7175bef46b68f34b5" ns2:_="" ns3:_="">
    <xsd:import namespace="f15da77a-3b7b-475f-ae76-724c8d950e8a"/>
    <xsd:import namespace="b7032330-714b-4eee-8eb7-5d2f3efa0e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5da77a-3b7b-475f-ae76-724c8d950e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032330-714b-4eee-8eb7-5d2f3efa0ea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FA5FEC-7848-4C89-9FFC-8D6C4683BBE6}">
  <ds:schemaRefs>
    <ds:schemaRef ds:uri="b7032330-714b-4eee-8eb7-5d2f3efa0ea9"/>
    <ds:schemaRef ds:uri="f15da77a-3b7b-475f-ae76-724c8d950e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29152E-996A-4271-A596-164F589D2E3B}">
  <ds:schemaRefs>
    <ds:schemaRef ds:uri="f15da77a-3b7b-475f-ae76-724c8d950e8a"/>
    <ds:schemaRef ds:uri="http://schemas.microsoft.com/office/2006/documentManagement/types"/>
    <ds:schemaRef ds:uri="http://purl.org/dc/elements/1.1/"/>
    <ds:schemaRef ds:uri="http://purl.org/dc/terms/"/>
    <ds:schemaRef ds:uri="http://schemas.openxmlformats.org/package/2006/metadata/core-properties"/>
    <ds:schemaRef ds:uri="http://schemas.microsoft.com/office/infopath/2007/PartnerControls"/>
    <ds:schemaRef ds:uri="http://schemas.microsoft.com/office/2006/metadata/properties"/>
    <ds:schemaRef ds:uri="b7032330-714b-4eee-8eb7-5d2f3efa0ea9"/>
    <ds:schemaRef ds:uri="http://www.w3.org/XML/1998/namespace"/>
    <ds:schemaRef ds:uri="http://purl.org/dc/dcmitype/"/>
  </ds:schemaRefs>
</ds:datastoreItem>
</file>

<file path=customXml/itemProps3.xml><?xml version="1.0" encoding="utf-8"?>
<ds:datastoreItem xmlns:ds="http://schemas.openxmlformats.org/officeDocument/2006/customXml" ds:itemID="{A5AC8320-2742-455B-AC07-CF3C27A215A7}">
  <ds:schemaRefs>
    <ds:schemaRef ds:uri="http://schemas.microsoft.com/sharepoint/v3/contenttype/forms"/>
  </ds:schemaRefs>
</ds:datastoreItem>
</file>

<file path=docMetadata/LabelInfo.xml><?xml version="1.0" encoding="utf-8"?>
<clbl:labelList xmlns:clbl="http://schemas.microsoft.com/office/2020/mipLabelMetadata">
  <clbl:label id="{c2ab76dc-80e2-4d72-a5fc-f76e0375fea6}" enabled="0" method="" siteId="{c2ab76dc-80e2-4d72-a5fc-f76e0375fea6}" removed="1"/>
</clbl:labelList>
</file>

<file path=docProps/app.xml><?xml version="1.0" encoding="utf-8"?>
<Properties xmlns="http://schemas.openxmlformats.org/officeDocument/2006/extended-properties" xmlns:vt="http://schemas.openxmlformats.org/officeDocument/2006/docPropsVTypes">
  <TotalTime>2</TotalTime>
  <Words>4206</Words>
  <Application>Microsoft Office PowerPoint</Application>
  <PresentationFormat>Widescreen</PresentationFormat>
  <Paragraphs>550</Paragraphs>
  <Slides>34</Slides>
  <Notes>34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34</vt:i4>
      </vt:variant>
    </vt:vector>
  </HeadingPairs>
  <TitlesOfParts>
    <vt:vector size="46" baseType="lpstr">
      <vt:lpstr>Aptos</vt:lpstr>
      <vt:lpstr>Courier New</vt:lpstr>
      <vt:lpstr>Arial Nova</vt:lpstr>
      <vt:lpstr>Wingdings</vt:lpstr>
      <vt:lpstr>Montserrat</vt:lpstr>
      <vt:lpstr>Calibri</vt:lpstr>
      <vt:lpstr>Arial</vt:lpstr>
      <vt:lpstr>Aptos Display</vt:lpstr>
      <vt:lpstr>Aptos Narrow</vt:lpstr>
      <vt:lpstr>Calibri Light</vt:lpstr>
      <vt:lpstr>1_Office Theme</vt:lpstr>
      <vt:lpstr>9_Office Theme</vt:lpstr>
      <vt:lpstr>Operational Purpose</vt:lpstr>
      <vt:lpstr>Agenda</vt:lpstr>
      <vt:lpstr>Technology</vt:lpstr>
      <vt:lpstr>Security</vt:lpstr>
      <vt:lpstr>Distributed Workforce</vt:lpstr>
      <vt:lpstr>Workforce Management</vt:lpstr>
      <vt:lpstr>PowerPoint Presentation</vt:lpstr>
      <vt:lpstr>DTE IMPLEMENTATION TIMELINE</vt:lpstr>
      <vt:lpstr>DTE IMPLEMENTATION OVERVIEW</vt:lpstr>
      <vt:lpstr>PowerPoint Presentation</vt:lpstr>
      <vt:lpstr>PowerPoint Presentation</vt:lpstr>
      <vt:lpstr>Your Service Team</vt:lpstr>
      <vt:lpstr>The Customized Development of the KBA Service Team</vt:lpstr>
      <vt:lpstr>What Clients Can Expect  From Our Service Team</vt:lpstr>
      <vt:lpstr>KBA DEDICATED TEAM ROLES</vt:lpstr>
      <vt:lpstr>ADDITIONAL KBA TEAM MEMBERS</vt:lpstr>
      <vt:lpstr>PowerPoint Presentation</vt:lpstr>
      <vt:lpstr>PowerPoint Presentation</vt:lpstr>
      <vt:lpstr>THE “PHOTO” MOMENT Real discussions with the employer discussing the health of their population</vt:lpstr>
      <vt:lpstr>Actual Data that Displays What is Being Done to Change Behaviors and Improve Health</vt:lpstr>
      <vt:lpstr>Employer Experience</vt:lpstr>
      <vt:lpstr>Employer Experience</vt:lpstr>
      <vt:lpstr>Billing – Premiums and Claim Funding</vt:lpstr>
      <vt:lpstr>Web Portal and Mobile Application</vt:lpstr>
      <vt:lpstr>Measuring Success: Customer Experience  Key Performance Indicators</vt:lpstr>
      <vt:lpstr>What Our Members Are Saying: Real Feedback on Their Call Center Experience</vt:lpstr>
      <vt:lpstr>Customized Plan Solutions for  Complex Client Needs</vt:lpstr>
      <vt:lpstr>Training Overview</vt:lpstr>
      <vt:lpstr>Claims Processing Excellence</vt:lpstr>
      <vt:lpstr>Claims Statistics</vt:lpstr>
      <vt:lpstr>KBA Claim Audits</vt:lpstr>
      <vt:lpstr>KBA 2023-2024 Total Quality Management Statistics</vt:lpstr>
      <vt:lpstr>Hospital Connectivity</vt:lpstr>
      <vt:lpstr>Discussion / Take Aways</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#4</dc:title>
  <dc:subject>Untitled #4</dc:subject>
  <dc:creator>taylordavis@careluminate.com</dc:creator>
  <cp:lastModifiedBy>Taylor Davis</cp:lastModifiedBy>
  <cp:revision>2</cp:revision>
  <cp:lastPrinted>1601-01-01T00:00:00Z</cp:lastPrinted>
  <dcterms:created xsi:type="dcterms:W3CDTF">2024-12-03T04:16:29Z</dcterms:created>
  <dcterms:modified xsi:type="dcterms:W3CDTF">2025-09-15T18:43:12Z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0x0101009B349422217C3B4089C746CFA7CED71F</vt:lpwstr>
  </property>
</Properties>
</file>