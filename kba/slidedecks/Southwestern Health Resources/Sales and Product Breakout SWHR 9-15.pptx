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3" r:id="rId2"/>
    <p:sldMasterId id="2147483995" r:id="rId3"/>
    <p:sldMasterId id="2147484020" r:id="rId4"/>
  </p:sldMasterIdLst>
  <p:notesMasterIdLst>
    <p:notesMasterId r:id="rId17"/>
  </p:notesMasterIdLst>
  <p:sldIdLst>
    <p:sldId id="256" r:id="rId5"/>
    <p:sldId id="455" r:id="rId6"/>
    <p:sldId id="459" r:id="rId7"/>
    <p:sldId id="285" r:id="rId8"/>
    <p:sldId id="456" r:id="rId9"/>
    <p:sldId id="281" r:id="rId10"/>
    <p:sldId id="2145726911" r:id="rId11"/>
    <p:sldId id="2145726856" r:id="rId12"/>
    <p:sldId id="614" r:id="rId13"/>
    <p:sldId id="2145726909" r:id="rId14"/>
    <p:sldId id="2145726857" r:id="rId15"/>
    <p:sldId id="266" r:id="rId16"/>
  </p:sldIdLst>
  <p:sldSz cx="12192000" cy="6858000"/>
  <p:notesSz cx="6858000" cy="12192000"/>
  <p:embeddedFontLst>
    <p:embeddedFont>
      <p:font typeface="Aptos Narrow" panose="020B0004020202020204" pitchFamily="34" charset="0"/>
      <p:regular r:id="rId18"/>
      <p:bold r:id="rId19"/>
      <p:italic r:id="rId20"/>
      <p:boldItalic r:id="rId21"/>
    </p:embeddedFont>
    <p:embeddedFont>
      <p:font typeface="Book Antiqua" panose="02040602050305030304" pitchFamily="18" charset="0"/>
      <p:regular r:id="rId22"/>
      <p:bold r:id="rId23"/>
      <p:italic r:id="rId24"/>
      <p:boldItalic r:id="rId25"/>
    </p:embeddedFont>
    <p:embeddedFont>
      <p:font typeface="Inter" panose="020B0604020202020204" charset="0"/>
      <p:regular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Montserrat Bold" panose="00000800000000000000" charset="0"/>
      <p:bold r:id="rId31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111627"/>
    <a:srgbClr val="F2F2F2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38AF1D-9FD3-4978-82D8-FA83ABECDCE0}" v="39" dt="2025-09-17T12:53:52.1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5109" autoAdjust="0"/>
  </p:normalViewPr>
  <p:slideViewPr>
    <p:cSldViewPr snapToGrid="0" snapToObjects="1">
      <p:cViewPr varScale="1">
        <p:scale>
          <a:sx n="80" d="100"/>
          <a:sy n="80" d="100"/>
        </p:scale>
        <p:origin x="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7D0B6B51-DA5F-4021-8848-39BD0005AA08}"/>
    <pc:docChg chg="undo custSel addSld delSld modSld sldOrd">
      <pc:chgData name="Taylor Davis" userId="5c9e72a0-c39f-4aa1-9d7d-64125e78cbe6" providerId="ADAL" clId="{7D0B6B51-DA5F-4021-8848-39BD0005AA08}" dt="2025-09-17T12:54:07.189" v="1257" actId="20577"/>
      <pc:docMkLst>
        <pc:docMk/>
      </pc:docMkLst>
      <pc:sldChg chg="addSp delSp modSp add del mod">
        <pc:chgData name="Taylor Davis" userId="5c9e72a0-c39f-4aa1-9d7d-64125e78cbe6" providerId="ADAL" clId="{7D0B6B51-DA5F-4021-8848-39BD0005AA08}" dt="2025-09-15T17:07:16.955" v="71" actId="47"/>
        <pc:sldMkLst>
          <pc:docMk/>
          <pc:sldMk cId="0" sldId="262"/>
        </pc:sldMkLst>
      </pc:sldChg>
      <pc:sldChg chg="modSp mod modNotes">
        <pc:chgData name="Taylor Davis" userId="5c9e72a0-c39f-4aa1-9d7d-64125e78cbe6" providerId="ADAL" clId="{7D0B6B51-DA5F-4021-8848-39BD0005AA08}" dt="2025-09-17T12:54:07.189" v="1257" actId="20577"/>
        <pc:sldMkLst>
          <pc:docMk/>
          <pc:sldMk cId="0" sldId="281"/>
        </pc:sldMkLst>
        <pc:spChg chg="mod">
          <ac:chgData name="Taylor Davis" userId="5c9e72a0-c39f-4aa1-9d7d-64125e78cbe6" providerId="ADAL" clId="{7D0B6B51-DA5F-4021-8848-39BD0005AA08}" dt="2025-09-15T17:19:09.044" v="490" actId="20577"/>
          <ac:spMkLst>
            <pc:docMk/>
            <pc:sldMk cId="0" sldId="281"/>
            <ac:spMk id="6" creationId="{E392FE5F-363B-FA77-DA23-846972AE91AE}"/>
          </ac:spMkLst>
        </pc:spChg>
        <pc:spChg chg="mod">
          <ac:chgData name="Taylor Davis" userId="5c9e72a0-c39f-4aa1-9d7d-64125e78cbe6" providerId="ADAL" clId="{7D0B6B51-DA5F-4021-8848-39BD0005AA08}" dt="2025-09-17T12:54:07.189" v="1257" actId="20577"/>
          <ac:spMkLst>
            <pc:docMk/>
            <pc:sldMk cId="0" sldId="281"/>
            <ac:spMk id="115717" creationId="{4DF35BB9-7364-27D7-9436-C53298BBC6B8}"/>
          </ac:spMkLst>
        </pc:spChg>
      </pc:sldChg>
      <pc:sldChg chg="addSp delSp modSp mod modNotes modNotesTx">
        <pc:chgData name="Taylor Davis" userId="5c9e72a0-c39f-4aa1-9d7d-64125e78cbe6" providerId="ADAL" clId="{7D0B6B51-DA5F-4021-8848-39BD0005AA08}" dt="2025-09-15T17:58:17.501" v="1248" actId="20577"/>
        <pc:sldMkLst>
          <pc:docMk/>
          <pc:sldMk cId="0" sldId="285"/>
        </pc:sldMkLst>
        <pc:spChg chg="mod">
          <ac:chgData name="Taylor Davis" userId="5c9e72a0-c39f-4aa1-9d7d-64125e78cbe6" providerId="ADAL" clId="{7D0B6B51-DA5F-4021-8848-39BD0005AA08}" dt="2025-09-15T17:55:59.121" v="1181" actId="14100"/>
          <ac:spMkLst>
            <pc:docMk/>
            <pc:sldMk cId="0" sldId="285"/>
            <ac:spMk id="11" creationId="{2C3C063F-478C-1983-EB9B-BC9212331397}"/>
          </ac:spMkLst>
        </pc:spChg>
        <pc:spChg chg="mod">
          <ac:chgData name="Taylor Davis" userId="5c9e72a0-c39f-4aa1-9d7d-64125e78cbe6" providerId="ADAL" clId="{7D0B6B51-DA5F-4021-8848-39BD0005AA08}" dt="2025-09-15T17:15:58.336" v="460" actId="6549"/>
          <ac:spMkLst>
            <pc:docMk/>
            <pc:sldMk cId="0" sldId="285"/>
            <ac:spMk id="111627" creationId="{F0DF9754-79F6-1B64-8084-B9999BBEBED8}"/>
          </ac:spMkLst>
        </pc:spChg>
        <pc:graphicFrameChg chg="add mod modGraphic">
          <ac:chgData name="Taylor Davis" userId="5c9e72a0-c39f-4aa1-9d7d-64125e78cbe6" providerId="ADAL" clId="{7D0B6B51-DA5F-4021-8848-39BD0005AA08}" dt="2025-09-15T17:58:17.501" v="1248" actId="20577"/>
          <ac:graphicFrameMkLst>
            <pc:docMk/>
            <pc:sldMk cId="0" sldId="285"/>
            <ac:graphicFrameMk id="7" creationId="{50F6F2E0-D342-3007-3295-A5A48FF44313}"/>
          </ac:graphicFrameMkLst>
        </pc:graphicFrameChg>
        <pc:picChg chg="mod">
          <ac:chgData name="Taylor Davis" userId="5c9e72a0-c39f-4aa1-9d7d-64125e78cbe6" providerId="ADAL" clId="{7D0B6B51-DA5F-4021-8848-39BD0005AA08}" dt="2025-09-15T17:50:58.667" v="1130" actId="1076"/>
          <ac:picMkLst>
            <pc:docMk/>
            <pc:sldMk cId="0" sldId="285"/>
            <ac:picMk id="111624" creationId="{AC6455EE-959B-4362-17D7-EFB7941BCA3A}"/>
          </ac:picMkLst>
        </pc:picChg>
      </pc:sldChg>
      <pc:sldChg chg="modSp mod">
        <pc:chgData name="Taylor Davis" userId="5c9e72a0-c39f-4aa1-9d7d-64125e78cbe6" providerId="ADAL" clId="{7D0B6B51-DA5F-4021-8848-39BD0005AA08}" dt="2025-09-15T17:07:26.683" v="79" actId="20577"/>
        <pc:sldMkLst>
          <pc:docMk/>
          <pc:sldMk cId="0" sldId="455"/>
        </pc:sldMkLst>
        <pc:spChg chg="mod">
          <ac:chgData name="Taylor Davis" userId="5c9e72a0-c39f-4aa1-9d7d-64125e78cbe6" providerId="ADAL" clId="{7D0B6B51-DA5F-4021-8848-39BD0005AA08}" dt="2025-09-15T17:07:26.683" v="79" actId="20577"/>
          <ac:spMkLst>
            <pc:docMk/>
            <pc:sldMk cId="0" sldId="455"/>
            <ac:spMk id="107528" creationId="{084E1A8C-5DD5-0E87-B3EA-4E3586F573C2}"/>
          </ac:spMkLst>
        </pc:spChg>
      </pc:sldChg>
      <pc:sldChg chg="modSp mod">
        <pc:chgData name="Taylor Davis" userId="5c9e72a0-c39f-4aa1-9d7d-64125e78cbe6" providerId="ADAL" clId="{7D0B6B51-DA5F-4021-8848-39BD0005AA08}" dt="2025-09-15T17:58:01.573" v="1232" actId="20577"/>
        <pc:sldMkLst>
          <pc:docMk/>
          <pc:sldMk cId="0" sldId="459"/>
        </pc:sldMkLst>
        <pc:graphicFrameChg chg="modGraphic">
          <ac:chgData name="Taylor Davis" userId="5c9e72a0-c39f-4aa1-9d7d-64125e78cbe6" providerId="ADAL" clId="{7D0B6B51-DA5F-4021-8848-39BD0005AA08}" dt="2025-09-15T17:58:01.573" v="1232" actId="20577"/>
          <ac:graphicFrameMkLst>
            <pc:docMk/>
            <pc:sldMk cId="0" sldId="459"/>
            <ac:graphicFrameMk id="15" creationId="{9EE69140-F83A-5990-E7B6-C51DE5264BEF}"/>
          </ac:graphicFrameMkLst>
        </pc:graphicFrameChg>
      </pc:sldChg>
      <pc:sldChg chg="del">
        <pc:chgData name="Taylor Davis" userId="5c9e72a0-c39f-4aa1-9d7d-64125e78cbe6" providerId="ADAL" clId="{7D0B6B51-DA5F-4021-8848-39BD0005AA08}" dt="2025-09-15T17:27:51.829" v="1085" actId="47"/>
        <pc:sldMkLst>
          <pc:docMk/>
          <pc:sldMk cId="0" sldId="612"/>
        </pc:sldMkLst>
      </pc:sldChg>
      <pc:sldChg chg="modNotes">
        <pc:chgData name="Taylor Davis" userId="5c9e72a0-c39f-4aa1-9d7d-64125e78cbe6" providerId="ADAL" clId="{7D0B6B51-DA5F-4021-8848-39BD0005AA08}" dt="2025-09-17T12:53:52.136" v="1249"/>
        <pc:sldMkLst>
          <pc:docMk/>
          <pc:sldMk cId="0" sldId="2145726856"/>
        </pc:sldMkLst>
      </pc:sldChg>
      <pc:sldChg chg="ord">
        <pc:chgData name="Taylor Davis" userId="5c9e72a0-c39f-4aa1-9d7d-64125e78cbe6" providerId="ADAL" clId="{7D0B6B51-DA5F-4021-8848-39BD0005AA08}" dt="2025-09-15T17:27:22.163" v="1083"/>
        <pc:sldMkLst>
          <pc:docMk/>
          <pc:sldMk cId="0" sldId="2145726857"/>
        </pc:sldMkLst>
      </pc:sldChg>
      <pc:sldChg chg="del">
        <pc:chgData name="Taylor Davis" userId="5c9e72a0-c39f-4aa1-9d7d-64125e78cbe6" providerId="ADAL" clId="{7D0B6B51-DA5F-4021-8848-39BD0005AA08}" dt="2025-09-15T17:27:29.986" v="1084" actId="47"/>
        <pc:sldMkLst>
          <pc:docMk/>
          <pc:sldMk cId="0" sldId="2145726859"/>
        </pc:sldMkLst>
      </pc:sldChg>
      <pc:sldChg chg="del">
        <pc:chgData name="Taylor Davis" userId="5c9e72a0-c39f-4aa1-9d7d-64125e78cbe6" providerId="ADAL" clId="{7D0B6B51-DA5F-4021-8848-39BD0005AA08}" dt="2025-09-15T17:03:19.720" v="27" actId="47"/>
        <pc:sldMkLst>
          <pc:docMk/>
          <pc:sldMk cId="0" sldId="2145726908"/>
        </pc:sldMkLst>
      </pc:sldChg>
      <pc:sldChg chg="addSp delSp modSp add mod">
        <pc:chgData name="Taylor Davis" userId="5c9e72a0-c39f-4aa1-9d7d-64125e78cbe6" providerId="ADAL" clId="{7D0B6B51-DA5F-4021-8848-39BD0005AA08}" dt="2025-09-15T16:59:16.938" v="25" actId="1076"/>
        <pc:sldMkLst>
          <pc:docMk/>
          <pc:sldMk cId="2626970748" sldId="2145726909"/>
        </pc:sldMkLst>
        <pc:spChg chg="add mod">
          <ac:chgData name="Taylor Davis" userId="5c9e72a0-c39f-4aa1-9d7d-64125e78cbe6" providerId="ADAL" clId="{7D0B6B51-DA5F-4021-8848-39BD0005AA08}" dt="2025-09-15T16:59:16.938" v="25" actId="1076"/>
          <ac:spMkLst>
            <pc:docMk/>
            <pc:sldMk cId="2626970748" sldId="2145726909"/>
            <ac:spMk id="5" creationId="{333BDE1D-0972-0447-649D-743BEA02FCF7}"/>
          </ac:spMkLst>
        </pc:spChg>
        <pc:picChg chg="mod">
          <ac:chgData name="Taylor Davis" userId="5c9e72a0-c39f-4aa1-9d7d-64125e78cbe6" providerId="ADAL" clId="{7D0B6B51-DA5F-4021-8848-39BD0005AA08}" dt="2025-09-15T16:59:13.943" v="24" actId="1076"/>
          <ac:picMkLst>
            <pc:docMk/>
            <pc:sldMk cId="2626970748" sldId="2145726909"/>
            <ac:picMk id="23" creationId="{6F7616C4-CFA7-3325-19DD-0DDB8593A1E7}"/>
          </ac:picMkLst>
        </pc:picChg>
      </pc:sldChg>
      <pc:sldChg chg="addSp modSp add del mod modNotesTx">
        <pc:chgData name="Taylor Davis" userId="5c9e72a0-c39f-4aa1-9d7d-64125e78cbe6" providerId="ADAL" clId="{7D0B6B51-DA5F-4021-8848-39BD0005AA08}" dt="2025-09-15T17:43:34.309" v="1104" actId="47"/>
        <pc:sldMkLst>
          <pc:docMk/>
          <pc:sldMk cId="0" sldId="2145726910"/>
        </pc:sldMkLst>
      </pc:sldChg>
      <pc:sldChg chg="addSp modSp add mod">
        <pc:chgData name="Taylor Davis" userId="5c9e72a0-c39f-4aa1-9d7d-64125e78cbe6" providerId="ADAL" clId="{7D0B6B51-DA5F-4021-8848-39BD0005AA08}" dt="2025-09-15T17:44:46.869" v="1129" actId="403"/>
        <pc:sldMkLst>
          <pc:docMk/>
          <pc:sldMk cId="0" sldId="2145726911"/>
        </pc:sldMkLst>
        <pc:spChg chg="mod">
          <ac:chgData name="Taylor Davis" userId="5c9e72a0-c39f-4aa1-9d7d-64125e78cbe6" providerId="ADAL" clId="{7D0B6B51-DA5F-4021-8848-39BD0005AA08}" dt="2025-09-15T17:43:57.931" v="1109" actId="207"/>
          <ac:spMkLst>
            <pc:docMk/>
            <pc:sldMk cId="0" sldId="2145726911"/>
            <ac:spMk id="2" creationId="{00000000-0000-0000-0000-000000000000}"/>
          </ac:spMkLst>
        </pc:spChg>
        <pc:spChg chg="mod">
          <ac:chgData name="Taylor Davis" userId="5c9e72a0-c39f-4aa1-9d7d-64125e78cbe6" providerId="ADAL" clId="{7D0B6B51-DA5F-4021-8848-39BD0005AA08}" dt="2025-09-15T17:44:11.414" v="1126" actId="5793"/>
          <ac:spMkLst>
            <pc:docMk/>
            <pc:sldMk cId="0" sldId="2145726911"/>
            <ac:spMk id="3" creationId="{00000000-0000-0000-0000-000000000000}"/>
          </ac:spMkLst>
        </pc:spChg>
        <pc:spChg chg="mod">
          <ac:chgData name="Taylor Davis" userId="5c9e72a0-c39f-4aa1-9d7d-64125e78cbe6" providerId="ADAL" clId="{7D0B6B51-DA5F-4021-8848-39BD0005AA08}" dt="2025-09-15T17:44:38.287" v="1127" actId="207"/>
          <ac:spMkLst>
            <pc:docMk/>
            <pc:sldMk cId="0" sldId="2145726911"/>
            <ac:spMk id="23" creationId="{00000000-0000-0000-0000-000000000000}"/>
          </ac:spMkLst>
        </pc:spChg>
        <pc:spChg chg="mod">
          <ac:chgData name="Taylor Davis" userId="5c9e72a0-c39f-4aa1-9d7d-64125e78cbe6" providerId="ADAL" clId="{7D0B6B51-DA5F-4021-8848-39BD0005AA08}" dt="2025-09-15T17:44:46.869" v="1129" actId="403"/>
          <ac:spMkLst>
            <pc:docMk/>
            <pc:sldMk cId="0" sldId="2145726911"/>
            <ac:spMk id="25" creationId="{00000000-0000-0000-0000-000000000000}"/>
          </ac:spMkLst>
        </pc:spChg>
        <pc:spChg chg="add mod">
          <ac:chgData name="Taylor Davis" userId="5c9e72a0-c39f-4aa1-9d7d-64125e78cbe6" providerId="ADAL" clId="{7D0B6B51-DA5F-4021-8848-39BD0005AA08}" dt="2025-09-15T17:43:43.951" v="1105"/>
          <ac:spMkLst>
            <pc:docMk/>
            <pc:sldMk cId="0" sldId="2145726911"/>
            <ac:spMk id="27" creationId="{6A0AB534-2581-F240-64D6-6846AFCC745B}"/>
          </ac:spMkLst>
        </pc:spChg>
        <pc:picChg chg="add mod">
          <ac:chgData name="Taylor Davis" userId="5c9e72a0-c39f-4aa1-9d7d-64125e78cbe6" providerId="ADAL" clId="{7D0B6B51-DA5F-4021-8848-39BD0005AA08}" dt="2025-09-15T17:43:43.951" v="1105"/>
          <ac:picMkLst>
            <pc:docMk/>
            <pc:sldMk cId="0" sldId="2145726911"/>
            <ac:picMk id="26" creationId="{032C243F-5508-CF0B-45ED-B7E09DF02245}"/>
          </ac:picMkLst>
        </pc:picChg>
      </pc:sldChg>
      <pc:sldMasterChg chg="delSldLayout">
        <pc:chgData name="Taylor Davis" userId="5c9e72a0-c39f-4aa1-9d7d-64125e78cbe6" providerId="ADAL" clId="{7D0B6B51-DA5F-4021-8848-39BD0005AA08}" dt="2025-09-15T17:43:34.309" v="1104" actId="47"/>
        <pc:sldMasterMkLst>
          <pc:docMk/>
          <pc:sldMasterMk cId="0" sldId="2147483663"/>
        </pc:sldMasterMkLst>
        <pc:sldLayoutChg chg="del">
          <pc:chgData name="Taylor Davis" userId="5c9e72a0-c39f-4aa1-9d7d-64125e78cbe6" providerId="ADAL" clId="{7D0B6B51-DA5F-4021-8848-39BD0005AA08}" dt="2025-09-15T17:43:34.309" v="1104" actId="47"/>
          <pc:sldLayoutMkLst>
            <pc:docMk/>
            <pc:sldMasterMk cId="0" sldId="2147483663"/>
            <pc:sldLayoutMk cId="1617342847" sldId="2147484261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F1B84F-4F37-4E4B-B28C-05C8DFC9475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911CD98-B2F6-4E17-9C61-BB702C3250BF}">
      <dgm:prSet/>
      <dgm:spPr/>
      <dgm:t>
        <a:bodyPr/>
        <a:lstStyle/>
        <a:p>
          <a:r>
            <a:rPr lang="en-US"/>
            <a:t>Locally based sales rep with strong community ties</a:t>
          </a:r>
        </a:p>
      </dgm:t>
    </dgm:pt>
    <dgm:pt modelId="{1B3485FF-7759-40EC-AD38-B4C3F252244B}" type="parTrans" cxnId="{A168C851-557D-4049-B12D-0918348F3F6B}">
      <dgm:prSet/>
      <dgm:spPr/>
      <dgm:t>
        <a:bodyPr/>
        <a:lstStyle/>
        <a:p>
          <a:endParaRPr lang="en-US"/>
        </a:p>
      </dgm:t>
    </dgm:pt>
    <dgm:pt modelId="{9180CA49-E8E8-4099-ADFF-9A61D44E83A0}" type="sibTrans" cxnId="{A168C851-557D-4049-B12D-0918348F3F6B}">
      <dgm:prSet/>
      <dgm:spPr/>
      <dgm:t>
        <a:bodyPr/>
        <a:lstStyle/>
        <a:p>
          <a:endParaRPr lang="en-US"/>
        </a:p>
      </dgm:t>
    </dgm:pt>
    <dgm:pt modelId="{9AFA7D91-6390-4F95-BF06-02D171762A63}">
      <dgm:prSet/>
      <dgm:spPr/>
      <dgm:t>
        <a:bodyPr/>
        <a:lstStyle/>
        <a:p>
          <a:r>
            <a:rPr lang="en-US"/>
            <a:t>Collaboration with DTE provider partners to identify strategic employers for early adoption and sales</a:t>
          </a:r>
        </a:p>
      </dgm:t>
    </dgm:pt>
    <dgm:pt modelId="{D0587002-3B85-493B-96BA-C0B5C3BC8362}" type="parTrans" cxnId="{8425CA16-C12A-4854-A8A6-A903ECA909CC}">
      <dgm:prSet/>
      <dgm:spPr/>
      <dgm:t>
        <a:bodyPr/>
        <a:lstStyle/>
        <a:p>
          <a:endParaRPr lang="en-US"/>
        </a:p>
      </dgm:t>
    </dgm:pt>
    <dgm:pt modelId="{0B994676-137E-4272-9E37-A6B069477E49}" type="sibTrans" cxnId="{8425CA16-C12A-4854-A8A6-A903ECA909CC}">
      <dgm:prSet/>
      <dgm:spPr/>
      <dgm:t>
        <a:bodyPr/>
        <a:lstStyle/>
        <a:p>
          <a:endParaRPr lang="en-US"/>
        </a:p>
      </dgm:t>
    </dgm:pt>
    <dgm:pt modelId="{9D9C157A-8184-4810-813C-F9ABE512F84B}">
      <dgm:prSet/>
      <dgm:spPr/>
      <dgm:t>
        <a:bodyPr/>
        <a:lstStyle/>
        <a:p>
          <a:r>
            <a:rPr lang="en-US"/>
            <a:t>Work with select broker distribution partners with aligned incentives and goals</a:t>
          </a:r>
        </a:p>
      </dgm:t>
    </dgm:pt>
    <dgm:pt modelId="{D8EDC1F2-E417-46FD-8716-E1D397B83704}" type="parTrans" cxnId="{D6C9B23D-AA21-442F-A1F4-60E86C0DFD38}">
      <dgm:prSet/>
      <dgm:spPr/>
      <dgm:t>
        <a:bodyPr/>
        <a:lstStyle/>
        <a:p>
          <a:endParaRPr lang="en-US"/>
        </a:p>
      </dgm:t>
    </dgm:pt>
    <dgm:pt modelId="{A9D49BD5-FFD1-45FF-B858-025048928466}" type="sibTrans" cxnId="{D6C9B23D-AA21-442F-A1F4-60E86C0DFD38}">
      <dgm:prSet/>
      <dgm:spPr/>
      <dgm:t>
        <a:bodyPr/>
        <a:lstStyle/>
        <a:p>
          <a:endParaRPr lang="en-US"/>
        </a:p>
      </dgm:t>
    </dgm:pt>
    <dgm:pt modelId="{39D9786D-012C-4B3E-84F3-BFD2C13FD7FC}">
      <dgm:prSet/>
      <dgm:spPr/>
      <dgm:t>
        <a:bodyPr/>
        <a:lstStyle/>
        <a:p>
          <a:r>
            <a:rPr lang="en-US"/>
            <a:t>Pipeline reporting and collaboration with our DTE provider partners</a:t>
          </a:r>
        </a:p>
      </dgm:t>
    </dgm:pt>
    <dgm:pt modelId="{C689F240-B9AE-4A72-BADB-436944BA27AA}" type="parTrans" cxnId="{9F11DF62-E12D-48E8-9AF7-8969B05FD323}">
      <dgm:prSet/>
      <dgm:spPr/>
      <dgm:t>
        <a:bodyPr/>
        <a:lstStyle/>
        <a:p>
          <a:endParaRPr lang="en-US"/>
        </a:p>
      </dgm:t>
    </dgm:pt>
    <dgm:pt modelId="{0FD7031B-D881-49AA-97BB-5ACDC9BF069B}" type="sibTrans" cxnId="{9F11DF62-E12D-48E8-9AF7-8969B05FD323}">
      <dgm:prSet/>
      <dgm:spPr/>
      <dgm:t>
        <a:bodyPr/>
        <a:lstStyle/>
        <a:p>
          <a:endParaRPr lang="en-US"/>
        </a:p>
      </dgm:t>
    </dgm:pt>
    <dgm:pt modelId="{B99A3672-DF6D-4974-8FC9-C3A40F7EE8D6}">
      <dgm:prSet/>
      <dgm:spPr/>
      <dgm:t>
        <a:bodyPr/>
        <a:lstStyle/>
        <a:p>
          <a:r>
            <a:rPr lang="en-US"/>
            <a:t>Marketing and promotion of the new option in the community</a:t>
          </a:r>
        </a:p>
      </dgm:t>
    </dgm:pt>
    <dgm:pt modelId="{F021CB03-DC97-4F5D-A6E0-B31CA8867184}" type="parTrans" cxnId="{BA63E6F6-73E3-400D-860F-4F734F4C4B3F}">
      <dgm:prSet/>
      <dgm:spPr/>
      <dgm:t>
        <a:bodyPr/>
        <a:lstStyle/>
        <a:p>
          <a:endParaRPr lang="en-US"/>
        </a:p>
      </dgm:t>
    </dgm:pt>
    <dgm:pt modelId="{FF3C2DEC-F562-4F34-AE34-A164E841B7EF}" type="sibTrans" cxnId="{BA63E6F6-73E3-400D-860F-4F734F4C4B3F}">
      <dgm:prSet/>
      <dgm:spPr/>
      <dgm:t>
        <a:bodyPr/>
        <a:lstStyle/>
        <a:p>
          <a:endParaRPr lang="en-US"/>
        </a:p>
      </dgm:t>
    </dgm:pt>
    <dgm:pt modelId="{37E61AA2-39C5-4D3B-A37D-5BFF2E9B8AED}" type="pres">
      <dgm:prSet presAssocID="{A1F1B84F-4F37-4E4B-B28C-05C8DFC94756}" presName="root" presStyleCnt="0">
        <dgm:presLayoutVars>
          <dgm:dir/>
          <dgm:resizeHandles val="exact"/>
        </dgm:presLayoutVars>
      </dgm:prSet>
      <dgm:spPr/>
    </dgm:pt>
    <dgm:pt modelId="{DFD5F05F-A43A-4652-80DD-25D35540632C}" type="pres">
      <dgm:prSet presAssocID="{0911CD98-B2F6-4E17-9C61-BB702C3250BF}" presName="compNode" presStyleCnt="0"/>
      <dgm:spPr/>
    </dgm:pt>
    <dgm:pt modelId="{EF2B0188-8507-44E9-B757-7CDCC1B0E1A1}" type="pres">
      <dgm:prSet presAssocID="{0911CD98-B2F6-4E17-9C61-BB702C3250BF}" presName="bgRect" presStyleLbl="bgShp" presStyleIdx="0" presStyleCnt="5"/>
      <dgm:spPr>
        <a:solidFill>
          <a:srgbClr val="00539F"/>
        </a:solidFill>
      </dgm:spPr>
    </dgm:pt>
    <dgm:pt modelId="{62DBE401-C7C8-4CFE-9E6C-C1AF672BE62E}" type="pres">
      <dgm:prSet presAssocID="{0911CD98-B2F6-4E17-9C61-BB702C3250BF}" presName="iconRect" presStyleLbl="node1" presStyleIdx="0" presStyleCnt="5"/>
      <dgm:spPr>
        <a:blipFill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 with solid fill"/>
        </a:ext>
      </dgm:extLst>
    </dgm:pt>
    <dgm:pt modelId="{5865C594-3822-4E5D-A8F0-237AFF390341}" type="pres">
      <dgm:prSet presAssocID="{0911CD98-B2F6-4E17-9C61-BB702C3250BF}" presName="spaceRect" presStyleCnt="0"/>
      <dgm:spPr/>
    </dgm:pt>
    <dgm:pt modelId="{4CB68EC3-6DDF-4EA3-93EC-B1D00317444B}" type="pres">
      <dgm:prSet presAssocID="{0911CD98-B2F6-4E17-9C61-BB702C3250BF}" presName="parTx" presStyleLbl="revTx" presStyleIdx="0" presStyleCnt="5">
        <dgm:presLayoutVars>
          <dgm:chMax val="0"/>
          <dgm:chPref val="0"/>
        </dgm:presLayoutVars>
      </dgm:prSet>
      <dgm:spPr/>
    </dgm:pt>
    <dgm:pt modelId="{8F49C51A-DAE6-4363-9FDF-3E95B30C7DB1}" type="pres">
      <dgm:prSet presAssocID="{9180CA49-E8E8-4099-ADFF-9A61D44E83A0}" presName="sibTrans" presStyleCnt="0"/>
      <dgm:spPr/>
    </dgm:pt>
    <dgm:pt modelId="{8EF2CCDE-7F5C-4F5F-B2FA-43FDCA78B104}" type="pres">
      <dgm:prSet presAssocID="{9AFA7D91-6390-4F95-BF06-02D171762A63}" presName="compNode" presStyleCnt="0"/>
      <dgm:spPr/>
    </dgm:pt>
    <dgm:pt modelId="{B3E1CF03-EDE1-471D-890C-AA2901FB45D9}" type="pres">
      <dgm:prSet presAssocID="{9AFA7D91-6390-4F95-BF06-02D171762A63}" presName="bgRect" presStyleLbl="bgShp" presStyleIdx="1" presStyleCnt="5"/>
      <dgm:spPr>
        <a:solidFill>
          <a:srgbClr val="00539F"/>
        </a:solidFill>
      </dgm:spPr>
    </dgm:pt>
    <dgm:pt modelId="{ECC08DA8-E403-48CD-BD4C-54248151AF43}" type="pres">
      <dgm:prSet presAssocID="{9AFA7D91-6390-4F95-BF06-02D171762A63}" presName="iconRect" presStyleLbl="node1" presStyleIdx="1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FE4C47F7-8462-46EB-8C62-1EA1F9B6F345}" type="pres">
      <dgm:prSet presAssocID="{9AFA7D91-6390-4F95-BF06-02D171762A63}" presName="spaceRect" presStyleCnt="0"/>
      <dgm:spPr/>
    </dgm:pt>
    <dgm:pt modelId="{29DB6DFD-5EF2-4FE9-B832-B73DBBA6C818}" type="pres">
      <dgm:prSet presAssocID="{9AFA7D91-6390-4F95-BF06-02D171762A63}" presName="parTx" presStyleLbl="revTx" presStyleIdx="1" presStyleCnt="5">
        <dgm:presLayoutVars>
          <dgm:chMax val="0"/>
          <dgm:chPref val="0"/>
        </dgm:presLayoutVars>
      </dgm:prSet>
      <dgm:spPr/>
    </dgm:pt>
    <dgm:pt modelId="{BBD30813-D29A-4BFF-871C-E33ABBA55401}" type="pres">
      <dgm:prSet presAssocID="{0B994676-137E-4272-9E37-A6B069477E49}" presName="sibTrans" presStyleCnt="0"/>
      <dgm:spPr/>
    </dgm:pt>
    <dgm:pt modelId="{94B5DC3D-A2E9-423D-897A-CA8E16E3511B}" type="pres">
      <dgm:prSet presAssocID="{9D9C157A-8184-4810-813C-F9ABE512F84B}" presName="compNode" presStyleCnt="0"/>
      <dgm:spPr/>
    </dgm:pt>
    <dgm:pt modelId="{495539A5-77BE-4439-9E54-31CB6AC437BE}" type="pres">
      <dgm:prSet presAssocID="{9D9C157A-8184-4810-813C-F9ABE512F84B}" presName="bgRect" presStyleLbl="bgShp" presStyleIdx="2" presStyleCnt="5"/>
      <dgm:spPr>
        <a:solidFill>
          <a:srgbClr val="00539F"/>
        </a:solidFill>
      </dgm:spPr>
    </dgm:pt>
    <dgm:pt modelId="{66BBB871-A6BE-4530-8850-268C29376138}" type="pres">
      <dgm:prSet presAssocID="{9D9C157A-8184-4810-813C-F9ABE512F84B}" presName="iconRect" presStyleLbl="nod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09342166-EBA1-4B27-8ACE-D6FAC2A4DB0C}" type="pres">
      <dgm:prSet presAssocID="{9D9C157A-8184-4810-813C-F9ABE512F84B}" presName="spaceRect" presStyleCnt="0"/>
      <dgm:spPr/>
    </dgm:pt>
    <dgm:pt modelId="{85678566-6F19-4FD8-B582-931B4C3F49E3}" type="pres">
      <dgm:prSet presAssocID="{9D9C157A-8184-4810-813C-F9ABE512F84B}" presName="parTx" presStyleLbl="revTx" presStyleIdx="2" presStyleCnt="5">
        <dgm:presLayoutVars>
          <dgm:chMax val="0"/>
          <dgm:chPref val="0"/>
        </dgm:presLayoutVars>
      </dgm:prSet>
      <dgm:spPr/>
    </dgm:pt>
    <dgm:pt modelId="{44ECB50D-A07B-4D5E-844D-7D32E84393B1}" type="pres">
      <dgm:prSet presAssocID="{A9D49BD5-FFD1-45FF-B858-025048928466}" presName="sibTrans" presStyleCnt="0"/>
      <dgm:spPr/>
    </dgm:pt>
    <dgm:pt modelId="{CE6CF16D-32CC-42ED-9AB1-8FA8B428B507}" type="pres">
      <dgm:prSet presAssocID="{39D9786D-012C-4B3E-84F3-BFD2C13FD7FC}" presName="compNode" presStyleCnt="0"/>
      <dgm:spPr/>
    </dgm:pt>
    <dgm:pt modelId="{98428F15-F0D5-4130-9147-37C3DDCA1DC9}" type="pres">
      <dgm:prSet presAssocID="{39D9786D-012C-4B3E-84F3-BFD2C13FD7FC}" presName="bgRect" presStyleLbl="bgShp" presStyleIdx="3" presStyleCnt="5"/>
      <dgm:spPr>
        <a:solidFill>
          <a:srgbClr val="00539F"/>
        </a:solidFill>
      </dgm:spPr>
    </dgm:pt>
    <dgm:pt modelId="{317B8A92-F6D8-485E-BFCD-F23A414CD080}" type="pres">
      <dgm:prSet presAssocID="{39D9786D-012C-4B3E-84F3-BFD2C13FD7FC}" presName="iconRect" presStyleLbl="node1" presStyleIdx="3" presStyleCnt="5"/>
      <dgm:spPr>
        <a:blipFill>
          <a:blip xmlns:r="http://schemas.openxmlformats.org/officeDocument/2006/relationships" r:embed="rId4"/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 with solid fill"/>
        </a:ext>
      </dgm:extLst>
    </dgm:pt>
    <dgm:pt modelId="{D67C9A0B-8E41-46E6-8087-A85826FA64FA}" type="pres">
      <dgm:prSet presAssocID="{39D9786D-012C-4B3E-84F3-BFD2C13FD7FC}" presName="spaceRect" presStyleCnt="0"/>
      <dgm:spPr/>
    </dgm:pt>
    <dgm:pt modelId="{ECF200B6-4CF1-49FA-82CB-D36753C29C94}" type="pres">
      <dgm:prSet presAssocID="{39D9786D-012C-4B3E-84F3-BFD2C13FD7FC}" presName="parTx" presStyleLbl="revTx" presStyleIdx="3" presStyleCnt="5">
        <dgm:presLayoutVars>
          <dgm:chMax val="0"/>
          <dgm:chPref val="0"/>
        </dgm:presLayoutVars>
      </dgm:prSet>
      <dgm:spPr/>
    </dgm:pt>
    <dgm:pt modelId="{D6C45ADB-0B0E-41AD-966C-A24E2BDD5A10}" type="pres">
      <dgm:prSet presAssocID="{0FD7031B-D881-49AA-97BB-5ACDC9BF069B}" presName="sibTrans" presStyleCnt="0"/>
      <dgm:spPr/>
    </dgm:pt>
    <dgm:pt modelId="{2A54FCFA-8C28-4B8F-83AC-553D4CE8145D}" type="pres">
      <dgm:prSet presAssocID="{B99A3672-DF6D-4974-8FC9-C3A40F7EE8D6}" presName="compNode" presStyleCnt="0"/>
      <dgm:spPr/>
    </dgm:pt>
    <dgm:pt modelId="{7566ED39-D6F5-4DF5-8A39-A79490273A0B}" type="pres">
      <dgm:prSet presAssocID="{B99A3672-DF6D-4974-8FC9-C3A40F7EE8D6}" presName="bgRect" presStyleLbl="bgShp" presStyleIdx="4" presStyleCnt="5"/>
      <dgm:spPr>
        <a:solidFill>
          <a:srgbClr val="00539F"/>
        </a:solidFill>
      </dgm:spPr>
    </dgm:pt>
    <dgm:pt modelId="{B3F6EF59-567A-4333-BF88-50EE8E8487A2}" type="pres">
      <dgm:prSet presAssocID="{B99A3672-DF6D-4974-8FC9-C3A40F7EE8D6}" presName="iconRect" presStyleLbl="node1" presStyleIdx="4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C07678B5-F1A8-408B-99D7-F5DF97732B8E}" type="pres">
      <dgm:prSet presAssocID="{B99A3672-DF6D-4974-8FC9-C3A40F7EE8D6}" presName="spaceRect" presStyleCnt="0"/>
      <dgm:spPr/>
    </dgm:pt>
    <dgm:pt modelId="{AEFC0EFB-BD3D-4AF8-8A4E-66BB21DDE307}" type="pres">
      <dgm:prSet presAssocID="{B99A3672-DF6D-4974-8FC9-C3A40F7EE8D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984370F-FCB1-497C-85E7-CE8CDEE5CE72}" type="presOf" srcId="{0911CD98-B2F6-4E17-9C61-BB702C3250BF}" destId="{4CB68EC3-6DDF-4EA3-93EC-B1D00317444B}" srcOrd="0" destOrd="0" presId="urn:microsoft.com/office/officeart/2018/2/layout/IconVerticalSolidList"/>
    <dgm:cxn modelId="{8425CA16-C12A-4854-A8A6-A903ECA909CC}" srcId="{A1F1B84F-4F37-4E4B-B28C-05C8DFC94756}" destId="{9AFA7D91-6390-4F95-BF06-02D171762A63}" srcOrd="1" destOrd="0" parTransId="{D0587002-3B85-493B-96BA-C0B5C3BC8362}" sibTransId="{0B994676-137E-4272-9E37-A6B069477E49}"/>
    <dgm:cxn modelId="{0E351628-9811-4200-BF32-763ECC730587}" type="presOf" srcId="{A1F1B84F-4F37-4E4B-B28C-05C8DFC94756}" destId="{37E61AA2-39C5-4D3B-A37D-5BFF2E9B8AED}" srcOrd="0" destOrd="0" presId="urn:microsoft.com/office/officeart/2018/2/layout/IconVerticalSolidList"/>
    <dgm:cxn modelId="{D6C9B23D-AA21-442F-A1F4-60E86C0DFD38}" srcId="{A1F1B84F-4F37-4E4B-B28C-05C8DFC94756}" destId="{9D9C157A-8184-4810-813C-F9ABE512F84B}" srcOrd="2" destOrd="0" parTransId="{D8EDC1F2-E417-46FD-8716-E1D397B83704}" sibTransId="{A9D49BD5-FFD1-45FF-B858-025048928466}"/>
    <dgm:cxn modelId="{7673B861-15F1-4DFB-91C8-F9338D4E2FD3}" type="presOf" srcId="{9AFA7D91-6390-4F95-BF06-02D171762A63}" destId="{29DB6DFD-5EF2-4FE9-B832-B73DBBA6C818}" srcOrd="0" destOrd="0" presId="urn:microsoft.com/office/officeart/2018/2/layout/IconVerticalSolidList"/>
    <dgm:cxn modelId="{9F11DF62-E12D-48E8-9AF7-8969B05FD323}" srcId="{A1F1B84F-4F37-4E4B-B28C-05C8DFC94756}" destId="{39D9786D-012C-4B3E-84F3-BFD2C13FD7FC}" srcOrd="3" destOrd="0" parTransId="{C689F240-B9AE-4A72-BADB-436944BA27AA}" sibTransId="{0FD7031B-D881-49AA-97BB-5ACDC9BF069B}"/>
    <dgm:cxn modelId="{A168C851-557D-4049-B12D-0918348F3F6B}" srcId="{A1F1B84F-4F37-4E4B-B28C-05C8DFC94756}" destId="{0911CD98-B2F6-4E17-9C61-BB702C3250BF}" srcOrd="0" destOrd="0" parTransId="{1B3485FF-7759-40EC-AD38-B4C3F252244B}" sibTransId="{9180CA49-E8E8-4099-ADFF-9A61D44E83A0}"/>
    <dgm:cxn modelId="{6C0ED558-1C36-4942-87C9-E5CDEBD5215A}" type="presOf" srcId="{B99A3672-DF6D-4974-8FC9-C3A40F7EE8D6}" destId="{AEFC0EFB-BD3D-4AF8-8A4E-66BB21DDE307}" srcOrd="0" destOrd="0" presId="urn:microsoft.com/office/officeart/2018/2/layout/IconVerticalSolidList"/>
    <dgm:cxn modelId="{907FDB82-6D78-4B5B-B8D5-FBD143D2D9B7}" type="presOf" srcId="{9D9C157A-8184-4810-813C-F9ABE512F84B}" destId="{85678566-6F19-4FD8-B582-931B4C3F49E3}" srcOrd="0" destOrd="0" presId="urn:microsoft.com/office/officeart/2018/2/layout/IconVerticalSolidList"/>
    <dgm:cxn modelId="{A6F3D9AA-9AE5-4F50-98F3-131244F0904B}" type="presOf" srcId="{39D9786D-012C-4B3E-84F3-BFD2C13FD7FC}" destId="{ECF200B6-4CF1-49FA-82CB-D36753C29C94}" srcOrd="0" destOrd="0" presId="urn:microsoft.com/office/officeart/2018/2/layout/IconVerticalSolidList"/>
    <dgm:cxn modelId="{BA63E6F6-73E3-400D-860F-4F734F4C4B3F}" srcId="{A1F1B84F-4F37-4E4B-B28C-05C8DFC94756}" destId="{B99A3672-DF6D-4974-8FC9-C3A40F7EE8D6}" srcOrd="4" destOrd="0" parTransId="{F021CB03-DC97-4F5D-A6E0-B31CA8867184}" sibTransId="{FF3C2DEC-F562-4F34-AE34-A164E841B7EF}"/>
    <dgm:cxn modelId="{842AB080-082E-4C17-94CA-7742D671B3ED}" type="presParOf" srcId="{37E61AA2-39C5-4D3B-A37D-5BFF2E9B8AED}" destId="{DFD5F05F-A43A-4652-80DD-25D35540632C}" srcOrd="0" destOrd="0" presId="urn:microsoft.com/office/officeart/2018/2/layout/IconVerticalSolidList"/>
    <dgm:cxn modelId="{6EF39C1D-FAFD-4A04-A11A-1030AC4CFC8B}" type="presParOf" srcId="{DFD5F05F-A43A-4652-80DD-25D35540632C}" destId="{EF2B0188-8507-44E9-B757-7CDCC1B0E1A1}" srcOrd="0" destOrd="0" presId="urn:microsoft.com/office/officeart/2018/2/layout/IconVerticalSolidList"/>
    <dgm:cxn modelId="{6D810C82-4D92-4389-B5AA-752860BBE629}" type="presParOf" srcId="{DFD5F05F-A43A-4652-80DD-25D35540632C}" destId="{62DBE401-C7C8-4CFE-9E6C-C1AF672BE62E}" srcOrd="1" destOrd="0" presId="urn:microsoft.com/office/officeart/2018/2/layout/IconVerticalSolidList"/>
    <dgm:cxn modelId="{19579CB1-0E46-435D-B65A-526C3672873F}" type="presParOf" srcId="{DFD5F05F-A43A-4652-80DD-25D35540632C}" destId="{5865C594-3822-4E5D-A8F0-237AFF390341}" srcOrd="2" destOrd="0" presId="urn:microsoft.com/office/officeart/2018/2/layout/IconVerticalSolidList"/>
    <dgm:cxn modelId="{F4A6F0DC-71D2-4A28-8F71-A32E7CC21BE4}" type="presParOf" srcId="{DFD5F05F-A43A-4652-80DD-25D35540632C}" destId="{4CB68EC3-6DDF-4EA3-93EC-B1D00317444B}" srcOrd="3" destOrd="0" presId="urn:microsoft.com/office/officeart/2018/2/layout/IconVerticalSolidList"/>
    <dgm:cxn modelId="{7298B435-A464-40AF-81C1-277811F934A6}" type="presParOf" srcId="{37E61AA2-39C5-4D3B-A37D-5BFF2E9B8AED}" destId="{8F49C51A-DAE6-4363-9FDF-3E95B30C7DB1}" srcOrd="1" destOrd="0" presId="urn:microsoft.com/office/officeart/2018/2/layout/IconVerticalSolidList"/>
    <dgm:cxn modelId="{80208897-E320-4A70-A0C1-2D462611E667}" type="presParOf" srcId="{37E61AA2-39C5-4D3B-A37D-5BFF2E9B8AED}" destId="{8EF2CCDE-7F5C-4F5F-B2FA-43FDCA78B104}" srcOrd="2" destOrd="0" presId="urn:microsoft.com/office/officeart/2018/2/layout/IconVerticalSolidList"/>
    <dgm:cxn modelId="{8631143E-C593-472F-A2DF-22ED3A77E9C2}" type="presParOf" srcId="{8EF2CCDE-7F5C-4F5F-B2FA-43FDCA78B104}" destId="{B3E1CF03-EDE1-471D-890C-AA2901FB45D9}" srcOrd="0" destOrd="0" presId="urn:microsoft.com/office/officeart/2018/2/layout/IconVerticalSolidList"/>
    <dgm:cxn modelId="{10D11F1E-AA15-4AA8-8E34-D7EDB0314473}" type="presParOf" srcId="{8EF2CCDE-7F5C-4F5F-B2FA-43FDCA78B104}" destId="{ECC08DA8-E403-48CD-BD4C-54248151AF43}" srcOrd="1" destOrd="0" presId="urn:microsoft.com/office/officeart/2018/2/layout/IconVerticalSolidList"/>
    <dgm:cxn modelId="{906D20FF-7949-4A1E-8CD3-654B8ABBD8B6}" type="presParOf" srcId="{8EF2CCDE-7F5C-4F5F-B2FA-43FDCA78B104}" destId="{FE4C47F7-8462-46EB-8C62-1EA1F9B6F345}" srcOrd="2" destOrd="0" presId="urn:microsoft.com/office/officeart/2018/2/layout/IconVerticalSolidList"/>
    <dgm:cxn modelId="{C4FEB834-80E4-4B2F-AE68-1B09BC0B63E4}" type="presParOf" srcId="{8EF2CCDE-7F5C-4F5F-B2FA-43FDCA78B104}" destId="{29DB6DFD-5EF2-4FE9-B832-B73DBBA6C818}" srcOrd="3" destOrd="0" presId="urn:microsoft.com/office/officeart/2018/2/layout/IconVerticalSolidList"/>
    <dgm:cxn modelId="{37736754-2A48-4138-ABD2-2E7DB36CA19F}" type="presParOf" srcId="{37E61AA2-39C5-4D3B-A37D-5BFF2E9B8AED}" destId="{BBD30813-D29A-4BFF-871C-E33ABBA55401}" srcOrd="3" destOrd="0" presId="urn:microsoft.com/office/officeart/2018/2/layout/IconVerticalSolidList"/>
    <dgm:cxn modelId="{2ABD4FB5-C6B5-4317-ACF2-B5CDA0D2D5BD}" type="presParOf" srcId="{37E61AA2-39C5-4D3B-A37D-5BFF2E9B8AED}" destId="{94B5DC3D-A2E9-423D-897A-CA8E16E3511B}" srcOrd="4" destOrd="0" presId="urn:microsoft.com/office/officeart/2018/2/layout/IconVerticalSolidList"/>
    <dgm:cxn modelId="{5D74FEC5-780E-4A88-9479-49C0D344EB21}" type="presParOf" srcId="{94B5DC3D-A2E9-423D-897A-CA8E16E3511B}" destId="{495539A5-77BE-4439-9E54-31CB6AC437BE}" srcOrd="0" destOrd="0" presId="urn:microsoft.com/office/officeart/2018/2/layout/IconVerticalSolidList"/>
    <dgm:cxn modelId="{D99BB2F5-81E7-487E-81C0-21F85C306EA1}" type="presParOf" srcId="{94B5DC3D-A2E9-423D-897A-CA8E16E3511B}" destId="{66BBB871-A6BE-4530-8850-268C29376138}" srcOrd="1" destOrd="0" presId="urn:microsoft.com/office/officeart/2018/2/layout/IconVerticalSolidList"/>
    <dgm:cxn modelId="{8B962ACB-D181-409F-88AC-9E2B1F991553}" type="presParOf" srcId="{94B5DC3D-A2E9-423D-897A-CA8E16E3511B}" destId="{09342166-EBA1-4B27-8ACE-D6FAC2A4DB0C}" srcOrd="2" destOrd="0" presId="urn:microsoft.com/office/officeart/2018/2/layout/IconVerticalSolidList"/>
    <dgm:cxn modelId="{C553F894-B963-4961-A07F-A8686370A1B7}" type="presParOf" srcId="{94B5DC3D-A2E9-423D-897A-CA8E16E3511B}" destId="{85678566-6F19-4FD8-B582-931B4C3F49E3}" srcOrd="3" destOrd="0" presId="urn:microsoft.com/office/officeart/2018/2/layout/IconVerticalSolidList"/>
    <dgm:cxn modelId="{5B7F9F0D-3160-4A91-87B9-34FD02B96799}" type="presParOf" srcId="{37E61AA2-39C5-4D3B-A37D-5BFF2E9B8AED}" destId="{44ECB50D-A07B-4D5E-844D-7D32E84393B1}" srcOrd="5" destOrd="0" presId="urn:microsoft.com/office/officeart/2018/2/layout/IconVerticalSolidList"/>
    <dgm:cxn modelId="{6ABCCA69-7FE2-4620-B149-176B6A2139E3}" type="presParOf" srcId="{37E61AA2-39C5-4D3B-A37D-5BFF2E9B8AED}" destId="{CE6CF16D-32CC-42ED-9AB1-8FA8B428B507}" srcOrd="6" destOrd="0" presId="urn:microsoft.com/office/officeart/2018/2/layout/IconVerticalSolidList"/>
    <dgm:cxn modelId="{1411B764-7C10-4824-81F9-5712E11B9478}" type="presParOf" srcId="{CE6CF16D-32CC-42ED-9AB1-8FA8B428B507}" destId="{98428F15-F0D5-4130-9147-37C3DDCA1DC9}" srcOrd="0" destOrd="0" presId="urn:microsoft.com/office/officeart/2018/2/layout/IconVerticalSolidList"/>
    <dgm:cxn modelId="{69CF457E-E251-47A1-A455-671F5086320B}" type="presParOf" srcId="{CE6CF16D-32CC-42ED-9AB1-8FA8B428B507}" destId="{317B8A92-F6D8-485E-BFCD-F23A414CD080}" srcOrd="1" destOrd="0" presId="urn:microsoft.com/office/officeart/2018/2/layout/IconVerticalSolidList"/>
    <dgm:cxn modelId="{E8FBD433-CB19-48B7-943E-4B7E5146EE63}" type="presParOf" srcId="{CE6CF16D-32CC-42ED-9AB1-8FA8B428B507}" destId="{D67C9A0B-8E41-46E6-8087-A85826FA64FA}" srcOrd="2" destOrd="0" presId="urn:microsoft.com/office/officeart/2018/2/layout/IconVerticalSolidList"/>
    <dgm:cxn modelId="{14639D21-D3D9-425C-9A7E-08E6E10AF458}" type="presParOf" srcId="{CE6CF16D-32CC-42ED-9AB1-8FA8B428B507}" destId="{ECF200B6-4CF1-49FA-82CB-D36753C29C94}" srcOrd="3" destOrd="0" presId="urn:microsoft.com/office/officeart/2018/2/layout/IconVerticalSolidList"/>
    <dgm:cxn modelId="{0A1FA13D-2846-47A2-8450-A2943D76228F}" type="presParOf" srcId="{37E61AA2-39C5-4D3B-A37D-5BFF2E9B8AED}" destId="{D6C45ADB-0B0E-41AD-966C-A24E2BDD5A10}" srcOrd="7" destOrd="0" presId="urn:microsoft.com/office/officeart/2018/2/layout/IconVerticalSolidList"/>
    <dgm:cxn modelId="{B1096B87-C599-42D7-8BC1-D3901BD2E7A7}" type="presParOf" srcId="{37E61AA2-39C5-4D3B-A37D-5BFF2E9B8AED}" destId="{2A54FCFA-8C28-4B8F-83AC-553D4CE8145D}" srcOrd="8" destOrd="0" presId="urn:microsoft.com/office/officeart/2018/2/layout/IconVerticalSolidList"/>
    <dgm:cxn modelId="{952352DE-697E-41A0-AA50-DA440E7D7B84}" type="presParOf" srcId="{2A54FCFA-8C28-4B8F-83AC-553D4CE8145D}" destId="{7566ED39-D6F5-4DF5-8A39-A79490273A0B}" srcOrd="0" destOrd="0" presId="urn:microsoft.com/office/officeart/2018/2/layout/IconVerticalSolidList"/>
    <dgm:cxn modelId="{3F91414F-7B45-4BE9-91C9-7DDDF27875CB}" type="presParOf" srcId="{2A54FCFA-8C28-4B8F-83AC-553D4CE8145D}" destId="{B3F6EF59-567A-4333-BF88-50EE8E8487A2}" srcOrd="1" destOrd="0" presId="urn:microsoft.com/office/officeart/2018/2/layout/IconVerticalSolidList"/>
    <dgm:cxn modelId="{589CE084-1CA3-4809-B2B9-4C3A6957C4E5}" type="presParOf" srcId="{2A54FCFA-8C28-4B8F-83AC-553D4CE8145D}" destId="{C07678B5-F1A8-408B-99D7-F5DF97732B8E}" srcOrd="2" destOrd="0" presId="urn:microsoft.com/office/officeart/2018/2/layout/IconVerticalSolidList"/>
    <dgm:cxn modelId="{4FAF5214-1D30-44F5-A655-91B4158F77D6}" type="presParOf" srcId="{2A54FCFA-8C28-4B8F-83AC-553D4CE8145D}" destId="{AEFC0EFB-BD3D-4AF8-8A4E-66BB21DDE3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2B0188-8507-44E9-B757-7CDCC1B0E1A1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BE401-C7C8-4CFE-9E6C-C1AF672BE62E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68EC3-6DDF-4EA3-93EC-B1D00317444B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Locally based sales rep with strong community ties</a:t>
          </a:r>
        </a:p>
      </dsp:txBody>
      <dsp:txXfrm>
        <a:off x="1074268" y="4366"/>
        <a:ext cx="5170996" cy="930102"/>
      </dsp:txXfrm>
    </dsp:sp>
    <dsp:sp modelId="{B3E1CF03-EDE1-471D-890C-AA2901FB45D9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08DA8-E403-48CD-BD4C-54248151AF43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B6DFD-5EF2-4FE9-B832-B73DBBA6C818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Collaboration with DTE provider partners to identify strategic employers for early adoption and sales</a:t>
          </a:r>
        </a:p>
      </dsp:txBody>
      <dsp:txXfrm>
        <a:off x="1074268" y="1166994"/>
        <a:ext cx="5170996" cy="930102"/>
      </dsp:txXfrm>
    </dsp:sp>
    <dsp:sp modelId="{495539A5-77BE-4439-9E54-31CB6AC437BE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BBB871-A6BE-4530-8850-268C29376138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678566-6F19-4FD8-B582-931B4C3F49E3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Work with select broker distribution partners with aligned incentives and goals</a:t>
          </a:r>
        </a:p>
      </dsp:txBody>
      <dsp:txXfrm>
        <a:off x="1074268" y="2329622"/>
        <a:ext cx="5170996" cy="930102"/>
      </dsp:txXfrm>
    </dsp:sp>
    <dsp:sp modelId="{98428F15-F0D5-4130-9147-37C3DDCA1DC9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7B8A92-F6D8-485E-BFCD-F23A414CD080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F200B6-4CF1-49FA-82CB-D36753C29C94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Pipeline reporting and collaboration with our DTE provider partners</a:t>
          </a:r>
        </a:p>
      </dsp:txBody>
      <dsp:txXfrm>
        <a:off x="1074268" y="3492250"/>
        <a:ext cx="5170996" cy="930102"/>
      </dsp:txXfrm>
    </dsp:sp>
    <dsp:sp modelId="{7566ED39-D6F5-4DF5-8A39-A79490273A0B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6EF59-567A-4333-BF88-50EE8E8487A2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C0EFB-BD3D-4AF8-8A4E-66BB21DDE307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Marketing and promotion of the new option in the community</a:t>
          </a:r>
        </a:p>
      </dsp:txBody>
      <dsp:txXfrm>
        <a:off x="1074268" y="4654878"/>
        <a:ext cx="5170996" cy="930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>
            <a:extLst>
              <a:ext uri="{FF2B5EF4-FFF2-40B4-BE49-F238E27FC236}">
                <a16:creationId xmlns:a16="http://schemas.microsoft.com/office/drawing/2014/main" id="{3A07AC99-A361-4BDF-6595-FAE76C7F994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6499" name="Notes Placeholder 2">
            <a:extLst>
              <a:ext uri="{FF2B5EF4-FFF2-40B4-BE49-F238E27FC236}">
                <a16:creationId xmlns:a16="http://schemas.microsoft.com/office/drawing/2014/main" id="{17D8E49D-639B-0E84-132F-FBBC7ED4C0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Montserrat" panose="00000500000000000000" pitchFamily="2" charset="0"/>
            </a:endParaRPr>
          </a:p>
        </p:txBody>
      </p:sp>
      <p:sp>
        <p:nvSpPr>
          <p:cNvPr id="106500" name="Slide Number Placeholder 3">
            <a:extLst>
              <a:ext uri="{FF2B5EF4-FFF2-40B4-BE49-F238E27FC236}">
                <a16:creationId xmlns:a16="http://schemas.microsoft.com/office/drawing/2014/main" id="{2C3928B4-1D39-2C70-FD57-8E8A66D8477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5564E07-8F35-4084-95E8-9ABE59CE7573}" type="slidenum">
              <a:rPr lang="en-US" altLang="en-US">
                <a:latin typeface="Montserrat" panose="00000500000000000000" pitchFamily="2" charset="0"/>
              </a:rPr>
              <a:pPr eaLnBrk="1" hangingPunct="1"/>
              <a:t>1</a:t>
            </a:fld>
            <a:endParaRPr lang="en-US" altLang="en-US">
              <a:latin typeface="Montserrat" panose="00000500000000000000" pitchFamily="2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>
            <a:extLst>
              <a:ext uri="{FF2B5EF4-FFF2-40B4-BE49-F238E27FC236}">
                <a16:creationId xmlns:a16="http://schemas.microsoft.com/office/drawing/2014/main" id="{BC5F7615-C471-D2BF-670B-716D487734A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8547" name="Notes Placeholder 2">
            <a:extLst>
              <a:ext uri="{FF2B5EF4-FFF2-40B4-BE49-F238E27FC236}">
                <a16:creationId xmlns:a16="http://schemas.microsoft.com/office/drawing/2014/main" id="{55BE52A1-34A4-64ED-43F2-5EE1FA174B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08548" name="Slide Number Placeholder 3">
            <a:extLst>
              <a:ext uri="{FF2B5EF4-FFF2-40B4-BE49-F238E27FC236}">
                <a16:creationId xmlns:a16="http://schemas.microsoft.com/office/drawing/2014/main" id="{82F453DD-878B-4513-EA19-7752DAF91D9F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7F1D83B7-13C0-45C8-BE9A-726870CF3A9A}" type="slidenum">
              <a:rPr lang="en-US" altLang="en-US" sz="1200">
                <a:solidFill>
                  <a:srgbClr val="000000"/>
                </a:solidFill>
                <a:latin typeface="Aptos" panose="020B0004020202020204" pitchFamily="34" charset="0"/>
              </a:rPr>
              <a:pPr algn="r" eaLnBrk="1" hangingPunct="1"/>
              <a:t>2</a:t>
            </a:fld>
            <a:endParaRPr lang="en-US" altLang="en-US" sz="12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>
            <a:extLst>
              <a:ext uri="{FF2B5EF4-FFF2-40B4-BE49-F238E27FC236}">
                <a16:creationId xmlns:a16="http://schemas.microsoft.com/office/drawing/2014/main" id="{A50FE8A8-97ED-FDC7-C0B5-F7617F9E510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0595" name="Notes Placeholder 2">
            <a:extLst>
              <a:ext uri="{FF2B5EF4-FFF2-40B4-BE49-F238E27FC236}">
                <a16:creationId xmlns:a16="http://schemas.microsoft.com/office/drawing/2014/main" id="{98B20BE8-EF72-1FD1-E0BA-F3222396D9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  <p:sp>
        <p:nvSpPr>
          <p:cNvPr id="110596" name="Slide Number Placeholder 3">
            <a:extLst>
              <a:ext uri="{FF2B5EF4-FFF2-40B4-BE49-F238E27FC236}">
                <a16:creationId xmlns:a16="http://schemas.microsoft.com/office/drawing/2014/main" id="{03712E2D-0BD3-85CB-AF50-09AFEEF0D34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D6F27017-4F09-4675-82C0-AAC95484694C}" type="slidenum">
              <a:rPr lang="en-US" altLang="en-US" sz="1200">
                <a:solidFill>
                  <a:srgbClr val="000000"/>
                </a:solidFill>
                <a:latin typeface="Aptos" panose="020B0004020202020204" pitchFamily="34" charset="0"/>
              </a:rPr>
              <a:pPr algn="r" eaLnBrk="1" hangingPunct="1"/>
              <a:t>3</a:t>
            </a:fld>
            <a:endParaRPr lang="en-US" altLang="en-US" sz="12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>
            <a:extLst>
              <a:ext uri="{FF2B5EF4-FFF2-40B4-BE49-F238E27FC236}">
                <a16:creationId xmlns:a16="http://schemas.microsoft.com/office/drawing/2014/main" id="{E97793FA-FB1F-6E11-725C-63C747CEFA4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43" name="Notes Placeholder 2">
            <a:extLst>
              <a:ext uri="{FF2B5EF4-FFF2-40B4-BE49-F238E27FC236}">
                <a16:creationId xmlns:a16="http://schemas.microsoft.com/office/drawing/2014/main" id="{6A6F21D1-E85A-DA78-A39D-E1F6649EB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Can’t put 3,500 on the convenience card. Second line is not the healthcare </a:t>
            </a:r>
            <a:r>
              <a:rPr lang="en-US" altLang="en-US" dirty="0" err="1"/>
              <a:t>credicard</a:t>
            </a:r>
            <a:r>
              <a:rPr lang="en-US" altLang="en-US" dirty="0"/>
              <a:t> balance</a:t>
            </a:r>
          </a:p>
        </p:txBody>
      </p:sp>
      <p:sp>
        <p:nvSpPr>
          <p:cNvPr id="112644" name="Slide Number Placeholder 3">
            <a:extLst>
              <a:ext uri="{FF2B5EF4-FFF2-40B4-BE49-F238E27FC236}">
                <a16:creationId xmlns:a16="http://schemas.microsoft.com/office/drawing/2014/main" id="{A73E266B-7A84-C243-1D0C-6C16C29DFB4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AFF9F3-C8AB-436D-99D0-D375E19F3267}" type="slidenum">
              <a:rPr lang="en-US" altLang="en-US">
                <a:solidFill>
                  <a:srgbClr val="000000"/>
                </a:solidFill>
                <a:latin typeface="Montserrat" panose="00000500000000000000" pitchFamily="2" charset="0"/>
              </a:rPr>
              <a:pPr eaLnBrk="1" hangingPunct="1"/>
              <a:t>4</a:t>
            </a:fld>
            <a:endParaRPr lang="en-US" altLang="en-US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>
            <a:extLst>
              <a:ext uri="{FF2B5EF4-FFF2-40B4-BE49-F238E27FC236}">
                <a16:creationId xmlns:a16="http://schemas.microsoft.com/office/drawing/2014/main" id="{E945107D-4628-D235-6066-8599CEE9787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4691" name="Notes Placeholder 2">
            <a:extLst>
              <a:ext uri="{FF2B5EF4-FFF2-40B4-BE49-F238E27FC236}">
                <a16:creationId xmlns:a16="http://schemas.microsoft.com/office/drawing/2014/main" id="{B03D0642-BA93-ED1F-6F70-44AE88C20F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14692" name="Slide Number Placeholder 3">
            <a:extLst>
              <a:ext uri="{FF2B5EF4-FFF2-40B4-BE49-F238E27FC236}">
                <a16:creationId xmlns:a16="http://schemas.microsoft.com/office/drawing/2014/main" id="{48ABE3F4-2649-7B40-95FA-F3A10E6101DE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025B96-9ED9-48DD-A30E-5B1DC145D260}" type="slidenum">
              <a:rPr lang="en-US" altLang="en-US">
                <a:solidFill>
                  <a:srgbClr val="000000"/>
                </a:solidFill>
              </a:rPr>
              <a:pPr/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>
            <a:extLst>
              <a:ext uri="{FF2B5EF4-FFF2-40B4-BE49-F238E27FC236}">
                <a16:creationId xmlns:a16="http://schemas.microsoft.com/office/drawing/2014/main" id="{826B644E-8671-7181-9426-6187E4FDA70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6739" name="Notes Placeholder 2">
            <a:extLst>
              <a:ext uri="{FF2B5EF4-FFF2-40B4-BE49-F238E27FC236}">
                <a16:creationId xmlns:a16="http://schemas.microsoft.com/office/drawing/2014/main" id="{3611FADD-1F43-FF53-02E4-8EA0DBF90A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6740" name="Slide Number Placeholder 3">
            <a:extLst>
              <a:ext uri="{FF2B5EF4-FFF2-40B4-BE49-F238E27FC236}">
                <a16:creationId xmlns:a16="http://schemas.microsoft.com/office/drawing/2014/main" id="{5786A97A-23C3-BC31-CCC2-270440310746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D44E293F-09F4-446F-9C30-33F17C9BEAFD}" type="slidenum">
              <a:rPr lang="en-US" altLang="en-US" sz="1200">
                <a:solidFill>
                  <a:srgbClr val="000000"/>
                </a:solidFill>
                <a:latin typeface="Montserrat" panose="00000500000000000000" pitchFamily="2" charset="0"/>
              </a:rPr>
              <a:pPr algn="r" eaLnBrk="1" hangingPunct="1"/>
              <a:t>6</a:t>
            </a:fld>
            <a:endParaRPr lang="en-US" altLang="en-US" sz="120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>
            <a:extLst>
              <a:ext uri="{FF2B5EF4-FFF2-40B4-BE49-F238E27FC236}">
                <a16:creationId xmlns:a16="http://schemas.microsoft.com/office/drawing/2014/main" id="{294732AE-1D64-043E-5FBF-5476708F8C8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9811" name="Notes Placeholder 2">
            <a:extLst>
              <a:ext uri="{FF2B5EF4-FFF2-40B4-BE49-F238E27FC236}">
                <a16:creationId xmlns:a16="http://schemas.microsoft.com/office/drawing/2014/main" id="{36ED023E-8EFF-D3F0-A008-66754EC481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Montserrat" panose="00000500000000000000" pitchFamily="2" charset="0"/>
            </a:endParaRPr>
          </a:p>
        </p:txBody>
      </p:sp>
      <p:sp>
        <p:nvSpPr>
          <p:cNvPr id="119812" name="Slide Number Placeholder 3">
            <a:extLst>
              <a:ext uri="{FF2B5EF4-FFF2-40B4-BE49-F238E27FC236}">
                <a16:creationId xmlns:a16="http://schemas.microsoft.com/office/drawing/2014/main" id="{E6B15486-AB84-14BB-B033-08CF7BE8F04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8479009E-4775-4CA8-B4F7-0D0E26F14CC2}" type="slidenum">
              <a:rPr lang="en-US" altLang="en-US" sz="1200">
                <a:solidFill>
                  <a:srgbClr val="000000"/>
                </a:solidFill>
                <a:latin typeface="Montserrat" panose="00000500000000000000" pitchFamily="2" charset="0"/>
              </a:rPr>
              <a:pPr algn="r" eaLnBrk="1" hangingPunct="1"/>
              <a:t>8</a:t>
            </a:fld>
            <a:endParaRPr lang="en-US" altLang="en-US" sz="120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>
            <a:extLst>
              <a:ext uri="{FF2B5EF4-FFF2-40B4-BE49-F238E27FC236}">
                <a16:creationId xmlns:a16="http://schemas.microsoft.com/office/drawing/2014/main" id="{D4103373-D277-518B-9ADE-62D2E09CB6E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25955" name="Notes Placeholder 2">
            <a:extLst>
              <a:ext uri="{FF2B5EF4-FFF2-40B4-BE49-F238E27FC236}">
                <a16:creationId xmlns:a16="http://schemas.microsoft.com/office/drawing/2014/main" id="{2F8DE45A-7FBC-2527-9E6C-551A282C28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5956" name="Slide Number Placeholder 3">
            <a:extLst>
              <a:ext uri="{FF2B5EF4-FFF2-40B4-BE49-F238E27FC236}">
                <a16:creationId xmlns:a16="http://schemas.microsoft.com/office/drawing/2014/main" id="{7C1DC422-FC53-1354-2580-3990CF8F97BE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2E37DD0-394E-4789-A826-681B09B81E70}" type="slidenum">
              <a:rPr lang="en-US" altLang="en-US">
                <a:latin typeface="Aptos" panose="020B0004020202020204" pitchFamily="34" charset="0"/>
              </a:rPr>
              <a:pPr eaLnBrk="1" hangingPunct="1"/>
              <a:t>12</a:t>
            </a:fld>
            <a:endParaRPr lang="en-US" alt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305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11BBB-7A2E-3331-CCA7-F5B576328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8FA06E29-489E-46E0-84DB-D3CBED295C45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24710-58CA-31D6-9036-099C196D0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98F8B-01C3-8131-E585-5454EEE46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48A6B057-C9B2-428A-9725-45B863763A2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739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2B5F2-A872-D7B8-0938-F87114BD72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70650"/>
            <a:ext cx="2743200" cy="2508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948AC138-B8D7-4F1C-8BD5-D26BBA5BF3F1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B4DA3-5BDB-5A61-F8FD-4F9AD112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70650"/>
            <a:ext cx="4114800" cy="250825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E1842-6FDA-867C-6EC4-44EFF83CF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70650"/>
            <a:ext cx="2743200" cy="2508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696C9011-F5D3-4310-B97F-D99748C52E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397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40353-8106-2C78-72B1-A8C5BEBF5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633F70-89C5-4109-8125-AF7173D716A6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413B7-DF54-ED6E-50D6-7A170A36C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44798-277F-424C-BECF-2FE245616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FC7B10-191D-43D5-A8BF-26EA6205A91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53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827825A-4F42-2C49-CD58-EB76F31DF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B7ECD9-3A6C-4E36-9350-4D6A16A05F29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CE82D9C-867A-D170-A908-2FCE89A7E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5BED842-EF8E-5BB5-D5D8-0C9E6D7D4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23FD2-6500-4428-B9B0-13024F99367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389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AE4F81F-1477-1177-8E49-B2B6EFCDC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05B102-7ED0-4D4F-9173-B51C3727068E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CA4B12F-2945-90CD-BE1C-9B0E2A98A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418ED7-9A8B-E177-D8C3-738371348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ADD76-A77C-4136-B58F-2B69C2296E8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1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3AC2F6-6829-0365-B8D7-1FEED72A2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0175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B77F661B-3D7F-4185-A03F-5DC1C0EC85D3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FF993-08E6-D883-6F35-935923457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175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9CB0D-33A2-69DF-5035-7D64C71AA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2338" y="6480175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8EBCC417-3DFA-4BEC-848D-0A2248E59A6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6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1166591-BB60-AF73-3BDB-1A3049CC5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A4DE0E-2E37-4B0F-919F-837D0BCD3577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641234-264E-B76A-2F4D-ACC10766C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21E9959-B71D-76DA-ECBC-D49526693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C1F0B0-85F0-4A7E-957F-E797BA8DCE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357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1F02CEA-323C-6799-4FBF-046C2F3BC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C6B6E-89AD-41DC-AC83-57EDDA01091A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08A5D42-AE1D-1927-15FC-2D95A197F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761DA4-3C9C-B340-B59D-962D886D6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23B5BC-9C0E-4639-867F-20ED3853B0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19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848FE1D-0ABB-179E-FF8D-4A23C93B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189B1-B217-42A1-BC89-E7E2231BB68F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72A1B73-E508-AB07-79CD-193A5FF5C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BFBD2DE-D927-FC23-426E-A91C29E7F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2622A2-62E2-4A1D-9A90-A33D86935E3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430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E4824-22A1-013B-6590-F50E02207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65955D-645D-4B6C-955A-2B26629696EA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694FF-C178-A281-8D6F-E1217483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2AA99-85E4-D8D8-FB46-8064EAFBF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027C87-E917-4B42-9A48-ECF8BE56B83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4284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A4913-E7AE-6369-F0D8-62C029DF7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60DF64-6F7E-4086-B30D-1F47CDE9BBA2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EBE75-0782-82AC-8D02-2D62716E0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7042E-3F78-CEEF-97F1-AF6C575E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05A9AE-8C72-4B14-8555-D33C73DE8B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053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g object 16">
            <a:extLst>
              <a:ext uri="{FF2B5EF4-FFF2-40B4-BE49-F238E27FC236}">
                <a16:creationId xmlns:a16="http://schemas.microsoft.com/office/drawing/2014/main" id="{330C980B-E5CE-C64A-C07D-FF8C5971086B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12192000 w 12192000"/>
              <a:gd name="T1" fmla="*/ 0 h 6858000"/>
              <a:gd name="T2" fmla="*/ 0 w 12192000"/>
              <a:gd name="T3" fmla="*/ 0 h 6858000"/>
              <a:gd name="T4" fmla="*/ 0 w 12192000"/>
              <a:gd name="T5" fmla="*/ 6858000 h 6858000"/>
              <a:gd name="T6" fmla="*/ 12192000 w 12192000"/>
              <a:gd name="T7" fmla="*/ 6858000 h 6858000"/>
              <a:gd name="T8" fmla="*/ 12192000 w 12192000"/>
              <a:gd name="T9" fmla="*/ 0 h 6858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5" name="bg object 17">
            <a:extLst>
              <a:ext uri="{FF2B5EF4-FFF2-40B4-BE49-F238E27FC236}">
                <a16:creationId xmlns:a16="http://schemas.microsoft.com/office/drawing/2014/main" id="{8D2DB930-BBE1-001B-E77C-11EBE9028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078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6" name="Holder 4">
            <a:extLst>
              <a:ext uri="{FF2B5EF4-FFF2-40B4-BE49-F238E27FC236}">
                <a16:creationId xmlns:a16="http://schemas.microsoft.com/office/drawing/2014/main" id="{15278E17-53EA-DC27-304D-1A0C0C7BA4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Holder 5">
            <a:extLst>
              <a:ext uri="{FF2B5EF4-FFF2-40B4-BE49-F238E27FC236}">
                <a16:creationId xmlns:a16="http://schemas.microsoft.com/office/drawing/2014/main" id="{F69D36C1-778D-FCD2-E3CE-F0080AD0045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F8999C72-4EDE-1F65-09C1-F0A094F5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>
            <a:lvl1pPr marL="118745">
              <a:spcBef>
                <a:spcPts val="25"/>
              </a:spcBef>
              <a:defRPr sz="1200" b="0" i="0" spc="-50">
                <a:solidFill>
                  <a:srgbClr val="767676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>
              <a:defRPr/>
            </a:pPr>
            <a:fld id="{0DD3E926-BD86-49AE-AFD3-2D9C3FC207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620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2537CE5E-A0D1-B09B-5E27-851DB29A490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359"/>
          <a:stretch>
            <a:fillRect/>
          </a:stretch>
        </p:blipFill>
        <p:spPr bwMode="auto">
          <a:xfrm>
            <a:off x="0" y="0"/>
            <a:ext cx="8096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8A37281-43DF-D217-8E40-BC69909300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59"/>
          <a:stretch>
            <a:fillRect/>
          </a:stretch>
        </p:blipFill>
        <p:spPr bwMode="auto">
          <a:xfrm>
            <a:off x="11382375" y="0"/>
            <a:ext cx="8096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Placeholder 1"/>
          <p:cNvSpPr>
            <a:spLocks noGrp="1"/>
          </p:cNvSpPr>
          <p:nvPr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228600" rIns="228600" bIns="0" rtlCol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1300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228600" rIns="228600" bIns="0" rtlCol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2530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FFFE86-8911-F199-9649-C55A78089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DD0788B-5D23-F6BC-3579-9574516AE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2630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5895617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827AA-BF5F-E46B-7EB6-8004DEE0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E34B9-B769-4F14-9F31-50ACAD9A4EBE}" type="datetime1">
              <a:rPr lang="en-US"/>
              <a:pPr>
                <a:defRPr/>
              </a:pPr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9D7E5-745F-DD52-883E-D9520411C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CD6AF-B88F-63DC-B483-162853D7D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AB6980-C5F3-418D-BB00-12D25D4E78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70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91279-AD1E-2543-954F-36C08A31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3FF32-2F86-469D-A34E-A814A26E990E}" type="datetime1">
              <a:rPr lang="en-US"/>
              <a:pPr>
                <a:defRPr/>
              </a:pPr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FEC89-CCA1-1232-EE12-8627D5B20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B6F20-2F0E-BFC1-F9E3-8C3BCE55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E55238-735D-4409-A0D1-1AA4C3E6E7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45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45FE1-044E-533A-2A05-F0CD34023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76AE5E-6DB3-4946-8F41-8F5388F7A698}" type="datetime1">
              <a:rPr lang="en-US"/>
              <a:pPr>
                <a:defRPr/>
              </a:pPr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3199D-101F-0F08-C945-E8498BE7B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0A9E0-BDF8-5BBB-A530-1BCC3E92F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46BCE0-DEC2-4472-925E-F973A316BE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79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81A74-8CFD-414B-B24E-CECF25126D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F62E5-55F5-4B32-94C2-12ACBC01A37D}" type="datetime1">
              <a:rPr lang="en-US"/>
              <a:pPr>
                <a:defRPr/>
              </a:pPr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F6F99-CEF2-7BC4-134F-2A71D3183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5C27E-1138-A6EC-79F9-4768E40F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B65F51-E774-45BA-A088-781F5D536B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191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42CCC9-924A-6445-F30A-44DF00DB1E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BE6414-519A-4DD9-A02F-998E18F16B2C}" type="datetime1">
              <a:rPr lang="en-US"/>
              <a:pPr>
                <a:defRPr/>
              </a:pPr>
              <a:t>9/17/2025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71E894-D045-44A7-FCD3-03AA28AAB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CCC2E1-56C9-D4B5-7D26-29AE554EF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6E3DA6-1D93-481F-AF6B-9B017CAF9F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298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753197-BEE7-1CF0-D557-89C29A71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C5A05-33E9-4836-8753-6DEACB04B9D9}" type="datetime1">
              <a:rPr lang="en-US"/>
              <a:pPr>
                <a:defRPr/>
              </a:pPr>
              <a:t>9/17/2025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4A86D-4C9D-6690-4714-3E59E1396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320C0A-AAE1-CEFD-2B26-3F536B9D0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57C06-F6B7-4AF4-9476-625BF842D1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983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BC56B8-531C-A501-A85C-C51AD8CB8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421AA6-BD8D-40C3-86A4-35D16C75EC81}" type="datetime1">
              <a:rPr lang="en-US"/>
              <a:pPr>
                <a:defRPr/>
              </a:pPr>
              <a:t>9/17/2025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528810-F09C-B86F-C42E-097E50422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8BE2C-1879-5023-F92C-3BDDE0C1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A843E-837F-42FF-9A37-3A25C30A8F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586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03CDB-82E3-C3CC-2DA2-A3C84DE4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5CDBCB-D047-4E22-B7C5-E14090C7527A}" type="datetime1">
              <a:rPr lang="en-US"/>
              <a:pPr>
                <a:defRPr/>
              </a:pPr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18D86-58F0-0A2B-E1FE-ABC4DF3F5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00A34-3BC8-2B71-9BCC-5E2D48D4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96174B-8DE5-42A0-929D-124259AF67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4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DCA89-57E7-A4E1-5884-92AA3BE05A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C99E03-8E10-495E-BAD0-080E587F4914}" type="datetime1">
              <a:rPr lang="en-US"/>
              <a:pPr>
                <a:defRPr/>
              </a:pPr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25BA9-D7DB-A05C-4446-E9839BF6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EF0D4-D4C5-56F3-E6BE-6E14DBDC6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57AD55-A662-4CBF-B573-EEB2F62A23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47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C11F8-66AB-3592-18CB-C03C516852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F76D04-8357-4DC8-BF66-51C6463C27DB}" type="datetime1">
              <a:rPr lang="en-US"/>
              <a:pPr>
                <a:defRPr/>
              </a:pPr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41CA3-FD79-880E-FDD7-790602C4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CE8EA-A903-0ECF-F7F1-F0AE7C3C9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B269A4-2DA5-46BE-8EBF-0E294150A8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057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E27CA-E14F-87EF-0DF0-1301F42672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BECA68-ECA4-4FD0-AAFC-937767A2A472}" type="datetime1">
              <a:rPr lang="en-US"/>
              <a:pPr>
                <a:defRPr/>
              </a:pPr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58B5A-6645-9F57-713D-ED1ACF961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BBE78-BA1C-F911-AD77-2965DCB5E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8C2A7-855E-464B-8785-1EC10F8F32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030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9798F-570D-4D4E-BF63-FD81AC5D4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EACD5161-0B21-430D-9335-65EBA93C9562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01405-A695-F457-57F4-60C2D9756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0CC32-2D60-9FA7-C2CD-F8A0D47F5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098B0E03-2DCF-412A-B891-7E0805425C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5770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376D-4161-50A1-A22C-1EFC65E2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70650"/>
            <a:ext cx="2743200" cy="2508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2E0A4C4E-1C1C-4EEF-8C5E-DAEF4D6A6DBF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4C40D-BF2E-0669-5DE1-CEA5B096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70650"/>
            <a:ext cx="4114800" cy="250825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3D8C0-7DE4-1B75-7534-C6CE345D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70650"/>
            <a:ext cx="2743200" cy="2508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1FF1A777-11C1-4563-BBFA-9087B86C12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515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EDEEE-0926-A679-AB92-D785F07C1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10F21F-3BE2-4204-B7D4-4D5F2E2EF1BF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0FFF5-C2D4-3074-3274-3A3F92F89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BDD1F-2D11-773E-82DC-B04BDA79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66F38-562B-40C8-B814-1F1E81FDDE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7376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E096F18-E025-249A-F156-22B54EFD2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FA1653-EE46-43A0-BB68-46BD0D61D1AF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D509A33-579E-B625-3551-A18487E77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4A8606-C7B0-AB48-756E-F9C8D77E6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A0F51D-A0FD-4708-AF26-A8E63AE0B5C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8330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7EC9224-9A6A-7F69-E456-8ED8DB6F0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41F2B-BC6A-4C2F-ABA7-6A2C8474B64E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95F5BEB-06B4-4A96-BD9D-CCA47375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B19DA86-BD4D-D404-2DEB-31C7549A1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823955-7AD1-42A0-AD3F-6BC14A6A15B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110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5432F7-6BCD-8305-0993-22587A01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0175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FAB4B6F1-E901-43CC-81E1-D9EABB97A747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AF833-5FF2-D1C0-1E8A-E1C92E884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175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FDF01-978F-C49E-42B0-2D097C24D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2338" y="6480175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AB70E29E-1907-42B6-9761-411D7D93A2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2071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0094AA9-DCA3-D0E9-6040-621187115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FB22C-05CA-4678-95AB-62A7A6403EA7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4D3A1F7-B42E-E465-2E72-0C715282A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40EE74B-CCBD-0210-F8E3-03B49019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674BB1-34BB-497B-A409-744D6DEDE9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7807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27109AC-6BE5-19DB-0F88-DBC9F6793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76578-E33E-42FE-B607-2614DE77067A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2F333AE-B381-75DD-A8D4-83DA7DBF2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0A7BFE7-8B77-760D-8F11-2EF6CF0C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1E2795-9F8B-4391-8C81-F200E3E0797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061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F16BCDB-DD7A-967A-0DBB-F76333284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33593B-2F24-4631-A14A-C5BCB04D97BD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A5EB00F-1538-F1D4-C0BE-5E16FAA10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29257C7-D80D-0A50-7D47-151A857E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901890-37A5-4C05-A715-99D162FEED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5281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D7030-F09C-AED1-A4CA-8875C8F1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2EEA5-76DB-438F-AB46-FFA3BDBFF97D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F3F5C-8500-9B4B-E9F4-F8BC655F8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50A7A-0864-B60E-9D1A-882CD11B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7A2AB6-7A7A-4222-B486-9E49B4D73E7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8743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3F99F-C2BF-B7DE-92AB-97002C2FC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EFAC7B-598C-4D36-874E-DB3F14F53576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86D01-7437-DC2F-27E5-B1925AC54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06460-3CF5-DD52-1A6D-ACA33C69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8443A1-E196-47B2-A814-F2A651C3AFE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2378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g object 16">
            <a:extLst>
              <a:ext uri="{FF2B5EF4-FFF2-40B4-BE49-F238E27FC236}">
                <a16:creationId xmlns:a16="http://schemas.microsoft.com/office/drawing/2014/main" id="{A3322D29-3C55-2376-1BDB-6921512CE982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858000"/>
          </a:xfrm>
          <a:custGeom>
            <a:avLst/>
            <a:gdLst>
              <a:gd name="T0" fmla="*/ 12192000 w 12192000"/>
              <a:gd name="T1" fmla="*/ 0 h 6858000"/>
              <a:gd name="T2" fmla="*/ 0 w 12192000"/>
              <a:gd name="T3" fmla="*/ 0 h 6858000"/>
              <a:gd name="T4" fmla="*/ 0 w 12192000"/>
              <a:gd name="T5" fmla="*/ 6858000 h 6858000"/>
              <a:gd name="T6" fmla="*/ 12192000 w 12192000"/>
              <a:gd name="T7" fmla="*/ 6858000 h 6858000"/>
              <a:gd name="T8" fmla="*/ 12192000 w 12192000"/>
              <a:gd name="T9" fmla="*/ 0 h 6858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5" name="bg object 17">
            <a:extLst>
              <a:ext uri="{FF2B5EF4-FFF2-40B4-BE49-F238E27FC236}">
                <a16:creationId xmlns:a16="http://schemas.microsoft.com/office/drawing/2014/main" id="{BFBEDBFF-F477-0037-A878-004E5E157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078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6" name="Holder 4">
            <a:extLst>
              <a:ext uri="{FF2B5EF4-FFF2-40B4-BE49-F238E27FC236}">
                <a16:creationId xmlns:a16="http://schemas.microsoft.com/office/drawing/2014/main" id="{37644DFD-0F29-83B6-D5EC-A92969F7E5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Holder 5">
            <a:extLst>
              <a:ext uri="{FF2B5EF4-FFF2-40B4-BE49-F238E27FC236}">
                <a16:creationId xmlns:a16="http://schemas.microsoft.com/office/drawing/2014/main" id="{2E6CCECF-0308-F9C5-3572-843976807D2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B8681A0C-3717-27B6-2C64-C75273D1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>
            <a:lvl1pPr marL="118745">
              <a:spcBef>
                <a:spcPts val="25"/>
              </a:spcBef>
              <a:defRPr sz="1200" b="0" i="0" spc="-50">
                <a:solidFill>
                  <a:srgbClr val="767676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>
              <a:defRPr/>
            </a:pPr>
            <a:fld id="{B34405DB-8852-4B4A-9B35-36819C09B8E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7993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2021A8A6-1557-4914-164A-450FE7CB5FE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359"/>
          <a:stretch>
            <a:fillRect/>
          </a:stretch>
        </p:blipFill>
        <p:spPr bwMode="auto">
          <a:xfrm>
            <a:off x="0" y="0"/>
            <a:ext cx="8096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A87E315-9D95-E051-4260-31000C9C07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59"/>
          <a:stretch>
            <a:fillRect/>
          </a:stretch>
        </p:blipFill>
        <p:spPr bwMode="auto">
          <a:xfrm>
            <a:off x="11382375" y="0"/>
            <a:ext cx="8096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itle Placeholder 1"/>
          <p:cNvSpPr>
            <a:spLocks noGrp="1"/>
          </p:cNvSpPr>
          <p:nvPr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228600" rIns="228600" bIns="0" rtlCol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90470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228600" rIns="228600" bIns="0" rtlCol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6164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tags" Target="../tags/tag1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131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83E84C70-B6E2-2205-8A61-CFDA2AFE45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06C61D7D-0AFA-38AB-E036-E9BD7C0FB6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42D2D-05A7-046E-85DA-C6442AA60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C513C377-D49A-43D2-AD13-0E4C325E7234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12E01-A48A-5205-2F4D-059A11FDE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DCE13-53C3-673F-A918-EDA98F516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5EDF2C7E-54FC-41A1-A755-C7864F880E8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170" r:id="rId1"/>
    <p:sldLayoutId id="2147484171" r:id="rId2"/>
    <p:sldLayoutId id="2147484140" r:id="rId3"/>
    <p:sldLayoutId id="2147484141" r:id="rId4"/>
    <p:sldLayoutId id="2147484142" r:id="rId5"/>
    <p:sldLayoutId id="2147484172" r:id="rId6"/>
    <p:sldLayoutId id="2147484143" r:id="rId7"/>
    <p:sldLayoutId id="2147484144" r:id="rId8"/>
    <p:sldLayoutId id="2147484145" r:id="rId9"/>
    <p:sldLayoutId id="2147484146" r:id="rId10"/>
    <p:sldLayoutId id="2147484147" r:id="rId11"/>
    <p:sldLayoutId id="2147484173" r:id="rId12"/>
    <p:sldLayoutId id="2147484174" r:id="rId13"/>
    <p:sldLayoutId id="2147484175" r:id="rId14"/>
    <p:sldLayoutId id="2147484176" r:id="rId15"/>
    <p:sldLayoutId id="2147484262" r:id="rId16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>
            <a:extLst>
              <a:ext uri="{FF2B5EF4-FFF2-40B4-BE49-F238E27FC236}">
                <a16:creationId xmlns:a16="http://schemas.microsoft.com/office/drawing/2014/main" id="{D812F075-9508-3AB6-1E69-6970C152AF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Text Placeholder 2">
            <a:extLst>
              <a:ext uri="{FF2B5EF4-FFF2-40B4-BE49-F238E27FC236}">
                <a16:creationId xmlns:a16="http://schemas.microsoft.com/office/drawing/2014/main" id="{4940C911-4176-703B-97C3-FA1C0311B5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9C070-FD01-7462-E514-791577529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3E39F93D-909B-4EDD-9674-34191AB7D1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4" r:id="rId1"/>
    <p:sldLayoutId id="2147484245" r:id="rId2"/>
    <p:sldLayoutId id="2147484246" r:id="rId3"/>
    <p:sldLayoutId id="2147484247" r:id="rId4"/>
    <p:sldLayoutId id="2147484248" r:id="rId5"/>
    <p:sldLayoutId id="2147484249" r:id="rId6"/>
    <p:sldLayoutId id="2147484250" r:id="rId7"/>
    <p:sldLayoutId id="2147484251" r:id="rId8"/>
    <p:sldLayoutId id="2147484252" r:id="rId9"/>
    <p:sldLayoutId id="2147484253" r:id="rId10"/>
    <p:sldLayoutId id="2147484254" r:id="rId11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Book Antiqua" panose="02040602050305030304" pitchFamily="18" charset="0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Book Antiqua" panose="02040602050305030304" pitchFamily="18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Book Antiqua" panose="02040602050305030304" pitchFamily="18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Book Antiqua" panose="02040602050305030304" pitchFamily="18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Book Antiqua" panose="02040602050305030304" pitchFamily="18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Book Antiqua" panose="02040602050305030304" pitchFamily="18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Book Antiqua" panose="02040602050305030304" pitchFamily="18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Book Antiqua" panose="02040602050305030304" pitchFamily="18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Book Antiqua" panose="02040602050305030304" pitchFamily="18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>
            <a:extLst>
              <a:ext uri="{FF2B5EF4-FFF2-40B4-BE49-F238E27FC236}">
                <a16:creationId xmlns:a16="http://schemas.microsoft.com/office/drawing/2014/main" id="{A2044B83-1A92-0689-A1B6-D54A1EDB78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147" name="Text Placeholder 2">
            <a:extLst>
              <a:ext uri="{FF2B5EF4-FFF2-40B4-BE49-F238E27FC236}">
                <a16:creationId xmlns:a16="http://schemas.microsoft.com/office/drawing/2014/main" id="{2C204DAF-59DE-0CA4-274A-7E2A1EB2EA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25314-2881-4C79-5800-4B3863602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60961251-B497-4E3E-96BC-F53E00C4DE87}" type="datetime1">
              <a:rPr lang="en-US"/>
              <a:pPr>
                <a:defRPr/>
              </a:pPr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C3BCB-0A13-4460-4BAC-42269FBEA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r>
              <a:rPr lang="en-US"/>
              <a:t>Key Benefit Administrators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58AF9-3622-D8EE-98B0-41817090A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C56AEF98-7ADF-4E80-AADC-B82E38397E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custDataLst>
      <p:tags r:id="rId1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56" r:id="rId2"/>
    <p:sldLayoutId id="2147484157" r:id="rId3"/>
    <p:sldLayoutId id="2147484158" r:id="rId4"/>
    <p:sldLayoutId id="2147484159" r:id="rId5"/>
    <p:sldLayoutId id="2147484257" r:id="rId6"/>
    <p:sldLayoutId id="2147484160" r:id="rId7"/>
    <p:sldLayoutId id="2147484161" r:id="rId8"/>
    <p:sldLayoutId id="2147484162" r:id="rId9"/>
    <p:sldLayoutId id="2147484163" r:id="rId10"/>
    <p:sldLayoutId id="2147484164" r:id="rId11"/>
    <p:sldLayoutId id="2147484258" r:id="rId12"/>
    <p:sldLayoutId id="2147484259" r:id="rId13"/>
    <p:sldLayoutId id="2147484260" r:id="rId14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ontserrat" panose="00000500000000000000" pitchFamily="2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Object 1">
            <a:extLst>
              <a:ext uri="{FF2B5EF4-FFF2-40B4-BE49-F238E27FC236}">
                <a16:creationId xmlns:a16="http://schemas.microsoft.com/office/drawing/2014/main" id="{139B911F-520D-D303-9EC2-17624AA76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300" cy="685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D7723CBF-C1A7-0C2E-9179-04855984D1A4}"/>
              </a:ext>
            </a:extLst>
          </p:cNvPr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r" eaLnBrk="1" fontAlgn="auto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52" kern="0" spc="47" dirty="0">
                <a:solidFill>
                  <a:srgbClr val="FFFFFF">
                    <a:alpha val="80000"/>
                  </a:srgbClr>
                </a:solidFill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69AC2FC-3365-4EAB-48A6-3BA28217480C}"/>
              </a:ext>
            </a:extLst>
          </p:cNvPr>
          <p:cNvSpPr/>
          <p:nvPr/>
        </p:nvSpPr>
        <p:spPr>
          <a:xfrm>
            <a:off x="1179513" y="1685925"/>
            <a:ext cx="6953250" cy="1150938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r" eaLnBrk="1" fontAlgn="auto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defRPr/>
            </a:pPr>
            <a:r>
              <a:rPr lang="en-US" sz="6600" kern="0" spc="243" dirty="0">
                <a:solidFill>
                  <a:srgbClr val="FFFFFF"/>
                </a:solidFill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lang="en-US" sz="1200" dirty="0">
              <a:latin typeface="Montserrat"/>
              <a:ea typeface="Jost*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D8BC4D0-D7C6-1BC1-6F62-0BD2E9113CC0}"/>
              </a:ext>
            </a:extLst>
          </p:cNvPr>
          <p:cNvSpPr/>
          <p:nvPr/>
        </p:nvSpPr>
        <p:spPr>
          <a:xfrm>
            <a:off x="2180680" y="5382363"/>
            <a:ext cx="5761184" cy="300855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r" eaLnBrk="1" fontAlgn="auto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defRPr/>
            </a:pPr>
            <a:r>
              <a:rPr lang="en-US" sz="1750" kern="0" spc="53" dirty="0">
                <a:solidFill>
                  <a:srgbClr val="FFFFFF">
                    <a:alpha val="80000"/>
                  </a:srgbClr>
                </a:solidFill>
                <a:latin typeface="Montserrat"/>
                <a:ea typeface="Jost*"/>
                <a:cs typeface="Jost*" pitchFamily="34" charset="-120"/>
              </a:rPr>
              <a:t>Exploring a Southwestern Health Resources  DTE Health Plan</a:t>
            </a:r>
            <a:endParaRPr lang="en-US" sz="1750" dirty="0">
              <a:latin typeface="Montserrat"/>
              <a:ea typeface="Jost*"/>
            </a:endParaRPr>
          </a:p>
        </p:txBody>
      </p:sp>
      <p:sp>
        <p:nvSpPr>
          <p:cNvPr id="105478" name="Object 8">
            <a:extLst>
              <a:ext uri="{FF2B5EF4-FFF2-40B4-BE49-F238E27FC236}">
                <a16:creationId xmlns:a16="http://schemas.microsoft.com/office/drawing/2014/main" id="{D7B9B70E-9862-F457-B83C-322AF46A0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85750"/>
            <a:ext cx="2005013" cy="476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Montserrat" panose="00000500000000000000" pitchFamily="2" charset="0"/>
            </a:endParaRPr>
          </a:p>
        </p:txBody>
      </p:sp>
      <p:pic>
        <p:nvPicPr>
          <p:cNvPr id="105479" name="Object 9">
            <a:extLst>
              <a:ext uri="{FF2B5EF4-FFF2-40B4-BE49-F238E27FC236}">
                <a16:creationId xmlns:a16="http://schemas.microsoft.com/office/drawing/2014/main" id="{3966027F-0872-11F5-EC8B-0DC42B156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381000"/>
            <a:ext cx="170021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80" name="Picture 4" descr="Texas Health Resources – Texan 20">
            <a:extLst>
              <a:ext uri="{FF2B5EF4-FFF2-40B4-BE49-F238E27FC236}">
                <a16:creationId xmlns:a16="http://schemas.microsoft.com/office/drawing/2014/main" id="{AB1828A5-26AB-6922-8B97-A79BD767C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4"/>
          <a:stretch>
            <a:fillRect/>
          </a:stretch>
        </p:blipFill>
        <p:spPr bwMode="auto">
          <a:xfrm>
            <a:off x="8432800" y="-1588"/>
            <a:ext cx="37592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Number Placeholder 3">
            <a:extLst>
              <a:ext uri="{FF2B5EF4-FFF2-40B4-BE49-F238E27FC236}">
                <a16:creationId xmlns:a16="http://schemas.microsoft.com/office/drawing/2014/main" id="{1EC90F94-0387-A404-8944-1D61C1CFAC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448800" y="64071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0B2DB74-CDC5-40F1-B7F8-BBE1DA09938C}" type="slidenum">
              <a:rPr lang="en-US" altLang="en-US">
                <a:solidFill>
                  <a:srgbClr val="767676"/>
                </a:solidFill>
                <a:latin typeface="Aptos" panose="020B0004020202020204" pitchFamily="34" charset="0"/>
              </a:rPr>
              <a:pPr eaLnBrk="1" hangingPunct="1"/>
              <a:t>2</a:t>
            </a:fld>
            <a:endParaRPr lang="en-US" altLang="en-US">
              <a:solidFill>
                <a:srgbClr val="767676"/>
              </a:solidFill>
              <a:latin typeface="Aptos" panose="020B0004020202020204" pitchFamily="34" charset="0"/>
            </a:endParaRPr>
          </a:p>
        </p:txBody>
      </p:sp>
      <p:pic>
        <p:nvPicPr>
          <p:cNvPr id="107523" name="Picture 12">
            <a:extLst>
              <a:ext uri="{FF2B5EF4-FFF2-40B4-BE49-F238E27FC236}">
                <a16:creationId xmlns:a16="http://schemas.microsoft.com/office/drawing/2014/main" id="{7472BFAC-ADC5-1BA8-6D71-4B4E1D3F1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6556375"/>
            <a:ext cx="1370012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4" name="Freeform 13">
            <a:extLst>
              <a:ext uri="{FF2B5EF4-FFF2-40B4-BE49-F238E27FC236}">
                <a16:creationId xmlns:a16="http://schemas.microsoft.com/office/drawing/2014/main" id="{3423C9F2-2C4B-18C9-EC43-98E0B8D460B4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7292976" y="1958975"/>
            <a:ext cx="195262" cy="9628187"/>
          </a:xfrm>
          <a:custGeom>
            <a:avLst/>
            <a:gdLst>
              <a:gd name="T0" fmla="*/ 0 w 165300"/>
              <a:gd name="T1" fmla="*/ 0 h 503014"/>
              <a:gd name="T2" fmla="*/ 194251 w 165300"/>
              <a:gd name="T3" fmla="*/ 0 h 503014"/>
              <a:gd name="T4" fmla="*/ 194251 w 165300"/>
              <a:gd name="T5" fmla="*/ 9629274 h 503014"/>
              <a:gd name="T6" fmla="*/ 0 w 165300"/>
              <a:gd name="T7" fmla="*/ 9629274 h 5030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lnTo>
                  <a:pt x="0" y="0"/>
                </a:lnTo>
                <a:close/>
              </a:path>
            </a:pathLst>
          </a:custGeom>
          <a:solidFill>
            <a:srgbClr val="00539F"/>
          </a:solidFill>
          <a:ln>
            <a:noFill/>
          </a:ln>
          <a:extLst>
            <a:ext uri="{91240B29-F687-4F45-9708-019B960494DF}">
              <a14:hiddenLine xmlns:a14="http://schemas.microsoft.com/office/drawing/2010/main" w="0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07525" name="TextBox 15">
            <a:extLst>
              <a:ext uri="{FF2B5EF4-FFF2-40B4-BE49-F238E27FC236}">
                <a16:creationId xmlns:a16="http://schemas.microsoft.com/office/drawing/2014/main" id="{80BBFBA8-6CB4-123E-CA7D-3C8FF3660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9443" y="2903140"/>
            <a:ext cx="346710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200" b="1" dirty="0">
                <a:solidFill>
                  <a:srgbClr val="0053A0"/>
                </a:solidFill>
                <a:cs typeface="Arial" panose="020B0604020202020204" pitchFamily="34" charset="0"/>
              </a:rPr>
              <a:t>Plus, KBA is partnered with over 80 health networks nationwide, to provide the best coverage and pricing available for each group’s specific needs!</a:t>
            </a:r>
            <a:endParaRPr lang="en-US" altLang="en-US" sz="900" i="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07526" name="Freeform 9">
            <a:extLst>
              <a:ext uri="{FF2B5EF4-FFF2-40B4-BE49-F238E27FC236}">
                <a16:creationId xmlns:a16="http://schemas.microsoft.com/office/drawing/2014/main" id="{A86BD55B-41EB-3ECC-54FC-2901550C3744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5969793" y="-5957093"/>
            <a:ext cx="271463" cy="12192000"/>
          </a:xfrm>
          <a:custGeom>
            <a:avLst/>
            <a:gdLst>
              <a:gd name="T0" fmla="*/ 0 w 165300"/>
              <a:gd name="T1" fmla="*/ 0 h 503014"/>
              <a:gd name="T2" fmla="*/ 271862 w 165300"/>
              <a:gd name="T3" fmla="*/ 0 h 503014"/>
              <a:gd name="T4" fmla="*/ 271862 w 165300"/>
              <a:gd name="T5" fmla="*/ 12192000 h 503014"/>
              <a:gd name="T6" fmla="*/ 0 w 165300"/>
              <a:gd name="T7" fmla="*/ 12192000 h 5030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lnTo>
                  <a:pt x="0" y="0"/>
                </a:lnTo>
                <a:close/>
              </a:path>
            </a:pathLst>
          </a:custGeom>
          <a:solidFill>
            <a:srgbClr val="00539F"/>
          </a:solidFill>
          <a:ln>
            <a:noFill/>
          </a:ln>
          <a:extLst>
            <a:ext uri="{91240B29-F687-4F45-9708-019B960494DF}">
              <a14:hiddenLine xmlns:a14="http://schemas.microsoft.com/office/drawing/2010/main" w="0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E7463948-D826-C99A-C1CC-4B013D197A97}"/>
              </a:ext>
            </a:extLst>
          </p:cNvPr>
          <p:cNvSpPr txBox="1">
            <a:spLocks/>
          </p:cNvSpPr>
          <p:nvPr/>
        </p:nvSpPr>
        <p:spPr>
          <a:xfrm>
            <a:off x="161925" y="657622"/>
            <a:ext cx="12030075" cy="808037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Bef>
                <a:spcPts val="100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0053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It’s Not a Narrow Network…It’s a Smarter One!</a:t>
            </a:r>
          </a:p>
          <a:p>
            <a:pPr fontAlgn="auto">
              <a:spcBef>
                <a:spcPts val="1000"/>
              </a:spcBef>
              <a:spcAft>
                <a:spcPts val="0"/>
              </a:spcAft>
              <a:defRPr/>
            </a:pPr>
            <a:endParaRPr lang="en-US" sz="3800" dirty="0">
              <a:solidFill>
                <a:prstClr val="black"/>
              </a:solidFill>
              <a:latin typeface="Book Antiqua" panose="02040602050305030304" pitchFamily="18" charset="0"/>
            </a:endParaRPr>
          </a:p>
        </p:txBody>
      </p:sp>
      <p:sp>
        <p:nvSpPr>
          <p:cNvPr id="107528" name="TextBox 19">
            <a:extLst>
              <a:ext uri="{FF2B5EF4-FFF2-40B4-BE49-F238E27FC236}">
                <a16:creationId xmlns:a16="http://schemas.microsoft.com/office/drawing/2014/main" id="{084E1A8C-5DD5-0E87-B3EA-4E3586F57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7" y="1330722"/>
            <a:ext cx="10841038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200" b="1" dirty="0">
                <a:solidFill>
                  <a:srgbClr val="000000"/>
                </a:solidFill>
                <a:latin typeface="Aptos" panose="020B0004020202020204" pitchFamily="34" charset="0"/>
              </a:rPr>
              <a:t>The backbone of the DTE plan is the strategic partnerships with local providers as well as state, regional, and national networks to provide a robust provider network.</a:t>
            </a:r>
          </a:p>
        </p:txBody>
      </p:sp>
      <p:sp>
        <p:nvSpPr>
          <p:cNvPr id="107529" name="TextBox 22">
            <a:extLst>
              <a:ext uri="{FF2B5EF4-FFF2-40B4-BE49-F238E27FC236}">
                <a16:creationId xmlns:a16="http://schemas.microsoft.com/office/drawing/2014/main" id="{22BF310C-F8EA-E4B3-A206-9B6C75287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2900" y="2213372"/>
            <a:ext cx="40401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200" b="1" u="sng">
                <a:solidFill>
                  <a:srgbClr val="0053A0"/>
                </a:solidFill>
                <a:cs typeface="Arial" panose="020B0604020202020204" pitchFamily="34" charset="0"/>
              </a:rPr>
              <a:t>State/Regional Network</a:t>
            </a:r>
          </a:p>
        </p:txBody>
      </p:sp>
      <p:sp>
        <p:nvSpPr>
          <p:cNvPr id="107530" name="TextBox 24">
            <a:extLst>
              <a:ext uri="{FF2B5EF4-FFF2-40B4-BE49-F238E27FC236}">
                <a16:creationId xmlns:a16="http://schemas.microsoft.com/office/drawing/2014/main" id="{4ACAF5F4-FC9F-5791-5627-C1CB8D382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2213372"/>
            <a:ext cx="44989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200" b="1" u="sng">
                <a:solidFill>
                  <a:srgbClr val="0053A0"/>
                </a:solidFill>
                <a:cs typeface="Arial" panose="020B0604020202020204" pitchFamily="34" charset="0"/>
              </a:rPr>
              <a:t>Local Healthcare Providers</a:t>
            </a: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4646210-EB1A-21D4-ADE3-F2194F52B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921" y="2563812"/>
            <a:ext cx="2837358" cy="1489869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0E2B182-9D48-1B12-AC72-3B6C53D5E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840" y="3876426"/>
            <a:ext cx="3201094" cy="9752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2">
            <a:extLst>
              <a:ext uri="{FF2B5EF4-FFF2-40B4-BE49-F238E27FC236}">
                <a16:creationId xmlns:a16="http://schemas.microsoft.com/office/drawing/2014/main" id="{9FF97C79-4A33-43A3-1EC1-DCE4FFCCA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923925"/>
            <a:ext cx="115347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altLang="en-US" sz="2600">
                <a:solidFill>
                  <a:srgbClr val="000000"/>
                </a:solidFill>
                <a:cs typeface="Arial" panose="020B0604020202020204" pitchFamily="34" charset="0"/>
              </a:rPr>
              <a:t>Base Medical + Preferred Plus Benefits = Your Deductible Can Simply Vanish</a:t>
            </a:r>
            <a:endParaRPr lang="en-US" altLang="en-US" sz="3800">
              <a:solidFill>
                <a:srgbClr val="0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109571" name="Slide Number Placeholder 3">
            <a:extLst>
              <a:ext uri="{FF2B5EF4-FFF2-40B4-BE49-F238E27FC236}">
                <a16:creationId xmlns:a16="http://schemas.microsoft.com/office/drawing/2014/main" id="{C3ECC346-71F1-52A3-EA9D-D5B9815B11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448800" y="64071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968EF9-8F85-4F1F-9876-15E5B44FFF67}" type="slidenum">
              <a:rPr lang="en-US" altLang="en-US">
                <a:solidFill>
                  <a:srgbClr val="767676"/>
                </a:solidFill>
                <a:latin typeface="Aptos" panose="020B0004020202020204" pitchFamily="34" charset="0"/>
              </a:rPr>
              <a:pPr eaLnBrk="1" hangingPunct="1"/>
              <a:t>3</a:t>
            </a:fld>
            <a:endParaRPr lang="en-US" altLang="en-US">
              <a:solidFill>
                <a:srgbClr val="767676"/>
              </a:solidFill>
              <a:latin typeface="Aptos" panose="020B0004020202020204" pitchFamily="34" charset="0"/>
            </a:endParaRPr>
          </a:p>
        </p:txBody>
      </p:sp>
      <p:pic>
        <p:nvPicPr>
          <p:cNvPr id="109572" name="Picture 12">
            <a:extLst>
              <a:ext uri="{FF2B5EF4-FFF2-40B4-BE49-F238E27FC236}">
                <a16:creationId xmlns:a16="http://schemas.microsoft.com/office/drawing/2014/main" id="{45768469-CF94-61BC-49D6-61C78A1E2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6556375"/>
            <a:ext cx="1370012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3" name="Freeform 13">
            <a:extLst>
              <a:ext uri="{FF2B5EF4-FFF2-40B4-BE49-F238E27FC236}">
                <a16:creationId xmlns:a16="http://schemas.microsoft.com/office/drawing/2014/main" id="{8236F4D5-E223-F4EC-5C68-233260C45221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7292976" y="1958975"/>
            <a:ext cx="195262" cy="9628187"/>
          </a:xfrm>
          <a:custGeom>
            <a:avLst/>
            <a:gdLst>
              <a:gd name="T0" fmla="*/ 0 w 165300"/>
              <a:gd name="T1" fmla="*/ 0 h 503014"/>
              <a:gd name="T2" fmla="*/ 194251 w 165300"/>
              <a:gd name="T3" fmla="*/ 0 h 503014"/>
              <a:gd name="T4" fmla="*/ 194251 w 165300"/>
              <a:gd name="T5" fmla="*/ 9629274 h 503014"/>
              <a:gd name="T6" fmla="*/ 0 w 165300"/>
              <a:gd name="T7" fmla="*/ 9629274 h 5030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lnTo>
                  <a:pt x="0" y="0"/>
                </a:lnTo>
                <a:close/>
              </a:path>
            </a:pathLst>
          </a:custGeom>
          <a:solidFill>
            <a:srgbClr val="00539F"/>
          </a:solidFill>
          <a:ln>
            <a:noFill/>
          </a:ln>
          <a:extLst>
            <a:ext uri="{91240B29-F687-4F45-9708-019B960494DF}">
              <a14:hiddenLine xmlns:a14="http://schemas.microsoft.com/office/drawing/2010/main" w="0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09574" name="Title 2">
            <a:extLst>
              <a:ext uri="{FF2B5EF4-FFF2-40B4-BE49-F238E27FC236}">
                <a16:creationId xmlns:a16="http://schemas.microsoft.com/office/drawing/2014/main" id="{35B9937C-D670-849A-EFB3-6E9349885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96863"/>
            <a:ext cx="11534775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altLang="en-US" sz="4400" b="1">
                <a:solidFill>
                  <a:srgbClr val="0053A0"/>
                </a:solidFill>
                <a:cs typeface="Arial" panose="020B0604020202020204" pitchFamily="34" charset="0"/>
              </a:rPr>
              <a:t>The Key Incentive Plan</a:t>
            </a:r>
          </a:p>
        </p:txBody>
      </p:sp>
      <p:sp>
        <p:nvSpPr>
          <p:cNvPr id="109575" name="TextBox 7">
            <a:extLst>
              <a:ext uri="{FF2B5EF4-FFF2-40B4-BE49-F238E27FC236}">
                <a16:creationId xmlns:a16="http://schemas.microsoft.com/office/drawing/2014/main" id="{97DF678D-7946-6B2B-92C9-44445ED1A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8" y="1365250"/>
            <a:ext cx="115347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solidFill>
                  <a:srgbClr val="000000"/>
                </a:solidFill>
                <a:latin typeface="Aptos" panose="020B0004020202020204" pitchFamily="34" charset="0"/>
              </a:rPr>
              <a:t>Example:</a:t>
            </a:r>
            <a:r>
              <a:rPr lang="en-US" altLang="en-US" sz="1600" i="1">
                <a:solidFill>
                  <a:srgbClr val="000000"/>
                </a:solidFill>
                <a:latin typeface="Aptos" panose="020B0004020202020204" pitchFamily="34" charset="0"/>
              </a:rPr>
              <a:t> Member with a $2,500 deductible / $4,500 max out-of-pocket has a heart attack and cardiac surgery, resulting in a 5-day in-patient stay. In this example, the member would have a $4,500 OOP with $5,050 Preferred Plus Benefits for a </a:t>
            </a:r>
            <a:r>
              <a:rPr lang="en-US" altLang="en-US" sz="1600" b="1" i="1" u="sng">
                <a:solidFill>
                  <a:srgbClr val="000000"/>
                </a:solidFill>
                <a:latin typeface="Aptos" panose="020B0004020202020204" pitchFamily="34" charset="0"/>
              </a:rPr>
              <a:t>net OOP $0 due to the preferred provider </a:t>
            </a:r>
            <a:r>
              <a:rPr lang="en-US" altLang="en-US" sz="1600" b="1" i="1">
                <a:solidFill>
                  <a:srgbClr val="000000"/>
                </a:solidFill>
                <a:latin typeface="Aptos" panose="020B0004020202020204" pitchFamily="34" charset="0"/>
              </a:rPr>
              <a:t>versus $4,500 OOP exposure at any non-preferred provider.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EE69140-F83A-5990-E7B6-C51DE5264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370782"/>
              </p:ext>
            </p:extLst>
          </p:nvPr>
        </p:nvGraphicFramePr>
        <p:xfrm>
          <a:off x="1063625" y="2195513"/>
          <a:ext cx="10290174" cy="4114799"/>
        </p:xfrm>
        <a:graphic>
          <a:graphicData uri="http://schemas.openxmlformats.org/drawingml/2006/table">
            <a:tbl>
              <a:tblPr/>
              <a:tblGrid>
                <a:gridCol w="1390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0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66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102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BASE MEDICAL BENEFITS*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PREFERRED PLUS BENEFITS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06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Deductible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Benefits automatically included in your plan!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6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Single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$2,500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Preferred Provider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Non-Preferred Provider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6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Family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$4,500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 Radiology/X-Ray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606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Coinsurance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 Diagnostic  Labs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606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 / 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Preferred Hospital Stay ($500/day, 5 days)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$2,500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606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Maximum Out-of-Pocket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Critical Illness Benefit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$2,000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6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Single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$4,500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Health Screening Benefit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$125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6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Family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$9,000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 Employee OOP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$4,500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$4,500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6308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Chronic Disease Management Regimens of Care Covered at 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Preferred Plus Benefits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$4,925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06308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Healthcare 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Convience</a:t>
                      </a: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Card to Cover Out-of-Pocket Expenses at 0% interest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Employee Amount Due to Provider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$4,500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06308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Health Guardian Account to help members manage their healthcare expenses at Preferred Providers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Additional Benefit Payable to the Health Guardian Account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$425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9671" name="TextBox 1">
            <a:extLst>
              <a:ext uri="{FF2B5EF4-FFF2-40B4-BE49-F238E27FC236}">
                <a16:creationId xmlns:a16="http://schemas.microsoft.com/office/drawing/2014/main" id="{44DBDC61-BD46-77F3-6F4A-E238A3B3F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050" y="6332538"/>
            <a:ext cx="697865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100" i="1">
                <a:solidFill>
                  <a:srgbClr val="000000"/>
                </a:solidFill>
                <a:latin typeface="Aptos" panose="020B0004020202020204" pitchFamily="34" charset="0"/>
              </a:rPr>
              <a:t>*Base Medical Benefits are for illustration purposes only. Base benefits can be customized to meet client needs.</a:t>
            </a:r>
          </a:p>
        </p:txBody>
      </p:sp>
      <p:sp>
        <p:nvSpPr>
          <p:cNvPr id="109672" name="Freeform 9">
            <a:extLst>
              <a:ext uri="{FF2B5EF4-FFF2-40B4-BE49-F238E27FC236}">
                <a16:creationId xmlns:a16="http://schemas.microsoft.com/office/drawing/2014/main" id="{53CA7810-E974-2773-613F-7C57BCBAA5FD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5969793" y="-5957093"/>
            <a:ext cx="271463" cy="12192000"/>
          </a:xfrm>
          <a:custGeom>
            <a:avLst/>
            <a:gdLst>
              <a:gd name="T0" fmla="*/ 0 w 165300"/>
              <a:gd name="T1" fmla="*/ 0 h 503014"/>
              <a:gd name="T2" fmla="*/ 271862 w 165300"/>
              <a:gd name="T3" fmla="*/ 0 h 503014"/>
              <a:gd name="T4" fmla="*/ 271862 w 165300"/>
              <a:gd name="T5" fmla="*/ 12192000 h 503014"/>
              <a:gd name="T6" fmla="*/ 0 w 165300"/>
              <a:gd name="T7" fmla="*/ 12192000 h 5030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lnTo>
                  <a:pt x="0" y="0"/>
                </a:lnTo>
                <a:close/>
              </a:path>
            </a:pathLst>
          </a:custGeom>
          <a:solidFill>
            <a:srgbClr val="00539F"/>
          </a:solidFill>
          <a:ln>
            <a:noFill/>
          </a:ln>
          <a:extLst>
            <a:ext uri="{91240B29-F687-4F45-9708-019B960494DF}">
              <a14:hiddenLine xmlns:a14="http://schemas.microsoft.com/office/drawing/2010/main" w="0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8" name="Picture 12">
            <a:extLst>
              <a:ext uri="{FF2B5EF4-FFF2-40B4-BE49-F238E27FC236}">
                <a16:creationId xmlns:a16="http://schemas.microsoft.com/office/drawing/2014/main" id="{1FA40FF6-6F06-E7AC-B58F-754B92C3F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0188"/>
            <a:ext cx="7240588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575BB63A-31E9-29DC-F2EB-A5B7F53C0962}"/>
              </a:ext>
            </a:extLst>
          </p:cNvPr>
          <p:cNvSpPr txBox="1">
            <a:spLocks/>
          </p:cNvSpPr>
          <p:nvPr/>
        </p:nvSpPr>
        <p:spPr>
          <a:xfrm>
            <a:off x="117475" y="207963"/>
            <a:ext cx="11534775" cy="108267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Bef>
                <a:spcPts val="100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00539F"/>
                </a:solidFill>
                <a:latin typeface="Montserrat" panose="00000500000000000000" pitchFamily="2" charset="0"/>
              </a:rPr>
              <a:t>The Benefit Steering the Patient to SWHR</a:t>
            </a:r>
          </a:p>
          <a:p>
            <a:pPr fontAlgn="auto">
              <a:spcBef>
                <a:spcPts val="1000"/>
              </a:spcBef>
              <a:spcAft>
                <a:spcPts val="0"/>
              </a:spcAft>
              <a:defRPr/>
            </a:pPr>
            <a:r>
              <a:rPr lang="en-US" sz="3000" b="1" dirty="0">
                <a:solidFill>
                  <a:srgbClr val="00539F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What Will this Claim Cost Me?</a:t>
            </a:r>
          </a:p>
        </p:txBody>
      </p:sp>
      <p:sp>
        <p:nvSpPr>
          <p:cNvPr id="111620" name="Slide Number Placeholder 1">
            <a:extLst>
              <a:ext uri="{FF2B5EF4-FFF2-40B4-BE49-F238E27FC236}">
                <a16:creationId xmlns:a16="http://schemas.microsoft.com/office/drawing/2014/main" id="{EB2CE0FD-6B1E-B7F0-53B0-E04CE9D1F3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959850" y="63357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A699914-4451-4BEC-AE9A-05A627140C49}" type="slidenum">
              <a:rPr lang="en-US" altLang="en-US" smtClean="0">
                <a:solidFill>
                  <a:srgbClr val="898989"/>
                </a:solidFill>
                <a:latin typeface="Montserrat" panose="00000500000000000000" pitchFamily="2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 dirty="0">
              <a:solidFill>
                <a:srgbClr val="898989"/>
              </a:solidFill>
              <a:latin typeface="Montserrat" panose="00000500000000000000" pitchFamily="2" charset="0"/>
            </a:endParaRPr>
          </a:p>
        </p:txBody>
      </p:sp>
      <p:pic>
        <p:nvPicPr>
          <p:cNvPr id="111621" name="Picture 14">
            <a:extLst>
              <a:ext uri="{FF2B5EF4-FFF2-40B4-BE49-F238E27FC236}">
                <a16:creationId xmlns:a16="http://schemas.microsoft.com/office/drawing/2014/main" id="{24DABA54-344C-0002-7993-38600E1AC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6356350"/>
            <a:ext cx="2124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22" name="Freeform 15">
            <a:extLst>
              <a:ext uri="{FF2B5EF4-FFF2-40B4-BE49-F238E27FC236}">
                <a16:creationId xmlns:a16="http://schemas.microsoft.com/office/drawing/2014/main" id="{C7195C47-ACB6-7506-6D43-E4D4E204766B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7292976" y="1958975"/>
            <a:ext cx="195262" cy="9628187"/>
          </a:xfrm>
          <a:custGeom>
            <a:avLst/>
            <a:gdLst>
              <a:gd name="T0" fmla="*/ 0 w 165300"/>
              <a:gd name="T1" fmla="*/ 0 h 503014"/>
              <a:gd name="T2" fmla="*/ 229461 w 165300"/>
              <a:gd name="T3" fmla="*/ 0 h 503014"/>
              <a:gd name="T4" fmla="*/ 229461 w 165300"/>
              <a:gd name="T5" fmla="*/ 184313858 h 503014"/>
              <a:gd name="T6" fmla="*/ 0 w 165300"/>
              <a:gd name="T7" fmla="*/ 184313858 h 5030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lnTo>
                  <a:pt x="0" y="0"/>
                </a:lnTo>
                <a:close/>
              </a:path>
            </a:pathLst>
          </a:custGeom>
          <a:solidFill>
            <a:srgbClr val="00539F"/>
          </a:solidFill>
          <a:ln>
            <a:noFill/>
          </a:ln>
          <a:extLst>
            <a:ext uri="{91240B29-F687-4F45-9708-019B960494DF}">
              <a14:hiddenLine xmlns:a14="http://schemas.microsoft.com/office/drawing/2010/main" w="0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3C063F-478C-1983-EB9B-BC9212331397}"/>
              </a:ext>
            </a:extLst>
          </p:cNvPr>
          <p:cNvSpPr/>
          <p:nvPr/>
        </p:nvSpPr>
        <p:spPr>
          <a:xfrm>
            <a:off x="8037513" y="1449547"/>
            <a:ext cx="3736975" cy="488616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pic>
        <p:nvPicPr>
          <p:cNvPr id="111624" name="Picture 16">
            <a:extLst>
              <a:ext uri="{FF2B5EF4-FFF2-40B4-BE49-F238E27FC236}">
                <a16:creationId xmlns:a16="http://schemas.microsoft.com/office/drawing/2014/main" id="{AC6455EE-959B-4362-17D7-EFB7941BC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238" y="1578134"/>
            <a:ext cx="119697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2B66BBAF-AA35-B92F-61FA-4E65114689A0}"/>
              </a:ext>
            </a:extLst>
          </p:cNvPr>
          <p:cNvSpPr/>
          <p:nvPr/>
        </p:nvSpPr>
        <p:spPr>
          <a:xfrm>
            <a:off x="0" y="5080000"/>
            <a:ext cx="7639050" cy="766763"/>
          </a:xfrm>
          <a:prstGeom prst="homePlate">
            <a:avLst/>
          </a:prstGeom>
          <a:solidFill>
            <a:srgbClr val="D9D9D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sp>
        <p:nvSpPr>
          <p:cNvPr id="111627" name="TextBox 2">
            <a:extLst>
              <a:ext uri="{FF2B5EF4-FFF2-40B4-BE49-F238E27FC236}">
                <a16:creationId xmlns:a16="http://schemas.microsoft.com/office/drawing/2014/main" id="{F0DF9754-79F6-1B64-8084-B9999BBEB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8" y="5308600"/>
            <a:ext cx="76073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</a:rPr>
              <a:t>SWHR patients can have all out-of-pocket liability reduced to $0!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F6F2E0-D342-3007-3295-A5A48FF44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546306"/>
              </p:ext>
            </p:extLst>
          </p:nvPr>
        </p:nvGraphicFramePr>
        <p:xfrm>
          <a:off x="8123238" y="1876901"/>
          <a:ext cx="3579812" cy="4471035"/>
        </p:xfrm>
        <a:graphic>
          <a:graphicData uri="http://schemas.openxmlformats.org/drawingml/2006/table">
            <a:tbl>
              <a:tblPr/>
              <a:tblGrid>
                <a:gridCol w="2000483">
                  <a:extLst>
                    <a:ext uri="{9D8B030D-6E8A-4147-A177-3AD203B41FA5}">
                      <a16:colId xmlns:a16="http://schemas.microsoft.com/office/drawing/2014/main" val="1876924050"/>
                    </a:ext>
                  </a:extLst>
                </a:gridCol>
                <a:gridCol w="1579329">
                  <a:extLst>
                    <a:ext uri="{9D8B030D-6E8A-4147-A177-3AD203B41FA5}">
                      <a16:colId xmlns:a16="http://schemas.microsoft.com/office/drawing/2014/main" val="2083762870"/>
                    </a:ext>
                  </a:extLst>
                </a:gridCol>
              </a:tblGrid>
              <a:tr h="2286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Explanation of Benefits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869175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Heart Attack, Cardiac Surgery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465819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THE CHARGES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1566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Medical Bills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$25,000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224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Healthcare out-of-pocket due to provider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$4,500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44777"/>
                  </a:ext>
                </a:extLst>
              </a:tr>
              <a:tr h="61722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Since your out of pocket maximum has been met, the rest of your eligible charges this year will be paid at 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997664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THE CREDITS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0471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OP Radiology/X-Ray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3834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OP Diagnostic  Labs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529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Preferred Hospital Stay ($500/day, 5 days)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$2,500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2357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Critical Illness Benefit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$2,000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2794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Health Screening Benefit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$125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3452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Benefit 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$4,925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5045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 of Pocket Paid to Hospital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($4,500)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7791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Balance Paid to HGA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$425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8946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2">
            <a:extLst>
              <a:ext uri="{FF2B5EF4-FFF2-40B4-BE49-F238E27FC236}">
                <a16:creationId xmlns:a16="http://schemas.microsoft.com/office/drawing/2014/main" id="{E542DB07-D2DC-0A56-8F8F-4BED448FD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261938"/>
            <a:ext cx="11534775" cy="80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altLang="en-US" sz="4400" b="1">
                <a:solidFill>
                  <a:srgbClr val="44546A"/>
                </a:solidFill>
                <a:cs typeface="Arial" panose="020B0604020202020204" pitchFamily="34" charset="0"/>
              </a:rPr>
              <a:t>The Key Incentive Plan </a:t>
            </a:r>
          </a:p>
          <a:p>
            <a:pPr algn="ctr" eaLnBrk="1" hangingPunct="1">
              <a:lnSpc>
                <a:spcPct val="90000"/>
              </a:lnSpc>
              <a:spcBef>
                <a:spcPts val="1000"/>
              </a:spcBef>
            </a:pPr>
            <a:endParaRPr lang="en-US" altLang="en-US" sz="3800">
              <a:solidFill>
                <a:srgbClr val="0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113667" name="Slide Number Placeholder 3">
            <a:extLst>
              <a:ext uri="{FF2B5EF4-FFF2-40B4-BE49-F238E27FC236}">
                <a16:creationId xmlns:a16="http://schemas.microsoft.com/office/drawing/2014/main" id="{FADE1019-68FD-3A1C-E52B-8DFA47A327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448800" y="64071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FB1E76E-23B6-4BB3-AB94-886503EF8F9B}" type="slidenum">
              <a:rPr lang="en-US" altLang="en-US" smtClean="0">
                <a:solidFill>
                  <a:srgbClr val="898989"/>
                </a:solidFill>
                <a:latin typeface="Montserrat" panose="00000500000000000000" pitchFamily="2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>
              <a:solidFill>
                <a:srgbClr val="898989"/>
              </a:solidFill>
              <a:latin typeface="Montserrat" panose="00000500000000000000" pitchFamily="2" charset="0"/>
            </a:endParaRPr>
          </a:p>
        </p:txBody>
      </p:sp>
      <p:pic>
        <p:nvPicPr>
          <p:cNvPr id="113668" name="Picture 12">
            <a:extLst>
              <a:ext uri="{FF2B5EF4-FFF2-40B4-BE49-F238E27FC236}">
                <a16:creationId xmlns:a16="http://schemas.microsoft.com/office/drawing/2014/main" id="{DD3C9745-379F-EA01-5692-A06333CD9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6556375"/>
            <a:ext cx="1370012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669" name="Freeform 13">
            <a:extLst>
              <a:ext uri="{FF2B5EF4-FFF2-40B4-BE49-F238E27FC236}">
                <a16:creationId xmlns:a16="http://schemas.microsoft.com/office/drawing/2014/main" id="{8FFC4D94-EFD5-78D7-358F-F03284992CED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7292976" y="1958975"/>
            <a:ext cx="195262" cy="9628187"/>
          </a:xfrm>
          <a:custGeom>
            <a:avLst/>
            <a:gdLst>
              <a:gd name="T0" fmla="*/ 0 w 165300"/>
              <a:gd name="T1" fmla="*/ 0 h 503014"/>
              <a:gd name="T2" fmla="*/ 194251 w 165300"/>
              <a:gd name="T3" fmla="*/ 0 h 503014"/>
              <a:gd name="T4" fmla="*/ 194251 w 165300"/>
              <a:gd name="T5" fmla="*/ 9629274 h 503014"/>
              <a:gd name="T6" fmla="*/ 0 w 165300"/>
              <a:gd name="T7" fmla="*/ 9629274 h 5030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lnTo>
                  <a:pt x="0" y="0"/>
                </a:lnTo>
                <a:close/>
              </a:path>
            </a:pathLst>
          </a:custGeom>
          <a:solidFill>
            <a:srgbClr val="00539F"/>
          </a:solidFill>
          <a:ln>
            <a:noFill/>
          </a:ln>
          <a:extLst>
            <a:ext uri="{91240B29-F687-4F45-9708-019B960494DF}">
              <a14:hiddenLine xmlns:a14="http://schemas.microsoft.com/office/drawing/2010/main" w="0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13670" name="TextBox 6">
            <a:extLst>
              <a:ext uri="{FF2B5EF4-FFF2-40B4-BE49-F238E27FC236}">
                <a16:creationId xmlns:a16="http://schemas.microsoft.com/office/drawing/2014/main" id="{E95F4BB9-6CDD-7F04-4DFC-483C445D9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" y="915988"/>
            <a:ext cx="1153477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600" b="1" u="sng">
                <a:solidFill>
                  <a:srgbClr val="C00000"/>
                </a:solidFill>
                <a:cs typeface="Arial" panose="020B0604020202020204" pitchFamily="34" charset="0"/>
              </a:rPr>
              <a:t>Affordability Without Compromise</a:t>
            </a:r>
          </a:p>
          <a:p>
            <a:r>
              <a:rPr lang="en-US" altLang="en-US" sz="26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</a:p>
        </p:txBody>
      </p:sp>
      <p:sp>
        <p:nvSpPr>
          <p:cNvPr id="113671" name="TextBox 5">
            <a:extLst>
              <a:ext uri="{FF2B5EF4-FFF2-40B4-BE49-F238E27FC236}">
                <a16:creationId xmlns:a16="http://schemas.microsoft.com/office/drawing/2014/main" id="{8E087B30-4892-789D-376A-F35793EFF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8" y="1465263"/>
            <a:ext cx="1185545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cs typeface="Arial" panose="020B0604020202020204" pitchFamily="34" charset="0"/>
              </a:rPr>
              <a:t>The </a:t>
            </a:r>
            <a:r>
              <a:rPr lang="en-US" altLang="en-US" sz="1700" b="1">
                <a:solidFill>
                  <a:srgbClr val="44546A"/>
                </a:solidFill>
                <a:cs typeface="Arial" panose="020B0604020202020204" pitchFamily="34" charset="0"/>
              </a:rPr>
              <a:t>Key Incentive Plan </a:t>
            </a:r>
            <a:r>
              <a:rPr lang="en-US" altLang="en-US" sz="1700">
                <a:solidFill>
                  <a:srgbClr val="000000"/>
                </a:solidFill>
                <a:cs typeface="Arial" panose="020B0604020202020204" pitchFamily="34" charset="0"/>
              </a:rPr>
              <a:t>is a one-of-a-kind solution, empowering employers to take back control of their healthcare programs, that offers freedom of choice when choosing providers in your local community, while incenting members to choose high-quality, cost-effective care. </a:t>
            </a:r>
            <a:endParaRPr lang="en-US" altLang="en-US" sz="1700">
              <a:solidFill>
                <a:srgbClr val="000000"/>
              </a:solidFill>
            </a:endParaRPr>
          </a:p>
        </p:txBody>
      </p:sp>
      <p:sp>
        <p:nvSpPr>
          <p:cNvPr id="113672" name="TextBox 15">
            <a:extLst>
              <a:ext uri="{FF2B5EF4-FFF2-40B4-BE49-F238E27FC236}">
                <a16:creationId xmlns:a16="http://schemas.microsoft.com/office/drawing/2014/main" id="{018542B8-ECF1-5CCF-E9B3-AA0B01113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713" y="6657975"/>
            <a:ext cx="99298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900" i="1">
                <a:solidFill>
                  <a:srgbClr val="FFFFFF"/>
                </a:solidFill>
                <a:cs typeface="Arial" panose="020B0604020202020204" pitchFamily="34" charset="0"/>
              </a:rPr>
              <a:t>*Daily Inpatient Hospital Benefit, OP Surgery/Anasthesia, OP Radiology/X-Ray, OP Diagnostic Labs, Health Screening Benefit, Wellness Benefit, Critical Illness</a:t>
            </a:r>
          </a:p>
        </p:txBody>
      </p:sp>
      <p:sp>
        <p:nvSpPr>
          <p:cNvPr id="113673" name="Freeform 9">
            <a:extLst>
              <a:ext uri="{FF2B5EF4-FFF2-40B4-BE49-F238E27FC236}">
                <a16:creationId xmlns:a16="http://schemas.microsoft.com/office/drawing/2014/main" id="{163AA3EC-B4EC-2EAD-02F5-FE74A5ECE5A3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5969793" y="-5957093"/>
            <a:ext cx="271463" cy="12192000"/>
          </a:xfrm>
          <a:custGeom>
            <a:avLst/>
            <a:gdLst>
              <a:gd name="T0" fmla="*/ 0 w 165300"/>
              <a:gd name="T1" fmla="*/ 0 h 503014"/>
              <a:gd name="T2" fmla="*/ 271862 w 165300"/>
              <a:gd name="T3" fmla="*/ 0 h 503014"/>
              <a:gd name="T4" fmla="*/ 271862 w 165300"/>
              <a:gd name="T5" fmla="*/ 12192000 h 503014"/>
              <a:gd name="T6" fmla="*/ 0 w 165300"/>
              <a:gd name="T7" fmla="*/ 12192000 h 5030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lnTo>
                  <a:pt x="0" y="0"/>
                </a:lnTo>
                <a:close/>
              </a:path>
            </a:pathLst>
          </a:custGeom>
          <a:solidFill>
            <a:srgbClr val="00539F"/>
          </a:solidFill>
          <a:ln>
            <a:noFill/>
          </a:ln>
          <a:extLst>
            <a:ext uri="{91240B29-F687-4F45-9708-019B960494DF}">
              <a14:hiddenLine xmlns:a14="http://schemas.microsoft.com/office/drawing/2010/main" w="0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  <p:pic>
        <p:nvPicPr>
          <p:cNvPr id="113674" name="Picture 155">
            <a:extLst>
              <a:ext uri="{FF2B5EF4-FFF2-40B4-BE49-F238E27FC236}">
                <a16:creationId xmlns:a16="http://schemas.microsoft.com/office/drawing/2014/main" id="{6F12CF8A-8847-902E-833A-A7D12DB37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" y="2292350"/>
            <a:ext cx="12052300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Content Placeholder 3">
            <a:extLst>
              <a:ext uri="{FF2B5EF4-FFF2-40B4-BE49-F238E27FC236}">
                <a16:creationId xmlns:a16="http://schemas.microsoft.com/office/drawing/2014/main" id="{BFC5AE9A-1292-E445-9EFA-D1A62B29A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023938"/>
            <a:ext cx="110680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000" b="1">
                <a:solidFill>
                  <a:srgbClr val="000000"/>
                </a:solidFill>
                <a:cs typeface="Arial" panose="020B0604020202020204" pitchFamily="34" charset="0"/>
              </a:rPr>
              <a:t>Creating EPO Steerage in a PPO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BEDB43-A977-F766-F916-97E67C37C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85" y="1823980"/>
            <a:ext cx="3420399" cy="38623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sx="1000" sy="1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392FE5F-363B-FA77-DA23-846972AE91AE}"/>
              </a:ext>
            </a:extLst>
          </p:cNvPr>
          <p:cNvSpPr txBox="1">
            <a:spLocks/>
          </p:cNvSpPr>
          <p:nvPr/>
        </p:nvSpPr>
        <p:spPr>
          <a:xfrm>
            <a:off x="5119688" y="1970088"/>
            <a:ext cx="5905500" cy="3998912"/>
          </a:xfrm>
          <a:prstGeom prst="rect">
            <a:avLst/>
          </a:prstGeom>
        </p:spPr>
        <p:txBody>
          <a:bodyPr/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50000"/>
                </a:schemeClr>
              </a:buClr>
              <a:buFont typeface="Arial" pitchFamily="34" charset="0"/>
              <a:buChar char="•"/>
              <a:defRPr sz="1600" b="0" i="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Gill Sans Light" panose="020B0302020104020203" pitchFamily="34" charset="-79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>
                  <a:lumMod val="50000"/>
                </a:schemeClr>
              </a:buClr>
              <a:buFont typeface="Arial" pitchFamily="34" charset="0"/>
              <a:buChar char="•"/>
              <a:defRPr sz="1600" b="0" i="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Gill Sans Light" panose="020B0302020104020203" pitchFamily="34" charset="-79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>
                  <a:lumMod val="50000"/>
                </a:schemeClr>
              </a:buClr>
              <a:buFont typeface="Arial" pitchFamily="34" charset="0"/>
              <a:buChar char="•"/>
              <a:defRPr sz="1600" b="0" i="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Gill Sans Light" panose="020B0302020104020203" pitchFamily="34" charset="-79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>
                  <a:lumMod val="50000"/>
                </a:schemeClr>
              </a:buClr>
              <a:buFont typeface="Arial" pitchFamily="34" charset="0"/>
              <a:buChar char="•"/>
              <a:defRPr sz="1600" b="0" i="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Gill Sans Light" panose="020B0302020104020203" pitchFamily="34" charset="-79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>
                  <a:lumMod val="50000"/>
                </a:schemeClr>
              </a:buClr>
              <a:buFont typeface="Arial" pitchFamily="34" charset="0"/>
              <a:buChar char="•"/>
              <a:defRPr sz="1600" b="0" i="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Gill Sans Light" panose="020B0302020104020203" pitchFamily="34" charset="-79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>
                <a:prstClr val="black">
                  <a:lumMod val="50000"/>
                </a:prstClr>
              </a:buClr>
              <a:buFont typeface="Arial" pitchFamily="34" charset="0"/>
              <a:buNone/>
              <a:defRPr/>
            </a:pPr>
            <a:r>
              <a:rPr lang="en-US" sz="1800" b="1" dirty="0">
                <a:solidFill>
                  <a:srgbClr val="00539F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The Health Convenience Card is eligible to be used only for specific merchant codes.</a:t>
            </a:r>
          </a:p>
          <a:p>
            <a:pPr marL="342900" indent="-342900" fontAlgn="auto">
              <a:lnSpc>
                <a:spcPct val="60000"/>
              </a:lnSpc>
              <a:spcAft>
                <a:spcPts val="0"/>
              </a:spcAft>
              <a:buClr>
                <a:prstClr val="black">
                  <a:lumMod val="50000"/>
                </a:prstClr>
              </a:buClr>
              <a:buFont typeface="Arial" pitchFamily="34" charset="0"/>
              <a:buAutoNum type="arabicPeriod"/>
              <a:defRPr/>
            </a:pPr>
            <a:r>
              <a:rPr lang="en-US" sz="1800" dirty="0">
                <a:solidFill>
                  <a:prstClr val="black">
                    <a:lumMod val="50000"/>
                  </a:prst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To utilize at Specific Healthcare Providers</a:t>
            </a:r>
          </a:p>
          <a:p>
            <a:pPr marL="301752" lvl="1" indent="0" fontAlgn="auto">
              <a:lnSpc>
                <a:spcPct val="60000"/>
              </a:lnSpc>
              <a:spcAft>
                <a:spcPts val="0"/>
              </a:spcAft>
              <a:buClr>
                <a:prstClr val="black">
                  <a:lumMod val="50000"/>
                </a:prstClr>
              </a:buClr>
              <a:buFont typeface="Arial" pitchFamily="34" charset="0"/>
              <a:buNone/>
              <a:defRPr/>
            </a:pPr>
            <a:r>
              <a:rPr lang="en-US" sz="1800" dirty="0">
                <a:solidFill>
                  <a:prstClr val="black">
                    <a:lumMod val="50000"/>
                  </a:prst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 a.  Designated Hospitals</a:t>
            </a:r>
          </a:p>
          <a:p>
            <a:pPr marL="301752" lvl="1" indent="0" fontAlgn="auto">
              <a:lnSpc>
                <a:spcPct val="60000"/>
              </a:lnSpc>
              <a:spcAft>
                <a:spcPts val="0"/>
              </a:spcAft>
              <a:buClr>
                <a:prstClr val="black">
                  <a:lumMod val="50000"/>
                </a:prstClr>
              </a:buClr>
              <a:buFont typeface="Arial" pitchFamily="34" charset="0"/>
              <a:buNone/>
              <a:defRPr/>
            </a:pPr>
            <a:r>
              <a:rPr lang="en-US" sz="1800" dirty="0">
                <a:solidFill>
                  <a:prstClr val="black">
                    <a:lumMod val="50000"/>
                  </a:prst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 b.  Urgent Care Facilities</a:t>
            </a:r>
          </a:p>
          <a:p>
            <a:pPr marL="301752" lvl="1" indent="0" fontAlgn="auto">
              <a:lnSpc>
                <a:spcPct val="60000"/>
              </a:lnSpc>
              <a:spcAft>
                <a:spcPts val="0"/>
              </a:spcAft>
              <a:buClr>
                <a:prstClr val="black">
                  <a:lumMod val="50000"/>
                </a:prstClr>
              </a:buClr>
              <a:buFont typeface="Arial" pitchFamily="34" charset="0"/>
              <a:buNone/>
              <a:defRPr/>
            </a:pPr>
            <a:r>
              <a:rPr lang="en-US" sz="1800" dirty="0">
                <a:solidFill>
                  <a:prstClr val="black">
                    <a:lumMod val="50000"/>
                  </a:prst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 c.  Physicians</a:t>
            </a:r>
          </a:p>
          <a:p>
            <a:pPr marL="301752" lvl="1" indent="0" fontAlgn="auto">
              <a:lnSpc>
                <a:spcPct val="60000"/>
              </a:lnSpc>
              <a:spcAft>
                <a:spcPts val="0"/>
              </a:spcAft>
              <a:buClr>
                <a:prstClr val="black">
                  <a:lumMod val="50000"/>
                </a:prstClr>
              </a:buClr>
              <a:buFont typeface="Arial" pitchFamily="34" charset="0"/>
              <a:buNone/>
              <a:defRPr/>
            </a:pPr>
            <a:r>
              <a:rPr lang="en-US" sz="1800" dirty="0">
                <a:solidFill>
                  <a:prstClr val="black">
                    <a:lumMod val="50000"/>
                  </a:prst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 d.  Eligible Ancillary Providers</a:t>
            </a:r>
          </a:p>
          <a:p>
            <a:pPr marL="342900" indent="-342900" fontAlgn="auto">
              <a:spcAft>
                <a:spcPts val="0"/>
              </a:spcAft>
              <a:buClr>
                <a:prstClr val="black">
                  <a:lumMod val="50000"/>
                </a:prstClr>
              </a:buClr>
              <a:buFont typeface="Arial" pitchFamily="34" charset="0"/>
              <a:buAutoNum type="arabicPeriod"/>
              <a:defRPr/>
            </a:pPr>
            <a:r>
              <a:rPr lang="en-US" sz="1800" dirty="0">
                <a:solidFill>
                  <a:prstClr val="black">
                    <a:lumMod val="50000"/>
                  </a:prst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Out of Pocket Expenses Qualify</a:t>
            </a:r>
          </a:p>
          <a:p>
            <a:pPr marL="342900" indent="-342900" fontAlgn="auto">
              <a:spcAft>
                <a:spcPts val="0"/>
              </a:spcAft>
              <a:buClr>
                <a:prstClr val="black">
                  <a:lumMod val="50000"/>
                </a:prstClr>
              </a:buClr>
              <a:buFont typeface="Arial" pitchFamily="34" charset="0"/>
              <a:buAutoNum type="arabicPeriod"/>
              <a:defRPr/>
            </a:pPr>
            <a:r>
              <a:rPr lang="en-US" sz="1800" dirty="0">
                <a:solidFill>
                  <a:prstClr val="black">
                    <a:lumMod val="50000"/>
                  </a:prst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0% Interest Rate</a:t>
            </a:r>
          </a:p>
          <a:p>
            <a:pPr marL="342900" indent="-342900" fontAlgn="auto">
              <a:spcAft>
                <a:spcPts val="0"/>
              </a:spcAft>
              <a:buClr>
                <a:prstClr val="black">
                  <a:lumMod val="50000"/>
                </a:prstClr>
              </a:buClr>
              <a:buFont typeface="Arial" pitchFamily="34" charset="0"/>
              <a:buAutoNum type="arabicPeriod"/>
              <a:defRPr/>
            </a:pPr>
            <a:r>
              <a:rPr lang="en-US" sz="1800" dirty="0">
                <a:solidFill>
                  <a:prstClr val="black">
                    <a:lumMod val="50000"/>
                  </a:prst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Employee Determines Repayment Schedules</a:t>
            </a:r>
          </a:p>
          <a:p>
            <a:pPr marL="0" indent="0" fontAlgn="auto">
              <a:spcAft>
                <a:spcPts val="0"/>
              </a:spcAft>
              <a:buClr>
                <a:prstClr val="black">
                  <a:lumMod val="50000"/>
                </a:prstClr>
              </a:buClr>
              <a:buFont typeface="Arial" pitchFamily="34" charset="0"/>
              <a:buNone/>
              <a:defRPr/>
            </a:pPr>
            <a:r>
              <a:rPr lang="en-US" sz="1800" dirty="0">
                <a:solidFill>
                  <a:prstClr val="black">
                    <a:lumMod val="50000"/>
                  </a:prst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5.   To Qualify:  Answer One Simple Question</a:t>
            </a:r>
          </a:p>
          <a:p>
            <a:pPr marL="301752" lvl="1" indent="0" fontAlgn="auto">
              <a:spcAft>
                <a:spcPts val="0"/>
              </a:spcAft>
              <a:buClr>
                <a:prstClr val="black">
                  <a:lumMod val="50000"/>
                </a:prstClr>
              </a:buClr>
              <a:buFont typeface="Arial" pitchFamily="34" charset="0"/>
              <a:buNone/>
              <a:defRPr/>
            </a:pPr>
            <a:endParaRPr lang="en-US" sz="1800" dirty="0">
              <a:solidFill>
                <a:prstClr val="black">
                  <a:lumMod val="50000"/>
                </a:prstClr>
              </a:solidFill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pPr marL="301752" lvl="1" indent="0" fontAlgn="auto">
              <a:spcAft>
                <a:spcPts val="0"/>
              </a:spcAft>
              <a:buClr>
                <a:prstClr val="black">
                  <a:lumMod val="50000"/>
                </a:prstClr>
              </a:buClr>
              <a:buFont typeface="Arial" pitchFamily="34" charset="0"/>
              <a:buNone/>
              <a:defRPr/>
            </a:pPr>
            <a:endParaRPr lang="en-US" sz="1800" dirty="0">
              <a:solidFill>
                <a:prstClr val="black">
                  <a:lumMod val="50000"/>
                </a:prstClr>
              </a:solidFill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5717" name="Title 2">
            <a:extLst>
              <a:ext uri="{FF2B5EF4-FFF2-40B4-BE49-F238E27FC236}">
                <a16:creationId xmlns:a16="http://schemas.microsoft.com/office/drawing/2014/main" id="{4DF35BB9-7364-27D7-9436-C53298BBC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75" y="292100"/>
            <a:ext cx="1153477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3600" dirty="0">
                <a:solidFill>
                  <a:srgbClr val="00539F"/>
                </a:solidFill>
              </a:rPr>
              <a:t>THE KBA HEALTH CONVENIENCE CARD</a:t>
            </a:r>
          </a:p>
        </p:txBody>
      </p:sp>
      <p:sp>
        <p:nvSpPr>
          <p:cNvPr id="115718" name="Slide Number Placeholder 2">
            <a:extLst>
              <a:ext uri="{FF2B5EF4-FFF2-40B4-BE49-F238E27FC236}">
                <a16:creationId xmlns:a16="http://schemas.microsoft.com/office/drawing/2014/main" id="{21B90E6E-CDA0-A512-30C1-7B124A156E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91613" y="6218238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5004073D-A4AF-4254-ACE7-7C7C27F07641}" type="slidenum">
              <a:rPr lang="en-US" altLang="en-US" sz="1200" smtClean="0">
                <a:solidFill>
                  <a:srgbClr val="767676"/>
                </a:solidFill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6</a:t>
            </a:fld>
            <a:endParaRPr lang="en-US" altLang="en-US" sz="1200">
              <a:solidFill>
                <a:srgbClr val="767676"/>
              </a:solidFill>
            </a:endParaRPr>
          </a:p>
        </p:txBody>
      </p:sp>
      <p:pic>
        <p:nvPicPr>
          <p:cNvPr id="115719" name="Picture 10">
            <a:extLst>
              <a:ext uri="{FF2B5EF4-FFF2-40B4-BE49-F238E27FC236}">
                <a16:creationId xmlns:a16="http://schemas.microsoft.com/office/drawing/2014/main" id="{813E3857-BB3B-A79E-48D7-56B454758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6356350"/>
            <a:ext cx="2124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20" name="Freeform 11">
            <a:extLst>
              <a:ext uri="{FF2B5EF4-FFF2-40B4-BE49-F238E27FC236}">
                <a16:creationId xmlns:a16="http://schemas.microsoft.com/office/drawing/2014/main" id="{E556161D-EA2B-EE53-716A-357F0BDD5066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7289801" y="1958975"/>
            <a:ext cx="195262" cy="9628187"/>
          </a:xfrm>
          <a:custGeom>
            <a:avLst/>
            <a:gdLst>
              <a:gd name="T0" fmla="*/ 0 w 165300"/>
              <a:gd name="T1" fmla="*/ 0 h 503014"/>
              <a:gd name="T2" fmla="*/ 229461 w 165300"/>
              <a:gd name="T3" fmla="*/ 0 h 503014"/>
              <a:gd name="T4" fmla="*/ 229461 w 165300"/>
              <a:gd name="T5" fmla="*/ 184313858 h 503014"/>
              <a:gd name="T6" fmla="*/ 0 w 165300"/>
              <a:gd name="T7" fmla="*/ 184313858 h 5030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lnTo>
                  <a:pt x="0" y="0"/>
                </a:lnTo>
                <a:close/>
              </a:path>
            </a:pathLst>
          </a:custGeom>
          <a:solidFill>
            <a:srgbClr val="00539F"/>
          </a:solidFill>
          <a:ln>
            <a:noFill/>
          </a:ln>
          <a:extLst>
            <a:ext uri="{91240B29-F687-4F45-9708-019B960494DF}">
              <a14:hiddenLine xmlns:a14="http://schemas.microsoft.com/office/drawing/2010/main" w="0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484357"/>
            <a:ext cx="7941568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25"/>
              </a:lnSpc>
            </a:pPr>
            <a:r>
              <a:rPr lang="en-US" sz="2800" b="1" dirty="0">
                <a:solidFill>
                  <a:srgbClr val="00539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Weight Management (GLP-1s) that Don't Break the Bank</a:t>
            </a:r>
            <a:endParaRPr lang="en-US" sz="2800" dirty="0">
              <a:solidFill>
                <a:srgbClr val="00539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92" y="1244303"/>
            <a:ext cx="10869018" cy="516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33"/>
              </a:lnSpc>
            </a:pPr>
            <a:r>
              <a:rPr lang="en-US" sz="83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GLP-1 medication market has experienced explosive growth, fundamentally reshaping healthcare spending across America. Prime Therapeutics reports that per-member-per-month spend has tripled by March 2025, with these breakthrough medications now representing approximately 15% of total pharmacy spend. More than 1 in 50 members filed a GLP-1 claim in Q1 2025 alone, demonstrating unprecedented demand for these life-changing treatments.</a:t>
            </a:r>
            <a:endParaRPr lang="en-US" sz="833" dirty="0"/>
          </a:p>
        </p:txBody>
      </p:sp>
      <p:sp>
        <p:nvSpPr>
          <p:cNvPr id="4" name="Shape 2"/>
          <p:cNvSpPr/>
          <p:nvPr/>
        </p:nvSpPr>
        <p:spPr>
          <a:xfrm>
            <a:off x="661492" y="1881287"/>
            <a:ext cx="3551337" cy="976114"/>
          </a:xfrm>
          <a:prstGeom prst="roundRect">
            <a:avLst>
              <a:gd name="adj" fmla="val 4626"/>
            </a:avLst>
          </a:prstGeom>
          <a:solidFill>
            <a:srgbClr val="CDE4FE"/>
          </a:solidFill>
          <a:ln w="7620">
            <a:solidFill>
              <a:srgbClr val="B3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5296" y="1995091"/>
            <a:ext cx="134381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042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Challenge</a:t>
            </a:r>
            <a:endParaRPr lang="en-US" sz="1042" dirty="0"/>
          </a:p>
        </p:txBody>
      </p:sp>
      <p:sp>
        <p:nvSpPr>
          <p:cNvPr id="6" name="Text 4"/>
          <p:cNvSpPr/>
          <p:nvPr/>
        </p:nvSpPr>
        <p:spPr>
          <a:xfrm>
            <a:off x="775296" y="2227461"/>
            <a:ext cx="3323729" cy="516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33"/>
              </a:lnSpc>
            </a:pPr>
            <a:r>
              <a:rPr lang="en-US" sz="83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GLP-1 medications cost between $1,089-$1,349 monthly, creating unsustainable budget pressures for employers while limiting employee access to essential treatments.</a:t>
            </a:r>
            <a:endParaRPr lang="en-US" sz="833" dirty="0"/>
          </a:p>
        </p:txBody>
      </p:sp>
      <p:sp>
        <p:nvSpPr>
          <p:cNvPr id="7" name="Shape 5"/>
          <p:cNvSpPr/>
          <p:nvPr/>
        </p:nvSpPr>
        <p:spPr>
          <a:xfrm>
            <a:off x="4320282" y="1881287"/>
            <a:ext cx="3551337" cy="976114"/>
          </a:xfrm>
          <a:prstGeom prst="roundRect">
            <a:avLst>
              <a:gd name="adj" fmla="val 4626"/>
            </a:avLst>
          </a:prstGeom>
          <a:solidFill>
            <a:srgbClr val="CDE4FE"/>
          </a:solidFill>
          <a:ln w="7620">
            <a:solidFill>
              <a:srgbClr val="B3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34086" y="1995091"/>
            <a:ext cx="134381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042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Our Solution</a:t>
            </a:r>
            <a:endParaRPr lang="en-US" sz="1042" dirty="0"/>
          </a:p>
        </p:txBody>
      </p:sp>
      <p:sp>
        <p:nvSpPr>
          <p:cNvPr id="9" name="Text 7"/>
          <p:cNvSpPr/>
          <p:nvPr/>
        </p:nvSpPr>
        <p:spPr>
          <a:xfrm>
            <a:off x="4434086" y="2227461"/>
            <a:ext cx="3323729" cy="516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33"/>
              </a:lnSpc>
            </a:pPr>
            <a:r>
              <a:rPr lang="en-US" sz="83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Benefits secures generic GLP-1 medications for just $249 per month, enabling comprehensive workforce health while maintaining strict budget control and financial stability.</a:t>
            </a:r>
            <a:endParaRPr lang="en-US" sz="833" dirty="0"/>
          </a:p>
        </p:txBody>
      </p:sp>
      <p:sp>
        <p:nvSpPr>
          <p:cNvPr id="10" name="Shape 8"/>
          <p:cNvSpPr/>
          <p:nvPr/>
        </p:nvSpPr>
        <p:spPr>
          <a:xfrm>
            <a:off x="7979073" y="1881287"/>
            <a:ext cx="3551436" cy="976114"/>
          </a:xfrm>
          <a:prstGeom prst="roundRect">
            <a:avLst>
              <a:gd name="adj" fmla="val 4626"/>
            </a:avLst>
          </a:prstGeom>
          <a:solidFill>
            <a:srgbClr val="CDE4FE"/>
          </a:solidFill>
          <a:ln w="7620">
            <a:solidFill>
              <a:srgbClr val="B3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92877" y="1995091"/>
            <a:ext cx="134381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042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Impact</a:t>
            </a:r>
            <a:endParaRPr lang="en-US" sz="1042" dirty="0"/>
          </a:p>
        </p:txBody>
      </p:sp>
      <p:sp>
        <p:nvSpPr>
          <p:cNvPr id="12" name="Text 10"/>
          <p:cNvSpPr/>
          <p:nvPr/>
        </p:nvSpPr>
        <p:spPr>
          <a:xfrm>
            <a:off x="8092877" y="2227461"/>
            <a:ext cx="3323828" cy="516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33"/>
              </a:lnSpc>
            </a:pPr>
            <a:r>
              <a:rPr lang="en-US" sz="83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 a healthier population, increased employee satisfaction, and sustainable costs that support long-term organizational success and employee wellbeing.</a:t>
            </a:r>
            <a:endParaRPr lang="en-US" sz="833" dirty="0"/>
          </a:p>
        </p:txBody>
      </p:sp>
      <p:sp>
        <p:nvSpPr>
          <p:cNvPr id="13" name="Text 11"/>
          <p:cNvSpPr/>
          <p:nvPr/>
        </p:nvSpPr>
        <p:spPr>
          <a:xfrm>
            <a:off x="661492" y="3085704"/>
            <a:ext cx="3055044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3"/>
              </a:lnSpc>
            </a:pPr>
            <a:r>
              <a:rPr lang="en-US" sz="1250" b="1" dirty="0">
                <a:solidFill>
                  <a:srgbClr val="02469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Proven Results: $7M Annual Savings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1492" y="3394670"/>
            <a:ext cx="6416477" cy="516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33"/>
              </a:lnSpc>
            </a:pPr>
            <a:r>
              <a:rPr lang="en-US" sz="83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major city spending $11 million annually on GLP-1 medications achieved $7 million in cost savings through our comprehensive approach. This dramatic reduction demonstrates how strategic sourcing combined with clinical support creates sustainable, scalable solutions for large employers facing escalating pharmaceutical costs.</a:t>
            </a:r>
            <a:endParaRPr lang="en-US" sz="833" dirty="0"/>
          </a:p>
        </p:txBody>
      </p:sp>
      <p:sp>
        <p:nvSpPr>
          <p:cNvPr id="15" name="Text 13"/>
          <p:cNvSpPr/>
          <p:nvPr/>
        </p:nvSpPr>
        <p:spPr>
          <a:xfrm>
            <a:off x="661492" y="4018260"/>
            <a:ext cx="290264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92"/>
              </a:lnSpc>
            </a:pPr>
            <a:r>
              <a:rPr lang="en-US" sz="1042" b="1" dirty="0">
                <a:solidFill>
                  <a:srgbClr val="000B2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Beyond Medication: Comprehensive Care</a:t>
            </a:r>
            <a:endParaRPr lang="en-US" sz="1042" dirty="0"/>
          </a:p>
        </p:txBody>
      </p:sp>
      <p:sp>
        <p:nvSpPr>
          <p:cNvPr id="16" name="Text 14"/>
          <p:cNvSpPr/>
          <p:nvPr/>
        </p:nvSpPr>
        <p:spPr>
          <a:xfrm>
            <a:off x="661492" y="4293593"/>
            <a:ext cx="6416477" cy="516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33"/>
              </a:lnSpc>
            </a:pPr>
            <a:r>
              <a:rPr lang="en-US" sz="83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program extends far beyond cost-effective medication access. Members receive specialized coaching twice monthly, focusing on maintaining muscular strength, engaging in moderate exercise, and developing sustainable lifestyle changes that support long-term weight maintenance after GLP-1 treatment completion.</a:t>
            </a:r>
            <a:endParaRPr lang="en-US" sz="833" dirty="0"/>
          </a:p>
        </p:txBody>
      </p:sp>
      <p:sp>
        <p:nvSpPr>
          <p:cNvPr id="17" name="Text 15"/>
          <p:cNvSpPr/>
          <p:nvPr/>
        </p:nvSpPr>
        <p:spPr>
          <a:xfrm>
            <a:off x="7346455" y="3152775"/>
            <a:ext cx="4190306" cy="354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92"/>
              </a:lnSpc>
            </a:pPr>
            <a:r>
              <a:rPr lang="en-US" sz="2792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270</a:t>
            </a:r>
            <a:endParaRPr lang="en-US" sz="2792" dirty="0"/>
          </a:p>
        </p:txBody>
      </p:sp>
      <p:sp>
        <p:nvSpPr>
          <p:cNvPr id="18" name="Text 16"/>
          <p:cNvSpPr/>
          <p:nvPr/>
        </p:nvSpPr>
        <p:spPr>
          <a:xfrm>
            <a:off x="8769648" y="3641725"/>
            <a:ext cx="134381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292"/>
              </a:lnSpc>
            </a:pPr>
            <a:r>
              <a:rPr lang="en-US" sz="1042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Health Conditions</a:t>
            </a:r>
            <a:endParaRPr lang="en-US" sz="1042" dirty="0"/>
          </a:p>
        </p:txBody>
      </p:sp>
      <p:sp>
        <p:nvSpPr>
          <p:cNvPr id="19" name="Text 17"/>
          <p:cNvSpPr/>
          <p:nvPr/>
        </p:nvSpPr>
        <p:spPr>
          <a:xfrm>
            <a:off x="7346455" y="3917057"/>
            <a:ext cx="4190306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33"/>
              </a:lnSpc>
            </a:pPr>
            <a:r>
              <a:rPr lang="en-US" sz="83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or exacerbated by obesity according to Cleveland Clinic research</a:t>
            </a:r>
            <a:endParaRPr lang="en-US" sz="833" dirty="0"/>
          </a:p>
        </p:txBody>
      </p:sp>
      <p:sp>
        <p:nvSpPr>
          <p:cNvPr id="20" name="Text 18"/>
          <p:cNvSpPr/>
          <p:nvPr/>
        </p:nvSpPr>
        <p:spPr>
          <a:xfrm>
            <a:off x="7346455" y="4357787"/>
            <a:ext cx="4190306" cy="354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92"/>
              </a:lnSpc>
            </a:pPr>
            <a:r>
              <a:rPr lang="en-US" sz="2792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$8.5K</a:t>
            </a:r>
            <a:endParaRPr lang="en-US" sz="2792" dirty="0"/>
          </a:p>
        </p:txBody>
      </p:sp>
      <p:sp>
        <p:nvSpPr>
          <p:cNvPr id="21" name="Text 19"/>
          <p:cNvSpPr/>
          <p:nvPr/>
        </p:nvSpPr>
        <p:spPr>
          <a:xfrm>
            <a:off x="8769648" y="4846737"/>
            <a:ext cx="134381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292"/>
              </a:lnSpc>
            </a:pPr>
            <a:r>
              <a:rPr lang="en-US" sz="1042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Additional Spend</a:t>
            </a:r>
            <a:endParaRPr lang="en-US" sz="1042" dirty="0"/>
          </a:p>
        </p:txBody>
      </p:sp>
      <p:sp>
        <p:nvSpPr>
          <p:cNvPr id="22" name="Text 20"/>
          <p:cNvSpPr/>
          <p:nvPr/>
        </p:nvSpPr>
        <p:spPr>
          <a:xfrm>
            <a:off x="7346455" y="5122069"/>
            <a:ext cx="4190306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33"/>
              </a:lnSpc>
            </a:pPr>
            <a:r>
              <a:rPr lang="en-US" sz="83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annual healthcare costs above normal for obese individuals (KFF)</a:t>
            </a:r>
            <a:endParaRPr lang="en-US" sz="833" dirty="0"/>
          </a:p>
        </p:txBody>
      </p:sp>
      <p:sp>
        <p:nvSpPr>
          <p:cNvPr id="23" name="Shape 21"/>
          <p:cNvSpPr/>
          <p:nvPr/>
        </p:nvSpPr>
        <p:spPr>
          <a:xfrm>
            <a:off x="661492" y="5535811"/>
            <a:ext cx="10869018" cy="628749"/>
          </a:xfrm>
          <a:prstGeom prst="roundRect">
            <a:avLst>
              <a:gd name="adj" fmla="val 7181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45" y="5696645"/>
            <a:ext cx="134343" cy="10745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10742" y="5670055"/>
            <a:ext cx="10412313" cy="344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33"/>
              </a:lnSpc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Your Healthcare Strategy:</a:t>
            </a: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Join forward-thinking employers who are providing comprehensive weight management solutions while protecting their bottom line. Our approach combines clinical excellence with fiscal responsibility, creating a win-win for organizations and their valued employees.</a:t>
            </a:r>
            <a:endParaRPr lang="en-US" sz="1000" dirty="0"/>
          </a:p>
        </p:txBody>
      </p:sp>
      <p:pic>
        <p:nvPicPr>
          <p:cNvPr id="26" name="Picture 10">
            <a:extLst>
              <a:ext uri="{FF2B5EF4-FFF2-40B4-BE49-F238E27FC236}">
                <a16:creationId xmlns:a16="http://schemas.microsoft.com/office/drawing/2014/main" id="{032C243F-5508-CF0B-45ED-B7E09DF02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6356350"/>
            <a:ext cx="2124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Freeform 11">
            <a:extLst>
              <a:ext uri="{FF2B5EF4-FFF2-40B4-BE49-F238E27FC236}">
                <a16:creationId xmlns:a16="http://schemas.microsoft.com/office/drawing/2014/main" id="{6A0AB534-2581-F240-64D6-6846AFCC745B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7289801" y="1958975"/>
            <a:ext cx="195262" cy="9628187"/>
          </a:xfrm>
          <a:custGeom>
            <a:avLst/>
            <a:gdLst>
              <a:gd name="T0" fmla="*/ 0 w 165300"/>
              <a:gd name="T1" fmla="*/ 0 h 503014"/>
              <a:gd name="T2" fmla="*/ 229461 w 165300"/>
              <a:gd name="T3" fmla="*/ 0 h 503014"/>
              <a:gd name="T4" fmla="*/ 229461 w 165300"/>
              <a:gd name="T5" fmla="*/ 184313858 h 503014"/>
              <a:gd name="T6" fmla="*/ 0 w 165300"/>
              <a:gd name="T7" fmla="*/ 184313858 h 5030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lnTo>
                  <a:pt x="0" y="0"/>
                </a:lnTo>
                <a:close/>
              </a:path>
            </a:pathLst>
          </a:custGeom>
          <a:solidFill>
            <a:srgbClr val="00539F"/>
          </a:solidFill>
          <a:ln>
            <a:noFill/>
          </a:ln>
          <a:extLst>
            <a:ext uri="{91240B29-F687-4F45-9708-019B960494DF}">
              <a14:hiddenLine xmlns:a14="http://schemas.microsoft.com/office/drawing/2010/main" w="0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 descr="&quot;&quot;">
            <a:extLst>
              <a:ext uri="{FF2B5EF4-FFF2-40B4-BE49-F238E27FC236}">
                <a16:creationId xmlns:a16="http://schemas.microsoft.com/office/drawing/2014/main" id="{EFF31D5F-1806-623A-34E4-F87814A3B42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7938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cxnSp>
        <p:nvCxnSpPr>
          <p:cNvPr id="34" name="Straight Connector 33" descr="&quot;&quot;">
            <a:extLst>
              <a:ext uri="{FF2B5EF4-FFF2-40B4-BE49-F238E27FC236}">
                <a16:creationId xmlns:a16="http://schemas.microsoft.com/office/drawing/2014/main" id="{448BDF8B-1112-E5C6-8FBD-9E0D03F12344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729956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ext Placeholder 10">
            <a:extLst>
              <a:ext uri="{FF2B5EF4-FFF2-40B4-BE49-F238E27FC236}">
                <a16:creationId xmlns:a16="http://schemas.microsoft.com/office/drawing/2014/main" id="{B5DC4FD6-9C00-BE14-7CA9-5492373ACBA8}"/>
              </a:ext>
            </a:extLst>
          </p:cNvPr>
          <p:cNvGraphicFramePr/>
          <p:nvPr/>
        </p:nvGraphicFramePr>
        <p:xfrm>
          <a:off x="5182908" y="642639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C11632C-2CC4-E84F-4348-AA073FE01F9A}"/>
              </a:ext>
            </a:extLst>
          </p:cNvPr>
          <p:cNvSpPr/>
          <p:nvPr/>
        </p:nvSpPr>
        <p:spPr>
          <a:xfrm>
            <a:off x="0" y="0"/>
            <a:ext cx="5354638" cy="6865938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42BC6-4EDF-183F-A4C3-16B71AE1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3" y="642938"/>
            <a:ext cx="5008562" cy="4075112"/>
          </a:xfrm>
        </p:spPr>
        <p:txBody>
          <a:bodyPr lIns="91440" rIns="91440" bIns="45720">
            <a:norm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4000" b="0" dirty="0">
                <a:solidFill>
                  <a:schemeClr val="bg1"/>
                </a:solidFill>
              </a:rPr>
              <a:t>COMMUNITY BASED SALES STRATEGY</a:t>
            </a:r>
          </a:p>
        </p:txBody>
      </p:sp>
      <p:pic>
        <p:nvPicPr>
          <p:cNvPr id="118791" name="Picture 6" descr="A group of people sitting around a table">
            <a:extLst>
              <a:ext uri="{FF2B5EF4-FFF2-40B4-BE49-F238E27FC236}">
                <a16:creationId xmlns:a16="http://schemas.microsoft.com/office/drawing/2014/main" id="{B93A8F5B-A374-96B6-FFE3-8DBD0521C6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3783013"/>
            <a:ext cx="4741862" cy="31003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43F4030F-86AC-1347-4828-B0EDDEC191BB}"/>
              </a:ext>
            </a:extLst>
          </p:cNvPr>
          <p:cNvSpPr/>
          <p:nvPr/>
        </p:nvSpPr>
        <p:spPr>
          <a:xfrm flipV="1">
            <a:off x="-12700" y="0"/>
            <a:ext cx="4787900" cy="5524500"/>
          </a:xfrm>
          <a:prstGeom prst="round1Rect">
            <a:avLst>
              <a:gd name="adj" fmla="val 14176"/>
            </a:avLst>
          </a:prstGeom>
          <a:solidFill>
            <a:srgbClr val="00539F">
              <a:alpha val="93725"/>
            </a:srgbClr>
          </a:solidFill>
          <a:ln>
            <a:solidFill>
              <a:srgbClr val="59CA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81495FF-AEF5-2C16-BEDF-D6B37215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63" y="174625"/>
            <a:ext cx="3840162" cy="942975"/>
          </a:xfrm>
        </p:spPr>
        <p:txBody>
          <a:bodyPr rtlCol="0"/>
          <a:lstStyle/>
          <a:p>
            <a:pPr defTabSz="914411" eaLnBrk="1" fontAlgn="auto" hangingPunct="1">
              <a:spcAft>
                <a:spcPts val="0"/>
              </a:spcAft>
              <a:defRPr/>
            </a:pPr>
            <a:r>
              <a:rPr lang="en-US" sz="2400" cap="all" dirty="0">
                <a:solidFill>
                  <a:schemeClr val="bg1"/>
                </a:solidFill>
              </a:rPr>
              <a:t>Complete Marketing System</a:t>
            </a:r>
          </a:p>
        </p:txBody>
      </p:sp>
      <p:sp>
        <p:nvSpPr>
          <p:cNvPr id="120836" name="TextBox 9">
            <a:extLst>
              <a:ext uri="{FF2B5EF4-FFF2-40B4-BE49-F238E27FC236}">
                <a16:creationId xmlns:a16="http://schemas.microsoft.com/office/drawing/2014/main" id="{DB92E17E-1EB2-2842-1EDA-631987642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38" y="1333500"/>
            <a:ext cx="4029075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 marL="742950" indent="-28575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000">
                <a:solidFill>
                  <a:srgbClr val="FFFFFF"/>
                </a:solidFill>
                <a:cs typeface="Arial" panose="020B0604020202020204" pitchFamily="34" charset="0"/>
              </a:rPr>
              <a:t>Customized Branding and Messaging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000">
                <a:solidFill>
                  <a:srgbClr val="FFFFFF"/>
                </a:solidFill>
                <a:cs typeface="Arial" panose="020B0604020202020204" pitchFamily="34" charset="0"/>
              </a:rPr>
              <a:t>Customized Brochures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000">
                <a:solidFill>
                  <a:srgbClr val="FFFFFF"/>
                </a:solidFill>
                <a:cs typeface="Arial" panose="020B0604020202020204" pitchFamily="34" charset="0"/>
              </a:rPr>
              <a:t>Customized Web Site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000">
                <a:solidFill>
                  <a:srgbClr val="FFFFFF"/>
                </a:solidFill>
                <a:cs typeface="Arial" panose="020B0604020202020204" pitchFamily="34" charset="0"/>
              </a:rPr>
              <a:t>Targeted Employer Outreach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000">
                <a:solidFill>
                  <a:srgbClr val="FFFFFF"/>
                </a:solidFill>
                <a:cs typeface="Arial" panose="020B0604020202020204" pitchFamily="34" charset="0"/>
              </a:rPr>
              <a:t>Sales System (Social Media, Email, Text, etc.)</a:t>
            </a:r>
          </a:p>
        </p:txBody>
      </p:sp>
      <p:sp>
        <p:nvSpPr>
          <p:cNvPr id="120837" name="Freeform 11">
            <a:extLst>
              <a:ext uri="{FF2B5EF4-FFF2-40B4-BE49-F238E27FC236}">
                <a16:creationId xmlns:a16="http://schemas.microsoft.com/office/drawing/2014/main" id="{AF49E2B8-3B56-A0F6-8C53-19980DE4F781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7292976" y="1958975"/>
            <a:ext cx="195262" cy="9628187"/>
          </a:xfrm>
          <a:custGeom>
            <a:avLst/>
            <a:gdLst>
              <a:gd name="T0" fmla="*/ 0 w 165300"/>
              <a:gd name="T1" fmla="*/ 0 h 503014"/>
              <a:gd name="T2" fmla="*/ 229461 w 165300"/>
              <a:gd name="T3" fmla="*/ 0 h 503014"/>
              <a:gd name="T4" fmla="*/ 229461 w 165300"/>
              <a:gd name="T5" fmla="*/ 184313858 h 503014"/>
              <a:gd name="T6" fmla="*/ 0 w 165300"/>
              <a:gd name="T7" fmla="*/ 184313858 h 5030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lnTo>
                  <a:pt x="0" y="0"/>
                </a:lnTo>
                <a:close/>
              </a:path>
            </a:pathLst>
          </a:custGeom>
          <a:solidFill>
            <a:srgbClr val="00539F"/>
          </a:solidFill>
          <a:ln>
            <a:noFill/>
          </a:ln>
          <a:extLst>
            <a:ext uri="{91240B29-F687-4F45-9708-019B960494DF}">
              <a14:hiddenLine xmlns:a14="http://schemas.microsoft.com/office/drawing/2010/main" w="0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  <p:pic>
        <p:nvPicPr>
          <p:cNvPr id="120838" name="Picture 13">
            <a:extLst>
              <a:ext uri="{FF2B5EF4-FFF2-40B4-BE49-F238E27FC236}">
                <a16:creationId xmlns:a16="http://schemas.microsoft.com/office/drawing/2014/main" id="{B5B9AA0C-1CBC-B6CB-0AF6-E1C7B56CB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6356350"/>
            <a:ext cx="2124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9" name="Object 1">
            <a:extLst>
              <a:ext uri="{FF2B5EF4-FFF2-40B4-BE49-F238E27FC236}">
                <a16:creationId xmlns:a16="http://schemas.microsoft.com/office/drawing/2014/main" id="{DE668E24-FAB1-57BD-63E2-CDD01344C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1870075"/>
            <a:ext cx="4672013" cy="2916238"/>
          </a:xfrm>
          <a:prstGeom prst="rect">
            <a:avLst/>
          </a:prstGeom>
          <a:solidFill>
            <a:srgbClr val="254F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pic>
        <p:nvPicPr>
          <p:cNvPr id="120840" name="Object 2">
            <a:extLst>
              <a:ext uri="{FF2B5EF4-FFF2-40B4-BE49-F238E27FC236}">
                <a16:creationId xmlns:a16="http://schemas.microsoft.com/office/drawing/2014/main" id="{78392EA9-FD5A-11EC-C59D-CC917D71F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17" t="359" r="-3017" b="359"/>
          <a:stretch>
            <a:fillRect/>
          </a:stretch>
        </p:blipFill>
        <p:spPr bwMode="auto">
          <a:xfrm>
            <a:off x="6261100" y="1870075"/>
            <a:ext cx="4672013" cy="291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41" name="Object 3">
            <a:extLst>
              <a:ext uri="{FF2B5EF4-FFF2-40B4-BE49-F238E27FC236}">
                <a16:creationId xmlns:a16="http://schemas.microsoft.com/office/drawing/2014/main" id="{E5DD962A-1C01-4773-0CBE-C4863F4BA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1870075"/>
            <a:ext cx="4672013" cy="291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00"/>
              </a:solidFill>
            </a:endParaRPr>
          </a:p>
        </p:txBody>
      </p:sp>
      <p:pic>
        <p:nvPicPr>
          <p:cNvPr id="120842" name="Object 4">
            <a:extLst>
              <a:ext uri="{FF2B5EF4-FFF2-40B4-BE49-F238E27FC236}">
                <a16:creationId xmlns:a16="http://schemas.microsoft.com/office/drawing/2014/main" id="{DEFB678E-89F9-1C3C-3D77-80972C5A6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0" y="1609725"/>
            <a:ext cx="6211888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EB050-6BA3-5791-DA48-B24A94935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7" name="Freeform 11">
            <a:extLst>
              <a:ext uri="{FF2B5EF4-FFF2-40B4-BE49-F238E27FC236}">
                <a16:creationId xmlns:a16="http://schemas.microsoft.com/office/drawing/2014/main" id="{52D5B895-3716-6318-58FC-E92D21A8B0AE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7292976" y="1958975"/>
            <a:ext cx="195262" cy="9628187"/>
          </a:xfrm>
          <a:custGeom>
            <a:avLst/>
            <a:gdLst>
              <a:gd name="T0" fmla="*/ 0 w 165300"/>
              <a:gd name="T1" fmla="*/ 0 h 503014"/>
              <a:gd name="T2" fmla="*/ 229461 w 165300"/>
              <a:gd name="T3" fmla="*/ 0 h 503014"/>
              <a:gd name="T4" fmla="*/ 229461 w 165300"/>
              <a:gd name="T5" fmla="*/ 184313858 h 503014"/>
              <a:gd name="T6" fmla="*/ 0 w 165300"/>
              <a:gd name="T7" fmla="*/ 184313858 h 5030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lnTo>
                  <a:pt x="0" y="0"/>
                </a:lnTo>
                <a:close/>
              </a:path>
            </a:pathLst>
          </a:custGeom>
          <a:solidFill>
            <a:srgbClr val="00539F"/>
          </a:solidFill>
          <a:ln>
            <a:noFill/>
          </a:ln>
          <a:extLst>
            <a:ext uri="{91240B29-F687-4F45-9708-019B960494DF}">
              <a14:hiddenLine xmlns:a14="http://schemas.microsoft.com/office/drawing/2010/main" w="0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  <p:pic>
        <p:nvPicPr>
          <p:cNvPr id="120838" name="Picture 13">
            <a:extLst>
              <a:ext uri="{FF2B5EF4-FFF2-40B4-BE49-F238E27FC236}">
                <a16:creationId xmlns:a16="http://schemas.microsoft.com/office/drawing/2014/main" id="{6B4ABEE2-AD91-E071-6766-E8A0BB096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6356350"/>
            <a:ext cx="2124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33BDE1D-0972-0447-649D-743BEA02FCF7}"/>
              </a:ext>
            </a:extLst>
          </p:cNvPr>
          <p:cNvSpPr txBox="1">
            <a:spLocks/>
          </p:cNvSpPr>
          <p:nvPr/>
        </p:nvSpPr>
        <p:spPr>
          <a:xfrm>
            <a:off x="1449465" y="180520"/>
            <a:ext cx="9293069" cy="642259"/>
          </a:xfrm>
          <a:prstGeom prst="rect">
            <a:avLst/>
          </a:prstGeom>
        </p:spPr>
        <p:txBody>
          <a:bodyPr vert="horz" wrap="square" lIns="58293" tIns="29146" rIns="58293" bIns="29146" rtlCol="0" anchor="ctr" anchorCtr="0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algn="ctr" defTabSz="582930"/>
            <a:r>
              <a:rPr lang="en-US" sz="4000" b="1" dirty="0">
                <a:solidFill>
                  <a:srgbClr val="254F96"/>
                </a:solidFill>
              </a:rPr>
              <a:t>180 DAY SALES TARGETS AND PLAN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F7616C4-CFA7-3325-19DD-0DDB8593A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494" y="1062734"/>
            <a:ext cx="9628189" cy="529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70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Freeform 11">
            <a:extLst>
              <a:ext uri="{FF2B5EF4-FFF2-40B4-BE49-F238E27FC236}">
                <a16:creationId xmlns:a16="http://schemas.microsoft.com/office/drawing/2014/main" id="{207C4A50-F9B3-2874-A7D2-B3AE354C6397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7175500" y="1849438"/>
            <a:ext cx="180975" cy="9852025"/>
          </a:xfrm>
          <a:custGeom>
            <a:avLst/>
            <a:gdLst>
              <a:gd name="T0" fmla="*/ 0 w 165300"/>
              <a:gd name="T1" fmla="*/ 0 h 503014"/>
              <a:gd name="T2" fmla="*/ 197859 w 165300"/>
              <a:gd name="T3" fmla="*/ 0 h 503014"/>
              <a:gd name="T4" fmla="*/ 197859 w 165300"/>
              <a:gd name="T5" fmla="*/ 192948028 h 503014"/>
              <a:gd name="T6" fmla="*/ 0 w 165300"/>
              <a:gd name="T7" fmla="*/ 192948028 h 5030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lnTo>
                  <a:pt x="0" y="0"/>
                </a:lnTo>
                <a:close/>
              </a:path>
            </a:pathLst>
          </a:custGeom>
          <a:solidFill>
            <a:srgbClr val="00539F"/>
          </a:solidFill>
          <a:ln>
            <a:noFill/>
          </a:ln>
          <a:extLst>
            <a:ext uri="{91240B29-F687-4F45-9708-019B960494DF}">
              <a14:hiddenLine xmlns:a14="http://schemas.microsoft.com/office/drawing/2010/main" w="0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DC83B21A-4F60-9E6A-37F4-30738F53A600}"/>
              </a:ext>
            </a:extLst>
          </p:cNvPr>
          <p:cNvSpPr/>
          <p:nvPr/>
        </p:nvSpPr>
        <p:spPr>
          <a:xfrm>
            <a:off x="9748838" y="0"/>
            <a:ext cx="2443162" cy="6859588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Tokio Marine</a:t>
            </a:r>
          </a:p>
          <a:p>
            <a:pPr algn="ctr" defTabSz="4572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Nationwide</a:t>
            </a:r>
          </a:p>
          <a:p>
            <a:pPr algn="ctr" defTabSz="4572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Berkshire Hathaway</a:t>
            </a:r>
          </a:p>
          <a:p>
            <a:pPr algn="ctr" defTabSz="4572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Sun Life</a:t>
            </a:r>
          </a:p>
          <a:p>
            <a:pPr algn="ctr" defTabSz="4572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Liberty Mutual</a:t>
            </a:r>
          </a:p>
          <a:p>
            <a:pPr algn="ctr" defTabSz="4572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Granular (Google)</a:t>
            </a:r>
          </a:p>
          <a:p>
            <a:pPr algn="ctr" defTabSz="4572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Companion Life</a:t>
            </a:r>
          </a:p>
          <a:p>
            <a:pPr algn="ctr" defTabSz="4572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Crum &amp; Forster</a:t>
            </a:r>
          </a:p>
          <a:p>
            <a:pPr algn="ctr" defTabSz="4572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American Fidelity</a:t>
            </a:r>
          </a:p>
          <a:p>
            <a:pPr algn="ctr" defTabSz="4572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RGA</a:t>
            </a:r>
          </a:p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B3EF1D8-FD7D-E248-792D-DB0AD48A0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244475"/>
            <a:ext cx="8783637" cy="1095375"/>
          </a:xfrm>
        </p:spPr>
        <p:txBody>
          <a:bodyPr rtlCol="0"/>
          <a:lstStyle/>
          <a:p>
            <a:pPr defTabSz="914411" eaLnBrk="1" fontAlgn="auto" hangingPunct="1">
              <a:spcAft>
                <a:spcPts val="0"/>
              </a:spcAft>
              <a:defRPr/>
            </a:pPr>
            <a:r>
              <a:rPr lang="en-US" sz="3200" spc="200" dirty="0">
                <a:solidFill>
                  <a:srgbClr val="00539F"/>
                </a:solidFill>
              </a:rPr>
              <a:t>STOP-LOSS INSURANCE</a:t>
            </a:r>
            <a:br>
              <a:rPr lang="en-US" sz="3200" spc="200" dirty="0">
                <a:solidFill>
                  <a:srgbClr val="00539F"/>
                </a:solidFill>
              </a:rPr>
            </a:br>
            <a:r>
              <a:rPr lang="en-US" sz="3200" spc="200" dirty="0">
                <a:solidFill>
                  <a:srgbClr val="00539F"/>
                </a:solidFill>
              </a:rPr>
              <a:t>     </a:t>
            </a:r>
            <a:r>
              <a:rPr lang="en-US" sz="3200" spc="200" dirty="0">
                <a:solidFill>
                  <a:schemeClr val="bg2">
                    <a:lumMod val="25000"/>
                  </a:schemeClr>
                </a:solidFill>
              </a:rPr>
              <a:t>THE KBA EXPERIENCE</a:t>
            </a:r>
            <a:endParaRPr lang="en-US" sz="3200" spc="200" dirty="0">
              <a:solidFill>
                <a:srgbClr val="00539F"/>
              </a:solidFill>
            </a:endParaRPr>
          </a:p>
        </p:txBody>
      </p:sp>
      <p:sp>
        <p:nvSpPr>
          <p:cNvPr id="122885" name="Slide Number Placeholder 3">
            <a:extLst>
              <a:ext uri="{FF2B5EF4-FFF2-40B4-BE49-F238E27FC236}">
                <a16:creationId xmlns:a16="http://schemas.microsoft.com/office/drawing/2014/main" id="{E1F6931E-F0F4-28E0-5CE7-6978B6569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174163" y="643096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 marL="742950" indent="-28575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F8DA0B5D-01CD-48A2-8929-B7732723C58E}" type="slidenum">
              <a:rPr lang="en-US" altLang="en-US" sz="1200" smtClean="0">
                <a:solidFill>
                  <a:srgbClr val="898989"/>
                </a:solidFill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22886" name="TextBox 4">
            <a:extLst>
              <a:ext uri="{FF2B5EF4-FFF2-40B4-BE49-F238E27FC236}">
                <a16:creationId xmlns:a16="http://schemas.microsoft.com/office/drawing/2014/main" id="{C8D4B913-F860-2DB5-8552-364E6AE81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689100"/>
            <a:ext cx="8628062" cy="440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defTabSz="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 marL="742950" indent="-28575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 marL="1143000" indent="-22860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 marL="1600200" indent="-22860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 marL="2057400" indent="-22860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Deep relationships with 20+ stop loss underwriters and carriers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Over $150M in annual stop loss premium placement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Comprehensive pricing and medical service analysis performed for each DTE health plan to ensure proper pricing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KBA provides the administration required of the stop-loss markets: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Bordereau Reporting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Claim Reporting and Reconciliation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Evaluation of Networks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Care Management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Initial Underwriting 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Negotiation of rates and terms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Plan Design Actuarial</a:t>
            </a:r>
            <a:r>
              <a:rPr lang="en-US" altLang="en-US" sz="2000" b="1">
                <a:solidFill>
                  <a:srgbClr val="0070C0"/>
                </a:solidFill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2887" name="Picture 3">
            <a:extLst>
              <a:ext uri="{FF2B5EF4-FFF2-40B4-BE49-F238E27FC236}">
                <a16:creationId xmlns:a16="http://schemas.microsoft.com/office/drawing/2014/main" id="{0E4AAA7B-B297-D22D-0567-99849B29E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6356350"/>
            <a:ext cx="2124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9B337C-DEF3-B174-C112-DB8E4162381B}"/>
              </a:ext>
            </a:extLst>
          </p:cNvPr>
          <p:cNvSpPr/>
          <p:nvPr/>
        </p:nvSpPr>
        <p:spPr>
          <a:xfrm>
            <a:off x="661988" y="479425"/>
            <a:ext cx="9294812" cy="439738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eaLnBrk="1" fontAlgn="auto" hangingPunct="1">
              <a:lnSpc>
                <a:spcPts val="345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50" b="1" dirty="0">
                <a:solidFill>
                  <a:srgbClr val="000B2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Proof: 98% of Our Clients Beat Healthcare Inflation</a:t>
            </a:r>
            <a:endParaRPr lang="en-US" sz="2750" dirty="0">
              <a:latin typeface="+mn-lt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559C2A-03C8-9C0C-5638-C5C425699D1A}"/>
              </a:ext>
            </a:extLst>
          </p:cNvPr>
          <p:cNvSpPr/>
          <p:nvPr/>
        </p:nvSpPr>
        <p:spPr>
          <a:xfrm>
            <a:off x="661988" y="1270000"/>
            <a:ext cx="3319462" cy="26352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eaLnBrk="1" fontAlgn="auto" hangingPunct="1">
              <a:lnSpc>
                <a:spcPts val="204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25" b="1" dirty="0">
                <a:solidFill>
                  <a:srgbClr val="000B2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Red Line = Healthcare CPI</a:t>
            </a:r>
            <a:endParaRPr lang="en-US" sz="1625" dirty="0">
              <a:latin typeface="+mn-lt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B100AF1-13F2-3DEC-7802-7DFA8AA816EB}"/>
              </a:ext>
            </a:extLst>
          </p:cNvPr>
          <p:cNvSpPr/>
          <p:nvPr/>
        </p:nvSpPr>
        <p:spPr>
          <a:xfrm>
            <a:off x="661988" y="1673225"/>
            <a:ext cx="5262562" cy="674688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year-over-year healthcare component of the consumer price index represents typical market healthcare cost increases that employers face nationwide.</a:t>
            </a:r>
            <a:endParaRPr lang="en-US" sz="1083" dirty="0">
              <a:latin typeface="+mn-lt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891AD9-4C61-4B03-9718-DC235387641D}"/>
              </a:ext>
            </a:extLst>
          </p:cNvPr>
          <p:cNvSpPr/>
          <p:nvPr/>
        </p:nvSpPr>
        <p:spPr>
          <a:xfrm>
            <a:off x="661988" y="2489200"/>
            <a:ext cx="4559300" cy="26352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eaLnBrk="1" fontAlgn="auto" hangingPunct="1">
              <a:lnSpc>
                <a:spcPts val="204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25" b="1" dirty="0">
                <a:solidFill>
                  <a:srgbClr val="000B2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Blue Line = Main Street Management</a:t>
            </a:r>
            <a:endParaRPr lang="en-US" sz="1625" dirty="0">
              <a:latin typeface="+mn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777C4FC-E873-93A2-712C-4FD8F9516170}"/>
              </a:ext>
            </a:extLst>
          </p:cNvPr>
          <p:cNvSpPr/>
          <p:nvPr/>
        </p:nvSpPr>
        <p:spPr>
          <a:xfrm>
            <a:off x="661988" y="2894013"/>
            <a:ext cx="5262562" cy="449262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happens when you manage your health on Main Street with direct provider relationships, transparent pricing, and aligned incentives.</a:t>
            </a:r>
            <a:endParaRPr lang="en-US" sz="1083" dirty="0">
              <a:latin typeface="+mn-lt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8577FAD-3B49-2FD3-91F2-C6E29BA23094}"/>
              </a:ext>
            </a:extLst>
          </p:cNvPr>
          <p:cNvSpPr/>
          <p:nvPr/>
        </p:nvSpPr>
        <p:spPr>
          <a:xfrm>
            <a:off x="873125" y="3502025"/>
            <a:ext cx="5051425" cy="223838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eaLnBrk="1" fontAlgn="auto" hangingPunct="1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3" b="1" dirty="0">
                <a:solidFill>
                  <a:srgbClr val="E04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our clients, 98% of our Blue Lines are BELOW their Red Lines!</a:t>
            </a:r>
            <a:endParaRPr lang="en-US" sz="1083" dirty="0">
              <a:latin typeface="+mn-lt"/>
            </a:endParaRPr>
          </a:p>
        </p:txBody>
      </p:sp>
      <p:sp>
        <p:nvSpPr>
          <p:cNvPr id="124936" name="Shape 6">
            <a:extLst>
              <a:ext uri="{FF2B5EF4-FFF2-40B4-BE49-F238E27FC236}">
                <a16:creationId xmlns:a16="http://schemas.microsoft.com/office/drawing/2014/main" id="{8C95ACC4-1180-37A3-46CF-A057FB768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8" y="3502025"/>
            <a:ext cx="19050" cy="223838"/>
          </a:xfrm>
          <a:prstGeom prst="rect">
            <a:avLst/>
          </a:prstGeom>
          <a:solidFill>
            <a:srgbClr val="02469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500">
              <a:latin typeface="Calibri" panose="020F0502020204030204" pitchFamily="34" charset="0"/>
            </a:endParaRPr>
          </a:p>
        </p:txBody>
      </p:sp>
      <p:pic>
        <p:nvPicPr>
          <p:cNvPr id="124937" name="Image 0" descr="preencoded.png">
            <a:extLst>
              <a:ext uri="{FF2B5EF4-FFF2-40B4-BE49-F238E27FC236}">
                <a16:creationId xmlns:a16="http://schemas.microsoft.com/office/drawing/2014/main" id="{5F504F63-C895-D7BE-4891-28EAC4583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50" y="3913188"/>
            <a:ext cx="4156075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4938" name="Image 1" descr="preencoded.png">
            <a:extLst>
              <a:ext uri="{FF2B5EF4-FFF2-40B4-BE49-F238E27FC236}">
                <a16:creationId xmlns:a16="http://schemas.microsoft.com/office/drawing/2014/main" id="{4BD652FA-09F5-6AB3-DF93-2E3354FF3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0" y="1287463"/>
            <a:ext cx="4473575" cy="232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4939" name="Image 2" descr="preencoded.png">
            <a:extLst>
              <a:ext uri="{FF2B5EF4-FFF2-40B4-BE49-F238E27FC236}">
                <a16:creationId xmlns:a16="http://schemas.microsoft.com/office/drawing/2014/main" id="{B597959D-D0CC-AB06-423E-0868A8711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0" y="3775075"/>
            <a:ext cx="4462463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2C226765-74D5-EE82-AE29-B803DF6EB329}"/>
              </a:ext>
            </a:extLst>
          </p:cNvPr>
          <p:cNvSpPr/>
          <p:nvPr/>
        </p:nvSpPr>
        <p:spPr>
          <a:xfrm>
            <a:off x="661988" y="6153150"/>
            <a:ext cx="10868025" cy="22542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eaLnBrk="1" fontAlgn="auto" hangingPunct="1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consistent outperformance demonstrates that direct-to-employer partnerships deliver measurable, sustainable value for all stakeholders involved.</a:t>
            </a:r>
            <a:endParaRPr lang="en-US" sz="1083" dirty="0">
              <a:latin typeface="+mn-lt"/>
            </a:endParaRPr>
          </a:p>
        </p:txBody>
      </p:sp>
      <p:pic>
        <p:nvPicPr>
          <p:cNvPr id="124941" name="object 12">
            <a:extLst>
              <a:ext uri="{FF2B5EF4-FFF2-40B4-BE49-F238E27FC236}">
                <a16:creationId xmlns:a16="http://schemas.microsoft.com/office/drawing/2014/main" id="{6B99F2D0-5BA7-3489-6F77-692D57BAD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6410325"/>
            <a:ext cx="200183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42" name="object 13">
            <a:extLst>
              <a:ext uri="{FF2B5EF4-FFF2-40B4-BE49-F238E27FC236}">
                <a16:creationId xmlns:a16="http://schemas.microsoft.com/office/drawing/2014/main" id="{7954E589-1DEE-3021-1826-FF6F091A8093}"/>
              </a:ext>
            </a:extLst>
          </p:cNvPr>
          <p:cNvSpPr>
            <a:spLocks/>
          </p:cNvSpPr>
          <p:nvPr/>
        </p:nvSpPr>
        <p:spPr bwMode="auto">
          <a:xfrm>
            <a:off x="2574925" y="6692900"/>
            <a:ext cx="9617075" cy="182563"/>
          </a:xfrm>
          <a:custGeom>
            <a:avLst/>
            <a:gdLst>
              <a:gd name="T0" fmla="*/ 9616452 w 9617075"/>
              <a:gd name="T1" fmla="*/ 0 h 182879"/>
              <a:gd name="T2" fmla="*/ 0 w 9617075"/>
              <a:gd name="T3" fmla="*/ 0 h 182879"/>
              <a:gd name="T4" fmla="*/ 0 w 9617075"/>
              <a:gd name="T5" fmla="*/ 182563 h 182879"/>
              <a:gd name="T6" fmla="*/ 9616452 w 9617075"/>
              <a:gd name="T7" fmla="*/ 182563 h 182879"/>
              <a:gd name="T8" fmla="*/ 9616452 w 9617075"/>
              <a:gd name="T9" fmla="*/ 0 h 1828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617075" h="182879">
                <a:moveTo>
                  <a:pt x="9616452" y="0"/>
                </a:moveTo>
                <a:lnTo>
                  <a:pt x="0" y="0"/>
                </a:lnTo>
                <a:lnTo>
                  <a:pt x="0" y="182879"/>
                </a:lnTo>
                <a:lnTo>
                  <a:pt x="9616452" y="182879"/>
                </a:lnTo>
                <a:lnTo>
                  <a:pt x="9616452" y="0"/>
                </a:lnTo>
                <a:close/>
              </a:path>
            </a:pathLst>
          </a:custGeom>
          <a:solidFill>
            <a:srgbClr val="00529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7_Office Theme">
  <a:themeElements>
    <a:clrScheme name="KBA">
      <a:dk1>
        <a:srgbClr val="000000"/>
      </a:dk1>
      <a:lt1>
        <a:srgbClr val="FFFFFF"/>
      </a:lt1>
      <a:dk2>
        <a:srgbClr val="0053A0"/>
      </a:dk2>
      <a:lt2>
        <a:srgbClr val="E7E6E6"/>
      </a:lt2>
      <a:accent1>
        <a:srgbClr val="0053A0"/>
      </a:accent1>
      <a:accent2>
        <a:srgbClr val="1D1D1D"/>
      </a:accent2>
      <a:accent3>
        <a:srgbClr val="6C6962"/>
      </a:accent3>
      <a:accent4>
        <a:srgbClr val="002648"/>
      </a:accent4>
      <a:accent5>
        <a:srgbClr val="AB0F15"/>
      </a:accent5>
      <a:accent6>
        <a:srgbClr val="EB9024"/>
      </a:accent6>
      <a:hlink>
        <a:srgbClr val="0563C1"/>
      </a:hlink>
      <a:folHlink>
        <a:srgbClr val="0053A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8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5379</TotalTime>
  <Words>1260</Words>
  <Application>Microsoft Office PowerPoint</Application>
  <PresentationFormat>Widescreen</PresentationFormat>
  <Paragraphs>182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Arial</vt:lpstr>
      <vt:lpstr>Aptos Narrow</vt:lpstr>
      <vt:lpstr>Aptos</vt:lpstr>
      <vt:lpstr>Book Antiqua</vt:lpstr>
      <vt:lpstr>Montserrat</vt:lpstr>
      <vt:lpstr>Inter</vt:lpstr>
      <vt:lpstr>Montserrat Bold</vt:lpstr>
      <vt:lpstr>Calibri</vt:lpstr>
      <vt:lpstr>Office Theme</vt:lpstr>
      <vt:lpstr>2_Office Theme</vt:lpstr>
      <vt:lpstr>7_Office Theme</vt:lpstr>
      <vt:lpstr>8_Office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COMMUNITY BASED SALES STRATEGY</vt:lpstr>
      <vt:lpstr>Complete Marketing System</vt:lpstr>
      <vt:lpstr>PowerPoint Presentation</vt:lpstr>
      <vt:lpstr>STOP-LOSS INSURANCE      THE KBA EXPERIENCE</vt:lpstr>
      <vt:lpstr>PowerPoint Presentation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#4</dc:title>
  <dc:subject>Untitled #4</dc:subject>
  <dc:creator>taylordavis@careluminate.com</dc:creator>
  <cp:lastModifiedBy>Taylor Davis</cp:lastModifiedBy>
  <cp:revision>12</cp:revision>
  <dcterms:created xsi:type="dcterms:W3CDTF">2024-12-03T04:16:29Z</dcterms:created>
  <dcterms:modified xsi:type="dcterms:W3CDTF">2025-09-17T12:54:15Z</dcterms:modified>
</cp:coreProperties>
</file>