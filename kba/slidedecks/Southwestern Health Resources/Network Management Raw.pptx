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65" r:id="rId5"/>
    <p:sldId id="266" r:id="rId6"/>
    <p:sldId id="257" r:id="rId7"/>
    <p:sldId id="261" r:id="rId8"/>
    <p:sldId id="262" r:id="rId9"/>
    <p:sldId id="264" r:id="rId10"/>
    <p:sldId id="521" r:id="rId11"/>
    <p:sldId id="5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99297-C890-4AC2-8662-05D551BE2F33}" v="1" dt="2025-09-12T21:53:54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7D0B6B51-DA5F-4021-8848-39BD0005AA08}"/>
    <pc:docChg chg="custSel modSld">
      <pc:chgData name="Taylor Davis" userId="5c9e72a0-c39f-4aa1-9d7d-64125e78cbe6" providerId="ADAL" clId="{7D0B6B51-DA5F-4021-8848-39BD0005AA08}" dt="2025-09-12T21:54:14.127" v="7" actId="1076"/>
      <pc:docMkLst>
        <pc:docMk/>
      </pc:docMkLst>
      <pc:sldChg chg="addSp delSp modSp mod">
        <pc:chgData name="Taylor Davis" userId="5c9e72a0-c39f-4aa1-9d7d-64125e78cbe6" providerId="ADAL" clId="{7D0B6B51-DA5F-4021-8848-39BD0005AA08}" dt="2025-09-12T21:54:14.127" v="7" actId="1076"/>
        <pc:sldMkLst>
          <pc:docMk/>
          <pc:sldMk cId="1312498947" sldId="258"/>
        </pc:sldMkLst>
        <pc:spChg chg="del">
          <ac:chgData name="Taylor Davis" userId="5c9e72a0-c39f-4aa1-9d7d-64125e78cbe6" providerId="ADAL" clId="{7D0B6B51-DA5F-4021-8848-39BD0005AA08}" dt="2025-09-12T21:54:08.647" v="5" actId="478"/>
          <ac:spMkLst>
            <pc:docMk/>
            <pc:sldMk cId="1312498947" sldId="258"/>
            <ac:spMk id="2" creationId="{461BF642-00C7-D41A-DEE6-090E054296BE}"/>
          </ac:spMkLst>
        </pc:spChg>
        <pc:spChg chg="mod">
          <ac:chgData name="Taylor Davis" userId="5c9e72a0-c39f-4aa1-9d7d-64125e78cbe6" providerId="ADAL" clId="{7D0B6B51-DA5F-4021-8848-39BD0005AA08}" dt="2025-09-12T21:54:14.127" v="7" actId="1076"/>
          <ac:spMkLst>
            <pc:docMk/>
            <pc:sldMk cId="1312498947" sldId="258"/>
            <ac:spMk id="3" creationId="{BB633531-63FE-C85E-6EDD-0CB244FDA3B0}"/>
          </ac:spMkLst>
        </pc:spChg>
        <pc:spChg chg="add del mod">
          <ac:chgData name="Taylor Davis" userId="5c9e72a0-c39f-4aa1-9d7d-64125e78cbe6" providerId="ADAL" clId="{7D0B6B51-DA5F-4021-8848-39BD0005AA08}" dt="2025-09-12T21:54:10.361" v="6" actId="478"/>
          <ac:spMkLst>
            <pc:docMk/>
            <pc:sldMk cId="1312498947" sldId="258"/>
            <ac:spMk id="5" creationId="{F2AAD206-F1B9-AE83-1495-C29710E5C9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D7D3-995B-AD13-04DF-308A437C4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5C69B-AF04-5677-2F73-A704BEDAC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CB2E-DCAF-1B6D-98E5-4522B81E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BA200-E7DD-C457-B818-7AFEED20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67E44-5C4B-6D3D-E9E2-C84982F0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333D-D6FF-0B8E-46C4-A99CAFBE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0AC3F-A08E-F8FF-DDA3-8707C677C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10397-82DE-62A4-0CFC-B9CF39CF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B7006-199C-8EE6-9441-1C0F7441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21344-F9C0-2CDB-5F85-6BCA3698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8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6FFE-9468-4302-F20F-51A27587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99BE9-489B-4822-812F-04107C5BA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6A701-66C0-255A-10EB-7602EEE7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EE8B4-75EC-FB0C-2699-0E93B3FD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CA253-61BA-EB44-C94A-F545662E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2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56652-CA9D-79F6-EA00-3A8BA7CA5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4A4EB-A280-5A69-D6C2-30894E9AD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3BA10-E9F4-68C9-A00B-57F666DCA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B7D1C-671D-C2E1-A696-E1913C09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F6F84-3D9C-F5C3-3455-D0A120ED7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73AAF-1BBD-4D70-BED0-3FF9412A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3DC5-9B55-560C-6DC2-C92EA584B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4918B-9444-A432-E167-082E9A6E4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0453B-06A2-A3A4-DB8F-FC96EA687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2416C-2A2D-03A1-162C-27D13FDB9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4A8CB-13CF-6708-CB87-F288E252B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636C7-B323-7E1D-9414-B1241910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A3590-138C-743B-3B44-A57217C4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149A73-8B26-1C1A-D0B2-0A10027D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5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BAA71-3297-FB74-57E3-DBCC80C6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D0787-D569-8EFA-A915-48E9A4996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C3E49-A3E8-93A9-F7F8-35019551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54A9E-B6CB-B9C9-728D-08F999D6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7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3D6BA-828C-0CC4-FD4C-02C62C65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86857-2D9D-F7ED-F31E-2FC920D8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1567E-0F2D-B1EF-A03B-2CF4A02E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1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4B85-DE4A-5342-7F5C-97CFC0C1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DCBFD-E842-4E78-503A-3BCDB6EE8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A044-083B-2B2A-4FDF-0733A506D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7ED8D-175F-DD0C-0842-F9118F6B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270D-49D9-E47C-4670-E56DB367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BEFD7-3988-5F5A-6B8E-507A9AE7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46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7806-8E7E-FBC3-5848-CBAA38A6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F49F7-F98C-70A3-91A8-E2D3C0431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987EB-6524-6F03-DCC3-BDED6B1EE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F7E65-FFFB-D014-6BC1-FA52CDC2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A62D2-248E-C4B8-FC46-C0189841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0ADAE-AB73-1076-FBA5-54793C1D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8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3D4B-53FD-F412-57DE-D8F5463DD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8C1DC-427A-1A79-EA07-D7FCAB511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5FE12-368A-58E4-1E5D-5178FC47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9A8CF-89F8-279B-91F4-B469EF06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DF51B-200B-E62E-DA4F-4DBA9BE4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3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7A948-724C-CF20-5FF0-A43BC769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EC8AE-3228-F6E3-6A6F-411BAD5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1677C-1674-B069-1E0A-D8AB1027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686E8-2AF3-BDFE-F4B6-2D979D90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23C95-2FEC-DE62-D301-E795EB41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3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1AA1D-3501-A408-2CDA-5A209DD8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0E60B-9AB7-FF16-2D4E-3B2B1267D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D868B-8930-B086-C62C-87BEFEE0D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555E0-158F-4AEF-B916-58E9AFBAC66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8E066-D0C5-0ADB-5CD9-98A74C323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1C93-B342-D5B6-684E-1D6F2D6A5A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1DCAB-C04F-4CC2-A890-2FDA3B9814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36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96B1-882D-6526-7153-F4C42E3BD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EB498-E198-9AE0-0423-C1752FC80A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10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5DAC-C8BE-79F5-71FF-110A051C6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DA0DE-EDC9-805C-0868-31E5B7D3B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Built 6 six state-of-Ohio networks (owner of 5)</a:t>
            </a:r>
          </a:p>
          <a:p>
            <a:r>
              <a:rPr lang="en-US" dirty="0"/>
              <a:t>Built one national network as a part owner (Health Payors Organization or HIP)</a:t>
            </a:r>
          </a:p>
          <a:p>
            <a:r>
              <a:rPr lang="en-US" dirty="0"/>
              <a:t>President of 2 TPAs</a:t>
            </a:r>
          </a:p>
          <a:p>
            <a:r>
              <a:rPr lang="en-US" dirty="0"/>
              <a:t>Kent State Fan – Glutton for Punishment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Team members have over 25 years of experience 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5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33531-63FE-C85E-6EDD-0CB244FD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049"/>
            <a:ext cx="10515600" cy="4351338"/>
          </a:xfrm>
        </p:spPr>
        <p:txBody>
          <a:bodyPr numCol="3">
            <a:normAutofit fontScale="25000" lnSpcReduction="20000"/>
          </a:bodyPr>
          <a:lstStyle/>
          <a:p>
            <a:r>
              <a:rPr lang="en-US" b="1" dirty="0"/>
              <a:t>Primary Care &amp; General Health</a:t>
            </a:r>
          </a:p>
          <a:p>
            <a:r>
              <a:rPr lang="en-US" dirty="0"/>
              <a:t>Family medicine</a:t>
            </a:r>
          </a:p>
          <a:p>
            <a:r>
              <a:rPr lang="en-US" dirty="0"/>
              <a:t>Internal medicine</a:t>
            </a:r>
          </a:p>
          <a:p>
            <a:r>
              <a:rPr lang="en-US" dirty="0"/>
              <a:t>Pediatrics</a:t>
            </a:r>
          </a:p>
          <a:p>
            <a:r>
              <a:rPr lang="en-US" dirty="0"/>
              <a:t>Geriatrics</a:t>
            </a:r>
          </a:p>
          <a:p>
            <a:r>
              <a:rPr lang="en-US" dirty="0"/>
              <a:t>General practice clinics</a:t>
            </a:r>
          </a:p>
          <a:p>
            <a:r>
              <a:rPr lang="en-US" dirty="0"/>
              <a:t>Concierge medicine</a:t>
            </a:r>
          </a:p>
          <a:p>
            <a:r>
              <a:rPr lang="en-US" dirty="0"/>
              <a:t>Urgent care centers</a:t>
            </a:r>
          </a:p>
          <a:p>
            <a:r>
              <a:rPr lang="en-US" dirty="0"/>
              <a:t>Retail health clinics (e.g., CVS MinuteClinic)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Hospitals &amp; Health Systems</a:t>
            </a:r>
          </a:p>
          <a:p>
            <a:r>
              <a:rPr lang="en-US" dirty="0"/>
              <a:t>General acute care hospitals</a:t>
            </a:r>
          </a:p>
          <a:p>
            <a:r>
              <a:rPr lang="en-US" dirty="0"/>
              <a:t>Children’s hospitals</a:t>
            </a:r>
          </a:p>
          <a:p>
            <a:r>
              <a:rPr lang="en-US" dirty="0"/>
              <a:t>Teaching/academic medical centers</a:t>
            </a:r>
          </a:p>
          <a:p>
            <a:r>
              <a:rPr lang="en-US" dirty="0"/>
              <a:t>Community hospitals</a:t>
            </a:r>
          </a:p>
          <a:p>
            <a:r>
              <a:rPr lang="en-US" dirty="0"/>
              <a:t>Critical access hospitals</a:t>
            </a:r>
          </a:p>
          <a:p>
            <a:r>
              <a:rPr lang="en-US" dirty="0"/>
              <a:t>Trauma centers</a:t>
            </a:r>
          </a:p>
          <a:p>
            <a:r>
              <a:rPr lang="en-US" dirty="0"/>
              <a:t>Veterans/military hospitals</a:t>
            </a:r>
          </a:p>
          <a:p>
            <a:r>
              <a:rPr lang="en-US" dirty="0"/>
              <a:t>Rehabilitation hospitals</a:t>
            </a:r>
          </a:p>
          <a:p>
            <a:r>
              <a:rPr lang="en-US" dirty="0"/>
              <a:t>Psychiatric/behavioral health hospitals</a:t>
            </a:r>
          </a:p>
          <a:p>
            <a:r>
              <a:rPr lang="en-US" dirty="0"/>
              <a:t>Specialty hospitals (e.g., heart hospital, orthopedic hospital)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Medical &amp; Surgical Specialties</a:t>
            </a:r>
          </a:p>
          <a:p>
            <a:r>
              <a:rPr lang="en-US" b="1" dirty="0"/>
              <a:t>Medicine</a:t>
            </a:r>
            <a:r>
              <a:rPr lang="en-US" dirty="0"/>
              <a:t>: Cardiology, Pulmonology, Endocrinology, Gastroenterology, Rheumatology, Nephrology, Infectious disease, Allergy &amp; immunology, Hematology, Oncology, Geriatric medicine, Hospital medicine</a:t>
            </a:r>
          </a:p>
          <a:p>
            <a:r>
              <a:rPr lang="en-US" b="1" dirty="0"/>
              <a:t>Surgery</a:t>
            </a:r>
            <a:r>
              <a:rPr lang="en-US" dirty="0"/>
              <a:t>: General surgery, Neurosurgery, Orthopedic surgery, Cardiothoracic surgery, Vascular surgery, Plastic &amp; reconstructive surgery, ENT/otolaryngology, Urology, Ophthalmic surgery, Transplant surgery, Pediatric surgery, Trauma surgery, Colorectal surgery</a:t>
            </a:r>
          </a:p>
          <a:p>
            <a:r>
              <a:rPr lang="en-US" b="1" dirty="0"/>
              <a:t>Women’s health</a:t>
            </a:r>
            <a:r>
              <a:rPr lang="en-US" dirty="0"/>
              <a:t>: Obstetrics &amp; gynecology, Maternal-fetal medicine, Reproductive endocrinology/infertility, Midwifery</a:t>
            </a:r>
          </a:p>
          <a:p>
            <a:r>
              <a:rPr lang="en-US" b="1" dirty="0"/>
              <a:t>Cancer care</a:t>
            </a:r>
            <a:r>
              <a:rPr lang="en-US" dirty="0"/>
              <a:t>: Surgical oncology, Medical oncology, Radiation oncology</a:t>
            </a:r>
          </a:p>
          <a:p>
            <a:r>
              <a:rPr lang="en-US" b="1" dirty="0"/>
              <a:t>Neurology-related</a:t>
            </a:r>
            <a:r>
              <a:rPr lang="en-US" dirty="0"/>
              <a:t>: Neurology, Interventional neurology, Sleep medicine, Pain medicine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Emergency &amp; Critical Care</a:t>
            </a:r>
          </a:p>
          <a:p>
            <a:r>
              <a:rPr lang="en-US" dirty="0"/>
              <a:t>Emergency medicine</a:t>
            </a:r>
          </a:p>
          <a:p>
            <a:r>
              <a:rPr lang="en-US" dirty="0"/>
              <a:t>Urgent care providers</a:t>
            </a:r>
          </a:p>
          <a:p>
            <a:r>
              <a:rPr lang="en-US" dirty="0"/>
              <a:t>Critical care medicine (ICU, anesthesiology critical care, surgical critical care)</a:t>
            </a:r>
          </a:p>
          <a:p>
            <a:r>
              <a:rPr lang="en-US" dirty="0"/>
              <a:t>Flight/transport medicine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Mental &amp; Behavioral Health</a:t>
            </a:r>
          </a:p>
          <a:p>
            <a:r>
              <a:rPr lang="en-US" dirty="0"/>
              <a:t>Psychiatry</a:t>
            </a:r>
          </a:p>
          <a:p>
            <a:r>
              <a:rPr lang="en-US" dirty="0"/>
              <a:t>Psychology</a:t>
            </a:r>
          </a:p>
          <a:p>
            <a:r>
              <a:rPr lang="en-US" dirty="0"/>
              <a:t>Licensed clinical social workers (LCSW)</a:t>
            </a:r>
          </a:p>
          <a:p>
            <a:r>
              <a:rPr lang="en-US" dirty="0"/>
              <a:t>Marriage &amp; family therapists (MFT)</a:t>
            </a:r>
          </a:p>
          <a:p>
            <a:r>
              <a:rPr lang="en-US" dirty="0"/>
              <a:t>Addiction medicine</a:t>
            </a:r>
          </a:p>
          <a:p>
            <a:r>
              <a:rPr lang="en-US" dirty="0"/>
              <a:t>Substance use treatment centers</a:t>
            </a:r>
          </a:p>
          <a:p>
            <a:r>
              <a:rPr lang="en-US" dirty="0"/>
              <a:t>Behavioral therapy (CBT, DBT, ABA therapy)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Rehabilitation &amp; Therapy</a:t>
            </a:r>
          </a:p>
          <a:p>
            <a:r>
              <a:rPr lang="en-US" dirty="0"/>
              <a:t>Physical therapy</a:t>
            </a:r>
          </a:p>
          <a:p>
            <a:r>
              <a:rPr lang="en-US" dirty="0"/>
              <a:t>Occupational therapy</a:t>
            </a:r>
          </a:p>
          <a:p>
            <a:r>
              <a:rPr lang="en-US" dirty="0"/>
              <a:t>Speech-language pathology</a:t>
            </a:r>
          </a:p>
          <a:p>
            <a:r>
              <a:rPr lang="en-US" dirty="0"/>
              <a:t>Cardiac rehabilitation</a:t>
            </a:r>
          </a:p>
          <a:p>
            <a:r>
              <a:rPr lang="en-US" dirty="0"/>
              <a:t>Pulmonary rehabilitation</a:t>
            </a:r>
          </a:p>
          <a:p>
            <a:r>
              <a:rPr lang="en-US" dirty="0"/>
              <a:t>Neurorehabilitation</a:t>
            </a:r>
          </a:p>
          <a:p>
            <a:r>
              <a:rPr lang="en-US" dirty="0"/>
              <a:t>Sports medicine</a:t>
            </a:r>
          </a:p>
          <a:p>
            <a:r>
              <a:rPr lang="en-US" dirty="0"/>
              <a:t>Athletic trainers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7. Alternative &amp; Complementary Medicine</a:t>
            </a:r>
          </a:p>
          <a:p>
            <a:r>
              <a:rPr lang="en-US" dirty="0"/>
              <a:t>Chiropractic</a:t>
            </a:r>
          </a:p>
          <a:p>
            <a:r>
              <a:rPr lang="en-US" dirty="0"/>
              <a:t>Acupuncture</a:t>
            </a:r>
          </a:p>
          <a:p>
            <a:r>
              <a:rPr lang="en-US" dirty="0"/>
              <a:t>Naturopathy</a:t>
            </a:r>
          </a:p>
          <a:p>
            <a:r>
              <a:rPr lang="en-US" dirty="0"/>
              <a:t>Traditional Chinese medicine</a:t>
            </a:r>
          </a:p>
          <a:p>
            <a:r>
              <a:rPr lang="en-US" dirty="0"/>
              <a:t>Ayurveda</a:t>
            </a:r>
          </a:p>
          <a:p>
            <a:r>
              <a:rPr lang="en-US" dirty="0"/>
              <a:t>Massage therapy</a:t>
            </a:r>
          </a:p>
          <a:p>
            <a:r>
              <a:rPr lang="en-US" dirty="0"/>
              <a:t>Osteopathic medicine (DOs)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8. Specialized Clinics &amp; Outpatient Services</a:t>
            </a:r>
          </a:p>
          <a:p>
            <a:r>
              <a:rPr lang="en-US" dirty="0"/>
              <a:t>Dialysis centers</a:t>
            </a:r>
          </a:p>
          <a:p>
            <a:r>
              <a:rPr lang="en-US" dirty="0"/>
              <a:t>Imaging centers (radiology, MRI, CT, PET, X-ray, ultrasound)</a:t>
            </a:r>
          </a:p>
          <a:p>
            <a:r>
              <a:rPr lang="en-US" dirty="0"/>
              <a:t>Ambulatory surgery centers (ASC)</a:t>
            </a:r>
          </a:p>
          <a:p>
            <a:r>
              <a:rPr lang="en-US" dirty="0"/>
              <a:t>Endoscopy centers</a:t>
            </a:r>
          </a:p>
          <a:p>
            <a:r>
              <a:rPr lang="en-US" dirty="0"/>
              <a:t>Fertility clinics</a:t>
            </a:r>
          </a:p>
          <a:p>
            <a:r>
              <a:rPr lang="en-US" dirty="0"/>
              <a:t>Sleep centers</a:t>
            </a:r>
          </a:p>
          <a:p>
            <a:r>
              <a:rPr lang="en-US" dirty="0"/>
              <a:t>Pain management clinics</a:t>
            </a:r>
          </a:p>
          <a:p>
            <a:r>
              <a:rPr lang="en-US" dirty="0"/>
              <a:t>Wound care centers</a:t>
            </a:r>
          </a:p>
          <a:p>
            <a:r>
              <a:rPr lang="en-US" dirty="0"/>
              <a:t>Infusion centers</a:t>
            </a:r>
          </a:p>
          <a:p>
            <a:r>
              <a:rPr lang="en-US" dirty="0"/>
              <a:t>Cancer centers</a:t>
            </a:r>
          </a:p>
          <a:p>
            <a:r>
              <a:rPr lang="en-US" dirty="0"/>
              <a:t>Weight loss/bariatric clinics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9. Dental &amp; Oral Health</a:t>
            </a:r>
          </a:p>
          <a:p>
            <a:r>
              <a:rPr lang="en-US" dirty="0"/>
              <a:t>General dentistry</a:t>
            </a:r>
          </a:p>
          <a:p>
            <a:r>
              <a:rPr lang="en-US" dirty="0"/>
              <a:t>Pediatric dentistry</a:t>
            </a:r>
          </a:p>
          <a:p>
            <a:r>
              <a:rPr lang="en-US" dirty="0"/>
              <a:t>Oral &amp; maxillofacial surgery</a:t>
            </a:r>
          </a:p>
          <a:p>
            <a:r>
              <a:rPr lang="en-US" dirty="0"/>
              <a:t>Orthodontics</a:t>
            </a:r>
          </a:p>
          <a:p>
            <a:r>
              <a:rPr lang="en-US" dirty="0"/>
              <a:t>Periodontics</a:t>
            </a:r>
          </a:p>
          <a:p>
            <a:r>
              <a:rPr lang="en-US" dirty="0"/>
              <a:t>Prosthodontics</a:t>
            </a:r>
          </a:p>
          <a:p>
            <a:r>
              <a:rPr lang="en-US" dirty="0"/>
              <a:t>Endodontics</a:t>
            </a:r>
          </a:p>
          <a:p>
            <a:r>
              <a:rPr lang="en-US" dirty="0"/>
              <a:t>Oral pathology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10. Vision &amp; Hearing</a:t>
            </a:r>
          </a:p>
          <a:p>
            <a:r>
              <a:rPr lang="en-US" dirty="0"/>
              <a:t>Optometry</a:t>
            </a:r>
          </a:p>
          <a:p>
            <a:r>
              <a:rPr lang="en-US" dirty="0"/>
              <a:t>Ophthalmology</a:t>
            </a:r>
          </a:p>
          <a:p>
            <a:r>
              <a:rPr lang="en-US" dirty="0"/>
              <a:t>Low-vision rehabilitation</a:t>
            </a:r>
          </a:p>
          <a:p>
            <a:r>
              <a:rPr lang="en-US" dirty="0"/>
              <a:t>Audiology</a:t>
            </a:r>
          </a:p>
          <a:p>
            <a:r>
              <a:rPr lang="en-US" dirty="0"/>
              <a:t>Hearing aid clinics</a:t>
            </a:r>
          </a:p>
          <a:p>
            <a:r>
              <a:rPr lang="en-US" dirty="0"/>
              <a:t>Cochlear implant programs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11. Community &amp; Long-Term Care</a:t>
            </a:r>
          </a:p>
          <a:p>
            <a:r>
              <a:rPr lang="en-US" dirty="0"/>
              <a:t>Skilled nursing facilities</a:t>
            </a:r>
          </a:p>
          <a:p>
            <a:r>
              <a:rPr lang="en-US" dirty="0"/>
              <a:t>Assisted living</a:t>
            </a:r>
          </a:p>
          <a:p>
            <a:r>
              <a:rPr lang="en-US" dirty="0"/>
              <a:t>Home health agencies</a:t>
            </a:r>
          </a:p>
          <a:p>
            <a:r>
              <a:rPr lang="en-US" dirty="0"/>
              <a:t>Hospice &amp; palliative care</a:t>
            </a:r>
          </a:p>
          <a:p>
            <a:r>
              <a:rPr lang="en-US" dirty="0"/>
              <a:t>Community health centers</a:t>
            </a:r>
          </a:p>
          <a:p>
            <a:r>
              <a:rPr lang="en-US" dirty="0"/>
              <a:t>Federally qualified health centers (FQHCs)</a:t>
            </a:r>
          </a:p>
          <a:p>
            <a:r>
              <a:rPr lang="en-US" dirty="0"/>
              <a:t>Rural health clinics</a:t>
            </a:r>
          </a:p>
          <a:p>
            <a:r>
              <a:rPr lang="en-US" dirty="0"/>
              <a:t>Mobile health units</a:t>
            </a:r>
          </a:p>
          <a:p>
            <a:r>
              <a:rPr lang="en-US" dirty="0"/>
              <a:t>School-based health clinics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12. Laboratory &amp; Diagnostic Services</a:t>
            </a:r>
          </a:p>
          <a:p>
            <a:r>
              <a:rPr lang="en-US" dirty="0"/>
              <a:t>Clinical pathology labs</a:t>
            </a:r>
          </a:p>
          <a:p>
            <a:r>
              <a:rPr lang="en-US" dirty="0"/>
              <a:t>Anatomic pathology</a:t>
            </a:r>
          </a:p>
          <a:p>
            <a:r>
              <a:rPr lang="en-US" dirty="0"/>
              <a:t>Genetic testing labs</a:t>
            </a:r>
          </a:p>
          <a:p>
            <a:r>
              <a:rPr lang="en-US" dirty="0"/>
              <a:t>Blood banks</a:t>
            </a:r>
          </a:p>
          <a:p>
            <a:r>
              <a:rPr lang="en-US" dirty="0"/>
              <a:t>Molecular diagnostics</a:t>
            </a:r>
          </a:p>
          <a:p>
            <a:r>
              <a:rPr lang="en-US" dirty="0"/>
              <a:t>Public health labs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13. Public Health &amp; Preventive Services</a:t>
            </a:r>
          </a:p>
          <a:p>
            <a:r>
              <a:rPr lang="en-US" dirty="0"/>
              <a:t>Immunization clinics</a:t>
            </a:r>
          </a:p>
          <a:p>
            <a:r>
              <a:rPr lang="en-US" dirty="0"/>
              <a:t>STD/HIV clinics</a:t>
            </a:r>
          </a:p>
          <a:p>
            <a:r>
              <a:rPr lang="en-US" dirty="0"/>
              <a:t>Public health departments</a:t>
            </a:r>
          </a:p>
          <a:p>
            <a:r>
              <a:rPr lang="en-US" dirty="0"/>
              <a:t>Occupational health clinics</a:t>
            </a:r>
          </a:p>
          <a:p>
            <a:r>
              <a:rPr lang="en-US" dirty="0"/>
              <a:t>Travel medicine</a:t>
            </a:r>
          </a:p>
          <a:p>
            <a:r>
              <a:rPr lang="en-US" dirty="0"/>
              <a:t>Wellness centers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14. Special Populations</a:t>
            </a:r>
          </a:p>
          <a:p>
            <a:r>
              <a:rPr lang="en-US" dirty="0"/>
              <a:t>Pediatric subspecialties (neonatology, pediatric cardiology, pediatric neurology, etc.)</a:t>
            </a:r>
          </a:p>
          <a:p>
            <a:r>
              <a:rPr lang="en-US" dirty="0"/>
              <a:t>Geriatric services</a:t>
            </a:r>
          </a:p>
          <a:p>
            <a:r>
              <a:rPr lang="en-US" dirty="0"/>
              <a:t>Disability care centers</a:t>
            </a:r>
          </a:p>
          <a:p>
            <a:r>
              <a:rPr lang="en-US" dirty="0"/>
              <a:t>Veterans’ health programs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49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A7B70-42D8-7E4F-5BC3-D0E950F9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Goal in Partnering With SWHR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29D70-E735-5473-FEF3-024296D1B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the highest-value network in the Dallas-</a:t>
            </a:r>
            <a:r>
              <a:rPr lang="en-US" dirty="0" err="1"/>
              <a:t>Fortworth</a:t>
            </a:r>
            <a:r>
              <a:rPr lang="en-US" dirty="0"/>
              <a:t> area</a:t>
            </a:r>
          </a:p>
          <a:p>
            <a:r>
              <a:rPr lang="en-US" dirty="0"/>
              <a:t>Value is high-quality care at a great price</a:t>
            </a:r>
          </a:p>
          <a:p>
            <a:r>
              <a:rPr lang="en-US" dirty="0"/>
              <a:t>Enable the fastest-possible network growth</a:t>
            </a:r>
          </a:p>
          <a:p>
            <a:r>
              <a:rPr lang="en-US" dirty="0"/>
              <a:t>Enable SWHR, as the anchor and leader of this network, to vault forward in 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264823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F86A8-522F-7F87-AD59-B1572ACE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 Must Be Carefully Tended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C907-BDB8-8DAB-2F2F-47D72B2D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Liked a garden, network require care, constant tending. </a:t>
            </a:r>
          </a:p>
          <a:p>
            <a:r>
              <a:rPr lang="en-US" dirty="0"/>
              <a:t>We manage all the tending, but take our orders from the sponsoring provider organization. </a:t>
            </a:r>
          </a:p>
          <a:p>
            <a:r>
              <a:rPr lang="en-US" dirty="0"/>
              <a:t>We manage yearly contracting, network integrity, and provider relations. </a:t>
            </a:r>
          </a:p>
        </p:txBody>
      </p:sp>
    </p:spTree>
    <p:extLst>
      <p:ext uri="{BB962C8B-B14F-4D97-AF65-F5344CB8AC3E}">
        <p14:creationId xmlns:p14="http://schemas.microsoft.com/office/powerpoint/2010/main" val="287410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7A71-E596-9D90-4C9F-2345B7F6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Vehicle for Approving Network Changes:</a:t>
            </a:r>
            <a:br>
              <a:rPr lang="en-US" dirty="0"/>
            </a:br>
            <a:r>
              <a:rPr lang="en-US" dirty="0"/>
              <a:t>Touch Point Meetings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FB67D-1B14-F8A4-4B88-FDFC8C6C2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Provider organization meet with us regularly to review the addition  of providers and other caregivers that need to be added. </a:t>
            </a:r>
          </a:p>
          <a:p>
            <a:r>
              <a:rPr lang="en-US" dirty="0"/>
              <a:t>We are regularly:</a:t>
            </a:r>
          </a:p>
          <a:p>
            <a:pPr lvl="1"/>
            <a:r>
              <a:rPr lang="en-US" dirty="0"/>
              <a:t>Analyzing the network. </a:t>
            </a:r>
          </a:p>
          <a:p>
            <a:pPr lvl="1"/>
            <a:r>
              <a:rPr lang="en-US" dirty="0"/>
              <a:t>Receiving feedback from employers, brokers and members</a:t>
            </a:r>
          </a:p>
          <a:p>
            <a:pPr lvl="1"/>
            <a:r>
              <a:rPr lang="en-US" dirty="0"/>
              <a:t>Reviewing possible options</a:t>
            </a:r>
          </a:p>
          <a:p>
            <a:pPr lvl="1"/>
            <a:r>
              <a:rPr lang="en-US" dirty="0"/>
              <a:t>Bringing recommendations</a:t>
            </a:r>
          </a:p>
          <a:p>
            <a:r>
              <a:rPr lang="en-US" dirty="0"/>
              <a:t>After approval, we approach and work to contract with groups. </a:t>
            </a:r>
          </a:p>
        </p:txBody>
      </p:sp>
    </p:spTree>
    <p:extLst>
      <p:ext uri="{BB962C8B-B14F-4D97-AF65-F5344CB8AC3E}">
        <p14:creationId xmlns:p14="http://schemas.microsoft.com/office/powerpoint/2010/main" val="130947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9FD0-4B22-82CE-4E70-AD1E9B0B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Needs to Be in the Touchpoints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0AF08-DDC2-1925-3001-32A2F8ED8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Critical – We need leaders who can make decisions about who to include, who not to. </a:t>
            </a:r>
          </a:p>
          <a:p>
            <a:r>
              <a:rPr lang="en-US" dirty="0"/>
              <a:t>Group decides the structure</a:t>
            </a:r>
          </a:p>
          <a:p>
            <a:r>
              <a:rPr lang="en-US" dirty="0"/>
              <a:t>Weekly for first several months, then meeting go to every month and as needed</a:t>
            </a:r>
          </a:p>
        </p:txBody>
      </p:sp>
    </p:spTree>
    <p:extLst>
      <p:ext uri="{BB962C8B-B14F-4D97-AF65-F5344CB8AC3E}">
        <p14:creationId xmlns:p14="http://schemas.microsoft.com/office/powerpoint/2010/main" val="523631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4125-EE45-D9C1-9980-44E0C2DA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Negotiations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9867-8CE5-1088-9FF9-9ED4832C0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handle all language, terms, and subsequent reimbursement. </a:t>
            </a:r>
          </a:p>
          <a:p>
            <a:r>
              <a:rPr lang="en-US" dirty="0"/>
              <a:t>By handling rates, we keep SWHR safe from price-fixing concerns.</a:t>
            </a:r>
          </a:p>
          <a:p>
            <a:r>
              <a:rPr lang="en-US" dirty="0"/>
              <a:t>All negotiations are renewed yearly. Our strong track record of excellent reimbursements enables easier renewals. </a:t>
            </a:r>
          </a:p>
        </p:txBody>
      </p:sp>
    </p:spTree>
    <p:extLst>
      <p:ext uri="{BB962C8B-B14F-4D97-AF65-F5344CB8AC3E}">
        <p14:creationId xmlns:p14="http://schemas.microsoft.com/office/powerpoint/2010/main" val="225685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826B-BB5F-AC3C-A39B-0A31278F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Hardest Part . . 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7C16-7E38-4931-91E7-E44FF5B6B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hardest part is not contracting or managing the system. </a:t>
            </a:r>
          </a:p>
          <a:p>
            <a:r>
              <a:rPr lang="en-US" dirty="0"/>
              <a:t>The hardest part is delivering high-quality care.</a:t>
            </a:r>
          </a:p>
          <a:p>
            <a:r>
              <a:rPr lang="en-US" dirty="0"/>
              <a:t>Communities know which health systems deliver the best care. When we partner with the best, everything works out well. </a:t>
            </a:r>
          </a:p>
        </p:txBody>
      </p:sp>
    </p:spTree>
    <p:extLst>
      <p:ext uri="{BB962C8B-B14F-4D97-AF65-F5344CB8AC3E}">
        <p14:creationId xmlns:p14="http://schemas.microsoft.com/office/powerpoint/2010/main" val="1680695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7160" y="2293528"/>
            <a:ext cx="3154680" cy="1658389"/>
          </a:xfrm>
          <a:prstGeom prst="rect">
            <a:avLst/>
          </a:prstGeom>
        </p:spPr>
      </p:pic>
      <p:pic>
        <p:nvPicPr>
          <p:cNvPr id="2050" name="Picture 2" descr="UT Southwestern Logos | UT Southwestern ...">
            <a:extLst>
              <a:ext uri="{FF2B5EF4-FFF2-40B4-BE49-F238E27FC236}">
                <a16:creationId xmlns:a16="http://schemas.microsoft.com/office/drawing/2014/main" id="{D3DD6EEF-12FB-32D9-2E10-0A1A155CA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6162" y="4064259"/>
            <a:ext cx="3876675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7160" y="2293528"/>
            <a:ext cx="3154680" cy="1658389"/>
          </a:xfrm>
          <a:prstGeom prst="rect">
            <a:avLst/>
          </a:prstGeom>
        </p:spPr>
      </p:pic>
      <p:pic>
        <p:nvPicPr>
          <p:cNvPr id="2050" name="Picture 2" descr="UT Southwestern Logos | UT Southwestern ...">
            <a:extLst>
              <a:ext uri="{FF2B5EF4-FFF2-40B4-BE49-F238E27FC236}">
                <a16:creationId xmlns:a16="http://schemas.microsoft.com/office/drawing/2014/main" id="{D3DD6EEF-12FB-32D9-2E10-0A1A155CA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6162" y="4064259"/>
            <a:ext cx="3876675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487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886</Words>
  <Application>Microsoft Office PowerPoint</Application>
  <PresentationFormat>Widescreen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Montserrat</vt:lpstr>
      <vt:lpstr>Office Theme</vt:lpstr>
      <vt:lpstr>Network Management</vt:lpstr>
      <vt:lpstr>My Background</vt:lpstr>
      <vt:lpstr>PowerPoint Presentation</vt:lpstr>
      <vt:lpstr>Out Goal in Partnering With SWHR</vt:lpstr>
      <vt:lpstr>Networks Must Be Carefully Tended</vt:lpstr>
      <vt:lpstr>Vehicle for Approving Network Changes: Touch Point Meetings</vt:lpstr>
      <vt:lpstr>Who Needs to Be in the Touchpoints</vt:lpstr>
      <vt:lpstr>Negotiations</vt:lpstr>
      <vt:lpstr>The Hardest Part . . . </vt:lpstr>
      <vt:lpstr>DIRECT-TO-EMPLOYER STRATEGY: ONLY AVAILABLE TO PREMIER HEALTH SYSTEMS</vt:lpstr>
      <vt:lpstr>DIRECT-TO-EMPLOYER STRATEGY: ONLY AVAILABLE TO PREMIER HEALTH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Davis</dc:creator>
  <cp:lastModifiedBy>Taylor Davis</cp:lastModifiedBy>
  <cp:revision>2</cp:revision>
  <dcterms:created xsi:type="dcterms:W3CDTF">2025-09-12T18:36:40Z</dcterms:created>
  <dcterms:modified xsi:type="dcterms:W3CDTF">2025-09-12T21:54:19Z</dcterms:modified>
</cp:coreProperties>
</file>