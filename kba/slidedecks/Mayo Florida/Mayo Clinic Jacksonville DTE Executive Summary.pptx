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21"/>
  </p:notesMasterIdLst>
  <p:sldIdLst>
    <p:sldId id="588" r:id="rId8"/>
    <p:sldId id="454" r:id="rId9"/>
    <p:sldId id="549" r:id="rId10"/>
    <p:sldId id="2145726869" r:id="rId11"/>
    <p:sldId id="559" r:id="rId12"/>
    <p:sldId id="580" r:id="rId13"/>
    <p:sldId id="582" r:id="rId14"/>
    <p:sldId id="548" r:id="rId15"/>
    <p:sldId id="521" r:id="rId16"/>
    <p:sldId id="564" r:id="rId17"/>
    <p:sldId id="585" r:id="rId18"/>
    <p:sldId id="536" r:id="rId19"/>
    <p:sldId id="472" r:id="rId20"/>
  </p:sldIdLst>
  <p:sldSz cx="12192000" cy="6858000"/>
  <p:notesSz cx="7315200" cy="96012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75" d="100"/>
          <a:sy n="75" d="100"/>
        </p:scale>
        <p:origin x="1710" y="5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D49BDA05-4D63-4A71-AAB4-156217E8E464}"/>
    <pc:docChg chg="delSld delMainMaster">
      <pc:chgData name="Taylor Davis" userId="5c9e72a0-c39f-4aa1-9d7d-64125e78cbe6" providerId="ADAL" clId="{D49BDA05-4D63-4A71-AAB4-156217E8E464}" dt="2025-05-02T14:42:42.548" v="3" actId="47"/>
      <pc:docMkLst>
        <pc:docMk/>
      </pc:docMkLst>
      <pc:sldChg chg="del">
        <pc:chgData name="Taylor Davis" userId="5c9e72a0-c39f-4aa1-9d7d-64125e78cbe6" providerId="ADAL" clId="{D49BDA05-4D63-4A71-AAB4-156217E8E464}" dt="2025-05-02T14:42:42.548" v="3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2605732402" sldId="283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514031403" sldId="285"/>
        </pc:sldMkLst>
      </pc:sldChg>
      <pc:sldChg chg="del">
        <pc:chgData name="Taylor Davis" userId="5c9e72a0-c39f-4aa1-9d7d-64125e78cbe6" providerId="ADAL" clId="{D49BDA05-4D63-4A71-AAB4-156217E8E464}" dt="2025-05-02T14:42:42.548" v="3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D49BDA05-4D63-4A71-AAB4-156217E8E464}" dt="2025-05-02T14:42:42.548" v="3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D49BDA05-4D63-4A71-AAB4-156217E8E464}" dt="2025-05-02T14:42:13.706" v="0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D49BDA05-4D63-4A71-AAB4-156217E8E464}" dt="2025-05-02T14:42:13.706" v="0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D49BDA05-4D63-4A71-AAB4-156217E8E464}" dt="2025-05-02T14:42:42.548" v="3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D49BDA05-4D63-4A71-AAB4-156217E8E464}" dt="2025-05-02T14:42:42.548" v="3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D49BDA05-4D63-4A71-AAB4-156217E8E464}" dt="2025-05-02T14:42:23.396" v="1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D49BDA05-4D63-4A71-AAB4-156217E8E464}" dt="2025-05-02T14:42:42.548" v="3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D49BDA05-4D63-4A71-AAB4-156217E8E464}" dt="2025-05-02T14:42:42.548" v="3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D49BDA05-4D63-4A71-AAB4-156217E8E464}" dt="2025-05-02T14:42:42.548" v="3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4042275972" sldId="613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1281542618" sldId="614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2174952421" sldId="2145726856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4161310751" sldId="2145726857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D49BDA05-4D63-4A71-AAB4-156217E8E464}" dt="2025-05-02T14:42:13.706" v="0" actId="47"/>
        <pc:sldMkLst>
          <pc:docMk/>
          <pc:sldMk cId="0" sldId="2145726867"/>
        </pc:sldMkLst>
      </pc:sldChg>
      <pc:sldChg chg="del">
        <pc:chgData name="Taylor Davis" userId="5c9e72a0-c39f-4aa1-9d7d-64125e78cbe6" providerId="ADAL" clId="{D49BDA05-4D63-4A71-AAB4-156217E8E464}" dt="2025-05-02T14:42:37.220" v="2" actId="47"/>
        <pc:sldMkLst>
          <pc:docMk/>
          <pc:sldMk cId="4087636236" sldId="2145726868"/>
        </pc:sldMkLst>
      </pc:sldChg>
      <pc:sldMasterChg chg="del delSldLayout">
        <pc:chgData name="Taylor Davis" userId="5c9e72a0-c39f-4aa1-9d7d-64125e78cbe6" providerId="ADAL" clId="{D49BDA05-4D63-4A71-AAB4-156217E8E464}" dt="2025-05-02T14:42:37.220" v="2" actId="47"/>
        <pc:sldMasterMkLst>
          <pc:docMk/>
          <pc:sldMasterMk cId="1265540980" sldId="2147483785"/>
        </pc:sldMasterMkLst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1265540980" sldId="2147483785"/>
            <pc:sldLayoutMk cId="2498378428" sldId="2147483786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1265540980" sldId="2147483785"/>
            <pc:sldLayoutMk cId="2601881731" sldId="2147483787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1265540980" sldId="2147483785"/>
            <pc:sldLayoutMk cId="1562686733" sldId="2147483788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1265540980" sldId="2147483785"/>
            <pc:sldLayoutMk cId="4003081434" sldId="2147483789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1265540980" sldId="2147483785"/>
            <pc:sldLayoutMk cId="1910118790" sldId="2147483790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1265540980" sldId="2147483785"/>
            <pc:sldLayoutMk cId="3711328393" sldId="2147483791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1265540980" sldId="2147483785"/>
            <pc:sldLayoutMk cId="1423940963" sldId="2147483792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1265540980" sldId="2147483785"/>
            <pc:sldLayoutMk cId="4032606110" sldId="2147483793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1265540980" sldId="2147483785"/>
            <pc:sldLayoutMk cId="2254392230" sldId="2147483794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1265540980" sldId="2147483785"/>
            <pc:sldLayoutMk cId="1920540095" sldId="2147483795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1265540980" sldId="2147483785"/>
            <pc:sldLayoutMk cId="4278865784" sldId="2147483796"/>
          </pc:sldLayoutMkLst>
        </pc:sldLayoutChg>
      </pc:sldMasterChg>
      <pc:sldMasterChg chg="del delSldLayout">
        <pc:chgData name="Taylor Davis" userId="5c9e72a0-c39f-4aa1-9d7d-64125e78cbe6" providerId="ADAL" clId="{D49BDA05-4D63-4A71-AAB4-156217E8E464}" dt="2025-05-02T14:42:37.220" v="2" actId="47"/>
        <pc:sldMasterMkLst>
          <pc:docMk/>
          <pc:sldMasterMk cId="3563936643" sldId="2147483797"/>
        </pc:sldMasterMkLst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2824293841" sldId="2147483798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150421858" sldId="2147483799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2298163207" sldId="2147483800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1991304296" sldId="2147483801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1121920882" sldId="2147483802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2885874120" sldId="2147483803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1906534417" sldId="2147483804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491300616" sldId="2147483805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2921565179" sldId="2147483806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1159210513" sldId="2147483807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1217176151" sldId="2147483808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895843817" sldId="2147483809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684719445" sldId="2147483810"/>
          </pc:sldLayoutMkLst>
        </pc:sldLayoutChg>
        <pc:sldLayoutChg chg="del">
          <pc:chgData name="Taylor Davis" userId="5c9e72a0-c39f-4aa1-9d7d-64125e78cbe6" providerId="ADAL" clId="{D49BDA05-4D63-4A71-AAB4-156217E8E464}" dt="2025-05-02T14:42:37.220" v="2" actId="47"/>
          <pc:sldLayoutMkLst>
            <pc:docMk/>
            <pc:sldMasterMk cId="3563936643" sldId="2147483797"/>
            <pc:sldLayoutMk cId="2530460957" sldId="214748381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svg"/><Relationship Id="rId11" Type="http://schemas.openxmlformats.org/officeDocument/2006/relationships/image" Target="../media/image10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Mayo Clinic Jacksonville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908" y="818337"/>
            <a:ext cx="3397612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000B2E"/>
                </a:solidFill>
                <a:cs typeface="Arial" panose="020B0604020202020204" pitchFamily="34" charset="0"/>
              </a:rPr>
              <a:t>(DTE)</a:t>
            </a:r>
            <a:br>
              <a:rPr lang="en-US" sz="1600" dirty="0">
                <a:solidFill>
                  <a:srgbClr val="000B2E"/>
                </a:solidFill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78" y="1468132"/>
            <a:ext cx="6697847" cy="466090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WE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4632939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sp>
        <p:nvSpPr>
          <p:cNvPr id="13" name="TextBox 14">
            <a:extLst>
              <a:ext uri="{FF2B5EF4-FFF2-40B4-BE49-F238E27FC236}">
                <a16:creationId xmlns:a16="http://schemas.microsoft.com/office/drawing/2014/main" id="{B8E36735-A0E0-6123-117C-3DE9AA3B9518}"/>
              </a:ext>
            </a:extLst>
          </p:cNvPr>
          <p:cNvSpPr txBox="1"/>
          <p:nvPr/>
        </p:nvSpPr>
        <p:spPr>
          <a:xfrm>
            <a:off x="1148436" y="3085346"/>
            <a:ext cx="2478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Health Plan Focused on a Direct Relationship with Self-Funded Employers in </a:t>
            </a:r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Market</a:t>
            </a:r>
            <a:endParaRPr lang="en-US" dirty="0"/>
          </a:p>
        </p:txBody>
      </p:sp>
      <p:pic>
        <p:nvPicPr>
          <p:cNvPr id="14" name="Content Placeholder 13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9646920" y="347472"/>
            <a:ext cx="709578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4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330559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1,500+ Employers       300,000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700,000+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84830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129,800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116,100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334,800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490663" y="1856792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Mayo Clinic Jacksonville service area in Clay, Duval, Nassau, and St. Johns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1,403K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823K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551K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334K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$28.89M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$11.91M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$169.47M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$70.87M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$344.53M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$144.21M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3,912.6K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8,069.7K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14,559.8K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23,039.3K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3,601.8K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7,929.3K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14,444.6K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22,956.5K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5,624.3K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11,004.1K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19,952.3K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31,856.9K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134.4K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5,321.9K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10,878.1K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19,861.1K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31,811.3K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2,445.4K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5,135.3K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9,167.3K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14,506.2K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2,127.4K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4,980.5K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9,028.1K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14,387.4K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57" y="136525"/>
            <a:ext cx="11569498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 STRATEGY:</a:t>
            </a:r>
            <a:br>
              <a:rPr lang="en-US" sz="3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ONLY AVAILABLE TO </a:t>
            </a:r>
            <a:r>
              <a:rPr lang="en-US" sz="3200" b="1" i="1" dirty="0">
                <a:solidFill>
                  <a:srgbClr val="000B2E"/>
                </a:solidFill>
                <a:cs typeface="Arial" panose="020B0604020202020204" pitchFamily="34" charset="0"/>
              </a:rPr>
              <a:t>PREMIER</a:t>
            </a: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859" y="1848935"/>
            <a:ext cx="6028455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82E78E4-84F7-ECC4-4085-D8F12894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3B286E7-A296-8685-AC6B-CA7B2EB60EBD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1129381" y="2064455"/>
            <a:ext cx="3154680" cy="345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136525"/>
            <a:ext cx="11590512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cs typeface="Arial" panose="020B0604020202020204" pitchFamily="34" charset="0"/>
              </a:rPr>
              <a:t>MAYO CLINIC IS PATIENT RECOMMENDED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0219A2-C97D-9E0E-9C52-C5207AB41BD4}"/>
              </a:ext>
            </a:extLst>
          </p:cNvPr>
          <p:cNvSpPr/>
          <p:nvPr/>
        </p:nvSpPr>
        <p:spPr>
          <a:xfrm>
            <a:off x="9405257" y="1989573"/>
            <a:ext cx="2532185" cy="3486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0"/>
              </a:rPr>
              <a:t>Based on quality measures and HCAHPS feedback, KBA estimates that Mayo Clinic Jacksonville has the strongest brand quality in Clay, Duval, Nassau, and St. Johns Counties.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2AD52701-1DE7-13B3-FBF0-4BD24A48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A6B1301C-BF63-22CC-7705-C12ACB4A1EC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911611"/>
              </p:ext>
            </p:extLst>
          </p:nvPr>
        </p:nvGraphicFramePr>
        <p:xfrm>
          <a:off x="680936" y="1692612"/>
          <a:ext cx="8730902" cy="2724045"/>
        </p:xfrm>
        <a:graphic>
          <a:graphicData uri="http://schemas.openxmlformats.org/drawingml/2006/table">
            <a:tbl>
              <a:tblPr/>
              <a:tblGrid>
                <a:gridCol w="2472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3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0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411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HCAHPS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CMS Stars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Mortality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KBA Brand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Quality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75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Mayo Clinic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45B9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0589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576A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180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D7CB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49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Baptist Health (Jacksonville FL)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583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A6DA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986B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986B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C88B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3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Ascension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1A6C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FA4C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B7BB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99FC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275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University of Florida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AC7D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29A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99FC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04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 Healthcare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1DAE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ECB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86C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A9C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752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Mayo Clinic Jacksonville has 9% inpatient market share, and 5% outpatient market compared to hospitals/clinics in the Mayo Clinic Jacksonville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Mayo Clinic Jacksonville.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208899"/>
              </p:ext>
            </p:extLst>
          </p:nvPr>
        </p:nvGraphicFramePr>
        <p:xfrm>
          <a:off x="838200" y="1054578"/>
          <a:ext cx="7199375" cy="5108481"/>
        </p:xfrm>
        <a:graphic>
          <a:graphicData uri="http://schemas.openxmlformats.org/drawingml/2006/table">
            <a:tbl>
              <a:tblPr/>
              <a:tblGrid>
                <a:gridCol w="14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12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Mayo Clinic Jacksonville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Mayo Clinic Jacksonville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34,900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38,300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43,500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78,300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46,800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86,200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87,700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6461"/>
              </p:ext>
            </p:extLst>
          </p:nvPr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8,100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$ 2,528,008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$ 2,295,565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$ 1,072,010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$ 5,895,583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$ 1,051,651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$ 954,955.2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$ 445,956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$ 2,452,562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40483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$ 22,942,135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$ 97,200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$ 22,946,935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$ 22,859,335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98922"/>
              </p:ext>
            </p:extLst>
          </p:nvPr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$ 18,495,209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$ 29,004,759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$ 13,544,976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$ 61,044,945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$ 7,694,007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$ 12,065,980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$ 5,634,710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$ 25,394,697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9% (inpatient) and 5%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41.6%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67% inpatient and 58%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41.6%,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13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2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46165</TotalTime>
  <Words>1201</Words>
  <Application>Microsoft Office PowerPoint</Application>
  <PresentationFormat>Widescreen</PresentationFormat>
  <Paragraphs>441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DIRECT-TO-EMPLOYER (DTE)  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DIRECT-TO-EMPLOYER STRATEGY: ONLY AVAILABLE TO PREMIER HEALTH SYSTEMS</vt:lpstr>
      <vt:lpstr>MAYO CLINIC IS PATIENT RECOMMENDED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112</cp:revision>
  <cp:lastPrinted>2023-07-13T10:24:43Z</cp:lastPrinted>
  <dcterms:created xsi:type="dcterms:W3CDTF">2021-01-20T14:12:11Z</dcterms:created>
  <dcterms:modified xsi:type="dcterms:W3CDTF">2025-05-02T14:42:46Z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