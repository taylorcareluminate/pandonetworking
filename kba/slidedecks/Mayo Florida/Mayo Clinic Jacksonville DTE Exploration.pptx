
<file path=[Content_Types].xml><?xml version="1.0" encoding="utf-8"?>
<Types xmlns="http://schemas.openxmlformats.org/package/2006/content-types">
  <Default Extension="emf" ContentType="image/x-emf"/>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xml" ContentType="application/vnd.openxmlformats-officedocument.presentationml.tags+xml"/>
  <Override PartName="/ppt/comments/modernComment_7FE53189_F808901F.xml" ContentType="application/vnd.ms-powerpoint.comments+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E53192_3C36F9F4.xml" ContentType="application/vnd.ms-powerpoint.comments+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3"/>
  </p:notesMasterIdLst>
  <p:sldIdLst>
    <p:sldId id="588" r:id="rId10"/>
    <p:sldId id="454" r:id="rId11"/>
    <p:sldId id="549" r:id="rId12"/>
    <p:sldId id="2145726869" r:id="rId13"/>
    <p:sldId id="452" r:id="rId14"/>
    <p:sldId id="466" r:id="rId15"/>
    <p:sldId id="2145726867" r:id="rId16"/>
    <p:sldId id="559" r:id="rId17"/>
    <p:sldId id="580" r:id="rId18"/>
    <p:sldId id="582" r:id="rId19"/>
    <p:sldId id="558" r:id="rId20"/>
    <p:sldId id="548" r:id="rId21"/>
    <p:sldId id="521" r:id="rId22"/>
    <p:sldId id="564" r:id="rId23"/>
    <p:sldId id="456" r:id="rId24"/>
    <p:sldId id="499" r:id="rId25"/>
    <p:sldId id="613" r:id="rId26"/>
    <p:sldId id="458" r:id="rId27"/>
    <p:sldId id="2145726859" r:id="rId28"/>
    <p:sldId id="2145726857" r:id="rId29"/>
    <p:sldId id="469" r:id="rId30"/>
    <p:sldId id="2145726856" r:id="rId31"/>
    <p:sldId id="614" r:id="rId32"/>
    <p:sldId id="281" r:id="rId33"/>
    <p:sldId id="283" r:id="rId34"/>
    <p:sldId id="285" r:id="rId35"/>
    <p:sldId id="2145726866" r:id="rId36"/>
    <p:sldId id="583" r:id="rId37"/>
    <p:sldId id="525" r:id="rId38"/>
    <p:sldId id="2145726868" r:id="rId39"/>
    <p:sldId id="571" r:id="rId40"/>
    <p:sldId id="2145726864" r:id="rId41"/>
    <p:sldId id="585" r:id="rId42"/>
    <p:sldId id="536" r:id="rId43"/>
    <p:sldId id="256" r:id="rId44"/>
    <p:sldId id="574" r:id="rId45"/>
    <p:sldId id="572" r:id="rId46"/>
    <p:sldId id="575" r:id="rId47"/>
    <p:sldId id="498" r:id="rId48"/>
    <p:sldId id="325" r:id="rId49"/>
    <p:sldId id="326" r:id="rId50"/>
    <p:sldId id="491" r:id="rId51"/>
    <p:sldId id="472" r:id="rId52"/>
  </p:sldIdLst>
  <p:sldSz cx="12192000" cy="6858000"/>
  <p:notesSz cx="7315200" cy="9601200"/>
  <p:custDataLst>
    <p:tags r:id="rId5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4DE0AB-0F9C-4380-9992-9220202269BB}" v="3" dt="2025-05-02T14:27:36.348"/>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14" autoAdjust="0"/>
    <p:restoredTop sz="88609" autoAdjust="0"/>
  </p:normalViewPr>
  <p:slideViewPr>
    <p:cSldViewPr snapToGrid="0">
      <p:cViewPr>
        <p:scale>
          <a:sx n="66" d="100"/>
          <a:sy n="66" d="100"/>
        </p:scale>
        <p:origin x="2070" y="780"/>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ableStyles" Target="tableStyle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tags" Target="tags/tag1.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viewProps" Target="view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BE4DE0AB-0F9C-4380-9992-9220202269BB}"/>
    <pc:docChg chg="custSel modSld">
      <pc:chgData name="Taylor Davis" userId="5c9e72a0-c39f-4aa1-9d7d-64125e78cbe6" providerId="ADAL" clId="{BE4DE0AB-0F9C-4380-9992-9220202269BB}" dt="2025-05-02T14:44:37.307" v="16" actId="404"/>
      <pc:docMkLst>
        <pc:docMk/>
      </pc:docMkLst>
      <pc:sldChg chg="modSp mod">
        <pc:chgData name="Taylor Davis" userId="5c9e72a0-c39f-4aa1-9d7d-64125e78cbe6" providerId="ADAL" clId="{BE4DE0AB-0F9C-4380-9992-9220202269BB}" dt="2025-05-02T14:27:23.882" v="1" actId="27636"/>
        <pc:sldMkLst>
          <pc:docMk/>
          <pc:sldMk cId="514031403" sldId="285"/>
        </pc:sldMkLst>
        <pc:spChg chg="mod">
          <ac:chgData name="Taylor Davis" userId="5c9e72a0-c39f-4aa1-9d7d-64125e78cbe6" providerId="ADAL" clId="{BE4DE0AB-0F9C-4380-9992-9220202269BB}" dt="2025-05-02T14:27:23.882" v="1" actId="27636"/>
          <ac:spMkLst>
            <pc:docMk/>
            <pc:sldMk cId="514031403" sldId="285"/>
            <ac:spMk id="3" creationId="{DD2743DB-6003-F77F-2D46-16EC76C23EA4}"/>
          </ac:spMkLst>
        </pc:spChg>
      </pc:sldChg>
      <pc:sldChg chg="modSp mod">
        <pc:chgData name="Taylor Davis" userId="5c9e72a0-c39f-4aa1-9d7d-64125e78cbe6" providerId="ADAL" clId="{BE4DE0AB-0F9C-4380-9992-9220202269BB}" dt="2025-05-02T14:28:06.398" v="14" actId="20577"/>
        <pc:sldMkLst>
          <pc:docMk/>
          <pc:sldMk cId="1660060508" sldId="559"/>
        </pc:sldMkLst>
        <pc:spChg chg="mod">
          <ac:chgData name="Taylor Davis" userId="5c9e72a0-c39f-4aa1-9d7d-64125e78cbe6" providerId="ADAL" clId="{BE4DE0AB-0F9C-4380-9992-9220202269BB}" dt="2025-05-02T14:28:06.398" v="14" actId="20577"/>
          <ac:spMkLst>
            <pc:docMk/>
            <pc:sldMk cId="1660060508" sldId="559"/>
            <ac:spMk id="4" creationId="{C9963971-9E27-D1D8-44A6-33EAA3782592}"/>
          </ac:spMkLst>
        </pc:spChg>
        <pc:graphicFrameChg chg="mod">
          <ac:chgData name="Taylor Davis" userId="5c9e72a0-c39f-4aa1-9d7d-64125e78cbe6" providerId="ADAL" clId="{BE4DE0AB-0F9C-4380-9992-9220202269BB}" dt="2025-05-02T14:27:36.348" v="3"/>
          <ac:graphicFrameMkLst>
            <pc:docMk/>
            <pc:sldMk cId="1660060508" sldId="559"/>
            <ac:graphicFrameMk id="8" creationId="{B9E0A44D-EDC5-EBD5-4D77-F30FF46B060F}"/>
          </ac:graphicFrameMkLst>
        </pc:graphicFrameChg>
      </pc:sldChg>
      <pc:sldChg chg="modSp mod">
        <pc:chgData name="Taylor Davis" userId="5c9e72a0-c39f-4aa1-9d7d-64125e78cbe6" providerId="ADAL" clId="{BE4DE0AB-0F9C-4380-9992-9220202269BB}" dt="2025-05-02T14:44:37.307" v="16" actId="404"/>
        <pc:sldMkLst>
          <pc:docMk/>
          <pc:sldMk cId="4087636236" sldId="2145726868"/>
        </pc:sldMkLst>
        <pc:graphicFrameChg chg="modGraphic">
          <ac:chgData name="Taylor Davis" userId="5c9e72a0-c39f-4aa1-9d7d-64125e78cbe6" providerId="ADAL" clId="{BE4DE0AB-0F9C-4380-9992-9220202269BB}" dt="2025-05-02T14:44:37.307" v="16" actId="404"/>
          <ac:graphicFrameMkLst>
            <pc:docMk/>
            <pc:sldMk cId="4087636236" sldId="2145726868"/>
            <ac:graphicFrameMk id="7" creationId="{00000000-0000-0000-0000-000000000000}"/>
          </ac:graphicFrameMkLst>
        </pc:graphicFrameChg>
      </pc:sldChg>
    </pc:docChg>
  </pc:docChgLst>
</pc:chgInfo>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2.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diagrams/_rels/drawing2.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5/2/2025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1 of updates provided by Jan, but update design to match the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2 of updated ppt provided by Jan, but update to match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72758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Make necessary changes to match slide 4 of updated ppt provided by Jan</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50662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5/2/2025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5/2/2025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5/2/2025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5/2/2025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5/2/2025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5/2/2025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5/2/2025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5/2/2025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5/2/2025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5/2/2025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5/2/2025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5/2/2025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5/2/2025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5/2/2025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5/2/2025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5/2/2025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5/2/2025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5/2/2025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5/2/2025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5/2/2025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5/2/2025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5/2/2025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5/2/2025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5/2/2025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5/2/2025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5/2/2025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5/2/2025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5/2/2025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5/2/2025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5/2/2025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5/2/2025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5/2/2025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5/2/2025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5/2/2025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5/2/2025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5/2/2025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5/2/2025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5/2/2025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5/2/2025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5/2/2025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5/2/2025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5/2/2025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5/2/2025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5/2/2025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5/2/2025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5/2/2025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6" Type="http://schemas.openxmlformats.org/officeDocument/2006/relationships/tags" Target="../tags/tag5.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theme" Target="../theme/theme6.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5/2/2025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5/2/2025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5/2/2025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5/2/2025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18" Type="http://schemas.openxmlformats.org/officeDocument/2006/relationships/image" Target="../media/image32.png"/><Relationship Id="rId3" Type="http://schemas.openxmlformats.org/officeDocument/2006/relationships/image" Target="../media/image17.png"/><Relationship Id="rId21" Type="http://schemas.openxmlformats.org/officeDocument/2006/relationships/image" Target="../media/image35.svg"/><Relationship Id="rId7" Type="http://schemas.openxmlformats.org/officeDocument/2006/relationships/image" Target="../media/image21.svg"/><Relationship Id="rId12" Type="http://schemas.openxmlformats.org/officeDocument/2006/relationships/image" Target="../media/image26.svg"/><Relationship Id="rId17" Type="http://schemas.openxmlformats.org/officeDocument/2006/relationships/image" Target="../media/image31.svg"/><Relationship Id="rId2" Type="http://schemas.openxmlformats.org/officeDocument/2006/relationships/notesSlide" Target="../notesSlides/notesSlide2.xml"/><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image" Target="../media/image33.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4.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4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5.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7FE53189_F808901F.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8" Type="http://schemas.openxmlformats.org/officeDocument/2006/relationships/image" Target="../media/image57.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6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59.png"/></Relationships>
</file>

<file path=ppt/slides/_rels/slide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7.xml"/><Relationship Id="rId1" Type="http://schemas.openxmlformats.org/officeDocument/2006/relationships/slideLayout" Target="../slideLayouts/slideLayout28.xml"/><Relationship Id="rId6" Type="http://schemas.openxmlformats.org/officeDocument/2006/relationships/image" Target="../media/image63.emf"/><Relationship Id="rId5" Type="http://schemas.openxmlformats.org/officeDocument/2006/relationships/image" Target="../media/image62.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jpe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7.png"/></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eg"/><Relationship Id="rId1" Type="http://schemas.openxmlformats.org/officeDocument/2006/relationships/slideLayout" Target="../slideLayouts/slideLayout2.xml"/><Relationship Id="rId6" Type="http://schemas.openxmlformats.org/officeDocument/2006/relationships/image" Target="../media/image71.jpeg"/><Relationship Id="rId5" Type="http://schemas.openxmlformats.org/officeDocument/2006/relationships/image" Target="../media/image70.jpeg"/><Relationship Id="rId4" Type="http://schemas.microsoft.com/office/2007/relationships/hdphoto" Target="../media/hdphoto1.wdp"/></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2.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72.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3.xml.rels><?xml version="1.0" encoding="UTF-8" standalone="yes"?>
<Relationships xmlns="http://schemas.openxmlformats.org/package/2006/relationships"><Relationship Id="rId8" Type="http://schemas.openxmlformats.org/officeDocument/2006/relationships/image" Target="../media/image79.sv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image" Target="../media/image77.svg"/><Relationship Id="rId11" Type="http://schemas.openxmlformats.org/officeDocument/2006/relationships/image" Target="../media/image10.png"/><Relationship Id="rId5" Type="http://schemas.openxmlformats.org/officeDocument/2006/relationships/image" Target="../media/image76.png"/><Relationship Id="rId10" Type="http://schemas.openxmlformats.org/officeDocument/2006/relationships/image" Target="../media/image81.svg"/><Relationship Id="rId4" Type="http://schemas.openxmlformats.org/officeDocument/2006/relationships/image" Target="../media/image75.svg"/><Relationship Id="rId9"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Mayo Clinic Jacksonville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cstate="print"/>
          <a:stretch>
            <a:fillRect/>
          </a:stretch>
        </p:blipFill>
        <p:spPr>
          <a:xfrm>
            <a:off x="9646920" y="347472"/>
            <a:ext cx="709578"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cstate="screen">
            <a:alphaModFix amt="35000"/>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b="0" dirty="0">
                <a:solidFill>
                  <a:schemeClr val="tx1">
                    <a:lumMod val="75000"/>
                    <a:lumOff val="25000"/>
                  </a:schemeClr>
                </a:solidFill>
              </a:rPr>
              <a:t>DTE KEYS TO SUCCESS FOR MAYO CLINIC</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latin typeface="Montserrat" panose="00000500000000000000" pitchFamily="2" charset="0"/>
            </a:endParaRPr>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2200602"/>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DTE Plan Sells</a:t>
            </a:r>
          </a:p>
          <a:p>
            <a:pPr algn="ctr" defTabSz="914411">
              <a:lnSpc>
                <a:spcPct val="90000"/>
              </a:lnSpc>
              <a:spcAft>
                <a:spcPts val="1200"/>
              </a:spcAft>
              <a:buClr>
                <a:schemeClr val="tx1"/>
              </a:buClr>
            </a:pPr>
            <a:r>
              <a:rPr lang="en-US" sz="1600" dirty="0">
                <a:latin typeface="Montserrat" panose="00000500000000000000" pitchFamily="2" charset="0"/>
              </a:rPr>
              <a:t>DTE plans only work when the network is built around a strong brand with good access and competitive costs. </a:t>
            </a:r>
          </a:p>
          <a:p>
            <a:pPr algn="ctr" defTabSz="914411">
              <a:lnSpc>
                <a:spcPct val="90000"/>
              </a:lnSpc>
              <a:spcAft>
                <a:spcPts val="1200"/>
              </a:spcAft>
              <a:buClr>
                <a:schemeClr val="tx1"/>
              </a:buClr>
            </a:pPr>
            <a:r>
              <a:rPr lang="en-US" sz="1600" dirty="0">
                <a:solidFill/>
                <a:latin typeface="Montserrat" panose="00000500000000000000" pitchFamily="2" charset="0"/>
              </a:rPr>
              <a:t>Mayo Clinic Jacksonville is the quality leader in this service area (see slide 8). Mayo Clinic FL has a very strong quality brand, but access could dampen growth.</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Estimates for Margin and Steerage Hold</a:t>
            </a:r>
          </a:p>
          <a:p>
            <a:pPr algn="ctr" defTabSz="914411">
              <a:lnSpc>
                <a:spcPct val="90000"/>
              </a:lnSpc>
              <a:spcAft>
                <a:spcPts val="1200"/>
              </a:spcAft>
              <a:buClr>
                <a:schemeClr val="tx1"/>
              </a:buClr>
            </a:pPr>
            <a:r>
              <a:rPr lang="en-US" sz="1600" dirty="0">
                <a:latin typeface="Montserrat" panose="00000500000000000000" pitchFamily="2" charset="0"/>
              </a:rPr>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sz="1600" dirty="0">
                <a:solidFill/>
                <a:latin typeface="Montserrat" panose="00000500000000000000" pitchFamily="2" charset="0"/>
              </a:rPr>
              <a:t>Profit growth will hold if these assumptions accurately play out as expected for Mayo Clinic Jacksonville.</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2</a:t>
            </a:r>
          </a:p>
        </p:txBody>
      </p:sp>
    </p:spTree>
    <p:extLst>
      <p:ext uri="{BB962C8B-B14F-4D97-AF65-F5344CB8AC3E}">
        <p14:creationId xmlns:p14="http://schemas.microsoft.com/office/powerpoint/2010/main" val="405954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Mayo Clinic Jacksonville</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2">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1,500+ Employers       300,000</a:t>
            </a:r>
            <a:r>
              <a:rPr lang="en-US" sz="1600" spc="200" dirty="0">
                <a:latin typeface="Montserrat" panose="00000500000000000000" pitchFamily="2" charset="0"/>
                <a:cs typeface="+mj-cs"/>
                <a:sym typeface="Wingdings" panose="05000000000000000000" pitchFamily="2" charset="2"/>
              </a:rPr>
              <a:t>+ Employees       700,000+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182984830"/>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961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372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215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154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55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31</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72,100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55,800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64,500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107,800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110,000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186,000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129,800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100,400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116,100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194,000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198,000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334,800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490663" y="1856792"/>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Mayo Clinic Jacksonville service area in Clay, Duval, Nassau, and St. Johns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1,403K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823K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551K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334K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$28.89M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$11.91M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$169.47M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$70.87M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$344.53M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$144.21M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Mayo Clinic Jacksonville has 9% inpatient market share, and 5% outpatient market compared to hospitals/clinics in the Mayo Clinic Jacksonville service area (see slide 8). The DTE tiered structure will create immediate steerage, with additional steerage over time from patient bonus benefits and the patient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Mayo Clinic Jacksonville 52%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36.6%</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41.6%</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46.6%</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4114800" cy="210312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3,912.6K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8,069.7K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14,559.8K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23,039.3K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3,601.8K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7,929.3K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14,444.6K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22,956.5K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4114800" cy="210312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5,624.3K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11,004.1K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19,952.3K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31,856.9K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5,321.9K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10,878.1K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19,861.1K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31,811.3K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4114800" cy="210312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2,445.4K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5,135.3K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9,167.3K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14,506.2K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2,127.4K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4,980.5K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9,028.1K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14,387.4K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129381" y="2064455"/>
            <a:ext cx="3154680" cy="3455493"/>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MAYO CLINIC IS PATIENT RECOMMENDED</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Based on quality measures and HCAHPS feedback, KBA estimates that Mayo Clinic Jacksonville has the strongest brand quality in Clay, Duval, Nassau, and St. Johns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1385911611"/>
              </p:ext>
            </p:extLst>
          </p:nvPr>
        </p:nvGraphicFramePr>
        <p:xfrm>
          <a:off x="680936" y="1692612"/>
          <a:ext cx="8730902" cy="2724045"/>
        </p:xfrm>
        <a:graphic>
          <a:graphicData uri="http://schemas.openxmlformats.org/drawingml/2006/table">
            <a:tbl>
              <a:tblPr/>
              <a:tblGrid>
                <a:gridCol w="2472468">
                  <a:extLst>
                    <a:ext uri="{9D8B030D-6E8A-4147-A177-3AD203B41FA5}">
                      <a16:colId xmlns:a16="http://schemas.microsoft.com/office/drawing/2014/main" val="20000"/>
                    </a:ext>
                  </a:extLst>
                </a:gridCol>
                <a:gridCol w="1597753">
                  <a:extLst>
                    <a:ext uri="{9D8B030D-6E8A-4147-A177-3AD203B41FA5}">
                      <a16:colId xmlns:a16="http://schemas.microsoft.com/office/drawing/2014/main" val="20001"/>
                    </a:ext>
                  </a:extLst>
                </a:gridCol>
                <a:gridCol w="1069883">
                  <a:extLst>
                    <a:ext uri="{9D8B030D-6E8A-4147-A177-3AD203B41FA5}">
                      <a16:colId xmlns:a16="http://schemas.microsoft.com/office/drawing/2014/main" val="20002"/>
                    </a:ext>
                  </a:extLst>
                </a:gridCol>
                <a:gridCol w="1035428">
                  <a:extLst>
                    <a:ext uri="{9D8B030D-6E8A-4147-A177-3AD203B41FA5}">
                      <a16:colId xmlns:a16="http://schemas.microsoft.com/office/drawing/2014/main" val="20003"/>
                    </a:ext>
                  </a:extLst>
                </a:gridCol>
                <a:gridCol w="1260343">
                  <a:extLst>
                    <a:ext uri="{9D8B030D-6E8A-4147-A177-3AD203B41FA5}">
                      <a16:colId xmlns:a16="http://schemas.microsoft.com/office/drawing/2014/main" val="20004"/>
                    </a:ext>
                  </a:extLst>
                </a:gridCol>
                <a:gridCol w="1295027">
                  <a:extLst>
                    <a:ext uri="{9D8B030D-6E8A-4147-A177-3AD203B41FA5}">
                      <a16:colId xmlns:a16="http://schemas.microsoft.com/office/drawing/2014/main" val="20005"/>
                    </a:ext>
                  </a:extLst>
                </a:gridCol>
              </a:tblGrid>
              <a:tr h="784119">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HCAHPS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Recommendation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CMS Stars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Mortality</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Readmission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KBA Brand</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85275">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Mayo Clinic</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98</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345B9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100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82</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576A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76</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180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78</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D7CB1">
                        <a:alpha val="100000"/>
                      </a:srgbClr>
                    </a:solidFill>
                  </a:tcPr>
                </a:tc>
                <a:extLst>
                  <a:ext uri="{0D108BD9-81ED-4DB2-BD59-A6C34878D82A}">
                    <a16:rowId xmlns:a16="http://schemas.microsoft.com/office/drawing/2014/main" val="10001"/>
                  </a:ext>
                </a:extLst>
              </a:tr>
              <a:tr h="454490">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Baptist Health (Jacksonville FL)</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extLst>
                  <a:ext uri="{0D108BD9-81ED-4DB2-BD59-A6C34878D82A}">
                    <a16:rowId xmlns:a16="http://schemas.microsoft.com/office/drawing/2014/main" val="10002"/>
                  </a:ext>
                </a:extLst>
              </a:tr>
              <a:tr h="35683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Ascension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1A6C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B7BB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extLst>
                  <a:ext uri="{0D108BD9-81ED-4DB2-BD59-A6C34878D82A}">
                    <a16:rowId xmlns:a16="http://schemas.microsoft.com/office/drawing/2014/main" val="10003"/>
                  </a:ext>
                </a:extLst>
              </a:tr>
              <a:tr h="385275">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University of Florida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AC7D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extLst>
                  <a:ext uri="{0D108BD9-81ED-4DB2-BD59-A6C34878D82A}">
                    <a16:rowId xmlns:a16="http://schemas.microsoft.com/office/drawing/2014/main" val="10004"/>
                  </a:ext>
                </a:extLst>
              </a:tr>
              <a:tr h="358047">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HCA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22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D1DAE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486CA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5A9CB">
                        <a:alpha val="100000"/>
                      </a:srgb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324535"/>
          </a:xfrm>
          <a:prstGeom prst="rect">
            <a:avLst/>
          </a:prstGeom>
        </p:spPr>
        <p:txBody>
          <a:bodyPr wrap="square">
            <a:spAutoFit/>
          </a:bodyPr>
          <a:lstStyle/>
          <a:p>
            <a:pPr>
              <a:spcAft>
                <a:spcPts val="1200"/>
              </a:spcAft>
            </a:pPr>
            <a:r>
              <a:rPr lang="en-US" sz="1600" b="1" cap="all" dirty="0">
                <a:solidFill>
                  <a:srgbClr val="000B2E"/>
                </a:solidFill>
                <a:latin typeface="Montserrat" panose="00000500000000000000" pitchFamily="2" charset="0"/>
              </a:rPr>
              <a:t>Mayo Clinic Jacksonville’s 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The medical providers in your direct control or part of Mayo Clinic Jacksonville’s integrated delivery system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Potential risk sharing arrangements (e.g. employer stop-loss participation)</a:t>
            </a:r>
          </a:p>
          <a:p>
            <a:pPr>
              <a:spcAft>
                <a:spcPts val="1200"/>
              </a:spcAft>
            </a:pPr>
            <a:r>
              <a:rPr lang="en-US" sz="1600" b="1" cap="all" dirty="0">
                <a:solidFill>
                  <a:srgbClr val="000B2E"/>
                </a:solidFill>
                <a:latin typeface="Montserrat" panose="00000500000000000000" pitchFamily="2" charset="0"/>
              </a:rPr>
              <a:t>Friends &amp; Family Providers – TIER 1</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Access through direct contracts at the discretion of Mayo Clinic Jacksonville</a:t>
            </a:r>
          </a:p>
          <a:p>
            <a:pPr>
              <a:spcAft>
                <a:spcPts val="1200"/>
              </a:spcAft>
            </a:pPr>
            <a:r>
              <a:rPr lang="en-US" sz="1600" b="1" dirty="0">
                <a:solidFill>
                  <a:srgbClr val="000B2E"/>
                </a:solidFill>
                <a:latin typeface="Montserrat" panose="00000500000000000000" pitchFamily="2" charset="0"/>
              </a:rPr>
              <a:t>WRAP NETWORK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Medical services from national PPO networks for members that travel, tertiary and specialty services you do not provide, and employees residing outside your direct catchment area </a:t>
            </a:r>
          </a:p>
          <a:p>
            <a:pPr marL="0" lvl="1">
              <a:spcAft>
                <a:spcPts val="1200"/>
              </a:spcAft>
            </a:pPr>
            <a:r>
              <a:rPr lang="en-US" sz="1600" b="1" dirty="0">
                <a:solidFill>
                  <a:srgbClr val="000B2E"/>
                </a:solidFill>
                <a:latin typeface="Montserrat" panose="00000500000000000000" pitchFamily="2" charset="0"/>
              </a:rPr>
              <a:t>OUT-OF-NETWORK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Non-contracted medical providers</a:t>
            </a:r>
          </a:p>
        </p:txBody>
      </p:sp>
      <p:graphicFrame>
        <p:nvGraphicFramePr>
          <p:cNvPr id="7"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7"/>
          <p:cNvPicPr>
            <a:picLocks noGrp="1"/>
          </p:cNvPicPr>
          <p:nvPr>
            <p:ph/>
          </p:nvPr>
        </p:nvPicPr>
        <p:blipFill>
          <a:blip r:embed="rId7" cstate="print"/>
          <a:stretch>
            <a:fillRect/>
          </a:stretch>
        </p:blipFill>
        <p:spPr>
          <a:xfrm>
            <a:off x="9738360" y="4059936"/>
            <a:ext cx="1042416" cy="1141815"/>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16</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23.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Mayo Clinic Jacksonville’s approved site(s) with network integration, and development of Mayo Clinic Jacksonville’s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41.6%.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41.6%.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41.6%.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41.6%.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41.6%.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41.6%.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41.6%.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41.6%.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151K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3,289K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2,925K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$ 1,368K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$ 1,217K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893K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6,577K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5,849K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$ 2,736K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$ 2,433K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$ 2,115K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$ 1,820K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757K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$ 16,443K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$ 14,624K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$ 6,840K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$ 6,083K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$ 5,783K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$ 7,278K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$3,028K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$ 65,773K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$ 58,494K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$27,361K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$24,334K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$24,124K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$14,557K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$6,056K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$131,545K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$116,988K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$54,723K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$48,667K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$48,577K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Mayo Clinic Jacksonville’s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Mayo Clinic Jacksonville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Mayo Clinic Jacksonville’s managed care with KBA’s programs positions Mayo Clinic Jacksonville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Mayo Clinic Jacksonville’s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Mayo Clinic Jacksonville’s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Mayo Clinic Jacksonville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21</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Credit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534623"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a:ln>
                  <a:noFill/>
                </a:ln>
                <a:solidFill>
                  <a:srgbClr val="00539F"/>
                </a:solidFill>
                <a:effectLst/>
                <a:uLnTx/>
                <a:uFillTx/>
                <a:latin typeface="Montserrat" panose="00000500000000000000" pitchFamily="2" charset="0"/>
                <a:ea typeface="+mj-ea"/>
                <a:cs typeface="+mj-cs"/>
              </a:rPr>
              <a:t>THE KBA HEALTHCARE CREDIT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6DA80FC-AC13-8B4D-1B26-8FFCCBE68854}"/>
              </a:ext>
            </a:extLst>
          </p:cNvPr>
          <p:cNvSpPr txBox="1">
            <a:spLocks/>
          </p:cNvSpPr>
          <p:nvPr/>
        </p:nvSpPr>
        <p:spPr>
          <a:xfrm>
            <a:off x="401217" y="172586"/>
            <a:ext cx="11534623" cy="807442"/>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dirty="0">
                <a:ln>
                  <a:noFill/>
                </a:ln>
                <a:solidFill>
                  <a:srgbClr val="44546A"/>
                </a:solidFill>
                <a:effectLst/>
                <a:uLnTx/>
                <a:uFillTx/>
                <a:latin typeface="Montserrat" panose="00000500000000000000" pitchFamily="2" charset="0"/>
                <a:ea typeface="+mj-ea"/>
                <a:cs typeface="+mj-cs"/>
              </a:rPr>
              <a:t>KEY INCENTIVE PLAN (KIP): </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Montserrat" panose="00000500000000000000" pitchFamily="2" charset="0"/>
                <a:ea typeface="+mj-ea"/>
                <a:cs typeface="Arial" panose="020B0604020202020204" pitchFamily="34" charset="0"/>
              </a:rPr>
              <a:t>BASE MEDICAL + BONUS BENEFITS = YOUR DEDUCTIBLE CAN SIMPLY VANISH</a:t>
            </a:r>
          </a:p>
          <a:p>
            <a:pPr marL="0" marR="0" lvl="0" indent="0" algn="ctr" defTabSz="914400" rtl="0" eaLnBrk="1" fontAlgn="auto" latinLnBrk="0" hangingPunct="1">
              <a:lnSpc>
                <a:spcPct val="90000"/>
              </a:lnSpc>
              <a:spcBef>
                <a:spcPts val="1000"/>
              </a:spcBef>
              <a:spcAft>
                <a:spcPts val="0"/>
              </a:spcAft>
              <a:buClrTx/>
              <a:buSzTx/>
              <a:buFontTx/>
              <a:buNone/>
              <a:tabLst/>
              <a:defRPr/>
            </a:pPr>
            <a:endParaRPr kumimoji="0" lang="en-US" sz="3800" b="0" i="0" u="none" strike="noStrike" kern="1200" cap="none" spc="0" normalizeH="0" baseline="0" noProof="0" dirty="0">
              <a:ln>
                <a:noFill/>
              </a:ln>
              <a:solidFill>
                <a:prstClr val="black"/>
              </a:solidFill>
              <a:effectLst/>
              <a:uLnTx/>
              <a:uFillTx/>
              <a:latin typeface="Montserrat" panose="00000500000000000000" pitchFamily="2" charset="0"/>
              <a:ea typeface="+mj-ea"/>
              <a:cs typeface="+mj-cs"/>
            </a:endParaRPr>
          </a:p>
        </p:txBody>
      </p:sp>
      <p:sp>
        <p:nvSpPr>
          <p:cNvPr id="3" name="Slide Number Placeholder 3">
            <a:extLst>
              <a:ext uri="{FF2B5EF4-FFF2-40B4-BE49-F238E27FC236}">
                <a16:creationId xmlns:a16="http://schemas.microsoft.com/office/drawing/2014/main" id="{8B3A2443-C9A5-9840-65A4-36B20C47DD4C}"/>
              </a:ext>
            </a:extLst>
          </p:cNvPr>
          <p:cNvSpPr>
            <a:spLocks noGrp="1"/>
          </p:cNvSpPr>
          <p:nvPr>
            <p:ph type="sldNum" sz="quarter" idx="12"/>
          </p:nvPr>
        </p:nvSpPr>
        <p:spPr>
          <a:xfrm>
            <a:off x="9006827" y="626813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4" name="Picture 12">
            <a:extLst>
              <a:ext uri="{FF2B5EF4-FFF2-40B4-BE49-F238E27FC236}">
                <a16:creationId xmlns:a16="http://schemas.microsoft.com/office/drawing/2014/main" id="{E4909EF0-0675-CA57-8ADA-A19CD01D38EA}"/>
              </a:ext>
            </a:extLst>
          </p:cNvPr>
          <p:cNvPicPr>
            <a:picLocks noChangeAspect="1"/>
          </p:cNvPicPr>
          <p:nvPr/>
        </p:nvPicPr>
        <p:blipFill>
          <a:blip r:embed="rId3"/>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CA353A74-5D89-849A-9B03-BCFB396BAA1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9">
            <a:extLst>
              <a:ext uri="{FF2B5EF4-FFF2-40B4-BE49-F238E27FC236}">
                <a16:creationId xmlns:a16="http://schemas.microsoft.com/office/drawing/2014/main" id="{065E6D81-E529-3946-F4D6-5D6609CC0FE8}"/>
              </a:ext>
            </a:extLst>
          </p:cNvPr>
          <p:cNvGraphicFramePr>
            <a:graphicFrameLocks noGrp="1"/>
          </p:cNvGraphicFramePr>
          <p:nvPr/>
        </p:nvGraphicFramePr>
        <p:xfrm>
          <a:off x="401217" y="970995"/>
          <a:ext cx="11005538" cy="5271741"/>
        </p:xfrm>
        <a:graphic>
          <a:graphicData uri="http://schemas.openxmlformats.org/drawingml/2006/table">
            <a:tbl>
              <a:tblPr/>
              <a:tblGrid>
                <a:gridCol w="1330055">
                  <a:extLst>
                    <a:ext uri="{9D8B030D-6E8A-4147-A177-3AD203B41FA5}">
                      <a16:colId xmlns:a16="http://schemas.microsoft.com/office/drawing/2014/main" val="3195232096"/>
                    </a:ext>
                  </a:extLst>
                </a:gridCol>
                <a:gridCol w="1699612">
                  <a:extLst>
                    <a:ext uri="{9D8B030D-6E8A-4147-A177-3AD203B41FA5}">
                      <a16:colId xmlns:a16="http://schemas.microsoft.com/office/drawing/2014/main" val="1786901733"/>
                    </a:ext>
                  </a:extLst>
                </a:gridCol>
                <a:gridCol w="2400820">
                  <a:extLst>
                    <a:ext uri="{9D8B030D-6E8A-4147-A177-3AD203B41FA5}">
                      <a16:colId xmlns:a16="http://schemas.microsoft.com/office/drawing/2014/main" val="1392519372"/>
                    </a:ext>
                  </a:extLst>
                </a:gridCol>
                <a:gridCol w="1964908">
                  <a:extLst>
                    <a:ext uri="{9D8B030D-6E8A-4147-A177-3AD203B41FA5}">
                      <a16:colId xmlns:a16="http://schemas.microsoft.com/office/drawing/2014/main" val="660552617"/>
                    </a:ext>
                  </a:extLst>
                </a:gridCol>
                <a:gridCol w="156744">
                  <a:extLst>
                    <a:ext uri="{9D8B030D-6E8A-4147-A177-3AD203B41FA5}">
                      <a16:colId xmlns:a16="http://schemas.microsoft.com/office/drawing/2014/main" val="1136356776"/>
                    </a:ext>
                  </a:extLst>
                </a:gridCol>
                <a:gridCol w="2620433">
                  <a:extLst>
                    <a:ext uri="{9D8B030D-6E8A-4147-A177-3AD203B41FA5}">
                      <a16:colId xmlns:a16="http://schemas.microsoft.com/office/drawing/2014/main" val="713959702"/>
                    </a:ext>
                  </a:extLst>
                </a:gridCol>
                <a:gridCol w="832966">
                  <a:extLst>
                    <a:ext uri="{9D8B030D-6E8A-4147-A177-3AD203B41FA5}">
                      <a16:colId xmlns:a16="http://schemas.microsoft.com/office/drawing/2014/main" val="1233038709"/>
                    </a:ext>
                  </a:extLst>
                </a:gridCol>
              </a:tblGrid>
              <a:tr h="393475">
                <a:tc gridSpan="4">
                  <a:txBody>
                    <a:bodyPr/>
                    <a:lstStyle/>
                    <a:p>
                      <a:pPr algn="ctr" fontAlgn="b"/>
                      <a:r>
                        <a:rPr lang="en-US" sz="1200" b="1" i="0" u="none" strike="noStrike">
                          <a:solidFill>
                            <a:srgbClr val="000000"/>
                          </a:solidFill>
                          <a:effectLst/>
                          <a:latin typeface="Montserrat" panose="00000500000000000000" pitchFamily="2" charset="0"/>
                        </a:rPr>
                        <a:t>BENEFIT EXAMPLE</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a:txBody>
                    <a:bodyPr/>
                    <a:lstStyle/>
                    <a:p>
                      <a:pPr algn="l" fontAlgn="b"/>
                      <a:endParaRPr lang="en-US" sz="800" b="0" i="0" u="none" strike="noStrike">
                        <a:solidFill>
                          <a:srgbClr val="000000"/>
                        </a:solidFill>
                        <a:effectLst/>
                        <a:latin typeface="Montserrat" panose="00000500000000000000" pitchFamily="2" charset="0"/>
                      </a:endParaRPr>
                    </a:p>
                  </a:txBody>
                  <a:tcPr marL="7133" marR="7133" marT="7133" marB="0" anchor="b">
                    <a:lnL w="12700" cmpd="sng">
                      <a:noFill/>
                      <a:prstDash val="solid"/>
                    </a:lnL>
                    <a:lnR>
                      <a:noFill/>
                    </a:lnR>
                    <a:lnT>
                      <a:noFill/>
                    </a:lnT>
                    <a:lnB>
                      <a:noFill/>
                    </a:lnB>
                    <a:lnTlToBr w="12700" cmpd="sng">
                      <a:noFill/>
                      <a:prstDash val="solid"/>
                    </a:lnTlToBr>
                    <a:lnBlToTr w="12700" cmpd="sng">
                      <a:noFill/>
                      <a:prstDash val="solid"/>
                    </a:lnBlToTr>
                    <a:noFill/>
                  </a:tcPr>
                </a:tc>
                <a:tc gridSpan="2">
                  <a:txBody>
                    <a:bodyPr/>
                    <a:lstStyle/>
                    <a:p>
                      <a:pPr algn="ctr" fontAlgn="b"/>
                      <a:r>
                        <a:rPr lang="en-US" sz="1200" b="1" i="0" u="none" strike="noStrike">
                          <a:solidFill>
                            <a:srgbClr val="000000"/>
                          </a:solidFill>
                          <a:effectLst/>
                          <a:latin typeface="Montserrat" panose="00000500000000000000" pitchFamily="2" charset="0"/>
                        </a:rPr>
                        <a:t>CLAIM EXAMPLE  </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extLst>
                  <a:ext uri="{0D108BD9-81ED-4DB2-BD59-A6C34878D82A}">
                    <a16:rowId xmlns:a16="http://schemas.microsoft.com/office/drawing/2014/main" val="4091891274"/>
                  </a:ext>
                </a:extLst>
              </a:tr>
              <a:tr h="708259">
                <a:tc gridSpan="2">
                  <a:txBody>
                    <a:bodyPr/>
                    <a:lstStyle/>
                    <a:p>
                      <a:pPr algn="ctr" rtl="0" fontAlgn="ctr"/>
                      <a:r>
                        <a:rPr lang="en-US" sz="1400" b="1" i="0" u="none" strike="noStrike">
                          <a:solidFill>
                            <a:srgbClr val="FFFFFF"/>
                          </a:solidFill>
                          <a:effectLst/>
                          <a:latin typeface="Montserrat" panose="00000500000000000000" pitchFamily="2" charset="0"/>
                        </a:rPr>
                        <a:t>BASE MEDICAL BENEFITS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ctr"/>
                      <a:r>
                        <a:rPr lang="en-US" sz="1400" b="1" i="0" u="none" strike="noStrike">
                          <a:solidFill>
                            <a:srgbClr val="FFFFFF"/>
                          </a:solidFill>
                          <a:effectLst/>
                          <a:latin typeface="Montserrat" panose="00000500000000000000" pitchFamily="2" charset="0"/>
                        </a:rPr>
                        <a:t>BONUS BENEFITS</a:t>
                      </a:r>
                    </a:p>
                  </a:txBody>
                  <a:tcPr marL="7133" marR="7133" marT="7133"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9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400" b="1" i="0" u="none" strike="noStrike">
                          <a:solidFill>
                            <a:srgbClr val="FFFFFF"/>
                          </a:solidFill>
                          <a:effectLst/>
                          <a:latin typeface="Montserrat" panose="00000500000000000000" pitchFamily="2" charset="0"/>
                        </a:rPr>
                        <a:t>“How Your Deductible Can Vanish”</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792043374"/>
                  </a:ext>
                </a:extLst>
              </a:tr>
              <a:tr h="454683">
                <a:tc gridSpan="2">
                  <a:txBody>
                    <a:bodyPr/>
                    <a:lstStyle/>
                    <a:p>
                      <a:pPr algn="ctr" rtl="0" fontAlgn="b"/>
                      <a:r>
                        <a:rPr lang="en-US" sz="1150" b="1" i="0" u="none" strike="noStrike">
                          <a:solidFill>
                            <a:srgbClr val="000000"/>
                          </a:solidFill>
                          <a:effectLst/>
                          <a:latin typeface="Montserrat" panose="00000500000000000000" pitchFamily="2" charset="0"/>
                        </a:rPr>
                        <a:t>Deductible</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b"/>
                      <a:r>
                        <a:rPr lang="en-US" sz="1150" b="1" i="0" u="none" strike="noStrike">
                          <a:solidFill>
                            <a:srgbClr val="000000"/>
                          </a:solidFill>
                          <a:effectLst/>
                          <a:latin typeface="Montserrat" panose="00000500000000000000" pitchFamily="2" charset="0"/>
                        </a:rPr>
                        <a:t>Benefits Automatically Included In Your Plan,                                                                 At NO Additional Cost To You!</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100" b="1" i="0" u="none" strike="noStrike">
                          <a:solidFill>
                            <a:srgbClr val="000000"/>
                          </a:solidFill>
                          <a:effectLst/>
                          <a:latin typeface="Montserrat" panose="00000500000000000000" pitchFamily="2" charset="0"/>
                        </a:rPr>
                        <a:t>CLAIM EXAMPLE:     Heart Attack, with Surgery</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BFBFBF"/>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531598024"/>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US" sz="1150" b="1" i="0" u="none" strike="noStrike">
                          <a:solidFill>
                            <a:srgbClr val="000000"/>
                          </a:solidFill>
                          <a:effectLst/>
                          <a:latin typeface="Montserrat" panose="00000500000000000000" pitchFamily="2" charset="0"/>
                        </a:rPr>
                        <a:t> 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5  Days at $500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$200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804750250"/>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rtl="0" fontAlgn="ctr"/>
                      <a:r>
                        <a:rPr lang="en-US" sz="1150" b="1" i="0" u="none" strike="noStrike">
                          <a:solidFill>
                            <a:srgbClr val="000000"/>
                          </a:solidFill>
                          <a:effectLst/>
                          <a:latin typeface="Montserrat" panose="00000500000000000000" pitchFamily="2" charset="0"/>
                        </a:rPr>
                        <a:t> Non-Preferred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1 Day at $50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52238380"/>
                  </a:ext>
                </a:extLst>
              </a:tr>
              <a:tr h="349758">
                <a:tc>
                  <a:txBody>
                    <a:bodyPr/>
                    <a:lstStyle/>
                    <a:p>
                      <a:pPr algn="r" rtl="0" fontAlgn="ctr"/>
                      <a:r>
                        <a:rPr lang="en-US" sz="1150" b="1" i="0" u="none" strike="noStrike">
                          <a:solidFill>
                            <a:srgbClr val="000000"/>
                          </a:solidFill>
                          <a:effectLst/>
                          <a:latin typeface="Montserrat" panose="00000500000000000000" pitchFamily="2" charset="0"/>
                        </a:rPr>
                        <a:t>Coinsurance</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80% / 20%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Surgery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$700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Preferred Hospital Stay, </a:t>
                      </a:r>
                    </a:p>
                    <a:p>
                      <a:pPr algn="r" rtl="0" fontAlgn="ctr"/>
                      <a:r>
                        <a:rPr lang="en-US" sz="1100" b="1" i="0" u="none" strike="noStrike">
                          <a:solidFill>
                            <a:srgbClr val="000000"/>
                          </a:solidFill>
                          <a:effectLst/>
                          <a:latin typeface="Montserrat" panose="00000500000000000000" pitchFamily="2" charset="0"/>
                        </a:rPr>
                        <a:t>5 Days at $500/Day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$2,500</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703207580"/>
                  </a:ext>
                </a:extLst>
              </a:tr>
              <a:tr h="349758">
                <a:tc gridSpan="2">
                  <a:txBody>
                    <a:bodyPr/>
                    <a:lstStyle/>
                    <a:p>
                      <a:pPr algn="ctr" rtl="0" fontAlgn="b"/>
                      <a:r>
                        <a:rPr lang="en-US" sz="1150" b="1" i="0" u="none" strike="noStrike">
                          <a:solidFill>
                            <a:srgbClr val="000000"/>
                          </a:solidFill>
                          <a:effectLst/>
                          <a:latin typeface="Montserrat" panose="00000500000000000000" pitchFamily="2" charset="0"/>
                        </a:rPr>
                        <a:t>Maximum Out-of-Pocket</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OP Anesthesia</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$250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Critical Illness</a:t>
                      </a:r>
                      <a:r>
                        <a:rPr lang="en-US" sz="1100" b="0" i="0" u="none" strike="noStrike">
                          <a:solidFill>
                            <a:srgbClr val="000000"/>
                          </a:solidFill>
                          <a:effectLst/>
                          <a:latin typeface="Montserrat" panose="00000500000000000000" pitchFamily="2" charset="0"/>
                        </a:rPr>
                        <a:t>   (Heart Attack Benefit)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$2,000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325680797"/>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$200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Health Screening Benefit</a:t>
                      </a:r>
                      <a:r>
                        <a:rPr lang="en-US" sz="1100" b="0" i="0" u="none" strike="noStrike">
                          <a:solidFill>
                            <a:srgbClr val="000000"/>
                          </a:solidFill>
                          <a:effectLst/>
                          <a:latin typeface="Montserrat" panose="00000500000000000000" pitchFamily="2" charset="0"/>
                        </a:rPr>
                        <a:t> (Stress-Test)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266247627"/>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$7,000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sz="1150" b="1" i="0" u="none" strike="noStrike">
                          <a:solidFill>
                            <a:srgbClr val="000000"/>
                          </a:solidFill>
                          <a:effectLst/>
                          <a:latin typeface="Montserrat" panose="00000500000000000000" pitchFamily="2" charset="0"/>
                        </a:rPr>
                        <a:t> 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Wellness Benefit </a:t>
                      </a:r>
                      <a:r>
                        <a:rPr lang="en-US" sz="1100" b="0" i="0" u="none" strike="noStrike">
                          <a:solidFill>
                            <a:srgbClr val="000000"/>
                          </a:solidFill>
                          <a:effectLst/>
                          <a:latin typeface="Montserrat" panose="00000500000000000000" pitchFamily="2" charset="0"/>
                        </a:rPr>
                        <a:t>(Telephonic Coaching)</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4367116"/>
                  </a:ext>
                </a:extLst>
              </a:tr>
              <a:tr h="349758">
                <a:tc gridSpan="2">
                  <a:txBody>
                    <a:bodyPr/>
                    <a:lstStyle/>
                    <a:p>
                      <a:pPr algn="ctr" rtl="0" fontAlgn="ctr"/>
                      <a:r>
                        <a:rPr lang="en-US" sz="1050" b="0" i="0" u="none" strike="noStrike">
                          <a:solidFill>
                            <a:srgbClr val="000000"/>
                          </a:solidFill>
                          <a:effectLst/>
                          <a:latin typeface="Montserrat" panose="00000500000000000000" pitchFamily="2" charset="0"/>
                        </a:rPr>
                        <a:t>Chronic Disease Management Regimens of Care,   Covered at 100%</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lnL w="6350" cap="flat" cmpd="sng" algn="ctr">
                      <a:solidFill>
                        <a:srgbClr val="80808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fontAlgn="ctr"/>
                      <a:r>
                        <a:rPr lang="en-US" sz="1150" b="1" i="0" u="none" strike="noStrike">
                          <a:solidFill>
                            <a:srgbClr val="000000"/>
                          </a:solidFill>
                          <a:effectLst/>
                          <a:latin typeface="Montserrat" panose="00000500000000000000" pitchFamily="2" charset="0"/>
                        </a:rPr>
                        <a:t> Health Screening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$125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t"/>
                      <a:r>
                        <a:rPr lang="en-US" sz="1100" b="1" i="0" u="none" strike="noStrike">
                          <a:solidFill>
                            <a:srgbClr val="000000"/>
                          </a:solidFill>
                          <a:effectLst/>
                          <a:latin typeface="Montserrat" panose="00000500000000000000" pitchFamily="2" charset="0"/>
                        </a:rPr>
                        <a:t>TOTAL BONUS BENEFIT PAYABLE</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$5,050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extLst>
                  <a:ext uri="{0D108BD9-81ED-4DB2-BD59-A6C34878D82A}">
                    <a16:rowId xmlns:a16="http://schemas.microsoft.com/office/drawing/2014/main" val="1559647697"/>
                  </a:ext>
                </a:extLst>
              </a:tr>
              <a:tr h="393475">
                <a:tc gridSpan="2">
                  <a:txBody>
                    <a:bodyPr/>
                    <a:lstStyle/>
                    <a:p>
                      <a:pPr algn="ctr" rtl="0" fontAlgn="ctr"/>
                      <a:r>
                        <a:rPr lang="en-US" sz="1050" b="0" i="0" u="none" strike="noStrike">
                          <a:solidFill>
                            <a:srgbClr val="000000"/>
                          </a:solidFill>
                          <a:effectLst/>
                          <a:latin typeface="Montserrat" panose="00000500000000000000" pitchFamily="2" charset="0"/>
                        </a:rPr>
                        <a:t>Healthcare Specific, Interest Free Credit Card to Cover Out-of-Pocket Costs </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Wellness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$125/1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0" i="0" u="none" strike="noStrike">
                          <a:solidFill>
                            <a:srgbClr val="000000"/>
                          </a:solidFill>
                          <a:effectLst/>
                          <a:latin typeface="Montserrat" panose="00000500000000000000" pitchFamily="2" charset="0"/>
                        </a:rPr>
                        <a:t>Less Your Maximum  Out-of-Pocket Cost</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r>
                        <a:rPr lang="en-US" sz="1100" b="1" i="0" u="none" strike="noStrike">
                          <a:solidFill>
                            <a:srgbClr val="A6192E"/>
                          </a:solidFill>
                          <a:effectLst/>
                          <a:latin typeface="Montserrat" panose="00000500000000000000" pitchFamily="2" charset="0"/>
                        </a:rPr>
                        <a:t>($3,500)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4281273"/>
                  </a:ext>
                </a:extLst>
              </a:tr>
              <a:tr h="515890">
                <a:tc rowSpan="2" gridSpan="2">
                  <a:txBody>
                    <a:bodyPr/>
                    <a:lstStyle/>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pPr algn="l" fontAlgn="b"/>
                      <a:endParaRPr lang="en-US" sz="1000" b="0" i="0" u="none" strike="noStrike">
                        <a:solidFill>
                          <a:srgbClr val="000000"/>
                        </a:solidFill>
                        <a:effectLst/>
                        <a:latin typeface="Calibri" panose="020F0502020204030204" pitchFamily="34" charset="0"/>
                      </a:endParaRPr>
                    </a:p>
                  </a:txBody>
                  <a:tcPr marL="7133" marR="7133" marT="7133" marB="0" anchor="b">
                    <a:lnL w="6350" cap="flat" cmpd="sng" algn="ctr">
                      <a:solidFill>
                        <a:srgbClr val="000000"/>
                      </a:solidFill>
                      <a:prstDash val="solid"/>
                      <a:round/>
                      <a:headEnd type="none" w="med" len="med"/>
                      <a:tailEnd type="none" w="med" len="med"/>
                    </a:lnL>
                  </a:tcPr>
                </a:tc>
                <a:tc>
                  <a:txBody>
                    <a:bodyPr/>
                    <a:lstStyle/>
                    <a:p>
                      <a:pPr algn="r" rtl="0" fontAlgn="ctr"/>
                      <a:r>
                        <a:rPr lang="en-US" sz="1150" b="1" i="0" u="none" strike="noStrike">
                          <a:solidFill>
                            <a:srgbClr val="000000"/>
                          </a:solidFill>
                          <a:effectLst/>
                          <a:latin typeface="Montserrat" panose="00000500000000000000" pitchFamily="2" charset="0"/>
                        </a:rPr>
                        <a:t> Critical Illness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$2,000 Lump Sum</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Additional Benefit, </a:t>
                      </a:r>
                    </a:p>
                    <a:p>
                      <a:pPr algn="r" rtl="0" fontAlgn="ctr"/>
                      <a:r>
                        <a:rPr lang="en-US" sz="1100" b="1" i="0" u="none" strike="noStrike">
                          <a:solidFill>
                            <a:srgbClr val="000000"/>
                          </a:solidFill>
                          <a:effectLst/>
                          <a:latin typeface="Montserrat" panose="00000500000000000000" pitchFamily="2" charset="0"/>
                        </a:rPr>
                        <a:t>Payable Directly to You!</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100" b="1" i="0" u="none" strike="noStrike">
                          <a:solidFill>
                            <a:srgbClr val="000000"/>
                          </a:solidFill>
                          <a:effectLst/>
                          <a:latin typeface="Montserrat" panose="00000500000000000000" pitchFamily="2" charset="0"/>
                        </a:rPr>
                        <a:t>$1,550!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0967084"/>
                  </a:ext>
                </a:extLst>
              </a:tr>
              <a:tr h="349758">
                <a:tc gridSpan="2" vMerge="1">
                  <a:txBody>
                    <a:bodyPr/>
                    <a:lstStyle/>
                    <a:p>
                      <a:endParaRPr/>
                    </a:p>
                  </a:txBody>
                  <a:tcPr marL="7133" marR="7133" marT="7133"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hMerge="1" vMerge="1">
                  <a:txBody>
                    <a:bodyPr/>
                    <a:lstStyle/>
                    <a:p>
                      <a:endParaRPr/>
                    </a:p>
                  </a:txBody>
                  <a:tcPr marL="7133" marR="7133" marT="7133" marB="0" anchor="b">
                    <a:lnL>
                      <a:noFill/>
                    </a:lnL>
                    <a:lnR w="6350" cap="flat" cmpd="sng" algn="ctr">
                      <a:solidFill>
                        <a:srgbClr val="000000"/>
                      </a:solidFill>
                      <a:prstDash val="solid"/>
                      <a:round/>
                      <a:headEnd type="none" w="med" len="med"/>
                      <a:tailEnd type="none" w="med" len="med"/>
                    </a:lnR>
                    <a:lnB>
                      <a:noFill/>
                    </a:lnB>
                    <a:noFill/>
                  </a:tcPr>
                </a:tc>
                <a:tc gridSpan="2">
                  <a:txBody>
                    <a:bodyPr/>
                    <a:lstStyle/>
                    <a:p>
                      <a:pPr algn="ctr" fontAlgn="b"/>
                      <a:r>
                        <a:rPr lang="en-US" sz="1150" b="0" i="0" u="none" strike="noStrike">
                          <a:solidFill>
                            <a:srgbClr val="000000"/>
                          </a:solidFill>
                          <a:effectLst/>
                          <a:latin typeface="Montserrat" panose="00000500000000000000" pitchFamily="2" charset="0"/>
                        </a:rPr>
                        <a:t>*Critical Illness Benefits pays for 1st Diagnosis:  </a:t>
                      </a:r>
                    </a:p>
                    <a:p>
                      <a:pPr algn="ctr" fontAlgn="b"/>
                      <a:r>
                        <a:rPr lang="en-US" sz="1150" b="0" i="0" u="none" strike="noStrike">
                          <a:solidFill>
                            <a:srgbClr val="000000"/>
                          </a:solidFill>
                          <a:effectLst/>
                          <a:latin typeface="Montserrat" panose="00000500000000000000" pitchFamily="2" charset="0"/>
                        </a:rPr>
                        <a:t>Heart Attack, Stroke, Internal Cancer</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757171"/>
                      </a:solidFill>
                      <a:prstDash val="dot"/>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679086056"/>
                  </a:ext>
                </a:extLst>
              </a:tr>
            </a:tbl>
          </a:graphicData>
        </a:graphic>
      </p:graphicFrame>
    </p:spTree>
    <p:extLst>
      <p:ext uri="{BB962C8B-B14F-4D97-AF65-F5344CB8AC3E}">
        <p14:creationId xmlns:p14="http://schemas.microsoft.com/office/powerpoint/2010/main" val="26057324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6242924E-816E-0617-E717-FD91AE2D01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1500695"/>
            <a:ext cx="7241309" cy="4525818"/>
          </a:xfrm>
          <a:prstGeom prst="rect">
            <a:avLst/>
          </a:prstGeom>
        </p:spPr>
      </p:pic>
      <p:sp>
        <p:nvSpPr>
          <p:cNvPr id="3" name="Title 2">
            <a:extLst>
              <a:ext uri="{FF2B5EF4-FFF2-40B4-BE49-F238E27FC236}">
                <a16:creationId xmlns:a16="http://schemas.microsoft.com/office/drawing/2014/main" id="{DD2743DB-6003-F77F-2D46-16EC76C23EA4}"/>
              </a:ext>
            </a:extLst>
          </p:cNvPr>
          <p:cNvSpPr txBox="1">
            <a:spLocks/>
          </p:cNvSpPr>
          <p:nvPr/>
        </p:nvSpPr>
        <p:spPr>
          <a:xfrm>
            <a:off x="117445" y="207689"/>
            <a:ext cx="11534623" cy="1082169"/>
          </a:xfrm>
          <a:prstGeom prst="rect">
            <a:avLst/>
          </a:prstGeom>
        </p:spPr>
        <p:txBody>
          <a:bodyPr vert="horz" lIns="91440" tIns="45720" rIns="91440" bIns="45720" rtlCol="0">
            <a:normAutofit fontScale="62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Mayo Clinic Jacksonville</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
        <p:nvSpPr>
          <p:cNvPr id="4" name="Slide Number Placeholder 1">
            <a:extLst>
              <a:ext uri="{FF2B5EF4-FFF2-40B4-BE49-F238E27FC236}">
                <a16:creationId xmlns:a16="http://schemas.microsoft.com/office/drawing/2014/main" id="{A82E6EAB-830B-F36B-F482-0339C23492B5}"/>
              </a:ext>
            </a:extLst>
          </p:cNvPr>
          <p:cNvSpPr>
            <a:spLocks noGrp="1"/>
          </p:cNvSpPr>
          <p:nvPr>
            <p:ph type="sldNum" sz="quarter" idx="12"/>
          </p:nvPr>
        </p:nvSpPr>
        <p:spPr>
          <a:xfrm>
            <a:off x="8960395" y="633560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5" name="Picture 14">
            <a:extLst>
              <a:ext uri="{FF2B5EF4-FFF2-40B4-BE49-F238E27FC236}">
                <a16:creationId xmlns:a16="http://schemas.microsoft.com/office/drawing/2014/main" id="{18EE2CCA-91EC-8D14-02DB-5622F72597A9}"/>
              </a:ext>
            </a:extLst>
          </p:cNvPr>
          <p:cNvPicPr>
            <a:picLocks noChangeAspect="1"/>
          </p:cNvPicPr>
          <p:nvPr/>
        </p:nvPicPr>
        <p:blipFill>
          <a:blip r:embed="rId4"/>
          <a:stretch>
            <a:fillRect/>
          </a:stretch>
        </p:blipFill>
        <p:spPr>
          <a:xfrm>
            <a:off x="215573" y="6356350"/>
            <a:ext cx="2125097" cy="463658"/>
          </a:xfrm>
          <a:prstGeom prst="rect">
            <a:avLst/>
          </a:prstGeom>
        </p:spPr>
      </p:pic>
      <p:sp>
        <p:nvSpPr>
          <p:cNvPr id="6" name="Freeform 15">
            <a:extLst>
              <a:ext uri="{FF2B5EF4-FFF2-40B4-BE49-F238E27FC236}">
                <a16:creationId xmlns:a16="http://schemas.microsoft.com/office/drawing/2014/main" id="{1E58FADC-8A75-0ED5-B025-55AFCAF82465}"/>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Rectangle 10">
            <a:extLst>
              <a:ext uri="{FF2B5EF4-FFF2-40B4-BE49-F238E27FC236}">
                <a16:creationId xmlns:a16="http://schemas.microsoft.com/office/drawing/2014/main" id="{4B00F08C-D58D-B160-274C-358241C0A9BA}"/>
              </a:ext>
            </a:extLst>
          </p:cNvPr>
          <p:cNvSpPr/>
          <p:nvPr/>
        </p:nvSpPr>
        <p:spPr>
          <a:xfrm>
            <a:off x="8037505" y="1852181"/>
            <a:ext cx="3737727" cy="3975527"/>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pic>
        <p:nvPicPr>
          <p:cNvPr id="8" name="Picture 16">
            <a:extLst>
              <a:ext uri="{FF2B5EF4-FFF2-40B4-BE49-F238E27FC236}">
                <a16:creationId xmlns:a16="http://schemas.microsoft.com/office/drawing/2014/main" id="{5AC4AED8-CD54-569B-E7E6-AF890B69A91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22899" y="1981860"/>
            <a:ext cx="1197168" cy="261201"/>
          </a:xfrm>
          <a:prstGeom prst="rect">
            <a:avLst/>
          </a:prstGeom>
        </p:spPr>
      </p:pic>
      <p:pic>
        <p:nvPicPr>
          <p:cNvPr id="9" name="Picture 1">
            <a:extLst>
              <a:ext uri="{FF2B5EF4-FFF2-40B4-BE49-F238E27FC236}">
                <a16:creationId xmlns:a16="http://schemas.microsoft.com/office/drawing/2014/main" id="{77CEF25D-7C3B-E3B1-4CB8-566FCA777CFA}"/>
              </a:ext>
            </a:extLst>
          </p:cNvPr>
          <p:cNvPicPr>
            <a:picLocks noChangeAspect="1"/>
          </p:cNvPicPr>
          <p:nvPr/>
        </p:nvPicPr>
        <p:blipFill>
          <a:blip r:embed="rId6"/>
          <a:stretch>
            <a:fillRect/>
          </a:stretch>
        </p:blipFill>
        <p:spPr>
          <a:xfrm>
            <a:off x="8122899" y="2243061"/>
            <a:ext cx="3600450" cy="3429000"/>
          </a:xfrm>
          <a:prstGeom prst="rect">
            <a:avLst/>
          </a:prstGeom>
        </p:spPr>
      </p:pic>
      <p:sp>
        <p:nvSpPr>
          <p:cNvPr id="10" name="Arrow: Pentagon 17">
            <a:extLst>
              <a:ext uri="{FF2B5EF4-FFF2-40B4-BE49-F238E27FC236}">
                <a16:creationId xmlns:a16="http://schemas.microsoft.com/office/drawing/2014/main" id="{04BF0C8D-2E38-04D3-C1BE-5EA5D09D3B9B}"/>
              </a:ext>
            </a:extLst>
          </p:cNvPr>
          <p:cNvSpPr/>
          <p:nvPr/>
        </p:nvSpPr>
        <p:spPr>
          <a:xfrm>
            <a:off x="0" y="5080000"/>
            <a:ext cx="7639406" cy="766181"/>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TextBox 2">
            <a:extLst>
              <a:ext uri="{FF2B5EF4-FFF2-40B4-BE49-F238E27FC236}">
                <a16:creationId xmlns:a16="http://schemas.microsoft.com/office/drawing/2014/main" id="{4D269B07-A1ED-07AD-3675-D58BFB1D18D7}"/>
              </a:ext>
            </a:extLst>
          </p:cNvPr>
          <p:cNvSpPr txBox="1"/>
          <p:nvPr/>
        </p:nvSpPr>
        <p:spPr>
          <a:xfrm>
            <a:off x="57992" y="5309201"/>
            <a:ext cx="76073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Mayo Clinic Jacksonville patients will often receive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cash</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not bills </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after care episodes!</a:t>
            </a:r>
          </a:p>
        </p:txBody>
      </p:sp>
    </p:spTree>
    <p:extLst>
      <p:ext uri="{BB962C8B-B14F-4D97-AF65-F5344CB8AC3E}">
        <p14:creationId xmlns:p14="http://schemas.microsoft.com/office/powerpoint/2010/main" val="514031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MAYO CLINIC’S 2022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562772"/>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Mayo Clinic Jacksonville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95,495</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$1,270,382K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40,317</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$325,464K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42%</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446</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$0K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0%</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2,603</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-$35,605K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3%</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52,129</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$945,507K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55%</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2021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Mayo Clinic Jacksonville estimates commercial insurance reimbursements at 311%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945,507K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311%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1,012,192K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1,957,699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942,331</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$1,015,368K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52%</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311%</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304,021K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325,464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629,485</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942,331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-312,846</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-50%</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49.1%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9%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5%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2137286245"/>
              </p:ext>
            </p:extLst>
          </p:nvPr>
        </p:nvGraphicFramePr>
        <p:xfrm>
          <a:off x="265176" y="914400"/>
          <a:ext cx="9829800" cy="5430947"/>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933051">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Percent of Market Total (Assuming 49.1%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88284">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Mayo Clinic Hospital - Florida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307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$1,867,657.2K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$1,690,836.9K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88284">
                <a:tc>
                  <a:txBody>
                    <a:bodyPr/>
                    <a:lstStyle/>
                    <a:p>
                      <a:pPr marL="63500" marR="63500" algn="l">
                        <a:lnSpc>
                          <a:spcPct val="100000"/>
                        </a:lnSpc>
                        <a:spcBef>
                          <a:spcPts val="1"/>
                        </a:spcBef>
                        <a:spcAft>
                          <a:spcPts val="1"/>
                        </a:spcAft>
                        <a:buNone/>
                      </a:pPr>
                      <a:r>
                        <a:rPr sz="900" b="0" i="0" u="none" cap="none" dirty="0">
                          <a:solidFill>
                            <a:srgbClr val="000000">
                              <a:alpha val="100000"/>
                            </a:srgbClr>
                          </a:solidFill>
                          <a:latin typeface="Montserrat"/>
                          <a:cs typeface="Arial"/>
                          <a:sym typeface="Arial"/>
                        </a:rPr>
                        <a:t>UF Health Jacksonville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481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$2,180,172.0K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$2,400,940.4K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11%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188284">
                <a:tc>
                  <a:txBody>
                    <a:bodyPr/>
                    <a:lstStyle/>
                    <a:p>
                      <a:pPr marL="63500" marR="63500" algn="l">
                        <a:lnSpc>
                          <a:spcPct val="100000"/>
                        </a:lnSpc>
                        <a:spcBef>
                          <a:spcPts val="1"/>
                        </a:spcBef>
                        <a:spcAft>
                          <a:spcPts val="1"/>
                        </a:spcAft>
                        <a:buNone/>
                      </a:pPr>
                      <a:r>
                        <a:rPr sz="900" b="0" i="0" u="none" cap="none" dirty="0">
                          <a:solidFill>
                            <a:srgbClr val="000000">
                              <a:alpha val="100000"/>
                            </a:srgbClr>
                          </a:solidFill>
                          <a:latin typeface="Montserrat"/>
                          <a:cs typeface="Arial"/>
                          <a:sym typeface="Arial"/>
                        </a:rPr>
                        <a:t>Ascension St Vincents Riverside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362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$1,421,855.6K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$1,609,039.7K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188284">
                <a:tc>
                  <a:txBody>
                    <a:bodyPr/>
                    <a:lstStyle/>
                    <a:p>
                      <a:pPr marL="63500" marR="63500" algn="l">
                        <a:lnSpc>
                          <a:spcPct val="100000"/>
                        </a:lnSpc>
                        <a:spcBef>
                          <a:spcPts val="1"/>
                        </a:spcBef>
                        <a:spcAft>
                          <a:spcPts val="1"/>
                        </a:spcAft>
                        <a:buNone/>
                      </a:pPr>
                      <a:r>
                        <a:rPr sz="900" b="0" i="0" u="none" cap="none" dirty="0">
                          <a:solidFill>
                            <a:srgbClr val="000000">
                              <a:alpha val="100000"/>
                            </a:srgbClr>
                          </a:solidFill>
                          <a:latin typeface="Montserrat"/>
                          <a:cs typeface="Arial"/>
                          <a:sym typeface="Arial"/>
                        </a:rPr>
                        <a:t>Baptist Medical Center Jacksonville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949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$4,959,863.0K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$5,100,839.9K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24%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14%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88284">
                <a:tc>
                  <a:txBody>
                    <a:bodyPr/>
                    <a:lstStyle/>
                    <a:p>
                      <a:pPr marL="63500" marR="63500" algn="l">
                        <a:lnSpc>
                          <a:spcPct val="100000"/>
                        </a:lnSpc>
                        <a:spcBef>
                          <a:spcPts val="1"/>
                        </a:spcBef>
                        <a:spcAft>
                          <a:spcPts val="1"/>
                        </a:spcAft>
                        <a:buNone/>
                      </a:pPr>
                      <a:r>
                        <a:rPr sz="900" b="0" i="0" u="none" cap="none" dirty="0" err="1">
                          <a:solidFill>
                            <a:srgbClr val="000000">
                              <a:alpha val="100000"/>
                            </a:srgbClr>
                          </a:solidFill>
                          <a:latin typeface="Montserrat"/>
                          <a:cs typeface="Arial"/>
                          <a:sym typeface="Arial"/>
                        </a:rPr>
                        <a:t>UFHealth</a:t>
                      </a:r>
                      <a:r>
                        <a:rPr sz="900" b="0" i="0" u="none" cap="none" dirty="0">
                          <a:solidFill>
                            <a:srgbClr val="000000">
                              <a:alpha val="100000"/>
                            </a:srgbClr>
                          </a:solidFill>
                          <a:latin typeface="Montserrat"/>
                          <a:cs typeface="Arial"/>
                          <a:sym typeface="Arial"/>
                        </a:rPr>
                        <a:t> Flagler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335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740,849.2K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774,735.1K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88284">
                <a:tc>
                  <a:txBody>
                    <a:bodyPr/>
                    <a:lstStyle/>
                    <a:p>
                      <a:pPr marL="63500" marR="63500" algn="l">
                        <a:lnSpc>
                          <a:spcPct val="100000"/>
                        </a:lnSpc>
                        <a:spcBef>
                          <a:spcPts val="1"/>
                        </a:spcBef>
                        <a:spcAft>
                          <a:spcPts val="1"/>
                        </a:spcAft>
                        <a:buNone/>
                      </a:pPr>
                      <a:r>
                        <a:rPr sz="900" b="0" i="0" u="none" cap="none" dirty="0">
                          <a:solidFill>
                            <a:srgbClr val="000000">
                              <a:alpha val="100000"/>
                            </a:srgbClr>
                          </a:solidFill>
                          <a:latin typeface="Montserrat"/>
                          <a:cs typeface="Arial"/>
                          <a:sym typeface="Arial"/>
                        </a:rPr>
                        <a:t>Baptist Medical Center Beaches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135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512,731.8K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543,167.9K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188284">
                <a:tc>
                  <a:txBody>
                    <a:bodyPr/>
                    <a:lstStyle/>
                    <a:p>
                      <a:pPr marL="63500" marR="63500" algn="l">
                        <a:lnSpc>
                          <a:spcPct val="100000"/>
                        </a:lnSpc>
                        <a:spcBef>
                          <a:spcPts val="1"/>
                        </a:spcBef>
                        <a:spcAft>
                          <a:spcPts val="1"/>
                        </a:spcAft>
                        <a:buNone/>
                      </a:pPr>
                      <a:r>
                        <a:rPr sz="900" b="0" i="0" u="none" cap="none" dirty="0">
                          <a:solidFill>
                            <a:srgbClr val="000000">
                              <a:alpha val="100000"/>
                            </a:srgbClr>
                          </a:solidFill>
                          <a:latin typeface="Montserrat"/>
                          <a:cs typeface="Arial"/>
                          <a:sym typeface="Arial"/>
                        </a:rPr>
                        <a:t>Naval Hospital Jacksonville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dirty="0">
                          <a:solidFill>
                            <a:srgbClr val="000000">
                              <a:alpha val="100000"/>
                            </a:srgbClr>
                          </a:solidFill>
                          <a:latin typeface="Montserrat"/>
                          <a:cs typeface="Arial"/>
                          <a:sym typeface="Arial"/>
                        </a:rPr>
                        <a:t>56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188284">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Baptist Medical Center Nassau</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dirty="0">
                          <a:solidFill>
                            <a:srgbClr val="000000">
                              <a:alpha val="100000"/>
                            </a:srgbClr>
                          </a:solidFill>
                          <a:latin typeface="Montserrat"/>
                          <a:cs typeface="Arial"/>
                          <a:sym typeface="Arial"/>
                        </a:rPr>
                        <a:t>54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151,922.0K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311,691.7K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188284">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HCA Florida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362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$3,385,120.1K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$2,047,159.9K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17%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188284">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HCA Florida Orange Park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291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dirty="0">
                          <a:solidFill>
                            <a:srgbClr val="000000">
                              <a:alpha val="100000"/>
                            </a:srgbClr>
                          </a:solidFill>
                          <a:latin typeface="Montserrat"/>
                          <a:cs typeface="Arial"/>
                          <a:sym typeface="Arial"/>
                        </a:rPr>
                        <a:t>$3,318,407.9K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$1,832,303.7K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51045">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Ascension St Vincents Southside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230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616,629.9K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923,746.1K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51045">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Ascension St Vincents Clay County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134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dirty="0">
                          <a:solidFill>
                            <a:srgbClr val="000000">
                              <a:alpha val="100000"/>
                            </a:srgbClr>
                          </a:solidFill>
                          <a:latin typeface="Montserrat"/>
                          <a:cs typeface="Arial"/>
                          <a:sym typeface="Arial"/>
                        </a:rPr>
                        <a:t>$  438,758.9K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555,631.5K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51045">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Ascension St Vincents St Johns County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56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87,537.4K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165,745.1K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251045">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PAM Health Specialty Hospital of Jacksonville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107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66,143.4K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dirty="0">
                          <a:solidFill>
                            <a:srgbClr val="000000">
                              <a:alpha val="100000"/>
                            </a:srgbClr>
                          </a:solidFill>
                          <a:latin typeface="Montserrat"/>
                          <a:cs typeface="Arial"/>
                          <a:sym typeface="Arial"/>
                        </a:rPr>
                        <a:t>$       31.0K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188284">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Kindred Hospital North Florida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58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124,229.2K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465.1K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251045">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Brooks Rehabilitation Hospital - University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209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321,522.9K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142,822.4K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251045">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Encompass Health Rehabilitation Hospital of St Augustine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40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28,402.9K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dirty="0">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251045">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Encompass Heath Rehabilitation Hospital of Jacksonville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50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29,127.0K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r h="188284">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River Point Behavioral Health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84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48,448.5K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5,989.7K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9"/>
                  </a:ext>
                </a:extLst>
              </a:tr>
              <a:tr h="188284">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Wekiva Springs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a:solidFill>
                            <a:srgbClr val="000000">
                              <a:alpha val="100000"/>
                            </a:srgbClr>
                          </a:solidFill>
                          <a:latin typeface="Montserrat"/>
                          <a:cs typeface="Arial"/>
                          <a:sym typeface="Arial"/>
                        </a:rPr>
                        <a:t>120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54,811.6K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900" b="0" i="0" u="none" cap="none">
                          <a:solidFill>
                            <a:srgbClr val="000000">
                              <a:alpha val="100000"/>
                            </a:srgbClr>
                          </a:solidFill>
                          <a:latin typeface="Montserrat"/>
                          <a:cs typeface="Arial"/>
                          <a:sym typeface="Arial"/>
                        </a:rPr>
                        <a:t>$    9,408.2K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9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639453596"/>
              </p:ext>
            </p:extLst>
          </p:nvPr>
        </p:nvGraphicFramePr>
        <p:xfrm>
          <a:off x="0" y="0"/>
          <a:ext cx="12192000" cy="6858006"/>
        </p:xfrm>
        <a:graphic>
          <a:graphicData uri="http://schemas.openxmlformats.org/drawingml/2006/table">
            <a:tbl>
              <a:tblPr/>
              <a:tblGrid>
                <a:gridCol w="7245847">
                  <a:extLst>
                    <a:ext uri="{9D8B030D-6E8A-4147-A177-3AD203B41FA5}">
                      <a16:colId xmlns:a16="http://schemas.microsoft.com/office/drawing/2014/main" val="20000"/>
                    </a:ext>
                  </a:extLst>
                </a:gridCol>
                <a:gridCol w="4946153">
                  <a:extLst>
                    <a:ext uri="{9D8B030D-6E8A-4147-A177-3AD203B41FA5}">
                      <a16:colId xmlns:a16="http://schemas.microsoft.com/office/drawing/2014/main" val="20001"/>
                    </a:ext>
                  </a:extLst>
                </a:gridCol>
              </a:tblGrid>
              <a:tr h="349197">
                <a:tc gridSpan="2">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49197">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Mayo Clinic Hospital - Florida</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1485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Montserrat"/>
                          <a:cs typeface="Arial"/>
                          <a:sym typeface="Arial"/>
                        </a:rPr>
                        <a:t>$666,754K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31485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$603,629K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31485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$325,464K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31485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31485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Montserrat"/>
                          <a:cs typeface="Arial"/>
                          <a:sym typeface="Arial"/>
                        </a:rPr>
                        <a:t>$945,507K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31485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$35,605K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31485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$494,578K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31485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$447,753K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31485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$942,331K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31485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$328,639K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31485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42.2%</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31485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0.5%</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31485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31485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31485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54.6%</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31485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51.9%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80503">
                <a:tc gridSpan="2">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80503">
                <a:tc gridSpan="2">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80503">
                <a:tc gridSpan="2">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80503">
                <a:tc gridSpan="2">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Mayo Clinic Jacksonville has 9% inpatient market share, and 5% outpatient market compared to hospitals/clinics in the Mayo Clinic Jacksonville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Mayo Clinic Jacksonville.</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862208899"/>
              </p:ext>
            </p:extLst>
          </p:nvPr>
        </p:nvGraphicFramePr>
        <p:xfrm>
          <a:off x="838200" y="1054578"/>
          <a:ext cx="7199375" cy="5108481"/>
        </p:xfrm>
        <a:graphic>
          <a:graphicData uri="http://schemas.openxmlformats.org/drawingml/2006/table">
            <a:tbl>
              <a:tblPr/>
              <a:tblGrid>
                <a:gridCol w="1439875">
                  <a:extLst>
                    <a:ext uri="{9D8B030D-6E8A-4147-A177-3AD203B41FA5}">
                      <a16:colId xmlns:a16="http://schemas.microsoft.com/office/drawing/2014/main" val="20000"/>
                    </a:ext>
                  </a:extLst>
                </a:gridCol>
                <a:gridCol w="1439875">
                  <a:extLst>
                    <a:ext uri="{9D8B030D-6E8A-4147-A177-3AD203B41FA5}">
                      <a16:colId xmlns:a16="http://schemas.microsoft.com/office/drawing/2014/main" val="20001"/>
                    </a:ext>
                  </a:extLst>
                </a:gridCol>
                <a:gridCol w="1439875">
                  <a:extLst>
                    <a:ext uri="{9D8B030D-6E8A-4147-A177-3AD203B41FA5}">
                      <a16:colId xmlns:a16="http://schemas.microsoft.com/office/drawing/2014/main" val="20002"/>
                    </a:ext>
                  </a:extLst>
                </a:gridCol>
                <a:gridCol w="1439875">
                  <a:extLst>
                    <a:ext uri="{9D8B030D-6E8A-4147-A177-3AD203B41FA5}">
                      <a16:colId xmlns:a16="http://schemas.microsoft.com/office/drawing/2014/main" val="20003"/>
                    </a:ext>
                  </a:extLst>
                </a:gridCol>
                <a:gridCol w="1439875">
                  <a:extLst>
                    <a:ext uri="{9D8B030D-6E8A-4147-A177-3AD203B41FA5}">
                      <a16:colId xmlns:a16="http://schemas.microsoft.com/office/drawing/2014/main" val="20004"/>
                    </a:ext>
                  </a:extLst>
                </a:gridCol>
              </a:tblGrid>
              <a:tr h="921201">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Mayo Clinic Jacksonville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Mayo Clinic Jacksonville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48,600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43,500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46,800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86,200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48,700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87,700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8,100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$ 2,528,008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$ 2,295,565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$ 1,072,010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$ 5,895,583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$ 1,051,651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$ 954,955.2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$ 445,956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$ 2,452,562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$ 22,942,135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$ 97,200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$ 22,946,935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$ 22,859,335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$ 18,495,209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$ 29,004,759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$ 13,544,976</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$ 61,044,945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$ 7,694,007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$ 12,065,980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$ 5,634,710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$ 25,394,697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9% (inpatient) and 5%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41.6%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41.6%,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8096" cy="741426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1431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41.6%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41.6%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41.6%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41.6%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41.6%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14313">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14313">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$1,560.5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$7,802.5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$3,245.8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$1,020.8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$2,041.5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$10,207.7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$51,038.7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$849.3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$4,246.4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$21,232.1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$864.7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$1,729.4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$8,647.2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$43,236.2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$359.7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$719.5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$3,597.3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$17,986.3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$141.7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$283.4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$1,417.0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$7,085.1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$2,947.4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$1,545.9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$3,091.9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$15,459.3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$77,296.4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$1,286.2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$6,431.1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$32,155.3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$1,404.2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$2,808.5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$14,042.3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$70,211.3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$584.2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$1,168.3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$5,841.6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$29,207.9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$66.2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$132.3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$661.7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$3,308.7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$1,376.4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$721.9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$1,443.9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$7,219.4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$36,096.8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$655.8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$6,557.6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$32,788.1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$272.8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$545.6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$2,728.0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$13,639.8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14313">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$892.7</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$2,115.4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$11,896.8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$60,804.0</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523096995"/>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41.6%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41.6%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41.6%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41.6%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41.6%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$363.9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$727.8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$3,639.2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$18,196.2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$1,513.9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$7,569.6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$3,288.6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$6,577.3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$32,886.4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$164,431.9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$2,924.7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$5,849.4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$29,247.1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$146,235.6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$1,368.1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$2,736.1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$13,680.7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$68,403.7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$1,216.7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$2,433.4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$12,166.8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$60,834.0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$892.7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$2,115.4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$11,896.8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$60,804.0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275787686"/>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46.6%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46.6%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46.6%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46.6%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46.6%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$363.9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$727.8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$3,639.2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$18,196.2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$1,513.9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$7,569.6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$3,911.3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$7,822.5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$39,112.7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$195,563.6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$3,547.3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$7,094.7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$35,473.5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$177,367.4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$1,822.7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$3,645.3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$18,226.5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$91,132.6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$1,671.3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$3,342.5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$16,712.6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$83,563.0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dirty="0">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$1,347.3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$3,024.5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$16,442.6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$83,533.0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516999254"/>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36.6%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36.6%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36.6%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36.6%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36.6%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$363.9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$727.8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$3,639.2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$18,196.2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$1,513.9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$7,569.6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$2,670.1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$5,340.2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$26,701.0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$133,504.8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$2,306.2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$4,612.3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$23,061.7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$115,308.5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$977.3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$1,954.5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$9,772.5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$48,862.7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$825.9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$1,651.7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$8,258.6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$41,293.1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dirty="0">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$501.9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$1,333.7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$7,988.6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$41,263.1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39</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Mayo Clinic Jacksonville’s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Mayo Clinic Jacksonville</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Mayo Clinic Jacksonville</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Mayo Clinic Jacksonville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41</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Mayo Clinic Jacksonville</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Mayo Clinic Jacksonville’s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42</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43</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46150</TotalTime>
  <Words>5047</Words>
  <Application>Microsoft Office PowerPoint</Application>
  <PresentationFormat>Widescreen</PresentationFormat>
  <Paragraphs>1353</Paragraphs>
  <Slides>43</Slides>
  <Notes>9</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43</vt:i4>
      </vt:variant>
    </vt:vector>
  </HeadingPairs>
  <TitlesOfParts>
    <vt:vector size="53" baseType="lpstr">
      <vt:lpstr>Aptos Narrow</vt:lpstr>
      <vt:lpstr>Arial</vt:lpstr>
      <vt:lpstr>Montserrat</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PowerPoint Presentation</vt:lpstr>
      <vt:lpstr>DIRECT-TO-EMPLOYER (DTE)  </vt:lpstr>
      <vt:lpstr>DTE KEYS TO SUCCESS FOR MAYO CLINIC</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MAYO CLINIC IS PATIENT RECOMMENDED</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MAYO CLINIC’S 2022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2025-05-02T14:44:41Z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