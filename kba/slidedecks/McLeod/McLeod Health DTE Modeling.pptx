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6.xml" ContentType="application/vnd.openxmlformats-officedocument.presentationml.tags+xml"/>
  <Override PartName="/ppt/comments/modernComment_7FE53189_F808901F.xml" ContentType="application/vnd.ms-powerpoint.comment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7FE53192_3C36F9F4.xml" ContentType="application/vnd.ms-powerpoint.comments+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4"/>
  </p:notesMasterIdLst>
  <p:sldIdLst>
    <p:sldId id="588" r:id="rId10"/>
    <p:sldId id="454" r:id="rId11"/>
    <p:sldId id="2145726874" r:id="rId12"/>
    <p:sldId id="549" r:id="rId13"/>
    <p:sldId id="2145726869" r:id="rId14"/>
    <p:sldId id="466" r:id="rId15"/>
    <p:sldId id="2145726867" r:id="rId16"/>
    <p:sldId id="559" r:id="rId17"/>
    <p:sldId id="580" r:id="rId18"/>
    <p:sldId id="582" r:id="rId19"/>
    <p:sldId id="558" r:id="rId20"/>
    <p:sldId id="548" r:id="rId21"/>
    <p:sldId id="521" r:id="rId22"/>
    <p:sldId id="564" r:id="rId23"/>
    <p:sldId id="2145726872" r:id="rId24"/>
    <p:sldId id="2145726911" r:id="rId25"/>
    <p:sldId id="499" r:id="rId26"/>
    <p:sldId id="613" r:id="rId27"/>
    <p:sldId id="458" r:id="rId28"/>
    <p:sldId id="2145726859" r:id="rId29"/>
    <p:sldId id="2145726857" r:id="rId30"/>
    <p:sldId id="469" r:id="rId31"/>
    <p:sldId id="2145726856" r:id="rId32"/>
    <p:sldId id="614" r:id="rId33"/>
    <p:sldId id="459" r:id="rId34"/>
    <p:sldId id="2145726870" r:id="rId35"/>
    <p:sldId id="281" r:id="rId36"/>
    <p:sldId id="2145726866" r:id="rId37"/>
    <p:sldId id="583" r:id="rId38"/>
    <p:sldId id="525" r:id="rId39"/>
    <p:sldId id="2145726868" r:id="rId40"/>
    <p:sldId id="571" r:id="rId41"/>
    <p:sldId id="2145726864" r:id="rId42"/>
    <p:sldId id="585" r:id="rId43"/>
    <p:sldId id="536" r:id="rId44"/>
    <p:sldId id="256" r:id="rId45"/>
    <p:sldId id="574" r:id="rId46"/>
    <p:sldId id="572" r:id="rId47"/>
    <p:sldId id="575" r:id="rId48"/>
    <p:sldId id="498" r:id="rId49"/>
    <p:sldId id="325" r:id="rId50"/>
    <p:sldId id="326" r:id="rId51"/>
    <p:sldId id="491" r:id="rId52"/>
    <p:sldId id="472" r:id="rId53"/>
  </p:sldIdLst>
  <p:sldSz cx="12192000" cy="6858000"/>
  <p:notesSz cx="7315200" cy="9601200"/>
  <p:custDataLst>
    <p:tags r:id="rId5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7C6A15-D439-4BCA-830E-1854813AD0AD}" v="6" dt="2025-11-15T07:01:31.599"/>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88609" autoAdjust="0"/>
  </p:normalViewPr>
  <p:slideViewPr>
    <p:cSldViewPr snapToGrid="0">
      <p:cViewPr>
        <p:scale>
          <a:sx n="75" d="100"/>
          <a:sy n="75" d="100"/>
        </p:scale>
        <p:origin x="725" y="26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tags" Target="tags/tag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viewProps" Target="viewProps.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commentAuthors" Target="commentAuthor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heme" Target="theme/theme1.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notesMaster" Target="notesMasters/notesMaster1.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presProps" Target="pres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1.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diagrams/_rels/drawing1.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11/14/2025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E945107D-4628-D235-6066-8599CEE9787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4691" name="Notes Placeholder 2">
            <a:extLst>
              <a:ext uri="{FF2B5EF4-FFF2-40B4-BE49-F238E27FC236}">
                <a16:creationId xmlns:a16="http://schemas.microsoft.com/office/drawing/2014/main" id="{B03D0642-BA93-ED1F-6F70-44AE88C20FE1}"/>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14692" name="Slide Number Placeholder 3">
            <a:extLst>
              <a:ext uri="{FF2B5EF4-FFF2-40B4-BE49-F238E27FC236}">
                <a16:creationId xmlns:a16="http://schemas.microsoft.com/office/drawing/2014/main" id="{48ABE3F4-2649-7B40-95FA-F3A10E6101DE}"/>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4025B96-9ED9-48DD-A30E-5B1DC145D260}" type="slidenum">
              <a:rPr lang="en-US" altLang="en-US">
                <a:solidFill>
                  <a:srgbClr val="000000"/>
                </a:solidFill>
              </a:rPr>
              <a:pPr/>
              <a:t>15</a:t>
            </a:fld>
            <a:endParaRPr lang="en-US" altLang="en-US">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A50FE8A8-97ED-FDC7-C0B5-F7617F9E510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0595" name="Notes Placeholder 2">
            <a:extLst>
              <a:ext uri="{FF2B5EF4-FFF2-40B4-BE49-F238E27FC236}">
                <a16:creationId xmlns:a16="http://schemas.microsoft.com/office/drawing/2014/main" id="{98B20BE8-EF72-1FD1-E0BA-F3222396D979}"/>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110596" name="Slide Number Placeholder 3">
            <a:extLst>
              <a:ext uri="{FF2B5EF4-FFF2-40B4-BE49-F238E27FC236}">
                <a16:creationId xmlns:a16="http://schemas.microsoft.com/office/drawing/2014/main" id="{03712E2D-0BD3-85CB-AF50-09AFEEF0D341}"/>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6F27017-4F09-4675-82C0-AAC95484694C}" type="slidenum">
              <a:rPr lang="en-US" altLang="en-US" sz="1200">
                <a:solidFill>
                  <a:srgbClr val="000000"/>
                </a:solidFill>
                <a:latin typeface="Aptos" panose="020B0004020202020204" pitchFamily="34" charset="0"/>
              </a:rPr>
              <a:pPr algn="r" eaLnBrk="1" hangingPunct="1"/>
              <a:t>25</a:t>
            </a:fld>
            <a:endParaRPr lang="en-US" altLang="en-US" sz="1200">
              <a:solidFill>
                <a:srgbClr val="000000"/>
              </a:solidFill>
              <a:latin typeface="Aptos" panose="020B00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E97793FA-FB1F-6E11-725C-63C747CEFA41}"/>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43" name="Notes Placeholder 2">
            <a:extLst>
              <a:ext uri="{FF2B5EF4-FFF2-40B4-BE49-F238E27FC236}">
                <a16:creationId xmlns:a16="http://schemas.microsoft.com/office/drawing/2014/main" id="{6A6F21D1-E85A-DA78-A39D-E1F6649EB0D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a:p>
        </p:txBody>
      </p:sp>
      <p:sp>
        <p:nvSpPr>
          <p:cNvPr id="112644" name="Slide Number Placeholder 3">
            <a:extLst>
              <a:ext uri="{FF2B5EF4-FFF2-40B4-BE49-F238E27FC236}">
                <a16:creationId xmlns:a16="http://schemas.microsoft.com/office/drawing/2014/main" id="{A73E266B-7A84-C243-1D0C-6C16C29DFB4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AFF9F3-C8AB-436D-99D0-D375E19F3267}" type="slidenum">
              <a:rPr lang="en-US" altLang="en-US">
                <a:solidFill>
                  <a:srgbClr val="000000"/>
                </a:solidFill>
                <a:latin typeface="Montserrat" panose="00000500000000000000" pitchFamily="2" charset="0"/>
              </a:rPr>
              <a:pPr eaLnBrk="1" hangingPunct="1"/>
              <a:t>26</a:t>
            </a:fld>
            <a:endParaRPr lang="en-US" altLang="en-US">
              <a:solidFill>
                <a:srgbClr val="000000"/>
              </a:solidFill>
              <a:latin typeface="Montserrat" panose="00000500000000000000" pitchFamily="2"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11/14/2025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11/14/2025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11/14/2025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11/14/2025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11/14/2025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11/14/2025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11/14/2025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11/14/2025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11/14/2025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11/14/2025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11/14/2025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6558378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11/14/2025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11/14/2025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11/14/2025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11/14/2025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11/14/2025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11/14/2025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11/14/2025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11/14/2025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11/14/2025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11/14/2025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11/14/2025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11/14/2025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11/14/2025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11/14/2025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11/14/2025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11/14/2025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11/14/2025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tags" Target="../tags/tag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ags" Target="../tags/tag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5.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6" Type="http://schemas.openxmlformats.org/officeDocument/2006/relationships/tags" Target="../tags/tag5.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theme" Target="../theme/theme6.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4"/>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812" r:id="rId12"/>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33.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9.svg"/><Relationship Id="rId18" Type="http://schemas.openxmlformats.org/officeDocument/2006/relationships/image" Target="../media/image34.svg"/><Relationship Id="rId3" Type="http://schemas.openxmlformats.org/officeDocument/2006/relationships/image" Target="../media/image19.png"/><Relationship Id="rId21" Type="http://schemas.openxmlformats.org/officeDocument/2006/relationships/image" Target="../media/image15.png"/><Relationship Id="rId7" Type="http://schemas.openxmlformats.org/officeDocument/2006/relationships/image" Target="../media/image23.svg"/><Relationship Id="rId12" Type="http://schemas.openxmlformats.org/officeDocument/2006/relationships/image" Target="../media/image28.svg"/><Relationship Id="rId17" Type="http://schemas.openxmlformats.org/officeDocument/2006/relationships/image" Target="../media/image33.png"/><Relationship Id="rId2" Type="http://schemas.openxmlformats.org/officeDocument/2006/relationships/notesSlide" Target="../notesSlides/notesSlide2.xml"/><Relationship Id="rId16" Type="http://schemas.openxmlformats.org/officeDocument/2006/relationships/image" Target="../media/image32.svg"/><Relationship Id="rId20" Type="http://schemas.openxmlformats.org/officeDocument/2006/relationships/image" Target="../media/image36.sv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svg"/><Relationship Id="rId15" Type="http://schemas.openxmlformats.org/officeDocument/2006/relationships/image" Target="../media/image31.png"/><Relationship Id="rId10" Type="http://schemas.openxmlformats.org/officeDocument/2006/relationships/image" Target="../media/image26.svg"/><Relationship Id="rId19" Type="http://schemas.openxmlformats.org/officeDocument/2006/relationships/image" Target="../media/image35.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svg"/></Relationships>
</file>

<file path=ppt/slides/_rels/slide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slideLayout" Target="../slideLayouts/slideLayout15.xml"/><Relationship Id="rId1" Type="http://schemas.openxmlformats.org/officeDocument/2006/relationships/tags" Target="../tags/tag6.xml"/><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44.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8.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8/10/relationships/comments" Target="../comments/modernComment_7FE53189_F808901F.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60.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6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5.png"/><Relationship Id="rId1" Type="http://schemas.openxmlformats.org/officeDocument/2006/relationships/slideLayout" Target="../slideLayouts/slideLayout19.xml"/><Relationship Id="rId4" Type="http://schemas.openxmlformats.org/officeDocument/2006/relationships/image" Target="../media/image62.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65.jpe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eg"/><Relationship Id="rId1" Type="http://schemas.openxmlformats.org/officeDocument/2006/relationships/slideLayout" Target="../slideLayouts/slideLayout2.xml"/><Relationship Id="rId6" Type="http://schemas.openxmlformats.org/officeDocument/2006/relationships/image" Target="../media/image72.jpeg"/><Relationship Id="rId5" Type="http://schemas.openxmlformats.org/officeDocument/2006/relationships/image" Target="../media/image71.jpeg"/><Relationship Id="rId4" Type="http://schemas.microsoft.com/office/2007/relationships/hdphoto" Target="../media/hdphoto1.wdp"/></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4.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jpeg"/><Relationship Id="rId1" Type="http://schemas.openxmlformats.org/officeDocument/2006/relationships/slideLayout" Target="../slideLayouts/slideLayout6.xml"/><Relationship Id="rId6" Type="http://schemas.openxmlformats.org/officeDocument/2006/relationships/image" Target="../media/image78.svg"/><Relationship Id="rId11" Type="http://schemas.openxmlformats.org/officeDocument/2006/relationships/image" Target="../media/image10.png"/><Relationship Id="rId5" Type="http://schemas.openxmlformats.org/officeDocument/2006/relationships/image" Target="../media/image77.pn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McLeod Health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9CFD-1D5C-FF21-4A1E-7AB392E8DF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9B371-73B9-408F-674E-7CD4D0AB597E}"/>
              </a:ext>
            </a:extLst>
          </p:cNvPr>
          <p:cNvSpPr/>
          <p:nvPr/>
        </p:nvSpPr>
        <p:spPr>
          <a:xfrm>
            <a:off x="1" y="0"/>
            <a:ext cx="4846964" cy="6870346"/>
          </a:xfrm>
          <a:prstGeom prst="rect">
            <a:avLst/>
          </a:prstGeom>
          <a:solidFill>
            <a:srgbClr val="111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Footer Placeholder 2">
            <a:extLst>
              <a:ext uri="{FF2B5EF4-FFF2-40B4-BE49-F238E27FC236}">
                <a16:creationId xmlns:a16="http://schemas.microsoft.com/office/drawing/2014/main" id="{1229C9EE-93FE-78B8-4BCD-C09DECB33A6A}"/>
              </a:ext>
            </a:extLst>
          </p:cNvPr>
          <p:cNvSpPr>
            <a:spLocks noGrp="1"/>
          </p:cNvSpPr>
          <p:nvPr>
            <p:ph type="ftr" sz="quarter" idx="11"/>
          </p:nvPr>
        </p:nvSpPr>
        <p:spPr>
          <a:xfrm>
            <a:off x="7029520" y="6421464"/>
            <a:ext cx="4114800" cy="365125"/>
          </a:xfrm>
        </p:spPr>
        <p:txBody>
          <a:bodyPr/>
          <a:lstStyle/>
          <a:p>
            <a:r>
              <a:rPr lang="en-US"/>
              <a:t>Key Benefit Administrators</a:t>
            </a:r>
          </a:p>
        </p:txBody>
      </p:sp>
      <p:sp>
        <p:nvSpPr>
          <p:cNvPr id="4" name="Title 1">
            <a:extLst>
              <a:ext uri="{FF2B5EF4-FFF2-40B4-BE49-F238E27FC236}">
                <a16:creationId xmlns:a16="http://schemas.microsoft.com/office/drawing/2014/main" id="{22966400-D608-A464-A105-DE053AB4932B}"/>
              </a:ext>
            </a:extLst>
          </p:cNvPr>
          <p:cNvSpPr>
            <a:spLocks noGrp="1"/>
          </p:cNvSpPr>
          <p:nvPr>
            <p:ph type="title"/>
          </p:nvPr>
        </p:nvSpPr>
        <p:spPr>
          <a:xfrm>
            <a:off x="5652655" y="683306"/>
            <a:ext cx="5957965" cy="1325563"/>
          </a:xfrm>
        </p:spPr>
        <p:txBody>
          <a:bodyPr>
            <a:noAutofit/>
          </a:bodyPr>
          <a:lstStyle/>
          <a:p>
            <a:pPr>
              <a:lnSpc>
                <a:spcPct val="100000"/>
              </a:lnSpc>
              <a:spcBef>
                <a:spcPts val="1800"/>
              </a:spcBef>
              <a:spcAft>
                <a:spcPts val="600"/>
              </a:spcAft>
            </a:pPr>
            <a:r>
              <a:rPr lang="en-US" sz="2000">
                <a:solidFill>
                  <a:srgbClr val="000B2E"/>
                </a:solidFill>
              </a:rPr>
              <a:t>Our Founding and Heritage:</a:t>
            </a:r>
            <a:br>
              <a:rPr lang="en-US" sz="4000" b="1">
                <a:solidFill>
                  <a:srgbClr val="000B2E"/>
                </a:solidFill>
              </a:rPr>
            </a:br>
            <a:r>
              <a:rPr lang="en-US" sz="3600" b="0">
                <a:solidFill>
                  <a:srgbClr val="000B2E"/>
                </a:solidFill>
              </a:rPr>
              <a:t>46 Years of Striving for Honesty in Healthcare</a:t>
            </a:r>
            <a:endParaRPr lang="en-US" sz="1600" b="0">
              <a:solidFill>
                <a:schemeClr val="tx1">
                  <a:lumMod val="75000"/>
                  <a:lumOff val="25000"/>
                </a:schemeClr>
              </a:solidFill>
            </a:endParaRPr>
          </a:p>
        </p:txBody>
      </p:sp>
      <p:pic>
        <p:nvPicPr>
          <p:cNvPr id="5" name="Picture 2" descr="Larry Dust - Crunchbase Person Profile">
            <a:extLst>
              <a:ext uri="{FF2B5EF4-FFF2-40B4-BE49-F238E27FC236}">
                <a16:creationId xmlns:a16="http://schemas.microsoft.com/office/drawing/2014/main" id="{F7A901A5-A0C2-992D-8392-CF98ABD42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442" y="1049081"/>
            <a:ext cx="2498081" cy="24980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4" descr="Working at Key Benefit Administrators | Top Workplaces">
            <a:extLst>
              <a:ext uri="{FF2B5EF4-FFF2-40B4-BE49-F238E27FC236}">
                <a16:creationId xmlns:a16="http://schemas.microsoft.com/office/drawing/2014/main" id="{F140746C-3B1E-D8A0-5BED-E05A5C3D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7" y="3913332"/>
            <a:ext cx="2990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0">
            <a:extLst>
              <a:ext uri="{FF2B5EF4-FFF2-40B4-BE49-F238E27FC236}">
                <a16:creationId xmlns:a16="http://schemas.microsoft.com/office/drawing/2014/main" id="{0CBFE08E-E446-CB70-FF81-2CC0C8485DAB}"/>
              </a:ext>
            </a:extLst>
          </p:cNvPr>
          <p:cNvPicPr>
            <a:picLocks noChangeAspect="1"/>
          </p:cNvPicPr>
          <p:nvPr/>
        </p:nvPicPr>
        <p:blipFill>
          <a:blip r:embed="rId4"/>
          <a:stretch>
            <a:fillRect/>
          </a:stretch>
        </p:blipFill>
        <p:spPr>
          <a:xfrm>
            <a:off x="5747206" y="2298120"/>
            <a:ext cx="5863414" cy="3984231"/>
          </a:xfrm>
          <a:prstGeom prst="rect">
            <a:avLst/>
          </a:prstGeom>
        </p:spPr>
      </p:pic>
    </p:spTree>
    <p:extLst>
      <p:ext uri="{BB962C8B-B14F-4D97-AF65-F5344CB8AC3E}">
        <p14:creationId xmlns:p14="http://schemas.microsoft.com/office/powerpoint/2010/main" val="398248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40670" y="3693371"/>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Meridian, MS</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2"/>
          <p:cNvPicPr>
            <a:picLocks/>
          </p:cNvPicPr>
          <p:nvPr/>
        </p:nvPicPr>
        <p:blipFill>
          <a:blip r:embed="rId3" cstate="print"/>
          <a:stretch>
            <a:fillRect/>
          </a:stretch>
        </p:blipFill>
        <p:spPr>
          <a:xfrm>
            <a:off x="8810001" y="90093"/>
            <a:ext cx="2545080" cy="1207008"/>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McLeod Health</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6">
            <a:extLst>
              <a:ext uri="{96DAC541-7B7A-43D3-8B79-37D633B846F1}">
                <asvg:svgBlip xmlns:asvg="http://schemas.microsoft.com/office/drawing/2016/SVG/main" r:embed="rId14"/>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1">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600+ Employers       120,000</a:t>
            </a:r>
            <a:r>
              <a:rPr lang="en-US" sz="1600" spc="200" dirty="0">
                <a:latin typeface="Montserrat" panose="00000500000000000000" pitchFamily="2" charset="0"/>
                <a:cs typeface="+mj-cs"/>
                <a:sym typeface="Wingdings" panose="05000000000000000000" pitchFamily="2" charset="2"/>
              </a:rPr>
              <a:t>+ Employees       190,000+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2877816716"/>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321</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165</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71</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44</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6</a:t>
                      </a:r>
                    </a:p>
                  </a:txBody>
                  <a:tcPr marL="7620" marR="7620" marT="7620"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24,100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24,800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21,300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30,800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20,000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36,000</a:t>
                      </a:r>
                    </a:p>
                  </a:txBody>
                  <a:tcPr marL="7620" marR="7620" marT="762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43,400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44,600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38,300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55,400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36,000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64,800</a:t>
                      </a:r>
                    </a:p>
                  </a:txBody>
                  <a:tcPr marL="7620" marR="7620" marT="762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795866" y="1786292"/>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McLeod Health service area in Anson, Brunswick, Columbus, Richmond, Robeson, Scotland, Berkeley, Calhoun, Chesterfield, Clarendon, Darlington, Dillon, Florence, Horry, Lee, Marion, Marlboro, Orangeburg, Sumter, and Williamsburg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1,117K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618K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350K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218K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$12.98M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$4.74M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$78.27M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$29.61M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$161.62M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$61.29M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McLeod Health has 29% inpatient market share, and 17% outpatient market compared to hospitals/clinics in the McLeod Health service area (see slide 8). The DTE tiered structure will create immediate steerage, with additional steerage over time from patient bonus benefits and the patient convenience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McLeod Health 47%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32.6%</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37.6%</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42.6%</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1,578.9K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3,014.3K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5,779.1K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9,407.5K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1,262.1K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2,859.5K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5,641.1K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9,291.1K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2,153.1K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4,306.2K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8,090.8K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12,957.6K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1,841.1K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4,162.2K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7,969.6K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12,865.2K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1,004.8K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1,866.0K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3,632.6K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5,857.5K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683.2K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1,701.6K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3,479.0K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5,717.1K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508760" y="2834640"/>
            <a:ext cx="3154680" cy="1499766"/>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MCLEOD HEALTH IS PATIENT RECOMMENDED</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McLeod Health has the strongest brand quality in Anson, Brunswick, Columbus, Richmond, Robeson, Scotland, Berkeley, Calhoun, Chesterfield, Clarendon, Darlington, Dillon, Florence, Horry, Lee, Marion, Marlboro, Orangeburg, Sumter, and Williamsburg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820442808"/>
              </p:ext>
            </p:extLst>
          </p:nvPr>
        </p:nvGraphicFramePr>
        <p:xfrm>
          <a:off x="195246" y="1462088"/>
          <a:ext cx="9072287" cy="4194526"/>
        </p:xfrm>
        <a:graphic>
          <a:graphicData uri="http://schemas.openxmlformats.org/drawingml/2006/table">
            <a:tbl>
              <a:tblPr/>
              <a:tblGrid>
                <a:gridCol w="3459685">
                  <a:extLst>
                    <a:ext uri="{9D8B030D-6E8A-4147-A177-3AD203B41FA5}">
                      <a16:colId xmlns:a16="http://schemas.microsoft.com/office/drawing/2014/main" val="20000"/>
                    </a:ext>
                  </a:extLst>
                </a:gridCol>
                <a:gridCol w="1432875">
                  <a:extLst>
                    <a:ext uri="{9D8B030D-6E8A-4147-A177-3AD203B41FA5}">
                      <a16:colId xmlns:a16="http://schemas.microsoft.com/office/drawing/2014/main" val="20001"/>
                    </a:ext>
                  </a:extLst>
                </a:gridCol>
                <a:gridCol w="959478">
                  <a:extLst>
                    <a:ext uri="{9D8B030D-6E8A-4147-A177-3AD203B41FA5}">
                      <a16:colId xmlns:a16="http://schemas.microsoft.com/office/drawing/2014/main" val="20002"/>
                    </a:ext>
                  </a:extLst>
                </a:gridCol>
                <a:gridCol w="928578">
                  <a:extLst>
                    <a:ext uri="{9D8B030D-6E8A-4147-A177-3AD203B41FA5}">
                      <a16:colId xmlns:a16="http://schemas.microsoft.com/office/drawing/2014/main" val="20003"/>
                    </a:ext>
                  </a:extLst>
                </a:gridCol>
                <a:gridCol w="1130283">
                  <a:extLst>
                    <a:ext uri="{9D8B030D-6E8A-4147-A177-3AD203B41FA5}">
                      <a16:colId xmlns:a16="http://schemas.microsoft.com/office/drawing/2014/main" val="20004"/>
                    </a:ext>
                  </a:extLst>
                </a:gridCol>
                <a:gridCol w="1161388">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dirty="0">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HCAHPS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Recommendation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CMS Stars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Mortality</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Readmission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KBA Brand</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McLeod Health</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91A6C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690BD">
                        <a:alpha val="100000"/>
                      </a:srgbClr>
                    </a:solidFill>
                  </a:tcPr>
                </a:tc>
                <a:extLst>
                  <a:ext uri="{0D108BD9-81ED-4DB2-BD59-A6C34878D82A}">
                    <a16:rowId xmlns:a16="http://schemas.microsoft.com/office/drawing/2014/main" val="10001"/>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Tidelands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90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468A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extLst>
                  <a:ext uri="{0D108BD9-81ED-4DB2-BD59-A6C34878D82A}">
                    <a16:rowId xmlns:a16="http://schemas.microsoft.com/office/drawing/2014/main" val="10002"/>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Medical University of South Carolina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4C2D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F7EB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extLst>
                  <a:ext uri="{0D108BD9-81ED-4DB2-BD59-A6C34878D82A}">
                    <a16:rowId xmlns:a16="http://schemas.microsoft.com/office/drawing/2014/main" val="10003"/>
                  </a:ext>
                </a:extLst>
              </a:tr>
              <a:tr h="390310">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Other Independent Hospitals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extLst>
                  <a:ext uri="{0D108BD9-81ED-4DB2-BD59-A6C34878D82A}">
                    <a16:rowId xmlns:a16="http://schemas.microsoft.com/office/drawing/2014/main" val="10004"/>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ScionHealth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ABAD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extLst>
                  <a:ext uri="{0D108BD9-81ED-4DB2-BD59-A6C34878D82A}">
                    <a16:rowId xmlns:a16="http://schemas.microsoft.com/office/drawing/2014/main" val="10005"/>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HCA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0CCE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777A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extLst>
                  <a:ext uri="{0D108BD9-81ED-4DB2-BD59-A6C34878D82A}">
                    <a16:rowId xmlns:a16="http://schemas.microsoft.com/office/drawing/2014/main" val="10006"/>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Advocate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24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DD6E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0CCE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extLst>
                  <a:ext uri="{0D108BD9-81ED-4DB2-BD59-A6C34878D82A}">
                    <a16:rowId xmlns:a16="http://schemas.microsoft.com/office/drawing/2014/main" val="10007"/>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UNC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CEFF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extLst>
                  <a:ext uri="{0D108BD9-81ED-4DB2-BD59-A6C34878D82A}">
                    <a16:rowId xmlns:a16="http://schemas.microsoft.com/office/drawing/2014/main" val="10008"/>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Prisma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2F4F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4F71A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Montserrat"/>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A1B3D2">
                        <a:alpha val="100000"/>
                      </a:srgb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E542DB07-D2DC-0A56-8F8F-4BED448FDB22}"/>
              </a:ext>
            </a:extLst>
          </p:cNvPr>
          <p:cNvSpPr txBox="1">
            <a:spLocks noChangeArrowheads="1"/>
          </p:cNvSpPr>
          <p:nvPr/>
        </p:nvSpPr>
        <p:spPr bwMode="auto">
          <a:xfrm>
            <a:off x="288925" y="261938"/>
            <a:ext cx="1153477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44546A"/>
                </a:solidFill>
                <a:cs typeface="Arial" panose="020B0604020202020204" pitchFamily="34" charset="0"/>
              </a:rPr>
              <a:t>The Key Incentive Plan </a:t>
            </a:r>
          </a:p>
          <a:p>
            <a:pPr algn="ctr" eaLnBrk="1" hangingPunct="1">
              <a:lnSpc>
                <a:spcPct val="90000"/>
              </a:lnSpc>
              <a:spcBef>
                <a:spcPts val="1000"/>
              </a:spcBef>
            </a:pP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FADE1019-68FD-3A1C-E52B-8DFA47A32742}"/>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FFB1E76E-23B6-4BB3-AB94-886503EF8F9B}" type="slidenum">
              <a:rPr lang="en-US" altLang="en-US" smtClean="0">
                <a:solidFill>
                  <a:srgbClr val="898989"/>
                </a:solidFill>
                <a:latin typeface="Montserrat" panose="00000500000000000000" pitchFamily="2" charset="0"/>
              </a:rPr>
              <a:pPr fontAlgn="base">
                <a:spcBef>
                  <a:spcPct val="0"/>
                </a:spcBef>
                <a:spcAft>
                  <a:spcPct val="0"/>
                </a:spcAft>
              </a:pPr>
              <a:t>15</a:t>
            </a:fld>
            <a:endParaRPr lang="en-US" altLang="en-US">
              <a:solidFill>
                <a:srgbClr val="898989"/>
              </a:solidFill>
              <a:latin typeface="Montserrat" panose="00000500000000000000" pitchFamily="2" charset="0"/>
            </a:endParaRPr>
          </a:p>
        </p:txBody>
      </p:sp>
      <p:pic>
        <p:nvPicPr>
          <p:cNvPr id="4" name="Picture 12">
            <a:extLst>
              <a:ext uri="{FF2B5EF4-FFF2-40B4-BE49-F238E27FC236}">
                <a16:creationId xmlns:a16="http://schemas.microsoft.com/office/drawing/2014/main" id="{DD3C9745-379F-EA01-5692-A06333CD9F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FFC4D94-EFD5-78D7-358F-F03284992CED}"/>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extBox 6">
            <a:extLst>
              <a:ext uri="{FF2B5EF4-FFF2-40B4-BE49-F238E27FC236}">
                <a16:creationId xmlns:a16="http://schemas.microsoft.com/office/drawing/2014/main" id="{E95F4BB9-6CDD-7F04-4DFC-483C445D9CA8}"/>
              </a:ext>
            </a:extLst>
          </p:cNvPr>
          <p:cNvSpPr txBox="1">
            <a:spLocks noChangeArrowheads="1"/>
          </p:cNvSpPr>
          <p:nvPr/>
        </p:nvSpPr>
        <p:spPr bwMode="auto">
          <a:xfrm>
            <a:off x="368300" y="915988"/>
            <a:ext cx="115347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600" b="1" u="sng">
                <a:solidFill>
                  <a:srgbClr val="C00000"/>
                </a:solidFill>
                <a:cs typeface="Arial" panose="020B0604020202020204" pitchFamily="34" charset="0"/>
              </a:rPr>
              <a:t>Affordability Without Compromise</a:t>
            </a:r>
          </a:p>
          <a:p>
            <a:r>
              <a:rPr lang="en-US" altLang="en-US" sz="2600">
                <a:solidFill>
                  <a:srgbClr val="000000"/>
                </a:solidFill>
                <a:cs typeface="Arial" panose="020B0604020202020204" pitchFamily="34" charset="0"/>
              </a:rPr>
              <a:t> </a:t>
            </a:r>
          </a:p>
        </p:txBody>
      </p:sp>
      <p:sp>
        <p:nvSpPr>
          <p:cNvPr id="7" name="TextBox 5">
            <a:extLst>
              <a:ext uri="{FF2B5EF4-FFF2-40B4-BE49-F238E27FC236}">
                <a16:creationId xmlns:a16="http://schemas.microsoft.com/office/drawing/2014/main" id="{8E087B30-4892-789D-376A-F35793EFF5BE}"/>
              </a:ext>
            </a:extLst>
          </p:cNvPr>
          <p:cNvSpPr txBox="1">
            <a:spLocks noChangeArrowheads="1"/>
          </p:cNvSpPr>
          <p:nvPr/>
        </p:nvSpPr>
        <p:spPr bwMode="auto">
          <a:xfrm>
            <a:off x="166688" y="1465263"/>
            <a:ext cx="118554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a:solidFill>
                  <a:srgbClr val="000000"/>
                </a:solidFill>
                <a:cs typeface="Arial" panose="020B0604020202020204" pitchFamily="34" charset="0"/>
              </a:rPr>
              <a:t>The </a:t>
            </a:r>
            <a:r>
              <a:rPr lang="en-US" altLang="en-US" sz="1700" b="1">
                <a:solidFill>
                  <a:srgbClr val="44546A"/>
                </a:solidFill>
                <a:cs typeface="Arial" panose="020B0604020202020204" pitchFamily="34" charset="0"/>
              </a:rPr>
              <a:t>Key Incentive Plan </a:t>
            </a:r>
            <a:r>
              <a:rPr lang="en-US" altLang="en-US" sz="1700">
                <a:solidFill>
                  <a:srgbClr val="000000"/>
                </a:solidFill>
                <a:cs typeface="Arial" panose="020B0604020202020204" pitchFamily="34" charset="0"/>
              </a:rPr>
              <a:t>is a one-of-a-kind solution, empowering employers to take back control of their healthcare programs, that offers freedom of choice when choosing providers in your local community, while incenting members to choose high-quality, cost-effective care. </a:t>
            </a:r>
            <a:endParaRPr lang="en-US" altLang="en-US" sz="1700">
              <a:solidFill>
                <a:srgbClr val="000000"/>
              </a:solidFill>
            </a:endParaRPr>
          </a:p>
        </p:txBody>
      </p:sp>
      <p:sp>
        <p:nvSpPr>
          <p:cNvPr id="8" name="TextBox 15">
            <a:extLst>
              <a:ext uri="{FF2B5EF4-FFF2-40B4-BE49-F238E27FC236}">
                <a16:creationId xmlns:a16="http://schemas.microsoft.com/office/drawing/2014/main" id="{018542B8-ECF1-5CCF-E9B3-AA0B01113918}"/>
              </a:ext>
            </a:extLst>
          </p:cNvPr>
          <p:cNvSpPr txBox="1">
            <a:spLocks noChangeArrowheads="1"/>
          </p:cNvSpPr>
          <p:nvPr/>
        </p:nvSpPr>
        <p:spPr bwMode="auto">
          <a:xfrm>
            <a:off x="2525713" y="6657975"/>
            <a:ext cx="9929812"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900" i="1">
                <a:solidFill>
                  <a:srgbClr val="FFFFFF"/>
                </a:solidFill>
                <a:cs typeface="Arial" panose="020B0604020202020204" pitchFamily="34" charset="0"/>
              </a:rPr>
              <a:t>*Daily Inpatient Hospital Benefit, OP Surgery/Anasthesia, OP Radiology/X-Ray, OP Diagnostic Labs, Health Screening Benefit, Wellness Benefit, Critical Illness</a:t>
            </a:r>
          </a:p>
        </p:txBody>
      </p:sp>
      <p:sp>
        <p:nvSpPr>
          <p:cNvPr id="9" name="Freeform 9">
            <a:extLst>
              <a:ext uri="{FF2B5EF4-FFF2-40B4-BE49-F238E27FC236}">
                <a16:creationId xmlns:a16="http://schemas.microsoft.com/office/drawing/2014/main" id="{163AA3EC-B4EC-2EAD-02F5-FE74A5ECE5A3}"/>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pic>
        <p:nvPicPr>
          <p:cNvPr id="10" name="Picture 155">
            <a:extLst>
              <a:ext uri="{FF2B5EF4-FFF2-40B4-BE49-F238E27FC236}">
                <a16:creationId xmlns:a16="http://schemas.microsoft.com/office/drawing/2014/main" id="{6F12CF8A-8847-902E-833A-A7D12DB37A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700" y="2292350"/>
            <a:ext cx="12052300"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484357"/>
            <a:ext cx="7941568" cy="335955"/>
          </a:xfrm>
          <a:prstGeom prst="rect">
            <a:avLst/>
          </a:prstGeom>
          <a:noFill/>
          <a:ln/>
        </p:spPr>
        <p:txBody>
          <a:bodyPr wrap="none" lIns="0" tIns="0" rIns="0" bIns="0" rtlCol="0" anchor="t"/>
          <a:lstStyle/>
          <a:p>
            <a:pPr>
              <a:lnSpc>
                <a:spcPts val="2625"/>
              </a:lnSpc>
            </a:pPr>
            <a:r>
              <a:rPr lang="en-US" sz="2800" b="1" dirty="0">
                <a:solidFill>
                  <a:srgbClr val="00539F"/>
                </a:solidFill>
                <a:latin typeface="Montserrat Bold" pitchFamily="34" charset="0"/>
                <a:ea typeface="Montserrat Bold" pitchFamily="34" charset="-122"/>
                <a:cs typeface="Montserrat Bold" pitchFamily="34" charset="-120"/>
              </a:rPr>
              <a:t>Weight Management (GLP-1s) that Don't Break the Bank</a:t>
            </a:r>
            <a:endParaRPr lang="en-US" sz="2800" dirty="0">
              <a:solidFill>
                <a:srgbClr val="00539F"/>
              </a:solidFill>
            </a:endParaRPr>
          </a:p>
        </p:txBody>
      </p:sp>
      <p:sp>
        <p:nvSpPr>
          <p:cNvPr id="3" name="Text 1"/>
          <p:cNvSpPr/>
          <p:nvPr/>
        </p:nvSpPr>
        <p:spPr>
          <a:xfrm>
            <a:off x="661492" y="1244303"/>
            <a:ext cx="1086901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The GLP-1 medication market has experienced explosive growth, fundamentally reshaping healthcare spending across America. Prime Therapeutics reports that per-member-per-month spend has tripled by March 2025, with these breakthrough medications now representing approximately 15% of total pharmacy spend. More than 1 in 50 members filed a GLP-1 claim in Q1 2025 alone, demonstrating unprecedented demand for these life-changing treatments.</a:t>
            </a:r>
            <a:endParaRPr lang="en-US" sz="833" dirty="0"/>
          </a:p>
        </p:txBody>
      </p:sp>
      <p:sp>
        <p:nvSpPr>
          <p:cNvPr id="4" name="Shape 2"/>
          <p:cNvSpPr/>
          <p:nvPr/>
        </p:nvSpPr>
        <p:spPr>
          <a:xfrm>
            <a:off x="66149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5" name="Text 3"/>
          <p:cNvSpPr/>
          <p:nvPr/>
        </p:nvSpPr>
        <p:spPr>
          <a:xfrm>
            <a:off x="77529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Challenge</a:t>
            </a:r>
            <a:endParaRPr lang="en-US" sz="1042" dirty="0"/>
          </a:p>
        </p:txBody>
      </p:sp>
      <p:sp>
        <p:nvSpPr>
          <p:cNvPr id="6" name="Text 4"/>
          <p:cNvSpPr/>
          <p:nvPr/>
        </p:nvSpPr>
        <p:spPr>
          <a:xfrm>
            <a:off x="77529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Traditional GLP-1 medications cost between $1,089-$1,349 monthly, creating unsustainable budget pressures for employers while limiting employee access to essential treatments.</a:t>
            </a:r>
            <a:endParaRPr lang="en-US" sz="833" dirty="0"/>
          </a:p>
        </p:txBody>
      </p:sp>
      <p:sp>
        <p:nvSpPr>
          <p:cNvPr id="7" name="Shape 5"/>
          <p:cNvSpPr/>
          <p:nvPr/>
        </p:nvSpPr>
        <p:spPr>
          <a:xfrm>
            <a:off x="432028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8" name="Text 6"/>
          <p:cNvSpPr/>
          <p:nvPr/>
        </p:nvSpPr>
        <p:spPr>
          <a:xfrm>
            <a:off x="443408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Our Solution</a:t>
            </a:r>
            <a:endParaRPr lang="en-US" sz="1042" dirty="0"/>
          </a:p>
        </p:txBody>
      </p:sp>
      <p:sp>
        <p:nvSpPr>
          <p:cNvPr id="9" name="Text 7"/>
          <p:cNvSpPr/>
          <p:nvPr/>
        </p:nvSpPr>
        <p:spPr>
          <a:xfrm>
            <a:off x="443408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Key Benefits secures generic GLP-1 medications for just $249 per month, enabling comprehensive workforce health while maintaining strict budget control and financial stability.</a:t>
            </a:r>
            <a:endParaRPr lang="en-US" sz="833" dirty="0"/>
          </a:p>
        </p:txBody>
      </p:sp>
      <p:sp>
        <p:nvSpPr>
          <p:cNvPr id="10" name="Shape 8"/>
          <p:cNvSpPr/>
          <p:nvPr/>
        </p:nvSpPr>
        <p:spPr>
          <a:xfrm>
            <a:off x="7979073" y="1881287"/>
            <a:ext cx="3551436"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11" name="Text 9"/>
          <p:cNvSpPr/>
          <p:nvPr/>
        </p:nvSpPr>
        <p:spPr>
          <a:xfrm>
            <a:off x="8092877"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Impact</a:t>
            </a:r>
            <a:endParaRPr lang="en-US" sz="1042" dirty="0"/>
          </a:p>
        </p:txBody>
      </p:sp>
      <p:sp>
        <p:nvSpPr>
          <p:cNvPr id="12" name="Text 10"/>
          <p:cNvSpPr/>
          <p:nvPr/>
        </p:nvSpPr>
        <p:spPr>
          <a:xfrm>
            <a:off x="8092877" y="2227461"/>
            <a:ext cx="332382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Deliver a healthier population, increased employee satisfaction, and sustainable costs that support long-term organizational success and employee wellbeing.</a:t>
            </a:r>
            <a:endParaRPr lang="en-US" sz="833" dirty="0"/>
          </a:p>
        </p:txBody>
      </p:sp>
      <p:sp>
        <p:nvSpPr>
          <p:cNvPr id="13" name="Text 11"/>
          <p:cNvSpPr/>
          <p:nvPr/>
        </p:nvSpPr>
        <p:spPr>
          <a:xfrm>
            <a:off x="661492" y="3085704"/>
            <a:ext cx="3055044" cy="201513"/>
          </a:xfrm>
          <a:prstGeom prst="rect">
            <a:avLst/>
          </a:prstGeom>
          <a:noFill/>
          <a:ln/>
        </p:spPr>
        <p:txBody>
          <a:bodyPr wrap="none" lIns="0" tIns="0" rIns="0" bIns="0" rtlCol="0" anchor="t"/>
          <a:lstStyle/>
          <a:p>
            <a:pPr>
              <a:lnSpc>
                <a:spcPts val="1583"/>
              </a:lnSpc>
            </a:pPr>
            <a:r>
              <a:rPr lang="en-US" sz="1250" b="1" dirty="0">
                <a:solidFill>
                  <a:srgbClr val="024693"/>
                </a:solidFill>
                <a:latin typeface="Montserrat Bold" pitchFamily="34" charset="0"/>
                <a:ea typeface="Montserrat Bold" pitchFamily="34" charset="-122"/>
                <a:cs typeface="Montserrat Bold" pitchFamily="34" charset="-120"/>
              </a:rPr>
              <a:t>Proven Results: $7M Annual Savings</a:t>
            </a:r>
            <a:endParaRPr lang="en-US" sz="1250" dirty="0"/>
          </a:p>
        </p:txBody>
      </p:sp>
      <p:sp>
        <p:nvSpPr>
          <p:cNvPr id="14" name="Text 12"/>
          <p:cNvSpPr/>
          <p:nvPr/>
        </p:nvSpPr>
        <p:spPr>
          <a:xfrm>
            <a:off x="661492" y="3394670"/>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One major city spending $11 million annually on GLP-1 medications achieved $7 million in cost savings through our comprehensive approach. This dramatic reduction demonstrates how strategic sourcing combined with clinical support creates sustainable, scalable solutions for large employers facing escalating pharmaceutical costs.</a:t>
            </a:r>
            <a:endParaRPr lang="en-US" sz="833" dirty="0"/>
          </a:p>
        </p:txBody>
      </p:sp>
      <p:sp>
        <p:nvSpPr>
          <p:cNvPr id="15" name="Text 13"/>
          <p:cNvSpPr/>
          <p:nvPr/>
        </p:nvSpPr>
        <p:spPr>
          <a:xfrm>
            <a:off x="661492" y="4018260"/>
            <a:ext cx="2902644" cy="167878"/>
          </a:xfrm>
          <a:prstGeom prst="rect">
            <a:avLst/>
          </a:prstGeom>
          <a:noFill/>
          <a:ln/>
        </p:spPr>
        <p:txBody>
          <a:bodyPr wrap="none" lIns="0" tIns="0" rIns="0" bIns="0" rtlCol="0" anchor="t"/>
          <a:lstStyle/>
          <a:p>
            <a:pPr>
              <a:lnSpc>
                <a:spcPts val="1292"/>
              </a:lnSpc>
            </a:pPr>
            <a:r>
              <a:rPr lang="en-US" sz="1042" b="1" dirty="0">
                <a:solidFill>
                  <a:srgbClr val="000B2E"/>
                </a:solidFill>
                <a:latin typeface="Montserrat Bold" pitchFamily="34" charset="0"/>
                <a:ea typeface="Montserrat Bold" pitchFamily="34" charset="-122"/>
                <a:cs typeface="Montserrat Bold" pitchFamily="34" charset="-120"/>
              </a:rPr>
              <a:t>Beyond Medication: Comprehensive Care</a:t>
            </a:r>
            <a:endParaRPr lang="en-US" sz="1042" dirty="0"/>
          </a:p>
        </p:txBody>
      </p:sp>
      <p:sp>
        <p:nvSpPr>
          <p:cNvPr id="16" name="Text 14"/>
          <p:cNvSpPr/>
          <p:nvPr/>
        </p:nvSpPr>
        <p:spPr>
          <a:xfrm>
            <a:off x="661492" y="4293593"/>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Our program extends far beyond cost-effective medication access. Members receive specialized coaching twice monthly, focusing on maintaining muscular strength, engaging in moderate exercise, and developing sustainable lifestyle changes that support long-term weight maintenance after GLP-1 treatment completion.</a:t>
            </a:r>
            <a:endParaRPr lang="en-US" sz="833" dirty="0"/>
          </a:p>
        </p:txBody>
      </p:sp>
      <p:sp>
        <p:nvSpPr>
          <p:cNvPr id="17" name="Text 15"/>
          <p:cNvSpPr/>
          <p:nvPr/>
        </p:nvSpPr>
        <p:spPr>
          <a:xfrm>
            <a:off x="7346455" y="3152775"/>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270</a:t>
            </a:r>
            <a:endParaRPr lang="en-US" sz="2792" dirty="0"/>
          </a:p>
        </p:txBody>
      </p:sp>
      <p:sp>
        <p:nvSpPr>
          <p:cNvPr id="18" name="Text 16"/>
          <p:cNvSpPr/>
          <p:nvPr/>
        </p:nvSpPr>
        <p:spPr>
          <a:xfrm>
            <a:off x="8769648" y="3641725"/>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Health Conditions</a:t>
            </a:r>
            <a:endParaRPr lang="en-US" sz="1042" dirty="0"/>
          </a:p>
        </p:txBody>
      </p:sp>
      <p:sp>
        <p:nvSpPr>
          <p:cNvPr id="19" name="Text 17"/>
          <p:cNvSpPr/>
          <p:nvPr/>
        </p:nvSpPr>
        <p:spPr>
          <a:xfrm>
            <a:off x="7346455" y="3917057"/>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Created or exacerbated by obesity according to Cleveland Clinic research</a:t>
            </a:r>
            <a:endParaRPr lang="en-US" sz="833" dirty="0"/>
          </a:p>
        </p:txBody>
      </p:sp>
      <p:sp>
        <p:nvSpPr>
          <p:cNvPr id="20" name="Text 18"/>
          <p:cNvSpPr/>
          <p:nvPr/>
        </p:nvSpPr>
        <p:spPr>
          <a:xfrm>
            <a:off x="7346455" y="4357787"/>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$8.5K</a:t>
            </a:r>
            <a:endParaRPr lang="en-US" sz="2792" dirty="0"/>
          </a:p>
        </p:txBody>
      </p:sp>
      <p:sp>
        <p:nvSpPr>
          <p:cNvPr id="21" name="Text 19"/>
          <p:cNvSpPr/>
          <p:nvPr/>
        </p:nvSpPr>
        <p:spPr>
          <a:xfrm>
            <a:off x="8769648" y="4846737"/>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Additional Spend</a:t>
            </a:r>
            <a:endParaRPr lang="en-US" sz="1042" dirty="0"/>
          </a:p>
        </p:txBody>
      </p:sp>
      <p:sp>
        <p:nvSpPr>
          <p:cNvPr id="22" name="Text 20"/>
          <p:cNvSpPr/>
          <p:nvPr/>
        </p:nvSpPr>
        <p:spPr>
          <a:xfrm>
            <a:off x="7346455" y="5122069"/>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Average annual healthcare costs above normal for obese individuals (KFF)</a:t>
            </a:r>
            <a:endParaRPr lang="en-US" sz="833" dirty="0"/>
          </a:p>
        </p:txBody>
      </p:sp>
      <p:sp>
        <p:nvSpPr>
          <p:cNvPr id="23" name="Shape 21"/>
          <p:cNvSpPr/>
          <p:nvPr/>
        </p:nvSpPr>
        <p:spPr>
          <a:xfrm>
            <a:off x="661492" y="5535811"/>
            <a:ext cx="10869018" cy="628749"/>
          </a:xfrm>
          <a:prstGeom prst="roundRect">
            <a:avLst>
              <a:gd name="adj" fmla="val 7181"/>
            </a:avLst>
          </a:prstGeom>
          <a:solidFill>
            <a:schemeClr val="accent1">
              <a:lumMod val="20000"/>
              <a:lumOff val="80000"/>
            </a:schemeClr>
          </a:solidFill>
          <a:ln/>
        </p:spPr>
        <p:txBody>
          <a:bodyPr/>
          <a:lstStyle/>
          <a:p>
            <a:endParaRPr lang="en-US"/>
          </a:p>
        </p:txBody>
      </p:sp>
      <p:pic>
        <p:nvPicPr>
          <p:cNvPr id="24" name="Image 0" descr="preencoded.png"/>
          <p:cNvPicPr>
            <a:picLocks noChangeAspect="1"/>
          </p:cNvPicPr>
          <p:nvPr/>
        </p:nvPicPr>
        <p:blipFill>
          <a:blip r:embed="rId3"/>
          <a:stretch>
            <a:fillRect/>
          </a:stretch>
        </p:blipFill>
        <p:spPr>
          <a:xfrm>
            <a:off x="768945" y="5696645"/>
            <a:ext cx="134343" cy="107454"/>
          </a:xfrm>
          <a:prstGeom prst="rect">
            <a:avLst/>
          </a:prstGeom>
        </p:spPr>
      </p:pic>
      <p:sp>
        <p:nvSpPr>
          <p:cNvPr id="25" name="Text 22"/>
          <p:cNvSpPr/>
          <p:nvPr/>
        </p:nvSpPr>
        <p:spPr>
          <a:xfrm>
            <a:off x="1010742" y="5670055"/>
            <a:ext cx="10412313" cy="344091"/>
          </a:xfrm>
          <a:prstGeom prst="rect">
            <a:avLst/>
          </a:prstGeom>
          <a:noFill/>
          <a:ln/>
        </p:spPr>
        <p:txBody>
          <a:bodyPr wrap="square" lIns="0" tIns="0" rIns="0" bIns="0" rtlCol="0" anchor="t"/>
          <a:lstStyle/>
          <a:p>
            <a:pPr>
              <a:lnSpc>
                <a:spcPts val="1333"/>
              </a:lnSpc>
            </a:pPr>
            <a:r>
              <a:rPr lang="en-US" sz="1000" b="1" dirty="0">
                <a:solidFill>
                  <a:srgbClr val="000000"/>
                </a:solidFill>
                <a:latin typeface="Inter" pitchFamily="34" charset="0"/>
                <a:ea typeface="Inter" pitchFamily="34" charset="-122"/>
                <a:cs typeface="Inter" pitchFamily="34" charset="-120"/>
              </a:rPr>
              <a:t>Transform Your Healthcare Strategy:</a:t>
            </a:r>
            <a:r>
              <a:rPr lang="en-US" sz="1000" dirty="0">
                <a:solidFill>
                  <a:srgbClr val="000000"/>
                </a:solidFill>
                <a:latin typeface="Inter" pitchFamily="34" charset="0"/>
                <a:ea typeface="Inter" pitchFamily="34" charset="-122"/>
                <a:cs typeface="Inter" pitchFamily="34" charset="-120"/>
              </a:rPr>
              <a:t> Join forward-thinking employers who are providing comprehensive weight management solutions while protecting their bottom line. Our approach combines clinical excellence with fiscal responsibility, creating a win-win for organizations and their valued employees.</a:t>
            </a:r>
            <a:endParaRPr lang="en-US" sz="1000" dirty="0"/>
          </a:p>
        </p:txBody>
      </p:sp>
      <p:pic>
        <p:nvPicPr>
          <p:cNvPr id="26" name="Picture 10">
            <a:extLst>
              <a:ext uri="{FF2B5EF4-FFF2-40B4-BE49-F238E27FC236}">
                <a16:creationId xmlns:a16="http://schemas.microsoft.com/office/drawing/2014/main" id="{032C243F-5508-CF0B-45ED-B7E09DF022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Freeform 11">
            <a:extLst>
              <a:ext uri="{FF2B5EF4-FFF2-40B4-BE49-F238E27FC236}">
                <a16:creationId xmlns:a16="http://schemas.microsoft.com/office/drawing/2014/main" id="{6A0AB534-2581-F240-64D6-6846AFCC745B}"/>
              </a:ext>
            </a:extLst>
          </p:cNvPr>
          <p:cNvSpPr>
            <a:spLocks/>
          </p:cNvSpPr>
          <p:nvPr/>
        </p:nvSpPr>
        <p:spPr bwMode="auto">
          <a:xfrm rot="16200000" flipV="1">
            <a:off x="7289801"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17</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28.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McLeod Health’s approved site(s) with network integration, and development of McLeod Health’s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$ 1,198K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3,091K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$ 1,893K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$ 1,162K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388K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$ 2,396K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$ 3,786K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$ 2,324K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$ 1,423K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$ 1,105K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$ 5,989K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$ 15,454K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$ 9,464K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$ 5,811K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$ 3,559K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$ 3,259K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$23,958K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$ 9,008K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$ 61,814K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$37,856K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$23,242K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$14,234K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$14,024K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$47,915K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$18,016K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$123,628K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$75,713K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$46,484K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$28,468K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$28,378K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McLeod Health’s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McLeod Health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McLeod Health’s managed care with KBA’s programs positions McLeod Health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McLeod Health’s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McLeod Health’s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McLeod Health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22</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FF97C79-4A33-43A3-1EC1-DCE4FFCCA043}"/>
              </a:ext>
            </a:extLst>
          </p:cNvPr>
          <p:cNvSpPr txBox="1">
            <a:spLocks noChangeArrowheads="1"/>
          </p:cNvSpPr>
          <p:nvPr/>
        </p:nvSpPr>
        <p:spPr bwMode="auto">
          <a:xfrm>
            <a:off x="441325" y="923925"/>
            <a:ext cx="1153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2600">
                <a:solidFill>
                  <a:srgbClr val="000000"/>
                </a:solidFill>
                <a:cs typeface="Arial" panose="020B0604020202020204" pitchFamily="34" charset="0"/>
              </a:rPr>
              <a:t>Base Medical + Preferred Plus Benefits = Your Deductible Can Simply Vanish</a:t>
            </a: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C3ECC346-71F1-52A3-EA9D-D5B9815B1177}"/>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968EF9-8F85-4F1F-9876-15E5B44FFF67}" type="slidenum">
              <a:rPr lang="en-US" altLang="en-US">
                <a:solidFill>
                  <a:srgbClr val="767676"/>
                </a:solidFill>
                <a:latin typeface="Aptos" panose="020B0004020202020204" pitchFamily="34" charset="0"/>
              </a:rPr>
              <a:pPr eaLnBrk="1" hangingPunct="1"/>
              <a:t>25</a:t>
            </a:fld>
            <a:endParaRPr lang="en-US" altLang="en-US">
              <a:solidFill>
                <a:srgbClr val="767676"/>
              </a:solidFill>
              <a:latin typeface="Aptos" panose="020B0004020202020204" pitchFamily="34" charset="0"/>
            </a:endParaRPr>
          </a:p>
        </p:txBody>
      </p:sp>
      <p:pic>
        <p:nvPicPr>
          <p:cNvPr id="4" name="Picture 12">
            <a:extLst>
              <a:ext uri="{FF2B5EF4-FFF2-40B4-BE49-F238E27FC236}">
                <a16:creationId xmlns:a16="http://schemas.microsoft.com/office/drawing/2014/main" id="{45768469-CF94-61BC-49D6-61C78A1E2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236F4D5-E223-F4EC-5C68-233260C45221}"/>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itle 2">
            <a:extLst>
              <a:ext uri="{FF2B5EF4-FFF2-40B4-BE49-F238E27FC236}">
                <a16:creationId xmlns:a16="http://schemas.microsoft.com/office/drawing/2014/main" id="{35B9937C-D670-849A-EFB3-6E9349885EE1}"/>
              </a:ext>
            </a:extLst>
          </p:cNvPr>
          <p:cNvSpPr txBox="1">
            <a:spLocks noChangeArrowheads="1"/>
          </p:cNvSpPr>
          <p:nvPr/>
        </p:nvSpPr>
        <p:spPr bwMode="auto">
          <a:xfrm>
            <a:off x="441325" y="296863"/>
            <a:ext cx="115347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0053A0"/>
                </a:solidFill>
                <a:cs typeface="Arial" panose="020B0604020202020204" pitchFamily="34" charset="0"/>
              </a:rPr>
              <a:t>The Key Incentive Plan</a:t>
            </a:r>
          </a:p>
        </p:txBody>
      </p:sp>
      <p:sp>
        <p:nvSpPr>
          <p:cNvPr id="7" name="TextBox 7">
            <a:extLst>
              <a:ext uri="{FF2B5EF4-FFF2-40B4-BE49-F238E27FC236}">
                <a16:creationId xmlns:a16="http://schemas.microsoft.com/office/drawing/2014/main" id="{97DF678D-7946-6B2B-92C9-44445ED1AB2A}"/>
              </a:ext>
            </a:extLst>
          </p:cNvPr>
          <p:cNvSpPr txBox="1">
            <a:spLocks noChangeArrowheads="1"/>
          </p:cNvSpPr>
          <p:nvPr/>
        </p:nvSpPr>
        <p:spPr bwMode="auto">
          <a:xfrm>
            <a:off x="515938" y="1365250"/>
            <a:ext cx="115347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i="1" dirty="0">
                <a:solidFill>
                  <a:srgbClr val="000000"/>
                </a:solidFill>
                <a:latin typeface="Aptos" panose="020B0004020202020204" pitchFamily="34" charset="0"/>
              </a:rPr>
              <a:t>Example:</a:t>
            </a:r>
            <a:r>
              <a:rPr lang="en-US" altLang="en-US" sz="1600" i="1" dirty="0">
                <a:solidFill>
                  <a:srgbClr val="000000"/>
                </a:solidFill>
                <a:latin typeface="Aptos" panose="020B0004020202020204" pitchFamily="34" charset="0"/>
              </a:rPr>
              <a:t> Member with a $2,500 deductible / $4,500 max out-of-pocket has a heart attack and cardiac surgery, resulting in a 5-day in-patient stay. In this example, the member would have a $4,500 OOP with $5,050 Preferred Plus Benefits for a </a:t>
            </a:r>
            <a:r>
              <a:rPr lang="en-US" altLang="en-US" sz="1600" b="1" i="1" u="sng" dirty="0">
                <a:solidFill>
                  <a:srgbClr val="000000"/>
                </a:solidFill>
                <a:latin typeface="Aptos" panose="020B0004020202020204" pitchFamily="34" charset="0"/>
              </a:rPr>
              <a:t>net OOP $0 due to the preferred provider </a:t>
            </a:r>
            <a:r>
              <a:rPr lang="en-US" altLang="en-US" sz="1600" b="1" i="1" dirty="0">
                <a:solidFill>
                  <a:srgbClr val="000000"/>
                </a:solidFill>
                <a:latin typeface="Aptos" panose="020B0004020202020204" pitchFamily="34" charset="0"/>
              </a:rPr>
              <a:t>versus $4,500 OOP exposure at any non-preferred provider.</a:t>
            </a:r>
          </a:p>
        </p:txBody>
      </p:sp>
      <p:graphicFrame>
        <p:nvGraphicFramePr>
          <p:cNvPr id="8" name="Table 14">
            <a:extLst>
              <a:ext uri="{FF2B5EF4-FFF2-40B4-BE49-F238E27FC236}">
                <a16:creationId xmlns:a16="http://schemas.microsoft.com/office/drawing/2014/main" id="{9EE69140-F83A-5990-E7B6-C51DE5264BEF}"/>
              </a:ext>
            </a:extLst>
          </p:cNvPr>
          <p:cNvGraphicFramePr>
            <a:graphicFrameLocks noGrp="1"/>
          </p:cNvGraphicFramePr>
          <p:nvPr/>
        </p:nvGraphicFramePr>
        <p:xfrm>
          <a:off x="1063625" y="2195513"/>
          <a:ext cx="10290174" cy="4114799"/>
        </p:xfrm>
        <a:graphic>
          <a:graphicData uri="http://schemas.openxmlformats.org/drawingml/2006/table">
            <a:tbl>
              <a:tblPr/>
              <a:tblGrid>
                <a:gridCol w="1390986">
                  <a:extLst>
                    <a:ext uri="{9D8B030D-6E8A-4147-A177-3AD203B41FA5}">
                      <a16:colId xmlns:a16="http://schemas.microsoft.com/office/drawing/2014/main" val="20000"/>
                    </a:ext>
                  </a:extLst>
                </a:gridCol>
                <a:gridCol w="2045566">
                  <a:extLst>
                    <a:ext uri="{9D8B030D-6E8A-4147-A177-3AD203B41FA5}">
                      <a16:colId xmlns:a16="http://schemas.microsoft.com/office/drawing/2014/main" val="20001"/>
                    </a:ext>
                  </a:extLst>
                </a:gridCol>
                <a:gridCol w="81824">
                  <a:extLst>
                    <a:ext uri="{9D8B030D-6E8A-4147-A177-3AD203B41FA5}">
                      <a16:colId xmlns:a16="http://schemas.microsoft.com/office/drawing/2014/main" val="20002"/>
                    </a:ext>
                  </a:extLst>
                </a:gridCol>
                <a:gridCol w="2904447">
                  <a:extLst>
                    <a:ext uri="{9D8B030D-6E8A-4147-A177-3AD203B41FA5}">
                      <a16:colId xmlns:a16="http://schemas.microsoft.com/office/drawing/2014/main" val="20003"/>
                    </a:ext>
                  </a:extLst>
                </a:gridCol>
                <a:gridCol w="1990718">
                  <a:extLst>
                    <a:ext uri="{9D8B030D-6E8A-4147-A177-3AD203B41FA5}">
                      <a16:colId xmlns:a16="http://schemas.microsoft.com/office/drawing/2014/main" val="20004"/>
                    </a:ext>
                  </a:extLst>
                </a:gridCol>
                <a:gridCol w="1876633">
                  <a:extLst>
                    <a:ext uri="{9D8B030D-6E8A-4147-A177-3AD203B41FA5}">
                      <a16:colId xmlns:a16="http://schemas.microsoft.com/office/drawing/2014/main" val="20005"/>
                    </a:ext>
                  </a:extLst>
                </a:gridCol>
              </a:tblGrid>
              <a:tr h="291027">
                <a:tc gridSpan="2">
                  <a:txBody>
                    <a:bodyPr/>
                    <a:lstStyle/>
                    <a:p>
                      <a:pPr algn="ctr" fontAlgn="b"/>
                      <a:r>
                        <a:rPr lang="en-US" sz="1400" b="1" i="0" u="none" strike="noStrike" dirty="0">
                          <a:solidFill>
                            <a:srgbClr val="FFFFFF"/>
                          </a:solidFill>
                          <a:effectLst/>
                          <a:latin typeface="Arial" panose="020B0604020202020204" pitchFamily="34" charset="0"/>
                        </a:rPr>
                        <a:t>BASE MEDICAL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400" b="1" i="0" u="none" strike="noStrike">
                          <a:solidFill>
                            <a:srgbClr val="FFFFFF"/>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0606">
                <a:tc gridSpan="2">
                  <a:txBody>
                    <a:bodyPr/>
                    <a:lstStyle/>
                    <a:p>
                      <a:pPr algn="ctr" fontAlgn="b"/>
                      <a:r>
                        <a:rPr lang="en-US" sz="1200" b="1" i="0" u="none" strike="noStrike">
                          <a:solidFill>
                            <a:srgbClr val="000000"/>
                          </a:solidFill>
                          <a:effectLst/>
                          <a:latin typeface="Arial" panose="020B0604020202020204" pitchFamily="34" charset="0"/>
                        </a:rPr>
                        <a:t>Deductible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100" b="1" i="0" u="none" strike="noStrike">
                          <a:solidFill>
                            <a:srgbClr val="000000"/>
                          </a:solidFill>
                          <a:effectLst/>
                          <a:latin typeface="Arial" panose="020B0604020202020204" pitchFamily="34" charset="0"/>
                        </a:rPr>
                        <a:t>Benefits automatically included in your plan!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Non-Preferred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2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250606">
                <a:tc gridSpan="2">
                  <a:txBody>
                    <a:bodyPr/>
                    <a:lstStyle/>
                    <a:p>
                      <a:pPr algn="ctr" fontAlgn="b"/>
                      <a:r>
                        <a:rPr lang="en-US" sz="1200" b="1" i="0" u="none" strike="noStrike">
                          <a:solidFill>
                            <a:srgbClr val="000000"/>
                          </a:solidFill>
                          <a:effectLst/>
                          <a:latin typeface="Arial" panose="020B0604020202020204" pitchFamily="34" charset="0"/>
                        </a:rPr>
                        <a:t>Coinsurance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50606">
                <a:tc gridSpan="2">
                  <a:txBody>
                    <a:bodyPr/>
                    <a:lstStyle/>
                    <a:p>
                      <a:pPr algn="ctr" fontAlgn="b"/>
                      <a:r>
                        <a:rPr lang="en-US" sz="1200" b="0" i="0" u="none" strike="noStrike">
                          <a:solidFill>
                            <a:srgbClr val="000000"/>
                          </a:solidFill>
                          <a:effectLst/>
                          <a:latin typeface="Arial" panose="020B0604020202020204" pitchFamily="34" charset="0"/>
                        </a:rPr>
                        <a:t>80% / 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250606">
                <a:tc gridSpan="2">
                  <a:txBody>
                    <a:bodyPr/>
                    <a:lstStyle/>
                    <a:p>
                      <a:pPr algn="ctr" fontAlgn="b"/>
                      <a:r>
                        <a:rPr lang="en-US" sz="1200" b="1" i="0" u="none" strike="noStrike">
                          <a:solidFill>
                            <a:srgbClr val="000000"/>
                          </a:solidFill>
                          <a:effectLst/>
                          <a:latin typeface="Arial" panose="020B0604020202020204" pitchFamily="34" charset="0"/>
                        </a:rPr>
                        <a:t>Maximum Out-of-Pocket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$9,000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Total Employee OOP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606308">
                <a:tc gridSpan="2">
                  <a:txBody>
                    <a:bodyPr/>
                    <a:lstStyle/>
                    <a:p>
                      <a:pPr algn="l" fontAlgn="ctr"/>
                      <a:r>
                        <a:rPr lang="en-US" sz="1100" b="0" i="1" u="none" strike="noStrike">
                          <a:solidFill>
                            <a:srgbClr val="000000"/>
                          </a:solidFill>
                          <a:effectLst/>
                          <a:latin typeface="Arial" panose="020B0604020202020204" pitchFamily="34" charset="0"/>
                        </a:rPr>
                        <a:t>Chronic Disease Management Regimens of Care Covered at 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dirty="0">
                          <a:solidFill>
                            <a:srgbClr val="000000"/>
                          </a:solidFill>
                          <a:effectLst/>
                          <a:latin typeface="Arial" panose="020B0604020202020204" pitchFamily="34" charset="0"/>
                        </a:rPr>
                        <a:t>$4,925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Healthcare </a:t>
                      </a:r>
                      <a:r>
                        <a:rPr lang="en-US" sz="1100" b="0" i="1" u="none" strike="noStrike" dirty="0" err="1">
                          <a:solidFill>
                            <a:srgbClr val="000000"/>
                          </a:solidFill>
                          <a:effectLst/>
                          <a:latin typeface="Arial" panose="020B0604020202020204" pitchFamily="34" charset="0"/>
                        </a:rPr>
                        <a:t>Convience</a:t>
                      </a:r>
                      <a:r>
                        <a:rPr lang="en-US" sz="1100" b="0" i="1" u="none" strike="noStrike" dirty="0">
                          <a:solidFill>
                            <a:srgbClr val="000000"/>
                          </a:solidFill>
                          <a:effectLst/>
                          <a:latin typeface="Arial" panose="020B0604020202020204" pitchFamily="34" charset="0"/>
                        </a:rPr>
                        <a:t> Card to Cover Out-of-Pocket Expenses at 0% interest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Employee Amount Due to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0" u="none" strike="noStrike">
                          <a:solidFill>
                            <a:srgbClr val="0061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tc>
                  <a:txBody>
                    <a:bodyPr/>
                    <a:lstStyle/>
                    <a:p>
                      <a:pPr algn="ctr" fontAlgn="ctr"/>
                      <a:r>
                        <a:rPr lang="en-US" sz="1100" b="1" i="0" u="none" strike="noStrike">
                          <a:solidFill>
                            <a:srgbClr val="9C0006"/>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0010"/>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 Guardian Account to help members manage their healthcare expenses at Preferred Providers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Additional Benefit Payable to the Health Guardian Account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11"/>
                  </a:ext>
                </a:extLst>
              </a:tr>
            </a:tbl>
          </a:graphicData>
        </a:graphic>
      </p:graphicFrame>
      <p:sp>
        <p:nvSpPr>
          <p:cNvPr id="9" name="TextBox 1">
            <a:extLst>
              <a:ext uri="{FF2B5EF4-FFF2-40B4-BE49-F238E27FC236}">
                <a16:creationId xmlns:a16="http://schemas.microsoft.com/office/drawing/2014/main" id="{44DBDC61-BD46-77F3-6F4A-E238A3B3F130}"/>
              </a:ext>
            </a:extLst>
          </p:cNvPr>
          <p:cNvSpPr txBox="1">
            <a:spLocks noChangeArrowheads="1"/>
          </p:cNvSpPr>
          <p:nvPr/>
        </p:nvSpPr>
        <p:spPr bwMode="auto">
          <a:xfrm>
            <a:off x="1035050" y="6332538"/>
            <a:ext cx="69786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i="1">
                <a:solidFill>
                  <a:srgbClr val="000000"/>
                </a:solidFill>
                <a:latin typeface="Aptos" panose="020B0004020202020204" pitchFamily="34" charset="0"/>
              </a:rPr>
              <a:t>*Base Medical Benefits are for illustration purposes only. Base benefits can be customized to meet client needs.</a:t>
            </a:r>
          </a:p>
        </p:txBody>
      </p:sp>
      <p:sp>
        <p:nvSpPr>
          <p:cNvPr id="10" name="Freeform 9">
            <a:extLst>
              <a:ext uri="{FF2B5EF4-FFF2-40B4-BE49-F238E27FC236}">
                <a16:creationId xmlns:a16="http://schemas.microsoft.com/office/drawing/2014/main" id="{53CA7810-E974-2773-613F-7C57BCBAA5FD}"/>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1FA40FF6-6F06-E7AC-B58F-754B92C3F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0188"/>
            <a:ext cx="72405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a:extLst>
              <a:ext uri="{FF2B5EF4-FFF2-40B4-BE49-F238E27FC236}">
                <a16:creationId xmlns:a16="http://schemas.microsoft.com/office/drawing/2014/main" id="{EB2CE0FD-6B1E-B7F0-53B0-E04CE9D1F342}"/>
              </a:ext>
            </a:extLst>
          </p:cNvPr>
          <p:cNvSpPr>
            <a:spLocks noGrp="1" noChangeArrowheads="1"/>
          </p:cNvSpPr>
          <p:nvPr>
            <p:ph type="sldNum" sz="quarter" idx="12"/>
          </p:nvPr>
        </p:nvSpPr>
        <p:spPr bwMode="auto">
          <a:xfrm>
            <a:off x="8959850" y="633571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EA699914-4451-4BEC-AE9A-05A627140C49}" type="slidenum">
              <a:rPr lang="en-US" altLang="en-US" smtClean="0">
                <a:solidFill>
                  <a:srgbClr val="898989"/>
                </a:solidFill>
                <a:latin typeface="Montserrat" panose="00000500000000000000" pitchFamily="2" charset="0"/>
              </a:rPr>
              <a:pPr fontAlgn="base">
                <a:spcBef>
                  <a:spcPct val="0"/>
                </a:spcBef>
                <a:spcAft>
                  <a:spcPct val="0"/>
                </a:spcAft>
              </a:pPr>
              <a:t>26</a:t>
            </a:fld>
            <a:endParaRPr lang="en-US" altLang="en-US" dirty="0">
              <a:solidFill>
                <a:srgbClr val="898989"/>
              </a:solidFill>
              <a:latin typeface="Montserrat" panose="00000500000000000000" pitchFamily="2" charset="0"/>
            </a:endParaRPr>
          </a:p>
        </p:txBody>
      </p:sp>
      <p:pic>
        <p:nvPicPr>
          <p:cNvPr id="4" name="Picture 14">
            <a:extLst>
              <a:ext uri="{FF2B5EF4-FFF2-40B4-BE49-F238E27FC236}">
                <a16:creationId xmlns:a16="http://schemas.microsoft.com/office/drawing/2014/main" id="{24DABA54-344C-0002-7993-38600E1A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5">
            <a:extLst>
              <a:ext uri="{FF2B5EF4-FFF2-40B4-BE49-F238E27FC236}">
                <a16:creationId xmlns:a16="http://schemas.microsoft.com/office/drawing/2014/main" id="{C7195C47-ACB6-7506-6D43-E4D4E204766B}"/>
              </a:ext>
            </a:extLst>
          </p:cNvPr>
          <p:cNvSpPr>
            <a:spLocks/>
          </p:cNvSpPr>
          <p:nvPr/>
        </p:nvSpPr>
        <p:spPr bwMode="auto">
          <a:xfrm rot="16200000" flipV="1">
            <a:off x="7292976"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Rectangle 10">
            <a:extLst>
              <a:ext uri="{FF2B5EF4-FFF2-40B4-BE49-F238E27FC236}">
                <a16:creationId xmlns:a16="http://schemas.microsoft.com/office/drawing/2014/main" id="{2C3C063F-478C-1983-EB9B-BC9212331397}"/>
              </a:ext>
            </a:extLst>
          </p:cNvPr>
          <p:cNvSpPr/>
          <p:nvPr/>
        </p:nvSpPr>
        <p:spPr>
          <a:xfrm>
            <a:off x="8037513" y="1449547"/>
            <a:ext cx="3736975" cy="4886166"/>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pic>
        <p:nvPicPr>
          <p:cNvPr id="7" name="Picture 16">
            <a:extLst>
              <a:ext uri="{FF2B5EF4-FFF2-40B4-BE49-F238E27FC236}">
                <a16:creationId xmlns:a16="http://schemas.microsoft.com/office/drawing/2014/main" id="{AC6455EE-959B-4362-17D7-EFB7941BC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238" y="1578134"/>
            <a:ext cx="119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rrow: Pentagon 17">
            <a:extLst>
              <a:ext uri="{FF2B5EF4-FFF2-40B4-BE49-F238E27FC236}">
                <a16:creationId xmlns:a16="http://schemas.microsoft.com/office/drawing/2014/main" id="{2B66BBAF-AA35-B92F-61FA-4E65114689A0}"/>
              </a:ext>
            </a:extLst>
          </p:cNvPr>
          <p:cNvSpPr/>
          <p:nvPr/>
        </p:nvSpPr>
        <p:spPr>
          <a:xfrm>
            <a:off x="0" y="5080000"/>
            <a:ext cx="7639050" cy="766763"/>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sp>
        <p:nvSpPr>
          <p:cNvPr id="9" name="TextBox 2">
            <a:extLst>
              <a:ext uri="{FF2B5EF4-FFF2-40B4-BE49-F238E27FC236}">
                <a16:creationId xmlns:a16="http://schemas.microsoft.com/office/drawing/2014/main" id="{F0DF9754-79F6-1B64-8084-B9999BBEBED8}"/>
              </a:ext>
            </a:extLst>
          </p:cNvPr>
          <p:cNvSpPr txBox="1">
            <a:spLocks noChangeArrowheads="1"/>
          </p:cNvSpPr>
          <p:nvPr/>
        </p:nvSpPr>
        <p:spPr bwMode="auto">
          <a:xfrm>
            <a:off x="0" y="5293518"/>
            <a:ext cx="76073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Montserrat" panose="000005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Montserrat" panose="000005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Montserrat" panose="000005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9pPr>
          </a:lstStyle>
          <a:p>
            <a:pPr eaLnBrk="1" hangingPunct="1">
              <a:lnSpc>
                <a:spcPct val="100000"/>
              </a:lnSpc>
              <a:spcBef>
                <a:spcPct val="0"/>
              </a:spcBef>
              <a:buFontTx/>
              <a:buNone/>
            </a:pPr>
            <a:r>
              <a:rPr lang="en-US" altLang="en-US" sz="1400" dirty="0">
                <a:solidFill>
                  <a:srgbClr val="000000"/>
                </a:solidFill>
              </a:rPr>
              <a:t>McLeod Health patients can have all out-of-pocket liability reduced to $0!</a:t>
            </a:r>
          </a:p>
        </p:txBody>
      </p:sp>
      <p:graphicFrame>
        <p:nvGraphicFramePr>
          <p:cNvPr id="10" name="Table 6">
            <a:extLst>
              <a:ext uri="{FF2B5EF4-FFF2-40B4-BE49-F238E27FC236}">
                <a16:creationId xmlns:a16="http://schemas.microsoft.com/office/drawing/2014/main" id="{50F6F2E0-D342-3007-3295-A5A48FF44313}"/>
              </a:ext>
            </a:extLst>
          </p:cNvPr>
          <p:cNvGraphicFramePr>
            <a:graphicFrameLocks noGrp="1"/>
          </p:cNvGraphicFramePr>
          <p:nvPr/>
        </p:nvGraphicFramePr>
        <p:xfrm>
          <a:off x="8123238" y="1876901"/>
          <a:ext cx="3579812" cy="4471035"/>
        </p:xfrm>
        <a:graphic>
          <a:graphicData uri="http://schemas.openxmlformats.org/drawingml/2006/table">
            <a:tbl>
              <a:tblPr/>
              <a:tblGrid>
                <a:gridCol w="2000483">
                  <a:extLst>
                    <a:ext uri="{9D8B030D-6E8A-4147-A177-3AD203B41FA5}">
                      <a16:colId xmlns:a16="http://schemas.microsoft.com/office/drawing/2014/main" val="1876924050"/>
                    </a:ext>
                  </a:extLst>
                </a:gridCol>
                <a:gridCol w="1579329">
                  <a:extLst>
                    <a:ext uri="{9D8B030D-6E8A-4147-A177-3AD203B41FA5}">
                      <a16:colId xmlns:a16="http://schemas.microsoft.com/office/drawing/2014/main" val="2083762870"/>
                    </a:ext>
                  </a:extLst>
                </a:gridCol>
              </a:tblGrid>
              <a:tr h="228600">
                <a:tc gridSpan="2">
                  <a:txBody>
                    <a:bodyPr/>
                    <a:lstStyle/>
                    <a:p>
                      <a:pPr algn="ctr" fontAlgn="b">
                        <a:buNone/>
                      </a:pPr>
                      <a:r>
                        <a:rPr lang="en-US" sz="1800" b="1" i="0" u="none" strike="noStrike" dirty="0">
                          <a:solidFill>
                            <a:srgbClr val="FFFFFF"/>
                          </a:solidFill>
                          <a:effectLst/>
                          <a:latin typeface="Aptos Narrow" panose="020B0004020202020204" pitchFamily="34" charset="0"/>
                        </a:rPr>
                        <a:t>Explanation of Benefits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0E2841"/>
                    </a:solidFill>
                  </a:tcPr>
                </a:tc>
                <a:tc hMerge="1">
                  <a:txBody>
                    <a:bodyPr/>
                    <a:lstStyle/>
                    <a:p>
                      <a:endParaRPr lang="en-US"/>
                    </a:p>
                  </a:txBody>
                  <a:tcPr/>
                </a:tc>
                <a:extLst>
                  <a:ext uri="{0D108BD9-81ED-4DB2-BD59-A6C34878D82A}">
                    <a16:rowId xmlns:a16="http://schemas.microsoft.com/office/drawing/2014/main" val="3443869175"/>
                  </a:ext>
                </a:extLst>
              </a:tr>
              <a:tr h="182880">
                <a:tc gridSpan="2">
                  <a:txBody>
                    <a:bodyPr/>
                    <a:lstStyle/>
                    <a:p>
                      <a:pPr algn="ctr" fontAlgn="b">
                        <a:buNone/>
                      </a:pPr>
                      <a:r>
                        <a:rPr lang="en-US" sz="1400" b="0" i="0" u="none" strike="noStrike" dirty="0">
                          <a:solidFill>
                            <a:srgbClr val="000000"/>
                          </a:solidFill>
                          <a:effectLst/>
                          <a:latin typeface="Aptos Narrow" panose="020B0004020202020204" pitchFamily="34" charset="0"/>
                        </a:rPr>
                        <a:t>Heart Attack, Cardiac Surgery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803465819"/>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CHARGES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47156677"/>
                  </a:ext>
                </a:extLst>
              </a:tr>
              <a:tr h="182880">
                <a:tc>
                  <a:txBody>
                    <a:bodyPr/>
                    <a:lstStyle/>
                    <a:p>
                      <a:pPr algn="l" fontAlgn="b">
                        <a:buNone/>
                      </a:pPr>
                      <a:r>
                        <a:rPr lang="en-US" sz="1400" b="0" i="0" u="none" strike="noStrike">
                          <a:solidFill>
                            <a:srgbClr val="000000"/>
                          </a:solidFill>
                          <a:effectLst/>
                          <a:latin typeface="Aptos Narrow" panose="020B0004020202020204" pitchFamily="34" charset="0"/>
                        </a:rPr>
                        <a:t>Medical Bills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a:solidFill>
                            <a:srgbClr val="000000"/>
                          </a:solidFill>
                          <a:effectLst/>
                          <a:latin typeface="Aptos Narrow" panose="020B0004020202020204" pitchFamily="34" charset="0"/>
                        </a:rPr>
                        <a:t>$25,000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60622463"/>
                  </a:ext>
                </a:extLst>
              </a:tr>
              <a:tr h="365760">
                <a:tc>
                  <a:txBody>
                    <a:bodyPr/>
                    <a:lstStyle/>
                    <a:p>
                      <a:pPr algn="l" fontAlgn="b">
                        <a:buNone/>
                      </a:pPr>
                      <a:r>
                        <a:rPr lang="en-US" sz="1400" b="0" i="0" u="none" strike="noStrike" dirty="0">
                          <a:solidFill>
                            <a:srgbClr val="000000"/>
                          </a:solidFill>
                          <a:effectLst/>
                          <a:latin typeface="Aptos Narrow" panose="020B0004020202020204" pitchFamily="34" charset="0"/>
                        </a:rPr>
                        <a:t>Healthcare out-of-pocket due to provider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a:solidFill>
                            <a:srgbClr val="000000"/>
                          </a:solidFill>
                          <a:effectLst/>
                          <a:latin typeface="Aptos Narrow" panose="020B0004020202020204" pitchFamily="34" charset="0"/>
                        </a:rPr>
                        <a:t>$4,500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944777"/>
                  </a:ext>
                </a:extLst>
              </a:tr>
              <a:tr h="617220">
                <a:tc gridSpan="2">
                  <a:txBody>
                    <a:bodyPr/>
                    <a:lstStyle/>
                    <a:p>
                      <a:pPr algn="ctr" fontAlgn="b">
                        <a:buNone/>
                      </a:pPr>
                      <a:r>
                        <a:rPr lang="en-US" sz="1400" b="0" i="0" u="none" strike="noStrike">
                          <a:solidFill>
                            <a:srgbClr val="000000"/>
                          </a:solidFill>
                          <a:effectLst/>
                          <a:latin typeface="Aptos Narrow" panose="020B0004020202020204" pitchFamily="34" charset="0"/>
                        </a:rPr>
                        <a:t>Since your out of pocket maximum has been met, the rest of your eligible charges this year will be paid at 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82997664"/>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2104715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438341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74529705"/>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32235782"/>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227942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0345252"/>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Benefit Total</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dirty="0">
                          <a:solidFill>
                            <a:srgbClr val="000000"/>
                          </a:solidFill>
                          <a:effectLst/>
                          <a:latin typeface="Aptos Narrow" panose="020B0004020202020204" pitchFamily="34" charset="0"/>
                        </a:rPr>
                        <a:t>$4,925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30504511"/>
                  </a:ext>
                </a:extLst>
              </a:tr>
              <a:tr h="182880">
                <a:tc>
                  <a:txBody>
                    <a:bodyPr/>
                    <a:lstStyle/>
                    <a:p>
                      <a:pPr algn="l" fontAlgn="b">
                        <a:buNone/>
                      </a:pPr>
                      <a:r>
                        <a:rPr lang="en-US" sz="1400" b="0" i="0" u="none" strike="noStrike" dirty="0">
                          <a:solidFill>
                            <a:srgbClr val="000000"/>
                          </a:solidFill>
                          <a:effectLst/>
                          <a:latin typeface="Aptos Narrow" panose="020B0004020202020204" pitchFamily="34" charset="0"/>
                        </a:rPr>
                        <a:t>Out of Pocket Paid to Hospital</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dirty="0">
                          <a:solidFill>
                            <a:srgbClr val="FF0000"/>
                          </a:solidFill>
                          <a:effectLst/>
                          <a:latin typeface="Aptos Narrow" panose="020B0004020202020204" pitchFamily="34" charset="0"/>
                        </a:rPr>
                        <a:t>($4,500)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7779125"/>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Balance Paid to HGA</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1" i="0" u="none" strike="noStrike" dirty="0">
                          <a:solidFill>
                            <a:srgbClr val="000000"/>
                          </a:solidFill>
                          <a:effectLst/>
                          <a:latin typeface="Aptos Narrow" panose="020B0004020202020204" pitchFamily="34" charset="0"/>
                        </a:rPr>
                        <a:t>$425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894644"/>
                  </a:ext>
                </a:extLst>
              </a:tr>
            </a:tbl>
          </a:graphicData>
        </a:graphic>
      </p:graphicFrame>
      <p:sp>
        <p:nvSpPr>
          <p:cNvPr id="11" name="Title 2">
            <a:extLst>
              <a:ext uri="{FF2B5EF4-FFF2-40B4-BE49-F238E27FC236}">
                <a16:creationId xmlns:a16="http://schemas.microsoft.com/office/drawing/2014/main" id="{540D5885-347A-7711-D396-2864B8FC4403}"/>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MCLEOD HEALTH</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a:t>
            </a:r>
            <a:r>
              <a:rPr lang="en-US" sz="1800" b="1" dirty="0">
                <a:solidFill>
                  <a:srgbClr val="00539F"/>
                </a:solidFill>
                <a:latin typeface="Montserrat" panose="00000500000000000000" pitchFamily="2" charset="0"/>
                <a:cs typeface="Arial" panose="020B0604020202020204" pitchFamily="34" charset="0"/>
              </a:rPr>
              <a:t>Convenience</a:t>
            </a: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960674"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000" b="0"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KBA HEALTHCARE CONVENIENCE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ASSUMPTIONS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MCLEOD HEALTH’S 2023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McLeod Health</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213,719</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$1,615,730K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70,990</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$253,174K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33%</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9,565</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$184,353K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5%</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9,162</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-$72,287K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4%</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124,002</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$1,175,868K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58%</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2022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McLeod Health estimates commercial insurance reimbursements at 356%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1,175,868K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356%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1,556,203K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2,732,071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1,457,766</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$1,274,305K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47%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356%</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330,596K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437,527</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768,124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1,457,766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-689,642</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-90%</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49.1%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29%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17%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240130193"/>
              </p:ext>
            </p:extLst>
          </p:nvPr>
        </p:nvGraphicFramePr>
        <p:xfrm>
          <a:off x="265176" y="914400"/>
          <a:ext cx="9829800" cy="518734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740960">
                <a:tc>
                  <a:txBody>
                    <a:bodyPr/>
                    <a:lstStyle/>
                    <a:p>
                      <a:pPr marL="63500" marR="63500" algn="ctr">
                        <a:lnSpc>
                          <a:spcPct val="100000"/>
                        </a:lnSpc>
                        <a:spcBef>
                          <a:spcPts val="500"/>
                        </a:spcBef>
                        <a:spcAft>
                          <a:spcPts val="500"/>
                        </a:spcAft>
                        <a:buNone/>
                      </a:pPr>
                      <a:r>
                        <a:rPr sz="10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0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0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0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0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000" b="1" i="0" u="none" cap="none">
                          <a:solidFill>
                            <a:srgbClr val="000000">
                              <a:alpha val="100000"/>
                            </a:srgbClr>
                          </a:solidFill>
                          <a:latin typeface="Montserrat"/>
                          <a:cs typeface="Arial"/>
                          <a:sym typeface="Arial"/>
                        </a:rPr>
                        <a:t>Outpatient Percent of Market Total (Assuming 49.1%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90533">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McLeod Health Dillon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36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86,326.0K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215,440.8K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90533">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McLeod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461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$2,008,364.9K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$2,351,278.1K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90533">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McLeod Health Loris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50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680,728.6K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$1,125,571.3K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90533">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McLeod Health Cheraw</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31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95,989.1K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187,216.4K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90533">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McLeod Health Clarendon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49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104,037.4K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208,755.8K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90533">
                <a:tc>
                  <a:txBody>
                    <a:bodyPr/>
                    <a:lstStyle/>
                    <a:p>
                      <a:pPr marL="63500" marR="63500" algn="l">
                        <a:lnSpc>
                          <a:spcPct val="100000"/>
                        </a:lnSpc>
                        <a:spcBef>
                          <a:spcPts val="1"/>
                        </a:spcBef>
                        <a:spcAft>
                          <a:spcPts val="1"/>
                        </a:spcAft>
                        <a:buNone/>
                      </a:pPr>
                      <a:r>
                        <a:rPr sz="800" b="0" i="0" u="none" cap="none" dirty="0">
                          <a:solidFill>
                            <a:srgbClr val="000000">
                              <a:alpha val="100000"/>
                            </a:srgbClr>
                          </a:solidFill>
                          <a:latin typeface="Montserrat"/>
                          <a:cs typeface="Arial"/>
                          <a:sym typeface="Arial"/>
                        </a:rPr>
                        <a:t>Scotland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dirty="0">
                          <a:solidFill>
                            <a:srgbClr val="000000">
                              <a:alpha val="100000"/>
                            </a:srgbClr>
                          </a:solidFill>
                          <a:latin typeface="Montserrat"/>
                          <a:cs typeface="Arial"/>
                          <a:sym typeface="Arial"/>
                        </a:rPr>
                        <a:t>104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dirty="0">
                          <a:solidFill>
                            <a:srgbClr val="000000">
                              <a:alpha val="100000"/>
                            </a:srgbClr>
                          </a:solidFill>
                          <a:latin typeface="Montserrat"/>
                          <a:cs typeface="Arial"/>
                          <a:sym typeface="Arial"/>
                        </a:rPr>
                        <a:t>$  259,093.8K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dirty="0">
                          <a:solidFill>
                            <a:srgbClr val="000000">
                              <a:alpha val="100000"/>
                            </a:srgbClr>
                          </a:solidFill>
                          <a:latin typeface="Montserrat"/>
                          <a:cs typeface="Arial"/>
                          <a:sym typeface="Arial"/>
                        </a:rPr>
                        <a:t>$  562,994.9K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dirty="0">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dirty="0">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190533">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UNC Health Southeastern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186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354,209.1K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527,547.0K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190533">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Columbus Regional Healthcare System</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154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123,930.9K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319,682.1K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90533">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Atrium Health Anson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17,527.2K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125,536.2K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190533">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Carolina Pines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112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247,267.0K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502,439.1K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190533">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Conway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171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382,657.7K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815,088.4K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190533">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MUSC Health Marion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36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52,907.0K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194,149.2K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190533">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Prisma Health Tuomey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155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335,789.1K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599,519.4K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190533">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Grand Strand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346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$3,583,927.6K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$2,125,076.0K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35%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190533">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MUSC Health Florence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187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$1,005,032.8K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$1,330,924.4K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190533">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Tidelands Waccamaw Community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303,836.7K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421,203.7K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190533">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MUSC Health Black River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36,415.6K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113,649.4K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190533">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Regency Hospital of Florence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44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320,095.6K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203235">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Encompass Health Rehabilitation Hospital of Florence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58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37,969.5K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203235">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Tidelands Health Rehabilitation Hospital - Murrells Inlet</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75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63,340.9K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r h="190533">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Lighthouse Behavioral Health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105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55,882.2K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927.5K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1"/>
                  </a:ext>
                </a:extLst>
              </a:tr>
              <a:tr h="190533">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Midlands Behavioral Health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32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6,808.4K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cap="none" dirty="0">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2"/>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391351403"/>
              </p:ext>
            </p:extLst>
          </p:nvPr>
        </p:nvGraphicFramePr>
        <p:xfrm>
          <a:off x="-1" y="0"/>
          <a:ext cx="12192001" cy="6573520"/>
        </p:xfrm>
        <a:graphic>
          <a:graphicData uri="http://schemas.openxmlformats.org/drawingml/2006/table">
            <a:tbl>
              <a:tblPr/>
              <a:tblGrid>
                <a:gridCol w="3098183">
                  <a:extLst>
                    <a:ext uri="{9D8B030D-6E8A-4147-A177-3AD203B41FA5}">
                      <a16:colId xmlns:a16="http://schemas.microsoft.com/office/drawing/2014/main" val="20000"/>
                    </a:ext>
                  </a:extLst>
                </a:gridCol>
                <a:gridCol w="1598767">
                  <a:extLst>
                    <a:ext uri="{9D8B030D-6E8A-4147-A177-3AD203B41FA5}">
                      <a16:colId xmlns:a16="http://schemas.microsoft.com/office/drawing/2014/main" val="20001"/>
                    </a:ext>
                  </a:extLst>
                </a:gridCol>
                <a:gridCol w="2339384">
                  <a:extLst>
                    <a:ext uri="{9D8B030D-6E8A-4147-A177-3AD203B41FA5}">
                      <a16:colId xmlns:a16="http://schemas.microsoft.com/office/drawing/2014/main" val="20002"/>
                    </a:ext>
                  </a:extLst>
                </a:gridCol>
                <a:gridCol w="1554011">
                  <a:extLst>
                    <a:ext uri="{9D8B030D-6E8A-4147-A177-3AD203B41FA5}">
                      <a16:colId xmlns:a16="http://schemas.microsoft.com/office/drawing/2014/main" val="20003"/>
                    </a:ext>
                  </a:extLst>
                </a:gridCol>
                <a:gridCol w="1711151">
                  <a:extLst>
                    <a:ext uri="{9D8B030D-6E8A-4147-A177-3AD203B41FA5}">
                      <a16:colId xmlns:a16="http://schemas.microsoft.com/office/drawing/2014/main" val="20004"/>
                    </a:ext>
                  </a:extLst>
                </a:gridCol>
                <a:gridCol w="1890505">
                  <a:extLst>
                    <a:ext uri="{9D8B030D-6E8A-4147-A177-3AD203B41FA5}">
                      <a16:colId xmlns:a16="http://schemas.microsoft.com/office/drawing/2014/main" val="20005"/>
                    </a:ext>
                  </a:extLst>
                </a:gridCol>
              </a:tblGrid>
              <a:tr h="261122">
                <a:tc gridSpan="6">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21734">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McLeod Health Dillon</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McLeod Regional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McLeod Health Loris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McLeod Health Cheraw</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McLeod Health Clarendon</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4682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$18,646K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$477,991K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$138,869K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$22,461K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$26,009K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24715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$46,535K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$559,604K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$229,617K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$43,809K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$52,189K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4682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$7,070K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$156,302K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$67,690K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$11,436K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$10,677K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28193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$13,787K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$123,951K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$24,575K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$7,297K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$14,744K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24682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$44,281K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$754,882K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$276,371K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$47,527K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$52,808K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4711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$5,228K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$44,255K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$14,121K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$4,402K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$4,280K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4711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$15,931K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$442,272K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$119,189K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$20,727K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$21,486K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4715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$39,758K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$517,787K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$197,076K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$40,426K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$43,113K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4812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$55,689K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$960,059K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$316,265K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$61,153K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$64,599K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4682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$9,448K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$75,074K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$52,371K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$5,108K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$13,629K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2470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27.2%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30.9%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40.4%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44.4%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32.4%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2470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2.8%</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27568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2470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24808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62.6%</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60.1%</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52.3%</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46.3%</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58.7%</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24808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53.0%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45.2%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47.7%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46.4%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54.9%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162526">
                <a:tc gridSpan="6">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162526">
                <a:tc gridSpan="6">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162526">
                <a:tc gridSpan="6">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162526">
                <a:tc gridSpan="6">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McLeod Health has 29% inpatient market share, and 17% outpatient market compared to hospitals/clinics in the McLeod Health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McLeod Health.</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681527176"/>
              </p:ext>
            </p:extLst>
          </p:nvPr>
        </p:nvGraphicFramePr>
        <p:xfrm>
          <a:off x="566928" y="941831"/>
          <a:ext cx="7470650" cy="5247963"/>
        </p:xfrm>
        <a:graphic>
          <a:graphicData uri="http://schemas.openxmlformats.org/drawingml/2006/table">
            <a:tbl>
              <a:tblPr/>
              <a:tblGrid>
                <a:gridCol w="1494130">
                  <a:extLst>
                    <a:ext uri="{9D8B030D-6E8A-4147-A177-3AD203B41FA5}">
                      <a16:colId xmlns:a16="http://schemas.microsoft.com/office/drawing/2014/main" val="20000"/>
                    </a:ext>
                  </a:extLst>
                </a:gridCol>
                <a:gridCol w="1494130">
                  <a:extLst>
                    <a:ext uri="{9D8B030D-6E8A-4147-A177-3AD203B41FA5}">
                      <a16:colId xmlns:a16="http://schemas.microsoft.com/office/drawing/2014/main" val="20001"/>
                    </a:ext>
                  </a:extLst>
                </a:gridCol>
                <a:gridCol w="1494130">
                  <a:extLst>
                    <a:ext uri="{9D8B030D-6E8A-4147-A177-3AD203B41FA5}">
                      <a16:colId xmlns:a16="http://schemas.microsoft.com/office/drawing/2014/main" val="20002"/>
                    </a:ext>
                  </a:extLst>
                </a:gridCol>
                <a:gridCol w="1494130">
                  <a:extLst>
                    <a:ext uri="{9D8B030D-6E8A-4147-A177-3AD203B41FA5}">
                      <a16:colId xmlns:a16="http://schemas.microsoft.com/office/drawing/2014/main" val="20003"/>
                    </a:ext>
                  </a:extLst>
                </a:gridCol>
                <a:gridCol w="1494130">
                  <a:extLst>
                    <a:ext uri="{9D8B030D-6E8A-4147-A177-3AD203B41FA5}">
                      <a16:colId xmlns:a16="http://schemas.microsoft.com/office/drawing/2014/main" val="20004"/>
                    </a:ext>
                  </a:extLst>
                </a:gridCol>
              </a:tblGrid>
              <a:tr h="813063">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McLeod Health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McLeod Health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29,600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2174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5,300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$ 4,961,589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$ 5,273,345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$ 2,462,607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$ 12,697,541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$ 1,865,558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$ 1,982,778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$ 925,940.3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$ 4,774,276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$ 9,343,941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$ 63,600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$ 9,348,741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$ 9,227,541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$ 11,375,462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$ 17,841,267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$ 8,331,720</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$ 37,548,449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$ 4,277,174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$ 6,708,316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$ 3,132,727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$ 14,118,217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29% (inpatient) and 17%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37.6%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37.6%,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934747071"/>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329293">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Target Estimate Assuming 50%+ Within-Plan Steerage and a Commercial Margin of 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92705">
                <a:tc gridSpan="5">
                  <a:txBody>
                    <a:bodyPr/>
                    <a:lstStyle/>
                    <a:p>
                      <a:pPr marL="63500" marR="63500" algn="l">
                        <a:lnSpc>
                          <a:spcPct val="100000"/>
                        </a:lnSpc>
                        <a:spcBef>
                          <a:spcPts val="5"/>
                        </a:spcBef>
                        <a:spcAft>
                          <a:spcPts val="5"/>
                        </a:spcAft>
                        <a:buNone/>
                      </a:pPr>
                      <a:r>
                        <a:rPr sz="16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57261">
                <a:tc>
                  <a:txBody>
                    <a:bodyPr/>
                    <a:lstStyle/>
                    <a:p>
                      <a:pPr marL="63500" marR="63500" algn="l">
                        <a:lnSpc>
                          <a:spcPct val="100000"/>
                        </a:lnSpc>
                        <a:spcBef>
                          <a:spcPts val="5"/>
                        </a:spcBef>
                        <a:spcAft>
                          <a:spcPts val="5"/>
                        </a:spcAft>
                        <a:buNone/>
                      </a:pPr>
                      <a:r>
                        <a:rPr sz="105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$468.1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$936.1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$4,680.7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$23,403.7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$176.0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$352.0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$1,760.0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$8,799.8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$958.9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$1,917.8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$9,589.1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$47,945.5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$360.6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$721.1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$3,605.5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$18,027.5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$490.8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$981.7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$4,908.4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$24,541.8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$369.1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$1,845.5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$9,227.7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$497.5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$995.0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$4,974.9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$24,874.3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$374.1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$1,870.5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$9,352.7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$1,453.2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$2,906.3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$14,531.7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$72,658.6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$546.4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$1,092.8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$5,463.9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$27,319.6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$955.7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$1,911.4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$9,556.9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$47,784.3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$359.3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$718.7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$3,593.4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$17,966.9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$232.3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$464.6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$2,323.2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$11,616.1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$174.7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$873.5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$4,367.6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$678.6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$1,357.2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$6,786.2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$33,930.9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$255.2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$510.3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$2,551.6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$12,758.0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$446.3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$892.6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$4,463.0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$22,314.9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$167.8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$335.6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$1,678.1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$8,390.4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57261">
                <a:tc>
                  <a:txBody>
                    <a:bodyPr/>
                    <a:lstStyle/>
                    <a:p>
                      <a:pPr marL="63500" marR="63500" algn="l">
                        <a:lnSpc>
                          <a:spcPct val="100000"/>
                        </a:lnSpc>
                        <a:spcBef>
                          <a:spcPts val="5"/>
                        </a:spcBef>
                        <a:spcAft>
                          <a:spcPts val="5"/>
                        </a:spcAft>
                        <a:buNone/>
                      </a:pPr>
                      <a:r>
                        <a:rPr sz="12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$387.7</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$1,105.4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$6,847.0</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dirty="0">
                          <a:solidFill>
                            <a:srgbClr val="000000">
                              <a:alpha val="100000"/>
                            </a:srgbClr>
                          </a:solidFill>
                          <a:latin typeface="Montserrat"/>
                          <a:cs typeface="Arial"/>
                          <a:sym typeface="Arial"/>
                        </a:rPr>
                        <a:t>$35,555.0</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174871061"/>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$1,197.9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$2,395.8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$11,978.8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$59,894.1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$900.8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$22,520.2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$3,090.7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$30,907.0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$154,535.0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$1,892.8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$3,785.6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$18,928.2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$94,641.0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$1,162.1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$2,324.2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$11,621.0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$58,105.2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$711.7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$1,423.4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$7,117.0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$35,585.0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$387.7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$1,105.4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$6,847.0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$35,555.0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071641138"/>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42.6%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42.6%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42.6%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42.6%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42.6%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$1,197.9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$2,395.8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$11,978.8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$59,894.1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$900.8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$22,520.2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$3,673.6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$7,347.2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$36,736.2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$183,680.8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$2,475.7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$4,951.5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$24,757.3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$123,786.7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$1,565.0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$3,129.9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$15,649.6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$78,248.0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$1,114.6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$2,229.1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$11,145.6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$55,727.8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$790.6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$1,911.1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$10,875.6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$55,697.8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04704875"/>
              </p:ext>
            </p:extLst>
          </p:nvPr>
        </p:nvGraphicFramePr>
        <p:xfrm>
          <a:off x="0" y="0"/>
          <a:ext cx="12198096" cy="7057297"/>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28305">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65475">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56029">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56029">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$1,197.9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$2,395.8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$11,978.8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$59,894.1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56029">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$900.8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$22,520.2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56029">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$2,509.2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$25,091.9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$125,459.4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7962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$1,311.3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$2,622.6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$13,113.1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$65,565.4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56029">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$818.0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$1,636.0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$8,180.0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$40,899.8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7962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$3,675.9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$18,379.6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56029">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56029">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56029">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56029">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$43.6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$417.2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$3,405.9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$18,349.6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40</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81336" y="2431713"/>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McLeod Health’s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McLeod Health</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McLeod Health</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McLeod Health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41</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42</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McLeod Health</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McLeod Health’s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43</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44</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46230</TotalTime>
  <Words>5467</Words>
  <Application>Microsoft Office PowerPoint</Application>
  <PresentationFormat>Widescreen</PresentationFormat>
  <Paragraphs>1463</Paragraphs>
  <Slides>44</Slides>
  <Notes>11</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44</vt:i4>
      </vt:variant>
    </vt:vector>
  </HeadingPairs>
  <TitlesOfParts>
    <vt:vector size="58" baseType="lpstr">
      <vt:lpstr>Aptos</vt:lpstr>
      <vt:lpstr>Aptos Narrow</vt:lpstr>
      <vt:lpstr>Arial</vt:lpstr>
      <vt:lpstr>Book Antiqua</vt:lpstr>
      <vt:lpstr>Inter</vt:lpstr>
      <vt:lpstr>Montserrat</vt:lpstr>
      <vt:lpstr>Montserrat Bold</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Our Founding and Heritage: 46 Years of Striving for Honesty in Healthcare</vt:lpstr>
      <vt:lpstr>PowerPoint Presentation</vt:lpstr>
      <vt:lpstr>DIRECT-TO-EMPLOYER (DTE)  </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MCLEOD HEALTH IS PATIENT RECOMMENDED</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MCLEOD HEALTH’S 2023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112</cp:revision>
  <cp:lastPrinted>2023-07-13T10:24:43Z</cp:lastPrinted>
  <dcterms:created xsi:type="dcterms:W3CDTF">2021-01-20T14:12:11Z</dcterms:created>
  <dcterms:modified xsi:type="dcterms:W3CDTF">2025-11-15T07:02:29Z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