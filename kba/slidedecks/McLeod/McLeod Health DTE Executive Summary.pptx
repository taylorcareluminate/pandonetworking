
<file path=[Content_Types].xml><?xml version="1.0" encoding="utf-8"?>
<Types xmlns="http://schemas.openxmlformats.org/package/2006/content-types">
  <Default Extension="jpeg" ContentType="image/jpeg"/>
  <Default Extension="jpg" ContentType="application/octet-stream"/>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 id="2147483756" r:id="rId5"/>
    <p:sldMasterId id="2147483758" r:id="rId6"/>
    <p:sldMasterId id="2147483773" r:id="rId7"/>
  </p:sldMasterIdLst>
  <p:notesMasterIdLst>
    <p:notesMasterId r:id="rId21"/>
  </p:notesMasterIdLst>
  <p:sldIdLst>
    <p:sldId id="588" r:id="rId8"/>
    <p:sldId id="454" r:id="rId9"/>
    <p:sldId id="549" r:id="rId10"/>
    <p:sldId id="2145726869" r:id="rId11"/>
    <p:sldId id="559" r:id="rId12"/>
    <p:sldId id="580" r:id="rId13"/>
    <p:sldId id="582" r:id="rId14"/>
    <p:sldId id="548" r:id="rId15"/>
    <p:sldId id="521" r:id="rId16"/>
    <p:sldId id="564" r:id="rId17"/>
    <p:sldId id="585" r:id="rId18"/>
    <p:sldId id="536" r:id="rId19"/>
    <p:sldId id="472" r:id="rId20"/>
  </p:sldIdLst>
  <p:sldSz cx="12192000" cy="6858000"/>
  <p:notesSz cx="7315200" cy="9601200"/>
  <p:custDataLst>
    <p:tags r:id="rId22"/>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E2597A-94BE-EE4F-A6CE-E20FE57E2F9C}" name="Guest User" initials="GU" userId="S::urn:spo:anon#4882e948f16bd08fe685987adb7b014b58869755eb6e2ab80c2be75a5daf6f48::" providerId="AD"/>
  <p188:author id="{6244F3C6-ED6E-17B5-41BE-FE4DD862B991}" name="Taylor Davis" initials="TD" userId="S::taylordavis@careluminate.com::5c9e72a0-c39f-4aa1-9d7d-64125e78cbe6" providerId="AD"/>
  <p188:author id="{66F9D3D0-34A3-8F09-07C8-70124CEFC9C1}" name="Guest User" initials="GU" userId="S::urn:spo:anon#24b610c975cf575f85befe109f115faf394b3198ecce54128fd3ac5d0276f2d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39F"/>
    <a:srgbClr val="244F9A"/>
    <a:srgbClr val="30589B"/>
    <a:srgbClr val="2F5597"/>
    <a:srgbClr val="6087CE"/>
    <a:srgbClr val="4468A5"/>
    <a:srgbClr val="F2F2F2"/>
    <a:srgbClr val="C55A11"/>
    <a:srgbClr val="F424AA"/>
    <a:srgbClr val="E234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28" autoAdjust="0"/>
    <p:restoredTop sz="88609" autoAdjust="0"/>
  </p:normalViewPr>
  <p:slideViewPr>
    <p:cSldViewPr snapToGrid="0">
      <p:cViewPr>
        <p:scale>
          <a:sx n="75" d="100"/>
          <a:sy n="75" d="100"/>
        </p:scale>
        <p:origin x="725" y="264"/>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commentAuthors" Target="commentAuthors.xml"/><Relationship Id="rId28" Type="http://schemas.microsoft.com/office/2016/11/relationships/changesInfo" Target="changesInfos/changesInfo1.xml"/><Relationship Id="rId10" Type="http://schemas.openxmlformats.org/officeDocument/2006/relationships/slide" Target="slides/slide3.xml"/><Relationship Id="rId19" Type="http://schemas.openxmlformats.org/officeDocument/2006/relationships/slide" Target="slides/slide12.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tags" Target="tags/tag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ylor Davis" userId="5c9e72a0-c39f-4aa1-9d7d-64125e78cbe6" providerId="ADAL" clId="{7D0B6B51-DA5F-4021-8848-39BD0005AA08}"/>
    <pc:docChg chg="delSld delMainMaster">
      <pc:chgData name="Taylor Davis" userId="5c9e72a0-c39f-4aa1-9d7d-64125e78cbe6" providerId="ADAL" clId="{7D0B6B51-DA5F-4021-8848-39BD0005AA08}" dt="2025-11-15T07:04:25.411" v="6" actId="47"/>
      <pc:docMkLst>
        <pc:docMk/>
      </pc:docMkLst>
      <pc:sldChg chg="del">
        <pc:chgData name="Taylor Davis" userId="5c9e72a0-c39f-4aa1-9d7d-64125e78cbe6" providerId="ADAL" clId="{7D0B6B51-DA5F-4021-8848-39BD0005AA08}" dt="2025-11-15T07:04:25.411" v="6" actId="47"/>
        <pc:sldMkLst>
          <pc:docMk/>
          <pc:sldMk cId="0" sldId="256"/>
        </pc:sldMkLst>
      </pc:sldChg>
      <pc:sldChg chg="del">
        <pc:chgData name="Taylor Davis" userId="5c9e72a0-c39f-4aa1-9d7d-64125e78cbe6" providerId="ADAL" clId="{7D0B6B51-DA5F-4021-8848-39BD0005AA08}" dt="2025-11-15T07:04:18.341" v="5" actId="47"/>
        <pc:sldMkLst>
          <pc:docMk/>
          <pc:sldMk cId="3543401867" sldId="281"/>
        </pc:sldMkLst>
      </pc:sldChg>
      <pc:sldChg chg="del">
        <pc:chgData name="Taylor Davis" userId="5c9e72a0-c39f-4aa1-9d7d-64125e78cbe6" providerId="ADAL" clId="{7D0B6B51-DA5F-4021-8848-39BD0005AA08}" dt="2025-11-15T07:04:25.411" v="6" actId="47"/>
        <pc:sldMkLst>
          <pc:docMk/>
          <pc:sldMk cId="211951504" sldId="325"/>
        </pc:sldMkLst>
      </pc:sldChg>
      <pc:sldChg chg="del">
        <pc:chgData name="Taylor Davis" userId="5c9e72a0-c39f-4aa1-9d7d-64125e78cbe6" providerId="ADAL" clId="{7D0B6B51-DA5F-4021-8848-39BD0005AA08}" dt="2025-11-15T07:04:25.411" v="6" actId="47"/>
        <pc:sldMkLst>
          <pc:docMk/>
          <pc:sldMk cId="225422285" sldId="326"/>
        </pc:sldMkLst>
      </pc:sldChg>
      <pc:sldChg chg="del">
        <pc:chgData name="Taylor Davis" userId="5c9e72a0-c39f-4aa1-9d7d-64125e78cbe6" providerId="ADAL" clId="{7D0B6B51-DA5F-4021-8848-39BD0005AA08}" dt="2025-11-15T07:04:18.341" v="5" actId="47"/>
        <pc:sldMkLst>
          <pc:docMk/>
          <pc:sldMk cId="3958060990" sldId="458"/>
        </pc:sldMkLst>
      </pc:sldChg>
      <pc:sldChg chg="del">
        <pc:chgData name="Taylor Davis" userId="5c9e72a0-c39f-4aa1-9d7d-64125e78cbe6" providerId="ADAL" clId="{7D0B6B51-DA5F-4021-8848-39BD0005AA08}" dt="2025-11-15T07:04:18.341" v="5" actId="47"/>
        <pc:sldMkLst>
          <pc:docMk/>
          <pc:sldMk cId="0" sldId="459"/>
        </pc:sldMkLst>
      </pc:sldChg>
      <pc:sldChg chg="del">
        <pc:chgData name="Taylor Davis" userId="5c9e72a0-c39f-4aa1-9d7d-64125e78cbe6" providerId="ADAL" clId="{7D0B6B51-DA5F-4021-8848-39BD0005AA08}" dt="2025-11-15T07:03:59.209" v="1" actId="47"/>
        <pc:sldMkLst>
          <pc:docMk/>
          <pc:sldMk cId="1714126014" sldId="466"/>
        </pc:sldMkLst>
      </pc:sldChg>
      <pc:sldChg chg="del">
        <pc:chgData name="Taylor Davis" userId="5c9e72a0-c39f-4aa1-9d7d-64125e78cbe6" providerId="ADAL" clId="{7D0B6B51-DA5F-4021-8848-39BD0005AA08}" dt="2025-11-15T07:04:18.341" v="5" actId="47"/>
        <pc:sldMkLst>
          <pc:docMk/>
          <pc:sldMk cId="2680122054" sldId="469"/>
        </pc:sldMkLst>
      </pc:sldChg>
      <pc:sldChg chg="del">
        <pc:chgData name="Taylor Davis" userId="5c9e72a0-c39f-4aa1-9d7d-64125e78cbe6" providerId="ADAL" clId="{7D0B6B51-DA5F-4021-8848-39BD0005AA08}" dt="2025-11-15T07:04:25.411" v="6" actId="47"/>
        <pc:sldMkLst>
          <pc:docMk/>
          <pc:sldMk cId="2660124243" sldId="491"/>
        </pc:sldMkLst>
      </pc:sldChg>
      <pc:sldChg chg="del">
        <pc:chgData name="Taylor Davis" userId="5c9e72a0-c39f-4aa1-9d7d-64125e78cbe6" providerId="ADAL" clId="{7D0B6B51-DA5F-4021-8848-39BD0005AA08}" dt="2025-11-15T07:04:25.411" v="6" actId="47"/>
        <pc:sldMkLst>
          <pc:docMk/>
          <pc:sldMk cId="3144192130" sldId="498"/>
        </pc:sldMkLst>
      </pc:sldChg>
      <pc:sldChg chg="del">
        <pc:chgData name="Taylor Davis" userId="5c9e72a0-c39f-4aa1-9d7d-64125e78cbe6" providerId="ADAL" clId="{7D0B6B51-DA5F-4021-8848-39BD0005AA08}" dt="2025-11-15T07:04:18.341" v="5" actId="47"/>
        <pc:sldMkLst>
          <pc:docMk/>
          <pc:sldMk cId="2203540903" sldId="499"/>
        </pc:sldMkLst>
      </pc:sldChg>
      <pc:sldChg chg="del">
        <pc:chgData name="Taylor Davis" userId="5c9e72a0-c39f-4aa1-9d7d-64125e78cbe6" providerId="ADAL" clId="{7D0B6B51-DA5F-4021-8848-39BD0005AA08}" dt="2025-11-15T07:04:18.341" v="5" actId="47"/>
        <pc:sldMkLst>
          <pc:docMk/>
          <pc:sldMk cId="36791873" sldId="525"/>
        </pc:sldMkLst>
      </pc:sldChg>
      <pc:sldChg chg="del">
        <pc:chgData name="Taylor Davis" userId="5c9e72a0-c39f-4aa1-9d7d-64125e78cbe6" providerId="ADAL" clId="{7D0B6B51-DA5F-4021-8848-39BD0005AA08}" dt="2025-11-15T07:04:03.573" v="3" actId="47"/>
        <pc:sldMkLst>
          <pc:docMk/>
          <pc:sldMk cId="3470905217" sldId="558"/>
        </pc:sldMkLst>
      </pc:sldChg>
      <pc:sldChg chg="del">
        <pc:chgData name="Taylor Davis" userId="5c9e72a0-c39f-4aa1-9d7d-64125e78cbe6" providerId="ADAL" clId="{7D0B6B51-DA5F-4021-8848-39BD0005AA08}" dt="2025-11-15T07:04:18.341" v="5" actId="47"/>
        <pc:sldMkLst>
          <pc:docMk/>
          <pc:sldMk cId="0" sldId="571"/>
        </pc:sldMkLst>
      </pc:sldChg>
      <pc:sldChg chg="del">
        <pc:chgData name="Taylor Davis" userId="5c9e72a0-c39f-4aa1-9d7d-64125e78cbe6" providerId="ADAL" clId="{7D0B6B51-DA5F-4021-8848-39BD0005AA08}" dt="2025-11-15T07:04:25.411" v="6" actId="47"/>
        <pc:sldMkLst>
          <pc:docMk/>
          <pc:sldMk cId="0" sldId="572"/>
        </pc:sldMkLst>
      </pc:sldChg>
      <pc:sldChg chg="del">
        <pc:chgData name="Taylor Davis" userId="5c9e72a0-c39f-4aa1-9d7d-64125e78cbe6" providerId="ADAL" clId="{7D0B6B51-DA5F-4021-8848-39BD0005AA08}" dt="2025-11-15T07:04:25.411" v="6" actId="47"/>
        <pc:sldMkLst>
          <pc:docMk/>
          <pc:sldMk cId="1064222983" sldId="574"/>
        </pc:sldMkLst>
      </pc:sldChg>
      <pc:sldChg chg="del">
        <pc:chgData name="Taylor Davis" userId="5c9e72a0-c39f-4aa1-9d7d-64125e78cbe6" providerId="ADAL" clId="{7D0B6B51-DA5F-4021-8848-39BD0005AA08}" dt="2025-11-15T07:04:25.411" v="6" actId="47"/>
        <pc:sldMkLst>
          <pc:docMk/>
          <pc:sldMk cId="3790917938" sldId="575"/>
        </pc:sldMkLst>
      </pc:sldChg>
      <pc:sldChg chg="del">
        <pc:chgData name="Taylor Davis" userId="5c9e72a0-c39f-4aa1-9d7d-64125e78cbe6" providerId="ADAL" clId="{7D0B6B51-DA5F-4021-8848-39BD0005AA08}" dt="2025-11-15T07:04:18.341" v="5" actId="47"/>
        <pc:sldMkLst>
          <pc:docMk/>
          <pc:sldMk cId="838631500" sldId="583"/>
        </pc:sldMkLst>
      </pc:sldChg>
      <pc:sldChg chg="del">
        <pc:chgData name="Taylor Davis" userId="5c9e72a0-c39f-4aa1-9d7d-64125e78cbe6" providerId="ADAL" clId="{7D0B6B51-DA5F-4021-8848-39BD0005AA08}" dt="2025-11-15T07:04:18.341" v="5" actId="47"/>
        <pc:sldMkLst>
          <pc:docMk/>
          <pc:sldMk cId="4042275972" sldId="613"/>
        </pc:sldMkLst>
      </pc:sldChg>
      <pc:sldChg chg="del">
        <pc:chgData name="Taylor Davis" userId="5c9e72a0-c39f-4aa1-9d7d-64125e78cbe6" providerId="ADAL" clId="{7D0B6B51-DA5F-4021-8848-39BD0005AA08}" dt="2025-11-15T07:04:18.341" v="5" actId="47"/>
        <pc:sldMkLst>
          <pc:docMk/>
          <pc:sldMk cId="1281542618" sldId="614"/>
        </pc:sldMkLst>
      </pc:sldChg>
      <pc:sldChg chg="del">
        <pc:chgData name="Taylor Davis" userId="5c9e72a0-c39f-4aa1-9d7d-64125e78cbe6" providerId="ADAL" clId="{7D0B6B51-DA5F-4021-8848-39BD0005AA08}" dt="2025-11-15T07:04:18.341" v="5" actId="47"/>
        <pc:sldMkLst>
          <pc:docMk/>
          <pc:sldMk cId="2174952421" sldId="2145726856"/>
        </pc:sldMkLst>
      </pc:sldChg>
      <pc:sldChg chg="del">
        <pc:chgData name="Taylor Davis" userId="5c9e72a0-c39f-4aa1-9d7d-64125e78cbe6" providerId="ADAL" clId="{7D0B6B51-DA5F-4021-8848-39BD0005AA08}" dt="2025-11-15T07:04:18.341" v="5" actId="47"/>
        <pc:sldMkLst>
          <pc:docMk/>
          <pc:sldMk cId="4161310751" sldId="2145726857"/>
        </pc:sldMkLst>
      </pc:sldChg>
      <pc:sldChg chg="del">
        <pc:chgData name="Taylor Davis" userId="5c9e72a0-c39f-4aa1-9d7d-64125e78cbe6" providerId="ADAL" clId="{7D0B6B51-DA5F-4021-8848-39BD0005AA08}" dt="2025-11-15T07:04:18.341" v="5" actId="47"/>
        <pc:sldMkLst>
          <pc:docMk/>
          <pc:sldMk cId="1389453819" sldId="2145726859"/>
        </pc:sldMkLst>
      </pc:sldChg>
      <pc:sldChg chg="del">
        <pc:chgData name="Taylor Davis" userId="5c9e72a0-c39f-4aa1-9d7d-64125e78cbe6" providerId="ADAL" clId="{7D0B6B51-DA5F-4021-8848-39BD0005AA08}" dt="2025-11-15T07:04:18.341" v="5" actId="47"/>
        <pc:sldMkLst>
          <pc:docMk/>
          <pc:sldMk cId="0" sldId="2145726864"/>
        </pc:sldMkLst>
      </pc:sldChg>
      <pc:sldChg chg="del">
        <pc:chgData name="Taylor Davis" userId="5c9e72a0-c39f-4aa1-9d7d-64125e78cbe6" providerId="ADAL" clId="{7D0B6B51-DA5F-4021-8848-39BD0005AA08}" dt="2025-11-15T07:04:18.341" v="5" actId="47"/>
        <pc:sldMkLst>
          <pc:docMk/>
          <pc:sldMk cId="1010235892" sldId="2145726866"/>
        </pc:sldMkLst>
      </pc:sldChg>
      <pc:sldChg chg="del">
        <pc:chgData name="Taylor Davis" userId="5c9e72a0-c39f-4aa1-9d7d-64125e78cbe6" providerId="ADAL" clId="{7D0B6B51-DA5F-4021-8848-39BD0005AA08}" dt="2025-11-15T07:04:00.289" v="2" actId="47"/>
        <pc:sldMkLst>
          <pc:docMk/>
          <pc:sldMk cId="0" sldId="2145726867"/>
        </pc:sldMkLst>
      </pc:sldChg>
      <pc:sldChg chg="del">
        <pc:chgData name="Taylor Davis" userId="5c9e72a0-c39f-4aa1-9d7d-64125e78cbe6" providerId="ADAL" clId="{7D0B6B51-DA5F-4021-8848-39BD0005AA08}" dt="2025-11-15T07:04:18.341" v="5" actId="47"/>
        <pc:sldMkLst>
          <pc:docMk/>
          <pc:sldMk cId="4087636236" sldId="2145726868"/>
        </pc:sldMkLst>
      </pc:sldChg>
      <pc:sldChg chg="del">
        <pc:chgData name="Taylor Davis" userId="5c9e72a0-c39f-4aa1-9d7d-64125e78cbe6" providerId="ADAL" clId="{7D0B6B51-DA5F-4021-8848-39BD0005AA08}" dt="2025-11-15T07:04:18.341" v="5" actId="47"/>
        <pc:sldMkLst>
          <pc:docMk/>
          <pc:sldMk cId="0" sldId="2145726870"/>
        </pc:sldMkLst>
      </pc:sldChg>
      <pc:sldChg chg="del">
        <pc:chgData name="Taylor Davis" userId="5c9e72a0-c39f-4aa1-9d7d-64125e78cbe6" providerId="ADAL" clId="{7D0B6B51-DA5F-4021-8848-39BD0005AA08}" dt="2025-11-15T07:04:09.380" v="4" actId="47"/>
        <pc:sldMkLst>
          <pc:docMk/>
          <pc:sldMk cId="0" sldId="2145726872"/>
        </pc:sldMkLst>
      </pc:sldChg>
      <pc:sldChg chg="del">
        <pc:chgData name="Taylor Davis" userId="5c9e72a0-c39f-4aa1-9d7d-64125e78cbe6" providerId="ADAL" clId="{7D0B6B51-DA5F-4021-8848-39BD0005AA08}" dt="2025-11-15T07:03:54.090" v="0" actId="47"/>
        <pc:sldMkLst>
          <pc:docMk/>
          <pc:sldMk cId="3982481892" sldId="2145726874"/>
        </pc:sldMkLst>
      </pc:sldChg>
      <pc:sldChg chg="del">
        <pc:chgData name="Taylor Davis" userId="5c9e72a0-c39f-4aa1-9d7d-64125e78cbe6" providerId="ADAL" clId="{7D0B6B51-DA5F-4021-8848-39BD0005AA08}" dt="2025-11-15T07:04:18.341" v="5" actId="47"/>
        <pc:sldMkLst>
          <pc:docMk/>
          <pc:sldMk cId="0" sldId="2145726911"/>
        </pc:sldMkLst>
      </pc:sldChg>
      <pc:sldMasterChg chg="delSldLayout">
        <pc:chgData name="Taylor Davis" userId="5c9e72a0-c39f-4aa1-9d7d-64125e78cbe6" providerId="ADAL" clId="{7D0B6B51-DA5F-4021-8848-39BD0005AA08}" dt="2025-11-15T07:04:18.341" v="5" actId="47"/>
        <pc:sldMasterMkLst>
          <pc:docMk/>
          <pc:sldMasterMk cId="3019070536" sldId="2147483744"/>
        </pc:sldMasterMkLst>
        <pc:sldLayoutChg chg="del">
          <pc:chgData name="Taylor Davis" userId="5c9e72a0-c39f-4aa1-9d7d-64125e78cbe6" providerId="ADAL" clId="{7D0B6B51-DA5F-4021-8848-39BD0005AA08}" dt="2025-11-15T07:04:18.341" v="5" actId="47"/>
          <pc:sldLayoutMkLst>
            <pc:docMk/>
            <pc:sldMasterMk cId="3019070536" sldId="2147483744"/>
            <pc:sldLayoutMk cId="1655837808" sldId="2147483812"/>
          </pc:sldLayoutMkLst>
        </pc:sldLayoutChg>
      </pc:sldMasterChg>
      <pc:sldMasterChg chg="del delSldLayout">
        <pc:chgData name="Taylor Davis" userId="5c9e72a0-c39f-4aa1-9d7d-64125e78cbe6" providerId="ADAL" clId="{7D0B6B51-DA5F-4021-8848-39BD0005AA08}" dt="2025-11-15T07:04:18.341" v="5" actId="47"/>
        <pc:sldMasterMkLst>
          <pc:docMk/>
          <pc:sldMasterMk cId="1265540980" sldId="2147483785"/>
        </pc:sldMasterMkLst>
        <pc:sldLayoutChg chg="del">
          <pc:chgData name="Taylor Davis" userId="5c9e72a0-c39f-4aa1-9d7d-64125e78cbe6" providerId="ADAL" clId="{7D0B6B51-DA5F-4021-8848-39BD0005AA08}" dt="2025-11-15T07:04:18.341" v="5" actId="47"/>
          <pc:sldLayoutMkLst>
            <pc:docMk/>
            <pc:sldMasterMk cId="1265540980" sldId="2147483785"/>
            <pc:sldLayoutMk cId="2498378428" sldId="2147483786"/>
          </pc:sldLayoutMkLst>
        </pc:sldLayoutChg>
        <pc:sldLayoutChg chg="del">
          <pc:chgData name="Taylor Davis" userId="5c9e72a0-c39f-4aa1-9d7d-64125e78cbe6" providerId="ADAL" clId="{7D0B6B51-DA5F-4021-8848-39BD0005AA08}" dt="2025-11-15T07:04:18.341" v="5" actId="47"/>
          <pc:sldLayoutMkLst>
            <pc:docMk/>
            <pc:sldMasterMk cId="1265540980" sldId="2147483785"/>
            <pc:sldLayoutMk cId="2601881731" sldId="2147483787"/>
          </pc:sldLayoutMkLst>
        </pc:sldLayoutChg>
        <pc:sldLayoutChg chg="del">
          <pc:chgData name="Taylor Davis" userId="5c9e72a0-c39f-4aa1-9d7d-64125e78cbe6" providerId="ADAL" clId="{7D0B6B51-DA5F-4021-8848-39BD0005AA08}" dt="2025-11-15T07:04:18.341" v="5" actId="47"/>
          <pc:sldLayoutMkLst>
            <pc:docMk/>
            <pc:sldMasterMk cId="1265540980" sldId="2147483785"/>
            <pc:sldLayoutMk cId="1562686733" sldId="2147483788"/>
          </pc:sldLayoutMkLst>
        </pc:sldLayoutChg>
        <pc:sldLayoutChg chg="del">
          <pc:chgData name="Taylor Davis" userId="5c9e72a0-c39f-4aa1-9d7d-64125e78cbe6" providerId="ADAL" clId="{7D0B6B51-DA5F-4021-8848-39BD0005AA08}" dt="2025-11-15T07:04:18.341" v="5" actId="47"/>
          <pc:sldLayoutMkLst>
            <pc:docMk/>
            <pc:sldMasterMk cId="1265540980" sldId="2147483785"/>
            <pc:sldLayoutMk cId="4003081434" sldId="2147483789"/>
          </pc:sldLayoutMkLst>
        </pc:sldLayoutChg>
        <pc:sldLayoutChg chg="del">
          <pc:chgData name="Taylor Davis" userId="5c9e72a0-c39f-4aa1-9d7d-64125e78cbe6" providerId="ADAL" clId="{7D0B6B51-DA5F-4021-8848-39BD0005AA08}" dt="2025-11-15T07:04:18.341" v="5" actId="47"/>
          <pc:sldLayoutMkLst>
            <pc:docMk/>
            <pc:sldMasterMk cId="1265540980" sldId="2147483785"/>
            <pc:sldLayoutMk cId="1910118790" sldId="2147483790"/>
          </pc:sldLayoutMkLst>
        </pc:sldLayoutChg>
        <pc:sldLayoutChg chg="del">
          <pc:chgData name="Taylor Davis" userId="5c9e72a0-c39f-4aa1-9d7d-64125e78cbe6" providerId="ADAL" clId="{7D0B6B51-DA5F-4021-8848-39BD0005AA08}" dt="2025-11-15T07:04:18.341" v="5" actId="47"/>
          <pc:sldLayoutMkLst>
            <pc:docMk/>
            <pc:sldMasterMk cId="1265540980" sldId="2147483785"/>
            <pc:sldLayoutMk cId="3711328393" sldId="2147483791"/>
          </pc:sldLayoutMkLst>
        </pc:sldLayoutChg>
        <pc:sldLayoutChg chg="del">
          <pc:chgData name="Taylor Davis" userId="5c9e72a0-c39f-4aa1-9d7d-64125e78cbe6" providerId="ADAL" clId="{7D0B6B51-DA5F-4021-8848-39BD0005AA08}" dt="2025-11-15T07:04:18.341" v="5" actId="47"/>
          <pc:sldLayoutMkLst>
            <pc:docMk/>
            <pc:sldMasterMk cId="1265540980" sldId="2147483785"/>
            <pc:sldLayoutMk cId="1423940963" sldId="2147483792"/>
          </pc:sldLayoutMkLst>
        </pc:sldLayoutChg>
        <pc:sldLayoutChg chg="del">
          <pc:chgData name="Taylor Davis" userId="5c9e72a0-c39f-4aa1-9d7d-64125e78cbe6" providerId="ADAL" clId="{7D0B6B51-DA5F-4021-8848-39BD0005AA08}" dt="2025-11-15T07:04:18.341" v="5" actId="47"/>
          <pc:sldLayoutMkLst>
            <pc:docMk/>
            <pc:sldMasterMk cId="1265540980" sldId="2147483785"/>
            <pc:sldLayoutMk cId="4032606110" sldId="2147483793"/>
          </pc:sldLayoutMkLst>
        </pc:sldLayoutChg>
        <pc:sldLayoutChg chg="del">
          <pc:chgData name="Taylor Davis" userId="5c9e72a0-c39f-4aa1-9d7d-64125e78cbe6" providerId="ADAL" clId="{7D0B6B51-DA5F-4021-8848-39BD0005AA08}" dt="2025-11-15T07:04:18.341" v="5" actId="47"/>
          <pc:sldLayoutMkLst>
            <pc:docMk/>
            <pc:sldMasterMk cId="1265540980" sldId="2147483785"/>
            <pc:sldLayoutMk cId="2254392230" sldId="2147483794"/>
          </pc:sldLayoutMkLst>
        </pc:sldLayoutChg>
        <pc:sldLayoutChg chg="del">
          <pc:chgData name="Taylor Davis" userId="5c9e72a0-c39f-4aa1-9d7d-64125e78cbe6" providerId="ADAL" clId="{7D0B6B51-DA5F-4021-8848-39BD0005AA08}" dt="2025-11-15T07:04:18.341" v="5" actId="47"/>
          <pc:sldLayoutMkLst>
            <pc:docMk/>
            <pc:sldMasterMk cId="1265540980" sldId="2147483785"/>
            <pc:sldLayoutMk cId="1920540095" sldId="2147483795"/>
          </pc:sldLayoutMkLst>
        </pc:sldLayoutChg>
        <pc:sldLayoutChg chg="del">
          <pc:chgData name="Taylor Davis" userId="5c9e72a0-c39f-4aa1-9d7d-64125e78cbe6" providerId="ADAL" clId="{7D0B6B51-DA5F-4021-8848-39BD0005AA08}" dt="2025-11-15T07:04:18.341" v="5" actId="47"/>
          <pc:sldLayoutMkLst>
            <pc:docMk/>
            <pc:sldMasterMk cId="1265540980" sldId="2147483785"/>
            <pc:sldLayoutMk cId="4278865784" sldId="2147483796"/>
          </pc:sldLayoutMkLst>
        </pc:sldLayoutChg>
      </pc:sldMasterChg>
      <pc:sldMasterChg chg="del delSldLayout">
        <pc:chgData name="Taylor Davis" userId="5c9e72a0-c39f-4aa1-9d7d-64125e78cbe6" providerId="ADAL" clId="{7D0B6B51-DA5F-4021-8848-39BD0005AA08}" dt="2025-11-15T07:04:18.341" v="5" actId="47"/>
        <pc:sldMasterMkLst>
          <pc:docMk/>
          <pc:sldMasterMk cId="3563936643" sldId="2147483797"/>
        </pc:sldMasterMkLst>
        <pc:sldLayoutChg chg="del">
          <pc:chgData name="Taylor Davis" userId="5c9e72a0-c39f-4aa1-9d7d-64125e78cbe6" providerId="ADAL" clId="{7D0B6B51-DA5F-4021-8848-39BD0005AA08}" dt="2025-11-15T07:04:18.341" v="5" actId="47"/>
          <pc:sldLayoutMkLst>
            <pc:docMk/>
            <pc:sldMasterMk cId="3563936643" sldId="2147483797"/>
            <pc:sldLayoutMk cId="2824293841" sldId="2147483798"/>
          </pc:sldLayoutMkLst>
        </pc:sldLayoutChg>
        <pc:sldLayoutChg chg="del">
          <pc:chgData name="Taylor Davis" userId="5c9e72a0-c39f-4aa1-9d7d-64125e78cbe6" providerId="ADAL" clId="{7D0B6B51-DA5F-4021-8848-39BD0005AA08}" dt="2025-11-15T07:04:18.341" v="5" actId="47"/>
          <pc:sldLayoutMkLst>
            <pc:docMk/>
            <pc:sldMasterMk cId="3563936643" sldId="2147483797"/>
            <pc:sldLayoutMk cId="150421858" sldId="2147483799"/>
          </pc:sldLayoutMkLst>
        </pc:sldLayoutChg>
        <pc:sldLayoutChg chg="del">
          <pc:chgData name="Taylor Davis" userId="5c9e72a0-c39f-4aa1-9d7d-64125e78cbe6" providerId="ADAL" clId="{7D0B6B51-DA5F-4021-8848-39BD0005AA08}" dt="2025-11-15T07:04:18.341" v="5" actId="47"/>
          <pc:sldLayoutMkLst>
            <pc:docMk/>
            <pc:sldMasterMk cId="3563936643" sldId="2147483797"/>
            <pc:sldLayoutMk cId="2298163207" sldId="2147483800"/>
          </pc:sldLayoutMkLst>
        </pc:sldLayoutChg>
        <pc:sldLayoutChg chg="del">
          <pc:chgData name="Taylor Davis" userId="5c9e72a0-c39f-4aa1-9d7d-64125e78cbe6" providerId="ADAL" clId="{7D0B6B51-DA5F-4021-8848-39BD0005AA08}" dt="2025-11-15T07:04:18.341" v="5" actId="47"/>
          <pc:sldLayoutMkLst>
            <pc:docMk/>
            <pc:sldMasterMk cId="3563936643" sldId="2147483797"/>
            <pc:sldLayoutMk cId="1991304296" sldId="2147483801"/>
          </pc:sldLayoutMkLst>
        </pc:sldLayoutChg>
        <pc:sldLayoutChg chg="del">
          <pc:chgData name="Taylor Davis" userId="5c9e72a0-c39f-4aa1-9d7d-64125e78cbe6" providerId="ADAL" clId="{7D0B6B51-DA5F-4021-8848-39BD0005AA08}" dt="2025-11-15T07:04:18.341" v="5" actId="47"/>
          <pc:sldLayoutMkLst>
            <pc:docMk/>
            <pc:sldMasterMk cId="3563936643" sldId="2147483797"/>
            <pc:sldLayoutMk cId="1121920882" sldId="2147483802"/>
          </pc:sldLayoutMkLst>
        </pc:sldLayoutChg>
        <pc:sldLayoutChg chg="del">
          <pc:chgData name="Taylor Davis" userId="5c9e72a0-c39f-4aa1-9d7d-64125e78cbe6" providerId="ADAL" clId="{7D0B6B51-DA5F-4021-8848-39BD0005AA08}" dt="2025-11-15T07:04:18.341" v="5" actId="47"/>
          <pc:sldLayoutMkLst>
            <pc:docMk/>
            <pc:sldMasterMk cId="3563936643" sldId="2147483797"/>
            <pc:sldLayoutMk cId="2885874120" sldId="2147483803"/>
          </pc:sldLayoutMkLst>
        </pc:sldLayoutChg>
        <pc:sldLayoutChg chg="del">
          <pc:chgData name="Taylor Davis" userId="5c9e72a0-c39f-4aa1-9d7d-64125e78cbe6" providerId="ADAL" clId="{7D0B6B51-DA5F-4021-8848-39BD0005AA08}" dt="2025-11-15T07:04:18.341" v="5" actId="47"/>
          <pc:sldLayoutMkLst>
            <pc:docMk/>
            <pc:sldMasterMk cId="3563936643" sldId="2147483797"/>
            <pc:sldLayoutMk cId="1906534417" sldId="2147483804"/>
          </pc:sldLayoutMkLst>
        </pc:sldLayoutChg>
        <pc:sldLayoutChg chg="del">
          <pc:chgData name="Taylor Davis" userId="5c9e72a0-c39f-4aa1-9d7d-64125e78cbe6" providerId="ADAL" clId="{7D0B6B51-DA5F-4021-8848-39BD0005AA08}" dt="2025-11-15T07:04:18.341" v="5" actId="47"/>
          <pc:sldLayoutMkLst>
            <pc:docMk/>
            <pc:sldMasterMk cId="3563936643" sldId="2147483797"/>
            <pc:sldLayoutMk cId="491300616" sldId="2147483805"/>
          </pc:sldLayoutMkLst>
        </pc:sldLayoutChg>
        <pc:sldLayoutChg chg="del">
          <pc:chgData name="Taylor Davis" userId="5c9e72a0-c39f-4aa1-9d7d-64125e78cbe6" providerId="ADAL" clId="{7D0B6B51-DA5F-4021-8848-39BD0005AA08}" dt="2025-11-15T07:04:18.341" v="5" actId="47"/>
          <pc:sldLayoutMkLst>
            <pc:docMk/>
            <pc:sldMasterMk cId="3563936643" sldId="2147483797"/>
            <pc:sldLayoutMk cId="2921565179" sldId="2147483806"/>
          </pc:sldLayoutMkLst>
        </pc:sldLayoutChg>
        <pc:sldLayoutChg chg="del">
          <pc:chgData name="Taylor Davis" userId="5c9e72a0-c39f-4aa1-9d7d-64125e78cbe6" providerId="ADAL" clId="{7D0B6B51-DA5F-4021-8848-39BD0005AA08}" dt="2025-11-15T07:04:18.341" v="5" actId="47"/>
          <pc:sldLayoutMkLst>
            <pc:docMk/>
            <pc:sldMasterMk cId="3563936643" sldId="2147483797"/>
            <pc:sldLayoutMk cId="1159210513" sldId="2147483807"/>
          </pc:sldLayoutMkLst>
        </pc:sldLayoutChg>
        <pc:sldLayoutChg chg="del">
          <pc:chgData name="Taylor Davis" userId="5c9e72a0-c39f-4aa1-9d7d-64125e78cbe6" providerId="ADAL" clId="{7D0B6B51-DA5F-4021-8848-39BD0005AA08}" dt="2025-11-15T07:04:18.341" v="5" actId="47"/>
          <pc:sldLayoutMkLst>
            <pc:docMk/>
            <pc:sldMasterMk cId="3563936643" sldId="2147483797"/>
            <pc:sldLayoutMk cId="1217176151" sldId="2147483808"/>
          </pc:sldLayoutMkLst>
        </pc:sldLayoutChg>
        <pc:sldLayoutChg chg="del">
          <pc:chgData name="Taylor Davis" userId="5c9e72a0-c39f-4aa1-9d7d-64125e78cbe6" providerId="ADAL" clId="{7D0B6B51-DA5F-4021-8848-39BD0005AA08}" dt="2025-11-15T07:04:18.341" v="5" actId="47"/>
          <pc:sldLayoutMkLst>
            <pc:docMk/>
            <pc:sldMasterMk cId="3563936643" sldId="2147483797"/>
            <pc:sldLayoutMk cId="895843817" sldId="2147483809"/>
          </pc:sldLayoutMkLst>
        </pc:sldLayoutChg>
        <pc:sldLayoutChg chg="del">
          <pc:chgData name="Taylor Davis" userId="5c9e72a0-c39f-4aa1-9d7d-64125e78cbe6" providerId="ADAL" clId="{7D0B6B51-DA5F-4021-8848-39BD0005AA08}" dt="2025-11-15T07:04:18.341" v="5" actId="47"/>
          <pc:sldLayoutMkLst>
            <pc:docMk/>
            <pc:sldMasterMk cId="3563936643" sldId="2147483797"/>
            <pc:sldLayoutMk cId="684719445" sldId="2147483810"/>
          </pc:sldLayoutMkLst>
        </pc:sldLayoutChg>
        <pc:sldLayoutChg chg="del">
          <pc:chgData name="Taylor Davis" userId="5c9e72a0-c39f-4aa1-9d7d-64125e78cbe6" providerId="ADAL" clId="{7D0B6B51-DA5F-4021-8848-39BD0005AA08}" dt="2025-11-15T07:04:18.341" v="5" actId="47"/>
          <pc:sldLayoutMkLst>
            <pc:docMk/>
            <pc:sldMasterMk cId="3563936643" sldId="2147483797"/>
            <pc:sldLayoutMk cId="2530460957" sldId="2147483811"/>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atin typeface="Montserrat" panose="00000500000000000000" pitchFamily="2" charset="0"/>
              </a:defRPr>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atin typeface="Montserrat" panose="00000500000000000000" pitchFamily="2" charset="0"/>
              </a:defRPr>
            </a:lvl1pPr>
          </a:lstStyle>
          <a:p>
            <a:fld id="{7444AE22-21A2-46C1-A42F-3B4E8AE858E0}" type="datetimeFigureOut">
              <a:rPr lang="en-US" smtClean="0"/>
              <a:pPr/>
              <a:t>11/14/2025</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atin typeface="Montserrat" panose="00000500000000000000" pitchFamily="2" charset="0"/>
              </a:defRPr>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atin typeface="Montserrat" panose="00000500000000000000" pitchFamily="2" charset="0"/>
              </a:defRPr>
            </a:lvl1pPr>
          </a:lstStyle>
          <a:p>
            <a:fld id="{4139CA89-B4B2-4050-B038-8DF8E3A33516}" type="slidenum">
              <a:rPr lang="en-US" smtClean="0"/>
              <a:pPr/>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7</a:t>
            </a:fld>
            <a:endParaRPr lang="en-US" dirty="0"/>
          </a:p>
        </p:txBody>
      </p:sp>
    </p:spTree>
    <p:extLst>
      <p:ext uri="{BB962C8B-B14F-4D97-AF65-F5344CB8AC3E}">
        <p14:creationId xmlns:p14="http://schemas.microsoft.com/office/powerpoint/2010/main" val="31893513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11/14/2025</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11/14/2025</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11/14/2025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11/14/2025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11/14/2025</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11/14/2025</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11/14/2025</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11/14/2025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11/14/2025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11/14/2025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11/14/2025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17378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11/14/2025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1289658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11/14/2025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3121576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11/14/2025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578834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11/14/2025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86899206"/>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11/14/2025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928250306"/>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11/14/2025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8255796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11/14/2025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8090479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11/14/2025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9986902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11/14/2025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3884915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11/14/2025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84491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11/14/2025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7721078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11/14/2025</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33502895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1686739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30184788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0333A-D7F4-8BF6-7FE6-B245E061DF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AFD55F-2B6A-BC81-01A1-E169ABA4D220}"/>
              </a:ext>
            </a:extLst>
          </p:cNvPr>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BAAA2D5-089E-22AF-3D0B-4F19067E8217}"/>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5" name="Footer Placeholder 4">
            <a:extLst>
              <a:ext uri="{FF2B5EF4-FFF2-40B4-BE49-F238E27FC236}">
                <a16:creationId xmlns:a16="http://schemas.microsoft.com/office/drawing/2014/main" id="{589894B4-59C2-ED48-02F2-59E034C4F88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9D461B42-85D1-521C-676B-AEF121AD5CB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56872617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24B23-3A0F-2FFB-F140-0ED21664BD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127193-0571-3183-9568-FBC2C4C41923}"/>
              </a:ext>
            </a:extLst>
          </p:cNvPr>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A4BE860-C86D-39CD-1793-0B867B627B8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5" name="Footer Placeholder 4">
            <a:extLst>
              <a:ext uri="{FF2B5EF4-FFF2-40B4-BE49-F238E27FC236}">
                <a16:creationId xmlns:a16="http://schemas.microsoft.com/office/drawing/2014/main" id="{D959902B-89A3-6032-AD27-5B2747726C70}"/>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C4B0BC3B-8A86-AA5A-AD97-AFE05C11E31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2644058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49683-D972-023F-219D-7BB60D6790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7FBF06F-33B9-F6B7-D0B0-58368CF72D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latin typeface="Montserrat" panose="00000500000000000000"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10D591E4-3B21-B2C2-F89D-019DFA1351E6}"/>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5" name="Footer Placeholder 4">
            <a:extLst>
              <a:ext uri="{FF2B5EF4-FFF2-40B4-BE49-F238E27FC236}">
                <a16:creationId xmlns:a16="http://schemas.microsoft.com/office/drawing/2014/main" id="{578F9B1F-218C-4099-354A-77985CA88E63}"/>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BB87B7BA-EB30-276C-F6A4-57FBE4B1BA2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71612093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93683-51F3-237C-28D3-307EE44F33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A447C5-37A5-7576-DF3F-A03DBF5DC6D7}"/>
              </a:ext>
            </a:extLst>
          </p:cNvPr>
          <p:cNvSpPr>
            <a:spLocks noGrp="1"/>
          </p:cNvSpPr>
          <p:nvPr>
            <p:ph sz="half" idx="1"/>
          </p:nvPr>
        </p:nvSpPr>
        <p:spPr>
          <a:xfrm>
            <a:off x="838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A53D1057-0101-3CB8-D158-2EAE2463F32A}"/>
              </a:ext>
            </a:extLst>
          </p:cNvPr>
          <p:cNvSpPr>
            <a:spLocks noGrp="1"/>
          </p:cNvSpPr>
          <p:nvPr>
            <p:ph sz="half" idx="2"/>
          </p:nvPr>
        </p:nvSpPr>
        <p:spPr>
          <a:xfrm>
            <a:off x="6172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F9A133-63CE-4F37-E482-EA1EECCAB0CF}"/>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6" name="Footer Placeholder 5">
            <a:extLst>
              <a:ext uri="{FF2B5EF4-FFF2-40B4-BE49-F238E27FC236}">
                <a16:creationId xmlns:a16="http://schemas.microsoft.com/office/drawing/2014/main" id="{E2DC3D78-6D9B-64CF-B7D6-AEEA3A6E0ECC}"/>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97CD38F0-00C1-C0D4-F298-433BE1D17D12}"/>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50577165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8A98D-65C1-1E26-EDD7-90B5F4CAFC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ADBA72-820B-660B-EB15-EF77956BD268}"/>
              </a:ext>
            </a:extLst>
          </p:cNvPr>
          <p:cNvSpPr>
            <a:spLocks noGrp="1"/>
          </p:cNvSpPr>
          <p:nvPr>
            <p:ph type="body" idx="1"/>
          </p:nvPr>
        </p:nvSpPr>
        <p:spPr>
          <a:xfrm>
            <a:off x="839788" y="1681163"/>
            <a:ext cx="5157787"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159EE162-1C58-9826-D133-1AD84A30AF1E}"/>
              </a:ext>
            </a:extLst>
          </p:cNvPr>
          <p:cNvSpPr>
            <a:spLocks noGrp="1"/>
          </p:cNvSpPr>
          <p:nvPr>
            <p:ph sz="half" idx="2"/>
          </p:nvPr>
        </p:nvSpPr>
        <p:spPr>
          <a:xfrm>
            <a:off x="839788" y="2505075"/>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7950119-C4BF-8D07-DED7-073F40FB57DA}"/>
              </a:ext>
            </a:extLst>
          </p:cNvPr>
          <p:cNvSpPr>
            <a:spLocks noGrp="1"/>
          </p:cNvSpPr>
          <p:nvPr>
            <p:ph type="body" sz="quarter" idx="3"/>
          </p:nvPr>
        </p:nvSpPr>
        <p:spPr>
          <a:xfrm>
            <a:off x="6172200" y="1681163"/>
            <a:ext cx="5183188"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90C9C018-AAE1-01C5-C4E7-1C69A018EB1A}"/>
              </a:ext>
            </a:extLst>
          </p:cNvPr>
          <p:cNvSpPr>
            <a:spLocks noGrp="1"/>
          </p:cNvSpPr>
          <p:nvPr>
            <p:ph sz="quarter" idx="4"/>
          </p:nvPr>
        </p:nvSpPr>
        <p:spPr>
          <a:xfrm>
            <a:off x="6172200" y="2505075"/>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5C6C6F45-ECE2-F081-F98C-EECF3EBF428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8" name="Footer Placeholder 7">
            <a:extLst>
              <a:ext uri="{FF2B5EF4-FFF2-40B4-BE49-F238E27FC236}">
                <a16:creationId xmlns:a16="http://schemas.microsoft.com/office/drawing/2014/main" id="{81C19771-6EC0-7828-5F14-219FFD629621}"/>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9" name="Slide Number Placeholder 8">
            <a:extLst>
              <a:ext uri="{FF2B5EF4-FFF2-40B4-BE49-F238E27FC236}">
                <a16:creationId xmlns:a16="http://schemas.microsoft.com/office/drawing/2014/main" id="{A1AFBBDB-D016-3519-189F-C3EF7A0A34F9}"/>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7731658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90F4-6BF3-9A05-11B0-CFDC94F6AB1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32DC46-DA37-DBBE-5107-914E8DF19A4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4" name="Footer Placeholder 3">
            <a:extLst>
              <a:ext uri="{FF2B5EF4-FFF2-40B4-BE49-F238E27FC236}">
                <a16:creationId xmlns:a16="http://schemas.microsoft.com/office/drawing/2014/main" id="{500D90FD-81A9-E6FB-27D3-24713EF14A15}"/>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5" name="Slide Number Placeholder 4">
            <a:extLst>
              <a:ext uri="{FF2B5EF4-FFF2-40B4-BE49-F238E27FC236}">
                <a16:creationId xmlns:a16="http://schemas.microsoft.com/office/drawing/2014/main" id="{29316EA0-D473-AC28-DECA-DEAEF6567180}"/>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656068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17604C-AB91-78A2-2DA4-6D1088A321F1}"/>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3" name="Footer Placeholder 2">
            <a:extLst>
              <a:ext uri="{FF2B5EF4-FFF2-40B4-BE49-F238E27FC236}">
                <a16:creationId xmlns:a16="http://schemas.microsoft.com/office/drawing/2014/main" id="{E4C85361-F6B7-FAAB-4738-E0ADE5E1C7C4}"/>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4" name="Slide Number Placeholder 3">
            <a:extLst>
              <a:ext uri="{FF2B5EF4-FFF2-40B4-BE49-F238E27FC236}">
                <a16:creationId xmlns:a16="http://schemas.microsoft.com/office/drawing/2014/main" id="{F923D6D1-624B-8B3C-90BE-2C90B19A71DF}"/>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44235742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CB8A9-03E2-CC5E-A121-E5984E9AEC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A13174-A575-A915-92B0-207B93D1FE50}"/>
              </a:ext>
            </a:extLst>
          </p:cNvPr>
          <p:cNvSpPr>
            <a:spLocks noGrp="1"/>
          </p:cNvSpPr>
          <p:nvPr>
            <p:ph idx="1"/>
          </p:nvPr>
        </p:nvSpPr>
        <p:spPr>
          <a:xfrm>
            <a:off x="5183188" y="987425"/>
            <a:ext cx="6172200"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EF26E49-3074-8C94-B0CC-8EFA1B8250BC}"/>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7A89E3CC-7C4A-D7EC-E46C-5A842B8A1384}"/>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6" name="Footer Placeholder 5">
            <a:extLst>
              <a:ext uri="{FF2B5EF4-FFF2-40B4-BE49-F238E27FC236}">
                <a16:creationId xmlns:a16="http://schemas.microsoft.com/office/drawing/2014/main" id="{0CF330E3-0B96-933C-829B-04B30C41D7D7}"/>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14757A92-1BAA-DAA4-E90F-EDFBED3D782C}"/>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732848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A07BE-FE86-FD17-6855-F4BBD305C4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EFE0AE-B8E3-6453-74A9-2CCBC448EB45}"/>
              </a:ext>
            </a:extLst>
          </p:cNvPr>
          <p:cNvSpPr>
            <a:spLocks noGrp="1"/>
          </p:cNvSpPr>
          <p:nvPr>
            <p:ph type="pic" idx="1"/>
          </p:nvPr>
        </p:nvSpPr>
        <p:spPr>
          <a:xfrm>
            <a:off x="5183188" y="987425"/>
            <a:ext cx="6172200" cy="4873625"/>
          </a:xfrm>
        </p:spPr>
        <p:txBody>
          <a:bodyPr/>
          <a:lstStyle>
            <a:lvl1pPr marL="0" indent="0">
              <a:buNone/>
              <a:defRPr sz="3200">
                <a:latin typeface="Montserrat" panose="000005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C1BFAC6-51C3-1D27-7E41-47878F27E0A5}"/>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F198224-E0A8-36C0-DDF7-27FA70A43C0C}"/>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6" name="Footer Placeholder 5">
            <a:extLst>
              <a:ext uri="{FF2B5EF4-FFF2-40B4-BE49-F238E27FC236}">
                <a16:creationId xmlns:a16="http://schemas.microsoft.com/office/drawing/2014/main" id="{BB34AEAA-95D8-5BA2-2F25-047DDCC1DE29}"/>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5A686F25-6C70-7C4B-DFD4-192375D55DA3}"/>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17645199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03B00-617F-6CDB-FC05-71E366A0DE7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7BB096-36EC-BC27-3A10-9065A2B11C2F}"/>
              </a:ext>
            </a:extLst>
          </p:cNvPr>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044F6E8-F910-F328-584A-CA901BB3A3E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5" name="Footer Placeholder 4">
            <a:extLst>
              <a:ext uri="{FF2B5EF4-FFF2-40B4-BE49-F238E27FC236}">
                <a16:creationId xmlns:a16="http://schemas.microsoft.com/office/drawing/2014/main" id="{3D93A474-10C6-034E-0576-8B73F4B7084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2CD4C70E-6DC2-4298-EEB8-A2AC6AD76BE8}"/>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17292695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08DBE0-CED9-F7B0-5642-5731DA249B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C47D136-9913-226C-7C14-436B6CF99CC4}"/>
              </a:ext>
            </a:extLst>
          </p:cNvPr>
          <p:cNvSpPr>
            <a:spLocks noGrp="1"/>
          </p:cNvSpPr>
          <p:nvPr>
            <p:ph type="body" orient="vert" idx="1"/>
          </p:nvPr>
        </p:nvSpPr>
        <p:spPr>
          <a:xfrm>
            <a:off x="838200"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0E3D2C8-E528-BF1F-C711-971E74B5E8A5}"/>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5" name="Footer Placeholder 4">
            <a:extLst>
              <a:ext uri="{FF2B5EF4-FFF2-40B4-BE49-F238E27FC236}">
                <a16:creationId xmlns:a16="http://schemas.microsoft.com/office/drawing/2014/main" id="{30DD753D-C084-2ADF-0E12-AA92D30C6A36}"/>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32C82D8B-8E1E-F47C-7C0F-AEDE48C2DDF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3481090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tags" Target="../tags/tag3.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heme" Target="../theme/theme3.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4.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11/14/2025</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0145033"/>
      </p:ext>
    </p:extLst>
  </p:cSld>
  <p:clrMap bg1="lt1" tx1="dk1" bg2="lt2" tx2="dk2" accent1="accent1" accent2="accent2" accent3="accent3" accent4="accent4" accent5="accent5" accent6="accent6" hlink="hlink" folHlink="folHlink"/>
  <p:sldLayoutIdLst>
    <p:sldLayoutId id="2147483757"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11/14/2025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2931359225"/>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28BEE0-7577-10C8-2F70-A988114D83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ED88FE-EDC7-60BB-7A69-AF9890EA04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4C56E3C9-054B-7BB4-0692-08B96E9944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4180493562"/>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txStyles>
    <p:titleStyle>
      <a:lvl1pPr algn="l" defTabSz="914400" rtl="0" eaLnBrk="1" latinLnBrk="0" hangingPunct="1">
        <a:lnSpc>
          <a:spcPct val="90000"/>
        </a:lnSpc>
        <a:spcBef>
          <a:spcPct val="0"/>
        </a:spcBef>
        <a:buNone/>
        <a:defRPr sz="4400" b="1" i="0" kern="1200">
          <a:solidFill>
            <a:schemeClr val="tx2"/>
          </a:solidFill>
          <a:latin typeface="Montserrat" panose="000005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Montserrat" panose="00000500000000000000"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sv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jpeg"/><Relationship Id="rId1" Type="http://schemas.openxmlformats.org/officeDocument/2006/relationships/slideLayout" Target="../slideLayouts/slideLayout6.xml"/><Relationship Id="rId6" Type="http://schemas.openxmlformats.org/officeDocument/2006/relationships/image" Target="../media/image23.svg"/><Relationship Id="rId11" Type="http://schemas.openxmlformats.org/officeDocument/2006/relationships/image" Target="../media/image10.png"/><Relationship Id="rId5" Type="http://schemas.openxmlformats.org/officeDocument/2006/relationships/image" Target="../media/image22.png"/><Relationship Id="rId10" Type="http://schemas.openxmlformats.org/officeDocument/2006/relationships/image" Target="../media/image27.svg"/><Relationship Id="rId4" Type="http://schemas.openxmlformats.org/officeDocument/2006/relationships/image" Target="../media/image21.svg"/><Relationship Id="rId9"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627"/>
        </a:solidFill>
        <a:effectLst/>
      </p:bgPr>
    </p:bg>
    <p:spTree>
      <p:nvGrpSpPr>
        <p:cNvPr id="1" name=""/>
        <p:cNvGrpSpPr/>
        <p:nvPr/>
      </p:nvGrpSpPr>
      <p:grpSpPr>
        <a:xfrm>
          <a:off x="0" y="0"/>
          <a:ext cx="0" cy="0"/>
          <a:chOff x="0" y="0"/>
          <a:chExt cx="0" cy="0"/>
        </a:xfrm>
      </p:grpSpPr>
      <p:pic>
        <p:nvPicPr>
          <p:cNvPr id="2" name="Object 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14271" cy="6856286"/>
          </a:xfrm>
          <a:prstGeom prst="rect">
            <a:avLst/>
          </a:prstGeom>
        </p:spPr>
      </p:pic>
      <p:sp>
        <p:nvSpPr>
          <p:cNvPr id="3" name="Object 2"/>
          <p:cNvSpPr/>
          <p:nvPr/>
        </p:nvSpPr>
        <p:spPr>
          <a:xfrm>
            <a:off x="2180680" y="1196279"/>
            <a:ext cx="5761184" cy="248332"/>
          </a:xfrm>
          <a:prstGeom prst="rect">
            <a:avLst/>
          </a:prstGeom>
          <a:noFill/>
        </p:spPr>
        <p:txBody>
          <a:bodyPr wrap="square" lIns="0" tIns="0" rIns="0" bIns="0" rtlCol="0" anchor="t"/>
          <a:lstStyle/>
          <a:p>
            <a:pPr marL="0" marR="0" lvl="0" indent="0" algn="r" defTabSz="914400" rtl="0" eaLnBrk="1" fontAlgn="auto" latinLnBrk="0" hangingPunct="1">
              <a:lnSpc>
                <a:spcPts val="1956"/>
              </a:lnSpc>
              <a:spcBef>
                <a:spcPts val="0"/>
              </a:spcBef>
              <a:spcAft>
                <a:spcPts val="0"/>
              </a:spcAft>
              <a:buClrTx/>
              <a:buSzTx/>
              <a:buFontTx/>
              <a:buNone/>
              <a:tabLst/>
              <a:defRPr/>
            </a:pPr>
            <a:r>
              <a:rPr kumimoji="0" lang="en-US" sz="1552" b="0" i="0" u="none" strike="noStrike" kern="0" cap="none" spc="47" normalizeH="0" baseline="0" noProof="0">
                <a:ln>
                  <a:noFill/>
                </a:ln>
                <a:solidFill>
                  <a:srgbClr val="FFFFFF">
                    <a:alpha val="80000"/>
                  </a:srgbClr>
                </a:solidFill>
                <a:effectLst/>
                <a:uLnTx/>
                <a:uFillTx/>
                <a:latin typeface="Montserrat" panose="00000500000000000000" pitchFamily="2" charset="0"/>
                <a:ea typeface="Jost*" pitchFamily="34" charset="-122"/>
                <a:cs typeface="Jost*" pitchFamily="34" charset="-120"/>
              </a:rPr>
              <a:t>OPPORTUNITY REVIEW</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3"/>
          <p:cNvSpPr/>
          <p:nvPr/>
        </p:nvSpPr>
        <p:spPr>
          <a:xfrm>
            <a:off x="1178743" y="1685802"/>
            <a:ext cx="6953573" cy="1151790"/>
          </a:xfrm>
          <a:prstGeom prst="rect">
            <a:avLst/>
          </a:prstGeom>
          <a:noFill/>
        </p:spPr>
        <p:txBody>
          <a:bodyPr wrap="square" lIns="0" tIns="0" rIns="0" bIns="0" rtlCol="0" anchor="t"/>
          <a:lstStyle/>
          <a:p>
            <a:pPr marL="0" marR="0" lvl="0" indent="0" algn="r" defTabSz="914400" rtl="0" eaLnBrk="1" fontAlgn="auto" latinLnBrk="0" hangingPunct="1">
              <a:lnSpc>
                <a:spcPts val="9072"/>
              </a:lnSpc>
              <a:spcBef>
                <a:spcPts val="975"/>
              </a:spcBef>
              <a:spcAft>
                <a:spcPts val="0"/>
              </a:spcAft>
              <a:buClrTx/>
              <a:buSzTx/>
              <a:buFontTx/>
              <a:buNone/>
              <a:tabLst/>
              <a:defRPr/>
            </a:pPr>
            <a:r>
              <a:rPr kumimoji="0" lang="en-US" sz="6600" b="0" i="0" u="none" strike="noStrike" kern="0" cap="none" spc="243" normalizeH="0" baseline="0" noProof="0" dirty="0">
                <a:ln>
                  <a:noFill/>
                </a:ln>
                <a:solidFill>
                  <a:srgbClr val="FFFFFF"/>
                </a:solidFill>
                <a:effectLst/>
                <a:uLnTx/>
                <a:uFillTx/>
                <a:latin typeface="Montserrat"/>
                <a:ea typeface="Jost*"/>
                <a:cs typeface="Jost*" pitchFamily="34" charset="-120"/>
              </a:rPr>
              <a:t>DIRECT-TO-EMPLOYER GTM STRATEGY</a:t>
            </a:r>
            <a:endParaRPr kumimoji="0" lang="en-US" sz="1200" b="0" i="0" u="none" strike="noStrike" kern="1200" cap="none" spc="0" normalizeH="0" baseline="0" noProof="0" dirty="0">
              <a:ln>
                <a:noFill/>
              </a:ln>
              <a:solidFill>
                <a:prstClr val="black"/>
              </a:solidFill>
              <a:effectLst/>
              <a:uLnTx/>
              <a:uFillTx/>
              <a:latin typeface="Montserrat"/>
              <a:ea typeface="Jost*"/>
              <a:cs typeface="+mn-cs"/>
            </a:endParaRPr>
          </a:p>
        </p:txBody>
      </p:sp>
      <p:sp>
        <p:nvSpPr>
          <p:cNvPr id="5" name="Object 6"/>
          <p:cNvSpPr/>
          <p:nvPr/>
        </p:nvSpPr>
        <p:spPr>
          <a:xfrm>
            <a:off x="218209" y="5372101"/>
            <a:ext cx="7723655" cy="311118"/>
          </a:xfrm>
          <a:prstGeom prst="rect">
            <a:avLst/>
          </a:prstGeom>
          <a:noFill/>
        </p:spPr>
        <p:txBody>
          <a:bodyPr wrap="square" lIns="0" tIns="0" rIns="0" bIns="0" rtlCol="0" anchor="t"/>
          <a:lstStyle/>
          <a:p>
            <a:pPr marL="0" marR="0" lvl="0" indent="0" algn="r" defTabSz="914400" rtl="0" eaLnBrk="1" fontAlgn="auto" latinLnBrk="0" hangingPunct="1">
              <a:lnSpc>
                <a:spcPts val="2370"/>
              </a:lnSpc>
              <a:spcBef>
                <a:spcPts val="599"/>
              </a:spcBef>
              <a:spcAft>
                <a:spcPts val="0"/>
              </a:spcAft>
              <a:buClrTx/>
              <a:buSzTx/>
              <a:buFontTx/>
              <a:buNone/>
              <a:tabLst/>
              <a:defRPr/>
            </a:pPr>
            <a:r>
              <a:rPr kumimoji="0" lang="en-US" sz="1750" b="0" i="0" u="none" strike="noStrike" kern="0" cap="none" spc="53" normalizeH="0" baseline="0" noProof="0" dirty="0">
                <a:ln>
                  <a:noFill/>
                </a:ln>
                <a:solidFill>
                  <a:srgbClr val="FFFFFF">
                    <a:alpha val="80000"/>
                  </a:srgbClr>
                </a:solidFill>
                <a:effectLst/>
                <a:uLnTx/>
                <a:uFillTx/>
                <a:latin typeface="Montserrat"/>
                <a:ea typeface="Jost*"/>
                <a:cs typeface="Jost*" pitchFamily="34" charset="-120"/>
              </a:rPr>
              <a:t>Exploring a McLeod Health DTE Health Plan</a:t>
            </a:r>
            <a:endParaRPr kumimoji="0" lang="en-US" sz="175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6" name="Object 7"/>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8322769" y="0"/>
            <a:ext cx="3866183" cy="6856286"/>
          </a:xfrm>
          <a:prstGeom prst="rect">
            <a:avLst/>
          </a:prstGeom>
        </p:spPr>
      </p:pic>
      <p:sp>
        <p:nvSpPr>
          <p:cNvPr id="7" name="Object 8"/>
          <p:cNvSpPr/>
          <p:nvPr/>
        </p:nvSpPr>
        <p:spPr>
          <a:xfrm>
            <a:off x="495176" y="285679"/>
            <a:ext cx="2005028" cy="476131"/>
          </a:xfrm>
          <a:prstGeom prst="rect">
            <a:avLst/>
          </a:pr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8" name="Object 9"/>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647538" y="380905"/>
            <a:ext cx="1700304" cy="285679"/>
          </a:xfrm>
          <a:prstGeom prst="rect">
            <a:avLst/>
          </a:prstGeom>
        </p:spPr>
      </p:pic>
      <p:pic>
        <p:nvPicPr>
          <p:cNvPr id="9" name="Content Placeholder 8"/>
          <p:cNvPicPr>
            <a:picLocks noGrp="1"/>
          </p:cNvPicPr>
          <p:nvPr>
            <p:ph/>
          </p:nvPr>
        </p:nvPicPr>
        <p:blipFill>
          <a:blip r:embed="rId7" cstate="print"/>
          <a:stretch>
            <a:fillRect/>
          </a:stretch>
        </p:blipFill>
        <p:spPr>
          <a:xfrm>
            <a:off x="8321040" y="0"/>
            <a:ext cx="3867912"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9" descr="A large white monument in a city&#10;&#10;Description automatically generated">
            <a:extLst>
              <a:ext uri="{FF2B5EF4-FFF2-40B4-BE49-F238E27FC236}">
                <a16:creationId xmlns:a16="http://schemas.microsoft.com/office/drawing/2014/main" id="{BE8CB555-2013-D606-CB39-161E7EAEF5C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 y="1"/>
            <a:ext cx="12192000" cy="6858000"/>
          </a:xfrm>
          <a:prstGeom prst="rect">
            <a:avLst/>
          </a:prstGeom>
        </p:spPr>
      </p:pic>
      <p:sp>
        <p:nvSpPr>
          <p:cNvPr id="3"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4" name="Rectangle: Single Corner Rounded 4">
            <a:extLst>
              <a:ext uri="{FF2B5EF4-FFF2-40B4-BE49-F238E27FC236}">
                <a16:creationId xmlns:a16="http://schemas.microsoft.com/office/drawing/2014/main" id="{90B02A10-01E7-2494-66B5-078DDFE69A60}"/>
              </a:ext>
            </a:extLst>
          </p:cNvPr>
          <p:cNvSpPr/>
          <p:nvPr/>
        </p:nvSpPr>
        <p:spPr>
          <a:xfrm>
            <a:off x="-8238" y="1163706"/>
            <a:ext cx="5843847" cy="5702531"/>
          </a:xfrm>
          <a:prstGeom prst="round1Rect">
            <a:avLst>
              <a:gd name="adj" fmla="val 12082"/>
            </a:avLst>
          </a:prstGeom>
          <a:solidFill>
            <a:srgbClr val="0053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marR="0" lvl="1" indent="0" algn="l" defTabSz="914411" rtl="0" eaLnBrk="1" fontAlgn="base"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extBox 6">
            <a:extLst>
              <a:ext uri="{FF2B5EF4-FFF2-40B4-BE49-F238E27FC236}">
                <a16:creationId xmlns:a16="http://schemas.microsoft.com/office/drawing/2014/main" id="{C3359629-7405-5BED-0491-4C3A6C6FF755}"/>
              </a:ext>
            </a:extLst>
          </p:cNvPr>
          <p:cNvSpPr txBox="1"/>
          <p:nvPr/>
        </p:nvSpPr>
        <p:spPr>
          <a:xfrm>
            <a:off x="81069" y="2184943"/>
            <a:ext cx="5681708" cy="4016484"/>
          </a:xfrm>
          <a:prstGeom prst="rect">
            <a:avLst/>
          </a:prstGeom>
          <a:noFill/>
        </p:spPr>
        <p:txBody>
          <a:bodyPr wrap="square" lIns="91440" tIns="45720" rIns="91440" bIns="45720" rtlCol="0" anchor="t">
            <a:spAutoFit/>
          </a:bodyPr>
          <a:lstStyle/>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Founded in 1979, headquartered in Indianapolis</a:t>
            </a:r>
            <a:endParaRPr kumimoji="0" lang="en-US" sz="1800" b="0" i="0" u="none" strike="noStrike" kern="1200" cap="none" spc="0" normalizeH="0" baseline="0" noProof="0" dirty="0">
              <a:ln>
                <a:noFill/>
              </a:ln>
              <a:solidFill>
                <a:prstClr val="white"/>
              </a:solidFill>
              <a:effectLst/>
              <a:uLnTx/>
              <a:uFillTx/>
              <a:latin typeface="Montserrat"/>
              <a:ea typeface="+mn-ea"/>
              <a:cs typeface="Arial"/>
            </a:endParaRP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Largest Independently-Owned Full-Service Third-Party Administrator</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Specialize in Administration of Self-Funded Plans and Population Health Management​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Leader in the Direct-to-Employer Movement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We Know and Understand the Market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Experience Working with All Professional Teams: Agents, Networks, MGAs</a:t>
            </a:r>
          </a:p>
          <a:p>
            <a:pPr marL="285750" marR="0" lvl="0" indent="-285750" algn="l" defTabSz="914411"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The Key Family of Companies is a Vertically Integrated group of benefit related organizations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3,000+ Corporate Clients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 Million Members under Management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700 Employees</a:t>
            </a:r>
          </a:p>
        </p:txBody>
      </p:sp>
      <p:pic>
        <p:nvPicPr>
          <p:cNvPr id="6" name="Picture 4">
            <a:extLst>
              <a:ext uri="{FF2B5EF4-FFF2-40B4-BE49-F238E27FC236}">
                <a16:creationId xmlns:a16="http://schemas.microsoft.com/office/drawing/2014/main" id="{E7533ABB-0CFF-7B45-D905-4C9D58558C6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270497" y="1415781"/>
            <a:ext cx="3302852" cy="641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091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5">
            <a:extLst>
              <a:ext uri="{FF2B5EF4-FFF2-40B4-BE49-F238E27FC236}">
                <a16:creationId xmlns:a16="http://schemas.microsoft.com/office/drawing/2014/main" id="{E4D4BA5E-072E-BFC4-86A7-A8EC0FA16D37}"/>
              </a:ext>
            </a:extLst>
          </p:cNvPr>
          <p:cNvPicPr>
            <a:picLocks noChangeAspect="1"/>
          </p:cNvPicPr>
          <p:nvPr/>
        </p:nvPicPr>
        <p:blipFill>
          <a:blip r:embed="rId2"/>
          <a:stretch>
            <a:fillRect/>
          </a:stretch>
        </p:blipFill>
        <p:spPr>
          <a:xfrm>
            <a:off x="154871" y="759389"/>
            <a:ext cx="8455729" cy="5111065"/>
          </a:xfrm>
          <a:prstGeom prst="rect">
            <a:avLst/>
          </a:prstGeom>
          <a:ln>
            <a:noFill/>
          </a:ln>
          <a:effectLst>
            <a:outerShdw blurRad="292100" dist="139700" dir="2700000" sx="1000" sy="1000" algn="tl" rotWithShape="0">
              <a:srgbClr val="333333">
                <a:alpha val="65000"/>
              </a:srgbClr>
            </a:outerShdw>
          </a:effectLst>
        </p:spPr>
      </p:pic>
      <p:sp>
        <p:nvSpPr>
          <p:cNvPr id="3" name="Rectangle 5">
            <a:extLst>
              <a:ext uri="{FF2B5EF4-FFF2-40B4-BE49-F238E27FC236}">
                <a16:creationId xmlns:a16="http://schemas.microsoft.com/office/drawing/2014/main" id="{F34C8217-D749-4511-B7B5-02F77484B378}"/>
              </a:ext>
            </a:extLst>
          </p:cNvPr>
          <p:cNvSpPr/>
          <p:nvPr/>
        </p:nvSpPr>
        <p:spPr>
          <a:xfrm>
            <a:off x="8816521" y="0"/>
            <a:ext cx="3375480"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82000"/>
                  </a:prstClr>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tint val="82000"/>
                </a:prstClr>
              </a:solidFill>
              <a:effectLst/>
              <a:uLnTx/>
              <a:uFillTx/>
              <a:ea typeface="+mn-ea"/>
              <a:cs typeface="+mn-cs"/>
            </a:endParaRPr>
          </a:p>
        </p:txBody>
      </p:sp>
      <p:sp>
        <p:nvSpPr>
          <p:cNvPr id="5" name="Rectangle: Rounded Corners 7">
            <a:extLst>
              <a:ext uri="{FF2B5EF4-FFF2-40B4-BE49-F238E27FC236}">
                <a16:creationId xmlns:a16="http://schemas.microsoft.com/office/drawing/2014/main" id="{880AE72B-2936-B7FD-B16B-B7DDE61C48BF}"/>
              </a:ext>
            </a:extLst>
          </p:cNvPr>
          <p:cNvSpPr/>
          <p:nvPr/>
        </p:nvSpPr>
        <p:spPr>
          <a:xfrm>
            <a:off x="2340670" y="3693371"/>
            <a:ext cx="2304822"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Bentonville, AR</a:t>
            </a:r>
          </a:p>
        </p:txBody>
      </p:sp>
      <p:sp>
        <p:nvSpPr>
          <p:cNvPr id="6" name="Rectangle: Rounded Corners 9">
            <a:extLst>
              <a:ext uri="{FF2B5EF4-FFF2-40B4-BE49-F238E27FC236}">
                <a16:creationId xmlns:a16="http://schemas.microsoft.com/office/drawing/2014/main" id="{83BAAF75-9BFE-8A09-84C8-29127AD11CC8}"/>
              </a:ext>
            </a:extLst>
          </p:cNvPr>
          <p:cNvSpPr/>
          <p:nvPr/>
        </p:nvSpPr>
        <p:spPr>
          <a:xfrm>
            <a:off x="3384431" y="4574952"/>
            <a:ext cx="1781467"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Meridian, MS</a:t>
            </a:r>
          </a:p>
        </p:txBody>
      </p:sp>
      <p:sp>
        <p:nvSpPr>
          <p:cNvPr id="7" name="Rectangle: Rounded Corners 10">
            <a:extLst>
              <a:ext uri="{FF2B5EF4-FFF2-40B4-BE49-F238E27FC236}">
                <a16:creationId xmlns:a16="http://schemas.microsoft.com/office/drawing/2014/main" id="{F7F76DEC-1B86-5F34-4522-EE137E2BEDC5}"/>
              </a:ext>
            </a:extLst>
          </p:cNvPr>
          <p:cNvSpPr/>
          <p:nvPr/>
        </p:nvSpPr>
        <p:spPr>
          <a:xfrm>
            <a:off x="4645491" y="5362115"/>
            <a:ext cx="2132682"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Fort Myers, FL</a:t>
            </a:r>
          </a:p>
        </p:txBody>
      </p:sp>
      <p:sp>
        <p:nvSpPr>
          <p:cNvPr id="8" name="Rectangle: Rounded Corners 11">
            <a:extLst>
              <a:ext uri="{FF2B5EF4-FFF2-40B4-BE49-F238E27FC236}">
                <a16:creationId xmlns:a16="http://schemas.microsoft.com/office/drawing/2014/main" id="{B522D9FB-03E8-0475-A3A5-AF33059EA7E6}"/>
              </a:ext>
            </a:extLst>
          </p:cNvPr>
          <p:cNvSpPr/>
          <p:nvPr/>
        </p:nvSpPr>
        <p:spPr>
          <a:xfrm>
            <a:off x="5957116" y="4048009"/>
            <a:ext cx="2272613"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Knoxville, TN</a:t>
            </a:r>
          </a:p>
        </p:txBody>
      </p:sp>
      <p:sp>
        <p:nvSpPr>
          <p:cNvPr id="9" name="Rectangle: Rounded Corners 12">
            <a:extLst>
              <a:ext uri="{FF2B5EF4-FFF2-40B4-BE49-F238E27FC236}">
                <a16:creationId xmlns:a16="http://schemas.microsoft.com/office/drawing/2014/main" id="{F3AB3343-FA0C-E9FA-637F-E45BB11DFFC1}"/>
              </a:ext>
            </a:extLst>
          </p:cNvPr>
          <p:cNvSpPr/>
          <p:nvPr/>
        </p:nvSpPr>
        <p:spPr>
          <a:xfrm>
            <a:off x="6678138" y="3093352"/>
            <a:ext cx="1751526"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Cincinnati, OH</a:t>
            </a:r>
          </a:p>
        </p:txBody>
      </p:sp>
      <p:sp>
        <p:nvSpPr>
          <p:cNvPr id="10" name="Rectangle: Rounded Corners 13">
            <a:extLst>
              <a:ext uri="{FF2B5EF4-FFF2-40B4-BE49-F238E27FC236}">
                <a16:creationId xmlns:a16="http://schemas.microsoft.com/office/drawing/2014/main" id="{A5F1AA97-617E-DEDA-E780-8518ACB143FB}"/>
              </a:ext>
            </a:extLst>
          </p:cNvPr>
          <p:cNvSpPr/>
          <p:nvPr/>
        </p:nvSpPr>
        <p:spPr>
          <a:xfrm>
            <a:off x="4102202" y="2976014"/>
            <a:ext cx="1854914"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Louisville, KY</a:t>
            </a:r>
          </a:p>
        </p:txBody>
      </p:sp>
      <p:pic>
        <p:nvPicPr>
          <p:cNvPr id="11" name="Picture 13">
            <a:extLst>
              <a:ext uri="{FF2B5EF4-FFF2-40B4-BE49-F238E27FC236}">
                <a16:creationId xmlns:a16="http://schemas.microsoft.com/office/drawing/2014/main" id="{1FBDB55F-E2EE-D357-32A6-FEC23D86FA8B}"/>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2" name="Title 4">
            <a:extLst>
              <a:ext uri="{FF2B5EF4-FFF2-40B4-BE49-F238E27FC236}">
                <a16:creationId xmlns:a16="http://schemas.microsoft.com/office/drawing/2014/main" id="{7C6371C7-344C-3C21-F253-96E09F12864E}"/>
              </a:ext>
            </a:extLst>
          </p:cNvPr>
          <p:cNvSpPr txBox="1">
            <a:spLocks/>
          </p:cNvSpPr>
          <p:nvPr/>
        </p:nvSpPr>
        <p:spPr>
          <a:xfrm>
            <a:off x="8881352" y="1661020"/>
            <a:ext cx="3245817" cy="33078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i="0" kern="1200">
                <a:solidFill>
                  <a:schemeClr val="tx2"/>
                </a:solidFill>
                <a:latin typeface="Book Antiqua" panose="02040602050305030304" pitchFamily="18"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MARKET LEADER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IN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PRIVATE LABELED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DTE PLANS</a:t>
            </a:r>
          </a:p>
        </p:txBody>
      </p:sp>
    </p:spTree>
    <p:extLst>
      <p:ext uri="{BB962C8B-B14F-4D97-AF65-F5344CB8AC3E}">
        <p14:creationId xmlns:p14="http://schemas.microsoft.com/office/powerpoint/2010/main" val="263972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43908" y="818337"/>
            <a:ext cx="3397612" cy="3043929"/>
          </a:xfrm>
        </p:spPr>
        <p:txBody>
          <a:bodyPr>
            <a:noAutofit/>
          </a:bodyPr>
          <a:lstStyle/>
          <a:p>
            <a:pPr>
              <a:lnSpc>
                <a:spcPct val="100000"/>
              </a:lnSpc>
              <a:spcBef>
                <a:spcPts val="1800"/>
              </a:spcBef>
              <a:spcAft>
                <a:spcPts val="600"/>
              </a:spcAft>
            </a:pPr>
            <a:r>
              <a:rPr lang="en-US" sz="4000" dirty="0">
                <a:solidFill>
                  <a:srgbClr val="000B2E"/>
                </a:solidFill>
                <a:cs typeface="Arial" panose="020B0604020202020204" pitchFamily="34" charset="0"/>
              </a:rPr>
              <a:t>DIRECT-TO-EMPLOYER</a:t>
            </a:r>
            <a:br>
              <a:rPr lang="en-US" sz="4000" b="1" dirty="0">
                <a:solidFill>
                  <a:srgbClr val="000B2E"/>
                </a:solidFill>
                <a:cs typeface="Arial" panose="020B0604020202020204" pitchFamily="34" charset="0"/>
              </a:rPr>
            </a:br>
            <a:r>
              <a:rPr lang="en-US" sz="2800" dirty="0">
                <a:solidFill>
                  <a:srgbClr val="000B2E"/>
                </a:solidFill>
                <a:cs typeface="Arial" panose="020B0604020202020204" pitchFamily="34" charset="0"/>
              </a:rPr>
              <a:t>(DTE)</a:t>
            </a:r>
            <a:br>
              <a:rPr lang="en-US" sz="1600" dirty="0">
                <a:solidFill>
                  <a:srgbClr val="000B2E"/>
                </a:solidFill>
                <a:cs typeface="Arial" panose="020B0604020202020204" pitchFamily="34" charset="0"/>
              </a:rPr>
            </a:br>
            <a:br>
              <a:rPr lang="en-US" sz="1600" b="1" dirty="0">
                <a:solidFill>
                  <a:srgbClr val="000B2E"/>
                </a:solidFill>
                <a:cs typeface="Arial" panose="020B0604020202020204" pitchFamily="34" charset="0"/>
              </a:rPr>
            </a:b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461078" y="1468132"/>
            <a:ext cx="6697847" cy="4660901"/>
          </a:xfrm>
        </p:spPr>
        <p:txBody>
          <a:bodyPr>
            <a:normAutofit fontScale="92500"/>
          </a:bodyPr>
          <a:lstStyle/>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Pick the Name of the Health Plan</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Determine the Fees Charged</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Practice the Medicine </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Receive the Profits  </a:t>
            </a:r>
          </a:p>
          <a:p>
            <a:pPr marL="0" indent="0">
              <a:lnSpc>
                <a:spcPct val="150000"/>
              </a:lnSpc>
              <a:spcAft>
                <a:spcPts val="1200"/>
              </a:spcAft>
              <a:buNone/>
            </a:pPr>
            <a:r>
              <a:rPr lang="en-US" sz="3000" b="1" dirty="0">
                <a:solidFill>
                  <a:srgbClr val="59CAE8"/>
                </a:solidFill>
                <a:latin typeface="Montserrat" panose="00000500000000000000" pitchFamily="2" charset="0"/>
              </a:rPr>
              <a:t>WE</a:t>
            </a:r>
            <a:r>
              <a:rPr lang="en-US" dirty="0">
                <a:solidFill>
                  <a:srgbClr val="9900CC"/>
                </a:solidFill>
              </a:rPr>
              <a:t> </a:t>
            </a:r>
            <a:r>
              <a:rPr lang="en-US"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4</a:t>
            </a:fld>
            <a:endParaRPr lang="en-US" dirty="0"/>
          </a:p>
        </p:txBody>
      </p:sp>
      <p:sp>
        <p:nvSpPr>
          <p:cNvPr id="6"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grpSp>
        <p:nvGrpSpPr>
          <p:cNvPr id="7" name="Group 41">
            <a:extLst>
              <a:ext uri="{FF2B5EF4-FFF2-40B4-BE49-F238E27FC236}">
                <a16:creationId xmlns:a16="http://schemas.microsoft.com/office/drawing/2014/main" id="{C3A11C0D-6225-4F5F-9034-762253C251A2}"/>
              </a:ext>
            </a:extLst>
          </p:cNvPr>
          <p:cNvGrpSpPr/>
          <p:nvPr/>
        </p:nvGrpSpPr>
        <p:grpSpPr>
          <a:xfrm>
            <a:off x="4632939" y="1468132"/>
            <a:ext cx="640080" cy="4254692"/>
            <a:chOff x="5315974" y="943768"/>
            <a:chExt cx="640080" cy="4254692"/>
          </a:xfrm>
          <a:noFill/>
        </p:grpSpPr>
        <p:pic>
          <p:nvPicPr>
            <p:cNvPr id="8"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9"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10"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11"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12"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sp>
        <p:nvSpPr>
          <p:cNvPr id="13" name="TextBox 14">
            <a:extLst>
              <a:ext uri="{FF2B5EF4-FFF2-40B4-BE49-F238E27FC236}">
                <a16:creationId xmlns:a16="http://schemas.microsoft.com/office/drawing/2014/main" id="{B8E36735-A0E0-6123-117C-3DE9AA3B9518}"/>
              </a:ext>
            </a:extLst>
          </p:cNvPr>
          <p:cNvSpPr txBox="1"/>
          <p:nvPr/>
        </p:nvSpPr>
        <p:spPr>
          <a:xfrm>
            <a:off x="1148436" y="3085346"/>
            <a:ext cx="2478684" cy="1477328"/>
          </a:xfrm>
          <a:prstGeom prst="rect">
            <a:avLst/>
          </a:prstGeom>
          <a:noFill/>
        </p:spPr>
        <p:txBody>
          <a:bodyPr wrap="square">
            <a:spAutoFit/>
          </a:bodyPr>
          <a:lstStyle/>
          <a:p>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Health Plan Focused on a Direct Relationship with Self-Funded Employers in </a:t>
            </a:r>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Market</a:t>
            </a:r>
            <a:endParaRPr lang="en-US" dirty="0"/>
          </a:p>
        </p:txBody>
      </p:sp>
      <p:pic>
        <p:nvPicPr>
          <p:cNvPr id="14" name="Content Placeholder 12"/>
          <p:cNvPicPr>
            <a:picLocks/>
          </p:cNvPicPr>
          <p:nvPr/>
        </p:nvPicPr>
        <p:blipFill>
          <a:blip r:embed="rId3" cstate="print"/>
          <a:stretch>
            <a:fillRect/>
          </a:stretch>
        </p:blipFill>
        <p:spPr>
          <a:xfrm>
            <a:off x="8810001" y="90093"/>
            <a:ext cx="2545080" cy="1207008"/>
          </a:xfrm>
          <a:prstGeom prst="rect">
            <a:avLst/>
          </a:prstGeom>
        </p:spPr>
      </p:pic>
    </p:spTree>
    <p:extLst>
      <p:ext uri="{BB962C8B-B14F-4D97-AF65-F5344CB8AC3E}">
        <p14:creationId xmlns:p14="http://schemas.microsoft.com/office/powerpoint/2010/main" val="33067487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5</a:t>
            </a:fld>
            <a:endParaRPr lang="en-US" dirty="0"/>
          </a:p>
        </p:txBody>
      </p:sp>
      <p:sp>
        <p:nvSpPr>
          <p:cNvPr id="4" name="TextBox 5">
            <a:extLst>
              <a:ext uri="{FF2B5EF4-FFF2-40B4-BE49-F238E27FC236}">
                <a16:creationId xmlns:a16="http://schemas.microsoft.com/office/drawing/2014/main" id="{C9963971-9E27-D1D8-44A6-33EAA3782592}"/>
              </a:ext>
            </a:extLst>
          </p:cNvPr>
          <p:cNvSpPr txBox="1"/>
          <p:nvPr/>
        </p:nvSpPr>
        <p:spPr>
          <a:xfrm>
            <a:off x="227045" y="1330559"/>
            <a:ext cx="11737910" cy="584775"/>
          </a:xfrm>
          <a:prstGeom prst="rect">
            <a:avLst/>
          </a:prstGeom>
          <a:noFill/>
        </p:spPr>
        <p:txBody>
          <a:bodyPr wrap="square">
            <a:spAutoFit/>
          </a:bodyPr>
          <a:lstStyle/>
          <a:p>
            <a:pPr algn="ctr"/>
            <a:r>
              <a:rPr lang="en-US" sz="1600" b="1" spc="200" dirty="0">
                <a:solidFill>
                  <a:schemeClr val="accent2">
                    <a:lumMod val="75000"/>
                  </a:schemeClr>
                </a:solidFill>
                <a:latin typeface="Montserrat" panose="00000500000000000000" pitchFamily="2" charset="0"/>
                <a:cs typeface="+mj-cs"/>
              </a:rPr>
              <a:t>Target Market</a:t>
            </a:r>
            <a:br>
              <a:rPr lang="en-US" sz="1600" spc="200" dirty="0">
                <a:latin typeface="Montserrat" panose="00000500000000000000" pitchFamily="2" charset="0"/>
                <a:cs typeface="+mj-cs"/>
              </a:rPr>
            </a:br>
            <a:r>
              <a:rPr lang="en-US" sz="1600" spc="200" dirty="0">
                <a:latin typeface="Montserrat" panose="00000500000000000000" pitchFamily="2" charset="0"/>
                <a:cs typeface="+mj-cs"/>
              </a:rPr>
              <a:t>600+ Employers       120,000</a:t>
            </a:r>
            <a:r>
              <a:rPr lang="en-US" sz="1600" spc="200" dirty="0">
                <a:latin typeface="Montserrat" panose="00000500000000000000" pitchFamily="2" charset="0"/>
                <a:cs typeface="+mj-cs"/>
                <a:sym typeface="Wingdings" panose="05000000000000000000" pitchFamily="2" charset="2"/>
              </a:rPr>
              <a:t>+ Employees       190,000+ Members</a:t>
            </a:r>
            <a:endParaRPr lang="en-US" sz="1600" dirty="0">
              <a:latin typeface="Montserrat" panose="00000500000000000000" pitchFamily="2" charset="0"/>
            </a:endParaRPr>
          </a:p>
        </p:txBody>
      </p:sp>
      <p:sp>
        <p:nvSpPr>
          <p:cNvPr id="5"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ontserrat" panose="00000500000000000000" pitchFamily="2" charset="0"/>
            </a:endParaRPr>
          </a:p>
        </p:txBody>
      </p:sp>
      <p:sp>
        <p:nvSpPr>
          <p:cNvPr id="6"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ontserrat" panose="00000500000000000000" pitchFamily="2" charset="0"/>
              </a:rPr>
              <a:t>     </a:t>
            </a:r>
          </a:p>
        </p:txBody>
      </p:sp>
      <p:sp>
        <p:nvSpPr>
          <p:cNvPr id="7" name="Title 1">
            <a:extLst>
              <a:ext uri="{FF2B5EF4-FFF2-40B4-BE49-F238E27FC236}">
                <a16:creationId xmlns:a16="http://schemas.microsoft.com/office/drawing/2014/main" id="{012C7A76-8C4C-0C17-C582-24A807F19DA5}"/>
              </a:ext>
            </a:extLst>
          </p:cNvPr>
          <p:cNvSpPr>
            <a:spLocks noGrp="1"/>
          </p:cNvSpPr>
          <p:nvPr>
            <p:ph type="title"/>
          </p:nvPr>
        </p:nvSpPr>
        <p:spPr>
          <a:xfrm>
            <a:off x="81786" y="43143"/>
            <a:ext cx="12028428" cy="1325563"/>
          </a:xfrm>
        </p:spPr>
        <p:txBody>
          <a:bodyPr>
            <a:noAutofit/>
          </a:bodyPr>
          <a:lstStyle/>
          <a:p>
            <a:pPr>
              <a:lnSpc>
                <a:spcPct val="100000"/>
              </a:lnSpc>
              <a:spcBef>
                <a:spcPts val="1800"/>
              </a:spcBef>
              <a:spcAft>
                <a:spcPts val="600"/>
              </a:spcAft>
            </a:pPr>
            <a:r>
              <a:rPr lang="en-US" sz="3200" b="0" dirty="0">
                <a:solidFill>
                  <a:srgbClr val="000B2E"/>
                </a:solidFill>
              </a:rPr>
              <a:t>SIGNIFICANT OPPORTUNITY FOR PLAN GROWTH</a:t>
            </a:r>
            <a:br>
              <a:rPr lang="en-US" sz="3200" dirty="0">
                <a:solidFill>
                  <a:srgbClr val="000B2E"/>
                </a:solidFill>
              </a:rPr>
            </a:br>
            <a:r>
              <a:rPr lang="en-US" sz="2000" b="0" dirty="0">
                <a:solidFill>
                  <a:srgbClr val="000B2E"/>
                </a:solidFill>
              </a:rPr>
              <a:t>Researched for the below highlighted service area</a:t>
            </a:r>
            <a:endParaRPr lang="en-US" sz="1400" b="0" dirty="0">
              <a:solidFill>
                <a:schemeClr val="tx1">
                  <a:lumMod val="75000"/>
                  <a:lumOff val="25000"/>
                </a:schemeClr>
              </a:solidFill>
            </a:endParaRPr>
          </a:p>
        </p:txBody>
      </p:sp>
      <p:graphicFrame>
        <p:nvGraphicFramePr>
          <p:cNvPr id="8" name="Table 12">
            <a:extLst>
              <a:ext uri="{FF2B5EF4-FFF2-40B4-BE49-F238E27FC236}">
                <a16:creationId xmlns:a16="http://schemas.microsoft.com/office/drawing/2014/main" id="{B9E0A44D-EDC5-EBD5-4D77-F30FF46B060F}"/>
              </a:ext>
            </a:extLst>
          </p:cNvPr>
          <p:cNvGraphicFramePr>
            <a:graphicFrameLocks noGrp="1"/>
          </p:cNvGraphicFramePr>
          <p:nvPr>
            <p:extLst>
              <p:ext uri="{D42A27DB-BD31-4B8C-83A1-F6EECF244321}">
                <p14:modId xmlns:p14="http://schemas.microsoft.com/office/powerpoint/2010/main" val="2877816716"/>
              </p:ext>
            </p:extLst>
          </p:nvPr>
        </p:nvGraphicFramePr>
        <p:xfrm>
          <a:off x="4889297" y="2140949"/>
          <a:ext cx="6949427" cy="3441355"/>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333130">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Montserrat" panose="00000500000000000000" pitchFamily="2" charset="0"/>
                        </a:rPr>
                        <a:t>Employer Size Group (# of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539395">
                <a:tc>
                  <a:txBody>
                    <a:bodyPr/>
                    <a:lstStyle/>
                    <a:p>
                      <a:pPr algn="ctr" fontAlgn="b"/>
                      <a:r>
                        <a:rPr lang="en-US" sz="1100" b="1" i="0" u="none" strike="noStrike" dirty="0">
                          <a:solidFill>
                            <a:srgbClr val="000000"/>
                          </a:solidFill>
                          <a:effectLst/>
                          <a:latin typeface="Montserrat" panose="00000500000000000000" pitchFamily="2"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98008">
                <a:tc>
                  <a:txBody>
                    <a:bodyPr/>
                    <a:lstStyle/>
                    <a:p>
                      <a:pPr algn="ctr" fontAlgn="b"/>
                      <a:r>
                        <a:rPr lang="en-US" sz="1100" b="1" i="0" u="none" strike="noStrike" dirty="0">
                          <a:solidFill>
                            <a:srgbClr val="000000"/>
                          </a:solidFill>
                          <a:effectLst/>
                          <a:latin typeface="Montserrat" panose="00000500000000000000" pitchFamily="2" charset="0"/>
                        </a:rPr>
                        <a:t>In Catchment Area</a:t>
                      </a:r>
                    </a:p>
                  </a:txBody>
                  <a:tcPr marL="9525" marR="9525" marT="9525" marB="0">
                    <a:lnL>
                      <a:noFill/>
                    </a:lnL>
                    <a:lnR>
                      <a:noFill/>
                    </a:lnR>
                    <a:lnT>
                      <a:noFill/>
                    </a:lnT>
                    <a:lnB>
                      <a:noFill/>
                    </a:lnB>
                    <a:noFill/>
                  </a:tcPr>
                </a:tc>
                <a:tc>
                  <a:txBody>
                    <a:bodyPr/>
                    <a:lstStyle/>
                    <a:p>
                      <a:pPr algn="ctr" rtl="0" fontAlgn="b">
                        <a:buNone/>
                      </a:pPr>
                      <a:r>
                        <a:rPr lang="en-US" sz="1100" b="0" i="0" u="none" strike="noStrike">
                          <a:solidFill>
                            <a:srgbClr val="000000"/>
                          </a:solidFill>
                          <a:effectLst/>
                          <a:latin typeface="Aptos Narrow" panose="020B0004020202020204" pitchFamily="34" charset="0"/>
                        </a:rPr>
                        <a:t>321</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165</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71</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44</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10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dirty="0">
                          <a:solidFill>
                            <a:srgbClr val="000000"/>
                          </a:solidFill>
                          <a:effectLst/>
                          <a:latin typeface="Aptos Narrow" panose="020B0004020202020204" pitchFamily="34" charset="0"/>
                        </a:rPr>
                        <a:t>6</a:t>
                      </a:r>
                    </a:p>
                  </a:txBody>
                  <a:tcPr marL="7620" marR="7620" marT="7620" marB="0" anchor="b">
                    <a:lnL>
                      <a:noFill/>
                    </a:lnL>
                    <a:lnR>
                      <a:noFill/>
                    </a:lnR>
                    <a:lnT>
                      <a:noFill/>
                    </a:lnT>
                    <a:lnB>
                      <a:noFill/>
                    </a:lnB>
                    <a:noFill/>
                  </a:tcPr>
                </a:tc>
                <a:extLst>
                  <a:ext uri="{0D108BD9-81ED-4DB2-BD59-A6C34878D82A}">
                    <a16:rowId xmlns:a16="http://schemas.microsoft.com/office/drawing/2014/main" val="4059977521"/>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Employees at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24,100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24,800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21,300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30,800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20,000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dirty="0">
                          <a:solidFill>
                            <a:srgbClr val="000000"/>
                          </a:solidFill>
                          <a:effectLst/>
                          <a:latin typeface="Aptos Narrow" panose="020B0004020202020204" pitchFamily="34" charset="0"/>
                        </a:rPr>
                        <a:t>36,000</a:t>
                      </a:r>
                    </a:p>
                  </a:txBody>
                  <a:tcPr marL="7620" marR="7620" marT="7620" marB="0" anchor="b">
                    <a:lnL>
                      <a:noFill/>
                    </a:lnL>
                    <a:lnR>
                      <a:noFill/>
                    </a:lnR>
                    <a:lnT>
                      <a:noFill/>
                    </a:lnT>
                    <a:lnB>
                      <a:noFill/>
                    </a:lnB>
                    <a:noFill/>
                  </a:tcPr>
                </a:tc>
                <a:extLst>
                  <a:ext uri="{0D108BD9-81ED-4DB2-BD59-A6C34878D82A}">
                    <a16:rowId xmlns:a16="http://schemas.microsoft.com/office/drawing/2014/main" val="486299110"/>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Members with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43,400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44,600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38,300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55,400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36,000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dirty="0">
                          <a:solidFill>
                            <a:srgbClr val="000000"/>
                          </a:solidFill>
                          <a:effectLst/>
                          <a:latin typeface="Aptos Narrow" panose="020B0004020202020204" pitchFamily="34" charset="0"/>
                        </a:rPr>
                        <a:t>64,800</a:t>
                      </a:r>
                    </a:p>
                  </a:txBody>
                  <a:tcPr marL="7620" marR="7620" marT="7620" marB="0" anchor="b">
                    <a:lnL>
                      <a:noFill/>
                    </a:lnL>
                    <a:lnR>
                      <a:noFill/>
                    </a:lnR>
                    <a:lnT>
                      <a:noFill/>
                    </a:lnT>
                    <a:lnB>
                      <a:noFill/>
                    </a:lnB>
                    <a:noFill/>
                  </a:tcPr>
                </a:tc>
                <a:extLst>
                  <a:ext uri="{0D108BD9-81ED-4DB2-BD59-A6C34878D82A}">
                    <a16:rowId xmlns:a16="http://schemas.microsoft.com/office/drawing/2014/main" val="1581610804"/>
                  </a:ext>
                </a:extLst>
              </a:tr>
            </a:tbl>
          </a:graphicData>
        </a:graphic>
      </p:graphicFrame>
      <p:pic>
        <p:nvPicPr>
          <p:cNvPr id="9" name="Content Placeholder 8"/>
          <p:cNvPicPr>
            <a:picLocks noGrp="1"/>
          </p:cNvPicPr>
          <p:nvPr>
            <p:ph/>
          </p:nvPr>
        </p:nvPicPr>
        <p:blipFill>
          <a:blip r:embed="rId2" cstate="print"/>
          <a:stretch>
            <a:fillRect/>
          </a:stretch>
        </p:blipFill>
        <p:spPr>
          <a:xfrm>
            <a:off x="-795866" y="1786292"/>
            <a:ext cx="6096000" cy="4876800"/>
          </a:xfrm>
          <a:prstGeom prst="rect">
            <a:avLst/>
          </a:prstGeom>
        </p:spPr>
      </p:pic>
    </p:spTree>
    <p:extLst>
      <p:ext uri="{BB962C8B-B14F-4D97-AF65-F5344CB8AC3E}">
        <p14:creationId xmlns:p14="http://schemas.microsoft.com/office/powerpoint/2010/main" val="16600605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772698" y="235398"/>
            <a:ext cx="10515600" cy="1325563"/>
          </a:xfrm>
        </p:spPr>
        <p:txBody>
          <a:bodyPr/>
          <a:lstStyle/>
          <a:p>
            <a:r>
              <a:rPr lang="en-US" b="0" dirty="0"/>
              <a:t>PLAN POTENTIAL GROWTH PATHS</a:t>
            </a:r>
          </a:p>
        </p:txBody>
      </p:sp>
      <p:grpSp>
        <p:nvGrpSpPr>
          <p:cNvPr id="3" name="Group 28">
            <a:extLst>
              <a:ext uri="{FF2B5EF4-FFF2-40B4-BE49-F238E27FC236}">
                <a16:creationId xmlns:a16="http://schemas.microsoft.com/office/drawing/2014/main" id="{69A10699-B4B2-AF88-E1A1-1EF0A88AB471}"/>
              </a:ext>
            </a:extLst>
          </p:cNvPr>
          <p:cNvGrpSpPr/>
          <p:nvPr/>
        </p:nvGrpSpPr>
        <p:grpSpPr>
          <a:xfrm>
            <a:off x="315991" y="1915224"/>
            <a:ext cx="4179295" cy="3636786"/>
            <a:chOff x="1267778" y="2161521"/>
            <a:chExt cx="8731885" cy="4307840"/>
          </a:xfrm>
        </p:grpSpPr>
        <p:grpSp>
          <p:nvGrpSpPr>
            <p:cNvPr id="4" name="Group 29">
              <a:extLst>
                <a:ext uri="{FF2B5EF4-FFF2-40B4-BE49-F238E27FC236}">
                  <a16:creationId xmlns:a16="http://schemas.microsoft.com/office/drawing/2014/main" id="{11C874E5-E3B4-BAE0-4E2D-2C86D4E7E53A}"/>
                </a:ext>
              </a:extLst>
            </p:cNvPr>
            <p:cNvGrpSpPr/>
            <p:nvPr/>
          </p:nvGrpSpPr>
          <p:grpSpPr>
            <a:xfrm>
              <a:off x="1267778" y="5494001"/>
              <a:ext cx="7329805" cy="975360"/>
              <a:chOff x="1267778" y="5494001"/>
              <a:chExt cx="7329805" cy="975360"/>
            </a:xfrm>
          </p:grpSpPr>
          <p:sp>
            <p:nvSpPr>
              <p:cNvPr id="5"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6" name="TextBox 73">
                <a:extLst>
                  <a:ext uri="{FF2B5EF4-FFF2-40B4-BE49-F238E27FC236}">
                    <a16:creationId xmlns:a16="http://schemas.microsoft.com/office/drawing/2014/main" id="{AEAD331A-F2F6-E5AA-6FA8-43463612A331}"/>
                  </a:ext>
                </a:extLst>
              </p:cNvPr>
              <p:cNvSpPr txBox="1"/>
              <p:nvPr/>
            </p:nvSpPr>
            <p:spPr>
              <a:xfrm>
                <a:off x="1267778" y="5759838"/>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Population</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7" name="Group 30">
              <a:extLst>
                <a:ext uri="{FF2B5EF4-FFF2-40B4-BE49-F238E27FC236}">
                  <a16:creationId xmlns:a16="http://schemas.microsoft.com/office/drawing/2014/main" id="{689474B3-12FA-8E66-D71F-53822C9C68C9}"/>
                </a:ext>
              </a:extLst>
            </p:cNvPr>
            <p:cNvGrpSpPr/>
            <p:nvPr/>
          </p:nvGrpSpPr>
          <p:grpSpPr>
            <a:xfrm>
              <a:off x="1724978" y="2161521"/>
              <a:ext cx="8274685" cy="3197014"/>
              <a:chOff x="3170556" y="1830493"/>
              <a:chExt cx="8274685" cy="3197014"/>
            </a:xfrm>
          </p:grpSpPr>
          <p:grpSp>
            <p:nvGrpSpPr>
              <p:cNvPr id="8" name="Group 58">
                <a:extLst>
                  <a:ext uri="{FF2B5EF4-FFF2-40B4-BE49-F238E27FC236}">
                    <a16:creationId xmlns:a16="http://schemas.microsoft.com/office/drawing/2014/main" id="{51ED3EA0-1B18-EEE0-293E-BB00AD4DE764}"/>
                  </a:ext>
                </a:extLst>
              </p:cNvPr>
              <p:cNvGrpSpPr/>
              <p:nvPr/>
            </p:nvGrpSpPr>
            <p:grpSpPr>
              <a:xfrm>
                <a:off x="3170556" y="4052147"/>
                <a:ext cx="7339965" cy="975360"/>
                <a:chOff x="3170556" y="4052147"/>
                <a:chExt cx="7339965" cy="975360"/>
              </a:xfrm>
            </p:grpSpPr>
            <p:sp>
              <p:nvSpPr>
                <p:cNvPr id="9"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0" name="TextBox 63">
                  <a:extLst>
                    <a:ext uri="{FF2B5EF4-FFF2-40B4-BE49-F238E27FC236}">
                      <a16:creationId xmlns:a16="http://schemas.microsoft.com/office/drawing/2014/main" id="{89D49C14-1775-066C-353B-1ACCC4D24138}"/>
                    </a:ext>
                  </a:extLst>
                </p:cNvPr>
                <p:cNvSpPr txBox="1"/>
                <p:nvPr/>
              </p:nvSpPr>
              <p:spPr>
                <a:xfrm>
                  <a:off x="3170556" y="4317984"/>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Working Age</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1" name="Group 52">
                <a:extLst>
                  <a:ext uri="{FF2B5EF4-FFF2-40B4-BE49-F238E27FC236}">
                    <a16:creationId xmlns:a16="http://schemas.microsoft.com/office/drawing/2014/main" id="{1DBB449D-FFE3-79BF-CC4B-CBC0A3F03B29}"/>
                  </a:ext>
                </a:extLst>
              </p:cNvPr>
              <p:cNvGrpSpPr/>
              <p:nvPr/>
            </p:nvGrpSpPr>
            <p:grpSpPr>
              <a:xfrm>
                <a:off x="3612748" y="2930285"/>
                <a:ext cx="7365133" cy="975360"/>
                <a:chOff x="3612747" y="2930285"/>
                <a:chExt cx="7365133" cy="975360"/>
              </a:xfrm>
            </p:grpSpPr>
            <p:sp>
              <p:nvSpPr>
                <p:cNvPr id="12"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3" name="TextBox 57">
                  <a:extLst>
                    <a:ext uri="{FF2B5EF4-FFF2-40B4-BE49-F238E27FC236}">
                      <a16:creationId xmlns:a16="http://schemas.microsoft.com/office/drawing/2014/main" id="{3C6B2C41-D61E-2C7A-3D82-5A90E06CEE5A}"/>
                    </a:ext>
                  </a:extLst>
                </p:cNvPr>
                <p:cNvSpPr txBox="1"/>
                <p:nvPr/>
              </p:nvSpPr>
              <p:spPr>
                <a:xfrm>
                  <a:off x="3612747" y="3206963"/>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Insured</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4" name="Group 46">
                <a:extLst>
                  <a:ext uri="{FF2B5EF4-FFF2-40B4-BE49-F238E27FC236}">
                    <a16:creationId xmlns:a16="http://schemas.microsoft.com/office/drawing/2014/main" id="{F80321D4-B659-65A7-5D2E-CFE404DB4D8E}"/>
                  </a:ext>
                </a:extLst>
              </p:cNvPr>
              <p:cNvGrpSpPr/>
              <p:nvPr/>
            </p:nvGrpSpPr>
            <p:grpSpPr>
              <a:xfrm>
                <a:off x="4104006" y="1830493"/>
                <a:ext cx="7341235" cy="975360"/>
                <a:chOff x="4104006" y="1830493"/>
                <a:chExt cx="7341235" cy="975360"/>
              </a:xfrm>
            </p:grpSpPr>
            <p:sp>
              <p:nvSpPr>
                <p:cNvPr id="15"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6" name="TextBox 51">
                  <a:extLst>
                    <a:ext uri="{FF2B5EF4-FFF2-40B4-BE49-F238E27FC236}">
                      <a16:creationId xmlns:a16="http://schemas.microsoft.com/office/drawing/2014/main" id="{2AE87841-825C-FE4F-1AB9-6CC03862C17F}"/>
                    </a:ext>
                  </a:extLst>
                </p:cNvPr>
                <p:cNvSpPr txBox="1"/>
                <p:nvPr/>
              </p:nvSpPr>
              <p:spPr>
                <a:xfrm>
                  <a:off x="4104006" y="2096329"/>
                  <a:ext cx="3705005"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Self Funded</a:t>
                  </a:r>
                  <a:endParaRPr lang="en-IN" sz="1600" b="1" i="1" dirty="0">
                    <a:solidFill>
                      <a:schemeClr val="bg1"/>
                    </a:solidFill>
                    <a:latin typeface="Montserrat" panose="00000500000000000000" pitchFamily="2" charset="0"/>
                    <a:cs typeface="Arial" panose="020B0604020202020204" pitchFamily="34" charset="0"/>
                  </a:endParaRPr>
                </a:p>
              </p:txBody>
            </p:sp>
          </p:grpSp>
        </p:grpSp>
        <p:sp>
          <p:nvSpPr>
            <p:cNvPr id="17"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nvGrpSpPr>
            <p:cNvPr id="18"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19"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0"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1"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2"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3"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grpSp>
        <p:sp>
          <p:nvSpPr>
            <p:cNvPr id="24"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sp>
          <p:nvSpPr>
            <p:cNvPr id="25"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sp>
        <p:nvSpPr>
          <p:cNvPr id="26" name="TextBox 75">
            <a:extLst>
              <a:ext uri="{FF2B5EF4-FFF2-40B4-BE49-F238E27FC236}">
                <a16:creationId xmlns:a16="http://schemas.microsoft.com/office/drawing/2014/main" id="{02AD65D6-9504-23E6-E4FD-CC294F4A3C64}"/>
              </a:ext>
            </a:extLst>
          </p:cNvPr>
          <p:cNvSpPr txBox="1"/>
          <p:nvPr/>
        </p:nvSpPr>
        <p:spPr>
          <a:xfrm>
            <a:off x="981590" y="5731169"/>
            <a:ext cx="9514366" cy="276999"/>
          </a:xfrm>
          <a:prstGeom prst="rect">
            <a:avLst/>
          </a:prstGeom>
          <a:noFill/>
        </p:spPr>
        <p:txBody>
          <a:bodyPr wrap="square" rtlCol="0">
            <a:spAutoFit/>
          </a:bodyPr>
          <a:lstStyle/>
          <a:p>
            <a:r>
              <a:rPr lang="en-US" sz="1200" dirty="0">
                <a:solidFill/>
                <a:latin typeface="Montserrat" panose="00000500000000000000" pitchFamily="2" charset="0"/>
              </a:rPr>
              <a:t>Estimates includes the McLeod Health service area in Anson, Brunswick, Columbus, Richmond, Robeson, Scotland, Berkeley, Calhoun, Chesterfield, Clarendon, Darlington, Dillon, Florence, Horry, Lee, Marion, Marlboro, Orangeburg, Sumter, and Williamsburg Counties</a:t>
            </a:r>
          </a:p>
        </p:txBody>
      </p:sp>
      <p:sp>
        <p:nvSpPr>
          <p:cNvPr id="27" name="TextBox 76">
            <a:extLst>
              <a:ext uri="{FF2B5EF4-FFF2-40B4-BE49-F238E27FC236}">
                <a16:creationId xmlns:a16="http://schemas.microsoft.com/office/drawing/2014/main" id="{F3A378C3-B669-3EE2-B76D-98EDB44E8CDF}"/>
              </a:ext>
            </a:extLst>
          </p:cNvPr>
          <p:cNvSpPr txBox="1"/>
          <p:nvPr/>
        </p:nvSpPr>
        <p:spPr>
          <a:xfrm>
            <a:off x="2326255" y="4909050"/>
            <a:ext cx="1752403" cy="461665"/>
          </a:xfrm>
          <a:prstGeom prst="rect">
            <a:avLst/>
          </a:prstGeom>
          <a:noFill/>
        </p:spPr>
        <p:txBody>
          <a:bodyPr wrap="none" rtlCol="0">
            <a:spAutoFit/>
          </a:bodyPr>
          <a:lstStyle/>
          <a:p>
            <a:r>
              <a:rPr lang="en-US" sz="2400" dirty="0">
                <a:solidFill/>
                <a:latin typeface="Montserrat" panose="00000500000000000000" pitchFamily="2" charset="0"/>
              </a:rPr>
              <a:t>1,117K</a:t>
            </a:r>
          </a:p>
        </p:txBody>
      </p:sp>
      <p:sp>
        <p:nvSpPr>
          <p:cNvPr id="28" name="TextBox 77">
            <a:extLst>
              <a:ext uri="{FF2B5EF4-FFF2-40B4-BE49-F238E27FC236}">
                <a16:creationId xmlns:a16="http://schemas.microsoft.com/office/drawing/2014/main" id="{F24CF5B8-0E02-1AF3-2A3D-F14253B44FE8}"/>
              </a:ext>
            </a:extLst>
          </p:cNvPr>
          <p:cNvSpPr txBox="1"/>
          <p:nvPr/>
        </p:nvSpPr>
        <p:spPr>
          <a:xfrm>
            <a:off x="2549188" y="3983995"/>
            <a:ext cx="1162498" cy="461665"/>
          </a:xfrm>
          <a:prstGeom prst="rect">
            <a:avLst/>
          </a:prstGeom>
          <a:noFill/>
        </p:spPr>
        <p:txBody>
          <a:bodyPr wrap="none" rtlCol="0">
            <a:spAutoFit/>
          </a:bodyPr>
          <a:lstStyle/>
          <a:p>
            <a:r>
              <a:rPr lang="en-US" sz="2400" dirty="0">
                <a:solidFill/>
                <a:latin typeface="Montserrat" panose="00000500000000000000" pitchFamily="2" charset="0"/>
              </a:rPr>
              <a:t>618K</a:t>
            </a:r>
          </a:p>
        </p:txBody>
      </p:sp>
      <p:sp>
        <p:nvSpPr>
          <p:cNvPr id="29" name="TextBox 78">
            <a:extLst>
              <a:ext uri="{FF2B5EF4-FFF2-40B4-BE49-F238E27FC236}">
                <a16:creationId xmlns:a16="http://schemas.microsoft.com/office/drawing/2014/main" id="{509B3348-F2D5-63CE-B5D5-5FB7263B3D0F}"/>
              </a:ext>
            </a:extLst>
          </p:cNvPr>
          <p:cNvSpPr txBox="1"/>
          <p:nvPr/>
        </p:nvSpPr>
        <p:spPr>
          <a:xfrm>
            <a:off x="2768644" y="3041250"/>
            <a:ext cx="1132041" cy="461665"/>
          </a:xfrm>
          <a:prstGeom prst="rect">
            <a:avLst/>
          </a:prstGeom>
          <a:noFill/>
        </p:spPr>
        <p:txBody>
          <a:bodyPr wrap="none" rtlCol="0">
            <a:spAutoFit/>
          </a:bodyPr>
          <a:lstStyle/>
          <a:p>
            <a:r>
              <a:rPr lang="en-US" sz="2400" dirty="0">
                <a:solidFill/>
                <a:latin typeface="Montserrat" panose="00000500000000000000" pitchFamily="2" charset="0"/>
              </a:rPr>
              <a:t>350K</a:t>
            </a:r>
          </a:p>
        </p:txBody>
      </p:sp>
      <p:sp>
        <p:nvSpPr>
          <p:cNvPr id="30" name="TextBox 79">
            <a:extLst>
              <a:ext uri="{FF2B5EF4-FFF2-40B4-BE49-F238E27FC236}">
                <a16:creationId xmlns:a16="http://schemas.microsoft.com/office/drawing/2014/main" id="{7E24246C-24ED-62DA-EA2E-6EA4A6ADAEAC}"/>
              </a:ext>
            </a:extLst>
          </p:cNvPr>
          <p:cNvSpPr txBox="1"/>
          <p:nvPr/>
        </p:nvSpPr>
        <p:spPr>
          <a:xfrm>
            <a:off x="2988100" y="2109715"/>
            <a:ext cx="984565" cy="461665"/>
          </a:xfrm>
          <a:prstGeom prst="rect">
            <a:avLst/>
          </a:prstGeom>
          <a:noFill/>
        </p:spPr>
        <p:txBody>
          <a:bodyPr wrap="none" rtlCol="0">
            <a:spAutoFit/>
          </a:bodyPr>
          <a:lstStyle/>
          <a:p>
            <a:r>
              <a:rPr lang="en-US" sz="2400" dirty="0">
                <a:solidFill/>
                <a:latin typeface="Montserrat" panose="00000500000000000000" pitchFamily="2" charset="0"/>
              </a:rPr>
              <a:t>218K</a:t>
            </a:r>
          </a:p>
        </p:txBody>
      </p:sp>
      <p:pic>
        <p:nvPicPr>
          <p:cNvPr id="31" name="Picture 4">
            <a:extLst>
              <a:ext uri="{FF2B5EF4-FFF2-40B4-BE49-F238E27FC236}">
                <a16:creationId xmlns:a16="http://schemas.microsoft.com/office/drawing/2014/main" id="{0D8A2093-EE63-6F98-17FC-8FA2F27D269E}"/>
              </a:ext>
            </a:extLst>
          </p:cNvPr>
          <p:cNvPicPr>
            <a:picLocks noChangeAspect="1"/>
          </p:cNvPicPr>
          <p:nvPr/>
        </p:nvPicPr>
        <p:blipFill>
          <a:blip r:embed="rId2"/>
          <a:stretch>
            <a:fillRect/>
          </a:stretch>
        </p:blipFill>
        <p:spPr>
          <a:xfrm>
            <a:off x="215573" y="6356350"/>
            <a:ext cx="2125097" cy="463658"/>
          </a:xfrm>
          <a:prstGeom prst="rect">
            <a:avLst/>
          </a:prstGeom>
        </p:spPr>
      </p:pic>
      <p:sp>
        <p:nvSpPr>
          <p:cNvPr id="32" name="Freeform 13">
            <a:extLst>
              <a:ext uri="{FF2B5EF4-FFF2-40B4-BE49-F238E27FC236}">
                <a16:creationId xmlns:a16="http://schemas.microsoft.com/office/drawing/2014/main" id="{28524B04-16FE-D5D9-4125-86AD5B994E0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33" name="Content Placeholder 32"/>
          <p:cNvPicPr>
            <a:picLocks noGrp="1"/>
          </p:cNvPicPr>
          <p:nvPr>
            <p:ph/>
          </p:nvPr>
        </p:nvPicPr>
        <p:blipFill>
          <a:blip r:embed="rId3" cstate="print"/>
          <a:stretch>
            <a:fillRect/>
          </a:stretch>
        </p:blipFill>
        <p:spPr>
          <a:xfrm>
            <a:off x="5705856" y="1911096"/>
            <a:ext cx="6364224" cy="3813048"/>
          </a:xfrm>
          <a:prstGeom prst="rect">
            <a:avLst/>
          </a:prstGeom>
        </p:spPr>
      </p:pic>
    </p:spTree>
    <p:extLst>
      <p:ext uri="{BB962C8B-B14F-4D97-AF65-F5344CB8AC3E}">
        <p14:creationId xmlns:p14="http://schemas.microsoft.com/office/powerpoint/2010/main" val="10823273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C0C1C4CA-44D9-9691-E058-46CEB5C35DF2}"/>
              </a:ext>
            </a:extLst>
          </p:cNvPr>
          <p:cNvSpPr/>
          <p:nvPr/>
        </p:nvSpPr>
        <p:spPr>
          <a:xfrm>
            <a:off x="5541867" y="1756658"/>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Rectangle 11">
            <a:extLst>
              <a:ext uri="{FF2B5EF4-FFF2-40B4-BE49-F238E27FC236}">
                <a16:creationId xmlns:a16="http://schemas.microsoft.com/office/drawing/2014/main" id="{8DCAE5A5-11EC-16C5-5F5F-C5DF9E3B0859}"/>
              </a:ext>
            </a:extLst>
          </p:cNvPr>
          <p:cNvSpPr/>
          <p:nvPr/>
        </p:nvSpPr>
        <p:spPr>
          <a:xfrm>
            <a:off x="7456600" y="1756656"/>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Rectangle 12">
            <a:extLst>
              <a:ext uri="{FF2B5EF4-FFF2-40B4-BE49-F238E27FC236}">
                <a16:creationId xmlns:a16="http://schemas.microsoft.com/office/drawing/2014/main" id="{98C73641-C807-1985-E19A-CA79DA10785E}"/>
              </a:ext>
            </a:extLst>
          </p:cNvPr>
          <p:cNvSpPr/>
          <p:nvPr/>
        </p:nvSpPr>
        <p:spPr>
          <a:xfrm>
            <a:off x="9371334" y="1756655"/>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3">
            <a:extLst>
              <a:ext uri="{FF2B5EF4-FFF2-40B4-BE49-F238E27FC236}">
                <a16:creationId xmlns:a16="http://schemas.microsoft.com/office/drawing/2014/main" id="{8546D6DB-89F3-8B35-A9E8-670CED022928}"/>
              </a:ext>
            </a:extLst>
          </p:cNvPr>
          <p:cNvSpPr txBox="1"/>
          <p:nvPr/>
        </p:nvSpPr>
        <p:spPr>
          <a:xfrm>
            <a:off x="1447022" y="1524619"/>
            <a:ext cx="3100529" cy="630942"/>
          </a:xfrm>
          <a:prstGeom prst="rect">
            <a:avLst/>
          </a:prstGeom>
          <a:noFill/>
        </p:spPr>
        <p:txBody>
          <a:bodyPr wrap="none" rtlCol="0">
            <a:spAutoFit/>
          </a:bodyPr>
          <a:lstStyle/>
          <a:p>
            <a:pPr algn="ctr"/>
            <a:r>
              <a:rPr lang="en-US" sz="2400" b="1" dirty="0">
                <a:solidFill>
                  <a:srgbClr val="6087CE"/>
                </a:solidFill>
                <a:latin typeface="Montserrat" panose="00000500000000000000" pitchFamily="2" charset="0"/>
              </a:rPr>
              <a:t>Early Stage</a:t>
            </a:r>
          </a:p>
          <a:p>
            <a:pPr algn="ctr"/>
            <a:r>
              <a:rPr lang="en-US" sz="1100" dirty="0">
                <a:solidFill>
                  <a:srgbClr val="6087CE"/>
                </a:solidFill>
                <a:latin typeface="Montserrat" panose="00000500000000000000" pitchFamily="2" charset="0"/>
              </a:rPr>
              <a:t>Gaining Name Recognition, Early Growth</a:t>
            </a:r>
          </a:p>
        </p:txBody>
      </p:sp>
      <p:sp>
        <p:nvSpPr>
          <p:cNvPr id="6" name="TextBox 6">
            <a:extLst>
              <a:ext uri="{FF2B5EF4-FFF2-40B4-BE49-F238E27FC236}">
                <a16:creationId xmlns:a16="http://schemas.microsoft.com/office/drawing/2014/main" id="{0C35DE11-AC92-1958-1813-38A8A86CBCE8}"/>
              </a:ext>
            </a:extLst>
          </p:cNvPr>
          <p:cNvSpPr txBox="1"/>
          <p:nvPr/>
        </p:nvSpPr>
        <p:spPr>
          <a:xfrm>
            <a:off x="1275976" y="2181545"/>
            <a:ext cx="1624165"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Revenue:</a:t>
            </a:r>
          </a:p>
        </p:txBody>
      </p:sp>
      <p:sp>
        <p:nvSpPr>
          <p:cNvPr id="7" name="TextBox 7">
            <a:extLst>
              <a:ext uri="{FF2B5EF4-FFF2-40B4-BE49-F238E27FC236}">
                <a16:creationId xmlns:a16="http://schemas.microsoft.com/office/drawing/2014/main" id="{2E2DA353-8032-9A29-CBFC-5E2CAB8FA818}"/>
              </a:ext>
            </a:extLst>
          </p:cNvPr>
          <p:cNvSpPr txBox="1"/>
          <p:nvPr/>
        </p:nvSpPr>
        <p:spPr>
          <a:xfrm>
            <a:off x="3224011" y="2181545"/>
            <a:ext cx="1412759"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Profit:</a:t>
            </a:r>
          </a:p>
        </p:txBody>
      </p:sp>
      <p:sp>
        <p:nvSpPr>
          <p:cNvPr id="8" name="TextBox 9">
            <a:extLst>
              <a:ext uri="{FF2B5EF4-FFF2-40B4-BE49-F238E27FC236}">
                <a16:creationId xmlns:a16="http://schemas.microsoft.com/office/drawing/2014/main" id="{2EE70FCE-698F-980C-DE5B-A5E0DD82F2B7}"/>
              </a:ext>
            </a:extLst>
          </p:cNvPr>
          <p:cNvSpPr txBox="1"/>
          <p:nvPr/>
        </p:nvSpPr>
        <p:spPr>
          <a:xfrm>
            <a:off x="1269691"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$12.98M</a:t>
            </a:r>
            <a:endParaRPr lang="en-US" sz="2000" dirty="0">
              <a:latin typeface="Montserrat" panose="00000500000000000000" pitchFamily="2" charset="0"/>
            </a:endParaRPr>
          </a:p>
        </p:txBody>
      </p:sp>
      <p:sp>
        <p:nvSpPr>
          <p:cNvPr id="9" name="TextBox 14">
            <a:extLst>
              <a:ext uri="{FF2B5EF4-FFF2-40B4-BE49-F238E27FC236}">
                <a16:creationId xmlns:a16="http://schemas.microsoft.com/office/drawing/2014/main" id="{DBAF8120-09F6-4EB0-E666-C1CBDC5CF295}"/>
              </a:ext>
            </a:extLst>
          </p:cNvPr>
          <p:cNvSpPr txBox="1"/>
          <p:nvPr/>
        </p:nvSpPr>
        <p:spPr>
          <a:xfrm>
            <a:off x="3063240"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$4.74M</a:t>
            </a:r>
            <a:endParaRPr lang="en-US" sz="2000" dirty="0">
              <a:latin typeface="Montserrat" panose="00000500000000000000" pitchFamily="2" charset="0"/>
            </a:endParaRPr>
          </a:p>
        </p:txBody>
      </p:sp>
      <p:sp>
        <p:nvSpPr>
          <p:cNvPr id="10" name="TextBox 15">
            <a:extLst>
              <a:ext uri="{FF2B5EF4-FFF2-40B4-BE49-F238E27FC236}">
                <a16:creationId xmlns:a16="http://schemas.microsoft.com/office/drawing/2014/main" id="{5B374298-411A-3F68-B672-E1DC32DEA9AE}"/>
              </a:ext>
            </a:extLst>
          </p:cNvPr>
          <p:cNvSpPr txBox="1"/>
          <p:nvPr/>
        </p:nvSpPr>
        <p:spPr>
          <a:xfrm>
            <a:off x="1679267" y="3039035"/>
            <a:ext cx="261802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Growth Stage</a:t>
            </a:r>
          </a:p>
          <a:p>
            <a:pPr algn="ctr"/>
            <a:r>
              <a:rPr lang="en-US" sz="1100" dirty="0">
                <a:solidFill>
                  <a:srgbClr val="2F5597"/>
                </a:solidFill>
                <a:latin typeface="Montserrat" panose="00000500000000000000" pitchFamily="2" charset="0"/>
              </a:rPr>
              <a:t>Strong Reputation, Strong Growth</a:t>
            </a:r>
          </a:p>
        </p:txBody>
      </p:sp>
      <p:sp>
        <p:nvSpPr>
          <p:cNvPr id="11" name="TextBox 16">
            <a:extLst>
              <a:ext uri="{FF2B5EF4-FFF2-40B4-BE49-F238E27FC236}">
                <a16:creationId xmlns:a16="http://schemas.microsoft.com/office/drawing/2014/main" id="{734215D0-1B81-9E25-D893-D1A81A7D90DE}"/>
              </a:ext>
            </a:extLst>
          </p:cNvPr>
          <p:cNvSpPr txBox="1"/>
          <p:nvPr/>
        </p:nvSpPr>
        <p:spPr>
          <a:xfrm>
            <a:off x="1266967" y="3695961"/>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2" name="TextBox 17">
            <a:extLst>
              <a:ext uri="{FF2B5EF4-FFF2-40B4-BE49-F238E27FC236}">
                <a16:creationId xmlns:a16="http://schemas.microsoft.com/office/drawing/2014/main" id="{44D03DDF-E57A-E22B-A334-B0D6BAD568C1}"/>
              </a:ext>
            </a:extLst>
          </p:cNvPr>
          <p:cNvSpPr txBox="1"/>
          <p:nvPr/>
        </p:nvSpPr>
        <p:spPr>
          <a:xfrm>
            <a:off x="3215002" y="3695961"/>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3" name="TextBox 20">
            <a:extLst>
              <a:ext uri="{FF2B5EF4-FFF2-40B4-BE49-F238E27FC236}">
                <a16:creationId xmlns:a16="http://schemas.microsoft.com/office/drawing/2014/main" id="{2F96F890-CA85-53B4-4C86-B02186E9E89E}"/>
              </a:ext>
            </a:extLst>
          </p:cNvPr>
          <p:cNvSpPr txBox="1"/>
          <p:nvPr/>
        </p:nvSpPr>
        <p:spPr>
          <a:xfrm>
            <a:off x="1260682"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$78.27M</a:t>
            </a:r>
            <a:endParaRPr lang="en-US" sz="2000" dirty="0">
              <a:solidFill>
                <a:srgbClr val="2F5597"/>
              </a:solidFill>
              <a:latin typeface="Montserrat" panose="00000500000000000000" pitchFamily="2" charset="0"/>
            </a:endParaRPr>
          </a:p>
        </p:txBody>
      </p:sp>
      <p:sp>
        <p:nvSpPr>
          <p:cNvPr id="14" name="TextBox 21">
            <a:extLst>
              <a:ext uri="{FF2B5EF4-FFF2-40B4-BE49-F238E27FC236}">
                <a16:creationId xmlns:a16="http://schemas.microsoft.com/office/drawing/2014/main" id="{BD5125C9-83DD-4D9F-DE79-D476BE3F058D}"/>
              </a:ext>
            </a:extLst>
          </p:cNvPr>
          <p:cNvSpPr txBox="1"/>
          <p:nvPr/>
        </p:nvSpPr>
        <p:spPr>
          <a:xfrm>
            <a:off x="3054231"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$29.61M</a:t>
            </a:r>
            <a:endParaRPr lang="en-US" sz="2000" dirty="0">
              <a:solidFill>
                <a:srgbClr val="2F5597"/>
              </a:solidFill>
              <a:latin typeface="Montserrat" panose="00000500000000000000" pitchFamily="2" charset="0"/>
            </a:endParaRPr>
          </a:p>
        </p:txBody>
      </p:sp>
      <p:sp>
        <p:nvSpPr>
          <p:cNvPr id="15" name="TextBox 22">
            <a:extLst>
              <a:ext uri="{FF2B5EF4-FFF2-40B4-BE49-F238E27FC236}">
                <a16:creationId xmlns:a16="http://schemas.microsoft.com/office/drawing/2014/main" id="{DEBB9E11-84A3-58F8-237D-4A265C29D49C}"/>
              </a:ext>
            </a:extLst>
          </p:cNvPr>
          <p:cNvSpPr txBox="1"/>
          <p:nvPr/>
        </p:nvSpPr>
        <p:spPr>
          <a:xfrm>
            <a:off x="1629765" y="4659602"/>
            <a:ext cx="273504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Mature Stage</a:t>
            </a:r>
          </a:p>
          <a:p>
            <a:pPr algn="ctr"/>
            <a:r>
              <a:rPr lang="en-US" sz="1100" dirty="0">
                <a:solidFill>
                  <a:srgbClr val="2F5597"/>
                </a:solidFill>
                <a:latin typeface="Montserrat" panose="00000500000000000000" pitchFamily="2" charset="0"/>
              </a:rPr>
              <a:t>High Profitability, Market Saturation</a:t>
            </a:r>
          </a:p>
        </p:txBody>
      </p:sp>
      <p:sp>
        <p:nvSpPr>
          <p:cNvPr id="16" name="TextBox 23">
            <a:extLst>
              <a:ext uri="{FF2B5EF4-FFF2-40B4-BE49-F238E27FC236}">
                <a16:creationId xmlns:a16="http://schemas.microsoft.com/office/drawing/2014/main" id="{E4C2D887-78BC-455D-E84B-4706DBDF3CA1}"/>
              </a:ext>
            </a:extLst>
          </p:cNvPr>
          <p:cNvSpPr txBox="1"/>
          <p:nvPr/>
        </p:nvSpPr>
        <p:spPr>
          <a:xfrm>
            <a:off x="1275976" y="5316528"/>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7" name="TextBox 24">
            <a:extLst>
              <a:ext uri="{FF2B5EF4-FFF2-40B4-BE49-F238E27FC236}">
                <a16:creationId xmlns:a16="http://schemas.microsoft.com/office/drawing/2014/main" id="{FC3AFD72-934E-C314-76C9-3BD3C3ADC5D7}"/>
              </a:ext>
            </a:extLst>
          </p:cNvPr>
          <p:cNvSpPr txBox="1"/>
          <p:nvPr/>
        </p:nvSpPr>
        <p:spPr>
          <a:xfrm>
            <a:off x="3224011" y="5316528"/>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8" name="TextBox 25">
            <a:extLst>
              <a:ext uri="{FF2B5EF4-FFF2-40B4-BE49-F238E27FC236}">
                <a16:creationId xmlns:a16="http://schemas.microsoft.com/office/drawing/2014/main" id="{AFC7E587-98BA-0E7B-D632-50ECCC546F0C}"/>
              </a:ext>
            </a:extLst>
          </p:cNvPr>
          <p:cNvSpPr txBox="1"/>
          <p:nvPr/>
        </p:nvSpPr>
        <p:spPr>
          <a:xfrm>
            <a:off x="1269691"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$161.62M</a:t>
            </a:r>
            <a:endParaRPr lang="en-US" sz="2000" dirty="0">
              <a:solidFill>
                <a:srgbClr val="2F5597"/>
              </a:solidFill>
              <a:latin typeface="Montserrat" panose="00000500000000000000" pitchFamily="2" charset="0"/>
            </a:endParaRPr>
          </a:p>
        </p:txBody>
      </p:sp>
      <p:sp>
        <p:nvSpPr>
          <p:cNvPr id="19" name="TextBox 26">
            <a:extLst>
              <a:ext uri="{FF2B5EF4-FFF2-40B4-BE49-F238E27FC236}">
                <a16:creationId xmlns:a16="http://schemas.microsoft.com/office/drawing/2014/main" id="{CDADE326-124A-38EC-26DF-B19515A72278}"/>
              </a:ext>
            </a:extLst>
          </p:cNvPr>
          <p:cNvSpPr txBox="1"/>
          <p:nvPr/>
        </p:nvSpPr>
        <p:spPr>
          <a:xfrm>
            <a:off x="3063240"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$61.29M</a:t>
            </a:r>
            <a:endParaRPr lang="en-US" sz="2000" dirty="0">
              <a:solidFill>
                <a:srgbClr val="2F5597"/>
              </a:solidFill>
              <a:latin typeface="Montserrat" panose="00000500000000000000" pitchFamily="2" charset="0"/>
            </a:endParaRPr>
          </a:p>
        </p:txBody>
      </p:sp>
      <p:sp>
        <p:nvSpPr>
          <p:cNvPr id="20" name="Title 1">
            <a:extLst>
              <a:ext uri="{FF2B5EF4-FFF2-40B4-BE49-F238E27FC236}">
                <a16:creationId xmlns:a16="http://schemas.microsoft.com/office/drawing/2014/main" id="{BC0B4224-A0CC-AD78-8E24-07E538135775}"/>
              </a:ext>
            </a:extLst>
          </p:cNvPr>
          <p:cNvSpPr>
            <a:spLocks noGrp="1"/>
          </p:cNvSpPr>
          <p:nvPr>
            <p:ph type="title"/>
          </p:nvPr>
        </p:nvSpPr>
        <p:spPr>
          <a:xfrm>
            <a:off x="295590" y="144962"/>
            <a:ext cx="11431354" cy="979057"/>
          </a:xfrm>
        </p:spPr>
        <p:txBody>
          <a:bodyPr>
            <a:normAutofit/>
          </a:bodyPr>
          <a:lstStyle/>
          <a:p>
            <a:r>
              <a:rPr lang="en-US" sz="3200" b="0" dirty="0"/>
              <a:t>GROWING POWERFUL, LASTING PROFITABILITY</a:t>
            </a:r>
          </a:p>
        </p:txBody>
      </p:sp>
      <p:pic>
        <p:nvPicPr>
          <p:cNvPr id="21" name="Picture 27">
            <a:extLst>
              <a:ext uri="{FF2B5EF4-FFF2-40B4-BE49-F238E27FC236}">
                <a16:creationId xmlns:a16="http://schemas.microsoft.com/office/drawing/2014/main" id="{DBDCCE94-7BFC-4E15-1810-1983169DBDE0}"/>
              </a:ext>
            </a:extLst>
          </p:cNvPr>
          <p:cNvPicPr>
            <a:picLocks noChangeAspect="1"/>
          </p:cNvPicPr>
          <p:nvPr/>
        </p:nvPicPr>
        <p:blipFill>
          <a:blip r:embed="rId3"/>
          <a:stretch>
            <a:fillRect/>
          </a:stretch>
        </p:blipFill>
        <p:spPr>
          <a:xfrm>
            <a:off x="215573" y="6356350"/>
            <a:ext cx="2125097" cy="463658"/>
          </a:xfrm>
          <a:prstGeom prst="rect">
            <a:avLst/>
          </a:prstGeom>
        </p:spPr>
      </p:pic>
      <p:sp>
        <p:nvSpPr>
          <p:cNvPr id="22" name="Freeform 13">
            <a:extLst>
              <a:ext uri="{FF2B5EF4-FFF2-40B4-BE49-F238E27FC236}">
                <a16:creationId xmlns:a16="http://schemas.microsoft.com/office/drawing/2014/main" id="{C4AAE38D-C93C-25B4-95B9-199DADB77C3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3" name="Content Placeholder 22"/>
          <p:cNvPicPr>
            <a:picLocks noGrp="1"/>
          </p:cNvPicPr>
          <p:nvPr>
            <p:ph/>
          </p:nvPr>
        </p:nvPicPr>
        <p:blipFill>
          <a:blip r:embed="rId4" cstate="print"/>
          <a:stretch>
            <a:fillRect/>
          </a:stretch>
        </p:blipFill>
        <p:spPr>
          <a:xfrm>
            <a:off x="5202936" y="1353312"/>
            <a:ext cx="6364224" cy="4773168"/>
          </a:xfrm>
          <a:prstGeom prst="rect">
            <a:avLst/>
          </a:prstGeom>
        </p:spPr>
      </p:pic>
    </p:spTree>
    <p:extLst>
      <p:ext uri="{BB962C8B-B14F-4D97-AF65-F5344CB8AC3E}">
        <p14:creationId xmlns:p14="http://schemas.microsoft.com/office/powerpoint/2010/main" val="42940513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00539F">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200" b="0" dirty="0">
                <a:solidFill>
                  <a:schemeClr val="bg1"/>
                </a:solidFill>
              </a:rPr>
              <a:t>FOUR-YEAR PROJECTIONS</a:t>
            </a:r>
          </a:p>
        </p:txBody>
      </p:sp>
      <p:graphicFrame>
        <p:nvGraphicFramePr>
          <p:cNvPr id="4" name="Table 3"/>
          <p:cNvGraphicFramePr>
            <a:graphicFrameLocks noGrp="1"/>
          </p:cNvGraphicFramePr>
          <p:nvPr/>
        </p:nvGraphicFramePr>
        <p:xfrm>
          <a:off x="6135624" y="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1,578.9K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3,014.3K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5,779.1K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9,407.5K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25.2K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42.0K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63.6K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1,262.1K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2,859.5K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5,641.1K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9,291.1K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nvGraphicFramePr>
        <p:xfrm>
          <a:off x="6135624" y="2286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7,300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2,153.1K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4,306.2K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8,090.8K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12,957.6K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36.0K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58.8K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87.6K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1,841.1K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4,162.2K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7,969.6K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12,865.2K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nvGraphicFramePr>
        <p:xfrm>
          <a:off x="6135624" y="4572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1,004.8K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1,866.0K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3,632.6K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5,857.5K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26.4K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39.6K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683.2K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1,701.6K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3,479.0K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5,717.1K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7" name="Content Placeholder 6"/>
          <p:cNvPicPr>
            <a:picLocks noGrp="1"/>
          </p:cNvPicPr>
          <p:nvPr>
            <p:ph/>
          </p:nvPr>
        </p:nvPicPr>
        <p:blipFill>
          <a:blip r:embed="rId2" cstate="print"/>
          <a:stretch>
            <a:fillRect/>
          </a:stretch>
        </p:blipFill>
        <p:spPr>
          <a:xfrm>
            <a:off x="1179576" y="0"/>
            <a:ext cx="4572000" cy="6858000"/>
          </a:xfrm>
          <a:prstGeom prst="rect">
            <a:avLst/>
          </a:prstGeom>
        </p:spPr>
      </p:pic>
    </p:spTree>
    <p:extLst>
      <p:ext uri="{BB962C8B-B14F-4D97-AF65-F5344CB8AC3E}">
        <p14:creationId xmlns:p14="http://schemas.microsoft.com/office/powerpoint/2010/main" val="3157945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337157" y="136525"/>
            <a:ext cx="11569498" cy="1091529"/>
          </a:xfrm>
        </p:spPr>
        <p:txBody>
          <a:bodyPr>
            <a:noAutofit/>
          </a:bodyPr>
          <a:lstStyle/>
          <a:p>
            <a:pPr>
              <a:lnSpc>
                <a:spcPct val="100000"/>
              </a:lnSpc>
              <a:spcBef>
                <a:spcPts val="1800"/>
              </a:spcBef>
              <a:spcAft>
                <a:spcPts val="600"/>
              </a:spcAft>
            </a:pPr>
            <a:r>
              <a:rPr lang="en-US" sz="2400" dirty="0">
                <a:solidFill>
                  <a:srgbClr val="000B2E"/>
                </a:solidFill>
                <a:cs typeface="Arial" panose="020B0604020202020204" pitchFamily="34" charset="0"/>
              </a:rPr>
              <a:t>DIRECT-TO-EMPLOYER STRATEGY:</a:t>
            </a:r>
            <a:br>
              <a:rPr lang="en-US" sz="3600" b="1" dirty="0">
                <a:solidFill>
                  <a:srgbClr val="000B2E"/>
                </a:solidFill>
                <a:cs typeface="Arial" panose="020B0604020202020204" pitchFamily="34" charset="0"/>
              </a:rPr>
            </a:br>
            <a:r>
              <a:rPr lang="en-US" sz="3200" b="1" dirty="0">
                <a:solidFill>
                  <a:srgbClr val="000B2E"/>
                </a:solidFill>
                <a:cs typeface="Arial" panose="020B0604020202020204" pitchFamily="34" charset="0"/>
              </a:rPr>
              <a:t>ONLY AVAILABLE TO </a:t>
            </a:r>
            <a:r>
              <a:rPr lang="en-US" sz="3200" b="1" i="1" dirty="0">
                <a:solidFill>
                  <a:srgbClr val="000B2E"/>
                </a:solidFill>
                <a:cs typeface="Arial" panose="020B0604020202020204" pitchFamily="34" charset="0"/>
              </a:rPr>
              <a:t>PREMIER</a:t>
            </a:r>
            <a:r>
              <a:rPr lang="en-US" sz="3200" b="1" dirty="0">
                <a:solidFill>
                  <a:srgbClr val="000B2E"/>
                </a:solidFill>
                <a:cs typeface="Arial" panose="020B0604020202020204" pitchFamily="34" charset="0"/>
              </a:rPr>
              <a:t> HEALTH SYSTEMS</a:t>
            </a: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612859" y="1848935"/>
            <a:ext cx="6028455" cy="4660901"/>
          </a:xfrm>
        </p:spPr>
        <p:txBody>
          <a:bodyPr>
            <a:normAutofit/>
          </a:bodyPr>
          <a:lstStyle/>
          <a:p>
            <a:pPr marL="0" indent="0">
              <a:lnSpc>
                <a:spcPct val="150000"/>
              </a:lnSpc>
              <a:spcAft>
                <a:spcPts val="1200"/>
              </a:spcAft>
              <a:buNone/>
            </a:pPr>
            <a:r>
              <a:rPr lang="en-US" sz="3200" b="1" dirty="0">
                <a:solidFill>
                  <a:srgbClr val="59CAE8"/>
                </a:solidFill>
                <a:latin typeface="Montserrat" panose="00000500000000000000" pitchFamily="2"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Montserrat" panose="00000500000000000000" pitchFamily="2"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Montserrat" panose="00000500000000000000" pitchFamily="2"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Montserrat" panose="00000500000000000000" pitchFamily="2" charset="0"/>
              </a:rPr>
              <a:t>EXCELLENT</a:t>
            </a:r>
            <a:r>
              <a:rPr lang="en-US" sz="3200" dirty="0">
                <a:solidFill>
                  <a:srgbClr val="9900CC"/>
                </a:solidFill>
              </a:rPr>
              <a:t> </a:t>
            </a:r>
            <a:r>
              <a:rPr lang="en-US" sz="3200" dirty="0">
                <a:solidFill>
                  <a:schemeClr val="tx1">
                    <a:lumMod val="75000"/>
                    <a:lumOff val="25000"/>
                  </a:schemeClr>
                </a:solidFill>
              </a:rPr>
              <a:t>Care Quality  </a:t>
            </a:r>
          </a:p>
        </p:txBody>
      </p:sp>
      <p:pic>
        <p:nvPicPr>
          <p:cNvPr id="4" name="Picture 5">
            <a:extLst>
              <a:ext uri="{FF2B5EF4-FFF2-40B4-BE49-F238E27FC236}">
                <a16:creationId xmlns:a16="http://schemas.microsoft.com/office/drawing/2014/main" id="{182E78E4-84F7-ECC4-4085-D8F128942AD6}"/>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63B286E7-A296-8685-AC6B-CA7B2EB60EBD}"/>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Content Placeholder 5"/>
          <p:cNvPicPr>
            <a:picLocks noGrp="1"/>
          </p:cNvPicPr>
          <p:nvPr>
            <p:ph/>
          </p:nvPr>
        </p:nvPicPr>
        <p:blipFill>
          <a:blip r:embed="rId3" cstate="print"/>
          <a:stretch>
            <a:fillRect/>
          </a:stretch>
        </p:blipFill>
        <p:spPr>
          <a:xfrm>
            <a:off x="1508760" y="2834640"/>
            <a:ext cx="3154680" cy="1499766"/>
          </a:xfrm>
          <a:prstGeom prst="rect">
            <a:avLst/>
          </a:prstGeom>
        </p:spPr>
      </p:pic>
    </p:spTree>
    <p:extLst>
      <p:ext uri="{BB962C8B-B14F-4D97-AF65-F5344CB8AC3E}">
        <p14:creationId xmlns:p14="http://schemas.microsoft.com/office/powerpoint/2010/main" val="5004615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157AD-9D57-0448-105A-79BA8850085E}"/>
              </a:ext>
            </a:extLst>
          </p:cNvPr>
          <p:cNvSpPr>
            <a:spLocks noGrp="1"/>
          </p:cNvSpPr>
          <p:nvPr>
            <p:ph type="title"/>
          </p:nvPr>
        </p:nvSpPr>
        <p:spPr>
          <a:xfrm>
            <a:off x="215573" y="136525"/>
            <a:ext cx="11590512" cy="1325563"/>
          </a:xfrm>
        </p:spPr>
        <p:txBody>
          <a:bodyPr>
            <a:noAutofit/>
          </a:bodyPr>
          <a:lstStyle/>
          <a:p>
            <a:pPr>
              <a:lnSpc>
                <a:spcPct val="100000"/>
              </a:lnSpc>
              <a:spcBef>
                <a:spcPts val="1800"/>
              </a:spcBef>
              <a:spcAft>
                <a:spcPts val="600"/>
              </a:spcAft>
            </a:pPr>
            <a:r>
              <a:rPr lang="en-US" sz="3600" dirty="0">
                <a:solidFill>
                  <a:srgbClr val="000B2E"/>
                </a:solidFill>
                <a:cs typeface="Arial" panose="020B0604020202020204" pitchFamily="34" charset="0"/>
              </a:rPr>
              <a:t>MCLEOD HEALTH IS PATIENT RECOMMENDED</a:t>
            </a:r>
            <a:endParaRPr lang="en-US" sz="1400" dirty="0">
              <a:solidFill>
                <a:schemeClr val="tx1">
                  <a:lumMod val="75000"/>
                  <a:lumOff val="25000"/>
                </a:schemeClr>
              </a:solidFill>
              <a:cs typeface="Arial" panose="020B0604020202020204" pitchFamily="34" charset="0"/>
            </a:endParaRPr>
          </a:p>
        </p:txBody>
      </p:sp>
      <p:sp>
        <p:nvSpPr>
          <p:cNvPr id="3" name="Rectangle 1">
            <a:extLst>
              <a:ext uri="{FF2B5EF4-FFF2-40B4-BE49-F238E27FC236}">
                <a16:creationId xmlns:a16="http://schemas.microsoft.com/office/drawing/2014/main" id="{3E0219A2-C97D-9E0E-9C52-C5207AB41BD4}"/>
              </a:ext>
            </a:extLst>
          </p:cNvPr>
          <p:cNvSpPr/>
          <p:nvPr/>
        </p:nvSpPr>
        <p:spPr>
          <a:xfrm>
            <a:off x="9405257" y="1989573"/>
            <a:ext cx="2532185" cy="34867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Montserrat" panose="00000500000000000000" pitchFamily="2" charset="0"/>
              </a:rPr>
              <a:t>Based on quality measures and HCAHPS feedback, KBA estimates that McLeod Health has the strongest brand quality in Anson, Brunswick, Columbus, Richmond, Robeson, Scotland, Berkeley, Calhoun, Chesterfield, Clarendon, Darlington, Dillon, Florence, Horry, Lee, Marion, Marlboro, Orangeburg, Sumter, and Williamsburg Counties.</a:t>
            </a:r>
          </a:p>
        </p:txBody>
      </p:sp>
      <p:pic>
        <p:nvPicPr>
          <p:cNvPr id="4" name="Picture 8">
            <a:extLst>
              <a:ext uri="{FF2B5EF4-FFF2-40B4-BE49-F238E27FC236}">
                <a16:creationId xmlns:a16="http://schemas.microsoft.com/office/drawing/2014/main" id="{2AD52701-1DE7-13B3-FBF0-4BD24A480709}"/>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A6B1301C-BF63-22CC-7705-C12ACB4A1EC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2820442808"/>
              </p:ext>
            </p:extLst>
          </p:nvPr>
        </p:nvGraphicFramePr>
        <p:xfrm>
          <a:off x="195246" y="1462088"/>
          <a:ext cx="9072287" cy="4194526"/>
        </p:xfrm>
        <a:graphic>
          <a:graphicData uri="http://schemas.openxmlformats.org/drawingml/2006/table">
            <a:tbl>
              <a:tblPr/>
              <a:tblGrid>
                <a:gridCol w="3459685">
                  <a:extLst>
                    <a:ext uri="{9D8B030D-6E8A-4147-A177-3AD203B41FA5}">
                      <a16:colId xmlns:a16="http://schemas.microsoft.com/office/drawing/2014/main" val="20000"/>
                    </a:ext>
                  </a:extLst>
                </a:gridCol>
                <a:gridCol w="1432875">
                  <a:extLst>
                    <a:ext uri="{9D8B030D-6E8A-4147-A177-3AD203B41FA5}">
                      <a16:colId xmlns:a16="http://schemas.microsoft.com/office/drawing/2014/main" val="20001"/>
                    </a:ext>
                  </a:extLst>
                </a:gridCol>
                <a:gridCol w="959478">
                  <a:extLst>
                    <a:ext uri="{9D8B030D-6E8A-4147-A177-3AD203B41FA5}">
                      <a16:colId xmlns:a16="http://schemas.microsoft.com/office/drawing/2014/main" val="20002"/>
                    </a:ext>
                  </a:extLst>
                </a:gridCol>
                <a:gridCol w="928578">
                  <a:extLst>
                    <a:ext uri="{9D8B030D-6E8A-4147-A177-3AD203B41FA5}">
                      <a16:colId xmlns:a16="http://schemas.microsoft.com/office/drawing/2014/main" val="20003"/>
                    </a:ext>
                  </a:extLst>
                </a:gridCol>
                <a:gridCol w="1130283">
                  <a:extLst>
                    <a:ext uri="{9D8B030D-6E8A-4147-A177-3AD203B41FA5}">
                      <a16:colId xmlns:a16="http://schemas.microsoft.com/office/drawing/2014/main" val="20004"/>
                    </a:ext>
                  </a:extLst>
                </a:gridCol>
                <a:gridCol w="1161388">
                  <a:extLst>
                    <a:ext uri="{9D8B030D-6E8A-4147-A177-3AD203B41FA5}">
                      <a16:colId xmlns:a16="http://schemas.microsoft.com/office/drawing/2014/main" val="20005"/>
                    </a:ext>
                  </a:extLst>
                </a:gridCol>
              </a:tblGrid>
              <a:tr h="567527">
                <a:tc>
                  <a:txBody>
                    <a:bodyPr/>
                    <a:lstStyle/>
                    <a:p>
                      <a:pPr marL="63500" marR="63500" algn="l">
                        <a:lnSpc>
                          <a:spcPct val="100000"/>
                        </a:lnSpc>
                        <a:spcBef>
                          <a:spcPts val="500"/>
                        </a:spcBef>
                        <a:spcAft>
                          <a:spcPts val="500"/>
                        </a:spcAft>
                        <a:buNone/>
                      </a:pPr>
                      <a:r>
                        <a:rPr sz="1100" b="1" i="0" u="none" cap="none" dirty="0">
                          <a:solidFill>
                            <a:srgbClr val="000000">
                              <a:alpha val="100000"/>
                            </a:srgbClr>
                          </a:solidFill>
                          <a:latin typeface="Montserrat"/>
                          <a:cs typeface="Arial"/>
                          <a:sym typeface="Arial"/>
                        </a:rPr>
                        <a:t>Health System</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HCAHPS</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Recommendation</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CMS Stars</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Mortality</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Readmission</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KBA Brand</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Quality Score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362956">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McLeod Health</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58</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869EC4">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65</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7892BE">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71</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6C88B8">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53</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91A6CA">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66</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7690BD">
                        <a:alpha val="100000"/>
                      </a:srgbClr>
                    </a:solidFill>
                  </a:tcPr>
                </a:tc>
                <a:extLst>
                  <a:ext uri="{0D108BD9-81ED-4DB2-BD59-A6C34878D82A}">
                    <a16:rowId xmlns:a16="http://schemas.microsoft.com/office/drawing/2014/main" val="10001"/>
                  </a:ext>
                </a:extLst>
              </a:tr>
              <a:tr h="362956">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Tidelands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3A8C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90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4468A4">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986B6">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381B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C95C0">
                        <a:alpha val="100000"/>
                      </a:srgbClr>
                    </a:solidFill>
                  </a:tcPr>
                </a:tc>
                <a:extLst>
                  <a:ext uri="{0D108BD9-81ED-4DB2-BD59-A6C34878D82A}">
                    <a16:rowId xmlns:a16="http://schemas.microsoft.com/office/drawing/2014/main" val="10002"/>
                  </a:ext>
                </a:extLst>
              </a:tr>
              <a:tr h="391879">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Medical University of South Carolina Health System</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FA4C9">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36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B4C2D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F7EB2">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3A8C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E97C1">
                        <a:alpha val="100000"/>
                      </a:srgbClr>
                    </a:solidFill>
                  </a:tcPr>
                </a:tc>
                <a:extLst>
                  <a:ext uri="{0D108BD9-81ED-4DB2-BD59-A6C34878D82A}">
                    <a16:rowId xmlns:a16="http://schemas.microsoft.com/office/drawing/2014/main" val="10003"/>
                  </a:ext>
                </a:extLst>
              </a:tr>
              <a:tr h="390310">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Other Independent Hospitals</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48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BAECF">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31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BECBE0">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08BBA">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DA3C8">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E97C1">
                        <a:alpha val="100000"/>
                      </a:srgbClr>
                    </a:solidFill>
                  </a:tcPr>
                </a:tc>
                <a:extLst>
                  <a:ext uri="{0D108BD9-81ED-4DB2-BD59-A6C34878D82A}">
                    <a16:rowId xmlns:a16="http://schemas.microsoft.com/office/drawing/2014/main" val="10004"/>
                  </a:ext>
                </a:extLst>
              </a:tr>
              <a:tr h="364184">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ScionHealth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41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AABAD6">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C95C0">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08BBA">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3A8C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29AC3">
                        <a:alpha val="100000"/>
                      </a:srgbClr>
                    </a:solidFill>
                  </a:tcPr>
                </a:tc>
                <a:extLst>
                  <a:ext uri="{0D108BD9-81ED-4DB2-BD59-A6C34878D82A}">
                    <a16:rowId xmlns:a16="http://schemas.microsoft.com/office/drawing/2014/main" val="10005"/>
                  </a:ext>
                </a:extLst>
              </a:tr>
              <a:tr h="364184">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HCA Healthcare</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30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C0CCE1">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31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BECBE0">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81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777AE">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FA4C9">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FA4C9">
                        <a:alpha val="100000"/>
                      </a:srgbClr>
                    </a:solidFill>
                  </a:tcPr>
                </a:tc>
                <a:extLst>
                  <a:ext uri="{0D108BD9-81ED-4DB2-BD59-A6C34878D82A}">
                    <a16:rowId xmlns:a16="http://schemas.microsoft.com/office/drawing/2014/main" val="10006"/>
                  </a:ext>
                </a:extLst>
              </a:tr>
              <a:tr h="362956">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Advocate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24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CDD6E7">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30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C0CCE1">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E97C1">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49CC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FA4C9">
                        <a:alpha val="100000"/>
                      </a:srgbClr>
                    </a:solidFill>
                  </a:tcPr>
                </a:tc>
                <a:extLst>
                  <a:ext uri="{0D108BD9-81ED-4DB2-BD59-A6C34878D82A}">
                    <a16:rowId xmlns:a16="http://schemas.microsoft.com/office/drawing/2014/main" val="10007"/>
                  </a:ext>
                </a:extLst>
              </a:tr>
              <a:tr h="364184">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UNC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ECEFF6">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31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BECBE0">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099C2">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48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BAECF">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48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BAECF">
                        <a:alpha val="100000"/>
                      </a:srgbClr>
                    </a:solidFill>
                  </a:tcPr>
                </a:tc>
                <a:extLst>
                  <a:ext uri="{0D108BD9-81ED-4DB2-BD59-A6C34878D82A}">
                    <a16:rowId xmlns:a16="http://schemas.microsoft.com/office/drawing/2014/main" val="10008"/>
                  </a:ext>
                </a:extLst>
              </a:tr>
              <a:tr h="362956">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Prisma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F2F4F9">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31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BECBE0">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85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4F71AA">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829AC3">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30589B">
                              <a:alpha val="100000"/>
                            </a:srgbClr>
                          </a:solidFill>
                          <a:latin typeface="Montserrat"/>
                          <a:cs typeface="Arial"/>
                          <a:sym typeface="Arial"/>
                        </a:rPr>
                        <a:t>45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A1B3D2">
                        <a:alpha val="100000"/>
                      </a:srgbClr>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40647523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2">
            <a:extLst>
              <a:ext uri="{FF2B5EF4-FFF2-40B4-BE49-F238E27FC236}">
                <a16:creationId xmlns:a16="http://schemas.microsoft.com/office/drawing/2014/main" id="{E799F91A-3FD1-47AB-858A-263DC729BC42}"/>
              </a:ext>
            </a:extLst>
          </p:cNvPr>
          <p:cNvSpPr txBox="1"/>
          <p:nvPr/>
        </p:nvSpPr>
        <p:spPr>
          <a:xfrm>
            <a:off x="8932985" y="1054579"/>
            <a:ext cx="2868171" cy="4832092"/>
          </a:xfrm>
          <a:prstGeom prst="rect">
            <a:avLst/>
          </a:prstGeom>
          <a:noFill/>
        </p:spPr>
        <p:txBody>
          <a:bodyPr wrap="square" rtlCol="0">
            <a:spAutoFit/>
          </a:bodyPr>
          <a:lstStyle/>
          <a:p>
            <a:r>
              <a:rPr lang="en-US" sz="1400" dirty="0">
                <a:solidFill/>
                <a:latin typeface="Montserrat" panose="00000500000000000000" pitchFamily="2" charset="0"/>
              </a:rPr>
              <a:t>KBA currently estimates that McLeod Health has 29% inpatient market share, and 17% outpatient market compared to hospitals/clinics in the McLeod Health service area (see slide 8). </a:t>
            </a:r>
          </a:p>
          <a:p>
            <a:endParaRPr lang="en-US" sz="1400" dirty="0">
              <a:solidFill/>
              <a:latin typeface="Montserrat" panose="00000500000000000000" pitchFamily="2" charset="0"/>
            </a:endParaRPr>
          </a:p>
          <a:p>
            <a:r>
              <a:rPr lang="en-US" sz="1400" dirty="0">
                <a:solidFill/>
                <a:latin typeface="Montserrat" panose="00000500000000000000" pitchFamily="2" charset="0"/>
              </a:rPr>
              <a:t>Based on previous DTE experience, KBA expects a significant bump in patient steerage to McLeod Health.</a:t>
            </a:r>
          </a:p>
          <a:p>
            <a:endParaRPr lang="en-US" sz="1400" dirty="0">
              <a:solidFill/>
              <a:latin typeface="Montserrat" panose="00000500000000000000" pitchFamily="2" charset="0"/>
            </a:endParaRPr>
          </a:p>
          <a:p>
            <a:r>
              <a:rPr lang="en-US" sz="1400" dirty="0">
                <a:solidFill/>
                <a:latin typeface="Montserrat" panose="00000500000000000000" pitchFamily="2" charset="0"/>
              </a:rPr>
              <a:t>Additional steerage will occur from additional steerage patient benefits and the patient convenience card.  </a:t>
            </a:r>
          </a:p>
          <a:p>
            <a:endParaRPr lang="en-US" sz="1400" dirty="0">
              <a:solidFill/>
              <a:latin typeface="Montserrat" panose="00000500000000000000" pitchFamily="2" charset="0"/>
            </a:endParaRPr>
          </a:p>
          <a:p>
            <a:r>
              <a:rPr lang="en-US" sz="1400" dirty="0">
                <a:solidFill/>
                <a:latin typeface="Montserrat" panose="00000500000000000000" pitchFamily="2" charset="0"/>
              </a:rPr>
              <a:t>High estimates start nearly 10% higher than target with low estimates at 10% lower than target</a:t>
            </a:r>
          </a:p>
        </p:txBody>
      </p:sp>
      <p:sp>
        <p:nvSpPr>
          <p:cNvPr id="3" name="Title 1">
            <a:extLst>
              <a:ext uri="{FF2B5EF4-FFF2-40B4-BE49-F238E27FC236}">
                <a16:creationId xmlns:a16="http://schemas.microsoft.com/office/drawing/2014/main" id="{B908E53A-80EF-253B-70F2-1B864197EF25}"/>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PROJECTED PLAN GROWTH</a:t>
            </a:r>
          </a:p>
        </p:txBody>
      </p:sp>
      <p:pic>
        <p:nvPicPr>
          <p:cNvPr id="4" name="Picture 5">
            <a:extLst>
              <a:ext uri="{FF2B5EF4-FFF2-40B4-BE49-F238E27FC236}">
                <a16:creationId xmlns:a16="http://schemas.microsoft.com/office/drawing/2014/main" id="{600A413C-9879-29A5-B50B-ADCD0DEFEC3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46D19D72-B714-CC67-EEAD-28291439C72F}"/>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2681527176"/>
              </p:ext>
            </p:extLst>
          </p:nvPr>
        </p:nvGraphicFramePr>
        <p:xfrm>
          <a:off x="566928" y="941831"/>
          <a:ext cx="7470650" cy="5247963"/>
        </p:xfrm>
        <a:graphic>
          <a:graphicData uri="http://schemas.openxmlformats.org/drawingml/2006/table">
            <a:tbl>
              <a:tblPr/>
              <a:tblGrid>
                <a:gridCol w="1494130">
                  <a:extLst>
                    <a:ext uri="{9D8B030D-6E8A-4147-A177-3AD203B41FA5}">
                      <a16:colId xmlns:a16="http://schemas.microsoft.com/office/drawing/2014/main" val="20000"/>
                    </a:ext>
                  </a:extLst>
                </a:gridCol>
                <a:gridCol w="1494130">
                  <a:extLst>
                    <a:ext uri="{9D8B030D-6E8A-4147-A177-3AD203B41FA5}">
                      <a16:colId xmlns:a16="http://schemas.microsoft.com/office/drawing/2014/main" val="20001"/>
                    </a:ext>
                  </a:extLst>
                </a:gridCol>
                <a:gridCol w="1494130">
                  <a:extLst>
                    <a:ext uri="{9D8B030D-6E8A-4147-A177-3AD203B41FA5}">
                      <a16:colId xmlns:a16="http://schemas.microsoft.com/office/drawing/2014/main" val="20002"/>
                    </a:ext>
                  </a:extLst>
                </a:gridCol>
                <a:gridCol w="1494130">
                  <a:extLst>
                    <a:ext uri="{9D8B030D-6E8A-4147-A177-3AD203B41FA5}">
                      <a16:colId xmlns:a16="http://schemas.microsoft.com/office/drawing/2014/main" val="20003"/>
                    </a:ext>
                  </a:extLst>
                </a:gridCol>
                <a:gridCol w="1494130">
                  <a:extLst>
                    <a:ext uri="{9D8B030D-6E8A-4147-A177-3AD203B41FA5}">
                      <a16:colId xmlns:a16="http://schemas.microsoft.com/office/drawing/2014/main" val="20004"/>
                    </a:ext>
                  </a:extLst>
                </a:gridCol>
              </a:tblGrid>
              <a:tr h="813063">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Year</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Employees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Members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Percent of Members Choosing McLeod Health for Inpatient Care</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Percent of Members Choosing McLeod Health for Outpatient Care</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2174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1,100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1"/>
                  </a:ext>
                </a:extLst>
              </a:tr>
              <a:tr h="22174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174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174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174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174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10,300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174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13,700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r h="22174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17,600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8"/>
                  </a:ext>
                </a:extLst>
              </a:tr>
              <a:tr h="22174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12,200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22,000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9"/>
                  </a:ext>
                </a:extLst>
              </a:tr>
              <a:tr h="22174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14,900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26,800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0"/>
                  </a:ext>
                </a:extLst>
              </a:tr>
              <a:tr h="22174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17,600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31,700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1"/>
                  </a:ext>
                </a:extLst>
              </a:tr>
              <a:tr h="22174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20,300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36,500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2"/>
                  </a:ext>
                </a:extLst>
              </a:tr>
              <a:tr h="22174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22,800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41,000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3"/>
                  </a:ext>
                </a:extLst>
              </a:tr>
              <a:tr h="22174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25,000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45,000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4"/>
                  </a:ext>
                </a:extLst>
              </a:tr>
              <a:tr h="22174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26,900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48,400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5"/>
                  </a:ext>
                </a:extLst>
              </a:tr>
              <a:tr h="22174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28,400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51,100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6"/>
                  </a:ext>
                </a:extLst>
              </a:tr>
              <a:tr h="22174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29,600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53,300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7"/>
                  </a:ext>
                </a:extLst>
              </a:tr>
              <a:tr h="22174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30,600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55,100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8"/>
                  </a:ext>
                </a:extLst>
              </a:tr>
              <a:tr h="22174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31,300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56,300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9"/>
                  </a:ext>
                </a:extLst>
              </a:tr>
              <a:tr h="22174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20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31,800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57,200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20117248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5">
            <a:extLst>
              <a:ext uri="{FF2B5EF4-FFF2-40B4-BE49-F238E27FC236}">
                <a16:creationId xmlns:a16="http://schemas.microsoft.com/office/drawing/2014/main" id="{176BAF2A-5136-E457-9AAC-D0878752F10C}"/>
              </a:ext>
            </a:extLst>
          </p:cNvPr>
          <p:cNvGraphicFramePr>
            <a:graphicFrameLocks noGrp="1"/>
          </p:cNvGraphicFramePr>
          <p:nvPr>
            <p:extLst>
              <p:ext uri="{D42A27DB-BD31-4B8C-83A1-F6EECF244321}">
                <p14:modId xmlns:p14="http://schemas.microsoft.com/office/powerpoint/2010/main" val="287256461"/>
              </p:ext>
            </p:extLst>
          </p:nvPr>
        </p:nvGraphicFramePr>
        <p:xfrm>
          <a:off x="418056" y="764777"/>
          <a:ext cx="6972297" cy="119888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200" b="1" dirty="0">
                          <a:solidFill>
                            <a:schemeClr val="bg1"/>
                          </a:solidFill>
                          <a:latin typeface="Montserrat" panose="00000500000000000000" pitchFamily="2" charset="0"/>
                        </a:rPr>
                        <a:t>Pre-DTE Cohort of 5,300 Employees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400" dirty="0">
                          <a:latin typeface="Montserrat" panose="00000500000000000000" pitchFamily="2" charset="0"/>
                        </a:rPr>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$ 4,961,589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$ 5,273,345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$ 2,462,607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$ 12,697,541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$ 1,865,558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$ 1,982,778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$ 925,940.3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$ 4,774,276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3" name="Straight Connector 13">
            <a:extLst>
              <a:ext uri="{FF2B5EF4-FFF2-40B4-BE49-F238E27FC236}">
                <a16:creationId xmlns:a16="http://schemas.microsoft.com/office/drawing/2014/main" id="{8EA958C5-E105-8A94-794A-7A8EB2DFEBDC}"/>
              </a:ext>
            </a:extLst>
          </p:cNvPr>
          <p:cNvCxnSpPr/>
          <p:nvPr/>
        </p:nvCxnSpPr>
        <p:spPr>
          <a:xfrm>
            <a:off x="316454" y="3716618"/>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4" name="Table 14">
            <a:extLst>
              <a:ext uri="{FF2B5EF4-FFF2-40B4-BE49-F238E27FC236}">
                <a16:creationId xmlns:a16="http://schemas.microsoft.com/office/drawing/2014/main" id="{FF3ACACB-7F38-7EAA-4BDF-1A816CA00AAE}"/>
              </a:ext>
            </a:extLst>
          </p:cNvPr>
          <p:cNvGraphicFramePr>
            <a:graphicFrameLocks noGrp="1"/>
          </p:cNvGraphicFramePr>
          <p:nvPr>
            <p:extLst>
              <p:ext uri="{D42A27DB-BD31-4B8C-83A1-F6EECF244321}">
                <p14:modId xmlns:p14="http://schemas.microsoft.com/office/powerpoint/2010/main" val="484940483"/>
              </p:ext>
            </p:extLst>
          </p:nvPr>
        </p:nvGraphicFramePr>
        <p:xfrm>
          <a:off x="462503" y="4085951"/>
          <a:ext cx="7134051" cy="2225040"/>
        </p:xfrm>
        <a:graphic>
          <a:graphicData uri="http://schemas.openxmlformats.org/drawingml/2006/table">
            <a:tbl>
              <a:tblPr firstRow="1" bandRow="1">
                <a:tableStyleId>{5940675A-B579-460E-94D1-54222C63F5DA}</a:tableStyleId>
              </a:tblPr>
              <a:tblGrid>
                <a:gridCol w="5375589">
                  <a:extLst>
                    <a:ext uri="{9D8B030D-6E8A-4147-A177-3AD203B41FA5}">
                      <a16:colId xmlns:a16="http://schemas.microsoft.com/office/drawing/2014/main" val="1938271373"/>
                    </a:ext>
                  </a:extLst>
                </a:gridCol>
                <a:gridCol w="1758462">
                  <a:extLst>
                    <a:ext uri="{9D8B030D-6E8A-4147-A177-3AD203B41FA5}">
                      <a16:colId xmlns:a16="http://schemas.microsoft.com/office/drawing/2014/main" val="232002059"/>
                    </a:ext>
                  </a:extLst>
                </a:gridCol>
              </a:tblGrid>
              <a:tr h="370840">
                <a:tc>
                  <a:txBody>
                    <a:bodyPr/>
                    <a:lstStyle/>
                    <a:p>
                      <a:r>
                        <a:rPr lang="en-US" sz="1600" dirty="0">
                          <a:latin typeface="Montserrat" panose="00000500000000000000" pitchFamily="2" charset="0"/>
                        </a:rPr>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$ 9,343,941</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sz="1600" dirty="0">
                          <a:latin typeface="Montserrat" panose="00000500000000000000" pitchFamily="2" charset="0"/>
                        </a:rPr>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$ 63,600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sz="1600" dirty="0">
                          <a:latin typeface="Montserrat" panose="00000500000000000000" pitchFamily="2" charset="0"/>
                        </a:rPr>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$ 9,348,741</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sz="1600" dirty="0">
                          <a:solidFill/>
                          <a:latin typeface="Montserrat" panose="00000500000000000000" pitchFamily="2" charset="0"/>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sz="1600" dirty="0">
                          <a:latin typeface="Montserrat" panose="00000500000000000000" pitchFamily="2" charset="0"/>
                        </a:rPr>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sz="1600" b="1" dirty="0">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b="1" dirty="0">
                          <a:solidFill>
                            <a:schemeClr val="accent6">
                              <a:lumMod val="75000"/>
                            </a:schemeClr>
                          </a:solidFill>
                          <a:latin typeface="Montserrat" panose="00000500000000000000" pitchFamily="2" charset="0"/>
                        </a:rPr>
                        <a:t>$ 9,227,541</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5" name="Table 15">
            <a:extLst>
              <a:ext uri="{FF2B5EF4-FFF2-40B4-BE49-F238E27FC236}">
                <a16:creationId xmlns:a16="http://schemas.microsoft.com/office/drawing/2014/main" id="{32A51F3A-032C-30E2-F635-DD59B5A29A34}"/>
              </a:ext>
            </a:extLst>
          </p:cNvPr>
          <p:cNvGraphicFramePr>
            <a:graphicFrameLocks noGrp="1"/>
          </p:cNvGraphicFramePr>
          <p:nvPr>
            <p:extLst>
              <p:ext uri="{D42A27DB-BD31-4B8C-83A1-F6EECF244321}">
                <p14:modId xmlns:p14="http://schemas.microsoft.com/office/powerpoint/2010/main" val="1967198922"/>
              </p:ext>
            </p:extLst>
          </p:nvPr>
        </p:nvGraphicFramePr>
        <p:xfrm>
          <a:off x="418055" y="2234768"/>
          <a:ext cx="6972296" cy="88392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200" b="1" dirty="0">
                          <a:solidFill>
                            <a:schemeClr val="bg1"/>
                          </a:solidFill>
                          <a:latin typeface="Montserrat" panose="00000500000000000000" pitchFamily="2" charset="0"/>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400" dirty="0">
                          <a:latin typeface="Montserrat" panose="00000500000000000000" pitchFamily="2" charset="0"/>
                        </a:rPr>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$ 11,375,462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$ 17,841,267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$ 8,331,720</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$ 37,548,449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$ 4,277,174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$ 6,708,316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$ 3,132,727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$ 14,118,217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6" name="TextBox 1">
            <a:extLst>
              <a:ext uri="{FF2B5EF4-FFF2-40B4-BE49-F238E27FC236}">
                <a16:creationId xmlns:a16="http://schemas.microsoft.com/office/drawing/2014/main" id="{60820A86-1B9D-21A4-BBB6-DDFB73605882}"/>
              </a:ext>
            </a:extLst>
          </p:cNvPr>
          <p:cNvSpPr txBox="1"/>
          <p:nvPr/>
        </p:nvSpPr>
        <p:spPr>
          <a:xfrm>
            <a:off x="7752549" y="953947"/>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Assuming proportional revenues from market shares of 29% (inpatient) and 17% (outpatient)</a:t>
            </a:r>
          </a:p>
        </p:txBody>
      </p:sp>
      <p:sp>
        <p:nvSpPr>
          <p:cNvPr id="7" name="TextBox 2">
            <a:extLst>
              <a:ext uri="{FF2B5EF4-FFF2-40B4-BE49-F238E27FC236}">
                <a16:creationId xmlns:a16="http://schemas.microsoft.com/office/drawing/2014/main" id="{6CDBA057-BBD2-8F54-E977-26B782E37F88}"/>
              </a:ext>
            </a:extLst>
          </p:cNvPr>
          <p:cNvSpPr txBox="1"/>
          <p:nvPr/>
        </p:nvSpPr>
        <p:spPr>
          <a:xfrm>
            <a:off x="7752549" y="1801103"/>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37.6% (80% of the estimated commercial margin)</a:t>
            </a:r>
          </a:p>
        </p:txBody>
      </p:sp>
      <p:sp>
        <p:nvSpPr>
          <p:cNvPr id="8" name="TextBox 6">
            <a:extLst>
              <a:ext uri="{FF2B5EF4-FFF2-40B4-BE49-F238E27FC236}">
                <a16:creationId xmlns:a16="http://schemas.microsoft.com/office/drawing/2014/main" id="{C690F22E-C9CA-61DC-5584-149573110610}"/>
              </a:ext>
            </a:extLst>
          </p:cNvPr>
          <p:cNvSpPr txBox="1"/>
          <p:nvPr/>
        </p:nvSpPr>
        <p:spPr>
          <a:xfrm>
            <a:off x="7752549" y="2535638"/>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⁰ Assuming 67% inpatient and 58%  market steerage based on KBA narrow network DTE experience (see previous slide)</a:t>
            </a:r>
          </a:p>
        </p:txBody>
      </p:sp>
      <p:sp>
        <p:nvSpPr>
          <p:cNvPr id="9" name="TextBox 7">
            <a:extLst>
              <a:ext uri="{FF2B5EF4-FFF2-40B4-BE49-F238E27FC236}">
                <a16:creationId xmlns:a16="http://schemas.microsoft.com/office/drawing/2014/main" id="{A897897D-C568-B204-6568-514AD4B71A5C}"/>
              </a:ext>
            </a:extLst>
          </p:cNvPr>
          <p:cNvSpPr txBox="1"/>
          <p:nvPr/>
        </p:nvSpPr>
        <p:spPr>
          <a:xfrm>
            <a:off x="7752548" y="3324229"/>
            <a:ext cx="4318001" cy="1600438"/>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37.6%, with a 10 percentage-point reduction to reflect competitive-edge rates and a 10 percentage-point increase due to lower billing costs and higher patient responsibility collections because of the member convenience card. </a:t>
            </a:r>
          </a:p>
        </p:txBody>
      </p:sp>
      <p:sp>
        <p:nvSpPr>
          <p:cNvPr id="10" name="TextBox 8">
            <a:extLst>
              <a:ext uri="{FF2B5EF4-FFF2-40B4-BE49-F238E27FC236}">
                <a16:creationId xmlns:a16="http://schemas.microsoft.com/office/drawing/2014/main" id="{1BBEE831-0583-9B2A-D9B8-C57C918E4C3C}"/>
              </a:ext>
            </a:extLst>
          </p:cNvPr>
          <p:cNvSpPr txBox="1"/>
          <p:nvPr/>
        </p:nvSpPr>
        <p:spPr>
          <a:xfrm>
            <a:off x="316454" y="34749"/>
            <a:ext cx="10286695" cy="584775"/>
          </a:xfrm>
          <a:prstGeom prst="rect">
            <a:avLst/>
          </a:prstGeom>
          <a:noFill/>
        </p:spPr>
        <p:txBody>
          <a:bodyPr wrap="square" rtlCol="0">
            <a:spAutoFit/>
          </a:bodyPr>
          <a:lstStyle/>
          <a:p>
            <a:r>
              <a:rPr lang="en-US" sz="3200" dirty="0">
                <a:latin typeface="Montserrat" panose="00000500000000000000" pitchFamily="2" charset="0"/>
                <a:cs typeface="Calibri" panose="020F0502020204030204" pitchFamily="34" charset="0"/>
              </a:rPr>
              <a:t>YEAR 4 PROJECTED REVENUE AND PROFIT</a:t>
            </a:r>
          </a:p>
        </p:txBody>
      </p:sp>
      <p:pic>
        <p:nvPicPr>
          <p:cNvPr id="11" name="Picture 9">
            <a:extLst>
              <a:ext uri="{FF2B5EF4-FFF2-40B4-BE49-F238E27FC236}">
                <a16:creationId xmlns:a16="http://schemas.microsoft.com/office/drawing/2014/main" id="{7D073370-D0BE-1A39-1DCE-8896BD0D4C9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2" name="Freeform 13">
            <a:extLst>
              <a:ext uri="{FF2B5EF4-FFF2-40B4-BE49-F238E27FC236}">
                <a16:creationId xmlns:a16="http://schemas.microsoft.com/office/drawing/2014/main" id="{47B20ECB-E742-CAF7-0C94-E491C5D3F04B}"/>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4198165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Montserrat" panose="00000500000000000000" pitchFamily="2" charset="0"/>
            </a:endParaRPr>
          </a:p>
        </p:txBody>
      </p:sp>
      <p:sp>
        <p:nvSpPr>
          <p:cNvPr id="4" name="Title 1">
            <a:extLst>
              <a:ext uri="{FF2B5EF4-FFF2-40B4-BE49-F238E27FC236}">
                <a16:creationId xmlns:a16="http://schemas.microsoft.com/office/drawing/2014/main" id="{FBB9A266-2718-4687-903B-B87AB1E45652}"/>
              </a:ext>
            </a:extLst>
          </p:cNvPr>
          <p:cNvSpPr>
            <a:spLocks noGrp="1"/>
          </p:cNvSpPr>
          <p:nvPr>
            <p:ph type="title"/>
          </p:nvPr>
        </p:nvSpPr>
        <p:spPr>
          <a:xfrm>
            <a:off x="532265" y="560444"/>
            <a:ext cx="10479445" cy="782540"/>
          </a:xfrm>
        </p:spPr>
        <p:txBody>
          <a:bodyPr>
            <a:normAutofit/>
          </a:bodyPr>
          <a:lstStyle/>
          <a:p>
            <a:r>
              <a:rPr lang="en-US" sz="3600" dirty="0">
                <a:solidFill>
                  <a:schemeClr val="bg1"/>
                </a:solidFill>
              </a:rPr>
              <a:t>A PARTNER YOU CAN TRUST</a:t>
            </a:r>
          </a:p>
        </p:txBody>
      </p:sp>
      <p:sp>
        <p:nvSpPr>
          <p:cNvPr id="5"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sz="1100" dirty="0">
                <a:solidFill>
                  <a:schemeClr val="bg1"/>
                </a:solidFill>
              </a:rPr>
              <a:t>Key Benefit Administrators</a:t>
            </a:r>
          </a:p>
        </p:txBody>
      </p:sp>
      <p:sp>
        <p:nvSpPr>
          <p:cNvPr id="6"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z="1100" smtClean="0">
                <a:solidFill>
                  <a:schemeClr val="bg1"/>
                </a:solidFill>
              </a:rPr>
              <a:t>13</a:t>
            </a:fld>
            <a:endParaRPr lang="en-US" sz="1100" dirty="0">
              <a:solidFill>
                <a:schemeClr val="bg1"/>
              </a:solidFill>
            </a:endParaRPr>
          </a:p>
        </p:txBody>
      </p:sp>
      <p:grpSp>
        <p:nvGrpSpPr>
          <p:cNvPr id="7" name="Group 26">
            <a:extLst>
              <a:ext uri="{FF2B5EF4-FFF2-40B4-BE49-F238E27FC236}">
                <a16:creationId xmlns:a16="http://schemas.microsoft.com/office/drawing/2014/main" id="{CE5A4C1D-715F-46F5-A80B-647078B97ADE}"/>
              </a:ext>
            </a:extLst>
          </p:cNvPr>
          <p:cNvGrpSpPr/>
          <p:nvPr/>
        </p:nvGrpSpPr>
        <p:grpSpPr>
          <a:xfrm>
            <a:off x="667280" y="3021140"/>
            <a:ext cx="10857442" cy="1569660"/>
            <a:chOff x="908754" y="2695500"/>
            <a:chExt cx="10558665" cy="1569660"/>
          </a:xfrm>
        </p:grpSpPr>
        <p:sp>
          <p:nvSpPr>
            <p:cNvPr id="8" name="Rectangle 21">
              <a:extLst>
                <a:ext uri="{FF2B5EF4-FFF2-40B4-BE49-F238E27FC236}">
                  <a16:creationId xmlns:a16="http://schemas.microsoft.com/office/drawing/2014/main" id="{E53A35DC-3649-45F8-BE1C-71234D1F47FC}"/>
                </a:ext>
              </a:extLst>
            </p:cNvPr>
            <p:cNvSpPr/>
            <p:nvPr/>
          </p:nvSpPr>
          <p:spPr>
            <a:xfrm>
              <a:off x="908754" y="2695500"/>
              <a:ext cx="2058812" cy="584775"/>
            </a:xfrm>
            <a:prstGeom prst="rect">
              <a:avLst/>
            </a:prstGeom>
          </p:spPr>
          <p:txBody>
            <a:bodyPr wrap="square">
              <a:spAutoFit/>
            </a:bodyPr>
            <a:lstStyle/>
            <a:p>
              <a:r>
                <a:rPr lang="en-US" sz="1600" b="1" dirty="0">
                  <a:solidFill>
                    <a:schemeClr val="bg1"/>
                  </a:solidFill>
                  <a:latin typeface="Montserrat" panose="00000500000000000000" pitchFamily="2" charset="0"/>
                </a:rPr>
                <a:t>OUR OBJECTIVES ARE ALIGNED</a:t>
              </a:r>
            </a:p>
          </p:txBody>
        </p:sp>
        <p:sp>
          <p:nvSpPr>
            <p:cNvPr id="9" name="Rectangle 23">
              <a:extLst>
                <a:ext uri="{FF2B5EF4-FFF2-40B4-BE49-F238E27FC236}">
                  <a16:creationId xmlns:a16="http://schemas.microsoft.com/office/drawing/2014/main" id="{9BB7B37B-58E4-4EF5-8BCD-B5AFD3FF7576}"/>
                </a:ext>
              </a:extLst>
            </p:cNvPr>
            <p:cNvSpPr/>
            <p:nvPr/>
          </p:nvSpPr>
          <p:spPr>
            <a:xfrm>
              <a:off x="3464860" y="2695500"/>
              <a:ext cx="2096575" cy="584775"/>
            </a:xfrm>
            <a:prstGeom prst="rect">
              <a:avLst/>
            </a:prstGeom>
          </p:spPr>
          <p:txBody>
            <a:bodyPr wrap="square">
              <a:spAutoFit/>
            </a:bodyPr>
            <a:lstStyle/>
            <a:p>
              <a:r>
                <a:rPr lang="en-US" sz="1600" b="1" dirty="0">
                  <a:solidFill>
                    <a:schemeClr val="bg1"/>
                  </a:solidFill>
                  <a:latin typeface="Montserrat" panose="00000500000000000000" pitchFamily="2" charset="0"/>
                </a:rPr>
                <a:t>WE KNOW THE </a:t>
              </a:r>
            </a:p>
            <a:p>
              <a:r>
                <a:rPr lang="en-US" sz="1600" b="1" dirty="0">
                  <a:solidFill>
                    <a:schemeClr val="bg1"/>
                  </a:solidFill>
                  <a:latin typeface="Montserrat" panose="00000500000000000000" pitchFamily="2" charset="0"/>
                </a:rPr>
                <a:t>MARKET</a:t>
              </a:r>
            </a:p>
          </p:txBody>
        </p:sp>
        <p:sp>
          <p:nvSpPr>
            <p:cNvPr id="10" name="Rectangle 24">
              <a:extLst>
                <a:ext uri="{FF2B5EF4-FFF2-40B4-BE49-F238E27FC236}">
                  <a16:creationId xmlns:a16="http://schemas.microsoft.com/office/drawing/2014/main" id="{712D71E1-CFC6-401F-B564-C6DB174E5C25}"/>
                </a:ext>
              </a:extLst>
            </p:cNvPr>
            <p:cNvSpPr/>
            <p:nvPr/>
          </p:nvSpPr>
          <p:spPr>
            <a:xfrm>
              <a:off x="6105045" y="2695500"/>
              <a:ext cx="1861517" cy="584775"/>
            </a:xfrm>
            <a:prstGeom prst="rect">
              <a:avLst/>
            </a:prstGeom>
          </p:spPr>
          <p:txBody>
            <a:bodyPr wrap="square">
              <a:spAutoFit/>
            </a:bodyPr>
            <a:lstStyle/>
            <a:p>
              <a:r>
                <a:rPr lang="en-US" sz="1600" b="1" dirty="0">
                  <a:solidFill>
                    <a:schemeClr val="bg1"/>
                  </a:solidFill>
                  <a:latin typeface="Montserrat" panose="00000500000000000000" pitchFamily="2" charset="0"/>
                </a:rPr>
                <a:t>COMPLETELY TRANSPARENT</a:t>
              </a:r>
            </a:p>
          </p:txBody>
        </p:sp>
        <p:sp>
          <p:nvSpPr>
            <p:cNvPr id="11" name="Rectangle 25">
              <a:extLst>
                <a:ext uri="{FF2B5EF4-FFF2-40B4-BE49-F238E27FC236}">
                  <a16:creationId xmlns:a16="http://schemas.microsoft.com/office/drawing/2014/main" id="{3219F81E-41A2-4D21-B41F-E66CCE1EAA9D}"/>
                </a:ext>
              </a:extLst>
            </p:cNvPr>
            <p:cNvSpPr/>
            <p:nvPr/>
          </p:nvSpPr>
          <p:spPr>
            <a:xfrm>
              <a:off x="9062157" y="2695500"/>
              <a:ext cx="2405262" cy="1569660"/>
            </a:xfrm>
            <a:prstGeom prst="rect">
              <a:avLst/>
            </a:prstGeom>
          </p:spPr>
          <p:txBody>
            <a:bodyPr wrap="square">
              <a:spAutoFit/>
            </a:bodyPr>
            <a:lstStyle/>
            <a:p>
              <a:r>
                <a:rPr lang="en-US" sz="1600" b="1" dirty="0">
                  <a:solidFill>
                    <a:schemeClr val="bg1"/>
                  </a:solidFill>
                  <a:latin typeface="Montserrat" panose="00000500000000000000" pitchFamily="2" charset="0"/>
                </a:rPr>
                <a:t>WE HAVE THE SOPHISTICATION AND INFRASTRUCTURE TO EFFECTIVELY COMPETE</a:t>
              </a:r>
            </a:p>
          </p:txBody>
        </p:sp>
      </p:grpSp>
      <p:cxnSp>
        <p:nvCxnSpPr>
          <p:cNvPr id="12"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1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17"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18"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19"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0"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584775"/>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sz="1600" dirty="0">
                <a:solidFill>
                  <a:schemeClr val="bg1"/>
                </a:solidFill>
                <a:latin typeface="Montserrat" panose="00000500000000000000" pitchFamily="2" charset="0"/>
                <a:cs typeface="Arial" panose="020B0604020202020204" pitchFamily="34" charset="0"/>
              </a:rPr>
              <a:t>Derek Moore, Senior Vice President – KBA</a:t>
            </a:r>
          </a:p>
          <a:p>
            <a:pPr algn="ctr"/>
            <a:r>
              <a:rPr lang="en-US" sz="1600" dirty="0">
                <a:solidFill>
                  <a:schemeClr val="bg1"/>
                </a:solidFill>
                <a:latin typeface="Montserrat" panose="00000500000000000000" pitchFamily="2"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Custom 3">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customXml/itemProps2.xml><?xml version="1.0" encoding="utf-8"?>
<ds:datastoreItem xmlns:ds="http://schemas.openxmlformats.org/officeDocument/2006/customXml" ds:itemID="{56F5604B-F201-4300-A086-2482203EA6BC}">
  <ds:schemaRefs>
    <ds:schemaRef ds:uri="http://schemas.microsoft.com/sharepoint/v3/contenttype/forms"/>
  </ds:schemaRefs>
</ds:datastoreItem>
</file>

<file path=customXml/itemProps3.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46232</TotalTime>
  <Words>1263</Words>
  <Application>Microsoft Office PowerPoint</Application>
  <PresentationFormat>Widescreen</PresentationFormat>
  <Paragraphs>459</Paragraphs>
  <Slides>13</Slides>
  <Notes>2</Notes>
  <HiddenSlides>0</HiddenSlides>
  <MMClips>0</MMClips>
  <ScaleCrop>false</ScaleCrop>
  <HeadingPairs>
    <vt:vector size="6" baseType="variant">
      <vt:variant>
        <vt:lpstr>Fonts Used</vt:lpstr>
      </vt:variant>
      <vt:variant>
        <vt:i4>3</vt:i4>
      </vt:variant>
      <vt:variant>
        <vt:lpstr>Theme</vt:lpstr>
      </vt:variant>
      <vt:variant>
        <vt:i4>4</vt:i4>
      </vt:variant>
      <vt:variant>
        <vt:lpstr>Slide Titles</vt:lpstr>
      </vt:variant>
      <vt:variant>
        <vt:i4>13</vt:i4>
      </vt:variant>
    </vt:vector>
  </HeadingPairs>
  <TitlesOfParts>
    <vt:vector size="20" baseType="lpstr">
      <vt:lpstr>Aptos Narrow</vt:lpstr>
      <vt:lpstr>Arial</vt:lpstr>
      <vt:lpstr>Montserrat</vt:lpstr>
      <vt:lpstr>Office Theme</vt:lpstr>
      <vt:lpstr>1_Office Theme</vt:lpstr>
      <vt:lpstr>2_Office Theme</vt:lpstr>
      <vt:lpstr>3_Office Theme</vt:lpstr>
      <vt:lpstr>PowerPoint Presentation</vt:lpstr>
      <vt:lpstr>PowerPoint Presentation</vt:lpstr>
      <vt:lpstr>PowerPoint Presentation</vt:lpstr>
      <vt:lpstr>DIRECT-TO-EMPLOYER (DTE)  </vt:lpstr>
      <vt:lpstr>SIGNIFICANT OPPORTUNITY FOR PLAN GROWTH Researched for the below highlighted service area</vt:lpstr>
      <vt:lpstr>PLAN POTENTIAL GROWTH PATHS</vt:lpstr>
      <vt:lpstr>GROWING POWERFUL, LASTING PROFITABILITY</vt:lpstr>
      <vt:lpstr>FOUR-YEAR PROJECTIONS</vt:lpstr>
      <vt:lpstr>DIRECT-TO-EMPLOYER STRATEGY: ONLY AVAILABLE TO PREMIER HEALTH SYSTEMS</vt:lpstr>
      <vt:lpstr>MCLEOD HEALTH IS PATIENT RECOMMENDED</vt:lpstr>
      <vt:lpstr>PROJECTED PLAN GROWTH</vt:lpstr>
      <vt:lpstr>PowerPoint Presentation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112</cp:revision>
  <cp:lastPrinted>2023-07-13T10:24:43Z</cp:lastPrinted>
  <dcterms:created xsi:type="dcterms:W3CDTF">2021-01-20T14:12:11Z</dcterms:created>
  <dcterms:modified xsi:type="dcterms:W3CDTF">2025-11-15T07:04:33Z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