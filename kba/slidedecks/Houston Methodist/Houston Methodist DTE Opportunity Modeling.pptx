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2145726874" r:id="rId12"/>
    <p:sldId id="549" r:id="rId13"/>
    <p:sldId id="2145726869" r:id="rId14"/>
    <p:sldId id="466" r:id="rId15"/>
    <p:sldId id="2145726867" r:id="rId16"/>
    <p:sldId id="559" r:id="rId17"/>
    <p:sldId id="580" r:id="rId18"/>
    <p:sldId id="582" r:id="rId19"/>
    <p:sldId id="558" r:id="rId20"/>
    <p:sldId id="548" r:id="rId21"/>
    <p:sldId id="521" r:id="rId22"/>
    <p:sldId id="564" r:id="rId23"/>
    <p:sldId id="2145726872" r:id="rId24"/>
    <p:sldId id="2145726911" r:id="rId25"/>
    <p:sldId id="499" r:id="rId26"/>
    <p:sldId id="613" r:id="rId27"/>
    <p:sldId id="458" r:id="rId28"/>
    <p:sldId id="2145726859" r:id="rId29"/>
    <p:sldId id="2145726857" r:id="rId30"/>
    <p:sldId id="469" r:id="rId31"/>
    <p:sldId id="2145726856" r:id="rId32"/>
    <p:sldId id="614" r:id="rId33"/>
    <p:sldId id="459" r:id="rId34"/>
    <p:sldId id="2145726870" r:id="rId35"/>
    <p:sldId id="281" r:id="rId36"/>
    <p:sldId id="2145726866" r:id="rId37"/>
    <p:sldId id="583" r:id="rId38"/>
    <p:sldId id="584"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AC843-A24A-421E-AE1F-DB447C71A92E}" v="3" dt="2025-11-15T06:55:03.329"/>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p:scale>
          <a:sx n="66" d="100"/>
          <a:sy n="66" d="100"/>
        </p:scale>
        <p:origin x="1133" y="461"/>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63"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7D0B6B51-DA5F-4021-8848-39BD0005AA08}"/>
    <pc:docChg chg="modSld">
      <pc:chgData name="Taylor Davis" userId="5c9e72a0-c39f-4aa1-9d7d-64125e78cbe6" providerId="ADAL" clId="{7D0B6B51-DA5F-4021-8848-39BD0005AA08}" dt="2025-11-15T06:55:59.817" v="31" actId="1037"/>
      <pc:docMkLst>
        <pc:docMk/>
      </pc:docMkLst>
      <pc:sldChg chg="modSp mod">
        <pc:chgData name="Taylor Davis" userId="5c9e72a0-c39f-4aa1-9d7d-64125e78cbe6" providerId="ADAL" clId="{7D0B6B51-DA5F-4021-8848-39BD0005AA08}" dt="2025-11-15T06:55:59.817" v="31" actId="1037"/>
        <pc:sldMkLst>
          <pc:docMk/>
          <pc:sldMk cId="1660060508" sldId="559"/>
        </pc:sldMkLst>
        <pc:spChg chg="mod">
          <ac:chgData name="Taylor Davis" userId="5c9e72a0-c39f-4aa1-9d7d-64125e78cbe6" providerId="ADAL" clId="{7D0B6B51-DA5F-4021-8848-39BD0005AA08}" dt="2025-11-15T06:55:59.817" v="31" actId="1037"/>
          <ac:spMkLst>
            <pc:docMk/>
            <pc:sldMk cId="1660060508" sldId="559"/>
            <ac:spMk id="4" creationId="{C9963971-9E27-D1D8-44A6-33EAA3782592}"/>
          </ac:spMkLst>
        </pc:spChg>
        <pc:graphicFrameChg chg="mod">
          <ac:chgData name="Taylor Davis" userId="5c9e72a0-c39f-4aa1-9d7d-64125e78cbe6" providerId="ADAL" clId="{7D0B6B51-DA5F-4021-8848-39BD0005AA08}" dt="2025-11-15T06:55:03.329" v="2"/>
          <ac:graphicFrameMkLst>
            <pc:docMk/>
            <pc:sldMk cId="1660060508" sldId="559"/>
            <ac:graphicFrameMk id="8" creationId="{B9E0A44D-EDC5-EBD5-4D77-F30FF46B060F}"/>
          </ac:graphicFrameMkLst>
        </pc:graphicFrameChg>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11/14/2025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25</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26</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11/14/2025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11/14/2025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11/14/2025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11/14/2025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11/14/2025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Houston Methodist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Meridian, MS</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2"/>
          <p:cNvPicPr>
            <a:picLocks/>
          </p:cNvPicPr>
          <p:nvPr/>
        </p:nvPicPr>
        <p:blipFill>
          <a:blip r:embed="rId3" cstate="print"/>
          <a:stretch>
            <a:fillRect/>
          </a:stretch>
        </p:blipFill>
        <p:spPr>
          <a:xfrm>
            <a:off x="8810001" y="86182"/>
            <a:ext cx="3071743" cy="112066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Houston Methodist</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38900" y="1329886"/>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9000+ Employers           1.4M</a:t>
            </a:r>
            <a:r>
              <a:rPr lang="en-US" sz="1600" spc="200" dirty="0">
                <a:latin typeface="Montserrat" panose="00000500000000000000" pitchFamily="2" charset="0"/>
                <a:cs typeface="+mj-cs"/>
                <a:sym typeface="Wingdings" panose="05000000000000000000" pitchFamily="2" charset="2"/>
              </a:rPr>
              <a:t>+ Employees       2.1M+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09970146"/>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4,642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2,085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1,448</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765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295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193</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348,200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312,800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434,400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535,500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590,000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1,158,000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626,800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563,000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781,900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963,900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1,062,000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2,084,400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1609344" y="1828800"/>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Houston Methodist service area in Austin, Brazoria, Chambers, Fort Bend, Galveston, Grimes, Harris, Liberty, Montgomery, San Jacinto, Walker, Waller, and Wharton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6,875K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4,139K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2,680K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1,498K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$192.73M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$52.9M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$1149.79M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$316.28M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$2359.83M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$648.88M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Houston Methodist has 22% inpatient market share, and 13% outpatient market compared to hospitals/clinics in the Houston Methodist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Houston Methodist 34%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22.2%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27.2%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32.2%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54,800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17,015.0K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33,880.6K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63,067.1K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101,327.9K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16,818.2K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33,965.8K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63,323.9K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101,805.5K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22,533.4K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45,225.3K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84,205.0K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135,165.6K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583.2K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877.2K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22,379.8K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45,399.3K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84,608.2K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135,862.8K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11,343.3K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42,102.5K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67,490.3K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11,102.1K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22,532.4K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42,214.1K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67,748.3K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204635"/>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HOUSTON METHODIST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Houston Methodist has the strongest brand quality in Austin, Brazoria, Chambers, Fort Bend, Galveston, Grimes, Harris, Liberty, Montgomery, San Jacinto, Walker, Waller, and Wharton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306104771"/>
              </p:ext>
            </p:extLst>
          </p:nvPr>
        </p:nvGraphicFramePr>
        <p:xfrm>
          <a:off x="420624" y="1546575"/>
          <a:ext cx="8381359" cy="4725288"/>
        </p:xfrm>
        <a:graphic>
          <a:graphicData uri="http://schemas.openxmlformats.org/drawingml/2006/table">
            <a:tbl>
              <a:tblPr/>
              <a:tblGrid>
                <a:gridCol w="2768757">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Houston Methodist</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F71A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45B9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583B4">
                        <a:alpha val="100000"/>
                      </a:srgbClr>
                    </a:solidFill>
                  </a:tcPr>
                </a:tc>
                <a:extLst>
                  <a:ext uri="{0D108BD9-81ED-4DB2-BD59-A6C34878D82A}">
                    <a16:rowId xmlns:a16="http://schemas.microsoft.com/office/drawing/2014/main" val="10001"/>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8B8D4">
                        <a:alpha val="100000"/>
                      </a:srgbClr>
                    </a:solidFill>
                  </a:tcPr>
                </a:tc>
                <a:tc>
                  <a:txBody>
                    <a:bodyPr/>
                    <a:lstStyle/>
                    <a:p>
                      <a:pPr marL="63500" marR="63500" algn="ctr">
                        <a:lnSpc>
                          <a:spcPct val="100000"/>
                        </a:lnSpc>
                        <a:spcBef>
                          <a:spcPts val="500"/>
                        </a:spcBef>
                        <a:spcAft>
                          <a:spcPts val="500"/>
                        </a:spcAft>
                        <a:buNone/>
                      </a:pPr>
                      <a:endParaRPr sz="1100" b="0" i="0" u="none" cap="none">
                        <a:solidFill>
                          <a:srgbClr val="000000">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Harris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3"/>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Memorial Hermann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4"/>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5"/>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6"/>
                  </a:ext>
                </a:extLst>
              </a:tr>
              <a:tr h="391947">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OakBend Medical Center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07"/>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9E0E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08"/>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Community Hospital Corporation</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2E7F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09"/>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Healthcare Systems of America</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Houston Methodist’s approved site(s) with network integration, and development of Houston Methodist’s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2,796K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436K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$ 2,365K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7,956K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$ 1,203K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$ 5,912K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$ 19,891K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$ 13,979K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$ 5,410K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$ 3,802K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$ 3,502K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$23,650K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$ 6,433K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$ 79,564K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$ 55,915K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$21,642K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$15,209K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$14,999K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$47,299K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$12,865K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$159,129K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$111,830K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$43,283K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$30,418K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$30,328K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Houston Methodist’s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Houston Methodist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Houston Methodist’s managed care with KBA’s programs positions Houston Methodist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Houston Methodist’s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Houston Methodist’s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Houston Methodist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25</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26</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Houston Methodist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HOUSTON METHODIST</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HOUSTON METHODIST’S 2023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Houston Methodist</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727,010</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$7,033,361K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190,183</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$1,023,480K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27%</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65,625</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$217,609K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9%</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35,258</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-$338,471K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435,944</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$5,786,104K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60%</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43191" y="166345"/>
            <a:ext cx="11110611" cy="1325563"/>
          </a:xfrm>
        </p:spPr>
        <p:txBody>
          <a:bodyPr/>
          <a:lstStyle/>
          <a:p>
            <a:r>
              <a:rPr lang="en-US" dirty="0">
                <a:latin typeface="Montserrat" panose="00000500000000000000" pitchFamily="2" charset="0"/>
                <a:cs typeface="Arial" panose="020B0604020202020204" pitchFamily="34" charset="0"/>
              </a:rPr>
              <a:t>ESTIMATION OF MARGIN FOR </a:t>
            </a:r>
            <a:br>
              <a:rPr lang="en-US" dirty="0">
                <a:latin typeface="Montserrat" panose="00000500000000000000" pitchFamily="2" charset="0"/>
                <a:cs typeface="Arial" panose="020B0604020202020204" pitchFamily="34" charset="0"/>
              </a:rPr>
            </a:br>
            <a:r>
              <a:rPr lang="en-US" dirty="0">
                <a:latin typeface="Montserrat" panose="00000500000000000000" pitchFamily="2" charset="0"/>
                <a:cs typeface="Arial" panose="020B0604020202020204" pitchFamily="34" charset="0"/>
              </a:rPr>
              <a:t>COMMERCIAL VS. GOVERNMENT PAY</a:t>
            </a:r>
          </a:p>
        </p:txBody>
      </p:sp>
      <p:sp>
        <p:nvSpPr>
          <p:cNvPr id="3" name="Content Placeholder 2">
            <a:extLst>
              <a:ext uri="{FF2B5EF4-FFF2-40B4-BE49-F238E27FC236}">
                <a16:creationId xmlns:a16="http://schemas.microsoft.com/office/drawing/2014/main" id="{18BFBD36-1E96-1E59-E3A7-CCEF02D0CF96}"/>
              </a:ext>
            </a:extLst>
          </p:cNvPr>
          <p:cNvSpPr txBox="1">
            <a:spLocks/>
          </p:cNvSpPr>
          <p:nvPr/>
        </p:nvSpPr>
        <p:spPr>
          <a:xfrm>
            <a:off x="838200" y="2900636"/>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4" name="TextBox 7">
            <a:extLst>
              <a:ext uri="{FF2B5EF4-FFF2-40B4-BE49-F238E27FC236}">
                <a16:creationId xmlns:a16="http://schemas.microsoft.com/office/drawing/2014/main" id="{85163DF1-EB5C-1C3C-A93D-5F16CEEC2B92}"/>
              </a:ext>
            </a:extLst>
          </p:cNvPr>
          <p:cNvSpPr txBox="1"/>
          <p:nvPr/>
        </p:nvSpPr>
        <p:spPr>
          <a:xfrm>
            <a:off x="838199" y="1486335"/>
            <a:ext cx="4742179"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5" name="TextBox 8">
            <a:extLst>
              <a:ext uri="{FF2B5EF4-FFF2-40B4-BE49-F238E27FC236}">
                <a16:creationId xmlns:a16="http://schemas.microsoft.com/office/drawing/2014/main" id="{020B90EA-11B9-6E81-60B7-F3AFEA7FC5A7}"/>
              </a:ext>
            </a:extLst>
          </p:cNvPr>
          <p:cNvSpPr txBox="1"/>
          <p:nvPr/>
        </p:nvSpPr>
        <p:spPr>
          <a:xfrm>
            <a:off x="6827522" y="1486335"/>
            <a:ext cx="4358640"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6"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558318255"/>
              </p:ext>
            </p:extLst>
          </p:nvPr>
        </p:nvGraphicFramePr>
        <p:xfrm>
          <a:off x="964071" y="2952518"/>
          <a:ext cx="4994602" cy="2021840"/>
        </p:xfrm>
        <a:graphic>
          <a:graphicData uri="http://schemas.openxmlformats.org/drawingml/2006/table">
            <a:tbl>
              <a:tblPr bandRow="1">
                <a:tableStyleId>{2D5ABB26-0587-4C30-8999-92F81FD0307C}</a:tableStyleId>
              </a:tblPr>
              <a:tblGrid>
                <a:gridCol w="3106554">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9,706,057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6,361,486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$3,344,571K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7"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535693315"/>
              </p:ext>
            </p:extLst>
          </p:nvPr>
        </p:nvGraphicFramePr>
        <p:xfrm>
          <a:off x="6827521" y="2947438"/>
          <a:ext cx="4994601" cy="2026920"/>
        </p:xfrm>
        <a:graphic>
          <a:graphicData uri="http://schemas.openxmlformats.org/drawingml/2006/table">
            <a:tbl>
              <a:tblPr bandRow="1">
                <a:tableStyleId>{2D5ABB26-0587-4C30-8999-92F81FD0307C}</a:tableStyleId>
              </a:tblPr>
              <a:tblGrid>
                <a:gridCol w="3106553">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3,084,640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6,361,486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-3,276,846</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-106%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8" name="TextBox 12">
            <a:extLst>
              <a:ext uri="{FF2B5EF4-FFF2-40B4-BE49-F238E27FC236}">
                <a16:creationId xmlns:a16="http://schemas.microsoft.com/office/drawing/2014/main" id="{879CF531-03B5-98C7-7BF8-469C9D55F9E4}"/>
              </a:ext>
            </a:extLst>
          </p:cNvPr>
          <p:cNvSpPr txBox="1"/>
          <p:nvPr/>
        </p:nvSpPr>
        <p:spPr>
          <a:xfrm>
            <a:off x="1043940" y="5245372"/>
            <a:ext cx="4398148"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commercial revenue by the current commercial inpatient day payer mix.  </a:t>
            </a:r>
          </a:p>
        </p:txBody>
      </p:sp>
      <p:sp>
        <p:nvSpPr>
          <p:cNvPr id="9" name="TextBox 13">
            <a:extLst>
              <a:ext uri="{FF2B5EF4-FFF2-40B4-BE49-F238E27FC236}">
                <a16:creationId xmlns:a16="http://schemas.microsoft.com/office/drawing/2014/main" id="{5FAEC66D-2C5F-1BA4-6070-07C2BC7D18E6}"/>
              </a:ext>
            </a:extLst>
          </p:cNvPr>
          <p:cNvSpPr txBox="1"/>
          <p:nvPr/>
        </p:nvSpPr>
        <p:spPr>
          <a:xfrm>
            <a:off x="6827522" y="5244982"/>
            <a:ext cx="4114800"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gov-pay revenue by the current gov-pay inpatient day payer mix.  </a:t>
            </a:r>
          </a:p>
        </p:txBody>
      </p:sp>
      <p:pic>
        <p:nvPicPr>
          <p:cNvPr id="10" name="Picture 2">
            <a:extLst>
              <a:ext uri="{FF2B5EF4-FFF2-40B4-BE49-F238E27FC236}">
                <a16:creationId xmlns:a16="http://schemas.microsoft.com/office/drawing/2014/main" id="{25A167A4-5C97-27E1-FBEE-8922D71233A8}"/>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07EB3B47-BC36-6F8F-B527-35236149E2A8}"/>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18341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22%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13%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3610729504"/>
              </p:ext>
            </p:extLst>
          </p:nvPr>
        </p:nvGraphicFramePr>
        <p:xfrm>
          <a:off x="265176" y="914400"/>
          <a:ext cx="9829800" cy="5208607"/>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1849553">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37322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Houston Methodist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1,000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$8,780,186.6K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$6,973,454.8K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7322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Houston Methodist Baytown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$1,634,217.0K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$1,815,147.3K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37322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Houston Methodist Clear Lake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178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670,935.6K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$1,548,524.9K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37322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Houston Methodist Sugar Land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$2,179,321.1K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$3,031,061.8K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49763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Houston Methodist Willowbrook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346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$2,335,114.2K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$2,570,691.6K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49763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Houston Methodist Continuing Care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145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393,126.4K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3,706.2K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37322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Houston Methodist West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270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$1,480,696.4K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$2,467,523.6K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49763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Houston Methodist the Woodlands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292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$1,809,487.2K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$2,588,664.1K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635270648"/>
              </p:ext>
            </p:extLst>
          </p:nvPr>
        </p:nvGraphicFramePr>
        <p:xfrm>
          <a:off x="0" y="0"/>
          <a:ext cx="12191999" cy="6858003"/>
        </p:xfrm>
        <a:graphic>
          <a:graphicData uri="http://schemas.openxmlformats.org/drawingml/2006/table">
            <a:tbl>
              <a:tblPr/>
              <a:tblGrid>
                <a:gridCol w="1534630">
                  <a:extLst>
                    <a:ext uri="{9D8B030D-6E8A-4147-A177-3AD203B41FA5}">
                      <a16:colId xmlns:a16="http://schemas.microsoft.com/office/drawing/2014/main" val="20000"/>
                    </a:ext>
                  </a:extLst>
                </a:gridCol>
                <a:gridCol w="999257">
                  <a:extLst>
                    <a:ext uri="{9D8B030D-6E8A-4147-A177-3AD203B41FA5}">
                      <a16:colId xmlns:a16="http://schemas.microsoft.com/office/drawing/2014/main" val="20001"/>
                    </a:ext>
                  </a:extLst>
                </a:gridCol>
                <a:gridCol w="1295597">
                  <a:extLst>
                    <a:ext uri="{9D8B030D-6E8A-4147-A177-3AD203B41FA5}">
                      <a16:colId xmlns:a16="http://schemas.microsoft.com/office/drawing/2014/main" val="20002"/>
                    </a:ext>
                  </a:extLst>
                </a:gridCol>
                <a:gridCol w="1355040">
                  <a:extLst>
                    <a:ext uri="{9D8B030D-6E8A-4147-A177-3AD203B41FA5}">
                      <a16:colId xmlns:a16="http://schemas.microsoft.com/office/drawing/2014/main" val="20003"/>
                    </a:ext>
                  </a:extLst>
                </a:gridCol>
                <a:gridCol w="1384502">
                  <a:extLst>
                    <a:ext uri="{9D8B030D-6E8A-4147-A177-3AD203B41FA5}">
                      <a16:colId xmlns:a16="http://schemas.microsoft.com/office/drawing/2014/main" val="20004"/>
                    </a:ext>
                  </a:extLst>
                </a:gridCol>
                <a:gridCol w="1414061">
                  <a:extLst>
                    <a:ext uri="{9D8B030D-6E8A-4147-A177-3AD203B41FA5}">
                      <a16:colId xmlns:a16="http://schemas.microsoft.com/office/drawing/2014/main" val="20005"/>
                    </a:ext>
                  </a:extLst>
                </a:gridCol>
                <a:gridCol w="1536301">
                  <a:extLst>
                    <a:ext uri="{9D8B030D-6E8A-4147-A177-3AD203B41FA5}">
                      <a16:colId xmlns:a16="http://schemas.microsoft.com/office/drawing/2014/main" val="20006"/>
                    </a:ext>
                  </a:extLst>
                </a:gridCol>
                <a:gridCol w="1177068">
                  <a:extLst>
                    <a:ext uri="{9D8B030D-6E8A-4147-A177-3AD203B41FA5}">
                      <a16:colId xmlns:a16="http://schemas.microsoft.com/office/drawing/2014/main" val="20007"/>
                    </a:ext>
                  </a:extLst>
                </a:gridCol>
                <a:gridCol w="1495543">
                  <a:extLst>
                    <a:ext uri="{9D8B030D-6E8A-4147-A177-3AD203B41FA5}">
                      <a16:colId xmlns:a16="http://schemas.microsoft.com/office/drawing/2014/main" val="20008"/>
                    </a:ext>
                  </a:extLst>
                </a:gridCol>
              </a:tblGrid>
              <a:tr h="372580">
                <a:tc gridSpan="9">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841172">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Houston Methodist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Houston Methodist Baytown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Houston Methodist Clear Lake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Houston Methodist Sugar Land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Houston Methodist Willowbrook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Houston Methodist Continuing Care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Houston Methodist West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Houston Methodist the Woodlands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2326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$1,729,697K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$235,327K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$104,666K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$353,050K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$373,618K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$69,190K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$251,718K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$294,946K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42326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$1,373,771K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$261,381K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$241,570K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$491,032K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$411,311K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$419,479K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$421,952K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5218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$510,799K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$59,443K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$39,970K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$116,408K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$96,692K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$19,166K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$78,657K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$102,346K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56792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$56,098K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$44,349K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$13,070K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$20,492K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$43,227K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$27,865K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$12,358K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2326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$2,533,844K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$391,610K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$293,808K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$705,240K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$645,759K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$50,423K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$564,036K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$601,384K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2326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$84,782K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$49,832K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$18,018K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$39,588K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$61,772K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$4,054K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$46,139K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$34,285K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42326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$1,616,502K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$215,529K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$92,163K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$307,195K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$346,219K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$91,883K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$208,719K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$242,826K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42326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$1,283,869K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$239,391K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$212,712K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$427,255K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$381,147K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$347,822K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$347,388K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42326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$2,900,371K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$454,920K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$304,875K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$734,450K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$727,366K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$92,749K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$556,541K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$590,214K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52187">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$200,369K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$40,482K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$41,972K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$107,690K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$58,311K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$-23,010K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$114,017K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$125,874K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423265">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31.9%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35.8%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38.9%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37.5%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32.3%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-31.5%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39.5%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40.8%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46458">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46458">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46458">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46458">
                <a:tc gridSpan="9">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Houston Methodist has 22% inpatient market share, and 13% outpatient market compared to hospitals/clinics in the Houston Methodist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Houston Methodist.</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297050848"/>
              </p:ext>
            </p:extLst>
          </p:nvPr>
        </p:nvGraphicFramePr>
        <p:xfrm>
          <a:off x="390844" y="867508"/>
          <a:ext cx="7646730" cy="5127905"/>
        </p:xfrm>
        <a:graphic>
          <a:graphicData uri="http://schemas.openxmlformats.org/drawingml/2006/table">
            <a:tbl>
              <a:tblPr/>
              <a:tblGrid>
                <a:gridCol w="1529346">
                  <a:extLst>
                    <a:ext uri="{9D8B030D-6E8A-4147-A177-3AD203B41FA5}">
                      <a16:colId xmlns:a16="http://schemas.microsoft.com/office/drawing/2014/main" val="20000"/>
                    </a:ext>
                  </a:extLst>
                </a:gridCol>
                <a:gridCol w="1529346">
                  <a:extLst>
                    <a:ext uri="{9D8B030D-6E8A-4147-A177-3AD203B41FA5}">
                      <a16:colId xmlns:a16="http://schemas.microsoft.com/office/drawing/2014/main" val="20001"/>
                    </a:ext>
                  </a:extLst>
                </a:gridCol>
                <a:gridCol w="1529346">
                  <a:extLst>
                    <a:ext uri="{9D8B030D-6E8A-4147-A177-3AD203B41FA5}">
                      <a16:colId xmlns:a16="http://schemas.microsoft.com/office/drawing/2014/main" val="20002"/>
                    </a:ext>
                  </a:extLst>
                </a:gridCol>
                <a:gridCol w="1529346">
                  <a:extLst>
                    <a:ext uri="{9D8B030D-6E8A-4147-A177-3AD203B41FA5}">
                      <a16:colId xmlns:a16="http://schemas.microsoft.com/office/drawing/2014/main" val="20003"/>
                    </a:ext>
                  </a:extLst>
                </a:gridCol>
                <a:gridCol w="1529346">
                  <a:extLst>
                    <a:ext uri="{9D8B030D-6E8A-4147-A177-3AD203B41FA5}">
                      <a16:colId xmlns:a16="http://schemas.microsoft.com/office/drawing/2014/main" val="20004"/>
                    </a:ext>
                  </a:extLst>
                </a:gridCol>
              </a:tblGrid>
              <a:tr h="79446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Houston Methodist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Houston Methodist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526,900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54,800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$ 50,705,828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$ 53,779,284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$ 25,114,468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$ 129,599,580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$ 13,791,985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$ 14,627,965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$ 6,831,135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$ 35,251,086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$ 100,670,337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$ 657,600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$ 100,675,137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$ 101,147,937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$ 151,397,878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$ 237,433,710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$ 110,879,524</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$ 499,711,113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$ 41,180,223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$ 64,581,969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$ 30,159,231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$ 135,921,423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22% (inpatient) and 13%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27.2%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27.2%,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27108373"/>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$23,132.2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$6,292.0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$1,234.6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$2,469.1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$12,345.5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$61,727.6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$16,789.9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$7,719.1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$38,595.4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$2,099.6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$10,497.9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$490.7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$981.4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$4,906.9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$24,534.3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$1,334.7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$6,673.3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$3,740.5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$18,702.7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$93,513.4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$5,087.1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$25,435.6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$1,379.6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$13,795.8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$68,979.0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$750.5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$3,752.5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$18,762.3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$458.3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$2,291.5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$11,457.3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$3,116.4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$8,734.0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$43,670.0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$2,375.6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$11,878.2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$644.3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$6,442.5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$32,212.6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$1,752.4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$8,761.8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$436.4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$1,202.9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$7,334.4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$37,992.1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47351918"/>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$2,365.0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$11,824.8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$59,123.9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$7,956.4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$39,782.2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$198,911.0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$2,795.7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$5,591.5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$27,957.4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$139,787.1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$2,164.2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$10,820.8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$54,103.8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$1,520.9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$7,604.4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$38,022.1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$436.4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$1,202.9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$7,334.4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$37,992.1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5878562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$2,365.0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$11,824.8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$59,123.9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$4,733.2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$47,331.7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$236,658.5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$3,550.7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$7,101.4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$35,506.9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$177,534.6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$1,524.1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$3,048.2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$15,240.8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$76,204.0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$12,024.5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$60,122.3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$878.4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$2,086.9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$11,754.5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$60,092.3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80628709"/>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$2,365.0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$11,824.8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$59,123.9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$3,224.3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$6,448.7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$32,243.3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$161,216.5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$2,041.9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$4,083.7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$20,418.5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$102,092.6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$35,790.1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$19,708.4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$470.3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$3,671.7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$19,678.4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68799" y="2389219"/>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Houston Methodist’s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Houston Methodist</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Houston Methodist</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Houston Methodist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Houston Methodist</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Houston Methodist’s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46224</TotalTime>
  <Words>5308</Words>
  <Application>Microsoft Office PowerPoint</Application>
  <PresentationFormat>Widescreen</PresentationFormat>
  <Paragraphs>1384</Paragraphs>
  <Slides>44</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44</vt:i4>
      </vt:variant>
    </vt:vector>
  </HeadingPairs>
  <TitlesOfParts>
    <vt:vector size="58"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HOUSTON METHODIST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HOUSTON METHODIST’S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2025-11-15T06:56:05Z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