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</p:sldMasterIdLst>
  <p:notesMasterIdLst>
    <p:notesMasterId r:id="rId35"/>
  </p:notesMasterIdLst>
  <p:sldIdLst>
    <p:sldId id="588" r:id="rId6"/>
    <p:sldId id="454" r:id="rId7"/>
    <p:sldId id="549" r:id="rId8"/>
    <p:sldId id="285" r:id="rId9"/>
    <p:sldId id="466" r:id="rId10"/>
    <p:sldId id="2145726856" r:id="rId11"/>
    <p:sldId id="2145726880" r:id="rId12"/>
    <p:sldId id="2145726868" r:id="rId13"/>
    <p:sldId id="589" r:id="rId14"/>
    <p:sldId id="2145726871" r:id="rId15"/>
    <p:sldId id="2145726891" r:id="rId16"/>
    <p:sldId id="2145726890" r:id="rId17"/>
    <p:sldId id="2145726892" r:id="rId18"/>
    <p:sldId id="2145726881" r:id="rId19"/>
    <p:sldId id="559" r:id="rId20"/>
    <p:sldId id="585" r:id="rId21"/>
    <p:sldId id="582" r:id="rId22"/>
    <p:sldId id="536" r:id="rId23"/>
    <p:sldId id="2145726882" r:id="rId24"/>
    <p:sldId id="2145726876" r:id="rId25"/>
    <p:sldId id="564" r:id="rId26"/>
    <p:sldId id="2145726884" r:id="rId27"/>
    <p:sldId id="548" r:id="rId28"/>
    <p:sldId id="2145726885" r:id="rId29"/>
    <p:sldId id="2145726888" r:id="rId30"/>
    <p:sldId id="2145726886" r:id="rId31"/>
    <p:sldId id="2145726887" r:id="rId32"/>
    <p:sldId id="2145726889" r:id="rId33"/>
    <p:sldId id="2145726883" r:id="rId34"/>
  </p:sldIdLst>
  <p:sldSz cx="12192000" cy="6858000"/>
  <p:notesSz cx="7315200" cy="9601200"/>
  <p:custDataLst>
    <p:tags r:id="rId3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AA79"/>
    <a:srgbClr val="00539F"/>
    <a:srgbClr val="1C4399"/>
    <a:srgbClr val="F2F4F9"/>
    <a:srgbClr val="E66C79"/>
    <a:srgbClr val="244F9A"/>
    <a:srgbClr val="30589B"/>
    <a:srgbClr val="2F5597"/>
    <a:srgbClr val="6087CE"/>
    <a:srgbClr val="4468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EA69A-FF7C-425B-9E5A-8D2C2A2F5EB7}" v="5" dt="2025-02-14T00:20:04.949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88609" autoAdjust="0"/>
  </p:normalViewPr>
  <p:slideViewPr>
    <p:cSldViewPr snapToGrid="0">
      <p:cViewPr varScale="1">
        <p:scale>
          <a:sx n="98" d="100"/>
          <a:sy n="98" d="100"/>
        </p:scale>
        <p:origin x="82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1C8EA69A-FF7C-425B-9E5A-8D2C2A2F5EB7}"/>
    <pc:docChg chg="undo custSel addSld delSld modSld sldOrd">
      <pc:chgData name="Taylor Davis" userId="5c9e72a0-c39f-4aa1-9d7d-64125e78cbe6" providerId="ADAL" clId="{1C8EA69A-FF7C-425B-9E5A-8D2C2A2F5EB7}" dt="2025-02-14T17:42:46.034" v="633" actId="478"/>
      <pc:docMkLst>
        <pc:docMk/>
      </pc:docMkLst>
      <pc:sldChg chg="modSp add mod ord">
        <pc:chgData name="Taylor Davis" userId="5c9e72a0-c39f-4aa1-9d7d-64125e78cbe6" providerId="ADAL" clId="{1C8EA69A-FF7C-425B-9E5A-8D2C2A2F5EB7}" dt="2025-02-14T00:24:21.513" v="628" actId="20577"/>
        <pc:sldMkLst>
          <pc:docMk/>
          <pc:sldMk cId="514031403" sldId="285"/>
        </pc:sldMkLst>
        <pc:spChg chg="mod">
          <ac:chgData name="Taylor Davis" userId="5c9e72a0-c39f-4aa1-9d7d-64125e78cbe6" providerId="ADAL" clId="{1C8EA69A-FF7C-425B-9E5A-8D2C2A2F5EB7}" dt="2025-02-14T00:22:52.240" v="575" actId="27636"/>
          <ac:spMkLst>
            <pc:docMk/>
            <pc:sldMk cId="514031403" sldId="285"/>
            <ac:spMk id="3" creationId="{DD2743DB-6003-F77F-2D46-16EC76C23EA4}"/>
          </ac:spMkLst>
        </pc:spChg>
        <pc:spChg chg="mod">
          <ac:chgData name="Taylor Davis" userId="5c9e72a0-c39f-4aa1-9d7d-64125e78cbe6" providerId="ADAL" clId="{1C8EA69A-FF7C-425B-9E5A-8D2C2A2F5EB7}" dt="2025-02-14T00:24:21.513" v="628" actId="20577"/>
          <ac:spMkLst>
            <pc:docMk/>
            <pc:sldMk cId="514031403" sldId="285"/>
            <ac:spMk id="11" creationId="{4D269B07-A1ED-07AD-3675-D58BFB1D18D7}"/>
          </ac:spMkLst>
        </pc:spChg>
      </pc:sldChg>
      <pc:sldChg chg="modSp mod">
        <pc:chgData name="Taylor Davis" userId="5c9e72a0-c39f-4aa1-9d7d-64125e78cbe6" providerId="ADAL" clId="{1C8EA69A-FF7C-425B-9E5A-8D2C2A2F5EB7}" dt="2025-02-14T00:23:33.297" v="584" actId="1076"/>
        <pc:sldMkLst>
          <pc:docMk/>
          <pc:sldMk cId="1714126014" sldId="466"/>
        </pc:sldMkLst>
        <pc:spChg chg="mod">
          <ac:chgData name="Taylor Davis" userId="5c9e72a0-c39f-4aa1-9d7d-64125e78cbe6" providerId="ADAL" clId="{1C8EA69A-FF7C-425B-9E5A-8D2C2A2F5EB7}" dt="2025-02-14T00:23:33.297" v="584" actId="1076"/>
          <ac:spMkLst>
            <pc:docMk/>
            <pc:sldMk cId="1714126014" sldId="466"/>
            <ac:spMk id="3" creationId="{2A856662-DB6E-45A6-97AD-3C04EB8973D1}"/>
          </ac:spMkLst>
        </pc:spChg>
        <pc:spChg chg="mod">
          <ac:chgData name="Taylor Davis" userId="5c9e72a0-c39f-4aa1-9d7d-64125e78cbe6" providerId="ADAL" clId="{1C8EA69A-FF7C-425B-9E5A-8D2C2A2F5EB7}" dt="2025-02-14T00:23:23.576" v="581" actId="1076"/>
          <ac:spMkLst>
            <pc:docMk/>
            <pc:sldMk cId="1714126014" sldId="466"/>
            <ac:spMk id="6" creationId="{FE58BE34-132B-41A8-8534-03C951FA73B1}"/>
          </ac:spMkLst>
        </pc:spChg>
      </pc:sldChg>
      <pc:sldChg chg="addSp delSp modSp mod">
        <pc:chgData name="Taylor Davis" userId="5c9e72a0-c39f-4aa1-9d7d-64125e78cbe6" providerId="ADAL" clId="{1C8EA69A-FF7C-425B-9E5A-8D2C2A2F5EB7}" dt="2025-02-14T17:42:46.034" v="633" actId="478"/>
        <pc:sldMkLst>
          <pc:docMk/>
          <pc:sldMk cId="256506475" sldId="589"/>
        </pc:sldMkLst>
        <pc:spChg chg="mod">
          <ac:chgData name="Taylor Davis" userId="5c9e72a0-c39f-4aa1-9d7d-64125e78cbe6" providerId="ADAL" clId="{1C8EA69A-FF7C-425B-9E5A-8D2C2A2F5EB7}" dt="2025-02-14T00:01:19.546" v="116" actId="20577"/>
          <ac:spMkLst>
            <pc:docMk/>
            <pc:sldMk cId="256506475" sldId="589"/>
            <ac:spMk id="3" creationId="{0BF3A543-D9F9-5D88-4F01-A11C2F7883CA}"/>
          </ac:spMkLst>
        </pc:spChg>
        <pc:spChg chg="add del mod">
          <ac:chgData name="Taylor Davis" userId="5c9e72a0-c39f-4aa1-9d7d-64125e78cbe6" providerId="ADAL" clId="{1C8EA69A-FF7C-425B-9E5A-8D2C2A2F5EB7}" dt="2025-02-14T17:42:46.034" v="633" actId="478"/>
          <ac:spMkLst>
            <pc:docMk/>
            <pc:sldMk cId="256506475" sldId="589"/>
            <ac:spMk id="6" creationId="{0EB4C506-8ABB-DE7D-9F89-BC9138A5D064}"/>
          </ac:spMkLst>
        </pc:spChg>
      </pc:sldChg>
      <pc:sldChg chg="del">
        <pc:chgData name="Taylor Davis" userId="5c9e72a0-c39f-4aa1-9d7d-64125e78cbe6" providerId="ADAL" clId="{1C8EA69A-FF7C-425B-9E5A-8D2C2A2F5EB7}" dt="2025-02-14T00:17:08.294" v="117" actId="47"/>
        <pc:sldMkLst>
          <pc:docMk/>
          <pc:sldMk cId="72709568" sldId="2145726872"/>
        </pc:sldMkLst>
      </pc:sldChg>
      <pc:sldChg chg="modSp del mod">
        <pc:chgData name="Taylor Davis" userId="5c9e72a0-c39f-4aa1-9d7d-64125e78cbe6" providerId="ADAL" clId="{1C8EA69A-FF7C-425B-9E5A-8D2C2A2F5EB7}" dt="2025-02-14T00:17:54.620" v="123" actId="47"/>
        <pc:sldMkLst>
          <pc:docMk/>
          <pc:sldMk cId="3812500186" sldId="2145726873"/>
        </pc:sldMkLst>
        <pc:graphicFrameChg chg="mod modGraphic">
          <ac:chgData name="Taylor Davis" userId="5c9e72a0-c39f-4aa1-9d7d-64125e78cbe6" providerId="ADAL" clId="{1C8EA69A-FF7C-425B-9E5A-8D2C2A2F5EB7}" dt="2025-02-14T00:17:49.146" v="122" actId="14100"/>
          <ac:graphicFrameMkLst>
            <pc:docMk/>
            <pc:sldMk cId="3812500186" sldId="2145726873"/>
            <ac:graphicFrameMk id="6" creationId="{00000000-0000-0000-0000-000000000000}"/>
          </ac:graphicFrameMkLst>
        </pc:graphicFrameChg>
      </pc:sldChg>
      <pc:sldChg chg="del">
        <pc:chgData name="Taylor Davis" userId="5c9e72a0-c39f-4aa1-9d7d-64125e78cbe6" providerId="ADAL" clId="{1C8EA69A-FF7C-425B-9E5A-8D2C2A2F5EB7}" dt="2025-02-14T00:18:51.430" v="187" actId="47"/>
        <pc:sldMkLst>
          <pc:docMk/>
          <pc:sldMk cId="4125055644" sldId="2145726874"/>
        </pc:sldMkLst>
      </pc:sldChg>
      <pc:sldChg chg="modSp mod">
        <pc:chgData name="Taylor Davis" userId="5c9e72a0-c39f-4aa1-9d7d-64125e78cbe6" providerId="ADAL" clId="{1C8EA69A-FF7C-425B-9E5A-8D2C2A2F5EB7}" dt="2025-02-13T23:19:27.487" v="34" actId="20577"/>
        <pc:sldMkLst>
          <pc:docMk/>
          <pc:sldMk cId="1836957832" sldId="2145726881"/>
        </pc:sldMkLst>
        <pc:spChg chg="mod">
          <ac:chgData name="Taylor Davis" userId="5c9e72a0-c39f-4aa1-9d7d-64125e78cbe6" providerId="ADAL" clId="{1C8EA69A-FF7C-425B-9E5A-8D2C2A2F5EB7}" dt="2025-02-13T23:19:27.487" v="34" actId="20577"/>
          <ac:spMkLst>
            <pc:docMk/>
            <pc:sldMk cId="1836957832" sldId="2145726881"/>
            <ac:spMk id="3" creationId="{D3AE137D-5341-91A4-F79F-D7AC03BC9458}"/>
          </ac:spMkLst>
        </pc:spChg>
      </pc:sldChg>
      <pc:sldChg chg="add">
        <pc:chgData name="Taylor Davis" userId="5c9e72a0-c39f-4aa1-9d7d-64125e78cbe6" providerId="ADAL" clId="{1C8EA69A-FF7C-425B-9E5A-8D2C2A2F5EB7}" dt="2025-02-14T00:17:12.120" v="118"/>
        <pc:sldMkLst>
          <pc:docMk/>
          <pc:sldMk cId="1051870619" sldId="2145726890"/>
        </pc:sldMkLst>
      </pc:sldChg>
      <pc:sldChg chg="addSp delSp modSp add mod">
        <pc:chgData name="Taylor Davis" userId="5c9e72a0-c39f-4aa1-9d7d-64125e78cbe6" providerId="ADAL" clId="{1C8EA69A-FF7C-425B-9E5A-8D2C2A2F5EB7}" dt="2025-02-14T00:18:27.630" v="185" actId="20577"/>
        <pc:sldMkLst>
          <pc:docMk/>
          <pc:sldMk cId="1311995887" sldId="2145726891"/>
        </pc:sldMkLst>
        <pc:spChg chg="del">
          <ac:chgData name="Taylor Davis" userId="5c9e72a0-c39f-4aa1-9d7d-64125e78cbe6" providerId="ADAL" clId="{1C8EA69A-FF7C-425B-9E5A-8D2C2A2F5EB7}" dt="2025-02-14T00:17:39.555" v="120" actId="478"/>
          <ac:spMkLst>
            <pc:docMk/>
            <pc:sldMk cId="1311995887" sldId="2145726891"/>
            <ac:spMk id="2" creationId="{E799F91A-3FD1-47AB-858A-263DC729BC42}"/>
          </ac:spMkLst>
        </pc:spChg>
        <pc:spChg chg="add mod">
          <ac:chgData name="Taylor Davis" userId="5c9e72a0-c39f-4aa1-9d7d-64125e78cbe6" providerId="ADAL" clId="{1C8EA69A-FF7C-425B-9E5A-8D2C2A2F5EB7}" dt="2025-02-14T00:18:27.630" v="185" actId="20577"/>
          <ac:spMkLst>
            <pc:docMk/>
            <pc:sldMk cId="1311995887" sldId="2145726891"/>
            <ac:spMk id="7" creationId="{219B96A1-68A2-4800-5A1C-AF8B34D1B39E}"/>
          </ac:spMkLst>
        </pc:spChg>
        <pc:graphicFrameChg chg="mod modGraphic">
          <ac:chgData name="Taylor Davis" userId="5c9e72a0-c39f-4aa1-9d7d-64125e78cbe6" providerId="ADAL" clId="{1C8EA69A-FF7C-425B-9E5A-8D2C2A2F5EB7}" dt="2025-02-14T00:18:09.504" v="127" actId="14734"/>
          <ac:graphicFrameMkLst>
            <pc:docMk/>
            <pc:sldMk cId="1311995887" sldId="2145726891"/>
            <ac:graphicFrameMk id="6" creationId="{00000000-0000-0000-0000-000000000000}"/>
          </ac:graphicFrameMkLst>
        </pc:graphicFrameChg>
      </pc:sldChg>
      <pc:sldChg chg="modSp add mod">
        <pc:chgData name="Taylor Davis" userId="5c9e72a0-c39f-4aa1-9d7d-64125e78cbe6" providerId="ADAL" clId="{1C8EA69A-FF7C-425B-9E5A-8D2C2A2F5EB7}" dt="2025-02-14T00:19:33.081" v="208" actId="20577"/>
        <pc:sldMkLst>
          <pc:docMk/>
          <pc:sldMk cId="2442627495" sldId="2145726892"/>
        </pc:sldMkLst>
        <pc:spChg chg="mod">
          <ac:chgData name="Taylor Davis" userId="5c9e72a0-c39f-4aa1-9d7d-64125e78cbe6" providerId="ADAL" clId="{1C8EA69A-FF7C-425B-9E5A-8D2C2A2F5EB7}" dt="2025-02-14T00:19:33.081" v="208" actId="20577"/>
          <ac:spMkLst>
            <pc:docMk/>
            <pc:sldMk cId="2442627495" sldId="2145726892"/>
            <ac:spMk id="8" creationId="{C690F22E-C9CA-61DC-5584-149573110610}"/>
          </ac:spMkLst>
        </pc:spChg>
      </pc:sldChg>
    </pc:docChg>
  </pc:docChgLst>
  <pc:docChgLst>
    <pc:chgData name="Taylor Davis" userId="5c9e72a0-c39f-4aa1-9d7d-64125e78cbe6" providerId="ADAL" clId="{55779EF8-FD88-4078-9D1F-D03B95958B5D}"/>
    <pc:docChg chg="custSel addSld delSld modSld">
      <pc:chgData name="Taylor Davis" userId="5c9e72a0-c39f-4aa1-9d7d-64125e78cbe6" providerId="ADAL" clId="{55779EF8-FD88-4078-9D1F-D03B95958B5D}" dt="2025-01-27T21:17:29.306" v="2" actId="47"/>
      <pc:docMkLst>
        <pc:docMk/>
      </pc:docMkLst>
      <pc:sldChg chg="delSp new del mod">
        <pc:chgData name="Taylor Davis" userId="5c9e72a0-c39f-4aa1-9d7d-64125e78cbe6" providerId="ADAL" clId="{55779EF8-FD88-4078-9D1F-D03B95958B5D}" dt="2025-01-27T21:17:29.306" v="2" actId="47"/>
        <pc:sldMkLst>
          <pc:docMk/>
          <pc:sldMk cId="762614378" sldId="214572689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Brand Reputation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1180FCF1-D021-44BB-B639-7D608A8A89A3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Patient Word of Mouth</a:t>
          </a:r>
        </a:p>
      </dgm:t>
    </dgm:pt>
    <dgm:pt modelId="{1E52398B-6AE4-4170-A738-A6888A5C0E97}" type="parTrans" cxnId="{ECD612C8-447D-4A87-ACA5-4C3A046C23CF}">
      <dgm:prSet/>
      <dgm:spPr/>
      <dgm:t>
        <a:bodyPr/>
        <a:lstStyle/>
        <a:p>
          <a:endParaRPr lang="en-US"/>
        </a:p>
      </dgm:t>
    </dgm:pt>
    <dgm:pt modelId="{32FD9026-C400-4A10-89B4-188E8574D2A7}" type="sibTrans" cxnId="{ECD612C8-447D-4A87-ACA5-4C3A046C23CF}">
      <dgm:prSet/>
      <dgm:spPr/>
      <dgm:t>
        <a:bodyPr/>
        <a:lstStyle/>
        <a:p>
          <a:endParaRPr lang="en-US"/>
        </a:p>
      </dgm:t>
    </dgm:pt>
    <dgm:pt modelId="{34B90C7B-04B0-4BDB-BD8E-70EA64DE6B95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Patient Choice Trends</a:t>
          </a:r>
        </a:p>
      </dgm:t>
    </dgm:pt>
    <dgm:pt modelId="{C48C44C2-BAD9-4AE4-97C7-3B5FE86944D3}" type="parTrans" cxnId="{5BCFB27F-9F17-44B1-A07C-F2D682CB9044}">
      <dgm:prSet/>
      <dgm:spPr/>
      <dgm:t>
        <a:bodyPr/>
        <a:lstStyle/>
        <a:p>
          <a:endParaRPr lang="en-US"/>
        </a:p>
      </dgm:t>
    </dgm:pt>
    <dgm:pt modelId="{221B63DB-3B82-434B-9B7C-BF239E3848AE}" type="sibTrans" cxnId="{5BCFB27F-9F17-44B1-A07C-F2D682CB9044}">
      <dgm:prSet/>
      <dgm:spPr/>
      <dgm:t>
        <a:bodyPr/>
        <a:lstStyle/>
        <a:p>
          <a:endParaRPr lang="en-US"/>
        </a:p>
      </dgm:t>
    </dgm:pt>
    <dgm:pt modelId="{8F559A90-A765-4B3A-BA36-AC374E6C5C15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None/>
          </a:pPr>
          <a:r>
            <a:rPr lang="en-US" dirty="0"/>
            <a:t>Reputation of Anchor Hospital</a:t>
          </a:r>
        </a:p>
      </dgm:t>
    </dgm:pt>
    <dgm:pt modelId="{58CE23A5-74A2-4686-9908-0F4B7441D841}" type="parTrans" cxnId="{97AA3EB7-B374-4516-BBFB-291E8899D8ED}">
      <dgm:prSet/>
      <dgm:spPr/>
      <dgm:t>
        <a:bodyPr/>
        <a:lstStyle/>
        <a:p>
          <a:endParaRPr lang="en-US"/>
        </a:p>
      </dgm:t>
    </dgm:pt>
    <dgm:pt modelId="{9E289E60-8267-4513-BD8A-495954BBBE45}" type="sibTrans" cxnId="{97AA3EB7-B374-4516-BBFB-291E8899D8ED}">
      <dgm:prSet/>
      <dgm:spPr/>
      <dgm:t>
        <a:bodyPr/>
        <a:lstStyle/>
        <a:p>
          <a:endParaRPr lang="en-US"/>
        </a:p>
      </dgm:t>
    </dgm:pt>
    <dgm:pt modelId="{D1B9F6F5-98B1-4E58-9B4B-09CAF481A874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Anchor Hospital</a:t>
          </a:r>
        </a:p>
      </dgm:t>
    </dgm:pt>
    <dgm:pt modelId="{9454727B-16C3-4D44-B3E6-43CC0EB6A01E}" type="parTrans" cxnId="{DFC0EBDA-57AD-4F29-9CBA-63EA98258C4F}">
      <dgm:prSet/>
      <dgm:spPr/>
      <dgm:t>
        <a:bodyPr/>
        <a:lstStyle/>
        <a:p>
          <a:endParaRPr lang="en-US"/>
        </a:p>
      </dgm:t>
    </dgm:pt>
    <dgm:pt modelId="{B7C15EEB-6159-444D-95E8-9776498CFD58}" type="sibTrans" cxnId="{DFC0EBDA-57AD-4F29-9CBA-63EA98258C4F}">
      <dgm:prSet/>
      <dgm:spPr/>
      <dgm:t>
        <a:bodyPr/>
        <a:lstStyle/>
        <a:p>
          <a:endParaRPr lang="en-US"/>
        </a:p>
      </dgm:t>
    </dgm:pt>
    <dgm:pt modelId="{3A314DF4-B004-4F5C-A311-92485D449CD1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Sufficient Market Share</a:t>
          </a:r>
        </a:p>
      </dgm:t>
    </dgm:pt>
    <dgm:pt modelId="{B97BA9B6-42B7-4580-96E1-838371A1B4DF}" type="parTrans" cxnId="{08DA0AD3-55B2-46D2-A991-196A8EB9B559}">
      <dgm:prSet/>
      <dgm:spPr/>
      <dgm:t>
        <a:bodyPr/>
        <a:lstStyle/>
        <a:p>
          <a:endParaRPr lang="en-US"/>
        </a:p>
      </dgm:t>
    </dgm:pt>
    <dgm:pt modelId="{705CC627-1318-4A1D-9A43-9412CD36C2F8}" type="sibTrans" cxnId="{08DA0AD3-55B2-46D2-A991-196A8EB9B559}">
      <dgm:prSet/>
      <dgm:spPr/>
      <dgm:t>
        <a:bodyPr/>
        <a:lstStyle/>
        <a:p>
          <a:endParaRPr lang="en-US"/>
        </a:p>
      </dgm:t>
    </dgm:pt>
    <dgm:pt modelId="{830CB281-5928-49C8-A716-BF67C2B06B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Market</a:t>
          </a:r>
        </a:p>
      </dgm:t>
    </dgm:pt>
    <dgm:pt modelId="{661A933E-D481-465F-A38D-B1944EDF4D10}" type="parTrans" cxnId="{25F15BCB-34D8-4201-B66A-DF720FE239F9}">
      <dgm:prSet/>
      <dgm:spPr/>
      <dgm:t>
        <a:bodyPr/>
        <a:lstStyle/>
        <a:p>
          <a:endParaRPr lang="en-US"/>
        </a:p>
      </dgm:t>
    </dgm:pt>
    <dgm:pt modelId="{4DF36390-C39E-4C0D-9D8B-8CADD72C5662}" type="sibTrans" cxnId="{25F15BCB-34D8-4201-B66A-DF720FE239F9}">
      <dgm:prSet/>
      <dgm:spPr/>
      <dgm:t>
        <a:bodyPr/>
        <a:lstStyle/>
        <a:p>
          <a:endParaRPr lang="en-US"/>
        </a:p>
      </dgm:t>
    </dgm:pt>
    <dgm:pt modelId="{270E21CB-2627-4EE0-8695-4C31BC8C17B6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Large Enough Market Size</a:t>
          </a:r>
        </a:p>
      </dgm:t>
    </dgm:pt>
    <dgm:pt modelId="{C1A80F92-D583-45F6-B995-F7ADCFC645F2}" type="parTrans" cxnId="{AE981D45-5625-43D6-A91D-696D2A71F93C}">
      <dgm:prSet/>
      <dgm:spPr/>
      <dgm:t>
        <a:bodyPr/>
        <a:lstStyle/>
        <a:p>
          <a:endParaRPr lang="en-US"/>
        </a:p>
      </dgm:t>
    </dgm:pt>
    <dgm:pt modelId="{BDE96436-88A2-4DB6-BEF7-DAC4B8D433E8}" type="sibTrans" cxnId="{AE981D45-5625-43D6-A91D-696D2A71F93C}">
      <dgm:prSet/>
      <dgm:spPr/>
      <dgm:t>
        <a:bodyPr/>
        <a:lstStyle/>
        <a:p>
          <a:endParaRPr lang="en-US"/>
        </a:p>
      </dgm:t>
    </dgm:pt>
    <dgm:pt modelId="{A1C1259D-1782-4952-9ED5-31571C49DF48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dirty="0"/>
            <a:t>High Percentage of Self Funding</a:t>
          </a:r>
        </a:p>
      </dgm:t>
    </dgm:pt>
    <dgm:pt modelId="{E55F36B5-232E-452F-92DA-17A9BE49A9F7}" type="parTrans" cxnId="{0C2C8809-EE22-40B4-981B-DDEB53C8528B}">
      <dgm:prSet/>
      <dgm:spPr/>
      <dgm:t>
        <a:bodyPr/>
        <a:lstStyle/>
        <a:p>
          <a:endParaRPr lang="en-US"/>
        </a:p>
      </dgm:t>
    </dgm:pt>
    <dgm:pt modelId="{D8BC1FCF-1EC6-412A-AFF9-7611FBDC5EB3}" type="sibTrans" cxnId="{0C2C8809-EE22-40B4-981B-DDEB53C8528B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3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6" custLinFactNeighborX="-12439">
        <dgm:presLayoutVars>
          <dgm:chMax val="0"/>
          <dgm:chPref val="0"/>
        </dgm:presLayoutVars>
      </dgm:prSet>
      <dgm:spPr/>
    </dgm:pt>
    <dgm:pt modelId="{B408E682-9D40-44AE-840E-BE05B391BA0A}" type="pres">
      <dgm:prSet presAssocID="{0911CD98-B2F6-4E17-9C61-BB702C3250BF}" presName="desTx" presStyleLbl="revTx" presStyleIdx="1" presStyleCnt="6" custScaleX="155606" custLinFactNeighborX="-16790">
        <dgm:presLayoutVars/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3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 with solid fill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2" presStyleCnt="6" custLinFactNeighborX="-12439">
        <dgm:presLayoutVars>
          <dgm:chMax val="0"/>
          <dgm:chPref val="0"/>
        </dgm:presLayoutVars>
      </dgm:prSet>
      <dgm:spPr/>
    </dgm:pt>
    <dgm:pt modelId="{A4B41307-D6E4-47AC-85E0-E0AAB0E21149}" type="pres">
      <dgm:prSet presAssocID="{9AFA7D91-6390-4F95-BF06-02D171762A63}" presName="desTx" presStyleLbl="revTx" presStyleIdx="3" presStyleCnt="6" custScaleX="155606" custLinFactNeighborX="-16790">
        <dgm:presLayoutVars/>
      </dgm:prSet>
      <dgm:spPr/>
    </dgm:pt>
    <dgm:pt modelId="{BFC78F72-7C59-4E57-BD88-12E2A799292D}" type="pres">
      <dgm:prSet presAssocID="{0B994676-137E-4272-9E37-A6B069477E49}" presName="sibTrans" presStyleCnt="0"/>
      <dgm:spPr/>
    </dgm:pt>
    <dgm:pt modelId="{0E72C41C-5452-49D9-944A-174338865B8B}" type="pres">
      <dgm:prSet presAssocID="{830CB281-5928-49C8-A716-BF67C2B06B58}" presName="compNode" presStyleCnt="0"/>
      <dgm:spPr/>
    </dgm:pt>
    <dgm:pt modelId="{FE1E736F-C5CA-432D-B571-576D4D3B582B}" type="pres">
      <dgm:prSet presAssocID="{830CB281-5928-49C8-A716-BF67C2B06B58}" presName="bgRect" presStyleLbl="bgShp" presStyleIdx="2" presStyleCnt="3" custLinFactNeighborY="4595"/>
      <dgm:spPr>
        <a:solidFill>
          <a:srgbClr val="00539F"/>
        </a:solidFill>
      </dgm:spPr>
    </dgm:pt>
    <dgm:pt modelId="{8A2FD77F-0D40-4CB7-80B9-E78579606A84}" type="pres">
      <dgm:prSet presAssocID="{830CB281-5928-49C8-A716-BF67C2B06B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ighborhood with solid fill"/>
        </a:ext>
      </dgm:extLst>
    </dgm:pt>
    <dgm:pt modelId="{BE906DF8-51DA-4D6B-8007-005B919661B0}" type="pres">
      <dgm:prSet presAssocID="{830CB281-5928-49C8-A716-BF67C2B06B58}" presName="spaceRect" presStyleCnt="0"/>
      <dgm:spPr/>
    </dgm:pt>
    <dgm:pt modelId="{33F32406-0AB9-4EE6-A034-EED390E4F2D1}" type="pres">
      <dgm:prSet presAssocID="{830CB281-5928-49C8-A716-BF67C2B06B58}" presName="parTx" presStyleLbl="revTx" presStyleIdx="4" presStyleCnt="6" custLinFactNeighborX="-12439">
        <dgm:presLayoutVars>
          <dgm:chMax val="0"/>
          <dgm:chPref val="0"/>
        </dgm:presLayoutVars>
      </dgm:prSet>
      <dgm:spPr/>
    </dgm:pt>
    <dgm:pt modelId="{B5439430-8A44-44D5-864A-90CB6DD7343E}" type="pres">
      <dgm:prSet presAssocID="{830CB281-5928-49C8-A716-BF67C2B06B58}" presName="desTx" presStyleLbl="revTx" presStyleIdx="5" presStyleCnt="6" custScaleX="155606" custLinFactNeighborX="-16790">
        <dgm:presLayoutVars/>
      </dgm:prSet>
      <dgm:spPr/>
    </dgm:pt>
  </dgm:ptLst>
  <dgm:cxnLst>
    <dgm:cxn modelId="{0C2C8809-EE22-40B4-981B-DDEB53C8528B}" srcId="{830CB281-5928-49C8-A716-BF67C2B06B58}" destId="{A1C1259D-1782-4952-9ED5-31571C49DF48}" srcOrd="1" destOrd="0" parTransId="{E55F36B5-232E-452F-92DA-17A9BE49A9F7}" sibTransId="{D8BC1FCF-1EC6-412A-AFF9-7611FBDC5EB3}"/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736DEA42-5F1A-41E5-8638-1DBAE3A544D3}" type="presOf" srcId="{8F559A90-A765-4B3A-BA36-AC374E6C5C15}" destId="{B408E682-9D40-44AE-840E-BE05B391BA0A}" srcOrd="0" destOrd="2" presId="urn:microsoft.com/office/officeart/2018/2/layout/IconVerticalSolidList"/>
    <dgm:cxn modelId="{AE981D45-5625-43D6-A91D-696D2A71F93C}" srcId="{830CB281-5928-49C8-A716-BF67C2B06B58}" destId="{270E21CB-2627-4EE0-8695-4C31BC8C17B6}" srcOrd="0" destOrd="0" parTransId="{C1A80F92-D583-45F6-B995-F7ADCFC645F2}" sibTransId="{BDE96436-88A2-4DB6-BEF7-DAC4B8D433E8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C1D5625A-2BD5-46A8-A4DF-7F555FEBBFD3}" type="presOf" srcId="{270E21CB-2627-4EE0-8695-4C31BC8C17B6}" destId="{B5439430-8A44-44D5-864A-90CB6DD7343E}" srcOrd="0" destOrd="0" presId="urn:microsoft.com/office/officeart/2018/2/layout/IconVerticalSolidList"/>
    <dgm:cxn modelId="{5BCFB27F-9F17-44B1-A07C-F2D682CB9044}" srcId="{0911CD98-B2F6-4E17-9C61-BB702C3250BF}" destId="{34B90C7B-04B0-4BDB-BD8E-70EA64DE6B95}" srcOrd="1" destOrd="0" parTransId="{C48C44C2-BAD9-4AE4-97C7-3B5FE86944D3}" sibTransId="{221B63DB-3B82-434B-9B7C-BF239E3848AE}"/>
    <dgm:cxn modelId="{F9396AA9-F636-49F1-AE37-F5153BCB3006}" type="presOf" srcId="{A1C1259D-1782-4952-9ED5-31571C49DF48}" destId="{B5439430-8A44-44D5-864A-90CB6DD7343E}" srcOrd="0" destOrd="1" presId="urn:microsoft.com/office/officeart/2018/2/layout/IconVerticalSolidList"/>
    <dgm:cxn modelId="{F6F2AFAD-0118-4861-83BE-88B23F2D05F2}" type="presOf" srcId="{34B90C7B-04B0-4BDB-BD8E-70EA64DE6B95}" destId="{B408E682-9D40-44AE-840E-BE05B391BA0A}" srcOrd="0" destOrd="1" presId="urn:microsoft.com/office/officeart/2018/2/layout/IconVerticalSolidList"/>
    <dgm:cxn modelId="{97AA3EB7-B374-4516-BBFB-291E8899D8ED}" srcId="{0911CD98-B2F6-4E17-9C61-BB702C3250BF}" destId="{8F559A90-A765-4B3A-BA36-AC374E6C5C15}" srcOrd="2" destOrd="0" parTransId="{58CE23A5-74A2-4686-9908-0F4B7441D841}" sibTransId="{9E289E60-8267-4513-BD8A-495954BBBE45}"/>
    <dgm:cxn modelId="{3C2AA0C1-728F-415A-9A3D-E7A59C35F320}" type="presOf" srcId="{3A314DF4-B004-4F5C-A311-92485D449CD1}" destId="{A4B41307-D6E4-47AC-85E0-E0AAB0E21149}" srcOrd="0" destOrd="1" presId="urn:microsoft.com/office/officeart/2018/2/layout/IconVerticalSolidList"/>
    <dgm:cxn modelId="{ECD612C8-447D-4A87-ACA5-4C3A046C23CF}" srcId="{0911CD98-B2F6-4E17-9C61-BB702C3250BF}" destId="{1180FCF1-D021-44BB-B639-7D608A8A89A3}" srcOrd="0" destOrd="0" parTransId="{1E52398B-6AE4-4170-A738-A6888A5C0E97}" sibTransId="{32FD9026-C400-4A10-89B4-188E8574D2A7}"/>
    <dgm:cxn modelId="{25F15BCB-34D8-4201-B66A-DF720FE239F9}" srcId="{A1F1B84F-4F37-4E4B-B28C-05C8DFC94756}" destId="{830CB281-5928-49C8-A716-BF67C2B06B58}" srcOrd="2" destOrd="0" parTransId="{661A933E-D481-465F-A38D-B1944EDF4D10}" sibTransId="{4DF36390-C39E-4C0D-9D8B-8CADD72C5662}"/>
    <dgm:cxn modelId="{08DA0AD3-55B2-46D2-A991-196A8EB9B559}" srcId="{9AFA7D91-6390-4F95-BF06-02D171762A63}" destId="{3A314DF4-B004-4F5C-A311-92485D449CD1}" srcOrd="1" destOrd="0" parTransId="{B97BA9B6-42B7-4580-96E1-838371A1B4DF}" sibTransId="{705CC627-1318-4A1D-9A43-9412CD36C2F8}"/>
    <dgm:cxn modelId="{DFC0EBDA-57AD-4F29-9CBA-63EA98258C4F}" srcId="{9AFA7D91-6390-4F95-BF06-02D171762A63}" destId="{D1B9F6F5-98B1-4E58-9B4B-09CAF481A874}" srcOrd="0" destOrd="0" parTransId="{9454727B-16C3-4D44-B3E6-43CC0EB6A01E}" sibTransId="{B7C15EEB-6159-444D-95E8-9776498CFD58}"/>
    <dgm:cxn modelId="{146CACEE-65AB-4DDB-8F5C-3079418A6431}" type="presOf" srcId="{830CB281-5928-49C8-A716-BF67C2B06B58}" destId="{33F32406-0AB9-4EE6-A034-EED390E4F2D1}" srcOrd="0" destOrd="0" presId="urn:microsoft.com/office/officeart/2018/2/layout/IconVerticalSolidList"/>
    <dgm:cxn modelId="{4AD797F3-93BE-4861-A3C5-C9C793296CA8}" type="presOf" srcId="{D1B9F6F5-98B1-4E58-9B4B-09CAF481A874}" destId="{A4B41307-D6E4-47AC-85E0-E0AAB0E21149}" srcOrd="0" destOrd="0" presId="urn:microsoft.com/office/officeart/2018/2/layout/IconVerticalSolidList"/>
    <dgm:cxn modelId="{042C4BFF-B578-4890-A329-C7C3CDEE461E}" type="presOf" srcId="{1180FCF1-D021-44BB-B639-7D608A8A89A3}" destId="{B408E682-9D40-44AE-840E-BE05B391BA0A}" srcOrd="0" destOrd="0" presId="urn:microsoft.com/office/officeart/2018/2/layout/IconVerticalSolidList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F9035292-6967-46F5-B822-AD1A53B1C387}" type="presParOf" srcId="{DFD5F05F-A43A-4652-80DD-25D35540632C}" destId="{B408E682-9D40-44AE-840E-BE05B391BA0A}" srcOrd="4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9FF467DE-2060-43EA-8B5E-16BCB8E0E128}" type="presParOf" srcId="{8EF2CCDE-7F5C-4F5F-B2FA-43FDCA78B104}" destId="{A4B41307-D6E4-47AC-85E0-E0AAB0E21149}" srcOrd="4" destOrd="0" presId="urn:microsoft.com/office/officeart/2018/2/layout/IconVerticalSolidList"/>
    <dgm:cxn modelId="{00652A06-AE54-4AA3-9948-8BEE4DA02446}" type="presParOf" srcId="{37E61AA2-39C5-4D3B-A37D-5BFF2E9B8AED}" destId="{BFC78F72-7C59-4E57-BD88-12E2A799292D}" srcOrd="3" destOrd="0" presId="urn:microsoft.com/office/officeart/2018/2/layout/IconVerticalSolidList"/>
    <dgm:cxn modelId="{96FCB03F-89CB-4D65-8FAD-EEE7C86AAF0A}" type="presParOf" srcId="{37E61AA2-39C5-4D3B-A37D-5BFF2E9B8AED}" destId="{0E72C41C-5452-49D9-944A-174338865B8B}" srcOrd="4" destOrd="0" presId="urn:microsoft.com/office/officeart/2018/2/layout/IconVerticalSolidList"/>
    <dgm:cxn modelId="{157EAC15-98F2-4E9A-86C0-A030949620F3}" type="presParOf" srcId="{0E72C41C-5452-49D9-944A-174338865B8B}" destId="{FE1E736F-C5CA-432D-B571-576D4D3B582B}" srcOrd="0" destOrd="0" presId="urn:microsoft.com/office/officeart/2018/2/layout/IconVerticalSolidList"/>
    <dgm:cxn modelId="{C82A1172-0AAE-4669-8A31-00A597C5DE68}" type="presParOf" srcId="{0E72C41C-5452-49D9-944A-174338865B8B}" destId="{8A2FD77F-0D40-4CB7-80B9-E78579606A84}" srcOrd="1" destOrd="0" presId="urn:microsoft.com/office/officeart/2018/2/layout/IconVerticalSolidList"/>
    <dgm:cxn modelId="{16EF0894-307A-47F5-8BB9-E33B3320F132}" type="presParOf" srcId="{0E72C41C-5452-49D9-944A-174338865B8B}" destId="{BE906DF8-51DA-4D6B-8007-005B919661B0}" srcOrd="2" destOrd="0" presId="urn:microsoft.com/office/officeart/2018/2/layout/IconVerticalSolidList"/>
    <dgm:cxn modelId="{46F9EB8C-C76A-44D4-AA04-0C09D56838E5}" type="presParOf" srcId="{0E72C41C-5452-49D9-944A-174338865B8B}" destId="{33F32406-0AB9-4EE6-A034-EED390E4F2D1}" srcOrd="3" destOrd="0" presId="urn:microsoft.com/office/officeart/2018/2/layout/IconVerticalSolidList"/>
    <dgm:cxn modelId="{2C08FB88-51DD-48EF-8826-1597DFF986F2}" type="presParOf" srcId="{0E72C41C-5452-49D9-944A-174338865B8B}" destId="{B5439430-8A44-44D5-864A-90CB6DD7343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-354135" y="8859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127412" y="367035"/>
          <a:ext cx="875541" cy="875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36429" y="8859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Brand Reputation</a:t>
          </a:r>
        </a:p>
      </dsp:txBody>
      <dsp:txXfrm>
        <a:off x="1036429" y="8859"/>
        <a:ext cx="3602154" cy="1591893"/>
      </dsp:txXfrm>
    </dsp:sp>
    <dsp:sp modelId="{B408E682-9D40-44AE-840E-BE05B391BA0A}">
      <dsp:nvSpPr>
        <dsp:cNvPr id="0" name=""/>
        <dsp:cNvSpPr/>
      </dsp:nvSpPr>
      <dsp:spPr>
        <a:xfrm>
          <a:off x="3944896" y="8859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Patient Word of Mouth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Patient Choice Trends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Reputation of Anchor Hospital</a:t>
          </a:r>
        </a:p>
      </dsp:txBody>
      <dsp:txXfrm>
        <a:off x="3944896" y="8859"/>
        <a:ext cx="3984135" cy="1591893"/>
      </dsp:txXfrm>
    </dsp:sp>
    <dsp:sp modelId="{B3E1CF03-EDE1-471D-890C-AA2901FB45D9}">
      <dsp:nvSpPr>
        <dsp:cNvPr id="0" name=""/>
        <dsp:cNvSpPr/>
      </dsp:nvSpPr>
      <dsp:spPr>
        <a:xfrm>
          <a:off x="-354135" y="1998726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127412" y="2356902"/>
          <a:ext cx="875541" cy="875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36429" y="1998726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Access</a:t>
          </a:r>
        </a:p>
      </dsp:txBody>
      <dsp:txXfrm>
        <a:off x="1036429" y="1998726"/>
        <a:ext cx="3602154" cy="1591893"/>
      </dsp:txXfrm>
    </dsp:sp>
    <dsp:sp modelId="{A4B41307-D6E4-47AC-85E0-E0AAB0E21149}">
      <dsp:nvSpPr>
        <dsp:cNvPr id="0" name=""/>
        <dsp:cNvSpPr/>
      </dsp:nvSpPr>
      <dsp:spPr>
        <a:xfrm>
          <a:off x="3944896" y="1998726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Anchor Hospital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Sufficient Market Share</a:t>
          </a:r>
        </a:p>
      </dsp:txBody>
      <dsp:txXfrm>
        <a:off x="3944896" y="1998726"/>
        <a:ext cx="3984135" cy="1591893"/>
      </dsp:txXfrm>
    </dsp:sp>
    <dsp:sp modelId="{FE1E736F-C5CA-432D-B571-576D4D3B582B}">
      <dsp:nvSpPr>
        <dsp:cNvPr id="0" name=""/>
        <dsp:cNvSpPr/>
      </dsp:nvSpPr>
      <dsp:spPr>
        <a:xfrm>
          <a:off x="-354135" y="3997453"/>
          <a:ext cx="8004787" cy="1591893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FD77F-0D40-4CB7-80B9-E78579606A84}">
      <dsp:nvSpPr>
        <dsp:cNvPr id="0" name=""/>
        <dsp:cNvSpPr/>
      </dsp:nvSpPr>
      <dsp:spPr>
        <a:xfrm>
          <a:off x="127412" y="4346769"/>
          <a:ext cx="875541" cy="875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32406-0AB9-4EE6-A034-EED390E4F2D1}">
      <dsp:nvSpPr>
        <dsp:cNvPr id="0" name=""/>
        <dsp:cNvSpPr/>
      </dsp:nvSpPr>
      <dsp:spPr>
        <a:xfrm>
          <a:off x="1036429" y="3988593"/>
          <a:ext cx="3602154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Market</a:t>
          </a:r>
        </a:p>
      </dsp:txBody>
      <dsp:txXfrm>
        <a:off x="1036429" y="3988593"/>
        <a:ext cx="3602154" cy="1591893"/>
      </dsp:txXfrm>
    </dsp:sp>
    <dsp:sp modelId="{B5439430-8A44-44D5-864A-90CB6DD7343E}">
      <dsp:nvSpPr>
        <dsp:cNvPr id="0" name=""/>
        <dsp:cNvSpPr/>
      </dsp:nvSpPr>
      <dsp:spPr>
        <a:xfrm>
          <a:off x="3944896" y="3988593"/>
          <a:ext cx="3984135" cy="1591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5" tIns="168475" rIns="168475" bIns="16847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Large Enough Market Size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High Percentage of Self Funding</a:t>
          </a:r>
        </a:p>
      </dsp:txBody>
      <dsp:txXfrm>
        <a:off x="3944896" y="3988593"/>
        <a:ext cx="3984135" cy="1591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ontserrat" panose="00000500000000000000" pitchFamily="2" charset="0"/>
              </a:rPr>
              <a:t>Make necessary changes to match slide 4 of updated ppt provided by 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3F6DB-F15B-884B-AA15-B75C0F48DEC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66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0F11E-B424-48C6-BD86-192B859FF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4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9CA89-B4B2-4050-B038-8DF8E3A33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5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90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emf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physiciansadvocacyinstitute.org/Portals/0/assets/docs/PAI-Research/PAI-Avalere%20Physician%20Employment%20Trends%20Study%202019-2023%20Final.pdf?ver=uGHF46u1GSeZgYXMKFyYvw%3d%3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</a:t>
            </a: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n</a:t>
            </a: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 Ascension Health OK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F5580D0-8D1F-59A7-87C4-F0DF01702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04" r="33637"/>
          <a:stretch/>
        </p:blipFill>
        <p:spPr bwMode="auto">
          <a:xfrm>
            <a:off x="8322769" y="1714"/>
            <a:ext cx="3870960" cy="685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6242924E-816E-0617-E717-FD91AE2D01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500695"/>
            <a:ext cx="7241309" cy="45258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2743DB-6003-F77F-2D46-16EC76C23EA4}"/>
              </a:ext>
            </a:extLst>
          </p:cNvPr>
          <p:cNvSpPr txBox="1">
            <a:spLocks/>
          </p:cNvSpPr>
          <p:nvPr/>
        </p:nvSpPr>
        <p:spPr>
          <a:xfrm>
            <a:off x="117445" y="207689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CASH BACK BENEFITS KEEPS ASCENSION EMPLOYEES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AT ASCENSION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rPr>
              <a:t>What Will this Claim Cost Me?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82E6EAB-830B-F36B-F482-0339C234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0395" y="633560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28FB93-0A08-4E7D-8E63-9EFA29F1E0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18EE2CCA-91EC-8D14-02DB-5622F7259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" name="Freeform 15">
            <a:extLst>
              <a:ext uri="{FF2B5EF4-FFF2-40B4-BE49-F238E27FC236}">
                <a16:creationId xmlns:a16="http://schemas.microsoft.com/office/drawing/2014/main" id="{1E58FADC-8A75-0ED5-B025-55AFCAF82465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B00F08C-D58D-B160-274C-358241C0A9BA}"/>
              </a:ext>
            </a:extLst>
          </p:cNvPr>
          <p:cNvSpPr/>
          <p:nvPr/>
        </p:nvSpPr>
        <p:spPr>
          <a:xfrm>
            <a:off x="8037505" y="1852181"/>
            <a:ext cx="3737727" cy="39755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Picture 16">
            <a:extLst>
              <a:ext uri="{FF2B5EF4-FFF2-40B4-BE49-F238E27FC236}">
                <a16:creationId xmlns:a16="http://schemas.microsoft.com/office/drawing/2014/main" id="{5AC4AED8-CD54-569B-E7E6-AF890B69A9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2899" y="1981860"/>
            <a:ext cx="1197168" cy="261201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77CEF25D-7C3B-E3B1-4CB8-566FCA77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899" y="2243061"/>
            <a:ext cx="3600450" cy="3429000"/>
          </a:xfrm>
          <a:prstGeom prst="rect">
            <a:avLst/>
          </a:prstGeom>
        </p:spPr>
      </p:pic>
      <p:sp>
        <p:nvSpPr>
          <p:cNvPr id="10" name="Arrow: Pentagon 17">
            <a:extLst>
              <a:ext uri="{FF2B5EF4-FFF2-40B4-BE49-F238E27FC236}">
                <a16:creationId xmlns:a16="http://schemas.microsoft.com/office/drawing/2014/main" id="{04BF0C8D-2E38-04D3-C1BE-5EA5D09D3B9B}"/>
              </a:ext>
            </a:extLst>
          </p:cNvPr>
          <p:cNvSpPr/>
          <p:nvPr/>
        </p:nvSpPr>
        <p:spPr>
          <a:xfrm>
            <a:off x="0" y="5080000"/>
            <a:ext cx="7639406" cy="766181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D269B07-A1ED-07AD-3675-D58BFB1D18D7}"/>
              </a:ext>
            </a:extLst>
          </p:cNvPr>
          <p:cNvSpPr txBox="1"/>
          <p:nvPr/>
        </p:nvSpPr>
        <p:spPr>
          <a:xfrm>
            <a:off x="16025" y="5246886"/>
            <a:ext cx="7607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Ascension employees will often receive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not bills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when they choose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to seek care within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Ascension Health, creating millions in plan savings. </a:t>
            </a:r>
          </a:p>
        </p:txBody>
      </p:sp>
    </p:spTree>
    <p:extLst>
      <p:ext uri="{BB962C8B-B14F-4D97-AF65-F5344CB8AC3E}">
        <p14:creationId xmlns:p14="http://schemas.microsoft.com/office/powerpoint/2010/main" val="51403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Alfred's Team &amp; Culture: Empowering Growth &amp; Wellbeing">
            <a:extLst>
              <a:ext uri="{FF2B5EF4-FFF2-40B4-BE49-F238E27FC236}">
                <a16:creationId xmlns:a16="http://schemas.microsoft.com/office/drawing/2014/main" id="{977AEA5B-B514-A281-D5CF-185F9DAD5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74"/>
          <a:stretch/>
        </p:blipFill>
        <p:spPr bwMode="auto">
          <a:xfrm>
            <a:off x="0" y="0"/>
            <a:ext cx="69820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A856662-DB6E-45A6-97AD-3C04EB89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5555" y="6492875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z="1400" smtClean="0"/>
              <a:t>5</a:t>
            </a:fld>
            <a:endParaRPr lang="en-US" sz="140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873A62E-6928-4B7B-95B7-002E00DAA648}"/>
              </a:ext>
            </a:extLst>
          </p:cNvPr>
          <p:cNvSpPr/>
          <p:nvPr/>
        </p:nvSpPr>
        <p:spPr>
          <a:xfrm>
            <a:off x="4282251" y="0"/>
            <a:ext cx="3454400" cy="6870346"/>
          </a:xfrm>
          <a:prstGeom prst="rect">
            <a:avLst/>
          </a:prstGeom>
          <a:gradFill flip="none" rotWithShape="1">
            <a:gsLst>
              <a:gs pos="60000">
                <a:srgbClr val="FFFFFF"/>
              </a:gs>
              <a:gs pos="0">
                <a:schemeClr val="bg1">
                  <a:alpha val="1000"/>
                </a:schemeClr>
              </a:gs>
              <a:gs pos="36000">
                <a:schemeClr val="bg1">
                  <a:alpha val="81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79F9FC-9C26-4EE8-993C-4E9774C6CB61}"/>
              </a:ext>
            </a:extLst>
          </p:cNvPr>
          <p:cNvSpPr/>
          <p:nvPr/>
        </p:nvSpPr>
        <p:spPr>
          <a:xfrm>
            <a:off x="6323994" y="2476465"/>
            <a:ext cx="5726288" cy="217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KBA’s unique approach builds plans with even-to-commercial provider reimbursement paired with highly competitive rates for employers.  </a:t>
            </a:r>
          </a:p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DTE partners see high within-plan steerage to their providers and facilities, generating a powerful ROI. </a:t>
            </a:r>
          </a:p>
          <a:p>
            <a:pPr marL="514356" indent="-342905" defTabSz="914411">
              <a:lnSpc>
                <a:spcPct val="90000"/>
              </a:lnSpc>
              <a:spcAft>
                <a:spcPts val="1200"/>
              </a:spcAft>
              <a:buClr>
                <a:srgbClr val="244F9A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Montserrat" panose="00000500000000000000" pitchFamily="2" charset="0"/>
              </a:rPr>
              <a:t>KBA models plan growth and steerage rates to estimate plan ROI. 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E58BE34-132B-41A8-8534-03C951FA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16236" y="6517764"/>
            <a:ext cx="4114800" cy="365125"/>
          </a:xfrm>
        </p:spPr>
        <p:txBody>
          <a:bodyPr/>
          <a:lstStyle/>
          <a:p>
            <a:r>
              <a:rPr lang="en-US" sz="1200" dirty="0"/>
              <a:t>Key Benefit Administrators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C15F56-47BD-D180-EBFB-0843E8BB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3656" y="683306"/>
            <a:ext cx="4846964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B2E"/>
                </a:solidFill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</a:rPr>
            </a:br>
            <a:r>
              <a:rPr lang="en-US" sz="2800" b="0" dirty="0">
                <a:solidFill>
                  <a:srgbClr val="000B2E"/>
                </a:solidFill>
              </a:rPr>
              <a:t>POWERFUL EMPLOYER AND HEALTH SYSTEM VALUE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33C183-73ED-A658-587A-18AF9B432DA8}"/>
              </a:ext>
            </a:extLst>
          </p:cNvPr>
          <p:cNvSpPr txBox="1">
            <a:spLocks/>
          </p:cNvSpPr>
          <p:nvPr/>
        </p:nvSpPr>
        <p:spPr>
          <a:xfrm>
            <a:off x="6071288" y="5001546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 GROWTH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244FFF8-B505-4CCA-71E2-A8BCE6C54E3D}"/>
              </a:ext>
            </a:extLst>
          </p:cNvPr>
          <p:cNvSpPr txBox="1">
            <a:spLocks/>
          </p:cNvSpPr>
          <p:nvPr/>
        </p:nvSpPr>
        <p:spPr>
          <a:xfrm>
            <a:off x="8061304" y="4964593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 STEERAGE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CD3059D-A40F-AC65-69AB-58B4D5C1E376}"/>
              </a:ext>
            </a:extLst>
          </p:cNvPr>
          <p:cNvSpPr txBox="1">
            <a:spLocks/>
          </p:cNvSpPr>
          <p:nvPr/>
        </p:nvSpPr>
        <p:spPr>
          <a:xfrm>
            <a:off x="10335462" y="5001546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FINANCIAL ROI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C7D093-C2D5-C403-DA0C-E6B3042B94FB}"/>
              </a:ext>
            </a:extLst>
          </p:cNvPr>
          <p:cNvSpPr txBox="1">
            <a:spLocks/>
          </p:cNvSpPr>
          <p:nvPr/>
        </p:nvSpPr>
        <p:spPr>
          <a:xfrm>
            <a:off x="6940409" y="5014089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4F23E6-4066-9DD8-BA20-CDB172B6C19F}"/>
              </a:ext>
            </a:extLst>
          </p:cNvPr>
          <p:cNvSpPr txBox="1">
            <a:spLocks/>
          </p:cNvSpPr>
          <p:nvPr/>
        </p:nvSpPr>
        <p:spPr>
          <a:xfrm>
            <a:off x="9115791" y="5022320"/>
            <a:ext cx="1871058" cy="723274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71412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D2D42D-B808-3A48-A7C5-84FB1F1F5A17}"/>
              </a:ext>
            </a:extLst>
          </p:cNvPr>
          <p:cNvSpPr/>
          <p:nvPr/>
        </p:nvSpPr>
        <p:spPr>
          <a:xfrm>
            <a:off x="5623560" y="0"/>
            <a:ext cx="656844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Text Placeholder 10">
            <a:extLst>
              <a:ext uri="{FF2B5EF4-FFF2-40B4-BE49-F238E27FC236}">
                <a16:creationId xmlns:a16="http://schemas.microsoft.com/office/drawing/2014/main" id="{625E5EBB-5E59-1F70-D065-8563E74742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010253"/>
              </p:ext>
            </p:extLst>
          </p:nvPr>
        </p:nvGraphicFramePr>
        <p:xfrm>
          <a:off x="4760236" y="551199"/>
          <a:ext cx="8004787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BF3756C-E382-D591-9698-2313D86DCFF4}"/>
              </a:ext>
            </a:extLst>
          </p:cNvPr>
          <p:cNvSpPr/>
          <p:nvPr/>
        </p:nvSpPr>
        <p:spPr>
          <a:xfrm>
            <a:off x="1" y="-1"/>
            <a:ext cx="4599431" cy="6866313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C24332-E958-7C44-485A-7D07A705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8" y="212871"/>
            <a:ext cx="4349362" cy="2137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 b="0" dirty="0">
                <a:solidFill>
                  <a:schemeClr val="bg1"/>
                </a:solidFill>
              </a:rPr>
              <a:t>THE SCIENCE OF SUCCESSFUL PLAN GROWTH</a:t>
            </a:r>
            <a:endParaRPr lang="en-US" sz="3600" b="0" kern="12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765260D-2785-3CCF-9B74-66C89C86B979}"/>
              </a:ext>
            </a:extLst>
          </p:cNvPr>
          <p:cNvSpPr txBox="1">
            <a:spLocks/>
          </p:cNvSpPr>
          <p:nvPr/>
        </p:nvSpPr>
        <p:spPr>
          <a:xfrm>
            <a:off x="131198" y="2350009"/>
            <a:ext cx="4349362" cy="1289304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 cap="none" spc="-70" baseline="0">
                <a:solidFill>
                  <a:srgbClr val="434343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bg1"/>
                </a:solidFill>
              </a:rPr>
              <a:t>Over 10 years of experience KBA has learned:</a:t>
            </a:r>
          </a:p>
          <a:p>
            <a:r>
              <a:rPr lang="en-US" sz="1600" b="0" dirty="0">
                <a:solidFill>
                  <a:schemeClr val="bg1"/>
                </a:solidFill>
              </a:rPr>
              <a:t>Choosing the right partner health system is </a:t>
            </a:r>
            <a:r>
              <a:rPr lang="en-US" sz="1600" b="0" u="sng" dirty="0">
                <a:solidFill>
                  <a:schemeClr val="bg1"/>
                </a:solidFill>
              </a:rPr>
              <a:t>critical</a:t>
            </a:r>
            <a:r>
              <a:rPr lang="en-US" sz="1600" b="0" dirty="0">
                <a:solidFill>
                  <a:schemeClr val="bg1"/>
                </a:solidFill>
              </a:rPr>
              <a:t> for plan success and sales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5195F6-1F4F-D309-AFAF-2F7FE6BB82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552" y="3813048"/>
            <a:ext cx="4125773" cy="2578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87B51A91-436C-C55A-BB93-A427553B5A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789" y="6306801"/>
            <a:ext cx="2125097" cy="46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5242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3078-15B8-A235-EF3C-A1EC40DA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3973-734A-75E2-7237-D467283E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MEASURING BRAND REPUTATION</a:t>
            </a:r>
            <a:b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Brand Reputation Ratings for the Tulsa OK Region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32C4CE-5F05-342D-902C-AFA2D714B934}"/>
              </a:ext>
            </a:extLst>
          </p:cNvPr>
          <p:cNvSpPr/>
          <p:nvPr/>
        </p:nvSpPr>
        <p:spPr>
          <a:xfrm>
            <a:off x="215573" y="5126644"/>
            <a:ext cx="11331658" cy="1229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Montserrat" panose="00000500000000000000" pitchFamily="2" charset="0"/>
              </a:rPr>
              <a:t>Ascension Health’s brand quality in the Tulsa area is strong enough to consider launching a plan in the Tulsa area but would face strong headwinds against Saint Francis Health System.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EA03A84-4A9D-2161-02B6-4B879FF2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802AE9D-A3CC-554D-BD77-07225CB9063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5CC3ED-317F-B37B-E37A-C632E13EB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91248"/>
              </p:ext>
            </p:extLst>
          </p:nvPr>
        </p:nvGraphicFramePr>
        <p:xfrm>
          <a:off x="1606412" y="1596120"/>
          <a:ext cx="8979176" cy="3242603"/>
        </p:xfrm>
        <a:graphic>
          <a:graphicData uri="http://schemas.openxmlformats.org/drawingml/2006/table">
            <a:tbl>
              <a:tblPr/>
              <a:tblGrid>
                <a:gridCol w="239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2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5648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Reputation</a:t>
                      </a: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5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Saint Francis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374A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5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72A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9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9ADC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Ardent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1B3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8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C8AA-0E66-B861-59D6-F381D95E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7049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ACCESS AND MARKET SHARE FOR MODELING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DD333F58-1E5B-D213-65EE-BB627B8B12A8}"/>
              </a:ext>
            </a:extLst>
          </p:cNvPr>
          <p:cNvSpPr txBox="1"/>
          <p:nvPr/>
        </p:nvSpPr>
        <p:spPr>
          <a:xfrm>
            <a:off x="7237368" y="5243658"/>
            <a:ext cx="4791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 outpatient market share, it is estimated that only 49.1% of local physicians are employed by area hospitals (Research from the Physician Advocacy Institute: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  <a:hlinkClick r:id="rId2"/>
              </a:rPr>
              <a:t>https://www.physiciansadvocacyinstitute.org/Portals/0/assets/docs/PAI-Research/PAI-Avalere%20Physician%20Employment%20Trends%20Study%202019-2023%20Final.pdf?ver=uGHF46u1GSeZgYXMKFyYvw%3d%3d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8816DA9-0016-360E-E0AF-042A76E415BD}"/>
              </a:ext>
            </a:extLst>
          </p:cNvPr>
          <p:cNvSpPr txBox="1"/>
          <p:nvPr/>
        </p:nvSpPr>
        <p:spPr>
          <a:xfrm>
            <a:off x="7306057" y="2272509"/>
            <a:ext cx="46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439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17% Inpatient Market Share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439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7% Outpatient Market Share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0DD692F-D109-0348-F9B8-914DE2DD8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" name="Freeform 13">
            <a:extLst>
              <a:ext uri="{FF2B5EF4-FFF2-40B4-BE49-F238E27FC236}">
                <a16:creationId xmlns:a16="http://schemas.microsoft.com/office/drawing/2014/main" id="{AC9E0C8C-1395-D9C5-6ED5-2E010F8A048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333285"/>
              </p:ext>
            </p:extLst>
          </p:nvPr>
        </p:nvGraphicFramePr>
        <p:xfrm>
          <a:off x="266699" y="1245980"/>
          <a:ext cx="6629400" cy="49210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98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Hospital Name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Number of Beds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Outpatient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Jane Phillips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131,666.6K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324,545.6K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419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$1,241,286.2K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722,538.5K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Owasso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27,562.2K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132,718.9K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Broken Arrow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42,229.8K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228,142.7K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Nowata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 2,090.6K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 8,750.4K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Ascension St John Sapulpa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11,928.6K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C4399"/>
                          </a:solidFill>
                          <a:effectLst/>
                          <a:latin typeface="Montserrat" panose="00000500000000000000" pitchFamily="2" charset="0"/>
                        </a:rPr>
                        <a:t>$   92,051.6K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71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Muskogee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236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376,699.4K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417,065.5K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Oklahoma State University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119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332,105.5K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259,364.2K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1,056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$2,470,145.7K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$2,565,109.7K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South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216,573.5K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484,669.3K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1" i="0" u="none" strike="noStrike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Saint Francis Hospital Vinita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 25,003.7K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E66C79"/>
                          </a:solidFill>
                          <a:effectLst/>
                          <a:latin typeface="Montserrat" panose="00000500000000000000" pitchFamily="2" charset="0"/>
                        </a:rPr>
                        <a:t>$   78,978.8K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Sedan City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1,147.8K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5,048.0K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$2,494,589.5K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$1,820,676.2K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5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INTEGRIS Miami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49,458.5K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155,570.8K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Pryor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13,142.3K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151,189.9K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Claremore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99,847.8K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355,316.0K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Muscogee Creek Nation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14,874.9K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70,325.4K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Northeastern Health System Tahlequah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140,559.7K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232,835.6K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INTEGRIS Health Grove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64,522.9K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192,948.8K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Wagoner Community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18,581.5K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34,313.2K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Cherokee Nation WW Hastings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Claremore Indian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     NAK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Hillcrest Hospital South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574,416.6K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612,398.5K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Oklahoma Surgical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93,523.8K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445,252.1K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Tulsa Spine &amp; Specialty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93,336.3K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316,388.6K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Bailey Medical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78,301.7K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328,424.4K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Council Oak Comprehensive Health Care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2,323.4K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10,507.3K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Carrus Lakeside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114,680.5K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164,830.1K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0694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Cleveland Area Hospital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 7,683.0K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   34,684.3K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F5B05E7-63C7-DCA0-D940-7B6EFE6B0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515662"/>
            <a:ext cx="2430086" cy="610559"/>
          </a:xfrm>
          <a:prstGeom prst="rect">
            <a:avLst/>
          </a:prstGeom>
        </p:spPr>
      </p:pic>
      <p:pic>
        <p:nvPicPr>
          <p:cNvPr id="1032" name="Picture 8" descr="St Francis Health System - Healthcare IT Leaders">
            <a:extLst>
              <a:ext uri="{FF2B5EF4-FFF2-40B4-BE49-F238E27FC236}">
                <a16:creationId xmlns:a16="http://schemas.microsoft.com/office/drawing/2014/main" id="{250389F3-6A9D-EA69-F348-A5AC101E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888" y="3158107"/>
            <a:ext cx="2770632" cy="96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A046053F-2C15-6F02-79E9-0BFA1211A05E}"/>
              </a:ext>
            </a:extLst>
          </p:cNvPr>
          <p:cNvSpPr txBox="1"/>
          <p:nvPr/>
        </p:nvSpPr>
        <p:spPr>
          <a:xfrm>
            <a:off x="7306057" y="4128996"/>
            <a:ext cx="46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38% Inpatient Market Share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9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17% Outpatient Market Share</a:t>
            </a:r>
          </a:p>
        </p:txBody>
      </p:sp>
    </p:spTree>
    <p:extLst>
      <p:ext uri="{BB962C8B-B14F-4D97-AF65-F5344CB8AC3E}">
        <p14:creationId xmlns:p14="http://schemas.microsoft.com/office/powerpoint/2010/main" val="4087636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7CA0-440B-21EA-EB89-1615851B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OKLAHOMA</a:t>
            </a:r>
            <a:br>
              <a:rPr lang="en-US" dirty="0"/>
            </a:br>
            <a:r>
              <a:rPr lang="en-US" dirty="0"/>
              <a:t>STAND ALONE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3A543-D9F9-5D88-4F01-A11C2F788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size and growth modeled for an Ascension Health plan with</a:t>
            </a:r>
          </a:p>
          <a:p>
            <a:r>
              <a:rPr lang="en-US" dirty="0"/>
              <a:t>Saint Francis Health System passively included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B748F877-5023-94BE-97B7-64290C771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EB2A27E-448A-D153-BCE1-A35960046B7E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0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STANDALONE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917182" y="1120015"/>
            <a:ext cx="8257547" cy="5330561"/>
          </a:xfrm>
          <a:prstGeom prst="rect">
            <a:avLst/>
          </a:prstGeom>
        </p:spPr>
      </p:pic>
      <p:grpSp>
        <p:nvGrpSpPr>
          <p:cNvPr id="10" name="Group 28">
            <a:extLst>
              <a:ext uri="{FF2B5EF4-FFF2-40B4-BE49-F238E27FC236}">
                <a16:creationId xmlns:a16="http://schemas.microsoft.com/office/drawing/2014/main" id="{2651BC20-E99B-BDA4-D782-59883424EFB6}"/>
              </a:ext>
            </a:extLst>
          </p:cNvPr>
          <p:cNvGrpSpPr/>
          <p:nvPr/>
        </p:nvGrpSpPr>
        <p:grpSpPr>
          <a:xfrm>
            <a:off x="6890963" y="1913813"/>
            <a:ext cx="4179295" cy="3636786"/>
            <a:chOff x="1267778" y="2161521"/>
            <a:chExt cx="8731885" cy="4307840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BE72592D-1DCB-297D-F8C9-E3C8947A582F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31" name="Freeform: Shape 72">
                <a:extLst>
                  <a:ext uri="{FF2B5EF4-FFF2-40B4-BE49-F238E27FC236}">
                    <a16:creationId xmlns:a16="http://schemas.microsoft.com/office/drawing/2014/main" id="{1C687122-2380-3D4F-11C9-3CDF05F41151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TextBox 73">
                <a:extLst>
                  <a:ext uri="{FF2B5EF4-FFF2-40B4-BE49-F238E27FC236}">
                    <a16:creationId xmlns:a16="http://schemas.microsoft.com/office/drawing/2014/main" id="{03BBC329-2771-95E8-FDA3-83887BBA628A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C9DA3714-3F29-23C2-D40C-FAA070017B98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22" name="Group 58">
                <a:extLst>
                  <a:ext uri="{FF2B5EF4-FFF2-40B4-BE49-F238E27FC236}">
                    <a16:creationId xmlns:a16="http://schemas.microsoft.com/office/drawing/2014/main" id="{C8D95E2D-F964-4D7E-27E0-F48C6B81123F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9" name="Freeform: Shape 62">
                  <a:extLst>
                    <a:ext uri="{FF2B5EF4-FFF2-40B4-BE49-F238E27FC236}">
                      <a16:creationId xmlns:a16="http://schemas.microsoft.com/office/drawing/2014/main" id="{BCA9A7E6-BC39-16E3-5B57-D5338159CDE9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" name="TextBox 63">
                  <a:extLst>
                    <a:ext uri="{FF2B5EF4-FFF2-40B4-BE49-F238E27FC236}">
                      <a16:creationId xmlns:a16="http://schemas.microsoft.com/office/drawing/2014/main" id="{2684C751-02D9-C300-9C0D-D9B1828A9EDF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2">
                <a:extLst>
                  <a:ext uri="{FF2B5EF4-FFF2-40B4-BE49-F238E27FC236}">
                    <a16:creationId xmlns:a16="http://schemas.microsoft.com/office/drawing/2014/main" id="{2027AC54-31AC-0A28-E1AB-00F0E2C12CD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7" name="Freeform: Shape 56">
                  <a:extLst>
                    <a:ext uri="{FF2B5EF4-FFF2-40B4-BE49-F238E27FC236}">
                      <a16:creationId xmlns:a16="http://schemas.microsoft.com/office/drawing/2014/main" id="{533C79A6-1264-BA43-3C29-A9C76440EB28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" name="TextBox 57">
                  <a:extLst>
                    <a:ext uri="{FF2B5EF4-FFF2-40B4-BE49-F238E27FC236}">
                      <a16:creationId xmlns:a16="http://schemas.microsoft.com/office/drawing/2014/main" id="{01C49DF9-CCBF-F91F-A4CE-E2F633EDD48D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0F5DF916-3A2B-F506-DA14-C69DF889F350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5" name="Freeform: Shape 50">
                  <a:extLst>
                    <a:ext uri="{FF2B5EF4-FFF2-40B4-BE49-F238E27FC236}">
                      <a16:creationId xmlns:a16="http://schemas.microsoft.com/office/drawing/2014/main" id="{E8E181D0-1AA6-44C9-D49C-34D7EA2719E2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" name="TextBox 51">
                  <a:extLst>
                    <a:ext uri="{FF2B5EF4-FFF2-40B4-BE49-F238E27FC236}">
                      <a16:creationId xmlns:a16="http://schemas.microsoft.com/office/drawing/2014/main" id="{3A79408D-91BB-884F-9E8A-A68C4CE3A83A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3426B561-7A27-5605-E976-E5330A48ACE6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6F68E33B-7AB9-E1BB-58A8-3B7AF6133BEE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376FE627-8BA7-E808-4D47-02510673CB1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8" name="Freeform: Shape 37">
                <a:extLst>
                  <a:ext uri="{FF2B5EF4-FFF2-40B4-BE49-F238E27FC236}">
                    <a16:creationId xmlns:a16="http://schemas.microsoft.com/office/drawing/2014/main" id="{64E80BDA-CC56-FF93-D7BD-360AC700357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9" name="Freeform: Shape 38">
                <a:extLst>
                  <a:ext uri="{FF2B5EF4-FFF2-40B4-BE49-F238E27FC236}">
                    <a16:creationId xmlns:a16="http://schemas.microsoft.com/office/drawing/2014/main" id="{5F70E777-4818-9C30-09ED-1758BDC4DCD4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9">
                <a:extLst>
                  <a:ext uri="{FF2B5EF4-FFF2-40B4-BE49-F238E27FC236}">
                    <a16:creationId xmlns:a16="http://schemas.microsoft.com/office/drawing/2014/main" id="{C5F67686-1649-F3F0-4E0A-5F3256DB5078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40">
                <a:extLst>
                  <a:ext uri="{FF2B5EF4-FFF2-40B4-BE49-F238E27FC236}">
                    <a16:creationId xmlns:a16="http://schemas.microsoft.com/office/drawing/2014/main" id="{ED3A40A5-FE0A-6D7E-AA15-83E02154EAE4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0753F12C-826B-0E6F-7A95-DADCA1524280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BDA04889-7343-1F02-419B-250C6928F65A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3" name="TextBox 76">
            <a:extLst>
              <a:ext uri="{FF2B5EF4-FFF2-40B4-BE49-F238E27FC236}">
                <a16:creationId xmlns:a16="http://schemas.microsoft.com/office/drawing/2014/main" id="{87FC2C6D-8AF3-2F34-E05F-A91871D196E1}"/>
              </a:ext>
            </a:extLst>
          </p:cNvPr>
          <p:cNvSpPr txBox="1"/>
          <p:nvPr/>
        </p:nvSpPr>
        <p:spPr>
          <a:xfrm>
            <a:off x="8901227" y="4907639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1,091K</a:t>
            </a:r>
          </a:p>
        </p:txBody>
      </p:sp>
      <p:sp>
        <p:nvSpPr>
          <p:cNvPr id="34" name="TextBox 77">
            <a:extLst>
              <a:ext uri="{FF2B5EF4-FFF2-40B4-BE49-F238E27FC236}">
                <a16:creationId xmlns:a16="http://schemas.microsoft.com/office/drawing/2014/main" id="{6EF280A6-2C9E-C5C6-D23A-E72426A58D77}"/>
              </a:ext>
            </a:extLst>
          </p:cNvPr>
          <p:cNvSpPr txBox="1"/>
          <p:nvPr/>
        </p:nvSpPr>
        <p:spPr>
          <a:xfrm>
            <a:off x="9124160" y="3982584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629K</a:t>
            </a:r>
          </a:p>
        </p:txBody>
      </p:sp>
      <p:sp>
        <p:nvSpPr>
          <p:cNvPr id="35" name="TextBox 78">
            <a:extLst>
              <a:ext uri="{FF2B5EF4-FFF2-40B4-BE49-F238E27FC236}">
                <a16:creationId xmlns:a16="http://schemas.microsoft.com/office/drawing/2014/main" id="{D51C5553-872B-D424-6416-8DA703AA4FA8}"/>
              </a:ext>
            </a:extLst>
          </p:cNvPr>
          <p:cNvSpPr txBox="1"/>
          <p:nvPr/>
        </p:nvSpPr>
        <p:spPr>
          <a:xfrm>
            <a:off x="9343616" y="3039839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413K</a:t>
            </a:r>
          </a:p>
        </p:txBody>
      </p:sp>
      <p:sp>
        <p:nvSpPr>
          <p:cNvPr id="36" name="TextBox 79">
            <a:extLst>
              <a:ext uri="{FF2B5EF4-FFF2-40B4-BE49-F238E27FC236}">
                <a16:creationId xmlns:a16="http://schemas.microsoft.com/office/drawing/2014/main" id="{74611794-C5E8-BE9B-A527-30CC9174C136}"/>
              </a:ext>
            </a:extLst>
          </p:cNvPr>
          <p:cNvSpPr txBox="1"/>
          <p:nvPr/>
        </p:nvSpPr>
        <p:spPr>
          <a:xfrm>
            <a:off x="9563072" y="2108304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228K</a:t>
            </a:r>
          </a:p>
        </p:txBody>
      </p:sp>
      <p:pic>
        <p:nvPicPr>
          <p:cNvPr id="37" name="Picture 27">
            <a:extLst>
              <a:ext uri="{FF2B5EF4-FFF2-40B4-BE49-F238E27FC236}">
                <a16:creationId xmlns:a16="http://schemas.microsoft.com/office/drawing/2014/main" id="{CAD54B8B-1EAC-1354-F8DC-34FB66A1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8" name="Freeform 13">
            <a:extLst>
              <a:ext uri="{FF2B5EF4-FFF2-40B4-BE49-F238E27FC236}">
                <a16:creationId xmlns:a16="http://schemas.microsoft.com/office/drawing/2014/main" id="{93833C5C-0E19-A450-62F7-B57A02F7A8D9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01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44127"/>
              </p:ext>
            </p:extLst>
          </p:nvPr>
        </p:nvGraphicFramePr>
        <p:xfrm>
          <a:off x="1040860" y="967085"/>
          <a:ext cx="7354110" cy="4940842"/>
        </p:xfrm>
        <a:graphic>
          <a:graphicData uri="http://schemas.openxmlformats.org/drawingml/2006/table">
            <a:tbl>
              <a:tblPr/>
              <a:tblGrid>
                <a:gridCol w="1470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219B96A1-68A2-4800-5A1C-AF8B34D1B39E}"/>
              </a:ext>
            </a:extLst>
          </p:cNvPr>
          <p:cNvSpPr txBox="1"/>
          <p:nvPr/>
        </p:nvSpPr>
        <p:spPr>
          <a:xfrm>
            <a:off x="8956135" y="2024060"/>
            <a:ext cx="28681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 most commercial plans in the Tulsa area, Ascension receives ~17% of inpatient market share and ~7% of outpatient market share. This plan would have a far higher percentage of patients choosing Ascension Health.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muted because of Saint Francis’s strong brand.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experience. </a:t>
            </a:r>
          </a:p>
        </p:txBody>
      </p:sp>
    </p:spTree>
    <p:extLst>
      <p:ext uri="{BB962C8B-B14F-4D97-AF65-F5344CB8AC3E}">
        <p14:creationId xmlns:p14="http://schemas.microsoft.com/office/powerpoint/2010/main" val="131199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$7.81M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$1.33M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$46.16M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$8.87M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$94.24M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$18.28M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7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2,800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$ 1,488,861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$ 1,206,869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$ 563,597.5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$ 3,259,328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$ 285,861.3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$ 231,718.8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$ 108,210.7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$ 625,790.9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$ 2,900,589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$ 33,600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$ 2,905,389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$ 2,754,189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$ 5,563,155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$ 8,727,663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$ 4,075,745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$ 18,366,563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$ 1,068,126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$ 1,675,711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$ 782,543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$ 3,526,380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18% (inpatient) and 8%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19.2%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19.2%,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627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E74C-CCC7-E319-3056-7C641C6F4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5AB9-2820-D806-4FD1-603B83B7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OKLAHOMA</a:t>
            </a:r>
            <a:br>
              <a:rPr lang="en-US" dirty="0"/>
            </a:br>
            <a:r>
              <a:rPr lang="en-US" dirty="0"/>
              <a:t>PARTNERED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E137D-5341-91A4-F79F-D7AC03BC9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size and growth modeled in active partnership with Saint Francis Health System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EF416AD8-F6F8-8D9B-4525-1751369F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D2CFCE4E-744A-2543-9F14-23498EF9548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95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563434" y="1264413"/>
            <a:ext cx="7750077" cy="4876800"/>
          </a:xfrm>
          <a:prstGeom prst="rect">
            <a:avLst/>
          </a:prstGeom>
        </p:spPr>
      </p:pic>
      <p:grpSp>
        <p:nvGrpSpPr>
          <p:cNvPr id="33" name="Group 28">
            <a:extLst>
              <a:ext uri="{FF2B5EF4-FFF2-40B4-BE49-F238E27FC236}">
                <a16:creationId xmlns:a16="http://schemas.microsoft.com/office/drawing/2014/main" id="{641D03C1-09A4-7159-6C40-1F7890EF192D}"/>
              </a:ext>
            </a:extLst>
          </p:cNvPr>
          <p:cNvGrpSpPr/>
          <p:nvPr/>
        </p:nvGrpSpPr>
        <p:grpSpPr>
          <a:xfrm>
            <a:off x="7201019" y="1504341"/>
            <a:ext cx="4179295" cy="3636786"/>
            <a:chOff x="1267778" y="2161521"/>
            <a:chExt cx="8731885" cy="4307840"/>
          </a:xfrm>
        </p:grpSpPr>
        <p:grpSp>
          <p:nvGrpSpPr>
            <p:cNvPr id="34" name="Group 29">
              <a:extLst>
                <a:ext uri="{FF2B5EF4-FFF2-40B4-BE49-F238E27FC236}">
                  <a16:creationId xmlns:a16="http://schemas.microsoft.com/office/drawing/2014/main" id="{58C75B3E-F675-4729-4130-220E41E9F24B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4" name="Freeform: Shape 72">
                <a:extLst>
                  <a:ext uri="{FF2B5EF4-FFF2-40B4-BE49-F238E27FC236}">
                    <a16:creationId xmlns:a16="http://schemas.microsoft.com/office/drawing/2014/main" id="{455AF22A-E213-2930-F9C3-81DD4B7A5ADD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TextBox 73">
                <a:extLst>
                  <a:ext uri="{FF2B5EF4-FFF2-40B4-BE49-F238E27FC236}">
                    <a16:creationId xmlns:a16="http://schemas.microsoft.com/office/drawing/2014/main" id="{FFDFB363-E524-A979-0C3E-8E4B8AB7009D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Group 30">
              <a:extLst>
                <a:ext uri="{FF2B5EF4-FFF2-40B4-BE49-F238E27FC236}">
                  <a16:creationId xmlns:a16="http://schemas.microsoft.com/office/drawing/2014/main" id="{318DBC67-B77F-70DB-A0C9-7068B671086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45" name="Group 58">
                <a:extLst>
                  <a:ext uri="{FF2B5EF4-FFF2-40B4-BE49-F238E27FC236}">
                    <a16:creationId xmlns:a16="http://schemas.microsoft.com/office/drawing/2014/main" id="{7450A056-7E65-8992-9D6D-B84CF39FE4E2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52" name="Freeform: Shape 62">
                  <a:extLst>
                    <a:ext uri="{FF2B5EF4-FFF2-40B4-BE49-F238E27FC236}">
                      <a16:creationId xmlns:a16="http://schemas.microsoft.com/office/drawing/2014/main" id="{FFF6B35F-817D-F91A-5A4C-F34A27E2EC25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" name="TextBox 63">
                  <a:extLst>
                    <a:ext uri="{FF2B5EF4-FFF2-40B4-BE49-F238E27FC236}">
                      <a16:creationId xmlns:a16="http://schemas.microsoft.com/office/drawing/2014/main" id="{B8C84015-5358-885D-622E-23630F45E54E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6" name="Group 52">
                <a:extLst>
                  <a:ext uri="{FF2B5EF4-FFF2-40B4-BE49-F238E27FC236}">
                    <a16:creationId xmlns:a16="http://schemas.microsoft.com/office/drawing/2014/main" id="{F926E156-52A8-300D-3092-995BC46FCA34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50" name="Freeform: Shape 56">
                  <a:extLst>
                    <a:ext uri="{FF2B5EF4-FFF2-40B4-BE49-F238E27FC236}">
                      <a16:creationId xmlns:a16="http://schemas.microsoft.com/office/drawing/2014/main" id="{7B5F1C17-D28B-FEBC-DF07-7AEEA7FD3FA0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" name="TextBox 57">
                  <a:extLst>
                    <a:ext uri="{FF2B5EF4-FFF2-40B4-BE49-F238E27FC236}">
                      <a16:creationId xmlns:a16="http://schemas.microsoft.com/office/drawing/2014/main" id="{A7CC2BAE-9BC5-C549-5A27-505ED115CF9B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8D8AC6FA-88C7-7FA1-A08E-9764F76C17F0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48" name="Freeform: Shape 50">
                  <a:extLst>
                    <a:ext uri="{FF2B5EF4-FFF2-40B4-BE49-F238E27FC236}">
                      <a16:creationId xmlns:a16="http://schemas.microsoft.com/office/drawing/2014/main" id="{C65D81E2-AA3F-E6BD-5668-685DFDF89562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" name="TextBox 51">
                  <a:extLst>
                    <a:ext uri="{FF2B5EF4-FFF2-40B4-BE49-F238E27FC236}">
                      <a16:creationId xmlns:a16="http://schemas.microsoft.com/office/drawing/2014/main" id="{383A3DEB-6852-AC92-94E7-4547DD1A876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6" name="Freeform: Shape 31">
              <a:extLst>
                <a:ext uri="{FF2B5EF4-FFF2-40B4-BE49-F238E27FC236}">
                  <a16:creationId xmlns:a16="http://schemas.microsoft.com/office/drawing/2014/main" id="{68BEA33E-A81D-AA65-0CC7-A9297774B5CC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37" name="Group 32">
              <a:extLst>
                <a:ext uri="{FF2B5EF4-FFF2-40B4-BE49-F238E27FC236}">
                  <a16:creationId xmlns:a16="http://schemas.microsoft.com/office/drawing/2014/main" id="{91A21CBD-D9F6-A798-BA38-EB16AC902414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40" name="Freeform: Shape 36">
                <a:extLst>
                  <a:ext uri="{FF2B5EF4-FFF2-40B4-BE49-F238E27FC236}">
                    <a16:creationId xmlns:a16="http://schemas.microsoft.com/office/drawing/2014/main" id="{FC733BBB-F33A-685E-0FEE-460F6E3D0CA5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Freeform: Shape 37">
                <a:extLst>
                  <a:ext uri="{FF2B5EF4-FFF2-40B4-BE49-F238E27FC236}">
                    <a16:creationId xmlns:a16="http://schemas.microsoft.com/office/drawing/2014/main" id="{B5D00FD6-9F8E-D499-52AF-A7CF88796F0D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: Shape 38">
                <a:extLst>
                  <a:ext uri="{FF2B5EF4-FFF2-40B4-BE49-F238E27FC236}">
                    <a16:creationId xmlns:a16="http://schemas.microsoft.com/office/drawing/2014/main" id="{091FF972-C9D3-41CA-80DF-5C583D2E9B10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: Shape 39">
                <a:extLst>
                  <a:ext uri="{FF2B5EF4-FFF2-40B4-BE49-F238E27FC236}">
                    <a16:creationId xmlns:a16="http://schemas.microsoft.com/office/drawing/2014/main" id="{9BE27708-F244-AA28-20A9-629EDD5F8B21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Freeform: Shape 40">
                <a:extLst>
                  <a:ext uri="{FF2B5EF4-FFF2-40B4-BE49-F238E27FC236}">
                    <a16:creationId xmlns:a16="http://schemas.microsoft.com/office/drawing/2014/main" id="{EC9A14A3-0B55-AD88-BE8D-DA4F71629684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38" name="Freeform: Shape 33">
              <a:extLst>
                <a:ext uri="{FF2B5EF4-FFF2-40B4-BE49-F238E27FC236}">
                  <a16:creationId xmlns:a16="http://schemas.microsoft.com/office/drawing/2014/main" id="{6AA04FAE-A685-9B63-2001-18C4997C7CF7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39" name="Freeform: Shape 34">
              <a:extLst>
                <a:ext uri="{FF2B5EF4-FFF2-40B4-BE49-F238E27FC236}">
                  <a16:creationId xmlns:a16="http://schemas.microsoft.com/office/drawing/2014/main" id="{FBD0A85B-DD48-8298-336B-F2C0AB0A10AB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56" name="TextBox 76">
            <a:extLst>
              <a:ext uri="{FF2B5EF4-FFF2-40B4-BE49-F238E27FC236}">
                <a16:creationId xmlns:a16="http://schemas.microsoft.com/office/drawing/2014/main" id="{A22F8070-7D8F-FDD9-2094-B1A46D04B5E4}"/>
              </a:ext>
            </a:extLst>
          </p:cNvPr>
          <p:cNvSpPr txBox="1"/>
          <p:nvPr/>
        </p:nvSpPr>
        <p:spPr>
          <a:xfrm>
            <a:off x="9211283" y="4498167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1,298K</a:t>
            </a:r>
          </a:p>
        </p:txBody>
      </p:sp>
      <p:sp>
        <p:nvSpPr>
          <p:cNvPr id="57" name="TextBox 77">
            <a:extLst>
              <a:ext uri="{FF2B5EF4-FFF2-40B4-BE49-F238E27FC236}">
                <a16:creationId xmlns:a16="http://schemas.microsoft.com/office/drawing/2014/main" id="{A8ED1D4B-8390-DC51-E080-4E271691E4A8}"/>
              </a:ext>
            </a:extLst>
          </p:cNvPr>
          <p:cNvSpPr txBox="1"/>
          <p:nvPr/>
        </p:nvSpPr>
        <p:spPr>
          <a:xfrm>
            <a:off x="9434216" y="3573112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743K</a:t>
            </a:r>
          </a:p>
        </p:txBody>
      </p:sp>
      <p:sp>
        <p:nvSpPr>
          <p:cNvPr id="58" name="TextBox 78">
            <a:extLst>
              <a:ext uri="{FF2B5EF4-FFF2-40B4-BE49-F238E27FC236}">
                <a16:creationId xmlns:a16="http://schemas.microsoft.com/office/drawing/2014/main" id="{E9790ECD-FB3B-0AFE-29DE-29DE4D78CEDB}"/>
              </a:ext>
            </a:extLst>
          </p:cNvPr>
          <p:cNvSpPr txBox="1"/>
          <p:nvPr/>
        </p:nvSpPr>
        <p:spPr>
          <a:xfrm>
            <a:off x="9653672" y="2630367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474K</a:t>
            </a:r>
          </a:p>
        </p:txBody>
      </p:sp>
      <p:sp>
        <p:nvSpPr>
          <p:cNvPr id="59" name="TextBox 79">
            <a:extLst>
              <a:ext uri="{FF2B5EF4-FFF2-40B4-BE49-F238E27FC236}">
                <a16:creationId xmlns:a16="http://schemas.microsoft.com/office/drawing/2014/main" id="{EE9C052D-323A-C7C3-9412-E07B34663FA4}"/>
              </a:ext>
            </a:extLst>
          </p:cNvPr>
          <p:cNvSpPr txBox="1"/>
          <p:nvPr/>
        </p:nvSpPr>
        <p:spPr>
          <a:xfrm>
            <a:off x="9873128" y="1698832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262K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CC313F41-3F07-1B98-4054-B6A33893FB7D}"/>
              </a:ext>
            </a:extLst>
          </p:cNvPr>
          <p:cNvSpPr txBox="1">
            <a:spLocks/>
          </p:cNvSpPr>
          <p:nvPr/>
        </p:nvSpPr>
        <p:spPr>
          <a:xfrm>
            <a:off x="81786" y="43143"/>
            <a:ext cx="12028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PARTNERED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3" name="Picture 27">
            <a:extLst>
              <a:ext uri="{FF2B5EF4-FFF2-40B4-BE49-F238E27FC236}">
                <a16:creationId xmlns:a16="http://schemas.microsoft.com/office/drawing/2014/main" id="{E4347273-983C-F179-7901-01B601D9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4" name="Freeform 13">
            <a:extLst>
              <a:ext uri="{FF2B5EF4-FFF2-40B4-BE49-F238E27FC236}">
                <a16:creationId xmlns:a16="http://schemas.microsoft.com/office/drawing/2014/main" id="{9635FEB9-D475-3CF9-4A65-760C3C9E2633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7FD434A-7EBF-5AEC-C978-C2CA300875E8}"/>
              </a:ext>
            </a:extLst>
          </p:cNvPr>
          <p:cNvSpPr/>
          <p:nvPr/>
        </p:nvSpPr>
        <p:spPr>
          <a:xfrm>
            <a:off x="5868365" y="5451676"/>
            <a:ext cx="5810491" cy="904674"/>
          </a:xfrm>
          <a:prstGeom prst="round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Partnered market size is larger than standalone as Saint Francis’s facilities increase reach. </a:t>
            </a:r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0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STRONGER FORECASTED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79576" y="1498060"/>
          <a:ext cx="6858000" cy="46387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67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7B017113-5C27-6A1D-7BE1-A89B193C65ED}"/>
              </a:ext>
            </a:extLst>
          </p:cNvPr>
          <p:cNvSpPr txBox="1"/>
          <p:nvPr/>
        </p:nvSpPr>
        <p:spPr>
          <a:xfrm>
            <a:off x="8828813" y="1871021"/>
            <a:ext cx="28681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 most commercial plans in the Tulsa area, Ascension receives ~17% of inpatient market share and ~7% of outpatient market share. This plan would have a far higher percentage of patients choosing Ascension Health.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experience, assuming Ascension receives 31% of steered care.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far stronger in a partnered health plan.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$9.87M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$1.86M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$53.46M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$10.34M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$103.47M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$20.07M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2800" b="0" dirty="0"/>
              <a:t>STRONGER PROFITABILITY THROUGH PARTNERSHIP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9,600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$ 4,735,913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$ 3,734,572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$ 1,744,013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$ 10,214,498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$ 909,295.3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$ 717,037.8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$ 334,850.6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$ 1,961,184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$ 3,639,143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$ 36,000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$ 3,640,643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-$ 56,250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$ 3,618,893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$ 7,954,238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$ 14,460,977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$ 6,753,153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$ 29,168,368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$ 1,527,214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$ 2,776,508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$ 1,296,605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$ 5,600,327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† Assuming proportional revenues from market shares of 17% (inpatient) and 7%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‡ Conservatively assuming a commercial margin of 19.2%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⁰ Assuming 28% inpatient and 28%  market steerage based on KBA narrow network DTE experience.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* Conservatively assuming a commercial margin of 19.2%,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2790-F39D-81DE-4C02-F52876ED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B599-5AB6-9AB6-2D14-426A46D3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ASCENSION TENNESSEE PLAN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1B61-E54C-2358-9C01-384A0A6C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Plan size and growth modeled on a standalone Ascension Health TN Plan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B6CF4901-20B5-ED87-BDA7-4CB0ABA4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5155B111-6BE3-0CBD-7AAE-87406FA1EB75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741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998713" y="117297"/>
            <a:ext cx="9157547" cy="6926917"/>
          </a:xfrm>
          <a:prstGeom prst="rect">
            <a:avLst/>
          </a:prstGeom>
        </p:spPr>
      </p:pic>
      <p:grpSp>
        <p:nvGrpSpPr>
          <p:cNvPr id="10" name="Group 28">
            <a:extLst>
              <a:ext uri="{FF2B5EF4-FFF2-40B4-BE49-F238E27FC236}">
                <a16:creationId xmlns:a16="http://schemas.microsoft.com/office/drawing/2014/main" id="{1659C026-6E6A-595A-CA12-0EAF987788AE}"/>
              </a:ext>
            </a:extLst>
          </p:cNvPr>
          <p:cNvGrpSpPr/>
          <p:nvPr/>
        </p:nvGrpSpPr>
        <p:grpSpPr>
          <a:xfrm>
            <a:off x="7390809" y="2044135"/>
            <a:ext cx="4179295" cy="3636786"/>
            <a:chOff x="1267778" y="2161521"/>
            <a:chExt cx="8731885" cy="4307840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5EDB3AAA-1526-5225-96C9-BD9484AF57F5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31" name="Freeform: Shape 72">
                <a:extLst>
                  <a:ext uri="{FF2B5EF4-FFF2-40B4-BE49-F238E27FC236}">
                    <a16:creationId xmlns:a16="http://schemas.microsoft.com/office/drawing/2014/main" id="{9A9E1D25-90C0-5E43-C22A-24952452A89D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marR="0" lvl="0" indent="0" algn="l" defTabSz="18669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4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2" name="TextBox 73">
                <a:extLst>
                  <a:ext uri="{FF2B5EF4-FFF2-40B4-BE49-F238E27FC236}">
                    <a16:creationId xmlns:a16="http://schemas.microsoft.com/office/drawing/2014/main" id="{5EF202A3-28B7-A86E-7352-BFCA330A4650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rPr>
                  <a:t>Population</a:t>
                </a:r>
                <a:endParaRPr kumimoji="0" lang="en-I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5C692578-3BDA-AA2C-3721-CB173728D731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22" name="Group 58">
                <a:extLst>
                  <a:ext uri="{FF2B5EF4-FFF2-40B4-BE49-F238E27FC236}">
                    <a16:creationId xmlns:a16="http://schemas.microsoft.com/office/drawing/2014/main" id="{16658A04-0DAD-D395-B7BF-7D3B78311D40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9" name="Freeform: Shape 62">
                  <a:extLst>
                    <a:ext uri="{FF2B5EF4-FFF2-40B4-BE49-F238E27FC236}">
                      <a16:creationId xmlns:a16="http://schemas.microsoft.com/office/drawing/2014/main" id="{80AA68E3-0F34-A27C-C649-C86A157DCA6C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63">
                  <a:extLst>
                    <a:ext uri="{FF2B5EF4-FFF2-40B4-BE49-F238E27FC236}">
                      <a16:creationId xmlns:a16="http://schemas.microsoft.com/office/drawing/2014/main" id="{83AA3355-FFFA-FE6A-9329-DC3F28FDCC24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Working Age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2">
                <a:extLst>
                  <a:ext uri="{FF2B5EF4-FFF2-40B4-BE49-F238E27FC236}">
                    <a16:creationId xmlns:a16="http://schemas.microsoft.com/office/drawing/2014/main" id="{1F4F0FC6-8DB0-FC4D-EDDC-414805273B06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7" name="Freeform: Shape 56">
                  <a:extLst>
                    <a:ext uri="{FF2B5EF4-FFF2-40B4-BE49-F238E27FC236}">
                      <a16:creationId xmlns:a16="http://schemas.microsoft.com/office/drawing/2014/main" id="{008B4278-CFEB-05A9-81B7-23EB4EAE55EE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TextBox 57">
                  <a:extLst>
                    <a:ext uri="{FF2B5EF4-FFF2-40B4-BE49-F238E27FC236}">
                      <a16:creationId xmlns:a16="http://schemas.microsoft.com/office/drawing/2014/main" id="{029780AF-D33F-AF40-FB25-7A19552C5D1B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Insured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8C369751-555C-A958-F744-CBE2B068E65C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5" name="Freeform: Shape 50">
                  <a:extLst>
                    <a:ext uri="{FF2B5EF4-FFF2-40B4-BE49-F238E27FC236}">
                      <a16:creationId xmlns:a16="http://schemas.microsoft.com/office/drawing/2014/main" id="{9BFF3471-726B-9FFE-655D-85B7A087F7B1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marR="0" lvl="0" indent="0" algn="l" defTabSz="18669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4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TextBox 51">
                  <a:extLst>
                    <a:ext uri="{FF2B5EF4-FFF2-40B4-BE49-F238E27FC236}">
                      <a16:creationId xmlns:a16="http://schemas.microsoft.com/office/drawing/2014/main" id="{39582C19-D1CB-0A71-9D99-DBB01390ADF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ontserrat" panose="00000500000000000000" pitchFamily="2" charset="0"/>
                      <a:ea typeface="+mn-ea"/>
                      <a:cs typeface="Arial" panose="020B0604020202020204" pitchFamily="34" charset="0"/>
                    </a:rPr>
                    <a:t>Self Funded</a:t>
                  </a:r>
                  <a:endParaRPr kumimoji="0" lang="en-I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F717689D-CE36-BCFF-BBE0-D8C786052140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F40D5DE3-9E89-1394-2583-E81930C3B441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6AB0770A-799C-35AB-7E4D-4FC8DBC1F514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37">
                <a:extLst>
                  <a:ext uri="{FF2B5EF4-FFF2-40B4-BE49-F238E27FC236}">
                    <a16:creationId xmlns:a16="http://schemas.microsoft.com/office/drawing/2014/main" id="{EC38C993-1253-2415-06FB-4C98B47F29C2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38">
                <a:extLst>
                  <a:ext uri="{FF2B5EF4-FFF2-40B4-BE49-F238E27FC236}">
                    <a16:creationId xmlns:a16="http://schemas.microsoft.com/office/drawing/2014/main" id="{8C2144D4-7F6C-0972-2BE4-9C2C2309479F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39">
                <a:extLst>
                  <a:ext uri="{FF2B5EF4-FFF2-40B4-BE49-F238E27FC236}">
                    <a16:creationId xmlns:a16="http://schemas.microsoft.com/office/drawing/2014/main" id="{076F9CEE-37A3-9259-4545-60DE3FDE4909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40">
                <a:extLst>
                  <a:ext uri="{FF2B5EF4-FFF2-40B4-BE49-F238E27FC236}">
                    <a16:creationId xmlns:a16="http://schemas.microsoft.com/office/drawing/2014/main" id="{F78E9620-8899-F94C-16B7-40A2F431171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4CCF33F2-BE5F-EDD4-1987-EDC4769E8316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34A73D35-8E3C-A475-713E-621696A77912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marR="0" lvl="0" indent="0" algn="ctr" defTabSz="12446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TextBox 76">
            <a:extLst>
              <a:ext uri="{FF2B5EF4-FFF2-40B4-BE49-F238E27FC236}">
                <a16:creationId xmlns:a16="http://schemas.microsoft.com/office/drawing/2014/main" id="{528FE47F-A6B1-8FA4-4718-B142F3AACCB7}"/>
              </a:ext>
            </a:extLst>
          </p:cNvPr>
          <p:cNvSpPr txBox="1"/>
          <p:nvPr/>
        </p:nvSpPr>
        <p:spPr>
          <a:xfrm>
            <a:off x="9401073" y="5037961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2,279K</a:t>
            </a:r>
          </a:p>
        </p:txBody>
      </p:sp>
      <p:sp>
        <p:nvSpPr>
          <p:cNvPr id="34" name="TextBox 77">
            <a:extLst>
              <a:ext uri="{FF2B5EF4-FFF2-40B4-BE49-F238E27FC236}">
                <a16:creationId xmlns:a16="http://schemas.microsoft.com/office/drawing/2014/main" id="{18A0FAEA-1975-2BA8-4C73-F227AEB16EF7}"/>
              </a:ext>
            </a:extLst>
          </p:cNvPr>
          <p:cNvSpPr txBox="1"/>
          <p:nvPr/>
        </p:nvSpPr>
        <p:spPr>
          <a:xfrm>
            <a:off x="9624006" y="4112906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1,388K</a:t>
            </a:r>
          </a:p>
        </p:txBody>
      </p:sp>
      <p:sp>
        <p:nvSpPr>
          <p:cNvPr id="35" name="TextBox 78">
            <a:extLst>
              <a:ext uri="{FF2B5EF4-FFF2-40B4-BE49-F238E27FC236}">
                <a16:creationId xmlns:a16="http://schemas.microsoft.com/office/drawing/2014/main" id="{BE66BA2C-080D-0C49-E332-6466D79F7FFE}"/>
              </a:ext>
            </a:extLst>
          </p:cNvPr>
          <p:cNvSpPr txBox="1"/>
          <p:nvPr/>
        </p:nvSpPr>
        <p:spPr>
          <a:xfrm>
            <a:off x="9843462" y="3170161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1,003K</a:t>
            </a:r>
          </a:p>
        </p:txBody>
      </p:sp>
      <p:sp>
        <p:nvSpPr>
          <p:cNvPr id="36" name="TextBox 79">
            <a:extLst>
              <a:ext uri="{FF2B5EF4-FFF2-40B4-BE49-F238E27FC236}">
                <a16:creationId xmlns:a16="http://schemas.microsoft.com/office/drawing/2014/main" id="{594D5E4E-BF78-C715-850E-55AF29902AD4}"/>
              </a:ext>
            </a:extLst>
          </p:cNvPr>
          <p:cNvSpPr txBox="1"/>
          <p:nvPr/>
        </p:nvSpPr>
        <p:spPr>
          <a:xfrm>
            <a:off x="10062918" y="2238626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551K</a:t>
            </a:r>
          </a:p>
        </p:txBody>
      </p:sp>
      <p:pic>
        <p:nvPicPr>
          <p:cNvPr id="37" name="Picture 27">
            <a:extLst>
              <a:ext uri="{FF2B5EF4-FFF2-40B4-BE49-F238E27FC236}">
                <a16:creationId xmlns:a16="http://schemas.microsoft.com/office/drawing/2014/main" id="{FCA7DF71-C98B-2FCE-F987-43E89F3DB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8" name="Freeform 13">
            <a:extLst>
              <a:ext uri="{FF2B5EF4-FFF2-40B4-BE49-F238E27FC236}">
                <a16:creationId xmlns:a16="http://schemas.microsoft.com/office/drawing/2014/main" id="{E86849F7-88F2-08D9-19AE-31AC5C0EC53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784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0B2E"/>
                </a:solidFill>
                <a:cs typeface="Arial" panose="020B0604020202020204" pitchFamily="34" charset="0"/>
              </a:rPr>
              <a:t>ASCENSION HEALTH IS EVEN WITH VANDERBILT  AND LEADING OTHER HEALTH SYSTEMS IN REPUTATION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00187"/>
              </p:ext>
            </p:extLst>
          </p:nvPr>
        </p:nvGraphicFramePr>
        <p:xfrm>
          <a:off x="731134" y="2098709"/>
          <a:ext cx="10729731" cy="3621020"/>
        </p:xfrm>
        <a:graphic>
          <a:graphicData uri="http://schemas.openxmlformats.org/drawingml/2006/table">
            <a:tbl>
              <a:tblPr/>
              <a:tblGrid>
                <a:gridCol w="3719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0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Vanderbilt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71A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B7BB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1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BA1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Maury Regional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Williamson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065A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576A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Cookeville Regional Medical Center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EE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11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LifePoint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DAE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D6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44560" y="1763299"/>
            <a:ext cx="28681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currently estimates that Ascension Health TN has 18% inpatient market share, and 7% outpatient market compared to hospitals/clinics in the Ascension Health TN service area.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Based on previous DTE experience, KBA expects a significant bump in patient steerage to Ascension Health TN.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Additional steerage will occur from additional steerage patient benefits and the patient card.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" y="1330964"/>
          <a:ext cx="7479790" cy="4832101"/>
        </p:xfrm>
        <a:graphic>
          <a:graphicData uri="http://schemas.openxmlformats.org/drawingml/2006/table">
            <a:tbl>
              <a:tblPr/>
              <a:tblGrid>
                <a:gridCol w="14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13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8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046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1,956.7K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3,773.7K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6,810.5K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10,453.0K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1,643.5K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3,626.1K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6,684.5K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10,353.4K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2,795.3K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5,730.4K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10,140.1K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15,757.5K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2,489.3K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5,599.6K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10,040.5K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15,698.7K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978.4K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1,956.7K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3,329.6K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5,304.5K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656.8K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1,793.5K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3,176.0K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5,165.3K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6,700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$ 3,855,895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$ 2,726,150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$ 1,273,089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$ 7,855,135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$ 863,720.5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$ 610,657.7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$ 285,171.9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$ 1,759,550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$ 10,372,613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$ 80,400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$ 10,377,413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$ 10,273,013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$ 15,797,669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$ 26,151,326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$ 12,212,447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$ 54,161,442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$ 3,538,678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$ 5,857,897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$ 2,735,588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$ 12,132,163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† Assuming proportional revenues from market shares of 18% (inpatient) and 7%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‡ Conservatively assuming a commercial margin of 22.4%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⁰ Assuming 74% inpatient and 67%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* Conservatively assuming a commercial margin of 22.4%,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943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$24.59M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$5.57M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$129.47M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$30.29M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$246.81M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$57.95M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95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F7BD-B98A-4AA7-FCC9-1577834E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FA5B-3012-495A-8DBB-417B7882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PARTNERED </a:t>
            </a:r>
            <a:br>
              <a:rPr lang="en-US" dirty="0"/>
            </a:br>
            <a:r>
              <a:rPr lang="en-US" dirty="0"/>
              <a:t>ASCENSION TENNESSEE PLAN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3A53C-9D16-0B7C-4F16-0E8AD630E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Plan size and growth modeled on a partnership with Vanderbilt</a:t>
            </a:r>
          </a:p>
        </p:txBody>
      </p:sp>
      <p:pic>
        <p:nvPicPr>
          <p:cNvPr id="4" name="Picture 27">
            <a:extLst>
              <a:ext uri="{FF2B5EF4-FFF2-40B4-BE49-F238E27FC236}">
                <a16:creationId xmlns:a16="http://schemas.microsoft.com/office/drawing/2014/main" id="{9594E83F-D7B9-D92D-72E8-F8D0038A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EE18DEA-799E-39C9-A91E-CC8B178BD07E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339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CCEF-8F77-8FD5-B8BB-C2CF66F26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>
            <a:extLst>
              <a:ext uri="{FF2B5EF4-FFF2-40B4-BE49-F238E27FC236}">
                <a16:creationId xmlns:a16="http://schemas.microsoft.com/office/drawing/2014/main" id="{F7971862-13DA-865E-B9CE-3FEAF50A83D7}"/>
              </a:ext>
            </a:extLst>
          </p:cNvPr>
          <p:cNvSpPr txBox="1">
            <a:spLocks/>
          </p:cNvSpPr>
          <p:nvPr/>
        </p:nvSpPr>
        <p:spPr>
          <a:xfrm>
            <a:off x="81786" y="43143"/>
            <a:ext cx="120284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150" baseline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0" dirty="0">
                <a:solidFill>
                  <a:srgbClr val="000B2E"/>
                </a:solidFill>
              </a:rPr>
              <a:t>MEASURING PARTNERED MARKET SIZE</a:t>
            </a:r>
            <a:endParaRPr lang="en-US" sz="16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3" name="Picture 27">
            <a:extLst>
              <a:ext uri="{FF2B5EF4-FFF2-40B4-BE49-F238E27FC236}">
                <a16:creationId xmlns:a16="http://schemas.microsoft.com/office/drawing/2014/main" id="{563224EA-1A24-7F34-DAA2-A7837BF7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4" name="Freeform 13">
            <a:extLst>
              <a:ext uri="{FF2B5EF4-FFF2-40B4-BE49-F238E27FC236}">
                <a16:creationId xmlns:a16="http://schemas.microsoft.com/office/drawing/2014/main" id="{841BFEBF-BBED-903F-22B4-7F2B928DC7D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394677E-2184-E15D-B40B-768B4CE42038}"/>
              </a:ext>
            </a:extLst>
          </p:cNvPr>
          <p:cNvSpPr/>
          <p:nvPr/>
        </p:nvSpPr>
        <p:spPr>
          <a:xfrm>
            <a:off x="5868365" y="5451676"/>
            <a:ext cx="5810491" cy="904674"/>
          </a:xfrm>
          <a:prstGeom prst="round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Partnered market size is larger than standalone as Vanderbilt increases plan reach. 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093882AB-934C-DDAA-AF48-F07A622E34D2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501" y="1027213"/>
            <a:ext cx="6767347" cy="4876800"/>
          </a:xfrm>
          <a:prstGeom prst="rect">
            <a:avLst/>
          </a:prstGeom>
        </p:spPr>
      </p:pic>
      <p:grpSp>
        <p:nvGrpSpPr>
          <p:cNvPr id="5" name="Group 28">
            <a:extLst>
              <a:ext uri="{FF2B5EF4-FFF2-40B4-BE49-F238E27FC236}">
                <a16:creationId xmlns:a16="http://schemas.microsoft.com/office/drawing/2014/main" id="{A12D6302-44BF-8D3F-445A-5DAF0BE81845}"/>
              </a:ext>
            </a:extLst>
          </p:cNvPr>
          <p:cNvGrpSpPr/>
          <p:nvPr/>
        </p:nvGrpSpPr>
        <p:grpSpPr>
          <a:xfrm>
            <a:off x="7196204" y="1615688"/>
            <a:ext cx="4179295" cy="3636786"/>
            <a:chOff x="1267778" y="2161521"/>
            <a:chExt cx="8731885" cy="43078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91EDB8A0-9AC1-CAA4-63D1-94C408F1E2FD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27" name="Freeform: Shape 72">
                <a:extLst>
                  <a:ext uri="{FF2B5EF4-FFF2-40B4-BE49-F238E27FC236}">
                    <a16:creationId xmlns:a16="http://schemas.microsoft.com/office/drawing/2014/main" id="{7B13E593-7E0B-869C-2C7E-59D38C529D26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TextBox 73">
                <a:extLst>
                  <a:ext uri="{FF2B5EF4-FFF2-40B4-BE49-F238E27FC236}">
                    <a16:creationId xmlns:a16="http://schemas.microsoft.com/office/drawing/2014/main" id="{A32B96DF-F5D1-123F-33BC-E09F513AF7B0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32317C9B-9F09-D5A9-C684-B684E3544BC1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18" name="Group 58">
                <a:extLst>
                  <a:ext uri="{FF2B5EF4-FFF2-40B4-BE49-F238E27FC236}">
                    <a16:creationId xmlns:a16="http://schemas.microsoft.com/office/drawing/2014/main" id="{301619A8-93E2-3D3D-1072-DC6F0CDEC458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5" name="Freeform: Shape 62">
                  <a:extLst>
                    <a:ext uri="{FF2B5EF4-FFF2-40B4-BE49-F238E27FC236}">
                      <a16:creationId xmlns:a16="http://schemas.microsoft.com/office/drawing/2014/main" id="{31F6B2B9-3944-A385-92C3-45E4E7810624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" name="TextBox 63">
                  <a:extLst>
                    <a:ext uri="{FF2B5EF4-FFF2-40B4-BE49-F238E27FC236}">
                      <a16:creationId xmlns:a16="http://schemas.microsoft.com/office/drawing/2014/main" id="{39066DFE-13DC-65D2-7719-9EB56C7EDC3C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9" name="Group 52">
                <a:extLst>
                  <a:ext uri="{FF2B5EF4-FFF2-40B4-BE49-F238E27FC236}">
                    <a16:creationId xmlns:a16="http://schemas.microsoft.com/office/drawing/2014/main" id="{43709A0C-2192-4DA6-B861-7711B1B51426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3" name="Freeform: Shape 56">
                  <a:extLst>
                    <a:ext uri="{FF2B5EF4-FFF2-40B4-BE49-F238E27FC236}">
                      <a16:creationId xmlns:a16="http://schemas.microsoft.com/office/drawing/2014/main" id="{E13E270B-E683-7335-0F60-B1953A3B1FB5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" name="TextBox 57">
                  <a:extLst>
                    <a:ext uri="{FF2B5EF4-FFF2-40B4-BE49-F238E27FC236}">
                      <a16:creationId xmlns:a16="http://schemas.microsoft.com/office/drawing/2014/main" id="{E3AA3C36-2F36-AAAA-E17F-6F3310787830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0" name="Group 46">
                <a:extLst>
                  <a:ext uri="{FF2B5EF4-FFF2-40B4-BE49-F238E27FC236}">
                    <a16:creationId xmlns:a16="http://schemas.microsoft.com/office/drawing/2014/main" id="{D9DBC3BA-6F5F-13A9-7C12-89F5DDFA0361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1" name="Freeform: Shape 50">
                  <a:extLst>
                    <a:ext uri="{FF2B5EF4-FFF2-40B4-BE49-F238E27FC236}">
                      <a16:creationId xmlns:a16="http://schemas.microsoft.com/office/drawing/2014/main" id="{A666CB99-29FC-4BC6-69DA-852E86A021E5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" name="TextBox 51">
                  <a:extLst>
                    <a:ext uri="{FF2B5EF4-FFF2-40B4-BE49-F238E27FC236}">
                      <a16:creationId xmlns:a16="http://schemas.microsoft.com/office/drawing/2014/main" id="{71728757-39CC-CF9D-0F76-D9105D46147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" name="Freeform: Shape 31">
              <a:extLst>
                <a:ext uri="{FF2B5EF4-FFF2-40B4-BE49-F238E27FC236}">
                  <a16:creationId xmlns:a16="http://schemas.microsoft.com/office/drawing/2014/main" id="{B27E43F4-BA62-FE6B-2E1D-C5D0771C58EE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0" name="Group 32">
              <a:extLst>
                <a:ext uri="{FF2B5EF4-FFF2-40B4-BE49-F238E27FC236}">
                  <a16:creationId xmlns:a16="http://schemas.microsoft.com/office/drawing/2014/main" id="{5190FFE6-0FD6-8D93-D639-1FC88E9157C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3" name="Freeform: Shape 36">
                <a:extLst>
                  <a:ext uri="{FF2B5EF4-FFF2-40B4-BE49-F238E27FC236}">
                    <a16:creationId xmlns:a16="http://schemas.microsoft.com/office/drawing/2014/main" id="{14E5AD7C-E237-4A9B-34BC-D605574187F7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4" name="Freeform: Shape 37">
                <a:extLst>
                  <a:ext uri="{FF2B5EF4-FFF2-40B4-BE49-F238E27FC236}">
                    <a16:creationId xmlns:a16="http://schemas.microsoft.com/office/drawing/2014/main" id="{6C67F6D1-628E-DBE6-F7B3-605ABF7AF104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" name="Freeform: Shape 38">
                <a:extLst>
                  <a:ext uri="{FF2B5EF4-FFF2-40B4-BE49-F238E27FC236}">
                    <a16:creationId xmlns:a16="http://schemas.microsoft.com/office/drawing/2014/main" id="{0B1F550E-5B73-5019-66B2-76DA09461AF2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6" name="Freeform: Shape 39">
                <a:extLst>
                  <a:ext uri="{FF2B5EF4-FFF2-40B4-BE49-F238E27FC236}">
                    <a16:creationId xmlns:a16="http://schemas.microsoft.com/office/drawing/2014/main" id="{14EDCCE9-64B0-0F72-180B-4F0736C96F3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Freeform: Shape 40">
                <a:extLst>
                  <a:ext uri="{FF2B5EF4-FFF2-40B4-BE49-F238E27FC236}">
                    <a16:creationId xmlns:a16="http://schemas.microsoft.com/office/drawing/2014/main" id="{45F4A403-F39E-A516-A98F-F077DF8088FA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B19B6EA3-8655-0CFD-8D00-308FD144373E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12" name="Freeform: Shape 34">
              <a:extLst>
                <a:ext uri="{FF2B5EF4-FFF2-40B4-BE49-F238E27FC236}">
                  <a16:creationId xmlns:a16="http://schemas.microsoft.com/office/drawing/2014/main" id="{3106A18F-13BE-53AC-64EC-76937515ECF4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9" name="TextBox 76">
            <a:extLst>
              <a:ext uri="{FF2B5EF4-FFF2-40B4-BE49-F238E27FC236}">
                <a16:creationId xmlns:a16="http://schemas.microsoft.com/office/drawing/2014/main" id="{58BE5D9D-1143-A04B-BFF3-58676E250F00}"/>
              </a:ext>
            </a:extLst>
          </p:cNvPr>
          <p:cNvSpPr txBox="1"/>
          <p:nvPr/>
        </p:nvSpPr>
        <p:spPr>
          <a:xfrm>
            <a:off x="9206468" y="4609514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2,470K</a:t>
            </a:r>
          </a:p>
        </p:txBody>
      </p:sp>
      <p:sp>
        <p:nvSpPr>
          <p:cNvPr id="30" name="TextBox 77">
            <a:extLst>
              <a:ext uri="{FF2B5EF4-FFF2-40B4-BE49-F238E27FC236}">
                <a16:creationId xmlns:a16="http://schemas.microsoft.com/office/drawing/2014/main" id="{C400D13A-F757-A3FA-FC10-A577BB1B1E81}"/>
              </a:ext>
            </a:extLst>
          </p:cNvPr>
          <p:cNvSpPr txBox="1"/>
          <p:nvPr/>
        </p:nvSpPr>
        <p:spPr>
          <a:xfrm>
            <a:off x="9429401" y="3684459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1,498K</a:t>
            </a:r>
          </a:p>
        </p:txBody>
      </p:sp>
      <p:sp>
        <p:nvSpPr>
          <p:cNvPr id="31" name="TextBox 78">
            <a:extLst>
              <a:ext uri="{FF2B5EF4-FFF2-40B4-BE49-F238E27FC236}">
                <a16:creationId xmlns:a16="http://schemas.microsoft.com/office/drawing/2014/main" id="{4EC39235-D550-F047-1A70-A68AB1665B2A}"/>
              </a:ext>
            </a:extLst>
          </p:cNvPr>
          <p:cNvSpPr txBox="1"/>
          <p:nvPr/>
        </p:nvSpPr>
        <p:spPr>
          <a:xfrm>
            <a:off x="9648857" y="2741714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1,076K</a:t>
            </a:r>
          </a:p>
        </p:txBody>
      </p:sp>
      <p:sp>
        <p:nvSpPr>
          <p:cNvPr id="32" name="TextBox 79">
            <a:extLst>
              <a:ext uri="{FF2B5EF4-FFF2-40B4-BE49-F238E27FC236}">
                <a16:creationId xmlns:a16="http://schemas.microsoft.com/office/drawing/2014/main" id="{1B81944A-081D-A3A8-BEC2-6A0BA569EBAF}"/>
              </a:ext>
            </a:extLst>
          </p:cNvPr>
          <p:cNvSpPr txBox="1"/>
          <p:nvPr/>
        </p:nvSpPr>
        <p:spPr>
          <a:xfrm>
            <a:off x="9868313" y="1810179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592K</a:t>
            </a:r>
          </a:p>
        </p:txBody>
      </p:sp>
    </p:spTree>
    <p:extLst>
      <p:ext uri="{BB962C8B-B14F-4D97-AF65-F5344CB8AC3E}">
        <p14:creationId xmlns:p14="http://schemas.microsoft.com/office/powerpoint/2010/main" val="2349177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863537" y="1659285"/>
            <a:ext cx="28681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Ascension Health TN has 18% inpatient market share, and 7% outpatient market compared to hospitals/clinics in the Ascension Health TN service area.</a:t>
            </a: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 conservatively models steerage growth based on past DTE-plan experience, assuming Ascension receives 38% of steered care.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/>
              <a:latin typeface="Montserrat" panose="000005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 growth is far stronger in a partnered health plan.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STRONGE 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96230"/>
              </p:ext>
            </p:extLst>
          </p:nvPr>
        </p:nvGraphicFramePr>
        <p:xfrm>
          <a:off x="590309" y="1054578"/>
          <a:ext cx="7447265" cy="5108481"/>
        </p:xfrm>
        <a:graphic>
          <a:graphicData uri="http://schemas.openxmlformats.org/drawingml/2006/table">
            <a:tbl>
              <a:tblPr/>
              <a:tblGrid>
                <a:gridCol w="148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94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1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Ascension Health TN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76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Early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$24.04M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087C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$5.26M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Growth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$136.01M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$30.74M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Mature Stage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$270M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$61.18M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2800" b="0" dirty="0"/>
              <a:t>SIMILAR PROFTIABILITY TO A STAND-ALONE PLAN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69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47909</TotalTime>
  <Words>3033</Words>
  <Application>Microsoft Office PowerPoint</Application>
  <PresentationFormat>Widescreen</PresentationFormat>
  <Paragraphs>1098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Montserrat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Direct-to-Employer Strategy: POWERFUL EMPLOYER AND HEALTH SYSTEM VALUE</vt:lpstr>
      <vt:lpstr>THE SCIENCE OF SUCCESSFUL PLAN GROWTH</vt:lpstr>
      <vt:lpstr>MEASURING BRAND REPUTATION Brand Reputation Ratings for the Tulsa OK Region</vt:lpstr>
      <vt:lpstr>ACCESS AND MARKET SHARE FOR MODELING</vt:lpstr>
      <vt:lpstr>ASCENSION OKLAHOMA STAND ALONE PLAN</vt:lpstr>
      <vt:lpstr>MEASURING STANDALONE MARKET SIZE</vt:lpstr>
      <vt:lpstr>PROJECTED PLAN GROWTH</vt:lpstr>
      <vt:lpstr>GROWING POWERFUL, LASTING PROFITABILITY</vt:lpstr>
      <vt:lpstr>PowerPoint Presentation</vt:lpstr>
      <vt:lpstr>ASCENSION OKLAHOMA PARTNERED PLAN</vt:lpstr>
      <vt:lpstr>PowerPoint Presentation</vt:lpstr>
      <vt:lpstr>STRONGER FORECASTED PLAN GROWTH</vt:lpstr>
      <vt:lpstr>STRONGER PROFITABILITY THROUGH PARTNERSHIP</vt:lpstr>
      <vt:lpstr>PowerPoint Presentation</vt:lpstr>
      <vt:lpstr>ASCENSION TENNESSEE PLAN MODELING</vt:lpstr>
      <vt:lpstr>SIGNIFICANT OPPORTUNITY FOR PLAN GROWTH Researched for the below highlighted service area</vt:lpstr>
      <vt:lpstr>ASCENSION HEALTH IS EVEN WITH VANDERBILT  AND LEADING OTHER HEALTH SYSTEMS IN REPUTATION</vt:lpstr>
      <vt:lpstr>PROJECTED PLAN GROWTH</vt:lpstr>
      <vt:lpstr>FOUR-YEAR PROJECTIONS</vt:lpstr>
      <vt:lpstr>PowerPoint Presentation</vt:lpstr>
      <vt:lpstr>GROWING POWERFUL, LASTING PROFITABILITY</vt:lpstr>
      <vt:lpstr>PARTNERED  ASCENSION TENNESSEE PLAN MODELING</vt:lpstr>
      <vt:lpstr>PowerPoint Presentation</vt:lpstr>
      <vt:lpstr>STRONGE PROJECTED PLAN GROWTH</vt:lpstr>
      <vt:lpstr>SIMILAR PROFTIABILITY TO A STAND-ALONE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2025-02-14T17:42:52Z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