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549" r:id="rId12"/>
    <p:sldId id="2145726869" r:id="rId13"/>
    <p:sldId id="452" r:id="rId14"/>
    <p:sldId id="564" r:id="rId15"/>
    <p:sldId id="466" r:id="rId16"/>
    <p:sldId id="2145726867" r:id="rId17"/>
    <p:sldId id="559" r:id="rId18"/>
    <p:sldId id="580" r:id="rId19"/>
    <p:sldId id="582" r:id="rId20"/>
    <p:sldId id="558" r:id="rId21"/>
    <p:sldId id="548" r:id="rId22"/>
    <p:sldId id="456" r:id="rId23"/>
    <p:sldId id="489"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89"/>
    <a:srgbClr val="00539F"/>
    <a:srgbClr val="244F9A"/>
    <a:srgbClr val="30589B"/>
    <a:srgbClr val="2F5597"/>
    <a:srgbClr val="6087CE"/>
    <a:srgbClr val="4468A5"/>
    <a:srgbClr val="F2F2F2"/>
    <a:srgbClr val="C55A11"/>
    <a:srgbClr val="F424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630D06F3-B903-408D-9D7C-579CFFEDCA3C}"/>
    <pc:docChg chg="modSld">
      <pc:chgData name="Taylor Davis" userId="5c9e72a0-c39f-4aa1-9d7d-64125e78cbe6" providerId="ADAL" clId="{630D06F3-B903-408D-9D7C-579CFFEDCA3C}" dt="2025-04-08T16:56:43.304" v="30" actId="20577"/>
      <pc:docMkLst>
        <pc:docMk/>
      </pc:docMkLst>
      <pc:sldChg chg="addSp modSp mod">
        <pc:chgData name="Taylor Davis" userId="5c9e72a0-c39f-4aa1-9d7d-64125e78cbe6" providerId="ADAL" clId="{630D06F3-B903-408D-9D7C-579CFFEDCA3C}" dt="2025-04-08T16:56:03.471" v="8" actId="14100"/>
        <pc:sldMkLst>
          <pc:docMk/>
          <pc:sldMk cId="1660060508" sldId="559"/>
        </pc:sldMkLst>
        <pc:spChg chg="add mod">
          <ac:chgData name="Taylor Davis" userId="5c9e72a0-c39f-4aa1-9d7d-64125e78cbe6" providerId="ADAL" clId="{630D06F3-B903-408D-9D7C-579CFFEDCA3C}" dt="2025-04-08T16:56:03.471" v="8" actId="14100"/>
          <ac:spMkLst>
            <pc:docMk/>
            <pc:sldMk cId="1660060508" sldId="559"/>
            <ac:spMk id="10" creationId="{F02636AC-FDA0-77E7-3119-31C06169DC25}"/>
          </ac:spMkLst>
        </pc:spChg>
      </pc:sldChg>
      <pc:sldChg chg="modSp mod">
        <pc:chgData name="Taylor Davis" userId="5c9e72a0-c39f-4aa1-9d7d-64125e78cbe6" providerId="ADAL" clId="{630D06F3-B903-408D-9D7C-579CFFEDCA3C}" dt="2025-04-08T16:56:31.494" v="19" actId="20577"/>
        <pc:sldMkLst>
          <pc:docMk/>
          <pc:sldMk cId="0" sldId="571"/>
        </pc:sldMkLst>
        <pc:graphicFrameChg chg="modGraphic">
          <ac:chgData name="Taylor Davis" userId="5c9e72a0-c39f-4aa1-9d7d-64125e78cbe6" providerId="ADAL" clId="{630D06F3-B903-408D-9D7C-579CFFEDCA3C}" dt="2025-04-08T16:56:31.494" v="19" actId="20577"/>
          <ac:graphicFrameMkLst>
            <pc:docMk/>
            <pc:sldMk cId="0" sldId="571"/>
            <ac:graphicFrameMk id="3" creationId="{00000000-0000-0000-0000-000000000000}"/>
          </ac:graphicFrameMkLst>
        </pc:graphicFrameChg>
      </pc:sldChg>
      <pc:sldChg chg="modSp mod">
        <pc:chgData name="Taylor Davis" userId="5c9e72a0-c39f-4aa1-9d7d-64125e78cbe6" providerId="ADAL" clId="{630D06F3-B903-408D-9D7C-579CFFEDCA3C}" dt="2025-04-08T16:56:43.304" v="30" actId="20577"/>
        <pc:sldMkLst>
          <pc:docMk/>
          <pc:sldMk cId="4087636236" sldId="2145726868"/>
        </pc:sldMkLst>
        <pc:graphicFrameChg chg="modGraphic">
          <ac:chgData name="Taylor Davis" userId="5c9e72a0-c39f-4aa1-9d7d-64125e78cbe6" providerId="ADAL" clId="{630D06F3-B903-408D-9D7C-579CFFEDCA3C}" dt="2025-04-08T16:56:43.304" v="30" actId="20577"/>
          <ac:graphicFrameMkLst>
            <pc:docMk/>
            <pc:sldMk cId="4087636236" sldId="2145726868"/>
            <ac:graphicFrameMk id="7" creationId="{00000000-0000-0000-0000-000000000000}"/>
          </ac:graphicFrameMkLst>
        </pc:graphicFrame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4/8/2025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8</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11</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4/8/2025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4/8/2025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4/8/2025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4/8/2025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4/8/2025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4/8/2025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4/8/2025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4/8/2025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4/8/2025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4/8/2025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4/8/2025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4/8/2025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4/8/2025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4/8/2025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4/8/2025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4/8/2025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4/8/2025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4/8/2025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4/8/2025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4/8/2025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4/8/2025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4/8/2025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4/8/2025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4/8/2025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4/8/2025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4/8/2025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4/8/2025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4/8/2025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4/8/2025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4/8/2025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4/8/2025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4/8/2025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Medical City Healthcare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7217923" y="334688"/>
            <a:ext cx="4501130" cy="502497"/>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2800" b="0" dirty="0">
                <a:solidFill>
                  <a:schemeClr val="tx1">
                    <a:lumMod val="75000"/>
                    <a:lumOff val="25000"/>
                  </a:schemeClr>
                </a:solidFill>
              </a:rPr>
              <a:t>DTE KEYS TO SUCCESS FOR MEDICAL CITY HEALTHCARE</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576090"/>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Medical City Healthcare is a good brand in a highly competitive market.</a:t>
            </a:r>
          </a:p>
          <a:p>
            <a:pPr algn="ctr" defTabSz="914411">
              <a:lnSpc>
                <a:spcPct val="90000"/>
              </a:lnSpc>
              <a:spcAft>
                <a:spcPts val="1200"/>
              </a:spcAft>
              <a:buClr>
                <a:schemeClr val="tx1"/>
              </a:buClr>
            </a:pPr>
            <a:r>
              <a:rPr lang="en-US" sz="1600" dirty="0">
                <a:solidFill/>
                <a:latin typeface="Montserrat" panose="00000500000000000000" pitchFamily="2" charset="0"/>
              </a:rPr>
              <a:t>Strong competition limits plan sales (included in this model).</a:t>
            </a:r>
          </a:p>
          <a:p>
            <a:pPr algn="ctr" defTabSz="914411">
              <a:lnSpc>
                <a:spcPct val="90000"/>
              </a:lnSpc>
              <a:spcAft>
                <a:spcPts val="1200"/>
              </a:spcAft>
              <a:buClr>
                <a:schemeClr val="tx1"/>
              </a:buClr>
            </a:pPr>
            <a:r>
              <a:rPr lang="en-US" sz="1600" dirty="0">
                <a:solidFill/>
                <a:latin typeface="Montserrat" panose="00000500000000000000" pitchFamily="2" charset="0"/>
              </a:rPr>
              <a:t>Brand improvements over time will accelerate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Medical City Healthcare.</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STRONG COMPETITION</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Medical City Healthcare has the strongest brand quality in Collin, Cooke, Dallas, Denton, Ellis, Fannin, Grayson, Hood, Hunt, Jack, Johnson, Kaufman, Montague, Palo Pinto, Parker, Rockwall, Tarrant, and Wise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353870965"/>
              </p:ext>
            </p:extLst>
          </p:nvPr>
        </p:nvGraphicFramePr>
        <p:xfrm>
          <a:off x="1504091" y="1343164"/>
          <a:ext cx="7651822" cy="4812679"/>
        </p:xfrm>
        <a:graphic>
          <a:graphicData uri="http://schemas.openxmlformats.org/drawingml/2006/table">
            <a:tbl>
              <a:tblPr/>
              <a:tblGrid>
                <a:gridCol w="2039220">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KBA Brand</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University of Texas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C62A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extLst>
                  <a:ext uri="{0D108BD9-81ED-4DB2-BD59-A6C34878D82A}">
                    <a16:rowId xmlns:a16="http://schemas.microsoft.com/office/drawing/2014/main" val="10001"/>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Baylor Scott &amp; White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Methodist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3"/>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Texas Health Resources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4"/>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Parkland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5"/>
                  </a:ext>
                </a:extLst>
              </a:tr>
              <a:tr h="364184">
                <a:tc>
                  <a:txBody>
                    <a:bodyPr/>
                    <a:lstStyle/>
                    <a:p>
                      <a:pPr marL="63500" marR="63500" algn="l">
                        <a:lnSpc>
                          <a:spcPct val="100000"/>
                        </a:lnSpc>
                        <a:spcBef>
                          <a:spcPts val="500"/>
                        </a:spcBef>
                        <a:spcAft>
                          <a:spcPts val="500"/>
                        </a:spcAft>
                        <a:buNone/>
                      </a:pPr>
                      <a:r>
                        <a:rPr lang="en-US" sz="1100" b="1" i="0" u="none" cap="none" dirty="0">
                          <a:solidFill>
                            <a:schemeClr val="accent1"/>
                          </a:solidFill>
                          <a:latin typeface="Montserrat"/>
                          <a:cs typeface="Arial"/>
                          <a:sym typeface="Arial"/>
                        </a:rPr>
                        <a:t>Medical City Healthcare</a:t>
                      </a:r>
                      <a:endParaRPr sz="1100" b="1" i="0" u="none" cap="none" dirty="0">
                        <a:solidFill>
                          <a:schemeClr val="accent1"/>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6"/>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John Peter Smith Hospital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7"/>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BD5E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5B7D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8"/>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8ECF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Heights Healthcare of Texas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6F8F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Medical City Healthcare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30832" y="1339574"/>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        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12,000+ Employers          1.7M</a:t>
            </a:r>
            <a:r>
              <a:rPr lang="en-US" sz="1600" spc="200" dirty="0">
                <a:latin typeface="Montserrat" panose="00000500000000000000" pitchFamily="2" charset="0"/>
                <a:cs typeface="+mj-cs"/>
                <a:sym typeface="Wingdings" panose="05000000000000000000" pitchFamily="2" charset="2"/>
              </a:rPr>
              <a:t>+ Employees       2.6M+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42868699"/>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6,035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2,667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1,838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1,029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305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452,600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400,100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551,400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720,300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738,000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1,830,000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814,700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720,200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992,500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1,296,500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1,328,400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3,294,000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795866" y="1752255"/>
            <a:ext cx="6096000" cy="4876800"/>
          </a:xfrm>
          <a:prstGeom prst="rect">
            <a:avLst/>
          </a:prstGeom>
        </p:spPr>
      </p:pic>
      <p:sp>
        <p:nvSpPr>
          <p:cNvPr id="10" name="Rectangle 9">
            <a:extLst>
              <a:ext uri="{FF2B5EF4-FFF2-40B4-BE49-F238E27FC236}">
                <a16:creationId xmlns:a16="http://schemas.microsoft.com/office/drawing/2014/main" id="{F02636AC-FDA0-77E7-3119-31C06169DC25}"/>
              </a:ext>
            </a:extLst>
          </p:cNvPr>
          <p:cNvSpPr/>
          <p:nvPr/>
        </p:nvSpPr>
        <p:spPr>
          <a:xfrm rot="2824705">
            <a:off x="2930351" y="3436558"/>
            <a:ext cx="36576" cy="36576"/>
          </a:xfrm>
          <a:prstGeom prst="rect">
            <a:avLst/>
          </a:prstGeom>
          <a:solidFill>
            <a:srgbClr val="0000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006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Medical City Healthcare service area in Collin, Cooke, Dallas, Denton, Ellis, Fannin, Grayson, Hood, Hunt, Jack, Johnson, Kaufman, Montague, Palo Pinto, Parker, Rockwall, Tarrant, and Wise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7,536K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4,595K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3,180K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1,777K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$27.11M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$10.78M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$163.11M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$65.8M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$336.33M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$135.78M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Medical City Healthcare has 40% inpatient market share, and 12% outpatient market compared to hospitals/clinics in the Medical City Healthcare service area (see slide 8). The DTE tiered structure will create immediate steerage, with additional steerage over time from patient bonus benefits and the patient card (see slide 33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Medical City Healthcare 50%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35%</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40%</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45%</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3,466.3K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6,928.1K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12,972.1K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20,888.1K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3,162.7K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6,800.9K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12,878.5K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20,837.7K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4,884.3K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9,604.8K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18,196.9K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29,398.1K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4,591.5K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9,498.0K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18,138.1K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29,400.5K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2,048.3K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4,093.9K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7,747.2K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12,571.6K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1,733.9K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3,945.1K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7,618.8K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12,469.6K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Medical City Healthcare’s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Medical City Healthcare’s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Medical City Healthcare</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4312855"/>
            <a:ext cx="1042416" cy="112996"/>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15</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954107"/>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MEDICAL CITY HEALTHCARE</a:t>
            </a:r>
          </a:p>
        </p:txBody>
      </p:sp>
      <p:pic>
        <p:nvPicPr>
          <p:cNvPr id="9" name="Content Placeholder 8"/>
          <p:cNvPicPr>
            <a:picLocks noGrp="1"/>
          </p:cNvPicPr>
          <p:nvPr>
            <p:ph/>
          </p:nvPr>
        </p:nvPicPr>
        <p:blipFill>
          <a:blip r:embed="rId3" cstate="print"/>
          <a:stretch>
            <a:fillRect/>
          </a:stretch>
        </p:blipFill>
        <p:spPr>
          <a:xfrm>
            <a:off x="6731765" y="5359044"/>
            <a:ext cx="5041134" cy="498547"/>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27.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Medical City Healthcare’s approved site(s) with network integration, and development of Medical City Healthcare’s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458K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$ 1,246K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$ 5,695K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$ 15,468K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$ 3,609K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$22,781K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$ 9,112K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$39,090K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$24,748K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$15,636K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$15,426K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$45,561K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$18,225K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$123,741K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$78,179K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$49,496K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$31,272K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$31,182K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Medical City Healthcare’s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Medical City Healthcare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Medical City Healthcare’s managed care with KBA’s programs positions Medical City Healthcare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Medical City Healthcare’s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Medical City Healthcare’s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Medical City Healthcare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Medical City Healthcare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Medical City Healthcare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MEDICAL CITY HEALTHCARE’S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Medical City Healthcare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795,520</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$4,763,790K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154,243</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$604,364K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19%</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17,452</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$550,653K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2%</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51,263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-$312,748K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572,562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$3,597,908K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72%</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Medical City Healthcare estimates commercial insurance reimbursements at 266%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3,597,908K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266%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3,071,172K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6,669,080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3,358,902</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$3,310,178K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50%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266%</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1,353,113K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1,155,017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2,508,130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3,358,902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-850,772</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-34%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40%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12%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753702371"/>
              </p:ext>
            </p:extLst>
          </p:nvPr>
        </p:nvGraphicFramePr>
        <p:xfrm>
          <a:off x="265176" y="914400"/>
          <a:ext cx="9829800" cy="41046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North Hills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943,183.6K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615,739.3K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Weatherford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91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622,772.8K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533,622.6K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Decatur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385,739.5K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904,138.8K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McKinney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$2,017,638.0K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825,140.2K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Denton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184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$2,019,842.0K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$1,025,621.5K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Dallas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1,000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$7,418,855.5K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$2,356,824.6K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Plano</a:t>
                      </a:r>
                      <a:r>
                        <a:rPr lang="en-US" sz="1000" b="0" i="0" u="none" cap="none">
                          <a:solidFill>
                            <a:srgbClr val="000000">
                              <a:alpha val="100000"/>
                            </a:srgbClr>
                          </a:solidFill>
                          <a:latin typeface="Montserrat"/>
                          <a:cs typeface="Arial"/>
                          <a:sym typeface="Arial"/>
                        </a:rPr>
                        <a:t> and Frisco</a:t>
                      </a:r>
                      <a:endParaRPr sz="1000" b="0" i="0" u="none" cap="none">
                        <a:solidFill>
                          <a:srgbClr val="000000">
                            <a:alpha val="100000"/>
                          </a:srgbClr>
                        </a:solidFill>
                        <a:latin typeface="Montserrat"/>
                        <a:cs typeface="Arial"/>
                        <a:sym typeface="Arial"/>
                      </a:endParaRP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627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$5,719,526.7K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$1,871,598.4K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Lewisville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$1,021,836.8K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667,845.9K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Fort Worth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209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$2,352,298.9K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$1,015,558.4K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Arlington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340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$2,885,494.8K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$1,315,871.8K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Las Colinas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80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551,219.4K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613,462.2K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Alliance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618,275.4K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679,439.1K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Medical City Sachse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7,075.1K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19,469.5K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412090560"/>
              </p:ext>
            </p:extLst>
          </p:nvPr>
        </p:nvGraphicFramePr>
        <p:xfrm>
          <a:off x="1" y="1"/>
          <a:ext cx="12192001" cy="6914101"/>
        </p:xfrm>
        <a:graphic>
          <a:graphicData uri="http://schemas.openxmlformats.org/drawingml/2006/table">
            <a:tbl>
              <a:tblPr/>
              <a:tblGrid>
                <a:gridCol w="1659251">
                  <a:extLst>
                    <a:ext uri="{9D8B030D-6E8A-4147-A177-3AD203B41FA5}">
                      <a16:colId xmlns:a16="http://schemas.microsoft.com/office/drawing/2014/main" val="20000"/>
                    </a:ext>
                  </a:extLst>
                </a:gridCol>
                <a:gridCol w="840426">
                  <a:extLst>
                    <a:ext uri="{9D8B030D-6E8A-4147-A177-3AD203B41FA5}">
                      <a16:colId xmlns:a16="http://schemas.microsoft.com/office/drawing/2014/main" val="20001"/>
                    </a:ext>
                  </a:extLst>
                </a:gridCol>
                <a:gridCol w="884282">
                  <a:extLst>
                    <a:ext uri="{9D8B030D-6E8A-4147-A177-3AD203B41FA5}">
                      <a16:colId xmlns:a16="http://schemas.microsoft.com/office/drawing/2014/main" val="20002"/>
                    </a:ext>
                  </a:extLst>
                </a:gridCol>
                <a:gridCol w="776366">
                  <a:extLst>
                    <a:ext uri="{9D8B030D-6E8A-4147-A177-3AD203B41FA5}">
                      <a16:colId xmlns:a16="http://schemas.microsoft.com/office/drawing/2014/main" val="20003"/>
                    </a:ext>
                  </a:extLst>
                </a:gridCol>
                <a:gridCol w="832401">
                  <a:extLst>
                    <a:ext uri="{9D8B030D-6E8A-4147-A177-3AD203B41FA5}">
                      <a16:colId xmlns:a16="http://schemas.microsoft.com/office/drawing/2014/main" val="20004"/>
                    </a:ext>
                  </a:extLst>
                </a:gridCol>
                <a:gridCol w="812232">
                  <a:extLst>
                    <a:ext uri="{9D8B030D-6E8A-4147-A177-3AD203B41FA5}">
                      <a16:colId xmlns:a16="http://schemas.microsoft.com/office/drawing/2014/main" val="20005"/>
                    </a:ext>
                  </a:extLst>
                </a:gridCol>
                <a:gridCol w="932291">
                  <a:extLst>
                    <a:ext uri="{9D8B030D-6E8A-4147-A177-3AD203B41FA5}">
                      <a16:colId xmlns:a16="http://schemas.microsoft.com/office/drawing/2014/main" val="20006"/>
                    </a:ext>
                  </a:extLst>
                </a:gridCol>
                <a:gridCol w="968580">
                  <a:extLst>
                    <a:ext uri="{9D8B030D-6E8A-4147-A177-3AD203B41FA5}">
                      <a16:colId xmlns:a16="http://schemas.microsoft.com/office/drawing/2014/main" val="20007"/>
                    </a:ext>
                  </a:extLst>
                </a:gridCol>
                <a:gridCol w="904555">
                  <a:extLst>
                    <a:ext uri="{9D8B030D-6E8A-4147-A177-3AD203B41FA5}">
                      <a16:colId xmlns:a16="http://schemas.microsoft.com/office/drawing/2014/main" val="20008"/>
                    </a:ext>
                  </a:extLst>
                </a:gridCol>
                <a:gridCol w="904450">
                  <a:extLst>
                    <a:ext uri="{9D8B030D-6E8A-4147-A177-3AD203B41FA5}">
                      <a16:colId xmlns:a16="http://schemas.microsoft.com/office/drawing/2014/main" val="20009"/>
                    </a:ext>
                  </a:extLst>
                </a:gridCol>
                <a:gridCol w="928419">
                  <a:extLst>
                    <a:ext uri="{9D8B030D-6E8A-4147-A177-3AD203B41FA5}">
                      <a16:colId xmlns:a16="http://schemas.microsoft.com/office/drawing/2014/main" val="20010"/>
                    </a:ext>
                  </a:extLst>
                </a:gridCol>
                <a:gridCol w="760246">
                  <a:extLst>
                    <a:ext uri="{9D8B030D-6E8A-4147-A177-3AD203B41FA5}">
                      <a16:colId xmlns:a16="http://schemas.microsoft.com/office/drawing/2014/main" val="20011"/>
                    </a:ext>
                  </a:extLst>
                </a:gridCol>
                <a:gridCol w="988502">
                  <a:extLst>
                    <a:ext uri="{9D8B030D-6E8A-4147-A177-3AD203B41FA5}">
                      <a16:colId xmlns:a16="http://schemas.microsoft.com/office/drawing/2014/main" val="20012"/>
                    </a:ext>
                  </a:extLst>
                </a:gridCol>
              </a:tblGrid>
              <a:tr h="311991">
                <a:tc gridSpan="13">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832896">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Alliance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Medical City Arlington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Dallas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Medical City Decatur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Denton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Medical City Fort Worth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Las Colinas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Lewisville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McKinney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North Hills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Plano</a:t>
                      </a:r>
                      <a:r>
                        <a:rPr lang="en-US" sz="1000" b="1" i="0" u="none" cap="none" dirty="0">
                          <a:solidFill>
                            <a:srgbClr val="000000">
                              <a:alpha val="100000"/>
                            </a:srgbClr>
                          </a:solidFill>
                          <a:latin typeface="Montserrat"/>
                          <a:cs typeface="Arial"/>
                          <a:sym typeface="Arial"/>
                        </a:rPr>
                        <a:t> and Frisco</a:t>
                      </a:r>
                      <a:endParaRPr sz="1000" b="1" i="0" u="none" cap="none" dirty="0">
                        <a:solidFill>
                          <a:srgbClr val="000000">
                            <a:alpha val="100000"/>
                          </a:srgbClr>
                        </a:solidFill>
                        <a:latin typeface="Montserrat"/>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Medical City Weatherford</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191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$76,666K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$305,862K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$1,008,964K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$86,791K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$195,925K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$263,457K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$51,263K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$119,555K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$215,887K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$103,750K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$709,221K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$76,601K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4191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$84,250K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$139,482K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$320,528K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$203,431K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$99,485K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$113,743K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$57,052K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$78,138K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$88,290K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$67,731K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$232,078K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$65,636K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4914">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$12,172K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$51,617K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$117,113K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$28,329K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$56,420K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$79,780K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$9,096K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$19,014K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$42,926K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$32,000K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$119,715K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$36,182K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69870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$13,662K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$87,900K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$197,504K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$10,673K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$27,286K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$33,408K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$7,604K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$34,727K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$33,920K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$17,703K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$74,003K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$12,263K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191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$135,144K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$305,426K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$1,010,514K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$251,319K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$212,865K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$262,737K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$91,412K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$144,168K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$225,634K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$121,557K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$743,114K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$94,019K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191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$16,345K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$46,635K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$52,545K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$14,780K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$27,161K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$16,258K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$14,695K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$18,619K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$29,498K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$12,847K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$52,897K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$10,469K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095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$53,125K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$218,503K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$506,206K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$116,607K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$144,052K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$202,413K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$48,537K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$95,349K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$215,608K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$75,998K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$421,227K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$62,810K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191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$58,381K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$99,644K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$160,812K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$273,316K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$73,146K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$87,388K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$54,018K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$62,317K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$88,176K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$49,614K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$137,838K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$53,819K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095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$111,506K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$318,146K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$667,018K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$389,923K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$217,198K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$289,801K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$102,556K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$157,666K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$303,784K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$125,611K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$559,064K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$116,629K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409586">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$49,471K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$126,797K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$658,113K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$-99,602K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$79,373K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$86,125K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$5,556K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$40,243K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$-1,304K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$45,649K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$377,767K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$25,834K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419100">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45.3%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53.0%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63.9%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 -9.8%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50.1%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48.6%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24.5%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45.1%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29.3%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50.5%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a:solidFill>
                            <a:srgbClr val="000000">
                              <a:alpha val="100000"/>
                            </a:srgbClr>
                          </a:solidFill>
                          <a:latin typeface="Montserrat"/>
                          <a:cs typeface="Arial"/>
                          <a:sym typeface="Arial"/>
                        </a:rPr>
                        <a:t>55.6%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900" b="0" i="0" u="none" cap="none" dirty="0">
                          <a:solidFill>
                            <a:srgbClr val="000000">
                              <a:alpha val="100000"/>
                            </a:srgbClr>
                          </a:solidFill>
                          <a:latin typeface="Montserrat"/>
                          <a:cs typeface="Arial"/>
                          <a:sym typeface="Arial"/>
                        </a:rPr>
                        <a:t>47.7%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44033">
                <a:tc gridSpan="13">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44033">
                <a:tc gridSpan="13">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44033">
                <a:tc gridSpan="13">
                  <a:txBody>
                    <a:bodyPr/>
                    <a:lstStyle/>
                    <a:p>
                      <a:pPr marL="63500" marR="63500" algn="l">
                        <a:lnSpc>
                          <a:spcPct val="100000"/>
                        </a:lnSpc>
                        <a:spcBef>
                          <a:spcPts val="500"/>
                        </a:spcBef>
                        <a:spcAft>
                          <a:spcPts val="500"/>
                        </a:spcAft>
                        <a:buNone/>
                      </a:pPr>
                      <a:r>
                        <a:rPr sz="7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44033">
                <a:tc gridSpan="13">
                  <a:txBody>
                    <a:bodyPr/>
                    <a:lstStyle/>
                    <a:p>
                      <a:pPr marL="63500" marR="63500" algn="l">
                        <a:lnSpc>
                          <a:spcPct val="100000"/>
                        </a:lnSpc>
                        <a:spcBef>
                          <a:spcPts val="500"/>
                        </a:spcBef>
                        <a:spcAft>
                          <a:spcPts val="500"/>
                        </a:spcAft>
                        <a:buNone/>
                      </a:pPr>
                      <a:r>
                        <a:rPr sz="7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Medical City Healthcare has 40% inpatient market share, and 12% outpatient market compared to hospitals/clinics in the Medical City Healthcare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Medical City Healthcare.</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215054532"/>
              </p:ext>
            </p:extLst>
          </p:nvPr>
        </p:nvGraphicFramePr>
        <p:xfrm>
          <a:off x="749300" y="876300"/>
          <a:ext cx="7288275" cy="5286749"/>
        </p:xfrm>
        <a:graphic>
          <a:graphicData uri="http://schemas.openxmlformats.org/drawingml/2006/table">
            <a:tbl>
              <a:tblPr/>
              <a:tblGrid>
                <a:gridCol w="1457655">
                  <a:extLst>
                    <a:ext uri="{9D8B030D-6E8A-4147-A177-3AD203B41FA5}">
                      <a16:colId xmlns:a16="http://schemas.microsoft.com/office/drawing/2014/main" val="20000"/>
                    </a:ext>
                  </a:extLst>
                </a:gridCol>
                <a:gridCol w="1457655">
                  <a:extLst>
                    <a:ext uri="{9D8B030D-6E8A-4147-A177-3AD203B41FA5}">
                      <a16:colId xmlns:a16="http://schemas.microsoft.com/office/drawing/2014/main" val="20001"/>
                    </a:ext>
                  </a:extLst>
                </a:gridCol>
                <a:gridCol w="1457655">
                  <a:extLst>
                    <a:ext uri="{9D8B030D-6E8A-4147-A177-3AD203B41FA5}">
                      <a16:colId xmlns:a16="http://schemas.microsoft.com/office/drawing/2014/main" val="20002"/>
                    </a:ext>
                  </a:extLst>
                </a:gridCol>
                <a:gridCol w="1457655">
                  <a:extLst>
                    <a:ext uri="{9D8B030D-6E8A-4147-A177-3AD203B41FA5}">
                      <a16:colId xmlns:a16="http://schemas.microsoft.com/office/drawing/2014/main" val="20003"/>
                    </a:ext>
                  </a:extLst>
                </a:gridCol>
                <a:gridCol w="1457655">
                  <a:extLst>
                    <a:ext uri="{9D8B030D-6E8A-4147-A177-3AD203B41FA5}">
                      <a16:colId xmlns:a16="http://schemas.microsoft.com/office/drawing/2014/main" val="20004"/>
                    </a:ext>
                  </a:extLst>
                </a:gridCol>
              </a:tblGrid>
              <a:tr h="953349">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Medical City Healthcare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Medical City Healthcare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667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10,800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$ 13,823,991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$ 7,347,830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$ 3,431,374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$ 24,603,195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$ 5,529,596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$ 2,939,132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$ 1,372,550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$ 9,841,278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$ 20,758,544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$ 129,600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$ 20,763,344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$ 20,708,144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$ 23,179,122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$ 36,346,790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$ 16,973,642</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$ 76,499,554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$ 9,271,649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$ 14,538,716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$ 6,789,457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$ 30,599,822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40% (inpatient) and 12%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40%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40%,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741426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$6,400.0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$32,000.0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$12,800.0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$1,919.9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$9,599.7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$47,998.4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$19,199.4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$15,998.4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$1,279.9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$6,399.4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$17,008.9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$1,360.7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$14,543.7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$72,718.4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$5,817.5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$11,141.9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$55,709.6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$891.4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$4,456.8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$22,283.8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$158.9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$317.7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$1,588.6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$7,943.0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$6,791.8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$33,958.9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$2,716.7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$13,583.6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$26,015.9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$2,081.3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$10,406.4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$457.8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$1,245.6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$7,547.9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$39,059.6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5169726"/>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37.6%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$2,278.1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$11,390.4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$56,951.8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$154,675.7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$3,909.0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$97,723.9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$1,563.6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$7,817.9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$39,089.6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$457.8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$1,245.6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$7,547.9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$39,059.6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6380083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$2,278.1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$11,390.4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$56,951.8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$183,945.7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$5,079.8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$25,398.8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$126,993.9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$3,311.0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$82,775.6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$59,994.8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$875.9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$2,081.8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$11,729.0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$59,964.8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9138563"/>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$1,139.0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$2,278.1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$11,390.4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$56,951.8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$22,780.7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$125,208.1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$1,365.1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$2,730.3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$13,651.3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$68,256.3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$1,752.9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$8,764.6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$43,822.8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$21,042.1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$96.8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$523.7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$3,938.4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$21,012.1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Medical City Healthcare’s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Medical City Healthcare</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Medical City Healthcare</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Medical City Healthcare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Medical City Healthcare</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Medical City Healthcare’s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46159</TotalTime>
  <Words>5267</Words>
  <Application>Microsoft Office PowerPoint</Application>
  <PresentationFormat>Widescreen</PresentationFormat>
  <Paragraphs>1463</Paragraphs>
  <Slides>43</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43</vt:i4>
      </vt:variant>
    </vt:vector>
  </HeadingPairs>
  <TitlesOfParts>
    <vt:vector size="53"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MEDICAL CITY HEALTHCARE</vt:lpstr>
      <vt:lpstr>STRONG COMPETITION</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MEDICAL CITY HEALTHCARE’S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2025-04-08T16:56:50Z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