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4"/>
  </p:notesMasterIdLst>
  <p:sldIdLst>
    <p:sldId id="588" r:id="rId10"/>
    <p:sldId id="454" r:id="rId11"/>
    <p:sldId id="2145726874" r:id="rId12"/>
    <p:sldId id="2145726912" r:id="rId13"/>
    <p:sldId id="2145726869" r:id="rId14"/>
    <p:sldId id="466" r:id="rId15"/>
    <p:sldId id="2145726867" r:id="rId16"/>
    <p:sldId id="559" r:id="rId17"/>
    <p:sldId id="580" r:id="rId18"/>
    <p:sldId id="582" r:id="rId19"/>
    <p:sldId id="558" r:id="rId20"/>
    <p:sldId id="548" r:id="rId21"/>
    <p:sldId id="521" r:id="rId22"/>
    <p:sldId id="564" r:id="rId23"/>
    <p:sldId id="2145726872" r:id="rId24"/>
    <p:sldId id="2145726911" r:id="rId25"/>
    <p:sldId id="499" r:id="rId26"/>
    <p:sldId id="613" r:id="rId27"/>
    <p:sldId id="458" r:id="rId28"/>
    <p:sldId id="2145726859" r:id="rId29"/>
    <p:sldId id="2145726857" r:id="rId30"/>
    <p:sldId id="469" r:id="rId31"/>
    <p:sldId id="2145726856" r:id="rId32"/>
    <p:sldId id="614" r:id="rId33"/>
    <p:sldId id="459" r:id="rId34"/>
    <p:sldId id="2145726870" r:id="rId35"/>
    <p:sldId id="281" r:id="rId36"/>
    <p:sldId id="2145726866" r:id="rId37"/>
    <p:sldId id="583" r:id="rId38"/>
    <p:sldId id="525" r:id="rId39"/>
    <p:sldId id="2145726868" r:id="rId40"/>
    <p:sldId id="571" r:id="rId41"/>
    <p:sldId id="2145726864" r:id="rId42"/>
    <p:sldId id="585" r:id="rId43"/>
    <p:sldId id="536" r:id="rId44"/>
    <p:sldId id="256" r:id="rId45"/>
    <p:sldId id="574" r:id="rId46"/>
    <p:sldId id="572" r:id="rId47"/>
    <p:sldId id="575" r:id="rId48"/>
    <p:sldId id="498" r:id="rId49"/>
    <p:sldId id="325" r:id="rId50"/>
    <p:sldId id="326" r:id="rId51"/>
    <p:sldId id="491" r:id="rId52"/>
    <p:sldId id="472" r:id="rId53"/>
  </p:sldIdLst>
  <p:sldSz cx="12192000" cy="6858000"/>
  <p:notesSz cx="7315200" cy="96012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ags" Target="tags/tag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1/26/2026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15</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25</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26</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1/26/2026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1/26/2026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1/26/2026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1/26/2026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1/26/2026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1/26/2026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1/26/2026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1/26/2026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1/26/2026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1/26/2026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1/26/2026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1/26/2026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1/26/2026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1/26/2026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1/26/2026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1/26/2026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1/26/2026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1/26/2026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1/26/2026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1/26/2026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1/26/2026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1/26/2026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1/26/2026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1/26/2026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1/26/2026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1/26/2026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1/26/2026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1/26/2026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ags" Target="../tags/tag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1/26/2026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4"/>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1/26/2026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1/26/2026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1/26/2026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3.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png"/><Relationship Id="rId21" Type="http://schemas.openxmlformats.org/officeDocument/2006/relationships/image" Target="../media/image15.pn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svg"/><Relationship Id="rId15" Type="http://schemas.openxmlformats.org/officeDocument/2006/relationships/image" Target="../media/image31.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svg"/></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8.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7FE53189_F808901F.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5.png"/><Relationship Id="rId1" Type="http://schemas.openxmlformats.org/officeDocument/2006/relationships/slideLayout" Target="../slideLayouts/slideLayout19.xml"/><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BayCare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9646920" y="347472"/>
            <a:ext cx="2272389"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BayCare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2,500+ Employers       990,000</a:t>
            </a:r>
            <a:r>
              <a:rPr lang="en-US" sz="1600" spc="200" dirty="0">
                <a:latin typeface="Montserrat" panose="00000500000000000000" pitchFamily="2" charset="0"/>
                <a:cs typeface="+mj-cs"/>
                <a:sym typeface="Wingdings" panose="05000000000000000000" pitchFamily="2" charset="2"/>
              </a:rPr>
              <a:t>+ Employees       1,800,000+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681037615"/>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2,523</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1,052</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655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352</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111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82</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189,200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157,800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196,500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246,400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222,000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492,000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340,600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284,000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353,700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443,500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399,600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885,600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clrChange>
              <a:clrFrom>
                <a:srgbClr val="FFFFFF"/>
              </a:clrFrom>
              <a:clrTo>
                <a:srgbClr val="FFFFFF">
                  <a:alpha val="0"/>
                </a:srgbClr>
              </a:clrTo>
            </a:clrChange>
          </a:blip>
          <a:stretch>
            <a:fillRect/>
          </a:stretch>
        </p:blipFill>
        <p:spPr>
          <a:xfrm>
            <a:off x="-558757" y="1968855"/>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BayCare service area in Hardee, Hernando, Hillsborough, Lake, Manatee, Orange, Osceola, Pasco, Pinellas, and Polk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4,433K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2,583K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1,705K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1,033K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$88.08M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$28.3M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$520.12M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$167.97M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$1061.34M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$342.75M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BayCare has 15% inpatient market share, and 8% outpatient market compared to hospitals/clinics in the BayCare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BayCare 40%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27%</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32%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37%</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9,340.9K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18,677.7K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34,049.2K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54,430.5K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302.4K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9,072.1K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18,620.1K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34,069.6K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54,552.9K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23,000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34,700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12,820.8K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25,636.0K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46,894.0K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74,949.9K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276.0K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416.4K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12,574.8K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25,624.0K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46,990.0K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75,186.3K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5,860.9K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11,719.3K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21,408.1K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33,911.0K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5,569.3K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11,616.1K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21,354.1K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33,919.4K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a:stretch>
            <a:fillRect/>
          </a:stretch>
        </p:blipFill>
        <p:spPr>
          <a:xfrm>
            <a:off x="1508760" y="2834640"/>
            <a:ext cx="3154680" cy="1079016"/>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BAYCARE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BayCare has the strongest brand quality in Hardee, Hernando, Hillsborough, Lake, Manatee, Orange, Osceola, Pasco, Pinellas, and Polk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638893276"/>
              </p:ext>
            </p:extLst>
          </p:nvPr>
        </p:nvGraphicFramePr>
        <p:xfrm>
          <a:off x="648056" y="1801562"/>
          <a:ext cx="8602947" cy="3329828"/>
        </p:xfrm>
        <a:graphic>
          <a:graphicData uri="http://schemas.openxmlformats.org/drawingml/2006/table">
            <a:tbl>
              <a:tblPr/>
              <a:tblGrid>
                <a:gridCol w="2889850">
                  <a:extLst>
                    <a:ext uri="{9D8B030D-6E8A-4147-A177-3AD203B41FA5}">
                      <a16:colId xmlns:a16="http://schemas.microsoft.com/office/drawing/2014/main" val="20000"/>
                    </a:ext>
                  </a:extLst>
                </a:gridCol>
                <a:gridCol w="1458531">
                  <a:extLst>
                    <a:ext uri="{9D8B030D-6E8A-4147-A177-3AD203B41FA5}">
                      <a16:colId xmlns:a16="http://schemas.microsoft.com/office/drawing/2014/main" val="20001"/>
                    </a:ext>
                  </a:extLst>
                </a:gridCol>
                <a:gridCol w="976658">
                  <a:extLst>
                    <a:ext uri="{9D8B030D-6E8A-4147-A177-3AD203B41FA5}">
                      <a16:colId xmlns:a16="http://schemas.microsoft.com/office/drawing/2014/main" val="20002"/>
                    </a:ext>
                  </a:extLst>
                </a:gridCol>
                <a:gridCol w="945204">
                  <a:extLst>
                    <a:ext uri="{9D8B030D-6E8A-4147-A177-3AD203B41FA5}">
                      <a16:colId xmlns:a16="http://schemas.microsoft.com/office/drawing/2014/main" val="20003"/>
                    </a:ext>
                  </a:extLst>
                </a:gridCol>
                <a:gridCol w="1150521">
                  <a:extLst>
                    <a:ext uri="{9D8B030D-6E8A-4147-A177-3AD203B41FA5}">
                      <a16:colId xmlns:a16="http://schemas.microsoft.com/office/drawing/2014/main" val="20004"/>
                    </a:ext>
                  </a:extLst>
                </a:gridCol>
                <a:gridCol w="1182183">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HCAHPS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Recommendation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CMS Stars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Mortality</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Readmission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KBA Brand</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BayCare Health System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C88B8">
                        <a:alpha val="100000"/>
                      </a:srgbClr>
                    </a:solidFill>
                  </a:tcPr>
                </a:tc>
                <a:extLst>
                  <a:ext uri="{0D108BD9-81ED-4DB2-BD59-A6C34878D82A}">
                    <a16:rowId xmlns:a16="http://schemas.microsoft.com/office/drawing/2014/main" val="10002"/>
                  </a:ext>
                </a:extLst>
              </a:tr>
              <a:tr h="390241">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Tampa General Hospital</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9D3E5">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3"/>
                  </a:ext>
                </a:extLst>
              </a:tr>
              <a:tr h="36288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AdventHealth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04"/>
                  </a:ext>
                </a:extLst>
              </a:tr>
              <a:tr h="364252">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Orlando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3B5D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05"/>
                  </a:ext>
                </a:extLst>
              </a:tr>
              <a:tr h="39187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Lakeland Regional Health Medical Center</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AC7D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EF1F7">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6C4DC">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extLst>
                  <a:ext uri="{0D108BD9-81ED-4DB2-BD59-A6C34878D82A}">
                    <a16:rowId xmlns:a16="http://schemas.microsoft.com/office/drawing/2014/main" val="10006"/>
                  </a:ext>
                </a:extLst>
              </a:tr>
              <a:tr h="364184">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5DDE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extLst>
                  <a:ext uri="{0D108BD9-81ED-4DB2-BD59-A6C34878D82A}">
                    <a16:rowId xmlns:a16="http://schemas.microsoft.com/office/drawing/2014/main" val="10007"/>
                  </a:ext>
                </a:extLst>
              </a:tr>
              <a:tr h="364184">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Universal Health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D5DDE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5374AC">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7ABCD">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15</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a:solidFill>
                  <a:srgbClr val="C00000"/>
                </a:solidFill>
                <a:cs typeface="Arial" panose="020B0604020202020204" pitchFamily="34" charset="0"/>
              </a:rPr>
              <a:t>Affordability Without Compromise</a:t>
            </a:r>
          </a:p>
          <a:p>
            <a:r>
              <a:rPr lang="en-US" altLang="en-US" sz="260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a:solidFill>
                  <a:srgbClr val="FFFFFF"/>
                </a:solidFill>
                <a:cs typeface="Arial" panose="020B0604020202020204" pitchFamily="34" charset="0"/>
              </a:rPr>
              <a:t>*Daily Inpatient Hospital Benefit, OP Surgery/Anasthesia,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229235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BayCare’s approved site(s) with network integration, and development of BayCare’s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3,519K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2,843K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$ 1,126K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586K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7,037K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5,686K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$ 2,252K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$ 1,820K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$ 1,502K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$ 3,377K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$ 17,593K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$ 14,215K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$ 5,630K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$ 4,549K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$ 4,249K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$13,509K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$4,323K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$ 70,370K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$ 56,861K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$22,518K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$18,195K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$17,985K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$27,019K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$8,646K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$140,740K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$113,721K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$45,037K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$36,391K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$36,301K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BayCare’s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BayCare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BayCare’s managed care with KBA’s programs positions BayCare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BayCare’s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BayCare’s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BayCare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25</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26</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BayCare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extLst>
              <p:ext uri="{D42A27DB-BD31-4B8C-83A1-F6EECF244321}">
                <p14:modId xmlns:p14="http://schemas.microsoft.com/office/powerpoint/2010/main" val="3734753995"/>
              </p:ext>
            </p:extLst>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a:t>
                      </a:r>
                      <a:r>
                        <a:rPr lang="en-US" sz="1400" b="1" i="0" u="none" strike="noStrike">
                          <a:solidFill>
                            <a:srgbClr val="000000"/>
                          </a:solidFill>
                          <a:effectLst/>
                          <a:latin typeface="Aptos Narrow" panose="020B0004020202020204" pitchFamily="34" charset="0"/>
                        </a:rPr>
                        <a:t>to HSA</a:t>
                      </a:r>
                      <a:endParaRPr lang="en-US" sz="1400" b="1" i="0" u="none" strike="noStrike" dirty="0">
                        <a:solidFill>
                          <a:srgbClr val="000000"/>
                        </a:solidFill>
                        <a:effectLst/>
                        <a:latin typeface="Aptos Narrow" panose="020B00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700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BAYCARE</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BAYCARE</a:t>
            </a:r>
            <a:r>
              <a:rPr lang="en-US" sz="2800">
                <a:latin typeface="Montserrat" panose="00000500000000000000" pitchFamily="2" charset="0"/>
                <a:cs typeface="Arial" panose="020B0604020202020204" pitchFamily="34" charset="0"/>
              </a:rPr>
              <a:t>’S 2023 </a:t>
            </a:r>
            <a:r>
              <a:rPr lang="en-US" sz="2800" dirty="0">
                <a:latin typeface="Montserrat" panose="00000500000000000000" pitchFamily="2" charset="0"/>
                <a:cs typeface="Arial" panose="020B0604020202020204" pitchFamily="34" charset="0"/>
              </a:rPr>
              <a:t>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BayCare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808,457</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$5,071,546K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179,696</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$600,501K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124,448</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$213,380K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15%</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62,947</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-$428,442K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8%</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441,366</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$4,253,362K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55%</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BayCare estimates commercial insurance reimbursements at 398%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4,253,362K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398%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3,240,679K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7,494,042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4,491,283</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$3,002,759K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40%</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398%</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1,068,211K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813,881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1,882,092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4,491,283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-2,609,191</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-139%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15%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8%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1156959392"/>
              </p:ext>
            </p:extLst>
          </p:nvPr>
        </p:nvGraphicFramePr>
        <p:xfrm>
          <a:off x="265176" y="914400"/>
          <a:ext cx="9829800" cy="4902201"/>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152255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307241">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Mease Dunedin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313,446.5K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313,320.8K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07241">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Winter Haven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508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$1,162,687.4K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$1,095,480.1K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307241">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Morton Plant North Bay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222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592,464.1K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404,963.8K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307241">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St Anthonys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441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$1,234,080.4K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$1,283,725.7K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307241">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St Josephs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960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$4,019,634.7K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$3,490,166.5K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307241">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Bartow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226,711.3K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363,054.4K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307241">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Morton Plant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569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$2,054,372.4K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$1,878,834.0K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307241">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South Florida Baptist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128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441,431.1K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512,686.9K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307241">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Mease Countryside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$1,228,715.1K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976,956.9K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307241">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Baycare Hospital Wesley Chapel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86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157,758.3K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205,544.4K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307241">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BayCare Alliant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76,593.7K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4154437819"/>
              </p:ext>
            </p:extLst>
          </p:nvPr>
        </p:nvGraphicFramePr>
        <p:xfrm>
          <a:off x="0" y="0"/>
          <a:ext cx="12192000" cy="6292083"/>
        </p:xfrm>
        <a:graphic>
          <a:graphicData uri="http://schemas.openxmlformats.org/drawingml/2006/table">
            <a:tbl>
              <a:tblPr/>
              <a:tblGrid>
                <a:gridCol w="1729001">
                  <a:extLst>
                    <a:ext uri="{9D8B030D-6E8A-4147-A177-3AD203B41FA5}">
                      <a16:colId xmlns:a16="http://schemas.microsoft.com/office/drawing/2014/main" val="20000"/>
                    </a:ext>
                  </a:extLst>
                </a:gridCol>
                <a:gridCol w="996679">
                  <a:extLst>
                    <a:ext uri="{9D8B030D-6E8A-4147-A177-3AD203B41FA5}">
                      <a16:colId xmlns:a16="http://schemas.microsoft.com/office/drawing/2014/main" val="20001"/>
                    </a:ext>
                  </a:extLst>
                </a:gridCol>
                <a:gridCol w="925709">
                  <a:extLst>
                    <a:ext uri="{9D8B030D-6E8A-4147-A177-3AD203B41FA5}">
                      <a16:colId xmlns:a16="http://schemas.microsoft.com/office/drawing/2014/main" val="20002"/>
                    </a:ext>
                  </a:extLst>
                </a:gridCol>
                <a:gridCol w="1284485">
                  <a:extLst>
                    <a:ext uri="{9D8B030D-6E8A-4147-A177-3AD203B41FA5}">
                      <a16:colId xmlns:a16="http://schemas.microsoft.com/office/drawing/2014/main" val="20003"/>
                    </a:ext>
                  </a:extLst>
                </a:gridCol>
                <a:gridCol w="888042">
                  <a:extLst>
                    <a:ext uri="{9D8B030D-6E8A-4147-A177-3AD203B41FA5}">
                      <a16:colId xmlns:a16="http://schemas.microsoft.com/office/drawing/2014/main" val="20004"/>
                    </a:ext>
                  </a:extLst>
                </a:gridCol>
                <a:gridCol w="846449">
                  <a:extLst>
                    <a:ext uri="{9D8B030D-6E8A-4147-A177-3AD203B41FA5}">
                      <a16:colId xmlns:a16="http://schemas.microsoft.com/office/drawing/2014/main" val="20005"/>
                    </a:ext>
                  </a:extLst>
                </a:gridCol>
                <a:gridCol w="1276343">
                  <a:extLst>
                    <a:ext uri="{9D8B030D-6E8A-4147-A177-3AD203B41FA5}">
                      <a16:colId xmlns:a16="http://schemas.microsoft.com/office/drawing/2014/main" val="20006"/>
                    </a:ext>
                  </a:extLst>
                </a:gridCol>
                <a:gridCol w="904693">
                  <a:extLst>
                    <a:ext uri="{9D8B030D-6E8A-4147-A177-3AD203B41FA5}">
                      <a16:colId xmlns:a16="http://schemas.microsoft.com/office/drawing/2014/main" val="20007"/>
                    </a:ext>
                  </a:extLst>
                </a:gridCol>
                <a:gridCol w="1205189">
                  <a:extLst>
                    <a:ext uri="{9D8B030D-6E8A-4147-A177-3AD203B41FA5}">
                      <a16:colId xmlns:a16="http://schemas.microsoft.com/office/drawing/2014/main" val="20008"/>
                    </a:ext>
                  </a:extLst>
                </a:gridCol>
                <a:gridCol w="1134476">
                  <a:extLst>
                    <a:ext uri="{9D8B030D-6E8A-4147-A177-3AD203B41FA5}">
                      <a16:colId xmlns:a16="http://schemas.microsoft.com/office/drawing/2014/main" val="20009"/>
                    </a:ext>
                  </a:extLst>
                </a:gridCol>
                <a:gridCol w="1000934">
                  <a:extLst>
                    <a:ext uri="{9D8B030D-6E8A-4147-A177-3AD203B41FA5}">
                      <a16:colId xmlns:a16="http://schemas.microsoft.com/office/drawing/2014/main" val="20010"/>
                    </a:ext>
                  </a:extLst>
                </a:gridCol>
              </a:tblGrid>
              <a:tr h="405020">
                <a:tc gridSpan="11">
                  <a:txBody>
                    <a:bodyPr/>
                    <a:lstStyle/>
                    <a:p>
                      <a:pPr marL="63500" marR="63500" algn="ctr">
                        <a:lnSpc>
                          <a:spcPct val="100000"/>
                        </a:lnSpc>
                        <a:spcBef>
                          <a:spcPts val="500"/>
                        </a:spcBef>
                        <a:spcAft>
                          <a:spcPts val="500"/>
                        </a:spcAft>
                        <a:buNone/>
                      </a:pPr>
                      <a:r>
                        <a:rPr sz="105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37976">
                <a:tc>
                  <a:txBody>
                    <a:bodyPr/>
                    <a:lstStyle/>
                    <a:p>
                      <a:pPr marL="63500" marR="63500" algn="ctr">
                        <a:lnSpc>
                          <a:spcPct val="100000"/>
                        </a:lnSpc>
                        <a:spcBef>
                          <a:spcPts val="500"/>
                        </a:spcBef>
                        <a:spcAft>
                          <a:spcPts val="500"/>
                        </a:spcAft>
                        <a:buNone/>
                      </a:pPr>
                      <a:r>
                        <a:rPr sz="105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strike="noStrike" cap="none">
                          <a:solidFill>
                            <a:srgbClr val="000000">
                              <a:alpha val="100000"/>
                            </a:srgbClr>
                          </a:solidFill>
                          <a:latin typeface="Montserrat"/>
                          <a:cs typeface="Arial"/>
                          <a:sym typeface="Arial"/>
                        </a:rPr>
                        <a:t>Mease Dunedin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strike="noStrike" cap="none">
                          <a:solidFill>
                            <a:srgbClr val="000000">
                              <a:alpha val="100000"/>
                            </a:srgbClr>
                          </a:solidFill>
                          <a:latin typeface="Montserrat"/>
                          <a:cs typeface="Arial"/>
                          <a:sym typeface="Arial"/>
                        </a:rPr>
                        <a:t>Winter Haven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strike="noStrike" cap="none">
                          <a:solidFill>
                            <a:srgbClr val="000000">
                              <a:alpha val="100000"/>
                            </a:srgbClr>
                          </a:solidFill>
                          <a:latin typeface="Montserrat"/>
                          <a:cs typeface="Arial"/>
                          <a:sym typeface="Arial"/>
                        </a:rPr>
                        <a:t>Morton Plant North Bay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strike="noStrike" cap="none">
                          <a:solidFill>
                            <a:srgbClr val="000000">
                              <a:alpha val="100000"/>
                            </a:srgbClr>
                          </a:solidFill>
                          <a:latin typeface="Montserrat"/>
                          <a:cs typeface="Arial"/>
                          <a:sym typeface="Arial"/>
                        </a:rPr>
                        <a:t>St Anthonys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strike="noStrike" cap="none">
                          <a:solidFill>
                            <a:srgbClr val="000000">
                              <a:alpha val="100000"/>
                            </a:srgbClr>
                          </a:solidFill>
                          <a:latin typeface="Montserrat"/>
                          <a:cs typeface="Arial"/>
                          <a:sym typeface="Arial"/>
                        </a:rPr>
                        <a:t>St Josephs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strike="noStrike" cap="none" dirty="0">
                          <a:solidFill>
                            <a:srgbClr val="000000">
                              <a:alpha val="100000"/>
                            </a:srgbClr>
                          </a:solidFill>
                          <a:latin typeface="Montserrat"/>
                          <a:cs typeface="Arial"/>
                          <a:sym typeface="Arial"/>
                        </a:rPr>
                        <a:t>Bartow Regional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strike="noStrike" cap="none">
                          <a:solidFill>
                            <a:srgbClr val="000000">
                              <a:alpha val="100000"/>
                            </a:srgbClr>
                          </a:solidFill>
                          <a:latin typeface="Montserrat"/>
                          <a:cs typeface="Arial"/>
                          <a:sym typeface="Arial"/>
                        </a:rPr>
                        <a:t>Morton Plant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strike="noStrike" cap="none">
                          <a:solidFill>
                            <a:srgbClr val="000000">
                              <a:alpha val="100000"/>
                            </a:srgbClr>
                          </a:solidFill>
                          <a:latin typeface="Montserrat"/>
                          <a:cs typeface="Arial"/>
                          <a:sym typeface="Arial"/>
                        </a:rPr>
                        <a:t>South Florida Baptist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strike="noStrike" cap="none">
                          <a:solidFill>
                            <a:srgbClr val="000000">
                              <a:alpha val="100000"/>
                            </a:srgbClr>
                          </a:solidFill>
                          <a:latin typeface="Montserrat"/>
                          <a:cs typeface="Arial"/>
                          <a:sym typeface="Arial"/>
                        </a:rPr>
                        <a:t>Mease Countryside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strike="noStrike" cap="none">
                          <a:solidFill>
                            <a:srgbClr val="000000">
                              <a:alpha val="100000"/>
                            </a:srgbClr>
                          </a:solidFill>
                          <a:latin typeface="Montserrat"/>
                          <a:cs typeface="Arial"/>
                          <a:sym typeface="Arial"/>
                        </a:rPr>
                        <a:t>BayCare Alliant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82850">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$64,570K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$255,791K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$123,825K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$270,264K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$1,041,085K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$48,290K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$468,397K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$92,259K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$277,690K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$20,451K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83354">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$64,544K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$241,006K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$84,637K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$281,136K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$903,953K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$77,331K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$428,374K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$107,152K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$220,792K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82850">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$17,908K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$65,422K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$26,137K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$82,822K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$164,585K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$11,156K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$139,633K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$19,150K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$68,897K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$4,792K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37298">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$6,089K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$22,171K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$12,047K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$17,554K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$107,348K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$5,799K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$20,107K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$11,123K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$11,142K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82850">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$104,802K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$408,972K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$170,645K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$450,610K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$1,672,524K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$108,871K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$735,450K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$168,575K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$417,246K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$15,666K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83291">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$11,351K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$47,175K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$22,695K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$43,430K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$177,616K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$16,539K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$54,873K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$27,017K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$27,745K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83291">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$65,455K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$241,559K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$121,883K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$248,985K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$867,998K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$39,437K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$422,543K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$89,109K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$240,928K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$19,736K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83354">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$65,429K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$227,596K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$83,310K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$259,001K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$753,665K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$63,154K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$386,439K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$103,493K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$191,563K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84861">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$130,884K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$469,155K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$205,193K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$507,986K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$1,621,663K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$102,591K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$808,982K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$192,602K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$432,492K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$19,736K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82850">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$-2,084K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$27,410K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$3,636K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$43,001K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$322,794K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$23,235K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$86,208K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$6,246K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$64,792K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$722K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84798">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34.7%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38.1%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36.4%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40.3%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41.1%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41.8%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41.0%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33.4%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a:solidFill>
                            <a:srgbClr val="000000">
                              <a:alpha val="100000"/>
                            </a:srgbClr>
                          </a:solidFill>
                          <a:latin typeface="Montserrat"/>
                          <a:cs typeface="Arial"/>
                          <a:sym typeface="Arial"/>
                        </a:rPr>
                        <a:t>41.2%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strike="noStrike" cap="none" dirty="0">
                          <a:solidFill>
                            <a:srgbClr val="000000">
                              <a:alpha val="100000"/>
                            </a:srgbClr>
                          </a:solidFill>
                          <a:latin typeface="Montserrat"/>
                          <a:cs typeface="Arial"/>
                          <a:sym typeface="Arial"/>
                        </a:rPr>
                        <a:t>43.2%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52089">
                <a:tc gridSpan="11">
                  <a:txBody>
                    <a:bodyPr/>
                    <a:lstStyle/>
                    <a:p>
                      <a:pPr marL="63500" marR="63500" algn="l">
                        <a:lnSpc>
                          <a:spcPct val="100000"/>
                        </a:lnSpc>
                        <a:spcBef>
                          <a:spcPts val="500"/>
                        </a:spcBef>
                        <a:spcAft>
                          <a:spcPts val="500"/>
                        </a:spcAft>
                        <a:buNone/>
                      </a:pPr>
                      <a:r>
                        <a:rPr sz="600" b="0" i="0" u="none" strike="noStrike" cap="none" dirty="0">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52089">
                <a:tc gridSpan="11">
                  <a:txBody>
                    <a:bodyPr/>
                    <a:lstStyle/>
                    <a:p>
                      <a:pPr marL="63500" marR="63500" algn="l">
                        <a:lnSpc>
                          <a:spcPct val="100000"/>
                        </a:lnSpc>
                        <a:spcBef>
                          <a:spcPts val="500"/>
                        </a:spcBef>
                        <a:spcAft>
                          <a:spcPts val="500"/>
                        </a:spcAft>
                        <a:buNone/>
                      </a:pPr>
                      <a:r>
                        <a:rPr sz="600" b="0" i="0" u="none" strike="noStrike" cap="none" dirty="0">
                          <a:solidFill>
                            <a:srgbClr val="666666">
                              <a:alpha val="100000"/>
                            </a:srgbClr>
                          </a:solidFill>
                          <a:latin typeface="Montserrat"/>
                          <a:cs typeface="Arial"/>
                          <a:sym typeface="Arial"/>
                        </a:rPr>
                        <a:t>2. Medicare costs are taken from the Medicare Provider Analysis and Review (</a:t>
                      </a:r>
                      <a:r>
                        <a:rPr sz="600" b="0" i="0" u="none" strike="noStrike" cap="none" dirty="0" err="1">
                          <a:solidFill>
                            <a:srgbClr val="666666">
                              <a:alpha val="100000"/>
                            </a:srgbClr>
                          </a:solidFill>
                          <a:latin typeface="Montserrat"/>
                          <a:cs typeface="Arial"/>
                          <a:sym typeface="Arial"/>
                        </a:rPr>
                        <a:t>MedPAR</a:t>
                      </a:r>
                      <a:r>
                        <a:rPr sz="600" b="0" i="0" u="none" strike="noStrike" cap="none" dirty="0">
                          <a:solidFill>
                            <a:srgbClr val="666666">
                              <a:alpha val="100000"/>
                            </a:srgbClr>
                          </a:solidFill>
                          <a:latin typeface="Montserrat"/>
                          <a:cs typeface="Arial"/>
                          <a:sym typeface="Arial"/>
                        </a:rPr>
                        <a: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52089">
                <a:tc gridSpan="11">
                  <a:txBody>
                    <a:bodyPr/>
                    <a:lstStyle/>
                    <a:p>
                      <a:pPr marL="63500" marR="63500" algn="l">
                        <a:lnSpc>
                          <a:spcPct val="100000"/>
                        </a:lnSpc>
                        <a:spcBef>
                          <a:spcPts val="500"/>
                        </a:spcBef>
                        <a:spcAft>
                          <a:spcPts val="500"/>
                        </a:spcAft>
                        <a:buNone/>
                      </a:pPr>
                      <a:r>
                        <a:rPr sz="600" b="0" i="0" u="none" strike="noStrike" cap="none" dirty="0">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52089">
                <a:tc gridSpan="11">
                  <a:txBody>
                    <a:bodyPr/>
                    <a:lstStyle/>
                    <a:p>
                      <a:pPr marL="63500" marR="63500" algn="l">
                        <a:lnSpc>
                          <a:spcPct val="100000"/>
                        </a:lnSpc>
                        <a:spcBef>
                          <a:spcPts val="500"/>
                        </a:spcBef>
                        <a:spcAft>
                          <a:spcPts val="500"/>
                        </a:spcAft>
                        <a:buNone/>
                      </a:pPr>
                      <a:r>
                        <a:rPr sz="6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
        <p:nvSpPr>
          <p:cNvPr id="2" name="TextBox 1">
            <a:extLst>
              <a:ext uri="{FF2B5EF4-FFF2-40B4-BE49-F238E27FC236}">
                <a16:creationId xmlns:a16="http://schemas.microsoft.com/office/drawing/2014/main" id="{81B84BFE-A66C-EE28-0B82-3FC2737525CB}"/>
              </a:ext>
            </a:extLst>
          </p:cNvPr>
          <p:cNvSpPr txBox="1"/>
          <p:nvPr/>
        </p:nvSpPr>
        <p:spPr>
          <a:xfrm>
            <a:off x="92528" y="6490482"/>
            <a:ext cx="5529943" cy="246221"/>
          </a:xfrm>
          <a:prstGeom prst="rect">
            <a:avLst/>
          </a:prstGeom>
          <a:noFill/>
        </p:spPr>
        <p:txBody>
          <a:bodyPr wrap="square" rtlCol="0">
            <a:spAutoFit/>
          </a:bodyPr>
          <a:lstStyle/>
          <a:p>
            <a:r>
              <a:rPr lang="en-US" sz="1000" dirty="0">
                <a:solidFill/>
                <a:latin typeface="Montserrat" panose="00000500000000000000" pitchFamily="2" charset="0"/>
              </a:rPr>
              <a:t>Hospitals droped due to insufficient data: </a:t>
            </a:r>
            <a:r>
              <a:rPr lang="en-US" sz="1000" dirty="0" err="1">
                <a:solidFill/>
                <a:latin typeface="Montserrat" panose="00000500000000000000" pitchFamily="2" charset="0"/>
              </a:rPr>
              <a:t>Baycare</a:t>
            </a:r>
            <a:r>
              <a:rPr lang="en-US" sz="1000" dirty="0">
                <a:solidFill/>
                <a:latin typeface="Montserrat" panose="00000500000000000000" pitchFamily="2" charset="0"/>
              </a:rPr>
              <a:t> Hospital Wesley Chapel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BayCare has 15% inpatient market share, and 8% outpatient market compared to hospitals/clinics in the BayCare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BayCare.</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4118035202"/>
              </p:ext>
            </p:extLst>
          </p:nvPr>
        </p:nvGraphicFramePr>
        <p:xfrm>
          <a:off x="390844" y="882146"/>
          <a:ext cx="7199375" cy="5093707"/>
        </p:xfrm>
        <a:graphic>
          <a:graphicData uri="http://schemas.openxmlformats.org/drawingml/2006/table">
            <a:tbl>
              <a:tblPr/>
              <a:tblGrid>
                <a:gridCol w="1439875">
                  <a:extLst>
                    <a:ext uri="{9D8B030D-6E8A-4147-A177-3AD203B41FA5}">
                      <a16:colId xmlns:a16="http://schemas.microsoft.com/office/drawing/2014/main" val="20000"/>
                    </a:ext>
                  </a:extLst>
                </a:gridCol>
                <a:gridCol w="1439875">
                  <a:extLst>
                    <a:ext uri="{9D8B030D-6E8A-4147-A177-3AD203B41FA5}">
                      <a16:colId xmlns:a16="http://schemas.microsoft.com/office/drawing/2014/main" val="20001"/>
                    </a:ext>
                  </a:extLst>
                </a:gridCol>
                <a:gridCol w="1439875">
                  <a:extLst>
                    <a:ext uri="{9D8B030D-6E8A-4147-A177-3AD203B41FA5}">
                      <a16:colId xmlns:a16="http://schemas.microsoft.com/office/drawing/2014/main" val="20002"/>
                    </a:ext>
                  </a:extLst>
                </a:gridCol>
                <a:gridCol w="1439875">
                  <a:extLst>
                    <a:ext uri="{9D8B030D-6E8A-4147-A177-3AD203B41FA5}">
                      <a16:colId xmlns:a16="http://schemas.microsoft.com/office/drawing/2014/main" val="20003"/>
                    </a:ext>
                  </a:extLst>
                </a:gridCol>
                <a:gridCol w="1439875">
                  <a:extLst>
                    <a:ext uri="{9D8B030D-6E8A-4147-A177-3AD203B41FA5}">
                      <a16:colId xmlns:a16="http://schemas.microsoft.com/office/drawing/2014/main" val="20004"/>
                    </a:ext>
                  </a:extLst>
                </a:gridCol>
              </a:tblGrid>
              <a:tr h="7891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BayCare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BayCare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522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25,200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$ 14,013,679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$ 13,653,853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$ 6,376,233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$ 34,043,765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$ 4,484,377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$ 4,369,233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$ 2,040,395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$ 10,894,005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$ 54,128,052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$ 302,400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$ 54,430,452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$ 54,250,452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$ 61,564,416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$ 96,544,193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$ 45,085,317</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$ 203,193,927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$ 19,700,613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$ 30,894,142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$ 14,427,302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$ 65,022,057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15% (inpatient) and 8%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32%,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8096" cy="741426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$2,780.5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$13,902.5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$889.8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$4,448.8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$2,183.8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$10,918.9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$54,594.7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$698.8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$3,494.1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$17,470.3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$1,627.7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$8,138.5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$40,692.3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$2,604.3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$13,021.5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$541.8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$2,709.1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$13,545.5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$866.9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$4,334.6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$3,308.3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$16,541.4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$82,707.1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$1,058.7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$5,293.3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$26,466.3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$1,383.2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$2,766.5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$13,832.3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$69,161.6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$885.3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$4,426.3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$22,131.7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$126.5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$253.0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$1,265.1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$6,325.6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$772.5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$1,544.9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$7,724.7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$38,623.5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$494.4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$12,359.5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$6,459.6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$32,297.9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$206.7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$2,067.1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$10,335.3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$585.8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$1,501.5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$8,827.7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$45,458.6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38784843"/>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$675.5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$1,350.9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$6,754.7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$33,773.6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$2,161.5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$10,807.5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$3,518.5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$7,037.0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$35,185.1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$175,925.4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$2,843.0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$5,686.1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$28,430.4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$142,151.8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$2,251.8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$11,259.2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$56,296.1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$909.8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$1,819.5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$9,097.7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$45,488.6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$1,501.5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$8,827.7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$45,458.6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266645870"/>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$675.5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$1,350.9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$6,754.7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$33,773.6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$2,161.5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$10,807.5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$4,185.1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$8,370.2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$41,851.0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$209,254.8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$3,509.6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$7,019.3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$35,096.3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$175,481.3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$1,548.5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$3,097.0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$15,484.9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$77,424.3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$2,664.7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$13,323.3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$66,616.7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$1,008.3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$2,346.7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$13,053.3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$66,586.7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26536398"/>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$675.5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$1,350.9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$6,754.7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$33,773.6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$2,161.5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$10,807.5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$2,851.1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$5,702.3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$28,511.5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$142,557.4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$4,351.4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$21,756.8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$108,783.9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$769.8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$1,539.6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$7,698.1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$38,490.5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$1,107.3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$5,536.6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$27,683.0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$229.7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$789.3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$5,266.6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$27,653.0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40</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87840" y="2627013"/>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BayCare’s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BayCare</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BayCare</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BayCare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BayCare</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BayCare’s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43</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46173</TotalTime>
  <Words>5300</Words>
  <Application>Microsoft Office PowerPoint</Application>
  <PresentationFormat>Widescreen</PresentationFormat>
  <Paragraphs>1417</Paragraphs>
  <Slides>44</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44</vt:i4>
      </vt:variant>
    </vt:vector>
  </HeadingPairs>
  <TitlesOfParts>
    <vt:vector size="58"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BAYCARE IS PATIENT RECOMMENDED</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BAYCARE’S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114</cp:revision>
  <cp:lastPrinted>2023-07-13T10:24:43Z</cp:lastPrinted>
  <dcterms:created xsi:type="dcterms:W3CDTF">2021-01-20T14:12:11Z</dcterms:created>
  <dcterms:modified xsi:type="dcterms:W3CDTF">2026-01-27T00:06:59Z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