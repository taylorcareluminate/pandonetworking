
<file path=[Content_Types].xml><?xml version="1.0" encoding="utf-8"?>
<Types xmlns="http://schemas.openxmlformats.org/package/2006/content-types">
  <Default Extension="jpeg" ContentType="image/jpeg"/>
  <Default Extension="jpg" ContentType="application/octet-stream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omments/modernComment_7FE53192_3C36F9F4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4" r:id="rId4"/>
    <p:sldMasterId id="2147483756" r:id="rId5"/>
    <p:sldMasterId id="2147483758" r:id="rId6"/>
    <p:sldMasterId id="2147483773" r:id="rId7"/>
  </p:sldMasterIdLst>
  <p:notesMasterIdLst>
    <p:notesMasterId r:id="rId25"/>
  </p:notesMasterIdLst>
  <p:sldIdLst>
    <p:sldId id="588" r:id="rId8"/>
    <p:sldId id="454" r:id="rId9"/>
    <p:sldId id="2145726874" r:id="rId10"/>
    <p:sldId id="2145726912" r:id="rId11"/>
    <p:sldId id="559" r:id="rId12"/>
    <p:sldId id="580" r:id="rId13"/>
    <p:sldId id="582" r:id="rId14"/>
    <p:sldId id="548" r:id="rId15"/>
    <p:sldId id="521" r:id="rId16"/>
    <p:sldId id="564" r:id="rId17"/>
    <p:sldId id="459" r:id="rId18"/>
    <p:sldId id="2145726870" r:id="rId19"/>
    <p:sldId id="281" r:id="rId20"/>
    <p:sldId id="2145726866" r:id="rId21"/>
    <p:sldId id="585" r:id="rId22"/>
    <p:sldId id="536" r:id="rId23"/>
    <p:sldId id="472" r:id="rId24"/>
  </p:sldIdLst>
  <p:sldSz cx="12192000" cy="6858000"/>
  <p:notesSz cx="7315200" cy="9601200"/>
  <p:custDataLst>
    <p:tags r:id="rId2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2E2597A-94BE-EE4F-A6CE-E20FE57E2F9C}" name="Guest User" initials="GU" userId="S::urn:spo:anon#4882e948f16bd08fe685987adb7b014b58869755eb6e2ab80c2be75a5daf6f48::" providerId="AD"/>
  <p188:author id="{6244F3C6-ED6E-17B5-41BE-FE4DD862B991}" name="Taylor Davis" initials="TD" userId="S::taylordavis@careluminate.com::5c9e72a0-c39f-4aa1-9d7d-64125e78cbe6" providerId="AD"/>
  <p188:author id="{66F9D3D0-34A3-8F09-07C8-70124CEFC9C1}" name="Guest User" initials="GU" userId="S::urn:spo:anon#24b610c975cf575f85befe109f115faf394b3198ecce54128fd3ac5d0276f2d0::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ill, Jack" initials="HJ" lastIdx="1" clrIdx="0">
    <p:extLst>
      <p:ext uri="{19B8F6BF-5375-455C-9EA6-DF929625EA0E}">
        <p15:presenceInfo xmlns:p15="http://schemas.microsoft.com/office/powerpoint/2012/main" userId="S::Jack.Hill@ahdi.com::a2532604-23e3-4156-966c-b672b0683ed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39F"/>
    <a:srgbClr val="244F9A"/>
    <a:srgbClr val="30589B"/>
    <a:srgbClr val="2F5597"/>
    <a:srgbClr val="6087CE"/>
    <a:srgbClr val="4468A5"/>
    <a:srgbClr val="F2F2F2"/>
    <a:srgbClr val="C55A11"/>
    <a:srgbClr val="F424AA"/>
    <a:srgbClr val="E234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14" autoAdjust="0"/>
    <p:restoredTop sz="88609" autoAdjust="0"/>
  </p:normalViewPr>
  <p:slideViewPr>
    <p:cSldViewPr snapToGrid="0">
      <p:cViewPr>
        <p:scale>
          <a:sx n="75" d="100"/>
          <a:sy n="75" d="100"/>
        </p:scale>
        <p:origin x="1710" y="57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microsoft.com/office/2018/10/relationships/authors" Target="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presProps" Target="pres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comments/modernComment_7FE53192_3C36F9F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2EC8C09-C53C-4C2E-B154-C4AFEC883543}" authorId="{66F9D3D0-34A3-8F09-07C8-70124CEFC9C1}" created="2024-12-06T22:26:01.707">
    <pc:sldMkLst xmlns:pc="http://schemas.microsoft.com/office/powerpoint/2013/main/command">
      <pc:docMk/>
      <pc:sldMk cId="1010235892" sldId="2145726866"/>
    </pc:sldMkLst>
    <p188:txBody>
      <a:bodyPr/>
      <a:lstStyle/>
      <a:p>
        <a:r>
          <a:rPr lang="en-US"/>
          <a:t>Updated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3"/>
            <a:ext cx="3169920" cy="481726"/>
          </a:xfrm>
          <a:prstGeom prst="rect">
            <a:avLst/>
          </a:prstGeom>
        </p:spPr>
        <p:txBody>
          <a:bodyPr vert="horz" lIns="95178" tIns="47590" rIns="95178" bIns="47590" rtlCol="0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3"/>
            <a:ext cx="3169920" cy="481726"/>
          </a:xfrm>
          <a:prstGeom prst="rect">
            <a:avLst/>
          </a:prstGeom>
        </p:spPr>
        <p:txBody>
          <a:bodyPr vert="horz" lIns="95178" tIns="47590" rIns="95178" bIns="47590" rtlCol="0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7444AE22-21A2-46C1-A42F-3B4E8AE858E0}" type="datetimeFigureOut">
              <a:rPr lang="en-US" smtClean="0"/>
              <a:pPr/>
              <a:t>1/26/2026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9463" y="1200150"/>
            <a:ext cx="5756275" cy="32385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178" tIns="47590" rIns="95178" bIns="4759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80"/>
            <a:ext cx="5852160" cy="3780473"/>
          </a:xfrm>
          <a:prstGeom prst="rect">
            <a:avLst/>
          </a:prstGeom>
        </p:spPr>
        <p:txBody>
          <a:bodyPr vert="horz" lIns="95178" tIns="47590" rIns="95178" bIns="4759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7"/>
            <a:ext cx="3169920" cy="481725"/>
          </a:xfrm>
          <a:prstGeom prst="rect">
            <a:avLst/>
          </a:prstGeom>
        </p:spPr>
        <p:txBody>
          <a:bodyPr vert="horz" lIns="95178" tIns="47590" rIns="95178" bIns="47590" rtlCol="0" anchor="b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7"/>
            <a:ext cx="3169920" cy="481725"/>
          </a:xfrm>
          <a:prstGeom prst="rect">
            <a:avLst/>
          </a:prstGeom>
        </p:spPr>
        <p:txBody>
          <a:bodyPr vert="horz" lIns="95178" tIns="47590" rIns="95178" bIns="47590" rtlCol="0" anchor="b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4139CA89-B4B2-4050-B038-8DF8E3A3351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228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39CA89-B4B2-4050-B038-8DF8E3A33516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93513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Slide Image Placeholder 1">
            <a:extLst>
              <a:ext uri="{FF2B5EF4-FFF2-40B4-BE49-F238E27FC236}">
                <a16:creationId xmlns:a16="http://schemas.microsoft.com/office/drawing/2014/main" id="{A50FE8A8-97ED-FDC7-C0B5-F7617F9E5102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10595" name="Notes Placeholder 2">
            <a:extLst>
              <a:ext uri="{FF2B5EF4-FFF2-40B4-BE49-F238E27FC236}">
                <a16:creationId xmlns:a16="http://schemas.microsoft.com/office/drawing/2014/main" id="{98B20BE8-EF72-1FD1-E0BA-F3222396D9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  <p:sp>
        <p:nvSpPr>
          <p:cNvPr id="110596" name="Slide Number Placeholder 3">
            <a:extLst>
              <a:ext uri="{FF2B5EF4-FFF2-40B4-BE49-F238E27FC236}">
                <a16:creationId xmlns:a16="http://schemas.microsoft.com/office/drawing/2014/main" id="{03712E2D-0BD3-85CB-AF50-09AFEEF0D341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fld id="{D6F27017-4F09-4675-82C0-AAC95484694C}" type="slidenum">
              <a:rPr lang="en-US" altLang="en-US" sz="1200">
                <a:solidFill>
                  <a:srgbClr val="000000"/>
                </a:solidFill>
                <a:latin typeface="Aptos" panose="020B0004020202020204" pitchFamily="34" charset="0"/>
              </a:rPr>
              <a:pPr algn="r" eaLnBrk="1" hangingPunct="1"/>
              <a:t>11</a:t>
            </a:fld>
            <a:endParaRPr lang="en-US" altLang="en-US" sz="120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Slide Image Placeholder 1">
            <a:extLst>
              <a:ext uri="{FF2B5EF4-FFF2-40B4-BE49-F238E27FC236}">
                <a16:creationId xmlns:a16="http://schemas.microsoft.com/office/drawing/2014/main" id="{E97793FA-FB1F-6E11-725C-63C747CEFA41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12643" name="Notes Placeholder 2">
            <a:extLst>
              <a:ext uri="{FF2B5EF4-FFF2-40B4-BE49-F238E27FC236}">
                <a16:creationId xmlns:a16="http://schemas.microsoft.com/office/drawing/2014/main" id="{6A6F21D1-E85A-DA78-A39D-E1F6649EB0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112644" name="Slide Number Placeholder 3">
            <a:extLst>
              <a:ext uri="{FF2B5EF4-FFF2-40B4-BE49-F238E27FC236}">
                <a16:creationId xmlns:a16="http://schemas.microsoft.com/office/drawing/2014/main" id="{A73E266B-7A84-C243-1D0C-6C16C29DFB42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3AFF9F3-C8AB-436D-99D0-D375E19F3267}" type="slidenum">
              <a:rPr lang="en-US" altLang="en-US">
                <a:solidFill>
                  <a:srgbClr val="000000"/>
                </a:solidFill>
                <a:latin typeface="Montserrat" panose="00000500000000000000" pitchFamily="2" charset="0"/>
              </a:rPr>
              <a:pPr eaLnBrk="1" hangingPunct="1"/>
              <a:t>12</a:t>
            </a:fld>
            <a:endParaRPr lang="en-US" altLang="en-US">
              <a:solidFill>
                <a:srgbClr val="000000"/>
              </a:solidFill>
              <a:latin typeface="Montserrat" panose="00000500000000000000" pitchFamily="2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73F6DB-F15B-884B-AA15-B75C0F48DEC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09297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63D2E-5F58-105C-7EEE-D8B4A2B80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6E703C-44B6-D6FB-7B2E-833F495D97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278385-2CC1-C186-E8ED-F22EB5BA1C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7C823-FC3C-8434-5AC0-78EC4F34F7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44013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0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9E3A3-CB7F-45DB-8359-15D56BF69054}" type="datetime1">
              <a:rPr lang="en-US" smtClean="0"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3C3935"/>
                </a:solidFill>
              </a:defRPr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426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1" y="6471095"/>
            <a:ext cx="2743200" cy="250380"/>
          </a:xfrm>
        </p:spPr>
        <p:txBody>
          <a:bodyPr/>
          <a:lstStyle/>
          <a:p>
            <a:fld id="{F72A7C2C-8CBA-48FC-B47E-140B6C446377}" type="datetime1">
              <a:rPr lang="en-US" smtClean="0"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2" y="6471095"/>
            <a:ext cx="4114800" cy="250380"/>
          </a:xfrm>
        </p:spPr>
        <p:txBody>
          <a:bodyPr/>
          <a:lstStyle>
            <a:lvl1pPr>
              <a:defRPr u="none" spc="300"/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1" y="6471095"/>
            <a:ext cx="2743200" cy="250380"/>
          </a:xfrm>
        </p:spPr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943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A2DF-E8B3-4F59-892A-C88743D6614D}" type="datetime1">
              <a:rPr lang="en-US" smtClean="0"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875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F09CE-D3E6-4C73-9F86-6AA671224F8D}" type="datetime1">
              <a:rPr lang="en-US" smtClean="0"/>
              <a:t>1/26/2026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11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F486B-7A2A-4144-9105-81B5F9A702C4}" type="datetime1">
              <a:rPr lang="en-US" smtClean="0"/>
              <a:t>1/26/2026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9040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 spc="150" baseline="0"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1" y="6480530"/>
            <a:ext cx="2743200" cy="365125"/>
          </a:xfrm>
        </p:spPr>
        <p:txBody>
          <a:bodyPr/>
          <a:lstStyle/>
          <a:p>
            <a:fld id="{13273CBB-1638-4F86-93C5-F289BAB372F8}" type="datetime1">
              <a:rPr lang="en-US" smtClean="0"/>
              <a:t>1/26/2026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2" y="6480530"/>
            <a:ext cx="4114800" cy="365125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42866" y="6480530"/>
            <a:ext cx="2743200" cy="365125"/>
          </a:xfrm>
        </p:spPr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804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223EA-AE71-4F47-9CA1-AC76DEC2B9E8}" type="datetime1">
              <a:rPr lang="en-US" smtClean="0"/>
              <a:t>1/26/2026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469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31445-0B45-4F5C-971D-F971BB7E35C1}" type="datetime1">
              <a:rPr lang="en-US" smtClean="0"/>
              <a:t>1/26/2026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44534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79F89-B9FD-40DA-A4A8-5549A4F97D5C}" type="datetime1">
              <a:rPr lang="en-US" smtClean="0"/>
              <a:t>1/26/2026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75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CB60-C599-4AF2-9C31-DCD390D25F3F}" type="datetime1">
              <a:rPr lang="en-US" smtClean="0"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236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7DF3D-F650-432E-A6F6-439A0FF53FA0}" type="datetime1">
              <a:rPr lang="en-US" smtClean="0"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8819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17378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Montserrat" panose="00000500000000000000" pitchFamily="2" charset="0"/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0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1A9E3A3-CB7F-45DB-8359-15D56BF69054}" type="datetime1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3C3935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9658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1" y="6471095"/>
            <a:ext cx="2743200" cy="250380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F72A7C2C-8CBA-48FC-B47E-140B6C446377}" type="datetime1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2" y="6471095"/>
            <a:ext cx="4114800" cy="250380"/>
          </a:xfrm>
        </p:spPr>
        <p:txBody>
          <a:bodyPr/>
          <a:lstStyle>
            <a:lvl1pPr>
              <a:defRPr u="none" spc="300"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1" y="6471095"/>
            <a:ext cx="2743200" cy="250380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1576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9FFEA2DF-E8B3-4F59-892A-C88743D6614D}" type="datetime1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8834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8B0F09CE-D3E6-4C73-9F86-6AA671224F8D}" type="datetime1">
              <a:rPr lang="en-US" smtClean="0"/>
              <a:pPr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8992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F3AF486B-7A2A-4144-9105-81B5F9A702C4}" type="datetime1">
              <a:rPr lang="en-US" smtClean="0"/>
              <a:pPr/>
              <a:t>1/26/2026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2503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 spc="150" baseline="0"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1" y="6480530"/>
            <a:ext cx="27432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3273CBB-1638-4F86-93C5-F289BAB372F8}" type="datetime1">
              <a:rPr lang="en-US" smtClean="0"/>
              <a:pPr/>
              <a:t>1/26/2026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2" y="6480530"/>
            <a:ext cx="41148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42866" y="6480530"/>
            <a:ext cx="27432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5796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8E1223EA-AE71-4F47-9CA1-AC76DEC2B9E8}" type="datetime1">
              <a:rPr lang="en-US" smtClean="0"/>
              <a:pPr/>
              <a:t>1/26/2026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0479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>
                <a:latin typeface="Montserrat" panose="00000500000000000000" pitchFamily="2" charset="0"/>
              </a:defRPr>
            </a:lvl1pPr>
            <a:lvl2pPr>
              <a:defRPr sz="2800">
                <a:latin typeface="Montserrat" panose="00000500000000000000" pitchFamily="2" charset="0"/>
              </a:defRPr>
            </a:lvl2pPr>
            <a:lvl3pPr>
              <a:defRPr sz="2400">
                <a:latin typeface="Montserrat" panose="00000500000000000000" pitchFamily="2" charset="0"/>
              </a:defRPr>
            </a:lvl3pPr>
            <a:lvl4pPr>
              <a:defRPr sz="2000">
                <a:latin typeface="Montserrat" panose="00000500000000000000" pitchFamily="2" charset="0"/>
              </a:defRPr>
            </a:lvl4pPr>
            <a:lvl5pPr>
              <a:defRPr sz="2000">
                <a:latin typeface="Montserrat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B9B31445-0B45-4F5C-971D-F971BB7E35C1}" type="datetime1">
              <a:rPr lang="en-US" smtClean="0"/>
              <a:pPr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690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 anchor="t"/>
          <a:lstStyle>
            <a:lvl1pPr marL="0" indent="0">
              <a:buNone/>
              <a:defRPr sz="3200">
                <a:latin typeface="Montserrat" panose="00000500000000000000" pitchFamily="2" charset="0"/>
              </a:defRPr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AEE79F89-B9FD-40DA-A4A8-5549A4F97D5C}" type="datetime1">
              <a:rPr lang="en-US" smtClean="0"/>
              <a:pPr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4915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4BCDCB60-C599-4AF2-9C31-DCD390D25F3F}" type="datetime1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491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187DF3D-F650-432E-A6F6-439A0FF53FA0}" type="datetime1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1078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529F"/>
          </a:solidFill>
        </p:spPr>
        <p:txBody>
          <a:bodyPr wrap="square" lIns="0" tIns="0" rIns="0" bIns="0" rtlCol="0"/>
          <a:lstStyle/>
          <a:p>
            <a:endParaRPr>
              <a:latin typeface="Montserrat" panose="00000500000000000000" pitchFamily="2" charset="0"/>
            </a:endParaRPr>
          </a:p>
        </p:txBody>
      </p:sp>
      <p:pic>
        <p:nvPicPr>
          <p:cNvPr id="17" name="bg object 17"/>
          <p:cNvPicPr/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07951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348784" y="2668124"/>
            <a:ext cx="3129915" cy="6093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00529F"/>
                </a:solidFill>
                <a:latin typeface="Montserrat" panose="00000500000000000000" pitchFamily="2" charset="0"/>
                <a:cs typeface="Montserrat" panose="00000500000000000000" pitchFamily="2" charset="0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492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00529F"/>
                </a:solidFill>
                <a:latin typeface="Montserrat" panose="00000500000000000000" pitchFamily="2" charset="0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1D8BD707-D9CF-40AE-B4C6-C98DA3205C09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Montserrat" panose="00000500000000000000" pitchFamily="2" charset="0"/>
                <a:cs typeface="Calibri"/>
              </a:defRPr>
            </a:lvl1pPr>
          </a:lstStyle>
          <a:p>
            <a:pPr marL="118745">
              <a:spcBef>
                <a:spcPts val="25"/>
              </a:spcBef>
            </a:pPr>
            <a:fld id="{81D60167-4931-47E6-BA6A-407CBD079E47}" type="slidenum">
              <a:rPr lang="en-US" spc="-50" smtClean="0">
                <a:solidFill>
                  <a:srgbClr val="767676"/>
                </a:solidFill>
              </a:rPr>
              <a:pPr marL="118745">
                <a:spcBef>
                  <a:spcPts val="25"/>
                </a:spcBef>
              </a:pPr>
              <a:t>‹#›</a:t>
            </a:fld>
            <a:endParaRPr lang="en-US" spc="-50" dirty="0">
              <a:solidFill>
                <a:srgbClr val="76767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028952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G-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FD6220A-7814-163E-54CD-0C84B57887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3359"/>
          <a:stretch/>
        </p:blipFill>
        <p:spPr>
          <a:xfrm>
            <a:off x="1" y="0"/>
            <a:ext cx="809640" cy="6857999"/>
          </a:xfrm>
          <a:prstGeom prst="rect">
            <a:avLst/>
          </a:prstGeom>
        </p:spPr>
      </p:pic>
      <p:sp>
        <p:nvSpPr>
          <p:cNvPr id="31" name="Title Placeholder 1">
            <a:extLst>
              <a:ext uri="{FF2B5EF4-FFF2-40B4-BE49-F238E27FC236}">
                <a16:creationId xmlns:a16="http://schemas.microsoft.com/office/drawing/2014/main" id="{C55968D7-D34D-4B87-A52E-96B1C2706D0D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809639" y="56936"/>
            <a:ext cx="10572721" cy="489365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228600" tIns="45720" rIns="228600" bIns="0" rtlCol="0" anchor="ctr" anchorCtr="0">
            <a:spAutoFit/>
          </a:bodyPr>
          <a:lstStyle>
            <a:lvl1pPr algn="ctr">
              <a:defRPr sz="3200" b="1" cap="none" spc="-70" baseline="0">
                <a:solidFill>
                  <a:srgbClr val="434343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7508908E-9339-78F7-37C3-1674CECF3B02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1519238" y="1827304"/>
            <a:ext cx="9986962" cy="2312236"/>
          </a:xfrm>
        </p:spPr>
        <p:txBody>
          <a:bodyPr>
            <a:spAutoFit/>
          </a:bodyPr>
          <a:lstStyle>
            <a:lvl1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1pPr>
            <a:lvl2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2pPr>
            <a:lvl3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3pPr>
            <a:lvl4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4pPr>
            <a:lvl5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DD69C5BF-D386-C158-3456-9FBA5C891F8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3359"/>
          <a:stretch/>
        </p:blipFill>
        <p:spPr>
          <a:xfrm flipH="1">
            <a:off x="11382361" y="0"/>
            <a:ext cx="80963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739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ur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1274F3-D212-A6CA-42D8-FA4F764FF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6936"/>
            <a:ext cx="12191999" cy="489365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228600" tIns="45720" rIns="228600" bIns="0" rtlCol="0" anchor="ctr" anchorCtr="0">
            <a:spAutoFit/>
          </a:bodyPr>
          <a:lstStyle>
            <a:lvl1pPr algn="ctr">
              <a:defRPr sz="3200" b="1" cap="none" spc="-70" baseline="0">
                <a:solidFill>
                  <a:srgbClr val="434343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184788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0333A-D7F4-8BF6-7FE6-B245E061DF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FD55F-2B6A-BC81-01A1-E169ABA4D2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Montserrat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AAA2D5-089E-22AF-3D0B-4F19067E82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894B4-59C2-ED48-02F2-59E034C4F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61B42-85D1-521C-676B-AEF121AD5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72617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24B23-3A0F-2FFB-F140-0ED21664B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27193-0571-3183-9568-FBC2C4C419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BE860-C86D-39CD-1793-0B867B627B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9902B-89A3-6032-AD27-5B2747726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0BC3B-8A86-AA5A-AD97-AFE05C11E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40587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49683-D972-023F-219D-7BB60D679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FBF06F-33B9-F6B7-D0B0-58368CF72D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  <a:latin typeface="Montserrat" panose="000005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591E4-3B21-B2C2-F89D-019DFA1351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F9B1F-218C-4099-354A-77985CA88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7B7BA-EB30-276C-F6A4-57FBE4B1B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12093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93683-51F3-237C-28D3-307EE44F3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447C5-37A5-7576-DF3F-A03DBF5DC6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3D1057-0101-3CB8-D158-2EAE2463F3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9A133-63CE-4F37-E482-EA1EECCAB0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DC3D78-6D9B-64CF-B7D6-AEEA3A6E0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CD38F0-00C1-C0D4-F298-433BE1D17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77165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8A98D-65C1-1E26-EDD7-90B5F4CAF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ADBA72-820B-660B-EB15-EF77956BD2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9EE162-1C58-9826-D133-1AD84A30AF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950119-C4BF-8D07-DED7-073F40FB57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C9C018-AAE1-01C5-C4E7-1C69A018EB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6C6F45-ECE2-F081-F98C-EECF3EBF42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C19771-6EC0-7828-5F14-219FFD629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AFBBDB-D016-3519-189F-C3EF7A0A3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16587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190F4-6BF3-9A05-11B0-CFDC94F6A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32DC46-DA37-DBBE-5107-914E8DF19A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0D90FD-81A9-E6FB-27D3-24713EF14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316EA0-D473-AC28-DECA-DEAEF6567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6068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17604C-AB91-78A2-2DA4-6D1088A321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C85361-F6B7-FAAB-4738-E0ADE5E1C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23D6D1-624B-8B3C-90BE-2C90B19A7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35742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CB8A9-03E2-CC5E-A121-E5984E9AE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13174-A575-A915-92B0-207B93D1F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Montserrat" panose="00000500000000000000" pitchFamily="2" charset="0"/>
              </a:defRPr>
            </a:lvl1pPr>
            <a:lvl2pPr>
              <a:defRPr sz="2800">
                <a:latin typeface="Montserrat" panose="00000500000000000000" pitchFamily="2" charset="0"/>
              </a:defRPr>
            </a:lvl2pPr>
            <a:lvl3pPr>
              <a:defRPr sz="2400">
                <a:latin typeface="Montserrat" panose="00000500000000000000" pitchFamily="2" charset="0"/>
              </a:defRPr>
            </a:lvl3pPr>
            <a:lvl4pPr>
              <a:defRPr sz="2000">
                <a:latin typeface="Montserrat" panose="00000500000000000000" pitchFamily="2" charset="0"/>
              </a:defRPr>
            </a:lvl4pPr>
            <a:lvl5pPr>
              <a:defRPr sz="2000">
                <a:latin typeface="Montserrat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F26E49-3074-8C94-B0CC-8EFA1B8250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89E3CC-7C4A-D7EC-E46C-5A842B8A1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F330E3-0B96-933C-829B-04B30C41D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757A92-1BAA-DAA4-E90F-EDFBED3D7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28482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A07BE-FE86-FD17-6855-F4BBD305C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EFE0AE-B8E3-6453-74A9-2CCBC448EB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latin typeface="Montserrat" panose="00000500000000000000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1BFAC6-51C3-1D27-7E41-47878F27E0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198224-E0A8-36C0-DDF7-27FA70A43C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34AEAA-95D8-5BA2-2F25-047DDCC1D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686F25-6C70-7C4B-DFD4-192375D55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45199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03B00-617F-6CDB-FC05-71E366A0D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7BB096-36EC-BC27-3A10-9065A2B11C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4F6E8-F910-F328-584A-CA901BB3A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93A474-10C6-034E-0576-8B73F4B70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D4C70E-6DC2-4298-EEB8-A2AC6AD76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92695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08DBE0-CED9-F7B0-5642-5731DA249B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47D136-9913-226C-7C14-436B6CF99C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3D2C8-E528-BF1F-C711-971E74B5E8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DD753D-C084-2ADF-0E12-AA92D30C6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82D8B-8E1E-F47C-7C0F-AEDE48C2D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109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tags" Target="../tags/tag3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ECD48873-4569-48AE-9711-BF92EE297A77}" type="datetime1">
              <a:rPr lang="en-US" smtClean="0"/>
              <a:pPr/>
              <a:t>1/26/2026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pc="3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 dirty="0"/>
          </a:p>
        </p:txBody>
      </p:sp>
    </p:spTree>
    <p:custDataLst>
      <p:tags r:id="rId13"/>
    </p:custDataLst>
    <p:extLst>
      <p:ext uri="{BB962C8B-B14F-4D97-AF65-F5344CB8AC3E}">
        <p14:creationId xmlns:p14="http://schemas.microsoft.com/office/powerpoint/2010/main" val="3019070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hdr="0" dt="0"/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228603" indent="-228603" algn="l" defTabSz="91441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1pPr>
      <a:lvl2pPr marL="68580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2pPr>
      <a:lvl3pPr marL="1143014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3pPr>
      <a:lvl4pPr marL="1600220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4pPr>
      <a:lvl5pPr marL="2057426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5pPr>
      <a:lvl6pPr marL="2514632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7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3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014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ECD48873-4569-48AE-9711-BF92EE297A77}" type="datetime1">
              <a:rPr lang="en-US" smtClean="0"/>
              <a:pPr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pc="3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custDataLst>
      <p:tags r:id="rId16"/>
    </p:custDataLst>
    <p:extLst>
      <p:ext uri="{BB962C8B-B14F-4D97-AF65-F5344CB8AC3E}">
        <p14:creationId xmlns:p14="http://schemas.microsoft.com/office/powerpoint/2010/main" val="2931359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  <p:sldLayoutId id="2147483770" r:id="rId12"/>
    <p:sldLayoutId id="2147483771" r:id="rId13"/>
    <p:sldLayoutId id="2147483772" r:id="rId14"/>
  </p:sldLayoutIdLst>
  <p:hf hdr="0" dt="0"/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228603" indent="-228603" algn="l" defTabSz="91441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1pPr>
      <a:lvl2pPr marL="68580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2pPr>
      <a:lvl3pPr marL="1143014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3pPr>
      <a:lvl4pPr marL="1600220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4pPr>
      <a:lvl5pPr marL="2057426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5pPr>
      <a:lvl6pPr marL="2514632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7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3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28BEE0-7577-10C8-2F70-A988114D8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ED88FE-EDC7-60BB-7A69-AF9890EA0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6E3C9-054B-7BB4-0692-08B96E9944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493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2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i="0" kern="1200">
          <a:solidFill>
            <a:schemeClr val="tx1"/>
          </a:solidFill>
          <a:latin typeface="Montserrat" panose="00000500000000000000" pitchFamily="2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7FE53192_3C36F9F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0.svg"/><Relationship Id="rId11" Type="http://schemas.openxmlformats.org/officeDocument/2006/relationships/image" Target="../media/image10.png"/><Relationship Id="rId5" Type="http://schemas.openxmlformats.org/officeDocument/2006/relationships/image" Target="../media/image29.png"/><Relationship Id="rId10" Type="http://schemas.openxmlformats.org/officeDocument/2006/relationships/image" Target="../media/image34.svg"/><Relationship Id="rId4" Type="http://schemas.openxmlformats.org/officeDocument/2006/relationships/image" Target="../media/image28.svg"/><Relationship Id="rId9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14271" cy="6856286"/>
          </a:xfrm>
          <a:prstGeom prst="rect">
            <a:avLst/>
          </a:prstGeom>
        </p:spPr>
      </p:pic>
      <p:sp>
        <p:nvSpPr>
          <p:cNvPr id="3" name="Object 2"/>
          <p:cNvSpPr/>
          <p:nvPr/>
        </p:nvSpPr>
        <p:spPr>
          <a:xfrm>
            <a:off x="2180680" y="1196279"/>
            <a:ext cx="5761184" cy="2483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ts val="195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2" b="0" i="0" u="none" strike="noStrike" kern="0" cap="none" spc="47" normalizeH="0" baseline="0" noProof="0">
                <a:ln>
                  <a:noFill/>
                </a:ln>
                <a:solidFill>
                  <a:srgbClr val="FFFFFF">
                    <a:alpha val="8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Jost*" pitchFamily="34" charset="-122"/>
                <a:cs typeface="Jost*" pitchFamily="34" charset="-120"/>
              </a:rPr>
              <a:t>OPPORTUNITY REVIEW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" name="Object 3"/>
          <p:cNvSpPr/>
          <p:nvPr/>
        </p:nvSpPr>
        <p:spPr>
          <a:xfrm>
            <a:off x="1178743" y="1685802"/>
            <a:ext cx="6953573" cy="11517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ts val="9072"/>
              </a:lnSpc>
              <a:spcBef>
                <a:spcPts val="9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0" cap="none" spc="243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Jost*"/>
                <a:cs typeface="Jost*" pitchFamily="34" charset="-120"/>
              </a:rPr>
              <a:t>DIRECT-TO-EMPLOYER GTM STRATEGY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Jost*"/>
              <a:cs typeface="+mn-cs"/>
            </a:endParaRPr>
          </a:p>
        </p:txBody>
      </p:sp>
      <p:sp>
        <p:nvSpPr>
          <p:cNvPr id="5" name="Object 6"/>
          <p:cNvSpPr/>
          <p:nvPr/>
        </p:nvSpPr>
        <p:spPr>
          <a:xfrm>
            <a:off x="218209" y="5372101"/>
            <a:ext cx="7723655" cy="31111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ts val="2370"/>
              </a:lnSpc>
              <a:spcBef>
                <a:spcPts val="59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50" b="0" i="0" u="none" strike="noStrike" kern="0" cap="none" spc="53" normalizeH="0" baseline="0" noProof="0" dirty="0">
                <a:ln>
                  <a:noFill/>
                </a:ln>
                <a:solidFill>
                  <a:srgbClr val="FFFFFF">
                    <a:alpha val="80000"/>
                  </a:srgbClr>
                </a:solidFill>
                <a:effectLst/>
                <a:uLnTx/>
                <a:uFillTx/>
                <a:latin typeface="Montserrat"/>
                <a:ea typeface="Jost*"/>
                <a:cs typeface="Jost*" pitchFamily="34" charset="-120"/>
              </a:rPr>
              <a:t>Exploring a BayCare DTE Health Plan</a:t>
            </a:r>
            <a:endParaRPr kumimoji="0" lang="en-US" sz="1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Jost*"/>
              <a:cs typeface="+mn-cs"/>
            </a:endParaRPr>
          </a:p>
        </p:txBody>
      </p:sp>
      <p:pic>
        <p:nvPicPr>
          <p:cNvPr id="6" name="Object 7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22769" y="0"/>
            <a:ext cx="3866183" cy="6856286"/>
          </a:xfrm>
          <a:prstGeom prst="rect">
            <a:avLst/>
          </a:prstGeom>
        </p:spPr>
      </p:pic>
      <p:sp>
        <p:nvSpPr>
          <p:cNvPr id="7" name="Object 8"/>
          <p:cNvSpPr/>
          <p:nvPr/>
        </p:nvSpPr>
        <p:spPr>
          <a:xfrm>
            <a:off x="495176" y="285679"/>
            <a:ext cx="2005028" cy="476131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8" name="Object 9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7538" y="380905"/>
            <a:ext cx="1700304" cy="285679"/>
          </a:xfrm>
          <a:prstGeom prst="rect">
            <a:avLst/>
          </a:prstGeom>
        </p:spPr>
      </p:pic>
      <p:pic>
        <p:nvPicPr>
          <p:cNvPr id="9" name="Content Placeholder 8"/>
          <p:cNvPicPr>
            <a:picLocks noGrp="1"/>
          </p:cNvPicPr>
          <p:nvPr>
            <p:ph/>
          </p:nvPr>
        </p:nvPicPr>
        <p:blipFill>
          <a:blip r:embed="rId7"/>
          <a:stretch>
            <a:fillRect/>
          </a:stretch>
        </p:blipFill>
        <p:spPr>
          <a:xfrm>
            <a:off x="8321040" y="0"/>
            <a:ext cx="386791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9" descr="A large white monument in a city&#10;&#10;Description automatically generated">
            <a:extLst>
              <a:ext uri="{FF2B5EF4-FFF2-40B4-BE49-F238E27FC236}">
                <a16:creationId xmlns:a16="http://schemas.microsoft.com/office/drawing/2014/main" id="{BE8CB555-2013-D606-CB39-161E7EAEF5C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49B0828E-DA28-4FBB-9235-C683F78A9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FC719D-C4A7-4544-876E-D411D11AF6C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" name="Rectangle: Single Corner Rounded 4">
            <a:extLst>
              <a:ext uri="{FF2B5EF4-FFF2-40B4-BE49-F238E27FC236}">
                <a16:creationId xmlns:a16="http://schemas.microsoft.com/office/drawing/2014/main" id="{90B02A10-01E7-2494-66B5-078DDFE69A60}"/>
              </a:ext>
            </a:extLst>
          </p:cNvPr>
          <p:cNvSpPr/>
          <p:nvPr/>
        </p:nvSpPr>
        <p:spPr>
          <a:xfrm>
            <a:off x="-8238" y="1163706"/>
            <a:ext cx="5843847" cy="5702531"/>
          </a:xfrm>
          <a:prstGeom prst="round1Rect">
            <a:avLst>
              <a:gd name="adj" fmla="val 12082"/>
            </a:avLst>
          </a:prstGeom>
          <a:solidFill>
            <a:srgbClr val="00539F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274320" rtlCol="0" anchor="ctr"/>
          <a:lstStyle/>
          <a:p>
            <a:pPr marL="457206" marR="0" lvl="1" indent="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C3359629-7405-5BED-0491-4C3A6C6FF755}"/>
              </a:ext>
            </a:extLst>
          </p:cNvPr>
          <p:cNvSpPr txBox="1"/>
          <p:nvPr/>
        </p:nvSpPr>
        <p:spPr>
          <a:xfrm>
            <a:off x="81069" y="2184943"/>
            <a:ext cx="5681708" cy="40164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Founded in 1979, headquartered in Indianapolis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/>
              <a:ea typeface="+mn-ea"/>
              <a:cs typeface="Arial"/>
            </a:endParaRP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Largest Independently-Owned Full-Service Third-Party Administrator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Specialize in Administration of Self-Funded Plans and Population Health Management​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Leader in the Direct-to-Employer Movement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We Know and Understand the Market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Experience Working with All Professional Teams: Agents, Networks, MGAs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The Key Family of Companies is a Vertically Integrated group of benefit related organizations </a:t>
            </a:r>
          </a:p>
          <a:p>
            <a:pPr marL="742950" marR="0" lvl="1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3,000+ Corporate Clients </a:t>
            </a:r>
          </a:p>
          <a:p>
            <a:pPr marL="742950" marR="0" lvl="1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3 Million Members under Management  </a:t>
            </a:r>
          </a:p>
          <a:p>
            <a:pPr marL="742950" marR="0" lvl="1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700 Employees</a:t>
            </a: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E7533ABB-0CFF-7B45-D905-4C9D58558C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70497" y="1415781"/>
            <a:ext cx="3302852" cy="641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091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D9CFD-1D5C-FF21-4A1E-7AB392E8D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539B371-73B9-408F-674E-7CD4D0AB597E}"/>
              </a:ext>
            </a:extLst>
          </p:cNvPr>
          <p:cNvSpPr/>
          <p:nvPr/>
        </p:nvSpPr>
        <p:spPr>
          <a:xfrm>
            <a:off x="1" y="0"/>
            <a:ext cx="4846964" cy="6870346"/>
          </a:xfrm>
          <a:prstGeom prst="rect">
            <a:avLst/>
          </a:prstGeom>
          <a:solidFill>
            <a:srgbClr val="1116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29C9EE-93FE-78B8-4BCD-C09DECB33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29520" y="6421464"/>
            <a:ext cx="4114800" cy="365125"/>
          </a:xfrm>
        </p:spPr>
        <p:txBody>
          <a:bodyPr/>
          <a:lstStyle/>
          <a:p>
            <a:r>
              <a:rPr lang="en-US"/>
              <a:t>Key Benefit Administrators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2966400-D608-A464-A105-DE053AB49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2655" y="683306"/>
            <a:ext cx="5957965" cy="13255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000">
                <a:solidFill>
                  <a:srgbClr val="000B2E"/>
                </a:solidFill>
              </a:rPr>
              <a:t>Our Founding and Heritage:</a:t>
            </a:r>
            <a:br>
              <a:rPr lang="en-US" sz="4000" b="1">
                <a:solidFill>
                  <a:srgbClr val="000B2E"/>
                </a:solidFill>
              </a:rPr>
            </a:br>
            <a:r>
              <a:rPr lang="en-US" sz="3600" b="0">
                <a:solidFill>
                  <a:srgbClr val="000B2E"/>
                </a:solidFill>
              </a:rPr>
              <a:t>46 Years of Striving for Honesty in Healthcare</a:t>
            </a:r>
            <a:endParaRPr lang="en-US" sz="1600" b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5" name="Picture 2" descr="Larry Dust - Crunchbase Person Profile">
            <a:extLst>
              <a:ext uri="{FF2B5EF4-FFF2-40B4-BE49-F238E27FC236}">
                <a16:creationId xmlns:a16="http://schemas.microsoft.com/office/drawing/2014/main" id="{F7A901A5-A0C2-992D-8392-CF98ABD42E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442" y="1049081"/>
            <a:ext cx="2498081" cy="249808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Picture 4" descr="Working at Key Benefit Administrators | Top Workplaces">
            <a:extLst>
              <a:ext uri="{FF2B5EF4-FFF2-40B4-BE49-F238E27FC236}">
                <a16:creationId xmlns:a16="http://schemas.microsoft.com/office/drawing/2014/main" id="{F140746C-3B1E-D8A0-5BED-E05A5C3DAC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057" y="3913332"/>
            <a:ext cx="2990850" cy="163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0">
            <a:extLst>
              <a:ext uri="{FF2B5EF4-FFF2-40B4-BE49-F238E27FC236}">
                <a16:creationId xmlns:a16="http://schemas.microsoft.com/office/drawing/2014/main" id="{0CBFE08E-E446-CB70-FF81-2CC0C8485D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7206" y="2298120"/>
            <a:ext cx="5863414" cy="3984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481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3">
            <a:extLst>
              <a:ext uri="{FF2B5EF4-FFF2-40B4-BE49-F238E27FC236}">
                <a16:creationId xmlns:a16="http://schemas.microsoft.com/office/drawing/2014/main" id="{E9585457-04EC-9F2F-1461-7D06991F11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26" y="691197"/>
            <a:ext cx="8657166" cy="5455920"/>
          </a:xfrm>
          <a:prstGeom prst="rect">
            <a:avLst/>
          </a:prstGeom>
        </p:spPr>
      </p:pic>
      <p:sp>
        <p:nvSpPr>
          <p:cNvPr id="3" name="Rectangle 5">
            <a:extLst>
              <a:ext uri="{FF2B5EF4-FFF2-40B4-BE49-F238E27FC236}">
                <a16:creationId xmlns:a16="http://schemas.microsoft.com/office/drawing/2014/main" id="{F34C8217-D749-4511-B7B5-02F77484B378}"/>
              </a:ext>
            </a:extLst>
          </p:cNvPr>
          <p:cNvSpPr/>
          <p:nvPr/>
        </p:nvSpPr>
        <p:spPr>
          <a:xfrm>
            <a:off x="8816521" y="0"/>
            <a:ext cx="3375480" cy="6872068"/>
          </a:xfrm>
          <a:prstGeom prst="rect">
            <a:avLst/>
          </a:prstGeom>
          <a:solidFill>
            <a:srgbClr val="254F9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C4EC4C45-7E95-496F-9B8E-C3FD224C0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FC719D-C4A7-4544-876E-D411D11AF6C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5" name="Rectangle: Rounded Corners 7">
            <a:extLst>
              <a:ext uri="{FF2B5EF4-FFF2-40B4-BE49-F238E27FC236}">
                <a16:creationId xmlns:a16="http://schemas.microsoft.com/office/drawing/2014/main" id="{880AE72B-2936-B7FD-B16B-B7DDE61C48BF}"/>
              </a:ext>
            </a:extLst>
          </p:cNvPr>
          <p:cNvSpPr/>
          <p:nvPr/>
        </p:nvSpPr>
        <p:spPr>
          <a:xfrm>
            <a:off x="2396923" y="3710892"/>
            <a:ext cx="2304822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Bentonville, AR</a:t>
            </a:r>
          </a:p>
        </p:txBody>
      </p:sp>
      <p:sp>
        <p:nvSpPr>
          <p:cNvPr id="6" name="Rectangle: Rounded Corners 9">
            <a:extLst>
              <a:ext uri="{FF2B5EF4-FFF2-40B4-BE49-F238E27FC236}">
                <a16:creationId xmlns:a16="http://schemas.microsoft.com/office/drawing/2014/main" id="{83BAAF75-9BFE-8A09-84C8-29127AD11CC8}"/>
              </a:ext>
            </a:extLst>
          </p:cNvPr>
          <p:cNvSpPr/>
          <p:nvPr/>
        </p:nvSpPr>
        <p:spPr>
          <a:xfrm>
            <a:off x="2439551" y="4605432"/>
            <a:ext cx="1781467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Dallas Fort Worth, TX</a:t>
            </a:r>
          </a:p>
        </p:txBody>
      </p:sp>
      <p:sp>
        <p:nvSpPr>
          <p:cNvPr id="7" name="Rectangle: Rounded Corners 10">
            <a:extLst>
              <a:ext uri="{FF2B5EF4-FFF2-40B4-BE49-F238E27FC236}">
                <a16:creationId xmlns:a16="http://schemas.microsoft.com/office/drawing/2014/main" id="{F7F76DEC-1B86-5F34-4522-EE137E2BEDC5}"/>
              </a:ext>
            </a:extLst>
          </p:cNvPr>
          <p:cNvSpPr/>
          <p:nvPr/>
        </p:nvSpPr>
        <p:spPr>
          <a:xfrm>
            <a:off x="4645491" y="5362115"/>
            <a:ext cx="2132682" cy="477348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Fort Myers, FL</a:t>
            </a:r>
          </a:p>
        </p:txBody>
      </p:sp>
      <p:sp>
        <p:nvSpPr>
          <p:cNvPr id="8" name="Rectangle: Rounded Corners 11">
            <a:extLst>
              <a:ext uri="{FF2B5EF4-FFF2-40B4-BE49-F238E27FC236}">
                <a16:creationId xmlns:a16="http://schemas.microsoft.com/office/drawing/2014/main" id="{B522D9FB-03E8-0475-A3A5-AF33059EA7E6}"/>
              </a:ext>
            </a:extLst>
          </p:cNvPr>
          <p:cNvSpPr/>
          <p:nvPr/>
        </p:nvSpPr>
        <p:spPr>
          <a:xfrm>
            <a:off x="5957116" y="4048009"/>
            <a:ext cx="2272613" cy="477348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Knoxville, TN</a:t>
            </a:r>
          </a:p>
        </p:txBody>
      </p:sp>
      <p:sp>
        <p:nvSpPr>
          <p:cNvPr id="9" name="Rectangle: Rounded Corners 12">
            <a:extLst>
              <a:ext uri="{FF2B5EF4-FFF2-40B4-BE49-F238E27FC236}">
                <a16:creationId xmlns:a16="http://schemas.microsoft.com/office/drawing/2014/main" id="{F3AB3343-FA0C-E9FA-637F-E45BB11DFFC1}"/>
              </a:ext>
            </a:extLst>
          </p:cNvPr>
          <p:cNvSpPr/>
          <p:nvPr/>
        </p:nvSpPr>
        <p:spPr>
          <a:xfrm>
            <a:off x="6678138" y="3093352"/>
            <a:ext cx="1751526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Cincinnati, OH</a:t>
            </a:r>
          </a:p>
        </p:txBody>
      </p:sp>
      <p:sp>
        <p:nvSpPr>
          <p:cNvPr id="10" name="Rectangle: Rounded Corners 13">
            <a:extLst>
              <a:ext uri="{FF2B5EF4-FFF2-40B4-BE49-F238E27FC236}">
                <a16:creationId xmlns:a16="http://schemas.microsoft.com/office/drawing/2014/main" id="{A5F1AA97-617E-DEDA-E780-8518ACB143FB}"/>
              </a:ext>
            </a:extLst>
          </p:cNvPr>
          <p:cNvSpPr/>
          <p:nvPr/>
        </p:nvSpPr>
        <p:spPr>
          <a:xfrm>
            <a:off x="4102202" y="3058516"/>
            <a:ext cx="1854914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Louisville, KY</a:t>
            </a:r>
          </a:p>
        </p:txBody>
      </p:sp>
      <p:pic>
        <p:nvPicPr>
          <p:cNvPr id="11" name="Picture 13">
            <a:extLst>
              <a:ext uri="{FF2B5EF4-FFF2-40B4-BE49-F238E27FC236}">
                <a16:creationId xmlns:a16="http://schemas.microsoft.com/office/drawing/2014/main" id="{1FBDB55F-E2EE-D357-32A6-FEC23D86FA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12" name="Title 4">
            <a:extLst>
              <a:ext uri="{FF2B5EF4-FFF2-40B4-BE49-F238E27FC236}">
                <a16:creationId xmlns:a16="http://schemas.microsoft.com/office/drawing/2014/main" id="{7C6371C7-344C-3C21-F253-96E09F12864E}"/>
              </a:ext>
            </a:extLst>
          </p:cNvPr>
          <p:cNvSpPr txBox="1">
            <a:spLocks/>
          </p:cNvSpPr>
          <p:nvPr/>
        </p:nvSpPr>
        <p:spPr>
          <a:xfrm>
            <a:off x="8881352" y="1661020"/>
            <a:ext cx="3245817" cy="33078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chemeClr val="tx2"/>
                </a:solidFill>
                <a:latin typeface="Book Antiqua" panose="02040602050305030304" pitchFamily="18" charset="0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MARKET LEADER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IN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PRIVATE LABELED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DTE PLANS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E4CD584-8CF7-DD3D-64A2-A93AEE54754C}"/>
              </a:ext>
            </a:extLst>
          </p:cNvPr>
          <p:cNvSpPr/>
          <p:nvPr/>
        </p:nvSpPr>
        <p:spPr>
          <a:xfrm>
            <a:off x="6962035" y="2256594"/>
            <a:ext cx="1751526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Cleveland, OH</a:t>
            </a:r>
          </a:p>
        </p:txBody>
      </p:sp>
    </p:spTree>
    <p:extLst>
      <p:ext uri="{BB962C8B-B14F-4D97-AF65-F5344CB8AC3E}">
        <p14:creationId xmlns:p14="http://schemas.microsoft.com/office/powerpoint/2010/main" val="358070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6E917A82-FACC-9CE3-5CE6-640CE6087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Benefit Administrators</a:t>
            </a:r>
            <a:endParaRPr lang="en-US" dirty="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77BEE2C0-9C88-E3B0-3307-08132DDFD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5</a:t>
            </a:fld>
            <a:endParaRPr lang="en-US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C9963971-9E27-D1D8-44A6-33EAA3782592}"/>
              </a:ext>
            </a:extLst>
          </p:cNvPr>
          <p:cNvSpPr txBox="1"/>
          <p:nvPr/>
        </p:nvSpPr>
        <p:spPr>
          <a:xfrm>
            <a:off x="227045" y="1330559"/>
            <a:ext cx="1173791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spc="200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  <a:cs typeface="+mj-cs"/>
              </a:rPr>
              <a:t>Target Market</a:t>
            </a:r>
            <a:br>
              <a:rPr lang="en-US" sz="1600" spc="200" dirty="0">
                <a:latin typeface="Montserrat" panose="00000500000000000000" pitchFamily="2" charset="0"/>
                <a:cs typeface="+mj-cs"/>
              </a:rPr>
            </a:br>
            <a:r>
              <a:rPr lang="en-US" sz="1600" spc="200" dirty="0">
                <a:latin typeface="Montserrat" panose="00000500000000000000" pitchFamily="2" charset="0"/>
                <a:cs typeface="+mj-cs"/>
              </a:rPr>
              <a:t>2,500+ Employers       990,000</a:t>
            </a:r>
            <a:r>
              <a:rPr lang="en-US" sz="1600" spc="200" dirty="0">
                <a:latin typeface="Montserrat" panose="00000500000000000000" pitchFamily="2" charset="0"/>
                <a:cs typeface="+mj-cs"/>
                <a:sym typeface="Wingdings" panose="05000000000000000000" pitchFamily="2" charset="2"/>
              </a:rPr>
              <a:t>+ Employees       1,800,000+ Members</a:t>
            </a:r>
            <a:endParaRPr lang="en-US" sz="1600" dirty="0">
              <a:latin typeface="Montserrat" panose="00000500000000000000" pitchFamily="2" charset="0"/>
            </a:endParaRPr>
          </a:p>
        </p:txBody>
      </p:sp>
      <p:sp>
        <p:nvSpPr>
          <p:cNvPr id="5" name="Arrow: Chevron 8">
            <a:extLst>
              <a:ext uri="{FF2B5EF4-FFF2-40B4-BE49-F238E27FC236}">
                <a16:creationId xmlns:a16="http://schemas.microsoft.com/office/drawing/2014/main" id="{CCED4F75-71FE-39B7-D7A7-16E95303FB5C}"/>
              </a:ext>
            </a:extLst>
          </p:cNvPr>
          <p:cNvSpPr/>
          <p:nvPr/>
        </p:nvSpPr>
        <p:spPr>
          <a:xfrm>
            <a:off x="4333487" y="1656396"/>
            <a:ext cx="223374" cy="209073"/>
          </a:xfrm>
          <a:prstGeom prst="chevron">
            <a:avLst/>
          </a:prstGeom>
          <a:solidFill>
            <a:srgbClr val="59CAE8"/>
          </a:solidFill>
          <a:ln>
            <a:solidFill>
              <a:srgbClr val="7D32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Arrow: Chevron 9">
            <a:extLst>
              <a:ext uri="{FF2B5EF4-FFF2-40B4-BE49-F238E27FC236}">
                <a16:creationId xmlns:a16="http://schemas.microsoft.com/office/drawing/2014/main" id="{340F1AD2-D85A-D177-8D19-AC9B027C53E2}"/>
              </a:ext>
            </a:extLst>
          </p:cNvPr>
          <p:cNvSpPr/>
          <p:nvPr/>
        </p:nvSpPr>
        <p:spPr>
          <a:xfrm>
            <a:off x="7280031" y="1647719"/>
            <a:ext cx="223374" cy="209073"/>
          </a:xfrm>
          <a:prstGeom prst="chevron">
            <a:avLst/>
          </a:prstGeom>
          <a:solidFill>
            <a:srgbClr val="59CAE8"/>
          </a:solidFill>
          <a:ln>
            <a:solidFill>
              <a:srgbClr val="7D32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Montserrat" panose="00000500000000000000" pitchFamily="2" charset="0"/>
              </a:rPr>
              <a:t>    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12C7A76-8C4C-0C17-C582-24A807F19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86" y="43143"/>
            <a:ext cx="12028428" cy="13255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3200" b="0" dirty="0">
                <a:solidFill>
                  <a:srgbClr val="000B2E"/>
                </a:solidFill>
              </a:rPr>
              <a:t>SIGNIFICANT OPPORTUNITY FOR PLAN GROWTH</a:t>
            </a:r>
            <a:br>
              <a:rPr lang="en-US" sz="3200" dirty="0">
                <a:solidFill>
                  <a:srgbClr val="000B2E"/>
                </a:solidFill>
              </a:rPr>
            </a:br>
            <a:r>
              <a:rPr lang="en-US" sz="2000" b="0" dirty="0">
                <a:solidFill>
                  <a:srgbClr val="000B2E"/>
                </a:solidFill>
              </a:rPr>
              <a:t>Researched for the below highlighted service area</a:t>
            </a:r>
            <a:endParaRPr lang="en-US" sz="1400" b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8" name="Table 12">
            <a:extLst>
              <a:ext uri="{FF2B5EF4-FFF2-40B4-BE49-F238E27FC236}">
                <a16:creationId xmlns:a16="http://schemas.microsoft.com/office/drawing/2014/main" id="{B9E0A44D-EDC5-EBD5-4D77-F30FF46B06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1037615"/>
              </p:ext>
            </p:extLst>
          </p:nvPr>
        </p:nvGraphicFramePr>
        <p:xfrm>
          <a:off x="4889297" y="2140949"/>
          <a:ext cx="6949427" cy="3441355"/>
        </p:xfrm>
        <a:graphic>
          <a:graphicData uri="http://schemas.openxmlformats.org/drawingml/2006/table">
            <a:tbl>
              <a:tblPr/>
              <a:tblGrid>
                <a:gridCol w="2681975">
                  <a:extLst>
                    <a:ext uri="{9D8B030D-6E8A-4147-A177-3AD203B41FA5}">
                      <a16:colId xmlns:a16="http://schemas.microsoft.com/office/drawing/2014/main" val="1559488425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447311937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754037008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1458190780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957112869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257020552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699895334"/>
                    </a:ext>
                  </a:extLst>
                </a:gridCol>
              </a:tblGrid>
              <a:tr h="33313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Employer Size Group (# of Employees)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1166579"/>
                  </a:ext>
                </a:extLst>
              </a:tr>
              <a:tr h="5393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Commercial Employers With Headquarters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401-1,000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1,001-3,000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3,000+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1961423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In Catchment Area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2,523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1,052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655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352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9977521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0967609"/>
                  </a:ext>
                </a:extLst>
              </a:tr>
              <a:tr h="5393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Total Employees at Employers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401-1,000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1,001-3,000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3,000+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2000535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Headquartered in Catchment Area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189,200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157,800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196,500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246,400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222,000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492,000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6299110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4517032"/>
                  </a:ext>
                </a:extLst>
              </a:tr>
              <a:tr h="5393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Total Members with Employers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401-1,000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1,001-3,000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3,000+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436592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Headquartered in Catchment Area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340,600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284,000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353,700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443,500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399,600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885,600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1610804"/>
                  </a:ext>
                </a:extLst>
              </a:tr>
            </a:tbl>
          </a:graphicData>
        </a:graphic>
      </p:graphicFrame>
      <p:pic>
        <p:nvPicPr>
          <p:cNvPr id="9" name="Content Placeholder 8"/>
          <p:cNvPicPr>
            <a:picLocks noGrp="1"/>
          </p:cNvPicPr>
          <p:nvPr>
            <p:ph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558757" y="1968855"/>
            <a:ext cx="60960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060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588DF-56D9-837C-AA1C-128F048C4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698" y="235398"/>
            <a:ext cx="10515600" cy="1325563"/>
          </a:xfrm>
        </p:spPr>
        <p:txBody>
          <a:bodyPr/>
          <a:lstStyle/>
          <a:p>
            <a:r>
              <a:rPr lang="en-US" b="0" dirty="0"/>
              <a:t>PLAN POTENTIAL GROWTH PATHS</a:t>
            </a:r>
          </a:p>
        </p:txBody>
      </p:sp>
      <p:grpSp>
        <p:nvGrpSpPr>
          <p:cNvPr id="3" name="Group 28">
            <a:extLst>
              <a:ext uri="{FF2B5EF4-FFF2-40B4-BE49-F238E27FC236}">
                <a16:creationId xmlns:a16="http://schemas.microsoft.com/office/drawing/2014/main" id="{69A10699-B4B2-AF88-E1A1-1EF0A88AB471}"/>
              </a:ext>
            </a:extLst>
          </p:cNvPr>
          <p:cNvGrpSpPr/>
          <p:nvPr/>
        </p:nvGrpSpPr>
        <p:grpSpPr>
          <a:xfrm>
            <a:off x="315991" y="1915224"/>
            <a:ext cx="4179295" cy="3636786"/>
            <a:chOff x="1267778" y="2161521"/>
            <a:chExt cx="8731885" cy="4307840"/>
          </a:xfrm>
        </p:grpSpPr>
        <p:grpSp>
          <p:nvGrpSpPr>
            <p:cNvPr id="4" name="Group 29">
              <a:extLst>
                <a:ext uri="{FF2B5EF4-FFF2-40B4-BE49-F238E27FC236}">
                  <a16:creationId xmlns:a16="http://schemas.microsoft.com/office/drawing/2014/main" id="{11C874E5-E3B4-BAE0-4E2D-2C86D4E7E53A}"/>
                </a:ext>
              </a:extLst>
            </p:cNvPr>
            <p:cNvGrpSpPr/>
            <p:nvPr/>
          </p:nvGrpSpPr>
          <p:grpSpPr>
            <a:xfrm>
              <a:off x="1267778" y="5494001"/>
              <a:ext cx="7329805" cy="975360"/>
              <a:chOff x="1267778" y="5494001"/>
              <a:chExt cx="7329805" cy="975360"/>
            </a:xfrm>
          </p:grpSpPr>
          <p:sp>
            <p:nvSpPr>
              <p:cNvPr id="5" name="Freeform: Shape 72">
                <a:extLst>
                  <a:ext uri="{FF2B5EF4-FFF2-40B4-BE49-F238E27FC236}">
                    <a16:creationId xmlns:a16="http://schemas.microsoft.com/office/drawing/2014/main" id="{C2AD90F2-700F-581B-540A-D6A10D5F84F2}"/>
                  </a:ext>
                </a:extLst>
              </p:cNvPr>
              <p:cNvSpPr/>
              <p:nvPr/>
            </p:nvSpPr>
            <p:spPr>
              <a:xfrm flipV="1">
                <a:off x="2339023" y="5494001"/>
                <a:ext cx="6258560" cy="975360"/>
              </a:xfrm>
              <a:custGeom>
                <a:avLst/>
                <a:gdLst>
                  <a:gd name="connsiteX0" fmla="*/ 0 w 6258560"/>
                  <a:gd name="connsiteY0" fmla="*/ 97536 h 975360"/>
                  <a:gd name="connsiteX1" fmla="*/ 97536 w 6258560"/>
                  <a:gd name="connsiteY1" fmla="*/ 0 h 975360"/>
                  <a:gd name="connsiteX2" fmla="*/ 6161024 w 6258560"/>
                  <a:gd name="connsiteY2" fmla="*/ 0 h 975360"/>
                  <a:gd name="connsiteX3" fmla="*/ 6258560 w 6258560"/>
                  <a:gd name="connsiteY3" fmla="*/ 97536 h 975360"/>
                  <a:gd name="connsiteX4" fmla="*/ 6258560 w 6258560"/>
                  <a:gd name="connsiteY4" fmla="*/ 877824 h 975360"/>
                  <a:gd name="connsiteX5" fmla="*/ 6161024 w 6258560"/>
                  <a:gd name="connsiteY5" fmla="*/ 975360 h 975360"/>
                  <a:gd name="connsiteX6" fmla="*/ 97536 w 6258560"/>
                  <a:gd name="connsiteY6" fmla="*/ 975360 h 975360"/>
                  <a:gd name="connsiteX7" fmla="*/ 0 w 6258560"/>
                  <a:gd name="connsiteY7" fmla="*/ 877824 h 975360"/>
                  <a:gd name="connsiteX8" fmla="*/ 0 w 6258560"/>
                  <a:gd name="connsiteY8" fmla="*/ 97536 h 975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258560" h="975360">
                    <a:moveTo>
                      <a:pt x="0" y="97536"/>
                    </a:moveTo>
                    <a:cubicBezTo>
                      <a:pt x="0" y="43668"/>
                      <a:pt x="43668" y="0"/>
                      <a:pt x="97536" y="0"/>
                    </a:cubicBezTo>
                    <a:lnTo>
                      <a:pt x="6161024" y="0"/>
                    </a:lnTo>
                    <a:cubicBezTo>
                      <a:pt x="6214892" y="0"/>
                      <a:pt x="6258560" y="43668"/>
                      <a:pt x="6258560" y="97536"/>
                    </a:cubicBezTo>
                    <a:lnTo>
                      <a:pt x="6258560" y="877824"/>
                    </a:lnTo>
                    <a:cubicBezTo>
                      <a:pt x="6258560" y="931692"/>
                      <a:pt x="6214892" y="975360"/>
                      <a:pt x="6161024" y="975360"/>
                    </a:cubicBezTo>
                    <a:lnTo>
                      <a:pt x="97536" y="975360"/>
                    </a:lnTo>
                    <a:cubicBezTo>
                      <a:pt x="43668" y="975360"/>
                      <a:pt x="0" y="931692"/>
                      <a:pt x="0" y="877824"/>
                    </a:cubicBezTo>
                    <a:lnTo>
                      <a:pt x="0" y="97536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88587" tIns="188587" rIns="1298060" bIns="188587" numCol="1" spcCol="1270" anchor="ctr" anchorCtr="0">
                <a:noAutofit/>
              </a:bodyPr>
              <a:lstStyle/>
              <a:p>
                <a:pPr marL="0" lvl="0" indent="0" algn="l" defTabSz="18669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IN" sz="4200" kern="1200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6" name="TextBox 73">
                <a:extLst>
                  <a:ext uri="{FF2B5EF4-FFF2-40B4-BE49-F238E27FC236}">
                    <a16:creationId xmlns:a16="http://schemas.microsoft.com/office/drawing/2014/main" id="{AEAD331A-F2F6-E5AA-6FA8-43463612A331}"/>
                  </a:ext>
                </a:extLst>
              </p:cNvPr>
              <p:cNvSpPr txBox="1"/>
              <p:nvPr/>
            </p:nvSpPr>
            <p:spPr>
              <a:xfrm>
                <a:off x="1267778" y="5759838"/>
                <a:ext cx="3705006" cy="443686"/>
              </a:xfrm>
              <a:prstGeom prst="roundRect">
                <a:avLst/>
              </a:prstGeom>
              <a:solidFill>
                <a:srgbClr val="00539F"/>
              </a:solidFill>
              <a:ln>
                <a:solidFill>
                  <a:schemeClr val="bg1"/>
                </a:solidFill>
              </a:ln>
              <a:effectLst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rPr>
                  <a:t>Population</a:t>
                </a:r>
                <a:endParaRPr lang="en-IN" sz="1600" b="1" i="1" dirty="0">
                  <a:solidFill>
                    <a:schemeClr val="bg1"/>
                  </a:solidFill>
                  <a:latin typeface="Montserrat" panose="00000500000000000000" pitchFamily="2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7" name="Group 30">
              <a:extLst>
                <a:ext uri="{FF2B5EF4-FFF2-40B4-BE49-F238E27FC236}">
                  <a16:creationId xmlns:a16="http://schemas.microsoft.com/office/drawing/2014/main" id="{689474B3-12FA-8E66-D71F-53822C9C68C9}"/>
                </a:ext>
              </a:extLst>
            </p:cNvPr>
            <p:cNvGrpSpPr/>
            <p:nvPr/>
          </p:nvGrpSpPr>
          <p:grpSpPr>
            <a:xfrm>
              <a:off x="1724978" y="2161521"/>
              <a:ext cx="8274685" cy="3197014"/>
              <a:chOff x="3170556" y="1830493"/>
              <a:chExt cx="8274685" cy="3197014"/>
            </a:xfrm>
          </p:grpSpPr>
          <p:grpSp>
            <p:nvGrpSpPr>
              <p:cNvPr id="8" name="Group 58">
                <a:extLst>
                  <a:ext uri="{FF2B5EF4-FFF2-40B4-BE49-F238E27FC236}">
                    <a16:creationId xmlns:a16="http://schemas.microsoft.com/office/drawing/2014/main" id="{51ED3EA0-1B18-EEE0-293E-BB00AD4DE764}"/>
                  </a:ext>
                </a:extLst>
              </p:cNvPr>
              <p:cNvGrpSpPr/>
              <p:nvPr/>
            </p:nvGrpSpPr>
            <p:grpSpPr>
              <a:xfrm>
                <a:off x="3170556" y="4052147"/>
                <a:ext cx="7339965" cy="975360"/>
                <a:chOff x="3170556" y="4052147"/>
                <a:chExt cx="7339965" cy="975360"/>
              </a:xfrm>
            </p:grpSpPr>
            <p:sp>
              <p:nvSpPr>
                <p:cNvPr id="9" name="Freeform: Shape 62">
                  <a:extLst>
                    <a:ext uri="{FF2B5EF4-FFF2-40B4-BE49-F238E27FC236}">
                      <a16:creationId xmlns:a16="http://schemas.microsoft.com/office/drawing/2014/main" id="{BC70B6BA-E51B-5756-ABB1-C97D21E56F2F}"/>
                    </a:ext>
                  </a:extLst>
                </p:cNvPr>
                <p:cNvSpPr/>
                <p:nvPr/>
              </p:nvSpPr>
              <p:spPr>
                <a:xfrm flipV="1">
                  <a:off x="4251961" y="4052147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10" name="TextBox 63">
                  <a:extLst>
                    <a:ext uri="{FF2B5EF4-FFF2-40B4-BE49-F238E27FC236}">
                      <a16:creationId xmlns:a16="http://schemas.microsoft.com/office/drawing/2014/main" id="{89D49C14-1775-066C-353B-1ACCC4D24138}"/>
                    </a:ext>
                  </a:extLst>
                </p:cNvPr>
                <p:cNvSpPr txBox="1"/>
                <p:nvPr/>
              </p:nvSpPr>
              <p:spPr>
                <a:xfrm>
                  <a:off x="3170556" y="4317984"/>
                  <a:ext cx="3705006" cy="443686"/>
                </a:xfrm>
                <a:prstGeom prst="roundRect">
                  <a:avLst/>
                </a:prstGeom>
                <a:solidFill>
                  <a:srgbClr val="00539F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Montserrat" panose="00000500000000000000" pitchFamily="2" charset="0"/>
                      <a:cs typeface="Arial" panose="020B0604020202020204" pitchFamily="34" charset="0"/>
                    </a:rPr>
                    <a:t>Working Age</a:t>
                  </a:r>
                  <a:endParaRPr lang="en-IN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1" name="Group 52">
                <a:extLst>
                  <a:ext uri="{FF2B5EF4-FFF2-40B4-BE49-F238E27FC236}">
                    <a16:creationId xmlns:a16="http://schemas.microsoft.com/office/drawing/2014/main" id="{1DBB449D-FFE3-79BF-CC4B-CBC0A3F03B29}"/>
                  </a:ext>
                </a:extLst>
              </p:cNvPr>
              <p:cNvGrpSpPr/>
              <p:nvPr/>
            </p:nvGrpSpPr>
            <p:grpSpPr>
              <a:xfrm>
                <a:off x="3612748" y="2930285"/>
                <a:ext cx="7365133" cy="975360"/>
                <a:chOff x="3612747" y="2930285"/>
                <a:chExt cx="7365133" cy="975360"/>
              </a:xfrm>
            </p:grpSpPr>
            <p:sp>
              <p:nvSpPr>
                <p:cNvPr id="12" name="Freeform: Shape 56">
                  <a:extLst>
                    <a:ext uri="{FF2B5EF4-FFF2-40B4-BE49-F238E27FC236}">
                      <a16:creationId xmlns:a16="http://schemas.microsoft.com/office/drawing/2014/main" id="{2D2231FB-5290-0F34-19A4-B0491233CE27}"/>
                    </a:ext>
                  </a:extLst>
                </p:cNvPr>
                <p:cNvSpPr/>
                <p:nvPr/>
              </p:nvSpPr>
              <p:spPr>
                <a:xfrm flipV="1">
                  <a:off x="4719320" y="2930285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13" name="TextBox 57">
                  <a:extLst>
                    <a:ext uri="{FF2B5EF4-FFF2-40B4-BE49-F238E27FC236}">
                      <a16:creationId xmlns:a16="http://schemas.microsoft.com/office/drawing/2014/main" id="{3C6B2C41-D61E-2C7A-3D82-5A90E06CEE5A}"/>
                    </a:ext>
                  </a:extLst>
                </p:cNvPr>
                <p:cNvSpPr txBox="1"/>
                <p:nvPr/>
              </p:nvSpPr>
              <p:spPr>
                <a:xfrm>
                  <a:off x="3612747" y="3206963"/>
                  <a:ext cx="3705006" cy="443686"/>
                </a:xfrm>
                <a:prstGeom prst="roundRect">
                  <a:avLst/>
                </a:prstGeom>
                <a:solidFill>
                  <a:srgbClr val="00539F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Montserrat" panose="00000500000000000000" pitchFamily="2" charset="0"/>
                      <a:cs typeface="Arial" panose="020B0604020202020204" pitchFamily="34" charset="0"/>
                    </a:rPr>
                    <a:t>Insured</a:t>
                  </a:r>
                  <a:endParaRPr lang="en-IN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4" name="Group 46">
                <a:extLst>
                  <a:ext uri="{FF2B5EF4-FFF2-40B4-BE49-F238E27FC236}">
                    <a16:creationId xmlns:a16="http://schemas.microsoft.com/office/drawing/2014/main" id="{F80321D4-B659-65A7-5D2E-CFE404DB4D8E}"/>
                  </a:ext>
                </a:extLst>
              </p:cNvPr>
              <p:cNvGrpSpPr/>
              <p:nvPr/>
            </p:nvGrpSpPr>
            <p:grpSpPr>
              <a:xfrm>
                <a:off x="4104006" y="1830493"/>
                <a:ext cx="7341235" cy="975360"/>
                <a:chOff x="4104006" y="1830493"/>
                <a:chExt cx="7341235" cy="975360"/>
              </a:xfrm>
            </p:grpSpPr>
            <p:sp>
              <p:nvSpPr>
                <p:cNvPr id="15" name="Freeform: Shape 50">
                  <a:extLst>
                    <a:ext uri="{FF2B5EF4-FFF2-40B4-BE49-F238E27FC236}">
                      <a16:creationId xmlns:a16="http://schemas.microsoft.com/office/drawing/2014/main" id="{19C69411-1E7E-AB74-D150-B508F4902A7E}"/>
                    </a:ext>
                  </a:extLst>
                </p:cNvPr>
                <p:cNvSpPr/>
                <p:nvPr/>
              </p:nvSpPr>
              <p:spPr>
                <a:xfrm flipV="1">
                  <a:off x="5186681" y="1830493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16" name="TextBox 51">
                  <a:extLst>
                    <a:ext uri="{FF2B5EF4-FFF2-40B4-BE49-F238E27FC236}">
                      <a16:creationId xmlns:a16="http://schemas.microsoft.com/office/drawing/2014/main" id="{2AE87841-825C-FE4F-1AB9-6CC03862C17F}"/>
                    </a:ext>
                  </a:extLst>
                </p:cNvPr>
                <p:cNvSpPr txBox="1"/>
                <p:nvPr/>
              </p:nvSpPr>
              <p:spPr>
                <a:xfrm>
                  <a:off x="4104006" y="2096329"/>
                  <a:ext cx="3705005" cy="443686"/>
                </a:xfrm>
                <a:prstGeom prst="roundRect">
                  <a:avLst/>
                </a:prstGeom>
                <a:solidFill>
                  <a:srgbClr val="00539F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Montserrat" panose="00000500000000000000" pitchFamily="2" charset="0"/>
                      <a:cs typeface="Arial" panose="020B0604020202020204" pitchFamily="34" charset="0"/>
                    </a:rPr>
                    <a:t>Self Funded</a:t>
                  </a:r>
                  <a:endParaRPr lang="en-IN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17" name="Freeform: Shape 31">
              <a:extLst>
                <a:ext uri="{FF2B5EF4-FFF2-40B4-BE49-F238E27FC236}">
                  <a16:creationId xmlns:a16="http://schemas.microsoft.com/office/drawing/2014/main" id="{93803CD4-6355-5262-37E3-213F86A67BEA}"/>
                </a:ext>
              </a:extLst>
            </p:cNvPr>
            <p:cNvSpPr/>
            <p:nvPr/>
          </p:nvSpPr>
          <p:spPr>
            <a:xfrm flipV="1">
              <a:off x="7997252" y="5175486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 dirty="0">
                <a:latin typeface="Montserrat" panose="00000500000000000000" pitchFamily="2" charset="0"/>
              </a:endParaRPr>
            </a:p>
          </p:txBody>
        </p:sp>
        <p:grpSp>
          <p:nvGrpSpPr>
            <p:cNvPr id="18" name="Group 32">
              <a:extLst>
                <a:ext uri="{FF2B5EF4-FFF2-40B4-BE49-F238E27FC236}">
                  <a16:creationId xmlns:a16="http://schemas.microsoft.com/office/drawing/2014/main" id="{C15EBE08-F14E-85B7-24FB-021AE8C94BA3}"/>
                </a:ext>
              </a:extLst>
            </p:cNvPr>
            <p:cNvGrpSpPr/>
            <p:nvPr/>
          </p:nvGrpSpPr>
          <p:grpSpPr>
            <a:xfrm>
              <a:off x="8755080" y="3384449"/>
              <a:ext cx="568098" cy="706284"/>
              <a:chOff x="3970882" y="2311049"/>
              <a:chExt cx="704850" cy="876300"/>
            </a:xfrm>
          </p:grpSpPr>
          <p:sp>
            <p:nvSpPr>
              <p:cNvPr id="19" name="Freeform: Shape 36">
                <a:extLst>
                  <a:ext uri="{FF2B5EF4-FFF2-40B4-BE49-F238E27FC236}">
                    <a16:creationId xmlns:a16="http://schemas.microsoft.com/office/drawing/2014/main" id="{99971868-A4E7-F273-D79D-9C20F2C9304D}"/>
                  </a:ext>
                </a:extLst>
              </p:cNvPr>
              <p:cNvSpPr/>
              <p:nvPr/>
            </p:nvSpPr>
            <p:spPr>
              <a:xfrm>
                <a:off x="3970882" y="2311049"/>
                <a:ext cx="704850" cy="876300"/>
              </a:xfrm>
              <a:custGeom>
                <a:avLst/>
                <a:gdLst>
                  <a:gd name="connsiteX0" fmla="*/ 7144 w 704850"/>
                  <a:gd name="connsiteY0" fmla="*/ 410166 h 876300"/>
                  <a:gd name="connsiteX1" fmla="*/ 7144 w 704850"/>
                  <a:gd name="connsiteY1" fmla="*/ 312791 h 876300"/>
                  <a:gd name="connsiteX2" fmla="*/ 164497 w 704850"/>
                  <a:gd name="connsiteY2" fmla="*/ 221942 h 876300"/>
                  <a:gd name="connsiteX3" fmla="*/ 164497 w 704850"/>
                  <a:gd name="connsiteY3" fmla="*/ 220266 h 876300"/>
                  <a:gd name="connsiteX4" fmla="*/ 164497 w 704850"/>
                  <a:gd name="connsiteY4" fmla="*/ 218589 h 876300"/>
                  <a:gd name="connsiteX5" fmla="*/ 140141 w 704850"/>
                  <a:gd name="connsiteY5" fmla="*/ 162935 h 876300"/>
                  <a:gd name="connsiteX6" fmla="*/ 140141 w 704850"/>
                  <a:gd name="connsiteY6" fmla="*/ 91459 h 876300"/>
                  <a:gd name="connsiteX7" fmla="*/ 156782 w 704850"/>
                  <a:gd name="connsiteY7" fmla="*/ 138608 h 876300"/>
                  <a:gd name="connsiteX8" fmla="*/ 140160 w 704850"/>
                  <a:gd name="connsiteY8" fmla="*/ 91478 h 876300"/>
                  <a:gd name="connsiteX9" fmla="*/ 237554 w 704850"/>
                  <a:gd name="connsiteY9" fmla="*/ 7144 h 876300"/>
                  <a:gd name="connsiteX10" fmla="*/ 334937 w 704850"/>
                  <a:gd name="connsiteY10" fmla="*/ 91488 h 876300"/>
                  <a:gd name="connsiteX11" fmla="*/ 334909 w 704850"/>
                  <a:gd name="connsiteY11" fmla="*/ 91964 h 876300"/>
                  <a:gd name="connsiteX12" fmla="*/ 334909 w 704850"/>
                  <a:gd name="connsiteY12" fmla="*/ 162963 h 876300"/>
                  <a:gd name="connsiteX13" fmla="*/ 334756 w 704850"/>
                  <a:gd name="connsiteY13" fmla="*/ 165440 h 876300"/>
                  <a:gd name="connsiteX14" fmla="*/ 334499 w 704850"/>
                  <a:gd name="connsiteY14" fmla="*/ 170240 h 876300"/>
                  <a:gd name="connsiteX15" fmla="*/ 334261 w 704850"/>
                  <a:gd name="connsiteY15" fmla="*/ 172488 h 876300"/>
                  <a:gd name="connsiteX16" fmla="*/ 332975 w 704850"/>
                  <a:gd name="connsiteY16" fmla="*/ 179756 h 876300"/>
                  <a:gd name="connsiteX17" fmla="*/ 332899 w 704850"/>
                  <a:gd name="connsiteY17" fmla="*/ 180051 h 876300"/>
                  <a:gd name="connsiteX18" fmla="*/ 332261 w 704850"/>
                  <a:gd name="connsiteY18" fmla="*/ 182204 h 876300"/>
                  <a:gd name="connsiteX19" fmla="*/ 467963 w 704850"/>
                  <a:gd name="connsiteY19" fmla="*/ 338880 h 876300"/>
                  <a:gd name="connsiteX20" fmla="*/ 467963 w 704850"/>
                  <a:gd name="connsiteY20" fmla="*/ 436274 h 876300"/>
                  <a:gd name="connsiteX21" fmla="*/ 175803 w 704850"/>
                  <a:gd name="connsiteY21" fmla="*/ 604923 h 876300"/>
                  <a:gd name="connsiteX22" fmla="*/ 7144 w 704850"/>
                  <a:gd name="connsiteY22" fmla="*/ 410166 h 876300"/>
                  <a:gd name="connsiteX23" fmla="*/ 695516 w 704850"/>
                  <a:gd name="connsiteY23" fmla="*/ 699859 h 876300"/>
                  <a:gd name="connsiteX24" fmla="*/ 403384 w 704850"/>
                  <a:gd name="connsiteY24" fmla="*/ 868518 h 876300"/>
                  <a:gd name="connsiteX25" fmla="*/ 401003 w 704850"/>
                  <a:gd name="connsiteY25" fmla="*/ 869156 h 876300"/>
                  <a:gd name="connsiteX26" fmla="*/ 397402 w 704850"/>
                  <a:gd name="connsiteY26" fmla="*/ 867508 h 876300"/>
                  <a:gd name="connsiteX27" fmla="*/ 228724 w 704850"/>
                  <a:gd name="connsiteY27" fmla="*/ 672770 h 876300"/>
                  <a:gd name="connsiteX28" fmla="*/ 227628 w 704850"/>
                  <a:gd name="connsiteY28" fmla="*/ 668865 h 876300"/>
                  <a:gd name="connsiteX29" fmla="*/ 229943 w 704850"/>
                  <a:gd name="connsiteY29" fmla="*/ 665531 h 876300"/>
                  <a:gd name="connsiteX30" fmla="*/ 522094 w 704850"/>
                  <a:gd name="connsiteY30" fmla="*/ 496853 h 876300"/>
                  <a:gd name="connsiteX31" fmla="*/ 528076 w 704850"/>
                  <a:gd name="connsiteY31" fmla="*/ 497853 h 876300"/>
                  <a:gd name="connsiteX32" fmla="*/ 696735 w 704850"/>
                  <a:gd name="connsiteY32" fmla="*/ 692610 h 876300"/>
                  <a:gd name="connsiteX33" fmla="*/ 697830 w 704850"/>
                  <a:gd name="connsiteY33" fmla="*/ 696516 h 876300"/>
                  <a:gd name="connsiteX34" fmla="*/ 695516 w 704850"/>
                  <a:gd name="connsiteY34" fmla="*/ 699859 h 876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704850" h="876300">
                    <a:moveTo>
                      <a:pt x="7144" y="410166"/>
                    </a:moveTo>
                    <a:lnTo>
                      <a:pt x="7144" y="312791"/>
                    </a:lnTo>
                    <a:lnTo>
                      <a:pt x="164497" y="221942"/>
                    </a:lnTo>
                    <a:lnTo>
                      <a:pt x="164497" y="220266"/>
                    </a:lnTo>
                    <a:lnTo>
                      <a:pt x="164497" y="218589"/>
                    </a:lnTo>
                    <a:cubicBezTo>
                      <a:pt x="149390" y="203730"/>
                      <a:pt x="140141" y="184290"/>
                      <a:pt x="140141" y="162935"/>
                    </a:cubicBezTo>
                    <a:lnTo>
                      <a:pt x="140141" y="91459"/>
                    </a:lnTo>
                    <a:cubicBezTo>
                      <a:pt x="140141" y="108918"/>
                      <a:pt x="146275" y="125149"/>
                      <a:pt x="156782" y="138608"/>
                    </a:cubicBezTo>
                    <a:cubicBezTo>
                      <a:pt x="146285" y="125149"/>
                      <a:pt x="140160" y="108937"/>
                      <a:pt x="140160" y="91478"/>
                    </a:cubicBezTo>
                    <a:cubicBezTo>
                      <a:pt x="140160" y="44901"/>
                      <a:pt x="183775" y="7144"/>
                      <a:pt x="237554" y="7144"/>
                    </a:cubicBezTo>
                    <a:cubicBezTo>
                      <a:pt x="291313" y="7144"/>
                      <a:pt x="334918" y="44901"/>
                      <a:pt x="334937" y="91488"/>
                    </a:cubicBezTo>
                    <a:cubicBezTo>
                      <a:pt x="334937" y="91650"/>
                      <a:pt x="334909" y="91802"/>
                      <a:pt x="334909" y="91964"/>
                    </a:cubicBezTo>
                    <a:lnTo>
                      <a:pt x="334909" y="162963"/>
                    </a:lnTo>
                    <a:cubicBezTo>
                      <a:pt x="334909" y="163792"/>
                      <a:pt x="334794" y="164602"/>
                      <a:pt x="334756" y="165440"/>
                    </a:cubicBezTo>
                    <a:cubicBezTo>
                      <a:pt x="334699" y="167040"/>
                      <a:pt x="334632" y="168650"/>
                      <a:pt x="334499" y="170240"/>
                    </a:cubicBezTo>
                    <a:cubicBezTo>
                      <a:pt x="334413" y="170983"/>
                      <a:pt x="334356" y="171736"/>
                      <a:pt x="334261" y="172488"/>
                    </a:cubicBezTo>
                    <a:cubicBezTo>
                      <a:pt x="333927" y="174936"/>
                      <a:pt x="333537" y="177375"/>
                      <a:pt x="332975" y="179756"/>
                    </a:cubicBezTo>
                    <a:cubicBezTo>
                      <a:pt x="332956" y="179851"/>
                      <a:pt x="332918" y="179946"/>
                      <a:pt x="332899" y="180051"/>
                    </a:cubicBezTo>
                    <a:cubicBezTo>
                      <a:pt x="332718" y="180785"/>
                      <a:pt x="332461" y="181480"/>
                      <a:pt x="332261" y="182204"/>
                    </a:cubicBezTo>
                    <a:lnTo>
                      <a:pt x="467963" y="338880"/>
                    </a:lnTo>
                    <a:lnTo>
                      <a:pt x="467963" y="436274"/>
                    </a:lnTo>
                    <a:lnTo>
                      <a:pt x="175803" y="604923"/>
                    </a:lnTo>
                    <a:lnTo>
                      <a:pt x="7144" y="410166"/>
                    </a:lnTo>
                    <a:close/>
                    <a:moveTo>
                      <a:pt x="695516" y="699859"/>
                    </a:moveTo>
                    <a:lnTo>
                      <a:pt x="403384" y="868518"/>
                    </a:lnTo>
                    <a:cubicBezTo>
                      <a:pt x="402641" y="868956"/>
                      <a:pt x="401822" y="869156"/>
                      <a:pt x="401003" y="869156"/>
                    </a:cubicBezTo>
                    <a:cubicBezTo>
                      <a:pt x="399660" y="869156"/>
                      <a:pt x="398336" y="868585"/>
                      <a:pt x="397402" y="867508"/>
                    </a:cubicBezTo>
                    <a:lnTo>
                      <a:pt x="228724" y="672770"/>
                    </a:lnTo>
                    <a:cubicBezTo>
                      <a:pt x="227790" y="671703"/>
                      <a:pt x="227390" y="670265"/>
                      <a:pt x="227628" y="668865"/>
                    </a:cubicBezTo>
                    <a:cubicBezTo>
                      <a:pt x="227867" y="667464"/>
                      <a:pt x="228714" y="666245"/>
                      <a:pt x="229943" y="665531"/>
                    </a:cubicBezTo>
                    <a:lnTo>
                      <a:pt x="522094" y="496853"/>
                    </a:lnTo>
                    <a:cubicBezTo>
                      <a:pt x="524056" y="495700"/>
                      <a:pt x="526590" y="496119"/>
                      <a:pt x="528076" y="497853"/>
                    </a:cubicBezTo>
                    <a:lnTo>
                      <a:pt x="696735" y="692610"/>
                    </a:lnTo>
                    <a:cubicBezTo>
                      <a:pt x="697668" y="693677"/>
                      <a:pt x="698068" y="695115"/>
                      <a:pt x="697830" y="696516"/>
                    </a:cubicBezTo>
                    <a:cubicBezTo>
                      <a:pt x="697592" y="697916"/>
                      <a:pt x="696744" y="699145"/>
                      <a:pt x="695516" y="699859"/>
                    </a:cubicBezTo>
                    <a:close/>
                  </a:path>
                </a:pathLst>
              </a:custGeom>
              <a:no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0" name="Freeform: Shape 37">
                <a:extLst>
                  <a:ext uri="{FF2B5EF4-FFF2-40B4-BE49-F238E27FC236}">
                    <a16:creationId xmlns:a16="http://schemas.microsoft.com/office/drawing/2014/main" id="{26D4449C-E24F-47A1-0BA9-B4D1231EE90A}"/>
                  </a:ext>
                </a:extLst>
              </p:cNvPr>
              <p:cNvSpPr/>
              <p:nvPr/>
            </p:nvSpPr>
            <p:spPr>
              <a:xfrm>
                <a:off x="4272815" y="2536792"/>
                <a:ext cx="9525" cy="9525"/>
              </a:xfrm>
              <a:custGeom>
                <a:avLst/>
                <a:gdLst>
                  <a:gd name="connsiteX0" fmla="*/ 7182 w 9525"/>
                  <a:gd name="connsiteY0" fmla="*/ 7144 h 9525"/>
                  <a:gd name="connsiteX1" fmla="*/ 7144 w 9525"/>
                  <a:gd name="connsiteY1" fmla="*/ 7296 h 9525"/>
                  <a:gd name="connsiteX2" fmla="*/ 7182 w 9525"/>
                  <a:gd name="connsiteY2" fmla="*/ 7172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5" h="9525">
                    <a:moveTo>
                      <a:pt x="7182" y="7144"/>
                    </a:moveTo>
                    <a:lnTo>
                      <a:pt x="7144" y="7296"/>
                    </a:lnTo>
                    <a:lnTo>
                      <a:pt x="7182" y="7172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1" name="Freeform: Shape 38">
                <a:extLst>
                  <a:ext uri="{FF2B5EF4-FFF2-40B4-BE49-F238E27FC236}">
                    <a16:creationId xmlns:a16="http://schemas.microsoft.com/office/drawing/2014/main" id="{380CB4F0-D598-949F-D94F-54D7DBD5CD13}"/>
                  </a:ext>
                </a:extLst>
              </p:cNvPr>
              <p:cNvSpPr/>
              <p:nvPr/>
            </p:nvSpPr>
            <p:spPr>
              <a:xfrm>
                <a:off x="4234039" y="2448019"/>
                <a:ext cx="38100" cy="28575"/>
              </a:xfrm>
              <a:custGeom>
                <a:avLst/>
                <a:gdLst>
                  <a:gd name="connsiteX0" fmla="*/ 7144 w 38100"/>
                  <a:gd name="connsiteY0" fmla="*/ 23879 h 28575"/>
                  <a:gd name="connsiteX1" fmla="*/ 9049 w 38100"/>
                  <a:gd name="connsiteY1" fmla="*/ 23241 h 28575"/>
                  <a:gd name="connsiteX2" fmla="*/ 9896 w 38100"/>
                  <a:gd name="connsiteY2" fmla="*/ 22927 h 28575"/>
                  <a:gd name="connsiteX3" fmla="*/ 17659 w 38100"/>
                  <a:gd name="connsiteY3" fmla="*/ 19555 h 28575"/>
                  <a:gd name="connsiteX4" fmla="*/ 19040 w 38100"/>
                  <a:gd name="connsiteY4" fmla="*/ 18831 h 28575"/>
                  <a:gd name="connsiteX5" fmla="*/ 20241 w 38100"/>
                  <a:gd name="connsiteY5" fmla="*/ 18202 h 28575"/>
                  <a:gd name="connsiteX6" fmla="*/ 25803 w 38100"/>
                  <a:gd name="connsiteY6" fmla="*/ 15069 h 28575"/>
                  <a:gd name="connsiteX7" fmla="*/ 29518 w 38100"/>
                  <a:gd name="connsiteY7" fmla="*/ 12649 h 28575"/>
                  <a:gd name="connsiteX8" fmla="*/ 30413 w 38100"/>
                  <a:gd name="connsiteY8" fmla="*/ 12049 h 28575"/>
                  <a:gd name="connsiteX9" fmla="*/ 31423 w 38100"/>
                  <a:gd name="connsiteY9" fmla="*/ 11354 h 28575"/>
                  <a:gd name="connsiteX10" fmla="*/ 36376 w 38100"/>
                  <a:gd name="connsiteY10" fmla="*/ 7439 h 28575"/>
                  <a:gd name="connsiteX11" fmla="*/ 36119 w 38100"/>
                  <a:gd name="connsiteY11" fmla="*/ 7144 h 28575"/>
                  <a:gd name="connsiteX12" fmla="*/ 7144 w 38100"/>
                  <a:gd name="connsiteY12" fmla="*/ 23879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8100" h="28575">
                    <a:moveTo>
                      <a:pt x="7144" y="23879"/>
                    </a:moveTo>
                    <a:cubicBezTo>
                      <a:pt x="7772" y="23670"/>
                      <a:pt x="8458" y="23460"/>
                      <a:pt x="9049" y="23241"/>
                    </a:cubicBezTo>
                    <a:lnTo>
                      <a:pt x="9896" y="22927"/>
                    </a:lnTo>
                    <a:cubicBezTo>
                      <a:pt x="12449" y="21955"/>
                      <a:pt x="15059" y="20822"/>
                      <a:pt x="17659" y="19555"/>
                    </a:cubicBezTo>
                    <a:cubicBezTo>
                      <a:pt x="18117" y="19336"/>
                      <a:pt x="18583" y="19079"/>
                      <a:pt x="19040" y="18831"/>
                    </a:cubicBezTo>
                    <a:lnTo>
                      <a:pt x="20241" y="18202"/>
                    </a:lnTo>
                    <a:cubicBezTo>
                      <a:pt x="22117" y="17221"/>
                      <a:pt x="23993" y="16164"/>
                      <a:pt x="25803" y="15069"/>
                    </a:cubicBezTo>
                    <a:cubicBezTo>
                      <a:pt x="27022" y="14316"/>
                      <a:pt x="28270" y="13506"/>
                      <a:pt x="29518" y="12649"/>
                    </a:cubicBezTo>
                    <a:lnTo>
                      <a:pt x="30413" y="12049"/>
                    </a:lnTo>
                    <a:lnTo>
                      <a:pt x="31423" y="11354"/>
                    </a:lnTo>
                    <a:cubicBezTo>
                      <a:pt x="33090" y="10135"/>
                      <a:pt x="34757" y="8820"/>
                      <a:pt x="36376" y="7439"/>
                    </a:cubicBezTo>
                    <a:lnTo>
                      <a:pt x="36119" y="7144"/>
                    </a:lnTo>
                    <a:lnTo>
                      <a:pt x="7144" y="23879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2" name="Freeform: Shape 39">
                <a:extLst>
                  <a:ext uri="{FF2B5EF4-FFF2-40B4-BE49-F238E27FC236}">
                    <a16:creationId xmlns:a16="http://schemas.microsoft.com/office/drawing/2014/main" id="{71E01EC1-04E0-F00A-E7D0-A3570350B0AE}"/>
                  </a:ext>
                </a:extLst>
              </p:cNvPr>
              <p:cNvSpPr/>
              <p:nvPr/>
            </p:nvSpPr>
            <p:spPr>
              <a:xfrm>
                <a:off x="4266357" y="2417310"/>
                <a:ext cx="19050" cy="38100"/>
              </a:xfrm>
              <a:custGeom>
                <a:avLst/>
                <a:gdLst>
                  <a:gd name="connsiteX0" fmla="*/ 14792 w 19050"/>
                  <a:gd name="connsiteY0" fmla="*/ 12287 h 38100"/>
                  <a:gd name="connsiteX1" fmla="*/ 14621 w 19050"/>
                  <a:gd name="connsiteY1" fmla="*/ 13954 h 38100"/>
                  <a:gd name="connsiteX2" fmla="*/ 13649 w 19050"/>
                  <a:gd name="connsiteY2" fmla="*/ 19469 h 38100"/>
                  <a:gd name="connsiteX3" fmla="*/ 13611 w 19050"/>
                  <a:gd name="connsiteY3" fmla="*/ 19583 h 38100"/>
                  <a:gd name="connsiteX4" fmla="*/ 12011 w 19050"/>
                  <a:gd name="connsiteY4" fmla="*/ 25003 h 38100"/>
                  <a:gd name="connsiteX5" fmla="*/ 11430 w 19050"/>
                  <a:gd name="connsiteY5" fmla="*/ 26565 h 38100"/>
                  <a:gd name="connsiteX6" fmla="*/ 9754 w 19050"/>
                  <a:gd name="connsiteY6" fmla="*/ 30490 h 38100"/>
                  <a:gd name="connsiteX7" fmla="*/ 9106 w 19050"/>
                  <a:gd name="connsiteY7" fmla="*/ 31899 h 38100"/>
                  <a:gd name="connsiteX8" fmla="*/ 7144 w 19050"/>
                  <a:gd name="connsiteY8" fmla="*/ 35433 h 38100"/>
                  <a:gd name="connsiteX9" fmla="*/ 9830 w 19050"/>
                  <a:gd name="connsiteY9" fmla="*/ 32766 h 38100"/>
                  <a:gd name="connsiteX10" fmla="*/ 10925 w 19050"/>
                  <a:gd name="connsiteY10" fmla="*/ 31566 h 38100"/>
                  <a:gd name="connsiteX11" fmla="*/ 10992 w 19050"/>
                  <a:gd name="connsiteY11" fmla="*/ 31490 h 38100"/>
                  <a:gd name="connsiteX12" fmla="*/ 11316 w 19050"/>
                  <a:gd name="connsiteY12" fmla="*/ 31128 h 38100"/>
                  <a:gd name="connsiteX13" fmla="*/ 14535 w 19050"/>
                  <a:gd name="connsiteY13" fmla="*/ 27403 h 38100"/>
                  <a:gd name="connsiteX14" fmla="*/ 15088 w 19050"/>
                  <a:gd name="connsiteY14" fmla="*/ 26708 h 38100"/>
                  <a:gd name="connsiteX15" fmla="*/ 15088 w 19050"/>
                  <a:gd name="connsiteY15" fmla="*/ 7144 h 38100"/>
                  <a:gd name="connsiteX16" fmla="*/ 14792 w 19050"/>
                  <a:gd name="connsiteY16" fmla="*/ 12287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9050" h="38100">
                    <a:moveTo>
                      <a:pt x="14792" y="12287"/>
                    </a:moveTo>
                    <a:cubicBezTo>
                      <a:pt x="14735" y="12849"/>
                      <a:pt x="14697" y="13402"/>
                      <a:pt x="14621" y="13954"/>
                    </a:cubicBezTo>
                    <a:cubicBezTo>
                      <a:pt x="14373" y="15811"/>
                      <a:pt x="14059" y="17669"/>
                      <a:pt x="13649" y="19469"/>
                    </a:cubicBezTo>
                    <a:cubicBezTo>
                      <a:pt x="13630" y="19507"/>
                      <a:pt x="13630" y="19545"/>
                      <a:pt x="13611" y="19583"/>
                    </a:cubicBezTo>
                    <a:cubicBezTo>
                      <a:pt x="13183" y="21422"/>
                      <a:pt x="12621" y="23222"/>
                      <a:pt x="12011" y="25003"/>
                    </a:cubicBezTo>
                    <a:cubicBezTo>
                      <a:pt x="11820" y="25537"/>
                      <a:pt x="11620" y="26041"/>
                      <a:pt x="11430" y="26565"/>
                    </a:cubicBezTo>
                    <a:cubicBezTo>
                      <a:pt x="10906" y="27899"/>
                      <a:pt x="10363" y="29194"/>
                      <a:pt x="9754" y="30490"/>
                    </a:cubicBezTo>
                    <a:cubicBezTo>
                      <a:pt x="9554" y="30947"/>
                      <a:pt x="9325" y="31432"/>
                      <a:pt x="9106" y="31899"/>
                    </a:cubicBezTo>
                    <a:cubicBezTo>
                      <a:pt x="8506" y="33099"/>
                      <a:pt x="7820" y="34271"/>
                      <a:pt x="7144" y="35433"/>
                    </a:cubicBezTo>
                    <a:cubicBezTo>
                      <a:pt x="7991" y="34623"/>
                      <a:pt x="8887" y="33738"/>
                      <a:pt x="9830" y="32766"/>
                    </a:cubicBezTo>
                    <a:cubicBezTo>
                      <a:pt x="10211" y="32366"/>
                      <a:pt x="10563" y="31966"/>
                      <a:pt x="10925" y="31566"/>
                    </a:cubicBezTo>
                    <a:lnTo>
                      <a:pt x="10992" y="31490"/>
                    </a:lnTo>
                    <a:lnTo>
                      <a:pt x="11316" y="31128"/>
                    </a:lnTo>
                    <a:cubicBezTo>
                      <a:pt x="12440" y="29918"/>
                      <a:pt x="13516" y="28689"/>
                      <a:pt x="14535" y="27403"/>
                    </a:cubicBezTo>
                    <a:lnTo>
                      <a:pt x="15088" y="26708"/>
                    </a:lnTo>
                    <a:lnTo>
                      <a:pt x="15088" y="7144"/>
                    </a:lnTo>
                    <a:cubicBezTo>
                      <a:pt x="15078" y="8868"/>
                      <a:pt x="14973" y="10592"/>
                      <a:pt x="14792" y="12287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3" name="Freeform: Shape 40">
                <a:extLst>
                  <a:ext uri="{FF2B5EF4-FFF2-40B4-BE49-F238E27FC236}">
                    <a16:creationId xmlns:a16="http://schemas.microsoft.com/office/drawing/2014/main" id="{3D3A0C0B-3028-02AB-45A9-5AC22941B397}"/>
                  </a:ext>
                </a:extLst>
              </p:cNvPr>
              <p:cNvSpPr/>
              <p:nvPr/>
            </p:nvSpPr>
            <p:spPr>
              <a:xfrm>
                <a:off x="4266319" y="2416967"/>
                <a:ext cx="19050" cy="38100"/>
              </a:xfrm>
              <a:custGeom>
                <a:avLst/>
                <a:gdLst>
                  <a:gd name="connsiteX0" fmla="*/ 9792 w 19050"/>
                  <a:gd name="connsiteY0" fmla="*/ 30832 h 38100"/>
                  <a:gd name="connsiteX1" fmla="*/ 11468 w 19050"/>
                  <a:gd name="connsiteY1" fmla="*/ 26908 h 38100"/>
                  <a:gd name="connsiteX2" fmla="*/ 12049 w 19050"/>
                  <a:gd name="connsiteY2" fmla="*/ 25346 h 38100"/>
                  <a:gd name="connsiteX3" fmla="*/ 13649 w 19050"/>
                  <a:gd name="connsiteY3" fmla="*/ 19926 h 38100"/>
                  <a:gd name="connsiteX4" fmla="*/ 13687 w 19050"/>
                  <a:gd name="connsiteY4" fmla="*/ 19812 h 38100"/>
                  <a:gd name="connsiteX5" fmla="*/ 14659 w 19050"/>
                  <a:gd name="connsiteY5" fmla="*/ 14297 h 38100"/>
                  <a:gd name="connsiteX6" fmla="*/ 14830 w 19050"/>
                  <a:gd name="connsiteY6" fmla="*/ 12630 h 38100"/>
                  <a:gd name="connsiteX7" fmla="*/ 15126 w 19050"/>
                  <a:gd name="connsiteY7" fmla="*/ 7487 h 38100"/>
                  <a:gd name="connsiteX8" fmla="*/ 15126 w 19050"/>
                  <a:gd name="connsiteY8" fmla="*/ 7144 h 38100"/>
                  <a:gd name="connsiteX9" fmla="*/ 14811 w 19050"/>
                  <a:gd name="connsiteY9" fmla="*/ 12621 h 38100"/>
                  <a:gd name="connsiteX10" fmla="*/ 14640 w 19050"/>
                  <a:gd name="connsiteY10" fmla="*/ 14288 h 38100"/>
                  <a:gd name="connsiteX11" fmla="*/ 13668 w 19050"/>
                  <a:gd name="connsiteY11" fmla="*/ 19802 h 38100"/>
                  <a:gd name="connsiteX12" fmla="*/ 13630 w 19050"/>
                  <a:gd name="connsiteY12" fmla="*/ 19917 h 38100"/>
                  <a:gd name="connsiteX13" fmla="*/ 12030 w 19050"/>
                  <a:gd name="connsiteY13" fmla="*/ 25336 h 38100"/>
                  <a:gd name="connsiteX14" fmla="*/ 11449 w 19050"/>
                  <a:gd name="connsiteY14" fmla="*/ 26899 h 38100"/>
                  <a:gd name="connsiteX15" fmla="*/ 9773 w 19050"/>
                  <a:gd name="connsiteY15" fmla="*/ 30823 h 38100"/>
                  <a:gd name="connsiteX16" fmla="*/ 9125 w 19050"/>
                  <a:gd name="connsiteY16" fmla="*/ 32233 h 38100"/>
                  <a:gd name="connsiteX17" fmla="*/ 7144 w 19050"/>
                  <a:gd name="connsiteY17" fmla="*/ 35814 h 38100"/>
                  <a:gd name="connsiteX18" fmla="*/ 7191 w 19050"/>
                  <a:gd name="connsiteY18" fmla="*/ 35776 h 38100"/>
                  <a:gd name="connsiteX19" fmla="*/ 9154 w 19050"/>
                  <a:gd name="connsiteY19" fmla="*/ 32242 h 38100"/>
                  <a:gd name="connsiteX20" fmla="*/ 9792 w 19050"/>
                  <a:gd name="connsiteY20" fmla="*/ 30832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9050" h="38100">
                    <a:moveTo>
                      <a:pt x="9792" y="30832"/>
                    </a:moveTo>
                    <a:cubicBezTo>
                      <a:pt x="10401" y="29537"/>
                      <a:pt x="10944" y="28242"/>
                      <a:pt x="11468" y="26908"/>
                    </a:cubicBezTo>
                    <a:cubicBezTo>
                      <a:pt x="11659" y="26384"/>
                      <a:pt x="11859" y="25879"/>
                      <a:pt x="12049" y="25346"/>
                    </a:cubicBezTo>
                    <a:cubicBezTo>
                      <a:pt x="12659" y="23555"/>
                      <a:pt x="13221" y="21765"/>
                      <a:pt x="13649" y="19926"/>
                    </a:cubicBezTo>
                    <a:cubicBezTo>
                      <a:pt x="13668" y="19888"/>
                      <a:pt x="13668" y="19850"/>
                      <a:pt x="13687" y="19812"/>
                    </a:cubicBezTo>
                    <a:cubicBezTo>
                      <a:pt x="14097" y="18012"/>
                      <a:pt x="14411" y="16154"/>
                      <a:pt x="14659" y="14297"/>
                    </a:cubicBezTo>
                    <a:cubicBezTo>
                      <a:pt x="14735" y="13745"/>
                      <a:pt x="14773" y="13192"/>
                      <a:pt x="14830" y="12630"/>
                    </a:cubicBezTo>
                    <a:cubicBezTo>
                      <a:pt x="15011" y="10935"/>
                      <a:pt x="15116" y="9220"/>
                      <a:pt x="15126" y="7487"/>
                    </a:cubicBezTo>
                    <a:lnTo>
                      <a:pt x="15126" y="7144"/>
                    </a:lnTo>
                    <a:cubicBezTo>
                      <a:pt x="15135" y="8992"/>
                      <a:pt x="15002" y="10820"/>
                      <a:pt x="14811" y="12621"/>
                    </a:cubicBezTo>
                    <a:cubicBezTo>
                      <a:pt x="14754" y="13183"/>
                      <a:pt x="14716" y="13735"/>
                      <a:pt x="14640" y="14288"/>
                    </a:cubicBezTo>
                    <a:cubicBezTo>
                      <a:pt x="14402" y="16145"/>
                      <a:pt x="14078" y="18002"/>
                      <a:pt x="13668" y="19802"/>
                    </a:cubicBezTo>
                    <a:cubicBezTo>
                      <a:pt x="13649" y="19841"/>
                      <a:pt x="13649" y="19879"/>
                      <a:pt x="13630" y="19917"/>
                    </a:cubicBezTo>
                    <a:cubicBezTo>
                      <a:pt x="13202" y="21755"/>
                      <a:pt x="12640" y="23565"/>
                      <a:pt x="12030" y="25336"/>
                    </a:cubicBezTo>
                    <a:cubicBezTo>
                      <a:pt x="11840" y="25870"/>
                      <a:pt x="11640" y="26375"/>
                      <a:pt x="11449" y="26899"/>
                    </a:cubicBezTo>
                    <a:cubicBezTo>
                      <a:pt x="10925" y="28232"/>
                      <a:pt x="10392" y="29527"/>
                      <a:pt x="9773" y="30823"/>
                    </a:cubicBezTo>
                    <a:cubicBezTo>
                      <a:pt x="9573" y="31290"/>
                      <a:pt x="9344" y="31775"/>
                      <a:pt x="9125" y="32233"/>
                    </a:cubicBezTo>
                    <a:cubicBezTo>
                      <a:pt x="8515" y="33452"/>
                      <a:pt x="7820" y="34633"/>
                      <a:pt x="7144" y="35814"/>
                    </a:cubicBezTo>
                    <a:cubicBezTo>
                      <a:pt x="7153" y="35804"/>
                      <a:pt x="7172" y="35785"/>
                      <a:pt x="7191" y="35776"/>
                    </a:cubicBezTo>
                    <a:cubicBezTo>
                      <a:pt x="7868" y="34604"/>
                      <a:pt x="8553" y="33442"/>
                      <a:pt x="9154" y="32242"/>
                    </a:cubicBezTo>
                    <a:cubicBezTo>
                      <a:pt x="9363" y="31775"/>
                      <a:pt x="9592" y="31290"/>
                      <a:pt x="9792" y="30832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</p:grpSp>
        <p:sp>
          <p:nvSpPr>
            <p:cNvPr id="24" name="Freeform: Shape 33">
              <a:extLst>
                <a:ext uri="{FF2B5EF4-FFF2-40B4-BE49-F238E27FC236}">
                  <a16:creationId xmlns:a16="http://schemas.microsoft.com/office/drawing/2014/main" id="{F62C5FEE-739C-5CD8-3480-47AFBD4B137D}"/>
                </a:ext>
              </a:extLst>
            </p:cNvPr>
            <p:cNvSpPr/>
            <p:nvPr/>
          </p:nvSpPr>
          <p:spPr>
            <a:xfrm flipV="1">
              <a:off x="8573407" y="4059813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 dirty="0">
                <a:latin typeface="Montserrat" panose="00000500000000000000" pitchFamily="2" charset="0"/>
              </a:endParaRPr>
            </a:p>
          </p:txBody>
        </p:sp>
        <p:sp>
          <p:nvSpPr>
            <p:cNvPr id="25" name="Freeform: Shape 34">
              <a:extLst>
                <a:ext uri="{FF2B5EF4-FFF2-40B4-BE49-F238E27FC236}">
                  <a16:creationId xmlns:a16="http://schemas.microsoft.com/office/drawing/2014/main" id="{BCD906C9-9D1F-D350-D161-F4D9B4B287D1}"/>
                </a:ext>
              </a:extLst>
            </p:cNvPr>
            <p:cNvSpPr/>
            <p:nvPr/>
          </p:nvSpPr>
          <p:spPr>
            <a:xfrm flipV="1">
              <a:off x="9021642" y="2937436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 dirty="0">
                <a:latin typeface="Montserrat" panose="00000500000000000000" pitchFamily="2" charset="0"/>
              </a:endParaRPr>
            </a:p>
          </p:txBody>
        </p:sp>
      </p:grpSp>
      <p:sp>
        <p:nvSpPr>
          <p:cNvPr id="26" name="TextBox 75">
            <a:extLst>
              <a:ext uri="{FF2B5EF4-FFF2-40B4-BE49-F238E27FC236}">
                <a16:creationId xmlns:a16="http://schemas.microsoft.com/office/drawing/2014/main" id="{02AD65D6-9504-23E6-E4FD-CC294F4A3C64}"/>
              </a:ext>
            </a:extLst>
          </p:cNvPr>
          <p:cNvSpPr txBox="1"/>
          <p:nvPr/>
        </p:nvSpPr>
        <p:spPr>
          <a:xfrm>
            <a:off x="981590" y="5731169"/>
            <a:ext cx="95143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/>
                <a:latin typeface="Montserrat" panose="00000500000000000000" pitchFamily="2" charset="0"/>
              </a:rPr>
              <a:t>Estimates includes the BayCare service area in Hardee, Hernando, Hillsborough, Lake, Manatee, Orange, Osceola, Pasco, Pinellas, and Polk Counties</a:t>
            </a:r>
          </a:p>
        </p:txBody>
      </p:sp>
      <p:sp>
        <p:nvSpPr>
          <p:cNvPr id="27" name="TextBox 76">
            <a:extLst>
              <a:ext uri="{FF2B5EF4-FFF2-40B4-BE49-F238E27FC236}">
                <a16:creationId xmlns:a16="http://schemas.microsoft.com/office/drawing/2014/main" id="{F3A378C3-B669-3EE2-B76D-98EDB44E8CDF}"/>
              </a:ext>
            </a:extLst>
          </p:cNvPr>
          <p:cNvSpPr txBox="1"/>
          <p:nvPr/>
        </p:nvSpPr>
        <p:spPr>
          <a:xfrm>
            <a:off x="2326255" y="4909050"/>
            <a:ext cx="17524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4,433K</a:t>
            </a:r>
          </a:p>
        </p:txBody>
      </p:sp>
      <p:sp>
        <p:nvSpPr>
          <p:cNvPr id="28" name="TextBox 77">
            <a:extLst>
              <a:ext uri="{FF2B5EF4-FFF2-40B4-BE49-F238E27FC236}">
                <a16:creationId xmlns:a16="http://schemas.microsoft.com/office/drawing/2014/main" id="{F24CF5B8-0E02-1AF3-2A3D-F14253B44FE8}"/>
              </a:ext>
            </a:extLst>
          </p:cNvPr>
          <p:cNvSpPr txBox="1"/>
          <p:nvPr/>
        </p:nvSpPr>
        <p:spPr>
          <a:xfrm>
            <a:off x="2549188" y="3983995"/>
            <a:ext cx="1162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2,583K</a:t>
            </a:r>
          </a:p>
        </p:txBody>
      </p:sp>
      <p:sp>
        <p:nvSpPr>
          <p:cNvPr id="29" name="TextBox 78">
            <a:extLst>
              <a:ext uri="{FF2B5EF4-FFF2-40B4-BE49-F238E27FC236}">
                <a16:creationId xmlns:a16="http://schemas.microsoft.com/office/drawing/2014/main" id="{509B3348-F2D5-63CE-B5D5-5FB7263B3D0F}"/>
              </a:ext>
            </a:extLst>
          </p:cNvPr>
          <p:cNvSpPr txBox="1"/>
          <p:nvPr/>
        </p:nvSpPr>
        <p:spPr>
          <a:xfrm>
            <a:off x="2768644" y="3041250"/>
            <a:ext cx="11320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1,705K</a:t>
            </a:r>
          </a:p>
        </p:txBody>
      </p:sp>
      <p:sp>
        <p:nvSpPr>
          <p:cNvPr id="30" name="TextBox 79">
            <a:extLst>
              <a:ext uri="{FF2B5EF4-FFF2-40B4-BE49-F238E27FC236}">
                <a16:creationId xmlns:a16="http://schemas.microsoft.com/office/drawing/2014/main" id="{7E24246C-24ED-62DA-EA2E-6EA4A6ADAEAC}"/>
              </a:ext>
            </a:extLst>
          </p:cNvPr>
          <p:cNvSpPr txBox="1"/>
          <p:nvPr/>
        </p:nvSpPr>
        <p:spPr>
          <a:xfrm>
            <a:off x="2988100" y="2109715"/>
            <a:ext cx="9845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1,033K</a:t>
            </a:r>
          </a:p>
        </p:txBody>
      </p:sp>
      <p:pic>
        <p:nvPicPr>
          <p:cNvPr id="31" name="Picture 4">
            <a:extLst>
              <a:ext uri="{FF2B5EF4-FFF2-40B4-BE49-F238E27FC236}">
                <a16:creationId xmlns:a16="http://schemas.microsoft.com/office/drawing/2014/main" id="{0D8A2093-EE63-6F98-17FC-8FA2F27D2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32" name="Freeform 13">
            <a:extLst>
              <a:ext uri="{FF2B5EF4-FFF2-40B4-BE49-F238E27FC236}">
                <a16:creationId xmlns:a16="http://schemas.microsoft.com/office/drawing/2014/main" id="{28524B04-16FE-D5D9-4125-86AD5B994E04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33" name="Content Placeholder 32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5705856" y="1911096"/>
            <a:ext cx="6364224" cy="3813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327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>
            <a:extLst>
              <a:ext uri="{FF2B5EF4-FFF2-40B4-BE49-F238E27FC236}">
                <a16:creationId xmlns:a16="http://schemas.microsoft.com/office/drawing/2014/main" id="{C0C1C4CA-44D9-9691-E058-46CEB5C35DF2}"/>
              </a:ext>
            </a:extLst>
          </p:cNvPr>
          <p:cNvSpPr/>
          <p:nvPr/>
        </p:nvSpPr>
        <p:spPr>
          <a:xfrm>
            <a:off x="5541867" y="1756658"/>
            <a:ext cx="1914733" cy="41198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8DCAE5A5-11EC-16C5-5F5F-C5DF9E3B0859}"/>
              </a:ext>
            </a:extLst>
          </p:cNvPr>
          <p:cNvSpPr/>
          <p:nvPr/>
        </p:nvSpPr>
        <p:spPr>
          <a:xfrm>
            <a:off x="7456600" y="1756656"/>
            <a:ext cx="1914733" cy="4119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98C73641-C807-1985-E19A-CA79DA10785E}"/>
              </a:ext>
            </a:extLst>
          </p:cNvPr>
          <p:cNvSpPr/>
          <p:nvPr/>
        </p:nvSpPr>
        <p:spPr>
          <a:xfrm>
            <a:off x="9371334" y="1756655"/>
            <a:ext cx="1914732" cy="4119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5" name="TextBox 13">
            <a:extLst>
              <a:ext uri="{FF2B5EF4-FFF2-40B4-BE49-F238E27FC236}">
                <a16:creationId xmlns:a16="http://schemas.microsoft.com/office/drawing/2014/main" id="{8546D6DB-89F3-8B35-A9E8-670CED022928}"/>
              </a:ext>
            </a:extLst>
          </p:cNvPr>
          <p:cNvSpPr txBox="1"/>
          <p:nvPr/>
        </p:nvSpPr>
        <p:spPr>
          <a:xfrm>
            <a:off x="1447022" y="1524619"/>
            <a:ext cx="3100529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087CE"/>
                </a:solidFill>
                <a:latin typeface="Montserrat" panose="00000500000000000000" pitchFamily="2" charset="0"/>
              </a:rPr>
              <a:t>Early Stage</a:t>
            </a:r>
          </a:p>
          <a:p>
            <a:pPr algn="ctr"/>
            <a:r>
              <a:rPr lang="en-US" sz="1100" dirty="0">
                <a:solidFill>
                  <a:srgbClr val="6087CE"/>
                </a:solidFill>
                <a:latin typeface="Montserrat" panose="00000500000000000000" pitchFamily="2" charset="0"/>
              </a:rPr>
              <a:t>Gaining Name Recognition, Early Growth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C35DE11-AC92-1958-1813-38A8A86CBCE8}"/>
              </a:ext>
            </a:extLst>
          </p:cNvPr>
          <p:cNvSpPr txBox="1"/>
          <p:nvPr/>
        </p:nvSpPr>
        <p:spPr>
          <a:xfrm>
            <a:off x="1275976" y="2181545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  <a:latin typeface="Montserrat" panose="00000500000000000000" pitchFamily="2" charset="0"/>
              </a:rPr>
              <a:t>New Revenue: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E2DA353-8032-9A29-CBFC-5E2CAB8FA818}"/>
              </a:ext>
            </a:extLst>
          </p:cNvPr>
          <p:cNvSpPr txBox="1"/>
          <p:nvPr/>
        </p:nvSpPr>
        <p:spPr>
          <a:xfrm>
            <a:off x="3224011" y="2181545"/>
            <a:ext cx="141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  <a:latin typeface="Montserrat" panose="00000500000000000000" pitchFamily="2" charset="0"/>
              </a:rPr>
              <a:t>New Profit:</a:t>
            </a: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2EE70FCE-698F-980C-DE5B-A5E0DD82F2B7}"/>
              </a:ext>
            </a:extLst>
          </p:cNvPr>
          <p:cNvSpPr txBox="1"/>
          <p:nvPr/>
        </p:nvSpPr>
        <p:spPr>
          <a:xfrm>
            <a:off x="1269691" y="2427270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  <a:latin typeface="Montserrat" panose="00000500000000000000" pitchFamily="2" charset="0"/>
              </a:rPr>
              <a:t>$88.08M</a:t>
            </a:r>
            <a:endParaRPr lang="en-US" sz="2000" dirty="0">
              <a:latin typeface="Montserrat" panose="00000500000000000000" pitchFamily="2" charset="0"/>
            </a:endParaRPr>
          </a:p>
        </p:txBody>
      </p:sp>
      <p:sp>
        <p:nvSpPr>
          <p:cNvPr id="9" name="TextBox 14">
            <a:extLst>
              <a:ext uri="{FF2B5EF4-FFF2-40B4-BE49-F238E27FC236}">
                <a16:creationId xmlns:a16="http://schemas.microsoft.com/office/drawing/2014/main" id="{DBAF8120-09F6-4EB0-E666-C1CBDC5CF295}"/>
              </a:ext>
            </a:extLst>
          </p:cNvPr>
          <p:cNvSpPr txBox="1"/>
          <p:nvPr/>
        </p:nvSpPr>
        <p:spPr>
          <a:xfrm>
            <a:off x="3063240" y="2427270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  <a:latin typeface="Montserrat" panose="00000500000000000000" pitchFamily="2" charset="0"/>
              </a:rPr>
              <a:t>$28.3M</a:t>
            </a:r>
            <a:endParaRPr lang="en-US" sz="2000" dirty="0">
              <a:latin typeface="Montserrat" panose="00000500000000000000" pitchFamily="2" charset="0"/>
            </a:endParaRP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5B374298-411A-3F68-B672-E1DC32DEA9AE}"/>
              </a:ext>
            </a:extLst>
          </p:cNvPr>
          <p:cNvSpPr txBox="1"/>
          <p:nvPr/>
        </p:nvSpPr>
        <p:spPr>
          <a:xfrm>
            <a:off x="1679267" y="3039035"/>
            <a:ext cx="2618024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  <a:latin typeface="Montserrat" panose="00000500000000000000" pitchFamily="2" charset="0"/>
              </a:rPr>
              <a:t>Growth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  <a:latin typeface="Montserrat" panose="00000500000000000000" pitchFamily="2" charset="0"/>
              </a:rPr>
              <a:t>Strong Reputation, Strong Growth</a:t>
            </a:r>
          </a:p>
        </p:txBody>
      </p:sp>
      <p:sp>
        <p:nvSpPr>
          <p:cNvPr id="11" name="TextBox 16">
            <a:extLst>
              <a:ext uri="{FF2B5EF4-FFF2-40B4-BE49-F238E27FC236}">
                <a16:creationId xmlns:a16="http://schemas.microsoft.com/office/drawing/2014/main" id="{734215D0-1B81-9E25-D893-D1A81A7D90DE}"/>
              </a:ext>
            </a:extLst>
          </p:cNvPr>
          <p:cNvSpPr txBox="1"/>
          <p:nvPr/>
        </p:nvSpPr>
        <p:spPr>
          <a:xfrm>
            <a:off x="1266967" y="3695961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Revenue:</a:t>
            </a:r>
          </a:p>
        </p:txBody>
      </p:sp>
      <p:sp>
        <p:nvSpPr>
          <p:cNvPr id="12" name="TextBox 17">
            <a:extLst>
              <a:ext uri="{FF2B5EF4-FFF2-40B4-BE49-F238E27FC236}">
                <a16:creationId xmlns:a16="http://schemas.microsoft.com/office/drawing/2014/main" id="{44D03DDF-E57A-E22B-A334-B0D6BAD568C1}"/>
              </a:ext>
            </a:extLst>
          </p:cNvPr>
          <p:cNvSpPr txBox="1"/>
          <p:nvPr/>
        </p:nvSpPr>
        <p:spPr>
          <a:xfrm>
            <a:off x="3215002" y="3695961"/>
            <a:ext cx="141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Profit:</a:t>
            </a:r>
          </a:p>
        </p:txBody>
      </p:sp>
      <p:sp>
        <p:nvSpPr>
          <p:cNvPr id="13" name="TextBox 20">
            <a:extLst>
              <a:ext uri="{FF2B5EF4-FFF2-40B4-BE49-F238E27FC236}">
                <a16:creationId xmlns:a16="http://schemas.microsoft.com/office/drawing/2014/main" id="{2F96F890-CA85-53B4-4C86-B02186E9E89E}"/>
              </a:ext>
            </a:extLst>
          </p:cNvPr>
          <p:cNvSpPr txBox="1"/>
          <p:nvPr/>
        </p:nvSpPr>
        <p:spPr>
          <a:xfrm>
            <a:off x="1260682" y="3941686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$520.12M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14" name="TextBox 21">
            <a:extLst>
              <a:ext uri="{FF2B5EF4-FFF2-40B4-BE49-F238E27FC236}">
                <a16:creationId xmlns:a16="http://schemas.microsoft.com/office/drawing/2014/main" id="{BD5125C9-83DD-4D9F-DE79-D476BE3F058D}"/>
              </a:ext>
            </a:extLst>
          </p:cNvPr>
          <p:cNvSpPr txBox="1"/>
          <p:nvPr/>
        </p:nvSpPr>
        <p:spPr>
          <a:xfrm>
            <a:off x="3054231" y="3941686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$167.97M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15" name="TextBox 22">
            <a:extLst>
              <a:ext uri="{FF2B5EF4-FFF2-40B4-BE49-F238E27FC236}">
                <a16:creationId xmlns:a16="http://schemas.microsoft.com/office/drawing/2014/main" id="{DEBB9E11-84A3-58F8-237D-4A265C29D49C}"/>
              </a:ext>
            </a:extLst>
          </p:cNvPr>
          <p:cNvSpPr txBox="1"/>
          <p:nvPr/>
        </p:nvSpPr>
        <p:spPr>
          <a:xfrm>
            <a:off x="1629765" y="4659602"/>
            <a:ext cx="2735044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  <a:latin typeface="Montserrat" panose="00000500000000000000" pitchFamily="2" charset="0"/>
              </a:rPr>
              <a:t>Mature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  <a:latin typeface="Montserrat" panose="00000500000000000000" pitchFamily="2" charset="0"/>
              </a:rPr>
              <a:t>High Profitability, Market Saturation</a:t>
            </a:r>
          </a:p>
        </p:txBody>
      </p:sp>
      <p:sp>
        <p:nvSpPr>
          <p:cNvPr id="16" name="TextBox 23">
            <a:extLst>
              <a:ext uri="{FF2B5EF4-FFF2-40B4-BE49-F238E27FC236}">
                <a16:creationId xmlns:a16="http://schemas.microsoft.com/office/drawing/2014/main" id="{E4C2D887-78BC-455D-E84B-4706DBDF3CA1}"/>
              </a:ext>
            </a:extLst>
          </p:cNvPr>
          <p:cNvSpPr txBox="1"/>
          <p:nvPr/>
        </p:nvSpPr>
        <p:spPr>
          <a:xfrm>
            <a:off x="1275976" y="5316528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Revenue:</a:t>
            </a:r>
          </a:p>
        </p:txBody>
      </p:sp>
      <p:sp>
        <p:nvSpPr>
          <p:cNvPr id="17" name="TextBox 24">
            <a:extLst>
              <a:ext uri="{FF2B5EF4-FFF2-40B4-BE49-F238E27FC236}">
                <a16:creationId xmlns:a16="http://schemas.microsoft.com/office/drawing/2014/main" id="{FC3AFD72-934E-C314-76C9-3BD3C3ADC5D7}"/>
              </a:ext>
            </a:extLst>
          </p:cNvPr>
          <p:cNvSpPr txBox="1"/>
          <p:nvPr/>
        </p:nvSpPr>
        <p:spPr>
          <a:xfrm>
            <a:off x="3224011" y="5316528"/>
            <a:ext cx="141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Profit:</a:t>
            </a:r>
          </a:p>
        </p:txBody>
      </p:sp>
      <p:sp>
        <p:nvSpPr>
          <p:cNvPr id="18" name="TextBox 25">
            <a:extLst>
              <a:ext uri="{FF2B5EF4-FFF2-40B4-BE49-F238E27FC236}">
                <a16:creationId xmlns:a16="http://schemas.microsoft.com/office/drawing/2014/main" id="{AFC7E587-98BA-0E7B-D632-50ECCC546F0C}"/>
              </a:ext>
            </a:extLst>
          </p:cNvPr>
          <p:cNvSpPr txBox="1"/>
          <p:nvPr/>
        </p:nvSpPr>
        <p:spPr>
          <a:xfrm>
            <a:off x="1269691" y="5562253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$1061.34M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19" name="TextBox 26">
            <a:extLst>
              <a:ext uri="{FF2B5EF4-FFF2-40B4-BE49-F238E27FC236}">
                <a16:creationId xmlns:a16="http://schemas.microsoft.com/office/drawing/2014/main" id="{CDADE326-124A-38EC-26DF-B19515A72278}"/>
              </a:ext>
            </a:extLst>
          </p:cNvPr>
          <p:cNvSpPr txBox="1"/>
          <p:nvPr/>
        </p:nvSpPr>
        <p:spPr>
          <a:xfrm>
            <a:off x="3063240" y="5562253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$342.75M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C0B4224-A0CC-AD78-8E24-07E538135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90" y="144962"/>
            <a:ext cx="11431354" cy="979057"/>
          </a:xfrm>
        </p:spPr>
        <p:txBody>
          <a:bodyPr>
            <a:normAutofit/>
          </a:bodyPr>
          <a:lstStyle/>
          <a:p>
            <a:r>
              <a:rPr lang="en-US" sz="3200" b="0" dirty="0"/>
              <a:t>GROWING POWERFUL, LASTING PROFITABILITY</a:t>
            </a:r>
          </a:p>
        </p:txBody>
      </p:sp>
      <p:pic>
        <p:nvPicPr>
          <p:cNvPr id="21" name="Picture 27">
            <a:extLst>
              <a:ext uri="{FF2B5EF4-FFF2-40B4-BE49-F238E27FC236}">
                <a16:creationId xmlns:a16="http://schemas.microsoft.com/office/drawing/2014/main" id="{DBDCCE94-7BFC-4E15-1810-1983169DB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C4AAE38D-C93C-25B4-95B9-199DADB77C36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23" name="Content Placeholder 22"/>
          <p:cNvPicPr>
            <a:picLocks noGrp="1"/>
          </p:cNvPicPr>
          <p:nvPr>
            <p:ph/>
          </p:nvPr>
        </p:nvPicPr>
        <p:blipFill>
          <a:blip r:embed="rId4"/>
          <a:stretch>
            <a:fillRect/>
          </a:stretch>
        </p:blipFill>
        <p:spPr>
          <a:xfrm>
            <a:off x="5202936" y="1353312"/>
            <a:ext cx="6364224" cy="477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051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DEBD79AC-6896-6E13-B0EE-8405AC1D8926}"/>
              </a:ext>
            </a:extLst>
          </p:cNvPr>
          <p:cNvSpPr/>
          <p:nvPr/>
        </p:nvSpPr>
        <p:spPr>
          <a:xfrm>
            <a:off x="0" y="-7770"/>
            <a:ext cx="978408" cy="6858000"/>
          </a:xfrm>
          <a:prstGeom prst="rect">
            <a:avLst/>
          </a:prstGeom>
          <a:solidFill>
            <a:srgbClr val="00539F">
              <a:alpha val="9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0B88E4A-751F-FB75-BED6-F09D9D7F2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911931" y="3052978"/>
            <a:ext cx="6802269" cy="75204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3200" b="0" dirty="0">
                <a:solidFill>
                  <a:schemeClr val="bg1"/>
                </a:solidFill>
              </a:rPr>
              <a:t>FOUR-YEAR PROJECTIONS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35624" y="0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5,100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10,200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16,700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25,200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9,340.9K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18,677.7K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34,049.2K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54,430.5K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61.2K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122.4K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200.4K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302.4K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9,072.1K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18,620.1K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34,069.6K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54,552.9K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35624" y="2286000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7,000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14,000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23,000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34,700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12,820.8K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25,636.0K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46,894.0K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74,949.9K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84.0K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168.0K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276.0K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416.4K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12,574.8K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25,624.0K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46,990.0K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75,186.3K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35624" y="4572000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3,200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6,400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10,500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15,700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5,860.9K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11,719.3K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21,408.1K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33,911.0K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38.4K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76.8K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126.0K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188.4K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5,569.3K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11,616.1K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21,354.1K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33,919.4K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7" name="Content Placeholder 6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1179576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945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9CFB-714A-4CB7-9915-2C74E697A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157" y="136525"/>
            <a:ext cx="11569498" cy="109152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solidFill>
                  <a:srgbClr val="000B2E"/>
                </a:solidFill>
                <a:cs typeface="Arial" panose="020B0604020202020204" pitchFamily="34" charset="0"/>
              </a:rPr>
              <a:t>DIRECT-TO-EMPLOYER STRATEGY:</a:t>
            </a:r>
            <a:br>
              <a:rPr lang="en-US" sz="3600" b="1" dirty="0">
                <a:solidFill>
                  <a:srgbClr val="000B2E"/>
                </a:solidFill>
                <a:cs typeface="Arial" panose="020B0604020202020204" pitchFamily="34" charset="0"/>
              </a:rPr>
            </a:br>
            <a:r>
              <a:rPr lang="en-US" sz="3200" b="1" dirty="0">
                <a:solidFill>
                  <a:srgbClr val="000B2E"/>
                </a:solidFill>
                <a:cs typeface="Arial" panose="020B0604020202020204" pitchFamily="34" charset="0"/>
              </a:rPr>
              <a:t>ONLY AVAILABLE TO </a:t>
            </a:r>
            <a:r>
              <a:rPr lang="en-US" sz="3200" b="1" i="1" dirty="0">
                <a:solidFill>
                  <a:srgbClr val="000B2E"/>
                </a:solidFill>
                <a:cs typeface="Arial" panose="020B0604020202020204" pitchFamily="34" charset="0"/>
              </a:rPr>
              <a:t>PREMIER</a:t>
            </a:r>
            <a:r>
              <a:rPr lang="en-US" sz="3200" b="1" dirty="0">
                <a:solidFill>
                  <a:srgbClr val="000B2E"/>
                </a:solidFill>
                <a:cs typeface="Arial" panose="020B0604020202020204" pitchFamily="34" charset="0"/>
              </a:rPr>
              <a:t> HEALTH SYSTEMS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B62E5-A9EF-46A8-AEE5-C69E2BA73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2859" y="1848935"/>
            <a:ext cx="6028455" cy="466090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59CAE8"/>
                </a:solidFill>
                <a:latin typeface="Montserrat" panose="00000500000000000000" pitchFamily="2" charset="0"/>
              </a:rPr>
              <a:t>STRONG</a:t>
            </a:r>
            <a:r>
              <a:rPr lang="en-US" sz="3200" dirty="0">
                <a:solidFill>
                  <a:srgbClr val="9900CC"/>
                </a:solidFill>
              </a:rPr>
              <a:t> 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Brand Quality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59CAE8"/>
                </a:solidFill>
                <a:latin typeface="Montserrat" panose="00000500000000000000" pitchFamily="2" charset="0"/>
              </a:rPr>
              <a:t>EXTENSIVE</a:t>
            </a:r>
            <a:r>
              <a:rPr lang="en-US" sz="3200" dirty="0"/>
              <a:t> 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Patient Access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59CAE8"/>
                </a:solidFill>
                <a:latin typeface="Montserrat" panose="00000500000000000000" pitchFamily="2" charset="0"/>
              </a:rPr>
              <a:t>AFFORDABLE</a:t>
            </a:r>
            <a:r>
              <a:rPr lang="en-US" sz="3200" dirty="0"/>
              <a:t> 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Value Pricing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59CAE8"/>
                </a:solidFill>
                <a:latin typeface="Montserrat" panose="00000500000000000000" pitchFamily="2" charset="0"/>
              </a:rPr>
              <a:t>EXCELLENT</a:t>
            </a:r>
            <a:r>
              <a:rPr lang="en-US" sz="3200" dirty="0">
                <a:solidFill>
                  <a:srgbClr val="9900CC"/>
                </a:solidFill>
              </a:rPr>
              <a:t> 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Care Quality  </a:t>
            </a: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182E78E4-84F7-ECC4-4085-D8F128942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5" name="Freeform 13">
            <a:extLst>
              <a:ext uri="{FF2B5EF4-FFF2-40B4-BE49-F238E27FC236}">
                <a16:creationId xmlns:a16="http://schemas.microsoft.com/office/drawing/2014/main" id="{63B286E7-A296-8685-AC6B-CA7B2EB60EBD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6" name="Content Placeholder 5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1508760" y="2834640"/>
            <a:ext cx="3154680" cy="1079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461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157AD-9D57-0448-105A-79BA88500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573" y="136525"/>
            <a:ext cx="11590512" cy="13255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3600" dirty="0">
                <a:solidFill>
                  <a:srgbClr val="000B2E"/>
                </a:solidFill>
                <a:cs typeface="Arial" panose="020B0604020202020204" pitchFamily="34" charset="0"/>
              </a:rPr>
              <a:t>BAYCARE IS PATIENT RECOMMENDED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E0219A2-C97D-9E0E-9C52-C5207AB41BD4}"/>
              </a:ext>
            </a:extLst>
          </p:cNvPr>
          <p:cNvSpPr/>
          <p:nvPr/>
        </p:nvSpPr>
        <p:spPr>
          <a:xfrm>
            <a:off x="9405257" y="1989573"/>
            <a:ext cx="2532185" cy="34867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Montserrat" panose="00000500000000000000" pitchFamily="2" charset="0"/>
              </a:rPr>
              <a:t>Based on quality measures and HCAHPS feedback, KBA estimates that BayCare has the strongest brand quality in Hardee, Hernando, Hillsborough, Lake, Manatee, Orange, Osceola, Pasco, Pinellas, and Polk Counties.</a:t>
            </a:r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2AD52701-1DE7-13B3-FBF0-4BD24A4807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5" name="Freeform 13">
            <a:extLst>
              <a:ext uri="{FF2B5EF4-FFF2-40B4-BE49-F238E27FC236}">
                <a16:creationId xmlns:a16="http://schemas.microsoft.com/office/drawing/2014/main" id="{A6B1301C-BF63-22CC-7705-C12ACB4A1EC6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8893276"/>
              </p:ext>
            </p:extLst>
          </p:nvPr>
        </p:nvGraphicFramePr>
        <p:xfrm>
          <a:off x="648056" y="1801562"/>
          <a:ext cx="8602947" cy="3329828"/>
        </p:xfrm>
        <a:graphic>
          <a:graphicData uri="http://schemas.openxmlformats.org/drawingml/2006/table">
            <a:tbl>
              <a:tblPr/>
              <a:tblGrid>
                <a:gridCol w="2889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85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66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52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05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21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7527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Health System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HCAHPS</a:t>
                      </a:r>
                      <a:b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</a:b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Recommendation</a:t>
                      </a:r>
                      <a:b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</a:b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Percentile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CMS Stars</a:t>
                      </a:r>
                      <a:b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</a:b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Percentile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Mortality</a:t>
                      </a:r>
                      <a:b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</a:b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Percentile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Readmission</a:t>
                      </a:r>
                      <a:b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</a:b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Percentile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KBA Brand</a:t>
                      </a:r>
                      <a:b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</a:b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Quality Score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879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BayCare Health System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75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6381B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75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6381B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77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5F7EB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099C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6C88B8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241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Tampa General Hospital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5A9C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30589B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26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9D3E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64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A94B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5A9C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E97C1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2888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AdventHealth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30589B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45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A1B3D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67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48FB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68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28DB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E97C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099C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4252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Orlando Health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30589B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44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A3B5D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30589B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48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BAEC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74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6583B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53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1A6C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099C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879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Lakeland Regional Health Medical Center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30589B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33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AC7D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30589B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EF1F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69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08BB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30589B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35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6C4D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55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DA3C8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4184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HCA Healthcare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30589B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5DDE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30589B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ECBE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78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5D7CB1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30589B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47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DB0D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30589B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7ABCD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4184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Universal Health Services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30589B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5DDE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30589B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48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BAEC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83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5374AC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64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A94B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 dirty="0">
                          <a:solidFill>
                            <a:srgbClr val="30589B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7ABCD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47523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9FF97C79-4A33-43A3-1EC1-DCE4FFCCA0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325" y="923925"/>
            <a:ext cx="1153477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altLang="en-US" sz="2600">
                <a:solidFill>
                  <a:srgbClr val="000000"/>
                </a:solidFill>
                <a:cs typeface="Arial" panose="020B0604020202020204" pitchFamily="34" charset="0"/>
              </a:rPr>
              <a:t>Base Medical + Preferred Plus Benefits = Your Deductible Can Simply Vanish</a:t>
            </a:r>
            <a:endParaRPr lang="en-US" altLang="en-US" sz="3800">
              <a:solidFill>
                <a:srgbClr val="000000"/>
              </a:solidFill>
              <a:latin typeface="Book Antiqua" panose="02040602050305030304" pitchFamily="18" charset="0"/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C3ECC346-71F1-52A3-EA9D-D5B9815B117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9448800" y="6407150"/>
            <a:ext cx="2743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E968EF9-8F85-4F1F-9876-15E5B44FFF67}" type="slidenum">
              <a:rPr lang="en-US" altLang="en-US">
                <a:solidFill>
                  <a:srgbClr val="767676"/>
                </a:solidFill>
                <a:latin typeface="Aptos" panose="020B0004020202020204" pitchFamily="34" charset="0"/>
              </a:rPr>
              <a:pPr eaLnBrk="1" hangingPunct="1"/>
              <a:t>11</a:t>
            </a:fld>
            <a:endParaRPr lang="en-US" altLang="en-US">
              <a:solidFill>
                <a:srgbClr val="767676"/>
              </a:solidFill>
              <a:latin typeface="Aptos" panose="020B0004020202020204" pitchFamily="34" charset="0"/>
            </a:endParaRPr>
          </a:p>
        </p:txBody>
      </p:sp>
      <p:pic>
        <p:nvPicPr>
          <p:cNvPr id="4" name="Picture 12">
            <a:extLst>
              <a:ext uri="{FF2B5EF4-FFF2-40B4-BE49-F238E27FC236}">
                <a16:creationId xmlns:a16="http://schemas.microsoft.com/office/drawing/2014/main" id="{45768469-CF94-61BC-49D6-61C78A1E2E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688" y="6556375"/>
            <a:ext cx="1370012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Freeform 13">
            <a:extLst>
              <a:ext uri="{FF2B5EF4-FFF2-40B4-BE49-F238E27FC236}">
                <a16:creationId xmlns:a16="http://schemas.microsoft.com/office/drawing/2014/main" id="{8236F4D5-E223-F4EC-5C68-233260C45221}"/>
              </a:ext>
            </a:extLst>
          </p:cNvPr>
          <p:cNvSpPr>
            <a:spLocks/>
          </p:cNvSpPr>
          <p:nvPr/>
        </p:nvSpPr>
        <p:spPr bwMode="auto">
          <a:xfrm rot="16200000" flipV="1">
            <a:off x="7292976" y="1958975"/>
            <a:ext cx="195262" cy="9628187"/>
          </a:xfrm>
          <a:custGeom>
            <a:avLst/>
            <a:gdLst>
              <a:gd name="T0" fmla="*/ 0 w 165300"/>
              <a:gd name="T1" fmla="*/ 0 h 503014"/>
              <a:gd name="T2" fmla="*/ 194251 w 165300"/>
              <a:gd name="T3" fmla="*/ 0 h 503014"/>
              <a:gd name="T4" fmla="*/ 194251 w 165300"/>
              <a:gd name="T5" fmla="*/ 9629274 h 503014"/>
              <a:gd name="T6" fmla="*/ 0 w 165300"/>
              <a:gd name="T7" fmla="*/ 9629274 h 50301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lnTo>
                  <a:pt x="0" y="0"/>
                </a:lnTo>
                <a:close/>
              </a:path>
            </a:pathLst>
          </a:custGeom>
          <a:solidFill>
            <a:srgbClr val="00539F"/>
          </a:solidFill>
          <a:ln>
            <a:noFill/>
          </a:ln>
          <a:extLst>
            <a:ext uri="{91240B29-F687-4F45-9708-019B960494DF}">
              <a14:hiddenLine xmlns:a14="http://schemas.microsoft.com/office/drawing/2010/main" w="0" cap="flat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35B9937C-D670-849A-EFB3-6E9349885E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325" y="296863"/>
            <a:ext cx="11534775" cy="80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ts val="1000"/>
              </a:spcBef>
            </a:pPr>
            <a:r>
              <a:rPr lang="en-US" altLang="en-US" sz="4400" b="1">
                <a:solidFill>
                  <a:srgbClr val="0053A0"/>
                </a:solidFill>
                <a:cs typeface="Arial" panose="020B0604020202020204" pitchFamily="34" charset="0"/>
              </a:rPr>
              <a:t>The Key Incentive Plan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97DF678D-7946-6B2B-92C9-44445ED1AB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938" y="1365250"/>
            <a:ext cx="1153477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 i="1" dirty="0">
                <a:solidFill>
                  <a:srgbClr val="000000"/>
                </a:solidFill>
                <a:latin typeface="Aptos" panose="020B0004020202020204" pitchFamily="34" charset="0"/>
              </a:rPr>
              <a:t>Example:</a:t>
            </a:r>
            <a:r>
              <a:rPr lang="en-US" altLang="en-US" sz="1600" i="1" dirty="0">
                <a:solidFill>
                  <a:srgbClr val="000000"/>
                </a:solidFill>
                <a:latin typeface="Aptos" panose="020B0004020202020204" pitchFamily="34" charset="0"/>
              </a:rPr>
              <a:t> Member with a $2,500 deductible / $4,500 max out-of-pocket has a heart attack and cardiac surgery, resulting in a 5-day in-patient stay. In this example, the member would have a $4,500 OOP with $5,050 Preferred Plus Benefits for a </a:t>
            </a:r>
            <a:r>
              <a:rPr lang="en-US" altLang="en-US" sz="1600" b="1" i="1" u="sng" dirty="0">
                <a:solidFill>
                  <a:srgbClr val="000000"/>
                </a:solidFill>
                <a:latin typeface="Aptos" panose="020B0004020202020204" pitchFamily="34" charset="0"/>
              </a:rPr>
              <a:t>net OOP $0 due to the preferred provider </a:t>
            </a:r>
            <a:r>
              <a:rPr lang="en-US" altLang="en-US" sz="1600" b="1" i="1" dirty="0">
                <a:solidFill>
                  <a:srgbClr val="000000"/>
                </a:solidFill>
                <a:latin typeface="Aptos" panose="020B0004020202020204" pitchFamily="34" charset="0"/>
              </a:rPr>
              <a:t>versus $4,500 OOP exposure at any non-preferred provider.</a:t>
            </a:r>
          </a:p>
        </p:txBody>
      </p:sp>
      <p:graphicFrame>
        <p:nvGraphicFramePr>
          <p:cNvPr id="8" name="Table 14">
            <a:extLst>
              <a:ext uri="{FF2B5EF4-FFF2-40B4-BE49-F238E27FC236}">
                <a16:creationId xmlns:a16="http://schemas.microsoft.com/office/drawing/2014/main" id="{9EE69140-F83A-5990-E7B6-C51DE5264BEF}"/>
              </a:ext>
            </a:extLst>
          </p:cNvPr>
          <p:cNvGraphicFramePr>
            <a:graphicFrameLocks noGrp="1"/>
          </p:cNvGraphicFramePr>
          <p:nvPr/>
        </p:nvGraphicFramePr>
        <p:xfrm>
          <a:off x="1063625" y="2195513"/>
          <a:ext cx="10290174" cy="4114799"/>
        </p:xfrm>
        <a:graphic>
          <a:graphicData uri="http://schemas.openxmlformats.org/drawingml/2006/table">
            <a:tbl>
              <a:tblPr/>
              <a:tblGrid>
                <a:gridCol w="13909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55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8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044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90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766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1027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BASE MEDICAL BENEFITS*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PREFERRED PLUS BENEFITS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606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Deductible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Benefits automatically included in your plan!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06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Single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$2,500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Preferred Provider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Non-Preferred Provider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6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Family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$4,500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OP Radiology/X-Ray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$200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$0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606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Coinsurance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OP Diagnostic  Labs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$100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$0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0606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80% / 20%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Preferred Hospital Stay ($500/day, 5 days)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$2,500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$0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0606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Maximum Out-of-Pocket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Critical Illness Benefit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$2,000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$0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06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Single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$4,500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Health Screening Benefit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$125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$0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060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Family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$9,000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Total Employee OOP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$4,500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$4,500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06308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Chronic Disease Management Regimens of Care Covered at 100%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Preferred Plus Benefits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$4,925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$0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606308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Healthcare </a:t>
                      </a:r>
                      <a:r>
                        <a:rPr lang="en-US" sz="1100" b="0" i="1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Convience</a:t>
                      </a:r>
                      <a:r>
                        <a:rPr lang="en-US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Card to Cover Out-of-Pocket Expenses at 0% interest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Employee Amount Due to Provider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6100"/>
                          </a:solidFill>
                          <a:effectLst/>
                          <a:latin typeface="Arial" panose="020B0604020202020204" pitchFamily="34" charset="0"/>
                        </a:rPr>
                        <a:t>$0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9C0006"/>
                          </a:solidFill>
                          <a:effectLst/>
                          <a:latin typeface="Arial" panose="020B0604020202020204" pitchFamily="34" charset="0"/>
                        </a:rPr>
                        <a:t>$4,500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606308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11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Health Guardian Account to help members manage their healthcare expenses at Preferred Providers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Additional Benefit Payable to the Health Guardian Account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$425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$0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9" name="TextBox 1">
            <a:extLst>
              <a:ext uri="{FF2B5EF4-FFF2-40B4-BE49-F238E27FC236}">
                <a16:creationId xmlns:a16="http://schemas.microsoft.com/office/drawing/2014/main" id="{44DBDC61-BD46-77F3-6F4A-E238A3B3F1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5050" y="6332538"/>
            <a:ext cx="697865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100" i="1">
                <a:solidFill>
                  <a:srgbClr val="000000"/>
                </a:solidFill>
                <a:latin typeface="Aptos" panose="020B0004020202020204" pitchFamily="34" charset="0"/>
              </a:rPr>
              <a:t>*Base Medical Benefits are for illustration purposes only. Base benefits can be customized to meet client needs.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53CA7810-E974-2773-613F-7C57BCBAA5FD}"/>
              </a:ext>
            </a:extLst>
          </p:cNvPr>
          <p:cNvSpPr>
            <a:spLocks/>
          </p:cNvSpPr>
          <p:nvPr/>
        </p:nvSpPr>
        <p:spPr bwMode="auto">
          <a:xfrm rot="16200000" flipV="1">
            <a:off x="5969793" y="-5957093"/>
            <a:ext cx="271463" cy="12192000"/>
          </a:xfrm>
          <a:custGeom>
            <a:avLst/>
            <a:gdLst>
              <a:gd name="T0" fmla="*/ 0 w 165300"/>
              <a:gd name="T1" fmla="*/ 0 h 503014"/>
              <a:gd name="T2" fmla="*/ 271862 w 165300"/>
              <a:gd name="T3" fmla="*/ 0 h 503014"/>
              <a:gd name="T4" fmla="*/ 271862 w 165300"/>
              <a:gd name="T5" fmla="*/ 12192000 h 503014"/>
              <a:gd name="T6" fmla="*/ 0 w 165300"/>
              <a:gd name="T7" fmla="*/ 12192000 h 50301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lnTo>
                  <a:pt x="0" y="0"/>
                </a:lnTo>
                <a:close/>
              </a:path>
            </a:pathLst>
          </a:custGeom>
          <a:solidFill>
            <a:srgbClr val="00539F"/>
          </a:solidFill>
          <a:ln>
            <a:noFill/>
          </a:ln>
          <a:extLst>
            <a:ext uri="{91240B29-F687-4F45-9708-019B960494DF}">
              <a14:hiddenLine xmlns:a14="http://schemas.microsoft.com/office/drawing/2010/main" w="0" cap="flat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2">
            <a:extLst>
              <a:ext uri="{FF2B5EF4-FFF2-40B4-BE49-F238E27FC236}">
                <a16:creationId xmlns:a16="http://schemas.microsoft.com/office/drawing/2014/main" id="{1FA40FF6-6F06-E7AC-B58F-754B92C3F5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00188"/>
            <a:ext cx="7240588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EB2CE0FD-6B1E-B7F0-53B0-E04CE9D1F34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8959850" y="6335713"/>
            <a:ext cx="27432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A699914-4451-4BEC-AE9A-05A627140C49}" type="slidenum">
              <a:rPr lang="en-US" altLang="en-US" smtClean="0">
                <a:solidFill>
                  <a:srgbClr val="898989"/>
                </a:solidFill>
                <a:latin typeface="Montserrat" panose="00000500000000000000" pitchFamily="2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en-US" altLang="en-US" dirty="0">
              <a:solidFill>
                <a:srgbClr val="898989"/>
              </a:solidFill>
              <a:latin typeface="Montserrat" panose="00000500000000000000" pitchFamily="2" charset="0"/>
            </a:endParaRPr>
          </a:p>
        </p:txBody>
      </p:sp>
      <p:pic>
        <p:nvPicPr>
          <p:cNvPr id="4" name="Picture 14">
            <a:extLst>
              <a:ext uri="{FF2B5EF4-FFF2-40B4-BE49-F238E27FC236}">
                <a16:creationId xmlns:a16="http://schemas.microsoft.com/office/drawing/2014/main" id="{24DABA54-344C-0002-7993-38600E1AC5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900" y="6356350"/>
            <a:ext cx="212407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Freeform 15">
            <a:extLst>
              <a:ext uri="{FF2B5EF4-FFF2-40B4-BE49-F238E27FC236}">
                <a16:creationId xmlns:a16="http://schemas.microsoft.com/office/drawing/2014/main" id="{C7195C47-ACB6-7506-6D43-E4D4E204766B}"/>
              </a:ext>
            </a:extLst>
          </p:cNvPr>
          <p:cNvSpPr>
            <a:spLocks/>
          </p:cNvSpPr>
          <p:nvPr/>
        </p:nvSpPr>
        <p:spPr bwMode="auto">
          <a:xfrm rot="16200000" flipV="1">
            <a:off x="7292976" y="1958975"/>
            <a:ext cx="195262" cy="9628187"/>
          </a:xfrm>
          <a:custGeom>
            <a:avLst/>
            <a:gdLst>
              <a:gd name="T0" fmla="*/ 0 w 165300"/>
              <a:gd name="T1" fmla="*/ 0 h 503014"/>
              <a:gd name="T2" fmla="*/ 229461 w 165300"/>
              <a:gd name="T3" fmla="*/ 0 h 503014"/>
              <a:gd name="T4" fmla="*/ 229461 w 165300"/>
              <a:gd name="T5" fmla="*/ 184313858 h 503014"/>
              <a:gd name="T6" fmla="*/ 0 w 165300"/>
              <a:gd name="T7" fmla="*/ 184313858 h 50301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lnTo>
                  <a:pt x="0" y="0"/>
                </a:lnTo>
                <a:close/>
              </a:path>
            </a:pathLst>
          </a:custGeom>
          <a:solidFill>
            <a:srgbClr val="00539F"/>
          </a:solidFill>
          <a:ln>
            <a:noFill/>
          </a:ln>
          <a:extLst>
            <a:ext uri="{91240B29-F687-4F45-9708-019B960494DF}">
              <a14:hiddenLine xmlns:a14="http://schemas.microsoft.com/office/drawing/2010/main" w="0" cap="flat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2C3C063F-478C-1983-EB9B-BC9212331397}"/>
              </a:ext>
            </a:extLst>
          </p:cNvPr>
          <p:cNvSpPr/>
          <p:nvPr/>
        </p:nvSpPr>
        <p:spPr>
          <a:xfrm>
            <a:off x="8037513" y="1449547"/>
            <a:ext cx="3736975" cy="4886166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  <a:latin typeface="Montserrat" panose="00000500000000000000" pitchFamily="2" charset="0"/>
            </a:endParaRPr>
          </a:p>
        </p:txBody>
      </p:sp>
      <p:pic>
        <p:nvPicPr>
          <p:cNvPr id="7" name="Picture 16">
            <a:extLst>
              <a:ext uri="{FF2B5EF4-FFF2-40B4-BE49-F238E27FC236}">
                <a16:creationId xmlns:a16="http://schemas.microsoft.com/office/drawing/2014/main" id="{AC6455EE-959B-4362-17D7-EFB7941BCA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3238" y="1578134"/>
            <a:ext cx="1196975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Arrow: Pentagon 17">
            <a:extLst>
              <a:ext uri="{FF2B5EF4-FFF2-40B4-BE49-F238E27FC236}">
                <a16:creationId xmlns:a16="http://schemas.microsoft.com/office/drawing/2014/main" id="{2B66BBAF-AA35-B92F-61FA-4E65114689A0}"/>
              </a:ext>
            </a:extLst>
          </p:cNvPr>
          <p:cNvSpPr/>
          <p:nvPr/>
        </p:nvSpPr>
        <p:spPr>
          <a:xfrm>
            <a:off x="0" y="5080000"/>
            <a:ext cx="7639050" cy="766763"/>
          </a:xfrm>
          <a:prstGeom prst="homePlate">
            <a:avLst/>
          </a:prstGeom>
          <a:solidFill>
            <a:srgbClr val="D9D9D9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  <a:latin typeface="Montserrat" panose="00000500000000000000" pitchFamily="2" charset="0"/>
            </a:endParaRPr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F0DF9754-79F6-1B64-8084-B9999BBEBE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38" y="5308600"/>
            <a:ext cx="76073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Montserrat" panose="00000500000000000000" pitchFamily="2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Montserrat" panose="00000500000000000000" pitchFamily="2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Montserrat" panose="00000500000000000000" pitchFamily="2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000000"/>
                </a:solidFill>
              </a:rPr>
              <a:t>BayCare patients can have all out-of-pocket liability reduced to $0!</a:t>
            </a:r>
          </a:p>
        </p:txBody>
      </p:sp>
      <p:graphicFrame>
        <p:nvGraphicFramePr>
          <p:cNvPr id="10" name="Table 6">
            <a:extLst>
              <a:ext uri="{FF2B5EF4-FFF2-40B4-BE49-F238E27FC236}">
                <a16:creationId xmlns:a16="http://schemas.microsoft.com/office/drawing/2014/main" id="{50F6F2E0-D342-3007-3295-A5A48FF443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6878789"/>
              </p:ext>
            </p:extLst>
          </p:nvPr>
        </p:nvGraphicFramePr>
        <p:xfrm>
          <a:off x="8123238" y="1876901"/>
          <a:ext cx="3579812" cy="4471035"/>
        </p:xfrm>
        <a:graphic>
          <a:graphicData uri="http://schemas.openxmlformats.org/drawingml/2006/table">
            <a:tbl>
              <a:tblPr/>
              <a:tblGrid>
                <a:gridCol w="2000483">
                  <a:extLst>
                    <a:ext uri="{9D8B030D-6E8A-4147-A177-3AD203B41FA5}">
                      <a16:colId xmlns:a16="http://schemas.microsoft.com/office/drawing/2014/main" val="1876924050"/>
                    </a:ext>
                  </a:extLst>
                </a:gridCol>
                <a:gridCol w="1579329">
                  <a:extLst>
                    <a:ext uri="{9D8B030D-6E8A-4147-A177-3AD203B41FA5}">
                      <a16:colId xmlns:a16="http://schemas.microsoft.com/office/drawing/2014/main" val="2083762870"/>
                    </a:ext>
                  </a:extLst>
                </a:gridCol>
              </a:tblGrid>
              <a:tr h="228600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Explanation of Benefits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3869175"/>
                  </a:ext>
                </a:extLst>
              </a:tr>
              <a:tr h="182880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Heart Attack, Cardiac Surgery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3465819"/>
                  </a:ext>
                </a:extLst>
              </a:tr>
              <a:tr h="182880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THE CHARGES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71566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Medical Bills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$25,000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062246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Healthcare out-of-pocket due to provider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$4,500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944777"/>
                  </a:ext>
                </a:extLst>
              </a:tr>
              <a:tr h="617220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Since your out of pocket maximum has been met, the rest of your eligible charges this year will be paid at 100%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2997664"/>
                  </a:ext>
                </a:extLst>
              </a:tr>
              <a:tr h="182880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THE CREDITS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104715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OP Radiology/X-Ray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$200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438341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OP Diagnostic  Labs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$100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45297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Preferred Hospital Stay ($500/day, 5 days)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$2,500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223578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Critical Illness Benefit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$2,000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227942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Health Screening Benefit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$125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034525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Benefit Total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$4,925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050451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Out of Pocket Paid to Hospital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</a:rPr>
                        <a:t>($4,500)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777912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Balance Paid to HSA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$425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4894644"/>
                  </a:ext>
                </a:extLst>
              </a:tr>
            </a:tbl>
          </a:graphicData>
        </a:graphic>
      </p:graphicFrame>
      <p:sp>
        <p:nvSpPr>
          <p:cNvPr id="11" name="Title 2">
            <a:extLst>
              <a:ext uri="{FF2B5EF4-FFF2-40B4-BE49-F238E27FC236}">
                <a16:creationId xmlns:a16="http://schemas.microsoft.com/office/drawing/2014/main" id="{540D5885-347A-7711-D396-2864B8FC4403}"/>
              </a:ext>
            </a:extLst>
          </p:cNvPr>
          <p:cNvSpPr txBox="1">
            <a:spLocks/>
          </p:cNvSpPr>
          <p:nvPr/>
        </p:nvSpPr>
        <p:spPr>
          <a:xfrm>
            <a:off x="117445" y="207689"/>
            <a:ext cx="11534623" cy="1082169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ts val="1000"/>
              </a:spcBef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00539F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THE BENEFIT STEERING THE PATIENT TO BAYCARE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i="0" u="none" strike="noStrike" kern="1200" cap="none" spc="0" normalizeH="0" baseline="0" noProof="0" dirty="0">
                <a:ln>
                  <a:noFill/>
                </a:ln>
                <a:solidFill>
                  <a:srgbClr val="00539F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Arial" panose="020B0604020202020204" pitchFamily="34" charset="0"/>
              </a:rPr>
              <a:t>What Will this Claim Cost Me?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C8D87E68-6B58-6ABC-9125-FECD31D51802}"/>
              </a:ext>
            </a:extLst>
          </p:cNvPr>
          <p:cNvSpPr txBox="1">
            <a:spLocks/>
          </p:cNvSpPr>
          <p:nvPr/>
        </p:nvSpPr>
        <p:spPr>
          <a:xfrm>
            <a:off x="685800" y="1023158"/>
            <a:ext cx="11068050" cy="460829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Creating EPO Steerage in a PPO Network</a:t>
            </a: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D27A37F9-7666-F7AF-4CB9-D45C937D6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685" y="1823980"/>
            <a:ext cx="3420399" cy="386239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sx="1000" sy="1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0E1274-9D49-4637-1DA7-A61DA7510958}"/>
              </a:ext>
            </a:extLst>
          </p:cNvPr>
          <p:cNvSpPr txBox="1">
            <a:spLocks/>
          </p:cNvSpPr>
          <p:nvPr/>
        </p:nvSpPr>
        <p:spPr>
          <a:xfrm>
            <a:off x="5119281" y="1970165"/>
            <a:ext cx="5905500" cy="39995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46888" indent="-246888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>
                  <a:lumMod val="50000"/>
                </a:schemeClr>
              </a:buClr>
              <a:buFont typeface="Arial" pitchFamily="34" charset="0"/>
              <a:buChar char="•"/>
              <a:defRPr sz="1600" b="0" i="0" kern="120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Gill Sans Light" panose="020B0302020104020203" pitchFamily="34" charset="-79"/>
              </a:defRPr>
            </a:lvl1pPr>
            <a:lvl2pPr marL="548640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>
                  <a:lumMod val="50000"/>
                </a:schemeClr>
              </a:buClr>
              <a:buFont typeface="Arial" pitchFamily="34" charset="0"/>
              <a:buChar char="•"/>
              <a:defRPr sz="1600" b="0" i="0" kern="120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Gill Sans Light" panose="020B0302020104020203" pitchFamily="34" charset="-79"/>
              </a:defRPr>
            </a:lvl2pPr>
            <a:lvl3pPr marL="850392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>
                  <a:lumMod val="50000"/>
                </a:schemeClr>
              </a:buClr>
              <a:buFont typeface="Arial" pitchFamily="34" charset="0"/>
              <a:buChar char="•"/>
              <a:defRPr sz="1600" b="0" i="0" kern="120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Gill Sans Light" panose="020B0302020104020203" pitchFamily="34" charset="-79"/>
              </a:defRPr>
            </a:lvl3pPr>
            <a:lvl4pPr marL="1152144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>
                  <a:lumMod val="50000"/>
                </a:schemeClr>
              </a:buClr>
              <a:buFont typeface="Arial" pitchFamily="34" charset="0"/>
              <a:buChar char="•"/>
              <a:defRPr sz="1600" b="0" i="0" kern="120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Gill Sans Light" panose="020B0302020104020203" pitchFamily="34" charset="-79"/>
              </a:defRPr>
            </a:lvl4pPr>
            <a:lvl5pPr marL="1453896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>
                  <a:lumMod val="50000"/>
                </a:schemeClr>
              </a:buClr>
              <a:buFont typeface="Arial" pitchFamily="34" charset="0"/>
              <a:buChar char="•"/>
              <a:defRPr sz="1600" b="0" i="0" kern="1200">
                <a:solidFill>
                  <a:schemeClr val="tx1">
                    <a:lumMod val="50000"/>
                  </a:schemeClr>
                </a:solidFill>
                <a:latin typeface="+mn-lt"/>
                <a:ea typeface="+mn-ea"/>
                <a:cs typeface="Gill Sans Light" panose="020B0302020104020203" pitchFamily="34" charset="-79"/>
              </a:defRPr>
            </a:lvl5pPr>
            <a:lvl6pPr marL="1755648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59152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60904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tx1"/>
              </a:buClr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prstClr val="black">
                  <a:lumMod val="50000"/>
                </a:prstClr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539F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The Healthcare </a:t>
            </a:r>
            <a:r>
              <a:rPr lang="en-US" sz="1800" b="1" dirty="0">
                <a:solidFill>
                  <a:srgbClr val="00539F"/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Convenience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539F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 Card is eligible to be used only for specific merchant codes.</a:t>
            </a:r>
          </a:p>
          <a:p>
            <a:pPr marL="342900" marR="0" lvl="0" indent="-342900" algn="l" defTabSz="914400" rtl="0" eaLnBrk="1" fontAlgn="auto" latinLnBrk="0" hangingPunct="1">
              <a:lnSpc>
                <a:spcPct val="60000"/>
              </a:lnSpc>
              <a:spcBef>
                <a:spcPts val="1800"/>
              </a:spcBef>
              <a:spcAft>
                <a:spcPts val="0"/>
              </a:spcAft>
              <a:buClr>
                <a:prstClr val="black">
                  <a:lumMod val="50000"/>
                </a:prstClr>
              </a:buClr>
              <a:buSzTx/>
              <a:buFont typeface="Arial" pitchFamily="34" charset="0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To utilize at Specific Healthcare Providers</a:t>
            </a:r>
          </a:p>
          <a:p>
            <a:pPr marL="301752" marR="0" lvl="1" indent="0" algn="l" defTabSz="914400" rtl="0" eaLnBrk="1" fontAlgn="auto" latinLnBrk="0" hangingPunct="1">
              <a:lnSpc>
                <a:spcPct val="60000"/>
              </a:lnSpc>
              <a:spcBef>
                <a:spcPts val="800"/>
              </a:spcBef>
              <a:spcAft>
                <a:spcPts val="0"/>
              </a:spcAft>
              <a:buClr>
                <a:prstClr val="black">
                  <a:lumMod val="50000"/>
                </a:prstClr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 a.  Designated Hospitals</a:t>
            </a:r>
          </a:p>
          <a:p>
            <a:pPr marL="301752" marR="0" lvl="1" indent="0" algn="l" defTabSz="914400" rtl="0" eaLnBrk="1" fontAlgn="auto" latinLnBrk="0" hangingPunct="1">
              <a:lnSpc>
                <a:spcPct val="60000"/>
              </a:lnSpc>
              <a:spcBef>
                <a:spcPts val="800"/>
              </a:spcBef>
              <a:spcAft>
                <a:spcPts val="0"/>
              </a:spcAft>
              <a:buClr>
                <a:prstClr val="black">
                  <a:lumMod val="50000"/>
                </a:prstClr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 b.  Urgent Care Facilities</a:t>
            </a:r>
          </a:p>
          <a:p>
            <a:pPr marL="301752" marR="0" lvl="1" indent="0" algn="l" defTabSz="914400" rtl="0" eaLnBrk="1" fontAlgn="auto" latinLnBrk="0" hangingPunct="1">
              <a:lnSpc>
                <a:spcPct val="60000"/>
              </a:lnSpc>
              <a:spcBef>
                <a:spcPts val="800"/>
              </a:spcBef>
              <a:spcAft>
                <a:spcPts val="0"/>
              </a:spcAft>
              <a:buClr>
                <a:prstClr val="black">
                  <a:lumMod val="50000"/>
                </a:prstClr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 c.  Physicians</a:t>
            </a:r>
          </a:p>
          <a:p>
            <a:pPr marL="301752" marR="0" lvl="1" indent="0" algn="l" defTabSz="914400" rtl="0" eaLnBrk="1" fontAlgn="auto" latinLnBrk="0" hangingPunct="1">
              <a:lnSpc>
                <a:spcPct val="60000"/>
              </a:lnSpc>
              <a:spcBef>
                <a:spcPts val="800"/>
              </a:spcBef>
              <a:spcAft>
                <a:spcPts val="0"/>
              </a:spcAft>
              <a:buClr>
                <a:prstClr val="black">
                  <a:lumMod val="50000"/>
                </a:prstClr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 d.  Eligible Ancillary Providers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prstClr val="black">
                  <a:lumMod val="50000"/>
                </a:prstClr>
              </a:buClr>
              <a:buSzTx/>
              <a:buFont typeface="Arial" pitchFamily="34" charset="0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Out of Pocket Expenses Qualify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prstClr val="black">
                  <a:lumMod val="50000"/>
                </a:prstClr>
              </a:buClr>
              <a:buSzTx/>
              <a:buFont typeface="Arial" pitchFamily="34" charset="0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0% Interest Rate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prstClr val="black">
                  <a:lumMod val="50000"/>
                </a:prstClr>
              </a:buClr>
              <a:buSzTx/>
              <a:buFont typeface="Arial" pitchFamily="34" charset="0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Employee Determines Repayment Schedules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prstClr val="black">
                  <a:lumMod val="50000"/>
                </a:prstClr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</a:prst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5.   To Qualify:  Answer One Simple Question</a:t>
            </a:r>
          </a:p>
          <a:p>
            <a:pPr marL="301752" marR="0" lvl="1" indent="0" algn="l" defTabSz="914400" rtl="0" eaLnBrk="1" fontAlgn="auto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prstClr val="black">
                  <a:lumMod val="50000"/>
                </a:prstClr>
              </a:buClr>
              <a:buSzTx/>
              <a:buFont typeface="Arial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</a:prstClr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Arial" panose="020B0604020202020204" pitchFamily="34" charset="0"/>
            </a:endParaRPr>
          </a:p>
          <a:p>
            <a:pPr marL="301752" marR="0" lvl="1" indent="0" algn="l" defTabSz="914400" rtl="0" eaLnBrk="1" fontAlgn="auto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prstClr val="black">
                  <a:lumMod val="50000"/>
                </a:prstClr>
              </a:buClr>
              <a:buSzTx/>
              <a:buFont typeface="Arial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</a:prstClr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1B6353D-0F2D-B3C9-7A27-75C14D6BED8F}"/>
              </a:ext>
            </a:extLst>
          </p:cNvPr>
          <p:cNvSpPr txBox="1">
            <a:spLocks/>
          </p:cNvSpPr>
          <p:nvPr/>
        </p:nvSpPr>
        <p:spPr>
          <a:xfrm>
            <a:off x="117445" y="291892"/>
            <a:ext cx="11960674" cy="10821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539F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THE KBA HEALTHCARE CONVENIENCE CARD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7A8CF715-9A59-9BC1-F563-EB57E0E8C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91613" y="62185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28FB93-0A08-4E7D-8E63-9EFA29F1E09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7" name="Picture 10">
            <a:extLst>
              <a:ext uri="{FF2B5EF4-FFF2-40B4-BE49-F238E27FC236}">
                <a16:creationId xmlns:a16="http://schemas.microsoft.com/office/drawing/2014/main" id="{C29A4437-7BF2-00C8-3CE2-47821471F7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8" name="Freeform 11">
            <a:extLst>
              <a:ext uri="{FF2B5EF4-FFF2-40B4-BE49-F238E27FC236}">
                <a16:creationId xmlns:a16="http://schemas.microsoft.com/office/drawing/2014/main" id="{5887201F-FBD0-343F-D3E2-4BB44889CE3C}"/>
              </a:ext>
            </a:extLst>
          </p:cNvPr>
          <p:cNvSpPr/>
          <p:nvPr/>
        </p:nvSpPr>
        <p:spPr>
          <a:xfrm rot="16200000" flipV="1">
            <a:off x="7290397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34018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39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4CC002-2071-B4F4-E97B-DC9F53CE2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>
            <a:extLst>
              <a:ext uri="{FF2B5EF4-FFF2-40B4-BE49-F238E27FC236}">
                <a16:creationId xmlns:a16="http://schemas.microsoft.com/office/drawing/2014/main" id="{526E30EB-BEDD-4E13-5E8C-B6901CADE680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5920" y="0"/>
            <a:ext cx="11686080" cy="6858000"/>
          </a:xfrm>
          <a:prstGeom prst="rect">
            <a:avLst/>
          </a:prstGeom>
        </p:spPr>
      </p:pic>
      <p:sp>
        <p:nvSpPr>
          <p:cNvPr id="3" name="Rectangle 6">
            <a:extLst>
              <a:ext uri="{FF2B5EF4-FFF2-40B4-BE49-F238E27FC236}">
                <a16:creationId xmlns:a16="http://schemas.microsoft.com/office/drawing/2014/main" id="{F9EC7B3B-F0EA-B13C-D815-1424EEAA8F1E}"/>
              </a:ext>
            </a:extLst>
          </p:cNvPr>
          <p:cNvSpPr/>
          <p:nvPr/>
        </p:nvSpPr>
        <p:spPr>
          <a:xfrm>
            <a:off x="505920" y="3271520"/>
            <a:ext cx="11686080" cy="1676400"/>
          </a:xfrm>
          <a:prstGeom prst="rect">
            <a:avLst/>
          </a:prstGeom>
          <a:solidFill>
            <a:srgbClr val="F2F2F2">
              <a:alpha val="8588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2747FFAF-EF51-2AC8-5734-510419FDDDD5}"/>
              </a:ext>
            </a:extLst>
          </p:cNvPr>
          <p:cNvSpPr/>
          <p:nvPr/>
        </p:nvSpPr>
        <p:spPr>
          <a:xfrm>
            <a:off x="758880" y="3555967"/>
            <a:ext cx="11180160" cy="11520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47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500" b="1" i="0" u="none" strike="noStrike" kern="0" cap="none" spc="1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Jost*" pitchFamily="34" charset="-122"/>
                <a:cs typeface="Jost*" pitchFamily="34" charset="-120"/>
              </a:rPr>
              <a:t>FINANCIAL PROJECTIONS </a:t>
            </a:r>
          </a:p>
          <a:p>
            <a:pPr marL="0" marR="0" lvl="0" indent="0" algn="l" defTabSz="914400" rtl="0" eaLnBrk="1" fontAlgn="auto" latinLnBrk="0" hangingPunct="1">
              <a:lnSpc>
                <a:spcPts val="47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500" b="1" kern="0" spc="135" dirty="0">
                <a:solidFill>
                  <a:prstClr val="black"/>
                </a:solidFill>
                <a:latin typeface="Montserrat" panose="00000500000000000000" pitchFamily="2" charset="0"/>
                <a:ea typeface="Jost*" pitchFamily="34" charset="-122"/>
              </a:rPr>
              <a:t>&amp; ASSUMPTIONS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Jost*"/>
              <a:cs typeface="+mn-cs"/>
            </a:endParaRPr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56F25943-3DBB-C716-6FB6-64E3263E21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23594" y="4707983"/>
            <a:ext cx="1904524" cy="9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23589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2">
            <a:extLst>
              <a:ext uri="{FF2B5EF4-FFF2-40B4-BE49-F238E27FC236}">
                <a16:creationId xmlns:a16="http://schemas.microsoft.com/office/drawing/2014/main" id="{E799F91A-3FD1-47AB-858A-263DC729BC42}"/>
              </a:ext>
            </a:extLst>
          </p:cNvPr>
          <p:cNvSpPr txBox="1"/>
          <p:nvPr/>
        </p:nvSpPr>
        <p:spPr>
          <a:xfrm>
            <a:off x="8932985" y="1054579"/>
            <a:ext cx="2868171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/>
                <a:latin typeface="Montserrat" panose="00000500000000000000" pitchFamily="2" charset="0"/>
              </a:rPr>
              <a:t>KBA currently estimates that BayCare has 15% inpatient market share, and 8% outpatient market compared to hospitals/clinics in the BayCare service area (see slide 8). </a:t>
            </a:r>
          </a:p>
          <a:p>
            <a:endParaRPr lang="en-US" sz="1400" dirty="0">
              <a:solidFill/>
              <a:latin typeface="Montserrat" panose="00000500000000000000" pitchFamily="2" charset="0"/>
            </a:endParaRPr>
          </a:p>
          <a:p>
            <a:r>
              <a:rPr lang="en-US" sz="1400" dirty="0">
                <a:solidFill/>
                <a:latin typeface="Montserrat" panose="00000500000000000000" pitchFamily="2" charset="0"/>
              </a:rPr>
              <a:t>Based on previous DTE experience, KBA expects a significant bump in patient steerage to BayCare.</a:t>
            </a:r>
          </a:p>
          <a:p>
            <a:endParaRPr lang="en-US" sz="1400" dirty="0">
              <a:solidFill/>
              <a:latin typeface="Montserrat" panose="00000500000000000000" pitchFamily="2" charset="0"/>
            </a:endParaRPr>
          </a:p>
          <a:p>
            <a:r>
              <a:rPr lang="en-US" sz="1400" dirty="0">
                <a:solidFill/>
                <a:latin typeface="Montserrat" panose="00000500000000000000" pitchFamily="2" charset="0"/>
              </a:rPr>
              <a:t>Additional steerage will occur from additional steerage patient benefits and the patient convenience card.  </a:t>
            </a:r>
          </a:p>
          <a:p>
            <a:endParaRPr lang="en-US" sz="1400" dirty="0">
              <a:solidFill/>
              <a:latin typeface="Montserrat" panose="00000500000000000000" pitchFamily="2" charset="0"/>
            </a:endParaRPr>
          </a:p>
          <a:p>
            <a:r>
              <a:rPr lang="en-US" sz="1400" dirty="0">
                <a:solidFill/>
                <a:latin typeface="Montserrat" panose="00000500000000000000" pitchFamily="2" charset="0"/>
              </a:rPr>
              <a:t>High estimates start nearly 10% higher than target with low estimates at 10% lower than target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908E53A-80EF-253B-70F2-1B864197E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-184997"/>
            <a:ext cx="11087100" cy="132556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  <a:t>PROJECTED PLAN GROWTH</a:t>
            </a: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600A413C-9879-29A5-B50B-ADCD0DEFE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5" name="Freeform 13">
            <a:extLst>
              <a:ext uri="{FF2B5EF4-FFF2-40B4-BE49-F238E27FC236}">
                <a16:creationId xmlns:a16="http://schemas.microsoft.com/office/drawing/2014/main" id="{46D19D72-B714-CC67-EEAD-28291439C72F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8035202"/>
              </p:ext>
            </p:extLst>
          </p:nvPr>
        </p:nvGraphicFramePr>
        <p:xfrm>
          <a:off x="390844" y="882146"/>
          <a:ext cx="7199375" cy="5093707"/>
        </p:xfrm>
        <a:graphic>
          <a:graphicData uri="http://schemas.openxmlformats.org/drawingml/2006/table">
            <a:tbl>
              <a:tblPr/>
              <a:tblGrid>
                <a:gridCol w="143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9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9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9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9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8916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Employees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Members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Percent of Members Choosing BayCare for Inpatient Care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Percent of Members Choosing BayCare for Outpatient Care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22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22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10,100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22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9,300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16,700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22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14,000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25,200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22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19,900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35,800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522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27,200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49,000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22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36,000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64,800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69%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61%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22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46,400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83,500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69%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22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9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58,000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104,400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69%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522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10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70,500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126,900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63%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522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11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83,400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150,100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63%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522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12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96,100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173,000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64%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522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13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107,900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194,200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71%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64%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522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14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118,300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212,900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71%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522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15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127,300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229,100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71%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66%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522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16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134,600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242,300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66%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522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17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140,300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252,500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66%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522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18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144,800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260,600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522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19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148,200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266,800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522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20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150,700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271,300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strike="noStrik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17248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176BAF2A-5136-E457-9AAC-D0878752F1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256461"/>
              </p:ext>
            </p:extLst>
          </p:nvPr>
        </p:nvGraphicFramePr>
        <p:xfrm>
          <a:off x="418056" y="764777"/>
          <a:ext cx="6972297" cy="1198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00880">
                  <a:extLst>
                    <a:ext uri="{9D8B030D-6E8A-4147-A177-3AD203B41FA5}">
                      <a16:colId xmlns:a16="http://schemas.microsoft.com/office/drawing/2014/main" val="4044469742"/>
                    </a:ext>
                  </a:extLst>
                </a:gridCol>
                <a:gridCol w="1190742">
                  <a:extLst>
                    <a:ext uri="{9D8B030D-6E8A-4147-A177-3AD203B41FA5}">
                      <a16:colId xmlns:a16="http://schemas.microsoft.com/office/drawing/2014/main" val="3491933230"/>
                    </a:ext>
                  </a:extLst>
                </a:gridCol>
                <a:gridCol w="1319859">
                  <a:extLst>
                    <a:ext uri="{9D8B030D-6E8A-4147-A177-3AD203B41FA5}">
                      <a16:colId xmlns:a16="http://schemas.microsoft.com/office/drawing/2014/main" val="2859159155"/>
                    </a:ext>
                  </a:extLst>
                </a:gridCol>
                <a:gridCol w="1269647">
                  <a:extLst>
                    <a:ext uri="{9D8B030D-6E8A-4147-A177-3AD203B41FA5}">
                      <a16:colId xmlns:a16="http://schemas.microsoft.com/office/drawing/2014/main" val="3987862389"/>
                    </a:ext>
                  </a:extLst>
                </a:gridCol>
                <a:gridCol w="1291169">
                  <a:extLst>
                    <a:ext uri="{9D8B030D-6E8A-4147-A177-3AD203B41FA5}">
                      <a16:colId xmlns:a16="http://schemas.microsoft.com/office/drawing/2014/main" val="27753307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Pre-DTE Cohort of 25,200 Employees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Inpatient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Outpatient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Professional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424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Revenue†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$ 14,013,679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$ 13,653,853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$ 6,376,233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$ 34,043,765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78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Net Income‡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$ 4,484,377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$ 4,369,233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$ 2,040,395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$ 10,894,005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4477993"/>
                  </a:ext>
                </a:extLst>
              </a:tr>
            </a:tbl>
          </a:graphicData>
        </a:graphic>
      </p:graphicFrame>
      <p:cxnSp>
        <p:nvCxnSpPr>
          <p:cNvPr id="3" name="Straight Connector 13">
            <a:extLst>
              <a:ext uri="{FF2B5EF4-FFF2-40B4-BE49-F238E27FC236}">
                <a16:creationId xmlns:a16="http://schemas.microsoft.com/office/drawing/2014/main" id="{8EA958C5-E105-8A94-794A-7A8EB2DFEBDC}"/>
              </a:ext>
            </a:extLst>
          </p:cNvPr>
          <p:cNvCxnSpPr/>
          <p:nvPr/>
        </p:nvCxnSpPr>
        <p:spPr>
          <a:xfrm>
            <a:off x="316454" y="3716618"/>
            <a:ext cx="6464300" cy="0"/>
          </a:xfrm>
          <a:prstGeom prst="line">
            <a:avLst/>
          </a:prstGeom>
          <a:ln w="571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14">
            <a:extLst>
              <a:ext uri="{FF2B5EF4-FFF2-40B4-BE49-F238E27FC236}">
                <a16:creationId xmlns:a16="http://schemas.microsoft.com/office/drawing/2014/main" id="{FF3ACACB-7F38-7EAA-4BDF-1A816CA00A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4940483"/>
              </p:ext>
            </p:extLst>
          </p:nvPr>
        </p:nvGraphicFramePr>
        <p:xfrm>
          <a:off x="462503" y="4085951"/>
          <a:ext cx="7134051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75589">
                  <a:extLst>
                    <a:ext uri="{9D8B030D-6E8A-4147-A177-3AD203B41FA5}">
                      <a16:colId xmlns:a16="http://schemas.microsoft.com/office/drawing/2014/main" val="1938271373"/>
                    </a:ext>
                  </a:extLst>
                </a:gridCol>
                <a:gridCol w="1758462">
                  <a:extLst>
                    <a:ext uri="{9D8B030D-6E8A-4147-A177-3AD203B41FA5}">
                      <a16:colId xmlns:a16="http://schemas.microsoft.com/office/drawing/2014/main" val="2320020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Total Increase in Net Income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$ 54,128,052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2265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Network Access Fee (Revenue) of $1 PMPM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$ 302,400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4911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Total Profit Growth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$ 54,430,452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4671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/>
                          <a:latin typeface="Montserrat" panose="00000500000000000000" pitchFamily="2" charset="0"/>
                        </a:rPr>
                        <a:t>Minus Implementation Fee (One-Time)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2"/>
                          </a:solidFill>
                          <a:latin typeface="Montserrat" panose="00000500000000000000" pitchFamily="2" charset="0"/>
                        </a:rPr>
                        <a:t>-$ 0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6359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Montserrat" panose="00000500000000000000" pitchFamily="2" charset="0"/>
                        </a:rPr>
                        <a:t>Minus Sales and Marketing (Annual – Ongoing)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2"/>
                          </a:solidFill>
                          <a:latin typeface="Montserrat" panose="00000500000000000000" pitchFamily="2" charset="0"/>
                        </a:rPr>
                        <a:t>-$ 180,000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2837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Montserrat" panose="00000500000000000000" pitchFamily="2" charset="0"/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Montserrat" panose="00000500000000000000" pitchFamily="2" charset="0"/>
                        </a:rPr>
                        <a:t>$ 54,250,452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9790193"/>
                  </a:ext>
                </a:extLst>
              </a:tr>
            </a:tbl>
          </a:graphicData>
        </a:graphic>
      </p:graphicFrame>
      <p:graphicFrame>
        <p:nvGraphicFramePr>
          <p:cNvPr id="5" name="Table 15">
            <a:extLst>
              <a:ext uri="{FF2B5EF4-FFF2-40B4-BE49-F238E27FC236}">
                <a16:creationId xmlns:a16="http://schemas.microsoft.com/office/drawing/2014/main" id="{32A51F3A-032C-30E2-F635-DD59B5A29A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7198922"/>
              </p:ext>
            </p:extLst>
          </p:nvPr>
        </p:nvGraphicFramePr>
        <p:xfrm>
          <a:off x="418055" y="2234768"/>
          <a:ext cx="6972296" cy="883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00880">
                  <a:extLst>
                    <a:ext uri="{9D8B030D-6E8A-4147-A177-3AD203B41FA5}">
                      <a16:colId xmlns:a16="http://schemas.microsoft.com/office/drawing/2014/main" val="4044469742"/>
                    </a:ext>
                  </a:extLst>
                </a:gridCol>
                <a:gridCol w="1190742">
                  <a:extLst>
                    <a:ext uri="{9D8B030D-6E8A-4147-A177-3AD203B41FA5}">
                      <a16:colId xmlns:a16="http://schemas.microsoft.com/office/drawing/2014/main" val="3491933230"/>
                    </a:ext>
                  </a:extLst>
                </a:gridCol>
                <a:gridCol w="1319859">
                  <a:extLst>
                    <a:ext uri="{9D8B030D-6E8A-4147-A177-3AD203B41FA5}">
                      <a16:colId xmlns:a16="http://schemas.microsoft.com/office/drawing/2014/main" val="2859159155"/>
                    </a:ext>
                  </a:extLst>
                </a:gridCol>
                <a:gridCol w="1258888">
                  <a:extLst>
                    <a:ext uri="{9D8B030D-6E8A-4147-A177-3AD203B41FA5}">
                      <a16:colId xmlns:a16="http://schemas.microsoft.com/office/drawing/2014/main" val="3987862389"/>
                    </a:ext>
                  </a:extLst>
                </a:gridCol>
                <a:gridCol w="1301927">
                  <a:extLst>
                    <a:ext uri="{9D8B030D-6E8A-4147-A177-3AD203B41FA5}">
                      <a16:colId xmlns:a16="http://schemas.microsoft.com/office/drawing/2014/main" val="2775330707"/>
                    </a:ext>
                  </a:extLst>
                </a:gridCol>
              </a:tblGrid>
              <a:tr h="272069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With DTE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Inpatient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Outpatient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Professional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</a:rPr>
                        <a:t>Total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424019"/>
                  </a:ext>
                </a:extLst>
              </a:tr>
              <a:tr h="299554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Revenue⁰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$ 61,564,416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$ 96,544,193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$ 45,085,317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$ 203,193,927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978243"/>
                  </a:ext>
                </a:extLst>
              </a:tr>
              <a:tr h="272069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Montserrat" panose="00000500000000000000" pitchFamily="2" charset="0"/>
                        </a:rPr>
                        <a:t>Net Income*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$ 19,700,613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$ 30,894,142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$ 14,427,302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$ 65,022,057 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4477993"/>
                  </a:ext>
                </a:extLst>
              </a:tr>
            </a:tbl>
          </a:graphicData>
        </a:graphic>
      </p:graphicFrame>
      <p:sp>
        <p:nvSpPr>
          <p:cNvPr id="6" name="TextBox 1">
            <a:extLst>
              <a:ext uri="{FF2B5EF4-FFF2-40B4-BE49-F238E27FC236}">
                <a16:creationId xmlns:a16="http://schemas.microsoft.com/office/drawing/2014/main" id="{60820A86-1B9D-21A4-BBB6-DDFB73605882}"/>
              </a:ext>
            </a:extLst>
          </p:cNvPr>
          <p:cNvSpPr txBox="1"/>
          <p:nvPr/>
        </p:nvSpPr>
        <p:spPr>
          <a:xfrm>
            <a:off x="7752549" y="953947"/>
            <a:ext cx="43180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† Assuming proportional revenues from market shares of 15% (inpatient) and 8% (outpatient)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6CDBA057-BBD2-8F54-E977-26B782E37F88}"/>
              </a:ext>
            </a:extLst>
          </p:cNvPr>
          <p:cNvSpPr txBox="1"/>
          <p:nvPr/>
        </p:nvSpPr>
        <p:spPr>
          <a:xfrm>
            <a:off x="7752549" y="1801103"/>
            <a:ext cx="43180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‡ Conservatively assuming a commercial margin of 32% (80% of the estimated commercial margin)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C690F22E-C9CA-61DC-5584-149573110610}"/>
              </a:ext>
            </a:extLst>
          </p:cNvPr>
          <p:cNvSpPr txBox="1"/>
          <p:nvPr/>
        </p:nvSpPr>
        <p:spPr>
          <a:xfrm>
            <a:off x="7752549" y="2535638"/>
            <a:ext cx="431800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⁰ Assuming 67% inpatient and 58%  market steerage based on KBA narrow network DTE experience (see previous slide)</a:t>
            </a: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A897897D-C568-B204-6568-514AD4B71A5C}"/>
              </a:ext>
            </a:extLst>
          </p:cNvPr>
          <p:cNvSpPr txBox="1"/>
          <p:nvPr/>
        </p:nvSpPr>
        <p:spPr>
          <a:xfrm>
            <a:off x="7752548" y="3324229"/>
            <a:ext cx="4318001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3">
                    <a:lumMod val="75000"/>
                  </a:schemeClr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* Conservatively assuming a commercial margin of 32%, with a 10 percentage-point reduction to reflect competitive-edge rates and a 10 percentage-point increase due to lower billing costs and higher patient responsibility collections because of the member convenience card. 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1BBEE831-0583-9B2A-D9B8-C57C918E4C3C}"/>
              </a:ext>
            </a:extLst>
          </p:cNvPr>
          <p:cNvSpPr txBox="1"/>
          <p:nvPr/>
        </p:nvSpPr>
        <p:spPr>
          <a:xfrm>
            <a:off x="316454" y="34749"/>
            <a:ext cx="102866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Montserrat" panose="00000500000000000000" pitchFamily="2" charset="0"/>
                <a:cs typeface="Calibri" panose="020F0502020204030204" pitchFamily="34" charset="0"/>
              </a:rPr>
              <a:t>YEAR 4 PROJECTED REVENUE AND PROFIT</a:t>
            </a:r>
          </a:p>
        </p:txBody>
      </p:sp>
      <p:pic>
        <p:nvPicPr>
          <p:cNvPr id="11" name="Picture 9">
            <a:extLst>
              <a:ext uri="{FF2B5EF4-FFF2-40B4-BE49-F238E27FC236}">
                <a16:creationId xmlns:a16="http://schemas.microsoft.com/office/drawing/2014/main" id="{7D073370-D0BE-1A39-1DCE-8896BD0D4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12" name="Freeform 13">
            <a:extLst>
              <a:ext uri="{FF2B5EF4-FFF2-40B4-BE49-F238E27FC236}">
                <a16:creationId xmlns:a16="http://schemas.microsoft.com/office/drawing/2014/main" id="{47B20ECB-E742-CAF7-0C94-E491C5D3F04B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98165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Key Benefit Administrators Office Photos | Glassdoor">
            <a:extLst>
              <a:ext uri="{FF2B5EF4-FFF2-40B4-BE49-F238E27FC236}">
                <a16:creationId xmlns:a16="http://schemas.microsoft.com/office/drawing/2014/main" id="{1892E4D4-7A08-4B2B-AE4B-53A6D73CC0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4"/>
          <a:stretch/>
        </p:blipFill>
        <p:spPr bwMode="auto">
          <a:xfrm>
            <a:off x="0" y="-1057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8">
            <a:extLst>
              <a:ext uri="{FF2B5EF4-FFF2-40B4-BE49-F238E27FC236}">
                <a16:creationId xmlns:a16="http://schemas.microsoft.com/office/drawing/2014/main" id="{ABE43D6C-8B57-42E8-B1DC-2390ECA42EAC}"/>
              </a:ext>
            </a:extLst>
          </p:cNvPr>
          <p:cNvSpPr/>
          <p:nvPr/>
        </p:nvSpPr>
        <p:spPr>
          <a:xfrm>
            <a:off x="1" y="-1057"/>
            <a:ext cx="12203289" cy="6865412"/>
          </a:xfrm>
          <a:prstGeom prst="rect">
            <a:avLst/>
          </a:prstGeom>
          <a:solidFill>
            <a:srgbClr val="59CAE8">
              <a:alpha val="7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latin typeface="Montserrat" panose="00000500000000000000" pitchFamily="2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BB9A266-2718-4687-903B-B87AB1E45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265" y="560444"/>
            <a:ext cx="10479445" cy="782540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A PARTNER YOU CAN TRUST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049F6874-178E-4F82-9DAB-D6100F3B6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0530"/>
            <a:ext cx="4114800" cy="365125"/>
          </a:xfrm>
        </p:spPr>
        <p:txBody>
          <a:bodyPr/>
          <a:lstStyle/>
          <a:p>
            <a:r>
              <a:rPr lang="en-US" sz="1100" dirty="0">
                <a:solidFill>
                  <a:schemeClr val="bg1"/>
                </a:solidFill>
              </a:rPr>
              <a:t>Key Benefit Administrators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77C4E82-3249-4BC7-AAC4-401977969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z="1100" smtClean="0">
                <a:solidFill>
                  <a:schemeClr val="bg1"/>
                </a:solidFill>
              </a:rPr>
              <a:t>17</a:t>
            </a:fld>
            <a:endParaRPr lang="en-US" sz="1100" dirty="0">
              <a:solidFill>
                <a:schemeClr val="bg1"/>
              </a:solidFill>
            </a:endParaRPr>
          </a:p>
        </p:txBody>
      </p:sp>
      <p:grpSp>
        <p:nvGrpSpPr>
          <p:cNvPr id="7" name="Group 26">
            <a:extLst>
              <a:ext uri="{FF2B5EF4-FFF2-40B4-BE49-F238E27FC236}">
                <a16:creationId xmlns:a16="http://schemas.microsoft.com/office/drawing/2014/main" id="{CE5A4C1D-715F-46F5-A80B-647078B97ADE}"/>
              </a:ext>
            </a:extLst>
          </p:cNvPr>
          <p:cNvGrpSpPr/>
          <p:nvPr/>
        </p:nvGrpSpPr>
        <p:grpSpPr>
          <a:xfrm>
            <a:off x="667280" y="3021140"/>
            <a:ext cx="10857442" cy="1569660"/>
            <a:chOff x="908754" y="2695500"/>
            <a:chExt cx="10558665" cy="1569660"/>
          </a:xfrm>
        </p:grpSpPr>
        <p:sp>
          <p:nvSpPr>
            <p:cNvPr id="8" name="Rectangle 21">
              <a:extLst>
                <a:ext uri="{FF2B5EF4-FFF2-40B4-BE49-F238E27FC236}">
                  <a16:creationId xmlns:a16="http://schemas.microsoft.com/office/drawing/2014/main" id="{E53A35DC-3649-45F8-BE1C-71234D1F47FC}"/>
                </a:ext>
              </a:extLst>
            </p:cNvPr>
            <p:cNvSpPr/>
            <p:nvPr/>
          </p:nvSpPr>
          <p:spPr>
            <a:xfrm>
              <a:off x="908754" y="2695500"/>
              <a:ext cx="2058812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OUR OBJECTIVES ARE ALIGNED</a:t>
              </a:r>
            </a:p>
          </p:txBody>
        </p:sp>
        <p:sp>
          <p:nvSpPr>
            <p:cNvPr id="9" name="Rectangle 23">
              <a:extLst>
                <a:ext uri="{FF2B5EF4-FFF2-40B4-BE49-F238E27FC236}">
                  <a16:creationId xmlns:a16="http://schemas.microsoft.com/office/drawing/2014/main" id="{9BB7B37B-58E4-4EF5-8BCD-B5AFD3FF7576}"/>
                </a:ext>
              </a:extLst>
            </p:cNvPr>
            <p:cNvSpPr/>
            <p:nvPr/>
          </p:nvSpPr>
          <p:spPr>
            <a:xfrm>
              <a:off x="3464860" y="2695500"/>
              <a:ext cx="2096575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WE KNOW THE </a:t>
              </a:r>
            </a:p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MARKET</a:t>
              </a:r>
            </a:p>
          </p:txBody>
        </p:sp>
        <p:sp>
          <p:nvSpPr>
            <p:cNvPr id="10" name="Rectangle 24">
              <a:extLst>
                <a:ext uri="{FF2B5EF4-FFF2-40B4-BE49-F238E27FC236}">
                  <a16:creationId xmlns:a16="http://schemas.microsoft.com/office/drawing/2014/main" id="{712D71E1-CFC6-401F-B564-C6DB174E5C25}"/>
                </a:ext>
              </a:extLst>
            </p:cNvPr>
            <p:cNvSpPr/>
            <p:nvPr/>
          </p:nvSpPr>
          <p:spPr>
            <a:xfrm>
              <a:off x="6105045" y="2695500"/>
              <a:ext cx="1861517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COMPLETELY TRANSPARENT</a:t>
              </a:r>
            </a:p>
          </p:txBody>
        </p:sp>
        <p:sp>
          <p:nvSpPr>
            <p:cNvPr id="11" name="Rectangle 25">
              <a:extLst>
                <a:ext uri="{FF2B5EF4-FFF2-40B4-BE49-F238E27FC236}">
                  <a16:creationId xmlns:a16="http://schemas.microsoft.com/office/drawing/2014/main" id="{3219F81E-41A2-4D21-B41F-E66CCE1EAA9D}"/>
                </a:ext>
              </a:extLst>
            </p:cNvPr>
            <p:cNvSpPr/>
            <p:nvPr/>
          </p:nvSpPr>
          <p:spPr>
            <a:xfrm>
              <a:off x="9062157" y="2695500"/>
              <a:ext cx="2405262" cy="15696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WE HAVE THE SOPHISTICATION AND INFRASTRUCTURE TO EFFECTIVELY COMPETE</a:t>
              </a:r>
            </a:p>
          </p:txBody>
        </p:sp>
      </p:grpSp>
      <p:cxnSp>
        <p:nvCxnSpPr>
          <p:cNvPr id="12" name="Straight Connector 28">
            <a:extLst>
              <a:ext uri="{FF2B5EF4-FFF2-40B4-BE49-F238E27FC236}">
                <a16:creationId xmlns:a16="http://schemas.microsoft.com/office/drawing/2014/main" id="{E6766B73-ED58-4B01-BD6B-A7599019575A}"/>
              </a:ext>
            </a:extLst>
          </p:cNvPr>
          <p:cNvCxnSpPr>
            <a:cxnSpLocks/>
          </p:cNvCxnSpPr>
          <p:nvPr/>
        </p:nvCxnSpPr>
        <p:spPr>
          <a:xfrm>
            <a:off x="2917120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0">
            <a:extLst>
              <a:ext uri="{FF2B5EF4-FFF2-40B4-BE49-F238E27FC236}">
                <a16:creationId xmlns:a16="http://schemas.microsoft.com/office/drawing/2014/main" id="{C9A43ED8-AB6C-4F7E-9885-C690563292F2}"/>
              </a:ext>
            </a:extLst>
          </p:cNvPr>
          <p:cNvCxnSpPr>
            <a:cxnSpLocks/>
          </p:cNvCxnSpPr>
          <p:nvPr/>
        </p:nvCxnSpPr>
        <p:spPr>
          <a:xfrm>
            <a:off x="8372475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31">
            <a:extLst>
              <a:ext uri="{FF2B5EF4-FFF2-40B4-BE49-F238E27FC236}">
                <a16:creationId xmlns:a16="http://schemas.microsoft.com/office/drawing/2014/main" id="{1BD031DC-C93A-4161-9A46-6F11F2AEF085}"/>
              </a:ext>
            </a:extLst>
          </p:cNvPr>
          <p:cNvCxnSpPr>
            <a:cxnSpLocks/>
          </p:cNvCxnSpPr>
          <p:nvPr/>
        </p:nvCxnSpPr>
        <p:spPr>
          <a:xfrm>
            <a:off x="5468408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48">
            <a:extLst>
              <a:ext uri="{FF2B5EF4-FFF2-40B4-BE49-F238E27FC236}">
                <a16:creationId xmlns:a16="http://schemas.microsoft.com/office/drawing/2014/main" id="{4CFD71DC-84A4-44EC-928A-6D9297F1CEFD}"/>
              </a:ext>
            </a:extLst>
          </p:cNvPr>
          <p:cNvGrpSpPr/>
          <p:nvPr/>
        </p:nvGrpSpPr>
        <p:grpSpPr>
          <a:xfrm>
            <a:off x="1051119" y="1991365"/>
            <a:ext cx="9064429" cy="723514"/>
            <a:chOff x="1051119" y="1877065"/>
            <a:chExt cx="8870575" cy="723514"/>
          </a:xfrm>
        </p:grpSpPr>
        <p:pic>
          <p:nvPicPr>
            <p:cNvPr id="16" name="Graphic 35" descr="Cycle with people">
              <a:extLst>
                <a:ext uri="{FF2B5EF4-FFF2-40B4-BE49-F238E27FC236}">
                  <a16:creationId xmlns:a16="http://schemas.microsoft.com/office/drawing/2014/main" id="{DD87A908-9804-4DB4-9FF4-150E55D0A4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51119" y="1877065"/>
              <a:ext cx="723514" cy="723514"/>
            </a:xfrm>
            <a:prstGeom prst="rect">
              <a:avLst/>
            </a:prstGeom>
          </p:spPr>
        </p:pic>
        <p:pic>
          <p:nvPicPr>
            <p:cNvPr id="17" name="Graphic 37" descr="Bar graph with upward trend">
              <a:extLst>
                <a:ext uri="{FF2B5EF4-FFF2-40B4-BE49-F238E27FC236}">
                  <a16:creationId xmlns:a16="http://schemas.microsoft.com/office/drawing/2014/main" id="{A43C7D21-D600-499C-ADE1-3389B478D59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742481" y="1952990"/>
              <a:ext cx="571664" cy="571664"/>
            </a:xfrm>
            <a:prstGeom prst="rect">
              <a:avLst/>
            </a:prstGeom>
          </p:spPr>
        </p:pic>
        <p:pic>
          <p:nvPicPr>
            <p:cNvPr id="18" name="Graphic 41" descr="Research">
              <a:extLst>
                <a:ext uri="{FF2B5EF4-FFF2-40B4-BE49-F238E27FC236}">
                  <a16:creationId xmlns:a16="http://schemas.microsoft.com/office/drawing/2014/main" id="{EB5D0031-3DC4-4608-96CB-BE0770B19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417105" y="1930239"/>
              <a:ext cx="617166" cy="617166"/>
            </a:xfrm>
            <a:prstGeom prst="rect">
              <a:avLst/>
            </a:prstGeom>
          </p:spPr>
        </p:pic>
        <p:pic>
          <p:nvPicPr>
            <p:cNvPr id="19" name="Graphic 47" descr="Bullseye">
              <a:extLst>
                <a:ext uri="{FF2B5EF4-FFF2-40B4-BE49-F238E27FC236}">
                  <a16:creationId xmlns:a16="http://schemas.microsoft.com/office/drawing/2014/main" id="{F0079980-31B3-4896-9D2D-D82AEDFA3E2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285554" y="1920753"/>
              <a:ext cx="636140" cy="636140"/>
            </a:xfrm>
            <a:prstGeom prst="rect">
              <a:avLst/>
            </a:prstGeom>
          </p:spPr>
        </p:pic>
      </p:grpSp>
      <p:pic>
        <p:nvPicPr>
          <p:cNvPr id="20" name="Picture 4">
            <a:extLst>
              <a:ext uri="{FF2B5EF4-FFF2-40B4-BE49-F238E27FC236}">
                <a16:creationId xmlns:a16="http://schemas.microsoft.com/office/drawing/2014/main" id="{9A68CCDA-F69E-4E1A-9343-202FFC37D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120176" y="4961762"/>
            <a:ext cx="3951647" cy="76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7AD4757-49A8-4E8D-B5EB-262D21C155F1}"/>
              </a:ext>
            </a:extLst>
          </p:cNvPr>
          <p:cNvSpPr txBox="1"/>
          <p:nvPr/>
        </p:nvSpPr>
        <p:spPr>
          <a:xfrm>
            <a:off x="2976561" y="5746908"/>
            <a:ext cx="6238875" cy="584775"/>
          </a:xfrm>
          <a:prstGeom prst="rect">
            <a:avLst/>
          </a:prstGeom>
          <a:solidFill>
            <a:srgbClr val="244F9A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Derek Moore, Senior Vice President – KBA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845-283-9973 * derek.moore@keybenefit.com</a:t>
            </a:r>
          </a:p>
        </p:txBody>
      </p:sp>
    </p:spTree>
    <p:extLst>
      <p:ext uri="{BB962C8B-B14F-4D97-AF65-F5344CB8AC3E}">
        <p14:creationId xmlns:p14="http://schemas.microsoft.com/office/powerpoint/2010/main" val="231728394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29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Custom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0070C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0070C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0643EB6F1B5124D9F8A552D994B00B3" ma:contentTypeVersion="15" ma:contentTypeDescription="Create a new document." ma:contentTypeScope="" ma:versionID="07f1af8f4acde182c1b3188558a15fee">
  <xsd:schema xmlns:xsd="http://www.w3.org/2001/XMLSchema" xmlns:xs="http://www.w3.org/2001/XMLSchema" xmlns:p="http://schemas.microsoft.com/office/2006/metadata/properties" xmlns:ns1="http://schemas.microsoft.com/sharepoint/v3" xmlns:ns3="73b4665c-884a-4375-a2af-95b1b9fefebd" xmlns:ns4="f00513cd-d03f-4a36-8031-96ec2b1a2332" targetNamespace="http://schemas.microsoft.com/office/2006/metadata/properties" ma:root="true" ma:fieldsID="b940c9d8acf570648efc7a679d034003" ns1:_="" ns3:_="" ns4:_="">
    <xsd:import namespace="http://schemas.microsoft.com/sharepoint/v3"/>
    <xsd:import namespace="73b4665c-884a-4375-a2af-95b1b9fefebd"/>
    <xsd:import namespace="f00513cd-d03f-4a36-8031-96ec2b1a233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DateTaken" minOccurs="0"/>
                <xsd:element ref="ns3:MediaServiceOCR" minOccurs="0"/>
                <xsd:element ref="ns3:MediaServiceEventHashCode" minOccurs="0"/>
                <xsd:element ref="ns3:MediaServiceGenerationTime" minOccurs="0"/>
                <xsd:element ref="ns3:MediaServiceLocation" minOccurs="0"/>
                <xsd:element ref="ns1:_ip_UnifiedCompliancePolicyProperties" minOccurs="0"/>
                <xsd:element ref="ns1:_ip_UnifiedCompliancePolicyUIAc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b4665c-884a-4375-a2af-95b1b9fefe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0513cd-d03f-4a36-8031-96ec2b1a233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F208B6D-7736-4F94-9580-EE469D7406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3b4665c-884a-4375-a2af-95b1b9fefebd"/>
    <ds:schemaRef ds:uri="f00513cd-d03f-4a36-8031-96ec2b1a23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2DF0AA1-9465-45DA-A905-9501DB639AB6}">
  <ds:schemaRefs>
    <ds:schemaRef ds:uri="http://schemas.openxmlformats.org/package/2006/metadata/core-properties"/>
    <ds:schemaRef ds:uri="http://schemas.microsoft.com/sharepoint/v3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purl.org/dc/terms/"/>
    <ds:schemaRef ds:uri="http://purl.org/dc/elements/1.1/"/>
    <ds:schemaRef ds:uri="73b4665c-884a-4375-a2af-95b1b9fefebd"/>
    <ds:schemaRef ds:uri="http://www.w3.org/XML/1998/namespace"/>
    <ds:schemaRef ds:uri="http://schemas.microsoft.com/office/infopath/2007/PartnerControls"/>
    <ds:schemaRef ds:uri="f00513cd-d03f-4a36-8031-96ec2b1a2332"/>
  </ds:schemaRefs>
</ds:datastoreItem>
</file>

<file path=customXml/itemProps3.xml><?xml version="1.0" encoding="utf-8"?>
<ds:datastoreItem xmlns:ds="http://schemas.openxmlformats.org/officeDocument/2006/customXml" ds:itemID="{56F5604B-F201-4300-A086-2482203EA6B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46181</TotalTime>
  <Words>1641</Words>
  <Application>Microsoft Office PowerPoint</Application>
  <PresentationFormat>Widescreen</PresentationFormat>
  <Paragraphs>542</Paragraphs>
  <Slides>17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Aptos</vt:lpstr>
      <vt:lpstr>Aptos Narrow</vt:lpstr>
      <vt:lpstr>Arial</vt:lpstr>
      <vt:lpstr>Book Antiqua</vt:lpstr>
      <vt:lpstr>Montserrat</vt:lpstr>
      <vt:lpstr>Office Theme</vt:lpstr>
      <vt:lpstr>1_Office Theme</vt:lpstr>
      <vt:lpstr>2_Office Theme</vt:lpstr>
      <vt:lpstr>3_Office Theme</vt:lpstr>
      <vt:lpstr>PowerPoint Presentation</vt:lpstr>
      <vt:lpstr>PowerPoint Presentation</vt:lpstr>
      <vt:lpstr>Our Founding and Heritage: 46 Years of Striving for Honesty in Healthcare</vt:lpstr>
      <vt:lpstr>PowerPoint Presentation</vt:lpstr>
      <vt:lpstr>SIGNIFICANT OPPORTUNITY FOR PLAN GROWTH Researched for the below highlighted service area</vt:lpstr>
      <vt:lpstr>PLAN POTENTIAL GROWTH PATHS</vt:lpstr>
      <vt:lpstr>GROWING POWERFUL, LASTING PROFITABILITY</vt:lpstr>
      <vt:lpstr>FOUR-YEAR PROJECTIONS</vt:lpstr>
      <vt:lpstr>DIRECT-TO-EMPLOYER STRATEGY: ONLY AVAILABLE TO PREMIER HEALTH SYSTEMS</vt:lpstr>
      <vt:lpstr>BAYCARE IS PATIENT RECOMMENDED</vt:lpstr>
      <vt:lpstr>PowerPoint Presentation</vt:lpstr>
      <vt:lpstr>PowerPoint Presentation</vt:lpstr>
      <vt:lpstr>PowerPoint Presentation</vt:lpstr>
      <vt:lpstr>PowerPoint Presentation</vt:lpstr>
      <vt:lpstr>PROJECTED PLAN GROWTH</vt:lpstr>
      <vt:lpstr>PowerPoint Presentation</vt:lpstr>
      <vt:lpstr>A PARTNER YOU CAN TRUST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Hill, Jack</dc:creator>
  <cp:lastModifiedBy>Taylor Davis</cp:lastModifiedBy>
  <cp:revision>115</cp:revision>
  <cp:lastPrinted>2023-07-13T10:24:43Z</cp:lastPrinted>
  <dcterms:created xsi:type="dcterms:W3CDTF">2021-01-20T14:12:11Z</dcterms:created>
  <dcterms:modified xsi:type="dcterms:W3CDTF">2026-01-27T00:06:28Z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0x01010070643EB6F1B5124D9F8A552D994B00B3</vt:lpwstr>
  </property>
</Properties>
</file>