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1"/>
  </p:notesMasterIdLst>
  <p:sldIdLst>
    <p:sldId id="588" r:id="rId8"/>
    <p:sldId id="454" r:id="rId9"/>
    <p:sldId id="2145726874" r:id="rId10"/>
    <p:sldId id="2145726912" r:id="rId11"/>
    <p:sldId id="559" r:id="rId12"/>
    <p:sldId id="580" r:id="rId13"/>
    <p:sldId id="2145726913" r:id="rId14"/>
    <p:sldId id="2145726914" r:id="rId15"/>
    <p:sldId id="459" r:id="rId16"/>
    <p:sldId id="2145726870" r:id="rId17"/>
    <p:sldId id="2145726915" r:id="rId18"/>
    <p:sldId id="2145726916" r:id="rId19"/>
    <p:sldId id="472" r:id="rId20"/>
  </p:sldIdLst>
  <p:sldSz cx="12192000" cy="6858000"/>
  <p:notesSz cx="7315200" cy="96012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gs" Target="tags/tag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2/23/2026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7</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9</a:t>
            </a:fld>
            <a:endParaRPr lang="en-US" altLang="en-US" sz="1200">
              <a:solidFill>
                <a:srgbClr val="000000"/>
              </a:solidFill>
              <a:latin typeface="Aptos" panose="020B0004020202020204" pitchFamily="34" charset="0"/>
            </a:endParaRPr>
          </a:p>
        </p:txBody>
      </p:sp>
    </p:spTree>
    <p:extLst>
      <p:ext uri="{BB962C8B-B14F-4D97-AF65-F5344CB8AC3E}">
        <p14:creationId xmlns:p14="http://schemas.microsoft.com/office/powerpoint/2010/main" val="644484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10</a:t>
            </a:fld>
            <a:endParaRPr lang="en-US" altLang="en-US">
              <a:solidFill>
                <a:srgbClr val="000000"/>
              </a:solidFill>
              <a:latin typeface="Montserrat" panose="00000500000000000000" pitchFamily="2" charset="0"/>
            </a:endParaRPr>
          </a:p>
        </p:txBody>
      </p:sp>
    </p:spTree>
    <p:extLst>
      <p:ext uri="{BB962C8B-B14F-4D97-AF65-F5344CB8AC3E}">
        <p14:creationId xmlns:p14="http://schemas.microsoft.com/office/powerpoint/2010/main" val="394947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2/23/2026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2/23/2026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2/23/2026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2/23/2026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2/23/2026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2/23/2026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2/23/2026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2/23/2026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2/23/2026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2/23/2026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2/23/2026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2/23/2026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2/23/2026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2/23/2026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2/23/2026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2/23/2026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2/23/2026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2/23/2026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2/23/2026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2.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jpeg"/><Relationship Id="rId1" Type="http://schemas.openxmlformats.org/officeDocument/2006/relationships/slideLayout" Target="../slideLayouts/slideLayout6.xml"/><Relationship Id="rId6" Type="http://schemas.openxmlformats.org/officeDocument/2006/relationships/image" Target="../media/image26.svg"/><Relationship Id="rId11" Type="http://schemas.openxmlformats.org/officeDocument/2006/relationships/image" Target="../media/image10.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CentraCare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700+ Employers       150,000</a:t>
            </a:r>
            <a:r>
              <a:rPr lang="en-US" sz="1600" spc="200" dirty="0">
                <a:latin typeface="Montserrat" panose="00000500000000000000" pitchFamily="2" charset="0"/>
                <a:cs typeface="+mj-cs"/>
                <a:sym typeface="Wingdings" panose="05000000000000000000" pitchFamily="2" charset="2"/>
              </a:rPr>
              <a:t>+ Employees       270,000+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317161747"/>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413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132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63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8</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31,000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19,800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27,600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44,100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55,800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35,600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49,700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79,400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86,400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795866" y="1865469"/>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CentraCare Health System service area in Benton, Brown, Chippewa, Douglas, Hennepin, Kandiyohi, Meeker, Mille Lacs, Morrison, Pope, Redwood, Renville, Sherburne, Stearns, Swift, Todd, Wright, and Yellow Medicine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612K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352K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265K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176K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$6.09M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$0.97M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$34.99M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$6.55M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$69.94M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$13.25M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1045073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739.2K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1,463.8K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2,226.2K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579.6K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1,318.6K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2,097.8K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521.8K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1,043.6K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1,968.5K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3,054.6K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206.2K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892.4K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1,835.3K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2,945.4K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478.3K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908.6K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1,397.9K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-106.6K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311.5K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750.2K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1,250.3K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453562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9</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extLst>
      <p:ext uri="{BB962C8B-B14F-4D97-AF65-F5344CB8AC3E}">
        <p14:creationId xmlns:p14="http://schemas.microsoft.com/office/powerpoint/2010/main" val="593449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10</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CentraCare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0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CENTRACARE</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extLst>
      <p:ext uri="{BB962C8B-B14F-4D97-AF65-F5344CB8AC3E}">
        <p14:creationId xmlns:p14="http://schemas.microsoft.com/office/powerpoint/2010/main" val="2494291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CentraCare Health System has 68% inpatient market share, and 36% outpatient market compared to hospitals/clinics in the CentraCare Health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CentraCare Health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139893431"/>
              </p:ext>
            </p:extLst>
          </p:nvPr>
        </p:nvGraphicFramePr>
        <p:xfrm>
          <a:off x="390844" y="1054578"/>
          <a:ext cx="7646730" cy="4940842"/>
        </p:xfrm>
        <a:graphic>
          <a:graphicData uri="http://schemas.openxmlformats.org/drawingml/2006/table">
            <a:tbl>
              <a:tblPr/>
              <a:tblGrid>
                <a:gridCol w="1529346">
                  <a:extLst>
                    <a:ext uri="{9D8B030D-6E8A-4147-A177-3AD203B41FA5}">
                      <a16:colId xmlns:a16="http://schemas.microsoft.com/office/drawing/2014/main" val="20000"/>
                    </a:ext>
                  </a:extLst>
                </a:gridCol>
                <a:gridCol w="1529346">
                  <a:extLst>
                    <a:ext uri="{9D8B030D-6E8A-4147-A177-3AD203B41FA5}">
                      <a16:colId xmlns:a16="http://schemas.microsoft.com/office/drawing/2014/main" val="20001"/>
                    </a:ext>
                  </a:extLst>
                </a:gridCol>
                <a:gridCol w="1529346">
                  <a:extLst>
                    <a:ext uri="{9D8B030D-6E8A-4147-A177-3AD203B41FA5}">
                      <a16:colId xmlns:a16="http://schemas.microsoft.com/office/drawing/2014/main" val="20002"/>
                    </a:ext>
                  </a:extLst>
                </a:gridCol>
                <a:gridCol w="1529346">
                  <a:extLst>
                    <a:ext uri="{9D8B030D-6E8A-4147-A177-3AD203B41FA5}">
                      <a16:colId xmlns:a16="http://schemas.microsoft.com/office/drawing/2014/main" val="20003"/>
                    </a:ext>
                  </a:extLst>
                </a:gridCol>
                <a:gridCol w="1529346">
                  <a:extLst>
                    <a:ext uri="{9D8B030D-6E8A-4147-A177-3AD203B41FA5}">
                      <a16:colId xmlns:a16="http://schemas.microsoft.com/office/drawing/2014/main" val="20004"/>
                    </a:ext>
                  </a:extLst>
                </a:gridCol>
              </a:tblGrid>
              <a:tr h="76548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CentraCare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CentraCare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929262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4,300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$ 8,083,803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$ 7,830,154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$ 3,656,615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$ 19,570,573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$ 1,487,420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$ 1,440,748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$ 672,817.2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$ 3,600,985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$ 2,174,618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$ 51,600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$ 2,226,218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$ 2,046,218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$ 9,008,193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$ 15,256,362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$ 7,124,591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$ 31,389,146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$ 1,657,507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$ 2,807,171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$ 1,310,925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$ 5,775,603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68% (inpatient) and 36%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18.4%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76% inpatient and 71%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18.4%,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286108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46168</TotalTime>
  <Words>1443</Words>
  <Application>Microsoft Office PowerPoint</Application>
  <PresentationFormat>Widescreen</PresentationFormat>
  <Paragraphs>470</Paragraphs>
  <Slides>13</Slides>
  <Notes>4</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13</vt:i4>
      </vt:variant>
    </vt:vector>
  </HeadingPairs>
  <TitlesOfParts>
    <vt:vector size="22" baseType="lpstr">
      <vt:lpstr>Aptos</vt:lpstr>
      <vt:lpstr>Aptos Narrow</vt:lpstr>
      <vt:lpstr>Arial</vt:lpstr>
      <vt:lpstr>Book Antiqua</vt:lpstr>
      <vt:lpstr>Montserrat</vt:lpstr>
      <vt:lpstr>Office Theme</vt:lpstr>
      <vt:lpstr>1_Office Theme</vt:lpstr>
      <vt:lpstr>2_Office Theme</vt:lpstr>
      <vt:lpstr>3_Office Theme</vt:lpstr>
      <vt:lpstr>PowerPoint Presentation</vt:lpstr>
      <vt:lpstr>PowerPoint Presentation</vt:lpstr>
      <vt:lpstr>Our Founding and Heritage: 46 Years of Striving for Honesty in Healthcare</vt:lpstr>
      <vt:lpstr>PowerPoint Presentation</vt:lpstr>
      <vt:lpstr>SIGNIFICANT OPPORTUNITY FOR PLAN GROWTH Researched for the below highlighted service area</vt:lpstr>
      <vt:lpstr>PLAN POTENTIAL GROWTH PATHS</vt:lpstr>
      <vt:lpstr>GROWING POWERFUL, LASTING PROFITABILITY</vt:lpstr>
      <vt:lpstr>FOUR-YEAR PROJECTIONS</vt:lpstr>
      <vt:lpstr>PowerPoint Presentation</vt:lpstr>
      <vt:lpstr>PowerPoint Presentation</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114</cp:revision>
  <cp:lastPrinted>2023-07-13T10:24:43Z</cp:lastPrinted>
  <dcterms:created xsi:type="dcterms:W3CDTF">2021-01-20T14:12:11Z</dcterms:created>
  <dcterms:modified xsi:type="dcterms:W3CDTF">2026-02-24T00:08:38Z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