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comments/modernComment_7FE53189_F808901F.xml" ContentType="application/vnd.ms-powerpoint.comments+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Lst>
  <p:notesMasterIdLst>
    <p:notesMasterId r:id="rId51"/>
  </p:notesMasterIdLst>
  <p:sldIdLst>
    <p:sldId id="588" r:id="rId9"/>
    <p:sldId id="454" r:id="rId10"/>
    <p:sldId id="2145726874" r:id="rId11"/>
    <p:sldId id="2145726912" r:id="rId12"/>
    <p:sldId id="2145726869" r:id="rId13"/>
    <p:sldId id="466" r:id="rId14"/>
    <p:sldId id="2145726867" r:id="rId15"/>
    <p:sldId id="559" r:id="rId16"/>
    <p:sldId id="580" r:id="rId17"/>
    <p:sldId id="582" r:id="rId18"/>
    <p:sldId id="558" r:id="rId19"/>
    <p:sldId id="548" r:id="rId20"/>
    <p:sldId id="2145726856" r:id="rId21"/>
    <p:sldId id="614" r:id="rId22"/>
    <p:sldId id="2145726872" r:id="rId23"/>
    <p:sldId id="459" r:id="rId24"/>
    <p:sldId id="2145726870" r:id="rId25"/>
    <p:sldId id="281" r:id="rId26"/>
    <p:sldId id="2145726911" r:id="rId27"/>
    <p:sldId id="2145726913" r:id="rId28"/>
    <p:sldId id="613" r:id="rId29"/>
    <p:sldId id="458" r:id="rId30"/>
    <p:sldId id="2145726859" r:id="rId31"/>
    <p:sldId id="2145726857" r:id="rId32"/>
    <p:sldId id="469" r:id="rId33"/>
    <p:sldId id="2145726866" r:id="rId34"/>
    <p:sldId id="583" r:id="rId35"/>
    <p:sldId id="525" r:id="rId36"/>
    <p:sldId id="2145726868" r:id="rId37"/>
    <p:sldId id="571" r:id="rId38"/>
    <p:sldId id="2145726864" r:id="rId39"/>
    <p:sldId id="585" r:id="rId40"/>
    <p:sldId id="536" r:id="rId41"/>
    <p:sldId id="256" r:id="rId42"/>
    <p:sldId id="574" r:id="rId43"/>
    <p:sldId id="572" r:id="rId44"/>
    <p:sldId id="575" r:id="rId45"/>
    <p:sldId id="498" r:id="rId46"/>
    <p:sldId id="325" r:id="rId47"/>
    <p:sldId id="326" r:id="rId48"/>
    <p:sldId id="491" r:id="rId49"/>
    <p:sldId id="472" r:id="rId50"/>
  </p:sldIdLst>
  <p:sldSz cx="12192000" cy="6858000"/>
  <p:notesSz cx="7315200" cy="96012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0F6827-47B0-459B-8BBA-1EB3F50A064A}" v="5" dt="2026-02-13T19:31:52.249"/>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p:scale>
          <a:sx n="66" d="100"/>
          <a:sy n="66" d="100"/>
        </p:scale>
        <p:origin x="2070" y="78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microsoft.com/office/2018/10/relationships/authors" Target="author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ableStyles" Target="tableStyles.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tags" Target="tags/tag1.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diagrams/_rels/drawing1.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svg"/><Relationship Id="rId1" Type="http://schemas.openxmlformats.org/officeDocument/2006/relationships/image" Target="../media/image43.png"/><Relationship Id="rId6" Type="http://schemas.openxmlformats.org/officeDocument/2006/relationships/image" Target="../media/image48.svg"/><Relationship Id="rId5" Type="http://schemas.openxmlformats.org/officeDocument/2006/relationships/image" Target="../media/image47.png"/><Relationship Id="rId10" Type="http://schemas.openxmlformats.org/officeDocument/2006/relationships/image" Target="../media/image52.svg"/><Relationship Id="rId4" Type="http://schemas.openxmlformats.org/officeDocument/2006/relationships/image" Target="../media/image46.svg"/><Relationship Id="rId9" Type="http://schemas.openxmlformats.org/officeDocument/2006/relationships/image" Target="../media/image51.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2/23/2026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243223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15</a:t>
            </a:fld>
            <a:endParaRPr lang="en-US" altLang="en-US">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16</a:t>
            </a:fld>
            <a:endParaRPr lang="en-US" altLang="en-US" sz="1200">
              <a:solidFill>
                <a:srgbClr val="000000"/>
              </a:solidFill>
              <a:latin typeface="Aptos" panose="020B0004020202020204" pitchFamily="34" charset="0"/>
            </a:endParaRPr>
          </a:p>
        </p:txBody>
      </p:sp>
    </p:spTree>
    <p:extLst>
      <p:ext uri="{BB962C8B-B14F-4D97-AF65-F5344CB8AC3E}">
        <p14:creationId xmlns:p14="http://schemas.microsoft.com/office/powerpoint/2010/main" val="6444846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17</a:t>
            </a:fld>
            <a:endParaRPr lang="en-US" altLang="en-US">
              <a:solidFill>
                <a:srgbClr val="000000"/>
              </a:solidFill>
              <a:latin typeface="Montserrat" panose="00000500000000000000" pitchFamily="2" charset="0"/>
            </a:endParaRPr>
          </a:p>
        </p:txBody>
      </p:sp>
    </p:spTree>
    <p:extLst>
      <p:ext uri="{BB962C8B-B14F-4D97-AF65-F5344CB8AC3E}">
        <p14:creationId xmlns:p14="http://schemas.microsoft.com/office/powerpoint/2010/main" val="3949471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372112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2/23/2026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2/23/2026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2/23/2026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2/23/2026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2/23/2026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2/23/2026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2/23/2026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2/23/2026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2/23/2026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2/23/2026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2/23/2026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2719416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2/23/2026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2/23/2026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2/23/2026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2/23/2026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2/23/2026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2/23/2026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2/23/2026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2/23/2026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2/23/2026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2/23/2026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2/23/2026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2/23/2026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2/23/2026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2/23/2026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tags" Target="../tags/tag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3.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ags" Target="../tags/tag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5.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2/23/2026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5"/>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 id="2147483813" r:id="rId13"/>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2/23/2026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2/23/2026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4.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9.svg"/><Relationship Id="rId18" Type="http://schemas.openxmlformats.org/officeDocument/2006/relationships/image" Target="../media/image34.svg"/><Relationship Id="rId3" Type="http://schemas.openxmlformats.org/officeDocument/2006/relationships/image" Target="../media/image19.png"/><Relationship Id="rId21" Type="http://schemas.openxmlformats.org/officeDocument/2006/relationships/image" Target="../media/image15.pn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notesSlide" Target="../notesSlides/notesSlide2.xml"/><Relationship Id="rId16" Type="http://schemas.openxmlformats.org/officeDocument/2006/relationships/image" Target="../media/image32.svg"/><Relationship Id="rId20" Type="http://schemas.openxmlformats.org/officeDocument/2006/relationships/image" Target="../media/image3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svg"/><Relationship Id="rId15" Type="http://schemas.openxmlformats.org/officeDocument/2006/relationships/image" Target="../media/image31.png"/><Relationship Id="rId10" Type="http://schemas.openxmlformats.org/officeDocument/2006/relationships/image" Target="../media/image26.svg"/><Relationship Id="rId19" Type="http://schemas.openxmlformats.org/officeDocument/2006/relationships/image" Target="../media/image35.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svg"/></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5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slideLayout" Target="../slideLayouts/slideLayout16.xml"/><Relationship Id="rId1" Type="http://schemas.openxmlformats.org/officeDocument/2006/relationships/tags" Target="../tags/tag5.xml"/><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4.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7FE53189_F808901F.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4.xml"/><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66.jpeg"/></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69.png"/></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eg"/><Relationship Id="rId1" Type="http://schemas.openxmlformats.org/officeDocument/2006/relationships/slideLayout" Target="../slideLayouts/slideLayout2.xml"/><Relationship Id="rId6" Type="http://schemas.openxmlformats.org/officeDocument/2006/relationships/image" Target="../media/image73.jpeg"/><Relationship Id="rId5" Type="http://schemas.openxmlformats.org/officeDocument/2006/relationships/image" Target="../media/image72.jpe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jpeg"/><Relationship Id="rId1" Type="http://schemas.openxmlformats.org/officeDocument/2006/relationships/slideLayout" Target="../slideLayouts/slideLayout6.xml"/><Relationship Id="rId6" Type="http://schemas.openxmlformats.org/officeDocument/2006/relationships/image" Target="../media/image79.svg"/><Relationship Id="rId11" Type="http://schemas.openxmlformats.org/officeDocument/2006/relationships/image" Target="../media/image10.png"/><Relationship Id="rId5" Type="http://schemas.openxmlformats.org/officeDocument/2006/relationships/image" Target="../media/image78.png"/><Relationship Id="rId10" Type="http://schemas.openxmlformats.org/officeDocument/2006/relationships/image" Target="../media/image83.svg"/><Relationship Id="rId4" Type="http://schemas.openxmlformats.org/officeDocument/2006/relationships/image" Target="../media/image77.svg"/><Relationship Id="rId9"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CentraCare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646920" y="347472"/>
            <a:ext cx="2355525"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CentraCare Health System</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6">
            <a:extLst>
              <a:ext uri="{96DAC541-7B7A-43D3-8B79-37D633B846F1}">
                <asvg:svgBlip xmlns:asvg="http://schemas.microsoft.com/office/drawing/2016/SVG/main" r:embed="rId14"/>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1">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700+ Employers       150,000</a:t>
            </a:r>
            <a:r>
              <a:rPr lang="en-US" sz="1600" spc="200" dirty="0">
                <a:latin typeface="Montserrat" panose="00000500000000000000" pitchFamily="2" charset="0"/>
                <a:cs typeface="+mj-cs"/>
                <a:sym typeface="Wingdings" panose="05000000000000000000" pitchFamily="2" charset="2"/>
              </a:rPr>
              <a:t>+ Employees       270,000+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317161747"/>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413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132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92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63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8</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31,000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19,800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27,600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44,100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30,000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55,800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35,600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49,700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79,400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86,400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795866" y="1865469"/>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CentraCare Health System service area in Benton, Brown, Chippewa, Douglas, Hennepin, Kandiyohi, Meeker, Mille Lacs, Morrison, Pope, Redwood, Renville, Sherburne, Stearns, Swift, Todd, Wright, and Yellow Medicine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612K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352K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265K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176K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$6.09M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$0.97M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$34.99M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$6.55M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$69.94M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$13.25M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CentraCare Health System has 68% inpatient market share, and 36% outpatient market compared to hospitals/clinics in the CentraCare Health System service area (see slide 8). The DTE tiered structure will create immediate steerage, with additional steerage over time from patient bonus benefits and the patient convenience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CentraCare 23%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15.9%</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18.4%</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20.9%</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739.2K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1,463.8K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2,226.2K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72.1K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579.6K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1,318.6K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2,097.8K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521.8K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1,043.6K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1,968.5K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3,054.6K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70.8K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206.2K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892.4K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1,835.3K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2,945.4K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478.3K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908.6K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1,397.9K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-106.6K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311.5K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750.2K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1,250.3K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421248069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4223451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15</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a:solidFill>
                  <a:srgbClr val="C00000"/>
                </a:solidFill>
                <a:cs typeface="Arial" panose="020B0604020202020204" pitchFamily="34" charset="0"/>
              </a:rPr>
              <a:t>Affordability Without Compromise</a:t>
            </a:r>
          </a:p>
          <a:p>
            <a:r>
              <a:rPr lang="en-US" altLang="en-US" sz="260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a:solidFill>
                  <a:srgbClr val="000000"/>
                </a:solidFill>
                <a:cs typeface="Arial" panose="020B0604020202020204" pitchFamily="34" charset="0"/>
              </a:rPr>
              <a:t>The </a:t>
            </a:r>
            <a:r>
              <a:rPr lang="en-US" altLang="en-US" sz="1700" b="1">
                <a:solidFill>
                  <a:srgbClr val="44546A"/>
                </a:solidFill>
                <a:cs typeface="Arial" panose="020B0604020202020204" pitchFamily="34" charset="0"/>
              </a:rPr>
              <a:t>Key Incentive Plan </a:t>
            </a:r>
            <a:r>
              <a:rPr lang="en-US" altLang="en-US" sz="170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a:solidFill>
                  <a:srgbClr val="FFFFFF"/>
                </a:solidFill>
                <a:cs typeface="Arial" panose="020B0604020202020204" pitchFamily="34" charset="0"/>
              </a:rPr>
              <a:t>*Daily Inpatient Hospital Benefit, OP Surgery/Anasthesia,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00" y="229235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16</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extLst>
      <p:ext uri="{BB962C8B-B14F-4D97-AF65-F5344CB8AC3E}">
        <p14:creationId xmlns:p14="http://schemas.microsoft.com/office/powerpoint/2010/main" val="593449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17</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CentraCare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HGA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00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CENTRACARE</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extLst>
      <p:ext uri="{BB962C8B-B14F-4D97-AF65-F5344CB8AC3E}">
        <p14:creationId xmlns:p14="http://schemas.microsoft.com/office/powerpoint/2010/main" val="2494291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612068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20</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CentraCare’s approved site(s) with network integration, and development of CentraCare’s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$ 2,276K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3,425K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$ 1,149K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$ 4,551K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6,849K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$ 2,298K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$ 1,260K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$11,378K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$ 2,094K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$ 17,123K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$ 5,745K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$ 3,151K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757K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$45,513K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$ 8,374K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$ 68,492K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$22,979K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$12,603K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$4,228K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$4,018K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$91,026K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$16,749K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$136,984K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$45,958K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$25,205K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$8,456K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$8,366K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17743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CentraCare’s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CentraCare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CentraCare’s managed care with KBA’s programs positions CentraCare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CentraCare’s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CentraCare’s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CentraCare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25</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CENTRACARE</a:t>
            </a:r>
            <a:r>
              <a:rPr lang="en-US" sz="2800">
                <a:latin typeface="Montserrat" panose="00000500000000000000" pitchFamily="2" charset="0"/>
                <a:cs typeface="Arial" panose="020B0604020202020204" pitchFamily="34" charset="0"/>
              </a:rPr>
              <a:t>’S 2023 </a:t>
            </a:r>
            <a:r>
              <a:rPr lang="en-US" sz="2800" dirty="0">
                <a:latin typeface="Montserrat" panose="00000500000000000000" pitchFamily="2" charset="0"/>
                <a:cs typeface="Arial" panose="020B0604020202020204" pitchFamily="34" charset="0"/>
              </a:rPr>
              <a:t>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CentraCare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134,925</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$1,523,520K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35,256</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$239,469K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26%</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8,479</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$175,915K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4,836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-$54,477K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4%</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86,354</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$1,109,425K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65%</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CentraCare estimates commercial insurance reimbursements at 195%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1,109,425K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195%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811,678K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1,921,103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1,478,002</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$443,101K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23%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195%</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567,759K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415,384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983,143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1,478,002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-494,859</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-50%</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66%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68%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36%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616667206"/>
              </p:ext>
            </p:extLst>
          </p:nvPr>
        </p:nvGraphicFramePr>
        <p:xfrm>
          <a:off x="265176" y="914400"/>
          <a:ext cx="9829800" cy="5341912"/>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823137">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66%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St Cloud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464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$1,313,359.7K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$1,209,521.5K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Rice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79,349.0K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245,182.7K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Long Prairie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12,285.2K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50,410.2K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Melrose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15,206.2K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73,584.5K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Paynesville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8,720.3K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67,916.0K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Redwood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11,367.8K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86,226.7K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Monticello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41,434.5K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146,046.7K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Benson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4,672.9K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29,143.3K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CentraCare - Sauk Centre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16,826.6K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55,754.9K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66104">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St Cloud 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388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Alomere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103,407.9K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432,750.9K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Buffalo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76,055.4K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216,019.1K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147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M Health Fairview Northland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72,591.4K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255,274.2K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147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North Memorial Health - Maple Grove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390,484.1K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273,256.1K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Sanford Tracy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2,512.7K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22,673.0K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Olivia Hospital &amp; Clinic</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9,990.6K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59,319.6K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Sleepy Eye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4,795.1K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26,855.9K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Meeker County Memorial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9,085.7K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73,197.7K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CHI St Gabriel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15,987.8K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160,461.8K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66104">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Glacial Ridge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14,849.3K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81,495.1K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22147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Community Behavioral Health Hospital - Annandale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22147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Community Behavioral Health Hospital - Alexandria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052950946"/>
              </p:ext>
            </p:extLst>
          </p:nvPr>
        </p:nvGraphicFramePr>
        <p:xfrm>
          <a:off x="1" y="0"/>
          <a:ext cx="12192000" cy="6858000"/>
        </p:xfrm>
        <a:graphic>
          <a:graphicData uri="http://schemas.openxmlformats.org/drawingml/2006/table">
            <a:tbl>
              <a:tblPr/>
              <a:tblGrid>
                <a:gridCol w="1616417">
                  <a:extLst>
                    <a:ext uri="{9D8B030D-6E8A-4147-A177-3AD203B41FA5}">
                      <a16:colId xmlns:a16="http://schemas.microsoft.com/office/drawing/2014/main" val="20000"/>
                    </a:ext>
                  </a:extLst>
                </a:gridCol>
                <a:gridCol w="1146327">
                  <a:extLst>
                    <a:ext uri="{9D8B030D-6E8A-4147-A177-3AD203B41FA5}">
                      <a16:colId xmlns:a16="http://schemas.microsoft.com/office/drawing/2014/main" val="20001"/>
                    </a:ext>
                  </a:extLst>
                </a:gridCol>
                <a:gridCol w="1333819">
                  <a:extLst>
                    <a:ext uri="{9D8B030D-6E8A-4147-A177-3AD203B41FA5}">
                      <a16:colId xmlns:a16="http://schemas.microsoft.com/office/drawing/2014/main" val="20002"/>
                    </a:ext>
                  </a:extLst>
                </a:gridCol>
                <a:gridCol w="1267401">
                  <a:extLst>
                    <a:ext uri="{9D8B030D-6E8A-4147-A177-3AD203B41FA5}">
                      <a16:colId xmlns:a16="http://schemas.microsoft.com/office/drawing/2014/main" val="20003"/>
                    </a:ext>
                  </a:extLst>
                </a:gridCol>
                <a:gridCol w="826548">
                  <a:extLst>
                    <a:ext uri="{9D8B030D-6E8A-4147-A177-3AD203B41FA5}">
                      <a16:colId xmlns:a16="http://schemas.microsoft.com/office/drawing/2014/main" val="20004"/>
                    </a:ext>
                  </a:extLst>
                </a:gridCol>
                <a:gridCol w="1240279">
                  <a:extLst>
                    <a:ext uri="{9D8B030D-6E8A-4147-A177-3AD203B41FA5}">
                      <a16:colId xmlns:a16="http://schemas.microsoft.com/office/drawing/2014/main" val="20005"/>
                    </a:ext>
                  </a:extLst>
                </a:gridCol>
                <a:gridCol w="1173655">
                  <a:extLst>
                    <a:ext uri="{9D8B030D-6E8A-4147-A177-3AD203B41FA5}">
                      <a16:colId xmlns:a16="http://schemas.microsoft.com/office/drawing/2014/main" val="20006"/>
                    </a:ext>
                  </a:extLst>
                </a:gridCol>
                <a:gridCol w="1204892">
                  <a:extLst>
                    <a:ext uri="{9D8B030D-6E8A-4147-A177-3AD203B41FA5}">
                      <a16:colId xmlns:a16="http://schemas.microsoft.com/office/drawing/2014/main" val="20007"/>
                    </a:ext>
                  </a:extLst>
                </a:gridCol>
                <a:gridCol w="1115192">
                  <a:extLst>
                    <a:ext uri="{9D8B030D-6E8A-4147-A177-3AD203B41FA5}">
                      <a16:colId xmlns:a16="http://schemas.microsoft.com/office/drawing/2014/main" val="20008"/>
                    </a:ext>
                  </a:extLst>
                </a:gridCol>
                <a:gridCol w="1267470">
                  <a:extLst>
                    <a:ext uri="{9D8B030D-6E8A-4147-A177-3AD203B41FA5}">
                      <a16:colId xmlns:a16="http://schemas.microsoft.com/office/drawing/2014/main" val="20009"/>
                    </a:ext>
                  </a:extLst>
                </a:gridCol>
              </a:tblGrid>
              <a:tr h="329400">
                <a:tc gridSpan="10">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718200">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St Cloud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Rice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Long Prairie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Melrose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Paynesville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Redwood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Monticello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Benson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CentraCare - Sauk Centre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59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$531,911K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$36,421K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$6,966K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$8,379K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$5,075K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$7,071K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$21,214K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$3,023K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$10,466K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459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$489,856K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$112,539K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$28,583K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$40,545K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$39,527K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$53,633K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$74,776K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$18,856K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$34,680K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459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$189,119K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$22,013K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$6,788K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783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$112,797K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$15,127K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$5,755K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$8,290K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$4,281K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$6,742K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$12,473K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$2,350K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$8,101K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59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$720,912K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$111,868K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$26,880K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$38,371K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$35,394K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$47,223K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$78,588K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$16,068K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$34,121K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59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$38,353K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$9,037K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$1,045K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$1,044K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$1,293K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$395K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459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$522,660K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$35,602K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$7,074K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$7,870K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$4,738K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$6,589K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$19,107K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$2,737K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$9,708K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459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$481,337K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$110,007K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$29,026K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$38,082K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$36,900K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$49,979K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$67,348K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$17,073K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$32,167K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459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$1,003,996K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$145,609K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$36,100K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$45,951K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$41,638K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$56,568K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$86,455K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$19,810K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$41,874K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970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$18,832K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$3,398K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$2,990K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$4,185K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$9,574K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$2,081K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$3,274K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64600">
                <a:tc gridSpan="10">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64600">
                <a:tc gridSpan="10">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64600">
                <a:tc gridSpan="10">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64600">
                <a:tc gridSpan="10">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effectLst/>
                <a:uLnTx/>
                <a:uFillTx/>
                <a:latin typeface="Montserrat" panose="00000500000000000000" pitchFamily="2" charset="0"/>
                <a:ea typeface="+mn-ea"/>
                <a:cs typeface="+mn-cs"/>
              </a:rPr>
              <a:t>KBA currently estimates that CentraCare Health System has 68% inpatient market share, and 36% outpatient market compared to hospitals/clinics in the CentraCare Health System service area (see slide 8).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effectLst/>
              <a:uLnTx/>
              <a:uFillTx/>
              <a:latin typeface="Montserrat" panose="00000500000000000000"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effectLst/>
                <a:uLnTx/>
                <a:uFillTx/>
                <a:latin typeface="Montserrat" panose="00000500000000000000" pitchFamily="2" charset="0"/>
                <a:ea typeface="+mn-ea"/>
                <a:cs typeface="+mn-cs"/>
              </a:rPr>
              <a:t>Based on previous DTE experience, KBA expects a significant bump in patient steerage to CentraCare Health System.</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effectLst/>
              <a:uLnTx/>
              <a:uFillTx/>
              <a:latin typeface="Montserrat" panose="00000500000000000000"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effectLst/>
                <a:uLnTx/>
                <a:uFillTx/>
                <a:latin typeface="Montserrat" panose="00000500000000000000" pitchFamily="2" charset="0"/>
                <a:ea typeface="+mn-ea"/>
                <a:cs typeface="+mn-cs"/>
              </a:rPr>
              <a:t>Additional steerage will occur from additional steerage patient benefits and the patient convenience card.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effectLst/>
              <a:uLnTx/>
              <a:uFillTx/>
              <a:latin typeface="Montserrat" panose="00000500000000000000"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effectLst/>
                <a:uLnTx/>
                <a:uFillTx/>
                <a:latin typeface="Montserrat" panose="00000500000000000000" pitchFamily="2" charset="0"/>
                <a:ea typeface="+mn-ea"/>
                <a:cs typeface="+mn-cs"/>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939358235"/>
              </p:ext>
            </p:extLst>
          </p:nvPr>
        </p:nvGraphicFramePr>
        <p:xfrm>
          <a:off x="838200" y="836578"/>
          <a:ext cx="7199375" cy="5158836"/>
        </p:xfrm>
        <a:graphic>
          <a:graphicData uri="http://schemas.openxmlformats.org/drawingml/2006/table">
            <a:tbl>
              <a:tblPr/>
              <a:tblGrid>
                <a:gridCol w="1439875">
                  <a:extLst>
                    <a:ext uri="{9D8B030D-6E8A-4147-A177-3AD203B41FA5}">
                      <a16:colId xmlns:a16="http://schemas.microsoft.com/office/drawing/2014/main" val="20000"/>
                    </a:ext>
                  </a:extLst>
                </a:gridCol>
                <a:gridCol w="1439875">
                  <a:extLst>
                    <a:ext uri="{9D8B030D-6E8A-4147-A177-3AD203B41FA5}">
                      <a16:colId xmlns:a16="http://schemas.microsoft.com/office/drawing/2014/main" val="20001"/>
                    </a:ext>
                  </a:extLst>
                </a:gridCol>
                <a:gridCol w="1439875">
                  <a:extLst>
                    <a:ext uri="{9D8B030D-6E8A-4147-A177-3AD203B41FA5}">
                      <a16:colId xmlns:a16="http://schemas.microsoft.com/office/drawing/2014/main" val="20002"/>
                    </a:ext>
                  </a:extLst>
                </a:gridCol>
                <a:gridCol w="1439875">
                  <a:extLst>
                    <a:ext uri="{9D8B030D-6E8A-4147-A177-3AD203B41FA5}">
                      <a16:colId xmlns:a16="http://schemas.microsoft.com/office/drawing/2014/main" val="20003"/>
                    </a:ext>
                  </a:extLst>
                </a:gridCol>
                <a:gridCol w="1439875">
                  <a:extLst>
                    <a:ext uri="{9D8B030D-6E8A-4147-A177-3AD203B41FA5}">
                      <a16:colId xmlns:a16="http://schemas.microsoft.com/office/drawing/2014/main" val="20004"/>
                    </a:ext>
                  </a:extLst>
                </a:gridCol>
              </a:tblGrid>
              <a:tr h="799256">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CentraCare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CentraCare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45,400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79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74%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4,300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$ 8,083,803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$ 7,830,154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$ 3,656,615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$ 19,570,573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$ 1,487,420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$ 1,440,748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$ 672,817.2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$ 3,600,985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$ 2,174,618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$ 51,600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$ 2,226,218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$ 2,046,218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$ 9,008,193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$ 15,256,362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$ 7,124,591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$ 31,389,146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$ 1,657,507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$ 2,807,171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$ 1,310,925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$ 5,775,603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5A5A5">
                    <a:lumMod val="75000"/>
                  </a:srgbClr>
                </a:solidFill>
                <a:effectLst/>
                <a:uLnTx/>
                <a:uFillTx/>
                <a:latin typeface="Montserrat" panose="00000500000000000000" pitchFamily="2" charset="0"/>
                <a:ea typeface="+mn-ea"/>
                <a:cs typeface="Arial" panose="020B0604020202020204" pitchFamily="34" charset="0"/>
              </a:rPr>
              <a:t>† Assuming proportional revenues from market shares of 68% (inpatient) and 36%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5A5A5">
                    <a:lumMod val="75000"/>
                  </a:srgbClr>
                </a:solidFill>
                <a:effectLst/>
                <a:uLnTx/>
                <a:uFillTx/>
                <a:latin typeface="Montserrat" panose="00000500000000000000" pitchFamily="2" charset="0"/>
                <a:ea typeface="+mn-ea"/>
                <a:cs typeface="Arial" panose="020B0604020202020204" pitchFamily="34" charset="0"/>
              </a:rPr>
              <a:t>‡ Conservatively assuming a commercial margin of 18.4%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5A5A5">
                    <a:lumMod val="75000"/>
                  </a:srgbClr>
                </a:solidFill>
                <a:effectLst/>
                <a:uLnTx/>
                <a:uFillTx/>
                <a:latin typeface="Montserrat" panose="00000500000000000000" pitchFamily="2" charset="0"/>
                <a:ea typeface="+mn-ea"/>
                <a:cs typeface="Arial" panose="020B0604020202020204" pitchFamily="34" charset="0"/>
              </a:rPr>
              <a:t>⁰ Assuming 76% inpatient and 71%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5A5A5">
                    <a:lumMod val="75000"/>
                  </a:srgbClr>
                </a:solidFill>
                <a:effectLst/>
                <a:uLnTx/>
                <a:uFillTx/>
                <a:latin typeface="Montserrat" panose="00000500000000000000" pitchFamily="2" charset="0"/>
                <a:ea typeface="+mn-ea"/>
                <a:cs typeface="Arial" panose="020B0604020202020204" pitchFamily="34" charset="0"/>
              </a:rPr>
              <a:t>* Conservatively assuming a commercial margin of 18.4%,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Montserrat" panose="00000500000000000000" pitchFamily="2" charset="0"/>
                <a:ea typeface="+mn-ea"/>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7425289"/>
              </p:ext>
            </p:extLst>
          </p:nvPr>
        </p:nvGraphicFramePr>
        <p:xfrm>
          <a:off x="0" y="0"/>
          <a:ext cx="12198096" cy="6857999"/>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19018">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83572">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86094">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3807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$1,880.0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$9,399.8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$46,998.9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2679">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$1,729.6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$8,647.8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2679">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$1,033.9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$2,067.7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$10,338.7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$51,693.7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2679">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$380.5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$1,902.3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$9,511.6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25357">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$4,694.8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25357">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$172.8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$863.8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3807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$910.5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$1,821.0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$9,104.8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$45,524.2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3807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$1,675.3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$8,376.4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2679">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$1,629.7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$16,296.8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$81,484.2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2679">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$599.7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$2,998.6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$14,993.1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25357">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$719.2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$1,438.4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$7,192.0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$35,960.0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25357">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$264.7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$1,323.3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$6,616.6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3807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$425.2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$850.4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$4,251.9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$21,259.4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3807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$782.3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$3,911.7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38070">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$761.0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$1,522.1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$7,610.5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$38,052.4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2679">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$280.1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$1,400.3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$7,001.6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25357">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dirty="0">
                          <a:solidFill>
                            <a:srgbClr val="000000">
                              <a:alpha val="100000"/>
                            </a:srgbClr>
                          </a:solidFill>
                          <a:latin typeface="Montserrat"/>
                          <a:cs typeface="Arial"/>
                          <a:sym typeface="Arial"/>
                        </a:rPr>
                        <a:t>$671.7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$3,358.6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$16,793.0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25357">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$123.6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$618.0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$3,089.9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2679">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$-112.6</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$104.8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$1,844.1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$10,540.4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59147200"/>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$2,275.6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$4,551.3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$22,756.5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$113,782.4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$20,936.0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$3,424.6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$6,849.2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$34,246.1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$171,230.3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$1,149.0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$11,489.6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$57,447.9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$630.1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$1,260.3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$6,301.3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$31,506.4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$211.4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$422.8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$2,114.1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$10,570.4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$-112.6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$104.8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$1,844.1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$10,540.4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14440177"/>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$2,275.6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$4,551.3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$22,756.5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$113,782.4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$20,936.0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$7,846.3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$39,231.7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$196,158.7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$1,647.5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$3,295.1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$16,475.3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$82,376.3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$8,199.4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$40,997.2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$802.4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$4,012.2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$20,061.2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$77.2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$484.4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$3,742.2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$20,031.2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922636521"/>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46%+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46%+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46%+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46%+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46%+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$2,275.6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$4,551.3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$22,756.5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$113,782.4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$837.4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$4,187.2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$20,936.0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$2,924.5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$5,849.0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$29,244.9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$146,224.4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$1,297.7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$6,488.4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$32,442.0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$930.0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$4,649.9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$23,249.7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$2,313.7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$-277.7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$-225.5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$192.7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$2,283.7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38</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630192"/>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CentraCare’s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CentraCare Health System</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CentraCare Health System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CentraCare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39</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CentraCare</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CentraCare’s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42</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2.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46164</TotalTime>
  <Words>5302</Words>
  <Application>Microsoft Office PowerPoint</Application>
  <PresentationFormat>Widescreen</PresentationFormat>
  <Paragraphs>1405</Paragraphs>
  <Slides>42</Slides>
  <Notes>11</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42</vt:i4>
      </vt:variant>
    </vt:vector>
  </HeadingPairs>
  <TitlesOfParts>
    <vt:vector size="55"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COMMUNITY BASED SALES STRATEGY</vt:lpstr>
      <vt:lpstr>Complete Marketing System</vt:lpstr>
      <vt:lpstr>PowerPoint Presentation</vt:lpstr>
      <vt:lpstr>PowerPoint Presentation</vt:lpstr>
      <vt:lpstr>PowerPoint Presentation</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PowerPoint Presentation</vt:lpstr>
      <vt:lpstr>ESTIMATION OF CENTRACARE’S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113</cp:revision>
  <cp:lastPrinted>2023-07-13T10:24:43Z</cp:lastPrinted>
  <dcterms:created xsi:type="dcterms:W3CDTF">2021-01-20T14:12:11Z</dcterms:created>
  <dcterms:modified xsi:type="dcterms:W3CDTF">2026-02-24T00:10:50Z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