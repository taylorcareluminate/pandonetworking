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577" r:id="rId5"/>
    <p:sldId id="549" r:id="rId6"/>
    <p:sldId id="487" r:id="rId7"/>
    <p:sldId id="452" r:id="rId8"/>
    <p:sldId id="518" r:id="rId9"/>
    <p:sldId id="466" r:id="rId10"/>
    <p:sldId id="559" r:id="rId11"/>
    <p:sldId id="580" r:id="rId12"/>
    <p:sldId id="586" r:id="rId13"/>
    <p:sldId id="558" r:id="rId14"/>
    <p:sldId id="548" r:id="rId15"/>
    <p:sldId id="521" r:id="rId16"/>
    <p:sldId id="456" r:id="rId17"/>
    <p:sldId id="489" r:id="rId18"/>
    <p:sldId id="584" r:id="rId19"/>
    <p:sldId id="458" r:id="rId20"/>
    <p:sldId id="446" r:id="rId21"/>
    <p:sldId id="461" r:id="rId22"/>
    <p:sldId id="462" r:id="rId23"/>
    <p:sldId id="469" r:id="rId24"/>
    <p:sldId id="336" r:id="rId25"/>
    <p:sldId id="337" r:id="rId26"/>
    <p:sldId id="578" r:id="rId27"/>
    <p:sldId id="583" r:id="rId28"/>
    <p:sldId id="525" r:id="rId29"/>
    <p:sldId id="527" r:id="rId30"/>
    <p:sldId id="571" r:id="rId31"/>
    <p:sldId id="546" r:id="rId32"/>
    <p:sldId id="547" r:id="rId33"/>
    <p:sldId id="585" r:id="rId34"/>
    <p:sldId id="256" r:id="rId35"/>
    <p:sldId id="574" r:id="rId36"/>
    <p:sldId id="572" r:id="rId37"/>
    <p:sldId id="575" r:id="rId38"/>
    <p:sldId id="573" r:id="rId39"/>
    <p:sldId id="576" r:id="rId40"/>
    <p:sldId id="498" r:id="rId41"/>
    <p:sldId id="325" r:id="rId42"/>
    <p:sldId id="326" r:id="rId43"/>
    <p:sldId id="491" r:id="rId44"/>
    <p:sldId id="454"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6087CE"/>
    <a:srgbClr val="4468A5"/>
    <a:srgbClr val="F2F2F2"/>
    <a:srgbClr val="C55A11"/>
    <a:srgbClr val="F424AA"/>
    <a:srgbClr val="E23440"/>
    <a:srgbClr val="027587"/>
    <a:srgbClr val="7F7F7F"/>
    <a:srgbClr val="0046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26E0FB-7016-41C1-BF5D-CCC050230513}" v="10" dt="2024-09-09T22:32:01.048"/>
    <p1510:client id="{8EFAAE55-31CF-4A5B-9411-DD829C6D7844}" v="83" dt="2024-09-09T16:46:45.134"/>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384"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0D26E0FB-7016-41C1-BF5D-CCC050230513}"/>
    <pc:docChg chg="undo custSel addSld delSld modSld">
      <pc:chgData name="Taylor Davis" userId="5c9e72a0-c39f-4aa1-9d7d-64125e78cbe6" providerId="ADAL" clId="{0D26E0FB-7016-41C1-BF5D-CCC050230513}" dt="2024-09-09T22:33:32.611" v="201" actId="1036"/>
      <pc:docMkLst>
        <pc:docMk/>
      </pc:docMkLst>
      <pc:sldChg chg="modSp add del mod">
        <pc:chgData name="Taylor Davis" userId="5c9e72a0-c39f-4aa1-9d7d-64125e78cbe6" providerId="ADAL" clId="{0D26E0FB-7016-41C1-BF5D-CCC050230513}" dt="2024-09-09T22:19:53.269" v="150" actId="14100"/>
        <pc:sldMkLst>
          <pc:docMk/>
          <pc:sldMk cId="0" sldId="256"/>
        </pc:sldMkLst>
        <pc:graphicFrameChg chg="modGraphic">
          <ac:chgData name="Taylor Davis" userId="5c9e72a0-c39f-4aa1-9d7d-64125e78cbe6" providerId="ADAL" clId="{0D26E0FB-7016-41C1-BF5D-CCC050230513}" dt="2024-09-09T22:19:53.269" v="150" actId="14100"/>
          <ac:graphicFrameMkLst>
            <pc:docMk/>
            <pc:sldMk cId="0" sldId="256"/>
            <ac:graphicFrameMk id="2" creationId="{00000000-0000-0000-0000-000000000000}"/>
          </ac:graphicFrameMkLst>
        </pc:graphicFrameChg>
      </pc:sldChg>
      <pc:sldChg chg="modSp mod">
        <pc:chgData name="Taylor Davis" userId="5c9e72a0-c39f-4aa1-9d7d-64125e78cbe6" providerId="ADAL" clId="{0D26E0FB-7016-41C1-BF5D-CCC050230513}" dt="2024-09-09T22:21:12.148" v="173" actId="20577"/>
        <pc:sldMkLst>
          <pc:docMk/>
          <pc:sldMk cId="4059548579" sldId="452"/>
        </pc:sldMkLst>
        <pc:spChg chg="mod">
          <ac:chgData name="Taylor Davis" userId="5c9e72a0-c39f-4aa1-9d7d-64125e78cbe6" providerId="ADAL" clId="{0D26E0FB-7016-41C1-BF5D-CCC050230513}" dt="2024-09-09T22:21:12.148" v="173" actId="20577"/>
          <ac:spMkLst>
            <pc:docMk/>
            <pc:sldMk cId="4059548579" sldId="452"/>
            <ac:spMk id="9" creationId="{8FCD729A-32AD-4303-8BA6-9EBD13F93D1C}"/>
          </ac:spMkLst>
        </pc:spChg>
      </pc:sldChg>
      <pc:sldChg chg="add del">
        <pc:chgData name="Taylor Davis" userId="5c9e72a0-c39f-4aa1-9d7d-64125e78cbe6" providerId="ADAL" clId="{0D26E0FB-7016-41C1-BF5D-CCC050230513}" dt="2024-09-09T21:52:52.450" v="12" actId="47"/>
        <pc:sldMkLst>
          <pc:docMk/>
          <pc:sldMk cId="2203540903" sldId="499"/>
        </pc:sldMkLst>
      </pc:sldChg>
      <pc:sldChg chg="del">
        <pc:chgData name="Taylor Davis" userId="5c9e72a0-c39f-4aa1-9d7d-64125e78cbe6" providerId="ADAL" clId="{0D26E0FB-7016-41C1-BF5D-CCC050230513}" dt="2024-09-09T21:53:22.943" v="14" actId="47"/>
        <pc:sldMkLst>
          <pc:docMk/>
          <pc:sldMk cId="1419816550" sldId="536"/>
        </pc:sldMkLst>
      </pc:sldChg>
      <pc:sldChg chg="addSp delSp modSp mod">
        <pc:chgData name="Taylor Davis" userId="5c9e72a0-c39f-4aa1-9d7d-64125e78cbe6" providerId="ADAL" clId="{0D26E0FB-7016-41C1-BF5D-CCC050230513}" dt="2024-09-09T22:33:32.611" v="201" actId="1036"/>
        <pc:sldMkLst>
          <pc:docMk/>
          <pc:sldMk cId="315794589" sldId="548"/>
        </pc:sldMkLst>
        <pc:picChg chg="mod">
          <ac:chgData name="Taylor Davis" userId="5c9e72a0-c39f-4aa1-9d7d-64125e78cbe6" providerId="ADAL" clId="{0D26E0FB-7016-41C1-BF5D-CCC050230513}" dt="2024-09-09T22:25:55.371" v="193" actId="1035"/>
          <ac:picMkLst>
            <pc:docMk/>
            <pc:sldMk cId="315794589" sldId="548"/>
            <ac:picMk id="2" creationId="{E21765BA-1CCC-7E5F-BF40-13712A38D15D}"/>
          </ac:picMkLst>
        </pc:picChg>
        <pc:picChg chg="del">
          <ac:chgData name="Taylor Davis" userId="5c9e72a0-c39f-4aa1-9d7d-64125e78cbe6" providerId="ADAL" clId="{0D26E0FB-7016-41C1-BF5D-CCC050230513}" dt="2024-09-09T22:25:43.467" v="183" actId="478"/>
          <ac:picMkLst>
            <pc:docMk/>
            <pc:sldMk cId="315794589" sldId="548"/>
            <ac:picMk id="6" creationId="{D208B824-1818-0899-FC15-0B11B69FBECE}"/>
          </ac:picMkLst>
        </pc:picChg>
        <pc:picChg chg="del">
          <ac:chgData name="Taylor Davis" userId="5c9e72a0-c39f-4aa1-9d7d-64125e78cbe6" providerId="ADAL" clId="{0D26E0FB-7016-41C1-BF5D-CCC050230513}" dt="2024-09-09T22:26:10.268" v="194" actId="478"/>
          <ac:picMkLst>
            <pc:docMk/>
            <pc:sldMk cId="315794589" sldId="548"/>
            <ac:picMk id="8" creationId="{F69B13D9-9950-A4E3-97A2-021BDBD5D02D}"/>
          </ac:picMkLst>
        </pc:picChg>
        <pc:picChg chg="add mod">
          <ac:chgData name="Taylor Davis" userId="5c9e72a0-c39f-4aa1-9d7d-64125e78cbe6" providerId="ADAL" clId="{0D26E0FB-7016-41C1-BF5D-CCC050230513}" dt="2024-09-09T22:33:32.611" v="201" actId="1036"/>
          <ac:picMkLst>
            <pc:docMk/>
            <pc:sldMk cId="315794589" sldId="548"/>
            <ac:picMk id="9" creationId="{6E80945B-5B35-DE3A-1FB6-CA74640F4628}"/>
          </ac:picMkLst>
        </pc:picChg>
      </pc:sldChg>
      <pc:sldChg chg="addSp delSp modSp mod">
        <pc:chgData name="Taylor Davis" userId="5c9e72a0-c39f-4aa1-9d7d-64125e78cbe6" providerId="ADAL" clId="{0D26E0FB-7016-41C1-BF5D-CCC050230513}" dt="2024-09-09T22:18:20.282" v="145" actId="1037"/>
        <pc:sldMkLst>
          <pc:docMk/>
          <pc:sldMk cId="3470905217" sldId="558"/>
        </pc:sldMkLst>
        <pc:spChg chg="mod">
          <ac:chgData name="Taylor Davis" userId="5c9e72a0-c39f-4aa1-9d7d-64125e78cbe6" providerId="ADAL" clId="{0D26E0FB-7016-41C1-BF5D-CCC050230513}" dt="2024-09-09T21:52:01.936" v="8" actId="1076"/>
          <ac:spMkLst>
            <pc:docMk/>
            <pc:sldMk cId="3470905217" sldId="558"/>
            <ac:spMk id="2" creationId="{A1F948BD-D9F3-0E7A-A778-3B130A8365CE}"/>
          </ac:spMkLst>
        </pc:spChg>
        <pc:spChg chg="mod">
          <ac:chgData name="Taylor Davis" userId="5c9e72a0-c39f-4aa1-9d7d-64125e78cbe6" providerId="ADAL" clId="{0D26E0FB-7016-41C1-BF5D-CCC050230513}" dt="2024-09-09T21:52:01.936" v="8" actId="1076"/>
          <ac:spMkLst>
            <pc:docMk/>
            <pc:sldMk cId="3470905217" sldId="558"/>
            <ac:spMk id="6" creationId="{55A48ACE-D370-6BA3-A39B-CF7D87E5C9A5}"/>
          </ac:spMkLst>
        </pc:spChg>
        <pc:spChg chg="mod">
          <ac:chgData name="Taylor Davis" userId="5c9e72a0-c39f-4aa1-9d7d-64125e78cbe6" providerId="ADAL" clId="{0D26E0FB-7016-41C1-BF5D-CCC050230513}" dt="2024-09-09T21:52:01.936" v="8" actId="1076"/>
          <ac:spMkLst>
            <pc:docMk/>
            <pc:sldMk cId="3470905217" sldId="558"/>
            <ac:spMk id="7" creationId="{99386F57-8E81-E6DF-1A01-623E3BB7AB0B}"/>
          </ac:spMkLst>
        </pc:spChg>
        <pc:spChg chg="mod">
          <ac:chgData name="Taylor Davis" userId="5c9e72a0-c39f-4aa1-9d7d-64125e78cbe6" providerId="ADAL" clId="{0D26E0FB-7016-41C1-BF5D-CCC050230513}" dt="2024-09-09T21:52:01.936" v="8" actId="1076"/>
          <ac:spMkLst>
            <pc:docMk/>
            <pc:sldMk cId="3470905217" sldId="558"/>
            <ac:spMk id="8" creationId="{7B828AB6-CD3A-4CD3-8950-2942DDBEAC0D}"/>
          </ac:spMkLst>
        </pc:spChg>
        <pc:spChg chg="mod">
          <ac:chgData name="Taylor Davis" userId="5c9e72a0-c39f-4aa1-9d7d-64125e78cbe6" providerId="ADAL" clId="{0D26E0FB-7016-41C1-BF5D-CCC050230513}" dt="2024-09-09T22:18:15.071" v="133" actId="20577"/>
          <ac:spMkLst>
            <pc:docMk/>
            <pc:sldMk cId="3470905217" sldId="558"/>
            <ac:spMk id="9" creationId="{025AE6BF-C458-13D4-626E-DAD4C1439055}"/>
          </ac:spMkLst>
        </pc:spChg>
        <pc:spChg chg="mod">
          <ac:chgData name="Taylor Davis" userId="5c9e72a0-c39f-4aa1-9d7d-64125e78cbe6" providerId="ADAL" clId="{0D26E0FB-7016-41C1-BF5D-CCC050230513}" dt="2024-09-09T21:52:01.936" v="8" actId="1076"/>
          <ac:spMkLst>
            <pc:docMk/>
            <pc:sldMk cId="3470905217" sldId="558"/>
            <ac:spMk id="10" creationId="{179940AC-5161-4A7C-F820-720723177F99}"/>
          </ac:spMkLst>
        </pc:spChg>
        <pc:spChg chg="mod">
          <ac:chgData name="Taylor Davis" userId="5c9e72a0-c39f-4aa1-9d7d-64125e78cbe6" providerId="ADAL" clId="{0D26E0FB-7016-41C1-BF5D-CCC050230513}" dt="2024-09-09T21:52:01.936" v="8" actId="1076"/>
          <ac:spMkLst>
            <pc:docMk/>
            <pc:sldMk cId="3470905217" sldId="558"/>
            <ac:spMk id="11" creationId="{7AC10C26-8A4C-C6CF-D8A6-005227E091A5}"/>
          </ac:spMkLst>
        </pc:spChg>
        <pc:spChg chg="mod">
          <ac:chgData name="Taylor Davis" userId="5c9e72a0-c39f-4aa1-9d7d-64125e78cbe6" providerId="ADAL" clId="{0D26E0FB-7016-41C1-BF5D-CCC050230513}" dt="2024-09-09T21:52:01.936" v="8" actId="1076"/>
          <ac:spMkLst>
            <pc:docMk/>
            <pc:sldMk cId="3470905217" sldId="558"/>
            <ac:spMk id="12" creationId="{0D3F3B85-69EC-8FED-A956-FFB8BE6FE5D7}"/>
          </ac:spMkLst>
        </pc:spChg>
        <pc:spChg chg="mod">
          <ac:chgData name="Taylor Davis" userId="5c9e72a0-c39f-4aa1-9d7d-64125e78cbe6" providerId="ADAL" clId="{0D26E0FB-7016-41C1-BF5D-CCC050230513}" dt="2024-09-09T22:18:20.282" v="145" actId="1037"/>
          <ac:spMkLst>
            <pc:docMk/>
            <pc:sldMk cId="3470905217" sldId="558"/>
            <ac:spMk id="13" creationId="{19FEE2C1-9161-C3CD-EE7F-6727C796DF0D}"/>
          </ac:spMkLst>
        </pc:spChg>
        <pc:spChg chg="mod">
          <ac:chgData name="Taylor Davis" userId="5c9e72a0-c39f-4aa1-9d7d-64125e78cbe6" providerId="ADAL" clId="{0D26E0FB-7016-41C1-BF5D-CCC050230513}" dt="2024-09-09T22:18:20.282" v="145" actId="1037"/>
          <ac:spMkLst>
            <pc:docMk/>
            <pc:sldMk cId="3470905217" sldId="558"/>
            <ac:spMk id="14" creationId="{1CC51BEE-0560-3D56-4AE8-86D704578774}"/>
          </ac:spMkLst>
        </pc:spChg>
        <pc:spChg chg="mod">
          <ac:chgData name="Taylor Davis" userId="5c9e72a0-c39f-4aa1-9d7d-64125e78cbe6" providerId="ADAL" clId="{0D26E0FB-7016-41C1-BF5D-CCC050230513}" dt="2024-09-09T22:18:20.282" v="145" actId="1037"/>
          <ac:spMkLst>
            <pc:docMk/>
            <pc:sldMk cId="3470905217" sldId="558"/>
            <ac:spMk id="15" creationId="{A17D3C89-20DF-71B2-E5D8-1DA9D1F926E7}"/>
          </ac:spMkLst>
        </pc:spChg>
        <pc:spChg chg="del">
          <ac:chgData name="Taylor Davis" userId="5c9e72a0-c39f-4aa1-9d7d-64125e78cbe6" providerId="ADAL" clId="{0D26E0FB-7016-41C1-BF5D-CCC050230513}" dt="2024-09-09T21:51:56.610" v="7" actId="478"/>
          <ac:spMkLst>
            <pc:docMk/>
            <pc:sldMk cId="3470905217" sldId="558"/>
            <ac:spMk id="16" creationId="{620CA171-241C-9006-DA4D-7174E70B2EF3}"/>
          </ac:spMkLst>
        </pc:spChg>
        <pc:spChg chg="del">
          <ac:chgData name="Taylor Davis" userId="5c9e72a0-c39f-4aa1-9d7d-64125e78cbe6" providerId="ADAL" clId="{0D26E0FB-7016-41C1-BF5D-CCC050230513}" dt="2024-09-09T21:51:56.610" v="7" actId="478"/>
          <ac:spMkLst>
            <pc:docMk/>
            <pc:sldMk cId="3470905217" sldId="558"/>
            <ac:spMk id="17" creationId="{BD8E1912-BAE3-A76F-55A7-754D206BC471}"/>
          </ac:spMkLst>
        </pc:spChg>
        <pc:spChg chg="del">
          <ac:chgData name="Taylor Davis" userId="5c9e72a0-c39f-4aa1-9d7d-64125e78cbe6" providerId="ADAL" clId="{0D26E0FB-7016-41C1-BF5D-CCC050230513}" dt="2024-09-09T21:51:56.610" v="7" actId="478"/>
          <ac:spMkLst>
            <pc:docMk/>
            <pc:sldMk cId="3470905217" sldId="558"/>
            <ac:spMk id="18" creationId="{D2B9ED21-8D89-315C-4C9C-403AA9B2666A}"/>
          </ac:spMkLst>
        </pc:spChg>
        <pc:spChg chg="del">
          <ac:chgData name="Taylor Davis" userId="5c9e72a0-c39f-4aa1-9d7d-64125e78cbe6" providerId="ADAL" clId="{0D26E0FB-7016-41C1-BF5D-CCC050230513}" dt="2024-09-09T21:51:56.610" v="7" actId="478"/>
          <ac:spMkLst>
            <pc:docMk/>
            <pc:sldMk cId="3470905217" sldId="558"/>
            <ac:spMk id="19" creationId="{950E697A-C380-A6EE-50AE-8B3DED34929F}"/>
          </ac:spMkLst>
        </pc:spChg>
        <pc:spChg chg="del">
          <ac:chgData name="Taylor Davis" userId="5c9e72a0-c39f-4aa1-9d7d-64125e78cbe6" providerId="ADAL" clId="{0D26E0FB-7016-41C1-BF5D-CCC050230513}" dt="2024-09-09T21:51:56.610" v="7" actId="478"/>
          <ac:spMkLst>
            <pc:docMk/>
            <pc:sldMk cId="3470905217" sldId="558"/>
            <ac:spMk id="20" creationId="{32C9D62D-25B0-6CD9-8AD7-E6855B1B1B26}"/>
          </ac:spMkLst>
        </pc:spChg>
        <pc:spChg chg="del">
          <ac:chgData name="Taylor Davis" userId="5c9e72a0-c39f-4aa1-9d7d-64125e78cbe6" providerId="ADAL" clId="{0D26E0FB-7016-41C1-BF5D-CCC050230513}" dt="2024-09-09T21:51:56.610" v="7" actId="478"/>
          <ac:spMkLst>
            <pc:docMk/>
            <pc:sldMk cId="3470905217" sldId="558"/>
            <ac:spMk id="21" creationId="{A76920ED-352E-9285-CC83-BDA6AB18978D}"/>
          </ac:spMkLst>
        </pc:spChg>
        <pc:spChg chg="del">
          <ac:chgData name="Taylor Davis" userId="5c9e72a0-c39f-4aa1-9d7d-64125e78cbe6" providerId="ADAL" clId="{0D26E0FB-7016-41C1-BF5D-CCC050230513}" dt="2024-09-09T21:51:56.610" v="7" actId="478"/>
          <ac:spMkLst>
            <pc:docMk/>
            <pc:sldMk cId="3470905217" sldId="558"/>
            <ac:spMk id="22" creationId="{2559AB8C-6F23-81D3-4546-DE75EBD91879}"/>
          </ac:spMkLst>
        </pc:spChg>
        <pc:spChg chg="del">
          <ac:chgData name="Taylor Davis" userId="5c9e72a0-c39f-4aa1-9d7d-64125e78cbe6" providerId="ADAL" clId="{0D26E0FB-7016-41C1-BF5D-CCC050230513}" dt="2024-09-09T21:51:56.610" v="7" actId="478"/>
          <ac:spMkLst>
            <pc:docMk/>
            <pc:sldMk cId="3470905217" sldId="558"/>
            <ac:spMk id="23" creationId="{314AFF5C-ABDA-A82B-40C8-14E2DB160036}"/>
          </ac:spMkLst>
        </pc:spChg>
        <pc:spChg chg="del">
          <ac:chgData name="Taylor Davis" userId="5c9e72a0-c39f-4aa1-9d7d-64125e78cbe6" providerId="ADAL" clId="{0D26E0FB-7016-41C1-BF5D-CCC050230513}" dt="2024-09-09T21:51:56.610" v="7" actId="478"/>
          <ac:spMkLst>
            <pc:docMk/>
            <pc:sldMk cId="3470905217" sldId="558"/>
            <ac:spMk id="24" creationId="{2C03026B-6D1E-F7B1-9995-7D9DC1019C60}"/>
          </ac:spMkLst>
        </pc:spChg>
        <pc:spChg chg="del">
          <ac:chgData name="Taylor Davis" userId="5c9e72a0-c39f-4aa1-9d7d-64125e78cbe6" providerId="ADAL" clId="{0D26E0FB-7016-41C1-BF5D-CCC050230513}" dt="2024-09-09T21:51:56.610" v="7" actId="478"/>
          <ac:spMkLst>
            <pc:docMk/>
            <pc:sldMk cId="3470905217" sldId="558"/>
            <ac:spMk id="25" creationId="{9C64CEEB-E16A-926D-5DF0-DC8275443A40}"/>
          </ac:spMkLst>
        </pc:spChg>
        <pc:spChg chg="del">
          <ac:chgData name="Taylor Davis" userId="5c9e72a0-c39f-4aa1-9d7d-64125e78cbe6" providerId="ADAL" clId="{0D26E0FB-7016-41C1-BF5D-CCC050230513}" dt="2024-09-09T21:51:56.610" v="7" actId="478"/>
          <ac:spMkLst>
            <pc:docMk/>
            <pc:sldMk cId="3470905217" sldId="558"/>
            <ac:spMk id="26" creationId="{716000A2-AFB1-117D-BFF0-2BDA3EA8A77D}"/>
          </ac:spMkLst>
        </pc:spChg>
        <pc:spChg chg="add del mod">
          <ac:chgData name="Taylor Davis" userId="5c9e72a0-c39f-4aa1-9d7d-64125e78cbe6" providerId="ADAL" clId="{0D26E0FB-7016-41C1-BF5D-CCC050230513}" dt="2024-09-09T21:51:52.826" v="6" actId="478"/>
          <ac:spMkLst>
            <pc:docMk/>
            <pc:sldMk cId="3470905217" sldId="558"/>
            <ac:spMk id="31" creationId="{45C10089-1CFA-B05A-AF9C-610A4494BDAE}"/>
          </ac:spMkLst>
        </pc:spChg>
        <pc:picChg chg="del">
          <ac:chgData name="Taylor Davis" userId="5c9e72a0-c39f-4aa1-9d7d-64125e78cbe6" providerId="ADAL" clId="{0D26E0FB-7016-41C1-BF5D-CCC050230513}" dt="2024-09-09T21:51:45.901" v="3" actId="478"/>
          <ac:picMkLst>
            <pc:docMk/>
            <pc:sldMk cId="3470905217" sldId="558"/>
            <ac:picMk id="29" creationId="{00000000-0000-0000-0000-000000000000}"/>
          </ac:picMkLst>
        </pc:picChg>
        <pc:picChg chg="add del mod">
          <ac:chgData name="Taylor Davis" userId="5c9e72a0-c39f-4aa1-9d7d-64125e78cbe6" providerId="ADAL" clId="{0D26E0FB-7016-41C1-BF5D-CCC050230513}" dt="2024-09-09T22:17:57.749" v="97" actId="478"/>
          <ac:picMkLst>
            <pc:docMk/>
            <pc:sldMk cId="3470905217" sldId="558"/>
            <ac:picMk id="32" creationId="{E05F803C-EA0B-EA6F-3DE1-82AF647E111E}"/>
          </ac:picMkLst>
        </pc:picChg>
        <pc:picChg chg="add mod">
          <ac:chgData name="Taylor Davis" userId="5c9e72a0-c39f-4aa1-9d7d-64125e78cbe6" providerId="ADAL" clId="{0D26E0FB-7016-41C1-BF5D-CCC050230513}" dt="2024-09-09T22:17:58.636" v="98"/>
          <ac:picMkLst>
            <pc:docMk/>
            <pc:sldMk cId="3470905217" sldId="558"/>
            <ac:picMk id="33" creationId="{2EA01AB0-AC6A-A49D-E48C-14D49125FE38}"/>
          </ac:picMkLst>
        </pc:picChg>
      </pc:sldChg>
      <pc:sldChg chg="modSp mod">
        <pc:chgData name="Taylor Davis" userId="5c9e72a0-c39f-4aa1-9d7d-64125e78cbe6" providerId="ADAL" clId="{0D26E0FB-7016-41C1-BF5D-CCC050230513}" dt="2024-09-09T22:21:54.619" v="182" actId="20577"/>
        <pc:sldMkLst>
          <pc:docMk/>
          <pc:sldMk cId="1660060508" sldId="559"/>
        </pc:sldMkLst>
        <pc:spChg chg="mod">
          <ac:chgData name="Taylor Davis" userId="5c9e72a0-c39f-4aa1-9d7d-64125e78cbe6" providerId="ADAL" clId="{0D26E0FB-7016-41C1-BF5D-CCC050230513}" dt="2024-09-09T22:21:54.619" v="182" actId="20577"/>
          <ac:spMkLst>
            <pc:docMk/>
            <pc:sldMk cId="1660060508" sldId="559"/>
            <ac:spMk id="4" creationId="{C9963971-9E27-D1D8-44A6-33EAA3782592}"/>
          </ac:spMkLst>
        </pc:spChg>
      </pc:sldChg>
      <pc:sldChg chg="modSp add del mod">
        <pc:chgData name="Taylor Davis" userId="5c9e72a0-c39f-4aa1-9d7d-64125e78cbe6" providerId="ADAL" clId="{0D26E0FB-7016-41C1-BF5D-CCC050230513}" dt="2024-09-09T22:20:03.912" v="152" actId="14100"/>
        <pc:sldMkLst>
          <pc:docMk/>
          <pc:sldMk cId="0" sldId="572"/>
        </pc:sldMkLst>
        <pc:graphicFrameChg chg="modGraphic">
          <ac:chgData name="Taylor Davis" userId="5c9e72a0-c39f-4aa1-9d7d-64125e78cbe6" providerId="ADAL" clId="{0D26E0FB-7016-41C1-BF5D-CCC050230513}" dt="2024-09-09T22:20:03.912" v="152"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0D26E0FB-7016-41C1-BF5D-CCC050230513}" dt="2024-09-09T22:20:13.729" v="154" actId="14100"/>
        <pc:sldMkLst>
          <pc:docMk/>
          <pc:sldMk cId="0" sldId="573"/>
        </pc:sldMkLst>
        <pc:graphicFrameChg chg="modGraphic">
          <ac:chgData name="Taylor Davis" userId="5c9e72a0-c39f-4aa1-9d7d-64125e78cbe6" providerId="ADAL" clId="{0D26E0FB-7016-41C1-BF5D-CCC050230513}" dt="2024-09-09T22:20:13.729" v="154" actId="14100"/>
          <ac:graphicFrameMkLst>
            <pc:docMk/>
            <pc:sldMk cId="0" sldId="573"/>
            <ac:graphicFrameMk id="2" creationId="{00000000-0000-0000-0000-000000000000}"/>
          </ac:graphicFrameMkLst>
        </pc:graphicFrameChg>
      </pc:sldChg>
      <pc:sldChg chg="modSp add del mod">
        <pc:chgData name="Taylor Davis" userId="5c9e72a0-c39f-4aa1-9d7d-64125e78cbe6" providerId="ADAL" clId="{0D26E0FB-7016-41C1-BF5D-CCC050230513}" dt="2024-09-09T22:19:58.155" v="151" actId="14100"/>
        <pc:sldMkLst>
          <pc:docMk/>
          <pc:sldMk cId="1064222983" sldId="574"/>
        </pc:sldMkLst>
        <pc:graphicFrameChg chg="modGraphic">
          <ac:chgData name="Taylor Davis" userId="5c9e72a0-c39f-4aa1-9d7d-64125e78cbe6" providerId="ADAL" clId="{0D26E0FB-7016-41C1-BF5D-CCC050230513}" dt="2024-09-09T22:19:58.155" v="151"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0D26E0FB-7016-41C1-BF5D-CCC050230513}" dt="2024-09-09T22:20:09.404" v="153" actId="14100"/>
        <pc:sldMkLst>
          <pc:docMk/>
          <pc:sldMk cId="3790917938" sldId="575"/>
        </pc:sldMkLst>
        <pc:graphicFrameChg chg="modGraphic">
          <ac:chgData name="Taylor Davis" userId="5c9e72a0-c39f-4aa1-9d7d-64125e78cbe6" providerId="ADAL" clId="{0D26E0FB-7016-41C1-BF5D-CCC050230513}" dt="2024-09-09T22:20:09.404" v="153" actId="14100"/>
          <ac:graphicFrameMkLst>
            <pc:docMk/>
            <pc:sldMk cId="3790917938" sldId="575"/>
            <ac:graphicFrameMk id="2" creationId="{00000000-0000-0000-0000-000000000000}"/>
          </ac:graphicFrameMkLst>
        </pc:graphicFrameChg>
      </pc:sldChg>
      <pc:sldChg chg="modSp add del mod">
        <pc:chgData name="Taylor Davis" userId="5c9e72a0-c39f-4aa1-9d7d-64125e78cbe6" providerId="ADAL" clId="{0D26E0FB-7016-41C1-BF5D-CCC050230513}" dt="2024-09-09T22:20:17.475" v="155" actId="14100"/>
        <pc:sldMkLst>
          <pc:docMk/>
          <pc:sldMk cId="250010407" sldId="576"/>
        </pc:sldMkLst>
        <pc:graphicFrameChg chg="modGraphic">
          <ac:chgData name="Taylor Davis" userId="5c9e72a0-c39f-4aa1-9d7d-64125e78cbe6" providerId="ADAL" clId="{0D26E0FB-7016-41C1-BF5D-CCC050230513}" dt="2024-09-09T22:20:17.475" v="155" actId="14100"/>
          <ac:graphicFrameMkLst>
            <pc:docMk/>
            <pc:sldMk cId="250010407" sldId="576"/>
            <ac:graphicFrameMk id="2" creationId="{00000000-0000-0000-0000-000000000000}"/>
          </ac:graphicFrameMkLst>
        </pc:graphicFrameChg>
      </pc:sldChg>
      <pc:sldChg chg="add del">
        <pc:chgData name="Taylor Davis" userId="5c9e72a0-c39f-4aa1-9d7d-64125e78cbe6" providerId="ADAL" clId="{0D26E0FB-7016-41C1-BF5D-CCC050230513}" dt="2024-09-09T21:51:26.151" v="2"/>
        <pc:sldMkLst>
          <pc:docMk/>
          <pc:sldMk cId="1082327325" sldId="580"/>
        </pc:sldMkLst>
      </pc:sldChg>
      <pc:sldChg chg="add del">
        <pc:chgData name="Taylor Davis" userId="5c9e72a0-c39f-4aa1-9d7d-64125e78cbe6" providerId="ADAL" clId="{0D26E0FB-7016-41C1-BF5D-CCC050230513}" dt="2024-09-09T22:18:43.359" v="147" actId="47"/>
        <pc:sldMkLst>
          <pc:docMk/>
          <pc:sldMk cId="4294051359" sldId="582"/>
        </pc:sldMkLst>
      </pc:sldChg>
      <pc:sldChg chg="add setBg">
        <pc:chgData name="Taylor Davis" userId="5c9e72a0-c39f-4aa1-9d7d-64125e78cbe6" providerId="ADAL" clId="{0D26E0FB-7016-41C1-BF5D-CCC050230513}" dt="2024-09-09T21:52:30.257" v="9"/>
        <pc:sldMkLst>
          <pc:docMk/>
          <pc:sldMk cId="4066460150" sldId="584"/>
        </pc:sldMkLst>
      </pc:sldChg>
      <pc:sldChg chg="modSp add mod">
        <pc:chgData name="Taylor Davis" userId="5c9e72a0-c39f-4aa1-9d7d-64125e78cbe6" providerId="ADAL" clId="{0D26E0FB-7016-41C1-BF5D-CCC050230513}" dt="2024-09-09T21:53:51.127" v="88" actId="20577"/>
        <pc:sldMkLst>
          <pc:docMk/>
          <pc:sldMk cId="4080698116" sldId="585"/>
        </pc:sldMkLst>
        <pc:spChg chg="mod">
          <ac:chgData name="Taylor Davis" userId="5c9e72a0-c39f-4aa1-9d7d-64125e78cbe6" providerId="ADAL" clId="{0D26E0FB-7016-41C1-BF5D-CCC050230513}" dt="2024-09-09T21:53:51.127" v="88" actId="20577"/>
          <ac:spMkLst>
            <pc:docMk/>
            <pc:sldMk cId="4080698116" sldId="585"/>
            <ac:spMk id="9" creationId="{6CDBA057-BBD2-8F54-E977-26B782E37F88}"/>
          </ac:spMkLst>
        </pc:spChg>
      </pc:sldChg>
      <pc:sldChg chg="add">
        <pc:chgData name="Taylor Davis" userId="5c9e72a0-c39f-4aa1-9d7d-64125e78cbe6" providerId="ADAL" clId="{0D26E0FB-7016-41C1-BF5D-CCC050230513}" dt="2024-09-09T22:18:36.644" v="146"/>
        <pc:sldMkLst>
          <pc:docMk/>
          <pc:sldMk cId="2699922899" sldId="586"/>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image" Target="../media/image23.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image" Target="../media/image23.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TGH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TGH’s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TGH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TGH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TGH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TGH’s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9/9/2024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9</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9/9/2024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9/9/2024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9/9/2024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9/9/2024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9/9/2024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9/9/2024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jpeg"/><Relationship Id="rId4" Type="http://schemas.openxmlformats.org/officeDocument/2006/relationships/image" Target="../media/image28.png"/><Relationship Id="rId9"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microsoft.com/office/2007/relationships/hdphoto" Target="../media/hdphoto2.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1.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1.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jpe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44.png"/><Relationship Id="rId5" Type="http://schemas.openxmlformats.org/officeDocument/2006/relationships/image" Target="../media/image4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MODELING FOR TAMPA GENERAL HOSPITAL</a:t>
            </a:r>
          </a:p>
          <a:p>
            <a:r>
              <a:rPr lang="en-US" sz="2000" b="1" dirty="0">
                <a:solidFill>
                  <a:schemeClr val="bg1"/>
                </a:solidFill>
              </a:rPr>
              <a:t>SEPTEMBER 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descr="Media Resources | Tampa General Hospital">
            <a:extLst>
              <a:ext uri="{FF2B5EF4-FFF2-40B4-BE49-F238E27FC236}">
                <a16:creationId xmlns:a16="http://schemas.microsoft.com/office/drawing/2014/main" id="{8F8C3E85-72C0-C48D-FD98-AF2C9D53AE8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347200" y="817077"/>
            <a:ext cx="2425700" cy="7307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ampa General Hospital Named Blue Distinction Center+ for Maternity Care | Tampa  General Hospital">
            <a:extLst>
              <a:ext uri="{FF2B5EF4-FFF2-40B4-BE49-F238E27FC236}">
                <a16:creationId xmlns:a16="http://schemas.microsoft.com/office/drawing/2014/main" id="{F19F72F9-A8DC-D245-44E8-8590B160EF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252" b="19077"/>
          <a:stretch/>
        </p:blipFill>
        <p:spPr bwMode="auto">
          <a:xfrm>
            <a:off x="981075" y="1657010"/>
            <a:ext cx="11210925" cy="5200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4" name="Picture 2" descr="Media Resources | Tampa General Hospital">
            <a:extLst>
              <a:ext uri="{FF2B5EF4-FFF2-40B4-BE49-F238E27FC236}">
                <a16:creationId xmlns:a16="http://schemas.microsoft.com/office/drawing/2014/main" id="{35A7B063-EC04-448C-0387-E7E35EDEFBBB}"/>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359900" y="395328"/>
            <a:ext cx="2425700" cy="73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Tampa General Hospital</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4</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145203"/>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Tampa General Hospital is the quality leader in the Tampa area but with only one location will struggle some with access. Because TGH is the quality leader, KBA expects this plan will sell well.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the within-DTE-network steerage rate. </a:t>
            </a:r>
          </a:p>
          <a:p>
            <a:pPr algn="ctr" defTabSz="914411">
              <a:lnSpc>
                <a:spcPct val="90000"/>
              </a:lnSpc>
              <a:spcAft>
                <a:spcPts val="1200"/>
              </a:spcAft>
              <a:buClr>
                <a:schemeClr val="tx1"/>
              </a:buClr>
            </a:pPr>
            <a:r>
              <a:rPr lang="en-US" dirty="0">
                <a:solidFill/>
              </a:rPr>
              <a:t>Profit growth will hold if this assumption accurately play out as expected for Tampa General Hospital.</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~$1.06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~$0.22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5" name="Picture 2" descr="Media Resources | Tampa General Hospital">
            <a:extLst>
              <a:ext uri="{FF2B5EF4-FFF2-40B4-BE49-F238E27FC236}">
                <a16:creationId xmlns:a16="http://schemas.microsoft.com/office/drawing/2014/main" id="{06FAF8AE-5E56-F2E0-B017-D779FF67D10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436100" y="359334"/>
            <a:ext cx="2425700" cy="73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Tampa General Hospital</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4,500</a:t>
            </a:r>
            <a:r>
              <a:rPr lang="en-US" spc="200" dirty="0">
                <a:latin typeface="+mj-lt"/>
                <a:cs typeface="+mj-cs"/>
              </a:rPr>
              <a:t>+</a:t>
            </a:r>
            <a:r>
              <a:rPr lang="en-US" sz="1800" spc="200" dirty="0">
                <a:latin typeface="+mj-lt"/>
                <a:cs typeface="+mj-cs"/>
              </a:rPr>
              <a:t> Employers       800,000</a:t>
            </a:r>
            <a:r>
              <a:rPr lang="en-US" sz="1800" spc="200" dirty="0">
                <a:latin typeface="+mj-lt"/>
                <a:cs typeface="+mj-cs"/>
                <a:sym typeface="Wingdings" panose="05000000000000000000" pitchFamily="2" charset="2"/>
              </a:rPr>
              <a:t>+ Employees       1,200,000+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7"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3327793005"/>
              </p:ext>
            </p:extLst>
          </p:nvPr>
        </p:nvGraphicFramePr>
        <p:xfrm>
          <a:off x="4889297" y="2140949"/>
          <a:ext cx="6949427" cy="320038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25254">
                <a:tc>
                  <a:txBody>
                    <a:bodyPr/>
                    <a:lstStyle/>
                    <a:p>
                      <a:pPr algn="l" fontAlgn="b"/>
                      <a:r>
                        <a:rPr lang="en-US" sz="1100" b="1" i="0" u="none" strike="noStrike" dirty="0">
                          <a:solidFill>
                            <a:srgbClr val="000000"/>
                          </a:solidFill>
                          <a:effectLst/>
                          <a:latin typeface="Aptos Narrow" panose="020B0004020202020204" pitchFamily="34" charset="0"/>
                        </a:rPr>
                        <a:t>Commercial Employers Headquartered in: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Hillsborough, Manatee, Pasco and Pinellas Counties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2,548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981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627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104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74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Employees in Above Employers (Some living outside of region)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Hillsborough, Manatee, Pasco and Pinellas Counties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147,000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180,000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238,000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208,000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1" i="0" u="none" strike="noStrike" dirty="0">
                          <a:solidFill>
                            <a:srgbClr val="000000"/>
                          </a:solidFill>
                          <a:effectLst/>
                          <a:latin typeface="Aptos Narrow" panose="020B0004020202020204" pitchFamily="34" charset="0"/>
                        </a:rPr>
                        <a:t>Estimated Employees in Above Employers (Some living outside of region)</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Hillsborough, Manatee, Pasco and Pinellas Counties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290,000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245,000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295,000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420,000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405,000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930,000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sp>
        <p:nvSpPr>
          <p:cNvPr id="8"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Hillsborough, Manatee, Pasco, and Pinellas Counties*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14" name="Picture 13" descr="A map of the state of florida&#10;&#10;Description automatically generated">
            <a:extLst>
              <a:ext uri="{FF2B5EF4-FFF2-40B4-BE49-F238E27FC236}">
                <a16:creationId xmlns:a16="http://schemas.microsoft.com/office/drawing/2014/main" id="{EFDD90F7-CE57-9967-1639-1F96ED9176BC}"/>
              </a:ext>
            </a:extLst>
          </p:cNvPr>
          <p:cNvPicPr>
            <a:picLocks noChangeAspect="1"/>
          </p:cNvPicPr>
          <p:nvPr/>
        </p:nvPicPr>
        <p:blipFill>
          <a:blip r:embed="rId2">
            <a:extLst>
              <a:ext uri="{28A0092B-C50C-407E-A947-70E740481C1C}">
                <a14:useLocalDpi xmlns:a14="http://schemas.microsoft.com/office/drawing/2010/main" val="0"/>
              </a:ext>
            </a:extLst>
          </a:blip>
          <a:srcRect t="24559" r="27259" b="16426"/>
          <a:stretch/>
        </p:blipFill>
        <p:spPr>
          <a:xfrm>
            <a:off x="-1947705" y="2209715"/>
            <a:ext cx="5986307" cy="4047247"/>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Hillsborough, Manatee, Pasco, and Pinellas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3,403K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1,984K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1,332K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807K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$75.23M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$12.43M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$515.13M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$86.32M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$1013.84M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$170.06M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2699922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41137" y="3706011"/>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10</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52360" y="2257964"/>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54958" y="225796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06022" y="2350872"/>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52360" y="2933621"/>
            <a:ext cx="4616389" cy="738664"/>
          </a:xfrm>
          <a:prstGeom prst="rect">
            <a:avLst/>
          </a:prstGeom>
          <a:noFill/>
        </p:spPr>
        <p:txBody>
          <a:bodyPr wrap="square" rtlCol="0">
            <a:spAutoFit/>
          </a:bodyPr>
          <a:lstStyle/>
          <a:p>
            <a:r>
              <a:rPr lang="en-US" sz="1050" dirty="0">
                <a:solidFill/>
              </a:rPr>
              <a:t>KBA currently estimates that Tampa General Hospital has 21% inpatient market share, and 6% outpatient market compared to hospitals/clinics in the Hillsborough, Manatee, Pasco, and Pinellas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72017" y="3670665"/>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16096" y="3658597"/>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30346" y="3674531"/>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38396" y="3920544"/>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65457" y="3920544"/>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03396" y="3920544"/>
            <a:ext cx="583814" cy="369332"/>
          </a:xfrm>
          <a:prstGeom prst="rect">
            <a:avLst/>
          </a:prstGeom>
          <a:noFill/>
        </p:spPr>
        <p:txBody>
          <a:bodyPr wrap="none" rtlCol="0">
            <a:spAutoFit/>
          </a:bodyPr>
          <a:lstStyle/>
          <a:p>
            <a:r>
              <a:rPr lang="en-US" dirty="0">
                <a:solidFill/>
              </a:rPr>
              <a:t>85%</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33" name="Content Placeholder 28">
            <a:extLst>
              <a:ext uri="{FF2B5EF4-FFF2-40B4-BE49-F238E27FC236}">
                <a16:creationId xmlns:a16="http://schemas.microsoft.com/office/drawing/2014/main" id="{2EA01AB0-AC6A-A49D-E48C-14D49125FE38}"/>
              </a:ext>
            </a:extLst>
          </p:cNvPr>
          <p:cNvPicPr>
            <a:picLocks/>
          </p:cNvPicPr>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2" name="Picture 1">
            <a:extLst>
              <a:ext uri="{FF2B5EF4-FFF2-40B4-BE49-F238E27FC236}">
                <a16:creationId xmlns:a16="http://schemas.microsoft.com/office/drawing/2014/main" id="{E21765BA-1CCC-7E5F-BF40-13712A38D15D}"/>
              </a:ext>
            </a:extLst>
          </p:cNvPr>
          <p:cNvPicPr>
            <a:picLocks noChangeAspect="1"/>
          </p:cNvPicPr>
          <p:nvPr/>
        </p:nvPicPr>
        <p:blipFill>
          <a:blip r:embed="rId2"/>
          <a:stretch>
            <a:fillRect/>
          </a:stretch>
        </p:blipFill>
        <p:spPr>
          <a:xfrm>
            <a:off x="6442378" y="173101"/>
            <a:ext cx="5636440" cy="6526404"/>
          </a:xfrm>
          <a:prstGeom prst="rect">
            <a:avLst/>
          </a:prstGeom>
        </p:spPr>
      </p:pic>
      <p:pic>
        <p:nvPicPr>
          <p:cNvPr id="9" name="Picture 8" descr="A graph with a line going up&#10;&#10;Description automatically generated">
            <a:extLst>
              <a:ext uri="{FF2B5EF4-FFF2-40B4-BE49-F238E27FC236}">
                <a16:creationId xmlns:a16="http://schemas.microsoft.com/office/drawing/2014/main" id="{6E80945B-5B35-DE3A-1FB6-CA74640F46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23" y="-7771"/>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12</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2" descr="Media Resources | Tampa General Hospital">
            <a:extLst>
              <a:ext uri="{FF2B5EF4-FFF2-40B4-BE49-F238E27FC236}">
                <a16:creationId xmlns:a16="http://schemas.microsoft.com/office/drawing/2014/main" id="{3505A6F9-F756-2582-13F9-7412C20EF3E9}"/>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29670" y="3144460"/>
            <a:ext cx="3623333" cy="1091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TGH’s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Tampa General Hospital’s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Tampa General Hospital</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TGH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Media Resources | Tampa General Hospital">
            <a:extLst>
              <a:ext uri="{FF2B5EF4-FFF2-40B4-BE49-F238E27FC236}">
                <a16:creationId xmlns:a16="http://schemas.microsoft.com/office/drawing/2014/main" id="{4AD173A2-1A6A-D894-63CD-1AB99CACB562}"/>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40900" y="4285763"/>
            <a:ext cx="1155700" cy="348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14</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9"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TGH</a:t>
            </a:r>
          </a:p>
        </p:txBody>
      </p:sp>
      <p:pic>
        <p:nvPicPr>
          <p:cNvPr id="10" name="Picture 2" descr="Media Resources | Tampa General Hospital">
            <a:extLst>
              <a:ext uri="{FF2B5EF4-FFF2-40B4-BE49-F238E27FC236}">
                <a16:creationId xmlns:a16="http://schemas.microsoft.com/office/drawing/2014/main" id="{4C68E9DA-8780-8683-DE29-3F4ADEE3838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220200" y="5397695"/>
            <a:ext cx="2425700" cy="73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TGH’s approved site(s) with network integration, and development of TGH’s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of 77% Within-Plan Steerage.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416K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$ 10,275K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$ 1,773K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$ 1,163K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$ 25,687K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$ 22,406K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$ 3,702K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$ 3,402K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$ 89,624K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$14,809K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$14,599K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$26,249K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$5,842K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$179,249K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$35,460K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$29,528K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066460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16</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TGH’s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Tampa General Hospital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Tampa General Hospital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TGH’s managed care processes to KBA’s patented care management programs will turbocharge results – Positioning TGH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Tampa General Hospital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17</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TGH’s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TGH’s 340B drug pricing program</a:t>
            </a:r>
          </a:p>
          <a:p>
            <a:pPr marL="285753" indent="-285753">
              <a:spcBef>
                <a:spcPts val="600"/>
              </a:spcBef>
              <a:buFont typeface="Wingdings" panose="05000000000000000000" pitchFamily="2" charset="2"/>
              <a:buChar char="§"/>
            </a:pPr>
            <a:r>
              <a:rPr lang="en-US" sz="2000" dirty="0">
                <a:solidFill>
                  <a:schemeClr val="bg1"/>
                </a:solidFill>
              </a:rPr>
              <a:t>Allows TGH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19</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20</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034156725"/>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21</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22</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23</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TGH’s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677437018"/>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TGH</a:t>
                      </a:r>
                    </a:p>
                  </a:txBody>
                  <a:tcPr>
                    <a:solidFill>
                      <a:schemeClr val="accent3">
                        <a:lumMod val="20000"/>
                        <a:lumOff val="80000"/>
                      </a:schemeClr>
                    </a:solidFill>
                  </a:tcPr>
                </a:tc>
                <a:tc>
                  <a:txBody>
                    <a:bodyPr/>
                    <a:lstStyle/>
                    <a:p>
                      <a:pPr algn="ctr"/>
                      <a:r>
                        <a:rPr lang="en-US" sz="1400" dirty="0">
                          <a:solidFill>
                            <a:schemeClr val="accent1">
                              <a:lumMod val="75000"/>
                            </a:schemeClr>
                          </a:solidFill>
                        </a:rPr>
                        <a:t>300,552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$1,952,917K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63,163</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$286,696K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21%</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26,536</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$203,388K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9%</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27,842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($199,377K)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9%</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183,011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$1,461,799K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838631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TGH estimates commercial insurance reimbursements at 265%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1,461,799K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265%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1,298,722K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2,760,521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2,146,142</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$614,378K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22%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265%</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551,622K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490,084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1,041,706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2,146,142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-1,104,436</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-106%</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26</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751573" y="5463518"/>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49.1%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1462885494"/>
              </p:ext>
            </p:extLst>
          </p:nvPr>
        </p:nvGraphicFramePr>
        <p:xfrm>
          <a:off x="914401" y="914400"/>
          <a:ext cx="10439400" cy="4298742"/>
        </p:xfrm>
        <a:graphic>
          <a:graphicData uri="http://schemas.openxmlformats.org/drawingml/2006/table">
            <a:tbl>
              <a:tblPr/>
              <a:tblGrid>
                <a:gridCol w="3790949">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2763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1428750">
                  <a:extLst>
                    <a:ext uri="{9D8B030D-6E8A-4147-A177-3AD203B41FA5}">
                      <a16:colId xmlns:a16="http://schemas.microsoft.com/office/drawing/2014/main" val="20004"/>
                    </a:ext>
                  </a:extLst>
                </a:gridCol>
                <a:gridCol w="1943101">
                  <a:extLst>
                    <a:ext uri="{9D8B030D-6E8A-4147-A177-3AD203B41FA5}">
                      <a16:colId xmlns:a16="http://schemas.microsoft.com/office/drawing/2014/main" val="20005"/>
                    </a:ext>
                  </a:extLst>
                </a:gridCol>
              </a:tblGrid>
              <a:tr h="872416">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30562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Tampa General Hospital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$7,925,295.3K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$3,910,563.5K</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0027">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HCA Florida Brandon Hospital (FKA Brandon Regional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403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$2,740,096.2K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$2,643,062.7K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0027">
                <a:tc>
                  <a:txBody>
                    <a:bodyPr/>
                    <a:lstStyle/>
                    <a:p>
                      <a:pPr marL="63500" marR="63500" algn="l">
                        <a:lnSpc>
                          <a:spcPct val="100000"/>
                        </a:lnSpc>
                        <a:spcBef>
                          <a:spcPts val="500"/>
                        </a:spcBef>
                        <a:spcAft>
                          <a:spcPts val="500"/>
                        </a:spcAft>
                        <a:buNone/>
                      </a:pPr>
                      <a:r>
                        <a:rPr sz="600" b="0" i="0" u="none" cap="none" dirty="0" err="1">
                          <a:solidFill>
                            <a:srgbClr val="000000">
                              <a:alpha val="100000"/>
                            </a:srgbClr>
                          </a:solidFill>
                          <a:latin typeface="Arial"/>
                          <a:cs typeface="Arial"/>
                          <a:sym typeface="Arial"/>
                        </a:rPr>
                        <a:t>AdventHealth</a:t>
                      </a:r>
                      <a:r>
                        <a:rPr sz="600" b="0" i="0" u="none" cap="none" dirty="0">
                          <a:solidFill>
                            <a:srgbClr val="000000">
                              <a:alpha val="100000"/>
                            </a:srgbClr>
                          </a:solidFill>
                          <a:latin typeface="Arial"/>
                          <a:cs typeface="Arial"/>
                          <a:sym typeface="Arial"/>
                        </a:rPr>
                        <a:t> Dade City (FKA Florida Hospital Dade City)</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75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416,812.8K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341,520.2K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AdventHealth Zephyrhills (FKA Florida Hospital Zephyrhills)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149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876,361.8K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730,649.9K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0027">
                <a:tc>
                  <a:txBody>
                    <a:bodyPr/>
                    <a:lstStyle/>
                    <a:p>
                      <a:pPr marL="63500" marR="63500" algn="l">
                        <a:lnSpc>
                          <a:spcPct val="100000"/>
                        </a:lnSpc>
                        <a:spcBef>
                          <a:spcPts val="500"/>
                        </a:spcBef>
                        <a:spcAft>
                          <a:spcPts val="500"/>
                        </a:spcAft>
                        <a:buNone/>
                      </a:pPr>
                      <a:r>
                        <a:rPr sz="600" b="0" i="0" u="none" cap="none" dirty="0" err="1">
                          <a:solidFill>
                            <a:srgbClr val="000000">
                              <a:alpha val="100000"/>
                            </a:srgbClr>
                          </a:solidFill>
                          <a:latin typeface="Arial"/>
                          <a:cs typeface="Arial"/>
                          <a:sym typeface="Arial"/>
                        </a:rPr>
                        <a:t>AdventHealth</a:t>
                      </a:r>
                      <a:r>
                        <a:rPr sz="600" b="0" i="0" u="none" cap="none" dirty="0">
                          <a:solidFill>
                            <a:srgbClr val="000000">
                              <a:alpha val="100000"/>
                            </a:srgbClr>
                          </a:solidFill>
                          <a:latin typeface="Arial"/>
                          <a:cs typeface="Arial"/>
                          <a:sym typeface="Arial"/>
                        </a:rPr>
                        <a:t> Wesley Chapel (FKA Florida Hospital Wesley Chapel)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169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$1,011,628.5K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$1,284,656.0K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Baycare Hospital Wesley Chapel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86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86,108.3K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135,955.5K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St Josephs Hospital - North</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216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NAK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NAK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NA%</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NA%</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South Florida Baptist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124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354,491.3K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481,866.8K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South Shore Hospital (FKA South Bay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138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  781,570.1K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490,761.3K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South Tampa Hospital (FKA Memorial Hospital of Tampa)</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284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788,477.2K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$1,331,838.5K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Moffitt Cancer Center Magnolia Campus (AKA H Lee Moffitt Cancer Center &amp; Research Institute)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$1,237,029.0K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$5,598,151.5K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AdventHealth Tampa (FKA Florida Hospital Tampa)</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596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$2,773,609.0K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$2,135,918.3K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AdventHealth Carrollwood (FKA Florida Hospital Carrollwood)</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119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747,800.9K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  871,949.3K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Bayfront Health St Petersburg (FKA Bayfront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262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$1,823,401.6K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$1,053,579.5K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Johns Hopkins All Childrens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259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$1,175,242.5K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654,878.7K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St Anthonys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398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$1,143,209.7K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$1,214,386.8K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Pasadena Hospital (FKA Palms of Pasadena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167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608,396.6K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533,874.9K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Northside Hospital (FKA Northside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202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$1,592,823.1K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838,894.0K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St Petersburg Hospital (FKA St Petersburg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168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688,418.7K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926,600.3K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Morton Plant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569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$1,845,463.3K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$1,657,337.6K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Largo Hospital (FKA Largo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250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$2,612,865.0K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$1,297,709.7K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Morton Plant North Bay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213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535,618.1K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352,511.7K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Trinity Hospital (FKA Medical Center of Trinity)</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330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$1,950,820.1K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$1,894,201.7K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HCA Florida Bayonet Point Hospital (FKA Regional Medical Center Bayonet Point)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290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$2,813,049.5K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$1,219,857.2K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AdventHealth North Pinellas (FKA Florida Hospital North Pinellas)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136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476,089.6K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440,364.3K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Mease Countryside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361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$1,049,204.1K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926,241.6K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120027">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Mease Dunedin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112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282,241.1K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600" b="0" i="0" u="none" cap="none">
                          <a:solidFill>
                            <a:srgbClr val="000000">
                              <a:alpha val="100000"/>
                            </a:srgbClr>
                          </a:solidFill>
                          <a:latin typeface="Arial"/>
                          <a:cs typeface="Arial"/>
                          <a:sym typeface="Arial"/>
                        </a:rPr>
                        <a:t>$  299,108.4K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46167503"/>
              </p:ext>
            </p:extLst>
          </p:nvPr>
        </p:nvGraphicFramePr>
        <p:xfrm>
          <a:off x="1701800" y="0"/>
          <a:ext cx="9245600" cy="6860680"/>
        </p:xfrm>
        <a:graphic>
          <a:graphicData uri="http://schemas.openxmlformats.org/drawingml/2006/table">
            <a:tbl>
              <a:tblPr/>
              <a:tblGrid>
                <a:gridCol w="5882640">
                  <a:extLst>
                    <a:ext uri="{9D8B030D-6E8A-4147-A177-3AD203B41FA5}">
                      <a16:colId xmlns:a16="http://schemas.microsoft.com/office/drawing/2014/main" val="20000"/>
                    </a:ext>
                  </a:extLst>
                </a:gridCol>
                <a:gridCol w="3362960">
                  <a:extLst>
                    <a:ext uri="{9D8B030D-6E8A-4147-A177-3AD203B41FA5}">
                      <a16:colId xmlns:a16="http://schemas.microsoft.com/office/drawing/2014/main" val="20001"/>
                    </a:ext>
                  </a:extLst>
                </a:gridCol>
              </a:tblGrid>
              <a:tr h="355224">
                <a:tc gridSpan="2">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55224">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Tampa General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300,552</a:t>
                      </a:r>
                    </a:p>
                  </a:txBody>
                  <a:tcPr marL="0" marR="0" marT="18288" marB="18288"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63,163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26,536</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$1,307,674K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$645,243K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$286,695.6K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Medicaid and Other Government-Pay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$203,388.1K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$1,461,799K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Uncompensated Care</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$199,377.2K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$1,437,058K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Outpatient Costs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$709,084.7K</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37907">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$2,146,142K</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Net Income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$253,167.5K</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Payer Mix Percent Medicare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21.0%</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Payer Mix Percent Medicaid</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a:solidFill>
                            <a:srgbClr val="000000">
                              <a:alpha val="100000"/>
                            </a:srgbClr>
                          </a:solidFill>
                          <a:latin typeface="Arial"/>
                          <a:cs typeface="Arial"/>
                          <a:sym typeface="Arial"/>
                        </a:rPr>
                        <a:t>8.8%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Payer Mix Percent Other Government-Pay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Payer Mix Percent No Pay</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9.3%</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Payer Mix Percent Commercial</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60.9%</a:t>
                      </a:r>
                    </a:p>
                  </a:txBody>
                  <a:tcPr marL="0" marR="0" marT="18288" marB="18288"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Commercial Profit Margin</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22.3%</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Inpatient Market Share</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20.7%</a:t>
                      </a:r>
                    </a:p>
                  </a:txBody>
                  <a:tcPr marL="0" marR="0" marT="18288" marB="18288"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37907">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Outpatient Market Share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ct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5.8%</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211954">
                <a:tc gridSpan="2">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18288"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211954">
                <a:tc gridSpan="2">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211954">
                <a:tc gridSpan="2">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277727">
                <a:tc gridSpan="2">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1828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027289305"/>
              </p:ext>
            </p:extLst>
          </p:nvPr>
        </p:nvGraphicFramePr>
        <p:xfrm>
          <a:off x="727045" y="2103813"/>
          <a:ext cx="10955969" cy="2006034"/>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Hillsborough, Manatee, Pasco, and Pinellas Counties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$ 3639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$ 3089</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28</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29</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CareLuminate expects this plan to run at the average of other DTE plans (77%). TGH does not have the access of some other health systems in the area (BayCare).</a:t>
            </a:r>
          </a:p>
        </p:txBody>
      </p:sp>
    </p:spTree>
    <p:extLst>
      <p:ext uri="{BB962C8B-B14F-4D97-AF65-F5344CB8AC3E}">
        <p14:creationId xmlns:p14="http://schemas.microsoft.com/office/powerpoint/2010/main" val="3616502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30</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$ 3,761,485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$ 1,909,326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$ 891,461.2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$ 6,562,272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$ 837,151.9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$ 424,937.4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$ 198,402.6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$ 1,460,492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$ 7,404,617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$ 7,464,617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$ 7,134,617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$ 2,417,576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$ 4,395,351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$ 2,052,182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$ 8,865,109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21% (inpatient) and 6%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a commercial margin of 22.3% (what KBA has observed in the Medicare Cost Report)</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17.3%,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4080698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57744550"/>
              </p:ext>
            </p:extLst>
          </p:nvPr>
        </p:nvGraphicFramePr>
        <p:xfrm>
          <a:off x="0" y="0"/>
          <a:ext cx="12191998" cy="6857996"/>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313867">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35400">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517881">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$3,761.5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$18,807.4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54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54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54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$12,087.9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$51,243.3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$316.1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$7,902.1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$9,546.6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54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54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$879.1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$4,395.4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$21,976.8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$2,356.2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$4,712.5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$23,562.3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$117,811.4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$3,970.4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$19,852.1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$4,457.3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54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$10,260.9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$2,200.2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$11,001.2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$55,005.9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4525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$1,853.8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$9,268.9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5400">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$416.5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$1,162.9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$7,134.6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$36,993.1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33963369"/>
              </p:ext>
            </p:extLst>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40000">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of 77%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05000">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91000">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$6,562.3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$32,811.4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94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$44,812.1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$224,060.6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94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$44,325.5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94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$7,404.6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$37,023.1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05000">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05000">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$416.5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$7,134.6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$36,993.1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57102427"/>
              </p:ext>
            </p:extLst>
          </p:nvPr>
        </p:nvGraphicFramePr>
        <p:xfrm>
          <a:off x="0" y="0"/>
          <a:ext cx="12191998" cy="6858001"/>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325024">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4376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53628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$3,761.5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$18,807.4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$13,343.8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$2,340.9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$11,704.3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$58,521.3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$1,831.6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$9,158.0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$9,546.6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$24,260.1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$131,043.4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$4,427.1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$22,135.4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$4,457.3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$11,327.0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$2,447.4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$12,236.8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$61,183.9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$2,067.0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$10,335.0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33020568"/>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91207">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of 85%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443405">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975491">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$6,562.3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$32,811.4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65032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$10,029.9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$50,149.7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$250,748.6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$9,786.2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$48,930.8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65032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$41,628.3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405">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$508.6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$1,347.1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$8,055.7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$41,598.3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58167362"/>
              </p:ext>
            </p:extLst>
          </p:nvPr>
        </p:nvGraphicFramePr>
        <p:xfrm>
          <a:off x="0" y="0"/>
          <a:ext cx="12191998" cy="6858001"/>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325024">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4376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536289">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$3,761.5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$18,807.4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$10,989.0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$8,975.0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$44,875.1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$136.1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$1,360.6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$6,803.2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$1,909.3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$9,546.6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$3,995.8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$19,978.9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$21,246.7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$106,233.4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$357.1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$714.2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$3,570.8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$17,854.2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$891.5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$4,457.3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4376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$373.1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$1,865.6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$9,328.1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$9,920.0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$49,600.2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57526">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$333.4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$8,336.1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99173934"/>
              </p:ext>
            </p:extLst>
          </p:nvPr>
        </p:nvGraphicFramePr>
        <p:xfrm>
          <a:off x="0" y="0"/>
          <a:ext cx="12191998" cy="685799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591207">
                <a:tc gridSpan="5">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of 70% Within-Plan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443405">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975491">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$6,562.3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$32,811.4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65032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$8,028.3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$40,141.7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$200,708.6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$8,059.2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$40,295.9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65032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405">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405">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$335.9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$1,001.7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$6,328.7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$32,963.5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Tampa General Hospital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Complete Transparency</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Benefit Plan 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37</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TGH’s DTE</a:t>
            </a:r>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Tampa General Hospital</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TGH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38249071"/>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41</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46060</TotalTime>
  <Words>5398</Words>
  <Application>Microsoft Office PowerPoint</Application>
  <PresentationFormat>Widescreen</PresentationFormat>
  <Paragraphs>1478</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Market Leader in Private Labeled DTE Plans</vt:lpstr>
      <vt:lpstr>Direct-to-Employer (DTE)  Your Health Plan Focused on a Direct Relationship with Self-Funded Employers in Your Market</vt:lpstr>
      <vt:lpstr>DTE Keys to Success for Tampa General Hospital</vt:lpstr>
      <vt:lpstr>Every $1 of Care</vt:lpstr>
      <vt:lpstr>Direct-to-Employer Strategy: Powerful Employer Value</vt:lpstr>
      <vt:lpstr>Significant Opportunity for Plan Growth Researched for Hillsborough, Manatee, Pasco, and Pinellas Counties*</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TGH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TGH’s 2021 Payer Mix</vt:lpstr>
      <vt:lpstr>Estimation of Margin for Commercial vs. Government Pay</vt:lpstr>
      <vt:lpstr>Estimating Market Share</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2024-09-09T22:33:39Z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