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4"/>
  </p:sldMasterIdLst>
  <p:notesMasterIdLst>
    <p:notesMasterId r:id="rId14"/>
  </p:notesMasterIdLst>
  <p:sldIdLst>
    <p:sldId id="577" r:id="rId5"/>
    <p:sldId id="549" r:id="rId6"/>
    <p:sldId id="487" r:id="rId7"/>
    <p:sldId id="583" r:id="rId8"/>
    <p:sldId id="521" r:id="rId9"/>
    <p:sldId id="586" r:id="rId10"/>
    <p:sldId id="584" r:id="rId11"/>
    <p:sldId id="454" r:id="rId12"/>
    <p:sldId id="472" r:id="rId13"/>
  </p:sldIdLst>
  <p:sldSz cx="12192000" cy="6858000"/>
  <p:notesSz cx="7315200" cy="9601200"/>
  <p:custDataLst>
    <p:tags r:id="rId1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ill, Jack" initials="HJ" lastIdx="1" clrIdx="0">
    <p:extLst>
      <p:ext uri="{19B8F6BF-5375-455C-9EA6-DF929625EA0E}">
        <p15:presenceInfo xmlns:p15="http://schemas.microsoft.com/office/powerpoint/2012/main" userId="S::Jack.Hill@ahdi.com::a2532604-23e3-4156-966c-b672b0683e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6087CE"/>
    <a:srgbClr val="4468A5"/>
    <a:srgbClr val="F2F2F2"/>
    <a:srgbClr val="C55A11"/>
    <a:srgbClr val="F424AA"/>
    <a:srgbClr val="E23440"/>
    <a:srgbClr val="027587"/>
    <a:srgbClr val="7F7F7F"/>
    <a:srgbClr val="0046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050D59-D456-4C89-8540-D1C16404747F}" v="3" dt="2024-09-09T23:12:14.911"/>
  </p1510:revLst>
</p1510:revInfo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8609" autoAdjust="0"/>
  </p:normalViewPr>
  <p:slideViewPr>
    <p:cSldViewPr snapToGrid="0">
      <p:cViewPr varScale="1">
        <p:scale>
          <a:sx n="95" d="100"/>
          <a:sy n="95" d="100"/>
        </p:scale>
        <p:origin x="1110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ylor Davis" userId="5c9e72a0-c39f-4aa1-9d7d-64125e78cbe6" providerId="ADAL" clId="{45050D59-D456-4C89-8540-D1C16404747F}"/>
    <pc:docChg chg="addSld delSld modSld">
      <pc:chgData name="Taylor Davis" userId="5c9e72a0-c39f-4aa1-9d7d-64125e78cbe6" providerId="ADAL" clId="{45050D59-D456-4C89-8540-D1C16404747F}" dt="2024-09-09T23:12:16.230" v="5" actId="47"/>
      <pc:docMkLst>
        <pc:docMk/>
      </pc:docMkLst>
      <pc:sldChg chg="del">
        <pc:chgData name="Taylor Davis" userId="5c9e72a0-c39f-4aa1-9d7d-64125e78cbe6" providerId="ADAL" clId="{45050D59-D456-4C89-8540-D1C16404747F}" dt="2024-09-09T23:12:16.230" v="5" actId="47"/>
        <pc:sldMkLst>
          <pc:docMk/>
          <pc:sldMk cId="2203540903" sldId="499"/>
        </pc:sldMkLst>
      </pc:sldChg>
      <pc:sldChg chg="del">
        <pc:chgData name="Taylor Davis" userId="5c9e72a0-c39f-4aa1-9d7d-64125e78cbe6" providerId="ADAL" clId="{45050D59-D456-4C89-8540-D1C16404747F}" dt="2024-09-09T23:11:58.024" v="1" actId="47"/>
        <pc:sldMkLst>
          <pc:docMk/>
          <pc:sldMk cId="1082327325" sldId="580"/>
        </pc:sldMkLst>
      </pc:sldChg>
      <pc:sldChg chg="del">
        <pc:chgData name="Taylor Davis" userId="5c9e72a0-c39f-4aa1-9d7d-64125e78cbe6" providerId="ADAL" clId="{45050D59-D456-4C89-8540-D1C16404747F}" dt="2024-09-09T23:12:07.389" v="3" actId="47"/>
        <pc:sldMkLst>
          <pc:docMk/>
          <pc:sldMk cId="4294051359" sldId="582"/>
        </pc:sldMkLst>
      </pc:sldChg>
      <pc:sldChg chg="add">
        <pc:chgData name="Taylor Davis" userId="5c9e72a0-c39f-4aa1-9d7d-64125e78cbe6" providerId="ADAL" clId="{45050D59-D456-4C89-8540-D1C16404747F}" dt="2024-09-09T23:11:56.845" v="0"/>
        <pc:sldMkLst>
          <pc:docMk/>
          <pc:sldMk cId="865458983" sldId="583"/>
        </pc:sldMkLst>
      </pc:sldChg>
      <pc:sldChg chg="add">
        <pc:chgData name="Taylor Davis" userId="5c9e72a0-c39f-4aa1-9d7d-64125e78cbe6" providerId="ADAL" clId="{45050D59-D456-4C89-8540-D1C16404747F}" dt="2024-09-09T23:12:14.907" v="4"/>
        <pc:sldMkLst>
          <pc:docMk/>
          <pc:sldMk cId="4066460150" sldId="584"/>
        </pc:sldMkLst>
      </pc:sldChg>
      <pc:sldChg chg="add">
        <pc:chgData name="Taylor Davis" userId="5c9e72a0-c39f-4aa1-9d7d-64125e78cbe6" providerId="ADAL" clId="{45050D59-D456-4C89-8540-D1C16404747F}" dt="2024-09-09T23:12:05.769" v="2"/>
        <pc:sldMkLst>
          <pc:docMk/>
          <pc:sldMk cId="2699922899" sldId="58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r">
              <a:defRPr sz="1200"/>
            </a:lvl1pPr>
          </a:lstStyle>
          <a:p>
            <a:fld id="{7444AE22-21A2-46C1-A42F-3B4E8AE858E0}" type="datetimeFigureOut">
              <a:rPr lang="en-US" smtClean="0"/>
              <a:t>9/9/2024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1200150"/>
            <a:ext cx="5756275" cy="3238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178" tIns="47590" rIns="95178" bIns="4759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80"/>
            <a:ext cx="5852160" cy="3780473"/>
          </a:xfrm>
          <a:prstGeom prst="rect">
            <a:avLst/>
          </a:prstGeom>
        </p:spPr>
        <p:txBody>
          <a:bodyPr vert="horz" lIns="95178" tIns="47590" rIns="95178" bIns="4759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r">
              <a:defRPr sz="1200"/>
            </a:lvl1pPr>
          </a:lstStyle>
          <a:p>
            <a:fld id="{4139CA89-B4B2-4050-B038-8DF8E3A335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22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9CA89-B4B2-4050-B038-8DF8E3A33516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351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9E3A3-CB7F-45DB-8359-15D56BF69054}" type="datetime1">
              <a:rPr lang="en-US" smtClean="0"/>
              <a:t>9/9/2024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42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/>
          <a:p>
            <a:fld id="{F72A7C2C-8CBA-48FC-B47E-140B6C446377}" type="datetime1">
              <a:rPr lang="en-US" smtClean="0"/>
              <a:t>9/9/2024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/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943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A2DF-E8B3-4F59-892A-C88743D6614D}" type="datetime1">
              <a:rPr lang="en-US" smtClean="0"/>
              <a:t>9/9/2024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87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09CE-D3E6-4C73-9F86-6AA671224F8D}" type="datetime1">
              <a:rPr lang="en-US" smtClean="0"/>
              <a:t>9/9/2024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1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F486B-7A2A-4144-9105-81B5F9A702C4}" type="datetime1">
              <a:rPr lang="en-US" smtClean="0"/>
              <a:t>9/9/2024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904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/>
          <a:p>
            <a:fld id="{13273CBB-1638-4F86-93C5-F289BAB372F8}" type="datetime1">
              <a:rPr lang="en-US" smtClean="0"/>
              <a:t>9/9/2024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80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23EA-AE71-4F47-9CA1-AC76DEC2B9E8}" type="datetime1">
              <a:rPr lang="en-US" smtClean="0"/>
              <a:t>9/9/2024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469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31445-0B45-4F5C-971D-F971BB7E35C1}" type="datetime1">
              <a:rPr lang="en-US" smtClean="0"/>
              <a:t>9/9/2024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453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9F89-B9FD-40DA-A4A8-5549A4F97D5C}" type="datetime1">
              <a:rPr lang="en-US" smtClean="0"/>
              <a:t>9/9/2024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75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CB60-C599-4AF2-9C31-DCD390D25F3F}" type="datetime1">
              <a:rPr lang="en-US" smtClean="0"/>
              <a:t>9/9/2024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23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F3D-F650-432E-A6F6-439A0FF53FA0}" type="datetime1">
              <a:rPr lang="en-US" smtClean="0"/>
              <a:t>9/9/2024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881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48873-4569-48AE-9711-BF92EE297A77}" type="datetime1">
              <a:rPr lang="en-US" smtClean="0"/>
              <a:t>9/9/2024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custDataLst>
      <p:tags r:id="rId13"/>
    </p:custDataLst>
    <p:extLst>
      <p:ext uri="{BB962C8B-B14F-4D97-AF65-F5344CB8AC3E}">
        <p14:creationId xmlns:p14="http://schemas.microsoft.com/office/powerpoint/2010/main" val="3019070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svg"/><Relationship Id="rId11" Type="http://schemas.openxmlformats.org/officeDocument/2006/relationships/image" Target="../media/image12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82DDCACF-3B2C-45F6-88BB-41D64A30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5345DC2E-CAD1-4A3B-BB6C-627FC995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1</a:t>
            </a:fld>
            <a:endParaRPr lang="en-US" dirty="0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BB2B5697-E648-40EC-88C5-97A77999C18D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B981BBA2-A3ED-6F7B-693B-880E5B031B26}"/>
              </a:ext>
            </a:extLst>
          </p:cNvPr>
          <p:cNvSpPr txBox="1"/>
          <p:nvPr/>
        </p:nvSpPr>
        <p:spPr>
          <a:xfrm>
            <a:off x="896984" y="0"/>
            <a:ext cx="11295016" cy="707886"/>
          </a:xfrm>
          <a:prstGeom prst="rect">
            <a:avLst/>
          </a:prstGeom>
          <a:solidFill>
            <a:srgbClr val="30589B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DIRECT-TO-EMPLOYER PLAN OPPORTUNITY FOR TAMPA GENERAL HOSPITAL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SEPTEMBER 9, 2024</a:t>
            </a:r>
          </a:p>
        </p:txBody>
      </p:sp>
      <p:pic>
        <p:nvPicPr>
          <p:cNvPr id="6" name="Picture 5" descr="A close-up of a logo&#10;&#10;Description automatically generated with medium confidence">
            <a:extLst>
              <a:ext uri="{FF2B5EF4-FFF2-40B4-BE49-F238E27FC236}">
                <a16:creationId xmlns:a16="http://schemas.microsoft.com/office/drawing/2014/main" id="{F66A7945-0E55-35D5-B6B3-1588521B85C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6318" y="735756"/>
            <a:ext cx="1493520" cy="818092"/>
          </a:xfrm>
          <a:prstGeom prst="rect">
            <a:avLst/>
          </a:prstGeom>
        </p:spPr>
      </p:pic>
      <p:pic>
        <p:nvPicPr>
          <p:cNvPr id="1026" name="Picture 2" descr="Media Resources | Tampa General Hospital">
            <a:extLst>
              <a:ext uri="{FF2B5EF4-FFF2-40B4-BE49-F238E27FC236}">
                <a16:creationId xmlns:a16="http://schemas.microsoft.com/office/drawing/2014/main" id="{8F8C3E85-72C0-C48D-FD98-AF2C9D53AE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7200" y="817077"/>
            <a:ext cx="2425700" cy="730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ampa General Hospital Named Blue Distinction Center+ for Maternity Care | Tampa  General Hospital">
            <a:extLst>
              <a:ext uri="{FF2B5EF4-FFF2-40B4-BE49-F238E27FC236}">
                <a16:creationId xmlns:a16="http://schemas.microsoft.com/office/drawing/2014/main" id="{F19F72F9-A8DC-D245-44E8-8590B160EF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52" b="19077"/>
          <a:stretch/>
        </p:blipFill>
        <p:spPr bwMode="auto">
          <a:xfrm>
            <a:off x="981075" y="1657010"/>
            <a:ext cx="11210925" cy="5200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6727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5">
            <a:extLst>
              <a:ext uri="{FF2B5EF4-FFF2-40B4-BE49-F238E27FC236}">
                <a16:creationId xmlns:a16="http://schemas.microsoft.com/office/drawing/2014/main" id="{E4D4BA5E-072E-BFC4-86A7-A8EC0FA16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975" y="1574349"/>
            <a:ext cx="7705725" cy="4657725"/>
          </a:xfrm>
          <a:prstGeom prst="rect">
            <a:avLst/>
          </a:prstGeom>
        </p:spPr>
      </p:pic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26CABA5-B853-4CE2-9D0B-B06245726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376" y="6471095"/>
            <a:ext cx="4114800" cy="250380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34C8217-D749-4511-B7B5-02F77484B378}"/>
              </a:ext>
            </a:extLst>
          </p:cNvPr>
          <p:cNvSpPr/>
          <p:nvPr/>
        </p:nvSpPr>
        <p:spPr>
          <a:xfrm>
            <a:off x="10887075" y="0"/>
            <a:ext cx="1304925" cy="6872068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EC4C45-7E95-496F-9B8E-C3FD224C0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2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53571B1-9896-47E3-8ADF-78C386484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376" y="1023915"/>
            <a:ext cx="9984796" cy="502882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spc="150" dirty="0">
                <a:solidFill>
                  <a:srgbClr val="0F5DA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 Leader in Private Labeled DTE Plans</a:t>
            </a:r>
            <a:endParaRPr lang="en-US" sz="2800" b="1" cap="all" spc="150" dirty="0">
              <a:solidFill>
                <a:srgbClr val="0F5DA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654A305B-9BE0-4449-826C-ACCCBB29F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6376" y="293729"/>
            <a:ext cx="3645898" cy="629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0AE72B-2936-B7FD-B16B-B7DDE61C48BF}"/>
              </a:ext>
            </a:extLst>
          </p:cNvPr>
          <p:cNvSpPr/>
          <p:nvPr/>
        </p:nvSpPr>
        <p:spPr>
          <a:xfrm>
            <a:off x="2659533" y="3974049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Bentonville, AR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Northwest Health Plan</a:t>
            </a:r>
          </a:p>
        </p:txBody>
      </p:sp>
      <p:sp>
        <p:nvSpPr>
          <p:cNvPr id="9" name="Rectangle: Rounded Corners 9">
            <a:extLst>
              <a:ext uri="{FF2B5EF4-FFF2-40B4-BE49-F238E27FC236}">
                <a16:creationId xmlns:a16="http://schemas.microsoft.com/office/drawing/2014/main" id="{83BAAF75-9BFE-8A09-84C8-29127AD11CC8}"/>
              </a:ext>
            </a:extLst>
          </p:cNvPr>
          <p:cNvSpPr/>
          <p:nvPr/>
        </p:nvSpPr>
        <p:spPr>
          <a:xfrm>
            <a:off x="3572730" y="5257649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Meridian, MS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Affinity Health Plan</a:t>
            </a:r>
          </a:p>
        </p:txBody>
      </p:sp>
      <p:sp>
        <p:nvSpPr>
          <p:cNvPr id="10" name="Rectangle: Rounded Corners 10">
            <a:extLst>
              <a:ext uri="{FF2B5EF4-FFF2-40B4-BE49-F238E27FC236}">
                <a16:creationId xmlns:a16="http://schemas.microsoft.com/office/drawing/2014/main" id="{F7F76DEC-1B86-5F34-4522-EE137E2BEDC5}"/>
              </a:ext>
            </a:extLst>
          </p:cNvPr>
          <p:cNvSpPr/>
          <p:nvPr/>
        </p:nvSpPr>
        <p:spPr>
          <a:xfrm>
            <a:off x="7452111" y="5382713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Fort Myers, FL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Lee Health Care Partners</a:t>
            </a:r>
          </a:p>
        </p:txBody>
      </p:sp>
      <p:sp>
        <p:nvSpPr>
          <p:cNvPr id="11" name="Rectangle: Rounded Corners 11">
            <a:extLst>
              <a:ext uri="{FF2B5EF4-FFF2-40B4-BE49-F238E27FC236}">
                <a16:creationId xmlns:a16="http://schemas.microsoft.com/office/drawing/2014/main" id="{B522D9FB-03E8-0475-A3A5-AF33059EA7E6}"/>
              </a:ext>
            </a:extLst>
          </p:cNvPr>
          <p:cNvSpPr/>
          <p:nvPr/>
        </p:nvSpPr>
        <p:spPr>
          <a:xfrm>
            <a:off x="7208737" y="4373211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Knoxville, TN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East Tennessee Health Plan</a:t>
            </a:r>
          </a:p>
        </p:txBody>
      </p:sp>
      <p:sp>
        <p:nvSpPr>
          <p:cNvPr id="12" name="Rectangle: Rounded Corners 12">
            <a:extLst>
              <a:ext uri="{FF2B5EF4-FFF2-40B4-BE49-F238E27FC236}">
                <a16:creationId xmlns:a16="http://schemas.microsoft.com/office/drawing/2014/main" id="{F3AB3343-FA0C-E9FA-637F-E45BB11DFFC1}"/>
              </a:ext>
            </a:extLst>
          </p:cNvPr>
          <p:cNvSpPr/>
          <p:nvPr/>
        </p:nvSpPr>
        <p:spPr>
          <a:xfrm>
            <a:off x="7047737" y="3363709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Cincinnati, OH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TCH Optimal</a:t>
            </a:r>
          </a:p>
        </p:txBody>
      </p:sp>
      <p:sp>
        <p:nvSpPr>
          <p:cNvPr id="13" name="Rectangle: Rounded Corners 13">
            <a:extLst>
              <a:ext uri="{FF2B5EF4-FFF2-40B4-BE49-F238E27FC236}">
                <a16:creationId xmlns:a16="http://schemas.microsoft.com/office/drawing/2014/main" id="{A5F1AA97-617E-DEDA-E780-8518ACB143FB}"/>
              </a:ext>
            </a:extLst>
          </p:cNvPr>
          <p:cNvSpPr/>
          <p:nvPr/>
        </p:nvSpPr>
        <p:spPr>
          <a:xfrm>
            <a:off x="3870663" y="2934468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Louisville, KY</a:t>
            </a:r>
          </a:p>
          <a:p>
            <a:pPr algn="ctr"/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OneHealth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Plan</a:t>
            </a:r>
          </a:p>
        </p:txBody>
      </p:sp>
    </p:spTree>
    <p:extLst>
      <p:ext uri="{BB962C8B-B14F-4D97-AF65-F5344CB8AC3E}">
        <p14:creationId xmlns:p14="http://schemas.microsoft.com/office/powerpoint/2010/main" val="263972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9CFB-714A-4CB7-9915-2C74E697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959" y="1292697"/>
            <a:ext cx="3677156" cy="304392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Direct-to-Employer</a:t>
            </a:r>
            <a:b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(DTE)</a:t>
            </a:r>
            <a:br>
              <a:rPr lang="en-US" sz="16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6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b="1" i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en-US" sz="16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Health Plan Focused on a Direct Relationship with Self-Funded Employers in </a:t>
            </a:r>
            <a:r>
              <a:rPr lang="en-US" sz="1600" b="1" i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en-US" sz="16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Market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B62E5-A9EF-46A8-AEE5-C69E2BA73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7763" y="1468132"/>
            <a:ext cx="5672318" cy="46609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59CAE8"/>
                </a:solidFill>
                <a:latin typeface="Arial Black" panose="020B0A04020102020204" pitchFamily="34" charset="0"/>
              </a:rPr>
              <a:t>YOU</a:t>
            </a:r>
            <a:r>
              <a:rPr lang="en-US" sz="2700" dirty="0">
                <a:solidFill>
                  <a:srgbClr val="9900CC"/>
                </a:solidFill>
              </a:rPr>
              <a:t> </a:t>
            </a:r>
            <a:r>
              <a:rPr lang="en-US" sz="2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Pick the Name of the Health Plan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59CAE8"/>
                </a:solidFill>
                <a:latin typeface="Arial Black" panose="020B0A04020102020204" pitchFamily="34" charset="0"/>
              </a:rPr>
              <a:t>YOU</a:t>
            </a:r>
            <a:r>
              <a:rPr lang="en-US" sz="2700" dirty="0"/>
              <a:t> </a:t>
            </a:r>
            <a:r>
              <a:rPr lang="en-US" sz="2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Determine the Fees Charged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59CAE8"/>
                </a:solidFill>
                <a:latin typeface="Arial Black" panose="020B0A04020102020204" pitchFamily="34" charset="0"/>
              </a:rPr>
              <a:t>YOU</a:t>
            </a:r>
            <a:r>
              <a:rPr lang="en-US" sz="2700" dirty="0"/>
              <a:t> </a:t>
            </a:r>
            <a:r>
              <a:rPr lang="en-US" sz="2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Practice the Medicine 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59CAE8"/>
                </a:solidFill>
                <a:latin typeface="Arial Black" panose="020B0A04020102020204" pitchFamily="34" charset="0"/>
              </a:rPr>
              <a:t>YOU</a:t>
            </a:r>
            <a:r>
              <a:rPr lang="en-US" sz="2700" dirty="0">
                <a:solidFill>
                  <a:srgbClr val="9900CC"/>
                </a:solidFill>
              </a:rPr>
              <a:t> </a:t>
            </a:r>
            <a:r>
              <a:rPr lang="en-US" sz="2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Receive the Profits  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2700" b="1" dirty="0">
                <a:solidFill>
                  <a:srgbClr val="59CAE8"/>
                </a:solidFill>
                <a:latin typeface="Arial Black" panose="020B0A04020102020204" pitchFamily="34" charset="0"/>
              </a:rPr>
              <a:t>WE</a:t>
            </a:r>
            <a:r>
              <a:rPr lang="en-US" sz="2700" dirty="0">
                <a:solidFill>
                  <a:srgbClr val="9900CC"/>
                </a:solidFill>
              </a:rPr>
              <a:t> </a:t>
            </a:r>
            <a:r>
              <a:rPr lang="en-US" sz="2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Make it Successful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DCACF-3B2C-45F6-88BB-41D64A30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45DC2E-CAD1-4A3B-BB6C-627FC995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B2B5697-E648-40EC-88C5-97A77999C18D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41">
            <a:extLst>
              <a:ext uri="{FF2B5EF4-FFF2-40B4-BE49-F238E27FC236}">
                <a16:creationId xmlns:a16="http://schemas.microsoft.com/office/drawing/2014/main" id="{C3A11C0D-6225-4F5F-9034-762253C251A2}"/>
              </a:ext>
            </a:extLst>
          </p:cNvPr>
          <p:cNvGrpSpPr/>
          <p:nvPr/>
        </p:nvGrpSpPr>
        <p:grpSpPr>
          <a:xfrm>
            <a:off x="5489623" y="1468132"/>
            <a:ext cx="640080" cy="4254692"/>
            <a:chOff x="5315974" y="943768"/>
            <a:chExt cx="640080" cy="4254692"/>
          </a:xfrm>
          <a:noFill/>
        </p:grpSpPr>
        <p:pic>
          <p:nvPicPr>
            <p:cNvPr id="8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D8A1C779-0B9F-4A67-8037-7D25A11FFA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4558380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9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78B72E30-7B45-40B1-9302-CE9A3F3AD9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3678222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10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9D9240A2-869D-4166-9772-32124160B4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2798065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11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E8C8DD14-AAF4-4762-B170-F052A3B228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1870916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12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C05F6E83-E756-4853-B3A8-49C6BE0325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943768"/>
              <a:ext cx="640080" cy="640080"/>
            </a:xfrm>
            <a:prstGeom prst="rect">
              <a:avLst/>
            </a:prstGeom>
            <a:grpFill/>
          </p:spPr>
        </p:pic>
      </p:grpSp>
      <p:pic>
        <p:nvPicPr>
          <p:cNvPr id="14" name="Picture 2" descr="Media Resources | Tampa General Hospital">
            <a:extLst>
              <a:ext uri="{FF2B5EF4-FFF2-40B4-BE49-F238E27FC236}">
                <a16:creationId xmlns:a16="http://schemas.microsoft.com/office/drawing/2014/main" id="{35A7B063-EC04-448C-0387-E7E35EDEFB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9900" y="395328"/>
            <a:ext cx="2425700" cy="730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2833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588DF-56D9-837C-AA1C-128F048C4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698" y="235398"/>
            <a:ext cx="10515600" cy="1325563"/>
          </a:xfrm>
        </p:spPr>
        <p:txBody>
          <a:bodyPr/>
          <a:lstStyle/>
          <a:p>
            <a:r>
              <a:rPr lang="en-US" dirty="0"/>
              <a:t>Plan Potential Growth Paths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C057C1-F13C-F6D8-AD44-F92FA29D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6B415-80AF-26A8-45D6-1254179BD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102BEAF-097D-41B4-20FD-56D98AD0F034}"/>
              </a:ext>
            </a:extLst>
          </p:cNvPr>
          <p:cNvSpPr/>
          <p:nvPr/>
        </p:nvSpPr>
        <p:spPr>
          <a:xfrm>
            <a:off x="0" y="-7770"/>
            <a:ext cx="978408" cy="6858000"/>
          </a:xfrm>
          <a:prstGeom prst="rect">
            <a:avLst/>
          </a:prstGeom>
          <a:solidFill>
            <a:srgbClr val="254F96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3706D05-011F-D6E5-AB62-168509A0E779}"/>
              </a:ext>
            </a:extLst>
          </p:cNvPr>
          <p:cNvSpPr txBox="1">
            <a:spLocks/>
          </p:cNvSpPr>
          <p:nvPr/>
        </p:nvSpPr>
        <p:spPr>
          <a:xfrm rot="16200000">
            <a:off x="-2814764" y="2993452"/>
            <a:ext cx="6553884" cy="752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 GROWTH POTENTIAL</a:t>
            </a:r>
          </a:p>
        </p:txBody>
      </p:sp>
      <p:grpSp>
        <p:nvGrpSpPr>
          <p:cNvPr id="7" name="Group 28">
            <a:extLst>
              <a:ext uri="{FF2B5EF4-FFF2-40B4-BE49-F238E27FC236}">
                <a16:creationId xmlns:a16="http://schemas.microsoft.com/office/drawing/2014/main" id="{69A10699-B4B2-AF88-E1A1-1EF0A88AB471}"/>
              </a:ext>
            </a:extLst>
          </p:cNvPr>
          <p:cNvGrpSpPr/>
          <p:nvPr/>
        </p:nvGrpSpPr>
        <p:grpSpPr>
          <a:xfrm>
            <a:off x="1359766" y="1855590"/>
            <a:ext cx="3960468" cy="3636786"/>
            <a:chOff x="1724978" y="2161521"/>
            <a:chExt cx="8274685" cy="4307840"/>
          </a:xfrm>
        </p:grpSpPr>
        <p:grpSp>
          <p:nvGrpSpPr>
            <p:cNvPr id="8" name="Group 29">
              <a:extLst>
                <a:ext uri="{FF2B5EF4-FFF2-40B4-BE49-F238E27FC236}">
                  <a16:creationId xmlns:a16="http://schemas.microsoft.com/office/drawing/2014/main" id="{11C874E5-E3B4-BAE0-4E2D-2C86D4E7E53A}"/>
                </a:ext>
              </a:extLst>
            </p:cNvPr>
            <p:cNvGrpSpPr/>
            <p:nvPr/>
          </p:nvGrpSpPr>
          <p:grpSpPr>
            <a:xfrm>
              <a:off x="1724978" y="5494001"/>
              <a:ext cx="6872605" cy="975360"/>
              <a:chOff x="1724978" y="5494001"/>
              <a:chExt cx="6872605" cy="975360"/>
            </a:xfrm>
          </p:grpSpPr>
          <p:sp>
            <p:nvSpPr>
              <p:cNvPr id="9" name="Freeform: Shape 72">
                <a:extLst>
                  <a:ext uri="{FF2B5EF4-FFF2-40B4-BE49-F238E27FC236}">
                    <a16:creationId xmlns:a16="http://schemas.microsoft.com/office/drawing/2014/main" id="{C2AD90F2-700F-581B-540A-D6A10D5F84F2}"/>
                  </a:ext>
                </a:extLst>
              </p:cNvPr>
              <p:cNvSpPr/>
              <p:nvPr/>
            </p:nvSpPr>
            <p:spPr>
              <a:xfrm flipV="1">
                <a:off x="2339023" y="5494001"/>
                <a:ext cx="6258560" cy="975360"/>
              </a:xfrm>
              <a:custGeom>
                <a:avLst/>
                <a:gdLst>
                  <a:gd name="connsiteX0" fmla="*/ 0 w 6258560"/>
                  <a:gd name="connsiteY0" fmla="*/ 97536 h 975360"/>
                  <a:gd name="connsiteX1" fmla="*/ 97536 w 6258560"/>
                  <a:gd name="connsiteY1" fmla="*/ 0 h 975360"/>
                  <a:gd name="connsiteX2" fmla="*/ 6161024 w 6258560"/>
                  <a:gd name="connsiteY2" fmla="*/ 0 h 975360"/>
                  <a:gd name="connsiteX3" fmla="*/ 6258560 w 6258560"/>
                  <a:gd name="connsiteY3" fmla="*/ 97536 h 975360"/>
                  <a:gd name="connsiteX4" fmla="*/ 6258560 w 6258560"/>
                  <a:gd name="connsiteY4" fmla="*/ 877824 h 975360"/>
                  <a:gd name="connsiteX5" fmla="*/ 6161024 w 6258560"/>
                  <a:gd name="connsiteY5" fmla="*/ 975360 h 975360"/>
                  <a:gd name="connsiteX6" fmla="*/ 97536 w 6258560"/>
                  <a:gd name="connsiteY6" fmla="*/ 975360 h 975360"/>
                  <a:gd name="connsiteX7" fmla="*/ 0 w 6258560"/>
                  <a:gd name="connsiteY7" fmla="*/ 877824 h 975360"/>
                  <a:gd name="connsiteX8" fmla="*/ 0 w 6258560"/>
                  <a:gd name="connsiteY8" fmla="*/ 97536 h 975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8560" h="975360">
                    <a:moveTo>
                      <a:pt x="0" y="97536"/>
                    </a:moveTo>
                    <a:cubicBezTo>
                      <a:pt x="0" y="43668"/>
                      <a:pt x="43668" y="0"/>
                      <a:pt x="97536" y="0"/>
                    </a:cubicBezTo>
                    <a:lnTo>
                      <a:pt x="6161024" y="0"/>
                    </a:lnTo>
                    <a:cubicBezTo>
                      <a:pt x="6214892" y="0"/>
                      <a:pt x="6258560" y="43668"/>
                      <a:pt x="6258560" y="97536"/>
                    </a:cubicBezTo>
                    <a:lnTo>
                      <a:pt x="6258560" y="877824"/>
                    </a:lnTo>
                    <a:cubicBezTo>
                      <a:pt x="6258560" y="931692"/>
                      <a:pt x="6214892" y="975360"/>
                      <a:pt x="6161024" y="975360"/>
                    </a:cubicBezTo>
                    <a:lnTo>
                      <a:pt x="97536" y="975360"/>
                    </a:lnTo>
                    <a:cubicBezTo>
                      <a:pt x="43668" y="975360"/>
                      <a:pt x="0" y="931692"/>
                      <a:pt x="0" y="877824"/>
                    </a:cubicBezTo>
                    <a:lnTo>
                      <a:pt x="0" y="97536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88587" tIns="188587" rIns="1298060" bIns="188587" numCol="1" spcCol="1270" anchor="ctr" anchorCtr="0">
                <a:noAutofit/>
              </a:bodyPr>
              <a:lstStyle/>
              <a:p>
                <a:pPr marL="0" lvl="0" indent="0" algn="l" defTabSz="1866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4200" kern="1200" dirty="0"/>
              </a:p>
            </p:txBody>
          </p:sp>
          <p:sp>
            <p:nvSpPr>
              <p:cNvPr id="10" name="TextBox 73">
                <a:extLst>
                  <a:ext uri="{FF2B5EF4-FFF2-40B4-BE49-F238E27FC236}">
                    <a16:creationId xmlns:a16="http://schemas.microsoft.com/office/drawing/2014/main" id="{AEAD331A-F2F6-E5AA-6FA8-43463612A331}"/>
                  </a:ext>
                </a:extLst>
              </p:cNvPr>
              <p:cNvSpPr txBox="1"/>
              <p:nvPr/>
            </p:nvSpPr>
            <p:spPr>
              <a:xfrm>
                <a:off x="1724978" y="5759838"/>
                <a:ext cx="3247806" cy="443686"/>
              </a:xfrm>
              <a:prstGeom prst="roundRect">
                <a:avLst/>
              </a:prstGeom>
              <a:solidFill>
                <a:srgbClr val="4468A5"/>
              </a:solidFill>
              <a:ln>
                <a:solidFill>
                  <a:schemeClr val="bg1"/>
                </a:solidFill>
              </a:ln>
              <a:effectLst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Population</a:t>
                </a:r>
                <a:endParaRPr lang="en-IN" sz="1600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" name="Group 30">
              <a:extLst>
                <a:ext uri="{FF2B5EF4-FFF2-40B4-BE49-F238E27FC236}">
                  <a16:creationId xmlns:a16="http://schemas.microsoft.com/office/drawing/2014/main" id="{689474B3-12FA-8E66-D71F-53822C9C68C9}"/>
                </a:ext>
              </a:extLst>
            </p:cNvPr>
            <p:cNvGrpSpPr/>
            <p:nvPr/>
          </p:nvGrpSpPr>
          <p:grpSpPr>
            <a:xfrm>
              <a:off x="2182178" y="2161521"/>
              <a:ext cx="7817485" cy="3197014"/>
              <a:chOff x="3627756" y="1830493"/>
              <a:chExt cx="7817485" cy="3197014"/>
            </a:xfrm>
          </p:grpSpPr>
          <p:grpSp>
            <p:nvGrpSpPr>
              <p:cNvPr id="12" name="Group 58">
                <a:extLst>
                  <a:ext uri="{FF2B5EF4-FFF2-40B4-BE49-F238E27FC236}">
                    <a16:creationId xmlns:a16="http://schemas.microsoft.com/office/drawing/2014/main" id="{51ED3EA0-1B18-EEE0-293E-BB00AD4DE764}"/>
                  </a:ext>
                </a:extLst>
              </p:cNvPr>
              <p:cNvGrpSpPr/>
              <p:nvPr/>
            </p:nvGrpSpPr>
            <p:grpSpPr>
              <a:xfrm>
                <a:off x="3627756" y="4052147"/>
                <a:ext cx="6882765" cy="975360"/>
                <a:chOff x="3627756" y="4052147"/>
                <a:chExt cx="6882765" cy="975360"/>
              </a:xfrm>
            </p:grpSpPr>
            <p:sp>
              <p:nvSpPr>
                <p:cNvPr id="13" name="Freeform: Shape 62">
                  <a:extLst>
                    <a:ext uri="{FF2B5EF4-FFF2-40B4-BE49-F238E27FC236}">
                      <a16:creationId xmlns:a16="http://schemas.microsoft.com/office/drawing/2014/main" id="{BC70B6BA-E51B-5756-ABB1-C97D21E56F2F}"/>
                    </a:ext>
                  </a:extLst>
                </p:cNvPr>
                <p:cNvSpPr/>
                <p:nvPr/>
              </p:nvSpPr>
              <p:spPr>
                <a:xfrm flipV="1">
                  <a:off x="4251961" y="4052147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/>
                </a:p>
              </p:txBody>
            </p:sp>
            <p:sp>
              <p:nvSpPr>
                <p:cNvPr id="14" name="TextBox 63">
                  <a:extLst>
                    <a:ext uri="{FF2B5EF4-FFF2-40B4-BE49-F238E27FC236}">
                      <a16:creationId xmlns:a16="http://schemas.microsoft.com/office/drawing/2014/main" id="{89D49C14-1775-066C-353B-1ACCC4D24138}"/>
                    </a:ext>
                  </a:extLst>
                </p:cNvPr>
                <p:cNvSpPr txBox="1"/>
                <p:nvPr/>
              </p:nvSpPr>
              <p:spPr>
                <a:xfrm>
                  <a:off x="3627756" y="4317984"/>
                  <a:ext cx="3247806" cy="443686"/>
                </a:xfrm>
                <a:prstGeom prst="roundRect">
                  <a:avLst/>
                </a:prstGeom>
                <a:solidFill>
                  <a:srgbClr val="4468A5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Working Age</a:t>
                  </a:r>
                  <a:endParaRPr lang="en-IN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5" name="Group 52">
                <a:extLst>
                  <a:ext uri="{FF2B5EF4-FFF2-40B4-BE49-F238E27FC236}">
                    <a16:creationId xmlns:a16="http://schemas.microsoft.com/office/drawing/2014/main" id="{1DBB449D-FFE3-79BF-CC4B-CBC0A3F03B29}"/>
                  </a:ext>
                </a:extLst>
              </p:cNvPr>
              <p:cNvGrpSpPr/>
              <p:nvPr/>
            </p:nvGrpSpPr>
            <p:grpSpPr>
              <a:xfrm>
                <a:off x="4069948" y="2930285"/>
                <a:ext cx="6907933" cy="975360"/>
                <a:chOff x="4069947" y="2930285"/>
                <a:chExt cx="6907933" cy="975360"/>
              </a:xfrm>
            </p:grpSpPr>
            <p:sp>
              <p:nvSpPr>
                <p:cNvPr id="16" name="Freeform: Shape 56">
                  <a:extLst>
                    <a:ext uri="{FF2B5EF4-FFF2-40B4-BE49-F238E27FC236}">
                      <a16:creationId xmlns:a16="http://schemas.microsoft.com/office/drawing/2014/main" id="{2D2231FB-5290-0F34-19A4-B0491233CE27}"/>
                    </a:ext>
                  </a:extLst>
                </p:cNvPr>
                <p:cNvSpPr/>
                <p:nvPr/>
              </p:nvSpPr>
              <p:spPr>
                <a:xfrm flipV="1">
                  <a:off x="4719320" y="2930285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/>
                </a:p>
              </p:txBody>
            </p:sp>
            <p:sp>
              <p:nvSpPr>
                <p:cNvPr id="17" name="TextBox 57">
                  <a:extLst>
                    <a:ext uri="{FF2B5EF4-FFF2-40B4-BE49-F238E27FC236}">
                      <a16:creationId xmlns:a16="http://schemas.microsoft.com/office/drawing/2014/main" id="{3C6B2C41-D61E-2C7A-3D82-5A90E06CEE5A}"/>
                    </a:ext>
                  </a:extLst>
                </p:cNvPr>
                <p:cNvSpPr txBox="1"/>
                <p:nvPr/>
              </p:nvSpPr>
              <p:spPr>
                <a:xfrm>
                  <a:off x="4069947" y="3206963"/>
                  <a:ext cx="3247806" cy="443686"/>
                </a:xfrm>
                <a:prstGeom prst="roundRect">
                  <a:avLst/>
                </a:prstGeom>
                <a:solidFill>
                  <a:srgbClr val="4468A5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Insured</a:t>
                  </a:r>
                  <a:endParaRPr lang="en-IN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8" name="Group 46">
                <a:extLst>
                  <a:ext uri="{FF2B5EF4-FFF2-40B4-BE49-F238E27FC236}">
                    <a16:creationId xmlns:a16="http://schemas.microsoft.com/office/drawing/2014/main" id="{F80321D4-B659-65A7-5D2E-CFE404DB4D8E}"/>
                  </a:ext>
                </a:extLst>
              </p:cNvPr>
              <p:cNvGrpSpPr/>
              <p:nvPr/>
            </p:nvGrpSpPr>
            <p:grpSpPr>
              <a:xfrm>
                <a:off x="4561206" y="1830493"/>
                <a:ext cx="6884035" cy="975360"/>
                <a:chOff x="4561206" y="1830493"/>
                <a:chExt cx="6884035" cy="975360"/>
              </a:xfrm>
            </p:grpSpPr>
            <p:sp>
              <p:nvSpPr>
                <p:cNvPr id="19" name="Freeform: Shape 50">
                  <a:extLst>
                    <a:ext uri="{FF2B5EF4-FFF2-40B4-BE49-F238E27FC236}">
                      <a16:creationId xmlns:a16="http://schemas.microsoft.com/office/drawing/2014/main" id="{19C69411-1E7E-AB74-D150-B508F4902A7E}"/>
                    </a:ext>
                  </a:extLst>
                </p:cNvPr>
                <p:cNvSpPr/>
                <p:nvPr/>
              </p:nvSpPr>
              <p:spPr>
                <a:xfrm flipV="1">
                  <a:off x="5186681" y="1830493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/>
                </a:p>
              </p:txBody>
            </p:sp>
            <p:sp>
              <p:nvSpPr>
                <p:cNvPr id="20" name="TextBox 51">
                  <a:extLst>
                    <a:ext uri="{FF2B5EF4-FFF2-40B4-BE49-F238E27FC236}">
                      <a16:creationId xmlns:a16="http://schemas.microsoft.com/office/drawing/2014/main" id="{2AE87841-825C-FE4F-1AB9-6CC03862C17F}"/>
                    </a:ext>
                  </a:extLst>
                </p:cNvPr>
                <p:cNvSpPr txBox="1"/>
                <p:nvPr/>
              </p:nvSpPr>
              <p:spPr>
                <a:xfrm>
                  <a:off x="4561206" y="2096329"/>
                  <a:ext cx="3247806" cy="443686"/>
                </a:xfrm>
                <a:prstGeom prst="roundRect">
                  <a:avLst/>
                </a:prstGeom>
                <a:solidFill>
                  <a:srgbClr val="4468A5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Self Funded</a:t>
                  </a:r>
                  <a:endParaRPr lang="en-IN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21" name="Freeform: Shape 31">
              <a:extLst>
                <a:ext uri="{FF2B5EF4-FFF2-40B4-BE49-F238E27FC236}">
                  <a16:creationId xmlns:a16="http://schemas.microsoft.com/office/drawing/2014/main" id="{93803CD4-6355-5262-37E3-213F86A67BEA}"/>
                </a:ext>
              </a:extLst>
            </p:cNvPr>
            <p:cNvSpPr/>
            <p:nvPr/>
          </p:nvSpPr>
          <p:spPr>
            <a:xfrm flipV="1">
              <a:off x="7997252" y="517548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/>
            </a:p>
          </p:txBody>
        </p:sp>
        <p:grpSp>
          <p:nvGrpSpPr>
            <p:cNvPr id="22" name="Group 32">
              <a:extLst>
                <a:ext uri="{FF2B5EF4-FFF2-40B4-BE49-F238E27FC236}">
                  <a16:creationId xmlns:a16="http://schemas.microsoft.com/office/drawing/2014/main" id="{C15EBE08-F14E-85B7-24FB-021AE8C94BA3}"/>
                </a:ext>
              </a:extLst>
            </p:cNvPr>
            <p:cNvGrpSpPr/>
            <p:nvPr/>
          </p:nvGrpSpPr>
          <p:grpSpPr>
            <a:xfrm>
              <a:off x="8755080" y="3384449"/>
              <a:ext cx="568098" cy="706284"/>
              <a:chOff x="3970882" y="2311049"/>
              <a:chExt cx="704850" cy="876300"/>
            </a:xfrm>
          </p:grpSpPr>
          <p:sp>
            <p:nvSpPr>
              <p:cNvPr id="23" name="Freeform: Shape 36">
                <a:extLst>
                  <a:ext uri="{FF2B5EF4-FFF2-40B4-BE49-F238E27FC236}">
                    <a16:creationId xmlns:a16="http://schemas.microsoft.com/office/drawing/2014/main" id="{99971868-A4E7-F273-D79D-9C20F2C9304D}"/>
                  </a:ext>
                </a:extLst>
              </p:cNvPr>
              <p:cNvSpPr/>
              <p:nvPr/>
            </p:nvSpPr>
            <p:spPr>
              <a:xfrm>
                <a:off x="3970882" y="2311049"/>
                <a:ext cx="704850" cy="876300"/>
              </a:xfrm>
              <a:custGeom>
                <a:avLst/>
                <a:gdLst>
                  <a:gd name="connsiteX0" fmla="*/ 7144 w 704850"/>
                  <a:gd name="connsiteY0" fmla="*/ 410166 h 876300"/>
                  <a:gd name="connsiteX1" fmla="*/ 7144 w 704850"/>
                  <a:gd name="connsiteY1" fmla="*/ 312791 h 876300"/>
                  <a:gd name="connsiteX2" fmla="*/ 164497 w 704850"/>
                  <a:gd name="connsiteY2" fmla="*/ 221942 h 876300"/>
                  <a:gd name="connsiteX3" fmla="*/ 164497 w 704850"/>
                  <a:gd name="connsiteY3" fmla="*/ 220266 h 876300"/>
                  <a:gd name="connsiteX4" fmla="*/ 164497 w 704850"/>
                  <a:gd name="connsiteY4" fmla="*/ 218589 h 876300"/>
                  <a:gd name="connsiteX5" fmla="*/ 140141 w 704850"/>
                  <a:gd name="connsiteY5" fmla="*/ 162935 h 876300"/>
                  <a:gd name="connsiteX6" fmla="*/ 140141 w 704850"/>
                  <a:gd name="connsiteY6" fmla="*/ 91459 h 876300"/>
                  <a:gd name="connsiteX7" fmla="*/ 156782 w 704850"/>
                  <a:gd name="connsiteY7" fmla="*/ 138608 h 876300"/>
                  <a:gd name="connsiteX8" fmla="*/ 140160 w 704850"/>
                  <a:gd name="connsiteY8" fmla="*/ 91478 h 876300"/>
                  <a:gd name="connsiteX9" fmla="*/ 237554 w 704850"/>
                  <a:gd name="connsiteY9" fmla="*/ 7144 h 876300"/>
                  <a:gd name="connsiteX10" fmla="*/ 334937 w 704850"/>
                  <a:gd name="connsiteY10" fmla="*/ 91488 h 876300"/>
                  <a:gd name="connsiteX11" fmla="*/ 334909 w 704850"/>
                  <a:gd name="connsiteY11" fmla="*/ 91964 h 876300"/>
                  <a:gd name="connsiteX12" fmla="*/ 334909 w 704850"/>
                  <a:gd name="connsiteY12" fmla="*/ 162963 h 876300"/>
                  <a:gd name="connsiteX13" fmla="*/ 334756 w 704850"/>
                  <a:gd name="connsiteY13" fmla="*/ 165440 h 876300"/>
                  <a:gd name="connsiteX14" fmla="*/ 334499 w 704850"/>
                  <a:gd name="connsiteY14" fmla="*/ 170240 h 876300"/>
                  <a:gd name="connsiteX15" fmla="*/ 334261 w 704850"/>
                  <a:gd name="connsiteY15" fmla="*/ 172488 h 876300"/>
                  <a:gd name="connsiteX16" fmla="*/ 332975 w 704850"/>
                  <a:gd name="connsiteY16" fmla="*/ 179756 h 876300"/>
                  <a:gd name="connsiteX17" fmla="*/ 332899 w 704850"/>
                  <a:gd name="connsiteY17" fmla="*/ 180051 h 876300"/>
                  <a:gd name="connsiteX18" fmla="*/ 332261 w 704850"/>
                  <a:gd name="connsiteY18" fmla="*/ 182204 h 876300"/>
                  <a:gd name="connsiteX19" fmla="*/ 467963 w 704850"/>
                  <a:gd name="connsiteY19" fmla="*/ 338880 h 876300"/>
                  <a:gd name="connsiteX20" fmla="*/ 467963 w 704850"/>
                  <a:gd name="connsiteY20" fmla="*/ 436274 h 876300"/>
                  <a:gd name="connsiteX21" fmla="*/ 175803 w 704850"/>
                  <a:gd name="connsiteY21" fmla="*/ 604923 h 876300"/>
                  <a:gd name="connsiteX22" fmla="*/ 7144 w 704850"/>
                  <a:gd name="connsiteY22" fmla="*/ 410166 h 876300"/>
                  <a:gd name="connsiteX23" fmla="*/ 695516 w 704850"/>
                  <a:gd name="connsiteY23" fmla="*/ 699859 h 876300"/>
                  <a:gd name="connsiteX24" fmla="*/ 403384 w 704850"/>
                  <a:gd name="connsiteY24" fmla="*/ 868518 h 876300"/>
                  <a:gd name="connsiteX25" fmla="*/ 401003 w 704850"/>
                  <a:gd name="connsiteY25" fmla="*/ 869156 h 876300"/>
                  <a:gd name="connsiteX26" fmla="*/ 397402 w 704850"/>
                  <a:gd name="connsiteY26" fmla="*/ 867508 h 876300"/>
                  <a:gd name="connsiteX27" fmla="*/ 228724 w 704850"/>
                  <a:gd name="connsiteY27" fmla="*/ 672770 h 876300"/>
                  <a:gd name="connsiteX28" fmla="*/ 227628 w 704850"/>
                  <a:gd name="connsiteY28" fmla="*/ 668865 h 876300"/>
                  <a:gd name="connsiteX29" fmla="*/ 229943 w 704850"/>
                  <a:gd name="connsiteY29" fmla="*/ 665531 h 876300"/>
                  <a:gd name="connsiteX30" fmla="*/ 522094 w 704850"/>
                  <a:gd name="connsiteY30" fmla="*/ 496853 h 876300"/>
                  <a:gd name="connsiteX31" fmla="*/ 528076 w 704850"/>
                  <a:gd name="connsiteY31" fmla="*/ 497853 h 876300"/>
                  <a:gd name="connsiteX32" fmla="*/ 696735 w 704850"/>
                  <a:gd name="connsiteY32" fmla="*/ 692610 h 876300"/>
                  <a:gd name="connsiteX33" fmla="*/ 697830 w 704850"/>
                  <a:gd name="connsiteY33" fmla="*/ 696516 h 876300"/>
                  <a:gd name="connsiteX34" fmla="*/ 695516 w 704850"/>
                  <a:gd name="connsiteY34" fmla="*/ 699859 h 87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704850" h="876300">
                    <a:moveTo>
                      <a:pt x="7144" y="410166"/>
                    </a:moveTo>
                    <a:lnTo>
                      <a:pt x="7144" y="312791"/>
                    </a:lnTo>
                    <a:lnTo>
                      <a:pt x="164497" y="221942"/>
                    </a:lnTo>
                    <a:lnTo>
                      <a:pt x="164497" y="220266"/>
                    </a:lnTo>
                    <a:lnTo>
                      <a:pt x="164497" y="218589"/>
                    </a:lnTo>
                    <a:cubicBezTo>
                      <a:pt x="149390" y="203730"/>
                      <a:pt x="140141" y="184290"/>
                      <a:pt x="140141" y="162935"/>
                    </a:cubicBezTo>
                    <a:lnTo>
                      <a:pt x="140141" y="91459"/>
                    </a:lnTo>
                    <a:cubicBezTo>
                      <a:pt x="140141" y="108918"/>
                      <a:pt x="146275" y="125149"/>
                      <a:pt x="156782" y="138608"/>
                    </a:cubicBezTo>
                    <a:cubicBezTo>
                      <a:pt x="146285" y="125149"/>
                      <a:pt x="140160" y="108937"/>
                      <a:pt x="140160" y="91478"/>
                    </a:cubicBezTo>
                    <a:cubicBezTo>
                      <a:pt x="140160" y="44901"/>
                      <a:pt x="183775" y="7144"/>
                      <a:pt x="237554" y="7144"/>
                    </a:cubicBezTo>
                    <a:cubicBezTo>
                      <a:pt x="291313" y="7144"/>
                      <a:pt x="334918" y="44901"/>
                      <a:pt x="334937" y="91488"/>
                    </a:cubicBezTo>
                    <a:cubicBezTo>
                      <a:pt x="334937" y="91650"/>
                      <a:pt x="334909" y="91802"/>
                      <a:pt x="334909" y="91964"/>
                    </a:cubicBezTo>
                    <a:lnTo>
                      <a:pt x="334909" y="162963"/>
                    </a:lnTo>
                    <a:cubicBezTo>
                      <a:pt x="334909" y="163792"/>
                      <a:pt x="334794" y="164602"/>
                      <a:pt x="334756" y="165440"/>
                    </a:cubicBezTo>
                    <a:cubicBezTo>
                      <a:pt x="334699" y="167040"/>
                      <a:pt x="334632" y="168650"/>
                      <a:pt x="334499" y="170240"/>
                    </a:cubicBezTo>
                    <a:cubicBezTo>
                      <a:pt x="334413" y="170983"/>
                      <a:pt x="334356" y="171736"/>
                      <a:pt x="334261" y="172488"/>
                    </a:cubicBezTo>
                    <a:cubicBezTo>
                      <a:pt x="333927" y="174936"/>
                      <a:pt x="333537" y="177375"/>
                      <a:pt x="332975" y="179756"/>
                    </a:cubicBezTo>
                    <a:cubicBezTo>
                      <a:pt x="332956" y="179851"/>
                      <a:pt x="332918" y="179946"/>
                      <a:pt x="332899" y="180051"/>
                    </a:cubicBezTo>
                    <a:cubicBezTo>
                      <a:pt x="332718" y="180785"/>
                      <a:pt x="332461" y="181480"/>
                      <a:pt x="332261" y="182204"/>
                    </a:cubicBezTo>
                    <a:lnTo>
                      <a:pt x="467963" y="338880"/>
                    </a:lnTo>
                    <a:lnTo>
                      <a:pt x="467963" y="436274"/>
                    </a:lnTo>
                    <a:lnTo>
                      <a:pt x="175803" y="604923"/>
                    </a:lnTo>
                    <a:lnTo>
                      <a:pt x="7144" y="410166"/>
                    </a:lnTo>
                    <a:close/>
                    <a:moveTo>
                      <a:pt x="695516" y="699859"/>
                    </a:moveTo>
                    <a:lnTo>
                      <a:pt x="403384" y="868518"/>
                    </a:lnTo>
                    <a:cubicBezTo>
                      <a:pt x="402641" y="868956"/>
                      <a:pt x="401822" y="869156"/>
                      <a:pt x="401003" y="869156"/>
                    </a:cubicBezTo>
                    <a:cubicBezTo>
                      <a:pt x="399660" y="869156"/>
                      <a:pt x="398336" y="868585"/>
                      <a:pt x="397402" y="867508"/>
                    </a:cubicBezTo>
                    <a:lnTo>
                      <a:pt x="228724" y="672770"/>
                    </a:lnTo>
                    <a:cubicBezTo>
                      <a:pt x="227790" y="671703"/>
                      <a:pt x="227390" y="670265"/>
                      <a:pt x="227628" y="668865"/>
                    </a:cubicBezTo>
                    <a:cubicBezTo>
                      <a:pt x="227867" y="667464"/>
                      <a:pt x="228714" y="666245"/>
                      <a:pt x="229943" y="665531"/>
                    </a:cubicBezTo>
                    <a:lnTo>
                      <a:pt x="522094" y="496853"/>
                    </a:lnTo>
                    <a:cubicBezTo>
                      <a:pt x="524056" y="495700"/>
                      <a:pt x="526590" y="496119"/>
                      <a:pt x="528076" y="497853"/>
                    </a:cubicBezTo>
                    <a:lnTo>
                      <a:pt x="696735" y="692610"/>
                    </a:lnTo>
                    <a:cubicBezTo>
                      <a:pt x="697668" y="693677"/>
                      <a:pt x="698068" y="695115"/>
                      <a:pt x="697830" y="696516"/>
                    </a:cubicBezTo>
                    <a:cubicBezTo>
                      <a:pt x="697592" y="697916"/>
                      <a:pt x="696744" y="699145"/>
                      <a:pt x="695516" y="699859"/>
                    </a:cubicBez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Freeform: Shape 37">
                <a:extLst>
                  <a:ext uri="{FF2B5EF4-FFF2-40B4-BE49-F238E27FC236}">
                    <a16:creationId xmlns:a16="http://schemas.microsoft.com/office/drawing/2014/main" id="{26D4449C-E24F-47A1-0BA9-B4D1231EE90A}"/>
                  </a:ext>
                </a:extLst>
              </p:cNvPr>
              <p:cNvSpPr/>
              <p:nvPr/>
            </p:nvSpPr>
            <p:spPr>
              <a:xfrm>
                <a:off x="4272815" y="2536792"/>
                <a:ext cx="9525" cy="9525"/>
              </a:xfrm>
              <a:custGeom>
                <a:avLst/>
                <a:gdLst>
                  <a:gd name="connsiteX0" fmla="*/ 7182 w 9525"/>
                  <a:gd name="connsiteY0" fmla="*/ 7144 h 9525"/>
                  <a:gd name="connsiteX1" fmla="*/ 7144 w 9525"/>
                  <a:gd name="connsiteY1" fmla="*/ 7296 h 9525"/>
                  <a:gd name="connsiteX2" fmla="*/ 7182 w 9525"/>
                  <a:gd name="connsiteY2" fmla="*/ 717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7182" y="7144"/>
                    </a:moveTo>
                    <a:lnTo>
                      <a:pt x="7144" y="7296"/>
                    </a:lnTo>
                    <a:lnTo>
                      <a:pt x="7182" y="717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Freeform: Shape 38">
                <a:extLst>
                  <a:ext uri="{FF2B5EF4-FFF2-40B4-BE49-F238E27FC236}">
                    <a16:creationId xmlns:a16="http://schemas.microsoft.com/office/drawing/2014/main" id="{380CB4F0-D598-949F-D94F-54D7DBD5CD13}"/>
                  </a:ext>
                </a:extLst>
              </p:cNvPr>
              <p:cNvSpPr/>
              <p:nvPr/>
            </p:nvSpPr>
            <p:spPr>
              <a:xfrm>
                <a:off x="4234039" y="2448019"/>
                <a:ext cx="38100" cy="28575"/>
              </a:xfrm>
              <a:custGeom>
                <a:avLst/>
                <a:gdLst>
                  <a:gd name="connsiteX0" fmla="*/ 7144 w 38100"/>
                  <a:gd name="connsiteY0" fmla="*/ 23879 h 28575"/>
                  <a:gd name="connsiteX1" fmla="*/ 9049 w 38100"/>
                  <a:gd name="connsiteY1" fmla="*/ 23241 h 28575"/>
                  <a:gd name="connsiteX2" fmla="*/ 9896 w 38100"/>
                  <a:gd name="connsiteY2" fmla="*/ 22927 h 28575"/>
                  <a:gd name="connsiteX3" fmla="*/ 17659 w 38100"/>
                  <a:gd name="connsiteY3" fmla="*/ 19555 h 28575"/>
                  <a:gd name="connsiteX4" fmla="*/ 19040 w 38100"/>
                  <a:gd name="connsiteY4" fmla="*/ 18831 h 28575"/>
                  <a:gd name="connsiteX5" fmla="*/ 20241 w 38100"/>
                  <a:gd name="connsiteY5" fmla="*/ 18202 h 28575"/>
                  <a:gd name="connsiteX6" fmla="*/ 25803 w 38100"/>
                  <a:gd name="connsiteY6" fmla="*/ 15069 h 28575"/>
                  <a:gd name="connsiteX7" fmla="*/ 29518 w 38100"/>
                  <a:gd name="connsiteY7" fmla="*/ 12649 h 28575"/>
                  <a:gd name="connsiteX8" fmla="*/ 30413 w 38100"/>
                  <a:gd name="connsiteY8" fmla="*/ 12049 h 28575"/>
                  <a:gd name="connsiteX9" fmla="*/ 31423 w 38100"/>
                  <a:gd name="connsiteY9" fmla="*/ 11354 h 28575"/>
                  <a:gd name="connsiteX10" fmla="*/ 36376 w 38100"/>
                  <a:gd name="connsiteY10" fmla="*/ 7439 h 28575"/>
                  <a:gd name="connsiteX11" fmla="*/ 36119 w 38100"/>
                  <a:gd name="connsiteY11" fmla="*/ 7144 h 28575"/>
                  <a:gd name="connsiteX12" fmla="*/ 7144 w 38100"/>
                  <a:gd name="connsiteY12" fmla="*/ 23879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100" h="28575">
                    <a:moveTo>
                      <a:pt x="7144" y="23879"/>
                    </a:moveTo>
                    <a:cubicBezTo>
                      <a:pt x="7772" y="23670"/>
                      <a:pt x="8458" y="23460"/>
                      <a:pt x="9049" y="23241"/>
                    </a:cubicBezTo>
                    <a:lnTo>
                      <a:pt x="9896" y="22927"/>
                    </a:lnTo>
                    <a:cubicBezTo>
                      <a:pt x="12449" y="21955"/>
                      <a:pt x="15059" y="20822"/>
                      <a:pt x="17659" y="19555"/>
                    </a:cubicBezTo>
                    <a:cubicBezTo>
                      <a:pt x="18117" y="19336"/>
                      <a:pt x="18583" y="19079"/>
                      <a:pt x="19040" y="18831"/>
                    </a:cubicBezTo>
                    <a:lnTo>
                      <a:pt x="20241" y="18202"/>
                    </a:lnTo>
                    <a:cubicBezTo>
                      <a:pt x="22117" y="17221"/>
                      <a:pt x="23993" y="16164"/>
                      <a:pt x="25803" y="15069"/>
                    </a:cubicBezTo>
                    <a:cubicBezTo>
                      <a:pt x="27022" y="14316"/>
                      <a:pt x="28270" y="13506"/>
                      <a:pt x="29518" y="12649"/>
                    </a:cubicBezTo>
                    <a:lnTo>
                      <a:pt x="30413" y="12049"/>
                    </a:lnTo>
                    <a:lnTo>
                      <a:pt x="31423" y="11354"/>
                    </a:lnTo>
                    <a:cubicBezTo>
                      <a:pt x="33090" y="10135"/>
                      <a:pt x="34757" y="8820"/>
                      <a:pt x="36376" y="7439"/>
                    </a:cubicBezTo>
                    <a:lnTo>
                      <a:pt x="36119" y="7144"/>
                    </a:lnTo>
                    <a:lnTo>
                      <a:pt x="7144" y="2387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Freeform: Shape 39">
                <a:extLst>
                  <a:ext uri="{FF2B5EF4-FFF2-40B4-BE49-F238E27FC236}">
                    <a16:creationId xmlns:a16="http://schemas.microsoft.com/office/drawing/2014/main" id="{71E01EC1-04E0-F00A-E7D0-A3570350B0AE}"/>
                  </a:ext>
                </a:extLst>
              </p:cNvPr>
              <p:cNvSpPr/>
              <p:nvPr/>
            </p:nvSpPr>
            <p:spPr>
              <a:xfrm>
                <a:off x="4266357" y="2417310"/>
                <a:ext cx="19050" cy="38100"/>
              </a:xfrm>
              <a:custGeom>
                <a:avLst/>
                <a:gdLst>
                  <a:gd name="connsiteX0" fmla="*/ 14792 w 19050"/>
                  <a:gd name="connsiteY0" fmla="*/ 12287 h 38100"/>
                  <a:gd name="connsiteX1" fmla="*/ 14621 w 19050"/>
                  <a:gd name="connsiteY1" fmla="*/ 13954 h 38100"/>
                  <a:gd name="connsiteX2" fmla="*/ 13649 w 19050"/>
                  <a:gd name="connsiteY2" fmla="*/ 19469 h 38100"/>
                  <a:gd name="connsiteX3" fmla="*/ 13611 w 19050"/>
                  <a:gd name="connsiteY3" fmla="*/ 19583 h 38100"/>
                  <a:gd name="connsiteX4" fmla="*/ 12011 w 19050"/>
                  <a:gd name="connsiteY4" fmla="*/ 25003 h 38100"/>
                  <a:gd name="connsiteX5" fmla="*/ 11430 w 19050"/>
                  <a:gd name="connsiteY5" fmla="*/ 26565 h 38100"/>
                  <a:gd name="connsiteX6" fmla="*/ 9754 w 19050"/>
                  <a:gd name="connsiteY6" fmla="*/ 30490 h 38100"/>
                  <a:gd name="connsiteX7" fmla="*/ 9106 w 19050"/>
                  <a:gd name="connsiteY7" fmla="*/ 31899 h 38100"/>
                  <a:gd name="connsiteX8" fmla="*/ 7144 w 19050"/>
                  <a:gd name="connsiteY8" fmla="*/ 35433 h 38100"/>
                  <a:gd name="connsiteX9" fmla="*/ 9830 w 19050"/>
                  <a:gd name="connsiteY9" fmla="*/ 32766 h 38100"/>
                  <a:gd name="connsiteX10" fmla="*/ 10925 w 19050"/>
                  <a:gd name="connsiteY10" fmla="*/ 31566 h 38100"/>
                  <a:gd name="connsiteX11" fmla="*/ 10992 w 19050"/>
                  <a:gd name="connsiteY11" fmla="*/ 31490 h 38100"/>
                  <a:gd name="connsiteX12" fmla="*/ 11316 w 19050"/>
                  <a:gd name="connsiteY12" fmla="*/ 31128 h 38100"/>
                  <a:gd name="connsiteX13" fmla="*/ 14535 w 19050"/>
                  <a:gd name="connsiteY13" fmla="*/ 27403 h 38100"/>
                  <a:gd name="connsiteX14" fmla="*/ 15088 w 19050"/>
                  <a:gd name="connsiteY14" fmla="*/ 26708 h 38100"/>
                  <a:gd name="connsiteX15" fmla="*/ 15088 w 19050"/>
                  <a:gd name="connsiteY15" fmla="*/ 7144 h 38100"/>
                  <a:gd name="connsiteX16" fmla="*/ 14792 w 19050"/>
                  <a:gd name="connsiteY16" fmla="*/ 1228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050" h="38100">
                    <a:moveTo>
                      <a:pt x="14792" y="12287"/>
                    </a:moveTo>
                    <a:cubicBezTo>
                      <a:pt x="14735" y="12849"/>
                      <a:pt x="14697" y="13402"/>
                      <a:pt x="14621" y="13954"/>
                    </a:cubicBezTo>
                    <a:cubicBezTo>
                      <a:pt x="14373" y="15811"/>
                      <a:pt x="14059" y="17669"/>
                      <a:pt x="13649" y="19469"/>
                    </a:cubicBezTo>
                    <a:cubicBezTo>
                      <a:pt x="13630" y="19507"/>
                      <a:pt x="13630" y="19545"/>
                      <a:pt x="13611" y="19583"/>
                    </a:cubicBezTo>
                    <a:cubicBezTo>
                      <a:pt x="13183" y="21422"/>
                      <a:pt x="12621" y="23222"/>
                      <a:pt x="12011" y="25003"/>
                    </a:cubicBezTo>
                    <a:cubicBezTo>
                      <a:pt x="11820" y="25537"/>
                      <a:pt x="11620" y="26041"/>
                      <a:pt x="11430" y="26565"/>
                    </a:cubicBezTo>
                    <a:cubicBezTo>
                      <a:pt x="10906" y="27899"/>
                      <a:pt x="10363" y="29194"/>
                      <a:pt x="9754" y="30490"/>
                    </a:cubicBezTo>
                    <a:cubicBezTo>
                      <a:pt x="9554" y="30947"/>
                      <a:pt x="9325" y="31432"/>
                      <a:pt x="9106" y="31899"/>
                    </a:cubicBezTo>
                    <a:cubicBezTo>
                      <a:pt x="8506" y="33099"/>
                      <a:pt x="7820" y="34271"/>
                      <a:pt x="7144" y="35433"/>
                    </a:cubicBezTo>
                    <a:cubicBezTo>
                      <a:pt x="7991" y="34623"/>
                      <a:pt x="8887" y="33738"/>
                      <a:pt x="9830" y="32766"/>
                    </a:cubicBezTo>
                    <a:cubicBezTo>
                      <a:pt x="10211" y="32366"/>
                      <a:pt x="10563" y="31966"/>
                      <a:pt x="10925" y="31566"/>
                    </a:cubicBezTo>
                    <a:lnTo>
                      <a:pt x="10992" y="31490"/>
                    </a:lnTo>
                    <a:lnTo>
                      <a:pt x="11316" y="31128"/>
                    </a:lnTo>
                    <a:cubicBezTo>
                      <a:pt x="12440" y="29918"/>
                      <a:pt x="13516" y="28689"/>
                      <a:pt x="14535" y="27403"/>
                    </a:cubicBezTo>
                    <a:lnTo>
                      <a:pt x="15088" y="26708"/>
                    </a:lnTo>
                    <a:lnTo>
                      <a:pt x="15088" y="7144"/>
                    </a:lnTo>
                    <a:cubicBezTo>
                      <a:pt x="15078" y="8868"/>
                      <a:pt x="14973" y="10592"/>
                      <a:pt x="14792" y="1228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Freeform: Shape 40">
                <a:extLst>
                  <a:ext uri="{FF2B5EF4-FFF2-40B4-BE49-F238E27FC236}">
                    <a16:creationId xmlns:a16="http://schemas.microsoft.com/office/drawing/2014/main" id="{3D3A0C0B-3028-02AB-45A9-5AC22941B397}"/>
                  </a:ext>
                </a:extLst>
              </p:cNvPr>
              <p:cNvSpPr/>
              <p:nvPr/>
            </p:nvSpPr>
            <p:spPr>
              <a:xfrm>
                <a:off x="4266319" y="2416967"/>
                <a:ext cx="19050" cy="38100"/>
              </a:xfrm>
              <a:custGeom>
                <a:avLst/>
                <a:gdLst>
                  <a:gd name="connsiteX0" fmla="*/ 9792 w 19050"/>
                  <a:gd name="connsiteY0" fmla="*/ 30832 h 38100"/>
                  <a:gd name="connsiteX1" fmla="*/ 11468 w 19050"/>
                  <a:gd name="connsiteY1" fmla="*/ 26908 h 38100"/>
                  <a:gd name="connsiteX2" fmla="*/ 12049 w 19050"/>
                  <a:gd name="connsiteY2" fmla="*/ 25346 h 38100"/>
                  <a:gd name="connsiteX3" fmla="*/ 13649 w 19050"/>
                  <a:gd name="connsiteY3" fmla="*/ 19926 h 38100"/>
                  <a:gd name="connsiteX4" fmla="*/ 13687 w 19050"/>
                  <a:gd name="connsiteY4" fmla="*/ 19812 h 38100"/>
                  <a:gd name="connsiteX5" fmla="*/ 14659 w 19050"/>
                  <a:gd name="connsiteY5" fmla="*/ 14297 h 38100"/>
                  <a:gd name="connsiteX6" fmla="*/ 14830 w 19050"/>
                  <a:gd name="connsiteY6" fmla="*/ 12630 h 38100"/>
                  <a:gd name="connsiteX7" fmla="*/ 15126 w 19050"/>
                  <a:gd name="connsiteY7" fmla="*/ 7487 h 38100"/>
                  <a:gd name="connsiteX8" fmla="*/ 15126 w 19050"/>
                  <a:gd name="connsiteY8" fmla="*/ 7144 h 38100"/>
                  <a:gd name="connsiteX9" fmla="*/ 14811 w 19050"/>
                  <a:gd name="connsiteY9" fmla="*/ 12621 h 38100"/>
                  <a:gd name="connsiteX10" fmla="*/ 14640 w 19050"/>
                  <a:gd name="connsiteY10" fmla="*/ 14288 h 38100"/>
                  <a:gd name="connsiteX11" fmla="*/ 13668 w 19050"/>
                  <a:gd name="connsiteY11" fmla="*/ 19802 h 38100"/>
                  <a:gd name="connsiteX12" fmla="*/ 13630 w 19050"/>
                  <a:gd name="connsiteY12" fmla="*/ 19917 h 38100"/>
                  <a:gd name="connsiteX13" fmla="*/ 12030 w 19050"/>
                  <a:gd name="connsiteY13" fmla="*/ 25336 h 38100"/>
                  <a:gd name="connsiteX14" fmla="*/ 11449 w 19050"/>
                  <a:gd name="connsiteY14" fmla="*/ 26899 h 38100"/>
                  <a:gd name="connsiteX15" fmla="*/ 9773 w 19050"/>
                  <a:gd name="connsiteY15" fmla="*/ 30823 h 38100"/>
                  <a:gd name="connsiteX16" fmla="*/ 9125 w 19050"/>
                  <a:gd name="connsiteY16" fmla="*/ 32233 h 38100"/>
                  <a:gd name="connsiteX17" fmla="*/ 7144 w 19050"/>
                  <a:gd name="connsiteY17" fmla="*/ 35814 h 38100"/>
                  <a:gd name="connsiteX18" fmla="*/ 7191 w 19050"/>
                  <a:gd name="connsiteY18" fmla="*/ 35776 h 38100"/>
                  <a:gd name="connsiteX19" fmla="*/ 9154 w 19050"/>
                  <a:gd name="connsiteY19" fmla="*/ 32242 h 38100"/>
                  <a:gd name="connsiteX20" fmla="*/ 9792 w 19050"/>
                  <a:gd name="connsiteY20" fmla="*/ 3083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050" h="38100">
                    <a:moveTo>
                      <a:pt x="9792" y="30832"/>
                    </a:moveTo>
                    <a:cubicBezTo>
                      <a:pt x="10401" y="29537"/>
                      <a:pt x="10944" y="28242"/>
                      <a:pt x="11468" y="26908"/>
                    </a:cubicBezTo>
                    <a:cubicBezTo>
                      <a:pt x="11659" y="26384"/>
                      <a:pt x="11859" y="25879"/>
                      <a:pt x="12049" y="25346"/>
                    </a:cubicBezTo>
                    <a:cubicBezTo>
                      <a:pt x="12659" y="23555"/>
                      <a:pt x="13221" y="21765"/>
                      <a:pt x="13649" y="19926"/>
                    </a:cubicBezTo>
                    <a:cubicBezTo>
                      <a:pt x="13668" y="19888"/>
                      <a:pt x="13668" y="19850"/>
                      <a:pt x="13687" y="19812"/>
                    </a:cubicBezTo>
                    <a:cubicBezTo>
                      <a:pt x="14097" y="18012"/>
                      <a:pt x="14411" y="16154"/>
                      <a:pt x="14659" y="14297"/>
                    </a:cubicBezTo>
                    <a:cubicBezTo>
                      <a:pt x="14735" y="13745"/>
                      <a:pt x="14773" y="13192"/>
                      <a:pt x="14830" y="12630"/>
                    </a:cubicBezTo>
                    <a:cubicBezTo>
                      <a:pt x="15011" y="10935"/>
                      <a:pt x="15116" y="9220"/>
                      <a:pt x="15126" y="7487"/>
                    </a:cubicBezTo>
                    <a:lnTo>
                      <a:pt x="15126" y="7144"/>
                    </a:lnTo>
                    <a:cubicBezTo>
                      <a:pt x="15135" y="8992"/>
                      <a:pt x="15002" y="10820"/>
                      <a:pt x="14811" y="12621"/>
                    </a:cubicBezTo>
                    <a:cubicBezTo>
                      <a:pt x="14754" y="13183"/>
                      <a:pt x="14716" y="13735"/>
                      <a:pt x="14640" y="14288"/>
                    </a:cubicBezTo>
                    <a:cubicBezTo>
                      <a:pt x="14402" y="16145"/>
                      <a:pt x="14078" y="18002"/>
                      <a:pt x="13668" y="19802"/>
                    </a:cubicBezTo>
                    <a:cubicBezTo>
                      <a:pt x="13649" y="19841"/>
                      <a:pt x="13649" y="19879"/>
                      <a:pt x="13630" y="19917"/>
                    </a:cubicBezTo>
                    <a:cubicBezTo>
                      <a:pt x="13202" y="21755"/>
                      <a:pt x="12640" y="23565"/>
                      <a:pt x="12030" y="25336"/>
                    </a:cubicBezTo>
                    <a:cubicBezTo>
                      <a:pt x="11840" y="25870"/>
                      <a:pt x="11640" y="26375"/>
                      <a:pt x="11449" y="26899"/>
                    </a:cubicBezTo>
                    <a:cubicBezTo>
                      <a:pt x="10925" y="28232"/>
                      <a:pt x="10392" y="29527"/>
                      <a:pt x="9773" y="30823"/>
                    </a:cubicBezTo>
                    <a:cubicBezTo>
                      <a:pt x="9573" y="31290"/>
                      <a:pt x="9344" y="31775"/>
                      <a:pt x="9125" y="32233"/>
                    </a:cubicBezTo>
                    <a:cubicBezTo>
                      <a:pt x="8515" y="33452"/>
                      <a:pt x="7820" y="34633"/>
                      <a:pt x="7144" y="35814"/>
                    </a:cubicBezTo>
                    <a:cubicBezTo>
                      <a:pt x="7153" y="35804"/>
                      <a:pt x="7172" y="35785"/>
                      <a:pt x="7191" y="35776"/>
                    </a:cubicBezTo>
                    <a:cubicBezTo>
                      <a:pt x="7868" y="34604"/>
                      <a:pt x="8553" y="33442"/>
                      <a:pt x="9154" y="32242"/>
                    </a:cubicBezTo>
                    <a:cubicBezTo>
                      <a:pt x="9363" y="31775"/>
                      <a:pt x="9592" y="31290"/>
                      <a:pt x="9792" y="308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8" name="Freeform: Shape 33">
              <a:extLst>
                <a:ext uri="{FF2B5EF4-FFF2-40B4-BE49-F238E27FC236}">
                  <a16:creationId xmlns:a16="http://schemas.microsoft.com/office/drawing/2014/main" id="{F62C5FEE-739C-5CD8-3480-47AFBD4B137D}"/>
                </a:ext>
              </a:extLst>
            </p:cNvPr>
            <p:cNvSpPr/>
            <p:nvPr/>
          </p:nvSpPr>
          <p:spPr>
            <a:xfrm flipV="1">
              <a:off x="8573407" y="4059813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/>
            </a:p>
          </p:txBody>
        </p:sp>
        <p:sp>
          <p:nvSpPr>
            <p:cNvPr id="29" name="Freeform: Shape 34">
              <a:extLst>
                <a:ext uri="{FF2B5EF4-FFF2-40B4-BE49-F238E27FC236}">
                  <a16:creationId xmlns:a16="http://schemas.microsoft.com/office/drawing/2014/main" id="{BCD906C9-9D1F-D350-D161-F4D9B4B287D1}"/>
                </a:ext>
              </a:extLst>
            </p:cNvPr>
            <p:cNvSpPr/>
            <p:nvPr/>
          </p:nvSpPr>
          <p:spPr>
            <a:xfrm flipV="1">
              <a:off x="9021642" y="293743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/>
            </a:p>
          </p:txBody>
        </p:sp>
      </p:grpSp>
      <p:sp>
        <p:nvSpPr>
          <p:cNvPr id="30" name="TextBox 75">
            <a:extLst>
              <a:ext uri="{FF2B5EF4-FFF2-40B4-BE49-F238E27FC236}">
                <a16:creationId xmlns:a16="http://schemas.microsoft.com/office/drawing/2014/main" id="{02AD65D6-9504-23E6-E4FD-CC294F4A3C64}"/>
              </a:ext>
            </a:extLst>
          </p:cNvPr>
          <p:cNvSpPr txBox="1"/>
          <p:nvPr/>
        </p:nvSpPr>
        <p:spPr>
          <a:xfrm>
            <a:off x="1699594" y="5848141"/>
            <a:ext cx="9514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/>
              </a:rPr>
              <a:t>Estimates include Hillsborough, Manatee, Pasco, and Pinellas Counties</a:t>
            </a:r>
          </a:p>
        </p:txBody>
      </p:sp>
      <p:sp>
        <p:nvSpPr>
          <p:cNvPr id="31" name="TextBox 76">
            <a:extLst>
              <a:ext uri="{FF2B5EF4-FFF2-40B4-BE49-F238E27FC236}">
                <a16:creationId xmlns:a16="http://schemas.microsoft.com/office/drawing/2014/main" id="{F3A378C3-B669-3EE2-B76D-98EDB44E8CDF}"/>
              </a:ext>
            </a:extLst>
          </p:cNvPr>
          <p:cNvSpPr txBox="1"/>
          <p:nvPr/>
        </p:nvSpPr>
        <p:spPr>
          <a:xfrm>
            <a:off x="3297507" y="4821984"/>
            <a:ext cx="16131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3,403K</a:t>
            </a:r>
          </a:p>
        </p:txBody>
      </p:sp>
      <p:sp>
        <p:nvSpPr>
          <p:cNvPr id="32" name="TextBox 77">
            <a:extLst>
              <a:ext uri="{FF2B5EF4-FFF2-40B4-BE49-F238E27FC236}">
                <a16:creationId xmlns:a16="http://schemas.microsoft.com/office/drawing/2014/main" id="{F24CF5B8-0E02-1AF3-2A3D-F14253B44FE8}"/>
              </a:ext>
            </a:extLst>
          </p:cNvPr>
          <p:cNvSpPr txBox="1"/>
          <p:nvPr/>
        </p:nvSpPr>
        <p:spPr>
          <a:xfrm>
            <a:off x="3520440" y="3896929"/>
            <a:ext cx="1096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1,984K</a:t>
            </a:r>
          </a:p>
        </p:txBody>
      </p:sp>
      <p:sp>
        <p:nvSpPr>
          <p:cNvPr id="33" name="TextBox 78">
            <a:extLst>
              <a:ext uri="{FF2B5EF4-FFF2-40B4-BE49-F238E27FC236}">
                <a16:creationId xmlns:a16="http://schemas.microsoft.com/office/drawing/2014/main" id="{509B3348-F2D5-63CE-B5D5-5FB7263B3D0F}"/>
              </a:ext>
            </a:extLst>
          </p:cNvPr>
          <p:cNvSpPr txBox="1"/>
          <p:nvPr/>
        </p:nvSpPr>
        <p:spPr>
          <a:xfrm>
            <a:off x="3739896" y="2954184"/>
            <a:ext cx="10791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1,332K</a:t>
            </a:r>
          </a:p>
        </p:txBody>
      </p:sp>
      <p:sp>
        <p:nvSpPr>
          <p:cNvPr id="34" name="TextBox 79">
            <a:extLst>
              <a:ext uri="{FF2B5EF4-FFF2-40B4-BE49-F238E27FC236}">
                <a16:creationId xmlns:a16="http://schemas.microsoft.com/office/drawing/2014/main" id="{7E24246C-24ED-62DA-EA2E-6EA4A6ADAEAC}"/>
              </a:ext>
            </a:extLst>
          </p:cNvPr>
          <p:cNvSpPr txBox="1"/>
          <p:nvPr/>
        </p:nvSpPr>
        <p:spPr>
          <a:xfrm>
            <a:off x="3959352" y="2022649"/>
            <a:ext cx="9220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807K</a:t>
            </a:r>
          </a:p>
        </p:txBody>
      </p:sp>
      <p:pic>
        <p:nvPicPr>
          <p:cNvPr id="35" name="Content Placeholder 34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5705856" y="1911096"/>
            <a:ext cx="6364224" cy="381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458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9CFB-714A-4CB7-9915-2C74E697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682" y="136525"/>
            <a:ext cx="10652404" cy="109152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Direct-to-Employer Strategy:</a:t>
            </a:r>
            <a:b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Only Available to </a:t>
            </a:r>
            <a:r>
              <a:rPr lang="en-US" sz="4000" b="1" i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Premier</a:t>
            </a:r>
            <a: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Health Systems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B62E5-A9EF-46A8-AEE5-C69E2BA73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7243" y="1829480"/>
            <a:ext cx="5672318" cy="46609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Arial Black" panose="020B0A04020102020204" pitchFamily="34" charset="0"/>
              </a:rPr>
              <a:t>STRONG</a:t>
            </a:r>
            <a:r>
              <a:rPr lang="en-US" sz="3200" dirty="0">
                <a:solidFill>
                  <a:srgbClr val="9900CC"/>
                </a:solidFill>
              </a:rPr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Brand Quality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Arial Black" panose="020B0A04020102020204" pitchFamily="34" charset="0"/>
              </a:rPr>
              <a:t>EXTENSIVE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Patient Access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Arial Black" panose="020B0A04020102020204" pitchFamily="34" charset="0"/>
              </a:rPr>
              <a:t>AFFORDABLE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Value Pricing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Arial Black" panose="020B0A04020102020204" pitchFamily="34" charset="0"/>
              </a:rPr>
              <a:t>EXCELLENT</a:t>
            </a:r>
            <a:r>
              <a:rPr lang="en-US" sz="3200" dirty="0">
                <a:solidFill>
                  <a:srgbClr val="9900CC"/>
                </a:solidFill>
              </a:rPr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Care Quality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DCACF-3B2C-45F6-88BB-41D64A30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45DC2E-CAD1-4A3B-BB6C-627FC995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B2B5697-E648-40EC-88C5-97A77999C18D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2" descr="Media Resources | Tampa General Hospital">
            <a:extLst>
              <a:ext uri="{FF2B5EF4-FFF2-40B4-BE49-F238E27FC236}">
                <a16:creationId xmlns:a16="http://schemas.microsoft.com/office/drawing/2014/main" id="{3505A6F9-F756-2582-13F9-7412C20EF3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9670" y="3144460"/>
            <a:ext cx="3623333" cy="1091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0461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Royalty-Free photo: Green tall trees near on the lake with overlooking  mountain during daytime | PickPik">
            <a:extLst>
              <a:ext uri="{FF2B5EF4-FFF2-40B4-BE49-F238E27FC236}">
                <a16:creationId xmlns:a16="http://schemas.microsoft.com/office/drawing/2014/main" id="{2478D38F-2055-3BED-F325-F30BC9616D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2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28"/>
          <a:stretch/>
        </p:blipFill>
        <p:spPr bwMode="auto">
          <a:xfrm>
            <a:off x="-31771" y="1"/>
            <a:ext cx="10918845" cy="6872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03588DF-56D9-837C-AA1C-128F048C4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90" y="144962"/>
            <a:ext cx="10515600" cy="1325563"/>
          </a:xfrm>
        </p:spPr>
        <p:txBody>
          <a:bodyPr/>
          <a:lstStyle/>
          <a:p>
            <a:r>
              <a:rPr lang="en-US" dirty="0"/>
              <a:t>Growing Powerful, Lasting Profitability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69C057C1-F13C-F6D8-AD44-F92FA29D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52413" y="6480529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F46B415-80AF-26A8-45D6-1254179BD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239038F2-C307-DC75-4AEA-316E0211A3AE}"/>
              </a:ext>
            </a:extLst>
          </p:cNvPr>
          <p:cNvSpPr/>
          <p:nvPr/>
        </p:nvSpPr>
        <p:spPr>
          <a:xfrm>
            <a:off x="10887075" y="0"/>
            <a:ext cx="1304925" cy="6872068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C0C1C4CA-44D9-9691-E058-46CEB5C35DF2}"/>
              </a:ext>
            </a:extLst>
          </p:cNvPr>
          <p:cNvSpPr/>
          <p:nvPr/>
        </p:nvSpPr>
        <p:spPr>
          <a:xfrm>
            <a:off x="4401177" y="1868993"/>
            <a:ext cx="1914733" cy="4119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8DCAE5A5-11EC-16C5-5F5F-C5DF9E3B0859}"/>
              </a:ext>
            </a:extLst>
          </p:cNvPr>
          <p:cNvSpPr/>
          <p:nvPr/>
        </p:nvSpPr>
        <p:spPr>
          <a:xfrm>
            <a:off x="6315910" y="1868991"/>
            <a:ext cx="1914733" cy="4119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98C73641-C807-1985-E19A-CA79DA10785E}"/>
              </a:ext>
            </a:extLst>
          </p:cNvPr>
          <p:cNvSpPr/>
          <p:nvPr/>
        </p:nvSpPr>
        <p:spPr>
          <a:xfrm>
            <a:off x="8230644" y="1868990"/>
            <a:ext cx="1914732" cy="4119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8546D6DB-89F3-8B35-A9E8-670CED022928}"/>
              </a:ext>
            </a:extLst>
          </p:cNvPr>
          <p:cNvSpPr txBox="1"/>
          <p:nvPr/>
        </p:nvSpPr>
        <p:spPr>
          <a:xfrm>
            <a:off x="572430" y="1636954"/>
            <a:ext cx="2568332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087CE"/>
                </a:solidFill>
              </a:rPr>
              <a:t>Early Stage</a:t>
            </a:r>
          </a:p>
          <a:p>
            <a:pPr algn="ctr"/>
            <a:r>
              <a:rPr lang="en-US" sz="1100" dirty="0">
                <a:solidFill>
                  <a:srgbClr val="6087CE"/>
                </a:solidFill>
              </a:rPr>
              <a:t>Graining Name Recognition, Early Growth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0C35DE11-AC92-1958-1813-38A8A86CBCE8}"/>
              </a:ext>
            </a:extLst>
          </p:cNvPr>
          <p:cNvSpPr txBox="1"/>
          <p:nvPr/>
        </p:nvSpPr>
        <p:spPr>
          <a:xfrm>
            <a:off x="135286" y="2293880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</a:rPr>
              <a:t>New Revenue: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2E2DA353-8032-9A29-CBFC-5E2CAB8FA818}"/>
              </a:ext>
            </a:extLst>
          </p:cNvPr>
          <p:cNvSpPr txBox="1"/>
          <p:nvPr/>
        </p:nvSpPr>
        <p:spPr>
          <a:xfrm>
            <a:off x="2219510" y="2293880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</a:rPr>
              <a:t>New Profit:</a:t>
            </a: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2EE70FCE-698F-980C-DE5B-A5E0DD82F2B7}"/>
              </a:ext>
            </a:extLst>
          </p:cNvPr>
          <p:cNvSpPr txBox="1"/>
          <p:nvPr/>
        </p:nvSpPr>
        <p:spPr>
          <a:xfrm>
            <a:off x="129001" y="2539605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</a:rPr>
              <a:t>$75.23M</a:t>
            </a:r>
            <a:endParaRPr lang="en-US" sz="2000" dirty="0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BAF8120-09F6-4EB0-E666-C1CBDC5CF295}"/>
              </a:ext>
            </a:extLst>
          </p:cNvPr>
          <p:cNvSpPr txBox="1"/>
          <p:nvPr/>
        </p:nvSpPr>
        <p:spPr>
          <a:xfrm>
            <a:off x="1922550" y="2539605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</a:rPr>
              <a:t>$12.43M</a:t>
            </a:r>
            <a:endParaRPr lang="en-US" sz="2000" dirty="0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B374298-411A-3F68-B672-E1DC32DEA9AE}"/>
              </a:ext>
            </a:extLst>
          </p:cNvPr>
          <p:cNvSpPr txBox="1"/>
          <p:nvPr/>
        </p:nvSpPr>
        <p:spPr>
          <a:xfrm>
            <a:off x="781431" y="3151370"/>
            <a:ext cx="2132315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</a:rPr>
              <a:t>Growth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</a:rPr>
              <a:t>Strong Reputation, Strong Growth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34215D0-1B81-9E25-D893-D1A81A7D90DE}"/>
              </a:ext>
            </a:extLst>
          </p:cNvPr>
          <p:cNvSpPr txBox="1"/>
          <p:nvPr/>
        </p:nvSpPr>
        <p:spPr>
          <a:xfrm>
            <a:off x="126277" y="3808296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Revenue: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4D03DDF-E57A-E22B-A334-B0D6BAD568C1}"/>
              </a:ext>
            </a:extLst>
          </p:cNvPr>
          <p:cNvSpPr txBox="1"/>
          <p:nvPr/>
        </p:nvSpPr>
        <p:spPr>
          <a:xfrm>
            <a:off x="2210501" y="3808296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Profit:</a:t>
            </a:r>
          </a:p>
        </p:txBody>
      </p:sp>
      <p:sp>
        <p:nvSpPr>
          <p:cNvPr id="18" name="TextBox 20">
            <a:extLst>
              <a:ext uri="{FF2B5EF4-FFF2-40B4-BE49-F238E27FC236}">
                <a16:creationId xmlns:a16="http://schemas.microsoft.com/office/drawing/2014/main" id="{2F96F890-CA85-53B4-4C86-B02186E9E89E}"/>
              </a:ext>
            </a:extLst>
          </p:cNvPr>
          <p:cNvSpPr txBox="1"/>
          <p:nvPr/>
        </p:nvSpPr>
        <p:spPr>
          <a:xfrm>
            <a:off x="119992" y="4054021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$515.13M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19" name="TextBox 21">
            <a:extLst>
              <a:ext uri="{FF2B5EF4-FFF2-40B4-BE49-F238E27FC236}">
                <a16:creationId xmlns:a16="http://schemas.microsoft.com/office/drawing/2014/main" id="{BD5125C9-83DD-4D9F-DE79-D476BE3F058D}"/>
              </a:ext>
            </a:extLst>
          </p:cNvPr>
          <p:cNvSpPr txBox="1"/>
          <p:nvPr/>
        </p:nvSpPr>
        <p:spPr>
          <a:xfrm>
            <a:off x="1913541" y="4054021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$86.32M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20" name="TextBox 22">
            <a:extLst>
              <a:ext uri="{FF2B5EF4-FFF2-40B4-BE49-F238E27FC236}">
                <a16:creationId xmlns:a16="http://schemas.microsoft.com/office/drawing/2014/main" id="{DEBB9E11-84A3-58F8-237D-4A265C29D49C}"/>
              </a:ext>
            </a:extLst>
          </p:cNvPr>
          <p:cNvSpPr txBox="1"/>
          <p:nvPr/>
        </p:nvSpPr>
        <p:spPr>
          <a:xfrm>
            <a:off x="729525" y="4771937"/>
            <a:ext cx="22541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</a:rPr>
              <a:t>Mature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</a:rPr>
              <a:t>High Profitability, Market Saturation</a:t>
            </a:r>
          </a:p>
        </p:txBody>
      </p:sp>
      <p:sp>
        <p:nvSpPr>
          <p:cNvPr id="21" name="TextBox 23">
            <a:extLst>
              <a:ext uri="{FF2B5EF4-FFF2-40B4-BE49-F238E27FC236}">
                <a16:creationId xmlns:a16="http://schemas.microsoft.com/office/drawing/2014/main" id="{E4C2D887-78BC-455D-E84B-4706DBDF3CA1}"/>
              </a:ext>
            </a:extLst>
          </p:cNvPr>
          <p:cNvSpPr txBox="1"/>
          <p:nvPr/>
        </p:nvSpPr>
        <p:spPr>
          <a:xfrm>
            <a:off x="135286" y="5428863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Revenue:</a:t>
            </a:r>
          </a:p>
        </p:txBody>
      </p:sp>
      <p:sp>
        <p:nvSpPr>
          <p:cNvPr id="22" name="TextBox 24">
            <a:extLst>
              <a:ext uri="{FF2B5EF4-FFF2-40B4-BE49-F238E27FC236}">
                <a16:creationId xmlns:a16="http://schemas.microsoft.com/office/drawing/2014/main" id="{FC3AFD72-934E-C314-76C9-3BD3C3ADC5D7}"/>
              </a:ext>
            </a:extLst>
          </p:cNvPr>
          <p:cNvSpPr txBox="1"/>
          <p:nvPr/>
        </p:nvSpPr>
        <p:spPr>
          <a:xfrm>
            <a:off x="2219510" y="5428863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Profit:</a:t>
            </a:r>
          </a:p>
        </p:txBody>
      </p:sp>
      <p:sp>
        <p:nvSpPr>
          <p:cNvPr id="23" name="TextBox 25">
            <a:extLst>
              <a:ext uri="{FF2B5EF4-FFF2-40B4-BE49-F238E27FC236}">
                <a16:creationId xmlns:a16="http://schemas.microsoft.com/office/drawing/2014/main" id="{AFC7E587-98BA-0E7B-D632-50ECCC546F0C}"/>
              </a:ext>
            </a:extLst>
          </p:cNvPr>
          <p:cNvSpPr txBox="1"/>
          <p:nvPr/>
        </p:nvSpPr>
        <p:spPr>
          <a:xfrm>
            <a:off x="129001" y="5674588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$1013.84M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24" name="TextBox 26">
            <a:extLst>
              <a:ext uri="{FF2B5EF4-FFF2-40B4-BE49-F238E27FC236}">
                <a16:creationId xmlns:a16="http://schemas.microsoft.com/office/drawing/2014/main" id="{CDADE326-124A-38EC-26DF-B19515A72278}"/>
              </a:ext>
            </a:extLst>
          </p:cNvPr>
          <p:cNvSpPr txBox="1"/>
          <p:nvPr/>
        </p:nvSpPr>
        <p:spPr>
          <a:xfrm>
            <a:off x="1922550" y="5674588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$170.06M</a:t>
            </a:r>
            <a:endParaRPr lang="en-US" sz="2000" dirty="0">
              <a:solidFill>
                <a:srgbClr val="2F5597"/>
              </a:solidFill>
            </a:endParaRPr>
          </a:p>
        </p:txBody>
      </p:sp>
      <p:pic>
        <p:nvPicPr>
          <p:cNvPr id="25" name="Content Placeholder 24"/>
          <p:cNvPicPr>
            <a:picLocks noGrp="1"/>
          </p:cNvPicPr>
          <p:nvPr>
            <p:ph/>
          </p:nvPr>
        </p:nvPicPr>
        <p:blipFill>
          <a:blip r:embed="rId4" cstate="print"/>
          <a:stretch>
            <a:fillRect/>
          </a:stretch>
        </p:blipFill>
        <p:spPr>
          <a:xfrm>
            <a:off x="4078224" y="1472184"/>
            <a:ext cx="6364224" cy="477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922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1584104-3166-4FA8-92FB-C6ABEB17DCED}"/>
              </a:ext>
            </a:extLst>
          </p:cNvPr>
          <p:cNvSpPr/>
          <p:nvPr/>
        </p:nvSpPr>
        <p:spPr>
          <a:xfrm>
            <a:off x="0" y="0"/>
            <a:ext cx="97840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DF93BA-77DA-4714-87BA-6C1545215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02199" y="6465009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12CE32-70CB-45CC-841F-9F408BFEE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6B699B2-0ED4-420C-8D6A-E40BF532CD0F}"/>
              </a:ext>
            </a:extLst>
          </p:cNvPr>
          <p:cNvSpPr/>
          <p:nvPr/>
        </p:nvSpPr>
        <p:spPr>
          <a:xfrm>
            <a:off x="0" y="-27866"/>
            <a:ext cx="978408" cy="6858000"/>
          </a:xfrm>
          <a:prstGeom prst="rect">
            <a:avLst/>
          </a:prstGeom>
          <a:solidFill>
            <a:srgbClr val="254F96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1A9C655-FF92-49E3-BB7D-E5BBC008C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583404" y="3031902"/>
            <a:ext cx="6145216" cy="75204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3600" b="0" dirty="0">
                <a:solidFill>
                  <a:schemeClr val="bg1"/>
                </a:solidFill>
              </a:rPr>
              <a:t>SINGLE YEAR SUMMARY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AB8821D0-DEDE-002D-E87D-13E033D5D75F}"/>
              </a:ext>
            </a:extLst>
          </p:cNvPr>
          <p:cNvSpPr txBox="1"/>
          <p:nvPr/>
        </p:nvSpPr>
        <p:spPr>
          <a:xfrm>
            <a:off x="1091591" y="5433068"/>
            <a:ext cx="108813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/>
              </a:rPr>
              <a:t>NOTE:  Please see detailed financial analysis and assumptions used starting on page 23.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/>
              </a:rPr>
              <a:t>Financial projections do not include 340B contribution margin, which could represent $136 PMPM by optimizing 340B through Rx plan design, TGH’s approved site(s) with network integration, and development of TGH’s proprietary PBM program.</a:t>
            </a:r>
            <a:r>
              <a:rPr lang="en-US" sz="1600" dirty="0">
                <a:highlight>
                  <a:srgbClr val="FFFF00"/>
                </a:highlight>
              </a:rPr>
              <a:t>   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176272" y="704088"/>
          <a:ext cx="9052560" cy="43586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 gridSpan="8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of 77% Within-Plan Steerage.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of 77% Within-Plan Steerage.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of 77% Within-Plan Steerage.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of 77% Within-Plan Steerage.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of 77% Within-Plan Steerage.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of 77% Within-Plan Steerage.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of 77% Within-Plan Steerage.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of 77% Within-Plan Steerage.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Members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Pre-DTE Revenue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Pre-DTE Margin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Revenue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Incr. Revenue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Total Margin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Incr. Margin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 Margin Less DTE Fees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131K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29K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1,027K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 896K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177K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148K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-181K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656K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146K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5,137K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4,481K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887K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740K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416K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1,000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$ 1,312K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292K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$ 10,275K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8,962K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$ 1,773K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$ 1,481K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$ 1,163K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2,500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$ 3,281K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730K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$ 25,687K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$ 22,406K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$ 4,433K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$ 3,702K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$ 3,402K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10,000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$13,125K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$2,921K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$102,749K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$ 89,624K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$17,730K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$14,809K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$14,599K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20,000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$26,249K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$5,842K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$205,498K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$179,249K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$35,460K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$29,618K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$29,528K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6460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FF2B5EF4-FFF2-40B4-BE49-F238E27FC236}">
                <a16:creationId xmlns:a16="http://schemas.microsoft.com/office/drawing/2014/main" id="{BB5D2E5F-7796-4A80-A1F0-244E8AA938D3}"/>
              </a:ext>
            </a:extLst>
          </p:cNvPr>
          <p:cNvSpPr/>
          <p:nvPr/>
        </p:nvSpPr>
        <p:spPr>
          <a:xfrm>
            <a:off x="0" y="0"/>
            <a:ext cx="3095625" cy="6845654"/>
          </a:xfrm>
          <a:prstGeom prst="rect">
            <a:avLst/>
          </a:prstGeom>
          <a:gradFill flip="none" rotWithShape="1">
            <a:gsLst>
              <a:gs pos="0">
                <a:srgbClr val="C6C5C5"/>
              </a:gs>
              <a:gs pos="68000">
                <a:srgbClr val="B7B6B6"/>
              </a:gs>
              <a:gs pos="43000">
                <a:srgbClr val="A8A7A7"/>
              </a:gs>
              <a:gs pos="93000">
                <a:srgbClr val="A8A7A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4" descr="Key Benefit Administrators Office Photos | Glassdoor">
            <a:extLst>
              <a:ext uri="{FF2B5EF4-FFF2-40B4-BE49-F238E27FC236}">
                <a16:creationId xmlns:a16="http://schemas.microsoft.com/office/drawing/2014/main" id="{6CEA05B0-D867-49BD-BC20-745975B6F4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828926" y="0"/>
            <a:ext cx="93630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1">
            <a:extLst>
              <a:ext uri="{FF2B5EF4-FFF2-40B4-BE49-F238E27FC236}">
                <a16:creationId xmlns:a16="http://schemas.microsoft.com/office/drawing/2014/main" id="{F9E7BDA1-C2F0-47FC-8E35-E6C155FA1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0" y="-4227"/>
            <a:ext cx="3000375" cy="1000125"/>
          </a:xfrm>
          <a:prstGeom prst="rect">
            <a:avLst/>
          </a:prstGeom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9B0828E-DA28-4FBB-9235-C683F78A9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8</a:t>
            </a:fld>
            <a:endParaRPr lang="en-US" dirty="0"/>
          </a:p>
        </p:txBody>
      </p:sp>
      <p:sp>
        <p:nvSpPr>
          <p:cNvPr id="6" name="Rectangle 23">
            <a:extLst>
              <a:ext uri="{FF2B5EF4-FFF2-40B4-BE49-F238E27FC236}">
                <a16:creationId xmlns:a16="http://schemas.microsoft.com/office/drawing/2014/main" id="{88F9B5E8-D3C0-4885-9F6B-379525D51687}"/>
              </a:ext>
            </a:extLst>
          </p:cNvPr>
          <p:cNvSpPr/>
          <p:nvPr/>
        </p:nvSpPr>
        <p:spPr>
          <a:xfrm>
            <a:off x="-3796" y="1415180"/>
            <a:ext cx="7385671" cy="5439997"/>
          </a:xfrm>
          <a:prstGeom prst="rect">
            <a:avLst/>
          </a:prstGeom>
          <a:gradFill flip="none" rotWithShape="1">
            <a:gsLst>
              <a:gs pos="0">
                <a:srgbClr val="C6C5C5"/>
              </a:gs>
              <a:gs pos="68000">
                <a:srgbClr val="B7B6B6"/>
              </a:gs>
              <a:gs pos="43000">
                <a:srgbClr val="A8A7A7"/>
              </a:gs>
              <a:gs pos="93000">
                <a:srgbClr val="A8A7A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Single Corner Rounded 4">
            <a:extLst>
              <a:ext uri="{FF2B5EF4-FFF2-40B4-BE49-F238E27FC236}">
                <a16:creationId xmlns:a16="http://schemas.microsoft.com/office/drawing/2014/main" id="{AD1D7B3D-91CE-4826-90BB-5F92F8BB9481}"/>
              </a:ext>
            </a:extLst>
          </p:cNvPr>
          <p:cNvSpPr/>
          <p:nvPr/>
        </p:nvSpPr>
        <p:spPr>
          <a:xfrm>
            <a:off x="0" y="1009650"/>
            <a:ext cx="7477760" cy="5845528"/>
          </a:xfrm>
          <a:prstGeom prst="round1Rect">
            <a:avLst>
              <a:gd name="adj" fmla="val 12082"/>
            </a:avLst>
          </a:prstGeom>
          <a:solidFill>
            <a:srgbClr val="254F96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74320" rtlCol="0" anchor="ctr"/>
          <a:lstStyle/>
          <a:p>
            <a:pPr marL="457206" lvl="1" defTabSz="914411" fontAlgn="base">
              <a:defRPr/>
            </a:pPr>
            <a:endParaRPr lang="en-US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reeform: Shape 5">
            <a:extLst>
              <a:ext uri="{FF2B5EF4-FFF2-40B4-BE49-F238E27FC236}">
                <a16:creationId xmlns:a16="http://schemas.microsoft.com/office/drawing/2014/main" id="{D616A404-B324-4680-9ED6-0746BB2B3A16}"/>
              </a:ext>
            </a:extLst>
          </p:cNvPr>
          <p:cNvSpPr/>
          <p:nvPr/>
        </p:nvSpPr>
        <p:spPr>
          <a:xfrm rot="16200000">
            <a:off x="5385400" y="4759020"/>
            <a:ext cx="1873602" cy="2318710"/>
          </a:xfrm>
          <a:custGeom>
            <a:avLst/>
            <a:gdLst>
              <a:gd name="connsiteX0" fmla="*/ 2160577 w 2160577"/>
              <a:gd name="connsiteY0" fmla="*/ 3114245 h 3114245"/>
              <a:gd name="connsiteX1" fmla="*/ 0 w 2160577"/>
              <a:gd name="connsiteY1" fmla="*/ 3114245 h 3114245"/>
              <a:gd name="connsiteX2" fmla="*/ 0 w 2160577"/>
              <a:gd name="connsiteY2" fmla="*/ 0 h 3114245"/>
              <a:gd name="connsiteX3" fmla="*/ 40185 w 2160577"/>
              <a:gd name="connsiteY3" fmla="*/ 231682 h 3114245"/>
              <a:gd name="connsiteX4" fmla="*/ 2101086 w 2160577"/>
              <a:gd name="connsiteY4" fmla="*/ 3114244 h 3114245"/>
              <a:gd name="connsiteX5" fmla="*/ 2158168 w 2160577"/>
              <a:gd name="connsiteY5" fmla="*/ 3108162 h 3114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60577" h="3114245">
                <a:moveTo>
                  <a:pt x="2160577" y="3114245"/>
                </a:moveTo>
                <a:lnTo>
                  <a:pt x="0" y="3114245"/>
                </a:lnTo>
                <a:lnTo>
                  <a:pt x="0" y="0"/>
                </a:lnTo>
                <a:lnTo>
                  <a:pt x="40185" y="231682"/>
                </a:lnTo>
                <a:cubicBezTo>
                  <a:pt x="379730" y="1925643"/>
                  <a:pt x="1174627" y="3114244"/>
                  <a:pt x="2101086" y="3114244"/>
                </a:cubicBezTo>
                <a:lnTo>
                  <a:pt x="2158168" y="3108162"/>
                </a:lnTo>
                <a:close/>
              </a:path>
            </a:pathLst>
          </a:custGeom>
          <a:solidFill>
            <a:srgbClr val="59CAE8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11">
              <a:defRPr/>
            </a:pPr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B009B747-65C4-4EA6-8340-1E1EB3FE580D}"/>
              </a:ext>
            </a:extLst>
          </p:cNvPr>
          <p:cNvSpPr txBox="1"/>
          <p:nvPr/>
        </p:nvSpPr>
        <p:spPr>
          <a:xfrm>
            <a:off x="452402" y="2374741"/>
            <a:ext cx="665080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Founded in 1979 and headquartered in Indianapolis, IN​</a:t>
            </a:r>
          </a:p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Full-service TPA specializing in the administration of self-funded health plans and population health management​</a:t>
            </a:r>
          </a:p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of the country’s largest independently-owned TPAs </a:t>
            </a:r>
          </a:p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Key Family is a commonly-held group of benefits related organizations with:​</a:t>
            </a:r>
          </a:p>
          <a:p>
            <a:pPr marL="742960" lvl="1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3,000+ corporate clients​</a:t>
            </a:r>
          </a:p>
          <a:p>
            <a:pPr marL="742960" lvl="1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3.0 million members under management​</a:t>
            </a:r>
          </a:p>
          <a:p>
            <a:pPr marL="742960" lvl="1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700 Employees</a:t>
            </a:r>
          </a:p>
          <a:p>
            <a:pPr marL="285753" indent="-285753" defTabSz="914411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spc="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Exclusive Relationships</a:t>
            </a:r>
          </a:p>
          <a:p>
            <a:pPr marL="285753" indent="-285753" defTabSz="91441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spc="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know The Market – Agents, Networks, and MGAs</a:t>
            </a:r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EFB33B55-1AEB-4BBC-9F3F-C887F0C42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07458" y="6360415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BA081F8A-34EF-4672-9370-DBC0CA8BE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2402" y="1312679"/>
            <a:ext cx="3951647" cy="76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9135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Key Benefit Administrators Office Photos | Glassdoor">
            <a:extLst>
              <a:ext uri="{FF2B5EF4-FFF2-40B4-BE49-F238E27FC236}">
                <a16:creationId xmlns:a16="http://schemas.microsoft.com/office/drawing/2014/main" id="{1892E4D4-7A08-4B2B-AE4B-53A6D73CC0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"/>
          <a:stretch/>
        </p:blipFill>
        <p:spPr bwMode="auto">
          <a:xfrm>
            <a:off x="0" y="-1057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8">
            <a:extLst>
              <a:ext uri="{FF2B5EF4-FFF2-40B4-BE49-F238E27FC236}">
                <a16:creationId xmlns:a16="http://schemas.microsoft.com/office/drawing/2014/main" id="{ABE43D6C-8B57-42E8-B1DC-2390ECA42EAC}"/>
              </a:ext>
            </a:extLst>
          </p:cNvPr>
          <p:cNvSpPr/>
          <p:nvPr/>
        </p:nvSpPr>
        <p:spPr>
          <a:xfrm>
            <a:off x="1" y="-1057"/>
            <a:ext cx="12203289" cy="6865412"/>
          </a:xfrm>
          <a:prstGeom prst="rect">
            <a:avLst/>
          </a:prstGeom>
          <a:solidFill>
            <a:srgbClr val="59CAE8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BB9A266-2718-4687-903B-B87AB1E45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66" y="560444"/>
            <a:ext cx="6850224" cy="78254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 Partner You Can Trust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49F6874-178E-4F82-9DAB-D6100F3B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0530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Key Benefit Administrators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77C4E82-3249-4BC7-AAC4-401977969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>
                <a:solidFill>
                  <a:schemeClr val="bg1"/>
                </a:solidFill>
              </a:rPr>
              <a:t>9</a:t>
            </a:fld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7" name="Group 26">
            <a:extLst>
              <a:ext uri="{FF2B5EF4-FFF2-40B4-BE49-F238E27FC236}">
                <a16:creationId xmlns:a16="http://schemas.microsoft.com/office/drawing/2014/main" id="{CE5A4C1D-715F-46F5-A80B-647078B97ADE}"/>
              </a:ext>
            </a:extLst>
          </p:cNvPr>
          <p:cNvGrpSpPr/>
          <p:nvPr/>
        </p:nvGrpSpPr>
        <p:grpSpPr>
          <a:xfrm>
            <a:off x="667280" y="3021140"/>
            <a:ext cx="10857442" cy="1200329"/>
            <a:chOff x="908754" y="2695500"/>
            <a:chExt cx="10558665" cy="1200329"/>
          </a:xfrm>
        </p:grpSpPr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E53A35DC-3649-45F8-BE1C-71234D1F47FC}"/>
                </a:ext>
              </a:extLst>
            </p:cNvPr>
            <p:cNvSpPr/>
            <p:nvPr/>
          </p:nvSpPr>
          <p:spPr>
            <a:xfrm>
              <a:off x="908754" y="2695500"/>
              <a:ext cx="2058812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OUR OBJECTIVES ARE ALIGNED</a:t>
              </a:r>
            </a:p>
          </p:txBody>
        </p:sp>
        <p:sp>
          <p:nvSpPr>
            <p:cNvPr id="9" name="Rectangle 23">
              <a:extLst>
                <a:ext uri="{FF2B5EF4-FFF2-40B4-BE49-F238E27FC236}">
                  <a16:creationId xmlns:a16="http://schemas.microsoft.com/office/drawing/2014/main" id="{9BB7B37B-58E4-4EF5-8BCD-B5AFD3FF7576}"/>
                </a:ext>
              </a:extLst>
            </p:cNvPr>
            <p:cNvSpPr/>
            <p:nvPr/>
          </p:nvSpPr>
          <p:spPr>
            <a:xfrm>
              <a:off x="3464860" y="2695500"/>
              <a:ext cx="2096575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WE KNOW THE </a:t>
              </a:r>
            </a:p>
            <a:p>
              <a:r>
                <a:rPr lang="en-US" b="1" dirty="0">
                  <a:solidFill>
                    <a:schemeClr val="bg1"/>
                  </a:solidFill>
                </a:rPr>
                <a:t>MARKET</a:t>
              </a:r>
            </a:p>
          </p:txBody>
        </p:sp>
        <p:sp>
          <p:nvSpPr>
            <p:cNvPr id="10" name="Rectangle 24">
              <a:extLst>
                <a:ext uri="{FF2B5EF4-FFF2-40B4-BE49-F238E27FC236}">
                  <a16:creationId xmlns:a16="http://schemas.microsoft.com/office/drawing/2014/main" id="{712D71E1-CFC6-401F-B564-C6DB174E5C25}"/>
                </a:ext>
              </a:extLst>
            </p:cNvPr>
            <p:cNvSpPr/>
            <p:nvPr/>
          </p:nvSpPr>
          <p:spPr>
            <a:xfrm>
              <a:off x="6105045" y="2695500"/>
              <a:ext cx="1861517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COMPLETELY TRANSPARENT</a:t>
              </a:r>
            </a:p>
          </p:txBody>
        </p:sp>
        <p:sp>
          <p:nvSpPr>
            <p:cNvPr id="11" name="Rectangle 25">
              <a:extLst>
                <a:ext uri="{FF2B5EF4-FFF2-40B4-BE49-F238E27FC236}">
                  <a16:creationId xmlns:a16="http://schemas.microsoft.com/office/drawing/2014/main" id="{3219F81E-41A2-4D21-B41F-E66CCE1EAA9D}"/>
                </a:ext>
              </a:extLst>
            </p:cNvPr>
            <p:cNvSpPr/>
            <p:nvPr/>
          </p:nvSpPr>
          <p:spPr>
            <a:xfrm>
              <a:off x="9062157" y="2695500"/>
              <a:ext cx="2405262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WE HAVE THE SOPHISTICATION AND INFRASTRUCTURE TO EFFECTIVELY COMPETE</a:t>
              </a:r>
            </a:p>
          </p:txBody>
        </p:sp>
      </p:grpSp>
      <p:cxnSp>
        <p:nvCxnSpPr>
          <p:cNvPr id="12" name="Straight Connector 28">
            <a:extLst>
              <a:ext uri="{FF2B5EF4-FFF2-40B4-BE49-F238E27FC236}">
                <a16:creationId xmlns:a16="http://schemas.microsoft.com/office/drawing/2014/main" id="{E6766B73-ED58-4B01-BD6B-A7599019575A}"/>
              </a:ext>
            </a:extLst>
          </p:cNvPr>
          <p:cNvCxnSpPr>
            <a:cxnSpLocks/>
          </p:cNvCxnSpPr>
          <p:nvPr/>
        </p:nvCxnSpPr>
        <p:spPr>
          <a:xfrm>
            <a:off x="2917120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0">
            <a:extLst>
              <a:ext uri="{FF2B5EF4-FFF2-40B4-BE49-F238E27FC236}">
                <a16:creationId xmlns:a16="http://schemas.microsoft.com/office/drawing/2014/main" id="{C9A43ED8-AB6C-4F7E-9885-C690563292F2}"/>
              </a:ext>
            </a:extLst>
          </p:cNvPr>
          <p:cNvCxnSpPr>
            <a:cxnSpLocks/>
          </p:cNvCxnSpPr>
          <p:nvPr/>
        </p:nvCxnSpPr>
        <p:spPr>
          <a:xfrm>
            <a:off x="8372475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1BD031DC-C93A-4161-9A46-6F11F2AEF085}"/>
              </a:ext>
            </a:extLst>
          </p:cNvPr>
          <p:cNvCxnSpPr>
            <a:cxnSpLocks/>
          </p:cNvCxnSpPr>
          <p:nvPr/>
        </p:nvCxnSpPr>
        <p:spPr>
          <a:xfrm>
            <a:off x="5468408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48">
            <a:extLst>
              <a:ext uri="{FF2B5EF4-FFF2-40B4-BE49-F238E27FC236}">
                <a16:creationId xmlns:a16="http://schemas.microsoft.com/office/drawing/2014/main" id="{4CFD71DC-84A4-44EC-928A-6D9297F1CEFD}"/>
              </a:ext>
            </a:extLst>
          </p:cNvPr>
          <p:cNvGrpSpPr/>
          <p:nvPr/>
        </p:nvGrpSpPr>
        <p:grpSpPr>
          <a:xfrm>
            <a:off x="1051119" y="1991365"/>
            <a:ext cx="9064429" cy="723514"/>
            <a:chOff x="1051119" y="1877065"/>
            <a:chExt cx="8870575" cy="723514"/>
          </a:xfrm>
        </p:grpSpPr>
        <p:pic>
          <p:nvPicPr>
            <p:cNvPr id="16" name="Graphic 35" descr="Cycle with people">
              <a:extLst>
                <a:ext uri="{FF2B5EF4-FFF2-40B4-BE49-F238E27FC236}">
                  <a16:creationId xmlns:a16="http://schemas.microsoft.com/office/drawing/2014/main" id="{DD87A908-9804-4DB4-9FF4-150E55D0A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1119" y="1877065"/>
              <a:ext cx="723514" cy="723514"/>
            </a:xfrm>
            <a:prstGeom prst="rect">
              <a:avLst/>
            </a:prstGeom>
          </p:spPr>
        </p:pic>
        <p:pic>
          <p:nvPicPr>
            <p:cNvPr id="17" name="Graphic 37" descr="Bar graph with upward trend">
              <a:extLst>
                <a:ext uri="{FF2B5EF4-FFF2-40B4-BE49-F238E27FC236}">
                  <a16:creationId xmlns:a16="http://schemas.microsoft.com/office/drawing/2014/main" id="{A43C7D21-D600-499C-ADE1-3389B478D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42481" y="1952990"/>
              <a:ext cx="571664" cy="571664"/>
            </a:xfrm>
            <a:prstGeom prst="rect">
              <a:avLst/>
            </a:prstGeom>
          </p:spPr>
        </p:pic>
        <p:pic>
          <p:nvPicPr>
            <p:cNvPr id="18" name="Graphic 41" descr="Research">
              <a:extLst>
                <a:ext uri="{FF2B5EF4-FFF2-40B4-BE49-F238E27FC236}">
                  <a16:creationId xmlns:a16="http://schemas.microsoft.com/office/drawing/2014/main" id="{EB5D0031-3DC4-4608-96CB-BE0770B19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417105" y="1930239"/>
              <a:ext cx="617166" cy="617166"/>
            </a:xfrm>
            <a:prstGeom prst="rect">
              <a:avLst/>
            </a:prstGeom>
          </p:spPr>
        </p:pic>
        <p:pic>
          <p:nvPicPr>
            <p:cNvPr id="19" name="Graphic 47" descr="Bullseye">
              <a:extLst>
                <a:ext uri="{FF2B5EF4-FFF2-40B4-BE49-F238E27FC236}">
                  <a16:creationId xmlns:a16="http://schemas.microsoft.com/office/drawing/2014/main" id="{F0079980-31B3-4896-9D2D-D82AEDFA3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85554" y="1920753"/>
              <a:ext cx="636140" cy="636140"/>
            </a:xfrm>
            <a:prstGeom prst="rect">
              <a:avLst/>
            </a:prstGeom>
          </p:spPr>
        </p:pic>
      </p:grpSp>
      <p:pic>
        <p:nvPicPr>
          <p:cNvPr id="20" name="Picture 4">
            <a:extLst>
              <a:ext uri="{FF2B5EF4-FFF2-40B4-BE49-F238E27FC236}">
                <a16:creationId xmlns:a16="http://schemas.microsoft.com/office/drawing/2014/main" id="{9A68CCDA-F69E-4E1A-9343-202FFC37D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20176" y="4961762"/>
            <a:ext cx="3951647" cy="76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7AD4757-49A8-4E8D-B5EB-262D21C155F1}"/>
              </a:ext>
            </a:extLst>
          </p:cNvPr>
          <p:cNvSpPr txBox="1"/>
          <p:nvPr/>
        </p:nvSpPr>
        <p:spPr>
          <a:xfrm>
            <a:off x="2976561" y="5746908"/>
            <a:ext cx="6238875" cy="646331"/>
          </a:xfrm>
          <a:prstGeom prst="rect">
            <a:avLst/>
          </a:prstGeom>
          <a:solidFill>
            <a:srgbClr val="244F9A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Derek Moore, Senior Vice President – KBA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845-283-9973 * derek.moore@keybenefit.com</a:t>
            </a:r>
          </a:p>
        </p:txBody>
      </p:sp>
    </p:spTree>
    <p:extLst>
      <p:ext uri="{BB962C8B-B14F-4D97-AF65-F5344CB8AC3E}">
        <p14:creationId xmlns:p14="http://schemas.microsoft.com/office/powerpoint/2010/main" val="23172839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9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643EB6F1B5124D9F8A552D994B00B3" ma:contentTypeVersion="15" ma:contentTypeDescription="Create a new document." ma:contentTypeScope="" ma:versionID="07f1af8f4acde182c1b3188558a15fee">
  <xsd:schema xmlns:xsd="http://www.w3.org/2001/XMLSchema" xmlns:xs="http://www.w3.org/2001/XMLSchema" xmlns:p="http://schemas.microsoft.com/office/2006/metadata/properties" xmlns:ns1="http://schemas.microsoft.com/sharepoint/v3" xmlns:ns3="73b4665c-884a-4375-a2af-95b1b9fefebd" xmlns:ns4="f00513cd-d03f-4a36-8031-96ec2b1a2332" targetNamespace="http://schemas.microsoft.com/office/2006/metadata/properties" ma:root="true" ma:fieldsID="b940c9d8acf570648efc7a679d034003" ns1:_="" ns3:_="" ns4:_="">
    <xsd:import namespace="http://schemas.microsoft.com/sharepoint/v3"/>
    <xsd:import namespace="73b4665c-884a-4375-a2af-95b1b9fefebd"/>
    <xsd:import namespace="f00513cd-d03f-4a36-8031-96ec2b1a233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b4665c-884a-4375-a2af-95b1b9fefe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0513cd-d03f-4a36-8031-96ec2b1a233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56F5604B-F201-4300-A086-2482203EA6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F208B6D-7736-4F94-9580-EE469D7406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3b4665c-884a-4375-a2af-95b1b9fefebd"/>
    <ds:schemaRef ds:uri="f00513cd-d03f-4a36-8031-96ec2b1a23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2DF0AA1-9465-45DA-A905-9501DB639AB6}">
  <ds:schemaRefs>
    <ds:schemaRef ds:uri="http://schemas.openxmlformats.org/package/2006/metadata/core-properties"/>
    <ds:schemaRef ds:uri="http://schemas.microsoft.com/sharepoint/v3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73b4665c-884a-4375-a2af-95b1b9fefebd"/>
    <ds:schemaRef ds:uri="http://www.w3.org/XML/1998/namespace"/>
    <ds:schemaRef ds:uri="http://schemas.microsoft.com/office/infopath/2007/PartnerControls"/>
    <ds:schemaRef ds:uri="f00513cd-d03f-4a36-8031-96ec2b1a233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45996</TotalTime>
  <Words>545</Words>
  <Application>Microsoft Office PowerPoint</Application>
  <PresentationFormat>Widescreen</PresentationFormat>
  <Paragraphs>153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 Black</vt:lpstr>
      <vt:lpstr>Calibri</vt:lpstr>
      <vt:lpstr>Calibri Light</vt:lpstr>
      <vt:lpstr>Wingdings</vt:lpstr>
      <vt:lpstr>Office Theme</vt:lpstr>
      <vt:lpstr>PowerPoint Presentation</vt:lpstr>
      <vt:lpstr>Market Leader in Private Labeled DTE Plans</vt:lpstr>
      <vt:lpstr>Direct-to-Employer (DTE)  Your Health Plan Focused on a Direct Relationship with Self-Funded Employers in Your Market</vt:lpstr>
      <vt:lpstr>Plan Potential Growth Paths</vt:lpstr>
      <vt:lpstr>Direct-to-Employer Strategy: Only Available to Premier Health Systems</vt:lpstr>
      <vt:lpstr>Growing Powerful, Lasting Profitability</vt:lpstr>
      <vt:lpstr>SINGLE YEAR SUMMARY</vt:lpstr>
      <vt:lpstr>PowerPoint Presentation</vt:lpstr>
      <vt:lpstr>A Partner You Can Trust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Hill, Jack</dc:creator>
  <cp:lastModifiedBy>Taylor Davis</cp:lastModifiedBy>
  <cp:revision>112</cp:revision>
  <cp:lastPrinted>2023-07-13T10:24:43Z</cp:lastPrinted>
  <dcterms:created xsi:type="dcterms:W3CDTF">2021-01-20T14:12:11Z</dcterms:created>
  <dcterms:modified xsi:type="dcterms:W3CDTF">2024-09-09T23:12:16Z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0x01010070643EB6F1B5124D9F8A552D994B00B3</vt:lpwstr>
  </property>
</Properties>
</file>