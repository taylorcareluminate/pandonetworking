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20"/>
  </p:notesMasterIdLst>
  <p:sldIdLst>
    <p:sldId id="588" r:id="rId8"/>
    <p:sldId id="454" r:id="rId9"/>
    <p:sldId id="549" r:id="rId10"/>
    <p:sldId id="564" r:id="rId11"/>
    <p:sldId id="2145726869" r:id="rId12"/>
    <p:sldId id="559" r:id="rId13"/>
    <p:sldId id="580" r:id="rId14"/>
    <p:sldId id="582" r:id="rId15"/>
    <p:sldId id="548" r:id="rId16"/>
    <p:sldId id="521" r:id="rId17"/>
    <p:sldId id="585" r:id="rId18"/>
    <p:sldId id="472" r:id="rId19"/>
  </p:sldIdLst>
  <p:sldSz cx="12192000" cy="6858000"/>
  <p:notesSz cx="7315200" cy="9601200"/>
  <p:custDataLst>
    <p:tags r:id="rId2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9F"/>
    <a:srgbClr val="244F9A"/>
    <a:srgbClr val="30589B"/>
    <a:srgbClr val="2F5597"/>
    <a:srgbClr val="6087CE"/>
    <a:srgbClr val="4468A5"/>
    <a:srgbClr val="F2F2F2"/>
    <a:srgbClr val="C55A11"/>
    <a:srgbClr val="F424AA"/>
    <a:srgbClr val="E234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14" autoAdjust="0"/>
    <p:restoredTop sz="88609" autoAdjust="0"/>
  </p:normalViewPr>
  <p:slideViewPr>
    <p:cSldViewPr snapToGrid="0">
      <p:cViewPr>
        <p:scale>
          <a:sx n="66" d="100"/>
          <a:sy n="66" d="100"/>
        </p:scale>
        <p:origin x="2070" y="78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tags" Target="tags/tag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61287A5E-51F2-49E6-9056-2B06F495C648}"/>
    <pc:docChg chg="delSld delMainMaster">
      <pc:chgData name="Taylor Davis" userId="5c9e72a0-c39f-4aa1-9d7d-64125e78cbe6" providerId="ADAL" clId="{61287A5E-51F2-49E6-9056-2B06F495C648}" dt="2025-05-21T03:19:12.158" v="5" actId="47"/>
      <pc:docMkLst>
        <pc:docMk/>
      </pc:docMkLst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61287A5E-51F2-49E6-9056-2B06F495C648}" dt="2025-05-21T03:18:46.215" v="0" actId="47"/>
        <pc:sldMkLst>
          <pc:docMk/>
          <pc:sldMk cId="4059548579" sldId="452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61287A5E-51F2-49E6-9056-2B06F495C648}" dt="2025-05-21T03:18:46.981" v="1" actId="47"/>
        <pc:sldMkLst>
          <pc:docMk/>
          <pc:sldMk cId="1714126014" sldId="466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3144192130" sldId="498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2203540903" sldId="499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61287A5E-51F2-49E6-9056-2B06F495C648}" dt="2025-05-21T03:18:53.712" v="3" actId="47"/>
        <pc:sldMkLst>
          <pc:docMk/>
          <pc:sldMk cId="3470905217" sldId="558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0" sldId="571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0" sldId="572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1064222983" sldId="574"/>
        </pc:sldMkLst>
      </pc:sldChg>
      <pc:sldChg chg="del">
        <pc:chgData name="Taylor Davis" userId="5c9e72a0-c39f-4aa1-9d7d-64125e78cbe6" providerId="ADAL" clId="{61287A5E-51F2-49E6-9056-2B06F495C648}" dt="2025-05-21T03:19:12.158" v="5" actId="47"/>
        <pc:sldMkLst>
          <pc:docMk/>
          <pc:sldMk cId="3790917938" sldId="575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61287A5E-51F2-49E6-9056-2B06F495C648}" dt="2025-05-21T03:18:48.458" v="2" actId="47"/>
        <pc:sldMkLst>
          <pc:docMk/>
          <pc:sldMk cId="0" sldId="2145726867"/>
        </pc:sldMkLst>
      </pc:sldChg>
      <pc:sldChg chg="del">
        <pc:chgData name="Taylor Davis" userId="5c9e72a0-c39f-4aa1-9d7d-64125e78cbe6" providerId="ADAL" clId="{61287A5E-51F2-49E6-9056-2B06F495C648}" dt="2025-05-21T03:19:06.071" v="4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61287A5E-51F2-49E6-9056-2B06F495C648}" dt="2025-05-21T03:19:06.071" v="4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61287A5E-51F2-49E6-9056-2B06F495C648}" dt="2025-05-21T03:19:06.071" v="4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61287A5E-51F2-49E6-9056-2B06F495C648}" dt="2025-05-21T03:19:06.071" v="4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5/20/2025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5/20/2025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11" Type="http://schemas.openxmlformats.org/officeDocument/2006/relationships/image" Target="../media/image10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0" cap="none" spc="24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DIRECT-TO-EMPLOYER GTM STRATEGY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Dignity Health</a:t>
            </a:r>
            <a:r>
              <a:rPr lang="en-US" sz="1750" kern="0" spc="53" dirty="0">
                <a:solidFill>
                  <a:srgbClr val="FFFFFF">
                    <a:alpha val="80000"/>
                  </a:srgbClr>
                </a:solidFill>
                <a:latin typeface="Montserrat"/>
                <a:ea typeface="Jost*"/>
                <a:cs typeface="Jost*" pitchFamily="34" charset="-120"/>
              </a:rPr>
              <a:t> Nevada</a:t>
            </a: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 DTE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DTE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DIGNITY HEALTH IS PATIENT RECOMMENDED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E0219A2-C97D-9E0E-9C52-C5207AB41BD4}"/>
              </a:ext>
            </a:extLst>
          </p:cNvPr>
          <p:cNvSpPr/>
          <p:nvPr/>
        </p:nvSpPr>
        <p:spPr>
          <a:xfrm>
            <a:off x="1488334" y="5171631"/>
            <a:ext cx="9466616" cy="304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Montserrat" panose="00000500000000000000" pitchFamily="2" charset="0"/>
              </a:rPr>
              <a:t>Based on quality measures and HCAHPS feedback, KBA estimates that Dignity Health has the strongest brand quality in Mohave, and Clark Counties.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398746"/>
              </p:ext>
            </p:extLst>
          </p:nvPr>
        </p:nvGraphicFramePr>
        <p:xfrm>
          <a:off x="1138924" y="1645451"/>
          <a:ext cx="10165436" cy="2926465"/>
        </p:xfrm>
        <a:graphic>
          <a:graphicData uri="http://schemas.openxmlformats.org/drawingml/2006/table">
            <a:tbl>
              <a:tblPr/>
              <a:tblGrid>
                <a:gridCol w="3961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5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4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9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37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51019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Health System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HCAHPS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Recommendation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CMS Stars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Mortality</a:t>
                      </a:r>
                      <a:b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Readmission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Percentile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KBA Brand</a:t>
                      </a:r>
                      <a:b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</a:b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Quality Score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398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CommonSpirit</a:t>
                      </a: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 Health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49C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29AC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99FC6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690BD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5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Universal Health Services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C7D1E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AC7DE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708BB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7ABCD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FA4C9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66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University Medical Center (UMC) of Southern Nevada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6EAF3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ECBE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C88B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5A9C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49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9ADCE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5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HCA Healthcare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DFE5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B2C1D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85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4F71A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869EC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594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Prime Healthcare Services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EE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EAEE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6583B4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BAE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30589B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47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9DB0D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8489699" y="429717"/>
            <a:ext cx="2985004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330559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2,500+ Employers       400,000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700,000+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9E0A44D-EDC5-EBD5-4D77-F30FF46B0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994959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1,443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134,700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265,900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399,600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673763" y="1656396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060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698" y="235398"/>
            <a:ext cx="10515600" cy="1325563"/>
          </a:xfrm>
        </p:spPr>
        <p:txBody>
          <a:bodyPr/>
          <a:lstStyle/>
          <a:p>
            <a:r>
              <a:rPr lang="en-US" b="0" dirty="0"/>
              <a:t>PLAN POTENTIAL GROWTH PATHS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69A10699-B4B2-AF88-E1A1-1EF0A88AB471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11C874E5-E3B4-BAE0-4E2D-2C86D4E7E53A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C2AD90F2-700F-581B-540A-D6A10D5F84F2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AEAD331A-F2F6-E5AA-6FA8-43463612A331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689474B3-12FA-8E66-D71F-53822C9C68C9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51ED3EA0-1B18-EEE0-293E-BB00AD4DE764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BC70B6BA-E51B-5756-ABB1-C97D21E56F2F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89D49C14-1775-066C-353B-1ACCC4D24138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1DBB449D-FFE3-79BF-CC4B-CBC0A3F03B29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2D2231FB-5290-0F34-19A4-B0491233CE27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3C6B2C41-D61E-2C7A-3D82-5A90E06CEE5A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80321D4-B659-65A7-5D2E-CFE404DB4D8E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19C69411-1E7E-AB74-D150-B508F4902A7E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2AE87841-825C-FE4F-1AB9-6CC03862C17F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93803CD4-6355-5262-37E3-213F86A67BEA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C15EBE08-F14E-85B7-24FB-021AE8C94BA3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99971868-A4E7-F273-D79D-9C20F2C9304D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26D4449C-E24F-47A1-0BA9-B4D1231EE90A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380CB4F0-D598-949F-D94F-54D7DBD5CD13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71E01EC1-04E0-F00A-E7D0-A3570350B0AE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3D3A0C0B-3028-02AB-45A9-5AC22941B397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F62C5FEE-739C-5CD8-3480-47AFBD4B137D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CD906C9-9D1F-D350-D161-F4D9B4B287D1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6" name="TextBox 75">
            <a:extLst>
              <a:ext uri="{FF2B5EF4-FFF2-40B4-BE49-F238E27FC236}">
                <a16:creationId xmlns:a16="http://schemas.microsoft.com/office/drawing/2014/main" id="{02AD65D6-9504-23E6-E4FD-CC294F4A3C64}"/>
              </a:ext>
            </a:extLst>
          </p:cNvPr>
          <p:cNvSpPr txBox="1"/>
          <p:nvPr/>
        </p:nvSpPr>
        <p:spPr>
          <a:xfrm>
            <a:off x="981590" y="5731169"/>
            <a:ext cx="9514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/>
                <a:latin typeface="Montserrat" panose="00000500000000000000" pitchFamily="2" charset="0"/>
              </a:rPr>
              <a:t>Estimates includes the Dignity Health Nevada service area in Mohave, and Clark Counties</a:t>
            </a:r>
          </a:p>
        </p:txBody>
      </p:sp>
      <p:sp>
        <p:nvSpPr>
          <p:cNvPr id="27" name="TextBox 76">
            <a:extLst>
              <a:ext uri="{FF2B5EF4-FFF2-40B4-BE49-F238E27FC236}">
                <a16:creationId xmlns:a16="http://schemas.microsoft.com/office/drawing/2014/main" id="{F3A378C3-B669-3EE2-B76D-98EDB44E8CDF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2,191K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F24CF5B8-0E02-1AF3-2A3D-F14253B44FE8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1,314K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509B3348-F2D5-63CE-B5D5-5FB7263B3D0F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829K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7E24246C-24ED-62DA-EA2E-6EA4A6ADAEAC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409K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5705856" y="1911096"/>
            <a:ext cx="6364224" cy="381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$38.24M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$8.79M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$225.25M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$52.75M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$459.01M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$107.62M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GROWING POWERFUL, LASTING PROFITABILITY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EBD79AC-6896-6E13-B0EE-8405AC1D8926}"/>
              </a:ext>
            </a:extLst>
          </p:cNvPr>
          <p:cNvSpPr/>
          <p:nvPr/>
        </p:nvSpPr>
        <p:spPr>
          <a:xfrm>
            <a:off x="0" y="-7770"/>
            <a:ext cx="978408" cy="6858000"/>
          </a:xfrm>
          <a:prstGeom prst="rect">
            <a:avLst/>
          </a:prstGeom>
          <a:solidFill>
            <a:srgbClr val="00539F">
              <a:alpha val="9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0B88E4A-751F-FB75-BED6-F09D9D7F2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911931" y="3052978"/>
            <a:ext cx="6802269" cy="75204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3200" b="0" dirty="0">
                <a:solidFill>
                  <a:schemeClr val="bg1"/>
                </a:solidFill>
              </a:rPr>
              <a:t>FOUR-YEAR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35624" y="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Target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10,000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2,931.4K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5,862.7K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10,730.6K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17,192.4K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24.0K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120.0K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2,625.4K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5,730.7K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10,629.8K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17,132.4K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35624" y="2286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High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2,800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5,500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9,100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13,700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4,103.9K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8,061.3K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14,795.2K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23,553.6K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33.6K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164.4K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3,807.5K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7,947.3K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14,724.4K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23,538.0K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35624" y="4572000"/>
          <a:ext cx="5943600" cy="22656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 gridSpan="5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Low Member Growth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Metric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1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2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3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ct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 4</a:t>
                      </a:r>
                    </a:p>
                  </a:txBody>
                  <a:tcPr marL="0" marR="0" marT="63500" marB="63500" anchor="ctr">
                    <a:lnL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L>
                    <a:lnR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R>
                    <a:lnT w="9525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Number of Members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1,300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2,500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4,100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6,200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Incremental Margin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1,905.4K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3,664.2K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6,666.0K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10,659.3K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Network Access Fee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15.6K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49.2K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74.4K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Implementation Fee (One-Time)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-150.0K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Sales and Marketing Costs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-180.0K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Net Margin Change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1,591.0K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3,514.2K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6,535.2K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0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Montserrat"/>
                          <a:sym typeface="Montserrat"/>
                        </a:rPr>
                        <a:t>10,553.7K</a:t>
                      </a:r>
                    </a:p>
                  </a:txBody>
                  <a:tcPr marL="0" marR="0" marT="63500" marB="63500" anchor="ctr">
                    <a:lnL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L>
                    <a:lnR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Content Placeholder 6"/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117957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508760" y="2834640"/>
            <a:ext cx="3154680" cy="821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E799F91A-3FD1-47AB-858A-263DC729BC42}"/>
              </a:ext>
            </a:extLst>
          </p:cNvPr>
          <p:cNvSpPr txBox="1"/>
          <p:nvPr/>
        </p:nvSpPr>
        <p:spPr>
          <a:xfrm>
            <a:off x="8932985" y="1054579"/>
            <a:ext cx="286817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Dignity Health Nevada has 8% inpatient market share, and 9% outpatient market compared to hospitals/clinics in the Dignity Health Nevada service area (see slide 8).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Based on previous DTE experience, KBA expects a significant bump in patient steerage to Dignity Health Nevada.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Additional steerage will occur from additional steerage patient benefits and the patient card.  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dirty="0">
                <a:solidFill/>
                <a:latin typeface="Montserrat" panose="00000500000000000000" pitchFamily="2" charset="0"/>
              </a:rPr>
              <a:t>High estimates start nearly 10% higher than target with low estimates at 10% lower than target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908E53A-80EF-253B-70F2-1B864197E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-184997"/>
            <a:ext cx="110871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  <a:cs typeface="Arial" panose="020B0604020202020204" pitchFamily="34" charset="0"/>
              </a:rPr>
              <a:t>PROJECTED PLAN GROWTH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600A413C-9879-29A5-B50B-ADCD0DEFE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46D19D72-B714-CC67-EEAD-28291439C72F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3331635"/>
              </p:ext>
            </p:extLst>
          </p:nvPr>
        </p:nvGraphicFramePr>
        <p:xfrm>
          <a:off x="783771" y="1372094"/>
          <a:ext cx="7253805" cy="4623329"/>
        </p:xfrm>
        <a:graphic>
          <a:graphicData uri="http://schemas.openxmlformats.org/drawingml/2006/table">
            <a:tbl>
              <a:tblPr/>
              <a:tblGrid>
                <a:gridCol w="1450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7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0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07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162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Dignity Health for Inpatient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Percent of Members Choosing Dignity Health for Outpatient Care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41,400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69%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63%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68,400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70%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64%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46,900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84,400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65%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90,700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95,900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66%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57,300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103,100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58,700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105,700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53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59,700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107,500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72%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724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12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46153</TotalTime>
  <Words>965</Words>
  <Application>Microsoft Office PowerPoint</Application>
  <PresentationFormat>Widescreen</PresentationFormat>
  <Paragraphs>394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DIGNITY HEALTH IS PATIENT RECOMMENDED</vt:lpstr>
      <vt:lpstr>DIRECT-TO-EMPLOYER (DTE)  </vt:lpstr>
      <vt:lpstr>SIGNIFICANT OPPORTUNITY FOR PLAN GROWTH Researched for the below highlighted service area</vt:lpstr>
      <vt:lpstr>PLAN POTENTIAL GROWTH PATHS</vt:lpstr>
      <vt:lpstr>GROWING POWERFUL, LASTING PROFITABILITY</vt:lpstr>
      <vt:lpstr>FOUR-YEAR PROJECTIONS</vt:lpstr>
      <vt:lpstr>DIRECT-TO-EMPLOYER STRATEGY: ONLY AVAILABLE TO PREMIER HEALTH SYSTEMS</vt:lpstr>
      <vt:lpstr>PROJECTED PLAN GROWTH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111</cp:revision>
  <cp:lastPrinted>2023-07-13T10:24:43Z</cp:lastPrinted>
  <dcterms:created xsi:type="dcterms:W3CDTF">2021-01-20T14:12:11Z</dcterms:created>
  <dcterms:modified xsi:type="dcterms:W3CDTF">2025-05-21T03:19:16Z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