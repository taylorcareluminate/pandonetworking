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2"/>
  </p:notesMasterIdLst>
  <p:sldIdLst>
    <p:sldId id="588" r:id="rId10"/>
    <p:sldId id="454" r:id="rId11"/>
    <p:sldId id="549" r:id="rId12"/>
    <p:sldId id="564" r:id="rId13"/>
    <p:sldId id="2145726869" r:id="rId14"/>
    <p:sldId id="452" r:id="rId15"/>
    <p:sldId id="466" r:id="rId16"/>
    <p:sldId id="2145726867" r:id="rId17"/>
    <p:sldId id="559" r:id="rId18"/>
    <p:sldId id="580" r:id="rId19"/>
    <p:sldId id="582" r:id="rId20"/>
    <p:sldId id="558" r:id="rId21"/>
    <p:sldId id="548" r:id="rId22"/>
    <p:sldId id="521" r:id="rId23"/>
    <p:sldId id="456" r:id="rId24"/>
    <p:sldId id="499" r:id="rId25"/>
    <p:sldId id="613" r:id="rId26"/>
    <p:sldId id="458" r:id="rId27"/>
    <p:sldId id="2145726859" r:id="rId28"/>
    <p:sldId id="2145726857" r:id="rId29"/>
    <p:sldId id="469" r:id="rId30"/>
    <p:sldId id="2145726856" r:id="rId31"/>
    <p:sldId id="614" r:id="rId32"/>
    <p:sldId id="281" r:id="rId33"/>
    <p:sldId id="283" r:id="rId34"/>
    <p:sldId id="285" r:id="rId35"/>
    <p:sldId id="2145726866" r:id="rId36"/>
    <p:sldId id="583" r:id="rId37"/>
    <p:sldId id="525" r:id="rId38"/>
    <p:sldId id="2145726868" r:id="rId39"/>
    <p:sldId id="571" r:id="rId40"/>
    <p:sldId id="2145726864" r:id="rId41"/>
    <p:sldId id="585" r:id="rId42"/>
    <p:sldId id="536" r:id="rId43"/>
    <p:sldId id="256" r:id="rId44"/>
    <p:sldId id="574" r:id="rId45"/>
    <p:sldId id="572" r:id="rId46"/>
    <p:sldId id="575" r:id="rId47"/>
    <p:sldId id="498" r:id="rId48"/>
    <p:sldId id="326" r:id="rId49"/>
    <p:sldId id="491" r:id="rId50"/>
    <p:sldId id="472" r:id="rId51"/>
  </p:sldIdLst>
  <p:sldSz cx="12192000" cy="6858000"/>
  <p:notesSz cx="7315200" cy="9601200"/>
  <p:custDataLst>
    <p:tags r:id="rId5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733EC0-728F-469F-9AE3-37C4BF0822D3}" v="3" dt="2025-05-21T03:16:03.13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14" autoAdjust="0"/>
    <p:restoredTop sz="88609" autoAdjust="0"/>
  </p:normalViewPr>
  <p:slideViewPr>
    <p:cSldViewPr snapToGrid="0">
      <p:cViewPr>
        <p:scale>
          <a:sx n="66" d="100"/>
          <a:sy n="66" d="100"/>
        </p:scale>
        <p:origin x="2070" y="780"/>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Master" Target="slideMasters/slideMaster2.xml"/><Relationship Id="rId19" Type="http://schemas.openxmlformats.org/officeDocument/2006/relationships/slide" Target="slides/slide1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microsoft.com/office/2015/10/relationships/revisionInfo" Target="revisionInfo.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theme" Target="theme/theme1.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notesMaster" Target="notesMasters/notesMaster1.xml"/><Relationship Id="rId60" Type="http://schemas.microsoft.com/office/2018/10/relationships/authors" Target="authors.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svg"/><Relationship Id="rId1" Type="http://schemas.openxmlformats.org/officeDocument/2006/relationships/image" Target="../media/image47.png"/><Relationship Id="rId6" Type="http://schemas.openxmlformats.org/officeDocument/2006/relationships/image" Target="../media/image52.svg"/><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5/20/2025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8</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11</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5/20/2025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5/20/2025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5/20/2025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5/20/2025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5/20/2025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5/20/2025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5/20/2025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5/20/2025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5/20/2025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5/20/2025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5/20/2025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5/20/2025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5/20/2025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5/20/2025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5/20/2025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5/20/2025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5/20/2025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5/20/2025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5/20/2025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5/20/2025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5/20/2025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5/20/2025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5/20/2025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5/20/2025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5/20/2025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5/20/2025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5/20/2025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5/20/2025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5/20/2025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5/20/2025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5/20/2025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5/20/2025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5/20/2025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18" Type="http://schemas.openxmlformats.org/officeDocument/2006/relationships/image" Target="../media/image32.png"/><Relationship Id="rId3" Type="http://schemas.openxmlformats.org/officeDocument/2006/relationships/image" Target="../media/image17.png"/><Relationship Id="rId21" Type="http://schemas.openxmlformats.org/officeDocument/2006/relationships/image" Target="../media/image35.svg"/><Relationship Id="rId7" Type="http://schemas.openxmlformats.org/officeDocument/2006/relationships/image" Target="../media/image21.svg"/><Relationship Id="rId12" Type="http://schemas.openxmlformats.org/officeDocument/2006/relationships/image" Target="../media/image26.svg"/><Relationship Id="rId17" Type="http://schemas.openxmlformats.org/officeDocument/2006/relationships/image" Target="../media/image31.svg"/><Relationship Id="rId2" Type="http://schemas.openxmlformats.org/officeDocument/2006/relationships/notesSlide" Target="../notesSlides/notesSlide2.xml"/><Relationship Id="rId16" Type="http://schemas.openxmlformats.org/officeDocument/2006/relationships/image" Target="../media/image30.png"/><Relationship Id="rId20"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sv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image" Target="../media/image33.svg"/><Relationship Id="rId4" Type="http://schemas.openxmlformats.org/officeDocument/2006/relationships/image" Target="../media/image18.png"/><Relationship Id="rId9" Type="http://schemas.openxmlformats.org/officeDocument/2006/relationships/image" Target="../media/image23.svg"/><Relationship Id="rId14" Type="http://schemas.openxmlformats.org/officeDocument/2006/relationships/image" Target="../media/image28.png"/><Relationship Id="rId22"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3.emf"/><Relationship Id="rId5" Type="http://schemas.openxmlformats.org/officeDocument/2006/relationships/image" Target="../media/image62.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jpe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7.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 Id="rId6" Type="http://schemas.openxmlformats.org/officeDocument/2006/relationships/image" Target="../media/image71.jpeg"/><Relationship Id="rId5" Type="http://schemas.openxmlformats.org/officeDocument/2006/relationships/image" Target="../media/image70.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2.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2.xml.rels><?xml version="1.0" encoding="UTF-8" standalone="yes"?>
<Relationships xmlns="http://schemas.openxmlformats.org/package/2006/relationships"><Relationship Id="rId8" Type="http://schemas.openxmlformats.org/officeDocument/2006/relationships/image" Target="../media/image79.sv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image" Target="../media/image77.svg"/><Relationship Id="rId11" Type="http://schemas.openxmlformats.org/officeDocument/2006/relationships/image" Target="../media/image10.png"/><Relationship Id="rId5" Type="http://schemas.openxmlformats.org/officeDocument/2006/relationships/image" Target="../media/image76.png"/><Relationship Id="rId10" Type="http://schemas.openxmlformats.org/officeDocument/2006/relationships/image" Target="../media/image81.svg"/><Relationship Id="rId4" Type="http://schemas.openxmlformats.org/officeDocument/2006/relationships/image" Target="../media/image75.svg"/><Relationship Id="rId9" Type="http://schemas.openxmlformats.org/officeDocument/2006/relationships/image" Target="../media/image8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Dignity Health</a:t>
            </a:r>
            <a:r>
              <a:rPr lang="en-US" sz="1750" kern="0" spc="53" dirty="0">
                <a:solidFill>
                  <a:srgbClr val="FFFFFF">
                    <a:alpha val="80000"/>
                  </a:srgbClr>
                </a:solidFill>
                <a:latin typeface="Montserrat"/>
                <a:ea typeface="Jost*"/>
                <a:cs typeface="Jost*" pitchFamily="34" charset="-120"/>
              </a:rPr>
              <a:t> Nevada</a:t>
            </a: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DIGNITY HEALTH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1488334" y="5171631"/>
            <a:ext cx="9466616" cy="30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Dignity Health has the strongest brand quality in Mohave, and Clark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192398746"/>
              </p:ext>
            </p:extLst>
          </p:nvPr>
        </p:nvGraphicFramePr>
        <p:xfrm>
          <a:off x="1138924" y="1645451"/>
          <a:ext cx="10165436" cy="2926465"/>
        </p:xfrm>
        <a:graphic>
          <a:graphicData uri="http://schemas.openxmlformats.org/drawingml/2006/table">
            <a:tbl>
              <a:tblPr/>
              <a:tblGrid>
                <a:gridCol w="3961404">
                  <a:extLst>
                    <a:ext uri="{9D8B030D-6E8A-4147-A177-3AD203B41FA5}">
                      <a16:colId xmlns:a16="http://schemas.microsoft.com/office/drawing/2014/main" val="20000"/>
                    </a:ext>
                  </a:extLst>
                </a:gridCol>
                <a:gridCol w="1583865">
                  <a:extLst>
                    <a:ext uri="{9D8B030D-6E8A-4147-A177-3AD203B41FA5}">
                      <a16:colId xmlns:a16="http://schemas.microsoft.com/office/drawing/2014/main" val="20001"/>
                    </a:ext>
                  </a:extLst>
                </a:gridCol>
                <a:gridCol w="1060583">
                  <a:extLst>
                    <a:ext uri="{9D8B030D-6E8A-4147-A177-3AD203B41FA5}">
                      <a16:colId xmlns:a16="http://schemas.microsoft.com/office/drawing/2014/main" val="20002"/>
                    </a:ext>
                  </a:extLst>
                </a:gridCol>
                <a:gridCol w="1026427">
                  <a:extLst>
                    <a:ext uri="{9D8B030D-6E8A-4147-A177-3AD203B41FA5}">
                      <a16:colId xmlns:a16="http://schemas.microsoft.com/office/drawing/2014/main" val="20003"/>
                    </a:ext>
                  </a:extLst>
                </a:gridCol>
                <a:gridCol w="1249387">
                  <a:extLst>
                    <a:ext uri="{9D8B030D-6E8A-4147-A177-3AD203B41FA5}">
                      <a16:colId xmlns:a16="http://schemas.microsoft.com/office/drawing/2014/main" val="20004"/>
                    </a:ext>
                  </a:extLst>
                </a:gridCol>
                <a:gridCol w="1283770">
                  <a:extLst>
                    <a:ext uri="{9D8B030D-6E8A-4147-A177-3AD203B41FA5}">
                      <a16:colId xmlns:a16="http://schemas.microsoft.com/office/drawing/2014/main" val="20005"/>
                    </a:ext>
                  </a:extLst>
                </a:gridCol>
              </a:tblGrid>
              <a:tr h="851019">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Montserrat"/>
                          <a:cs typeface="Arial"/>
                          <a:sym typeface="Arial"/>
                        </a:rPr>
                        <a:t>Mortality</a:t>
                      </a:r>
                      <a:br>
                        <a:rPr sz="1100" b="1" i="0" u="none" cap="none" dirty="0">
                          <a:solidFill>
                            <a:srgbClr val="000000">
                              <a:alpha val="100000"/>
                            </a:srgbClr>
                          </a:solidFill>
                          <a:latin typeface="Montserrat"/>
                          <a:cs typeface="Arial"/>
                          <a:sym typeface="Arial"/>
                        </a:rPr>
                      </a:br>
                      <a:r>
                        <a:rPr sz="1100" b="1" i="0" u="none" cap="none" dirty="0">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16398">
                <a:tc>
                  <a:txBody>
                    <a:bodyPr/>
                    <a:lstStyle/>
                    <a:p>
                      <a:pPr marL="63500" marR="63500" algn="l">
                        <a:lnSpc>
                          <a:spcPct val="100000"/>
                        </a:lnSpc>
                        <a:spcBef>
                          <a:spcPts val="500"/>
                        </a:spcBef>
                        <a:spcAft>
                          <a:spcPts val="500"/>
                        </a:spcAft>
                        <a:buNone/>
                      </a:pPr>
                      <a:r>
                        <a:rPr sz="1100" b="0" i="0" u="none" cap="none" dirty="0" err="1">
                          <a:solidFill>
                            <a:srgbClr val="000000">
                              <a:alpha val="100000"/>
                            </a:srgbClr>
                          </a:solidFill>
                          <a:latin typeface="Montserrat"/>
                          <a:cs typeface="Arial"/>
                          <a:sym typeface="Arial"/>
                        </a:rPr>
                        <a:t>CommonSpirit</a:t>
                      </a:r>
                      <a:r>
                        <a:rPr sz="1100" b="0" i="0" u="none" cap="none" dirty="0">
                          <a:solidFill>
                            <a:srgbClr val="000000">
                              <a:alpha val="100000"/>
                            </a:srgbClr>
                          </a:solidFill>
                          <a:latin typeface="Montserrat"/>
                          <a:cs typeface="Arial"/>
                          <a:sym typeface="Arial"/>
                        </a:rPr>
                        <a:t>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690BD">
                        <a:alpha val="100000"/>
                      </a:srgbClr>
                    </a:solidFill>
                  </a:tcPr>
                </a:tc>
                <a:extLst>
                  <a:ext uri="{0D108BD9-81ED-4DB2-BD59-A6C34878D82A}">
                    <a16:rowId xmlns:a16="http://schemas.microsoft.com/office/drawing/2014/main" val="10001"/>
                  </a:ext>
                </a:extLst>
              </a:tr>
              <a:tr h="38859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Universal Health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27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7D1E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FA4C9">
                        <a:alpha val="100000"/>
                      </a:srgbClr>
                    </a:solidFill>
                  </a:tcPr>
                </a:tc>
                <a:extLst>
                  <a:ext uri="{0D108BD9-81ED-4DB2-BD59-A6C34878D82A}">
                    <a16:rowId xmlns:a16="http://schemas.microsoft.com/office/drawing/2014/main" val="10002"/>
                  </a:ext>
                </a:extLst>
              </a:tr>
              <a:tr h="49326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University Medical Center (UMC) of Southern Nevada</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6EAF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03"/>
                  </a:ext>
                </a:extLst>
              </a:tr>
              <a:tr h="38859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FE5F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F71A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04"/>
                  </a:ext>
                </a:extLst>
              </a:tr>
              <a:tr h="38859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BAECF">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8489699" y="429717"/>
            <a:ext cx="2985004"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DIGNITY HEALTH</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6</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2006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Dignity Health Nevada is the quality and access leader in this service area (see slide 9). CommonSpirit Health NV has a very strong quality brand, but market size will limit plan growth</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Dignity Health Nevada.</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Dignity Health Nevada</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227045" y="1330559"/>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2,500+ Employers       400,000</a:t>
            </a:r>
            <a:r>
              <a:rPr lang="en-US" sz="1600" spc="200" dirty="0">
                <a:latin typeface="Montserrat" panose="00000500000000000000" pitchFamily="2" charset="0"/>
                <a:cs typeface="+mj-cs"/>
                <a:sym typeface="Wingdings" panose="05000000000000000000" pitchFamily="2" charset="2"/>
              </a:rPr>
              <a:t>+ Employees       700,000+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802994959"/>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1,443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567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449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211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212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37</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108,200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85,100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134,700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147,700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424,000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222,000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194,800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153,200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242,500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265,900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763,200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399,600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673763" y="1656396"/>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Dignity Health Nevada service area in Mohave, and Clark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2,191K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1,314K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829K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409K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$38.24M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$8.79M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$225.25M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$52.75M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$459.01M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$107.62M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Dignity Health Nevada has 8% inpatient market share, and 9% outpatient market compared to hospitals/clinics in the Dignity Health Nevada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Dignity Health 29%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18.2%</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23.2%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28.2%</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2,931.4K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5,862.7K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10,730.6K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17,192.4K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2,625.4K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5,730.7K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10,629.8K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17,132.4K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4,103.9K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8,061.3K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14,795.2K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23,553.6K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164.4K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3,807.5K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7,947.3K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14,724.4K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23,538.0K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4114800" cy="210312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1,905.4K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3,664.2K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10,659.3K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1,591.0K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3,514.2K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6,535.2K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10,553.7K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508760" y="2834640"/>
            <a:ext cx="3154680" cy="821421"/>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1981201" y="548292"/>
            <a:ext cx="5686424" cy="5324535"/>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Dignity Health’s 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Dignity Health Nevada’s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Dignity Health Nevada</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38360" y="4059936"/>
            <a:ext cx="1042416" cy="271426"/>
          </a:xfrm>
          <a:prstGeom prst="rect">
            <a:avLst/>
          </a:prstGeom>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23.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Dignity Health’s approved site(s) with network integration, and development of Dignity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-183K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3,749K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3,133K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870K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403K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$ 1,232K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7,498K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6,266K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$ 1,740K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$ 1,454K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$ 1,136K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$ 3,080K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715K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$ 18,745K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$ 15,665K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$ 4,349K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$ 3,634K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$ 3,334K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$12,321K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$2,858K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$ 74,979K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$ 62,659K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$17,395K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$14,537K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$14,327K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$24,641K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$5,717K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$149,959K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$125,318K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$34,790K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$29,074K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$28,984K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Dignity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Dignity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Dignity Health’s managed care with KBA’s programs positions Dignity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Dignity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Dignity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Dignity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Dignity Health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Dignity Health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DIGNITY HEALTH’S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Dignity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147,493</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$763,893K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34,550</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$136,892K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24%</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16,916</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$46,038K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11%</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13,880</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-$89,449K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9%</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82,147</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$579,421K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56%</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Dignity Health estimates commercial insurance reimbursements at 309%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579,421K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309%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565,214K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1,144,635</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812,829</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$331,807K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29%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309%</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187,528K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182,930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370,458</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812,829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-442,371</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-119%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53.7%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8%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9%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3115107789"/>
              </p:ext>
            </p:extLst>
          </p:nvPr>
        </p:nvGraphicFramePr>
        <p:xfrm>
          <a:off x="265176" y="914400"/>
          <a:ext cx="9829800" cy="5485184"/>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924901">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Outpatient Percent of Market Total (Assuming 53.7%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48852">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Dignity Health St Rose Dominican - Rose De Lima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12,068.1K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196,027.3K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48852">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Dignity Health St Rose Dominican - Siena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326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$2,465,519.5K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$1,644,077.7K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248852">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Dignity Health St Rose Dominican - San Martin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130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859,149.2K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600,574.4K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248852">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Dignity Health St Rose Dominican - North Las Vegas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32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10,791.8K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cap="none">
                          <a:solidFill>
                            <a:srgbClr val="000000">
                              <a:alpha val="100000"/>
                            </a:srgbClr>
                          </a:solidFill>
                          <a:latin typeface="Montserrat"/>
                          <a:cs typeface="Arial"/>
                          <a:sym typeface="Arial"/>
                        </a:rPr>
                        <a:t>$  714,050.8K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cap="none" dirty="0">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11898">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Sunrise Hospital &amp;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992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$8,141,337.3K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$2,649,983.5K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North Vista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161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453,993.3K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320,493.6K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11898">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University Medical Center (UMC) of Southern Nevada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537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$2,910,431.7K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$1,526,358.7K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Valley Hospital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306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$3,367,352.2K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$1,510,036.1K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11898">
                <a:tc>
                  <a:txBody>
                    <a:bodyPr/>
                    <a:lstStyle/>
                    <a:p>
                      <a:pPr marL="63500" marR="63500" algn="l">
                        <a:lnSpc>
                          <a:spcPct val="100000"/>
                        </a:lnSpc>
                        <a:spcBef>
                          <a:spcPts val="1"/>
                        </a:spcBef>
                        <a:spcAft>
                          <a:spcPts val="1"/>
                        </a:spcAft>
                        <a:buNone/>
                      </a:pPr>
                      <a:r>
                        <a:rPr sz="500" b="0" i="0" u="none" cap="none" dirty="0" err="1">
                          <a:solidFill>
                            <a:srgbClr val="000000">
                              <a:alpha val="100000"/>
                            </a:srgbClr>
                          </a:solidFill>
                          <a:latin typeface="Montserrat"/>
                          <a:cs typeface="Arial"/>
                          <a:sym typeface="Arial"/>
                        </a:rPr>
                        <a:t>MountainView</a:t>
                      </a:r>
                      <a:r>
                        <a:rPr sz="500" b="0" i="0" u="none" cap="none" dirty="0">
                          <a:solidFill>
                            <a:srgbClr val="000000">
                              <a:alpha val="100000"/>
                            </a:srgbClr>
                          </a:solidFill>
                          <a:latin typeface="Montserrat"/>
                          <a:cs typeface="Arial"/>
                          <a:sym typeface="Arial"/>
                        </a:rPr>
                        <a: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363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$4,371,315.1K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$2,258,931.8K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Summerlin Hospital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416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$4,140,919.9K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$1,727,122.5K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11898">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Harmon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108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   57,294.2K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11898">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Spring Valley Hospital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328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$3,612,057.0K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$1,642,920.4K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Southern Hills Hospital &amp;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180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$1,934,989.5K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$1,223,577.3K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North Las Vegas VA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Centennial Hills Hospital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262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$3,157,858.8K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$1,296,300.1K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Henderson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298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$3,339,969.5K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$1,922,948.1K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Boulder City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22,760.3K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   46,289.5K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Kindred Hospital Las Vegas - Sahara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52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  290,178.0K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6,466.4K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Horizon Specialty Hospital of Las Vegas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100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82,225.9K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PAM Health Specialty Hospital of Las Vegas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70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138,797.6K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       31.5K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AMG Specialty Hospital - Las Vegas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24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16,020.6K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Elite Medical Center an Extension of Valley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22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Encompass Health Rehabilitation Hospital of Las Vegas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79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59,044.9K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3"/>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Encompass Health Rehabilitation Hospital of Henderson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90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53,398.3K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4"/>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Encompass Health Rehabilitation Hospital of Desert Canyon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50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43,642.4K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5"/>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PAM Rehabilitation Hospital of Centennial Hills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44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53,796.4K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4,877.1K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6"/>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Dignity Health Rehabilitation Hospital - Siena Campus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60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120,205.3K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7"/>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Southern Nevada Adult Mental Health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289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7,121.1K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17,553.2K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8"/>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Spring Mountain Sahara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30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9,696.0K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1,076.9K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9"/>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Spring Mountain Treatment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110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52,738.0K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NAK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NA%</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0"/>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Seven Hills Behavioral Health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134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53,385.6K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5,237.9K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1"/>
                  </a:ext>
                </a:extLst>
              </a:tr>
              <a:tr h="111898">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Desert Parkway Behavioral Healthcare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152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77,611.6K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500" b="0" i="0" u="none" cap="none">
                          <a:solidFill>
                            <a:srgbClr val="000000">
                              <a:alpha val="100000"/>
                            </a:srgbClr>
                          </a:solidFill>
                          <a:latin typeface="Montserrat"/>
                          <a:cs typeface="Arial"/>
                          <a:sym typeface="Arial"/>
                        </a:rPr>
                        <a:t>$    3,607.5K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500" b="0" i="0" u="non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32"/>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726793387"/>
              </p:ext>
            </p:extLst>
          </p:nvPr>
        </p:nvGraphicFramePr>
        <p:xfrm>
          <a:off x="0" y="0"/>
          <a:ext cx="12192000" cy="6857992"/>
        </p:xfrm>
        <a:graphic>
          <a:graphicData uri="http://schemas.openxmlformats.org/drawingml/2006/table">
            <a:tbl>
              <a:tblPr/>
              <a:tblGrid>
                <a:gridCol w="2047737">
                  <a:extLst>
                    <a:ext uri="{9D8B030D-6E8A-4147-A177-3AD203B41FA5}">
                      <a16:colId xmlns:a16="http://schemas.microsoft.com/office/drawing/2014/main" val="20000"/>
                    </a:ext>
                  </a:extLst>
                </a:gridCol>
                <a:gridCol w="2628785">
                  <a:extLst>
                    <a:ext uri="{9D8B030D-6E8A-4147-A177-3AD203B41FA5}">
                      <a16:colId xmlns:a16="http://schemas.microsoft.com/office/drawing/2014/main" val="20001"/>
                    </a:ext>
                  </a:extLst>
                </a:gridCol>
                <a:gridCol w="2277802">
                  <a:extLst>
                    <a:ext uri="{9D8B030D-6E8A-4147-A177-3AD203B41FA5}">
                      <a16:colId xmlns:a16="http://schemas.microsoft.com/office/drawing/2014/main" val="20002"/>
                    </a:ext>
                  </a:extLst>
                </a:gridCol>
                <a:gridCol w="2495212">
                  <a:extLst>
                    <a:ext uri="{9D8B030D-6E8A-4147-A177-3AD203B41FA5}">
                      <a16:colId xmlns:a16="http://schemas.microsoft.com/office/drawing/2014/main" val="20003"/>
                    </a:ext>
                  </a:extLst>
                </a:gridCol>
                <a:gridCol w="2742464">
                  <a:extLst>
                    <a:ext uri="{9D8B030D-6E8A-4147-A177-3AD203B41FA5}">
                      <a16:colId xmlns:a16="http://schemas.microsoft.com/office/drawing/2014/main" val="20004"/>
                    </a:ext>
                  </a:extLst>
                </a:gridCol>
              </a:tblGrid>
              <a:tr h="325336">
                <a:tc gridSpan="5">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709339">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Dignity Health St Rose Dominican - Rose De Lima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Dignity Health St Rose Dominican - Siena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Dignity Health St Rose Dominican - San Martin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Dignity Health St Rose Dominican - North Las Vegas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82488">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$1,267K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$298,328K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$105,675K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$971K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8248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$20,583K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$198,933K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$73,871K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$64,265K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26133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$100,703K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$30,805K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$2,992K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38933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$2,952K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$25,312K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$10,267K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$7,507K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8248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$16,421K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$369,985K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$138,441K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$54,575K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6133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$11,616K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$44,800K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$20,501K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$12,532K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6133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$1,834K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$308,240K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$125,293K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$812K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6133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$29,793K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$205,543K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$87,584K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$53,730K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6133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$31,627K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$513,782K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$212,877K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$54,543K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26133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$-9,861K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$-17,783K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$-33,365K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$10,532K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38933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Payer Mix Percent Medicare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13.6%</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25.4%</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11.9%</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2"/>
                  </a:ext>
                </a:extLst>
              </a:tr>
              <a:tr h="38933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Payer Mix Percent Medicaid</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23.2%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10.8%</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12.5%</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8.9%</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3"/>
                  </a:ext>
                </a:extLst>
              </a:tr>
              <a:tr h="38933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Payer Mix Percent Other Government-Pay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0.0%</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4"/>
                  </a:ext>
                </a:extLst>
              </a:tr>
              <a:tr h="261335">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Payer Mix Percent No Pay</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34.7%</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8.3%</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10.2%</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16.1%</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5"/>
                  </a:ext>
                </a:extLst>
              </a:tr>
              <a:tr h="389336">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Payer Mix Percent Commercial</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28.4%</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57.6%</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dirty="0">
                          <a:solidFill>
                            <a:srgbClr val="000000">
                              <a:alpha val="100000"/>
                            </a:srgbClr>
                          </a:solidFill>
                          <a:latin typeface="Montserrat"/>
                          <a:cs typeface="Arial"/>
                          <a:sym typeface="Arial"/>
                        </a:rPr>
                        <a:t>51.8%</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63.1%</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16"/>
                  </a:ext>
                </a:extLst>
              </a:tr>
              <a:tr h="282488">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4.0%</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32.3%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19.8%</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800" b="0" i="0" u="none" cap="none">
                          <a:solidFill>
                            <a:srgbClr val="000000">
                              <a:alpha val="100000"/>
                            </a:srgbClr>
                          </a:solidFill>
                          <a:latin typeface="Montserrat"/>
                          <a:cs typeface="Arial"/>
                          <a:sym typeface="Arial"/>
                        </a:rPr>
                        <a:t>37.3%</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29335">
                <a:tc gridSpan="5">
                  <a:txBody>
                    <a:bodyPr/>
                    <a:lstStyle/>
                    <a:p>
                      <a:pPr marL="63500" marR="63500" algn="l">
                        <a:lnSpc>
                          <a:spcPct val="100000"/>
                        </a:lnSpc>
                        <a:spcBef>
                          <a:spcPts val="500"/>
                        </a:spcBef>
                        <a:spcAft>
                          <a:spcPts val="500"/>
                        </a:spcAft>
                        <a:buNone/>
                      </a:pPr>
                      <a:r>
                        <a:rPr sz="6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29335">
                <a:tc gridSpan="5">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2. Medicare costs are taken from the Medicare Provider Analysis and Review (</a:t>
                      </a:r>
                      <a:r>
                        <a:rPr sz="600" b="0" i="0" u="none" cap="none" dirty="0" err="1">
                          <a:solidFill>
                            <a:srgbClr val="666666">
                              <a:alpha val="100000"/>
                            </a:srgbClr>
                          </a:solidFill>
                          <a:latin typeface="Montserrat"/>
                          <a:cs typeface="Arial"/>
                          <a:sym typeface="Arial"/>
                        </a:rPr>
                        <a:t>MedPAR</a:t>
                      </a:r>
                      <a:r>
                        <a:rPr sz="600" b="0" i="0" u="none" cap="none" dirty="0">
                          <a:solidFill>
                            <a:srgbClr val="666666">
                              <a:alpha val="100000"/>
                            </a:srgbClr>
                          </a:solidFill>
                          <a:latin typeface="Montserrat"/>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29335">
                <a:tc gridSpan="5">
                  <a:txBody>
                    <a:bodyPr/>
                    <a:lstStyle/>
                    <a:p>
                      <a:pPr marL="63500" marR="63500" algn="l">
                        <a:lnSpc>
                          <a:spcPct val="100000"/>
                        </a:lnSpc>
                        <a:spcBef>
                          <a:spcPts val="500"/>
                        </a:spcBef>
                        <a:spcAft>
                          <a:spcPts val="500"/>
                        </a:spcAft>
                        <a:buNone/>
                      </a:pPr>
                      <a:r>
                        <a:rPr sz="6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29335">
                <a:tc gridSpan="5">
                  <a:txBody>
                    <a:bodyPr/>
                    <a:lstStyle/>
                    <a:p>
                      <a:pPr marL="63500" marR="63500" algn="l">
                        <a:lnSpc>
                          <a:spcPct val="100000"/>
                        </a:lnSpc>
                        <a:spcBef>
                          <a:spcPts val="500"/>
                        </a:spcBef>
                        <a:spcAft>
                          <a:spcPts val="500"/>
                        </a:spcAft>
                        <a:buNone/>
                      </a:pPr>
                      <a:r>
                        <a:rPr sz="6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Dignity Health Nevada has 8% inpatient market share, and 9% outpatient market compared to hospitals/clinics in the Dignity Health Nevada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Dignity Health Nevada.</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1033331635"/>
              </p:ext>
            </p:extLst>
          </p:nvPr>
        </p:nvGraphicFramePr>
        <p:xfrm>
          <a:off x="783771" y="1372094"/>
          <a:ext cx="7253805" cy="4623329"/>
        </p:xfrm>
        <a:graphic>
          <a:graphicData uri="http://schemas.openxmlformats.org/drawingml/2006/table">
            <a:tbl>
              <a:tblPr/>
              <a:tblGrid>
                <a:gridCol w="1450761">
                  <a:extLst>
                    <a:ext uri="{9D8B030D-6E8A-4147-A177-3AD203B41FA5}">
                      <a16:colId xmlns:a16="http://schemas.microsoft.com/office/drawing/2014/main" val="20000"/>
                    </a:ext>
                  </a:extLst>
                </a:gridCol>
                <a:gridCol w="1450761">
                  <a:extLst>
                    <a:ext uri="{9D8B030D-6E8A-4147-A177-3AD203B41FA5}">
                      <a16:colId xmlns:a16="http://schemas.microsoft.com/office/drawing/2014/main" val="20001"/>
                    </a:ext>
                  </a:extLst>
                </a:gridCol>
                <a:gridCol w="1450761">
                  <a:extLst>
                    <a:ext uri="{9D8B030D-6E8A-4147-A177-3AD203B41FA5}">
                      <a16:colId xmlns:a16="http://schemas.microsoft.com/office/drawing/2014/main" val="20002"/>
                    </a:ext>
                  </a:extLst>
                </a:gridCol>
                <a:gridCol w="1450761">
                  <a:extLst>
                    <a:ext uri="{9D8B030D-6E8A-4147-A177-3AD203B41FA5}">
                      <a16:colId xmlns:a16="http://schemas.microsoft.com/office/drawing/2014/main" val="20003"/>
                    </a:ext>
                  </a:extLst>
                </a:gridCol>
                <a:gridCol w="1450761">
                  <a:extLst>
                    <a:ext uri="{9D8B030D-6E8A-4147-A177-3AD203B41FA5}">
                      <a16:colId xmlns:a16="http://schemas.microsoft.com/office/drawing/2014/main" val="20004"/>
                    </a:ext>
                  </a:extLst>
                </a:gridCol>
              </a:tblGrid>
              <a:tr h="716289">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Dignity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Dignity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58,700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5352">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107,500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10,000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$ 3,251,889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$ 6,181,817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$ 2,886,856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$ 12,320,562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$ 754,438.4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$ 1,434,181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$ 669,750.5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$ 2,858,370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$ 17,072,373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$ 120,000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$ 17,077,173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$ 17,012,373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$ 26,029,926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$ 40,817,177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$ 19,061,274</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$ 85,908,377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$ 6,038,943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$ 9,469,585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$ 4,422,216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$ 19,930,743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8% (inpatient) and 9%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23.2%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23.2%, with a 10 percentage-point reduction to reflect competitive-edge rates and a 10 percentage-point increase due to lower billing costs and higher patient responsibility collections because of the member credit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0" y="0"/>
          <a:ext cx="12192000"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1431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14313">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14313">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$162.6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$325.2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$1,625.9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$8,129.7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$1,886.1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$58,180.3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$539.9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$2,699.6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$13,497.8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$10,010.1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$50,050.5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$232.2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$464.5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$2,322.3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$11,611.7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$618.2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$3,090.9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$15,454.5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$3,585.5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$3,524.7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$17,623.6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$88,117.9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$4,088.7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$20,443.3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$14,532.7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$72,663.3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$337.2</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$674.3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$3,371.6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$16,857.9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$144.3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$288.7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$1,443.4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$7,217.1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$1,674.4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$1,646.0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$8,230.1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$41,150.3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$1,909.4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$9,546.9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$1,357.3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$6,786.6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$33,933.2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14313">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$157.4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$314.9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$1,574.5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$7,872.5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14313">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$402.8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$1,135.7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$6,998.4</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$36,312.1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86448098"/>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$6,160.3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$30,801.4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$3,749.0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$7,497.9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$37,489.7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$187,448.4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$3,132.9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$6,265.9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$31,329.4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$156,647.0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$869.8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$1,739.5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$8,697.6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$43,488.0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$726.8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$1,453.7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$7,268.4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$36,342.1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$402.8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$1,135.7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$6,998.4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$36,312.1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29681793"/>
              </p:ext>
            </p:extLst>
          </p:nvPr>
        </p:nvGraphicFramePr>
        <p:xfrm>
          <a:off x="0" y="0"/>
          <a:ext cx="12198096" cy="6857996"/>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28.2%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7">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0">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0">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$6,160.3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$30,801.4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0">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0">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$8,916.9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$44,584.4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$222,921.8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$3,842.4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$7,684.8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$38,424.1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$192,120.4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0">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$2,514.6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$12,572.8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$62,863.9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$2,228.7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$11,143.6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$55,718.0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0">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0">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0">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0">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$790.4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$1,910.7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$10,873.6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$55,688.0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87854256"/>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18.2%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$616.0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$1,232.1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$6,160.3</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$30,801.4</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$285.8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$1,429.2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$7,145.9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$3,036.9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$6,073.9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$30,369.3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$151,846.6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$2,420.9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$4,841.8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$24,209.0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$121,045.2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$1,105.4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$5,527.2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$27,636.1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$4,098.0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$20,490.2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$85.8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$501.6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$3,828.0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$20,460.2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Dignity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Dignity Health Nevada</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40</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Dignity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Dignity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42</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46152</TotalTime>
  <Words>5078</Words>
  <Application>Microsoft Office PowerPoint</Application>
  <PresentationFormat>Widescreen</PresentationFormat>
  <Paragraphs>1428</Paragraphs>
  <Slides>42</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42</vt:i4>
      </vt:variant>
    </vt:vector>
  </HeadingPairs>
  <TitlesOfParts>
    <vt:vector size="52"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DIGNITY HEALTH IS PATIENT RECOMMENDED</vt:lpstr>
      <vt:lpstr>DIRECT-TO-EMPLOYER (DTE)  </vt:lpstr>
      <vt:lpstr>DTE KEYS TO SUCCESS FOR DIGNITY HEALTH</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DIGNITY HEALTH’S 2022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2025-05-21T03:18:09Z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