
<file path=[Content_Types].xml><?xml version="1.0" encoding="utf-8"?>
<Types xmlns="http://schemas.openxmlformats.org/package/2006/content-types">
  <Default Extension="emf" ContentType="image/x-emf"/>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5.xml" ContentType="application/vnd.openxmlformats-officedocument.theme+xml"/>
  <Override PartName="/ppt/tags/tag4.xml" ContentType="application/vnd.openxmlformats-officedocument.presentationml.tags+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6.xml" ContentType="application/vnd.openxmlformats-officedocument.theme+xml"/>
  <Override PartName="/ppt/tags/tag5.xml" ContentType="application/vnd.openxmlformats-officedocument.presentationml.tags+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6.xml" ContentType="application/vnd.openxmlformats-officedocument.presentationml.tags+xml"/>
  <Override PartName="/ppt/comments/modernComment_7FE53189_F808901F.xml" ContentType="application/vnd.ms-powerpoint.comments+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modernComment_7FE53192_3C36F9F4.xml" ContentType="application/vnd.ms-powerpoint.comments+xml"/>
  <Override PartName="/ppt/notesSlides/notesSlide1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 id="2147483785" r:id="rId8"/>
    <p:sldMasterId id="2147483797" r:id="rId9"/>
  </p:sldMasterIdLst>
  <p:notesMasterIdLst>
    <p:notesMasterId r:id="rId57"/>
  </p:notesMasterIdLst>
  <p:sldIdLst>
    <p:sldId id="588" r:id="rId10"/>
    <p:sldId id="454" r:id="rId11"/>
    <p:sldId id="549" r:id="rId12"/>
    <p:sldId id="257" r:id="rId13"/>
    <p:sldId id="258" r:id="rId14"/>
    <p:sldId id="259" r:id="rId15"/>
    <p:sldId id="2145726869" r:id="rId16"/>
    <p:sldId id="452" r:id="rId17"/>
    <p:sldId id="466" r:id="rId18"/>
    <p:sldId id="2145726867" r:id="rId19"/>
    <p:sldId id="559" r:id="rId20"/>
    <p:sldId id="580" r:id="rId21"/>
    <p:sldId id="2145726870" r:id="rId22"/>
    <p:sldId id="558" r:id="rId23"/>
    <p:sldId id="2145726871" r:id="rId24"/>
    <p:sldId id="521" r:id="rId25"/>
    <p:sldId id="564" r:id="rId26"/>
    <p:sldId id="456" r:id="rId27"/>
    <p:sldId id="489" r:id="rId28"/>
    <p:sldId id="499" r:id="rId29"/>
    <p:sldId id="613" r:id="rId30"/>
    <p:sldId id="458" r:id="rId31"/>
    <p:sldId id="2145726859" r:id="rId32"/>
    <p:sldId id="2145726857" r:id="rId33"/>
    <p:sldId id="469" r:id="rId34"/>
    <p:sldId id="2145726856" r:id="rId35"/>
    <p:sldId id="614" r:id="rId36"/>
    <p:sldId id="281" r:id="rId37"/>
    <p:sldId id="283" r:id="rId38"/>
    <p:sldId id="285" r:id="rId39"/>
    <p:sldId id="2145726866" r:id="rId40"/>
    <p:sldId id="583" r:id="rId41"/>
    <p:sldId id="525" r:id="rId42"/>
    <p:sldId id="2145726868" r:id="rId43"/>
    <p:sldId id="571" r:id="rId44"/>
    <p:sldId id="2145726864" r:id="rId45"/>
    <p:sldId id="585" r:id="rId46"/>
    <p:sldId id="2145726872" r:id="rId47"/>
    <p:sldId id="256" r:id="rId48"/>
    <p:sldId id="574" r:id="rId49"/>
    <p:sldId id="572" r:id="rId50"/>
    <p:sldId id="575" r:id="rId51"/>
    <p:sldId id="498" r:id="rId52"/>
    <p:sldId id="325" r:id="rId53"/>
    <p:sldId id="326" r:id="rId54"/>
    <p:sldId id="491" r:id="rId55"/>
    <p:sldId id="472" r:id="rId56"/>
  </p:sldIdLst>
  <p:sldSz cx="12192000" cy="6858000"/>
  <p:notesSz cx="7315200" cy="9601200"/>
  <p:custDataLst>
    <p:tags r:id="rId5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06AB32-CBCC-4DEB-85C2-629671C37A07}" v="13" dt="2024-12-20T18:36:01.789"/>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14" autoAdjust="0"/>
    <p:restoredTop sz="88609" autoAdjust="0"/>
  </p:normalViewPr>
  <p:slideViewPr>
    <p:cSldViewPr snapToGrid="0">
      <p:cViewPr varScale="1">
        <p:scale>
          <a:sx n="98" d="100"/>
          <a:sy n="98" d="100"/>
        </p:scale>
        <p:origin x="828" y="84"/>
      </p:cViewPr>
      <p:guideLst/>
    </p:cSldViewPr>
  </p:slid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7.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slide" Target="slides/slide46.xml"/><Relationship Id="rId63"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slide" Target="slides/slide44.xml"/><Relationship Id="rId58" Type="http://schemas.openxmlformats.org/officeDocument/2006/relationships/tags" Target="tags/tag1.xml"/><Relationship Id="rId66" Type="http://schemas.microsoft.com/office/2018/10/relationships/authors" Target="authors.xml"/><Relationship Id="rId5" Type="http://schemas.openxmlformats.org/officeDocument/2006/relationships/slideMaster" Target="slideMasters/slideMaster2.xml"/><Relationship Id="rId61" Type="http://schemas.openxmlformats.org/officeDocument/2006/relationships/viewProps" Target="viewProps.xml"/><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slide" Target="slides/slide47.xml"/><Relationship Id="rId64" Type="http://schemas.microsoft.com/office/2016/11/relationships/changesInfo" Target="changesInfos/changesInfo1.xml"/><Relationship Id="rId8" Type="http://schemas.openxmlformats.org/officeDocument/2006/relationships/slideMaster" Target="slideMasters/slideMaster5.xml"/><Relationship Id="rId51" Type="http://schemas.openxmlformats.org/officeDocument/2006/relationships/slide" Target="slides/slide42.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commentAuthors" Target="commentAuthors.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slide" Target="slides/slide45.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notesMaster" Target="notesMasters/notesMaster1.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4.xml"/><Relationship Id="rId18" Type="http://schemas.openxmlformats.org/officeDocument/2006/relationships/slide" Target="slides/slide9.xml"/><Relationship Id="rId39" Type="http://schemas.openxmlformats.org/officeDocument/2006/relationships/slide" Target="slides/slide3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C906AB32-CBCC-4DEB-85C2-629671C37A07}"/>
    <pc:docChg chg="custSel addSld delSld modSld">
      <pc:chgData name="Taylor Davis" userId="5c9e72a0-c39f-4aa1-9d7d-64125e78cbe6" providerId="ADAL" clId="{C906AB32-CBCC-4DEB-85C2-629671C37A07}" dt="2024-12-20T18:36:01.783" v="38"/>
      <pc:docMkLst>
        <pc:docMk/>
      </pc:docMkLst>
      <pc:sldChg chg="modSp add del mod">
        <pc:chgData name="Taylor Davis" userId="5c9e72a0-c39f-4aa1-9d7d-64125e78cbe6" providerId="ADAL" clId="{C906AB32-CBCC-4DEB-85C2-629671C37A07}" dt="2024-12-16T22:16:49.379" v="29" actId="14100"/>
        <pc:sldMkLst>
          <pc:docMk/>
          <pc:sldMk cId="0" sldId="256"/>
        </pc:sldMkLst>
        <pc:graphicFrameChg chg="modGraphic">
          <ac:chgData name="Taylor Davis" userId="5c9e72a0-c39f-4aa1-9d7d-64125e78cbe6" providerId="ADAL" clId="{C906AB32-CBCC-4DEB-85C2-629671C37A07}" dt="2024-12-16T22:16:49.379" v="29" actId="14100"/>
          <ac:graphicFrameMkLst>
            <pc:docMk/>
            <pc:sldMk cId="0" sldId="256"/>
            <ac:graphicFrameMk id="2" creationId="{00000000-0000-0000-0000-000000000000}"/>
          </ac:graphicFrameMkLst>
        </pc:graphicFrameChg>
      </pc:sldChg>
      <pc:sldChg chg="add del setBg">
        <pc:chgData name="Taylor Davis" userId="5c9e72a0-c39f-4aa1-9d7d-64125e78cbe6" providerId="ADAL" clId="{C906AB32-CBCC-4DEB-85C2-629671C37A07}" dt="2024-12-20T18:36:01.783" v="38"/>
        <pc:sldMkLst>
          <pc:docMk/>
          <pc:sldMk cId="0" sldId="257"/>
        </pc:sldMkLst>
      </pc:sldChg>
      <pc:sldChg chg="add del setBg">
        <pc:chgData name="Taylor Davis" userId="5c9e72a0-c39f-4aa1-9d7d-64125e78cbe6" providerId="ADAL" clId="{C906AB32-CBCC-4DEB-85C2-629671C37A07}" dt="2024-12-20T18:36:01.783" v="38"/>
        <pc:sldMkLst>
          <pc:docMk/>
          <pc:sldMk cId="0" sldId="258"/>
        </pc:sldMkLst>
      </pc:sldChg>
      <pc:sldChg chg="add del setBg">
        <pc:chgData name="Taylor Davis" userId="5c9e72a0-c39f-4aa1-9d7d-64125e78cbe6" providerId="ADAL" clId="{C906AB32-CBCC-4DEB-85C2-629671C37A07}" dt="2024-12-20T18:36:01.783" v="38"/>
        <pc:sldMkLst>
          <pc:docMk/>
          <pc:sldMk cId="0" sldId="259"/>
        </pc:sldMkLst>
      </pc:sldChg>
      <pc:sldChg chg="addSp delSp modSp mod">
        <pc:chgData name="Taylor Davis" userId="5c9e72a0-c39f-4aa1-9d7d-64125e78cbe6" providerId="ADAL" clId="{C906AB32-CBCC-4DEB-85C2-629671C37A07}" dt="2024-12-16T22:16:00.575" v="23" actId="1076"/>
        <pc:sldMkLst>
          <pc:docMk/>
          <pc:sldMk cId="2203540903" sldId="499"/>
        </pc:sldMkLst>
        <pc:graphicFrameChg chg="del">
          <ac:chgData name="Taylor Davis" userId="5c9e72a0-c39f-4aa1-9d7d-64125e78cbe6" providerId="ADAL" clId="{C906AB32-CBCC-4DEB-85C2-629671C37A07}" dt="2024-12-16T22:15:51.166" v="21" actId="478"/>
          <ac:graphicFrameMkLst>
            <pc:docMk/>
            <pc:sldMk cId="2203540903" sldId="499"/>
            <ac:graphicFrameMk id="8" creationId="{00000000-0000-0000-0000-000000000000}"/>
          </ac:graphicFrameMkLst>
        </pc:graphicFrameChg>
        <pc:graphicFrameChg chg="add mod">
          <ac:chgData name="Taylor Davis" userId="5c9e72a0-c39f-4aa1-9d7d-64125e78cbe6" providerId="ADAL" clId="{C906AB32-CBCC-4DEB-85C2-629671C37A07}" dt="2024-12-16T22:16:00.575" v="23" actId="1076"/>
          <ac:graphicFrameMkLst>
            <pc:docMk/>
            <pc:sldMk cId="2203540903" sldId="499"/>
            <ac:graphicFrameMk id="9" creationId="{EB28B35A-CB6F-7010-0EE8-958E915D19A9}"/>
          </ac:graphicFrameMkLst>
        </pc:graphicFrameChg>
      </pc:sldChg>
      <pc:sldChg chg="del">
        <pc:chgData name="Taylor Davis" userId="5c9e72a0-c39f-4aa1-9d7d-64125e78cbe6" providerId="ADAL" clId="{C906AB32-CBCC-4DEB-85C2-629671C37A07}" dt="2024-12-16T22:16:24.409" v="25" actId="47"/>
        <pc:sldMkLst>
          <pc:docMk/>
          <pc:sldMk cId="1419816550" sldId="536"/>
        </pc:sldMkLst>
      </pc:sldChg>
      <pc:sldChg chg="del">
        <pc:chgData name="Taylor Davis" userId="5c9e72a0-c39f-4aa1-9d7d-64125e78cbe6" providerId="ADAL" clId="{C906AB32-CBCC-4DEB-85C2-629671C37A07}" dt="2024-12-16T22:15:39.259" v="20" actId="47"/>
        <pc:sldMkLst>
          <pc:docMk/>
          <pc:sldMk cId="315794589" sldId="548"/>
        </pc:sldMkLst>
      </pc:sldChg>
      <pc:sldChg chg="addSp">
        <pc:chgData name="Taylor Davis" userId="5c9e72a0-c39f-4aa1-9d7d-64125e78cbe6" providerId="ADAL" clId="{C906AB32-CBCC-4DEB-85C2-629671C37A07}" dt="2024-12-20T18:35:55.887" v="35"/>
        <pc:sldMkLst>
          <pc:docMk/>
          <pc:sldMk cId="263972108" sldId="549"/>
        </pc:sldMkLst>
        <pc:picChg chg="add">
          <ac:chgData name="Taylor Davis" userId="5c9e72a0-c39f-4aa1-9d7d-64125e78cbe6" providerId="ADAL" clId="{C906AB32-CBCC-4DEB-85C2-629671C37A07}" dt="2024-12-20T18:35:55.887" v="35"/>
          <ac:picMkLst>
            <pc:docMk/>
            <pc:sldMk cId="263972108" sldId="549"/>
            <ac:picMk id="13" creationId="{A3CFFA19-8C90-48E9-D001-B545A2700B10}"/>
          </ac:picMkLst>
        </pc:picChg>
      </pc:sldChg>
      <pc:sldChg chg="addSp delSp modSp mod">
        <pc:chgData name="Taylor Davis" userId="5c9e72a0-c39f-4aa1-9d7d-64125e78cbe6" providerId="ADAL" clId="{C906AB32-CBCC-4DEB-85C2-629671C37A07}" dt="2024-12-16T22:15:18.018" v="18" actId="20577"/>
        <pc:sldMkLst>
          <pc:docMk/>
          <pc:sldMk cId="3470905217" sldId="558"/>
        </pc:sldMkLst>
        <pc:spChg chg="mod">
          <ac:chgData name="Taylor Davis" userId="5c9e72a0-c39f-4aa1-9d7d-64125e78cbe6" providerId="ADAL" clId="{C906AB32-CBCC-4DEB-85C2-629671C37A07}" dt="2024-12-16T22:14:54.329" v="6" actId="20577"/>
          <ac:spMkLst>
            <pc:docMk/>
            <pc:sldMk cId="3470905217" sldId="558"/>
            <ac:spMk id="11" creationId="{32C9D62D-25B0-6CD9-8AD7-E6855B1B1B26}"/>
          </ac:spMkLst>
        </pc:spChg>
        <pc:spChg chg="mod">
          <ac:chgData name="Taylor Davis" userId="5c9e72a0-c39f-4aa1-9d7d-64125e78cbe6" providerId="ADAL" clId="{C906AB32-CBCC-4DEB-85C2-629671C37A07}" dt="2024-12-16T22:15:18.018" v="18" actId="20577"/>
          <ac:spMkLst>
            <pc:docMk/>
            <pc:sldMk cId="3470905217" sldId="558"/>
            <ac:spMk id="15" creationId="{2C03026B-6D1E-F7B1-9995-7D9DC1019C60}"/>
          </ac:spMkLst>
        </pc:spChg>
        <pc:spChg chg="mod">
          <ac:chgData name="Taylor Davis" userId="5c9e72a0-c39f-4aa1-9d7d-64125e78cbe6" providerId="ADAL" clId="{C906AB32-CBCC-4DEB-85C2-629671C37A07}" dt="2024-12-16T22:15:05.065" v="10" actId="20577"/>
          <ac:spMkLst>
            <pc:docMk/>
            <pc:sldMk cId="3470905217" sldId="558"/>
            <ac:spMk id="16" creationId="{9C64CEEB-E16A-926D-5DF0-DC8275443A40}"/>
          </ac:spMkLst>
        </pc:spChg>
        <pc:spChg chg="mod">
          <ac:chgData name="Taylor Davis" userId="5c9e72a0-c39f-4aa1-9d7d-64125e78cbe6" providerId="ADAL" clId="{C906AB32-CBCC-4DEB-85C2-629671C37A07}" dt="2024-12-16T22:15:13.194" v="14" actId="20577"/>
          <ac:spMkLst>
            <pc:docMk/>
            <pc:sldMk cId="3470905217" sldId="558"/>
            <ac:spMk id="17" creationId="{716000A2-AFB1-117D-BFF0-2BDA3EA8A77D}"/>
          </ac:spMkLst>
        </pc:spChg>
        <pc:spChg chg="add del mod">
          <ac:chgData name="Taylor Davis" userId="5c9e72a0-c39f-4aa1-9d7d-64125e78cbe6" providerId="ADAL" clId="{C906AB32-CBCC-4DEB-85C2-629671C37A07}" dt="2024-12-16T22:14:40.234" v="3" actId="478"/>
          <ac:spMkLst>
            <pc:docMk/>
            <pc:sldMk cId="3470905217" sldId="558"/>
            <ac:spMk id="27" creationId="{E8E5D8A4-AE0B-FCB6-2714-4CD435736DF6}"/>
          </ac:spMkLst>
        </pc:spChg>
        <pc:picChg chg="del">
          <ac:chgData name="Taylor Davis" userId="5c9e72a0-c39f-4aa1-9d7d-64125e78cbe6" providerId="ADAL" clId="{C906AB32-CBCC-4DEB-85C2-629671C37A07}" dt="2024-12-16T22:14:36.854" v="2" actId="478"/>
          <ac:picMkLst>
            <pc:docMk/>
            <pc:sldMk cId="3470905217" sldId="558"/>
            <ac:picMk id="25" creationId="{00000000-0000-0000-0000-000000000000}"/>
          </ac:picMkLst>
        </pc:picChg>
        <pc:picChg chg="add mod">
          <ac:chgData name="Taylor Davis" userId="5c9e72a0-c39f-4aa1-9d7d-64125e78cbe6" providerId="ADAL" clId="{C906AB32-CBCC-4DEB-85C2-629671C37A07}" dt="2024-12-16T22:14:44.049" v="4"/>
          <ac:picMkLst>
            <pc:docMk/>
            <pc:sldMk cId="3470905217" sldId="558"/>
            <ac:picMk id="28" creationId="{6B215B81-F1A0-2563-FFBD-BBDF838743BE}"/>
          </ac:picMkLst>
        </pc:picChg>
      </pc:sldChg>
      <pc:sldChg chg="modSp add del mod">
        <pc:chgData name="Taylor Davis" userId="5c9e72a0-c39f-4aa1-9d7d-64125e78cbe6" providerId="ADAL" clId="{C906AB32-CBCC-4DEB-85C2-629671C37A07}" dt="2024-12-16T22:16:59.226" v="31" actId="14100"/>
        <pc:sldMkLst>
          <pc:docMk/>
          <pc:sldMk cId="0" sldId="572"/>
        </pc:sldMkLst>
        <pc:graphicFrameChg chg="modGraphic">
          <ac:chgData name="Taylor Davis" userId="5c9e72a0-c39f-4aa1-9d7d-64125e78cbe6" providerId="ADAL" clId="{C906AB32-CBCC-4DEB-85C2-629671C37A07}" dt="2024-12-16T22:16:59.226" v="31" actId="14100"/>
          <ac:graphicFrameMkLst>
            <pc:docMk/>
            <pc:sldMk cId="0" sldId="572"/>
            <ac:graphicFrameMk id="2" creationId="{00000000-0000-0000-0000-000000000000}"/>
          </ac:graphicFrameMkLst>
        </pc:graphicFrameChg>
      </pc:sldChg>
      <pc:sldChg chg="modSp add del mod">
        <pc:chgData name="Taylor Davis" userId="5c9e72a0-c39f-4aa1-9d7d-64125e78cbe6" providerId="ADAL" clId="{C906AB32-CBCC-4DEB-85C2-629671C37A07}" dt="2024-12-16T22:16:54.258" v="30" actId="14100"/>
        <pc:sldMkLst>
          <pc:docMk/>
          <pc:sldMk cId="1064222983" sldId="574"/>
        </pc:sldMkLst>
        <pc:graphicFrameChg chg="modGraphic">
          <ac:chgData name="Taylor Davis" userId="5c9e72a0-c39f-4aa1-9d7d-64125e78cbe6" providerId="ADAL" clId="{C906AB32-CBCC-4DEB-85C2-629671C37A07}" dt="2024-12-16T22:16:54.258" v="30" actId="14100"/>
          <ac:graphicFrameMkLst>
            <pc:docMk/>
            <pc:sldMk cId="1064222983" sldId="574"/>
            <ac:graphicFrameMk id="2" creationId="{00000000-0000-0000-0000-000000000000}"/>
          </ac:graphicFrameMkLst>
        </pc:graphicFrameChg>
      </pc:sldChg>
      <pc:sldChg chg="modSp add del mod">
        <pc:chgData name="Taylor Davis" userId="5c9e72a0-c39f-4aa1-9d7d-64125e78cbe6" providerId="ADAL" clId="{C906AB32-CBCC-4DEB-85C2-629671C37A07}" dt="2024-12-16T22:17:03.087" v="32" actId="14100"/>
        <pc:sldMkLst>
          <pc:docMk/>
          <pc:sldMk cId="3790917938" sldId="575"/>
        </pc:sldMkLst>
        <pc:graphicFrameChg chg="modGraphic">
          <ac:chgData name="Taylor Davis" userId="5c9e72a0-c39f-4aa1-9d7d-64125e78cbe6" providerId="ADAL" clId="{C906AB32-CBCC-4DEB-85C2-629671C37A07}" dt="2024-12-16T22:17:03.087" v="32" actId="14100"/>
          <ac:graphicFrameMkLst>
            <pc:docMk/>
            <pc:sldMk cId="3790917938" sldId="575"/>
            <ac:graphicFrameMk id="2" creationId="{00000000-0000-0000-0000-000000000000}"/>
          </ac:graphicFrameMkLst>
        </pc:graphicFrameChg>
      </pc:sldChg>
      <pc:sldChg chg="del">
        <pc:chgData name="Taylor Davis" userId="5c9e72a0-c39f-4aa1-9d7d-64125e78cbe6" providerId="ADAL" clId="{C906AB32-CBCC-4DEB-85C2-629671C37A07}" dt="2024-12-16T22:14:29.401" v="1" actId="47"/>
        <pc:sldMkLst>
          <pc:docMk/>
          <pc:sldMk cId="4294051359" sldId="582"/>
        </pc:sldMkLst>
      </pc:sldChg>
      <pc:sldChg chg="add">
        <pc:chgData name="Taylor Davis" userId="5c9e72a0-c39f-4aa1-9d7d-64125e78cbe6" providerId="ADAL" clId="{C906AB32-CBCC-4DEB-85C2-629671C37A07}" dt="2024-12-16T22:14:26.751" v="0"/>
        <pc:sldMkLst>
          <pc:docMk/>
          <pc:sldMk cId="4044957763" sldId="2145726870"/>
        </pc:sldMkLst>
      </pc:sldChg>
      <pc:sldChg chg="add">
        <pc:chgData name="Taylor Davis" userId="5c9e72a0-c39f-4aa1-9d7d-64125e78cbe6" providerId="ADAL" clId="{C906AB32-CBCC-4DEB-85C2-629671C37A07}" dt="2024-12-16T22:15:30.822" v="19"/>
        <pc:sldMkLst>
          <pc:docMk/>
          <pc:sldMk cId="391158640" sldId="2145726871"/>
        </pc:sldMkLst>
      </pc:sldChg>
      <pc:sldChg chg="add">
        <pc:chgData name="Taylor Davis" userId="5c9e72a0-c39f-4aa1-9d7d-64125e78cbe6" providerId="ADAL" clId="{C906AB32-CBCC-4DEB-85C2-629671C37A07}" dt="2024-12-16T22:16:20.916" v="24"/>
        <pc:sldMkLst>
          <pc:docMk/>
          <pc:sldMk cId="384461402" sldId="2145726872"/>
        </pc:sldMkLst>
      </pc:sldChg>
    </pc:docChg>
  </pc:docChgLst>
</pc:chgInfo>
</file>

<file path=ppt/comments/modernComment_7FE53189_F808901F.xml><?xml version="1.0" encoding="utf-8"?>
<p188:cmLst xmlns:a="http://schemas.openxmlformats.org/drawingml/2006/main" xmlns:r="http://schemas.openxmlformats.org/officeDocument/2006/relationships" xmlns:p188="http://schemas.microsoft.com/office/powerpoint/2018/8/main">
  <p188:cm id="{EF343A6A-56B7-4F37-A3B8-022669B3006F}" authorId="{02E2597A-94BE-EE4F-A6CE-E20FE57E2F9C}" created="2024-12-04T16:31:35.650">
    <ac:txMkLst xmlns:ac="http://schemas.microsoft.com/office/drawing/2013/main/command">
      <pc:docMk xmlns:pc="http://schemas.microsoft.com/office/powerpoint/2013/main/command"/>
      <pc:sldMk xmlns:pc="http://schemas.microsoft.com/office/powerpoint/2013/main/command" cId="4161310751" sldId="2145726857"/>
      <ac:spMk id="6" creationId="{2FF25A3A-C156-4EF4-AAF0-4C022A00A18A}"/>
      <ac:txMk cp="64" len="48">
        <ac:context len="461" hash="3602096054"/>
      </ac:txMk>
    </ac:txMkLst>
    <p188:pos x="7038813" y="749084"/>
    <p188:txBody>
      <a:bodyPr/>
      <a:lstStyle/>
      <a:p>
        <a:r>
          <a:rPr lang="en-US"/>
          <a:t>Added this</a:t>
        </a:r>
      </a:p>
    </p188:txBody>
  </p188:cm>
</p188:cmLst>
</file>

<file path=ppt/comments/modernComment_7FE53192_3C36F9F4.xml><?xml version="1.0" encoding="utf-8"?>
<p188:cmLst xmlns:a="http://schemas.openxmlformats.org/drawingml/2006/main" xmlns:r="http://schemas.openxmlformats.org/officeDocument/2006/relationships" xmlns:p188="http://schemas.microsoft.com/office/powerpoint/2018/8/main">
  <p188:cm id="{22EC8C09-C53C-4C2E-B154-C4AFEC883543}" authorId="{66F9D3D0-34A3-8F09-07C8-70124CEFC9C1}" created="2024-12-06T22:26:01.707">
    <pc:sldMkLst xmlns:pc="http://schemas.microsoft.com/office/powerpoint/2013/main/command">
      <pc:docMk/>
      <pc:sldMk cId="1010235892" sldId="2145726866"/>
    </pc:sldMkLst>
    <p188:txBody>
      <a:bodyPr/>
      <a:lstStyle/>
      <a:p>
        <a:r>
          <a:rPr lang="en-US"/>
          <a:t>Updated</a:t>
        </a:r>
      </a:p>
    </p188:txBody>
  </p188:cm>
</p188:cmLst>
</file>

<file path=ppt/diagrams/_rels/data2.xml.rels><?xml version="1.0" encoding="UTF-8" standalone="yes"?>
<Relationships xmlns="http://schemas.openxmlformats.org/package/2006/relationships"><Relationship Id="rId8" Type="http://schemas.openxmlformats.org/officeDocument/2006/relationships/image" Target="../media/image90.svg"/><Relationship Id="rId3" Type="http://schemas.openxmlformats.org/officeDocument/2006/relationships/image" Target="../media/image85.png"/><Relationship Id="rId7" Type="http://schemas.openxmlformats.org/officeDocument/2006/relationships/image" Target="../media/image89.png"/><Relationship Id="rId2" Type="http://schemas.openxmlformats.org/officeDocument/2006/relationships/image" Target="../media/image84.svg"/><Relationship Id="rId1" Type="http://schemas.openxmlformats.org/officeDocument/2006/relationships/image" Target="../media/image83.png"/><Relationship Id="rId6" Type="http://schemas.openxmlformats.org/officeDocument/2006/relationships/image" Target="../media/image88.svg"/><Relationship Id="rId5" Type="http://schemas.openxmlformats.org/officeDocument/2006/relationships/image" Target="../media/image87.png"/><Relationship Id="rId10" Type="http://schemas.openxmlformats.org/officeDocument/2006/relationships/image" Target="../media/image92.svg"/><Relationship Id="rId4" Type="http://schemas.openxmlformats.org/officeDocument/2006/relationships/image" Target="../media/image86.svg"/><Relationship Id="rId9" Type="http://schemas.openxmlformats.org/officeDocument/2006/relationships/image" Target="../media/image91.png"/></Relationships>
</file>

<file path=ppt/diagrams/_rels/drawing2.xml.rels><?xml version="1.0" encoding="UTF-8" standalone="yes"?>
<Relationships xmlns="http://schemas.openxmlformats.org/package/2006/relationships"><Relationship Id="rId8" Type="http://schemas.openxmlformats.org/officeDocument/2006/relationships/image" Target="../media/image90.svg"/><Relationship Id="rId3" Type="http://schemas.openxmlformats.org/officeDocument/2006/relationships/image" Target="../media/image85.png"/><Relationship Id="rId7" Type="http://schemas.openxmlformats.org/officeDocument/2006/relationships/image" Target="../media/image89.png"/><Relationship Id="rId2" Type="http://schemas.openxmlformats.org/officeDocument/2006/relationships/image" Target="../media/image84.svg"/><Relationship Id="rId1" Type="http://schemas.openxmlformats.org/officeDocument/2006/relationships/image" Target="../media/image83.png"/><Relationship Id="rId6" Type="http://schemas.openxmlformats.org/officeDocument/2006/relationships/image" Target="../media/image88.svg"/><Relationship Id="rId5" Type="http://schemas.openxmlformats.org/officeDocument/2006/relationships/image" Target="../media/image87.png"/><Relationship Id="rId10" Type="http://schemas.openxmlformats.org/officeDocument/2006/relationships/image" Target="../media/image92.svg"/><Relationship Id="rId4" Type="http://schemas.openxmlformats.org/officeDocument/2006/relationships/image" Target="../media/image86.svg"/><Relationship Id="rId9" Type="http://schemas.openxmlformats.org/officeDocument/2006/relationships/image" Target="../media/image91.pn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7552FD-62D0-4C89-AB2B-72AE9D7341CF}" type="doc">
      <dgm:prSet loTypeId="urn:microsoft.com/office/officeart/2005/8/layout/venn2" loCatId="relationship" qsTypeId="urn:microsoft.com/office/officeart/2005/8/quickstyle/3d1#1" qsCatId="3D" csTypeId="urn:microsoft.com/office/officeart/2005/8/colors/accent1_3" csCatId="accent1" phldr="1"/>
      <dgm:spPr/>
      <dgm:t>
        <a:bodyPr/>
        <a:lstStyle/>
        <a:p>
          <a:endParaRPr lang="en-US"/>
        </a:p>
      </dgm:t>
    </dgm:pt>
    <dgm:pt modelId="{95724BCE-4D84-45F0-853F-F17C772D0584}">
      <dgm:prSet phldrT="[Text]" custT="1"/>
      <dgm:spPr>
        <a:solidFill>
          <a:srgbClr val="61A606"/>
        </a:solidFill>
      </dgm:spPr>
      <dgm:t>
        <a:bodyPr/>
        <a:lstStyle/>
        <a:p>
          <a:r>
            <a:rPr lang="en-US" sz="1200" b="1" dirty="0"/>
            <a:t>Out of Network</a:t>
          </a:r>
        </a:p>
      </dgm:t>
    </dgm:pt>
    <dgm:pt modelId="{C4069396-DBC4-441D-858D-6F1FB8AB3335}" type="parTrans" cxnId="{EDE789B6-DE86-481F-A7CA-05566DD34C7E}">
      <dgm:prSet/>
      <dgm:spPr/>
      <dgm:t>
        <a:bodyPr/>
        <a:lstStyle/>
        <a:p>
          <a:endParaRPr lang="en-US" sz="1200" b="1"/>
        </a:p>
      </dgm:t>
    </dgm:pt>
    <dgm:pt modelId="{B7AFCCD7-67D9-4F40-93BA-B7F5FA89153B}" type="sibTrans" cxnId="{EDE789B6-DE86-481F-A7CA-05566DD34C7E}">
      <dgm:prSet/>
      <dgm:spPr/>
      <dgm:t>
        <a:bodyPr/>
        <a:lstStyle/>
        <a:p>
          <a:endParaRPr lang="en-US" sz="1200" b="1"/>
        </a:p>
      </dgm:t>
    </dgm:pt>
    <dgm:pt modelId="{569713F0-CA36-4804-9BAC-B1D988D414E1}">
      <dgm:prSet phldrT="[Text]" custT="1"/>
      <dgm:spPr>
        <a:solidFill>
          <a:srgbClr val="244F9A"/>
        </a:solidFill>
      </dgm:spPr>
      <dgm:t>
        <a:bodyPr/>
        <a:lstStyle/>
        <a:p>
          <a:r>
            <a:rPr lang="en-US" sz="1200" b="1" dirty="0"/>
            <a:t>Friends &amp; Family (Contracted)</a:t>
          </a:r>
        </a:p>
      </dgm:t>
    </dgm:pt>
    <dgm:pt modelId="{C2ABEC94-DF33-4E2B-8072-2FB520905D00}" type="parTrans" cxnId="{FBE4C505-B914-4ED7-A279-063D711FC2A4}">
      <dgm:prSet/>
      <dgm:spPr/>
      <dgm:t>
        <a:bodyPr/>
        <a:lstStyle/>
        <a:p>
          <a:endParaRPr lang="en-US" sz="1200" b="1"/>
        </a:p>
      </dgm:t>
    </dgm:pt>
    <dgm:pt modelId="{7F7B88C7-943C-4452-A6E8-0E402C95A08B}" type="sibTrans" cxnId="{FBE4C505-B914-4ED7-A279-063D711FC2A4}">
      <dgm:prSet/>
      <dgm:spPr/>
      <dgm:t>
        <a:bodyPr/>
        <a:lstStyle/>
        <a:p>
          <a:endParaRPr lang="en-US" sz="1200" b="1"/>
        </a:p>
      </dgm:t>
    </dgm:pt>
    <dgm:pt modelId="{1E65235D-8651-4890-AE0B-49DC383A1E91}">
      <dgm:prSet phldrT="[Text]" custT="1"/>
      <dgm:spPr>
        <a:solidFill>
          <a:srgbClr val="59CAE8"/>
        </a:solidFill>
      </dgm:spPr>
      <dgm:t>
        <a:bodyPr/>
        <a:lstStyle/>
        <a:p>
          <a:endParaRPr lang="en-US" sz="1200" b="1" dirty="0">
            <a:effectLst>
              <a:outerShdw blurRad="38100" dist="38100" dir="2700000" algn="tl">
                <a:srgbClr val="000000">
                  <a:alpha val="43137"/>
                </a:srgbClr>
              </a:outerShdw>
            </a:effectLst>
          </a:endParaRPr>
        </a:p>
      </dgm:t>
    </dgm:pt>
    <dgm:pt modelId="{EBC95944-0EC3-46F4-9FEF-8988CFF8C43A}" type="parTrans" cxnId="{C483DC75-E93F-42FC-9F22-8AEF775BA916}">
      <dgm:prSet/>
      <dgm:spPr/>
      <dgm:t>
        <a:bodyPr/>
        <a:lstStyle/>
        <a:p>
          <a:endParaRPr lang="en-US" sz="1200" b="1"/>
        </a:p>
      </dgm:t>
    </dgm:pt>
    <dgm:pt modelId="{61F457D8-374A-49D4-900E-947546529662}" type="sibTrans" cxnId="{C483DC75-E93F-42FC-9F22-8AEF775BA916}">
      <dgm:prSet/>
      <dgm:spPr/>
      <dgm:t>
        <a:bodyPr/>
        <a:lstStyle/>
        <a:p>
          <a:endParaRPr lang="en-US" sz="1200" b="1"/>
        </a:p>
      </dgm:t>
    </dgm:pt>
    <dgm:pt modelId="{ECE6B814-0FC3-4C58-9174-74C36EF10323}">
      <dgm:prSet phldrT="[Text]" custT="1"/>
      <dgm:spPr>
        <a:solidFill>
          <a:srgbClr val="019CA5"/>
        </a:solidFill>
      </dgm:spPr>
      <dgm:t>
        <a:bodyPr/>
        <a:lstStyle/>
        <a:p>
          <a:r>
            <a:rPr lang="en-US" sz="1200" b="1" dirty="0"/>
            <a:t>Wrap Network (Rented)</a:t>
          </a:r>
        </a:p>
      </dgm:t>
    </dgm:pt>
    <dgm:pt modelId="{86D68A84-8990-42F1-BDC0-9D23A1F134C4}" type="sibTrans" cxnId="{249B36A5-1CF8-4FAF-92A3-07C95195B8A7}">
      <dgm:prSet/>
      <dgm:spPr/>
      <dgm:t>
        <a:bodyPr/>
        <a:lstStyle/>
        <a:p>
          <a:endParaRPr lang="en-US" sz="1200" b="1"/>
        </a:p>
      </dgm:t>
    </dgm:pt>
    <dgm:pt modelId="{93698D8B-DBC4-4A38-ACF6-A3FD1A770EC5}" type="parTrans" cxnId="{249B36A5-1CF8-4FAF-92A3-07C95195B8A7}">
      <dgm:prSet/>
      <dgm:spPr/>
      <dgm:t>
        <a:bodyPr/>
        <a:lstStyle/>
        <a:p>
          <a:endParaRPr lang="en-US" sz="1200" b="1"/>
        </a:p>
      </dgm:t>
    </dgm:pt>
    <dgm:pt modelId="{B48E91E1-A56E-40AF-9FB7-1CF2ACB11A26}" type="pres">
      <dgm:prSet presAssocID="{CC7552FD-62D0-4C89-AB2B-72AE9D7341CF}" presName="Name0" presStyleCnt="0">
        <dgm:presLayoutVars>
          <dgm:chMax val="7"/>
          <dgm:resizeHandles val="exact"/>
        </dgm:presLayoutVars>
      </dgm:prSet>
      <dgm:spPr/>
    </dgm:pt>
    <dgm:pt modelId="{51B4B7A6-5CC6-4D2B-A008-C2393CCE8E1A}" type="pres">
      <dgm:prSet presAssocID="{CC7552FD-62D0-4C89-AB2B-72AE9D7341CF}" presName="comp1" presStyleCnt="0"/>
      <dgm:spPr/>
    </dgm:pt>
    <dgm:pt modelId="{2137BF38-EED7-40B6-AE30-314765FAF99B}" type="pres">
      <dgm:prSet presAssocID="{CC7552FD-62D0-4C89-AB2B-72AE9D7341CF}" presName="circle1" presStyleLbl="node1" presStyleIdx="0" presStyleCnt="4"/>
      <dgm:spPr/>
    </dgm:pt>
    <dgm:pt modelId="{DF426F85-4C8C-4ED2-8675-11BFB0838EC8}" type="pres">
      <dgm:prSet presAssocID="{CC7552FD-62D0-4C89-AB2B-72AE9D7341CF}" presName="c1text" presStyleLbl="node1" presStyleIdx="0" presStyleCnt="4">
        <dgm:presLayoutVars>
          <dgm:bulletEnabled val="1"/>
        </dgm:presLayoutVars>
      </dgm:prSet>
      <dgm:spPr/>
    </dgm:pt>
    <dgm:pt modelId="{C6723F7F-022F-4FCC-B6E2-7067916A4B10}" type="pres">
      <dgm:prSet presAssocID="{CC7552FD-62D0-4C89-AB2B-72AE9D7341CF}" presName="comp2" presStyleCnt="0"/>
      <dgm:spPr/>
    </dgm:pt>
    <dgm:pt modelId="{68806E35-FB05-408F-AFBC-163227E8487B}" type="pres">
      <dgm:prSet presAssocID="{CC7552FD-62D0-4C89-AB2B-72AE9D7341CF}" presName="circle2" presStyleLbl="node1" presStyleIdx="1" presStyleCnt="4"/>
      <dgm:spPr/>
    </dgm:pt>
    <dgm:pt modelId="{0B6A6A60-FE79-4554-9C37-549CA04643BE}" type="pres">
      <dgm:prSet presAssocID="{CC7552FD-62D0-4C89-AB2B-72AE9D7341CF}" presName="c2text" presStyleLbl="node1" presStyleIdx="1" presStyleCnt="4">
        <dgm:presLayoutVars>
          <dgm:bulletEnabled val="1"/>
        </dgm:presLayoutVars>
      </dgm:prSet>
      <dgm:spPr/>
    </dgm:pt>
    <dgm:pt modelId="{6FD52F53-EBEF-48E2-8A07-24379F9A581F}" type="pres">
      <dgm:prSet presAssocID="{CC7552FD-62D0-4C89-AB2B-72AE9D7341CF}" presName="comp3" presStyleCnt="0"/>
      <dgm:spPr/>
    </dgm:pt>
    <dgm:pt modelId="{EBC66B5F-74A7-4C59-9CEC-5E7379E73E3B}" type="pres">
      <dgm:prSet presAssocID="{CC7552FD-62D0-4C89-AB2B-72AE9D7341CF}" presName="circle3" presStyleLbl="node1" presStyleIdx="2" presStyleCnt="4"/>
      <dgm:spPr/>
    </dgm:pt>
    <dgm:pt modelId="{F4A2D7CC-0825-42DF-BF52-41782C7F5FD9}" type="pres">
      <dgm:prSet presAssocID="{CC7552FD-62D0-4C89-AB2B-72AE9D7341CF}" presName="c3text" presStyleLbl="node1" presStyleIdx="2" presStyleCnt="4">
        <dgm:presLayoutVars>
          <dgm:bulletEnabled val="1"/>
        </dgm:presLayoutVars>
      </dgm:prSet>
      <dgm:spPr/>
    </dgm:pt>
    <dgm:pt modelId="{28E403A5-F99B-4FAC-89FC-A846539584D0}" type="pres">
      <dgm:prSet presAssocID="{CC7552FD-62D0-4C89-AB2B-72AE9D7341CF}" presName="comp4" presStyleCnt="0"/>
      <dgm:spPr/>
    </dgm:pt>
    <dgm:pt modelId="{F92C6764-1AFD-4DFF-B75E-6422C5503855}" type="pres">
      <dgm:prSet presAssocID="{CC7552FD-62D0-4C89-AB2B-72AE9D7341CF}" presName="circle4" presStyleLbl="node1" presStyleIdx="3" presStyleCnt="4" custLinFactNeighborX="805" custLinFactNeighborY="1231"/>
      <dgm:spPr/>
    </dgm:pt>
    <dgm:pt modelId="{D63BE29E-2BB7-44DC-AA3E-8ABC2E4D12DA}" type="pres">
      <dgm:prSet presAssocID="{CC7552FD-62D0-4C89-AB2B-72AE9D7341CF}" presName="c4text" presStyleLbl="node1" presStyleIdx="3" presStyleCnt="4">
        <dgm:presLayoutVars>
          <dgm:bulletEnabled val="1"/>
        </dgm:presLayoutVars>
      </dgm:prSet>
      <dgm:spPr/>
    </dgm:pt>
  </dgm:ptLst>
  <dgm:cxnLst>
    <dgm:cxn modelId="{FBE4C505-B914-4ED7-A279-063D711FC2A4}" srcId="{CC7552FD-62D0-4C89-AB2B-72AE9D7341CF}" destId="{569713F0-CA36-4804-9BAC-B1D988D414E1}" srcOrd="2" destOrd="0" parTransId="{C2ABEC94-DF33-4E2B-8072-2FB520905D00}" sibTransId="{7F7B88C7-943C-4452-A6E8-0E402C95A08B}"/>
    <dgm:cxn modelId="{F2B3A710-39AB-4C98-A65E-5BAFADE8822C}" type="presOf" srcId="{1E65235D-8651-4890-AE0B-49DC383A1E91}" destId="{F92C6764-1AFD-4DFF-B75E-6422C5503855}" srcOrd="0" destOrd="0" presId="urn:microsoft.com/office/officeart/2005/8/layout/venn2"/>
    <dgm:cxn modelId="{AB7ABC15-C91B-4510-987C-DC7E28931CDF}" type="presOf" srcId="{ECE6B814-0FC3-4C58-9174-74C36EF10323}" destId="{68806E35-FB05-408F-AFBC-163227E8487B}" srcOrd="0" destOrd="0" presId="urn:microsoft.com/office/officeart/2005/8/layout/venn2"/>
    <dgm:cxn modelId="{0DECDB18-FC83-4AD8-8CE5-199CE52396EB}" type="presOf" srcId="{ECE6B814-0FC3-4C58-9174-74C36EF10323}" destId="{0B6A6A60-FE79-4554-9C37-549CA04643BE}" srcOrd="1" destOrd="0" presId="urn:microsoft.com/office/officeart/2005/8/layout/venn2"/>
    <dgm:cxn modelId="{14418032-6613-4832-B925-ADD3CB109AC1}" type="presOf" srcId="{95724BCE-4D84-45F0-853F-F17C772D0584}" destId="{DF426F85-4C8C-4ED2-8675-11BFB0838EC8}" srcOrd="1" destOrd="0" presId="urn:microsoft.com/office/officeart/2005/8/layout/venn2"/>
    <dgm:cxn modelId="{402ECC72-BF1F-4D94-9E07-E240E3CDC58B}" type="presOf" srcId="{569713F0-CA36-4804-9BAC-B1D988D414E1}" destId="{EBC66B5F-74A7-4C59-9CEC-5E7379E73E3B}" srcOrd="0" destOrd="0" presId="urn:microsoft.com/office/officeart/2005/8/layout/venn2"/>
    <dgm:cxn modelId="{C8818974-6CAA-4CB2-8EE8-57F21A36CA14}" type="presOf" srcId="{569713F0-CA36-4804-9BAC-B1D988D414E1}" destId="{F4A2D7CC-0825-42DF-BF52-41782C7F5FD9}" srcOrd="1" destOrd="0" presId="urn:microsoft.com/office/officeart/2005/8/layout/venn2"/>
    <dgm:cxn modelId="{C483DC75-E93F-42FC-9F22-8AEF775BA916}" srcId="{CC7552FD-62D0-4C89-AB2B-72AE9D7341CF}" destId="{1E65235D-8651-4890-AE0B-49DC383A1E91}" srcOrd="3" destOrd="0" parTransId="{EBC95944-0EC3-46F4-9FEF-8988CFF8C43A}" sibTransId="{61F457D8-374A-49D4-900E-947546529662}"/>
    <dgm:cxn modelId="{A6A7605A-1F39-45EF-BF83-BA2406EE7A18}" type="presOf" srcId="{95724BCE-4D84-45F0-853F-F17C772D0584}" destId="{2137BF38-EED7-40B6-AE30-314765FAF99B}" srcOrd="0" destOrd="0" presId="urn:microsoft.com/office/officeart/2005/8/layout/venn2"/>
    <dgm:cxn modelId="{E2740696-3283-48CE-B97D-9876EDC46B7F}" type="presOf" srcId="{1E65235D-8651-4890-AE0B-49DC383A1E91}" destId="{D63BE29E-2BB7-44DC-AA3E-8ABC2E4D12DA}" srcOrd="1" destOrd="0" presId="urn:microsoft.com/office/officeart/2005/8/layout/venn2"/>
    <dgm:cxn modelId="{249B36A5-1CF8-4FAF-92A3-07C95195B8A7}" srcId="{CC7552FD-62D0-4C89-AB2B-72AE9D7341CF}" destId="{ECE6B814-0FC3-4C58-9174-74C36EF10323}" srcOrd="1" destOrd="0" parTransId="{93698D8B-DBC4-4A38-ACF6-A3FD1A770EC5}" sibTransId="{86D68A84-8990-42F1-BDC0-9D23A1F134C4}"/>
    <dgm:cxn modelId="{248A33AF-5C9C-44CD-83DB-FBE3BC11E892}" type="presOf" srcId="{CC7552FD-62D0-4C89-AB2B-72AE9D7341CF}" destId="{B48E91E1-A56E-40AF-9FB7-1CF2ACB11A26}" srcOrd="0" destOrd="0" presId="urn:microsoft.com/office/officeart/2005/8/layout/venn2"/>
    <dgm:cxn modelId="{EDE789B6-DE86-481F-A7CA-05566DD34C7E}" srcId="{CC7552FD-62D0-4C89-AB2B-72AE9D7341CF}" destId="{95724BCE-4D84-45F0-853F-F17C772D0584}" srcOrd="0" destOrd="0" parTransId="{C4069396-DBC4-441D-858D-6F1FB8AB3335}" sibTransId="{B7AFCCD7-67D9-4F40-93BA-B7F5FA89153B}"/>
    <dgm:cxn modelId="{5BD9092F-1A66-4F0A-AF1E-25AF0EE8FD30}" type="presParOf" srcId="{B48E91E1-A56E-40AF-9FB7-1CF2ACB11A26}" destId="{51B4B7A6-5CC6-4D2B-A008-C2393CCE8E1A}" srcOrd="0" destOrd="0" presId="urn:microsoft.com/office/officeart/2005/8/layout/venn2"/>
    <dgm:cxn modelId="{2F863CF6-5E37-43DF-912A-4A5621BA5BF0}" type="presParOf" srcId="{51B4B7A6-5CC6-4D2B-A008-C2393CCE8E1A}" destId="{2137BF38-EED7-40B6-AE30-314765FAF99B}" srcOrd="0" destOrd="0" presId="urn:microsoft.com/office/officeart/2005/8/layout/venn2"/>
    <dgm:cxn modelId="{975CD106-737C-48C1-9A8D-9501AD23E7A8}" type="presParOf" srcId="{51B4B7A6-5CC6-4D2B-A008-C2393CCE8E1A}" destId="{DF426F85-4C8C-4ED2-8675-11BFB0838EC8}" srcOrd="1" destOrd="0" presId="urn:microsoft.com/office/officeart/2005/8/layout/venn2"/>
    <dgm:cxn modelId="{9D0C7BE2-1A22-4D14-8173-13BB6F5F499A}" type="presParOf" srcId="{B48E91E1-A56E-40AF-9FB7-1CF2ACB11A26}" destId="{C6723F7F-022F-4FCC-B6E2-7067916A4B10}" srcOrd="1" destOrd="0" presId="urn:microsoft.com/office/officeart/2005/8/layout/venn2"/>
    <dgm:cxn modelId="{0FB070D9-1CF8-45D8-910F-51CDC89BD66C}" type="presParOf" srcId="{C6723F7F-022F-4FCC-B6E2-7067916A4B10}" destId="{68806E35-FB05-408F-AFBC-163227E8487B}" srcOrd="0" destOrd="0" presId="urn:microsoft.com/office/officeart/2005/8/layout/venn2"/>
    <dgm:cxn modelId="{E874FD9E-42DD-4775-BD14-98A78C0E358F}" type="presParOf" srcId="{C6723F7F-022F-4FCC-B6E2-7067916A4B10}" destId="{0B6A6A60-FE79-4554-9C37-549CA04643BE}" srcOrd="1" destOrd="0" presId="urn:microsoft.com/office/officeart/2005/8/layout/venn2"/>
    <dgm:cxn modelId="{533F2428-7D48-425A-84B9-BD8EE9858991}" type="presParOf" srcId="{B48E91E1-A56E-40AF-9FB7-1CF2ACB11A26}" destId="{6FD52F53-EBEF-48E2-8A07-24379F9A581F}" srcOrd="2" destOrd="0" presId="urn:microsoft.com/office/officeart/2005/8/layout/venn2"/>
    <dgm:cxn modelId="{D6C94450-97EC-46B7-8F51-45063118571E}" type="presParOf" srcId="{6FD52F53-EBEF-48E2-8A07-24379F9A581F}" destId="{EBC66B5F-74A7-4C59-9CEC-5E7379E73E3B}" srcOrd="0" destOrd="0" presId="urn:microsoft.com/office/officeart/2005/8/layout/venn2"/>
    <dgm:cxn modelId="{83345C35-304E-4D9D-A9F4-F8721176DD23}" type="presParOf" srcId="{6FD52F53-EBEF-48E2-8A07-24379F9A581F}" destId="{F4A2D7CC-0825-42DF-BF52-41782C7F5FD9}" srcOrd="1" destOrd="0" presId="urn:microsoft.com/office/officeart/2005/8/layout/venn2"/>
    <dgm:cxn modelId="{AC46EE94-CB6F-43B3-84C8-F82373D89B41}" type="presParOf" srcId="{B48E91E1-A56E-40AF-9FB7-1CF2ACB11A26}" destId="{28E403A5-F99B-4FAC-89FC-A846539584D0}" srcOrd="3" destOrd="0" presId="urn:microsoft.com/office/officeart/2005/8/layout/venn2"/>
    <dgm:cxn modelId="{0E30E2C5-34DC-4093-889B-5B1D03CBEB01}" type="presParOf" srcId="{28E403A5-F99B-4FAC-89FC-A846539584D0}" destId="{F92C6764-1AFD-4DFF-B75E-6422C5503855}" srcOrd="0" destOrd="0" presId="urn:microsoft.com/office/officeart/2005/8/layout/venn2"/>
    <dgm:cxn modelId="{5C9EDED6-C0C0-452F-9674-0BA712F0109C}" type="presParOf" srcId="{28E403A5-F99B-4FAC-89FC-A846539584D0}" destId="{D63BE29E-2BB7-44DC-AA3E-8ABC2E4D12DA}" srcOrd="1" destOrd="0" presId="urn:microsoft.com/office/officeart/2005/8/layout/venn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1F1B84F-4F37-4E4B-B28C-05C8DFC9475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911CD98-B2F6-4E17-9C61-BB702C3250BF}">
      <dgm:prSet/>
      <dgm:spPr/>
      <dgm:t>
        <a:bodyPr/>
        <a:lstStyle/>
        <a:p>
          <a:r>
            <a:rPr lang="en-US"/>
            <a:t>Locally based sales rep with strong community ties</a:t>
          </a:r>
        </a:p>
      </dgm:t>
    </dgm:pt>
    <dgm:pt modelId="{1B3485FF-7759-40EC-AD38-B4C3F252244B}" type="parTrans" cxnId="{A168C851-557D-4049-B12D-0918348F3F6B}">
      <dgm:prSet/>
      <dgm:spPr/>
      <dgm:t>
        <a:bodyPr/>
        <a:lstStyle/>
        <a:p>
          <a:endParaRPr lang="en-US"/>
        </a:p>
      </dgm:t>
    </dgm:pt>
    <dgm:pt modelId="{9180CA49-E8E8-4099-ADFF-9A61D44E83A0}" type="sibTrans" cxnId="{A168C851-557D-4049-B12D-0918348F3F6B}">
      <dgm:prSet/>
      <dgm:spPr/>
      <dgm:t>
        <a:bodyPr/>
        <a:lstStyle/>
        <a:p>
          <a:endParaRPr lang="en-US"/>
        </a:p>
      </dgm:t>
    </dgm:pt>
    <dgm:pt modelId="{9AFA7D91-6390-4F95-BF06-02D171762A63}">
      <dgm:prSet/>
      <dgm:spPr/>
      <dgm:t>
        <a:bodyPr/>
        <a:lstStyle/>
        <a:p>
          <a:r>
            <a:rPr lang="en-US"/>
            <a:t>Collaboration with DTE provider partners to identify strategic employers for early adoption and sales</a:t>
          </a:r>
        </a:p>
      </dgm:t>
    </dgm:pt>
    <dgm:pt modelId="{D0587002-3B85-493B-96BA-C0B5C3BC8362}" type="parTrans" cxnId="{8425CA16-C12A-4854-A8A6-A903ECA909CC}">
      <dgm:prSet/>
      <dgm:spPr/>
      <dgm:t>
        <a:bodyPr/>
        <a:lstStyle/>
        <a:p>
          <a:endParaRPr lang="en-US"/>
        </a:p>
      </dgm:t>
    </dgm:pt>
    <dgm:pt modelId="{0B994676-137E-4272-9E37-A6B069477E49}" type="sibTrans" cxnId="{8425CA16-C12A-4854-A8A6-A903ECA909CC}">
      <dgm:prSet/>
      <dgm:spPr/>
      <dgm:t>
        <a:bodyPr/>
        <a:lstStyle/>
        <a:p>
          <a:endParaRPr lang="en-US"/>
        </a:p>
      </dgm:t>
    </dgm:pt>
    <dgm:pt modelId="{9D9C157A-8184-4810-813C-F9ABE512F84B}">
      <dgm:prSet/>
      <dgm:spPr/>
      <dgm:t>
        <a:bodyPr/>
        <a:lstStyle/>
        <a:p>
          <a:r>
            <a:rPr lang="en-US"/>
            <a:t>Work with select broker distribution partners with aligned incentives and goals</a:t>
          </a:r>
        </a:p>
      </dgm:t>
    </dgm:pt>
    <dgm:pt modelId="{D8EDC1F2-E417-46FD-8716-E1D397B83704}" type="parTrans" cxnId="{D6C9B23D-AA21-442F-A1F4-60E86C0DFD38}">
      <dgm:prSet/>
      <dgm:spPr/>
      <dgm:t>
        <a:bodyPr/>
        <a:lstStyle/>
        <a:p>
          <a:endParaRPr lang="en-US"/>
        </a:p>
      </dgm:t>
    </dgm:pt>
    <dgm:pt modelId="{A9D49BD5-FFD1-45FF-B858-025048928466}" type="sibTrans" cxnId="{D6C9B23D-AA21-442F-A1F4-60E86C0DFD38}">
      <dgm:prSet/>
      <dgm:spPr/>
      <dgm:t>
        <a:bodyPr/>
        <a:lstStyle/>
        <a:p>
          <a:endParaRPr lang="en-US"/>
        </a:p>
      </dgm:t>
    </dgm:pt>
    <dgm:pt modelId="{39D9786D-012C-4B3E-84F3-BFD2C13FD7FC}">
      <dgm:prSet/>
      <dgm:spPr/>
      <dgm:t>
        <a:bodyPr/>
        <a:lstStyle/>
        <a:p>
          <a:r>
            <a:rPr lang="en-US"/>
            <a:t>Pipeline reporting and collaboration with our DTE provider partners</a:t>
          </a:r>
        </a:p>
      </dgm:t>
    </dgm:pt>
    <dgm:pt modelId="{C689F240-B9AE-4A72-BADB-436944BA27AA}" type="parTrans" cxnId="{9F11DF62-E12D-48E8-9AF7-8969B05FD323}">
      <dgm:prSet/>
      <dgm:spPr/>
      <dgm:t>
        <a:bodyPr/>
        <a:lstStyle/>
        <a:p>
          <a:endParaRPr lang="en-US"/>
        </a:p>
      </dgm:t>
    </dgm:pt>
    <dgm:pt modelId="{0FD7031B-D881-49AA-97BB-5ACDC9BF069B}" type="sibTrans" cxnId="{9F11DF62-E12D-48E8-9AF7-8969B05FD323}">
      <dgm:prSet/>
      <dgm:spPr/>
      <dgm:t>
        <a:bodyPr/>
        <a:lstStyle/>
        <a:p>
          <a:endParaRPr lang="en-US"/>
        </a:p>
      </dgm:t>
    </dgm:pt>
    <dgm:pt modelId="{B99A3672-DF6D-4974-8FC9-C3A40F7EE8D6}">
      <dgm:prSet/>
      <dgm:spPr/>
      <dgm:t>
        <a:bodyPr/>
        <a:lstStyle/>
        <a:p>
          <a:r>
            <a:rPr lang="en-US"/>
            <a:t>Marketing and promotion of the new option in the community</a:t>
          </a:r>
        </a:p>
      </dgm:t>
    </dgm:pt>
    <dgm:pt modelId="{F021CB03-DC97-4F5D-A6E0-B31CA8867184}" type="parTrans" cxnId="{BA63E6F6-73E3-400D-860F-4F734F4C4B3F}">
      <dgm:prSet/>
      <dgm:spPr/>
      <dgm:t>
        <a:bodyPr/>
        <a:lstStyle/>
        <a:p>
          <a:endParaRPr lang="en-US"/>
        </a:p>
      </dgm:t>
    </dgm:pt>
    <dgm:pt modelId="{FF3C2DEC-F562-4F34-AE34-A164E841B7EF}" type="sibTrans" cxnId="{BA63E6F6-73E3-400D-860F-4F734F4C4B3F}">
      <dgm:prSet/>
      <dgm:spPr/>
      <dgm:t>
        <a:bodyPr/>
        <a:lstStyle/>
        <a:p>
          <a:endParaRPr lang="en-US"/>
        </a:p>
      </dgm:t>
    </dgm:pt>
    <dgm:pt modelId="{37E61AA2-39C5-4D3B-A37D-5BFF2E9B8AED}" type="pres">
      <dgm:prSet presAssocID="{A1F1B84F-4F37-4E4B-B28C-05C8DFC94756}" presName="root" presStyleCnt="0">
        <dgm:presLayoutVars>
          <dgm:dir/>
          <dgm:resizeHandles val="exact"/>
        </dgm:presLayoutVars>
      </dgm:prSet>
      <dgm:spPr/>
    </dgm:pt>
    <dgm:pt modelId="{DFD5F05F-A43A-4652-80DD-25D35540632C}" type="pres">
      <dgm:prSet presAssocID="{0911CD98-B2F6-4E17-9C61-BB702C3250BF}" presName="compNode" presStyleCnt="0"/>
      <dgm:spPr/>
    </dgm:pt>
    <dgm:pt modelId="{EF2B0188-8507-44E9-B757-7CDCC1B0E1A1}" type="pres">
      <dgm:prSet presAssocID="{0911CD98-B2F6-4E17-9C61-BB702C3250BF}" presName="bgRect" presStyleLbl="bgShp" presStyleIdx="0" presStyleCnt="5"/>
      <dgm:spPr>
        <a:solidFill>
          <a:srgbClr val="00539F"/>
        </a:solidFill>
      </dgm:spPr>
    </dgm:pt>
    <dgm:pt modelId="{62DBE401-C7C8-4CFE-9E6C-C1AF672BE62E}" type="pres">
      <dgm:prSet presAssocID="{0911CD98-B2F6-4E17-9C61-BB702C3250BF}" presName="iconRect" presStyleLbl="node1" presStyleIdx="0" presStyleCnt="5"/>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Cheers with solid fill"/>
        </a:ext>
      </dgm:extLst>
    </dgm:pt>
    <dgm:pt modelId="{5865C594-3822-4E5D-A8F0-237AFF390341}" type="pres">
      <dgm:prSet presAssocID="{0911CD98-B2F6-4E17-9C61-BB702C3250BF}" presName="spaceRect" presStyleCnt="0"/>
      <dgm:spPr/>
    </dgm:pt>
    <dgm:pt modelId="{4CB68EC3-6DDF-4EA3-93EC-B1D00317444B}" type="pres">
      <dgm:prSet presAssocID="{0911CD98-B2F6-4E17-9C61-BB702C3250BF}" presName="parTx" presStyleLbl="revTx" presStyleIdx="0" presStyleCnt="5">
        <dgm:presLayoutVars>
          <dgm:chMax val="0"/>
          <dgm:chPref val="0"/>
        </dgm:presLayoutVars>
      </dgm:prSet>
      <dgm:spPr/>
    </dgm:pt>
    <dgm:pt modelId="{8F49C51A-DAE6-4363-9FDF-3E95B30C7DB1}" type="pres">
      <dgm:prSet presAssocID="{9180CA49-E8E8-4099-ADFF-9A61D44E83A0}" presName="sibTrans" presStyleCnt="0"/>
      <dgm:spPr/>
    </dgm:pt>
    <dgm:pt modelId="{8EF2CCDE-7F5C-4F5F-B2FA-43FDCA78B104}" type="pres">
      <dgm:prSet presAssocID="{9AFA7D91-6390-4F95-BF06-02D171762A63}" presName="compNode" presStyleCnt="0"/>
      <dgm:spPr/>
    </dgm:pt>
    <dgm:pt modelId="{B3E1CF03-EDE1-471D-890C-AA2901FB45D9}" type="pres">
      <dgm:prSet presAssocID="{9AFA7D91-6390-4F95-BF06-02D171762A63}" presName="bgRect" presStyleLbl="bgShp" presStyleIdx="1" presStyleCnt="5"/>
      <dgm:spPr>
        <a:solidFill>
          <a:srgbClr val="00539F"/>
        </a:solidFill>
      </dgm:spPr>
    </dgm:pt>
    <dgm:pt modelId="{ECC08DA8-E403-48CD-BD4C-54248151AF43}" type="pres">
      <dgm:prSet presAssocID="{9AFA7D91-6390-4F95-BF06-02D171762A6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FE4C47F7-8462-46EB-8C62-1EA1F9B6F345}" type="pres">
      <dgm:prSet presAssocID="{9AFA7D91-6390-4F95-BF06-02D171762A63}" presName="spaceRect" presStyleCnt="0"/>
      <dgm:spPr/>
    </dgm:pt>
    <dgm:pt modelId="{29DB6DFD-5EF2-4FE9-B832-B73DBBA6C818}" type="pres">
      <dgm:prSet presAssocID="{9AFA7D91-6390-4F95-BF06-02D171762A63}" presName="parTx" presStyleLbl="revTx" presStyleIdx="1" presStyleCnt="5">
        <dgm:presLayoutVars>
          <dgm:chMax val="0"/>
          <dgm:chPref val="0"/>
        </dgm:presLayoutVars>
      </dgm:prSet>
      <dgm:spPr/>
    </dgm:pt>
    <dgm:pt modelId="{BBD30813-D29A-4BFF-871C-E33ABBA55401}" type="pres">
      <dgm:prSet presAssocID="{0B994676-137E-4272-9E37-A6B069477E49}" presName="sibTrans" presStyleCnt="0"/>
      <dgm:spPr/>
    </dgm:pt>
    <dgm:pt modelId="{94B5DC3D-A2E9-423D-897A-CA8E16E3511B}" type="pres">
      <dgm:prSet presAssocID="{9D9C157A-8184-4810-813C-F9ABE512F84B}" presName="compNode" presStyleCnt="0"/>
      <dgm:spPr/>
    </dgm:pt>
    <dgm:pt modelId="{495539A5-77BE-4439-9E54-31CB6AC437BE}" type="pres">
      <dgm:prSet presAssocID="{9D9C157A-8184-4810-813C-F9ABE512F84B}" presName="bgRect" presStyleLbl="bgShp" presStyleIdx="2" presStyleCnt="5"/>
      <dgm:spPr>
        <a:solidFill>
          <a:srgbClr val="00539F"/>
        </a:solidFill>
      </dgm:spPr>
    </dgm:pt>
    <dgm:pt modelId="{66BBB871-A6BE-4530-8850-268C29376138}" type="pres">
      <dgm:prSet presAssocID="{9D9C157A-8184-4810-813C-F9ABE512F84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andshake"/>
        </a:ext>
      </dgm:extLst>
    </dgm:pt>
    <dgm:pt modelId="{09342166-EBA1-4B27-8ACE-D6FAC2A4DB0C}" type="pres">
      <dgm:prSet presAssocID="{9D9C157A-8184-4810-813C-F9ABE512F84B}" presName="spaceRect" presStyleCnt="0"/>
      <dgm:spPr/>
    </dgm:pt>
    <dgm:pt modelId="{85678566-6F19-4FD8-B582-931B4C3F49E3}" type="pres">
      <dgm:prSet presAssocID="{9D9C157A-8184-4810-813C-F9ABE512F84B}" presName="parTx" presStyleLbl="revTx" presStyleIdx="2" presStyleCnt="5">
        <dgm:presLayoutVars>
          <dgm:chMax val="0"/>
          <dgm:chPref val="0"/>
        </dgm:presLayoutVars>
      </dgm:prSet>
      <dgm:spPr/>
    </dgm:pt>
    <dgm:pt modelId="{44ECB50D-A07B-4D5E-844D-7D32E84393B1}" type="pres">
      <dgm:prSet presAssocID="{A9D49BD5-FFD1-45FF-B858-025048928466}" presName="sibTrans" presStyleCnt="0"/>
      <dgm:spPr/>
    </dgm:pt>
    <dgm:pt modelId="{CE6CF16D-32CC-42ED-9AB1-8FA8B428B507}" type="pres">
      <dgm:prSet presAssocID="{39D9786D-012C-4B3E-84F3-BFD2C13FD7FC}" presName="compNode" presStyleCnt="0"/>
      <dgm:spPr/>
    </dgm:pt>
    <dgm:pt modelId="{98428F15-F0D5-4130-9147-37C3DDCA1DC9}" type="pres">
      <dgm:prSet presAssocID="{39D9786D-012C-4B3E-84F3-BFD2C13FD7FC}" presName="bgRect" presStyleLbl="bgShp" presStyleIdx="3" presStyleCnt="5"/>
      <dgm:spPr>
        <a:solidFill>
          <a:srgbClr val="00539F"/>
        </a:solidFill>
      </dgm:spPr>
    </dgm:pt>
    <dgm:pt modelId="{317B8A92-F6D8-485E-BFCD-F23A414CD080}" type="pres">
      <dgm:prSet presAssocID="{39D9786D-012C-4B3E-84F3-BFD2C13FD7FC}"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Business Growth with solid fill"/>
        </a:ext>
      </dgm:extLst>
    </dgm:pt>
    <dgm:pt modelId="{D67C9A0B-8E41-46E6-8087-A85826FA64FA}" type="pres">
      <dgm:prSet presAssocID="{39D9786D-012C-4B3E-84F3-BFD2C13FD7FC}" presName="spaceRect" presStyleCnt="0"/>
      <dgm:spPr/>
    </dgm:pt>
    <dgm:pt modelId="{ECF200B6-4CF1-49FA-82CB-D36753C29C94}" type="pres">
      <dgm:prSet presAssocID="{39D9786D-012C-4B3E-84F3-BFD2C13FD7FC}" presName="parTx" presStyleLbl="revTx" presStyleIdx="3" presStyleCnt="5">
        <dgm:presLayoutVars>
          <dgm:chMax val="0"/>
          <dgm:chPref val="0"/>
        </dgm:presLayoutVars>
      </dgm:prSet>
      <dgm:spPr/>
    </dgm:pt>
    <dgm:pt modelId="{D6C45ADB-0B0E-41AD-966C-A24E2BDD5A10}" type="pres">
      <dgm:prSet presAssocID="{0FD7031B-D881-49AA-97BB-5ACDC9BF069B}" presName="sibTrans" presStyleCnt="0"/>
      <dgm:spPr/>
    </dgm:pt>
    <dgm:pt modelId="{2A54FCFA-8C28-4B8F-83AC-553D4CE8145D}" type="pres">
      <dgm:prSet presAssocID="{B99A3672-DF6D-4974-8FC9-C3A40F7EE8D6}" presName="compNode" presStyleCnt="0"/>
      <dgm:spPr/>
    </dgm:pt>
    <dgm:pt modelId="{7566ED39-D6F5-4DF5-8A39-A79490273A0B}" type="pres">
      <dgm:prSet presAssocID="{B99A3672-DF6D-4974-8FC9-C3A40F7EE8D6}" presName="bgRect" presStyleLbl="bgShp" presStyleIdx="4" presStyleCnt="5"/>
      <dgm:spPr>
        <a:solidFill>
          <a:srgbClr val="00539F"/>
        </a:solidFill>
      </dgm:spPr>
    </dgm:pt>
    <dgm:pt modelId="{B3F6EF59-567A-4333-BF88-50EE8E8487A2}" type="pres">
      <dgm:prSet presAssocID="{B99A3672-DF6D-4974-8FC9-C3A40F7EE8D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nnections"/>
        </a:ext>
      </dgm:extLst>
    </dgm:pt>
    <dgm:pt modelId="{C07678B5-F1A8-408B-99D7-F5DF97732B8E}" type="pres">
      <dgm:prSet presAssocID="{B99A3672-DF6D-4974-8FC9-C3A40F7EE8D6}" presName="spaceRect" presStyleCnt="0"/>
      <dgm:spPr/>
    </dgm:pt>
    <dgm:pt modelId="{AEFC0EFB-BD3D-4AF8-8A4E-66BB21DDE307}" type="pres">
      <dgm:prSet presAssocID="{B99A3672-DF6D-4974-8FC9-C3A40F7EE8D6}" presName="parTx" presStyleLbl="revTx" presStyleIdx="4" presStyleCnt="5">
        <dgm:presLayoutVars>
          <dgm:chMax val="0"/>
          <dgm:chPref val="0"/>
        </dgm:presLayoutVars>
      </dgm:prSet>
      <dgm:spPr/>
    </dgm:pt>
  </dgm:ptLst>
  <dgm:cxnLst>
    <dgm:cxn modelId="{E984370F-FCB1-497C-85E7-CE8CDEE5CE72}" type="presOf" srcId="{0911CD98-B2F6-4E17-9C61-BB702C3250BF}" destId="{4CB68EC3-6DDF-4EA3-93EC-B1D00317444B}" srcOrd="0" destOrd="0" presId="urn:microsoft.com/office/officeart/2018/2/layout/IconVerticalSolidList"/>
    <dgm:cxn modelId="{8425CA16-C12A-4854-A8A6-A903ECA909CC}" srcId="{A1F1B84F-4F37-4E4B-B28C-05C8DFC94756}" destId="{9AFA7D91-6390-4F95-BF06-02D171762A63}" srcOrd="1" destOrd="0" parTransId="{D0587002-3B85-493B-96BA-C0B5C3BC8362}" sibTransId="{0B994676-137E-4272-9E37-A6B069477E49}"/>
    <dgm:cxn modelId="{0E351628-9811-4200-BF32-763ECC730587}" type="presOf" srcId="{A1F1B84F-4F37-4E4B-B28C-05C8DFC94756}" destId="{37E61AA2-39C5-4D3B-A37D-5BFF2E9B8AED}" srcOrd="0" destOrd="0" presId="urn:microsoft.com/office/officeart/2018/2/layout/IconVerticalSolidList"/>
    <dgm:cxn modelId="{D6C9B23D-AA21-442F-A1F4-60E86C0DFD38}" srcId="{A1F1B84F-4F37-4E4B-B28C-05C8DFC94756}" destId="{9D9C157A-8184-4810-813C-F9ABE512F84B}" srcOrd="2" destOrd="0" parTransId="{D8EDC1F2-E417-46FD-8716-E1D397B83704}" sibTransId="{A9D49BD5-FFD1-45FF-B858-025048928466}"/>
    <dgm:cxn modelId="{7673B861-15F1-4DFB-91C8-F9338D4E2FD3}" type="presOf" srcId="{9AFA7D91-6390-4F95-BF06-02D171762A63}" destId="{29DB6DFD-5EF2-4FE9-B832-B73DBBA6C818}" srcOrd="0" destOrd="0" presId="urn:microsoft.com/office/officeart/2018/2/layout/IconVerticalSolidList"/>
    <dgm:cxn modelId="{9F11DF62-E12D-48E8-9AF7-8969B05FD323}" srcId="{A1F1B84F-4F37-4E4B-B28C-05C8DFC94756}" destId="{39D9786D-012C-4B3E-84F3-BFD2C13FD7FC}" srcOrd="3" destOrd="0" parTransId="{C689F240-B9AE-4A72-BADB-436944BA27AA}" sibTransId="{0FD7031B-D881-49AA-97BB-5ACDC9BF069B}"/>
    <dgm:cxn modelId="{A168C851-557D-4049-B12D-0918348F3F6B}" srcId="{A1F1B84F-4F37-4E4B-B28C-05C8DFC94756}" destId="{0911CD98-B2F6-4E17-9C61-BB702C3250BF}" srcOrd="0" destOrd="0" parTransId="{1B3485FF-7759-40EC-AD38-B4C3F252244B}" sibTransId="{9180CA49-E8E8-4099-ADFF-9A61D44E83A0}"/>
    <dgm:cxn modelId="{6C0ED558-1C36-4942-87C9-E5CDEBD5215A}" type="presOf" srcId="{B99A3672-DF6D-4974-8FC9-C3A40F7EE8D6}" destId="{AEFC0EFB-BD3D-4AF8-8A4E-66BB21DDE307}" srcOrd="0" destOrd="0" presId="urn:microsoft.com/office/officeart/2018/2/layout/IconVerticalSolidList"/>
    <dgm:cxn modelId="{907FDB82-6D78-4B5B-B8D5-FBD143D2D9B7}" type="presOf" srcId="{9D9C157A-8184-4810-813C-F9ABE512F84B}" destId="{85678566-6F19-4FD8-B582-931B4C3F49E3}" srcOrd="0" destOrd="0" presId="urn:microsoft.com/office/officeart/2018/2/layout/IconVerticalSolidList"/>
    <dgm:cxn modelId="{A6F3D9AA-9AE5-4F50-98F3-131244F0904B}" type="presOf" srcId="{39D9786D-012C-4B3E-84F3-BFD2C13FD7FC}" destId="{ECF200B6-4CF1-49FA-82CB-D36753C29C94}" srcOrd="0" destOrd="0" presId="urn:microsoft.com/office/officeart/2018/2/layout/IconVerticalSolidList"/>
    <dgm:cxn modelId="{BA63E6F6-73E3-400D-860F-4F734F4C4B3F}" srcId="{A1F1B84F-4F37-4E4B-B28C-05C8DFC94756}" destId="{B99A3672-DF6D-4974-8FC9-C3A40F7EE8D6}" srcOrd="4" destOrd="0" parTransId="{F021CB03-DC97-4F5D-A6E0-B31CA8867184}" sibTransId="{FF3C2DEC-F562-4F34-AE34-A164E841B7EF}"/>
    <dgm:cxn modelId="{842AB080-082E-4C17-94CA-7742D671B3ED}" type="presParOf" srcId="{37E61AA2-39C5-4D3B-A37D-5BFF2E9B8AED}" destId="{DFD5F05F-A43A-4652-80DD-25D35540632C}" srcOrd="0" destOrd="0" presId="urn:microsoft.com/office/officeart/2018/2/layout/IconVerticalSolidList"/>
    <dgm:cxn modelId="{6EF39C1D-FAFD-4A04-A11A-1030AC4CFC8B}" type="presParOf" srcId="{DFD5F05F-A43A-4652-80DD-25D35540632C}" destId="{EF2B0188-8507-44E9-B757-7CDCC1B0E1A1}" srcOrd="0" destOrd="0" presId="urn:microsoft.com/office/officeart/2018/2/layout/IconVerticalSolidList"/>
    <dgm:cxn modelId="{6D810C82-4D92-4389-B5AA-752860BBE629}" type="presParOf" srcId="{DFD5F05F-A43A-4652-80DD-25D35540632C}" destId="{62DBE401-C7C8-4CFE-9E6C-C1AF672BE62E}" srcOrd="1" destOrd="0" presId="urn:microsoft.com/office/officeart/2018/2/layout/IconVerticalSolidList"/>
    <dgm:cxn modelId="{19579CB1-0E46-435D-B65A-526C3672873F}" type="presParOf" srcId="{DFD5F05F-A43A-4652-80DD-25D35540632C}" destId="{5865C594-3822-4E5D-A8F0-237AFF390341}" srcOrd="2" destOrd="0" presId="urn:microsoft.com/office/officeart/2018/2/layout/IconVerticalSolidList"/>
    <dgm:cxn modelId="{F4A6F0DC-71D2-4A28-8F71-A32E7CC21BE4}" type="presParOf" srcId="{DFD5F05F-A43A-4652-80DD-25D35540632C}" destId="{4CB68EC3-6DDF-4EA3-93EC-B1D00317444B}" srcOrd="3" destOrd="0" presId="urn:microsoft.com/office/officeart/2018/2/layout/IconVerticalSolidList"/>
    <dgm:cxn modelId="{7298B435-A464-40AF-81C1-277811F934A6}" type="presParOf" srcId="{37E61AA2-39C5-4D3B-A37D-5BFF2E9B8AED}" destId="{8F49C51A-DAE6-4363-9FDF-3E95B30C7DB1}" srcOrd="1" destOrd="0" presId="urn:microsoft.com/office/officeart/2018/2/layout/IconVerticalSolidList"/>
    <dgm:cxn modelId="{80208897-E320-4A70-A0C1-2D462611E667}" type="presParOf" srcId="{37E61AA2-39C5-4D3B-A37D-5BFF2E9B8AED}" destId="{8EF2CCDE-7F5C-4F5F-B2FA-43FDCA78B104}" srcOrd="2" destOrd="0" presId="urn:microsoft.com/office/officeart/2018/2/layout/IconVerticalSolidList"/>
    <dgm:cxn modelId="{8631143E-C593-472F-A2DF-22ED3A77E9C2}" type="presParOf" srcId="{8EF2CCDE-7F5C-4F5F-B2FA-43FDCA78B104}" destId="{B3E1CF03-EDE1-471D-890C-AA2901FB45D9}" srcOrd="0" destOrd="0" presId="urn:microsoft.com/office/officeart/2018/2/layout/IconVerticalSolidList"/>
    <dgm:cxn modelId="{10D11F1E-AA15-4AA8-8E34-D7EDB0314473}" type="presParOf" srcId="{8EF2CCDE-7F5C-4F5F-B2FA-43FDCA78B104}" destId="{ECC08DA8-E403-48CD-BD4C-54248151AF43}" srcOrd="1" destOrd="0" presId="urn:microsoft.com/office/officeart/2018/2/layout/IconVerticalSolidList"/>
    <dgm:cxn modelId="{906D20FF-7949-4A1E-8CD3-654B8ABBD8B6}" type="presParOf" srcId="{8EF2CCDE-7F5C-4F5F-B2FA-43FDCA78B104}" destId="{FE4C47F7-8462-46EB-8C62-1EA1F9B6F345}" srcOrd="2" destOrd="0" presId="urn:microsoft.com/office/officeart/2018/2/layout/IconVerticalSolidList"/>
    <dgm:cxn modelId="{C4FEB834-80E4-4B2F-AE68-1B09BC0B63E4}" type="presParOf" srcId="{8EF2CCDE-7F5C-4F5F-B2FA-43FDCA78B104}" destId="{29DB6DFD-5EF2-4FE9-B832-B73DBBA6C818}" srcOrd="3" destOrd="0" presId="urn:microsoft.com/office/officeart/2018/2/layout/IconVerticalSolidList"/>
    <dgm:cxn modelId="{37736754-2A48-4138-ABD2-2E7DB36CA19F}" type="presParOf" srcId="{37E61AA2-39C5-4D3B-A37D-5BFF2E9B8AED}" destId="{BBD30813-D29A-4BFF-871C-E33ABBA55401}" srcOrd="3" destOrd="0" presId="urn:microsoft.com/office/officeart/2018/2/layout/IconVerticalSolidList"/>
    <dgm:cxn modelId="{2ABD4FB5-C6B5-4317-ACF2-B5CDA0D2D5BD}" type="presParOf" srcId="{37E61AA2-39C5-4D3B-A37D-5BFF2E9B8AED}" destId="{94B5DC3D-A2E9-423D-897A-CA8E16E3511B}" srcOrd="4" destOrd="0" presId="urn:microsoft.com/office/officeart/2018/2/layout/IconVerticalSolidList"/>
    <dgm:cxn modelId="{5D74FEC5-780E-4A88-9479-49C0D344EB21}" type="presParOf" srcId="{94B5DC3D-A2E9-423D-897A-CA8E16E3511B}" destId="{495539A5-77BE-4439-9E54-31CB6AC437BE}" srcOrd="0" destOrd="0" presId="urn:microsoft.com/office/officeart/2018/2/layout/IconVerticalSolidList"/>
    <dgm:cxn modelId="{D99BB2F5-81E7-487E-81C0-21F85C306EA1}" type="presParOf" srcId="{94B5DC3D-A2E9-423D-897A-CA8E16E3511B}" destId="{66BBB871-A6BE-4530-8850-268C29376138}" srcOrd="1" destOrd="0" presId="urn:microsoft.com/office/officeart/2018/2/layout/IconVerticalSolidList"/>
    <dgm:cxn modelId="{8B962ACB-D181-409F-88AC-9E2B1F991553}" type="presParOf" srcId="{94B5DC3D-A2E9-423D-897A-CA8E16E3511B}" destId="{09342166-EBA1-4B27-8ACE-D6FAC2A4DB0C}" srcOrd="2" destOrd="0" presId="urn:microsoft.com/office/officeart/2018/2/layout/IconVerticalSolidList"/>
    <dgm:cxn modelId="{C553F894-B963-4961-A07F-A8686370A1B7}" type="presParOf" srcId="{94B5DC3D-A2E9-423D-897A-CA8E16E3511B}" destId="{85678566-6F19-4FD8-B582-931B4C3F49E3}" srcOrd="3" destOrd="0" presId="urn:microsoft.com/office/officeart/2018/2/layout/IconVerticalSolidList"/>
    <dgm:cxn modelId="{5B7F9F0D-3160-4A91-87B9-34FD02B96799}" type="presParOf" srcId="{37E61AA2-39C5-4D3B-A37D-5BFF2E9B8AED}" destId="{44ECB50D-A07B-4D5E-844D-7D32E84393B1}" srcOrd="5" destOrd="0" presId="urn:microsoft.com/office/officeart/2018/2/layout/IconVerticalSolidList"/>
    <dgm:cxn modelId="{6ABCCA69-7FE2-4620-B149-176B6A2139E3}" type="presParOf" srcId="{37E61AA2-39C5-4D3B-A37D-5BFF2E9B8AED}" destId="{CE6CF16D-32CC-42ED-9AB1-8FA8B428B507}" srcOrd="6" destOrd="0" presId="urn:microsoft.com/office/officeart/2018/2/layout/IconVerticalSolidList"/>
    <dgm:cxn modelId="{1411B764-7C10-4824-81F9-5712E11B9478}" type="presParOf" srcId="{CE6CF16D-32CC-42ED-9AB1-8FA8B428B507}" destId="{98428F15-F0D5-4130-9147-37C3DDCA1DC9}" srcOrd="0" destOrd="0" presId="urn:microsoft.com/office/officeart/2018/2/layout/IconVerticalSolidList"/>
    <dgm:cxn modelId="{69CF457E-E251-47A1-A455-671F5086320B}" type="presParOf" srcId="{CE6CF16D-32CC-42ED-9AB1-8FA8B428B507}" destId="{317B8A92-F6D8-485E-BFCD-F23A414CD080}" srcOrd="1" destOrd="0" presId="urn:microsoft.com/office/officeart/2018/2/layout/IconVerticalSolidList"/>
    <dgm:cxn modelId="{E8FBD433-CB19-48B7-943E-4B7E5146EE63}" type="presParOf" srcId="{CE6CF16D-32CC-42ED-9AB1-8FA8B428B507}" destId="{D67C9A0B-8E41-46E6-8087-A85826FA64FA}" srcOrd="2" destOrd="0" presId="urn:microsoft.com/office/officeart/2018/2/layout/IconVerticalSolidList"/>
    <dgm:cxn modelId="{14639D21-D3D9-425C-9A7E-08E6E10AF458}" type="presParOf" srcId="{CE6CF16D-32CC-42ED-9AB1-8FA8B428B507}" destId="{ECF200B6-4CF1-49FA-82CB-D36753C29C94}" srcOrd="3" destOrd="0" presId="urn:microsoft.com/office/officeart/2018/2/layout/IconVerticalSolidList"/>
    <dgm:cxn modelId="{0A1FA13D-2846-47A2-8450-A2943D76228F}" type="presParOf" srcId="{37E61AA2-39C5-4D3B-A37D-5BFF2E9B8AED}" destId="{D6C45ADB-0B0E-41AD-966C-A24E2BDD5A10}" srcOrd="7" destOrd="0" presId="urn:microsoft.com/office/officeart/2018/2/layout/IconVerticalSolidList"/>
    <dgm:cxn modelId="{B1096B87-C599-42D7-8BC1-D3901BD2E7A7}" type="presParOf" srcId="{37E61AA2-39C5-4D3B-A37D-5BFF2E9B8AED}" destId="{2A54FCFA-8C28-4B8F-83AC-553D4CE8145D}" srcOrd="8" destOrd="0" presId="urn:microsoft.com/office/officeart/2018/2/layout/IconVerticalSolidList"/>
    <dgm:cxn modelId="{952352DE-697E-41A0-AA50-DA440E7D7B84}" type="presParOf" srcId="{2A54FCFA-8C28-4B8F-83AC-553D4CE8145D}" destId="{7566ED39-D6F5-4DF5-8A39-A79490273A0B}" srcOrd="0" destOrd="0" presId="urn:microsoft.com/office/officeart/2018/2/layout/IconVerticalSolidList"/>
    <dgm:cxn modelId="{3F91414F-7B45-4BE9-91C9-7DDDF27875CB}" type="presParOf" srcId="{2A54FCFA-8C28-4B8F-83AC-553D4CE8145D}" destId="{B3F6EF59-567A-4333-BF88-50EE8E8487A2}" srcOrd="1" destOrd="0" presId="urn:microsoft.com/office/officeart/2018/2/layout/IconVerticalSolidList"/>
    <dgm:cxn modelId="{589CE084-1CA3-4809-B2B9-4C3A6957C4E5}" type="presParOf" srcId="{2A54FCFA-8C28-4B8F-83AC-553D4CE8145D}" destId="{C07678B5-F1A8-408B-99D7-F5DF97732B8E}" srcOrd="2" destOrd="0" presId="urn:microsoft.com/office/officeart/2018/2/layout/IconVerticalSolidList"/>
    <dgm:cxn modelId="{4FAF5214-1D30-44F5-A655-91B4158F77D6}" type="presParOf" srcId="{2A54FCFA-8C28-4B8F-83AC-553D4CE8145D}" destId="{AEFC0EFB-BD3D-4AF8-8A4E-66BB21DDE30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37B0893D-B99A-4826-8404-BA4A45B0DFA8}" type="presOf" srcId="{8FF7F8DE-0085-4489-85EA-475C2622F1F3}" destId="{1FCF5A5E-7DF9-412A-B101-D83967D7DE65}" srcOrd="0" destOrd="0" presId="urn:microsoft.com/office/officeart/2005/8/layout/chevron2"/>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7BF38-EED7-40B6-AE30-314765FAF99B}">
      <dsp:nvSpPr>
        <dsp:cNvPr id="0" name=""/>
        <dsp:cNvSpPr/>
      </dsp:nvSpPr>
      <dsp:spPr>
        <a:xfrm>
          <a:off x="0" y="1066800"/>
          <a:ext cx="3718560" cy="3718560"/>
        </a:xfrm>
        <a:prstGeom prst="ellipse">
          <a:avLst/>
        </a:prstGeom>
        <a:solidFill>
          <a:srgbClr val="61A60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Out of Network</a:t>
          </a:r>
        </a:p>
      </dsp:txBody>
      <dsp:txXfrm>
        <a:off x="1339425" y="1252728"/>
        <a:ext cx="1039709" cy="557784"/>
      </dsp:txXfrm>
    </dsp:sp>
    <dsp:sp modelId="{68806E35-FB05-408F-AFBC-163227E8487B}">
      <dsp:nvSpPr>
        <dsp:cNvPr id="0" name=""/>
        <dsp:cNvSpPr/>
      </dsp:nvSpPr>
      <dsp:spPr>
        <a:xfrm>
          <a:off x="371855" y="1810511"/>
          <a:ext cx="2974848" cy="2974848"/>
        </a:xfrm>
        <a:prstGeom prst="ellipse">
          <a:avLst/>
        </a:prstGeom>
        <a:solidFill>
          <a:srgbClr val="019CA5"/>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Wrap Network (Rented)</a:t>
          </a:r>
        </a:p>
      </dsp:txBody>
      <dsp:txXfrm>
        <a:off x="1339425" y="1989002"/>
        <a:ext cx="1039709" cy="535472"/>
      </dsp:txXfrm>
    </dsp:sp>
    <dsp:sp modelId="{EBC66B5F-74A7-4C59-9CEC-5E7379E73E3B}">
      <dsp:nvSpPr>
        <dsp:cNvPr id="0" name=""/>
        <dsp:cNvSpPr/>
      </dsp:nvSpPr>
      <dsp:spPr>
        <a:xfrm>
          <a:off x="743711" y="2554223"/>
          <a:ext cx="2231136" cy="2231136"/>
        </a:xfrm>
        <a:prstGeom prst="ellipse">
          <a:avLst/>
        </a:prstGeom>
        <a:solidFill>
          <a:srgbClr val="244F9A"/>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Friends &amp; Family (Contracted)</a:t>
          </a:r>
        </a:p>
      </dsp:txBody>
      <dsp:txXfrm>
        <a:off x="1339425" y="2721559"/>
        <a:ext cx="1039709" cy="502005"/>
      </dsp:txXfrm>
    </dsp:sp>
    <dsp:sp modelId="{F92C6764-1AFD-4DFF-B75E-6422C5503855}">
      <dsp:nvSpPr>
        <dsp:cNvPr id="0" name=""/>
        <dsp:cNvSpPr/>
      </dsp:nvSpPr>
      <dsp:spPr>
        <a:xfrm>
          <a:off x="1127541" y="3316246"/>
          <a:ext cx="1487424" cy="1487424"/>
        </a:xfrm>
        <a:prstGeom prst="ellipse">
          <a:avLst/>
        </a:prstGeom>
        <a:solidFill>
          <a:srgbClr val="59CAE8"/>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effectLst>
              <a:outerShdw blurRad="38100" dist="38100" dir="2700000" algn="tl">
                <a:srgbClr val="000000">
                  <a:alpha val="43137"/>
                </a:srgbClr>
              </a:outerShdw>
            </a:effectLst>
          </a:endParaRPr>
        </a:p>
      </dsp:txBody>
      <dsp:txXfrm>
        <a:off x="1345369" y="3688102"/>
        <a:ext cx="1051767" cy="743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2B0188-8507-44E9-B757-7CDCC1B0E1A1}">
      <dsp:nvSpPr>
        <dsp:cNvPr id="0" name=""/>
        <dsp:cNvSpPr/>
      </dsp:nvSpPr>
      <dsp:spPr>
        <a:xfrm>
          <a:off x="0" y="4366"/>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2DBE401-C7C8-4CFE-9E6C-C1AF672BE62E}">
      <dsp:nvSpPr>
        <dsp:cNvPr id="0" name=""/>
        <dsp:cNvSpPr/>
      </dsp:nvSpPr>
      <dsp:spPr>
        <a:xfrm>
          <a:off x="281355" y="213639"/>
          <a:ext cx="511556" cy="51155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B68EC3-6DDF-4EA3-93EC-B1D00317444B}">
      <dsp:nvSpPr>
        <dsp:cNvPr id="0" name=""/>
        <dsp:cNvSpPr/>
      </dsp:nvSpPr>
      <dsp:spPr>
        <a:xfrm>
          <a:off x="1074268" y="4366"/>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Locally based sales rep with strong community ties</a:t>
          </a:r>
        </a:p>
      </dsp:txBody>
      <dsp:txXfrm>
        <a:off x="1074268" y="4366"/>
        <a:ext cx="5170996" cy="930102"/>
      </dsp:txXfrm>
    </dsp:sp>
    <dsp:sp modelId="{B3E1CF03-EDE1-471D-890C-AA2901FB45D9}">
      <dsp:nvSpPr>
        <dsp:cNvPr id="0" name=""/>
        <dsp:cNvSpPr/>
      </dsp:nvSpPr>
      <dsp:spPr>
        <a:xfrm>
          <a:off x="0" y="1166994"/>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ECC08DA8-E403-48CD-BD4C-54248151AF43}">
      <dsp:nvSpPr>
        <dsp:cNvPr id="0" name=""/>
        <dsp:cNvSpPr/>
      </dsp:nvSpPr>
      <dsp:spPr>
        <a:xfrm>
          <a:off x="281355" y="1376267"/>
          <a:ext cx="511556" cy="5115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DB6DFD-5EF2-4FE9-B832-B73DBBA6C818}">
      <dsp:nvSpPr>
        <dsp:cNvPr id="0" name=""/>
        <dsp:cNvSpPr/>
      </dsp:nvSpPr>
      <dsp:spPr>
        <a:xfrm>
          <a:off x="1074268" y="1166994"/>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Collaboration with DTE provider partners to identify strategic employers for early adoption and sales</a:t>
          </a:r>
        </a:p>
      </dsp:txBody>
      <dsp:txXfrm>
        <a:off x="1074268" y="1166994"/>
        <a:ext cx="5170996" cy="930102"/>
      </dsp:txXfrm>
    </dsp:sp>
    <dsp:sp modelId="{495539A5-77BE-4439-9E54-31CB6AC437BE}">
      <dsp:nvSpPr>
        <dsp:cNvPr id="0" name=""/>
        <dsp:cNvSpPr/>
      </dsp:nvSpPr>
      <dsp:spPr>
        <a:xfrm>
          <a:off x="0" y="2329622"/>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6BBB871-A6BE-4530-8850-268C29376138}">
      <dsp:nvSpPr>
        <dsp:cNvPr id="0" name=""/>
        <dsp:cNvSpPr/>
      </dsp:nvSpPr>
      <dsp:spPr>
        <a:xfrm>
          <a:off x="281355" y="2538895"/>
          <a:ext cx="511556" cy="5115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678566-6F19-4FD8-B582-931B4C3F49E3}">
      <dsp:nvSpPr>
        <dsp:cNvPr id="0" name=""/>
        <dsp:cNvSpPr/>
      </dsp:nvSpPr>
      <dsp:spPr>
        <a:xfrm>
          <a:off x="1074268" y="2329622"/>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Work with select broker distribution partners with aligned incentives and goals</a:t>
          </a:r>
        </a:p>
      </dsp:txBody>
      <dsp:txXfrm>
        <a:off x="1074268" y="2329622"/>
        <a:ext cx="5170996" cy="930102"/>
      </dsp:txXfrm>
    </dsp:sp>
    <dsp:sp modelId="{98428F15-F0D5-4130-9147-37C3DDCA1DC9}">
      <dsp:nvSpPr>
        <dsp:cNvPr id="0" name=""/>
        <dsp:cNvSpPr/>
      </dsp:nvSpPr>
      <dsp:spPr>
        <a:xfrm>
          <a:off x="0" y="3492250"/>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317B8A92-F6D8-485E-BFCD-F23A414CD080}">
      <dsp:nvSpPr>
        <dsp:cNvPr id="0" name=""/>
        <dsp:cNvSpPr/>
      </dsp:nvSpPr>
      <dsp:spPr>
        <a:xfrm>
          <a:off x="281355" y="3701523"/>
          <a:ext cx="511556" cy="511556"/>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F200B6-4CF1-49FA-82CB-D36753C29C94}">
      <dsp:nvSpPr>
        <dsp:cNvPr id="0" name=""/>
        <dsp:cNvSpPr/>
      </dsp:nvSpPr>
      <dsp:spPr>
        <a:xfrm>
          <a:off x="1074268" y="3492250"/>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Pipeline reporting and collaboration with our DTE provider partners</a:t>
          </a:r>
        </a:p>
      </dsp:txBody>
      <dsp:txXfrm>
        <a:off x="1074268" y="3492250"/>
        <a:ext cx="5170996" cy="930102"/>
      </dsp:txXfrm>
    </dsp:sp>
    <dsp:sp modelId="{7566ED39-D6F5-4DF5-8A39-A79490273A0B}">
      <dsp:nvSpPr>
        <dsp:cNvPr id="0" name=""/>
        <dsp:cNvSpPr/>
      </dsp:nvSpPr>
      <dsp:spPr>
        <a:xfrm>
          <a:off x="0" y="4654878"/>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B3F6EF59-567A-4333-BF88-50EE8E8487A2}">
      <dsp:nvSpPr>
        <dsp:cNvPr id="0" name=""/>
        <dsp:cNvSpPr/>
      </dsp:nvSpPr>
      <dsp:spPr>
        <a:xfrm>
          <a:off x="281355" y="4864151"/>
          <a:ext cx="511556" cy="51155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FC0EFB-BD3D-4AF8-8A4E-66BB21DDE307}">
      <dsp:nvSpPr>
        <dsp:cNvPr id="0" name=""/>
        <dsp:cNvSpPr/>
      </dsp:nvSpPr>
      <dsp:spPr>
        <a:xfrm>
          <a:off x="1074268" y="4654878"/>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Marketing and promotion of the new option in the community</a:t>
          </a:r>
        </a:p>
      </dsp:txBody>
      <dsp:txXfrm>
        <a:off x="1074268" y="4654878"/>
        <a:ext cx="5170996" cy="93010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576" y="311921"/>
          <a:ext cx="2077175" cy="145402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7357"/>
        <a:ext cx="1454023" cy="623152"/>
      </dsp:txXfrm>
    </dsp:sp>
    <dsp:sp modelId="{7C07DD5C-F3F7-413D-935A-CCBA7C6C1E36}">
      <dsp:nvSpPr>
        <dsp:cNvPr id="0" name=""/>
        <dsp:cNvSpPr/>
      </dsp:nvSpPr>
      <dsp:spPr>
        <a:xfrm rot="5400000">
          <a:off x="3574418" y="-2120050"/>
          <a:ext cx="1350164" cy="559095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66255"/>
        <a:ext cx="5525045" cy="1218344"/>
      </dsp:txXfrm>
    </dsp:sp>
    <dsp:sp modelId="{1FCF5A5E-7DF9-412A-B101-D83967D7DE65}">
      <dsp:nvSpPr>
        <dsp:cNvPr id="0" name=""/>
        <dsp:cNvSpPr/>
      </dsp:nvSpPr>
      <dsp:spPr>
        <a:xfrm rot="5400000">
          <a:off x="-311576" y="2101379"/>
          <a:ext cx="2077175" cy="145402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815"/>
        <a:ext cx="1454023" cy="623152"/>
      </dsp:txXfrm>
    </dsp:sp>
    <dsp:sp modelId="{FE1F4B02-EB68-4CAB-8CF0-3D5AB6A01850}">
      <dsp:nvSpPr>
        <dsp:cNvPr id="0" name=""/>
        <dsp:cNvSpPr/>
      </dsp:nvSpPr>
      <dsp:spPr>
        <a:xfrm rot="5400000">
          <a:off x="3574418" y="-330593"/>
          <a:ext cx="1350164" cy="559095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1855712"/>
        <a:ext cx="5525045" cy="12183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12/20/2024</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fld id="{F7021451-1387-4CA6-816F-3879F97B5CBC}" type="slidenum">
              <a:rPr lang="en-US" smtClean="0">
                <a:latin typeface="Montserrat" panose="00000500000000000000" pitchFamily="2" charset="0"/>
              </a:rPr>
              <a:t>10</a:t>
            </a:fld>
            <a:endParaRPr lang="en-US">
              <a:latin typeface="Montserrat" panose="00000500000000000000" pitchFamily="2"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13</a:t>
            </a:fld>
            <a:endParaRPr lang="en-US" dirty="0"/>
          </a:p>
        </p:txBody>
      </p:sp>
    </p:spTree>
    <p:extLst>
      <p:ext uri="{BB962C8B-B14F-4D97-AF65-F5344CB8AC3E}">
        <p14:creationId xmlns:p14="http://schemas.microsoft.com/office/powerpoint/2010/main" val="31893513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F90F11E-B424-48C6-BD86-192B859FFD4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5122410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Replace with slide 1 of updates provided by Jan, but update design to match the rest of ppt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40509297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Replace with slide 2 of updated ppt provided by Jan, but update to match rest of ppt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727588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Make necessary changes to match slide 4 of updated ppt provided by Jan</a:t>
            </a:r>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506627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63D2E-5F58-105C-7EEE-D8B4A2B80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E703C-44B6-D6FB-7B2E-833F495D9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78385-2CC1-C186-E8ED-F22EB5BA1CF3}"/>
              </a:ext>
            </a:extLst>
          </p:cNvPr>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a:extLst>
              <a:ext uri="{FF2B5EF4-FFF2-40B4-BE49-F238E27FC236}">
                <a16:creationId xmlns:a16="http://schemas.microsoft.com/office/drawing/2014/main" id="{81B7C823-FC3C-8434-5AC0-78EC4F34F78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844013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12/20/2024</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12/20/2024</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12/20/2024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12/20/2024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12/20/2024</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12/20/2024</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12/20/2024</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12/20/2024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12/20/2024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12/20/2024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12/20/2024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12/20/2024</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12/20/2024</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12/20/2024</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12/20/2024</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12/20/2024</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12/20/2024</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12/20/2024</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12/20/2024</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12/20/2024</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12/20/2024</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12/20/2024</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12/20/2024</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12/20/2024</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12/20/2024</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12/20/2024</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12/20/2024</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12/20/2024</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12/20/2024</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12/20/2024</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12/20/2024</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12/20/2024</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12/20/2024</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12/20/2024</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12/20/2024</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9837842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12/20/2024</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60188173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12/20/2024</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6268673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12/20/2024</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03081434"/>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12/20/2024</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10118790"/>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12/20/2024</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71132839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12/20/2024</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42394096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12/20/2024</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32606110"/>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12/20/2024</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543922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12/20/2024</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2054009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12/20/2024</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27886578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12/20/2024</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2429384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12/20/2024</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042185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12/20/2024</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9816320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12/20/2024</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91304296"/>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12/20/2024</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21920882"/>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12/20/2024</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8587412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12/20/2024</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0653441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12/20/2024</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91300616"/>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12/20/2024</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92156517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12/20/2024</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5921051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12/20/2024</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21717615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12/20/2024</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89584381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6847194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2530460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ags" Target="../tags/tag3.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3.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tags" Target="../tags/tag4.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5.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slideLayout" Target="../slideLayouts/slideLayout61.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6" Type="http://schemas.openxmlformats.org/officeDocument/2006/relationships/tags" Target="../tags/tag5.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5" Type="http://schemas.openxmlformats.org/officeDocument/2006/relationships/theme" Target="../theme/theme6.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12/20/2024</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12/20/2024</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12/20/2024</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3"/>
    </p:custDataLst>
    <p:extLst>
      <p:ext uri="{BB962C8B-B14F-4D97-AF65-F5344CB8AC3E}">
        <p14:creationId xmlns:p14="http://schemas.microsoft.com/office/powerpoint/2010/main" val="1265540980"/>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12/20/2024</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3563936643"/>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 id="2147483809" r:id="rId12"/>
    <p:sldLayoutId id="2147483810" r:id="rId13"/>
    <p:sldLayoutId id="2147483811"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13" Type="http://schemas.openxmlformats.org/officeDocument/2006/relationships/image" Target="../media/image23.png"/><Relationship Id="rId18" Type="http://schemas.openxmlformats.org/officeDocument/2006/relationships/image" Target="../media/image28.svg"/><Relationship Id="rId26" Type="http://schemas.openxmlformats.org/officeDocument/2006/relationships/image" Target="../media/image36.svg"/><Relationship Id="rId3" Type="http://schemas.openxmlformats.org/officeDocument/2006/relationships/image" Target="../media/image13.png"/><Relationship Id="rId21" Type="http://schemas.openxmlformats.org/officeDocument/2006/relationships/image" Target="../media/image31.svg"/><Relationship Id="rId7" Type="http://schemas.openxmlformats.org/officeDocument/2006/relationships/image" Target="../media/image17.png"/><Relationship Id="rId12" Type="http://schemas.openxmlformats.org/officeDocument/2006/relationships/image" Target="../media/image22.svg"/><Relationship Id="rId17" Type="http://schemas.openxmlformats.org/officeDocument/2006/relationships/image" Target="../media/image27.svg"/><Relationship Id="rId25" Type="http://schemas.openxmlformats.org/officeDocument/2006/relationships/image" Target="../media/image35.svg"/><Relationship Id="rId33" Type="http://schemas.openxmlformats.org/officeDocument/2006/relationships/image" Target="../media/image43.png"/><Relationship Id="rId2" Type="http://schemas.openxmlformats.org/officeDocument/2006/relationships/notesSlide" Target="../notesSlides/notesSlide2.xml"/><Relationship Id="rId16" Type="http://schemas.openxmlformats.org/officeDocument/2006/relationships/image" Target="../media/image26.png"/><Relationship Id="rId20" Type="http://schemas.openxmlformats.org/officeDocument/2006/relationships/image" Target="../media/image30.svg"/><Relationship Id="rId29" Type="http://schemas.openxmlformats.org/officeDocument/2006/relationships/image" Target="../media/image39.png"/><Relationship Id="rId1" Type="http://schemas.openxmlformats.org/officeDocument/2006/relationships/slideLayout" Target="../slideLayouts/slideLayout12.xml"/><Relationship Id="rId6" Type="http://schemas.openxmlformats.org/officeDocument/2006/relationships/image" Target="../media/image16.svg"/><Relationship Id="rId11" Type="http://schemas.openxmlformats.org/officeDocument/2006/relationships/image" Target="../media/image21.png"/><Relationship Id="rId24" Type="http://schemas.openxmlformats.org/officeDocument/2006/relationships/image" Target="../media/image34.svg"/><Relationship Id="rId32" Type="http://schemas.openxmlformats.org/officeDocument/2006/relationships/image" Target="../media/image42.svg"/><Relationship Id="rId5" Type="http://schemas.openxmlformats.org/officeDocument/2006/relationships/image" Target="../media/image15.png"/><Relationship Id="rId15" Type="http://schemas.openxmlformats.org/officeDocument/2006/relationships/image" Target="../media/image25.svg"/><Relationship Id="rId23" Type="http://schemas.openxmlformats.org/officeDocument/2006/relationships/image" Target="../media/image33.svg"/><Relationship Id="rId28" Type="http://schemas.openxmlformats.org/officeDocument/2006/relationships/image" Target="../media/image38.svg"/><Relationship Id="rId10" Type="http://schemas.openxmlformats.org/officeDocument/2006/relationships/image" Target="../media/image20.svg"/><Relationship Id="rId19" Type="http://schemas.openxmlformats.org/officeDocument/2006/relationships/image" Target="../media/image29.png"/><Relationship Id="rId31" Type="http://schemas.openxmlformats.org/officeDocument/2006/relationships/image" Target="../media/image41.png"/><Relationship Id="rId4" Type="http://schemas.openxmlformats.org/officeDocument/2006/relationships/image" Target="../media/image14.svg"/><Relationship Id="rId9" Type="http://schemas.openxmlformats.org/officeDocument/2006/relationships/image" Target="../media/image19.png"/><Relationship Id="rId14" Type="http://schemas.openxmlformats.org/officeDocument/2006/relationships/image" Target="../media/image24.svg"/><Relationship Id="rId22" Type="http://schemas.openxmlformats.org/officeDocument/2006/relationships/image" Target="../media/image32.svg"/><Relationship Id="rId27" Type="http://schemas.openxmlformats.org/officeDocument/2006/relationships/image" Target="../media/image37.png"/><Relationship Id="rId30" Type="http://schemas.openxmlformats.org/officeDocument/2006/relationships/image" Target="../media/image40.svg"/><Relationship Id="rId8" Type="http://schemas.openxmlformats.org/officeDocument/2006/relationships/image" Target="../media/image18.svg"/></Relationships>
</file>

<file path=ppt/slides/_rels/slide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45.png"/></Relationships>
</file>

<file path=ppt/slides/_rels/slide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47.png"/></Relationships>
</file>

<file path=ppt/slides/_rels/slide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8" Type="http://schemas.openxmlformats.org/officeDocument/2006/relationships/image" Target="../media/image57.svg"/><Relationship Id="rId13" Type="http://schemas.openxmlformats.org/officeDocument/2006/relationships/image" Target="../media/image62.svg"/><Relationship Id="rId18" Type="http://schemas.openxmlformats.org/officeDocument/2006/relationships/image" Target="../media/image67.png"/><Relationship Id="rId3" Type="http://schemas.openxmlformats.org/officeDocument/2006/relationships/image" Target="../media/image52.png"/><Relationship Id="rId21" Type="http://schemas.openxmlformats.org/officeDocument/2006/relationships/image" Target="../media/image70.svg"/><Relationship Id="rId7" Type="http://schemas.openxmlformats.org/officeDocument/2006/relationships/image" Target="../media/image56.svg"/><Relationship Id="rId12" Type="http://schemas.openxmlformats.org/officeDocument/2006/relationships/image" Target="../media/image61.svg"/><Relationship Id="rId17" Type="http://schemas.openxmlformats.org/officeDocument/2006/relationships/image" Target="../media/image66.svg"/><Relationship Id="rId2" Type="http://schemas.openxmlformats.org/officeDocument/2006/relationships/notesSlide" Target="../notesSlides/notesSlide5.xml"/><Relationship Id="rId16" Type="http://schemas.openxmlformats.org/officeDocument/2006/relationships/image" Target="../media/image65.png"/><Relationship Id="rId20" Type="http://schemas.openxmlformats.org/officeDocument/2006/relationships/image" Target="../media/image69.png"/><Relationship Id="rId1" Type="http://schemas.openxmlformats.org/officeDocument/2006/relationships/slideLayout" Target="../slideLayouts/slideLayout7.xml"/><Relationship Id="rId6" Type="http://schemas.openxmlformats.org/officeDocument/2006/relationships/image" Target="../media/image55.png"/><Relationship Id="rId11" Type="http://schemas.openxmlformats.org/officeDocument/2006/relationships/image" Target="../media/image60.png"/><Relationship Id="rId5" Type="http://schemas.openxmlformats.org/officeDocument/2006/relationships/image" Target="../media/image54.svg"/><Relationship Id="rId15" Type="http://schemas.openxmlformats.org/officeDocument/2006/relationships/image" Target="../media/image64.svg"/><Relationship Id="rId10" Type="http://schemas.openxmlformats.org/officeDocument/2006/relationships/image" Target="../media/image59.svg"/><Relationship Id="rId19" Type="http://schemas.openxmlformats.org/officeDocument/2006/relationships/image" Target="../media/image68.svg"/><Relationship Id="rId4" Type="http://schemas.openxmlformats.org/officeDocument/2006/relationships/image" Target="../media/image53.png"/><Relationship Id="rId9" Type="http://schemas.openxmlformats.org/officeDocument/2006/relationships/image" Target="../media/image58.svg"/><Relationship Id="rId14" Type="http://schemas.openxmlformats.org/officeDocument/2006/relationships/image" Target="../media/image63.png"/><Relationship Id="rId22"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73.png"/></Relationships>
</file>

<file path=ppt/slides/_rels/slide1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49.pn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76.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slideLayout" Target="../slideLayouts/slideLayout14.xml"/><Relationship Id="rId1" Type="http://schemas.openxmlformats.org/officeDocument/2006/relationships/tags" Target="../tags/tag6.xml"/><Relationship Id="rId4" Type="http://schemas.openxmlformats.org/officeDocument/2006/relationships/image" Target="../media/image78.png"/></Relationships>
</file>

<file path=ppt/slides/_rels/slide22.xml.rels><?xml version="1.0" encoding="UTF-8" standalone="yes"?>
<Relationships xmlns="http://schemas.openxmlformats.org/package/2006/relationships"><Relationship Id="rId3" Type="http://schemas.openxmlformats.org/officeDocument/2006/relationships/image" Target="../media/image80.svg"/><Relationship Id="rId2" Type="http://schemas.openxmlformats.org/officeDocument/2006/relationships/image" Target="../media/image79.png"/><Relationship Id="rId1" Type="http://schemas.openxmlformats.org/officeDocument/2006/relationships/slideLayout" Target="../slideLayouts/slideLayout43.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81.png"/><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microsoft.com/office/2018/10/relationships/comments" Target="../comments/modernComment_7FE53189_F808901F.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8" Type="http://schemas.openxmlformats.org/officeDocument/2006/relationships/image" Target="../media/image93.jpe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6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12.png"/><Relationship Id="rId1" Type="http://schemas.openxmlformats.org/officeDocument/2006/relationships/slideLayout" Target="../slideLayouts/slideLayout18.xml"/><Relationship Id="rId4" Type="http://schemas.openxmlformats.org/officeDocument/2006/relationships/image" Target="../media/image95.png"/></Relationships>
</file>

<file path=ppt/slides/_rels/slide28.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8.xml"/><Relationship Id="rId1" Type="http://schemas.openxmlformats.org/officeDocument/2006/relationships/slideLayout" Target="../slideLayouts/slideLayout28.xml"/><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30.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10.xml"/><Relationship Id="rId1" Type="http://schemas.openxmlformats.org/officeDocument/2006/relationships/slideLayout" Target="../slideLayouts/slideLayout28.xml"/><Relationship Id="rId6" Type="http://schemas.openxmlformats.org/officeDocument/2006/relationships/image" Target="../media/image99.emf"/><Relationship Id="rId5" Type="http://schemas.openxmlformats.org/officeDocument/2006/relationships/image" Target="../media/image98.png"/><Relationship Id="rId4" Type="http://schemas.openxmlformats.org/officeDocument/2006/relationships/image" Target="../media/image12.png"/></Relationships>
</file>

<file path=ppt/slides/_rels/slide31.xml.rels><?xml version="1.0" encoding="UTF-8" standalone="yes"?>
<Relationships xmlns="http://schemas.openxmlformats.org/package/2006/relationships"><Relationship Id="rId3" Type="http://schemas.microsoft.com/office/2018/10/relationships/comments" Target="../comments/modernComment_7FE53192_3C36F9F4.xml"/><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102.svg"/><Relationship Id="rId5" Type="http://schemas.openxmlformats.org/officeDocument/2006/relationships/image" Target="../media/image101.png"/><Relationship Id="rId4" Type="http://schemas.openxmlformats.org/officeDocument/2006/relationships/image" Target="../media/image100.jpeg"/></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03.png"/></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jpeg"/><Relationship Id="rId1" Type="http://schemas.openxmlformats.org/officeDocument/2006/relationships/slideLayout" Target="../slideLayouts/slideLayout2.xml"/><Relationship Id="rId6" Type="http://schemas.openxmlformats.org/officeDocument/2006/relationships/image" Target="../media/image107.jpeg"/><Relationship Id="rId5" Type="http://schemas.openxmlformats.org/officeDocument/2006/relationships/image" Target="../media/image106.jpeg"/><Relationship Id="rId4" Type="http://schemas.microsoft.com/office/2007/relationships/hdphoto" Target="../media/hdphoto1.wdp"/></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08.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108.jpeg"/><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7.xml.rels><?xml version="1.0" encoding="UTF-8" standalone="yes"?>
<Relationships xmlns="http://schemas.openxmlformats.org/package/2006/relationships"><Relationship Id="rId8" Type="http://schemas.openxmlformats.org/officeDocument/2006/relationships/image" Target="../media/image115.svg"/><Relationship Id="rId3" Type="http://schemas.openxmlformats.org/officeDocument/2006/relationships/image" Target="../media/image110.png"/><Relationship Id="rId7" Type="http://schemas.openxmlformats.org/officeDocument/2006/relationships/image" Target="../media/image114.png"/><Relationship Id="rId2" Type="http://schemas.openxmlformats.org/officeDocument/2006/relationships/image" Target="../media/image109.jpeg"/><Relationship Id="rId1" Type="http://schemas.openxmlformats.org/officeDocument/2006/relationships/slideLayout" Target="../slideLayouts/slideLayout6.xml"/><Relationship Id="rId6" Type="http://schemas.openxmlformats.org/officeDocument/2006/relationships/image" Target="../media/image113.svg"/><Relationship Id="rId11" Type="http://schemas.openxmlformats.org/officeDocument/2006/relationships/image" Target="../media/image10.png"/><Relationship Id="rId5" Type="http://schemas.openxmlformats.org/officeDocument/2006/relationships/image" Target="../media/image112.png"/><Relationship Id="rId10" Type="http://schemas.openxmlformats.org/officeDocument/2006/relationships/image" Target="../media/image117.svg"/><Relationship Id="rId4" Type="http://schemas.openxmlformats.org/officeDocument/2006/relationships/image" Target="../media/image111.svg"/><Relationship Id="rId9" Type="http://schemas.openxmlformats.org/officeDocument/2006/relationships/image" Target="../media/image11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Kettering Health Network DTE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cstate="print"/>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154871" y="759389"/>
            <a:ext cx="8455729" cy="5111065"/>
          </a:xfrm>
          <a:prstGeom prst="rect">
            <a:avLst/>
          </a:prstGeom>
          <a:ln>
            <a:noFill/>
          </a:ln>
          <a:effectLst>
            <a:outerShdw blurRad="292100" dist="139700" dir="2700000" sx="1000" sy="1000" algn="tl" rotWithShape="0">
              <a:srgbClr val="333333">
                <a:alpha val="65000"/>
              </a:srgbClr>
            </a:outerShdw>
          </a:effectLst>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592372" y="3693371"/>
            <a:ext cx="2053120"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Bentonville, 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Northwest Health Plan</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3384431" y="457495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Meridian, MS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Affinity Health Plan</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Fort Myers, FL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Lee Health Care Partners</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Knoxville, TN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East Tennessee Health Plan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Cincinnati, OH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TCH Optimal</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2976014"/>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Louisville, KY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white"/>
                </a:solidFill>
                <a:effectLst/>
                <a:uLnTx/>
                <a:uFillTx/>
                <a:latin typeface="Montserrat" panose="00000500000000000000" pitchFamily="2" charset="0"/>
                <a:ea typeface="+mn-ea"/>
                <a:cs typeface="Arial" panose="020B0604020202020204" pitchFamily="34" charset="0"/>
              </a:rPr>
              <a:t>OneHealth</a:t>
            </a: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Plan</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bject 1"/>
          <p:cNvSpPr/>
          <p:nvPr/>
        </p:nvSpPr>
        <p:spPr>
          <a:xfrm>
            <a:off x="0" y="403781"/>
            <a:ext cx="12188952" cy="426472"/>
          </a:xfrm>
          <a:prstGeom prst="rect">
            <a:avLst/>
          </a:prstGeom>
          <a:noFill/>
        </p:spPr>
        <p:txBody>
          <a:bodyPr wrap="square" lIns="0" tIns="0" rIns="0" bIns="0" rtlCol="0" anchor="t"/>
          <a:lstStyle/>
          <a:p>
            <a:pPr marL="0" marR="0" lvl="0" indent="0" algn="ctr" defTabSz="914400" rtl="0" eaLnBrk="1" fontAlgn="auto" latinLnBrk="0" hangingPunct="1">
              <a:lnSpc>
                <a:spcPts val="3360"/>
              </a:lnSpc>
              <a:spcBef>
                <a:spcPts val="0"/>
              </a:spcBef>
              <a:spcAft>
                <a:spcPts val="0"/>
              </a:spcAft>
              <a:buClrTx/>
              <a:buSzTx/>
              <a:buFontTx/>
              <a:buNone/>
              <a:tabLst/>
              <a:defRPr/>
            </a:pPr>
            <a:r>
              <a:rPr kumimoji="0" lang="en-US" sz="3000" b="0" i="0" u="none" strike="noStrike" kern="0" cap="none" spc="90"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HEALTHCARE PAYERS TAKE POWER</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 name="Object 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9648" y="3365985"/>
            <a:ext cx="3839839" cy="495176"/>
          </a:xfrm>
          <a:prstGeom prst="rect">
            <a:avLst/>
          </a:prstGeom>
        </p:spPr>
      </p:pic>
      <p:sp>
        <p:nvSpPr>
          <p:cNvPr id="4" name="Object 3"/>
          <p:cNvSpPr/>
          <p:nvPr/>
        </p:nvSpPr>
        <p:spPr>
          <a:xfrm>
            <a:off x="-43484" y="3553644"/>
            <a:ext cx="4099115" cy="172597"/>
          </a:xfrm>
          <a:prstGeom prst="rect">
            <a:avLst/>
          </a:prstGeom>
          <a:noFill/>
        </p:spPr>
        <p:txBody>
          <a:bodyPr wrap="square" lIns="0" tIns="0" rIns="0" bIns="0" rtlCol="0" anchor="ctr"/>
          <a:lstStyle/>
          <a:p>
            <a:pPr marL="0" marR="0" lvl="0" indent="0" algn="ctr" defTabSz="914400" rtl="0" eaLnBrk="1" fontAlgn="auto" latinLnBrk="0" hangingPunct="1">
              <a:lnSpc>
                <a:spcPts val="1361"/>
              </a:lnSpc>
              <a:spcBef>
                <a:spcPts val="0"/>
              </a:spcBef>
              <a:spcAft>
                <a:spcPts val="0"/>
              </a:spcAft>
              <a:buClrTx/>
              <a:buSzTx/>
              <a:buFontTx/>
              <a:buNone/>
              <a:tabLst/>
              <a:defRPr/>
            </a:pPr>
            <a:r>
              <a:rPr kumimoji="0" lang="en-US" sz="1600" b="1" i="0" u="none" strike="noStrike" kern="0" cap="none" spc="32" normalizeH="0" baseline="0" noProof="0">
                <a:ln>
                  <a:noFill/>
                </a:ln>
                <a:solidFill>
                  <a:srgbClr val="4F81BD"/>
                </a:solidFill>
                <a:effectLst/>
                <a:uLnTx/>
                <a:uFillTx/>
                <a:latin typeface="Montserrat" panose="00000500000000000000" pitchFamily="2" charset="0"/>
                <a:ea typeface="Jost*" pitchFamily="34" charset="-122"/>
                <a:cs typeface="Jost*" pitchFamily="34" charset="-120"/>
              </a:rPr>
              <a:t>Solving Problems</a:t>
            </a:r>
            <a:endParaRPr kumimoji="0" lang="en-US" sz="3200" b="1" i="0" u="none" strike="noStrike" kern="1200" cap="none" spc="0" normalizeH="0" baseline="0" noProof="0">
              <a:ln>
                <a:noFill/>
              </a:ln>
              <a:solidFill>
                <a:srgbClr val="4F81BD"/>
              </a:solidFill>
              <a:effectLst/>
              <a:uLnTx/>
              <a:uFillTx/>
              <a:latin typeface="Montserrat" panose="00000500000000000000" pitchFamily="2" charset="0"/>
              <a:ea typeface="+mn-ea"/>
              <a:cs typeface="+mn-cs"/>
            </a:endParaRPr>
          </a:p>
        </p:txBody>
      </p:sp>
      <p:pic>
        <p:nvPicPr>
          <p:cNvPr id="5" name="Object 4"/>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007274" y="3365985"/>
            <a:ext cx="4180430" cy="495176"/>
          </a:xfrm>
          <a:prstGeom prst="rect">
            <a:avLst/>
          </a:prstGeom>
        </p:spPr>
      </p:pic>
      <p:sp>
        <p:nvSpPr>
          <p:cNvPr id="6" name="Object 5"/>
          <p:cNvSpPr/>
          <p:nvPr/>
        </p:nvSpPr>
        <p:spPr>
          <a:xfrm>
            <a:off x="4044894" y="3553644"/>
            <a:ext cx="4099115" cy="172597"/>
          </a:xfrm>
          <a:prstGeom prst="rect">
            <a:avLst/>
          </a:prstGeom>
          <a:noFill/>
        </p:spPr>
        <p:txBody>
          <a:bodyPr wrap="square" lIns="0" tIns="0" rIns="0" bIns="0" rtlCol="0" anchor="ctr"/>
          <a:lstStyle/>
          <a:p>
            <a:pPr marL="0" marR="0" lvl="0" indent="0" algn="ctr" defTabSz="914400" rtl="0" eaLnBrk="1" fontAlgn="auto" latinLnBrk="0" hangingPunct="1">
              <a:lnSpc>
                <a:spcPts val="1361"/>
              </a:lnSpc>
              <a:spcBef>
                <a:spcPts val="0"/>
              </a:spcBef>
              <a:spcAft>
                <a:spcPts val="0"/>
              </a:spcAft>
              <a:buClrTx/>
              <a:buSzTx/>
              <a:buFontTx/>
              <a:buNone/>
              <a:tabLst/>
              <a:defRPr/>
            </a:pPr>
            <a:r>
              <a:rPr kumimoji="0" lang="en-US" sz="1600" b="1" i="0" u="none" strike="noStrike" kern="0" cap="none" spc="32" normalizeH="0" baseline="0" noProof="0">
                <a:ln>
                  <a:noFill/>
                </a:ln>
                <a:solidFill>
                  <a:srgbClr val="4F81BD"/>
                </a:solidFill>
                <a:effectLst/>
                <a:uLnTx/>
                <a:uFillTx/>
                <a:latin typeface="Montserrat" panose="00000500000000000000" pitchFamily="2" charset="0"/>
                <a:ea typeface="Jost*" pitchFamily="34" charset="-122"/>
                <a:cs typeface="Jost*" pitchFamily="34" charset="-120"/>
              </a:rPr>
              <a:t>Taking Power</a:t>
            </a:r>
            <a:endParaRPr kumimoji="0" lang="en-US" sz="3200" b="1" i="0" u="none" strike="noStrike" kern="1200" cap="none" spc="0" normalizeH="0" baseline="0" noProof="0">
              <a:ln>
                <a:noFill/>
              </a:ln>
              <a:solidFill>
                <a:srgbClr val="4F81BD"/>
              </a:solidFill>
              <a:effectLst/>
              <a:uLnTx/>
              <a:uFillTx/>
              <a:latin typeface="Montserrat" panose="00000500000000000000" pitchFamily="2" charset="0"/>
              <a:ea typeface="+mn-ea"/>
              <a:cs typeface="+mn-cs"/>
            </a:endParaRPr>
          </a:p>
        </p:txBody>
      </p:sp>
      <p:pic>
        <p:nvPicPr>
          <p:cNvPr id="7" name="Object 6"/>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095677" y="3378787"/>
            <a:ext cx="3980431" cy="464086"/>
          </a:xfrm>
          <a:prstGeom prst="rect">
            <a:avLst/>
          </a:prstGeom>
        </p:spPr>
      </p:pic>
      <p:sp>
        <p:nvSpPr>
          <p:cNvPr id="8" name="Object 7"/>
          <p:cNvSpPr/>
          <p:nvPr/>
        </p:nvSpPr>
        <p:spPr>
          <a:xfrm>
            <a:off x="8133271" y="3553644"/>
            <a:ext cx="4099115" cy="172597"/>
          </a:xfrm>
          <a:prstGeom prst="rect">
            <a:avLst/>
          </a:prstGeom>
          <a:noFill/>
        </p:spPr>
        <p:txBody>
          <a:bodyPr wrap="square" lIns="0" tIns="0" rIns="0" bIns="0" rtlCol="0" anchor="ctr"/>
          <a:lstStyle/>
          <a:p>
            <a:pPr marL="0" marR="0" lvl="0" indent="0" algn="ctr" defTabSz="914400" rtl="0" eaLnBrk="1" fontAlgn="auto" latinLnBrk="0" hangingPunct="1">
              <a:lnSpc>
                <a:spcPts val="1361"/>
              </a:lnSpc>
              <a:spcBef>
                <a:spcPts val="0"/>
              </a:spcBef>
              <a:spcAft>
                <a:spcPts val="0"/>
              </a:spcAft>
              <a:buClrTx/>
              <a:buSzTx/>
              <a:buFontTx/>
              <a:buNone/>
              <a:tabLst/>
              <a:defRPr/>
            </a:pPr>
            <a:r>
              <a:rPr kumimoji="0" lang="en-US" sz="1600" b="1" i="0" u="none" strike="noStrike" kern="0" cap="none" spc="32" normalizeH="0" baseline="0" noProof="0">
                <a:ln>
                  <a:noFill/>
                </a:ln>
                <a:solidFill>
                  <a:srgbClr val="4F81BD"/>
                </a:solidFill>
                <a:effectLst/>
                <a:uLnTx/>
                <a:uFillTx/>
                <a:latin typeface="Montserrat" panose="00000500000000000000" pitchFamily="2" charset="0"/>
                <a:ea typeface="Jost*" pitchFamily="34" charset="-122"/>
                <a:cs typeface="Jost*" pitchFamily="34" charset="-120"/>
              </a:rPr>
              <a:t>Abusing Power</a:t>
            </a:r>
            <a:endParaRPr kumimoji="0" lang="en-US" sz="3200" b="1" i="0" u="none" strike="noStrike" kern="1200" cap="none" spc="0" normalizeH="0" baseline="0" noProof="0">
              <a:ln>
                <a:noFill/>
              </a:ln>
              <a:solidFill>
                <a:srgbClr val="4F81BD"/>
              </a:solidFill>
              <a:effectLst/>
              <a:uLnTx/>
              <a:uFillTx/>
              <a:latin typeface="Montserrat" panose="00000500000000000000" pitchFamily="2" charset="0"/>
              <a:ea typeface="+mn-ea"/>
              <a:cs typeface="+mn-cs"/>
            </a:endParaRPr>
          </a:p>
        </p:txBody>
      </p:sp>
      <p:pic>
        <p:nvPicPr>
          <p:cNvPr id="9" name="Object 8"/>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401729" y="2206851"/>
            <a:ext cx="9523" cy="1171282"/>
          </a:xfrm>
          <a:prstGeom prst="rect">
            <a:avLst/>
          </a:prstGeom>
        </p:spPr>
      </p:pic>
      <p:pic>
        <p:nvPicPr>
          <p:cNvPr id="10" name="Object 9"/>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344594" y="3318521"/>
            <a:ext cx="114271" cy="114271"/>
          </a:xfrm>
          <a:prstGeom prst="rect">
            <a:avLst/>
          </a:prstGeom>
        </p:spPr>
      </p:pic>
      <p:pic>
        <p:nvPicPr>
          <p:cNvPr id="11" name="Object 10"/>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803459" y="3851788"/>
            <a:ext cx="9523" cy="238065"/>
          </a:xfrm>
          <a:prstGeom prst="rect">
            <a:avLst/>
          </a:prstGeom>
        </p:spPr>
      </p:pic>
      <p:pic>
        <p:nvPicPr>
          <p:cNvPr id="12" name="Object 11"/>
          <p:cNvPicPr>
            <a:picLocks noChangeAspect="1"/>
          </p:cNvPicPr>
          <p:nvPr/>
        </p:nvPicPr>
        <p:blipFill>
          <a:blip r:embed="rId11">
            <a:extLst>
              <a:ext uri="{96DAC541-7B7A-43D3-8B79-37D633B846F1}">
                <asvg:svgBlip xmlns:asvg="http://schemas.microsoft.com/office/drawing/2016/SVG/main" r:embed="rId15"/>
              </a:ext>
            </a:extLst>
          </a:blip>
          <a:stretch>
            <a:fillRect/>
          </a:stretch>
        </p:blipFill>
        <p:spPr>
          <a:xfrm>
            <a:off x="2746323" y="3794652"/>
            <a:ext cx="114271" cy="114271"/>
          </a:xfrm>
          <a:prstGeom prst="rect">
            <a:avLst/>
          </a:prstGeom>
        </p:spPr>
      </p:pic>
      <p:pic>
        <p:nvPicPr>
          <p:cNvPr id="13" name="Object 12"/>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205188" y="1978308"/>
            <a:ext cx="9523" cy="1399825"/>
          </a:xfrm>
          <a:prstGeom prst="rect">
            <a:avLst/>
          </a:prstGeom>
        </p:spPr>
      </p:pic>
      <p:pic>
        <p:nvPicPr>
          <p:cNvPr id="14" name="Object 13"/>
          <p:cNvPicPr>
            <a:picLocks noChangeAspect="1"/>
          </p:cNvPicPr>
          <p:nvPr/>
        </p:nvPicPr>
        <p:blipFill>
          <a:blip r:embed="rId11">
            <a:extLst>
              <a:ext uri="{96DAC541-7B7A-43D3-8B79-37D633B846F1}">
                <asvg:svgBlip xmlns:asvg="http://schemas.microsoft.com/office/drawing/2016/SVG/main" r:embed="rId18"/>
              </a:ext>
            </a:extLst>
          </a:blip>
          <a:stretch>
            <a:fillRect/>
          </a:stretch>
        </p:blipFill>
        <p:spPr>
          <a:xfrm>
            <a:off x="4148053" y="3318521"/>
            <a:ext cx="114271" cy="114271"/>
          </a:xfrm>
          <a:prstGeom prst="rect">
            <a:avLst/>
          </a:prstGeom>
        </p:spPr>
      </p:pic>
      <p:pic>
        <p:nvPicPr>
          <p:cNvPr id="15" name="Object 14"/>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5606918" y="3851788"/>
            <a:ext cx="9523" cy="457086"/>
          </a:xfrm>
          <a:prstGeom prst="rect">
            <a:avLst/>
          </a:prstGeom>
        </p:spPr>
      </p:pic>
      <p:pic>
        <p:nvPicPr>
          <p:cNvPr id="16" name="Object 15"/>
          <p:cNvPicPr>
            <a:picLocks noChangeAspect="1"/>
          </p:cNvPicPr>
          <p:nvPr/>
        </p:nvPicPr>
        <p:blipFill>
          <a:blip r:embed="rId11">
            <a:extLst>
              <a:ext uri="{96DAC541-7B7A-43D3-8B79-37D633B846F1}">
                <asvg:svgBlip xmlns:asvg="http://schemas.microsoft.com/office/drawing/2016/SVG/main" r:embed="rId21"/>
              </a:ext>
            </a:extLst>
          </a:blip>
          <a:stretch>
            <a:fillRect/>
          </a:stretch>
        </p:blipFill>
        <p:spPr>
          <a:xfrm>
            <a:off x="5549782" y="3794652"/>
            <a:ext cx="114271" cy="114271"/>
          </a:xfrm>
          <a:prstGeom prst="rect">
            <a:avLst/>
          </a:prstGeom>
        </p:spPr>
      </p:pic>
      <p:pic>
        <p:nvPicPr>
          <p:cNvPr id="17" name="Object 16"/>
          <p:cNvPicPr>
            <a:picLocks noChangeAspect="1"/>
          </p:cNvPicPr>
          <p:nvPr/>
        </p:nvPicPr>
        <p:blipFill>
          <a:blip r:embed="rId16">
            <a:extLst>
              <a:ext uri="{96DAC541-7B7A-43D3-8B79-37D633B846F1}">
                <asvg:svgBlip xmlns:asvg="http://schemas.microsoft.com/office/drawing/2016/SVG/main" r:embed="rId22"/>
              </a:ext>
            </a:extLst>
          </a:blip>
          <a:stretch>
            <a:fillRect/>
          </a:stretch>
        </p:blipFill>
        <p:spPr>
          <a:xfrm>
            <a:off x="7008647" y="1978308"/>
            <a:ext cx="9523" cy="1399825"/>
          </a:xfrm>
          <a:prstGeom prst="rect">
            <a:avLst/>
          </a:prstGeom>
        </p:spPr>
      </p:pic>
      <p:pic>
        <p:nvPicPr>
          <p:cNvPr id="18" name="Object 17"/>
          <p:cNvPicPr>
            <a:picLocks noChangeAspect="1"/>
          </p:cNvPicPr>
          <p:nvPr/>
        </p:nvPicPr>
        <p:blipFill>
          <a:blip r:embed="rId11">
            <a:extLst>
              <a:ext uri="{96DAC541-7B7A-43D3-8B79-37D633B846F1}">
                <asvg:svgBlip xmlns:asvg="http://schemas.microsoft.com/office/drawing/2016/SVG/main" r:embed="rId23"/>
              </a:ext>
            </a:extLst>
          </a:blip>
          <a:stretch>
            <a:fillRect/>
          </a:stretch>
        </p:blipFill>
        <p:spPr>
          <a:xfrm>
            <a:off x="6951512" y="3318521"/>
            <a:ext cx="114271" cy="114271"/>
          </a:xfrm>
          <a:prstGeom prst="rect">
            <a:avLst/>
          </a:prstGeom>
        </p:spPr>
      </p:pic>
      <p:pic>
        <p:nvPicPr>
          <p:cNvPr id="19" name="Object 18"/>
          <p:cNvPicPr>
            <a:picLocks noChangeAspect="1"/>
          </p:cNvPicPr>
          <p:nvPr/>
        </p:nvPicPr>
        <p:blipFill>
          <a:blip r:embed="rId19">
            <a:extLst>
              <a:ext uri="{96DAC541-7B7A-43D3-8B79-37D633B846F1}">
                <asvg:svgBlip xmlns:asvg="http://schemas.microsoft.com/office/drawing/2016/SVG/main" r:embed="rId24"/>
              </a:ext>
            </a:extLst>
          </a:blip>
          <a:stretch>
            <a:fillRect/>
          </a:stretch>
        </p:blipFill>
        <p:spPr>
          <a:xfrm>
            <a:off x="8410377" y="3851788"/>
            <a:ext cx="9523" cy="457086"/>
          </a:xfrm>
          <a:prstGeom prst="rect">
            <a:avLst/>
          </a:prstGeom>
        </p:spPr>
      </p:pic>
      <p:pic>
        <p:nvPicPr>
          <p:cNvPr id="20" name="Object 19"/>
          <p:cNvPicPr>
            <a:picLocks noChangeAspect="1"/>
          </p:cNvPicPr>
          <p:nvPr/>
        </p:nvPicPr>
        <p:blipFill>
          <a:blip r:embed="rId11">
            <a:extLst>
              <a:ext uri="{96DAC541-7B7A-43D3-8B79-37D633B846F1}">
                <asvg:svgBlip xmlns:asvg="http://schemas.microsoft.com/office/drawing/2016/SVG/main" r:embed="rId25"/>
              </a:ext>
            </a:extLst>
          </a:blip>
          <a:stretch>
            <a:fillRect/>
          </a:stretch>
        </p:blipFill>
        <p:spPr>
          <a:xfrm>
            <a:off x="8353241" y="3794652"/>
            <a:ext cx="114271" cy="114271"/>
          </a:xfrm>
          <a:prstGeom prst="rect">
            <a:avLst/>
          </a:prstGeom>
        </p:spPr>
      </p:pic>
      <p:pic>
        <p:nvPicPr>
          <p:cNvPr id="21" name="Object 20"/>
          <p:cNvPicPr>
            <a:picLocks noChangeAspect="1"/>
          </p:cNvPicPr>
          <p:nvPr/>
        </p:nvPicPr>
        <p:blipFill>
          <a:blip r:embed="rId16">
            <a:extLst>
              <a:ext uri="{96DAC541-7B7A-43D3-8B79-37D633B846F1}">
                <asvg:svgBlip xmlns:asvg="http://schemas.microsoft.com/office/drawing/2016/SVG/main" r:embed="rId26"/>
              </a:ext>
            </a:extLst>
          </a:blip>
          <a:stretch>
            <a:fillRect/>
          </a:stretch>
        </p:blipFill>
        <p:spPr>
          <a:xfrm>
            <a:off x="9812106" y="1978308"/>
            <a:ext cx="9523" cy="1399825"/>
          </a:xfrm>
          <a:prstGeom prst="rect">
            <a:avLst/>
          </a:prstGeom>
        </p:spPr>
      </p:pic>
      <p:pic>
        <p:nvPicPr>
          <p:cNvPr id="22" name="Object 21"/>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9754971" y="3318521"/>
            <a:ext cx="114271" cy="114271"/>
          </a:xfrm>
          <a:prstGeom prst="rect">
            <a:avLst/>
          </a:prstGeom>
        </p:spPr>
      </p:pic>
      <p:sp>
        <p:nvSpPr>
          <p:cNvPr id="23" name="Object 22"/>
          <p:cNvSpPr/>
          <p:nvPr/>
        </p:nvSpPr>
        <p:spPr>
          <a:xfrm>
            <a:off x="1335027" y="2073527"/>
            <a:ext cx="133317" cy="133317"/>
          </a:xfrm>
          <a:prstGeom prst="ellipse">
            <a:avLst/>
          </a:prstGeom>
          <a:solidFill>
            <a:srgbClr val="254F9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24" name="Object 23"/>
          <p:cNvSpPr/>
          <p:nvPr/>
        </p:nvSpPr>
        <p:spPr>
          <a:xfrm>
            <a:off x="1563614" y="2014934"/>
            <a:ext cx="1843538" cy="259082"/>
          </a:xfrm>
          <a:prstGeom prst="rect">
            <a:avLst/>
          </a:prstGeom>
          <a:noFill/>
        </p:spPr>
        <p:txBody>
          <a:bodyPr wrap="square" lIns="0" tIns="0" rIns="0" bIns="0" rtlCol="0" anchor="t"/>
          <a:lstStyle/>
          <a:p>
            <a:pPr marL="0" marR="0" lvl="0" indent="0" algn="l" defTabSz="914400" rtl="0" eaLnBrk="1" fontAlgn="auto" latinLnBrk="0" hangingPunct="1">
              <a:lnSpc>
                <a:spcPts val="2042"/>
              </a:lnSpc>
              <a:spcBef>
                <a:spcPts val="0"/>
              </a:spcBef>
              <a:spcAft>
                <a:spcPts val="0"/>
              </a:spcAft>
              <a:buClrTx/>
              <a:buSzTx/>
              <a:buFontTx/>
              <a:buNone/>
              <a:tabLst/>
              <a:defRPr/>
            </a:pPr>
            <a:r>
              <a:rPr kumimoji="0" lang="en-US" sz="1620" b="0" i="0" u="none" strike="noStrike" kern="0" cap="none" spc="49"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1929</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25" name="Object 24"/>
          <p:cNvSpPr/>
          <p:nvPr/>
        </p:nvSpPr>
        <p:spPr>
          <a:xfrm>
            <a:off x="1563614" y="2353247"/>
            <a:ext cx="1843538" cy="891258"/>
          </a:xfrm>
          <a:prstGeom prst="rect">
            <a:avLst/>
          </a:prstGeom>
          <a:noFill/>
        </p:spPr>
        <p:txBody>
          <a:bodyPr wrap="square" lIns="0" tIns="0" rIns="0" bIns="0" rtlCol="0" anchor="t"/>
          <a:lstStyle/>
          <a:p>
            <a:pPr marL="0" marR="0" lvl="0" indent="0" algn="l" defTabSz="914400" rtl="0" eaLnBrk="1" fontAlgn="auto" latinLnBrk="0" hangingPunct="1">
              <a:lnSpc>
                <a:spcPts val="1756"/>
              </a:lnSpc>
              <a:spcBef>
                <a:spcPts val="612"/>
              </a:spcBef>
              <a:spcAft>
                <a:spcPts val="0"/>
              </a:spcAft>
              <a:buClrTx/>
              <a:buSzTx/>
              <a:buFontTx/>
              <a:buNone/>
              <a:tabLst/>
              <a:defRPr/>
            </a:pPr>
            <a:r>
              <a:rPr kumimoji="0" lang="en-US" sz="1200" b="0" i="0" u="none" strike="noStrike" kern="0" cap="none" spc="40"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Blue Cross Blue Shield founded in Texas, providing early health insurance coverage.</a:t>
            </a:r>
            <a:endParaRPr kumimoji="0" lang="en-US" sz="16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26" name="Object 25"/>
          <p:cNvSpPr/>
          <p:nvPr/>
        </p:nvSpPr>
        <p:spPr>
          <a:xfrm>
            <a:off x="2736637" y="4084993"/>
            <a:ext cx="133317" cy="133317"/>
          </a:xfrm>
          <a:prstGeom prst="ellipse">
            <a:avLst/>
          </a:prstGeom>
          <a:solidFill>
            <a:srgbClr val="254F9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27" name="Object 26"/>
          <p:cNvSpPr/>
          <p:nvPr/>
        </p:nvSpPr>
        <p:spPr>
          <a:xfrm>
            <a:off x="2965343" y="4026492"/>
            <a:ext cx="1791164" cy="259082"/>
          </a:xfrm>
          <a:prstGeom prst="rect">
            <a:avLst/>
          </a:prstGeom>
          <a:noFill/>
        </p:spPr>
        <p:txBody>
          <a:bodyPr wrap="square" lIns="0" tIns="0" rIns="0" bIns="0" rtlCol="0" anchor="t"/>
          <a:lstStyle/>
          <a:p>
            <a:pPr marL="0" marR="0" lvl="0" indent="0" algn="l" defTabSz="914400" rtl="0" eaLnBrk="1" fontAlgn="auto" latinLnBrk="0" hangingPunct="1">
              <a:lnSpc>
                <a:spcPts val="2042"/>
              </a:lnSpc>
              <a:spcBef>
                <a:spcPts val="0"/>
              </a:spcBef>
              <a:spcAft>
                <a:spcPts val="0"/>
              </a:spcAft>
              <a:buClrTx/>
              <a:buSzTx/>
              <a:buFontTx/>
              <a:buNone/>
              <a:tabLst/>
              <a:defRPr/>
            </a:pPr>
            <a:r>
              <a:rPr kumimoji="0" lang="en-US" sz="1620" b="0" i="0" u="none" strike="noStrike" kern="0" cap="none" spc="49"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1940s-1950s</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28" name="Object 27"/>
          <p:cNvSpPr/>
          <p:nvPr/>
        </p:nvSpPr>
        <p:spPr>
          <a:xfrm>
            <a:off x="2965343" y="4364805"/>
            <a:ext cx="1791164" cy="1336886"/>
          </a:xfrm>
          <a:prstGeom prst="rect">
            <a:avLst/>
          </a:prstGeom>
          <a:noFill/>
        </p:spPr>
        <p:txBody>
          <a:bodyPr wrap="square" lIns="0" tIns="0" rIns="0" bIns="0" rtlCol="0" anchor="t"/>
          <a:lstStyle/>
          <a:p>
            <a:pPr marL="0" marR="0" lvl="0" indent="0" algn="l" defTabSz="914400" rtl="0" eaLnBrk="1" fontAlgn="auto" latinLnBrk="0" hangingPunct="1">
              <a:lnSpc>
                <a:spcPts val="1756"/>
              </a:lnSpc>
              <a:spcBef>
                <a:spcPts val="612"/>
              </a:spcBef>
              <a:spcAft>
                <a:spcPts val="0"/>
              </a:spcAft>
              <a:buClrTx/>
              <a:buSzTx/>
              <a:buFontTx/>
              <a:buNone/>
              <a:tabLst/>
              <a:defRPr/>
            </a:pPr>
            <a:r>
              <a:rPr kumimoji="0" lang="en-US" sz="1200" b="0" i="0" u="none" strike="noStrike" kern="0" cap="none" spc="40"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Employer-sponsored health insurance becomes widespread. Providers embrace insurance as the best path to get paid.</a:t>
            </a:r>
            <a:endParaRPr kumimoji="0" lang="en-US" sz="16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29" name="Object 28"/>
          <p:cNvSpPr/>
          <p:nvPr/>
        </p:nvSpPr>
        <p:spPr>
          <a:xfrm>
            <a:off x="4138433" y="1844946"/>
            <a:ext cx="133317" cy="133317"/>
          </a:xfrm>
          <a:prstGeom prst="ellipse">
            <a:avLst/>
          </a:prstGeom>
          <a:solidFill>
            <a:srgbClr val="254F9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0" name="Object 29"/>
          <p:cNvSpPr/>
          <p:nvPr/>
        </p:nvSpPr>
        <p:spPr>
          <a:xfrm>
            <a:off x="4367073" y="1786391"/>
            <a:ext cx="1937853" cy="259082"/>
          </a:xfrm>
          <a:prstGeom prst="rect">
            <a:avLst/>
          </a:prstGeom>
          <a:noFill/>
        </p:spPr>
        <p:txBody>
          <a:bodyPr wrap="square" lIns="0" tIns="0" rIns="0" bIns="0" rtlCol="0" anchor="t"/>
          <a:lstStyle/>
          <a:p>
            <a:pPr marL="0" marR="0" lvl="0" indent="0" algn="l" defTabSz="914400" rtl="0" eaLnBrk="1" fontAlgn="auto" latinLnBrk="0" hangingPunct="1">
              <a:lnSpc>
                <a:spcPts val="2042"/>
              </a:lnSpc>
              <a:spcBef>
                <a:spcPts val="0"/>
              </a:spcBef>
              <a:spcAft>
                <a:spcPts val="0"/>
              </a:spcAft>
              <a:buClrTx/>
              <a:buSzTx/>
              <a:buFontTx/>
              <a:buNone/>
              <a:tabLst/>
              <a:defRPr/>
            </a:pPr>
            <a:r>
              <a:rPr kumimoji="0" lang="en-US" sz="1620" b="0" i="0" u="none" strike="noStrike" kern="0" cap="none" spc="49"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1965</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1" name="Object 30"/>
          <p:cNvSpPr/>
          <p:nvPr/>
        </p:nvSpPr>
        <p:spPr>
          <a:xfrm>
            <a:off x="4367073" y="2124705"/>
            <a:ext cx="1937853" cy="1114072"/>
          </a:xfrm>
          <a:prstGeom prst="rect">
            <a:avLst/>
          </a:prstGeom>
          <a:noFill/>
        </p:spPr>
        <p:txBody>
          <a:bodyPr wrap="square" lIns="0" tIns="0" rIns="0" bIns="0" rtlCol="0" anchor="t"/>
          <a:lstStyle/>
          <a:p>
            <a:pPr marL="0" marR="0" lvl="0" indent="0" algn="l" defTabSz="914400" rtl="0" eaLnBrk="1" fontAlgn="auto" latinLnBrk="0" hangingPunct="1">
              <a:lnSpc>
                <a:spcPts val="1756"/>
              </a:lnSpc>
              <a:spcBef>
                <a:spcPts val="612"/>
              </a:spcBef>
              <a:spcAft>
                <a:spcPts val="0"/>
              </a:spcAft>
              <a:buClrTx/>
              <a:buSzTx/>
              <a:buFontTx/>
              <a:buNone/>
              <a:tabLst/>
              <a:defRPr/>
            </a:pPr>
            <a:r>
              <a:rPr kumimoji="0" lang="en-US" sz="1200" b="0" i="0" u="none" strike="noStrike" kern="0" cap="none" spc="40"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Medicare and Medicaid established, providing health coverage for the elderly and low-income individuals.</a:t>
            </a:r>
            <a:endParaRPr kumimoji="0" lang="en-US" sz="16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2" name="Object 31"/>
          <p:cNvSpPr/>
          <p:nvPr/>
        </p:nvSpPr>
        <p:spPr>
          <a:xfrm>
            <a:off x="5540230" y="4304088"/>
            <a:ext cx="133317" cy="133317"/>
          </a:xfrm>
          <a:prstGeom prst="ellipse">
            <a:avLst/>
          </a:prstGeom>
          <a:solidFill>
            <a:srgbClr val="254F9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3" name="Object 32"/>
          <p:cNvSpPr/>
          <p:nvPr/>
        </p:nvSpPr>
        <p:spPr>
          <a:xfrm>
            <a:off x="5768802" y="4245512"/>
            <a:ext cx="1822466" cy="259082"/>
          </a:xfrm>
          <a:prstGeom prst="rect">
            <a:avLst/>
          </a:prstGeom>
          <a:noFill/>
        </p:spPr>
        <p:txBody>
          <a:bodyPr wrap="square" lIns="0" tIns="0" rIns="0" bIns="0" rtlCol="0" anchor="t"/>
          <a:lstStyle/>
          <a:p>
            <a:pPr marL="0" marR="0" lvl="0" indent="0" algn="l" defTabSz="914400" rtl="0" eaLnBrk="1" fontAlgn="auto" latinLnBrk="0" hangingPunct="1">
              <a:lnSpc>
                <a:spcPts val="2042"/>
              </a:lnSpc>
              <a:spcBef>
                <a:spcPts val="0"/>
              </a:spcBef>
              <a:spcAft>
                <a:spcPts val="0"/>
              </a:spcAft>
              <a:buClrTx/>
              <a:buSzTx/>
              <a:buFontTx/>
              <a:buNone/>
              <a:tabLst/>
              <a:defRPr/>
            </a:pPr>
            <a:r>
              <a:rPr kumimoji="0" lang="en-US" sz="1620" b="0" i="0" u="none" strike="noStrike" kern="0" cap="none" spc="49"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1970s-1980s</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4" name="Object 33"/>
          <p:cNvSpPr/>
          <p:nvPr/>
        </p:nvSpPr>
        <p:spPr>
          <a:xfrm>
            <a:off x="5768802" y="4583826"/>
            <a:ext cx="1822466" cy="1114072"/>
          </a:xfrm>
          <a:prstGeom prst="rect">
            <a:avLst/>
          </a:prstGeom>
          <a:noFill/>
        </p:spPr>
        <p:txBody>
          <a:bodyPr wrap="square" lIns="0" tIns="0" rIns="0" bIns="0" rtlCol="0" anchor="t"/>
          <a:lstStyle/>
          <a:p>
            <a:pPr marL="0" marR="0" lvl="0" indent="0" algn="l" defTabSz="914400" rtl="0" eaLnBrk="1" fontAlgn="auto" latinLnBrk="0" hangingPunct="1">
              <a:lnSpc>
                <a:spcPts val="1756"/>
              </a:lnSpc>
              <a:spcBef>
                <a:spcPts val="612"/>
              </a:spcBef>
              <a:spcAft>
                <a:spcPts val="0"/>
              </a:spcAft>
              <a:buClrTx/>
              <a:buSzTx/>
              <a:buFontTx/>
              <a:buNone/>
              <a:tabLst/>
              <a:defRPr/>
            </a:pPr>
            <a:r>
              <a:rPr kumimoji="0" lang="en-US" sz="1200" b="0" i="0" u="none" strike="noStrike" kern="0" cap="none" spc="40"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Rise of managed care organizations (HMOs, PPOs) which negotiate rates with healthcare providers.</a:t>
            </a:r>
            <a:endParaRPr kumimoji="0" lang="en-US" sz="16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5" name="Object 34"/>
          <p:cNvSpPr/>
          <p:nvPr/>
        </p:nvSpPr>
        <p:spPr>
          <a:xfrm>
            <a:off x="6941840" y="1844946"/>
            <a:ext cx="133317" cy="133317"/>
          </a:xfrm>
          <a:prstGeom prst="ellipse">
            <a:avLst/>
          </a:prstGeom>
          <a:solidFill>
            <a:srgbClr val="254F9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6" name="Object 35"/>
          <p:cNvSpPr/>
          <p:nvPr/>
        </p:nvSpPr>
        <p:spPr>
          <a:xfrm>
            <a:off x="7170532" y="1786391"/>
            <a:ext cx="1885479" cy="259082"/>
          </a:xfrm>
          <a:prstGeom prst="rect">
            <a:avLst/>
          </a:prstGeom>
          <a:noFill/>
        </p:spPr>
        <p:txBody>
          <a:bodyPr wrap="square" lIns="0" tIns="0" rIns="0" bIns="0" rtlCol="0" anchor="t"/>
          <a:lstStyle/>
          <a:p>
            <a:pPr marL="0" marR="0" lvl="0" indent="0" algn="l" defTabSz="914400" rtl="0" eaLnBrk="1" fontAlgn="auto" latinLnBrk="0" hangingPunct="1">
              <a:lnSpc>
                <a:spcPts val="2042"/>
              </a:lnSpc>
              <a:spcBef>
                <a:spcPts val="0"/>
              </a:spcBef>
              <a:spcAft>
                <a:spcPts val="0"/>
              </a:spcAft>
              <a:buClrTx/>
              <a:buSzTx/>
              <a:buFontTx/>
              <a:buNone/>
              <a:tabLst/>
              <a:defRPr/>
            </a:pPr>
            <a:r>
              <a:rPr kumimoji="0" lang="en-US" sz="1620" b="0" i="0" u="none" strike="noStrike" kern="0" cap="none" spc="49"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1990s-2000s</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7" name="Object 36"/>
          <p:cNvSpPr/>
          <p:nvPr/>
        </p:nvSpPr>
        <p:spPr>
          <a:xfrm>
            <a:off x="7170532" y="2124705"/>
            <a:ext cx="2204377" cy="1114072"/>
          </a:xfrm>
          <a:prstGeom prst="rect">
            <a:avLst/>
          </a:prstGeom>
          <a:noFill/>
        </p:spPr>
        <p:txBody>
          <a:bodyPr wrap="square" lIns="0" tIns="0" rIns="0" bIns="0" rtlCol="0" anchor="t"/>
          <a:lstStyle/>
          <a:p>
            <a:pPr marL="0" marR="0" lvl="0" indent="0" algn="l" defTabSz="914400" rtl="0" eaLnBrk="1" fontAlgn="auto" latinLnBrk="0" hangingPunct="1">
              <a:lnSpc>
                <a:spcPts val="1756"/>
              </a:lnSpc>
              <a:spcBef>
                <a:spcPts val="612"/>
              </a:spcBef>
              <a:spcAft>
                <a:spcPts val="0"/>
              </a:spcAft>
              <a:buClrTx/>
              <a:buSzTx/>
              <a:buFontTx/>
              <a:buNone/>
              <a:tabLst/>
              <a:defRPr/>
            </a:pPr>
            <a:r>
              <a:rPr kumimoji="0" lang="en-US" sz="1200" b="0" i="0" u="none" strike="noStrike" kern="0" cap="none" spc="40"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Consolidation of health insurance industry, leading to a few large payers with significant market power.</a:t>
            </a:r>
            <a:endParaRPr kumimoji="0" lang="en-US" sz="16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8" name="Object 37"/>
          <p:cNvSpPr/>
          <p:nvPr/>
        </p:nvSpPr>
        <p:spPr>
          <a:xfrm>
            <a:off x="8343637" y="4304088"/>
            <a:ext cx="133317" cy="133317"/>
          </a:xfrm>
          <a:prstGeom prst="ellipse">
            <a:avLst/>
          </a:prstGeom>
          <a:solidFill>
            <a:srgbClr val="254F9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9" name="Object 38"/>
          <p:cNvSpPr/>
          <p:nvPr/>
        </p:nvSpPr>
        <p:spPr>
          <a:xfrm>
            <a:off x="8572261" y="4245512"/>
            <a:ext cx="1728355" cy="259082"/>
          </a:xfrm>
          <a:prstGeom prst="rect">
            <a:avLst/>
          </a:prstGeom>
          <a:noFill/>
        </p:spPr>
        <p:txBody>
          <a:bodyPr wrap="square" lIns="0" tIns="0" rIns="0" bIns="0" rtlCol="0" anchor="t"/>
          <a:lstStyle/>
          <a:p>
            <a:pPr marL="0" marR="0" lvl="0" indent="0" algn="l" defTabSz="914400" rtl="0" eaLnBrk="1" fontAlgn="auto" latinLnBrk="0" hangingPunct="1">
              <a:lnSpc>
                <a:spcPts val="2042"/>
              </a:lnSpc>
              <a:spcBef>
                <a:spcPts val="0"/>
              </a:spcBef>
              <a:spcAft>
                <a:spcPts val="0"/>
              </a:spcAft>
              <a:buClrTx/>
              <a:buSzTx/>
              <a:buFontTx/>
              <a:buNone/>
              <a:tabLst/>
              <a:defRPr/>
            </a:pPr>
            <a:r>
              <a:rPr kumimoji="0" lang="en-US" sz="1620" b="0" i="0" u="none" strike="noStrike" kern="0" cap="none" spc="49"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2010</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0" name="Object 39"/>
          <p:cNvSpPr/>
          <p:nvPr/>
        </p:nvSpPr>
        <p:spPr>
          <a:xfrm>
            <a:off x="8572261" y="4583826"/>
            <a:ext cx="1728355" cy="1114072"/>
          </a:xfrm>
          <a:prstGeom prst="rect">
            <a:avLst/>
          </a:prstGeom>
          <a:noFill/>
        </p:spPr>
        <p:txBody>
          <a:bodyPr wrap="square" lIns="0" tIns="0" rIns="0" bIns="0" rtlCol="0" anchor="t"/>
          <a:lstStyle/>
          <a:p>
            <a:pPr marL="0" marR="0" lvl="0" indent="0" algn="l" defTabSz="914400" rtl="0" eaLnBrk="1" fontAlgn="auto" latinLnBrk="0" hangingPunct="1">
              <a:lnSpc>
                <a:spcPts val="1756"/>
              </a:lnSpc>
              <a:spcBef>
                <a:spcPts val="612"/>
              </a:spcBef>
              <a:spcAft>
                <a:spcPts val="0"/>
              </a:spcAft>
              <a:buClrTx/>
              <a:buSzTx/>
              <a:buFontTx/>
              <a:buNone/>
              <a:tabLst/>
              <a:defRPr/>
            </a:pPr>
            <a:r>
              <a:rPr kumimoji="0" lang="en-US" sz="1200" b="0" i="0" u="none" strike="noStrike" kern="0" cap="none" spc="40"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Affordable Care Act (ACA) changes payer incentives to dramatically grow healthcare costs. </a:t>
            </a:r>
            <a:endParaRPr kumimoji="0" lang="en-US" sz="16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1" name="Object 40"/>
          <p:cNvSpPr/>
          <p:nvPr/>
        </p:nvSpPr>
        <p:spPr>
          <a:xfrm>
            <a:off x="9745433" y="1844946"/>
            <a:ext cx="133317" cy="133317"/>
          </a:xfrm>
          <a:prstGeom prst="ellipse">
            <a:avLst/>
          </a:prstGeom>
          <a:solidFill>
            <a:srgbClr val="254F9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2" name="Object 41"/>
          <p:cNvSpPr/>
          <p:nvPr/>
        </p:nvSpPr>
        <p:spPr>
          <a:xfrm>
            <a:off x="9973991" y="1786391"/>
            <a:ext cx="1885479" cy="259082"/>
          </a:xfrm>
          <a:prstGeom prst="rect">
            <a:avLst/>
          </a:prstGeom>
          <a:noFill/>
        </p:spPr>
        <p:txBody>
          <a:bodyPr wrap="square" lIns="0" tIns="0" rIns="0" bIns="0" rtlCol="0" anchor="t"/>
          <a:lstStyle/>
          <a:p>
            <a:pPr marL="0" marR="0" lvl="0" indent="0" algn="l" defTabSz="914400" rtl="0" eaLnBrk="1" fontAlgn="auto" latinLnBrk="0" hangingPunct="1">
              <a:lnSpc>
                <a:spcPts val="2042"/>
              </a:lnSpc>
              <a:spcBef>
                <a:spcPts val="0"/>
              </a:spcBef>
              <a:spcAft>
                <a:spcPts val="0"/>
              </a:spcAft>
              <a:buClrTx/>
              <a:buSzTx/>
              <a:buFontTx/>
              <a:buNone/>
              <a:tabLst/>
              <a:defRPr/>
            </a:pPr>
            <a:r>
              <a:rPr kumimoji="0" lang="en-US" sz="1620" b="0" i="0" u="none" strike="noStrike" kern="0" cap="none" spc="49"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2020-present</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3" name="Object 42"/>
          <p:cNvSpPr/>
          <p:nvPr/>
        </p:nvSpPr>
        <p:spPr>
          <a:xfrm>
            <a:off x="9973991" y="2124705"/>
            <a:ext cx="1885479" cy="1114072"/>
          </a:xfrm>
          <a:prstGeom prst="rect">
            <a:avLst/>
          </a:prstGeom>
          <a:noFill/>
        </p:spPr>
        <p:txBody>
          <a:bodyPr wrap="square" lIns="0" tIns="0" rIns="0" bIns="0" rtlCol="0" anchor="t"/>
          <a:lstStyle/>
          <a:p>
            <a:pPr marL="0" marR="0" lvl="0" indent="0" algn="l" defTabSz="914400" rtl="0" eaLnBrk="1" fontAlgn="auto" latinLnBrk="0" hangingPunct="1">
              <a:lnSpc>
                <a:spcPts val="1756"/>
              </a:lnSpc>
              <a:spcBef>
                <a:spcPts val="612"/>
              </a:spcBef>
              <a:spcAft>
                <a:spcPts val="0"/>
              </a:spcAft>
              <a:buClrTx/>
              <a:buSzTx/>
              <a:buFontTx/>
              <a:buNone/>
              <a:tabLst/>
              <a:defRPr/>
            </a:pPr>
            <a:r>
              <a:rPr kumimoji="0" lang="en-US" sz="1200" b="0" i="0" u="none" strike="noStrike" kern="0" cap="none" spc="40"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Healthcare payers are the most powerful players in healthcare, with provider friction at an all-time high.</a:t>
            </a:r>
            <a:endParaRPr kumimoji="0" lang="en-US" sz="16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44" name="Object 43"/>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10803322" y="6383487"/>
            <a:ext cx="161885" cy="57136"/>
          </a:xfrm>
          <a:prstGeom prst="rect">
            <a:avLst/>
          </a:prstGeom>
        </p:spPr>
      </p:pic>
      <p:pic>
        <p:nvPicPr>
          <p:cNvPr id="45" name="Object 44"/>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0917206" y="6335875"/>
            <a:ext cx="95226" cy="95226"/>
          </a:xfrm>
          <a:prstGeom prst="rect">
            <a:avLst/>
          </a:prstGeom>
        </p:spPr>
      </p:pic>
      <p:pic>
        <p:nvPicPr>
          <p:cNvPr id="46" name="Object 45"/>
          <p:cNvPicPr>
            <a:picLocks noChangeAspect="1"/>
          </p:cNvPicPr>
          <p:nvPr/>
        </p:nvPicPr>
        <p:blipFill>
          <a:blip r:embed="rId33" cstate="hqprint">
            <a:extLst>
              <a:ext uri="{28A0092B-C50C-407E-A947-70E740481C1C}">
                <a14:useLocalDpi xmlns:a14="http://schemas.microsoft.com/office/drawing/2010/main"/>
              </a:ext>
            </a:extLst>
          </a:blip>
          <a:srcRect l="-5556" t="-5555" r="-5556" b="-5556"/>
          <a:stretch/>
        </p:blipFill>
        <p:spPr>
          <a:xfrm>
            <a:off x="9645893" y="6241843"/>
            <a:ext cx="2314817" cy="388927"/>
          </a:xfrm>
          <a:prstGeom prst="rect">
            <a:avLst/>
          </a:prstGeom>
        </p:spPr>
      </p:pic>
      <p:sp>
        <p:nvSpPr>
          <p:cNvPr id="47" name="Slide Number Placeholder 4">
            <a:extLst>
              <a:ext uri="{FF2B5EF4-FFF2-40B4-BE49-F238E27FC236}">
                <a16:creationId xmlns:a16="http://schemas.microsoft.com/office/drawing/2014/main" id="{143C8A93-0199-3817-61A4-CB6353FFF9B5}"/>
              </a:ext>
            </a:extLst>
          </p:cNvPr>
          <p:cNvSpPr txBox="1">
            <a:spLocks/>
          </p:cNvSpPr>
          <p:nvPr/>
        </p:nvSpPr>
        <p:spPr>
          <a:xfrm>
            <a:off x="494220" y="6429672"/>
            <a:ext cx="2743200" cy="25038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bject 1"/>
          <p:cNvSpPr/>
          <p:nvPr/>
        </p:nvSpPr>
        <p:spPr>
          <a:xfrm>
            <a:off x="0" y="440049"/>
            <a:ext cx="12188952" cy="213143"/>
          </a:xfrm>
          <a:prstGeom prst="rect">
            <a:avLst/>
          </a:prstGeom>
          <a:noFill/>
        </p:spPr>
        <p:txBody>
          <a:bodyPr wrap="square" lIns="0" tIns="0" rIns="0" bIns="0" rtlCol="0" anchor="t"/>
          <a:lstStyle/>
          <a:p>
            <a:pPr marL="0" marR="0" lvl="0" indent="0" algn="ctr" defTabSz="914400" rtl="0" eaLnBrk="1" fontAlgn="auto" latinLnBrk="0" hangingPunct="1">
              <a:lnSpc>
                <a:spcPts val="1680"/>
              </a:lnSpc>
              <a:spcBef>
                <a:spcPts val="0"/>
              </a:spcBef>
              <a:spcAft>
                <a:spcPts val="0"/>
              </a:spcAft>
              <a:buClrTx/>
              <a:buSzTx/>
              <a:buFontTx/>
              <a:buNone/>
              <a:tabLst/>
              <a:defRPr/>
            </a:pPr>
            <a:r>
              <a:rPr kumimoji="0" lang="en-US" sz="1500" b="0" i="0" u="none" strike="noStrike" kern="0" cap="none" spc="45" normalizeH="0" baseline="0" noProof="0">
                <a:ln>
                  <a:noFill/>
                </a:ln>
                <a:solidFill>
                  <a:srgbClr val="2896BB"/>
                </a:solidFill>
                <a:effectLst/>
                <a:uLnTx/>
                <a:uFillTx/>
                <a:latin typeface="Montserrat" panose="00000500000000000000" pitchFamily="2" charset="0"/>
                <a:ea typeface="Jost*" pitchFamily="34" charset="-122"/>
                <a:cs typeface="Jost*" pitchFamily="34" charset="-120"/>
              </a:rPr>
              <a:t>PUTTING A NAME TO THE PROBLEM</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Object 2"/>
          <p:cNvSpPr/>
          <p:nvPr/>
        </p:nvSpPr>
        <p:spPr>
          <a:xfrm>
            <a:off x="0" y="822628"/>
            <a:ext cx="12188952" cy="426472"/>
          </a:xfrm>
          <a:prstGeom prst="rect">
            <a:avLst/>
          </a:prstGeom>
          <a:noFill/>
        </p:spPr>
        <p:txBody>
          <a:bodyPr wrap="square" lIns="0" tIns="0" rIns="0" bIns="0" rtlCol="0" anchor="t"/>
          <a:lstStyle/>
          <a:p>
            <a:pPr marL="0" marR="0" lvl="0" indent="0" algn="ctr" defTabSz="914400" rtl="0" eaLnBrk="1" fontAlgn="auto" latinLnBrk="0" hangingPunct="1">
              <a:lnSpc>
                <a:spcPts val="3360"/>
              </a:lnSpc>
              <a:spcBef>
                <a:spcPts val="1308"/>
              </a:spcBef>
              <a:spcAft>
                <a:spcPts val="0"/>
              </a:spcAft>
              <a:buClrTx/>
              <a:buSzTx/>
              <a:buFontTx/>
              <a:buNone/>
              <a:tabLst/>
              <a:defRPr/>
            </a:pPr>
            <a:r>
              <a:rPr kumimoji="0" lang="en-US" sz="3000" b="0" i="0" u="none" strike="noStrike" kern="0" cap="none" spc="90"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CHANNEL DEPENDENCY RISK</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476131" y="1923569"/>
            <a:ext cx="5570732" cy="4456586"/>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5" name="Object 4"/>
          <p:cNvSpPr/>
          <p:nvPr/>
        </p:nvSpPr>
        <p:spPr>
          <a:xfrm>
            <a:off x="6142089" y="1923569"/>
            <a:ext cx="5570732" cy="4456586"/>
          </a:xfrm>
          <a:prstGeom prst="rect">
            <a:avLst/>
          </a:prstGeom>
          <a:solidFill>
            <a:srgbClr val="EDF1E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6" name="Object 5"/>
          <p:cNvSpPr/>
          <p:nvPr/>
        </p:nvSpPr>
        <p:spPr>
          <a:xfrm>
            <a:off x="6963415" y="2948033"/>
            <a:ext cx="3928080" cy="215933"/>
          </a:xfrm>
          <a:prstGeom prst="rect">
            <a:avLst/>
          </a:prstGeom>
          <a:noFill/>
        </p:spPr>
        <p:txBody>
          <a:bodyPr wrap="square" lIns="0" tIns="0" rIns="0" bIns="0" rtlCol="0" anchor="t"/>
          <a:lstStyle/>
          <a:p>
            <a:pPr marL="0" marR="0" lvl="0" indent="0" algn="ctr" defTabSz="914400" rtl="0" eaLnBrk="1" fontAlgn="auto" latinLnBrk="0" hangingPunct="1">
              <a:lnSpc>
                <a:spcPts val="1701"/>
              </a:lnSpc>
              <a:spcBef>
                <a:spcPts val="0"/>
              </a:spcBef>
              <a:spcAft>
                <a:spcPts val="0"/>
              </a:spcAft>
              <a:buClrTx/>
              <a:buSzTx/>
              <a:buFontTx/>
              <a:buNone/>
              <a:tabLst/>
              <a:defRPr/>
            </a:pPr>
            <a:r>
              <a:rPr kumimoji="0" lang="en-US" sz="1600" b="1" i="0" u="none" strike="noStrike" kern="0" cap="none" spc="41"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EXAMPLES OF CHANNEL DEPENDENCY RISK</a:t>
            </a:r>
            <a:endParaRPr kumimoji="0" lang="en-US" sz="2400" b="1"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7" name="Object 6"/>
          <p:cNvSpPr/>
          <p:nvPr/>
        </p:nvSpPr>
        <p:spPr>
          <a:xfrm>
            <a:off x="6963415" y="3584001"/>
            <a:ext cx="3928080" cy="267266"/>
          </a:xfrm>
          <a:prstGeom prst="rect">
            <a:avLst/>
          </a:prstGeom>
          <a:noFill/>
        </p:spPr>
        <p:txBody>
          <a:bodyPr wrap="square" lIns="0" tIns="0" rIns="0" bIns="0" rtlCol="0" anchor="t"/>
          <a:lstStyle/>
          <a:p>
            <a:pPr marL="0" marR="0" lvl="0" indent="0" algn="ctr" defTabSz="914400" rtl="0" eaLnBrk="1" fontAlgn="auto" latinLnBrk="0" hangingPunct="1">
              <a:lnSpc>
                <a:spcPts val="2107"/>
              </a:lnSpc>
              <a:spcBef>
                <a:spcPts val="1350"/>
              </a:spcBef>
              <a:spcAft>
                <a:spcPts val="0"/>
              </a:spcAft>
              <a:buClrTx/>
              <a:buSzTx/>
              <a:buFontTx/>
              <a:buNone/>
              <a:tabLst/>
              <a:defRPr/>
            </a:pPr>
            <a:r>
              <a:rPr kumimoji="0" lang="en-US" sz="1584" b="0" i="0" u="none" strike="noStrike" kern="0" cap="none" spc="47"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Amazon hurts publishing houses </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8" name="Object 7"/>
          <p:cNvSpPr/>
          <p:nvPr/>
        </p:nvSpPr>
        <p:spPr>
          <a:xfrm>
            <a:off x="6963415" y="4010101"/>
            <a:ext cx="3928080" cy="267266"/>
          </a:xfrm>
          <a:prstGeom prst="rect">
            <a:avLst/>
          </a:prstGeom>
          <a:noFill/>
        </p:spPr>
        <p:txBody>
          <a:bodyPr wrap="square" lIns="0" tIns="0" rIns="0" bIns="0" rtlCol="0" anchor="t"/>
          <a:lstStyle/>
          <a:p>
            <a:pPr marL="0" marR="0" lvl="0" indent="0" algn="ctr" defTabSz="914400" rtl="0" eaLnBrk="1" fontAlgn="auto" latinLnBrk="0" hangingPunct="1">
              <a:lnSpc>
                <a:spcPts val="2107"/>
              </a:lnSpc>
              <a:spcBef>
                <a:spcPts val="1227"/>
              </a:spcBef>
              <a:spcAft>
                <a:spcPts val="0"/>
              </a:spcAft>
              <a:buClrTx/>
              <a:buSzTx/>
              <a:buFontTx/>
              <a:buNone/>
              <a:tabLst/>
              <a:defRPr/>
            </a:pPr>
            <a:r>
              <a:rPr kumimoji="0" lang="en-US" sz="1550" b="0" i="0" u="none" strike="noStrike" kern="0" cap="none" spc="47" normalizeH="0" baseline="0" noProof="0">
                <a:ln>
                  <a:noFill/>
                </a:ln>
                <a:solidFill>
                  <a:srgbClr val="181818">
                    <a:alpha val="80000"/>
                  </a:srgbClr>
                </a:solidFill>
                <a:effectLst/>
                <a:uLnTx/>
                <a:uFillTx/>
                <a:latin typeface="Montserrat"/>
                <a:ea typeface="Jost*"/>
                <a:cs typeface="Jost*" pitchFamily="34" charset="-120"/>
              </a:rPr>
              <a:t>App stores hurt mobile apps</a:t>
            </a:r>
            <a:endParaRPr kumimoji="0" lang="en-US" sz="1550" b="0" i="0" u="none" strike="noStrike" kern="1200" cap="none" spc="0" normalizeH="0" baseline="0" noProof="0">
              <a:ln>
                <a:noFill/>
              </a:ln>
              <a:solidFill>
                <a:prstClr val="black"/>
              </a:solidFill>
              <a:effectLst/>
              <a:uLnTx/>
              <a:uFillTx/>
              <a:latin typeface="Montserrat"/>
              <a:ea typeface="Jost*"/>
              <a:cs typeface="+mn-cs"/>
            </a:endParaRPr>
          </a:p>
        </p:txBody>
      </p:sp>
      <p:sp>
        <p:nvSpPr>
          <p:cNvPr id="9" name="Object 8"/>
          <p:cNvSpPr/>
          <p:nvPr/>
        </p:nvSpPr>
        <p:spPr>
          <a:xfrm>
            <a:off x="6742653" y="4438947"/>
            <a:ext cx="4369603" cy="267266"/>
          </a:xfrm>
          <a:prstGeom prst="rect">
            <a:avLst/>
          </a:prstGeom>
          <a:noFill/>
        </p:spPr>
        <p:txBody>
          <a:bodyPr wrap="square" lIns="0" tIns="0" rIns="0" bIns="0" rtlCol="0" anchor="t"/>
          <a:lstStyle/>
          <a:p>
            <a:pPr marL="0" marR="0" lvl="0" indent="0" algn="ctr" defTabSz="914400" rtl="0" eaLnBrk="1" fontAlgn="auto" latinLnBrk="0" hangingPunct="1">
              <a:lnSpc>
                <a:spcPts val="2107"/>
              </a:lnSpc>
              <a:spcBef>
                <a:spcPts val="1227"/>
              </a:spcBef>
              <a:spcAft>
                <a:spcPts val="0"/>
              </a:spcAft>
              <a:buClrTx/>
              <a:buSzTx/>
              <a:buFontTx/>
              <a:buNone/>
              <a:tabLst/>
              <a:defRPr/>
            </a:pPr>
            <a:r>
              <a:rPr kumimoji="0" lang="en-US" sz="1584" b="0" i="0" u="none" strike="noStrike" kern="0" cap="none" spc="47"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Gig economy platforms hurt gig workers</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10" name="Object 9"/>
          <p:cNvSpPr/>
          <p:nvPr/>
        </p:nvSpPr>
        <p:spPr>
          <a:xfrm>
            <a:off x="6963415" y="4862301"/>
            <a:ext cx="3928080" cy="267266"/>
          </a:xfrm>
          <a:prstGeom prst="rect">
            <a:avLst/>
          </a:prstGeom>
          <a:noFill/>
        </p:spPr>
        <p:txBody>
          <a:bodyPr wrap="square" lIns="0" tIns="0" rIns="0" bIns="0" rtlCol="0" anchor="t"/>
          <a:lstStyle/>
          <a:p>
            <a:pPr marL="0" marR="0" lvl="0" indent="0" algn="ctr" defTabSz="914400" rtl="0" eaLnBrk="1" fontAlgn="auto" latinLnBrk="0" hangingPunct="1">
              <a:lnSpc>
                <a:spcPts val="2107"/>
              </a:lnSpc>
              <a:spcBef>
                <a:spcPts val="1227"/>
              </a:spcBef>
              <a:spcAft>
                <a:spcPts val="0"/>
              </a:spcAft>
              <a:buClrTx/>
              <a:buSzTx/>
              <a:buFontTx/>
              <a:buNone/>
              <a:tabLst/>
              <a:defRPr/>
            </a:pPr>
            <a:r>
              <a:rPr kumimoji="0" lang="en-US" sz="1550" b="0" i="0" u="none" strike="noStrike" kern="0" cap="none" spc="47" normalizeH="0" baseline="0" noProof="0">
                <a:ln>
                  <a:noFill/>
                </a:ln>
                <a:solidFill>
                  <a:srgbClr val="181818">
                    <a:alpha val="80000"/>
                  </a:srgbClr>
                </a:solidFill>
                <a:effectLst/>
                <a:uLnTx/>
                <a:uFillTx/>
                <a:latin typeface="Montserrat"/>
                <a:ea typeface="Jost*"/>
                <a:cs typeface="Jost*" pitchFamily="34" charset="-120"/>
              </a:rPr>
              <a:t>Netflix hurts film studios</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11" name="Object 10"/>
          <p:cNvPicPr>
            <a:picLocks noChangeAspect="1"/>
          </p:cNvPicPr>
          <p:nvPr/>
        </p:nvPicPr>
        <p:blipFill>
          <a:blip r:embed="rId3">
            <a:grayscl/>
          </a:blip>
          <a:srcRect/>
          <a:stretch/>
        </p:blipFill>
        <p:spPr>
          <a:xfrm>
            <a:off x="969432" y="1523619"/>
            <a:ext cx="3809047" cy="3809047"/>
          </a:xfrm>
          <a:prstGeom prst="rect">
            <a:avLst/>
          </a:prstGeom>
        </p:spPr>
      </p:pic>
      <p:sp>
        <p:nvSpPr>
          <p:cNvPr id="12" name="Object 11"/>
          <p:cNvSpPr/>
          <p:nvPr/>
        </p:nvSpPr>
        <p:spPr>
          <a:xfrm>
            <a:off x="1071522" y="5139305"/>
            <a:ext cx="3619971" cy="259082"/>
          </a:xfrm>
          <a:prstGeom prst="rect">
            <a:avLst/>
          </a:prstGeom>
          <a:noFill/>
        </p:spPr>
        <p:txBody>
          <a:bodyPr wrap="square" lIns="0" tIns="0" rIns="0" bIns="0" rtlCol="0" anchor="t"/>
          <a:lstStyle/>
          <a:p>
            <a:pPr marL="0" marR="0" lvl="0" indent="0" algn="ctr" defTabSz="914400" rtl="0" eaLnBrk="1" fontAlgn="auto" latinLnBrk="0" hangingPunct="1">
              <a:lnSpc>
                <a:spcPts val="2042"/>
              </a:lnSpc>
              <a:spcBef>
                <a:spcPts val="0"/>
              </a:spcBef>
              <a:spcAft>
                <a:spcPts val="0"/>
              </a:spcAft>
              <a:buClrTx/>
              <a:buSzTx/>
              <a:buFontTx/>
              <a:buNone/>
              <a:tabLst/>
              <a:defRPr/>
            </a:pPr>
            <a:r>
              <a:rPr kumimoji="0" lang="en-US" sz="1620" b="0" i="0" u="none" strike="noStrike" kern="0" cap="none" spc="49"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PORTER'S FIVE FORCES</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13" name="Object 12"/>
          <p:cNvSpPr/>
          <p:nvPr/>
        </p:nvSpPr>
        <p:spPr>
          <a:xfrm>
            <a:off x="1071522" y="5477619"/>
            <a:ext cx="3619971" cy="445629"/>
          </a:xfrm>
          <a:prstGeom prst="rect">
            <a:avLst/>
          </a:prstGeom>
          <a:noFill/>
        </p:spPr>
        <p:txBody>
          <a:bodyPr wrap="square" lIns="0" tIns="0" rIns="0" bIns="0" rtlCol="0" anchor="t"/>
          <a:lstStyle/>
          <a:p>
            <a:pPr marL="0" marR="0" lvl="0" indent="0" algn="ctr" defTabSz="914400" rtl="0" eaLnBrk="1" fontAlgn="auto" latinLnBrk="0" hangingPunct="1">
              <a:lnSpc>
                <a:spcPts val="1756"/>
              </a:lnSpc>
              <a:spcBef>
                <a:spcPts val="612"/>
              </a:spcBef>
              <a:spcAft>
                <a:spcPts val="0"/>
              </a:spcAft>
              <a:buClrTx/>
              <a:buSzTx/>
              <a:buFontTx/>
              <a:buNone/>
              <a:tabLst/>
              <a:defRPr/>
            </a:pPr>
            <a:r>
              <a:rPr kumimoji="0" lang="en-US" sz="1320" b="0" i="0" u="none" strike="noStrike" kern="0" cap="none" spc="40"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Channel dependency risk is a form of bargaining power of carriers (payers).</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14" name="Object 13"/>
          <p:cNvPicPr>
            <a:picLocks noChangeAspect="1"/>
          </p:cNvPicPr>
          <p:nvPr/>
        </p:nvPicPr>
        <p:blipFill>
          <a:blip r:embed="rId4" cstate="hqprint">
            <a:extLst>
              <a:ext uri="{28A0092B-C50C-407E-A947-70E740481C1C}">
                <a14:useLocalDpi xmlns:a14="http://schemas.microsoft.com/office/drawing/2010/main"/>
              </a:ext>
            </a:extLst>
          </a:blip>
          <a:srcRect l="-5556" t="-5555" r="-5556" b="-5556"/>
          <a:stretch/>
        </p:blipFill>
        <p:spPr>
          <a:xfrm>
            <a:off x="62879" y="6229875"/>
            <a:ext cx="2559680" cy="430068"/>
          </a:xfrm>
          <a:prstGeom prst="rect">
            <a:avLst/>
          </a:prstGeom>
        </p:spPr>
      </p:pic>
      <p:sp>
        <p:nvSpPr>
          <p:cNvPr id="15" name="Slide Number Placeholder 4">
            <a:extLst>
              <a:ext uri="{FF2B5EF4-FFF2-40B4-BE49-F238E27FC236}">
                <a16:creationId xmlns:a16="http://schemas.microsoft.com/office/drawing/2014/main" id="{958D267D-F0BB-F0E6-E4CD-83C789DDC041}"/>
              </a:ext>
            </a:extLst>
          </p:cNvPr>
          <p:cNvSpPr txBox="1">
            <a:spLocks/>
          </p:cNvSpPr>
          <p:nvPr/>
        </p:nvSpPr>
        <p:spPr>
          <a:xfrm>
            <a:off x="9237951" y="6453272"/>
            <a:ext cx="2743200" cy="25038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ontserrat"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54F96"/>
        </a:solidFill>
        <a:effectLst/>
      </p:bgPr>
    </p:bg>
    <p:spTree>
      <p:nvGrpSpPr>
        <p:cNvPr id="1" name=""/>
        <p:cNvGrpSpPr/>
        <p:nvPr/>
      </p:nvGrpSpPr>
      <p:grpSpPr>
        <a:xfrm>
          <a:off x="0" y="0"/>
          <a:ext cx="0" cy="0"/>
          <a:chOff x="0" y="0"/>
          <a:chExt cx="0" cy="0"/>
        </a:xfrm>
      </p:grpSpPr>
      <p:sp>
        <p:nvSpPr>
          <p:cNvPr id="2" name="Object 1"/>
          <p:cNvSpPr/>
          <p:nvPr/>
        </p:nvSpPr>
        <p:spPr>
          <a:xfrm>
            <a:off x="53853" y="440049"/>
            <a:ext cx="9290114" cy="213143"/>
          </a:xfrm>
          <a:prstGeom prst="rect">
            <a:avLst/>
          </a:prstGeom>
          <a:noFill/>
        </p:spPr>
        <p:txBody>
          <a:bodyPr wrap="square" lIns="0" tIns="0" rIns="0" bIns="0" rtlCol="0" anchor="t"/>
          <a:lstStyle/>
          <a:p>
            <a:pPr marL="0" marR="0" lvl="0" indent="0" algn="ctr" defTabSz="914400" rtl="0" eaLnBrk="1" fontAlgn="auto" latinLnBrk="0" hangingPunct="1">
              <a:lnSpc>
                <a:spcPts val="1680"/>
              </a:lnSpc>
              <a:spcBef>
                <a:spcPts val="0"/>
              </a:spcBef>
              <a:spcAft>
                <a:spcPts val="0"/>
              </a:spcAft>
              <a:buClrTx/>
              <a:buSzTx/>
              <a:buFontTx/>
              <a:buNone/>
              <a:tabLst/>
              <a:defRPr/>
            </a:pPr>
            <a:r>
              <a:rPr kumimoji="0" lang="en-US" sz="1500" b="0" i="0" u="none" strike="noStrike" kern="0" cap="none" spc="45" normalizeH="0" baseline="0" noProof="0">
                <a:ln>
                  <a:noFill/>
                </a:ln>
                <a:solidFill>
                  <a:srgbClr val="FFFFFF"/>
                </a:solidFill>
                <a:effectLst/>
                <a:uLnTx/>
                <a:uFillTx/>
                <a:latin typeface="Montserrat" panose="00000500000000000000" pitchFamily="2" charset="0"/>
                <a:ea typeface="Jost*" pitchFamily="34" charset="-122"/>
                <a:cs typeface="Jost*" pitchFamily="34" charset="-120"/>
              </a:rPr>
              <a:t>REBUILDING A DIRECT GO-TO-MARKET STRATEGY</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Object 2"/>
          <p:cNvSpPr/>
          <p:nvPr/>
        </p:nvSpPr>
        <p:spPr>
          <a:xfrm>
            <a:off x="1470622" y="822628"/>
            <a:ext cx="6456577" cy="1279416"/>
          </a:xfrm>
          <a:prstGeom prst="rect">
            <a:avLst/>
          </a:prstGeom>
          <a:noFill/>
        </p:spPr>
        <p:txBody>
          <a:bodyPr wrap="square" lIns="0" tIns="0" rIns="0" bIns="0" rtlCol="0" anchor="t"/>
          <a:lstStyle/>
          <a:p>
            <a:pPr marL="0" marR="0" lvl="0" indent="0" algn="ctr" defTabSz="914400" rtl="0" eaLnBrk="1" fontAlgn="auto" latinLnBrk="0" hangingPunct="1">
              <a:lnSpc>
                <a:spcPts val="3360"/>
              </a:lnSpc>
              <a:spcBef>
                <a:spcPts val="1308"/>
              </a:spcBef>
              <a:spcAft>
                <a:spcPts val="0"/>
              </a:spcAft>
              <a:buClrTx/>
              <a:buSzTx/>
              <a:buFontTx/>
              <a:buNone/>
              <a:tabLst/>
              <a:defRPr/>
            </a:pPr>
            <a:r>
              <a:rPr kumimoji="0" lang="en-US" sz="3000" b="0" i="0" u="none" strike="noStrike" kern="0" cap="none" spc="90" normalizeH="0" baseline="0" noProof="0">
                <a:ln>
                  <a:noFill/>
                </a:ln>
                <a:solidFill>
                  <a:srgbClr val="FFFFFF"/>
                </a:solidFill>
                <a:effectLst/>
                <a:uLnTx/>
                <a:uFillTx/>
                <a:latin typeface="Montserrat" panose="00000500000000000000" pitchFamily="2" charset="0"/>
                <a:ea typeface="Jost*" pitchFamily="34" charset="-122"/>
                <a:cs typeface="Jost*" pitchFamily="34" charset="-120"/>
              </a:rPr>
              <a:t>10 HEALTH SYSTEMS IN 10 WEEKS EXPLORE DTE PLAN MODELING  </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9397828" y="0"/>
            <a:ext cx="2800646" cy="6865808"/>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5" name="Object 4"/>
          <p:cNvPicPr>
            <a:picLocks noChangeAspect="1"/>
          </p:cNvPicPr>
          <p:nvPr/>
        </p:nvPicPr>
        <p:blipFill>
          <a:blip r:embed="rId3" cstate="hqprint">
            <a:extLst>
              <a:ext uri="{28A0092B-C50C-407E-A947-70E740481C1C}">
                <a14:useLocalDpi xmlns:a14="http://schemas.microsoft.com/office/drawing/2010/main"/>
              </a:ext>
            </a:extLst>
          </a:blip>
          <a:srcRect/>
          <a:stretch/>
        </p:blipFill>
        <p:spPr>
          <a:xfrm>
            <a:off x="9397828" y="0"/>
            <a:ext cx="2800646" cy="6865808"/>
          </a:xfrm>
          <a:prstGeom prst="rect">
            <a:avLst/>
          </a:prstGeom>
        </p:spPr>
      </p:pic>
      <p:sp>
        <p:nvSpPr>
          <p:cNvPr id="6" name="Object 5"/>
          <p:cNvSpPr/>
          <p:nvPr/>
        </p:nvSpPr>
        <p:spPr>
          <a:xfrm>
            <a:off x="1888925" y="2271480"/>
            <a:ext cx="6181816" cy="3638496"/>
          </a:xfrm>
          <a:prstGeom prst="rect">
            <a:avLst/>
          </a:prstGeom>
          <a:noFill/>
        </p:spPr>
        <p:txBody>
          <a:bodyPr wrap="square" lIns="0" tIns="0" rIns="0" bIns="0" rtlCol="0" anchor="t"/>
          <a:lstStyle/>
          <a:p>
            <a:pPr marL="242900" marR="0" lvl="0" indent="-242900" algn="l" defTabSz="914400" rtl="0" eaLnBrk="1" fontAlgn="auto" latinLnBrk="0" hangingPunct="1">
              <a:lnSpc>
                <a:spcPts val="1684"/>
              </a:lnSpc>
              <a:spcBef>
                <a:spcPts val="0"/>
              </a:spcBef>
              <a:spcAft>
                <a:spcPts val="0"/>
              </a:spcAft>
              <a:buClrTx/>
              <a:buSzPct val="100000"/>
              <a:buFont typeface="+mj-lt"/>
              <a:buAutoNum type="arabicPeriod"/>
              <a:tabLst/>
              <a:defRPr/>
            </a:pPr>
            <a:r>
              <a:rPr kumimoji="0" lang="en-US" sz="1337" b="0" i="0" u="none" strike="noStrike" kern="0" cap="none" spc="40" normalizeH="0" baseline="0" noProof="0">
                <a:ln>
                  <a:noFill/>
                </a:ln>
                <a:solidFill>
                  <a:srgbClr val="FFFFFF"/>
                </a:solidFill>
                <a:effectLst/>
                <a:uLnTx/>
                <a:uFillTx/>
                <a:latin typeface="Montserrat" panose="00000500000000000000" pitchFamily="2" charset="0"/>
                <a:ea typeface="Jost*" pitchFamily="34" charset="-122"/>
                <a:cs typeface="Jost*" pitchFamily="34" charset="-120"/>
              </a:rPr>
              <a:t>Five-Hospital System in Southwest</a:t>
            </a:r>
          </a:p>
          <a:p>
            <a:pPr marL="242900" marR="0" lvl="0" indent="-242900" algn="l" defTabSz="914400" rtl="0" eaLnBrk="1" fontAlgn="auto" latinLnBrk="0" hangingPunct="1">
              <a:lnSpc>
                <a:spcPts val="1684"/>
              </a:lnSpc>
              <a:spcBef>
                <a:spcPts val="1288"/>
              </a:spcBef>
              <a:spcAft>
                <a:spcPts val="0"/>
              </a:spcAft>
              <a:buClrTx/>
              <a:buSzPct val="100000"/>
              <a:buFont typeface="+mj-lt"/>
              <a:buAutoNum type="arabicPeriod"/>
              <a:tabLst/>
              <a:defRPr/>
            </a:pPr>
            <a:r>
              <a:rPr kumimoji="0" lang="en-US" sz="1337" b="0" i="0" u="none" strike="noStrike" kern="0" cap="none" spc="40" normalizeH="0" baseline="0" noProof="0">
                <a:ln>
                  <a:noFill/>
                </a:ln>
                <a:solidFill>
                  <a:srgbClr val="FFFFFF"/>
                </a:solidFill>
                <a:effectLst/>
                <a:uLnTx/>
                <a:uFillTx/>
                <a:latin typeface="Montserrat" panose="00000500000000000000" pitchFamily="2" charset="0"/>
                <a:ea typeface="Jost*" pitchFamily="34" charset="-122"/>
                <a:cs typeface="Jost*" pitchFamily="34" charset="-120"/>
              </a:rPr>
              <a:t>2,500+ Bed NE System</a:t>
            </a:r>
          </a:p>
          <a:p>
            <a:pPr marL="242900" marR="0" lvl="0" indent="-242900" algn="l" defTabSz="914400" rtl="0" eaLnBrk="1" fontAlgn="auto" latinLnBrk="0" hangingPunct="1">
              <a:lnSpc>
                <a:spcPts val="1684"/>
              </a:lnSpc>
              <a:spcBef>
                <a:spcPts val="1288"/>
              </a:spcBef>
              <a:spcAft>
                <a:spcPts val="0"/>
              </a:spcAft>
              <a:buClrTx/>
              <a:buSzPct val="100000"/>
              <a:buFont typeface="+mj-lt"/>
              <a:buAutoNum type="arabicPeriod"/>
              <a:tabLst/>
              <a:defRPr/>
            </a:pPr>
            <a:r>
              <a:rPr kumimoji="0" lang="en-US" sz="1337" b="0" i="0" u="none" strike="noStrike" kern="0" cap="none" spc="40" normalizeH="0" baseline="0" noProof="0">
                <a:ln>
                  <a:noFill/>
                </a:ln>
                <a:solidFill>
                  <a:srgbClr val="FFFFFF"/>
                </a:solidFill>
                <a:effectLst/>
                <a:uLnTx/>
                <a:uFillTx/>
                <a:latin typeface="Montserrat" panose="00000500000000000000" pitchFamily="2" charset="0"/>
                <a:ea typeface="Jost*" pitchFamily="34" charset="-122"/>
                <a:cs typeface="Jost*" pitchFamily="34" charset="-120"/>
              </a:rPr>
              <a:t>State Hospital Association (Led By Largest Health System)</a:t>
            </a:r>
          </a:p>
          <a:p>
            <a:pPr marL="242900" marR="0" lvl="0" indent="-242900" algn="l" defTabSz="914400" rtl="0" eaLnBrk="1" fontAlgn="auto" latinLnBrk="0" hangingPunct="1">
              <a:lnSpc>
                <a:spcPts val="1684"/>
              </a:lnSpc>
              <a:spcBef>
                <a:spcPts val="1288"/>
              </a:spcBef>
              <a:spcAft>
                <a:spcPts val="0"/>
              </a:spcAft>
              <a:buClrTx/>
              <a:buSzPct val="100000"/>
              <a:buFont typeface="+mj-lt"/>
              <a:buAutoNum type="arabicPeriod"/>
              <a:tabLst/>
              <a:defRPr/>
            </a:pPr>
            <a:r>
              <a:rPr kumimoji="0" lang="en-US" sz="1337" b="0" i="0" u="none" strike="noStrike" kern="0" cap="none" spc="40" normalizeH="0" baseline="0" noProof="0">
                <a:ln>
                  <a:noFill/>
                </a:ln>
                <a:solidFill>
                  <a:srgbClr val="FFFFFF"/>
                </a:solidFill>
                <a:effectLst/>
                <a:uLnTx/>
                <a:uFillTx/>
                <a:latin typeface="Montserrat" panose="00000500000000000000" pitchFamily="2" charset="0"/>
                <a:ea typeface="Jost*" pitchFamily="34" charset="-122"/>
                <a:cs typeface="Jost*" pitchFamily="34" charset="-120"/>
              </a:rPr>
              <a:t>Ten-Hospital Western Health System</a:t>
            </a:r>
          </a:p>
          <a:p>
            <a:pPr marL="242900" marR="0" lvl="0" indent="-242900" algn="l" defTabSz="914400" rtl="0" eaLnBrk="1" fontAlgn="auto" latinLnBrk="0" hangingPunct="1">
              <a:lnSpc>
                <a:spcPts val="1684"/>
              </a:lnSpc>
              <a:spcBef>
                <a:spcPts val="1288"/>
              </a:spcBef>
              <a:spcAft>
                <a:spcPts val="0"/>
              </a:spcAft>
              <a:buClrTx/>
              <a:buSzPct val="100000"/>
              <a:buFont typeface="+mj-lt"/>
              <a:buAutoNum type="arabicPeriod"/>
              <a:tabLst/>
              <a:defRPr/>
            </a:pPr>
            <a:r>
              <a:rPr kumimoji="0" lang="en-US" sz="1337" b="0" i="0" u="none" strike="noStrike" kern="0" cap="none" spc="40" normalizeH="0" baseline="0" noProof="0">
                <a:ln>
                  <a:noFill/>
                </a:ln>
                <a:solidFill>
                  <a:srgbClr val="FFFFFF"/>
                </a:solidFill>
                <a:effectLst/>
                <a:uLnTx/>
                <a:uFillTx/>
                <a:latin typeface="Montserrat" panose="00000500000000000000" pitchFamily="2" charset="0"/>
                <a:ea typeface="Jost*" pitchFamily="34" charset="-122"/>
                <a:cs typeface="Jost*" pitchFamily="34" charset="-120"/>
              </a:rPr>
              <a:t>Four-Hospital Midwest Health System</a:t>
            </a:r>
          </a:p>
          <a:p>
            <a:pPr marL="242900" marR="0" lvl="0" indent="-242900" algn="l" defTabSz="914400" rtl="0" eaLnBrk="1" fontAlgn="auto" latinLnBrk="0" hangingPunct="1">
              <a:lnSpc>
                <a:spcPts val="1684"/>
              </a:lnSpc>
              <a:spcBef>
                <a:spcPts val="1288"/>
              </a:spcBef>
              <a:spcAft>
                <a:spcPts val="0"/>
              </a:spcAft>
              <a:buClrTx/>
              <a:buSzPct val="100000"/>
              <a:buFont typeface="+mj-lt"/>
              <a:buAutoNum type="arabicPeriod"/>
              <a:tabLst/>
              <a:defRPr/>
            </a:pPr>
            <a:r>
              <a:rPr kumimoji="0" lang="en-US" sz="1337" b="0" i="0" u="none" strike="noStrike" kern="0" cap="none" spc="40" normalizeH="0" baseline="0" noProof="0">
                <a:ln>
                  <a:noFill/>
                </a:ln>
                <a:solidFill>
                  <a:srgbClr val="FFFFFF"/>
                </a:solidFill>
                <a:effectLst/>
                <a:uLnTx/>
                <a:uFillTx/>
                <a:latin typeface="Montserrat" panose="00000500000000000000" pitchFamily="2" charset="0"/>
                <a:ea typeface="Jost*" pitchFamily="34" charset="-122"/>
                <a:cs typeface="Jost*" pitchFamily="34" charset="-120"/>
              </a:rPr>
              <a:t>Leading Academic Health System</a:t>
            </a:r>
          </a:p>
          <a:p>
            <a:pPr marL="242900" marR="0" lvl="0" indent="-242900" algn="l" defTabSz="914400" rtl="0" eaLnBrk="1" fontAlgn="auto" latinLnBrk="0" hangingPunct="1">
              <a:lnSpc>
                <a:spcPts val="1684"/>
              </a:lnSpc>
              <a:spcBef>
                <a:spcPts val="1288"/>
              </a:spcBef>
              <a:spcAft>
                <a:spcPts val="0"/>
              </a:spcAft>
              <a:buClrTx/>
              <a:buSzPct val="100000"/>
              <a:buFont typeface="+mj-lt"/>
              <a:buAutoNum type="arabicPeriod"/>
              <a:tabLst/>
              <a:defRPr/>
            </a:pPr>
            <a:r>
              <a:rPr kumimoji="0" lang="en-US" sz="1337" b="0" i="0" u="none" strike="noStrike" kern="0" cap="none" spc="40" normalizeH="0" baseline="0" noProof="0">
                <a:ln>
                  <a:noFill/>
                </a:ln>
                <a:solidFill>
                  <a:srgbClr val="FFFFFF"/>
                </a:solidFill>
                <a:effectLst/>
                <a:uLnTx/>
                <a:uFillTx/>
                <a:latin typeface="Montserrat" panose="00000500000000000000" pitchFamily="2" charset="0"/>
                <a:ea typeface="Jost*" pitchFamily="34" charset="-122"/>
                <a:cs typeface="Jost*" pitchFamily="34" charset="-120"/>
              </a:rPr>
              <a:t>Four-Hospital Eastern Community Health System</a:t>
            </a:r>
          </a:p>
          <a:p>
            <a:pPr marL="242900" marR="0" lvl="0" indent="-242900" algn="l" defTabSz="914400" rtl="0" eaLnBrk="1" fontAlgn="auto" latinLnBrk="0" hangingPunct="1">
              <a:lnSpc>
                <a:spcPts val="1684"/>
              </a:lnSpc>
              <a:spcBef>
                <a:spcPts val="1288"/>
              </a:spcBef>
              <a:spcAft>
                <a:spcPts val="0"/>
              </a:spcAft>
              <a:buClrTx/>
              <a:buSzPct val="100000"/>
              <a:buFont typeface="+mj-lt"/>
              <a:buAutoNum type="arabicPeriod"/>
              <a:tabLst/>
              <a:defRPr/>
            </a:pPr>
            <a:r>
              <a:rPr kumimoji="0" lang="en-US" sz="1337" b="0" i="0" u="none" strike="noStrike" kern="0" cap="none" spc="40" normalizeH="0" baseline="0" noProof="0">
                <a:ln>
                  <a:noFill/>
                </a:ln>
                <a:solidFill>
                  <a:srgbClr val="FFFFFF"/>
                </a:solidFill>
                <a:effectLst/>
                <a:uLnTx/>
                <a:uFillTx/>
                <a:latin typeface="Montserrat" panose="00000500000000000000" pitchFamily="2" charset="0"/>
                <a:ea typeface="Jost*" pitchFamily="34" charset="-122"/>
                <a:cs typeface="Jost*" pitchFamily="34" charset="-120"/>
              </a:rPr>
              <a:t>Competitor Health System by the Above Health System</a:t>
            </a:r>
          </a:p>
          <a:p>
            <a:pPr marL="242900" marR="0" lvl="0" indent="-242900" algn="l" defTabSz="914400" rtl="0" eaLnBrk="1" fontAlgn="auto" latinLnBrk="0" hangingPunct="1">
              <a:lnSpc>
                <a:spcPts val="1684"/>
              </a:lnSpc>
              <a:spcBef>
                <a:spcPts val="1288"/>
              </a:spcBef>
              <a:spcAft>
                <a:spcPts val="0"/>
              </a:spcAft>
              <a:buClrTx/>
              <a:buSzPct val="100000"/>
              <a:buFont typeface="+mj-lt"/>
              <a:buAutoNum type="arabicPeriod"/>
              <a:tabLst/>
              <a:defRPr/>
            </a:pPr>
            <a:r>
              <a:rPr kumimoji="0" lang="en-US" sz="1337" b="0" i="0" u="none" strike="noStrike" kern="0" cap="none" spc="40" normalizeH="0" baseline="0" noProof="0">
                <a:ln>
                  <a:noFill/>
                </a:ln>
                <a:solidFill>
                  <a:srgbClr val="FFFFFF"/>
                </a:solidFill>
                <a:effectLst/>
                <a:uLnTx/>
                <a:uFillTx/>
                <a:latin typeface="Montserrat" panose="00000500000000000000" pitchFamily="2" charset="0"/>
                <a:ea typeface="Jost*" pitchFamily="34" charset="-122"/>
                <a:cs typeface="Jost*" pitchFamily="34" charset="-120"/>
              </a:rPr>
              <a:t>1,500+ Bed Health System</a:t>
            </a:r>
          </a:p>
          <a:p>
            <a:pPr marL="242900" marR="0" lvl="0" indent="-242900" algn="l" defTabSz="914400" rtl="0" eaLnBrk="1" fontAlgn="auto" latinLnBrk="0" hangingPunct="1">
              <a:lnSpc>
                <a:spcPts val="1684"/>
              </a:lnSpc>
              <a:spcBef>
                <a:spcPts val="1288"/>
              </a:spcBef>
              <a:spcAft>
                <a:spcPts val="0"/>
              </a:spcAft>
              <a:buClrTx/>
              <a:buSzPct val="100000"/>
              <a:buFont typeface="+mj-lt"/>
              <a:buAutoNum type="arabicPeriod"/>
              <a:tabLst/>
              <a:defRPr/>
            </a:pPr>
            <a:r>
              <a:rPr kumimoji="0" lang="en-US" sz="1337" b="0" i="0" u="none" strike="noStrike" kern="0" cap="none" spc="40" normalizeH="0" baseline="0" noProof="0">
                <a:ln>
                  <a:noFill/>
                </a:ln>
                <a:solidFill>
                  <a:srgbClr val="FFFFFF"/>
                </a:solidFill>
                <a:effectLst/>
                <a:uLnTx/>
                <a:uFillTx/>
                <a:latin typeface="Montserrat" panose="00000500000000000000" pitchFamily="2" charset="0"/>
                <a:ea typeface="Jost*" pitchFamily="34" charset="-122"/>
                <a:cs typeface="Jost*" pitchFamily="34" charset="-120"/>
              </a:rPr>
              <a:t>Leading Academic Hospital in the Southeast</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7" name="Object 6"/>
          <p:cNvPicPr>
            <a:picLocks noChangeAspect="1"/>
          </p:cNvPicPr>
          <p:nvPr/>
        </p:nvPicPr>
        <p:blipFill>
          <a:blip r:embed="rId4" cstate="hqprint">
            <a:extLst>
              <a:ext uri="{28A0092B-C50C-407E-A947-70E740481C1C}">
                <a14:useLocalDpi xmlns:a14="http://schemas.microsoft.com/office/drawing/2010/main"/>
              </a:ext>
            </a:extLst>
          </a:blip>
          <a:srcRect l="-5556" t="-5555" r="-5556" b="-5555"/>
          <a:stretch/>
        </p:blipFill>
        <p:spPr>
          <a:xfrm>
            <a:off x="9669297" y="6083974"/>
            <a:ext cx="2392082" cy="401908"/>
          </a:xfrm>
          <a:prstGeom prst="rect">
            <a:avLst/>
          </a:prstGeom>
        </p:spPr>
      </p:pic>
      <p:sp>
        <p:nvSpPr>
          <p:cNvPr id="8" name="Slide Number Placeholder 4">
            <a:extLst>
              <a:ext uri="{FF2B5EF4-FFF2-40B4-BE49-F238E27FC236}">
                <a16:creationId xmlns:a16="http://schemas.microsoft.com/office/drawing/2014/main" id="{C4EB125D-156C-CCD7-1085-66071B329832}"/>
              </a:ext>
            </a:extLst>
          </p:cNvPr>
          <p:cNvSpPr txBox="1">
            <a:spLocks/>
          </p:cNvSpPr>
          <p:nvPr/>
        </p:nvSpPr>
        <p:spPr>
          <a:xfrm>
            <a:off x="494220" y="6429672"/>
            <a:ext cx="2743200" cy="25038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43908" y="818337"/>
            <a:ext cx="3397612" cy="3043929"/>
          </a:xfrm>
        </p:spPr>
        <p:txBody>
          <a:bodyPr>
            <a:noAutofit/>
          </a:bodyPr>
          <a:lstStyle/>
          <a:p>
            <a:pPr>
              <a:lnSpc>
                <a:spcPct val="100000"/>
              </a:lnSpc>
              <a:spcBef>
                <a:spcPts val="1800"/>
              </a:spcBef>
              <a:spcAft>
                <a:spcPts val="600"/>
              </a:spcAft>
            </a:pPr>
            <a:r>
              <a:rPr lang="en-US" sz="4000" dirty="0">
                <a:solidFill>
                  <a:srgbClr val="000B2E"/>
                </a:solidFill>
                <a:cs typeface="Arial" panose="020B0604020202020204" pitchFamily="34" charset="0"/>
              </a:rPr>
              <a:t>DIRECT-TO-EMPLOYER</a:t>
            </a:r>
            <a:br>
              <a:rPr lang="en-US" sz="4000" b="1" dirty="0">
                <a:solidFill>
                  <a:srgbClr val="000B2E"/>
                </a:solidFill>
                <a:cs typeface="Arial" panose="020B0604020202020204" pitchFamily="34" charset="0"/>
              </a:rPr>
            </a:br>
            <a:r>
              <a:rPr lang="en-US" sz="2800" dirty="0">
                <a:solidFill>
                  <a:srgbClr val="000B2E"/>
                </a:solidFill>
                <a:cs typeface="Arial" panose="020B0604020202020204" pitchFamily="34" charset="0"/>
              </a:rPr>
              <a:t>(DTE)</a:t>
            </a:r>
            <a:br>
              <a:rPr lang="en-US" sz="1600" dirty="0">
                <a:solidFill>
                  <a:srgbClr val="000B2E"/>
                </a:solidFill>
                <a:cs typeface="Arial" panose="020B0604020202020204" pitchFamily="34" charset="0"/>
              </a:rPr>
            </a:br>
            <a:br>
              <a:rPr lang="en-US" sz="1600" b="1" dirty="0">
                <a:solidFill>
                  <a:srgbClr val="000B2E"/>
                </a:solidFill>
                <a:cs typeface="Arial" panose="020B0604020202020204" pitchFamily="34" charset="0"/>
              </a:rPr>
            </a:b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461078" y="1468132"/>
            <a:ext cx="6697847" cy="4660901"/>
          </a:xfrm>
        </p:spPr>
        <p:txBody>
          <a:bodyPr>
            <a:normAutofit fontScale="92500"/>
          </a:bodyPr>
          <a:lstStyle/>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Pick the Name of the Health Plan</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Determine the Fees Charged</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Practice the Medicine </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Receive the Profits  </a:t>
            </a:r>
          </a:p>
          <a:p>
            <a:pPr marL="0" indent="0">
              <a:lnSpc>
                <a:spcPct val="150000"/>
              </a:lnSpc>
              <a:spcAft>
                <a:spcPts val="1200"/>
              </a:spcAft>
              <a:buNone/>
            </a:pPr>
            <a:r>
              <a:rPr lang="en-US" sz="3000" b="1" dirty="0">
                <a:solidFill>
                  <a:srgbClr val="59CAE8"/>
                </a:solidFill>
                <a:latin typeface="Montserrat" panose="00000500000000000000" pitchFamily="2" charset="0"/>
              </a:rPr>
              <a:t>WE</a:t>
            </a:r>
            <a:r>
              <a:rPr lang="en-US" dirty="0">
                <a:solidFill>
                  <a:srgbClr val="9900CC"/>
                </a:solidFill>
              </a:rPr>
              <a:t> </a:t>
            </a:r>
            <a:r>
              <a:rPr lang="en-US"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7</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grpSp>
        <p:nvGrpSpPr>
          <p:cNvPr id="7" name="Group 41">
            <a:extLst>
              <a:ext uri="{FF2B5EF4-FFF2-40B4-BE49-F238E27FC236}">
                <a16:creationId xmlns:a16="http://schemas.microsoft.com/office/drawing/2014/main" id="{C3A11C0D-6225-4F5F-9034-762253C251A2}"/>
              </a:ext>
            </a:extLst>
          </p:cNvPr>
          <p:cNvGrpSpPr/>
          <p:nvPr/>
        </p:nvGrpSpPr>
        <p:grpSpPr>
          <a:xfrm>
            <a:off x="4632939"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sp>
        <p:nvSpPr>
          <p:cNvPr id="13" name="TextBox 14">
            <a:extLst>
              <a:ext uri="{FF2B5EF4-FFF2-40B4-BE49-F238E27FC236}">
                <a16:creationId xmlns:a16="http://schemas.microsoft.com/office/drawing/2014/main" id="{B8E36735-A0E0-6123-117C-3DE9AA3B9518}"/>
              </a:ext>
            </a:extLst>
          </p:cNvPr>
          <p:cNvSpPr txBox="1"/>
          <p:nvPr/>
        </p:nvSpPr>
        <p:spPr>
          <a:xfrm>
            <a:off x="1148436" y="3085346"/>
            <a:ext cx="2478684" cy="1477328"/>
          </a:xfrm>
          <a:prstGeom prst="rect">
            <a:avLst/>
          </a:prstGeom>
          <a:noFill/>
        </p:spPr>
        <p:txBody>
          <a:bodyPr wrap="square">
            <a:spAutoFit/>
          </a:bodyPr>
          <a:lstStyle/>
          <a:p>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Health Plan Focused on a Direct Relationship with Self-Funded Employers in </a:t>
            </a:r>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Market</a:t>
            </a:r>
            <a:endParaRPr lang="en-US" dirty="0"/>
          </a:p>
        </p:txBody>
      </p:sp>
      <p:pic>
        <p:nvPicPr>
          <p:cNvPr id="14" name="Content Placeholder 13"/>
          <p:cNvPicPr>
            <a:picLocks noGrp="1"/>
          </p:cNvPicPr>
          <p:nvPr>
            <p:ph/>
          </p:nvPr>
        </p:nvPicPr>
        <p:blipFill>
          <a:blip r:embed="rId3" cstate="print"/>
          <a:stretch>
            <a:fillRect/>
          </a:stretch>
        </p:blipFill>
        <p:spPr>
          <a:xfrm>
            <a:off x="8810001" y="340347"/>
            <a:ext cx="2671763" cy="777240"/>
          </a:xfrm>
          <a:prstGeom prst="rect">
            <a:avLst/>
          </a:prstGeom>
        </p:spPr>
      </p:pic>
    </p:spTree>
    <p:extLst>
      <p:ext uri="{BB962C8B-B14F-4D97-AF65-F5344CB8AC3E}">
        <p14:creationId xmlns:p14="http://schemas.microsoft.com/office/powerpoint/2010/main" val="33067487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ESA - Do business with ESA">
            <a:extLst>
              <a:ext uri="{FF2B5EF4-FFF2-40B4-BE49-F238E27FC236}">
                <a16:creationId xmlns:a16="http://schemas.microsoft.com/office/drawing/2014/main" id="{D7347B8B-C5AE-4C49-8B43-951D5F7A55F1}"/>
              </a:ext>
            </a:extLst>
          </p:cNvPr>
          <p:cNvPicPr>
            <a:picLocks noChangeAspect="1" noChangeArrowheads="1"/>
          </p:cNvPicPr>
          <p:nvPr/>
        </p:nvPicPr>
        <p:blipFill rotWithShape="1">
          <a:blip r:embed="rId2" cstate="screen">
            <a:alphaModFix amt="35000"/>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078" y="16890"/>
            <a:ext cx="12197593" cy="685517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7B4D036B-CF91-40EF-88B5-63D0260D0147}"/>
              </a:ext>
            </a:extLst>
          </p:cNvPr>
          <p:cNvSpPr>
            <a:spLocks noGrp="1"/>
          </p:cNvSpPr>
          <p:nvPr>
            <p:ph type="title"/>
          </p:nvPr>
        </p:nvSpPr>
        <p:spPr>
          <a:xfrm>
            <a:off x="343013" y="277193"/>
            <a:ext cx="11515725" cy="1325563"/>
          </a:xfrm>
        </p:spPr>
        <p:txBody>
          <a:bodyPr>
            <a:normAutofit/>
          </a:bodyPr>
          <a:lstStyle/>
          <a:p>
            <a:r>
              <a:rPr lang="en-US" sz="3200" b="0" dirty="0">
                <a:solidFill>
                  <a:schemeClr val="tx1">
                    <a:lumMod val="75000"/>
                    <a:lumOff val="25000"/>
                  </a:schemeClr>
                </a:solidFill>
              </a:rPr>
              <a:t>DTE KEYS TO SUCCESS FOR KETTERING HEALTH NETWORK</a:t>
            </a:r>
          </a:p>
        </p:txBody>
      </p:sp>
      <p:sp>
        <p:nvSpPr>
          <p:cNvPr id="4" name="Rectangle 24">
            <a:extLst>
              <a:ext uri="{FF2B5EF4-FFF2-40B4-BE49-F238E27FC236}">
                <a16:creationId xmlns:a16="http://schemas.microsoft.com/office/drawing/2014/main" id="{D24DE94D-6484-49BD-8A91-DBD5A9631194}"/>
              </a:ext>
            </a:extLst>
          </p:cNvPr>
          <p:cNvSpPr/>
          <p:nvPr/>
        </p:nvSpPr>
        <p:spPr>
          <a:xfrm>
            <a:off x="0" y="6209596"/>
            <a:ext cx="12192000" cy="662473"/>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Footer Placeholder 2">
            <a:extLst>
              <a:ext uri="{FF2B5EF4-FFF2-40B4-BE49-F238E27FC236}">
                <a16:creationId xmlns:a16="http://schemas.microsoft.com/office/drawing/2014/main" id="{8CA890C3-CCF4-4C60-8A15-4AAD2952EFC0}"/>
              </a:ext>
            </a:extLst>
          </p:cNvPr>
          <p:cNvSpPr>
            <a:spLocks noGrp="1"/>
          </p:cNvSpPr>
          <p:nvPr>
            <p:ph type="ftr" sz="quarter" idx="11"/>
          </p:nvPr>
        </p:nvSpPr>
        <p:spPr>
          <a:xfrm>
            <a:off x="3962400" y="6355207"/>
            <a:ext cx="4114800" cy="365125"/>
          </a:xfrm>
        </p:spPr>
        <p:txBody>
          <a:bodyPr/>
          <a:lstStyle/>
          <a:p>
            <a:r>
              <a:rPr lang="en-US" dirty="0"/>
              <a:t>Key Benefit Administrators</a:t>
            </a:r>
          </a:p>
        </p:txBody>
      </p:sp>
      <p:sp>
        <p:nvSpPr>
          <p:cNvPr id="6" name="Slide Number Placeholder 3">
            <a:extLst>
              <a:ext uri="{FF2B5EF4-FFF2-40B4-BE49-F238E27FC236}">
                <a16:creationId xmlns:a16="http://schemas.microsoft.com/office/drawing/2014/main" id="{D8E8B177-4E99-4D87-A5BC-C4903809E352}"/>
              </a:ext>
            </a:extLst>
          </p:cNvPr>
          <p:cNvSpPr>
            <a:spLocks noGrp="1"/>
          </p:cNvSpPr>
          <p:nvPr>
            <p:ph type="sldNum" sz="quarter" idx="12"/>
          </p:nvPr>
        </p:nvSpPr>
        <p:spPr>
          <a:xfrm>
            <a:off x="8466666" y="6355207"/>
            <a:ext cx="2743200" cy="365125"/>
          </a:xfrm>
        </p:spPr>
        <p:txBody>
          <a:bodyPr/>
          <a:lstStyle/>
          <a:p>
            <a:fld id="{3AFC719D-C4A7-4544-876E-D411D11AF6C9}" type="slidenum">
              <a:rPr lang="en-US" smtClean="0"/>
              <a:t>8</a:t>
            </a:fld>
            <a:endParaRPr lang="en-US" dirty="0"/>
          </a:p>
        </p:txBody>
      </p:sp>
      <p:sp>
        <p:nvSpPr>
          <p:cNvPr id="7" name="Rectangle 4">
            <a:extLst>
              <a:ext uri="{FF2B5EF4-FFF2-40B4-BE49-F238E27FC236}">
                <a16:creationId xmlns:a16="http://schemas.microsoft.com/office/drawing/2014/main" id="{08721A3A-5CA5-4F32-91E4-D6082004CA50}"/>
              </a:ext>
            </a:extLst>
          </p:cNvPr>
          <p:cNvSpPr/>
          <p:nvPr/>
        </p:nvSpPr>
        <p:spPr>
          <a:xfrm>
            <a:off x="4134811" y="649481"/>
            <a:ext cx="7495215" cy="5546047"/>
          </a:xfrm>
          <a:prstGeom prst="rect">
            <a:avLst/>
          </a:prstGeom>
        </p:spPr>
        <p:txBody>
          <a:bodyPr vert="horz" lIns="91440" tIns="45720" rIns="91440" bIns="45720" rtlCol="0" anchor="ctr">
            <a:noAutofit/>
          </a:bodyPr>
          <a:lstStyle/>
          <a:p>
            <a:pPr defTabSz="914411">
              <a:lnSpc>
                <a:spcPct val="90000"/>
              </a:lnSpc>
              <a:spcAft>
                <a:spcPts val="1200"/>
              </a:spcAft>
            </a:pPr>
            <a:endParaRPr lang="en-US" sz="2200" dirty="0">
              <a:latin typeface="Montserrat" panose="00000500000000000000" pitchFamily="2" charset="0"/>
            </a:endParaRPr>
          </a:p>
        </p:txBody>
      </p:sp>
      <p:sp>
        <p:nvSpPr>
          <p:cNvPr id="8" name="Rectangle 5">
            <a:extLst>
              <a:ext uri="{FF2B5EF4-FFF2-40B4-BE49-F238E27FC236}">
                <a16:creationId xmlns:a16="http://schemas.microsoft.com/office/drawing/2014/main" id="{869C0219-52DA-48A1-B7B2-E6F8C4FBD3C3}"/>
              </a:ext>
            </a:extLst>
          </p:cNvPr>
          <p:cNvSpPr/>
          <p:nvPr/>
        </p:nvSpPr>
        <p:spPr>
          <a:xfrm>
            <a:off x="740621" y="3205513"/>
            <a:ext cx="5352581" cy="1979003"/>
          </a:xfrm>
          <a:prstGeom prst="rect">
            <a:avLst/>
          </a:prstGeom>
        </p:spPr>
        <p:txBody>
          <a:bodyPr wrap="square">
            <a:spAutoFit/>
          </a:bodyPr>
          <a:lstStyle/>
          <a:p>
            <a:pPr algn="ctr" defTabSz="914411">
              <a:lnSpc>
                <a:spcPct val="90000"/>
              </a:lnSpc>
              <a:spcAft>
                <a:spcPts val="1200"/>
              </a:spcAft>
              <a:buClr>
                <a:schemeClr val="tx1"/>
              </a:buClr>
            </a:pPr>
            <a:r>
              <a:rPr lang="en-US" b="1" dirty="0">
                <a:latin typeface="Montserrat" panose="00000500000000000000" pitchFamily="2" charset="0"/>
              </a:rPr>
              <a:t>DTE Plan Sells</a:t>
            </a:r>
          </a:p>
          <a:p>
            <a:pPr algn="ctr" defTabSz="914411">
              <a:lnSpc>
                <a:spcPct val="90000"/>
              </a:lnSpc>
              <a:spcAft>
                <a:spcPts val="1200"/>
              </a:spcAft>
              <a:buClr>
                <a:schemeClr val="tx1"/>
              </a:buClr>
            </a:pPr>
            <a:r>
              <a:rPr lang="en-US" sz="1600" dirty="0">
                <a:latin typeface="Montserrat" panose="00000500000000000000" pitchFamily="2" charset="0"/>
              </a:rPr>
              <a:t>DTE plans only work when the network is built around a strong brand with good access and competitive costs. </a:t>
            </a:r>
          </a:p>
          <a:p>
            <a:pPr algn="ctr" defTabSz="914411">
              <a:lnSpc>
                <a:spcPct val="90000"/>
              </a:lnSpc>
              <a:spcAft>
                <a:spcPts val="1200"/>
              </a:spcAft>
              <a:buClr>
                <a:schemeClr val="tx1"/>
              </a:buClr>
            </a:pPr>
            <a:r>
              <a:rPr lang="en-US" sz="1600" dirty="0">
                <a:solidFill/>
                <a:latin typeface="Montserrat" panose="00000500000000000000" pitchFamily="2" charset="0"/>
              </a:rPr>
              <a:t>Kettering Health Network is the quality and access leader in this service area (see slide 8). Market size and brand quality are likelty to negatively impact plan growth</a:t>
            </a:r>
          </a:p>
        </p:txBody>
      </p:sp>
      <p:sp>
        <p:nvSpPr>
          <p:cNvPr id="9" name="Rectangle 6">
            <a:extLst>
              <a:ext uri="{FF2B5EF4-FFF2-40B4-BE49-F238E27FC236}">
                <a16:creationId xmlns:a16="http://schemas.microsoft.com/office/drawing/2014/main" id="{8FCD729A-32AD-4303-8BA6-9EBD13F93D1C}"/>
              </a:ext>
            </a:extLst>
          </p:cNvPr>
          <p:cNvSpPr/>
          <p:nvPr/>
        </p:nvSpPr>
        <p:spPr>
          <a:xfrm>
            <a:off x="6093202" y="3205513"/>
            <a:ext cx="5352581" cy="1979003"/>
          </a:xfrm>
          <a:prstGeom prst="rect">
            <a:avLst/>
          </a:prstGeom>
        </p:spPr>
        <p:txBody>
          <a:bodyPr wrap="square">
            <a:spAutoFit/>
          </a:bodyPr>
          <a:lstStyle/>
          <a:p>
            <a:pPr algn="ctr" defTabSz="914411">
              <a:lnSpc>
                <a:spcPct val="90000"/>
              </a:lnSpc>
              <a:spcAft>
                <a:spcPts val="1200"/>
              </a:spcAft>
              <a:buClr>
                <a:schemeClr val="tx1"/>
              </a:buClr>
            </a:pPr>
            <a:r>
              <a:rPr lang="en-US" b="1" dirty="0">
                <a:latin typeface="Montserrat" panose="00000500000000000000" pitchFamily="2" charset="0"/>
              </a:rPr>
              <a:t>Estimates for Margin and Steerage Hold</a:t>
            </a:r>
          </a:p>
          <a:p>
            <a:pPr algn="ctr" defTabSz="914411">
              <a:lnSpc>
                <a:spcPct val="90000"/>
              </a:lnSpc>
              <a:spcAft>
                <a:spcPts val="1200"/>
              </a:spcAft>
              <a:buClr>
                <a:schemeClr val="tx1"/>
              </a:buClr>
            </a:pPr>
            <a:r>
              <a:rPr lang="en-US" sz="1600" dirty="0">
                <a:latin typeface="Montserrat" panose="00000500000000000000" pitchFamily="2" charset="0"/>
              </a:rPr>
              <a:t>KBA models high, medium and low estimates for net income based on (1) estimates of commercial margin and (2) the within-DTE-network steerage rate. </a:t>
            </a:r>
          </a:p>
          <a:p>
            <a:pPr algn="ctr" defTabSz="914411">
              <a:lnSpc>
                <a:spcPct val="90000"/>
              </a:lnSpc>
              <a:spcAft>
                <a:spcPts val="1200"/>
              </a:spcAft>
              <a:buClr>
                <a:schemeClr val="tx1"/>
              </a:buClr>
            </a:pPr>
            <a:r>
              <a:rPr lang="en-US" sz="1600" dirty="0">
                <a:solidFill/>
                <a:latin typeface="Montserrat" panose="00000500000000000000" pitchFamily="2" charset="0"/>
              </a:rPr>
              <a:t>Profit growth will hold if these assumptions accurately play out as expected for Kettering Health Network.</a:t>
            </a:r>
          </a:p>
        </p:txBody>
      </p:sp>
      <p:cxnSp>
        <p:nvCxnSpPr>
          <p:cNvPr id="10" name="Straight Connector 13">
            <a:extLst>
              <a:ext uri="{FF2B5EF4-FFF2-40B4-BE49-F238E27FC236}">
                <a16:creationId xmlns:a16="http://schemas.microsoft.com/office/drawing/2014/main" id="{DD477D80-386D-4C49-BB5B-4192EF9C3FCB}"/>
              </a:ext>
            </a:extLst>
          </p:cNvPr>
          <p:cNvCxnSpPr/>
          <p:nvPr/>
        </p:nvCxnSpPr>
        <p:spPr>
          <a:xfrm>
            <a:off x="6100876" y="320551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sp>
        <p:nvSpPr>
          <p:cNvPr id="11" name="Oval 18">
            <a:extLst>
              <a:ext uri="{FF2B5EF4-FFF2-40B4-BE49-F238E27FC236}">
                <a16:creationId xmlns:a16="http://schemas.microsoft.com/office/drawing/2014/main" id="{6E3306A4-A22E-44B4-B28D-02A4477CAE09}"/>
              </a:ext>
            </a:extLst>
          </p:cNvPr>
          <p:cNvSpPr/>
          <p:nvPr/>
        </p:nvSpPr>
        <p:spPr>
          <a:xfrm>
            <a:off x="3074011"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Montserrat" panose="00000500000000000000" pitchFamily="2" charset="0"/>
              </a:rPr>
              <a:t>1</a:t>
            </a:r>
          </a:p>
        </p:txBody>
      </p:sp>
      <p:sp>
        <p:nvSpPr>
          <p:cNvPr id="12" name="Oval 19">
            <a:extLst>
              <a:ext uri="{FF2B5EF4-FFF2-40B4-BE49-F238E27FC236}">
                <a16:creationId xmlns:a16="http://schemas.microsoft.com/office/drawing/2014/main" id="{50C0D7B4-43BC-4CE3-AA3D-60612464FC41}"/>
              </a:ext>
            </a:extLst>
          </p:cNvPr>
          <p:cNvSpPr/>
          <p:nvPr/>
        </p:nvSpPr>
        <p:spPr>
          <a:xfrm>
            <a:off x="8466666"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Montserrat" panose="00000500000000000000" pitchFamily="2" charset="0"/>
              </a:rPr>
              <a:t>2</a:t>
            </a:r>
          </a:p>
        </p:txBody>
      </p:sp>
    </p:spTree>
    <p:extLst>
      <p:ext uri="{BB962C8B-B14F-4D97-AF65-F5344CB8AC3E}">
        <p14:creationId xmlns:p14="http://schemas.microsoft.com/office/powerpoint/2010/main" val="40595485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9</a:t>
            </a:fld>
            <a:endParaRPr lang="en-US" dirty="0"/>
          </a:p>
        </p:txBody>
      </p:sp>
      <p:sp>
        <p:nvSpPr>
          <p:cNvPr id="4"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Rectangle 5">
            <a:extLst>
              <a:ext uri="{FF2B5EF4-FFF2-40B4-BE49-F238E27FC236}">
                <a16:creationId xmlns:a16="http://schemas.microsoft.com/office/drawing/2014/main" id="{4579F9FC-9C26-4EE8-993C-4E9774C6CB61}"/>
              </a:ext>
            </a:extLst>
          </p:cNvPr>
          <p:cNvSpPr/>
          <p:nvPr/>
        </p:nvSpPr>
        <p:spPr>
          <a:xfrm>
            <a:off x="6301081" y="2692174"/>
            <a:ext cx="5726288" cy="35363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sz="1600" dirty="0">
                <a:solidFill/>
                <a:latin typeface="Montserrat" panose="00000500000000000000" pitchFamily="2" charset="0"/>
              </a:rPr>
              <a:t>“At the table” with Kettering Health Network</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Improved cash flow &amp; stabilization of future medical cost trend</a:t>
            </a:r>
          </a:p>
        </p:txBody>
      </p:sp>
      <p:sp>
        <p:nvSpPr>
          <p:cNvPr id="6"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7"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rPr>
              <a:t>Direct-to-Employer Strategy:</a:t>
            </a:r>
            <a:br>
              <a:rPr lang="en-US" sz="4000" b="1" dirty="0">
                <a:solidFill>
                  <a:srgbClr val="000B2E"/>
                </a:solidFill>
              </a:rPr>
            </a:br>
            <a:r>
              <a:rPr lang="en-US" sz="3600" b="0" dirty="0">
                <a:solidFill>
                  <a:srgbClr val="000B2E"/>
                </a:solidFill>
              </a:rPr>
              <a:t>POWERFUL EMPLOYER VALUE</a:t>
            </a:r>
            <a:endParaRPr lang="en-US" sz="1600" b="0" dirty="0">
              <a:solidFill>
                <a:schemeClr val="tx1">
                  <a:lumMod val="75000"/>
                  <a:lumOff val="25000"/>
                </a:schemeClr>
              </a:solidFill>
            </a:endParaRPr>
          </a:p>
        </p:txBody>
      </p:sp>
    </p:spTree>
    <p:extLst>
      <p:ext uri="{BB962C8B-B14F-4D97-AF65-F5344CB8AC3E}">
        <p14:creationId xmlns:p14="http://schemas.microsoft.com/office/powerpoint/2010/main" val="1714126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algn="ctr">
              <a:lnSpc>
                <a:spcPts val="3360"/>
              </a:lnSpc>
              <a:buNone/>
            </a:pPr>
            <a:r>
              <a:rPr lang="en-US" sz="3000" kern="0" spc="90">
                <a:solidFill>
                  <a:srgbClr val="181818">
                    <a:alpha val="80000"/>
                  </a:srgbClr>
                </a:solidFill>
                <a:latin typeface="Montserrat" panose="00000500000000000000" pitchFamily="2" charset="0"/>
                <a:ea typeface="Jost*" pitchFamily="34" charset="-122"/>
                <a:cs typeface="Jost*" pitchFamily="34" charset="-120"/>
              </a:rPr>
              <a:t>KBA PLAN GROWTH IN THE FIRST TWO YEARS</a:t>
            </a:r>
            <a:endParaRPr lang="en-US">
              <a:latin typeface="Montserrat" panose="00000500000000000000" pitchFamily="2" charset="0"/>
            </a:endParaRPr>
          </a:p>
        </p:txBody>
      </p:sp>
      <p:pic>
        <p:nvPicPr>
          <p:cNvPr id="3" name="Object 2"/>
          <p:cNvPicPr>
            <a:picLocks noChangeAspect="1"/>
          </p:cNvPicPr>
          <p:nvPr/>
        </p:nvPicPr>
        <p:blipFill>
          <a:blip r:embed="rId3"/>
          <a:stretch>
            <a:fillRect/>
          </a:stretch>
        </p:blipFill>
        <p:spPr>
          <a:xfrm>
            <a:off x="285679" y="1323644"/>
            <a:ext cx="11617595" cy="4208997"/>
          </a:xfrm>
          <a:prstGeom prst="rect">
            <a:avLst/>
          </a:prstGeom>
        </p:spPr>
      </p:pic>
      <p:pic>
        <p:nvPicPr>
          <p:cNvPr id="4" name="Object 3"/>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15060" y="3527791"/>
            <a:ext cx="9523" cy="142839"/>
          </a:xfrm>
          <a:prstGeom prst="rect">
            <a:avLst/>
          </a:prstGeom>
        </p:spPr>
      </p:pic>
      <p:pic>
        <p:nvPicPr>
          <p:cNvPr id="5" name="Object 4"/>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67447" y="3623017"/>
            <a:ext cx="95226" cy="95226"/>
          </a:xfrm>
          <a:prstGeom prst="rect">
            <a:avLst/>
          </a:prstGeom>
        </p:spPr>
      </p:pic>
      <p:pic>
        <p:nvPicPr>
          <p:cNvPr id="6" name="Object 5"/>
          <p:cNvPicPr>
            <a:picLocks noChangeAspect="1"/>
          </p:cNvPicPr>
          <p:nvPr/>
        </p:nvPicPr>
        <p:blipFill>
          <a:blip r:embed="rId4">
            <a:extLst>
              <a:ext uri="{96DAC541-7B7A-43D3-8B79-37D633B846F1}">
                <asvg:svgBlip xmlns:asvg="http://schemas.microsoft.com/office/drawing/2016/SVG/main" r:embed="rId8"/>
              </a:ext>
            </a:extLst>
          </a:blip>
          <a:stretch>
            <a:fillRect/>
          </a:stretch>
        </p:blipFill>
        <p:spPr>
          <a:xfrm>
            <a:off x="5088548" y="3883175"/>
            <a:ext cx="9523" cy="142839"/>
          </a:xfrm>
          <a:prstGeom prst="rect">
            <a:avLst/>
          </a:prstGeom>
        </p:spPr>
      </p:pic>
      <p:pic>
        <p:nvPicPr>
          <p:cNvPr id="7" name="Object 6"/>
          <p:cNvPicPr>
            <a:picLocks noChangeAspect="1"/>
          </p:cNvPicPr>
          <p:nvPr/>
        </p:nvPicPr>
        <p:blipFill>
          <a:blip r:embed="rId6">
            <a:extLst>
              <a:ext uri="{96DAC541-7B7A-43D3-8B79-37D633B846F1}">
                <asvg:svgBlip xmlns:asvg="http://schemas.microsoft.com/office/drawing/2016/SVG/main" r:embed="rId9"/>
              </a:ext>
            </a:extLst>
          </a:blip>
          <a:stretch>
            <a:fillRect/>
          </a:stretch>
        </p:blipFill>
        <p:spPr>
          <a:xfrm>
            <a:off x="5040935" y="3978402"/>
            <a:ext cx="95226" cy="95226"/>
          </a:xfrm>
          <a:prstGeom prst="rect">
            <a:avLst/>
          </a:prstGeom>
        </p:spPr>
      </p:pic>
      <p:pic>
        <p:nvPicPr>
          <p:cNvPr id="8" name="Object 7"/>
          <p:cNvPicPr>
            <a:picLocks noChangeAspect="1"/>
          </p:cNvPicPr>
          <p:nvPr/>
        </p:nvPicPr>
        <p:blipFill>
          <a:blip r:embed="rId4">
            <a:extLst>
              <a:ext uri="{96DAC541-7B7A-43D3-8B79-37D633B846F1}">
                <asvg:svgBlip xmlns:asvg="http://schemas.microsoft.com/office/drawing/2016/SVG/main" r:embed="rId10"/>
              </a:ext>
            </a:extLst>
          </a:blip>
          <a:stretch>
            <a:fillRect/>
          </a:stretch>
        </p:blipFill>
        <p:spPr>
          <a:xfrm>
            <a:off x="7662036" y="2876254"/>
            <a:ext cx="9523" cy="142839"/>
          </a:xfrm>
          <a:prstGeom prst="rect">
            <a:avLst/>
          </a:prstGeom>
        </p:spPr>
      </p:pic>
      <p:pic>
        <p:nvPicPr>
          <p:cNvPr id="9" name="Object 8"/>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614423" y="2971480"/>
            <a:ext cx="104749" cy="95226"/>
          </a:xfrm>
          <a:prstGeom prst="rect">
            <a:avLst/>
          </a:prstGeom>
        </p:spPr>
      </p:pic>
      <p:pic>
        <p:nvPicPr>
          <p:cNvPr id="10" name="Object 9"/>
          <p:cNvPicPr>
            <a:picLocks noChangeAspect="1"/>
          </p:cNvPicPr>
          <p:nvPr/>
        </p:nvPicPr>
        <p:blipFill>
          <a:blip r:embed="rId4">
            <a:extLst>
              <a:ext uri="{96DAC541-7B7A-43D3-8B79-37D633B846F1}">
                <asvg:svgBlip xmlns:asvg="http://schemas.microsoft.com/office/drawing/2016/SVG/main" r:embed="rId13"/>
              </a:ext>
            </a:extLst>
          </a:blip>
          <a:stretch>
            <a:fillRect/>
          </a:stretch>
        </p:blipFill>
        <p:spPr>
          <a:xfrm>
            <a:off x="10235523" y="1691640"/>
            <a:ext cx="9523" cy="142839"/>
          </a:xfrm>
          <a:prstGeom prst="rect">
            <a:avLst/>
          </a:prstGeom>
        </p:spPr>
      </p:pic>
      <p:pic>
        <p:nvPicPr>
          <p:cNvPr id="11" name="Object 10"/>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187910" y="1786866"/>
            <a:ext cx="95226" cy="95226"/>
          </a:xfrm>
          <a:prstGeom prst="rect">
            <a:avLst/>
          </a:prstGeom>
        </p:spPr>
      </p:pic>
      <p:pic>
        <p:nvPicPr>
          <p:cNvPr id="12" name="Object 11"/>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791219" y="2984895"/>
            <a:ext cx="1447438" cy="552312"/>
          </a:xfrm>
          <a:prstGeom prst="rect">
            <a:avLst/>
          </a:prstGeom>
        </p:spPr>
      </p:pic>
      <p:sp>
        <p:nvSpPr>
          <p:cNvPr id="13" name="Object 12"/>
          <p:cNvSpPr/>
          <p:nvPr/>
        </p:nvSpPr>
        <p:spPr>
          <a:xfrm>
            <a:off x="1939043" y="3129701"/>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1,800 Lives</a:t>
            </a:r>
            <a:endParaRPr lang="en-US" sz="1400" b="1">
              <a:latin typeface="Montserrat" panose="00000500000000000000" pitchFamily="2" charset="0"/>
            </a:endParaRPr>
          </a:p>
        </p:txBody>
      </p:sp>
      <p:pic>
        <p:nvPicPr>
          <p:cNvPr id="14" name="Object 13"/>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302810" y="3340319"/>
            <a:ext cx="1571232" cy="552312"/>
          </a:xfrm>
          <a:prstGeom prst="rect">
            <a:avLst/>
          </a:prstGeom>
        </p:spPr>
      </p:pic>
      <p:sp>
        <p:nvSpPr>
          <p:cNvPr id="15" name="Object 14"/>
          <p:cNvSpPr/>
          <p:nvPr/>
        </p:nvSpPr>
        <p:spPr>
          <a:xfrm>
            <a:off x="4444450" y="3485085"/>
            <a:ext cx="1288288"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12,900 Lives</a:t>
            </a:r>
            <a:endParaRPr lang="en-US" sz="1400" b="1">
              <a:latin typeface="Montserrat" panose="00000500000000000000" pitchFamily="2" charset="0"/>
            </a:endParaRPr>
          </a:p>
        </p:txBody>
      </p:sp>
      <p:pic>
        <p:nvPicPr>
          <p:cNvPr id="16" name="Object 15"/>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923948" y="2333376"/>
            <a:ext cx="1476006" cy="552312"/>
          </a:xfrm>
          <a:prstGeom prst="rect">
            <a:avLst/>
          </a:prstGeom>
        </p:spPr>
      </p:pic>
      <p:sp>
        <p:nvSpPr>
          <p:cNvPr id="17" name="Object 16"/>
          <p:cNvSpPr/>
          <p:nvPr/>
        </p:nvSpPr>
        <p:spPr>
          <a:xfrm>
            <a:off x="7070312" y="2478163"/>
            <a:ext cx="1183539"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6,400 Lives</a:t>
            </a:r>
            <a:endParaRPr lang="en-US" sz="1400" b="1">
              <a:latin typeface="Montserrat" panose="00000500000000000000" pitchFamily="2" charset="0"/>
            </a:endParaRPr>
          </a:p>
        </p:txBody>
      </p:sp>
      <p:pic>
        <p:nvPicPr>
          <p:cNvPr id="18" name="Object 17"/>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511608" y="1149001"/>
            <a:ext cx="1447438" cy="552312"/>
          </a:xfrm>
          <a:prstGeom prst="rect">
            <a:avLst/>
          </a:prstGeom>
        </p:spPr>
      </p:pic>
      <p:sp>
        <p:nvSpPr>
          <p:cNvPr id="19" name="Object 18"/>
          <p:cNvSpPr/>
          <p:nvPr/>
        </p:nvSpPr>
        <p:spPr>
          <a:xfrm>
            <a:off x="9659506" y="1293550"/>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1,600 Lives</a:t>
            </a:r>
            <a:endParaRPr lang="en-US" sz="1400" b="1">
              <a:latin typeface="Montserrat" panose="00000500000000000000" pitchFamily="2" charset="0"/>
            </a:endParaRPr>
          </a:p>
        </p:txBody>
      </p:sp>
      <p:sp>
        <p:nvSpPr>
          <p:cNvPr id="20" name="Object 19"/>
          <p:cNvSpPr/>
          <p:nvPr/>
        </p:nvSpPr>
        <p:spPr>
          <a:xfrm>
            <a:off x="0" y="5909306"/>
            <a:ext cx="12188952" cy="946979"/>
          </a:xfrm>
          <a:prstGeom prst="rect">
            <a:avLst/>
          </a:prstGeom>
          <a:solidFill>
            <a:srgbClr val="EDF1EB"/>
          </a:solidFill>
        </p:spPr>
        <p:txBody>
          <a:bodyPr/>
          <a:lstStyle/>
          <a:p>
            <a:endParaRPr lang="en-US">
              <a:latin typeface="Montserrat" panose="00000500000000000000" pitchFamily="2" charset="0"/>
            </a:endParaRPr>
          </a:p>
        </p:txBody>
      </p:sp>
      <p:sp>
        <p:nvSpPr>
          <p:cNvPr id="21" name="Object 20"/>
          <p:cNvSpPr/>
          <p:nvPr/>
        </p:nvSpPr>
        <p:spPr>
          <a:xfrm>
            <a:off x="-95226" y="6103419"/>
            <a:ext cx="12379404" cy="323806"/>
          </a:xfrm>
          <a:prstGeom prst="rect">
            <a:avLst/>
          </a:prstGeom>
          <a:noFill/>
        </p:spPr>
        <p:txBody>
          <a:bodyPr wrap="square" lIns="0" tIns="0" rIns="0" bIns="0" rtlCol="0" anchor="t"/>
          <a:lstStyle/>
          <a:p>
            <a:pPr algn="ctr">
              <a:lnSpc>
                <a:spcPts val="2552"/>
              </a:lnSpc>
              <a:buNone/>
            </a:pPr>
            <a:r>
              <a:rPr lang="en-US" kern="0" spc="61">
                <a:solidFill>
                  <a:srgbClr val="181818">
                    <a:alpha val="80000"/>
                  </a:srgbClr>
                </a:solidFill>
                <a:latin typeface="Montserrat" panose="00000500000000000000" pitchFamily="2" charset="0"/>
                <a:ea typeface="Jost*" pitchFamily="34" charset="-122"/>
                <a:cs typeface="Jost*" pitchFamily="34" charset="-120"/>
              </a:rPr>
              <a:t>An average of 25 employer groups in plan within the first two years!</a:t>
            </a:r>
            <a:endParaRPr lang="en-US" sz="1400">
              <a:latin typeface="Montserrat" panose="00000500000000000000" pitchFamily="2" charset="0"/>
            </a:endParaRPr>
          </a:p>
        </p:txBody>
      </p:sp>
      <p:pic>
        <p:nvPicPr>
          <p:cNvPr id="22" name="Picture 21">
            <a:extLst>
              <a:ext uri="{FF2B5EF4-FFF2-40B4-BE49-F238E27FC236}">
                <a16:creationId xmlns:a16="http://schemas.microsoft.com/office/drawing/2014/main" id="{E22A75D8-89B5-1F62-9C4C-107CCDE0D2AD}"/>
              </a:ext>
            </a:extLst>
          </p:cNvPr>
          <p:cNvPicPr>
            <a:picLocks noChangeAspect="1"/>
          </p:cNvPicPr>
          <p:nvPr/>
        </p:nvPicPr>
        <p:blipFill>
          <a:blip r:embed="rId22">
            <a:clrChange>
              <a:clrFrom>
                <a:srgbClr val="FFFFFF"/>
              </a:clrFrom>
              <a:clrTo>
                <a:srgbClr val="FFFFFF">
                  <a:alpha val="0"/>
                </a:srgbClr>
              </a:clrTo>
            </a:clrChange>
          </a:blip>
          <a:stretch>
            <a:fillRect/>
          </a:stretch>
        </p:blipFill>
        <p:spPr>
          <a:xfrm>
            <a:off x="10465482" y="6412295"/>
            <a:ext cx="1723470" cy="376030"/>
          </a:xfrm>
          <a:prstGeom prst="rect">
            <a:avLst/>
          </a:prstGeom>
        </p:spPr>
      </p:pic>
      <p:sp>
        <p:nvSpPr>
          <p:cNvPr id="23" name="Rectangle 22">
            <a:extLst>
              <a:ext uri="{FF2B5EF4-FFF2-40B4-BE49-F238E27FC236}">
                <a16:creationId xmlns:a16="http://schemas.microsoft.com/office/drawing/2014/main" id="{24F747D9-A9F5-5E25-4E27-63DF68AEA450}"/>
              </a:ext>
            </a:extLst>
          </p:cNvPr>
          <p:cNvSpPr/>
          <p:nvPr/>
        </p:nvSpPr>
        <p:spPr>
          <a:xfrm>
            <a:off x="5403273" y="5070764"/>
            <a:ext cx="2022763" cy="4774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11</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261770" y="1330559"/>
            <a:ext cx="11737910" cy="584775"/>
          </a:xfrm>
          <a:prstGeom prst="rect">
            <a:avLst/>
          </a:prstGeom>
          <a:noFill/>
        </p:spPr>
        <p:txBody>
          <a:bodyPr wrap="square">
            <a:spAutoFit/>
          </a:bodyPr>
          <a:lstStyle/>
          <a:p>
            <a:pPr algn="ctr"/>
            <a:r>
              <a:rPr lang="en-US" sz="1600" b="1" spc="200" dirty="0">
                <a:solidFill>
                  <a:schemeClr val="accent2">
                    <a:lumMod val="75000"/>
                  </a:schemeClr>
                </a:solidFill>
                <a:latin typeface="Montserrat" panose="00000500000000000000" pitchFamily="2" charset="0"/>
                <a:cs typeface="+mj-cs"/>
              </a:rPr>
              <a:t>Target Market</a:t>
            </a:r>
            <a:br>
              <a:rPr lang="en-US" sz="1600" spc="200" dirty="0">
                <a:latin typeface="Montserrat" panose="00000500000000000000" pitchFamily="2" charset="0"/>
                <a:cs typeface="+mj-cs"/>
              </a:rPr>
            </a:br>
            <a:r>
              <a:rPr lang="en-US" sz="1600" spc="200" dirty="0">
                <a:latin typeface="Montserrat" panose="00000500000000000000" pitchFamily="2" charset="0"/>
                <a:cs typeface="+mj-cs"/>
              </a:rPr>
              <a:t>2,800+ Employers       600,000</a:t>
            </a:r>
            <a:r>
              <a:rPr lang="en-US" sz="1600" spc="200" dirty="0">
                <a:latin typeface="Montserrat" panose="00000500000000000000" pitchFamily="2" charset="0"/>
                <a:cs typeface="+mj-cs"/>
                <a:sym typeface="Wingdings" panose="05000000000000000000" pitchFamily="2" charset="2"/>
              </a:rPr>
              <a:t>+ Employees       1,000,000+ Members</a:t>
            </a:r>
            <a:endParaRPr lang="en-US" sz="1600" dirty="0">
              <a:latin typeface="Montserrat" panose="00000500000000000000" pitchFamily="2" charset="0"/>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ontserrat" panose="00000500000000000000" pitchFamily="2" charset="0"/>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ontserrat" panose="00000500000000000000" pitchFamily="2" charset="0"/>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3982434571"/>
              </p:ext>
            </p:extLst>
          </p:nvPr>
        </p:nvGraphicFramePr>
        <p:xfrm>
          <a:off x="4889297" y="2140949"/>
          <a:ext cx="7075657" cy="3441355"/>
        </p:xfrm>
        <a:graphic>
          <a:graphicData uri="http://schemas.openxmlformats.org/drawingml/2006/table">
            <a:tbl>
              <a:tblPr/>
              <a:tblGrid>
                <a:gridCol w="2730691">
                  <a:extLst>
                    <a:ext uri="{9D8B030D-6E8A-4147-A177-3AD203B41FA5}">
                      <a16:colId xmlns:a16="http://schemas.microsoft.com/office/drawing/2014/main" val="1559488425"/>
                    </a:ext>
                  </a:extLst>
                </a:gridCol>
                <a:gridCol w="724161">
                  <a:extLst>
                    <a:ext uri="{9D8B030D-6E8A-4147-A177-3AD203B41FA5}">
                      <a16:colId xmlns:a16="http://schemas.microsoft.com/office/drawing/2014/main" val="3447311937"/>
                    </a:ext>
                  </a:extLst>
                </a:gridCol>
                <a:gridCol w="724161">
                  <a:extLst>
                    <a:ext uri="{9D8B030D-6E8A-4147-A177-3AD203B41FA5}">
                      <a16:colId xmlns:a16="http://schemas.microsoft.com/office/drawing/2014/main" val="3754037008"/>
                    </a:ext>
                  </a:extLst>
                </a:gridCol>
                <a:gridCol w="724161">
                  <a:extLst>
                    <a:ext uri="{9D8B030D-6E8A-4147-A177-3AD203B41FA5}">
                      <a16:colId xmlns:a16="http://schemas.microsoft.com/office/drawing/2014/main" val="1458190780"/>
                    </a:ext>
                  </a:extLst>
                </a:gridCol>
                <a:gridCol w="724161">
                  <a:extLst>
                    <a:ext uri="{9D8B030D-6E8A-4147-A177-3AD203B41FA5}">
                      <a16:colId xmlns:a16="http://schemas.microsoft.com/office/drawing/2014/main" val="957112869"/>
                    </a:ext>
                  </a:extLst>
                </a:gridCol>
                <a:gridCol w="724161">
                  <a:extLst>
                    <a:ext uri="{9D8B030D-6E8A-4147-A177-3AD203B41FA5}">
                      <a16:colId xmlns:a16="http://schemas.microsoft.com/office/drawing/2014/main" val="257020552"/>
                    </a:ext>
                  </a:extLst>
                </a:gridCol>
                <a:gridCol w="724161">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r>
                        <a:rPr lang="en-US" sz="1100" b="0" i="0" u="none" strike="noStrike">
                          <a:solidFill>
                            <a:srgbClr val="000000"/>
                          </a:solidFill>
                          <a:effectLst/>
                          <a:latin typeface="Montserrat" panose="00000500000000000000" pitchFamily="2" charset="0"/>
                        </a:rPr>
                        <a:t>1,407</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Montserrat" panose="00000500000000000000" pitchFamily="2" charset="0"/>
                        </a:rPr>
                        <a:t>669</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Montserrat" panose="00000500000000000000" pitchFamily="2" charset="0"/>
                        </a:rPr>
                        <a:t>407</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Montserrat" panose="00000500000000000000" pitchFamily="2" charset="0"/>
                        </a:rPr>
                        <a:t>250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Montserrat" panose="00000500000000000000" pitchFamily="2" charset="0"/>
                        </a:rPr>
                        <a:t>72</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Montserrat" panose="00000500000000000000" pitchFamily="2" charset="0"/>
                        </a:rPr>
                        <a:t>50</a:t>
                      </a:r>
                    </a:p>
                  </a:txBody>
                  <a:tcPr marL="7620" marR="7620" marT="7620"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Montserrat" panose="00000500000000000000" pitchFamily="2" charset="0"/>
                        </a:rPr>
                        <a:t>105,500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Montserrat" panose="00000500000000000000" pitchFamily="2" charset="0"/>
                        </a:rPr>
                        <a:t>100,400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Montserrat" panose="00000500000000000000" pitchFamily="2" charset="0"/>
                        </a:rPr>
                        <a:t>122,100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Montserrat" panose="00000500000000000000" pitchFamily="2" charset="0"/>
                        </a:rPr>
                        <a:t>175,000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Montserrat" panose="00000500000000000000" pitchFamily="2" charset="0"/>
                        </a:rPr>
                        <a:t>144,000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Montserrat" panose="00000500000000000000" pitchFamily="2" charset="0"/>
                        </a:rPr>
                        <a:t>300,000</a:t>
                      </a:r>
                    </a:p>
                  </a:txBody>
                  <a:tcPr marL="7620" marR="7620" marT="7620"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Montserrat" panose="00000500000000000000" pitchFamily="2" charset="0"/>
                        </a:rPr>
                        <a:t>189,900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Montserrat" panose="00000500000000000000" pitchFamily="2" charset="0"/>
                        </a:rPr>
                        <a:t>180,700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Montserrat" panose="00000500000000000000" pitchFamily="2" charset="0"/>
                        </a:rPr>
                        <a:t>219,800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Montserrat" panose="00000500000000000000" pitchFamily="2" charset="0"/>
                        </a:rPr>
                        <a:t>315,000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Montserrat" panose="00000500000000000000" pitchFamily="2" charset="0"/>
                        </a:rPr>
                        <a:t>259,200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Montserrat" panose="00000500000000000000" pitchFamily="2" charset="0"/>
                        </a:rPr>
                        <a:t>540,000</a:t>
                      </a:r>
                    </a:p>
                  </a:txBody>
                  <a:tcPr marL="7620" marR="7620" marT="7620"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cstate="print"/>
          <a:stretch>
            <a:fillRect/>
          </a:stretch>
        </p:blipFill>
        <p:spPr>
          <a:xfrm>
            <a:off x="-128016" y="2098295"/>
            <a:ext cx="5296904" cy="4396160"/>
          </a:xfrm>
          <a:prstGeom prst="rect">
            <a:avLst/>
          </a:prstGeom>
        </p:spPr>
      </p:pic>
    </p:spTree>
    <p:extLst>
      <p:ext uri="{BB962C8B-B14F-4D97-AF65-F5344CB8AC3E}">
        <p14:creationId xmlns:p14="http://schemas.microsoft.com/office/powerpoint/2010/main" val="16600605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981590" y="5731169"/>
            <a:ext cx="9514366" cy="276999"/>
          </a:xfrm>
          <a:prstGeom prst="rect">
            <a:avLst/>
          </a:prstGeom>
          <a:noFill/>
        </p:spPr>
        <p:txBody>
          <a:bodyPr wrap="square" rtlCol="0">
            <a:spAutoFit/>
          </a:bodyPr>
          <a:lstStyle/>
          <a:p>
            <a:r>
              <a:rPr lang="en-US" sz="1200" dirty="0">
                <a:solidFill/>
                <a:latin typeface="Montserrat" panose="00000500000000000000" pitchFamily="2" charset="0"/>
              </a:rPr>
              <a:t>Estimates includes the Kettering Health Network service area in Dearborn, Franklin, Union, Butler, Champaign, Clark, Clermont, Clinton, Darke, Fayette, Greene, Hamilton, Madison, Miami, Montgomery, Preble, Shelby, and Warren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2,235K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1,296K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925K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648K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$44.01M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$10.2M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$263.62M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$62.05M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$542.26M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$127.7M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cstate="print"/>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0449577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350393" y="37992"/>
            <a:ext cx="11506990" cy="1325563"/>
          </a:xfrm>
        </p:spPr>
        <p:txBody>
          <a:bodyPr>
            <a:normAutofit/>
          </a:bodyPr>
          <a:lstStyle/>
          <a:p>
            <a:r>
              <a:rPr lang="en-US" sz="3600" dirty="0">
                <a:solidFill>
                  <a:schemeClr val="tx1">
                    <a:lumMod val="85000"/>
                    <a:lumOff val="15000"/>
                  </a:schemeClr>
                </a:solidFill>
                <a:cs typeface="Arial" panose="020B0604020202020204" pitchFamily="34" charset="0"/>
              </a:rPr>
              <a:t>MODEL ASSUMPTIONS AND BREAK EVEN</a:t>
            </a:r>
          </a:p>
        </p:txBody>
      </p:sp>
      <p:sp>
        <p:nvSpPr>
          <p:cNvPr id="3" name="Rectangle 7">
            <a:extLst>
              <a:ext uri="{FF2B5EF4-FFF2-40B4-BE49-F238E27FC236}">
                <a16:creationId xmlns:a16="http://schemas.microsoft.com/office/drawing/2014/main" id="{55A48ACE-D370-6BA3-A39B-CF7D87E5C9A5}"/>
              </a:ext>
            </a:extLst>
          </p:cNvPr>
          <p:cNvSpPr/>
          <p:nvPr/>
        </p:nvSpPr>
        <p:spPr>
          <a:xfrm>
            <a:off x="7466120" y="1236348"/>
            <a:ext cx="4725880"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Oval 8">
            <a:extLst>
              <a:ext uri="{FF2B5EF4-FFF2-40B4-BE49-F238E27FC236}">
                <a16:creationId xmlns:a16="http://schemas.microsoft.com/office/drawing/2014/main" id="{99386F57-8E81-E6DF-1A01-623E3BB7AB0B}"/>
              </a:ext>
            </a:extLst>
          </p:cNvPr>
          <p:cNvSpPr/>
          <p:nvPr/>
        </p:nvSpPr>
        <p:spPr>
          <a:xfrm>
            <a:off x="7168718" y="1236348"/>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1">
            <a:extLst>
              <a:ext uri="{FF2B5EF4-FFF2-40B4-BE49-F238E27FC236}">
                <a16:creationId xmlns:a16="http://schemas.microsoft.com/office/drawing/2014/main" id="{7B828AB6-CD3A-4CD3-8950-2942DDBEAC0D}"/>
              </a:ext>
            </a:extLst>
          </p:cNvPr>
          <p:cNvSpPr txBox="1"/>
          <p:nvPr/>
        </p:nvSpPr>
        <p:spPr>
          <a:xfrm>
            <a:off x="8019782" y="1329256"/>
            <a:ext cx="4102405"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Patient Steerage Assumptions</a:t>
            </a:r>
          </a:p>
        </p:txBody>
      </p:sp>
      <p:sp>
        <p:nvSpPr>
          <p:cNvPr id="6" name="TextBox 12">
            <a:extLst>
              <a:ext uri="{FF2B5EF4-FFF2-40B4-BE49-F238E27FC236}">
                <a16:creationId xmlns:a16="http://schemas.microsoft.com/office/drawing/2014/main" id="{025AE6BF-C458-13D4-626E-DAD4C1439055}"/>
              </a:ext>
            </a:extLst>
          </p:cNvPr>
          <p:cNvSpPr txBox="1"/>
          <p:nvPr/>
        </p:nvSpPr>
        <p:spPr>
          <a:xfrm>
            <a:off x="7524487" y="1912005"/>
            <a:ext cx="4616389" cy="1015663"/>
          </a:xfrm>
          <a:prstGeom prst="rect">
            <a:avLst/>
          </a:prstGeom>
          <a:noFill/>
        </p:spPr>
        <p:txBody>
          <a:bodyPr wrap="square" rtlCol="0">
            <a:spAutoFit/>
          </a:bodyPr>
          <a:lstStyle/>
          <a:p>
            <a:r>
              <a:rPr lang="en-US" sz="1000" dirty="0">
                <a:solidFill/>
                <a:latin typeface="Montserrat" panose="00000500000000000000" pitchFamily="2" charset="0"/>
              </a:rPr>
              <a:t>KBA currently estimates that Kettering Health Network has 18% inpatient market share, and 17% outpatient market compared to hospitals/clinics in the Kettering Health Network service area (see slide 8). The DTE tiered structure will create immediate steerage, with additional steerage over time from patient bonus benefits and the patient card (see slide 34 for estimates of target steerage). </a:t>
            </a:r>
            <a:endParaRPr lang="en-US" sz="1000" dirty="0">
              <a:latin typeface="Montserrat" panose="00000500000000000000" pitchFamily="2" charset="0"/>
            </a:endParaRPr>
          </a:p>
        </p:txBody>
      </p:sp>
      <p:sp>
        <p:nvSpPr>
          <p:cNvPr id="7" name="Rectangle 20">
            <a:extLst>
              <a:ext uri="{FF2B5EF4-FFF2-40B4-BE49-F238E27FC236}">
                <a16:creationId xmlns:a16="http://schemas.microsoft.com/office/drawing/2014/main" id="{620CA171-241C-9006-DA4D-7174E70B2EF3}"/>
              </a:ext>
            </a:extLst>
          </p:cNvPr>
          <p:cNvSpPr/>
          <p:nvPr/>
        </p:nvSpPr>
        <p:spPr>
          <a:xfrm>
            <a:off x="7611253" y="544330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8" name="Rectangle 21">
            <a:extLst>
              <a:ext uri="{FF2B5EF4-FFF2-40B4-BE49-F238E27FC236}">
                <a16:creationId xmlns:a16="http://schemas.microsoft.com/office/drawing/2014/main" id="{BD8E1912-BAE3-A76F-55A7-754D206BC471}"/>
              </a:ext>
            </a:extLst>
          </p:cNvPr>
          <p:cNvSpPr/>
          <p:nvPr/>
        </p:nvSpPr>
        <p:spPr>
          <a:xfrm>
            <a:off x="7522476" y="3870527"/>
            <a:ext cx="4682971"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9" name="Oval 22">
            <a:extLst>
              <a:ext uri="{FF2B5EF4-FFF2-40B4-BE49-F238E27FC236}">
                <a16:creationId xmlns:a16="http://schemas.microsoft.com/office/drawing/2014/main" id="{D2B9ED21-8D89-315C-4C9C-403AA9B2666A}"/>
              </a:ext>
            </a:extLst>
          </p:cNvPr>
          <p:cNvSpPr/>
          <p:nvPr/>
        </p:nvSpPr>
        <p:spPr>
          <a:xfrm>
            <a:off x="7225074" y="3870527"/>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0" name="TextBox 23">
            <a:extLst>
              <a:ext uri="{FF2B5EF4-FFF2-40B4-BE49-F238E27FC236}">
                <a16:creationId xmlns:a16="http://schemas.microsoft.com/office/drawing/2014/main" id="{950E697A-C380-A6EE-50AE-8B3DED34929F}"/>
              </a:ext>
            </a:extLst>
          </p:cNvPr>
          <p:cNvSpPr txBox="1"/>
          <p:nvPr/>
        </p:nvSpPr>
        <p:spPr>
          <a:xfrm>
            <a:off x="7667790" y="3963435"/>
            <a:ext cx="4501553"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Commercial Margin Assumptions</a:t>
            </a:r>
          </a:p>
        </p:txBody>
      </p:sp>
      <p:sp>
        <p:nvSpPr>
          <p:cNvPr id="11" name="TextBox 24">
            <a:extLst>
              <a:ext uri="{FF2B5EF4-FFF2-40B4-BE49-F238E27FC236}">
                <a16:creationId xmlns:a16="http://schemas.microsoft.com/office/drawing/2014/main" id="{32C9D62D-25B0-6CD9-8AD7-E6855B1B1B26}"/>
              </a:ext>
            </a:extLst>
          </p:cNvPr>
          <p:cNvSpPr txBox="1"/>
          <p:nvPr/>
        </p:nvSpPr>
        <p:spPr>
          <a:xfrm>
            <a:off x="7522476" y="4546184"/>
            <a:ext cx="4616389" cy="861774"/>
          </a:xfrm>
          <a:prstGeom prst="rect">
            <a:avLst/>
          </a:prstGeom>
          <a:noFill/>
        </p:spPr>
        <p:txBody>
          <a:bodyPr wrap="square" rtlCol="0">
            <a:spAutoFit/>
          </a:bodyPr>
          <a:lstStyle/>
          <a:p>
            <a:r>
              <a:rPr lang="en-US" sz="1000" dirty="0">
                <a:solidFill/>
                <a:latin typeface="Montserrat" panose="00000500000000000000" pitchFamily="2" charset="0"/>
              </a:rPr>
              <a:t>KBA observes a Kettering Health Network 29% commercial margin. Conservatively, we model the DTE to be even with commercial rates given prices 10% below market, but with a 10 percentage-point increase through friendlier billing practices and improved patient collections with the patient card.</a:t>
            </a:r>
          </a:p>
        </p:txBody>
      </p:sp>
      <p:sp>
        <p:nvSpPr>
          <p:cNvPr id="12" name="TextBox 25">
            <a:extLst>
              <a:ext uri="{FF2B5EF4-FFF2-40B4-BE49-F238E27FC236}">
                <a16:creationId xmlns:a16="http://schemas.microsoft.com/office/drawing/2014/main" id="{A76920ED-352E-9285-CC83-BDA6AB18978D}"/>
              </a:ext>
            </a:extLst>
          </p:cNvPr>
          <p:cNvSpPr txBox="1"/>
          <p:nvPr/>
        </p:nvSpPr>
        <p:spPr>
          <a:xfrm>
            <a:off x="7720842" y="5395891"/>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13" name="TextBox 26">
            <a:extLst>
              <a:ext uri="{FF2B5EF4-FFF2-40B4-BE49-F238E27FC236}">
                <a16:creationId xmlns:a16="http://schemas.microsoft.com/office/drawing/2014/main" id="{2559AB8C-6F23-81D3-4546-DE75EBD91879}"/>
              </a:ext>
            </a:extLst>
          </p:cNvPr>
          <p:cNvSpPr txBox="1"/>
          <p:nvPr/>
        </p:nvSpPr>
        <p:spPr>
          <a:xfrm>
            <a:off x="9586212" y="5395891"/>
            <a:ext cx="800219" cy="307777"/>
          </a:xfrm>
          <a:prstGeom prst="rect">
            <a:avLst/>
          </a:prstGeom>
          <a:noFill/>
        </p:spPr>
        <p:txBody>
          <a:bodyPr wrap="none" rtlCol="0">
            <a:spAutoFit/>
          </a:bodyPr>
          <a:lstStyle/>
          <a:p>
            <a:r>
              <a:rPr lang="en-US" sz="1400" b="1" dirty="0">
                <a:latin typeface="Montserrat" panose="00000500000000000000" pitchFamily="2" charset="0"/>
              </a:rPr>
              <a:t>Target</a:t>
            </a:r>
          </a:p>
        </p:txBody>
      </p:sp>
      <p:sp>
        <p:nvSpPr>
          <p:cNvPr id="14" name="TextBox 27">
            <a:extLst>
              <a:ext uri="{FF2B5EF4-FFF2-40B4-BE49-F238E27FC236}">
                <a16:creationId xmlns:a16="http://schemas.microsoft.com/office/drawing/2014/main" id="{314AFF5C-ABDA-A82B-40C8-14E2DB160036}"/>
              </a:ext>
            </a:extLst>
          </p:cNvPr>
          <p:cNvSpPr txBox="1"/>
          <p:nvPr/>
        </p:nvSpPr>
        <p:spPr>
          <a:xfrm>
            <a:off x="11450235" y="5395891"/>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15" name="TextBox 28">
            <a:extLst>
              <a:ext uri="{FF2B5EF4-FFF2-40B4-BE49-F238E27FC236}">
                <a16:creationId xmlns:a16="http://schemas.microsoft.com/office/drawing/2014/main" id="{2C03026B-6D1E-F7B1-9995-7D9DC1019C60}"/>
              </a:ext>
            </a:extLst>
          </p:cNvPr>
          <p:cNvSpPr txBox="1"/>
          <p:nvPr/>
        </p:nvSpPr>
        <p:spPr>
          <a:xfrm>
            <a:off x="7673393" y="5654744"/>
            <a:ext cx="652743" cy="307777"/>
          </a:xfrm>
          <a:prstGeom prst="rect">
            <a:avLst/>
          </a:prstGeom>
          <a:noFill/>
        </p:spPr>
        <p:txBody>
          <a:bodyPr wrap="none" rtlCol="0">
            <a:spAutoFit/>
          </a:bodyPr>
          <a:lstStyle/>
          <a:p>
            <a:r>
              <a:rPr lang="en-US" sz="1400" dirty="0">
                <a:solidFill/>
                <a:latin typeface="Montserrat" panose="00000500000000000000" pitchFamily="2" charset="0"/>
              </a:rPr>
              <a:t>18.2%</a:t>
            </a:r>
          </a:p>
        </p:txBody>
      </p:sp>
      <p:sp>
        <p:nvSpPr>
          <p:cNvPr id="16" name="TextBox 29">
            <a:extLst>
              <a:ext uri="{FF2B5EF4-FFF2-40B4-BE49-F238E27FC236}">
                <a16:creationId xmlns:a16="http://schemas.microsoft.com/office/drawing/2014/main" id="{9C64CEEB-E16A-926D-5DF0-DC8275443A40}"/>
              </a:ext>
            </a:extLst>
          </p:cNvPr>
          <p:cNvSpPr txBox="1"/>
          <p:nvPr/>
        </p:nvSpPr>
        <p:spPr>
          <a:xfrm>
            <a:off x="9593508" y="5666716"/>
            <a:ext cx="678391" cy="307777"/>
          </a:xfrm>
          <a:prstGeom prst="rect">
            <a:avLst/>
          </a:prstGeom>
          <a:noFill/>
        </p:spPr>
        <p:txBody>
          <a:bodyPr wrap="none" rtlCol="0">
            <a:spAutoFit/>
          </a:bodyPr>
          <a:lstStyle/>
          <a:p>
            <a:r>
              <a:rPr lang="en-US" sz="1400" dirty="0">
                <a:solidFill/>
                <a:latin typeface="Montserrat" panose="00000500000000000000" pitchFamily="2" charset="0"/>
              </a:rPr>
              <a:t>23.2%</a:t>
            </a:r>
          </a:p>
        </p:txBody>
      </p:sp>
      <p:sp>
        <p:nvSpPr>
          <p:cNvPr id="17" name="TextBox 30">
            <a:extLst>
              <a:ext uri="{FF2B5EF4-FFF2-40B4-BE49-F238E27FC236}">
                <a16:creationId xmlns:a16="http://schemas.microsoft.com/office/drawing/2014/main" id="{716000A2-AFB1-117D-BFF0-2BDA3EA8A77D}"/>
              </a:ext>
            </a:extLst>
          </p:cNvPr>
          <p:cNvSpPr txBox="1"/>
          <p:nvPr/>
        </p:nvSpPr>
        <p:spPr>
          <a:xfrm>
            <a:off x="11402786" y="5666716"/>
            <a:ext cx="691215" cy="307777"/>
          </a:xfrm>
          <a:prstGeom prst="rect">
            <a:avLst/>
          </a:prstGeom>
          <a:noFill/>
        </p:spPr>
        <p:txBody>
          <a:bodyPr wrap="none" rtlCol="0">
            <a:spAutoFit/>
          </a:bodyPr>
          <a:lstStyle/>
          <a:p>
            <a:r>
              <a:rPr lang="en-US" sz="1400" dirty="0">
                <a:solidFill/>
                <a:latin typeface="Montserrat" panose="00000500000000000000" pitchFamily="2" charset="0"/>
              </a:rPr>
              <a:t>28.2%</a:t>
            </a:r>
          </a:p>
        </p:txBody>
      </p:sp>
      <p:sp>
        <p:nvSpPr>
          <p:cNvPr id="18" name="Rectangle 19">
            <a:extLst>
              <a:ext uri="{FF2B5EF4-FFF2-40B4-BE49-F238E27FC236}">
                <a16:creationId xmlns:a16="http://schemas.microsoft.com/office/drawing/2014/main" id="{F6627BBC-E6C5-1195-07E5-6C53EE01CC8B}"/>
              </a:ext>
            </a:extLst>
          </p:cNvPr>
          <p:cNvSpPr/>
          <p:nvPr/>
        </p:nvSpPr>
        <p:spPr>
          <a:xfrm>
            <a:off x="7597806" y="3136844"/>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9" name="TextBox 25">
            <a:extLst>
              <a:ext uri="{FF2B5EF4-FFF2-40B4-BE49-F238E27FC236}">
                <a16:creationId xmlns:a16="http://schemas.microsoft.com/office/drawing/2014/main" id="{C22B0D02-4198-9ACE-8A8D-89E646CD21E5}"/>
              </a:ext>
            </a:extLst>
          </p:cNvPr>
          <p:cNvSpPr txBox="1"/>
          <p:nvPr/>
        </p:nvSpPr>
        <p:spPr>
          <a:xfrm>
            <a:off x="8366143" y="3105426"/>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20" name="TextBox 27">
            <a:extLst>
              <a:ext uri="{FF2B5EF4-FFF2-40B4-BE49-F238E27FC236}">
                <a16:creationId xmlns:a16="http://schemas.microsoft.com/office/drawing/2014/main" id="{E8084D42-778C-82F6-630D-9D8469AFEE15}"/>
              </a:ext>
            </a:extLst>
          </p:cNvPr>
          <p:cNvSpPr txBox="1"/>
          <p:nvPr/>
        </p:nvSpPr>
        <p:spPr>
          <a:xfrm>
            <a:off x="10950749" y="3096719"/>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21" name="TextBox 28">
            <a:extLst>
              <a:ext uri="{FF2B5EF4-FFF2-40B4-BE49-F238E27FC236}">
                <a16:creationId xmlns:a16="http://schemas.microsoft.com/office/drawing/2014/main" id="{F168AC10-2BD6-A49E-428D-30E6B39D197A}"/>
              </a:ext>
            </a:extLst>
          </p:cNvPr>
          <p:cNvSpPr txBox="1"/>
          <p:nvPr/>
        </p:nvSpPr>
        <p:spPr>
          <a:xfrm>
            <a:off x="7647303" y="3340887"/>
            <a:ext cx="1712328" cy="307777"/>
          </a:xfrm>
          <a:prstGeom prst="rect">
            <a:avLst/>
          </a:prstGeom>
          <a:noFill/>
        </p:spPr>
        <p:txBody>
          <a:bodyPr wrap="none" rtlCol="0">
            <a:spAutoFit/>
          </a:bodyPr>
          <a:lstStyle/>
          <a:p>
            <a:r>
              <a:rPr lang="en-US" sz="1400" dirty="0">
                <a:solidFill/>
                <a:latin typeface="Montserrat" panose="00000500000000000000" pitchFamily="2" charset="0"/>
              </a:rPr>
              <a:t>10% below target</a:t>
            </a:r>
          </a:p>
        </p:txBody>
      </p:sp>
      <p:sp>
        <p:nvSpPr>
          <p:cNvPr id="22" name="TextBox 30">
            <a:extLst>
              <a:ext uri="{FF2B5EF4-FFF2-40B4-BE49-F238E27FC236}">
                <a16:creationId xmlns:a16="http://schemas.microsoft.com/office/drawing/2014/main" id="{85A3284B-C2CB-7693-6750-302A3F66B386}"/>
              </a:ext>
            </a:extLst>
          </p:cNvPr>
          <p:cNvSpPr txBox="1"/>
          <p:nvPr/>
        </p:nvSpPr>
        <p:spPr>
          <a:xfrm>
            <a:off x="10299672" y="3338607"/>
            <a:ext cx="1710725" cy="307777"/>
          </a:xfrm>
          <a:prstGeom prst="rect">
            <a:avLst/>
          </a:prstGeom>
          <a:noFill/>
        </p:spPr>
        <p:txBody>
          <a:bodyPr wrap="none" rtlCol="0">
            <a:spAutoFit/>
          </a:bodyPr>
          <a:lstStyle/>
          <a:p>
            <a:r>
              <a:rPr lang="en-US" sz="1400" dirty="0">
                <a:solidFill/>
                <a:latin typeface="Montserrat" panose="00000500000000000000" pitchFamily="2" charset="0"/>
              </a:rPr>
              <a:t>10% above target</a:t>
            </a:r>
          </a:p>
        </p:txBody>
      </p:sp>
      <p:pic>
        <p:nvPicPr>
          <p:cNvPr id="23" name="Picture 13">
            <a:extLst>
              <a:ext uri="{FF2B5EF4-FFF2-40B4-BE49-F238E27FC236}">
                <a16:creationId xmlns:a16="http://schemas.microsoft.com/office/drawing/2014/main" id="{65F53EDF-0588-3C27-A588-DCF0628F109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24" name="Freeform 13">
            <a:extLst>
              <a:ext uri="{FF2B5EF4-FFF2-40B4-BE49-F238E27FC236}">
                <a16:creationId xmlns:a16="http://schemas.microsoft.com/office/drawing/2014/main" id="{A69C37A6-72AB-457A-7E49-54EBE4F44F0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8" name="Content Placeholder 24">
            <a:extLst>
              <a:ext uri="{FF2B5EF4-FFF2-40B4-BE49-F238E27FC236}">
                <a16:creationId xmlns:a16="http://schemas.microsoft.com/office/drawing/2014/main" id="{6B215B81-F1A0-2563-FFBD-BBDF838743BE}"/>
              </a:ext>
            </a:extLst>
          </p:cNvPr>
          <p:cNvPicPr>
            <a:picLocks/>
          </p:cNvPicPr>
          <p:nvPr/>
        </p:nvPicPr>
        <p:blipFill>
          <a:blip r:embed="rId3" cstate="print"/>
          <a:stretch>
            <a:fillRect/>
          </a:stretch>
        </p:blipFill>
        <p:spPr>
          <a:xfrm>
            <a:off x="182880"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3,296.3K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6,595.3K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12,293.1K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19,793.2K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126.0K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3,004.7K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6,492.1K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12,239.1K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19,802.8K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14,400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21,700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4,532.4K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9,068.5K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16,859.1K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27,184.3K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172.8K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260.4K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4,255.2K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8,994.1K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16,851.9K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27,264.7K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2,060.2K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4,122.1K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7,727.1K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12,402.1K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118.8K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1,754.2K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3,990.1K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7,626.3K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12,340.9K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911586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337157" y="136525"/>
            <a:ext cx="11569498" cy="1091529"/>
          </a:xfrm>
        </p:spPr>
        <p:txBody>
          <a:bodyPr>
            <a:noAutofit/>
          </a:bodyPr>
          <a:lstStyle/>
          <a:p>
            <a:pPr>
              <a:lnSpc>
                <a:spcPct val="100000"/>
              </a:lnSpc>
              <a:spcBef>
                <a:spcPts val="1800"/>
              </a:spcBef>
              <a:spcAft>
                <a:spcPts val="600"/>
              </a:spcAft>
            </a:pPr>
            <a:r>
              <a:rPr lang="en-US" sz="2400" dirty="0">
                <a:solidFill>
                  <a:srgbClr val="000B2E"/>
                </a:solidFill>
                <a:cs typeface="Arial" panose="020B0604020202020204" pitchFamily="34" charset="0"/>
              </a:rPr>
              <a:t>DIRECT-TO-EMPLOYER STRATEGY:</a:t>
            </a:r>
            <a:br>
              <a:rPr lang="en-US" sz="3600" b="1" dirty="0">
                <a:solidFill>
                  <a:srgbClr val="000B2E"/>
                </a:solidFill>
                <a:cs typeface="Arial" panose="020B0604020202020204" pitchFamily="34" charset="0"/>
              </a:rPr>
            </a:br>
            <a:r>
              <a:rPr lang="en-US" sz="3200" b="1" dirty="0">
                <a:solidFill>
                  <a:srgbClr val="000B2E"/>
                </a:solidFill>
                <a:cs typeface="Arial" panose="020B0604020202020204" pitchFamily="34" charset="0"/>
              </a:rPr>
              <a:t>ONLY AVAILABLE TO </a:t>
            </a:r>
            <a:r>
              <a:rPr lang="en-US" sz="3200" b="1" i="1" dirty="0">
                <a:solidFill>
                  <a:srgbClr val="000B2E"/>
                </a:solidFill>
                <a:cs typeface="Arial" panose="020B0604020202020204" pitchFamily="34" charset="0"/>
              </a:rPr>
              <a:t>PREMIER</a:t>
            </a:r>
            <a:r>
              <a:rPr lang="en-US" sz="3200" b="1" dirty="0">
                <a:solidFill>
                  <a:srgbClr val="000B2E"/>
                </a:solidFill>
                <a:cs typeface="Arial" panose="020B0604020202020204" pitchFamily="34" charset="0"/>
              </a:rPr>
              <a:t> HEALTH SYSTEMS</a:t>
            </a: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612859" y="1848935"/>
            <a:ext cx="6028455" cy="4660901"/>
          </a:xfrm>
        </p:spPr>
        <p:txBody>
          <a:bodyPr>
            <a:normAutofit/>
          </a:bodyPr>
          <a:lstStyle/>
          <a:p>
            <a:pPr marL="0" indent="0">
              <a:lnSpc>
                <a:spcPct val="150000"/>
              </a:lnSpc>
              <a:spcAft>
                <a:spcPts val="1200"/>
              </a:spcAft>
              <a:buNone/>
            </a:pPr>
            <a:r>
              <a:rPr lang="en-US" sz="3200" b="1" dirty="0">
                <a:solidFill>
                  <a:srgbClr val="59CAE8"/>
                </a:solidFill>
                <a:latin typeface="Montserrat" panose="00000500000000000000" pitchFamily="2"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Montserrat" panose="00000500000000000000" pitchFamily="2"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Montserrat" panose="00000500000000000000" pitchFamily="2"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Montserrat" panose="00000500000000000000" pitchFamily="2" charset="0"/>
              </a:rPr>
              <a:t>EXCELLENT</a:t>
            </a:r>
            <a:r>
              <a:rPr lang="en-US" sz="3200" dirty="0">
                <a:solidFill>
                  <a:srgbClr val="9900CC"/>
                </a:solidFill>
              </a:rPr>
              <a:t> </a:t>
            </a:r>
            <a:r>
              <a:rPr lang="en-US" sz="3200" dirty="0">
                <a:solidFill>
                  <a:schemeClr val="tx1">
                    <a:lumMod val="75000"/>
                    <a:lumOff val="25000"/>
                  </a:schemeClr>
                </a:solidFill>
              </a:rPr>
              <a:t>Care Quality  </a:t>
            </a:r>
          </a:p>
        </p:txBody>
      </p:sp>
      <p:pic>
        <p:nvPicPr>
          <p:cNvPr id="4" name="Picture 5">
            <a:extLst>
              <a:ext uri="{FF2B5EF4-FFF2-40B4-BE49-F238E27FC236}">
                <a16:creationId xmlns:a16="http://schemas.microsoft.com/office/drawing/2014/main" id="{182E78E4-84F7-ECC4-4085-D8F128942AD6}"/>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63B286E7-A296-8685-AC6B-CA7B2EB60EBD}"/>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Content Placeholder 5"/>
          <p:cNvPicPr>
            <a:picLocks noGrp="1"/>
          </p:cNvPicPr>
          <p:nvPr>
            <p:ph/>
          </p:nvPr>
        </p:nvPicPr>
        <p:blipFill>
          <a:blip r:embed="rId3" cstate="print"/>
          <a:stretch>
            <a:fillRect/>
          </a:stretch>
        </p:blipFill>
        <p:spPr>
          <a:xfrm>
            <a:off x="1508760" y="2834640"/>
            <a:ext cx="3154680" cy="917725"/>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157AD-9D57-0448-105A-79BA8850085E}"/>
              </a:ext>
            </a:extLst>
          </p:cNvPr>
          <p:cNvSpPr>
            <a:spLocks noGrp="1"/>
          </p:cNvSpPr>
          <p:nvPr>
            <p:ph type="title"/>
          </p:nvPr>
        </p:nvSpPr>
        <p:spPr>
          <a:xfrm>
            <a:off x="215573" y="136525"/>
            <a:ext cx="11590512" cy="1325563"/>
          </a:xfrm>
        </p:spPr>
        <p:txBody>
          <a:bodyPr>
            <a:noAutofit/>
          </a:bodyPr>
          <a:lstStyle/>
          <a:p>
            <a:pPr>
              <a:lnSpc>
                <a:spcPct val="100000"/>
              </a:lnSpc>
              <a:spcBef>
                <a:spcPts val="1800"/>
              </a:spcBef>
              <a:spcAft>
                <a:spcPts val="600"/>
              </a:spcAft>
            </a:pPr>
            <a:r>
              <a:rPr lang="en-US" sz="2800" dirty="0">
                <a:solidFill>
                  <a:srgbClr val="000B2E"/>
                </a:solidFill>
                <a:cs typeface="Arial" panose="020B0604020202020204" pitchFamily="34" charset="0"/>
              </a:rPr>
              <a:t>KETTERING HEALTH NETWORK IS PATIENT RECOMMENDED</a:t>
            </a:r>
            <a:endParaRPr lang="en-US" sz="1100" dirty="0">
              <a:solidFill>
                <a:schemeClr val="tx1">
                  <a:lumMod val="75000"/>
                  <a:lumOff val="25000"/>
                </a:schemeClr>
              </a:solidFill>
              <a:cs typeface="Arial" panose="020B0604020202020204" pitchFamily="34" charset="0"/>
            </a:endParaRPr>
          </a:p>
        </p:txBody>
      </p:sp>
      <p:sp>
        <p:nvSpPr>
          <p:cNvPr id="3" name="Rectangle 1">
            <a:extLst>
              <a:ext uri="{FF2B5EF4-FFF2-40B4-BE49-F238E27FC236}">
                <a16:creationId xmlns:a16="http://schemas.microsoft.com/office/drawing/2014/main" id="{3E0219A2-C97D-9E0E-9C52-C5207AB41BD4}"/>
              </a:ext>
            </a:extLst>
          </p:cNvPr>
          <p:cNvSpPr/>
          <p:nvPr/>
        </p:nvSpPr>
        <p:spPr>
          <a:xfrm>
            <a:off x="9405257" y="1989573"/>
            <a:ext cx="2532185" cy="3486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Montserrat" panose="00000500000000000000" pitchFamily="2" charset="0"/>
              </a:rPr>
              <a:t>Based on quality measures and HCAHPS feedback, KBA estimates that Kettering Health Network has the strongest brand in the Dayton area. </a:t>
            </a:r>
          </a:p>
        </p:txBody>
      </p:sp>
      <p:pic>
        <p:nvPicPr>
          <p:cNvPr id="4" name="Picture 8">
            <a:extLst>
              <a:ext uri="{FF2B5EF4-FFF2-40B4-BE49-F238E27FC236}">
                <a16:creationId xmlns:a16="http://schemas.microsoft.com/office/drawing/2014/main" id="{2AD52701-1DE7-13B3-FBF0-4BD24A480709}"/>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A6B1301C-BF63-22CC-7705-C12ACB4A1EC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3061140037"/>
              </p:ext>
            </p:extLst>
          </p:nvPr>
        </p:nvGraphicFramePr>
        <p:xfrm>
          <a:off x="429768" y="1645920"/>
          <a:ext cx="8803967" cy="3675726"/>
        </p:xfrm>
        <a:graphic>
          <a:graphicData uri="http://schemas.openxmlformats.org/drawingml/2006/table">
            <a:tbl>
              <a:tblPr/>
              <a:tblGrid>
                <a:gridCol w="2346268">
                  <a:extLst>
                    <a:ext uri="{9D8B030D-6E8A-4147-A177-3AD203B41FA5}">
                      <a16:colId xmlns:a16="http://schemas.microsoft.com/office/drawing/2014/main" val="20000"/>
                    </a:ext>
                  </a:extLst>
                </a:gridCol>
                <a:gridCol w="1648625">
                  <a:extLst>
                    <a:ext uri="{9D8B030D-6E8A-4147-A177-3AD203B41FA5}">
                      <a16:colId xmlns:a16="http://schemas.microsoft.com/office/drawing/2014/main" val="20001"/>
                    </a:ext>
                  </a:extLst>
                </a:gridCol>
                <a:gridCol w="1103948">
                  <a:extLst>
                    <a:ext uri="{9D8B030D-6E8A-4147-A177-3AD203B41FA5}">
                      <a16:colId xmlns:a16="http://schemas.microsoft.com/office/drawing/2014/main" val="20002"/>
                    </a:ext>
                  </a:extLst>
                </a:gridCol>
                <a:gridCol w="1068395">
                  <a:extLst>
                    <a:ext uri="{9D8B030D-6E8A-4147-A177-3AD203B41FA5}">
                      <a16:colId xmlns:a16="http://schemas.microsoft.com/office/drawing/2014/main" val="20003"/>
                    </a:ext>
                  </a:extLst>
                </a:gridCol>
                <a:gridCol w="1300471">
                  <a:extLst>
                    <a:ext uri="{9D8B030D-6E8A-4147-A177-3AD203B41FA5}">
                      <a16:colId xmlns:a16="http://schemas.microsoft.com/office/drawing/2014/main" val="20004"/>
                    </a:ext>
                  </a:extLst>
                </a:gridCol>
                <a:gridCol w="1336260">
                  <a:extLst>
                    <a:ext uri="{9D8B030D-6E8A-4147-A177-3AD203B41FA5}">
                      <a16:colId xmlns:a16="http://schemas.microsoft.com/office/drawing/2014/main" val="20005"/>
                    </a:ext>
                  </a:extLst>
                </a:gridCol>
              </a:tblGrid>
              <a:tr h="567527">
                <a:tc>
                  <a:txBody>
                    <a:bodyPr/>
                    <a:lstStyle/>
                    <a:p>
                      <a:pPr marL="63500" marR="63500" algn="l">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Health System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HCAHPS</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Recommendation</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CMS Stars</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Mortality</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Readmission</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KBA Brand</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Quality Score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Christ Hospital System</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91</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4267A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100</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30589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68</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28DB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74</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583B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75</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381B3">
                        <a:alpha val="100000"/>
                      </a:srgbClr>
                    </a:solidFill>
                  </a:tcPr>
                </a:tc>
                <a:extLst>
                  <a:ext uri="{0D108BD9-81ED-4DB2-BD59-A6C34878D82A}">
                    <a16:rowId xmlns:a16="http://schemas.microsoft.com/office/drawing/2014/main" val="10001"/>
                  </a:ext>
                </a:extLst>
              </a:tr>
              <a:tr h="390173">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Kettering Health Network</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E97C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583B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892BE">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690BD">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690BD">
                        <a:alpha val="100000"/>
                      </a:srgbClr>
                    </a:solidFill>
                  </a:tcPr>
                </a:tc>
                <a:extLst>
                  <a:ext uri="{0D108BD9-81ED-4DB2-BD59-A6C34878D82A}">
                    <a16:rowId xmlns:a16="http://schemas.microsoft.com/office/drawing/2014/main" val="10002"/>
                  </a:ext>
                </a:extLst>
              </a:tr>
              <a:tr h="364184">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St Elizabeth Healthcare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E97C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93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3E63A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B7BB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A94BF">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690BD">
                        <a:alpha val="100000"/>
                      </a:srgbClr>
                    </a:solidFill>
                  </a:tcPr>
                </a:tc>
                <a:extLst>
                  <a:ext uri="{0D108BD9-81ED-4DB2-BD59-A6C34878D82A}">
                    <a16:rowId xmlns:a16="http://schemas.microsoft.com/office/drawing/2014/main" val="10003"/>
                  </a:ext>
                </a:extLst>
              </a:tr>
              <a:tr h="364184">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UC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FA4C9">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48FB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DA3C8">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892BE">
                        <a:alpha val="100000"/>
                      </a:srgbClr>
                    </a:solidFill>
                  </a:tcPr>
                </a:tc>
                <a:extLst>
                  <a:ext uri="{0D108BD9-81ED-4DB2-BD59-A6C34878D82A}">
                    <a16:rowId xmlns:a16="http://schemas.microsoft.com/office/drawing/2014/main" val="10004"/>
                  </a:ext>
                </a:extLst>
              </a:tr>
              <a:tr h="390241">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CommonSpirit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DA3C8">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583B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986B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A94BF">
                        <a:alpha val="100000"/>
                      </a:srgbClr>
                    </a:solidFill>
                  </a:tcPr>
                </a:tc>
                <a:extLst>
                  <a:ext uri="{0D108BD9-81ED-4DB2-BD59-A6C34878D82A}">
                    <a16:rowId xmlns:a16="http://schemas.microsoft.com/office/drawing/2014/main" val="10005"/>
                  </a:ext>
                </a:extLst>
              </a:tr>
              <a:tr h="390310">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Other Independent Hospitals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39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EBDD8">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82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576AD">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99FC6">
                        <a:alpha val="100000"/>
                      </a:srgbClr>
                    </a:solidFill>
                  </a:tcPr>
                </a:tc>
                <a:extLst>
                  <a:ext uri="{0D108BD9-81ED-4DB2-BD59-A6C34878D82A}">
                    <a16:rowId xmlns:a16="http://schemas.microsoft.com/office/drawing/2014/main" val="10006"/>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Bon Secours Mercy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29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C2CEE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583B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D7CB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A94BF">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FA4C9">
                        <a:alpha val="100000"/>
                      </a:srgbClr>
                    </a:solidFill>
                  </a:tcPr>
                </a:tc>
                <a:extLst>
                  <a:ext uri="{0D108BD9-81ED-4DB2-BD59-A6C34878D82A}">
                    <a16:rowId xmlns:a16="http://schemas.microsoft.com/office/drawing/2014/main" val="10007"/>
                  </a:ext>
                </a:extLst>
              </a:tr>
              <a:tr h="362956">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Premier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23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CFD8E8">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7892BE">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5D7CB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95A9CB">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Montserrat"/>
                          <a:cs typeface="Arial"/>
                          <a:sym typeface="Arial"/>
                        </a:rPr>
                        <a:t>53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91A6CA">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40647523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C179CC05-C580-445B-A6CE-880F87F13ADE}"/>
              </a:ext>
            </a:extLst>
          </p:cNvPr>
          <p:cNvSpPr/>
          <p:nvPr/>
        </p:nvSpPr>
        <p:spPr>
          <a:xfrm>
            <a:off x="1" y="-18338"/>
            <a:ext cx="1333500" cy="6888683"/>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8">
            <a:extLst>
              <a:ext uri="{FF2B5EF4-FFF2-40B4-BE49-F238E27FC236}">
                <a16:creationId xmlns:a16="http://schemas.microsoft.com/office/drawing/2014/main" id="{5D0A2589-D5AE-4FA5-AFEE-380FBDE57678}"/>
              </a:ext>
            </a:extLst>
          </p:cNvPr>
          <p:cNvSpPr/>
          <p:nvPr/>
        </p:nvSpPr>
        <p:spPr>
          <a:xfrm>
            <a:off x="8305799" y="0"/>
            <a:ext cx="3886201" cy="6870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Footer Placeholder 2">
            <a:extLst>
              <a:ext uri="{FF2B5EF4-FFF2-40B4-BE49-F238E27FC236}">
                <a16:creationId xmlns:a16="http://schemas.microsoft.com/office/drawing/2014/main" id="{3B8F1952-97F2-4B3F-B2E1-5810787BF1F5}"/>
              </a:ext>
            </a:extLst>
          </p:cNvPr>
          <p:cNvSpPr>
            <a:spLocks noGrp="1"/>
          </p:cNvSpPr>
          <p:nvPr>
            <p:ph type="ftr" sz="quarter" idx="11"/>
          </p:nvPr>
        </p:nvSpPr>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E944F38-D276-436B-8BA7-1690795B2612}"/>
              </a:ext>
            </a:extLst>
          </p:cNvPr>
          <p:cNvSpPr>
            <a:spLocks noGrp="1"/>
          </p:cNvSpPr>
          <p:nvPr>
            <p:ph type="sldNum" sz="quarter" idx="12"/>
          </p:nvPr>
        </p:nvSpPr>
        <p:spPr/>
        <p:txBody>
          <a:bodyPr/>
          <a:lstStyle/>
          <a:p>
            <a:fld id="{3AFC719D-C4A7-4544-876E-D411D11AF6C9}" type="slidenum">
              <a:rPr lang="en-US" smtClean="0"/>
              <a:t>18</a:t>
            </a:fld>
            <a:endParaRPr lang="en-US" dirty="0"/>
          </a:p>
        </p:txBody>
      </p:sp>
      <p:sp>
        <p:nvSpPr>
          <p:cNvPr id="6" name="Rectangle 4">
            <a:extLst>
              <a:ext uri="{FF2B5EF4-FFF2-40B4-BE49-F238E27FC236}">
                <a16:creationId xmlns:a16="http://schemas.microsoft.com/office/drawing/2014/main" id="{3E6586F0-A9B4-4F4A-B94E-351404883741}"/>
              </a:ext>
            </a:extLst>
          </p:cNvPr>
          <p:cNvSpPr/>
          <p:nvPr/>
        </p:nvSpPr>
        <p:spPr>
          <a:xfrm>
            <a:off x="1981201" y="548292"/>
            <a:ext cx="5686424" cy="5324535"/>
          </a:xfrm>
          <a:prstGeom prst="rect">
            <a:avLst/>
          </a:prstGeom>
        </p:spPr>
        <p:txBody>
          <a:bodyPr wrap="square">
            <a:spAutoFit/>
          </a:bodyPr>
          <a:lstStyle/>
          <a:p>
            <a:pPr>
              <a:spcAft>
                <a:spcPts val="1200"/>
              </a:spcAft>
            </a:pPr>
            <a:r>
              <a:rPr lang="en-US" sz="1600" b="1" cap="all" dirty="0">
                <a:solidFill>
                  <a:srgbClr val="000B2E"/>
                </a:solidFill>
                <a:latin typeface="Montserrat" panose="00000500000000000000" pitchFamily="2" charset="0"/>
              </a:rPr>
              <a:t>Kettering Health Network’s Network</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The medical providers in your direct control or part of Kettering Health Network’s integrated delivery system </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Potential risk sharing arrangements (e.g. employer stop-loss participation)</a:t>
            </a:r>
          </a:p>
          <a:p>
            <a:pPr>
              <a:spcAft>
                <a:spcPts val="1200"/>
              </a:spcAft>
            </a:pPr>
            <a:r>
              <a:rPr lang="en-US" sz="1600" b="1" cap="all" dirty="0">
                <a:solidFill>
                  <a:srgbClr val="000B2E"/>
                </a:solidFill>
                <a:latin typeface="Montserrat" panose="00000500000000000000" pitchFamily="2" charset="0"/>
              </a:rPr>
              <a:t>Friends &amp; Family Providers – TIER 1</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Access through direct contracts at the discretion of Kettering Health Network</a:t>
            </a:r>
          </a:p>
          <a:p>
            <a:pPr>
              <a:spcAft>
                <a:spcPts val="1200"/>
              </a:spcAft>
            </a:pPr>
            <a:r>
              <a:rPr lang="en-US" sz="1600" b="1" dirty="0">
                <a:solidFill>
                  <a:srgbClr val="000B2E"/>
                </a:solidFill>
                <a:latin typeface="Montserrat" panose="00000500000000000000" pitchFamily="2" charset="0"/>
              </a:rPr>
              <a:t>WRAP NETWORK </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Medical services from national PPO networks for members that travel, tertiary and specialty services you do not provide, and employees residing outside your direct catchment area </a:t>
            </a:r>
          </a:p>
          <a:p>
            <a:pPr marL="0" lvl="1">
              <a:spcAft>
                <a:spcPts val="1200"/>
              </a:spcAft>
            </a:pPr>
            <a:r>
              <a:rPr lang="en-US" sz="1600" b="1" dirty="0">
                <a:solidFill>
                  <a:srgbClr val="000B2E"/>
                </a:solidFill>
                <a:latin typeface="Montserrat" panose="00000500000000000000" pitchFamily="2" charset="0"/>
              </a:rPr>
              <a:t>OUT-OF-NETWORK</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Non-contracted medical providers</a:t>
            </a:r>
          </a:p>
        </p:txBody>
      </p:sp>
      <p:graphicFrame>
        <p:nvGraphicFramePr>
          <p:cNvPr id="7" name="Diagram 8">
            <a:extLst>
              <a:ext uri="{FF2B5EF4-FFF2-40B4-BE49-F238E27FC236}">
                <a16:creationId xmlns:a16="http://schemas.microsoft.com/office/drawing/2014/main" id="{FAD0E162-C21A-49A7-B8F7-5357E17BEF5D}"/>
              </a:ext>
            </a:extLst>
          </p:cNvPr>
          <p:cNvGraphicFramePr/>
          <p:nvPr>
            <p:extLst>
              <p:ext uri="{D42A27DB-BD31-4B8C-83A1-F6EECF244321}">
                <p14:modId xmlns:p14="http://schemas.microsoft.com/office/powerpoint/2010/main" val="3661889314"/>
              </p:ext>
            </p:extLst>
          </p:nvPr>
        </p:nvGraphicFramePr>
        <p:xfrm>
          <a:off x="8377646" y="330927"/>
          <a:ext cx="3718560" cy="585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Content Placeholder 7"/>
          <p:cNvPicPr>
            <a:picLocks noGrp="1"/>
          </p:cNvPicPr>
          <p:nvPr>
            <p:ph/>
          </p:nvPr>
        </p:nvPicPr>
        <p:blipFill>
          <a:blip r:embed="rId7" cstate="print"/>
          <a:stretch>
            <a:fillRect/>
          </a:stretch>
        </p:blipFill>
        <p:spPr>
          <a:xfrm>
            <a:off x="9727691" y="4242816"/>
            <a:ext cx="1042416" cy="303248"/>
          </a:xfrm>
          <a:prstGeom prst="rect">
            <a:avLst/>
          </a:prstGeom>
        </p:spPr>
      </p:pic>
    </p:spTree>
    <p:extLst>
      <p:ext uri="{BB962C8B-B14F-4D97-AF65-F5344CB8AC3E}">
        <p14:creationId xmlns:p14="http://schemas.microsoft.com/office/powerpoint/2010/main" val="17006213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F664F8C9-9C7F-4948-A85D-2E89D3FE40B6}"/>
              </a:ext>
            </a:extLst>
          </p:cNvPr>
          <p:cNvSpPr>
            <a:spLocks noGrp="1"/>
          </p:cNvSpPr>
          <p:nvPr>
            <p:ph type="ftr" sz="quarter" idx="11"/>
          </p:nvPr>
        </p:nvSpPr>
        <p:spPr/>
        <p:txBody>
          <a:bodyPr/>
          <a:lstStyle/>
          <a:p>
            <a:r>
              <a:rPr lang="en-US" dirty="0"/>
              <a:t>Key Benefit Administrators</a:t>
            </a:r>
          </a:p>
        </p:txBody>
      </p:sp>
      <p:sp>
        <p:nvSpPr>
          <p:cNvPr id="3" name="Slide Number Placeholder 3">
            <a:extLst>
              <a:ext uri="{FF2B5EF4-FFF2-40B4-BE49-F238E27FC236}">
                <a16:creationId xmlns:a16="http://schemas.microsoft.com/office/drawing/2014/main" id="{29335D2A-704B-40DA-B40A-6813A0904A8C}"/>
              </a:ext>
            </a:extLst>
          </p:cNvPr>
          <p:cNvSpPr>
            <a:spLocks noGrp="1"/>
          </p:cNvSpPr>
          <p:nvPr>
            <p:ph type="sldNum" sz="quarter" idx="12"/>
          </p:nvPr>
        </p:nvSpPr>
        <p:spPr/>
        <p:txBody>
          <a:bodyPr/>
          <a:lstStyle/>
          <a:p>
            <a:fld id="{3AFC719D-C4A7-4544-876E-D411D11AF6C9}" type="slidenum">
              <a:rPr lang="en-US" smtClean="0"/>
              <a:t>19</a:t>
            </a:fld>
            <a:endParaRPr lang="en-US" dirty="0"/>
          </a:p>
        </p:txBody>
      </p:sp>
      <p:pic>
        <p:nvPicPr>
          <p:cNvPr id="4" name="Picture 5">
            <a:extLst>
              <a:ext uri="{FF2B5EF4-FFF2-40B4-BE49-F238E27FC236}">
                <a16:creationId xmlns:a16="http://schemas.microsoft.com/office/drawing/2014/main" id="{10F9F71E-E6B1-42DA-8A5C-BA766FB41692}"/>
              </a:ext>
            </a:extLst>
          </p:cNvPr>
          <p:cNvPicPr/>
          <p:nvPr/>
        </p:nvPicPr>
        <p:blipFill>
          <a:blip r:embed="rId2"/>
          <a:stretch>
            <a:fillRect/>
          </a:stretch>
        </p:blipFill>
        <p:spPr>
          <a:xfrm>
            <a:off x="944808" y="1094934"/>
            <a:ext cx="10828091" cy="3515166"/>
          </a:xfrm>
          <a:prstGeom prst="rect">
            <a:avLst/>
          </a:prstGeom>
        </p:spPr>
      </p:pic>
      <p:sp>
        <p:nvSpPr>
          <p:cNvPr id="5" name="Right Brace 6">
            <a:extLst>
              <a:ext uri="{FF2B5EF4-FFF2-40B4-BE49-F238E27FC236}">
                <a16:creationId xmlns:a16="http://schemas.microsoft.com/office/drawing/2014/main" id="{3FB139EF-7F84-45B5-97A9-2678E891CE13}"/>
              </a:ext>
            </a:extLst>
          </p:cNvPr>
          <p:cNvSpPr/>
          <p:nvPr/>
        </p:nvSpPr>
        <p:spPr>
          <a:xfrm rot="5400000">
            <a:off x="3193839" y="2494417"/>
            <a:ext cx="555585" cy="4924885"/>
          </a:xfrm>
          <a:prstGeom prst="rightBrace">
            <a:avLst/>
          </a:prstGeom>
          <a:ln>
            <a:solidFill>
              <a:srgbClr val="254F96"/>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dirty="0">
              <a:latin typeface="Montserrat" panose="00000500000000000000" pitchFamily="2" charset="0"/>
            </a:endParaRPr>
          </a:p>
        </p:txBody>
      </p:sp>
      <p:sp>
        <p:nvSpPr>
          <p:cNvPr id="6" name="TextBox 8">
            <a:extLst>
              <a:ext uri="{FF2B5EF4-FFF2-40B4-BE49-F238E27FC236}">
                <a16:creationId xmlns:a16="http://schemas.microsoft.com/office/drawing/2014/main" id="{11F3B9D2-B381-4EA2-993A-13B4DAC230E5}"/>
              </a:ext>
            </a:extLst>
          </p:cNvPr>
          <p:cNvSpPr txBox="1"/>
          <p:nvPr/>
        </p:nvSpPr>
        <p:spPr>
          <a:xfrm>
            <a:off x="2036719" y="5303619"/>
            <a:ext cx="3019883" cy="923330"/>
          </a:xfrm>
          <a:prstGeom prst="rect">
            <a:avLst/>
          </a:prstGeom>
          <a:noFill/>
        </p:spPr>
        <p:txBody>
          <a:bodyPr wrap="square" rtlCol="0">
            <a:spAutoFit/>
          </a:bodyPr>
          <a:lstStyle/>
          <a:p>
            <a:pPr algn="ctr"/>
            <a:r>
              <a:rPr lang="en-US" dirty="0">
                <a:latin typeface="Montserrat" panose="00000500000000000000" pitchFamily="2" charset="0"/>
              </a:rPr>
              <a:t>Exclusive Provider Organization (EPO) Plan Design Structure</a:t>
            </a:r>
          </a:p>
        </p:txBody>
      </p:sp>
      <p:sp>
        <p:nvSpPr>
          <p:cNvPr id="7" name="Rectangle 16">
            <a:extLst>
              <a:ext uri="{FF2B5EF4-FFF2-40B4-BE49-F238E27FC236}">
                <a16:creationId xmlns:a16="http://schemas.microsoft.com/office/drawing/2014/main" id="{F2E566E5-041D-4247-A79E-A185C1420D0E}"/>
              </a:ext>
            </a:extLst>
          </p:cNvPr>
          <p:cNvSpPr/>
          <p:nvPr/>
        </p:nvSpPr>
        <p:spPr>
          <a:xfrm>
            <a:off x="0" y="12345"/>
            <a:ext cx="12192000" cy="1013622"/>
          </a:xfrm>
          <a:prstGeom prst="rect">
            <a:avLst/>
          </a:prstGeom>
          <a:solidFill>
            <a:srgbClr val="00539F">
              <a:alpha val="94902"/>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dirty="0">
              <a:latin typeface="Montserrat" panose="00000500000000000000" pitchFamily="2" charset="0"/>
            </a:endParaRPr>
          </a:p>
        </p:txBody>
      </p:sp>
      <p:sp>
        <p:nvSpPr>
          <p:cNvPr id="8" name="TextBox 7">
            <a:extLst>
              <a:ext uri="{FF2B5EF4-FFF2-40B4-BE49-F238E27FC236}">
                <a16:creationId xmlns:a16="http://schemas.microsoft.com/office/drawing/2014/main" id="{FF7C74A4-33A6-F02F-D22F-33835E639085}"/>
              </a:ext>
            </a:extLst>
          </p:cNvPr>
          <p:cNvSpPr txBox="1"/>
          <p:nvPr/>
        </p:nvSpPr>
        <p:spPr>
          <a:xfrm>
            <a:off x="157424" y="71860"/>
            <a:ext cx="11877152" cy="954107"/>
          </a:xfrm>
          <a:prstGeom prst="rect">
            <a:avLst/>
          </a:prstGeom>
          <a:noFill/>
        </p:spPr>
        <p:txBody>
          <a:bodyPr wrap="square">
            <a:spAutoFit/>
          </a:bodyPr>
          <a:lstStyle/>
          <a:p>
            <a:pPr algn="ctr"/>
            <a:r>
              <a:rPr lang="en-US" sz="2800" dirty="0">
                <a:solidFill>
                  <a:schemeClr val="bg1"/>
                </a:solidFill>
                <a:latin typeface="Montserrat" panose="00000500000000000000" pitchFamily="2" charset="0"/>
              </a:rPr>
              <a:t>BENEFIT PLAN DESIGNS THAT OPTIMIZE STEERAGE TO KETTERING HEALTH NETWORK</a:t>
            </a:r>
          </a:p>
        </p:txBody>
      </p:sp>
      <p:pic>
        <p:nvPicPr>
          <p:cNvPr id="9" name="Content Placeholder 8"/>
          <p:cNvPicPr>
            <a:picLocks noGrp="1"/>
          </p:cNvPicPr>
          <p:nvPr>
            <p:ph/>
          </p:nvPr>
        </p:nvPicPr>
        <p:blipFill>
          <a:blip r:embed="rId3" cstate="print"/>
          <a:stretch>
            <a:fillRect/>
          </a:stretch>
        </p:blipFill>
        <p:spPr>
          <a:xfrm>
            <a:off x="8467344" y="5234652"/>
            <a:ext cx="3143250" cy="914400"/>
          </a:xfrm>
          <a:prstGeom prst="rect">
            <a:avLst/>
          </a:prstGeom>
        </p:spPr>
      </p:pic>
    </p:spTree>
    <p:extLst>
      <p:ext uri="{BB962C8B-B14F-4D97-AF65-F5344CB8AC3E}">
        <p14:creationId xmlns:p14="http://schemas.microsoft.com/office/powerpoint/2010/main" val="3325436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20</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00539F">
              <a:alpha val="8588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823722" y="2964771"/>
            <a:ext cx="6625853" cy="752041"/>
          </a:xfrm>
        </p:spPr>
        <p:txBody>
          <a:bodyPr>
            <a:noAutofit/>
          </a:bodyPr>
          <a:lstStyle/>
          <a:p>
            <a:pPr>
              <a:lnSpc>
                <a:spcPct val="100000"/>
              </a:lnSpc>
              <a:spcBef>
                <a:spcPts val="600"/>
              </a:spcBef>
            </a:pPr>
            <a:r>
              <a:rPr lang="en-US" sz="32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830997"/>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latin typeface="Montserrat" panose="00000500000000000000" pitchFamily="2" charset="0"/>
              </a:rPr>
              <a:t>NOTE:  Please see detailed financial analysis and assumptions used starting on page 28.  </a:t>
            </a:r>
          </a:p>
          <a:p>
            <a:pPr marL="285750" indent="-285750">
              <a:buFont typeface="Arial" panose="020B0604020202020204" pitchFamily="34" charset="0"/>
              <a:buChar char="•"/>
            </a:pPr>
            <a:r>
              <a:rPr lang="en-US" sz="1200" dirty="0">
                <a:solidFill/>
                <a:latin typeface="Montserrat" panose="00000500000000000000" pitchFamily="2" charset="0"/>
              </a:rPr>
              <a:t>Financial projections do not include 340B contribution margin, which could represent $136 PMPM by optimizing 340B through Rx plan design, Kettering Health Network’s approved site(s) with network integration, and development of Kettering Health Network’s proprietary PBM program.</a:t>
            </a:r>
            <a:r>
              <a:rPr lang="en-US" sz="1200" dirty="0">
                <a:highlight>
                  <a:srgbClr val="FFFF00"/>
                </a:highlight>
                <a:latin typeface="Montserrat" panose="00000500000000000000" pitchFamily="2" charset="0"/>
              </a:rPr>
              <a:t>   </a:t>
            </a:r>
          </a:p>
        </p:txBody>
      </p:sp>
      <p:graphicFrame>
        <p:nvGraphicFramePr>
          <p:cNvPr id="9" name="Table 8">
            <a:extLst>
              <a:ext uri="{FF2B5EF4-FFF2-40B4-BE49-F238E27FC236}">
                <a16:creationId xmlns:a16="http://schemas.microsoft.com/office/drawing/2014/main" id="{EB28B35A-CB6F-7010-0EE8-958E915D19A9}"/>
              </a:ext>
            </a:extLst>
          </p:cNvPr>
          <p:cNvGraphicFramePr>
            <a:graphicFrameLocks noGrp="1"/>
          </p:cNvGraphicFramePr>
          <p:nvPr>
            <p:extLst>
              <p:ext uri="{D42A27DB-BD31-4B8C-83A1-F6EECF244321}">
                <p14:modId xmlns:p14="http://schemas.microsoft.com/office/powerpoint/2010/main" val="3233617017"/>
              </p:ext>
            </p:extLst>
          </p:nvPr>
        </p:nvGraphicFramePr>
        <p:xfrm>
          <a:off x="2147089" y="470624"/>
          <a:ext cx="9052560" cy="454152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23.2%.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23.2%.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23.2%.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23.2%.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23.2%.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23.2%.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23.2%.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23.2%.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219K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658K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439K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102K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-227K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$ 1,094K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254K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3,288K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$ 2,194K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763K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509K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185K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$ 2,188K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508K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6,576K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$ 4,388K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$ 1,526K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$ 1,018K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700K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$ 5,470K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$ 1,269K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$ 16,440K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$10,971K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$ 3,814K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$ 2,545K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$ 2,245K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$21,879K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$ 5,076K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$ 65,761K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$43,883K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$15,257K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$10,181K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$ 9,971K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$43,757K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$10,152K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$131,523K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$87,766K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$30,513K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$20,362K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dirty="0">
                          <a:solidFill>
                            <a:srgbClr val="FFFFFF">
                              <a:alpha val="100000"/>
                            </a:srgbClr>
                          </a:solidFill>
                          <a:latin typeface="Montserrat"/>
                          <a:cs typeface="Arial"/>
                          <a:sym typeface="Arial"/>
                        </a:rPr>
                        <a:t>$20,272K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44F15F00-C649-D6E2-C929-AE2A366162F0}"/>
              </a:ext>
            </a:extLst>
          </p:cNvPr>
          <p:cNvPicPr>
            <a:picLocks noChangeAspect="1"/>
          </p:cNvPicPr>
          <p:nvPr/>
        </p:nvPicPr>
        <p:blipFill>
          <a:blip r:embed="rId3" cstate="screen">
            <a:extLst>
              <a:ext uri="{28A0092B-C50C-407E-A947-70E740481C1C}">
                <a14:useLocalDpi xmlns:a14="http://schemas.microsoft.com/office/drawing/2010/main"/>
              </a:ext>
            </a:extLst>
          </a:blip>
          <a:srcRect t="-901"/>
          <a:stretch/>
        </p:blipFill>
        <p:spPr>
          <a:xfrm>
            <a:off x="5201987" y="-61812"/>
            <a:ext cx="6990013" cy="6919812"/>
          </a:xfrm>
          <a:prstGeom prst="rect">
            <a:avLst/>
          </a:prstGeom>
        </p:spPr>
      </p:pic>
      <p:pic>
        <p:nvPicPr>
          <p:cNvPr id="3"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41491" y="4336490"/>
            <a:ext cx="4152546" cy="2327060"/>
          </a:xfrm>
          <a:prstGeom prst="rect">
            <a:avLst/>
          </a:prstGeom>
          <a:ln>
            <a:noFill/>
          </a:ln>
          <a:effectLst>
            <a:outerShdw blurRad="50800" dist="38100" dir="2700000" sx="1000" sy="1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TextBox 4">
            <a:extLst>
              <a:ext uri="{FF2B5EF4-FFF2-40B4-BE49-F238E27FC236}">
                <a16:creationId xmlns:a16="http://schemas.microsoft.com/office/drawing/2014/main" id="{E37C4D6D-E015-C93E-59BD-2C619644D714}"/>
              </a:ext>
            </a:extLst>
          </p:cNvPr>
          <p:cNvSpPr txBox="1"/>
          <p:nvPr/>
        </p:nvSpPr>
        <p:spPr>
          <a:xfrm>
            <a:off x="937651" y="2129640"/>
            <a:ext cx="3325169" cy="1477328"/>
          </a:xfrm>
          <a:prstGeom prst="rect">
            <a:avLst/>
          </a:prstGeom>
          <a:solidFill>
            <a:srgbClr val="00539F"/>
          </a:solidFill>
          <a:ln>
            <a:noFill/>
          </a:ln>
          <a:effectLst>
            <a:outerShdw blurRad="50800" dist="38100" dir="2700000" sx="1000" sy="1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KBA shares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evidence-based standards of care for 27 chronic conditions directly into Epic </a:t>
            </a:r>
            <a:endParaRPr kumimoji="0" lang="en-US" sz="1800" b="1"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itle 1">
            <a:extLst>
              <a:ext uri="{FF2B5EF4-FFF2-40B4-BE49-F238E27FC236}">
                <a16:creationId xmlns:a16="http://schemas.microsoft.com/office/drawing/2014/main" id="{F269CC86-C5A8-2144-482B-88B3FC7A5E1B}"/>
              </a:ext>
            </a:extLst>
          </p:cNvPr>
          <p:cNvSpPr>
            <a:spLocks noGrp="1"/>
          </p:cNvSpPr>
          <p:nvPr>
            <p:ph type="title"/>
          </p:nvPr>
        </p:nvSpPr>
        <p:spPr>
          <a:xfrm>
            <a:off x="76182" y="537915"/>
            <a:ext cx="5048109" cy="810829"/>
          </a:xfrm>
        </p:spPr>
        <p:txBody>
          <a:bodyPr>
            <a:noAutofit/>
          </a:bodyPr>
          <a:lstStyle/>
          <a:p>
            <a:pPr algn="ctr"/>
            <a:r>
              <a:rPr lang="en-US" sz="3600">
                <a:solidFill>
                  <a:srgbClr val="00539F"/>
                </a:solidFill>
              </a:rPr>
              <a:t>INTEGRATION WITH EPIC EHR SYSTEM</a:t>
            </a:r>
          </a:p>
        </p:txBody>
      </p:sp>
      <p:sp>
        <p:nvSpPr>
          <p:cNvPr id="6" name="Rectangle 6">
            <a:extLst>
              <a:ext uri="{FF2B5EF4-FFF2-40B4-BE49-F238E27FC236}">
                <a16:creationId xmlns:a16="http://schemas.microsoft.com/office/drawing/2014/main" id="{59DCC8D2-3E7C-0647-6219-D958C42D65C2}"/>
              </a:ext>
            </a:extLst>
          </p:cNvPr>
          <p:cNvSpPr/>
          <p:nvPr/>
        </p:nvSpPr>
        <p:spPr>
          <a:xfrm>
            <a:off x="5689600" y="5878286"/>
            <a:ext cx="6502400" cy="4636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ontserrat" panose="00000500000000000000" pitchFamily="2" charset="0"/>
                <a:ea typeface="Calibri" panose="020F0502020204030204" pitchFamily="34" charset="0"/>
                <a:cs typeface="Calibri" panose="020F0502020204030204" pitchFamily="34" charset="0"/>
              </a:rPr>
              <a:t>Hyperthyroidism: Yearly Clinical Evaluation, TSH and T4</a:t>
            </a:r>
            <a:endParaRPr kumimoji="0" lang="en-US" sz="1600" b="0" i="0" u="none" strike="noStrike" kern="1200" cap="none" spc="0" normalizeH="0" baseline="0" noProof="0" dirty="0">
              <a:ln>
                <a:noFill/>
              </a:ln>
              <a:solidFill>
                <a:prstClr val="white"/>
              </a:solidFill>
              <a:effectLst/>
              <a:uLnTx/>
              <a:uFillTx/>
              <a:latin typeface="Montserrat" panose="00000500000000000000" pitchFamily="2" charset="0"/>
              <a:ea typeface="Calibri" panose="020F0502020204030204" pitchFamily="34"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40422759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8"/>
            <a:ext cx="12191999" cy="6008751"/>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Montserrat" panose="00000500000000000000" pitchFamily="2" charset="0"/>
                <a:ea typeface="+mn-ea"/>
                <a:cs typeface="+mn-cs"/>
              </a:rPr>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0"/>
            <a:ext cx="7800623" cy="5168899"/>
          </a:xfrm>
          <a:prstGeom prst="rect">
            <a:avLst/>
          </a:prstGeom>
        </p:spPr>
        <p:txBody>
          <a:bodyPr vert="horz" lIns="91440" tIns="45720" rIns="91440" bIns="45720" rtlCol="0" anchor="ctr">
            <a:normAutofit/>
          </a:bodyPr>
          <a:lstStyle/>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Patient engagement is the weak link in delivering value-based care; Kettering Health Network’s clinical leadership and employer participation can drive better outcomes.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KBA’s proactive care-management team supplements your care-management efforts in outreach to clients.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Kettering Health Network excels in Standards of Care completion rates for the Chronically Ill, improving care and costs.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Integrating Kettering Health Network’s managed care with KBA’s programs positions Kettering Health Network as the value leader.</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783340"/>
            <a:ext cx="3053314" cy="2504922"/>
          </a:xfrm>
        </p:spPr>
        <p:txBody>
          <a:bodyPr vert="horz" lIns="91440" tIns="45720" rIns="91440" bIns="45720" rtlCol="0" anchor="t">
            <a:noAutofit/>
          </a:bodyPr>
          <a:lstStyle/>
          <a:p>
            <a:r>
              <a:rPr lang="en-US" sz="2800" dirty="0">
                <a:solidFill>
                  <a:schemeClr val="bg1"/>
                </a:solidFill>
              </a:rPr>
              <a:t>THE MISSING PIECE TO VALUE-BASED CARE</a:t>
            </a:r>
          </a:p>
        </p:txBody>
      </p:sp>
      <p:pic>
        <p:nvPicPr>
          <p:cNvPr id="7"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0">
            <a:extLst>
              <a:ext uri="{FF2B5EF4-FFF2-40B4-BE49-F238E27FC236}">
                <a16:creationId xmlns:a16="http://schemas.microsoft.com/office/drawing/2014/main" id="{FA5DA117-CC5D-CB44-90CF-6D02A1C20B2E}"/>
              </a:ext>
            </a:extLst>
          </p:cNvPr>
          <p:cNvPicPr>
            <a:picLocks noChangeAspect="1"/>
          </p:cNvPicPr>
          <p:nvPr/>
        </p:nvPicPr>
        <p:blipFill>
          <a:blip r:embed="rId2"/>
          <a:stretch>
            <a:fillRect/>
          </a:stretch>
        </p:blipFill>
        <p:spPr>
          <a:xfrm>
            <a:off x="-6726" y="-192804"/>
            <a:ext cx="12192000" cy="6857999"/>
          </a:xfrm>
          <a:prstGeom prst="rect">
            <a:avLst/>
          </a:prstGeom>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00539F">
              <a:alpha val="9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984961" y="263661"/>
            <a:ext cx="10515600" cy="740459"/>
          </a:xfrm>
        </p:spPr>
        <p:txBody>
          <a:bodyPr>
            <a:normAutofit/>
          </a:bodyPr>
          <a:lstStyle/>
          <a:p>
            <a:r>
              <a:rPr lang="en-US" b="0" dirty="0">
                <a:solidFill>
                  <a:schemeClr val="bg1"/>
                </a:solidFill>
              </a:rPr>
              <a:t>TRANSPARENT PBM INTEGRATION </a:t>
            </a:r>
          </a:p>
        </p:txBody>
      </p:sp>
      <p:sp>
        <p:nvSpPr>
          <p:cNvPr id="5" name="Rectangle 6">
            <a:extLst>
              <a:ext uri="{FF2B5EF4-FFF2-40B4-BE49-F238E27FC236}">
                <a16:creationId xmlns:a16="http://schemas.microsoft.com/office/drawing/2014/main" id="{8AFDC632-7C4B-44BF-B435-0CED1B7481B2}"/>
              </a:ext>
            </a:extLst>
          </p:cNvPr>
          <p:cNvSpPr/>
          <p:nvPr/>
        </p:nvSpPr>
        <p:spPr>
          <a:xfrm>
            <a:off x="696287" y="1075362"/>
            <a:ext cx="4944861" cy="1985159"/>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Support of Kettering Health Network’s retail pharmacy(s)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Optimize Kettering Health Network’s 340B drug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pricing program</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Allows Kettering Health Network to create its own PBM program if desired</a:t>
            </a:r>
          </a:p>
        </p:txBody>
      </p:sp>
      <p:sp>
        <p:nvSpPr>
          <p:cNvPr id="6" name="Rectangle 7">
            <a:extLst>
              <a:ext uri="{FF2B5EF4-FFF2-40B4-BE49-F238E27FC236}">
                <a16:creationId xmlns:a16="http://schemas.microsoft.com/office/drawing/2014/main" id="{BA8BB229-42C0-4FB6-AD0C-615BF4260145}"/>
              </a:ext>
            </a:extLst>
          </p:cNvPr>
          <p:cNvSpPr/>
          <p:nvPr/>
        </p:nvSpPr>
        <p:spPr>
          <a:xfrm>
            <a:off x="6615187" y="1075362"/>
            <a:ext cx="5196397" cy="2185214"/>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 telephone number with personalized scripting and separate call tracking &amp; reporting</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Fully customizable member welcome booklet &amp; materials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White labeled formulary document and marketing materials</a:t>
            </a:r>
          </a:p>
        </p:txBody>
      </p:sp>
      <p:sp>
        <p:nvSpPr>
          <p:cNvPr id="7" name="Rectangle 8">
            <a:extLst>
              <a:ext uri="{FF2B5EF4-FFF2-40B4-BE49-F238E27FC236}">
                <a16:creationId xmlns:a16="http://schemas.microsoft.com/office/drawing/2014/main" id="{CA0477AD-A883-49D0-84C0-1846E555302E}"/>
              </a:ext>
            </a:extLst>
          </p:cNvPr>
          <p:cNvSpPr/>
          <p:nvPr/>
        </p:nvSpPr>
        <p:spPr>
          <a:xfrm>
            <a:off x="472441" y="3804933"/>
            <a:ext cx="5168707" cy="1954381"/>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CUSTOM CLIENT SUPPORT:</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Specialized call center capabilities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Fully customizable plan designs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Operational access to the platform</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Customized process and functions to promote DTE strategy</a:t>
            </a:r>
          </a:p>
        </p:txBody>
      </p:sp>
      <p:sp>
        <p:nvSpPr>
          <p:cNvPr id="8"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CLINICAL FLEXIBILITY: </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 portfolio of custom formulary offerings – with optimized formulary shield</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Clinical programs that drive towards overall DTE strategy</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Options for additional drug savings by driving members to lower cost alternatives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Flexibility to customize or layer on utilization management programs</a:t>
            </a:r>
          </a:p>
        </p:txBody>
      </p:sp>
      <p:sp>
        <p:nvSpPr>
          <p:cNvPr id="9" name="Freeform 11">
            <a:extLst>
              <a:ext uri="{FF2B5EF4-FFF2-40B4-BE49-F238E27FC236}">
                <a16:creationId xmlns:a16="http://schemas.microsoft.com/office/drawing/2014/main" id="{6CB7C47F-4ADC-898A-0ED1-9BBFB4AB4564}"/>
              </a:ext>
            </a:extLst>
          </p:cNvPr>
          <p:cNvSpPr/>
          <p:nvPr/>
        </p:nvSpPr>
        <p:spPr>
          <a:xfrm rot="16200000" flipV="1">
            <a:off x="4717511" y="1947684"/>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10" name="Rectangle 4">
            <a:extLst>
              <a:ext uri="{FF2B5EF4-FFF2-40B4-BE49-F238E27FC236}">
                <a16:creationId xmlns:a16="http://schemas.microsoft.com/office/drawing/2014/main" id="{F4DA59DB-7E53-7F90-5357-074B2A852989}"/>
              </a:ext>
            </a:extLst>
          </p:cNvPr>
          <p:cNvSpPr/>
          <p:nvPr/>
        </p:nvSpPr>
        <p:spPr>
          <a:xfrm>
            <a:off x="9609102" y="6356887"/>
            <a:ext cx="2576172" cy="5016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a:xfrm>
            <a:off x="9278222" y="6480530"/>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pic>
        <p:nvPicPr>
          <p:cNvPr id="12" name="Picture 12">
            <a:extLst>
              <a:ext uri="{FF2B5EF4-FFF2-40B4-BE49-F238E27FC236}">
                <a16:creationId xmlns:a16="http://schemas.microsoft.com/office/drawing/2014/main" id="{DAD531BF-718C-8489-C213-6F72BB2FABB8}"/>
              </a:ext>
            </a:extLst>
          </p:cNvPr>
          <p:cNvPicPr>
            <a:picLocks noChangeAspect="1"/>
          </p:cNvPicPr>
          <p:nvPr/>
        </p:nvPicPr>
        <p:blipFill>
          <a:blip r:embed="rId3"/>
          <a:stretch>
            <a:fillRect/>
          </a:stretch>
        </p:blipFill>
        <p:spPr>
          <a:xfrm>
            <a:off x="9799083" y="6427192"/>
            <a:ext cx="1701478" cy="371232"/>
          </a:xfrm>
          <a:prstGeom prst="rect">
            <a:avLst/>
          </a:prstGeom>
        </p:spPr>
      </p:pic>
    </p:spTree>
    <p:extLst>
      <p:ext uri="{BB962C8B-B14F-4D97-AF65-F5344CB8AC3E}">
        <p14:creationId xmlns:p14="http://schemas.microsoft.com/office/powerpoint/2010/main" val="13894538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1">
            <a:extLst>
              <a:ext uri="{FF2B5EF4-FFF2-40B4-BE49-F238E27FC236}">
                <a16:creationId xmlns:a16="http://schemas.microsoft.com/office/drawing/2014/main" id="{E43570CA-7D8B-9030-675E-C3DCA833B92A}"/>
              </a:ext>
            </a:extLst>
          </p:cNvPr>
          <p:cNvSpPr/>
          <p:nvPr/>
        </p:nvSpPr>
        <p:spPr>
          <a:xfrm rot="16200000" flipV="1">
            <a:off x="7175975" y="1850362"/>
            <a:ext cx="180722" cy="9851331"/>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0053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Tokio Marine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Nationwide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Berkshire Hathaway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Liberty Mutual</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Granular (Google)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Companion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Crum &amp; Forster</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American Fidelity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RGA</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00539F"/>
                </a:solidFill>
              </a:rPr>
              <a:t>STOP-LOSS INSURANCE</a:t>
            </a:r>
            <a:br>
              <a:rPr lang="en-US" sz="3200" spc="200" dirty="0">
                <a:solidFill>
                  <a:srgbClr val="00539F"/>
                </a:solidFill>
              </a:rPr>
            </a:br>
            <a:r>
              <a:rPr lang="en-US" sz="3200" spc="200" dirty="0">
                <a:solidFill>
                  <a:srgbClr val="00539F"/>
                </a:solidFill>
              </a:rPr>
              <a:t>     </a:t>
            </a:r>
            <a:r>
              <a:rPr lang="en-US" sz="3200" spc="200" dirty="0">
                <a:solidFill>
                  <a:schemeClr val="bg2">
                    <a:lumMod val="25000"/>
                  </a:schemeClr>
                </a:solidFill>
              </a:rPr>
              <a:t>THE KBA EXPERIENCE</a:t>
            </a:r>
            <a:endParaRPr lang="en-US" sz="3200" spc="200" dirty="0">
              <a:solidFill>
                <a:srgbClr val="00539F"/>
              </a:solidFill>
            </a:endParaRP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689513"/>
            <a:ext cx="8629357" cy="4401205"/>
          </a:xfrm>
          <a:prstGeom prst="rect">
            <a:avLst/>
          </a:prstGeom>
          <a:noFill/>
        </p:spPr>
        <p:txBody>
          <a:bodyPr wrap="square" lIns="91440" tIns="45720" rIns="91440" bIns="45720" rtlCol="0" anchor="t">
            <a:spAutoFit/>
          </a:bodyPr>
          <a:lstStyle/>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Deep relationships with 20+ stop loss underwriters and carriers</a:t>
            </a:r>
            <a:endParaRPr kumimoji="0" lang="en-US" sz="1800" b="0" i="0" u="none" strike="noStrike" kern="1200" cap="none" spc="0" normalizeH="0" baseline="0" noProof="0" dirty="0">
              <a:ln>
                <a:noFill/>
              </a:ln>
              <a:solidFill>
                <a:prstClr val="black"/>
              </a:solidFill>
              <a:effectLst/>
              <a:uLnTx/>
              <a:uFillTx/>
              <a:latin typeface="Montserrat"/>
              <a:ea typeface="+mn-ea"/>
              <a:cs typeface="Arial"/>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Over $150M in annual stop loss premium placement</a:t>
            </a:r>
            <a:endParaRPr kumimoji="0" lang="en-US" sz="20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Comprehensive pricing and medical service analysis performed for each DTE health plan to ensure proper pricing</a:t>
            </a: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KBA provides the administration required of the stop-loss markets: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Bordereau Reporting</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Claim Reporting and Reconciliation</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Evaluation of Networks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Care Management</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Initial Underwriting </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Negotiation of rates and terms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Plan Design Actuarial</a:t>
            </a:r>
            <a:r>
              <a:rPr kumimoji="0" lang="en-US" sz="2000" b="1" i="0" u="none" strike="noStrike" kern="1200" cap="none" spc="0" normalizeH="0" baseline="0" noProof="0" dirty="0">
                <a:ln>
                  <a:noFill/>
                </a:ln>
                <a:solidFill>
                  <a:srgbClr val="0070C0"/>
                </a:solidFill>
                <a:effectLst/>
                <a:uLnTx/>
                <a:uFillTx/>
                <a:latin typeface="Montserrat"/>
                <a:ea typeface="+mn-ea"/>
                <a:cs typeface="Arial"/>
              </a:rPr>
              <a:t> </a:t>
            </a:r>
          </a:p>
        </p:txBody>
      </p:sp>
      <p:pic>
        <p:nvPicPr>
          <p:cNvPr id="7" name="Picture 3">
            <a:extLst>
              <a:ext uri="{FF2B5EF4-FFF2-40B4-BE49-F238E27FC236}">
                <a16:creationId xmlns:a16="http://schemas.microsoft.com/office/drawing/2014/main" id="{8E70A561-E2F5-98F1-0C82-55EA5F5BA01D}"/>
              </a:ext>
            </a:extLst>
          </p:cNvPr>
          <p:cNvPicPr>
            <a:picLocks noChangeAspect="1"/>
          </p:cNvPicPr>
          <p:nvPr/>
        </p:nvPicPr>
        <p:blipFill>
          <a:blip r:embed="rId3"/>
          <a:stretch>
            <a:fillRect/>
          </a:stretch>
        </p:blipFill>
        <p:spPr>
          <a:xfrm>
            <a:off x="215573" y="6356350"/>
            <a:ext cx="2125097" cy="463658"/>
          </a:xfrm>
          <a:prstGeom prst="rect">
            <a:avLst/>
          </a:prstGeom>
        </p:spPr>
      </p:pic>
    </p:spTree>
    <p:extLst>
      <p:ext uri="{BB962C8B-B14F-4D97-AF65-F5344CB8AC3E}">
        <p14:creationId xmlns:p14="http://schemas.microsoft.com/office/powerpoint/2010/main" val="4161310751"/>
      </p:ext>
    </p:extLst>
  </p:cSld>
  <p:clrMapOvr>
    <a:masterClrMapping/>
  </p:clrMapOvr>
  <p:extLst>
    <p:ext uri="{6950BFC3-D8DA-4A85-94F7-54DA5524770B}">
      <p188:commentRel xmlns:p188="http://schemas.microsoft.com/office/powerpoint/2018/8/main" r:id="rId2"/>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200" b="1" spc="150" dirty="0">
              <a:solidFill>
                <a:schemeClr val="bg1"/>
              </a:solidFill>
              <a:latin typeface="Montserrat" panose="00000500000000000000" pitchFamily="2" charset="0"/>
            </a:endParaRPr>
          </a:p>
          <a:p>
            <a:pPr marL="347667" lvl="2" defTabSz="914411">
              <a:lnSpc>
                <a:spcPct val="150000"/>
              </a:lnSpc>
              <a:spcAft>
                <a:spcPts val="1200"/>
              </a:spcAft>
            </a:pPr>
            <a:r>
              <a:rPr lang="en-US" sz="1600" b="1" spc="150" dirty="0">
                <a:solidFill>
                  <a:schemeClr val="bg1"/>
                </a:solidFill>
                <a:latin typeface="Montserrat" panose="00000500000000000000" pitchFamily="2" charset="0"/>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Branding &amp; Messaging</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Brochures, Web Site, Media, etc.</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1600" dirty="0">
                <a:solidFill>
                  <a:schemeClr val="bg1"/>
                </a:solidFill>
                <a:latin typeface="Montserrat" panose="00000500000000000000" pitchFamily="2" charset="0"/>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25</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 name="Rectangle 31">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cxnSp>
        <p:nvCxnSpPr>
          <p:cNvPr id="3" name="Straight Connector 33">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4" name="Text Placeholder 10">
            <a:extLst>
              <a:ext uri="{FF2B5EF4-FFF2-40B4-BE49-F238E27FC236}">
                <a16:creationId xmlns:a16="http://schemas.microsoft.com/office/drawing/2014/main" id="{625E5EBB-5E59-1F70-D065-8563E74742C3}"/>
              </a:ext>
            </a:extLst>
          </p:cNvPr>
          <p:cNvGraphicFramePr/>
          <p:nvPr/>
        </p:nvGraphicFramePr>
        <p:xfrm>
          <a:off x="5182908" y="642639"/>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2">
            <a:extLst>
              <a:ext uri="{FF2B5EF4-FFF2-40B4-BE49-F238E27FC236}">
                <a16:creationId xmlns:a16="http://schemas.microsoft.com/office/drawing/2014/main" id="{DBF3756C-E382-D591-9698-2313D86DCFF4}"/>
              </a:ext>
            </a:extLst>
          </p:cNvPr>
          <p:cNvSpPr/>
          <p:nvPr/>
        </p:nvSpPr>
        <p:spPr>
          <a:xfrm>
            <a:off x="0" y="-1"/>
            <a:ext cx="5353869" cy="6866313"/>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6" name="Title 1">
            <a:extLst>
              <a:ext uri="{FF2B5EF4-FFF2-40B4-BE49-F238E27FC236}">
                <a16:creationId xmlns:a16="http://schemas.microsoft.com/office/drawing/2014/main" id="{55C24332-E958-7C44-485A-7D07A70595F3}"/>
              </a:ext>
            </a:extLst>
          </p:cNvPr>
          <p:cNvSpPr>
            <a:spLocks noGrp="1"/>
          </p:cNvSpPr>
          <p:nvPr>
            <p:ph type="title"/>
          </p:nvPr>
        </p:nvSpPr>
        <p:spPr>
          <a:xfrm>
            <a:off x="131198" y="642639"/>
            <a:ext cx="5008340" cy="4075389"/>
          </a:xfrm>
        </p:spPr>
        <p:txBody>
          <a:bodyPr vert="horz" lIns="91440" tIns="45720" rIns="91440" bIns="45720" rtlCol="0" anchor="ctr">
            <a:normAutofit/>
          </a:bodyPr>
          <a:lstStyle/>
          <a:p>
            <a:pPr algn="r" defTabSz="914400"/>
            <a:r>
              <a:rPr lang="en-US" sz="4000" b="0" kern="1200">
                <a:solidFill>
                  <a:schemeClr val="bg1"/>
                </a:solidFill>
              </a:rPr>
              <a:t>COMMUNITY BASED SALES STRATEGY</a:t>
            </a:r>
          </a:p>
        </p:txBody>
      </p:sp>
      <p:pic>
        <p:nvPicPr>
          <p:cNvPr id="7" name="Picture 6" descr="A group of people sitting around a table">
            <a:extLst>
              <a:ext uri="{FF2B5EF4-FFF2-40B4-BE49-F238E27FC236}">
                <a16:creationId xmlns:a16="http://schemas.microsoft.com/office/drawing/2014/main" id="{63226C7D-D0B4-2995-A02F-196790FEB331}"/>
              </a:ext>
            </a:extLst>
          </p:cNvPr>
          <p:cNvPicPr>
            <a:picLocks noChangeAspect="1"/>
          </p:cNvPicPr>
          <p:nvPr/>
        </p:nvPicPr>
        <p:blipFill>
          <a:blip r:embed="rId8">
            <a:alphaModFix amt="70000"/>
          </a:blip>
          <a:stretch>
            <a:fillRect/>
          </a:stretch>
        </p:blipFill>
        <p:spPr>
          <a:xfrm>
            <a:off x="306146" y="3783400"/>
            <a:ext cx="4741575" cy="3099539"/>
          </a:xfrm>
          <a:prstGeom prst="rect">
            <a:avLst/>
          </a:prstGeom>
          <a:ln w="28575">
            <a:solidFill>
              <a:schemeClr val="bg1"/>
            </a:solidFill>
          </a:ln>
        </p:spPr>
      </p:pic>
    </p:spTree>
    <p:extLst>
      <p:ext uri="{BB962C8B-B14F-4D97-AF65-F5344CB8AC3E}">
        <p14:creationId xmlns:p14="http://schemas.microsoft.com/office/powerpoint/2010/main" val="2174952421"/>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Single Corner Rounded 2">
            <a:extLst>
              <a:ext uri="{FF2B5EF4-FFF2-40B4-BE49-F238E27FC236}">
                <a16:creationId xmlns:a16="http://schemas.microsoft.com/office/drawing/2014/main" id="{0E0827A4-8831-4F72-BCCA-ED2FC12E6729}"/>
              </a:ext>
            </a:extLst>
          </p:cNvPr>
          <p:cNvSpPr/>
          <p:nvPr/>
        </p:nvSpPr>
        <p:spPr>
          <a:xfrm flipV="1">
            <a:off x="-12707" y="-2"/>
            <a:ext cx="4787908" cy="5524593"/>
          </a:xfrm>
          <a:prstGeom prst="round1Rect">
            <a:avLst>
              <a:gd name="adj" fmla="val 14176"/>
            </a:avLst>
          </a:prstGeom>
          <a:solidFill>
            <a:srgbClr val="00539F">
              <a:alpha val="93725"/>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3839251" cy="943119"/>
          </a:xfrm>
          <a:noFill/>
        </p:spPr>
        <p:txBody>
          <a:bodyPr>
            <a:normAutofit/>
          </a:bodyPr>
          <a:lstStyle/>
          <a:p>
            <a:r>
              <a:rPr lang="en-US" sz="2400" cap="all" dirty="0">
                <a:solidFill>
                  <a:schemeClr val="bg1"/>
                </a:solidFill>
              </a:rPr>
              <a:t>Complete Marketing System</a:t>
            </a:r>
          </a:p>
        </p:txBody>
      </p:sp>
      <p:sp>
        <p:nvSpPr>
          <p:cNvPr id="4" name="TextBox 9">
            <a:extLst>
              <a:ext uri="{FF2B5EF4-FFF2-40B4-BE49-F238E27FC236}">
                <a16:creationId xmlns:a16="http://schemas.microsoft.com/office/drawing/2014/main" id="{ED71BB9D-3705-447C-AA44-226373980B76}"/>
              </a:ext>
            </a:extLst>
          </p:cNvPr>
          <p:cNvSpPr txBox="1"/>
          <p:nvPr/>
        </p:nvSpPr>
        <p:spPr>
          <a:xfrm>
            <a:off x="326132" y="1333409"/>
            <a:ext cx="4029076" cy="2862322"/>
          </a:xfrm>
          <a:prstGeom prst="rect">
            <a:avLst/>
          </a:prstGeom>
          <a:noFill/>
        </p:spPr>
        <p:txBody>
          <a:bodyPr wrap="square" rtlCol="0">
            <a:spAutoFit/>
          </a:bodyPr>
          <a:lstStyle/>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Branding and Messaging</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Brochures</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Web Site</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Targeted Employer Outreach</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Sales System (Social Media, Email, Text, etc.)</a:t>
            </a:r>
          </a:p>
        </p:txBody>
      </p:sp>
      <p:sp>
        <p:nvSpPr>
          <p:cNvPr id="5" name="Freeform 11">
            <a:extLst>
              <a:ext uri="{FF2B5EF4-FFF2-40B4-BE49-F238E27FC236}">
                <a16:creationId xmlns:a16="http://schemas.microsoft.com/office/drawing/2014/main" id="{E9CEBAE5-9FB0-92E7-FE3C-8D162366D53C}"/>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13">
            <a:extLst>
              <a:ext uri="{FF2B5EF4-FFF2-40B4-BE49-F238E27FC236}">
                <a16:creationId xmlns:a16="http://schemas.microsoft.com/office/drawing/2014/main" id="{FEB77514-FCC1-8077-FF95-E9A7EC1FC92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7" name="Object 1">
            <a:extLst>
              <a:ext uri="{FF2B5EF4-FFF2-40B4-BE49-F238E27FC236}">
                <a16:creationId xmlns:a16="http://schemas.microsoft.com/office/drawing/2014/main" id="{6A650CAB-F194-C039-985A-378659DC9264}"/>
              </a:ext>
            </a:extLst>
          </p:cNvPr>
          <p:cNvSpPr/>
          <p:nvPr/>
        </p:nvSpPr>
        <p:spPr>
          <a:xfrm>
            <a:off x="6260477" y="1869754"/>
            <a:ext cx="4672331" cy="2916602"/>
          </a:xfrm>
          <a:prstGeom prst="rect">
            <a:avLst/>
          </a:prstGeom>
          <a:solidFill>
            <a:srgbClr val="254F9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8" name="Object 2">
            <a:extLst>
              <a:ext uri="{FF2B5EF4-FFF2-40B4-BE49-F238E27FC236}">
                <a16:creationId xmlns:a16="http://schemas.microsoft.com/office/drawing/2014/main" id="{A8440E76-55C9-58AD-8FFE-1161A970BB40}"/>
              </a:ext>
            </a:extLst>
          </p:cNvPr>
          <p:cNvPicPr>
            <a:picLocks noChangeAspect="1"/>
          </p:cNvPicPr>
          <p:nvPr/>
        </p:nvPicPr>
        <p:blipFill>
          <a:blip r:embed="rId3" cstate="screen">
            <a:extLst>
              <a:ext uri="{28A0092B-C50C-407E-A947-70E740481C1C}">
                <a14:useLocalDpi xmlns:a14="http://schemas.microsoft.com/office/drawing/2010/main"/>
              </a:ext>
            </a:extLst>
          </a:blip>
          <a:srcRect l="-3017" t="358" r="-3017" b="358"/>
          <a:stretch/>
        </p:blipFill>
        <p:spPr>
          <a:xfrm>
            <a:off x="6260477" y="1869754"/>
            <a:ext cx="4672331" cy="2916602"/>
          </a:xfrm>
          <a:prstGeom prst="rect">
            <a:avLst/>
          </a:prstGeom>
        </p:spPr>
      </p:pic>
      <p:sp>
        <p:nvSpPr>
          <p:cNvPr id="9" name="Object 3">
            <a:extLst>
              <a:ext uri="{FF2B5EF4-FFF2-40B4-BE49-F238E27FC236}">
                <a16:creationId xmlns:a16="http://schemas.microsoft.com/office/drawing/2014/main" id="{8A7EB5CC-EEC2-B5AA-4D5D-3D6555854B7F}"/>
              </a:ext>
            </a:extLst>
          </p:cNvPr>
          <p:cNvSpPr/>
          <p:nvPr/>
        </p:nvSpPr>
        <p:spPr>
          <a:xfrm>
            <a:off x="6260477" y="1869754"/>
            <a:ext cx="4672331" cy="2916602"/>
          </a:xfrm>
          <a:prstGeom prst="rect">
            <a:avLst/>
          </a:prstGeom>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10" name="Object 4">
            <a:extLst>
              <a:ext uri="{FF2B5EF4-FFF2-40B4-BE49-F238E27FC236}">
                <a16:creationId xmlns:a16="http://schemas.microsoft.com/office/drawing/2014/main" id="{80FD5046-6F68-9F9C-A2D7-3B2367BB6FD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92571" y="1610180"/>
            <a:ext cx="6211749" cy="3637640"/>
          </a:xfrm>
          <a:prstGeom prst="rect">
            <a:avLst/>
          </a:prstGeom>
        </p:spPr>
      </p:pic>
    </p:spTree>
    <p:extLst>
      <p:ext uri="{BB962C8B-B14F-4D97-AF65-F5344CB8AC3E}">
        <p14:creationId xmlns:p14="http://schemas.microsoft.com/office/powerpoint/2010/main" val="12815426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C8D87E68-6B58-6ABC-9125-FECD31D51802}"/>
              </a:ext>
            </a:extLst>
          </p:cNvPr>
          <p:cNvSpPr txBox="1">
            <a:spLocks/>
          </p:cNvSpPr>
          <p:nvPr/>
        </p:nvSpPr>
        <p:spPr>
          <a:xfrm>
            <a:off x="685800" y="1023158"/>
            <a:ext cx="11068050" cy="460829"/>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a:ea typeface="+mn-ea"/>
                <a:cs typeface="Arial"/>
              </a:rPr>
              <a:t>Creating EPO Steerage in a PPO Network</a:t>
            </a:r>
          </a:p>
        </p:txBody>
      </p:sp>
      <p:pic>
        <p:nvPicPr>
          <p:cNvPr id="3" name="Picture 4">
            <a:extLst>
              <a:ext uri="{FF2B5EF4-FFF2-40B4-BE49-F238E27FC236}">
                <a16:creationId xmlns:a16="http://schemas.microsoft.com/office/drawing/2014/main" id="{D27A37F9-7666-F7AF-4CB9-D45C937D6CEA}"/>
              </a:ext>
            </a:extLst>
          </p:cNvPr>
          <p:cNvPicPr>
            <a:picLocks noChangeAspect="1"/>
          </p:cNvPicPr>
          <p:nvPr/>
        </p:nvPicPr>
        <p:blipFill>
          <a:blip r:embed="rId3"/>
          <a:stretch>
            <a:fillRect/>
          </a:stretch>
        </p:blipFill>
        <p:spPr>
          <a:xfrm>
            <a:off x="862685" y="1823980"/>
            <a:ext cx="3420399" cy="3862399"/>
          </a:xfrm>
          <a:prstGeom prst="rect">
            <a:avLst/>
          </a:prstGeom>
          <a:solidFill>
            <a:srgbClr val="FFFFFF">
              <a:shade val="85000"/>
            </a:srgbClr>
          </a:solidFill>
          <a:ln w="190500" cap="sq">
            <a:solidFill>
              <a:srgbClr val="FFFFFF"/>
            </a:solidFill>
            <a:miter lim="800000"/>
          </a:ln>
          <a:effectLst>
            <a:outerShdw blurRad="65000" dist="50800" dir="12900000" sx="1000" sy="1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4" name="Content Placeholder 3">
            <a:extLst>
              <a:ext uri="{FF2B5EF4-FFF2-40B4-BE49-F238E27FC236}">
                <a16:creationId xmlns:a16="http://schemas.microsoft.com/office/drawing/2014/main" id="{C70E1274-9D49-4637-1DA7-A61DA7510958}"/>
              </a:ext>
            </a:extLst>
          </p:cNvPr>
          <p:cNvSpPr txBox="1">
            <a:spLocks/>
          </p:cNvSpPr>
          <p:nvPr/>
        </p:nvSpPr>
        <p:spPr>
          <a:xfrm>
            <a:off x="5119281" y="1970165"/>
            <a:ext cx="5905500" cy="3999585"/>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1pPr>
            <a:lvl2pPr marL="548640"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2pPr>
            <a:lvl3pPr marL="850392"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3pPr>
            <a:lvl4pPr marL="1152144"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4pPr>
            <a:lvl5pPr marL="1453896"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5pPr>
            <a:lvl6pPr marL="1755648"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6pPr>
            <a:lvl7pPr marL="2057400"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7pPr>
            <a:lvl8pPr marL="2359152"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8pPr>
            <a:lvl9pPr marL="2660904"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The Healthcare Credit Card is eligible to be used only for specific merchant codes.</a:t>
            </a:r>
          </a:p>
          <a:p>
            <a:pPr marL="342900" marR="0" lvl="0" indent="-342900" algn="l" defTabSz="914400" rtl="0" eaLnBrk="1" fontAlgn="auto" latinLnBrk="0" hangingPunct="1">
              <a:lnSpc>
                <a:spcPct val="6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To utilize at Specific Healthcare Providers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a.  Designated Hospitals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b.  Urgent Care Facilities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c.  Physicians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d.  Eligible Ancillary Providers</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Out of Pocket Expenses Qualify</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0% Interest Rate</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Employee Determines Repayment Schedules</a:t>
            </a:r>
          </a:p>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5.   To Qualify:  Answer One Simple Question</a:t>
            </a: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p:txBody>
      </p:sp>
      <p:sp>
        <p:nvSpPr>
          <p:cNvPr id="5" name="Title 2">
            <a:extLst>
              <a:ext uri="{FF2B5EF4-FFF2-40B4-BE49-F238E27FC236}">
                <a16:creationId xmlns:a16="http://schemas.microsoft.com/office/drawing/2014/main" id="{C1B6353D-0F2D-B3C9-7A27-75C14D6BED8F}"/>
              </a:ext>
            </a:extLst>
          </p:cNvPr>
          <p:cNvSpPr txBox="1">
            <a:spLocks/>
          </p:cNvSpPr>
          <p:nvPr/>
        </p:nvSpPr>
        <p:spPr>
          <a:xfrm>
            <a:off x="117445" y="291892"/>
            <a:ext cx="11534623" cy="1082169"/>
          </a:xfrm>
          <a:prstGeom prst="rect">
            <a:avLst/>
          </a:prstGeom>
        </p:spPr>
        <p:txBody>
          <a:bodyPr vert="horz" lIns="91440" tIns="45720" rIns="91440" bIns="45720" rtlCol="0">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0" i="0" u="none" strike="noStrike" kern="1200" cap="none" spc="0" normalizeH="0" baseline="0" noProof="0">
                <a:ln>
                  <a:noFill/>
                </a:ln>
                <a:solidFill>
                  <a:srgbClr val="00539F"/>
                </a:solidFill>
                <a:effectLst/>
                <a:uLnTx/>
                <a:uFillTx/>
                <a:latin typeface="Montserrat" panose="00000500000000000000" pitchFamily="2" charset="0"/>
                <a:ea typeface="+mj-ea"/>
                <a:cs typeface="+mj-cs"/>
              </a:rPr>
              <a:t>THE KBA HEALTHCARE CREDIT CARD</a:t>
            </a:r>
          </a:p>
        </p:txBody>
      </p:sp>
      <p:sp>
        <p:nvSpPr>
          <p:cNvPr id="6" name="Slide Number Placeholder 2">
            <a:extLst>
              <a:ext uri="{FF2B5EF4-FFF2-40B4-BE49-F238E27FC236}">
                <a16:creationId xmlns:a16="http://schemas.microsoft.com/office/drawing/2014/main" id="{7A8CF715-9A59-9BC1-F563-EB57E0E8C3D0}"/>
              </a:ext>
            </a:extLst>
          </p:cNvPr>
          <p:cNvSpPr>
            <a:spLocks noGrp="1"/>
          </p:cNvSpPr>
          <p:nvPr>
            <p:ph type="sldNum" sz="quarter" idx="12"/>
          </p:nvPr>
        </p:nvSpPr>
        <p:spPr>
          <a:xfrm>
            <a:off x="9091613" y="62185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7" name="Picture 10">
            <a:extLst>
              <a:ext uri="{FF2B5EF4-FFF2-40B4-BE49-F238E27FC236}">
                <a16:creationId xmlns:a16="http://schemas.microsoft.com/office/drawing/2014/main" id="{C29A4437-7BF2-00C8-3CE2-47821471F737}"/>
              </a:ext>
            </a:extLst>
          </p:cNvPr>
          <p:cNvPicPr>
            <a:picLocks noChangeAspect="1"/>
          </p:cNvPicPr>
          <p:nvPr/>
        </p:nvPicPr>
        <p:blipFill>
          <a:blip r:embed="rId4"/>
          <a:stretch>
            <a:fillRect/>
          </a:stretch>
        </p:blipFill>
        <p:spPr>
          <a:xfrm>
            <a:off x="215573" y="6356350"/>
            <a:ext cx="2125097" cy="463658"/>
          </a:xfrm>
          <a:prstGeom prst="rect">
            <a:avLst/>
          </a:prstGeom>
        </p:spPr>
      </p:pic>
      <p:sp>
        <p:nvSpPr>
          <p:cNvPr id="8" name="Freeform 11">
            <a:extLst>
              <a:ext uri="{FF2B5EF4-FFF2-40B4-BE49-F238E27FC236}">
                <a16:creationId xmlns:a16="http://schemas.microsoft.com/office/drawing/2014/main" id="{5887201F-FBD0-343F-D3E2-4BB44889CE3C}"/>
              </a:ext>
            </a:extLst>
          </p:cNvPr>
          <p:cNvSpPr/>
          <p:nvPr/>
        </p:nvSpPr>
        <p:spPr>
          <a:xfrm rot="16200000" flipV="1">
            <a:off x="7290397"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5434018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16DA80FC-AC13-8B4D-1B26-8FFCCBE68854}"/>
              </a:ext>
            </a:extLst>
          </p:cNvPr>
          <p:cNvSpPr txBox="1">
            <a:spLocks/>
          </p:cNvSpPr>
          <p:nvPr/>
        </p:nvSpPr>
        <p:spPr>
          <a:xfrm>
            <a:off x="401217" y="172586"/>
            <a:ext cx="11534623" cy="807442"/>
          </a:xfrm>
          <a:prstGeom prst="rect">
            <a:avLst/>
          </a:prstGeom>
        </p:spPr>
        <p:txBody>
          <a:bodyPr vert="horz" lIns="91440" tIns="45720" rIns="91440" bIns="45720" rtlCol="0">
            <a:normAutofit fontScale="77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0" i="0" u="none" strike="noStrike" kern="1200" cap="none" spc="0" normalizeH="0" baseline="0" noProof="0" dirty="0">
                <a:ln>
                  <a:noFill/>
                </a:ln>
                <a:solidFill>
                  <a:srgbClr val="44546A"/>
                </a:solidFill>
                <a:effectLst/>
                <a:uLnTx/>
                <a:uFillTx/>
                <a:latin typeface="Montserrat" panose="00000500000000000000" pitchFamily="2" charset="0"/>
                <a:ea typeface="+mj-ea"/>
                <a:cs typeface="+mj-cs"/>
              </a:rPr>
              <a:t>KEY INCENTIVE PLAN (KIP): </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2600" b="0" i="0" u="none" strike="noStrike" kern="1200" cap="none" spc="0" normalizeH="0" baseline="0" noProof="0" dirty="0">
                <a:ln>
                  <a:noFill/>
                </a:ln>
                <a:solidFill>
                  <a:prstClr val="black"/>
                </a:solidFill>
                <a:effectLst/>
                <a:uLnTx/>
                <a:uFillTx/>
                <a:latin typeface="Montserrat" panose="00000500000000000000" pitchFamily="2" charset="0"/>
                <a:ea typeface="+mj-ea"/>
                <a:cs typeface="Arial" panose="020B0604020202020204" pitchFamily="34" charset="0"/>
              </a:rPr>
              <a:t>BASE MEDICAL + BONUS BENEFITS = YOUR DEDUCTIBLE CAN SIMPLY VANISH</a:t>
            </a:r>
          </a:p>
          <a:p>
            <a:pPr marL="0" marR="0" lvl="0" indent="0" algn="ctr" defTabSz="914400" rtl="0" eaLnBrk="1" fontAlgn="auto" latinLnBrk="0" hangingPunct="1">
              <a:lnSpc>
                <a:spcPct val="90000"/>
              </a:lnSpc>
              <a:spcBef>
                <a:spcPts val="1000"/>
              </a:spcBef>
              <a:spcAft>
                <a:spcPts val="0"/>
              </a:spcAft>
              <a:buClrTx/>
              <a:buSzTx/>
              <a:buFontTx/>
              <a:buNone/>
              <a:tabLst/>
              <a:defRPr/>
            </a:pPr>
            <a:endParaRPr kumimoji="0" lang="en-US" sz="3800" b="0" i="0" u="none" strike="noStrike" kern="1200" cap="none" spc="0" normalizeH="0" baseline="0" noProof="0" dirty="0">
              <a:ln>
                <a:noFill/>
              </a:ln>
              <a:solidFill>
                <a:prstClr val="black"/>
              </a:solidFill>
              <a:effectLst/>
              <a:uLnTx/>
              <a:uFillTx/>
              <a:latin typeface="Montserrat" panose="00000500000000000000" pitchFamily="2" charset="0"/>
              <a:ea typeface="+mj-ea"/>
              <a:cs typeface="+mj-cs"/>
            </a:endParaRPr>
          </a:p>
        </p:txBody>
      </p:sp>
      <p:sp>
        <p:nvSpPr>
          <p:cNvPr id="3" name="Slide Number Placeholder 3">
            <a:extLst>
              <a:ext uri="{FF2B5EF4-FFF2-40B4-BE49-F238E27FC236}">
                <a16:creationId xmlns:a16="http://schemas.microsoft.com/office/drawing/2014/main" id="{8B3A2443-C9A5-9840-65A4-36B20C47DD4C}"/>
              </a:ext>
            </a:extLst>
          </p:cNvPr>
          <p:cNvSpPr>
            <a:spLocks noGrp="1"/>
          </p:cNvSpPr>
          <p:nvPr>
            <p:ph type="sldNum" sz="quarter" idx="12"/>
          </p:nvPr>
        </p:nvSpPr>
        <p:spPr>
          <a:xfrm>
            <a:off x="9006827" y="626813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4" name="Picture 12">
            <a:extLst>
              <a:ext uri="{FF2B5EF4-FFF2-40B4-BE49-F238E27FC236}">
                <a16:creationId xmlns:a16="http://schemas.microsoft.com/office/drawing/2014/main" id="{E4909EF0-0675-CA57-8ADA-A19CD01D38EA}"/>
              </a:ext>
            </a:extLst>
          </p:cNvPr>
          <p:cNvPicPr>
            <a:picLocks noChangeAspect="1"/>
          </p:cNvPicPr>
          <p:nvPr/>
        </p:nvPicPr>
        <p:blipFill>
          <a:blip r:embed="rId3"/>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CA353A74-5D89-849A-9B03-BCFB396BAA13}"/>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9">
            <a:extLst>
              <a:ext uri="{FF2B5EF4-FFF2-40B4-BE49-F238E27FC236}">
                <a16:creationId xmlns:a16="http://schemas.microsoft.com/office/drawing/2014/main" id="{065E6D81-E529-3946-F4D6-5D6609CC0FE8}"/>
              </a:ext>
            </a:extLst>
          </p:cNvPr>
          <p:cNvGraphicFramePr>
            <a:graphicFrameLocks noGrp="1"/>
          </p:cNvGraphicFramePr>
          <p:nvPr/>
        </p:nvGraphicFramePr>
        <p:xfrm>
          <a:off x="401217" y="970995"/>
          <a:ext cx="11005538" cy="5271741"/>
        </p:xfrm>
        <a:graphic>
          <a:graphicData uri="http://schemas.openxmlformats.org/drawingml/2006/table">
            <a:tbl>
              <a:tblPr/>
              <a:tblGrid>
                <a:gridCol w="1330055">
                  <a:extLst>
                    <a:ext uri="{9D8B030D-6E8A-4147-A177-3AD203B41FA5}">
                      <a16:colId xmlns:a16="http://schemas.microsoft.com/office/drawing/2014/main" val="3195232096"/>
                    </a:ext>
                  </a:extLst>
                </a:gridCol>
                <a:gridCol w="1699612">
                  <a:extLst>
                    <a:ext uri="{9D8B030D-6E8A-4147-A177-3AD203B41FA5}">
                      <a16:colId xmlns:a16="http://schemas.microsoft.com/office/drawing/2014/main" val="1786901733"/>
                    </a:ext>
                  </a:extLst>
                </a:gridCol>
                <a:gridCol w="2400820">
                  <a:extLst>
                    <a:ext uri="{9D8B030D-6E8A-4147-A177-3AD203B41FA5}">
                      <a16:colId xmlns:a16="http://schemas.microsoft.com/office/drawing/2014/main" val="1392519372"/>
                    </a:ext>
                  </a:extLst>
                </a:gridCol>
                <a:gridCol w="1964908">
                  <a:extLst>
                    <a:ext uri="{9D8B030D-6E8A-4147-A177-3AD203B41FA5}">
                      <a16:colId xmlns:a16="http://schemas.microsoft.com/office/drawing/2014/main" val="660552617"/>
                    </a:ext>
                  </a:extLst>
                </a:gridCol>
                <a:gridCol w="156744">
                  <a:extLst>
                    <a:ext uri="{9D8B030D-6E8A-4147-A177-3AD203B41FA5}">
                      <a16:colId xmlns:a16="http://schemas.microsoft.com/office/drawing/2014/main" val="1136356776"/>
                    </a:ext>
                  </a:extLst>
                </a:gridCol>
                <a:gridCol w="2620433">
                  <a:extLst>
                    <a:ext uri="{9D8B030D-6E8A-4147-A177-3AD203B41FA5}">
                      <a16:colId xmlns:a16="http://schemas.microsoft.com/office/drawing/2014/main" val="713959702"/>
                    </a:ext>
                  </a:extLst>
                </a:gridCol>
                <a:gridCol w="832966">
                  <a:extLst>
                    <a:ext uri="{9D8B030D-6E8A-4147-A177-3AD203B41FA5}">
                      <a16:colId xmlns:a16="http://schemas.microsoft.com/office/drawing/2014/main" val="1233038709"/>
                    </a:ext>
                  </a:extLst>
                </a:gridCol>
              </a:tblGrid>
              <a:tr h="393475">
                <a:tc gridSpan="4">
                  <a:txBody>
                    <a:bodyPr/>
                    <a:lstStyle/>
                    <a:p>
                      <a:pPr algn="ctr" fontAlgn="b"/>
                      <a:r>
                        <a:rPr lang="en-US" sz="1200" b="1" i="0" u="none" strike="noStrike">
                          <a:solidFill>
                            <a:srgbClr val="000000"/>
                          </a:solidFill>
                          <a:effectLst/>
                          <a:latin typeface="Montserrat" panose="00000500000000000000" pitchFamily="2" charset="0"/>
                        </a:rPr>
                        <a:t>BENEFIT EXAMPLE</a:t>
                      </a:r>
                    </a:p>
                  </a:txBody>
                  <a:tcPr marL="7133" marR="7133" marT="7133" marB="0" anchor="b">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mpd="sng">
                      <a:noFill/>
                      <a:prstDash val="solid"/>
                    </a:lnL>
                  </a:tcPr>
                </a:tc>
                <a:tc hMerge="1">
                  <a:txBody>
                    <a:bodyPr/>
                    <a:lstStyle/>
                    <a:p>
                      <a:endParaRPr lang="en-US"/>
                    </a:p>
                  </a:txBody>
                  <a:tcPr/>
                </a:tc>
                <a:tc hMerge="1">
                  <a:txBody>
                    <a:bodyPr/>
                    <a:lstStyle/>
                    <a:p>
                      <a:endParaRPr lang="en-US"/>
                    </a:p>
                  </a:txBody>
                  <a:tcPr/>
                </a:tc>
                <a:tc>
                  <a:txBody>
                    <a:bodyPr/>
                    <a:lstStyle/>
                    <a:p>
                      <a:pPr algn="l" fontAlgn="b"/>
                      <a:endParaRPr lang="en-US" sz="800" b="0" i="0" u="none" strike="noStrike">
                        <a:solidFill>
                          <a:srgbClr val="000000"/>
                        </a:solidFill>
                        <a:effectLst/>
                        <a:latin typeface="Montserrat" panose="00000500000000000000" pitchFamily="2" charset="0"/>
                      </a:endParaRPr>
                    </a:p>
                  </a:txBody>
                  <a:tcPr marL="7133" marR="7133" marT="7133" marB="0" anchor="b">
                    <a:lnL w="12700" cmpd="sng">
                      <a:noFill/>
                      <a:prstDash val="solid"/>
                    </a:lnL>
                    <a:lnR>
                      <a:noFill/>
                    </a:lnR>
                    <a:lnT>
                      <a:noFill/>
                    </a:lnT>
                    <a:lnB>
                      <a:noFill/>
                    </a:lnB>
                    <a:lnTlToBr w="12700" cmpd="sng">
                      <a:noFill/>
                      <a:prstDash val="solid"/>
                    </a:lnTlToBr>
                    <a:lnBlToTr w="12700" cmpd="sng">
                      <a:noFill/>
                      <a:prstDash val="solid"/>
                    </a:lnBlToTr>
                    <a:noFill/>
                  </a:tcPr>
                </a:tc>
                <a:tc gridSpan="2">
                  <a:txBody>
                    <a:bodyPr/>
                    <a:lstStyle/>
                    <a:p>
                      <a:pPr algn="ctr" fontAlgn="b"/>
                      <a:r>
                        <a:rPr lang="en-US" sz="1200" b="1" i="0" u="none" strike="noStrike">
                          <a:solidFill>
                            <a:srgbClr val="000000"/>
                          </a:solidFill>
                          <a:effectLst/>
                          <a:latin typeface="Montserrat" panose="00000500000000000000" pitchFamily="2" charset="0"/>
                        </a:rPr>
                        <a:t>CLAIM EXAMPLE  </a:t>
                      </a:r>
                    </a:p>
                  </a:txBody>
                  <a:tcPr marL="7133" marR="7133" marT="7133" marB="0" anchor="b">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mpd="sng">
                      <a:noFill/>
                      <a:prstDash val="solid"/>
                    </a:lnL>
                  </a:tcPr>
                </a:tc>
                <a:extLst>
                  <a:ext uri="{0D108BD9-81ED-4DB2-BD59-A6C34878D82A}">
                    <a16:rowId xmlns:a16="http://schemas.microsoft.com/office/drawing/2014/main" val="4091891274"/>
                  </a:ext>
                </a:extLst>
              </a:tr>
              <a:tr h="708259">
                <a:tc gridSpan="2">
                  <a:txBody>
                    <a:bodyPr/>
                    <a:lstStyle/>
                    <a:p>
                      <a:pPr algn="ctr" rtl="0" fontAlgn="ctr"/>
                      <a:r>
                        <a:rPr lang="en-US" sz="1400" b="1" i="0" u="none" strike="noStrike">
                          <a:solidFill>
                            <a:srgbClr val="FFFFFF"/>
                          </a:solidFill>
                          <a:effectLst/>
                          <a:latin typeface="Montserrat" panose="00000500000000000000" pitchFamily="2" charset="0"/>
                        </a:rPr>
                        <a:t>BASE MEDICAL BENEFITS</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C2340"/>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gridSpan="2">
                  <a:txBody>
                    <a:bodyPr/>
                    <a:lstStyle/>
                    <a:p>
                      <a:pPr algn="ctr" rtl="0" fontAlgn="ctr"/>
                      <a:r>
                        <a:rPr lang="en-US" sz="1400" b="1" i="0" u="none" strike="noStrike">
                          <a:solidFill>
                            <a:srgbClr val="FFFFFF"/>
                          </a:solidFill>
                          <a:effectLst/>
                          <a:latin typeface="Montserrat" panose="00000500000000000000" pitchFamily="2" charset="0"/>
                        </a:rPr>
                        <a:t>BONUS BENEFITS</a:t>
                      </a:r>
                    </a:p>
                  </a:txBody>
                  <a:tcPr marL="7133" marR="7133" marT="7133"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tc>
                  <a:txBody>
                    <a:bodyPr/>
                    <a:lstStyle/>
                    <a:p>
                      <a:pPr algn="l" fontAlgn="b"/>
                      <a:endParaRPr lang="en-US" sz="9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gridSpan="2">
                  <a:txBody>
                    <a:bodyPr/>
                    <a:lstStyle/>
                    <a:p>
                      <a:pPr algn="ctr" rtl="0" fontAlgn="ctr"/>
                      <a:r>
                        <a:rPr lang="en-US" sz="1400" b="1" i="0" u="none" strike="noStrike">
                          <a:solidFill>
                            <a:srgbClr val="FFFFFF"/>
                          </a:solidFill>
                          <a:effectLst/>
                          <a:latin typeface="Montserrat" panose="00000500000000000000" pitchFamily="2" charset="0"/>
                        </a:rPr>
                        <a:t>“How Your Deductible Can Vanish”</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C2340"/>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extLst>
                  <a:ext uri="{0D108BD9-81ED-4DB2-BD59-A6C34878D82A}">
                    <a16:rowId xmlns:a16="http://schemas.microsoft.com/office/drawing/2014/main" val="2792043374"/>
                  </a:ext>
                </a:extLst>
              </a:tr>
              <a:tr h="454683">
                <a:tc gridSpan="2">
                  <a:txBody>
                    <a:bodyPr/>
                    <a:lstStyle/>
                    <a:p>
                      <a:pPr algn="ctr" rtl="0" fontAlgn="b"/>
                      <a:r>
                        <a:rPr lang="en-US" sz="1150" b="1" i="0" u="none" strike="noStrike">
                          <a:solidFill>
                            <a:srgbClr val="000000"/>
                          </a:solidFill>
                          <a:effectLst/>
                          <a:latin typeface="Montserrat" panose="00000500000000000000" pitchFamily="2" charset="0"/>
                        </a:rPr>
                        <a:t>Deductible</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gridSpan="2">
                  <a:txBody>
                    <a:bodyPr/>
                    <a:lstStyle/>
                    <a:p>
                      <a:pPr algn="ctr" rtl="0" fontAlgn="b"/>
                      <a:r>
                        <a:rPr lang="en-US" sz="1150" b="1" i="0" u="none" strike="noStrike">
                          <a:solidFill>
                            <a:srgbClr val="000000"/>
                          </a:solidFill>
                          <a:effectLst/>
                          <a:latin typeface="Montserrat" panose="00000500000000000000" pitchFamily="2" charset="0"/>
                        </a:rPr>
                        <a:t>Benefits Automatically Included In Your Plan,                                                                 At NO Additional Cost To You!</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gridSpan="2">
                  <a:txBody>
                    <a:bodyPr/>
                    <a:lstStyle/>
                    <a:p>
                      <a:pPr algn="ctr" rtl="0" fontAlgn="ctr"/>
                      <a:r>
                        <a:rPr lang="en-US" sz="1100" b="1" i="0" u="none" strike="noStrike">
                          <a:solidFill>
                            <a:srgbClr val="000000"/>
                          </a:solidFill>
                          <a:effectLst/>
                          <a:latin typeface="Montserrat" panose="00000500000000000000" pitchFamily="2" charset="0"/>
                        </a:rPr>
                        <a:t>CLAIM EXAMPLE:     Heart Attack, with Surgery</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BFBFBF"/>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extLst>
                  <a:ext uri="{0D108BD9-81ED-4DB2-BD59-A6C34878D82A}">
                    <a16:rowId xmlns:a16="http://schemas.microsoft.com/office/drawing/2014/main" val="2531598024"/>
                  </a:ext>
                </a:extLst>
              </a:tr>
              <a:tr h="349758">
                <a:tc>
                  <a:txBody>
                    <a:bodyPr/>
                    <a:lstStyle/>
                    <a:p>
                      <a:pPr algn="r" rtl="0" fontAlgn="ctr"/>
                      <a:r>
                        <a:rPr lang="en-US" sz="1150" b="0" i="0" u="none" strike="noStrike">
                          <a:solidFill>
                            <a:srgbClr val="000000"/>
                          </a:solidFill>
                          <a:effectLst/>
                          <a:latin typeface="Montserrat" panose="00000500000000000000" pitchFamily="2" charset="0"/>
                        </a:rPr>
                        <a:t>Single</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$2,500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US" sz="1150" b="1" i="0" u="none" strike="noStrike">
                          <a:solidFill>
                            <a:srgbClr val="000000"/>
                          </a:solidFill>
                          <a:effectLst/>
                          <a:latin typeface="Montserrat" panose="00000500000000000000" pitchFamily="2" charset="0"/>
                        </a:rPr>
                        <a:t> Preferred Hospital Stay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5  Days at $500 /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OP Radiology/X-Ray</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r>
                        <a:rPr lang="en-US" sz="1100" b="0" i="0" u="none" strike="noStrike">
                          <a:solidFill>
                            <a:srgbClr val="000000"/>
                          </a:solidFill>
                          <a:effectLst/>
                          <a:latin typeface="Montserrat" panose="00000500000000000000" pitchFamily="2" charset="0"/>
                        </a:rPr>
                        <a:t>$200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w="12700" cmpd="sng">
                      <a:noFill/>
                      <a:prstDash val="solid"/>
                    </a:lnT>
                    <a:lnB>
                      <a:noFill/>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1804750250"/>
                  </a:ext>
                </a:extLst>
              </a:tr>
              <a:tr h="349758">
                <a:tc>
                  <a:txBody>
                    <a:bodyPr/>
                    <a:lstStyle/>
                    <a:p>
                      <a:pPr algn="r" rtl="0" fontAlgn="ctr"/>
                      <a:r>
                        <a:rPr lang="en-US" sz="1150" b="0" i="0" u="none" strike="noStrike">
                          <a:solidFill>
                            <a:srgbClr val="000000"/>
                          </a:solidFill>
                          <a:effectLst/>
                          <a:latin typeface="Montserrat" panose="00000500000000000000" pitchFamily="2" charset="0"/>
                        </a:rPr>
                        <a:t>Family</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ctr" rtl="0" fontAlgn="ctr"/>
                      <a:r>
                        <a:rPr lang="en-US" sz="1150" b="0" i="0" u="none" strike="noStrike">
                          <a:solidFill>
                            <a:srgbClr val="000000"/>
                          </a:solidFill>
                          <a:effectLst/>
                          <a:latin typeface="Montserrat" panose="00000500000000000000" pitchFamily="2" charset="0"/>
                        </a:rPr>
                        <a:t>$3,500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r" rtl="0" fontAlgn="ctr"/>
                      <a:r>
                        <a:rPr lang="en-US" sz="1150" b="1" i="0" u="none" strike="noStrike">
                          <a:solidFill>
                            <a:srgbClr val="000000"/>
                          </a:solidFill>
                          <a:effectLst/>
                          <a:latin typeface="Montserrat" panose="00000500000000000000" pitchFamily="2" charset="0"/>
                        </a:rPr>
                        <a:t> Non-Preferred Hospital Stay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rtl="0" fontAlgn="ctr"/>
                      <a:r>
                        <a:rPr lang="en-US" sz="1150" b="0" i="0" u="none" strike="noStrike">
                          <a:solidFill>
                            <a:srgbClr val="000000"/>
                          </a:solidFill>
                          <a:effectLst/>
                          <a:latin typeface="Montserrat" panose="00000500000000000000" pitchFamily="2" charset="0"/>
                        </a:rPr>
                        <a:t>1 Day at $50 /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OP Diagnostic Labs</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$100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252238380"/>
                  </a:ext>
                </a:extLst>
              </a:tr>
              <a:tr h="349758">
                <a:tc>
                  <a:txBody>
                    <a:bodyPr/>
                    <a:lstStyle/>
                    <a:p>
                      <a:pPr algn="r" rtl="0" fontAlgn="ctr"/>
                      <a:r>
                        <a:rPr lang="en-US" sz="1150" b="1" i="0" u="none" strike="noStrike">
                          <a:solidFill>
                            <a:srgbClr val="000000"/>
                          </a:solidFill>
                          <a:effectLst/>
                          <a:latin typeface="Montserrat" panose="00000500000000000000" pitchFamily="2" charset="0"/>
                        </a:rPr>
                        <a:t>Coinsurance</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80% / 20%</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lang="en-US" sz="1150" b="1" i="0" u="none" strike="noStrike">
                          <a:solidFill>
                            <a:srgbClr val="000000"/>
                          </a:solidFill>
                          <a:effectLst/>
                          <a:latin typeface="Montserrat" panose="00000500000000000000" pitchFamily="2" charset="0"/>
                        </a:rPr>
                        <a:t> OP Surgery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$700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Preferred Hospital Stay, </a:t>
                      </a:r>
                    </a:p>
                    <a:p>
                      <a:pPr algn="r" rtl="0" fontAlgn="ctr"/>
                      <a:r>
                        <a:rPr lang="en-US" sz="1100" b="1" i="0" u="none" strike="noStrike">
                          <a:solidFill>
                            <a:srgbClr val="000000"/>
                          </a:solidFill>
                          <a:effectLst/>
                          <a:latin typeface="Montserrat" panose="00000500000000000000" pitchFamily="2" charset="0"/>
                        </a:rPr>
                        <a:t>5 Days at $500/Day</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solidFill>
                      <a:srgbClr val="E7E7E7"/>
                    </a:solidFill>
                  </a:tcPr>
                </a:tc>
                <a:tc>
                  <a:txBody>
                    <a:bodyPr/>
                    <a:lstStyle/>
                    <a:p>
                      <a:pPr algn="ctr" rtl="0" fontAlgn="ctr"/>
                      <a:r>
                        <a:rPr lang="en-US" sz="1100" b="0" i="0" u="none" strike="noStrike">
                          <a:solidFill>
                            <a:srgbClr val="000000"/>
                          </a:solidFill>
                          <a:effectLst/>
                          <a:latin typeface="Montserrat" panose="00000500000000000000" pitchFamily="2" charset="0"/>
                        </a:rPr>
                        <a:t>$2,500</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3703207580"/>
                  </a:ext>
                </a:extLst>
              </a:tr>
              <a:tr h="349758">
                <a:tc gridSpan="2">
                  <a:txBody>
                    <a:bodyPr/>
                    <a:lstStyle/>
                    <a:p>
                      <a:pPr algn="ctr" rtl="0" fontAlgn="b"/>
                      <a:r>
                        <a:rPr lang="en-US" sz="1150" b="1" i="0" u="none" strike="noStrike">
                          <a:solidFill>
                            <a:srgbClr val="000000"/>
                          </a:solidFill>
                          <a:effectLst/>
                          <a:latin typeface="Montserrat" panose="00000500000000000000" pitchFamily="2" charset="0"/>
                        </a:rPr>
                        <a:t>Maximum Out-of-Pocket</a:t>
                      </a: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h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r" rtl="0" fontAlgn="ctr"/>
                      <a:r>
                        <a:rPr lang="en-US" sz="1150" b="1" i="0" u="none" strike="noStrike">
                          <a:solidFill>
                            <a:srgbClr val="000000"/>
                          </a:solidFill>
                          <a:effectLst/>
                          <a:latin typeface="Montserrat" panose="00000500000000000000" pitchFamily="2" charset="0"/>
                        </a:rPr>
                        <a:t> OP Anesthesia</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rtl="0" fontAlgn="ctr"/>
                      <a:r>
                        <a:rPr lang="en-US" sz="1150" b="0" i="0" u="none" strike="noStrike">
                          <a:solidFill>
                            <a:srgbClr val="000000"/>
                          </a:solidFill>
                          <a:effectLst/>
                          <a:latin typeface="Montserrat" panose="00000500000000000000" pitchFamily="2" charset="0"/>
                        </a:rPr>
                        <a:t>$250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Critical Illness</a:t>
                      </a:r>
                      <a:r>
                        <a:rPr lang="en-US" sz="1100" b="0" i="0" u="none" strike="noStrike">
                          <a:solidFill>
                            <a:srgbClr val="000000"/>
                          </a:solidFill>
                          <a:effectLst/>
                          <a:latin typeface="Montserrat" panose="00000500000000000000" pitchFamily="2" charset="0"/>
                        </a:rPr>
                        <a:t>   (Heart Attack Benefit)</a:t>
                      </a:r>
                      <a:endParaRPr lang="en-US" sz="1100" b="1" i="0" u="none" strike="noStrike">
                        <a:solidFill>
                          <a:srgbClr val="000000"/>
                        </a:solidFill>
                        <a:effectLst/>
                        <a:latin typeface="Montserrat" panose="00000500000000000000" pitchFamily="2" charset="0"/>
                      </a:endParaRP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$2,000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325680797"/>
                  </a:ext>
                </a:extLst>
              </a:tr>
              <a:tr h="349758">
                <a:tc>
                  <a:txBody>
                    <a:bodyPr/>
                    <a:lstStyle/>
                    <a:p>
                      <a:pPr algn="r" rtl="0" fontAlgn="ctr"/>
                      <a:r>
                        <a:rPr lang="en-US" sz="1150" b="0" i="0" u="none" strike="noStrike">
                          <a:solidFill>
                            <a:srgbClr val="000000"/>
                          </a:solidFill>
                          <a:effectLst/>
                          <a:latin typeface="Montserrat" panose="00000500000000000000" pitchFamily="2" charset="0"/>
                        </a:rPr>
                        <a:t>Single</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$3,500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sz="1150" b="1" i="0" u="none" strike="noStrike">
                          <a:solidFill>
                            <a:srgbClr val="000000"/>
                          </a:solidFill>
                          <a:effectLst/>
                          <a:latin typeface="Montserrat" panose="00000500000000000000" pitchFamily="2" charset="0"/>
                        </a:rPr>
                        <a:t> OP Radiology/X-Ray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$200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b"/>
                      <a:r>
                        <a:rPr lang="en-US" sz="1100" b="1" i="0" u="none" strike="noStrike">
                          <a:solidFill>
                            <a:srgbClr val="000000"/>
                          </a:solidFill>
                          <a:effectLst/>
                          <a:latin typeface="Montserrat" panose="00000500000000000000" pitchFamily="2" charset="0"/>
                        </a:rPr>
                        <a:t>Health Screening Benefit</a:t>
                      </a:r>
                      <a:r>
                        <a:rPr lang="en-US" sz="1100" b="0" i="0" u="none" strike="noStrike">
                          <a:solidFill>
                            <a:srgbClr val="000000"/>
                          </a:solidFill>
                          <a:effectLst/>
                          <a:latin typeface="Montserrat" panose="00000500000000000000" pitchFamily="2" charset="0"/>
                        </a:rPr>
                        <a:t> (Stress-Test)</a:t>
                      </a:r>
                      <a:endParaRPr lang="en-US" sz="1100" b="1" i="0" u="none" strike="noStrike">
                        <a:solidFill>
                          <a:srgbClr val="000000"/>
                        </a:solidFill>
                        <a:effectLst/>
                        <a:latin typeface="Montserrat" panose="00000500000000000000" pitchFamily="2" charset="0"/>
                      </a:endParaRP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algn="ctr" rtl="0" fontAlgn="ctr"/>
                      <a:r>
                        <a:rPr lang="en-US" sz="1100" b="0" i="0" u="none" strike="noStrike">
                          <a:solidFill>
                            <a:srgbClr val="000000"/>
                          </a:solidFill>
                          <a:effectLst/>
                          <a:latin typeface="Montserrat" panose="00000500000000000000" pitchFamily="2" charset="0"/>
                        </a:rPr>
                        <a:t>$125</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3266247627"/>
                  </a:ext>
                </a:extLst>
              </a:tr>
              <a:tr h="349758">
                <a:tc>
                  <a:txBody>
                    <a:bodyPr/>
                    <a:lstStyle/>
                    <a:p>
                      <a:pPr algn="r" rtl="0" fontAlgn="ctr"/>
                      <a:r>
                        <a:rPr lang="en-US" sz="1150" b="0" i="0" u="none" strike="noStrike">
                          <a:solidFill>
                            <a:srgbClr val="000000"/>
                          </a:solidFill>
                          <a:effectLst/>
                          <a:latin typeface="Montserrat" panose="00000500000000000000" pitchFamily="2" charset="0"/>
                        </a:rPr>
                        <a:t>Family</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$7,000</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ctr"/>
                      <a:r>
                        <a:rPr lang="en-US" sz="1150" b="1" i="0" u="none" strike="noStrike">
                          <a:solidFill>
                            <a:srgbClr val="000000"/>
                          </a:solidFill>
                          <a:effectLst/>
                          <a:latin typeface="Montserrat" panose="00000500000000000000" pitchFamily="2" charset="0"/>
                        </a:rPr>
                        <a:t> OP Diagnostic Labs</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$100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b"/>
                      <a:r>
                        <a:rPr lang="en-US" sz="1100" b="1" i="0" u="none" strike="noStrike">
                          <a:solidFill>
                            <a:srgbClr val="000000"/>
                          </a:solidFill>
                          <a:effectLst/>
                          <a:latin typeface="Montserrat" panose="00000500000000000000" pitchFamily="2" charset="0"/>
                        </a:rPr>
                        <a:t>Wellness Benefit </a:t>
                      </a:r>
                      <a:r>
                        <a:rPr lang="en-US" sz="1100" b="0" i="0" u="none" strike="noStrike">
                          <a:solidFill>
                            <a:srgbClr val="000000"/>
                          </a:solidFill>
                          <a:effectLst/>
                          <a:latin typeface="Montserrat" panose="00000500000000000000" pitchFamily="2" charset="0"/>
                        </a:rPr>
                        <a:t>(Telephonic Coaching)</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$125</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4367116"/>
                  </a:ext>
                </a:extLst>
              </a:tr>
              <a:tr h="349758">
                <a:tc gridSpan="2">
                  <a:txBody>
                    <a:bodyPr/>
                    <a:lstStyle/>
                    <a:p>
                      <a:pPr algn="ctr" rtl="0" fontAlgn="ctr"/>
                      <a:r>
                        <a:rPr lang="en-US" sz="1050" b="0" i="0" u="none" strike="noStrike">
                          <a:solidFill>
                            <a:srgbClr val="000000"/>
                          </a:solidFill>
                          <a:effectLst/>
                          <a:latin typeface="Montserrat" panose="00000500000000000000" pitchFamily="2" charset="0"/>
                        </a:rPr>
                        <a:t>Chronic Disease Management Regimens of Care,   Covered at 100%</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lnL w="6350" cap="flat" cmpd="sng" algn="ctr">
                      <a:solidFill>
                        <a:srgbClr val="80808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r" fontAlgn="ctr"/>
                      <a:r>
                        <a:rPr lang="en-US" sz="1150" b="1" i="0" u="none" strike="noStrike">
                          <a:solidFill>
                            <a:srgbClr val="000000"/>
                          </a:solidFill>
                          <a:effectLst/>
                          <a:latin typeface="Montserrat" panose="00000500000000000000" pitchFamily="2" charset="0"/>
                        </a:rPr>
                        <a:t> Health Screening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$125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t"/>
                      <a:r>
                        <a:rPr lang="en-US" sz="1100" b="1" i="0" u="none" strike="noStrike">
                          <a:solidFill>
                            <a:srgbClr val="000000"/>
                          </a:solidFill>
                          <a:effectLst/>
                          <a:latin typeface="Montserrat" panose="00000500000000000000" pitchFamily="2" charset="0"/>
                        </a:rPr>
                        <a:t>TOTAL BONUS BENEFIT PAYABLE</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lumMod val="85000"/>
                      </a:schemeClr>
                    </a:solidFill>
                  </a:tcPr>
                </a:tc>
                <a:tc>
                  <a:txBody>
                    <a:bodyPr/>
                    <a:lstStyle/>
                    <a:p>
                      <a:pPr algn="ctr" rtl="0" fontAlgn="ctr"/>
                      <a:r>
                        <a:rPr lang="en-US" sz="1100" b="0" i="0" u="none" strike="noStrike">
                          <a:solidFill>
                            <a:srgbClr val="000000"/>
                          </a:solidFill>
                          <a:effectLst/>
                          <a:latin typeface="Montserrat" panose="00000500000000000000" pitchFamily="2" charset="0"/>
                        </a:rPr>
                        <a:t>$5,050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lumMod val="85000"/>
                      </a:schemeClr>
                    </a:solidFill>
                  </a:tcPr>
                </a:tc>
                <a:extLst>
                  <a:ext uri="{0D108BD9-81ED-4DB2-BD59-A6C34878D82A}">
                    <a16:rowId xmlns:a16="http://schemas.microsoft.com/office/drawing/2014/main" val="1559647697"/>
                  </a:ext>
                </a:extLst>
              </a:tr>
              <a:tr h="393475">
                <a:tc gridSpan="2">
                  <a:txBody>
                    <a:bodyPr/>
                    <a:lstStyle/>
                    <a:p>
                      <a:pPr algn="ctr" rtl="0" fontAlgn="ctr"/>
                      <a:r>
                        <a:rPr lang="en-US" sz="1050" b="0" i="0" u="none" strike="noStrike">
                          <a:solidFill>
                            <a:srgbClr val="000000"/>
                          </a:solidFill>
                          <a:effectLst/>
                          <a:latin typeface="Montserrat" panose="00000500000000000000" pitchFamily="2" charset="0"/>
                        </a:rPr>
                        <a:t>Healthcare Specific, Interest Free Credit Card to Cover Out-of-Pocket Costs </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r" rtl="0" fontAlgn="ctr"/>
                      <a:r>
                        <a:rPr lang="en-US" sz="1150" b="1" i="0" u="none" strike="noStrike">
                          <a:solidFill>
                            <a:srgbClr val="000000"/>
                          </a:solidFill>
                          <a:effectLst/>
                          <a:latin typeface="Montserrat" panose="00000500000000000000" pitchFamily="2" charset="0"/>
                        </a:rPr>
                        <a:t> Wellness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$125/1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0" i="0" u="none" strike="noStrike">
                          <a:solidFill>
                            <a:srgbClr val="000000"/>
                          </a:solidFill>
                          <a:effectLst/>
                          <a:latin typeface="Montserrat" panose="00000500000000000000" pitchFamily="2" charset="0"/>
                        </a:rPr>
                        <a:t>Less Your Maximum  Out-of-Pocket Cost</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rtl="0" fontAlgn="ctr"/>
                      <a:r>
                        <a:rPr lang="en-US" sz="1100" b="1" i="0" u="none" strike="noStrike">
                          <a:solidFill>
                            <a:srgbClr val="A6192E"/>
                          </a:solidFill>
                          <a:effectLst/>
                          <a:latin typeface="Montserrat" panose="00000500000000000000" pitchFamily="2" charset="0"/>
                        </a:rPr>
                        <a:t>($3,500)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84281273"/>
                  </a:ext>
                </a:extLst>
              </a:tr>
              <a:tr h="515890">
                <a:tc rowSpan="2" gridSpan="2">
                  <a:txBody>
                    <a:bodyPr/>
                    <a:lstStyle/>
                    <a:p>
                      <a:pPr algn="l" fontAlgn="b"/>
                      <a:r>
                        <a:rPr lang="en-US" sz="1000" b="0" i="0" u="none" strike="noStrike">
                          <a:solidFill>
                            <a:srgbClr val="000000"/>
                          </a:solidFill>
                          <a:effectLst/>
                          <a:latin typeface="Montserrat" panose="00000500000000000000" pitchFamily="2" charset="0"/>
                        </a:rPr>
                        <a:t> </a:t>
                      </a:r>
                    </a:p>
                    <a:p>
                      <a:pPr algn="l" fontAlgn="b"/>
                      <a:r>
                        <a:rPr lang="en-US" sz="1000" b="0" i="0" u="none" strike="noStrike">
                          <a:solidFill>
                            <a:srgbClr val="000000"/>
                          </a:solidFill>
                          <a:effectLst/>
                          <a:latin typeface="Montserrat" panose="00000500000000000000" pitchFamily="2" charset="0"/>
                        </a:rPr>
                        <a:t> </a:t>
                      </a:r>
                    </a:p>
                    <a:p>
                      <a:pPr algn="l" fontAlgn="b"/>
                      <a:r>
                        <a:rPr lang="en-US" sz="1000" b="0" i="0" u="none" strike="noStrike">
                          <a:solidFill>
                            <a:srgbClr val="000000"/>
                          </a:solidFill>
                          <a:effectLst/>
                          <a:latin typeface="Montserrat" panose="00000500000000000000" pitchFamily="2" charset="0"/>
                        </a:rPr>
                        <a:t> </a:t>
                      </a: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hMerge="1">
                  <a:txBody>
                    <a:bodyPr/>
                    <a:lstStyle/>
                    <a:p>
                      <a:pPr algn="l" fontAlgn="b"/>
                      <a:endParaRPr lang="en-US" sz="1000" b="0" i="0" u="none" strike="noStrike">
                        <a:solidFill>
                          <a:srgbClr val="000000"/>
                        </a:solidFill>
                        <a:effectLst/>
                        <a:latin typeface="Calibri" panose="020F0502020204030204" pitchFamily="34" charset="0"/>
                      </a:endParaRPr>
                    </a:p>
                  </a:txBody>
                  <a:tcPr marL="7133" marR="7133" marT="7133" marB="0" anchor="b">
                    <a:lnL w="6350" cap="flat" cmpd="sng" algn="ctr">
                      <a:solidFill>
                        <a:srgbClr val="000000"/>
                      </a:solidFill>
                      <a:prstDash val="solid"/>
                      <a:round/>
                      <a:headEnd type="none" w="med" len="med"/>
                      <a:tailEnd type="none" w="med" len="med"/>
                    </a:lnL>
                  </a:tcPr>
                </a:tc>
                <a:tc>
                  <a:txBody>
                    <a:bodyPr/>
                    <a:lstStyle/>
                    <a:p>
                      <a:pPr algn="r" rtl="0" fontAlgn="ctr"/>
                      <a:r>
                        <a:rPr lang="en-US" sz="1150" b="1" i="0" u="none" strike="noStrike">
                          <a:solidFill>
                            <a:srgbClr val="000000"/>
                          </a:solidFill>
                          <a:effectLst/>
                          <a:latin typeface="Montserrat" panose="00000500000000000000" pitchFamily="2" charset="0"/>
                        </a:rPr>
                        <a:t> Critical Illness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$2,000 Lump Sum</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Additional Benefit, </a:t>
                      </a:r>
                    </a:p>
                    <a:p>
                      <a:pPr algn="r" rtl="0" fontAlgn="ctr"/>
                      <a:r>
                        <a:rPr lang="en-US" sz="1100" b="1" i="0" u="none" strike="noStrike">
                          <a:solidFill>
                            <a:srgbClr val="000000"/>
                          </a:solidFill>
                          <a:effectLst/>
                          <a:latin typeface="Montserrat" panose="00000500000000000000" pitchFamily="2" charset="0"/>
                        </a:rPr>
                        <a:t>Payable Directly to You!</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en-US" sz="1100" b="1" i="0" u="none" strike="noStrike">
                          <a:solidFill>
                            <a:srgbClr val="000000"/>
                          </a:solidFill>
                          <a:effectLst/>
                          <a:latin typeface="Montserrat" panose="00000500000000000000" pitchFamily="2" charset="0"/>
                        </a:rPr>
                        <a:t>$1,550!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10967084"/>
                  </a:ext>
                </a:extLst>
              </a:tr>
              <a:tr h="349758">
                <a:tc gridSpan="2" vMerge="1">
                  <a:txBody>
                    <a:bodyPr/>
                    <a:lstStyle/>
                    <a:p>
                      <a:endParaRPr/>
                    </a:p>
                  </a:txBody>
                  <a:tcPr marL="7133" marR="7133" marT="7133" marB="0" anchor="b">
                    <a:lnL w="25400" cap="flat" cmpd="dbl"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hMerge="1" vMerge="1">
                  <a:txBody>
                    <a:bodyPr/>
                    <a:lstStyle/>
                    <a:p>
                      <a:endParaRPr/>
                    </a:p>
                  </a:txBody>
                  <a:tcPr marL="7133" marR="7133" marT="7133" marB="0" anchor="b">
                    <a:lnL>
                      <a:noFill/>
                    </a:lnL>
                    <a:lnR w="6350" cap="flat" cmpd="sng" algn="ctr">
                      <a:solidFill>
                        <a:srgbClr val="000000"/>
                      </a:solidFill>
                      <a:prstDash val="solid"/>
                      <a:round/>
                      <a:headEnd type="none" w="med" len="med"/>
                      <a:tailEnd type="none" w="med" len="med"/>
                    </a:lnR>
                    <a:lnB>
                      <a:noFill/>
                    </a:lnB>
                    <a:noFill/>
                  </a:tcPr>
                </a:tc>
                <a:tc gridSpan="2">
                  <a:txBody>
                    <a:bodyPr/>
                    <a:lstStyle/>
                    <a:p>
                      <a:pPr algn="ctr" fontAlgn="b"/>
                      <a:r>
                        <a:rPr lang="en-US" sz="1150" b="0" i="0" u="none" strike="noStrike">
                          <a:solidFill>
                            <a:srgbClr val="000000"/>
                          </a:solidFill>
                          <a:effectLst/>
                          <a:latin typeface="Montserrat" panose="00000500000000000000" pitchFamily="2" charset="0"/>
                        </a:rPr>
                        <a:t>*Critical Illness Benefits pays for 1st Diagnosis:  </a:t>
                      </a:r>
                    </a:p>
                    <a:p>
                      <a:pPr algn="ctr" fontAlgn="b"/>
                      <a:r>
                        <a:rPr lang="en-US" sz="1150" b="0" i="0" u="none" strike="noStrike">
                          <a:solidFill>
                            <a:srgbClr val="000000"/>
                          </a:solidFill>
                          <a:effectLst/>
                          <a:latin typeface="Montserrat" panose="00000500000000000000" pitchFamily="2" charset="0"/>
                        </a:rPr>
                        <a:t>Heart Attack, Stroke, Internal Cancer</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a:p>
                  </a:txBody>
                  <a:tcPr>
                    <a:lnL w="6350" cap="flat" cmpd="sng" algn="ctr">
                      <a:solidFill>
                        <a:srgbClr val="757171"/>
                      </a:solidFill>
                      <a:prstDash val="dot"/>
                      <a:round/>
                      <a:headEnd type="none" w="med" len="med"/>
                      <a:tailEnd type="none" w="med" len="med"/>
                    </a:lnL>
                    <a:lnR w="25400" cap="flat" cmpd="dbl"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679086056"/>
                  </a:ext>
                </a:extLst>
              </a:tr>
            </a:tbl>
          </a:graphicData>
        </a:graphic>
      </p:graphicFrame>
    </p:spTree>
    <p:extLst>
      <p:ext uri="{BB962C8B-B14F-4D97-AF65-F5344CB8AC3E}">
        <p14:creationId xmlns:p14="http://schemas.microsoft.com/office/powerpoint/2010/main" val="26057324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a:extLst>
              <a:ext uri="{FF2B5EF4-FFF2-40B4-BE49-F238E27FC236}">
                <a16:creationId xmlns:a16="http://schemas.microsoft.com/office/drawing/2014/main" id="{6242924E-816E-0617-E717-FD91AE2D016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 y="1500695"/>
            <a:ext cx="7241309" cy="4525818"/>
          </a:xfrm>
          <a:prstGeom prst="rect">
            <a:avLst/>
          </a:prstGeom>
        </p:spPr>
      </p:pic>
      <p:sp>
        <p:nvSpPr>
          <p:cNvPr id="3" name="Title 2">
            <a:extLst>
              <a:ext uri="{FF2B5EF4-FFF2-40B4-BE49-F238E27FC236}">
                <a16:creationId xmlns:a16="http://schemas.microsoft.com/office/drawing/2014/main" id="{DD2743DB-6003-F77F-2D46-16EC76C23EA4}"/>
              </a:ext>
            </a:extLst>
          </p:cNvPr>
          <p:cNvSpPr txBox="1">
            <a:spLocks/>
          </p:cNvSpPr>
          <p:nvPr/>
        </p:nvSpPr>
        <p:spPr>
          <a:xfrm>
            <a:off x="117445" y="207689"/>
            <a:ext cx="11534623" cy="1082169"/>
          </a:xfrm>
          <a:prstGeom prst="rect">
            <a:avLst/>
          </a:prstGeom>
        </p:spPr>
        <p:txBody>
          <a:bodyPr vert="horz" lIns="91440" tIns="45720" rIns="91440" bIns="45720" rtlCol="0">
            <a:normAutofit fontScale="62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1"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BENEFIT STEERING THE PATIENT TO Kettering Health Network</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3000" i="0" u="none" strike="noStrike" kern="1200" cap="none" spc="0" normalizeH="0" baseline="0" noProof="0" dirty="0">
                <a:ln>
                  <a:noFill/>
                </a:ln>
                <a:solidFill>
                  <a:srgbClr val="00539F"/>
                </a:solidFill>
                <a:effectLst/>
                <a:uLnTx/>
                <a:uFillTx/>
                <a:latin typeface="Montserrat" panose="00000500000000000000" pitchFamily="2" charset="0"/>
                <a:ea typeface="+mj-ea"/>
                <a:cs typeface="Arial" panose="020B0604020202020204" pitchFamily="34" charset="0"/>
              </a:rPr>
              <a:t>What Will this Claim Cost Me?</a:t>
            </a:r>
          </a:p>
        </p:txBody>
      </p:sp>
      <p:sp>
        <p:nvSpPr>
          <p:cNvPr id="4" name="Slide Number Placeholder 1">
            <a:extLst>
              <a:ext uri="{FF2B5EF4-FFF2-40B4-BE49-F238E27FC236}">
                <a16:creationId xmlns:a16="http://schemas.microsoft.com/office/drawing/2014/main" id="{A82E6EAB-830B-F36B-F482-0339C23492B5}"/>
              </a:ext>
            </a:extLst>
          </p:cNvPr>
          <p:cNvSpPr>
            <a:spLocks noGrp="1"/>
          </p:cNvSpPr>
          <p:nvPr>
            <p:ph type="sldNum" sz="quarter" idx="12"/>
          </p:nvPr>
        </p:nvSpPr>
        <p:spPr>
          <a:xfrm>
            <a:off x="8960395" y="633560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5" name="Picture 14">
            <a:extLst>
              <a:ext uri="{FF2B5EF4-FFF2-40B4-BE49-F238E27FC236}">
                <a16:creationId xmlns:a16="http://schemas.microsoft.com/office/drawing/2014/main" id="{18EE2CCA-91EC-8D14-02DB-5622F72597A9}"/>
              </a:ext>
            </a:extLst>
          </p:cNvPr>
          <p:cNvPicPr>
            <a:picLocks noChangeAspect="1"/>
          </p:cNvPicPr>
          <p:nvPr/>
        </p:nvPicPr>
        <p:blipFill>
          <a:blip r:embed="rId4"/>
          <a:stretch>
            <a:fillRect/>
          </a:stretch>
        </p:blipFill>
        <p:spPr>
          <a:xfrm>
            <a:off x="215573" y="6356350"/>
            <a:ext cx="2125097" cy="463658"/>
          </a:xfrm>
          <a:prstGeom prst="rect">
            <a:avLst/>
          </a:prstGeom>
        </p:spPr>
      </p:pic>
      <p:sp>
        <p:nvSpPr>
          <p:cNvPr id="6" name="Freeform 15">
            <a:extLst>
              <a:ext uri="{FF2B5EF4-FFF2-40B4-BE49-F238E27FC236}">
                <a16:creationId xmlns:a16="http://schemas.microsoft.com/office/drawing/2014/main" id="{1E58FADC-8A75-0ED5-B025-55AFCAF82465}"/>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7" name="Rectangle 10">
            <a:extLst>
              <a:ext uri="{FF2B5EF4-FFF2-40B4-BE49-F238E27FC236}">
                <a16:creationId xmlns:a16="http://schemas.microsoft.com/office/drawing/2014/main" id="{4B00F08C-D58D-B160-274C-358241C0A9BA}"/>
              </a:ext>
            </a:extLst>
          </p:cNvPr>
          <p:cNvSpPr/>
          <p:nvPr/>
        </p:nvSpPr>
        <p:spPr>
          <a:xfrm>
            <a:off x="8037505" y="1852181"/>
            <a:ext cx="3737727" cy="3975527"/>
          </a:xfrm>
          <a:prstGeom prst="rect">
            <a:avLst/>
          </a:prstGeom>
          <a:solidFill>
            <a:schemeClr val="bg1"/>
          </a:solidFill>
          <a:ln w="952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pic>
        <p:nvPicPr>
          <p:cNvPr id="8" name="Picture 16">
            <a:extLst>
              <a:ext uri="{FF2B5EF4-FFF2-40B4-BE49-F238E27FC236}">
                <a16:creationId xmlns:a16="http://schemas.microsoft.com/office/drawing/2014/main" id="{5AC4AED8-CD54-569B-E7E6-AF890B69A91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122899" y="1981860"/>
            <a:ext cx="1197168" cy="261201"/>
          </a:xfrm>
          <a:prstGeom prst="rect">
            <a:avLst/>
          </a:prstGeom>
        </p:spPr>
      </p:pic>
      <p:pic>
        <p:nvPicPr>
          <p:cNvPr id="9" name="Picture 1">
            <a:extLst>
              <a:ext uri="{FF2B5EF4-FFF2-40B4-BE49-F238E27FC236}">
                <a16:creationId xmlns:a16="http://schemas.microsoft.com/office/drawing/2014/main" id="{77CEF25D-7C3B-E3B1-4CB8-566FCA777CFA}"/>
              </a:ext>
            </a:extLst>
          </p:cNvPr>
          <p:cNvPicPr>
            <a:picLocks noChangeAspect="1"/>
          </p:cNvPicPr>
          <p:nvPr/>
        </p:nvPicPr>
        <p:blipFill>
          <a:blip r:embed="rId6"/>
          <a:stretch>
            <a:fillRect/>
          </a:stretch>
        </p:blipFill>
        <p:spPr>
          <a:xfrm>
            <a:off x="8122899" y="2243061"/>
            <a:ext cx="3600450" cy="3429000"/>
          </a:xfrm>
          <a:prstGeom prst="rect">
            <a:avLst/>
          </a:prstGeom>
        </p:spPr>
      </p:pic>
      <p:sp>
        <p:nvSpPr>
          <p:cNvPr id="10" name="Arrow: Pentagon 17">
            <a:extLst>
              <a:ext uri="{FF2B5EF4-FFF2-40B4-BE49-F238E27FC236}">
                <a16:creationId xmlns:a16="http://schemas.microsoft.com/office/drawing/2014/main" id="{04BF0C8D-2E38-04D3-C1BE-5EA5D09D3B9B}"/>
              </a:ext>
            </a:extLst>
          </p:cNvPr>
          <p:cNvSpPr/>
          <p:nvPr/>
        </p:nvSpPr>
        <p:spPr>
          <a:xfrm>
            <a:off x="0" y="5080000"/>
            <a:ext cx="7639406" cy="766181"/>
          </a:xfrm>
          <a:prstGeom prst="homePlate">
            <a:avLst/>
          </a:prstGeom>
          <a:solidFill>
            <a:srgbClr val="D9D9D9">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TextBox 2">
            <a:extLst>
              <a:ext uri="{FF2B5EF4-FFF2-40B4-BE49-F238E27FC236}">
                <a16:creationId xmlns:a16="http://schemas.microsoft.com/office/drawing/2014/main" id="{4D269B07-A1ED-07AD-3675-D58BFB1D18D7}"/>
              </a:ext>
            </a:extLst>
          </p:cNvPr>
          <p:cNvSpPr txBox="1"/>
          <p:nvPr/>
        </p:nvSpPr>
        <p:spPr>
          <a:xfrm>
            <a:off x="57992" y="5309201"/>
            <a:ext cx="760735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Kettering Health Network patients will often receive </a:t>
            </a:r>
            <a:r>
              <a:rPr kumimoji="0" lang="en-US" sz="16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cash</a:t>
            </a: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 </a:t>
            </a:r>
            <a:r>
              <a:rPr kumimoji="0" lang="en-US" sz="16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not bills </a:t>
            </a: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after care episodes!</a:t>
            </a:r>
          </a:p>
        </p:txBody>
      </p:sp>
    </p:spTree>
    <p:extLst>
      <p:ext uri="{BB962C8B-B14F-4D97-AF65-F5344CB8AC3E}">
        <p14:creationId xmlns:p14="http://schemas.microsoft.com/office/powerpoint/2010/main" val="5140314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539F"/>
        </a:solidFill>
        <a:effectLst/>
      </p:bgPr>
    </p:bg>
    <p:spTree>
      <p:nvGrpSpPr>
        <p:cNvPr id="1" name="">
          <a:extLst>
            <a:ext uri="{FF2B5EF4-FFF2-40B4-BE49-F238E27FC236}">
              <a16:creationId xmlns:a16="http://schemas.microsoft.com/office/drawing/2014/main" id="{9C4CC002-2071-B4F4-E97B-DC9F53CE29FE}"/>
            </a:ext>
          </a:extLst>
        </p:cNvPr>
        <p:cNvGrpSpPr/>
        <p:nvPr/>
      </p:nvGrpSpPr>
      <p:grpSpPr>
        <a:xfrm>
          <a:off x="0" y="0"/>
          <a:ext cx="0" cy="0"/>
          <a:chOff x="0" y="0"/>
          <a:chExt cx="0" cy="0"/>
        </a:xfrm>
      </p:grpSpPr>
      <p:pic>
        <p:nvPicPr>
          <p:cNvPr id="2" name="Picture 5">
            <a:extLst>
              <a:ext uri="{FF2B5EF4-FFF2-40B4-BE49-F238E27FC236}">
                <a16:creationId xmlns:a16="http://schemas.microsoft.com/office/drawing/2014/main" id="{526E30EB-BEDD-4E13-5E8C-B6901CADE680}"/>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05920" y="0"/>
            <a:ext cx="11686080" cy="6858000"/>
          </a:xfrm>
          <a:prstGeom prst="rect">
            <a:avLst/>
          </a:prstGeom>
        </p:spPr>
      </p:pic>
      <p:sp>
        <p:nvSpPr>
          <p:cNvPr id="3" name="Rectangle 6">
            <a:extLst>
              <a:ext uri="{FF2B5EF4-FFF2-40B4-BE49-F238E27FC236}">
                <a16:creationId xmlns:a16="http://schemas.microsoft.com/office/drawing/2014/main" id="{F9EC7B3B-F0EA-B13C-D815-1424EEAA8F1E}"/>
              </a:ext>
            </a:extLst>
          </p:cNvPr>
          <p:cNvSpPr/>
          <p:nvPr/>
        </p:nvSpPr>
        <p:spPr>
          <a:xfrm>
            <a:off x="505920" y="3271520"/>
            <a:ext cx="11686080" cy="1676400"/>
          </a:xfrm>
          <a:prstGeom prst="rect">
            <a:avLst/>
          </a:prstGeom>
          <a:solidFill>
            <a:srgbClr val="F2F2F2">
              <a:alpha val="8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Object 3">
            <a:extLst>
              <a:ext uri="{FF2B5EF4-FFF2-40B4-BE49-F238E27FC236}">
                <a16:creationId xmlns:a16="http://schemas.microsoft.com/office/drawing/2014/main" id="{2747FFAF-EF51-2AC8-5734-510419FDDDD5}"/>
              </a:ext>
            </a:extLst>
          </p:cNvPr>
          <p:cNvSpPr/>
          <p:nvPr/>
        </p:nvSpPr>
        <p:spPr>
          <a:xfrm>
            <a:off x="758880" y="3555967"/>
            <a:ext cx="11180160" cy="1152016"/>
          </a:xfrm>
          <a:prstGeom prst="rect">
            <a:avLst/>
          </a:prstGeom>
          <a:noFill/>
        </p:spPr>
        <p:txBody>
          <a:bodyPr wrap="square" lIns="0" tIns="0" rIns="0" bIns="0" rtlCol="0" anchor="t"/>
          <a:lstStyle/>
          <a:p>
            <a:pPr marL="0" marR="0" lvl="0" indent="0" algn="l" defTabSz="914400" rtl="0" eaLnBrk="1" fontAlgn="auto" latinLnBrk="0" hangingPunct="1">
              <a:lnSpc>
                <a:spcPts val="4725"/>
              </a:lnSpc>
              <a:spcBef>
                <a:spcPts val="0"/>
              </a:spcBef>
              <a:spcAft>
                <a:spcPts val="0"/>
              </a:spcAft>
              <a:buClrTx/>
              <a:buSzTx/>
              <a:buFontTx/>
              <a:buNone/>
              <a:tabLst/>
              <a:defRPr/>
            </a:pPr>
            <a:r>
              <a:rPr kumimoji="0" lang="en-US" sz="4500" b="1" i="0" u="none" strike="noStrike" kern="0" cap="none" spc="135" normalizeH="0" baseline="0" noProof="0" dirty="0">
                <a:ln>
                  <a:noFill/>
                </a:ln>
                <a:solidFill>
                  <a:prstClr val="black"/>
                </a:solidFill>
                <a:effectLst/>
                <a:uLnTx/>
                <a:uFillTx/>
                <a:latin typeface="Montserrat" panose="00000500000000000000" pitchFamily="2" charset="0"/>
                <a:ea typeface="Jost*" pitchFamily="34" charset="-122"/>
                <a:cs typeface="Jost*" pitchFamily="34" charset="-120"/>
              </a:rPr>
              <a:t>FINANCIAL PROJECTIONS </a:t>
            </a:r>
          </a:p>
          <a:p>
            <a:pPr marL="0" marR="0" lvl="0" indent="0" algn="l" defTabSz="914400" rtl="0" eaLnBrk="1" fontAlgn="auto" latinLnBrk="0" hangingPunct="1">
              <a:lnSpc>
                <a:spcPts val="4725"/>
              </a:lnSpc>
              <a:spcBef>
                <a:spcPts val="0"/>
              </a:spcBef>
              <a:spcAft>
                <a:spcPts val="0"/>
              </a:spcAft>
              <a:buClrTx/>
              <a:buSzTx/>
              <a:buFontTx/>
              <a:buNone/>
              <a:tabLst/>
              <a:defRPr/>
            </a:pPr>
            <a:r>
              <a:rPr lang="en-US" sz="4500" b="1" kern="0" spc="135" dirty="0">
                <a:solidFill>
                  <a:prstClr val="black"/>
                </a:solidFill>
                <a:latin typeface="Montserrat" panose="00000500000000000000" pitchFamily="2" charset="0"/>
                <a:ea typeface="Jost*" pitchFamily="34" charset="-122"/>
              </a:rPr>
              <a:t>&amp; ASSUPTIONS</a:t>
            </a:r>
            <a:endParaRPr kumimoji="0" lang="en-US" sz="180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5" name="Object 4">
            <a:extLst>
              <a:ext uri="{FF2B5EF4-FFF2-40B4-BE49-F238E27FC236}">
                <a16:creationId xmlns:a16="http://schemas.microsoft.com/office/drawing/2014/main" id="{56F25943-3DBB-C716-6FB6-64E3263E21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23594" y="4707983"/>
            <a:ext cx="1904524" cy="9523"/>
          </a:xfrm>
          <a:prstGeom prst="rect">
            <a:avLst/>
          </a:prstGeom>
        </p:spPr>
      </p:pic>
    </p:spTree>
    <p:extLst>
      <p:ext uri="{BB962C8B-B14F-4D97-AF65-F5344CB8AC3E}">
        <p14:creationId xmlns:p14="http://schemas.microsoft.com/office/powerpoint/2010/main" val="1010235892"/>
      </p:ext>
    </p:extLst>
  </p:cSld>
  <p:clrMapOvr>
    <a:masterClrMapping/>
  </p:clrMapOvr>
  <p:extLst>
    <p:ext uri="{6950BFC3-D8DA-4A85-94F7-54DA5524770B}">
      <p188:commentRel xmlns:p188="http://schemas.microsoft.com/office/powerpoint/2018/8/main" r:id="rId3"/>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256162" y="192961"/>
            <a:ext cx="11824080" cy="778058"/>
          </a:xfrm>
        </p:spPr>
        <p:txBody>
          <a:bodyPr>
            <a:noAutofit/>
          </a:bodyPr>
          <a:lstStyle/>
          <a:p>
            <a:r>
              <a:rPr lang="en-US" sz="2400" dirty="0">
                <a:solidFill/>
                <a:latin typeface="Montserrat" panose="00000500000000000000" pitchFamily="2" charset="0"/>
                <a:cs typeface="Arial" panose="020B0604020202020204" pitchFamily="34" charset="0"/>
              </a:rPr>
              <a:t>ESTIMATION OF KETTERING HEALTH NETWORK’S 2022 PAYER MIX</a:t>
            </a:r>
          </a:p>
        </p:txBody>
      </p:sp>
      <p:graphicFrame>
        <p:nvGraphicFramePr>
          <p:cNvPr id="3"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3580298372"/>
              </p:ext>
            </p:extLst>
          </p:nvPr>
        </p:nvGraphicFramePr>
        <p:xfrm>
          <a:off x="215572" y="1193624"/>
          <a:ext cx="5880426" cy="3562772"/>
        </p:xfrm>
        <a:graphic>
          <a:graphicData uri="http://schemas.openxmlformats.org/drawingml/2006/table">
            <a:tbl>
              <a:tblPr firstRow="1" bandRow="1">
                <a:tableStyleId>{5C22544A-7EE6-4342-B048-85BDC9FD1C3A}</a:tableStyleId>
              </a:tblPr>
              <a:tblGrid>
                <a:gridCol w="2100216">
                  <a:extLst>
                    <a:ext uri="{9D8B030D-6E8A-4147-A177-3AD203B41FA5}">
                      <a16:colId xmlns:a16="http://schemas.microsoft.com/office/drawing/2014/main" val="1990432805"/>
                    </a:ext>
                  </a:extLst>
                </a:gridCol>
                <a:gridCol w="1143559">
                  <a:extLst>
                    <a:ext uri="{9D8B030D-6E8A-4147-A177-3AD203B41FA5}">
                      <a16:colId xmlns:a16="http://schemas.microsoft.com/office/drawing/2014/main" val="2178546237"/>
                    </a:ext>
                  </a:extLst>
                </a:gridCol>
                <a:gridCol w="1413731">
                  <a:extLst>
                    <a:ext uri="{9D8B030D-6E8A-4147-A177-3AD203B41FA5}">
                      <a16:colId xmlns:a16="http://schemas.microsoft.com/office/drawing/2014/main" val="3494448363"/>
                    </a:ext>
                  </a:extLst>
                </a:gridCol>
                <a:gridCol w="1222920">
                  <a:extLst>
                    <a:ext uri="{9D8B030D-6E8A-4147-A177-3AD203B41FA5}">
                      <a16:colId xmlns:a16="http://schemas.microsoft.com/office/drawing/2014/main" val="3564552567"/>
                    </a:ext>
                  </a:extLst>
                </a:gridCol>
              </a:tblGrid>
              <a:tr h="784566">
                <a:tc>
                  <a:txBody>
                    <a:bodyPr/>
                    <a:lstStyle/>
                    <a:p>
                      <a:r>
                        <a:rPr lang="en-US" sz="1400" dirty="0">
                          <a:latin typeface="Montserrat" panose="00000500000000000000" pitchFamily="2" charset="0"/>
                        </a:rPr>
                        <a:t>Payer Group</a:t>
                      </a:r>
                    </a:p>
                  </a:txBody>
                  <a:tcPr>
                    <a:solidFill>
                      <a:srgbClr val="00539F"/>
                    </a:solidFill>
                  </a:tcPr>
                </a:tc>
                <a:tc>
                  <a:txBody>
                    <a:bodyPr/>
                    <a:lstStyle/>
                    <a:p>
                      <a:r>
                        <a:rPr lang="en-US" sz="1400" dirty="0">
                          <a:latin typeface="Montserrat" panose="00000500000000000000" pitchFamily="2" charset="0"/>
                        </a:rPr>
                        <a:t>Total Inpatient Days</a:t>
                      </a:r>
                    </a:p>
                  </a:txBody>
                  <a:tcPr>
                    <a:solidFill>
                      <a:srgbClr val="00539F"/>
                    </a:solidFill>
                  </a:tcPr>
                </a:tc>
                <a:tc>
                  <a:txBody>
                    <a:bodyPr/>
                    <a:lstStyle/>
                    <a:p>
                      <a:r>
                        <a:rPr lang="en-US" sz="1400" dirty="0">
                          <a:latin typeface="Montserrat" panose="00000500000000000000" pitchFamily="2" charset="0"/>
                        </a:rPr>
                        <a:t>Revenue</a:t>
                      </a:r>
                    </a:p>
                  </a:txBody>
                  <a:tcPr>
                    <a:solidFill>
                      <a:srgbClr val="00539F"/>
                    </a:solidFill>
                  </a:tcPr>
                </a:tc>
                <a:tc>
                  <a:txBody>
                    <a:bodyPr/>
                    <a:lstStyle/>
                    <a:p>
                      <a:r>
                        <a:rPr lang="en-US" sz="1400" dirty="0">
                          <a:latin typeface="Montserrat" panose="00000500000000000000" pitchFamily="2" charset="0"/>
                        </a:rPr>
                        <a:t>Payer Mix</a:t>
                      </a:r>
                    </a:p>
                  </a:txBody>
                  <a:tcPr>
                    <a:solidFill>
                      <a:srgbClr val="00539F"/>
                    </a:solidFill>
                  </a:tcPr>
                </a:tc>
                <a:extLst>
                  <a:ext uri="{0D108BD9-81ED-4DB2-BD59-A6C34878D82A}">
                    <a16:rowId xmlns:a16="http://schemas.microsoft.com/office/drawing/2014/main" val="1397373735"/>
                  </a:ext>
                </a:extLst>
              </a:tr>
              <a:tr h="326902">
                <a:tc>
                  <a:txBody>
                    <a:bodyPr/>
                    <a:lstStyle/>
                    <a:p>
                      <a:r>
                        <a:rPr lang="en-US" sz="1200" dirty="0">
                          <a:solidFill/>
                          <a:latin typeface="Montserrat" panose="00000500000000000000" pitchFamily="2" charset="0"/>
                        </a:rPr>
                        <a:t>All Kettering Health Network</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286,534</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$2,254,159K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326902">
                <a:tc>
                  <a:txBody>
                    <a:bodyPr/>
                    <a:lstStyle/>
                    <a:p>
                      <a:r>
                        <a:rPr lang="en-US" sz="1200" dirty="0">
                          <a:latin typeface="Montserrat" panose="00000500000000000000" pitchFamily="2" charset="0"/>
                        </a:rPr>
                        <a:t>Medicare</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60,503</a:t>
                      </a:r>
                    </a:p>
                  </a:txBody>
                  <a:tcPr anchor="ctr">
                    <a:solidFill>
                      <a:schemeClr val="accent3">
                        <a:lumMod val="20000"/>
                        <a:lumOff val="80000"/>
                      </a:schemeClr>
                    </a:solidFill>
                  </a:tcPr>
                </a:tc>
                <a:tc>
                  <a:txBody>
                    <a:bodyPr/>
                    <a:lstStyle/>
                    <a:p>
                      <a:pPr algn="ctr"/>
                      <a:r>
                        <a:rPr lang="en-US" sz="1200" dirty="0">
                          <a:solidFill>
                            <a:schemeClr val="accent4">
                              <a:lumMod val="75000"/>
                            </a:schemeClr>
                          </a:solidFill>
                          <a:latin typeface="Montserrat" panose="00000500000000000000" pitchFamily="2" charset="0"/>
                        </a:rPr>
                        <a:t>$306,857K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21%</a:t>
                      </a:r>
                    </a:p>
                  </a:txBody>
                  <a:tcPr anchor="ctr">
                    <a:solidFill>
                      <a:schemeClr val="accent3">
                        <a:lumMod val="20000"/>
                        <a:lumOff val="80000"/>
                      </a:schemeClr>
                    </a:solidFill>
                  </a:tcPr>
                </a:tc>
                <a:extLst>
                  <a:ext uri="{0D108BD9-81ED-4DB2-BD59-A6C34878D82A}">
                    <a16:rowId xmlns:a16="http://schemas.microsoft.com/office/drawing/2014/main" val="1145544718"/>
                  </a:ext>
                </a:extLst>
              </a:tr>
              <a:tr h="326902">
                <a:tc>
                  <a:txBody>
                    <a:bodyPr/>
                    <a:lstStyle/>
                    <a:p>
                      <a:r>
                        <a:rPr lang="en-US" sz="1200" dirty="0">
                          <a:latin typeface="Montserrat" panose="00000500000000000000" pitchFamily="2" charset="0"/>
                        </a:rPr>
                        <a:t>Medicaid</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12,576</a:t>
                      </a:r>
                    </a:p>
                  </a:txBody>
                  <a:tcPr anchor="ctr">
                    <a:solidFill>
                      <a:schemeClr val="accent3">
                        <a:lumMod val="20000"/>
                        <a:lumOff val="80000"/>
                      </a:schemeClr>
                    </a:solidFill>
                  </a:tcPr>
                </a:tc>
                <a:tc rowSpan="2">
                  <a:txBody>
                    <a:bodyPr/>
                    <a:lstStyle/>
                    <a:p>
                      <a:pPr algn="ctr"/>
                      <a:r>
                        <a:rPr lang="en-US" sz="1200" dirty="0">
                          <a:solidFill>
                            <a:schemeClr val="accent4">
                              <a:lumMod val="75000"/>
                            </a:schemeClr>
                          </a:solidFill>
                          <a:latin typeface="Montserrat" panose="00000500000000000000" pitchFamily="2" charset="0"/>
                        </a:rPr>
                        <a:t>$235,793K</a:t>
                      </a:r>
                    </a:p>
                  </a:txBody>
                  <a:tcPr anchor="ctr">
                    <a:solidFill>
                      <a:schemeClr val="accent3">
                        <a:lumMod val="20000"/>
                        <a:lumOff val="80000"/>
                      </a:schemeClr>
                    </a:solidFill>
                  </a:tcPr>
                </a:tc>
                <a:tc rowSpan="2">
                  <a:txBody>
                    <a:bodyPr/>
                    <a:lstStyle/>
                    <a:p>
                      <a:pPr algn="ctr"/>
                      <a:r>
                        <a:rPr lang="en-US" sz="1200" dirty="0">
                          <a:solidFill>
                            <a:schemeClr val="accent2">
                              <a:lumMod val="75000"/>
                            </a:schemeClr>
                          </a:solidFill>
                          <a:latin typeface="Montserrat" panose="00000500000000000000" pitchFamily="2" charset="0"/>
                        </a:rPr>
                        <a:t>4%</a:t>
                      </a:r>
                    </a:p>
                  </a:txBody>
                  <a:tcPr anchor="ctr">
                    <a:solidFill>
                      <a:schemeClr val="accent3">
                        <a:lumMod val="20000"/>
                        <a:lumOff val="80000"/>
                      </a:schemeClr>
                    </a:solidFill>
                  </a:tcPr>
                </a:tc>
                <a:extLst>
                  <a:ext uri="{0D108BD9-81ED-4DB2-BD59-A6C34878D82A}">
                    <a16:rowId xmlns:a16="http://schemas.microsoft.com/office/drawing/2014/main" val="680733009"/>
                  </a:ext>
                </a:extLst>
              </a:tr>
              <a:tr h="555734">
                <a:tc>
                  <a:txBody>
                    <a:bodyPr/>
                    <a:lstStyle/>
                    <a:p>
                      <a:r>
                        <a:rPr lang="en-US" sz="1200" dirty="0">
                          <a:latin typeface="Montserrat" panose="00000500000000000000" pitchFamily="2" charset="0"/>
                        </a:rPr>
                        <a:t>Other Government Pay</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555734">
                <a:tc>
                  <a:txBody>
                    <a:bodyPr/>
                    <a:lstStyle/>
                    <a:p>
                      <a:r>
                        <a:rPr lang="en-US" sz="1200" dirty="0">
                          <a:latin typeface="Montserrat" panose="00000500000000000000" pitchFamily="2" charset="0"/>
                        </a:rPr>
                        <a:t>No-Pay, Charity Care</a:t>
                      </a:r>
                    </a:p>
                  </a:txBody>
                  <a:tcP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16,414</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-$137,996K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6%</a:t>
                      </a:r>
                    </a:p>
                  </a:txBody>
                  <a:tcPr anchor="ctr">
                    <a:solidFill>
                      <a:schemeClr val="accent3">
                        <a:lumMod val="20000"/>
                        <a:lumOff val="80000"/>
                      </a:schemeClr>
                    </a:solidFill>
                  </a:tcPr>
                </a:tc>
                <a:extLst>
                  <a:ext uri="{0D108BD9-81ED-4DB2-BD59-A6C34878D82A}">
                    <a16:rowId xmlns:a16="http://schemas.microsoft.com/office/drawing/2014/main" val="1248958224"/>
                  </a:ext>
                </a:extLst>
              </a:tr>
              <a:tr h="555734">
                <a:tc>
                  <a:txBody>
                    <a:bodyPr/>
                    <a:lstStyle/>
                    <a:p>
                      <a:r>
                        <a:rPr lang="en-US" sz="1200" dirty="0">
                          <a:latin typeface="Montserrat" panose="00000500000000000000" pitchFamily="2" charset="0"/>
                        </a:rPr>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197,041</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$1,710,700K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69%</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4"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Commercial/self pay is assumed to be the rest of the total payer mix share. </a:t>
            </a:r>
          </a:p>
        </p:txBody>
      </p:sp>
      <p:sp>
        <p:nvSpPr>
          <p:cNvPr id="5"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6" name="TextBox 11">
            <a:extLst>
              <a:ext uri="{FF2B5EF4-FFF2-40B4-BE49-F238E27FC236}">
                <a16:creationId xmlns:a16="http://schemas.microsoft.com/office/drawing/2014/main" id="{B06F8AA7-185E-8401-4C51-579C44EE0B64}"/>
              </a:ext>
            </a:extLst>
          </p:cNvPr>
          <p:cNvSpPr txBox="1"/>
          <p:nvPr/>
        </p:nvSpPr>
        <p:spPr>
          <a:xfrm>
            <a:off x="256162" y="4945531"/>
            <a:ext cx="5161280"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Values in blue are taken from the 2021 Medicare Provider Cost Report (</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hlinkClick r:id="rId2"/>
              </a:rPr>
              <a:t>https://data.cms.gov/provider-compliance/cost-report/hospital-provider-cost-report/data</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endParaRPr>
          </a:p>
        </p:txBody>
      </p:sp>
      <p:sp>
        <p:nvSpPr>
          <p:cNvPr id="7" name="TextBox 12">
            <a:extLst>
              <a:ext uri="{FF2B5EF4-FFF2-40B4-BE49-F238E27FC236}">
                <a16:creationId xmlns:a16="http://schemas.microsoft.com/office/drawing/2014/main" id="{CF495B2A-50EF-4B94-1C1C-99E3DB78B211}"/>
              </a:ext>
            </a:extLst>
          </p:cNvPr>
          <p:cNvSpPr txBox="1"/>
          <p:nvPr/>
        </p:nvSpPr>
        <p:spPr>
          <a:xfrm>
            <a:off x="256162" y="5956240"/>
            <a:ext cx="516128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Total Medicare patient revenue is reported by CMS in the Medicare Provider Analysis and Review Report (</a:t>
            </a:r>
            <a:r>
              <a:rPr kumimoji="0" lang="en-US" sz="1000" b="0" i="0" u="none" strike="noStrike" kern="1200" cap="none" spc="0" normalizeH="0" baseline="0" noProof="0" dirty="0" err="1">
                <a:ln>
                  <a:noFill/>
                </a:ln>
                <a:solidFill>
                  <a:srgbClr val="70AD47">
                    <a:lumMod val="75000"/>
                  </a:srgbClr>
                </a:solidFill>
                <a:effectLst/>
                <a:uLnTx/>
                <a:uFillTx/>
                <a:latin typeface="Montserrat" panose="00000500000000000000" pitchFamily="2" charset="0"/>
                <a:cs typeface="Arial" panose="020B0604020202020204" pitchFamily="34" charset="0"/>
              </a:rPr>
              <a:t>MedPAR</a:t>
            </a: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 </a:t>
            </a:r>
          </a:p>
        </p:txBody>
      </p:sp>
      <p:sp>
        <p:nvSpPr>
          <p:cNvPr id="8" name="Rectangle 16">
            <a:extLst>
              <a:ext uri="{FF2B5EF4-FFF2-40B4-BE49-F238E27FC236}">
                <a16:creationId xmlns:a16="http://schemas.microsoft.com/office/drawing/2014/main" id="{802290A3-B694-4505-9BF2-D6CD7AF07C8B}"/>
              </a:ext>
            </a:extLst>
          </p:cNvPr>
          <p:cNvSpPr/>
          <p:nvPr/>
        </p:nvSpPr>
        <p:spPr>
          <a:xfrm>
            <a:off x="6471922" y="5141881"/>
            <a:ext cx="5463916" cy="43088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In other analysis, the outpatient payer mix is assumed to mirror the inpatient payer mix. </a:t>
            </a:r>
          </a:p>
        </p:txBody>
      </p:sp>
      <p:sp>
        <p:nvSpPr>
          <p:cNvPr id="9" name="TextBox 12">
            <a:extLst>
              <a:ext uri="{FF2B5EF4-FFF2-40B4-BE49-F238E27FC236}">
                <a16:creationId xmlns:a16="http://schemas.microsoft.com/office/drawing/2014/main" id="{4D7BD8F7-B0DB-8CCC-E477-F7ABE50AAD26}"/>
              </a:ext>
            </a:extLst>
          </p:cNvPr>
          <p:cNvSpPr txBox="1"/>
          <p:nvPr/>
        </p:nvSpPr>
        <p:spPr>
          <a:xfrm>
            <a:off x="256162" y="5610759"/>
            <a:ext cx="5161280"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4">
                    <a:lumMod val="75000"/>
                  </a:schemeClr>
                </a:solidFill>
                <a:effectLst/>
                <a:uLnTx/>
                <a:uFillTx/>
                <a:latin typeface="Montserrat" panose="00000500000000000000" pitchFamily="2" charset="0"/>
                <a:cs typeface="Arial" panose="020B0604020202020204" pitchFamily="34" charset="0"/>
              </a:rPr>
              <a:t>Values in yellow are taken from Definitive Healthcare data. </a:t>
            </a:r>
          </a:p>
        </p:txBody>
      </p:sp>
      <p:pic>
        <p:nvPicPr>
          <p:cNvPr id="10" name="Picture 6">
            <a:extLst>
              <a:ext uri="{FF2B5EF4-FFF2-40B4-BE49-F238E27FC236}">
                <a16:creationId xmlns:a16="http://schemas.microsoft.com/office/drawing/2014/main" id="{C11EDAF0-1123-B26B-1178-B59C49AECFB2}"/>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1" name="Freeform 13">
            <a:extLst>
              <a:ext uri="{FF2B5EF4-FFF2-40B4-BE49-F238E27FC236}">
                <a16:creationId xmlns:a16="http://schemas.microsoft.com/office/drawing/2014/main" id="{90441EB9-4276-01D2-F346-F76695D74F2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386315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a:xfrm>
            <a:off x="233464" y="245858"/>
            <a:ext cx="11120338" cy="917576"/>
          </a:xfrm>
        </p:spPr>
        <p:txBody>
          <a:bodyPr>
            <a:noAutofit/>
          </a:bodyPr>
          <a:lstStyle/>
          <a:p>
            <a:r>
              <a:rPr lang="en-US" sz="3600" dirty="0">
                <a:latin typeface="Montserrat" panose="00000500000000000000" pitchFamily="2" charset="0"/>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0" y="1259094"/>
            <a:ext cx="10515600" cy="917575"/>
          </a:xfrm>
        </p:spPr>
        <p:txBody>
          <a:bodyPr>
            <a:normAutofit/>
          </a:bodyPr>
          <a:lstStyle/>
          <a:p>
            <a:pPr marL="0" indent="0">
              <a:buNone/>
            </a:pPr>
            <a:r>
              <a:rPr lang="en-US" sz="2400" dirty="0">
                <a:solidFill/>
                <a:cs typeface="Arial" panose="020B0604020202020204" pitchFamily="34" charset="0"/>
              </a:rPr>
              <a:t>The RAND data for Kettering Health Network estimates commercial insurance reimbursements at 259% of Medicare Rates</a:t>
            </a:r>
          </a:p>
        </p:txBody>
      </p:sp>
      <p:sp>
        <p:nvSpPr>
          <p:cNvPr id="4" name="Content Placeholder 2">
            <a:extLst>
              <a:ext uri="{FF2B5EF4-FFF2-40B4-BE49-F238E27FC236}">
                <a16:creationId xmlns:a16="http://schemas.microsoft.com/office/drawing/2014/main" id="{18BFBD36-1E96-1E59-E3A7-CCEF02D0CF96}"/>
              </a:ext>
            </a:extLst>
          </p:cNvPr>
          <p:cNvSpPr txBox="1">
            <a:spLocks/>
          </p:cNvSpPr>
          <p:nvPr/>
        </p:nvSpPr>
        <p:spPr>
          <a:xfrm>
            <a:off x="838198" y="2403681"/>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endParaRPr>
          </a:p>
        </p:txBody>
      </p:sp>
      <p:sp>
        <p:nvSpPr>
          <p:cNvPr id="5" name="TextBox 7">
            <a:extLst>
              <a:ext uri="{FF2B5EF4-FFF2-40B4-BE49-F238E27FC236}">
                <a16:creationId xmlns:a16="http://schemas.microsoft.com/office/drawing/2014/main" id="{85163DF1-EB5C-1C3C-A93D-5F16CEEC2B92}"/>
              </a:ext>
            </a:extLst>
          </p:cNvPr>
          <p:cNvSpPr txBox="1"/>
          <p:nvPr/>
        </p:nvSpPr>
        <p:spPr>
          <a:xfrm>
            <a:off x="838197" y="2311606"/>
            <a:ext cx="4742179"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CMS/Government pay was paying at commercial rates)</a:t>
            </a:r>
          </a:p>
        </p:txBody>
      </p:sp>
      <p:sp>
        <p:nvSpPr>
          <p:cNvPr id="6" name="TextBox 8">
            <a:extLst>
              <a:ext uri="{FF2B5EF4-FFF2-40B4-BE49-F238E27FC236}">
                <a16:creationId xmlns:a16="http://schemas.microsoft.com/office/drawing/2014/main" id="{020B90EA-11B9-6E81-60B7-F3AFEA7FC5A7}"/>
              </a:ext>
            </a:extLst>
          </p:cNvPr>
          <p:cNvSpPr txBox="1"/>
          <p:nvPr/>
        </p:nvSpPr>
        <p:spPr>
          <a:xfrm>
            <a:off x="6827520" y="2311606"/>
            <a:ext cx="4358640"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commercial pay was paying at Medicare rate)</a:t>
            </a:r>
          </a:p>
        </p:txBody>
      </p:sp>
      <p:graphicFrame>
        <p:nvGraphicFramePr>
          <p:cNvPr id="7"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2781215806"/>
              </p:ext>
            </p:extLst>
          </p:nvPr>
        </p:nvGraphicFramePr>
        <p:xfrm>
          <a:off x="1018538" y="3548268"/>
          <a:ext cx="4345939" cy="248920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1,710,700K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 at </a:t>
                      </a:r>
                      <a:r>
                        <a:rPr lang="en-US" sz="1800" kern="1200" dirty="0">
                          <a:solidFill>
                            <a:schemeClr val="tx1"/>
                          </a:solidFill>
                          <a:latin typeface="Montserrat" panose="00000500000000000000" pitchFamily="2" charset="0"/>
                          <a:ea typeface="+mn-ea"/>
                          <a:cs typeface="+mn-cs"/>
                        </a:rPr>
                        <a:t>259%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1,403,392K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3,114,092</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2,213,982</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latin typeface="Montserrat" panose="00000500000000000000" pitchFamily="2" charset="0"/>
                        </a:rPr>
                        <a:t>$900,111K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latin typeface="Montserrat" panose="00000500000000000000" pitchFamily="2" charset="0"/>
                        </a:rPr>
                        <a:t>29%</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8"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1966836347"/>
              </p:ext>
            </p:extLst>
          </p:nvPr>
        </p:nvGraphicFramePr>
        <p:xfrm>
          <a:off x="6611619" y="3512837"/>
          <a:ext cx="4345939" cy="249428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 </a:t>
                      </a:r>
                      <a:r>
                        <a:rPr lang="en-US" sz="1800" kern="1200" dirty="0">
                          <a:solidFill>
                            <a:schemeClr val="tx1"/>
                          </a:solidFill>
                          <a:latin typeface="Montserrat" panose="00000500000000000000" pitchFamily="2" charset="0"/>
                          <a:ea typeface="+mn-ea"/>
                          <a:cs typeface="+mn-cs"/>
                        </a:rPr>
                        <a:t>Divided by 259%</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661,477K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542,650</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1,204,127</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2,213,982</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latin typeface="Montserrat" panose="00000500000000000000" pitchFamily="2" charset="0"/>
                        </a:rPr>
                        <a:t>$ -1,009,855</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latin typeface="Montserrat" panose="00000500000000000000" pitchFamily="2" charset="0"/>
                        </a:rPr>
                        <a:t>-84%</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pic>
        <p:nvPicPr>
          <p:cNvPr id="9" name="Picture 10">
            <a:extLst>
              <a:ext uri="{FF2B5EF4-FFF2-40B4-BE49-F238E27FC236}">
                <a16:creationId xmlns:a16="http://schemas.microsoft.com/office/drawing/2014/main" id="{342DBBC9-66B5-A226-D8E1-D21F79631943}"/>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0" name="Freeform 13">
            <a:extLst>
              <a:ext uri="{FF2B5EF4-FFF2-40B4-BE49-F238E27FC236}">
                <a16:creationId xmlns:a16="http://schemas.microsoft.com/office/drawing/2014/main" id="{0F4073EB-51F0-A6C1-7D34-41ED97664C8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67918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ESTIMATING MARKET SHARE</a:t>
            </a:r>
          </a:p>
        </p:txBody>
      </p:sp>
      <p:sp>
        <p:nvSpPr>
          <p:cNvPr id="3" name="TextBox 9">
            <a:extLst>
              <a:ext uri="{FF2B5EF4-FFF2-40B4-BE49-F238E27FC236}">
                <a16:creationId xmlns:a16="http://schemas.microsoft.com/office/drawing/2014/main" id="{DD333F58-1E5B-D213-65EE-BB627B8B12A8}"/>
              </a:ext>
            </a:extLst>
          </p:cNvPr>
          <p:cNvSpPr txBox="1"/>
          <p:nvPr/>
        </p:nvSpPr>
        <p:spPr>
          <a:xfrm>
            <a:off x="10096500" y="4481504"/>
            <a:ext cx="1992085" cy="216982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dirty="0">
                <a:solidFill/>
                <a:latin typeface="Montserrat" panose="00000500000000000000" pitchFamily="2" charset="0"/>
                <a:cs typeface="Arial" panose="020B0604020202020204" pitchFamily="34" charset="0"/>
              </a:rPr>
              <a:t>For outpatient market share, it is estimated that only 66% of local physicians are employed by area hospitals (Research from the Physician Advocacy Institute</a:t>
            </a:r>
            <a:r>
              <a:rPr kumimoji="0" lang="en-US" sz="900" b="0" i="0" u="none" strike="noStrike" kern="1200" cap="none" spc="0" normalizeH="0" baseline="0" noProof="0" dirty="0">
                <a:ln>
                  <a:noFill/>
                </a:ln>
                <a:solidFill/>
                <a:effectLst/>
                <a:uLnTx/>
                <a:uFillTx/>
                <a:latin typeface="Montserrat" panose="00000500000000000000" pitchFamily="2" charset="0"/>
                <a:ea typeface="+mn-ea"/>
                <a:cs typeface="Arial" panose="020B0604020202020204" pitchFamily="34" charset="0"/>
              </a:rPr>
              <a:t>:  </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hlinkClick r:id="rId2"/>
              </a:rPr>
              <a:t>https://www.physiciansadvocacyinstitute.org/Portals/0/assets/docs/PAI-Research/PAI-Avalere%20Physician%20Employment%20Trends%20Study%202019-2023%20Final.pdf?ver=uGHF46u1GSeZgYXMKFyYvw%3d%3d</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a:t>
            </a:r>
          </a:p>
        </p:txBody>
      </p:sp>
      <p:sp>
        <p:nvSpPr>
          <p:cNvPr id="4" name="TextBox 6">
            <a:extLst>
              <a:ext uri="{FF2B5EF4-FFF2-40B4-BE49-F238E27FC236}">
                <a16:creationId xmlns:a16="http://schemas.microsoft.com/office/drawing/2014/main" id="{28816DA9-0016-360E-E0AF-042A76E415BD}"/>
              </a:ext>
            </a:extLst>
          </p:cNvPr>
          <p:cNvSpPr txBox="1"/>
          <p:nvPr/>
        </p:nvSpPr>
        <p:spPr>
          <a:xfrm>
            <a:off x="10334625" y="1860184"/>
            <a:ext cx="1590675" cy="2585323"/>
          </a:xfrm>
          <a:prstGeom prst="rect">
            <a:avLst/>
          </a:prstGeom>
          <a:noFill/>
        </p:spPr>
        <p:txBody>
          <a:bodyPr wrap="square" rtlCol="0">
            <a:spAutoFit/>
          </a:bodyPr>
          <a:lstStyle/>
          <a:p>
            <a:pPr algn="ctr"/>
            <a:r>
              <a:rPr lang="en-US" b="1" dirty="0">
                <a:solidFill>
                  <a:schemeClr val="accent1"/>
                </a:solidFill>
                <a:latin typeface="Montserrat" panose="00000500000000000000" pitchFamily="2" charset="0"/>
              </a:rPr>
              <a:t>18% Inpatient Market Share</a:t>
            </a:r>
          </a:p>
          <a:p>
            <a:pPr algn="ctr"/>
            <a:endParaRPr lang="en-US" b="1" dirty="0">
              <a:solidFill>
                <a:schemeClr val="accent1"/>
              </a:solidFill>
              <a:latin typeface="Montserrat" panose="00000500000000000000" pitchFamily="2" charset="0"/>
            </a:endParaRPr>
          </a:p>
          <a:p>
            <a:pPr algn="ctr"/>
            <a:r>
              <a:rPr lang="en-US" b="1" dirty="0">
                <a:solidFill>
                  <a:schemeClr val="accent1"/>
                </a:solidFill>
                <a:latin typeface="Montserrat" panose="00000500000000000000" pitchFamily="2" charset="0"/>
              </a:rPr>
              <a:t>17% Outpatient Market Share</a:t>
            </a:r>
          </a:p>
        </p:txBody>
      </p:sp>
      <p:pic>
        <p:nvPicPr>
          <p:cNvPr id="5" name="Picture 7">
            <a:extLst>
              <a:ext uri="{FF2B5EF4-FFF2-40B4-BE49-F238E27FC236}">
                <a16:creationId xmlns:a16="http://schemas.microsoft.com/office/drawing/2014/main" id="{D0DD692F-D109-0348-F9B8-914DE2DD8925}"/>
              </a:ext>
            </a:extLst>
          </p:cNvPr>
          <p:cNvPicPr>
            <a:picLocks noChangeAspect="1"/>
          </p:cNvPicPr>
          <p:nvPr/>
        </p:nvPicPr>
        <p:blipFill>
          <a:blip r:embed="rId3"/>
          <a:stretch>
            <a:fillRect/>
          </a:stretch>
        </p:blipFill>
        <p:spPr>
          <a:xfrm>
            <a:off x="215573" y="6356350"/>
            <a:ext cx="2125097" cy="463658"/>
          </a:xfrm>
          <a:prstGeom prst="rect">
            <a:avLst/>
          </a:prstGeom>
        </p:spPr>
      </p:pic>
      <p:sp>
        <p:nvSpPr>
          <p:cNvPr id="6" name="Freeform 13">
            <a:extLst>
              <a:ext uri="{FF2B5EF4-FFF2-40B4-BE49-F238E27FC236}">
                <a16:creationId xmlns:a16="http://schemas.microsoft.com/office/drawing/2014/main" id="{AC9E0C8C-1395-D9C5-6ED5-2E010F8A048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7" name="Table 6"/>
          <p:cNvGraphicFramePr>
            <a:graphicFrameLocks noGrp="1"/>
          </p:cNvGraphicFramePr>
          <p:nvPr>
            <p:extLst>
              <p:ext uri="{D42A27DB-BD31-4B8C-83A1-F6EECF244321}">
                <p14:modId xmlns:p14="http://schemas.microsoft.com/office/powerpoint/2010/main" val="1754543263"/>
              </p:ext>
            </p:extLst>
          </p:nvPr>
        </p:nvGraphicFramePr>
        <p:xfrm>
          <a:off x="265176" y="914400"/>
          <a:ext cx="9829800" cy="5099871"/>
        </p:xfrm>
        <a:graphic>
          <a:graphicData uri="http://schemas.openxmlformats.org/drawingml/2006/table">
            <a:tbl>
              <a:tblPr/>
              <a:tblGrid>
                <a:gridCol w="2743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624882">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Outpatient Percent of Market Total (Assuming 66%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126097">
                <a:tc>
                  <a:txBody>
                    <a:bodyPr/>
                    <a:lstStyle/>
                    <a:p>
                      <a:pPr marL="63500" marR="63500" algn="l">
                        <a:lnSpc>
                          <a:spcPct val="100000"/>
                        </a:lnSpc>
                        <a:spcBef>
                          <a:spcPts val="1"/>
                        </a:spcBef>
                        <a:spcAft>
                          <a:spcPts val="1"/>
                        </a:spcAft>
                        <a:buNone/>
                      </a:pPr>
                      <a:r>
                        <a:rPr sz="1000" b="1" i="0" u="none" cap="none">
                          <a:solidFill>
                            <a:schemeClr val="accent1"/>
                          </a:solidFill>
                          <a:latin typeface="Montserrat"/>
                          <a:cs typeface="Arial"/>
                          <a:sym typeface="Arial"/>
                        </a:rPr>
                        <a:t>Kettering Health Greene Memorial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a:solidFill>
                            <a:schemeClr val="accent1"/>
                          </a:solidFill>
                          <a:latin typeface="Montserrat"/>
                          <a:cs typeface="Arial"/>
                          <a:sym typeface="Arial"/>
                        </a:rPr>
                        <a:t>13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1" i="0" u="none" cap="none">
                          <a:solidFill>
                            <a:schemeClr val="accent1"/>
                          </a:solidFill>
                          <a:latin typeface="Montserrat"/>
                          <a:cs typeface="Arial"/>
                          <a:sym typeface="Arial"/>
                        </a:rPr>
                        <a:t>$   21,203.9K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1" i="0" u="none" cap="none">
                          <a:solidFill>
                            <a:schemeClr val="accent1"/>
                          </a:solidFill>
                          <a:latin typeface="Montserrat"/>
                          <a:cs typeface="Arial"/>
                          <a:sym typeface="Arial"/>
                        </a:rPr>
                        <a:t>$  181,521.6K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126097">
                <a:tc>
                  <a:txBody>
                    <a:bodyPr/>
                    <a:lstStyle/>
                    <a:p>
                      <a:pPr marL="63500" marR="63500" algn="l">
                        <a:lnSpc>
                          <a:spcPct val="100000"/>
                        </a:lnSpc>
                        <a:spcBef>
                          <a:spcPts val="1"/>
                        </a:spcBef>
                        <a:spcAft>
                          <a:spcPts val="1"/>
                        </a:spcAft>
                        <a:buNone/>
                      </a:pPr>
                      <a:r>
                        <a:rPr sz="1000" b="1" i="0" u="none" cap="none">
                          <a:solidFill>
                            <a:schemeClr val="accent1"/>
                          </a:solidFill>
                          <a:latin typeface="Montserrat"/>
                          <a:cs typeface="Arial"/>
                          <a:sym typeface="Arial"/>
                        </a:rPr>
                        <a:t>Kettering Health Main Campus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a:solidFill>
                            <a:schemeClr val="accent1"/>
                          </a:solidFill>
                          <a:latin typeface="Montserrat"/>
                          <a:cs typeface="Arial"/>
                          <a:sym typeface="Arial"/>
                        </a:rPr>
                        <a:t>386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1" i="0" u="none" cap="none">
                          <a:solidFill>
                            <a:schemeClr val="accent1"/>
                          </a:solidFill>
                          <a:latin typeface="Montserrat"/>
                          <a:cs typeface="Arial"/>
                          <a:sym typeface="Arial"/>
                        </a:rPr>
                        <a:t>$1,948,407.7K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1" i="0" u="none" cap="none">
                          <a:solidFill>
                            <a:schemeClr val="accent1"/>
                          </a:solidFill>
                          <a:latin typeface="Montserrat"/>
                          <a:cs typeface="Arial"/>
                          <a:sym typeface="Arial"/>
                        </a:rPr>
                        <a:t>$1,758,400.0K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a:solidFill>
                            <a:schemeClr val="accent1"/>
                          </a:solidFill>
                          <a:latin typeface="Montserrat"/>
                          <a:cs typeface="Arial"/>
                          <a:sym typeface="Arial"/>
                        </a:rPr>
                        <a:t>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a:solidFill>
                            <a:schemeClr val="accent1"/>
                          </a:solidFill>
                          <a:latin typeface="Montserrat"/>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126097">
                <a:tc>
                  <a:txBody>
                    <a:bodyPr/>
                    <a:lstStyle/>
                    <a:p>
                      <a:pPr marL="63500" marR="63500" algn="l">
                        <a:lnSpc>
                          <a:spcPct val="100000"/>
                        </a:lnSpc>
                        <a:spcBef>
                          <a:spcPts val="1"/>
                        </a:spcBef>
                        <a:spcAft>
                          <a:spcPts val="1"/>
                        </a:spcAft>
                        <a:buNone/>
                      </a:pPr>
                      <a:r>
                        <a:rPr sz="1000" b="1" i="0" u="none" cap="none">
                          <a:solidFill>
                            <a:schemeClr val="accent1"/>
                          </a:solidFill>
                          <a:latin typeface="Montserrat"/>
                          <a:cs typeface="Arial"/>
                          <a:sym typeface="Arial"/>
                        </a:rPr>
                        <a:t>Kettering Health Hamilton</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a:solidFill>
                            <a:schemeClr val="accent1"/>
                          </a:solidFill>
                          <a:latin typeface="Montserrat"/>
                          <a:cs typeface="Arial"/>
                          <a:sym typeface="Arial"/>
                        </a:rPr>
                        <a:t>138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1" i="0" u="none" cap="none">
                          <a:solidFill>
                            <a:schemeClr val="accent1"/>
                          </a:solidFill>
                          <a:latin typeface="Montserrat"/>
                          <a:cs typeface="Arial"/>
                          <a:sym typeface="Arial"/>
                        </a:rPr>
                        <a:t>$  399,654.7K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1" i="0" u="none" cap="none">
                          <a:solidFill>
                            <a:schemeClr val="accent1"/>
                          </a:solidFill>
                          <a:latin typeface="Montserrat"/>
                          <a:cs typeface="Arial"/>
                          <a:sym typeface="Arial"/>
                        </a:rPr>
                        <a:t>$  603,682.6K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a:solidFill>
                            <a:schemeClr val="accent1"/>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a:solidFill>
                            <a:schemeClr val="accent1"/>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126097">
                <a:tc>
                  <a:txBody>
                    <a:bodyPr/>
                    <a:lstStyle/>
                    <a:p>
                      <a:pPr marL="63500" marR="63500" algn="l">
                        <a:lnSpc>
                          <a:spcPct val="100000"/>
                        </a:lnSpc>
                        <a:spcBef>
                          <a:spcPts val="1"/>
                        </a:spcBef>
                        <a:spcAft>
                          <a:spcPts val="1"/>
                        </a:spcAft>
                        <a:buNone/>
                      </a:pPr>
                      <a:r>
                        <a:rPr sz="1000" b="1" i="0" u="none" cap="none">
                          <a:solidFill>
                            <a:schemeClr val="accent1"/>
                          </a:solidFill>
                          <a:latin typeface="Montserrat"/>
                          <a:cs typeface="Arial"/>
                          <a:sym typeface="Arial"/>
                        </a:rPr>
                        <a:t>Kettering Health Dayton</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a:solidFill>
                            <a:schemeClr val="accent1"/>
                          </a:solidFill>
                          <a:latin typeface="Montserrat"/>
                          <a:cs typeface="Arial"/>
                          <a:sym typeface="Arial"/>
                        </a:rPr>
                        <a:t>240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1" i="0" u="none" cap="none">
                          <a:solidFill>
                            <a:schemeClr val="accent1"/>
                          </a:solidFill>
                          <a:latin typeface="Montserrat"/>
                          <a:cs typeface="Arial"/>
                          <a:sym typeface="Arial"/>
                        </a:rPr>
                        <a:t>$1,084,310.3K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1" i="0" u="none" cap="none">
                          <a:solidFill>
                            <a:schemeClr val="accent1"/>
                          </a:solidFill>
                          <a:latin typeface="Montserrat"/>
                          <a:cs typeface="Arial"/>
                          <a:sym typeface="Arial"/>
                        </a:rPr>
                        <a:t>$2,507,537.8K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a:solidFill>
                            <a:schemeClr val="accent1"/>
                          </a:solidFill>
                          <a:latin typeface="Montserrat"/>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a:solidFill>
                            <a:schemeClr val="accent1"/>
                          </a:solidFill>
                          <a:latin typeface="Montserrat"/>
                          <a:cs typeface="Arial"/>
                          <a:sym typeface="Arial"/>
                        </a:rPr>
                        <a:t>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126097">
                <a:tc>
                  <a:txBody>
                    <a:bodyPr/>
                    <a:lstStyle/>
                    <a:p>
                      <a:pPr marL="63500" marR="63500" algn="l">
                        <a:lnSpc>
                          <a:spcPct val="100000"/>
                        </a:lnSpc>
                        <a:spcBef>
                          <a:spcPts val="1"/>
                        </a:spcBef>
                        <a:spcAft>
                          <a:spcPts val="1"/>
                        </a:spcAft>
                        <a:buNone/>
                      </a:pPr>
                      <a:r>
                        <a:rPr sz="1000" b="1" i="0" u="none" cap="none">
                          <a:solidFill>
                            <a:schemeClr val="accent1"/>
                          </a:solidFill>
                          <a:latin typeface="Montserrat"/>
                          <a:cs typeface="Arial"/>
                          <a:sym typeface="Arial"/>
                        </a:rPr>
                        <a:t>Kettering Health Miamisburg</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a:solidFill>
                            <a:schemeClr val="accent1"/>
                          </a:solidFill>
                          <a:latin typeface="Montserrat"/>
                          <a:cs typeface="Arial"/>
                          <a:sym typeface="Arial"/>
                        </a:rPr>
                        <a:t>168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1" i="0" u="none" cap="none">
                          <a:solidFill>
                            <a:schemeClr val="accent1"/>
                          </a:solidFill>
                          <a:latin typeface="Montserrat"/>
                          <a:cs typeface="Arial"/>
                          <a:sym typeface="Arial"/>
                        </a:rPr>
                        <a:t>$  368,041.3K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1" i="0" u="none" cap="none">
                          <a:solidFill>
                            <a:schemeClr val="accent1"/>
                          </a:solidFill>
                          <a:latin typeface="Montserrat"/>
                          <a:cs typeface="Arial"/>
                          <a:sym typeface="Arial"/>
                        </a:rPr>
                        <a:t>$  671,440.2K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a:solidFill>
                            <a:schemeClr val="accent1"/>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a:solidFill>
                            <a:schemeClr val="accent1"/>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126097">
                <a:tc>
                  <a:txBody>
                    <a:bodyPr/>
                    <a:lstStyle/>
                    <a:p>
                      <a:pPr marL="63500" marR="63500" algn="l">
                        <a:lnSpc>
                          <a:spcPct val="100000"/>
                        </a:lnSpc>
                        <a:spcBef>
                          <a:spcPts val="1"/>
                        </a:spcBef>
                        <a:spcAft>
                          <a:spcPts val="1"/>
                        </a:spcAft>
                        <a:buNone/>
                      </a:pPr>
                      <a:r>
                        <a:rPr sz="1000" b="1" i="0" u="none" cap="none">
                          <a:solidFill>
                            <a:schemeClr val="accent1"/>
                          </a:solidFill>
                          <a:latin typeface="Montserrat"/>
                          <a:cs typeface="Arial"/>
                          <a:sym typeface="Arial"/>
                        </a:rPr>
                        <a:t>Soin Medical Center - Kettering Health</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a:solidFill>
                            <a:schemeClr val="accent1"/>
                          </a:solidFill>
                          <a:latin typeface="Montserrat"/>
                          <a:cs typeface="Arial"/>
                          <a:sym typeface="Arial"/>
                        </a:rPr>
                        <a:t>168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1" i="0" u="none" cap="none">
                          <a:solidFill>
                            <a:schemeClr val="accent1"/>
                          </a:solidFill>
                          <a:latin typeface="Montserrat"/>
                          <a:cs typeface="Arial"/>
                          <a:sym typeface="Arial"/>
                        </a:rPr>
                        <a:t>$  630,891.4K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1" i="0" u="none" cap="none">
                          <a:solidFill>
                            <a:schemeClr val="accent1"/>
                          </a:solidFill>
                          <a:latin typeface="Montserrat"/>
                          <a:cs typeface="Arial"/>
                          <a:sym typeface="Arial"/>
                        </a:rPr>
                        <a:t>$  925,017.9K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a:solidFill>
                            <a:schemeClr val="accent1"/>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a:solidFill>
                            <a:schemeClr val="accent1"/>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126097">
                <a:tc>
                  <a:txBody>
                    <a:bodyPr/>
                    <a:lstStyle/>
                    <a:p>
                      <a:pPr marL="63500" marR="63500" algn="l">
                        <a:lnSpc>
                          <a:spcPct val="100000"/>
                        </a:lnSpc>
                        <a:spcBef>
                          <a:spcPts val="1"/>
                        </a:spcBef>
                        <a:spcAft>
                          <a:spcPts val="1"/>
                        </a:spcAft>
                        <a:buNone/>
                      </a:pPr>
                      <a:r>
                        <a:rPr sz="1000" b="1" i="0" u="none" cap="none">
                          <a:solidFill>
                            <a:schemeClr val="accent1"/>
                          </a:solidFill>
                          <a:latin typeface="Montserrat"/>
                          <a:cs typeface="Arial"/>
                          <a:sym typeface="Arial"/>
                        </a:rPr>
                        <a:t>Kettering Health Troy</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a:solidFill>
                            <a:schemeClr val="accent1"/>
                          </a:solidFill>
                          <a:latin typeface="Montserrat"/>
                          <a:cs typeface="Arial"/>
                          <a:sym typeface="Arial"/>
                        </a:rPr>
                        <a:t>28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1" i="0" u="none" cap="none">
                          <a:solidFill>
                            <a:schemeClr val="accent1"/>
                          </a:solidFill>
                          <a:latin typeface="Montserrat"/>
                          <a:cs typeface="Arial"/>
                          <a:sym typeface="Arial"/>
                        </a:rPr>
                        <a:t>$   76,152.7K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1" i="0" u="none" cap="none">
                          <a:solidFill>
                            <a:schemeClr val="accent1"/>
                          </a:solidFill>
                          <a:latin typeface="Montserrat"/>
                          <a:cs typeface="Arial"/>
                          <a:sym typeface="Arial"/>
                        </a:rPr>
                        <a:t>$  340,388.7K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dirty="0">
                          <a:solidFill>
                            <a:schemeClr val="accent1"/>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126097">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St Elizabeth Ft Thomas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106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201,093.4K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250,593.2K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126097">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St Elizabeth Covington</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528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$1,300,947.3K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$1,830,583.9K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126097">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University of Cincinnati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548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$2,781,347.5K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$2,434,035.0K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11%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126097">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Wilson Memorial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44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53,576.8K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254,482.3K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126097">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The Jewish Hospital - Mercy Health</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170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896,279.5K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689,126.6K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126097">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Wayne HealthCare</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43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26,536.8K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156,561.6K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r h="126097">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McCullough-Hyde Memorial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52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   39,130.3K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116,560.5K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4"/>
                  </a:ext>
                </a:extLst>
              </a:tr>
              <a:tr h="126097">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Miami Valley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1,005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$3,620,195.4K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$3,123,220.4K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14%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5"/>
                  </a:ext>
                </a:extLst>
              </a:tr>
              <a:tr h="126097">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Mercy Health - Fairfield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204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  785,732.4K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733,039.9K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6"/>
                  </a:ext>
                </a:extLst>
              </a:tr>
              <a:tr h="126097">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Atrium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244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563,010.9K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556,450.0K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7"/>
                  </a:ext>
                </a:extLst>
              </a:tr>
              <a:tr h="126097">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Mercy Health - Springfield Regional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210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832,425.7K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  906,444.4K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8"/>
                  </a:ext>
                </a:extLst>
              </a:tr>
              <a:tr h="126097">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Good Samaritan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361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$1,775,240.6K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881,786.2K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9"/>
                  </a:ext>
                </a:extLst>
              </a:tr>
              <a:tr h="126097">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The Christ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526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$1,468,869.1K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$1,814,853.4K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0"/>
                  </a:ext>
                </a:extLst>
              </a:tr>
              <a:tr h="126097">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Upper Valley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139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270,844.8K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428,568.7K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1"/>
                  </a:ext>
                </a:extLst>
              </a:tr>
              <a:tr h="126097">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Clinton Memorial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75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47,379.4K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  242,751.3K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2"/>
                  </a:ext>
                </a:extLst>
              </a:tr>
              <a:tr h="126097">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Bethesda North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416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$1,852,605.6K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648,911.2K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3"/>
                  </a:ext>
                </a:extLst>
              </a:tr>
              <a:tr h="126097">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Mercy Health - West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205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749,242.5K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771,314.9K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4"/>
                  </a:ext>
                </a:extLst>
              </a:tr>
              <a:tr h="126097">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UC Health West Chester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163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496,839.2K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965,510.5K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5"/>
                  </a:ext>
                </a:extLst>
              </a:tr>
              <a:tr h="126097">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Ohio Valley Surgical Hospital (Ohio Valley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24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15,143.1K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204,368.2K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6"/>
                  </a:ext>
                </a:extLst>
              </a:tr>
              <a:tr h="126097">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Mercy Health - Urbana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23,111.4K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117,263.8K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7"/>
                  </a:ext>
                </a:extLst>
              </a:tr>
              <a:tr h="126097">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Adena Fayette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22,676.5K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148,835.6K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8"/>
                  </a:ext>
                </a:extLst>
              </a:tr>
              <a:tr h="126097">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Cincinnati Childrens Burnet Campus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751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$2,255,495.8K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$1,778,922.5K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9"/>
                  </a:ext>
                </a:extLst>
              </a:tr>
              <a:tr h="126097">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Dayton Childrens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181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384,650.5K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581,094.4K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0"/>
                  </a:ext>
                </a:extLst>
              </a:tr>
            </a:tbl>
          </a:graphicData>
        </a:graphic>
      </p:graphicFrame>
    </p:spTree>
    <p:extLst>
      <p:ext uri="{BB962C8B-B14F-4D97-AF65-F5344CB8AC3E}">
        <p14:creationId xmlns:p14="http://schemas.microsoft.com/office/powerpoint/2010/main" val="40876362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2376467422"/>
              </p:ext>
            </p:extLst>
          </p:nvPr>
        </p:nvGraphicFramePr>
        <p:xfrm>
          <a:off x="0" y="0"/>
          <a:ext cx="12192000" cy="6858002"/>
        </p:xfrm>
        <a:graphic>
          <a:graphicData uri="http://schemas.openxmlformats.org/drawingml/2006/table">
            <a:tbl>
              <a:tblPr/>
              <a:tblGrid>
                <a:gridCol w="2138472">
                  <a:extLst>
                    <a:ext uri="{9D8B030D-6E8A-4147-A177-3AD203B41FA5}">
                      <a16:colId xmlns:a16="http://schemas.microsoft.com/office/drawing/2014/main" val="20000"/>
                    </a:ext>
                  </a:extLst>
                </a:gridCol>
                <a:gridCol w="1656139">
                  <a:extLst>
                    <a:ext uri="{9D8B030D-6E8A-4147-A177-3AD203B41FA5}">
                      <a16:colId xmlns:a16="http://schemas.microsoft.com/office/drawing/2014/main" val="20001"/>
                    </a:ext>
                  </a:extLst>
                </a:gridCol>
                <a:gridCol w="1506260">
                  <a:extLst>
                    <a:ext uri="{9D8B030D-6E8A-4147-A177-3AD203B41FA5}">
                      <a16:colId xmlns:a16="http://schemas.microsoft.com/office/drawing/2014/main" val="20002"/>
                    </a:ext>
                  </a:extLst>
                </a:gridCol>
                <a:gridCol w="1299720">
                  <a:extLst>
                    <a:ext uri="{9D8B030D-6E8A-4147-A177-3AD203B41FA5}">
                      <a16:colId xmlns:a16="http://schemas.microsoft.com/office/drawing/2014/main" val="20003"/>
                    </a:ext>
                  </a:extLst>
                </a:gridCol>
                <a:gridCol w="1217159">
                  <a:extLst>
                    <a:ext uri="{9D8B030D-6E8A-4147-A177-3AD203B41FA5}">
                      <a16:colId xmlns:a16="http://schemas.microsoft.com/office/drawing/2014/main" val="20004"/>
                    </a:ext>
                  </a:extLst>
                </a:gridCol>
                <a:gridCol w="1423653">
                  <a:extLst>
                    <a:ext uri="{9D8B030D-6E8A-4147-A177-3AD203B41FA5}">
                      <a16:colId xmlns:a16="http://schemas.microsoft.com/office/drawing/2014/main" val="20005"/>
                    </a:ext>
                  </a:extLst>
                </a:gridCol>
                <a:gridCol w="1846983">
                  <a:extLst>
                    <a:ext uri="{9D8B030D-6E8A-4147-A177-3AD203B41FA5}">
                      <a16:colId xmlns:a16="http://schemas.microsoft.com/office/drawing/2014/main" val="20006"/>
                    </a:ext>
                  </a:extLst>
                </a:gridCol>
                <a:gridCol w="1103614">
                  <a:extLst>
                    <a:ext uri="{9D8B030D-6E8A-4147-A177-3AD203B41FA5}">
                      <a16:colId xmlns:a16="http://schemas.microsoft.com/office/drawing/2014/main" val="20007"/>
                    </a:ext>
                  </a:extLst>
                </a:gridCol>
              </a:tblGrid>
              <a:tr h="370129">
                <a:tc gridSpan="8">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677153">
                <a:tc>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Montserrat"/>
                          <a:cs typeface="Arial"/>
                          <a:sym typeface="Arial"/>
                        </a:rPr>
                        <a:t>Metric</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Montserrat"/>
                          <a:cs typeface="Arial"/>
                          <a:sym typeface="Arial"/>
                        </a:rPr>
                        <a:t>Kettering Health Greene Memorial</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Kettering Health Main Campus</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Kettering Health Hamilton</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Kettering Health Dayton</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Kettering Health Miamisburg</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Soin Medical Center - Kettering Health</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Kettering Health Troy</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38590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Inpatient Patient Revenue</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Montserrat"/>
                          <a:cs typeface="Arial"/>
                          <a:sym typeface="Arial"/>
                        </a:rPr>
                        <a:t>$3,711K</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$393,578K</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$69,540K</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$224,452K</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$68,824K</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$114,191K</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$13,860K</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38590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Outpatient Patient Revenue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$31,766K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$355,197K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$105,041K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$519,060K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$125,559K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$167,428K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$61,951K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22128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Medicare Revenue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$3,100K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$121,452K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$21,093K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Montserrat"/>
                          <a:cs typeface="Arial"/>
                          <a:sym typeface="Arial"/>
                        </a:rPr>
                        <a:t>$88,542K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$23,841K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$41,580K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$7,248K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38590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Medicaid and Other Government-Pay Revenue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$5,462K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$55,983K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$25,704K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$86,702K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$21,252K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$30,552K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$10,137K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38590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Commercial Revenue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$26,900K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$571,798K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$127,823K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$567,590K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$149,026K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$209,169K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$58,393K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22128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Uncompensated Care</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$4,497K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$41,597K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$14,160K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$39,899K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$10,785K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Montserrat"/>
                          <a:cs typeface="Arial"/>
                          <a:sym typeface="Arial"/>
                        </a:rPr>
                        <a:t>$20,110K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$6,948K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22128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Inpatient Costs</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$4,417K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$387,990K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$71,227K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$215,943K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$67,251K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$112,004K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$13,401K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22128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Outpatient Costs</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$37,815K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$350,154K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$107,589K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Montserrat"/>
                          <a:cs typeface="Arial"/>
                          <a:sym typeface="Arial"/>
                        </a:rPr>
                        <a:t>$499,381K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$122,689K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$164,222K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$59,898K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22128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Operating Expenses</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$42,233K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$738,144K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$178,816K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$715,324K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$189,940K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Montserrat"/>
                          <a:cs typeface="Arial"/>
                          <a:sym typeface="Arial"/>
                        </a:rPr>
                        <a:t>$276,226K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$73,299K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22128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Net Income</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$-6,769K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$11,088K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$-4,196K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$27,511K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$4,179K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$5,076K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$2,480K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38590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Medicare</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24.8%</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20.5%</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23.3%</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19.0%</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18.4%</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26.3%</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Montserrat"/>
                          <a:cs typeface="Arial"/>
                          <a:sym typeface="Arial"/>
                        </a:rPr>
                        <a:t>29.5%</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2"/>
                  </a:ext>
                </a:extLst>
              </a:tr>
              <a:tr h="38590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Medicaid</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3.1%</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4.8%</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4.3%</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4.6%</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3.6%</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3"/>
                  </a:ext>
                </a:extLst>
              </a:tr>
              <a:tr h="38590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Other Government-Pay</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Montserrat"/>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4"/>
                  </a:ext>
                </a:extLst>
              </a:tr>
              <a:tr h="22128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Payer Mix Percent No Pay</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11.2%</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5.3%</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7.5%</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5.1%</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5.3%</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6.7%</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8.4%</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5"/>
                  </a:ext>
                </a:extLst>
              </a:tr>
              <a:tr h="38590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Commercial</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60.9%</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69.4%</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65.0%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71.3%</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72.4%</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63.4%</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Montserrat"/>
                          <a:cs typeface="Arial"/>
                          <a:sym typeface="Arial"/>
                        </a:rPr>
                        <a:t>60.1%</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16"/>
                  </a:ext>
                </a:extLst>
              </a:tr>
              <a:tr h="38590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Commercial Profit Margin</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13.9%</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28.4%</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28.1%</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29.9%</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28.5%</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30.2%</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Montserrat"/>
                          <a:cs typeface="Arial"/>
                          <a:sym typeface="Arial"/>
                        </a:rPr>
                        <a:t>29.1%</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197145">
                <a:tc gridSpan="8">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197145">
                <a:tc gridSpan="8">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Montserrat"/>
                          <a:cs typeface="Arial"/>
                          <a:sym typeface="Arial"/>
                        </a:rPr>
                        <a:t>2. Medicare costs are taken from the Medicare Provider Analysis and Review (</a:t>
                      </a:r>
                      <a:r>
                        <a:rPr sz="800" b="0" i="0" u="none" cap="none" dirty="0" err="1">
                          <a:solidFill>
                            <a:srgbClr val="666666">
                              <a:alpha val="100000"/>
                            </a:srgbClr>
                          </a:solidFill>
                          <a:latin typeface="Montserrat"/>
                          <a:cs typeface="Arial"/>
                          <a:sym typeface="Arial"/>
                        </a:rPr>
                        <a:t>MedPAR</a:t>
                      </a:r>
                      <a:r>
                        <a:rPr sz="800" b="0" i="0" u="none" cap="none" dirty="0">
                          <a:solidFill>
                            <a:srgbClr val="666666">
                              <a:alpha val="100000"/>
                            </a:srgbClr>
                          </a:solidFill>
                          <a:latin typeface="Montserrat"/>
                          <a:cs typeface="Arial"/>
                          <a:sym typeface="Arial"/>
                        </a:rPr>
                        <a:t>)</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197145">
                <a:tc gridSpan="8">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Montserrat"/>
                          <a:cs typeface="Arial"/>
                          <a:sym typeface="Arial"/>
                        </a:rPr>
                        <a:t>3. Data with 'Estimated' in the title are derived from other data points.</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197145">
                <a:tc gridSpan="8">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marL="0" marR="0" lvl="0" indent="0" algn="ctr" defTabSz="914400" rtl="0" eaLnBrk="1" fontAlgn="auto" latinLnBrk="0" hangingPunct="1">
              <a:lnSpc>
                <a:spcPts val="3360"/>
              </a:lnSpc>
              <a:spcBef>
                <a:spcPts val="0"/>
              </a:spcBef>
              <a:spcAft>
                <a:spcPts val="0"/>
              </a:spcAft>
              <a:buClrTx/>
              <a:buSzTx/>
              <a:buFontTx/>
              <a:buNone/>
              <a:tabLst/>
              <a:defRPr/>
            </a:pPr>
            <a:r>
              <a:rPr kumimoji="0" lang="en-US" sz="3000" b="0" i="0" u="none" strike="noStrike" kern="0" cap="none" spc="90"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STEERAGE RATES FOR CURRENT DTE NETWORKS</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Object 3"/>
          <p:cNvSpPr/>
          <p:nvPr/>
        </p:nvSpPr>
        <p:spPr>
          <a:xfrm>
            <a:off x="0" y="5723094"/>
            <a:ext cx="12188952" cy="1133192"/>
          </a:xfrm>
          <a:prstGeom prst="rect">
            <a:avLst/>
          </a:prstGeom>
          <a:solidFill>
            <a:srgbClr val="EDF1E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5"/>
          <p:cNvSpPr/>
          <p:nvPr/>
        </p:nvSpPr>
        <p:spPr>
          <a:xfrm>
            <a:off x="-761809" y="6529875"/>
            <a:ext cx="12760309" cy="178177"/>
          </a:xfrm>
          <a:prstGeom prst="rect">
            <a:avLst/>
          </a:prstGeom>
          <a:noFill/>
        </p:spPr>
        <p:txBody>
          <a:bodyPr wrap="square" lIns="0" tIns="0" rIns="0" bIns="0" rtlCol="0" anchor="t"/>
          <a:lstStyle/>
          <a:p>
            <a:pPr marL="0" marR="0" lvl="0" indent="0" algn="r" defTabSz="914400" rtl="0" eaLnBrk="1" fontAlgn="auto" latinLnBrk="0" hangingPunct="1">
              <a:lnSpc>
                <a:spcPts val="1405"/>
              </a:lnSpc>
              <a:spcBef>
                <a:spcPts val="0"/>
              </a:spcBef>
              <a:spcAft>
                <a:spcPts val="0"/>
              </a:spcAft>
              <a:buClrTx/>
              <a:buSzTx/>
              <a:buFontTx/>
              <a:buNone/>
              <a:tabLst/>
              <a:defRPr/>
            </a:pPr>
            <a:r>
              <a:rPr kumimoji="0" lang="en-US" sz="1056" b="0" i="0" u="none" strike="noStrike" kern="0" cap="none" spc="32"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 Data collected from KBA DTE Networks in Q1 2024</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5" name="Object 4">
            <a:extLst>
              <a:ext uri="{FF2B5EF4-FFF2-40B4-BE49-F238E27FC236}">
                <a16:creationId xmlns:a16="http://schemas.microsoft.com/office/drawing/2014/main" id="{89902BB1-829C-651C-B854-23D338EB208E}"/>
              </a:ext>
            </a:extLst>
          </p:cNvPr>
          <p:cNvSpPr/>
          <p:nvPr/>
        </p:nvSpPr>
        <p:spPr>
          <a:xfrm>
            <a:off x="-95226" y="6034625"/>
            <a:ext cx="12379404" cy="323806"/>
          </a:xfrm>
          <a:prstGeom prst="rect">
            <a:avLst/>
          </a:prstGeom>
          <a:noFill/>
        </p:spPr>
        <p:txBody>
          <a:bodyPr wrap="square" lIns="0" tIns="0" rIns="0" bIns="0" rtlCol="0" anchor="t"/>
          <a:lstStyle/>
          <a:p>
            <a:pPr marL="0" marR="0" lvl="0" indent="0" algn="ctr" defTabSz="914400" rtl="0" eaLnBrk="1" fontAlgn="auto" latinLnBrk="0" hangingPunct="1">
              <a:lnSpc>
                <a:spcPts val="2552"/>
              </a:lnSpc>
              <a:spcBef>
                <a:spcPts val="0"/>
              </a:spcBef>
              <a:spcAft>
                <a:spcPts val="0"/>
              </a:spcAft>
              <a:buClrTx/>
              <a:buSzTx/>
              <a:buFontTx/>
              <a:buNone/>
              <a:tabLst/>
              <a:defRPr/>
            </a:pPr>
            <a:r>
              <a:rPr kumimoji="0" lang="en-US" sz="2025" b="0" i="0" u="none" strike="noStrike" kern="0" cap="none" spc="61"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The average Tier 1 Steerage is 83%.</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7">
            <a:extLst>
              <a:ext uri="{FF2B5EF4-FFF2-40B4-BE49-F238E27FC236}">
                <a16:creationId xmlns:a16="http://schemas.microsoft.com/office/drawing/2014/main" id="{B216DA3F-8CF6-3754-AC28-F2C4F80AFB0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1273" y="6342556"/>
            <a:ext cx="2125097" cy="463658"/>
          </a:xfrm>
          <a:prstGeom prst="rect">
            <a:avLst/>
          </a:prstGeom>
        </p:spPr>
      </p:pic>
      <p:pic>
        <p:nvPicPr>
          <p:cNvPr id="7" name="Object 2">
            <a:extLst>
              <a:ext uri="{FF2B5EF4-FFF2-40B4-BE49-F238E27FC236}">
                <a16:creationId xmlns:a16="http://schemas.microsoft.com/office/drawing/2014/main" id="{9EE68415-52C8-8A45-27E1-8A33BA25D0CC}"/>
              </a:ext>
            </a:extLst>
          </p:cNvPr>
          <p:cNvPicPr>
            <a:picLocks noChangeAspect="1"/>
          </p:cNvPicPr>
          <p:nvPr/>
        </p:nvPicPr>
        <p:blipFill>
          <a:blip r:embed="rId4"/>
          <a:stretch>
            <a:fillRect/>
          </a:stretch>
        </p:blipFill>
        <p:spPr>
          <a:xfrm>
            <a:off x="285679" y="1323644"/>
            <a:ext cx="11617595" cy="401854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5478423"/>
          </a:xfrm>
          <a:prstGeom prst="rect">
            <a:avLst/>
          </a:prstGeom>
          <a:noFill/>
        </p:spPr>
        <p:txBody>
          <a:bodyPr wrap="square" rtlCol="0">
            <a:spAutoFit/>
          </a:bodyPr>
          <a:lstStyle/>
          <a:p>
            <a:r>
              <a:rPr lang="en-US" sz="1400" dirty="0">
                <a:solidFill/>
                <a:latin typeface="Montserrat" panose="00000500000000000000" pitchFamily="2" charset="0"/>
              </a:rPr>
              <a:t>KBA currently estimates that Kettering Health Network has 18% inpatient market share, and 17% outpatient market compared to hospitals/clinics in the Kettering Health Network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conservatively expects a significant bump in patient steerage to Kettering Health Network.</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2187827914"/>
              </p:ext>
            </p:extLst>
          </p:nvPr>
        </p:nvGraphicFramePr>
        <p:xfrm>
          <a:off x="553689" y="1172692"/>
          <a:ext cx="7647430" cy="4832101"/>
        </p:xfrm>
        <a:graphic>
          <a:graphicData uri="http://schemas.openxmlformats.org/drawingml/2006/table">
            <a:tbl>
              <a:tblPr/>
              <a:tblGrid>
                <a:gridCol w="1529486">
                  <a:extLst>
                    <a:ext uri="{9D8B030D-6E8A-4147-A177-3AD203B41FA5}">
                      <a16:colId xmlns:a16="http://schemas.microsoft.com/office/drawing/2014/main" val="20000"/>
                    </a:ext>
                  </a:extLst>
                </a:gridCol>
                <a:gridCol w="1529486">
                  <a:extLst>
                    <a:ext uri="{9D8B030D-6E8A-4147-A177-3AD203B41FA5}">
                      <a16:colId xmlns:a16="http://schemas.microsoft.com/office/drawing/2014/main" val="20001"/>
                    </a:ext>
                  </a:extLst>
                </a:gridCol>
                <a:gridCol w="1529486">
                  <a:extLst>
                    <a:ext uri="{9D8B030D-6E8A-4147-A177-3AD203B41FA5}">
                      <a16:colId xmlns:a16="http://schemas.microsoft.com/office/drawing/2014/main" val="20002"/>
                    </a:ext>
                  </a:extLst>
                </a:gridCol>
                <a:gridCol w="1529486">
                  <a:extLst>
                    <a:ext uri="{9D8B030D-6E8A-4147-A177-3AD203B41FA5}">
                      <a16:colId xmlns:a16="http://schemas.microsoft.com/office/drawing/2014/main" val="20003"/>
                    </a:ext>
                  </a:extLst>
                </a:gridCol>
                <a:gridCol w="1529486">
                  <a:extLst>
                    <a:ext uri="{9D8B030D-6E8A-4147-A177-3AD203B41FA5}">
                      <a16:colId xmlns:a16="http://schemas.microsoft.com/office/drawing/2014/main" val="20004"/>
                    </a:ext>
                  </a:extLst>
                </a:gridCol>
              </a:tblGrid>
              <a:tr h="87136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Kettering Health Network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Kettering Health Network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3,200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15,800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12,500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22,500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17,100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30,800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22,600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40,700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29,100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52,400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36,400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44,200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79,600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52,300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94,100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108,500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Montserrat"/>
                          <a:cs typeface="Arial"/>
                          <a:sym typeface="Arial"/>
                        </a:rPr>
                        <a:t>121,900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74,200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133,600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79,800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143,600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84,400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151,900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88,000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158,400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163,400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93,000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167,400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94,600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170,300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15,800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$ 9,738,516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$ 16,925,480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$ 7,904,055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$ 34,568,051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$ 2,259,336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$ 3,926,711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$ 1,833,741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$ 8,019,788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$ 19,603,586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$ 189,600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$ 19,608,386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$ 19,613,186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$ 36,078,632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$ 56,569,949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$ 26,417,685</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$ 119,066,267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$ 8,370,243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$ 13,124,228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$ 6,128,903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$ 27,623,374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18% (inpatient) and 17%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23.2% (80%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67% inpatient and 58%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23.2%, with a 10 percentage-point reduction to reflect competitive-edge rates and a 10 percentage-point increase due to lower billing costs and higher patient responsibility collections because of the member credit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44614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549649937"/>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329293">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Target Estimate Assuming 50%+ Within-Plan Steerage and a Commercial Margin of 23.2%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92705">
                <a:tc gridSpan="5">
                  <a:txBody>
                    <a:bodyPr/>
                    <a:lstStyle/>
                    <a:p>
                      <a:pPr marL="63500" marR="63500" algn="l">
                        <a:lnSpc>
                          <a:spcPct val="100000"/>
                        </a:lnSpc>
                        <a:spcBef>
                          <a:spcPts val="5"/>
                        </a:spcBef>
                        <a:spcAft>
                          <a:spcPts val="5"/>
                        </a:spcAft>
                        <a:buNone/>
                      </a:pPr>
                      <a:r>
                        <a:rPr sz="16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257261">
                <a:tc>
                  <a:txBody>
                    <a:bodyPr/>
                    <a:lstStyle/>
                    <a:p>
                      <a:pPr marL="63500" marR="63500" algn="l">
                        <a:lnSpc>
                          <a:spcPct val="100000"/>
                        </a:lnSpc>
                        <a:spcBef>
                          <a:spcPts val="5"/>
                        </a:spcBef>
                        <a:spcAft>
                          <a:spcPts val="5"/>
                        </a:spcAft>
                        <a:buNone/>
                      </a:pPr>
                      <a:r>
                        <a:rPr sz="105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$308.2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$616.4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$3,081.8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$15,409.0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$143.0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$715.0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$3,574.9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$1,020.2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$2,040.4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$10,202.1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$51,010.5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$236.7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$473.4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$2,366.9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$11,834.4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3905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$712.0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$1,424.1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$7,120.3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$35,601.5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3905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$165.2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$330.4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$1,651.9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$8,259.5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$535.6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$1,071.2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$5,356.2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$26,780.8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dirty="0">
                          <a:solidFill>
                            <a:srgbClr val="000000">
                              <a:alpha val="100000"/>
                            </a:srgbClr>
                          </a:solidFill>
                          <a:latin typeface="Montserrat"/>
                          <a:cs typeface="Arial"/>
                          <a:sym typeface="Arial"/>
                        </a:rPr>
                        <a:t>$124.3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$248.5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$1,242.6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$6,213.2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$1,545.9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$3,091.9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$15,459.3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$77,296.4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$358.7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$717.3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$3,586.6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$17,932.8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43905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$1,010.3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$2,020.6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$10,103.1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$50,515.6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43905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$234.4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$468.8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$2,343.9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$11,719.6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$250.1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$500.3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$2,501.3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$12,506.4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$116.1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$580.3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$2,901.5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$721.9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$1,443.9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$7,219.4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$36,096.8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$167.5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$335.0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$1,674.9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$8,374.4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43905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$471.8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$943.6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$4,718.1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$23,590.3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43905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$109.5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$218.9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$1,094.6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$5,473.0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257261">
                <a:tc>
                  <a:txBody>
                    <a:bodyPr/>
                    <a:lstStyle/>
                    <a:p>
                      <a:pPr marL="63500" marR="63500" algn="l">
                        <a:lnSpc>
                          <a:spcPct val="100000"/>
                        </a:lnSpc>
                        <a:spcBef>
                          <a:spcPts val="5"/>
                        </a:spcBef>
                        <a:spcAft>
                          <a:spcPts val="5"/>
                        </a:spcAft>
                        <a:buNone/>
                      </a:pPr>
                      <a:r>
                        <a:rPr sz="12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a:solidFill>
                            <a:srgbClr val="000000">
                              <a:alpha val="100000"/>
                            </a:srgbClr>
                          </a:solidFill>
                          <a:latin typeface="Montserrat"/>
                          <a:cs typeface="Arial"/>
                          <a:sym typeface="Arial"/>
                        </a:rPr>
                        <a:t>$185.0</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a:solidFill>
                            <a:srgbClr val="000000">
                              <a:alpha val="100000"/>
                            </a:srgbClr>
                          </a:solidFill>
                          <a:latin typeface="Montserrat"/>
                          <a:cs typeface="Arial"/>
                          <a:sym typeface="Arial"/>
                        </a:rPr>
                        <a:t>$700.1</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a:solidFill>
                            <a:srgbClr val="000000">
                              <a:alpha val="100000"/>
                            </a:srgbClr>
                          </a:solidFill>
                          <a:latin typeface="Montserrat"/>
                          <a:cs typeface="Arial"/>
                          <a:sym typeface="Arial"/>
                        </a:rPr>
                        <a:t>$4,820.4</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dirty="0">
                          <a:solidFill>
                            <a:srgbClr val="000000">
                              <a:alpha val="100000"/>
                            </a:srgbClr>
                          </a:solidFill>
                          <a:latin typeface="Montserrat"/>
                          <a:cs typeface="Arial"/>
                          <a:sym typeface="Arial"/>
                        </a:rPr>
                        <a:t>$25,422.1</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020012042"/>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551812">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496631">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387994">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$1,093.9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$2,187.9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$10,939.3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$54,696.3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$507.6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$2,537.9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$12,689.5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$3,288.1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$6,576.1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$32,880.7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$164,403.6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$2,194.1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$4,388.3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$21,941.5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$109,707.3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$762.8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$1,525.7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$7,628.3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$38,141.6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$509.0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$1,018.1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$5,090.4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$25,452.1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87994">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$185.0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$700.1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$4,820.4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$25,422.1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399087055"/>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28.2%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28.2%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28.2%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28.2%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28.2%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$1,093.9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$2,187.9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$10,939.3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$54,696.3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$507.6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$2,537.9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$12,689.5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$3,911.6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$7,823.2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$39,115.8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$195,578.9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$2,817.7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$5,635.3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$28,176.5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$140,882.6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$1,103.1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$2,206.1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$11,030.7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$55,153.3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$849.3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$1,698.5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$8,492.7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$42,463.7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$525.3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$1,380.5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$8,222.7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$42,433.7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692723010"/>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18.2%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18.2%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18.2%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18.2%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18.2%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$1,093.9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$2,187.9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$10,939.3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$54,696.3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$507.6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$2,537.9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$12,689.5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$2,663.0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$5,326.1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$26,630.4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$133,151.9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$1,569.1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$3,138.2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$15,691.1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$78,455.7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$484.7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$969.3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$4,846.7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$24,233.7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$461.8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$2,308.8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$11,544.1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dirty="0">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$-93.1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$143.8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$2,038.8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$11,514.1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Incremental Revenues and Margin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Branding &amp; Messaging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Benefit Plan Integration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Network Steerage</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Relationship with Self-Funded Employers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Referral Authorization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Plan Transparency</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Members</a:t>
            </a:r>
          </a:p>
        </p:txBody>
      </p:sp>
      <p:sp>
        <p:nvSpPr>
          <p:cNvPr id="3"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endParaRPr lang="en-US" sz="1400" b="1" spc="300" dirty="0">
              <a:latin typeface="Montserrat" panose="00000500000000000000" pitchFamily="2" charset="0"/>
            </a:endParaRPr>
          </a:p>
        </p:txBody>
      </p:sp>
      <p:sp>
        <p:nvSpPr>
          <p:cNvPr id="4"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Full TPA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Stop-Loss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True Transparency &amp; Analytics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Population Health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Utilization &amp; Case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Sales &amp; Marketing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Transparent PBM</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Website &amp; Mobile App</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Customizable options &amp;  plans</a:t>
            </a:r>
          </a:p>
        </p:txBody>
      </p:sp>
      <p:sp>
        <p:nvSpPr>
          <p:cNvPr id="6"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Reduced Out of Pocket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Improved Health</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Better Coordination &amp; Navigation of Care </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the Best Medical Providers</a:t>
            </a:r>
          </a:p>
        </p:txBody>
      </p:sp>
      <p:sp>
        <p:nvSpPr>
          <p:cNvPr id="7"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Key Benefit Administrators</a:t>
            </a:r>
          </a:p>
        </p:txBody>
      </p:sp>
      <p:sp>
        <p:nvSpPr>
          <p:cNvPr id="8"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9"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Employee</a:t>
            </a:r>
          </a:p>
        </p:txBody>
      </p:sp>
      <p:sp>
        <p:nvSpPr>
          <p:cNvPr id="10"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1"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endParaRPr lang="en-US" sz="1200" spc="70" dirty="0">
              <a:latin typeface="Montserrat" panose="00000500000000000000" pitchFamily="2" charset="0"/>
            </a:endParaRPr>
          </a:p>
        </p:txBody>
      </p:sp>
      <p:sp>
        <p:nvSpPr>
          <p:cNvPr id="12"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Employer</a:t>
            </a:r>
          </a:p>
        </p:txBody>
      </p:sp>
      <p:sp>
        <p:nvSpPr>
          <p:cNvPr id="13"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4"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Montserrat" panose="00000500000000000000" pitchFamily="2" charset="0"/>
                <a:cs typeface="Arial" panose="020B0604020202020204" pitchFamily="34" charset="0"/>
              </a:rPr>
              <a:t>COLLABORATION OF STAKEHOLDERS</a:t>
            </a:r>
          </a:p>
        </p:txBody>
      </p:sp>
      <p:sp>
        <p:nvSpPr>
          <p:cNvPr id="15"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sz="1050" dirty="0"/>
              <a:t>Key Benefit Administrators</a:t>
            </a:r>
          </a:p>
        </p:txBody>
      </p:sp>
      <p:sp>
        <p:nvSpPr>
          <p:cNvPr id="16"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z="1050" smtClean="0"/>
              <a:t>43</a:t>
            </a:fld>
            <a:endParaRPr lang="en-US" sz="1050" dirty="0"/>
          </a:p>
        </p:txBody>
      </p:sp>
      <p:sp>
        <p:nvSpPr>
          <p:cNvPr id="17" name="TextBox 5">
            <a:extLst>
              <a:ext uri="{FF2B5EF4-FFF2-40B4-BE49-F238E27FC236}">
                <a16:creationId xmlns:a16="http://schemas.microsoft.com/office/drawing/2014/main" id="{9E0B445C-F723-D2CD-7458-1C791D6F47F3}"/>
              </a:ext>
            </a:extLst>
          </p:cNvPr>
          <p:cNvSpPr txBox="1"/>
          <p:nvPr/>
        </p:nvSpPr>
        <p:spPr>
          <a:xfrm>
            <a:off x="3302638" y="2431713"/>
            <a:ext cx="2743200" cy="307777"/>
          </a:xfrm>
          <a:prstGeom prst="rect">
            <a:avLst/>
          </a:prstGeom>
          <a:noFill/>
        </p:spPr>
        <p:txBody>
          <a:bodyPr wrap="square">
            <a:spAutoFit/>
          </a:bodyPr>
          <a:lstStyle/>
          <a:p>
            <a:r>
              <a:rPr lang="en-US" sz="1400" b="1" spc="300" dirty="0">
                <a:solidFill>
                  <a:schemeClr val="bg1"/>
                </a:solidFill>
                <a:latin typeface="Montserrat" panose="00000500000000000000" pitchFamily="2" charset="0"/>
              </a:rPr>
              <a:t>Kettering Health Network’s DTE</a:t>
            </a:r>
          </a:p>
        </p:txBody>
      </p:sp>
      <p:sp>
        <p:nvSpPr>
          <p:cNvPr id="18" name="TextBox 3">
            <a:extLst>
              <a:ext uri="{FF2B5EF4-FFF2-40B4-BE49-F238E27FC236}">
                <a16:creationId xmlns:a16="http://schemas.microsoft.com/office/drawing/2014/main" id="{023ECDC4-FBF0-6BFB-8749-2B605D488427}"/>
              </a:ext>
            </a:extLst>
          </p:cNvPr>
          <p:cNvSpPr txBox="1"/>
          <p:nvPr/>
        </p:nvSpPr>
        <p:spPr>
          <a:xfrm>
            <a:off x="6189312" y="3152422"/>
            <a:ext cx="2743200" cy="1723549"/>
          </a:xfrm>
          <a:prstGeom prst="rect">
            <a:avLst/>
          </a:prstGeom>
          <a:noFill/>
        </p:spPr>
        <p:txBody>
          <a:bodyPr wrap="square">
            <a:spAutoFit/>
          </a:bodyPr>
          <a:lstStyle/>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Reduced Spend</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“At The Table” with Kettering Health Network</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Improved Analytics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Complete Transparency</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Lower Stop-Loss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Benefit Plan Stabilization </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Healthier Population</a:t>
            </a:r>
          </a:p>
        </p:txBody>
      </p:sp>
    </p:spTree>
    <p:extLst>
      <p:ext uri="{BB962C8B-B14F-4D97-AF65-F5344CB8AC3E}">
        <p14:creationId xmlns:p14="http://schemas.microsoft.com/office/powerpoint/2010/main" val="31441921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RESPONSIBILITIES</a:t>
            </a:r>
          </a:p>
        </p:txBody>
      </p:sp>
      <p:graphicFrame>
        <p:nvGraphicFramePr>
          <p:cNvPr id="3"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29094416"/>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latin typeface="Montserrat" panose="00000500000000000000" pitchFamily="2" charset="0"/>
                        </a:rPr>
                        <a:t>SERVICES &amp; ADMINISTRATIVE SYSTEMS PROVIDED BY:</a:t>
                      </a:r>
                      <a:endParaRPr lang="en-US" sz="1400" spc="300"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rPr>
                        <a:t>Kettering Health Network</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rPr>
                        <a:t>KBA Operations</a:t>
                      </a:r>
                      <a:endPar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latin typeface="Montserrat" panose="00000500000000000000" pitchFamily="2" charset="0"/>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latin typeface="Montserrat" panose="00000500000000000000" pitchFamily="2" charset="0"/>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latin typeface="Montserrat" panose="00000500000000000000" pitchFamily="2" charset="0"/>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latin typeface="Montserrat" panose="00000500000000000000" pitchFamily="2" charset="0"/>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solidFill/>
                          <a:effectLst/>
                        </a:rPr>
                        <a:t>Facilitate program communication and engagement with Kettering Health Network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4"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44</a:t>
            </a:fld>
            <a:endParaRPr lang="en-US" sz="1100" dirty="0">
              <a:solidFill>
                <a:schemeClr val="tx1">
                  <a:lumMod val="50000"/>
                  <a:lumOff val="50000"/>
                </a:schemeClr>
              </a:solidFill>
            </a:endParaRPr>
          </a:p>
        </p:txBody>
      </p:sp>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PRE-IMPLEMENTATION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45</a:t>
            </a:fld>
            <a:endParaRPr lang="en-US" sz="1050" dirty="0">
              <a:solidFill>
                <a:schemeClr val="tx1">
                  <a:lumMod val="50000"/>
                  <a:lumOff val="50000"/>
                </a:schemeClr>
              </a:solidFill>
            </a:endParaRPr>
          </a:p>
        </p:txBody>
      </p:sp>
      <p:sp>
        <p:nvSpPr>
          <p:cNvPr id="6"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graphicFrame>
        <p:nvGraphicFramePr>
          <p:cNvPr id="7"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2920530452"/>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8">
            <a:extLst>
              <a:ext uri="{FF2B5EF4-FFF2-40B4-BE49-F238E27FC236}">
                <a16:creationId xmlns:a16="http://schemas.microsoft.com/office/drawing/2014/main" id="{ACF7C59A-89AA-73E4-5A12-3925EF60D603}"/>
              </a:ext>
            </a:extLst>
          </p:cNvPr>
          <p:cNvSpPr txBox="1"/>
          <p:nvPr/>
        </p:nvSpPr>
        <p:spPr>
          <a:xfrm>
            <a:off x="6503796" y="2382657"/>
            <a:ext cx="5463791" cy="1077218"/>
          </a:xfrm>
          <a:prstGeom prst="rect">
            <a:avLst/>
          </a:prstGeom>
          <a:noFill/>
        </p:spPr>
        <p:txBody>
          <a:bodyPr wrap="square">
            <a:spAutoFit/>
          </a:bodyPr>
          <a:lstStyle/>
          <a:p>
            <a:pPr marL="285750" lvl="0" indent="-285750">
              <a:buFont typeface="Arial" panose="020B0604020202020204" pitchFamily="34" charset="0"/>
              <a:buChar char="•"/>
            </a:pPr>
            <a:r>
              <a:rPr lang="en-US" sz="1600" dirty="0">
                <a:latin typeface="Montserrat" panose="00000500000000000000" pitchFamily="2" charset="0"/>
              </a:rPr>
              <a:t>Determine Gaps in Medical Service Delivery</a:t>
            </a:r>
          </a:p>
          <a:p>
            <a:pPr marL="285750" lvl="0" indent="-285750">
              <a:buFont typeface="Arial" panose="020B0604020202020204" pitchFamily="34" charset="0"/>
              <a:buChar char="•"/>
            </a:pPr>
            <a:r>
              <a:rPr lang="en-US" sz="1600" dirty="0">
                <a:solidFill/>
                <a:latin typeface="Montserrat" panose="00000500000000000000" pitchFamily="2" charset="0"/>
              </a:rPr>
              <a:t>Identify Other Key Providers to Potentially Contract with on Behalf of Kettering Health Network</a:t>
            </a:r>
          </a:p>
          <a:p>
            <a:pPr marL="285750" lvl="0" indent="-285750">
              <a:buFont typeface="Arial" panose="020B0604020202020204" pitchFamily="34" charset="0"/>
              <a:buChar char="•"/>
            </a:pPr>
            <a:r>
              <a:rPr lang="en-US" sz="1600" dirty="0">
                <a:latin typeface="Montserrat" panose="00000500000000000000" pitchFamily="2" charset="0"/>
              </a:rPr>
              <a:t>Wrap Network to Cover All Other Provider Types</a:t>
            </a:r>
          </a:p>
        </p:txBody>
      </p:sp>
      <p:sp>
        <p:nvSpPr>
          <p:cNvPr id="9" name="TextBox 10">
            <a:extLst>
              <a:ext uri="{FF2B5EF4-FFF2-40B4-BE49-F238E27FC236}">
                <a16:creationId xmlns:a16="http://schemas.microsoft.com/office/drawing/2014/main" id="{7D39916A-1134-A7BF-5090-08FBB7FAA43C}"/>
              </a:ext>
            </a:extLst>
          </p:cNvPr>
          <p:cNvSpPr txBox="1"/>
          <p:nvPr/>
        </p:nvSpPr>
        <p:spPr>
          <a:xfrm>
            <a:off x="6503796" y="4328855"/>
            <a:ext cx="5463791" cy="830997"/>
          </a:xfrm>
          <a:prstGeom prst="rect">
            <a:avLst/>
          </a:prstGeom>
          <a:noFill/>
        </p:spPr>
        <p:txBody>
          <a:bodyPr wrap="square">
            <a:spAutoFit/>
          </a:bodyPr>
          <a:lstStyle/>
          <a:p>
            <a:pPr marL="285750" lvl="0" indent="-285750">
              <a:buFont typeface="Arial" panose="020B0604020202020204" pitchFamily="34" charset="0"/>
              <a:buChar char="•"/>
            </a:pPr>
            <a:r>
              <a:rPr lang="en-US" sz="1600" dirty="0">
                <a:solidFill/>
                <a:latin typeface="Montserrat" panose="00000500000000000000" pitchFamily="2" charset="0"/>
              </a:rPr>
              <a:t>To Dial in Competitive Stop-Loss Rates and Kettering Health Network’s Net Revenues/Margins</a:t>
            </a:r>
          </a:p>
          <a:p>
            <a:pPr marL="285750" lvl="0" indent="-285750">
              <a:buFont typeface="Arial" panose="020B0604020202020204" pitchFamily="34" charset="0"/>
              <a:buChar char="•"/>
            </a:pPr>
            <a:r>
              <a:rPr lang="en-US" sz="1600" dirty="0">
                <a:latin typeface="Montserrat" panose="00000500000000000000" pitchFamily="2" charset="0"/>
              </a:rPr>
              <a:t>Actuarial Evaluation Compared to the Market</a:t>
            </a:r>
          </a:p>
        </p:txBody>
      </p:sp>
    </p:spTree>
    <p:extLst>
      <p:ext uri="{BB962C8B-B14F-4D97-AF65-F5344CB8AC3E}">
        <p14:creationId xmlns:p14="http://schemas.microsoft.com/office/powerpoint/2010/main" val="2254222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427443530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46</a:t>
            </a:fld>
            <a:endParaRPr lang="en-US" sz="1050" dirty="0">
              <a:solidFill>
                <a:schemeClr val="tx1">
                  <a:lumMod val="50000"/>
                  <a:lumOff val="50000"/>
                </a:schemeClr>
              </a:solidFill>
            </a:endParaRPr>
          </a:p>
        </p:txBody>
      </p:sp>
      <p:sp>
        <p:nvSpPr>
          <p:cNvPr id="7"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47</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4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3.xml><?xml version="1.0" encoding="utf-8"?>
<ds:datastoreItem xmlns:ds="http://schemas.openxmlformats.org/officeDocument/2006/customXml" ds:itemID="{56F5604B-F201-4300-A086-2482203EA6B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46189</TotalTime>
  <Words>5698</Words>
  <Application>Microsoft Office PowerPoint</Application>
  <PresentationFormat>Widescreen</PresentationFormat>
  <Paragraphs>1582</Paragraphs>
  <Slides>47</Slides>
  <Notes>12</Notes>
  <HiddenSlides>0</HiddenSlides>
  <MMClips>0</MMClips>
  <ScaleCrop>false</ScaleCrop>
  <HeadingPairs>
    <vt:vector size="6" baseType="variant">
      <vt:variant>
        <vt:lpstr>Fonts Used</vt:lpstr>
      </vt:variant>
      <vt:variant>
        <vt:i4>3</vt:i4>
      </vt:variant>
      <vt:variant>
        <vt:lpstr>Theme</vt:lpstr>
      </vt:variant>
      <vt:variant>
        <vt:i4>6</vt:i4>
      </vt:variant>
      <vt:variant>
        <vt:lpstr>Slide Titles</vt:lpstr>
      </vt:variant>
      <vt:variant>
        <vt:i4>47</vt:i4>
      </vt:variant>
    </vt:vector>
  </HeadingPairs>
  <TitlesOfParts>
    <vt:vector size="56" baseType="lpstr">
      <vt:lpstr>Arial</vt:lpstr>
      <vt:lpstr>Montserrat</vt:lpstr>
      <vt:lpstr>Wingdings</vt:lpstr>
      <vt:lpstr>Office Theme</vt:lpstr>
      <vt:lpstr>1_Office Theme</vt:lpstr>
      <vt:lpstr>2_Office Theme</vt:lpstr>
      <vt:lpstr>3_Office Theme</vt:lpstr>
      <vt:lpstr>4_Office Theme</vt:lpstr>
      <vt:lpstr>5_Office Theme</vt:lpstr>
      <vt:lpstr>PowerPoint Presentation</vt:lpstr>
      <vt:lpstr>PowerPoint Presentation</vt:lpstr>
      <vt:lpstr>PowerPoint Presentation</vt:lpstr>
      <vt:lpstr>PowerPoint Presentation</vt:lpstr>
      <vt:lpstr>PowerPoint Presentation</vt:lpstr>
      <vt:lpstr>PowerPoint Presentation</vt:lpstr>
      <vt:lpstr>DIRECT-TO-EMPLOYER (DTE)  </vt:lpstr>
      <vt:lpstr>DTE KEYS TO SUCCESS FOR KETTERING HEALTH NETWORK</vt:lpstr>
      <vt:lpstr>Direct-to-Employer Strategy: POWERFUL EMPLOYER VALUE</vt:lpstr>
      <vt:lpstr>PowerPoint Presentation</vt:lpstr>
      <vt:lpstr>SIGNIFICANT OPPORTUNITY FOR PLAN GROWTH Researched for the below highlighted service area</vt:lpstr>
      <vt:lpstr>PLAN POTENTIAL GROWTH PATHS</vt:lpstr>
      <vt:lpstr>GROWING POWERFUL, LASTING PROFITABILITY</vt:lpstr>
      <vt:lpstr>MODEL ASSUMPTIONS AND BREAK EVEN</vt:lpstr>
      <vt:lpstr>FOUR-YEAR PROJECTIONS</vt:lpstr>
      <vt:lpstr>DIRECT-TO-EMPLOYER STRATEGY: ONLY AVAILABLE TO PREMIER HEALTH SYSTEMS</vt:lpstr>
      <vt:lpstr>KETTERING HEALTH NETWORK IS PATIENT RECOMMENDED</vt:lpstr>
      <vt:lpstr>PowerPoint Presentation</vt:lpstr>
      <vt:lpstr>PowerPoint Presentation</vt:lpstr>
      <vt:lpstr>SINGLE YEAR SUMMARY</vt:lpstr>
      <vt:lpstr>INTEGRATION WITH EPIC EHR SYSTEM</vt:lpstr>
      <vt:lpstr>THE MISSING PIECE TO VALUE-BASED CARE</vt:lpstr>
      <vt:lpstr>TRANSPARENT PBM INTEGRATION </vt:lpstr>
      <vt:lpstr>STOP-LOSS INSURANCE      THE KBA EXPERIENCE</vt:lpstr>
      <vt:lpstr>DTE  PROGRAM MARKETING  &amp; SALES</vt:lpstr>
      <vt:lpstr>COMMUNITY BASED SALES STRATEGY</vt:lpstr>
      <vt:lpstr>Complete Marketing System</vt:lpstr>
      <vt:lpstr>PowerPoint Presentation</vt:lpstr>
      <vt:lpstr>PowerPoint Presentation</vt:lpstr>
      <vt:lpstr>PowerPoint Presentation</vt:lpstr>
      <vt:lpstr>PowerPoint Presentation</vt:lpstr>
      <vt:lpstr>ESTIMATION OF KETTERING HEALTH NETWORK’S 2022 PAYER MIX</vt:lpstr>
      <vt:lpstr>ESTIMATION OF MARGIN FOR COMMERCIAL VS. GOVERNMENT PAY</vt:lpstr>
      <vt:lpstr>ESTIMATING MARKET SHARE</vt:lpstr>
      <vt:lpstr>PowerPoint Presentation</vt:lpstr>
      <vt:lpstr>PowerPoint Presentation</vt:lpstr>
      <vt:lpstr>PROJECTED PLAN GROWTH</vt:lpstr>
      <vt:lpstr>PowerPoint Presentation</vt:lpstr>
      <vt:lpstr>PowerPoint Presentation</vt:lpstr>
      <vt:lpstr>PowerPoint Presentation</vt:lpstr>
      <vt:lpstr>PowerPoint Presentation</vt:lpstr>
      <vt:lpstr>PowerPoint Presentation</vt:lpstr>
      <vt:lpstr>PowerPoint Presentation</vt:lpstr>
      <vt:lpstr>ROLES &amp; RESPONSIBILITIES</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111</cp:revision>
  <cp:lastPrinted>2023-07-13T10:24:43Z</cp:lastPrinted>
  <dcterms:created xsi:type="dcterms:W3CDTF">2021-01-20T14:12:11Z</dcterms:created>
  <dcterms:modified xsi:type="dcterms:W3CDTF">2024-12-20T18:36:10Z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