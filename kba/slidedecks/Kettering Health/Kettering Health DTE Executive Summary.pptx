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18"/>
  </p:notesMasterIdLst>
  <p:sldIdLst>
    <p:sldId id="588" r:id="rId8"/>
    <p:sldId id="454" r:id="rId9"/>
    <p:sldId id="549" r:id="rId10"/>
    <p:sldId id="559" r:id="rId11"/>
    <p:sldId id="580" r:id="rId12"/>
    <p:sldId id="2145726870" r:id="rId13"/>
    <p:sldId id="2145726871" r:id="rId14"/>
    <p:sldId id="2145726872" r:id="rId15"/>
    <p:sldId id="256" r:id="rId16"/>
    <p:sldId id="472" r:id="rId17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 varScale="1">
        <p:scale>
          <a:sx n="98" d="100"/>
          <a:sy n="98" d="100"/>
        </p:scale>
        <p:origin x="828" y="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6C9E767F-663F-42B3-8301-3AE0E6354A16}"/>
    <pc:docChg chg="delSld delMainMaster">
      <pc:chgData name="Taylor Davis" userId="5c9e72a0-c39f-4aa1-9d7d-64125e78cbe6" providerId="ADAL" clId="{6C9E767F-663F-42B3-8301-3AE0E6354A16}" dt="2024-12-16T22:18:06.495" v="3" actId="47"/>
      <pc:docMkLst>
        <pc:docMk/>
      </pc:docMkLst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6C9E767F-663F-42B3-8301-3AE0E6354A16}" dt="2024-12-16T22:18:06.495" v="3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6C9E767F-663F-42B3-8301-3AE0E6354A16}" dt="2024-12-16T22:18:06.495" v="3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6C9E767F-663F-42B3-8301-3AE0E6354A16}" dt="2024-12-16T22:17:35.207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6C9E767F-663F-42B3-8301-3AE0E6354A16}" dt="2024-12-16T22:17:35.207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6C9E767F-663F-42B3-8301-3AE0E6354A16}" dt="2024-12-16T22:18:06.495" v="3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6C9E767F-663F-42B3-8301-3AE0E6354A16}" dt="2024-12-16T22:18:06.495" v="3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500461553" sldId="521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6C9E767F-663F-42B3-8301-3AE0E6354A16}" dt="2024-12-16T22:17:40.397" v="1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4064752386" sldId="564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6C9E767F-663F-42B3-8301-3AE0E6354A16}" dt="2024-12-16T22:18:06.495" v="3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6C9E767F-663F-42B3-8301-3AE0E6354A16}" dt="2024-12-16T22:18:06.495" v="3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6C9E767F-663F-42B3-8301-3AE0E6354A16}" dt="2024-12-16T22:18:06.495" v="3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2011724879" sldId="585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6C9E767F-663F-42B3-8301-3AE0E6354A16}" dt="2024-12-16T22:17:35.207" v="0" actId="47"/>
        <pc:sldMkLst>
          <pc:docMk/>
          <pc:sldMk cId="0" sldId="2145726867"/>
        </pc:sldMkLst>
      </pc:sldChg>
      <pc:sldChg chg="del">
        <pc:chgData name="Taylor Davis" userId="5c9e72a0-c39f-4aa1-9d7d-64125e78cbe6" providerId="ADAL" clId="{6C9E767F-663F-42B3-8301-3AE0E6354A16}" dt="2024-12-16T22:17:57.601" v="2" actId="47"/>
        <pc:sldMkLst>
          <pc:docMk/>
          <pc:sldMk cId="4087636236" sldId="2145726868"/>
        </pc:sldMkLst>
      </pc:sldChg>
      <pc:sldChg chg="del">
        <pc:chgData name="Taylor Davis" userId="5c9e72a0-c39f-4aa1-9d7d-64125e78cbe6" providerId="ADAL" clId="{6C9E767F-663F-42B3-8301-3AE0E6354A16}" dt="2024-12-16T22:17:35.207" v="0" actId="47"/>
        <pc:sldMkLst>
          <pc:docMk/>
          <pc:sldMk cId="3306748702" sldId="2145726869"/>
        </pc:sldMkLst>
      </pc:sldChg>
      <pc:sldMasterChg chg="del delSldLayout">
        <pc:chgData name="Taylor Davis" userId="5c9e72a0-c39f-4aa1-9d7d-64125e78cbe6" providerId="ADAL" clId="{6C9E767F-663F-42B3-8301-3AE0E6354A16}" dt="2024-12-16T22:17:57.601" v="2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6C9E767F-663F-42B3-8301-3AE0E6354A16}" dt="2024-12-16T22:17:57.601" v="2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6C9E767F-663F-42B3-8301-3AE0E6354A16}" dt="2024-12-16T22:17:57.601" v="2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12/16/2024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11" Type="http://schemas.openxmlformats.org/officeDocument/2006/relationships/image" Target="../media/image10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Kettering Health Network DTE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61770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2,800+ Employers       600,000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1,000,000+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434571"/>
              </p:ext>
            </p:extLst>
          </p:nvPr>
        </p:nvGraphicFramePr>
        <p:xfrm>
          <a:off x="4889297" y="2140949"/>
          <a:ext cx="7075657" cy="3441355"/>
        </p:xfrm>
        <a:graphic>
          <a:graphicData uri="http://schemas.openxmlformats.org/drawingml/2006/table">
            <a:tbl>
              <a:tblPr/>
              <a:tblGrid>
                <a:gridCol w="2730691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24161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24161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24161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24161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24161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24161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1,407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669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105,500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100,400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122,100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175,000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144,000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300,000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189,900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180,700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219,800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315,000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259,200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540,000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128016" y="2098295"/>
            <a:ext cx="5296904" cy="439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Kettering Health Network service area in Dearborn, Franklin, Union, Butler, Champaign, Clark, Clermont, Clinton, Darke, Fayette, Greene, Hamilton, Madison, Miami, Montgomery, Preble, Shelby, and Warren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2,235K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1,296K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925K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648K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$44.01M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$10.2M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$263.62M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$62.05M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$542.26M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$127.7M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57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3,296.3K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6,595.3K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12,293.1K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19,793.2K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3,004.7K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6,492.1K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12,239.1K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19,802.8K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21,700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4,532.4K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9,068.5K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16,859.1K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27,184.3K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172.8K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260.4K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4,255.2K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8,994.1K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16,851.9K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27,264.7K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2,060.2K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4,122.1K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7,727.1K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12,402.1K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1,754.2K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3,990.1K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7,626.3K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12,340.9K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15,800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$ 9,738,516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$ 16,925,480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$ 7,904,055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$ 34,568,051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$ 2,259,336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$ 3,926,711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$ 1,833,741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$ 8,019,788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$ 19,603,586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$ 189,600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$ 19,608,386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$ 19,613,186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$ 36,078,632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$ 56,569,949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$ 26,417,685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$ 119,066,267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$ 8,370,243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$ 13,124,228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$ 6,128,903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$ 27,623,374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18% (inpatient) and 17%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23.2%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23.2%,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61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649937"/>
              </p:ext>
            </p:extLst>
          </p:nvPr>
        </p:nvGraphicFramePr>
        <p:xfrm>
          <a:off x="0" y="0"/>
          <a:ext cx="12198096" cy="6858000"/>
        </p:xfrm>
        <a:graphic>
          <a:graphicData uri="http://schemas.openxmlformats.org/drawingml/2006/table">
            <a:tbl>
              <a:tblPr/>
              <a:tblGrid>
                <a:gridCol w="304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293">
                <a:tc gridSpan="5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23.2%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23.2%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23.2%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23.2%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23.2%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05">
                <a:tc gridSpan="5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6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05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05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05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05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05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25000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Inpatient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$308.2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$616.4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$3,081.8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$15,409.0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Inpatient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$71.5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$143.0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$715.0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$3,574.9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$1,020.2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$2,040.4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$10,202.1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$51,010.5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$236.7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$473.4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$2,366.9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$11,834.4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Inpatient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$712.0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$1,424.1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$7,120.3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$35,601.5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Inpatient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$165.2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$330.4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$1,651.9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$8,259.5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Outpatient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$535.6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$1,071.2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$5,356.2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$26,780.8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Outpatient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$124.3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$248.5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$1,242.6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$6,213.2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Outpatient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$1,545.9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$3,091.9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$15,459.3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$77,296.4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Outpatient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$358.7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$717.3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$3,586.6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$17,932.8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Outpatient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$1,010.3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$2,020.6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$10,103.1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$50,515.6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Outpatient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$234.4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$468.8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$2,343.9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$11,719.6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Professional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$250.1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$500.3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$2,501.3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$12,506.4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Professional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$58.0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$116.1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$580.3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$2,901.5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Professional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$721.9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$1,443.9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$7,219.4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$36,096.8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Professional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$167.5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$335.0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$1,674.9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$8,374.4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Professional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$471.8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$943.6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$4,718.1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$23,590.3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Professional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$109.5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$218.9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$1,094.6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$5,473.0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$185.0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$700.1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$4,820.4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$25,422.1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10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46187</TotalTime>
  <Words>1083</Words>
  <Application>Microsoft Office PowerPoint</Application>
  <PresentationFormat>Widescreen</PresentationFormat>
  <Paragraphs>378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PowerPoint Presentation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2024-12-16T22:18:12Z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