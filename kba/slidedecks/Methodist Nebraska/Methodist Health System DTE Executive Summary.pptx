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8"/>
  </p:notesMasterIdLst>
  <p:sldIdLst>
    <p:sldId id="577" r:id="rId5"/>
    <p:sldId id="454" r:id="rId6"/>
    <p:sldId id="549" r:id="rId7"/>
    <p:sldId id="487" r:id="rId8"/>
    <p:sldId id="564" r:id="rId9"/>
    <p:sldId id="587" r:id="rId10"/>
    <p:sldId id="521" r:id="rId11"/>
    <p:sldId id="559" r:id="rId12"/>
    <p:sldId id="580" r:id="rId13"/>
    <p:sldId id="582" r:id="rId14"/>
    <p:sldId id="548" r:id="rId15"/>
    <p:sldId id="536" r:id="rId16"/>
    <p:sldId id="472" r:id="rId17"/>
  </p:sldIdLst>
  <p:sldSz cx="12192000" cy="6858000"/>
  <p:notesSz cx="7315200" cy="96012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8A5"/>
    <a:srgbClr val="30589B"/>
    <a:srgbClr val="2F5597"/>
    <a:srgbClr val="6087CE"/>
    <a:srgbClr val="F2F2F2"/>
    <a:srgbClr val="C55A11"/>
    <a:srgbClr val="F424AA"/>
    <a:srgbClr val="E23440"/>
    <a:srgbClr val="02758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609" autoAdjust="0"/>
  </p:normalViewPr>
  <p:slideViewPr>
    <p:cSldViewPr snapToGrid="0">
      <p:cViewPr varScale="1">
        <p:scale>
          <a:sx n="95" d="100"/>
          <a:sy n="95" d="100"/>
        </p:scale>
        <p:origin x="111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E929C4AD-7B8B-4E2B-8E8C-FECE91BA38D1}"/>
    <pc:docChg chg="delSld modSld">
      <pc:chgData name="Taylor Davis" userId="5c9e72a0-c39f-4aa1-9d7d-64125e78cbe6" providerId="ADAL" clId="{E929C4AD-7B8B-4E2B-8E8C-FECE91BA38D1}" dt="2024-10-29T03:50:29.572" v="70"/>
      <pc:docMkLst>
        <pc:docMk/>
      </pc:docMkLst>
      <pc:sldChg chg="del">
        <pc:chgData name="Taylor Davis" userId="5c9e72a0-c39f-4aa1-9d7d-64125e78cbe6" providerId="ADAL" clId="{E929C4AD-7B8B-4E2B-8E8C-FECE91BA38D1}" dt="2024-10-10T19:36:38.356" v="29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E929C4AD-7B8B-4E2B-8E8C-FECE91BA38D1}" dt="2024-10-10T19:36:38.356" v="29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E929C4AD-7B8B-4E2B-8E8C-FECE91BA38D1}" dt="2024-10-10T19:36:38.356" v="29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619324413" sldId="336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420959824" sldId="337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2984433661" sldId="446"/>
        </pc:sldMkLst>
      </pc:sldChg>
      <pc:sldChg chg="del">
        <pc:chgData name="Taylor Davis" userId="5c9e72a0-c39f-4aa1-9d7d-64125e78cbe6" providerId="ADAL" clId="{E929C4AD-7B8B-4E2B-8E8C-FECE91BA38D1}" dt="2024-10-10T19:36:23.690" v="26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902706633" sldId="461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3804806607" sldId="462"/>
        </pc:sldMkLst>
      </pc:sldChg>
      <pc:sldChg chg="del">
        <pc:chgData name="Taylor Davis" userId="5c9e72a0-c39f-4aa1-9d7d-64125e78cbe6" providerId="ADAL" clId="{E929C4AD-7B8B-4E2B-8E8C-FECE91BA38D1}" dt="2024-10-10T19:36:23.690" v="26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E929C4AD-7B8B-4E2B-8E8C-FECE91BA38D1}" dt="2024-10-10T19:36:38.356" v="29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E929C4AD-7B8B-4E2B-8E8C-FECE91BA38D1}" dt="2024-10-10T19:36:38.356" v="29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E929C4AD-7B8B-4E2B-8E8C-FECE91BA38D1}" dt="2024-10-10T19:36:23.690" v="26" actId="47"/>
        <pc:sldMkLst>
          <pc:docMk/>
          <pc:sldMk cId="3348736581" sldId="518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3034923006" sldId="527"/>
        </pc:sldMkLst>
      </pc:sldChg>
      <pc:sldChg chg="modSp mod">
        <pc:chgData name="Taylor Davis" userId="5c9e72a0-c39f-4aa1-9d7d-64125e78cbe6" providerId="ADAL" clId="{E929C4AD-7B8B-4E2B-8E8C-FECE91BA38D1}" dt="2024-10-29T03:50:29.572" v="70"/>
        <pc:sldMkLst>
          <pc:docMk/>
          <pc:sldMk cId="1419816550" sldId="536"/>
        </pc:sldMkLst>
        <pc:spChg chg="mod">
          <ac:chgData name="Taylor Davis" userId="5c9e72a0-c39f-4aa1-9d7d-64125e78cbe6" providerId="ADAL" clId="{E929C4AD-7B8B-4E2B-8E8C-FECE91BA38D1}" dt="2024-10-10T19:37:01.903" v="68" actId="20577"/>
          <ac:spMkLst>
            <pc:docMk/>
            <pc:sldMk cId="1419816550" sldId="536"/>
            <ac:spMk id="10" creationId="{C690F22E-C9CA-61DC-5584-149573110610}"/>
          </ac:spMkLst>
        </pc:spChg>
        <pc:spChg chg="mod">
          <ac:chgData name="Taylor Davis" userId="5c9e72a0-c39f-4aa1-9d7d-64125e78cbe6" providerId="ADAL" clId="{E929C4AD-7B8B-4E2B-8E8C-FECE91BA38D1}" dt="2024-10-29T03:50:29.572" v="70"/>
          <ac:spMkLst>
            <pc:docMk/>
            <pc:sldMk cId="1419816550" sldId="536"/>
            <ac:spMk id="11" creationId="{A897897D-C568-B204-6568-514AD4B71A5C}"/>
          </ac:spMkLst>
        </pc:spChg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94944115" sldId="546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3616502281" sldId="547"/>
        </pc:sldMkLst>
      </pc:sldChg>
      <pc:sldChg chg="del">
        <pc:chgData name="Taylor Davis" userId="5c9e72a0-c39f-4aa1-9d7d-64125e78cbe6" providerId="ADAL" clId="{E929C4AD-7B8B-4E2B-8E8C-FECE91BA38D1}" dt="2024-10-10T19:36:27.057" v="27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E929C4AD-7B8B-4E2B-8E8C-FECE91BA38D1}" dt="2024-10-10T19:36:38.356" v="29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E929C4AD-7B8B-4E2B-8E8C-FECE91BA38D1}" dt="2024-10-10T19:36:38.356" v="29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E929C4AD-7B8B-4E2B-8E8C-FECE91BA38D1}" dt="2024-10-10T19:36:38.356" v="29" actId="47"/>
        <pc:sldMkLst>
          <pc:docMk/>
          <pc:sldMk cId="3790917938" sldId="575"/>
        </pc:sldMkLst>
      </pc:sldChg>
      <pc:sldChg chg="modSp mod">
        <pc:chgData name="Taylor Davis" userId="5c9e72a0-c39f-4aa1-9d7d-64125e78cbe6" providerId="ADAL" clId="{E929C4AD-7B8B-4E2B-8E8C-FECE91BA38D1}" dt="2024-10-10T19:35:51.112" v="25" actId="20577"/>
        <pc:sldMkLst>
          <pc:docMk/>
          <pc:sldMk cId="636727059" sldId="577"/>
        </pc:sldMkLst>
        <pc:spChg chg="mod">
          <ac:chgData name="Taylor Davis" userId="5c9e72a0-c39f-4aa1-9d7d-64125e78cbe6" providerId="ADAL" clId="{E929C4AD-7B8B-4E2B-8E8C-FECE91BA38D1}" dt="2024-10-10T19:35:51.112" v="25" actId="20577"/>
          <ac:spMkLst>
            <pc:docMk/>
            <pc:sldMk cId="636727059" sldId="577"/>
            <ac:spMk id="5" creationId="{B981BBA2-A3ED-6F7B-693B-880E5B031B26}"/>
          </ac:spMkLst>
        </pc:spChg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3277395919" sldId="578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E929C4AD-7B8B-4E2B-8E8C-FECE91BA38D1}" dt="2024-10-10T19:36:33.857" v="28" actId="47"/>
        <pc:sldMkLst>
          <pc:docMk/>
          <pc:sldMk cId="2011724879" sldId="5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10/28/2024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11" Type="http://schemas.openxmlformats.org/officeDocument/2006/relationships/image" Target="../media/image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METHODIST HEALTH SYSTEM DIRECT-TO-EMPLOYER PLAN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October 10,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87552" y="1636776"/>
            <a:ext cx="11201400" cy="5221224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10232136" y="795528"/>
            <a:ext cx="1625987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700 Employees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Relationships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56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9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1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2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959" y="1292697"/>
            <a:ext cx="3677156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(DTE)</a:t>
            </a:r>
            <a:b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6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Market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763" y="1468132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59CAE8"/>
                </a:solidFill>
                <a:latin typeface="Arial Black" panose="020B0A04020102020204" pitchFamily="34" charset="0"/>
              </a:rPr>
              <a:t>WE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5489623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pic>
        <p:nvPicPr>
          <p:cNvPr id="13" name="Content Placeholder 1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646920" y="347472"/>
            <a:ext cx="1794921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33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29718EC-0FBE-02AB-65D1-5F9EA788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1A8707D-53C1-F2FE-8133-D607A372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3A94DB-FE92-CA1C-15F4-F7EC71D30241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5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Methodist Health System is Patient Recommended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9405257" y="1989573"/>
            <a:ext cx="2532185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Based on quality measures and HCAHPS feedback, KBA estimates that Methodist Health System has the strongest brand quality in Methodist Health System’s Competitive Area*.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61815" y="2258869"/>
          <a:ext cx="7651822" cy="2165238"/>
        </p:xfrm>
        <a:graphic>
          <a:graphicData uri="http://schemas.openxmlformats.org/drawingml/2006/table">
            <a:tbl>
              <a:tblPr/>
              <a:tblGrid>
                <a:gridCol w="203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8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0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1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52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Methodist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172A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B7BB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E8AB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583B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31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Other Independent Hospitals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374A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986B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8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Nebraska Medicine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69E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267A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892B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24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CommonSpirit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BD5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785B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1A6C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61C2CDE-2BC3-1AD4-F8B9-AA6C3F0A2ED2}"/>
              </a:ext>
            </a:extLst>
          </p:cNvPr>
          <p:cNvSpPr txBox="1"/>
          <p:nvPr/>
        </p:nvSpPr>
        <p:spPr>
          <a:xfrm>
            <a:off x="1811216" y="5853513"/>
            <a:ext cx="9744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KBA defines Methodist Health System’s competitive area as including Audubon, Cass, Fremont, Harrison, Mills, Montgomery, Pottawattamie, Shelby, Burt, Cuming, Dodge, Douglas, Sarpy, Saunders, and Washington Counties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3228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29718EC-0FBE-02AB-65D1-5F9EA788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1A8707D-53C1-F2FE-8133-D607A372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3A94DB-FE92-CA1C-15F4-F7EC71D30241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485" y="136525"/>
            <a:ext cx="1051560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Patients Pass Other Hospitals to Come to Methodist Health System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7013749" y="1989573"/>
            <a:ext cx="4923693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KBA models Medicare patient encounter data to identify strong health system brands where patients will travel past other hospitals or long distances to frequent a specific hospital. 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 center of the donut are zip codes within which patients have a higher probability of frequenting Methodist Hospital. These zip codes are ignored for this analysis.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Significant patient encounters outside of this center, as seen here, indicate that patients are willing to travel significant distances, passing other hospitals to go to Methodist Hospital.</a:t>
            </a:r>
          </a:p>
        </p:txBody>
      </p:sp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978408" y="1463040"/>
            <a:ext cx="5961888" cy="476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0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682" y="13652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Available to </a:t>
            </a:r>
            <a:r>
              <a:rPr lang="en-US" sz="4000" b="1" i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Premier</a:t>
            </a: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7243" y="1829480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Arial Black" panose="020B0A04020102020204" pitchFamily="34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508760" y="2834640"/>
            <a:ext cx="3154680" cy="136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69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2756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1.400</a:t>
            </a:r>
            <a:r>
              <a:rPr lang="en-US" spc="200" dirty="0">
                <a:latin typeface="+mj-lt"/>
                <a:cs typeface="+mj-cs"/>
              </a:rPr>
              <a:t>+</a:t>
            </a:r>
            <a:r>
              <a:rPr lang="en-US" sz="1800" spc="200" dirty="0">
                <a:latin typeface="+mj-lt"/>
                <a:cs typeface="+mj-cs"/>
              </a:rPr>
              <a:t> Employers       300,000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600,000+ Members</a:t>
            </a:r>
            <a:endParaRPr lang="en-US" dirty="0"/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72" y="43143"/>
            <a:ext cx="11801383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Significant Opportunity for </a:t>
            </a:r>
            <a:r>
              <a:rPr lang="en-US" sz="3600" dirty="0">
                <a:solidFill>
                  <a:srgbClr val="000B2E"/>
                </a:solidFill>
              </a:rPr>
              <a:t>Plan Growth</a:t>
            </a:r>
            <a:br>
              <a:rPr lang="en-US" sz="3600" dirty="0">
                <a:solidFill>
                  <a:srgbClr val="000B2E"/>
                </a:solidFill>
              </a:rPr>
            </a:br>
            <a:r>
              <a:rPr lang="en-US" sz="2400" dirty="0">
                <a:solidFill>
                  <a:srgbClr val="000B2E"/>
                </a:solidFill>
              </a:rPr>
              <a:t>Researched for Eastern Nebraska/Western Iowa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/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769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329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136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57,675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49,350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57,900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95,200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102,000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308,000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103,815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88,830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104,220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171,360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183,600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554,400</a:t>
                      </a: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rcRect l="31912" t="34777" r="30107" b="29481"/>
          <a:stretch/>
        </p:blipFill>
        <p:spPr>
          <a:xfrm>
            <a:off x="0" y="2390915"/>
            <a:ext cx="3887755" cy="294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Plan Potential Growth Paths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7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1359766" y="1855590"/>
            <a:ext cx="3960468" cy="3636786"/>
            <a:chOff x="1724978" y="2161521"/>
            <a:chExt cx="8274685" cy="4307840"/>
          </a:xfrm>
        </p:grpSpPr>
        <p:grpSp>
          <p:nvGrpSpPr>
            <p:cNvPr id="8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9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12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3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4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6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7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8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19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20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1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22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23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29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30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1699594" y="5848141"/>
            <a:ext cx="951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/>
              </a:rPr>
              <a:t>Estimates include Audubon, Cass, Fremont, Harrison, Mills, Montgomery, Pottawattamie, Shelby, Burt, Cuming, Dodge, Douglas, Sarpy, Saunders, and Washington Counties</a:t>
            </a:r>
          </a:p>
        </p:txBody>
      </p:sp>
      <p:sp>
        <p:nvSpPr>
          <p:cNvPr id="31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3297507" y="4821984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1,075K</a:t>
            </a:r>
          </a:p>
        </p:txBody>
      </p:sp>
      <p:sp>
        <p:nvSpPr>
          <p:cNvPr id="32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3520440" y="3896929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620K</a:t>
            </a:r>
          </a:p>
        </p:txBody>
      </p:sp>
      <p:sp>
        <p:nvSpPr>
          <p:cNvPr id="33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3739896" y="2954184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465K</a:t>
            </a:r>
          </a:p>
        </p:txBody>
      </p:sp>
      <p:sp>
        <p:nvSpPr>
          <p:cNvPr id="34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3959352" y="2022649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283K</a:t>
            </a:r>
          </a:p>
        </p:txBody>
      </p:sp>
      <p:pic>
        <p:nvPicPr>
          <p:cNvPr id="35" name="Content Placeholder 34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oyalty-Free photo: Green tall trees near on the lake with overlooking  mountain during daytime | PickPik">
            <a:extLst>
              <a:ext uri="{FF2B5EF4-FFF2-40B4-BE49-F238E27FC236}">
                <a16:creationId xmlns:a16="http://schemas.microsoft.com/office/drawing/2014/main" id="{2478D38F-2055-3BED-F325-F30BC961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28"/>
          <a:stretch/>
        </p:blipFill>
        <p:spPr bwMode="auto">
          <a:xfrm>
            <a:off x="-31771" y="1"/>
            <a:ext cx="10918845" cy="687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0515600" cy="1325563"/>
          </a:xfrm>
        </p:spPr>
        <p:txBody>
          <a:bodyPr/>
          <a:lstStyle/>
          <a:p>
            <a:r>
              <a:rPr lang="en-US" dirty="0"/>
              <a:t>Growing Powerful, Lasting Profitability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52413" y="648052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038F2-C307-DC75-4AEA-316E0211A3AE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4401177" y="1868993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6315910" y="1868991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8230644" y="1868990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572430" y="1636954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35286" y="2293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2219510" y="2293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9001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$24.79M</a:t>
            </a:r>
            <a:endParaRPr lang="en-US" sz="20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1922550" y="2539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$6.45M</a:t>
            </a:r>
            <a:endParaRPr lang="en-US" sz="2000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781431" y="3151370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277" y="380829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2210501" y="380829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19992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$182.44M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1913541" y="405402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$48.71M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729525" y="4771937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35286" y="542886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2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2219510" y="542886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9001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$380.58M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1922550" y="567458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$101.72M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25" name="Content Placeholder 24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4078224" y="1472184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1,222.8K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2,442.6K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4,654.4K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7,558.0K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904.8K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2,286.6K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4,515.2K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7,440.4K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1,711.9K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3,297.6K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6,160.3K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10,028.8K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1,398.7K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6,034.3K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9,931.6K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855.9K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1,709.8K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3,148.6K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5,087.1K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534.3K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1,546.6K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2,996.2K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4,949.1K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E4D1330-6559-4480-ECC7-66909D09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Key Benefit Administrators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AD03FEC-C905-CEF4-1EA9-88A13341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883613"/>
              </p:ext>
            </p:extLst>
          </p:nvPr>
        </p:nvGraphicFramePr>
        <p:xfrm>
          <a:off x="418056" y="764777"/>
          <a:ext cx="6972297" cy="132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Pre-DTE Cohort of 5,200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$ 2,944,793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$ 3,677,720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$ 1,717,464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$ 8,339,978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$ 777,425.5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$ 970,918.1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$ 453,410.5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$ 2,201,754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5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924731"/>
              </p:ext>
            </p:extLst>
          </p:nvPr>
        </p:nvGraphicFramePr>
        <p:xfrm>
          <a:off x="462503" y="4085951"/>
          <a:ext cx="692784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22925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30492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$ 7,495,565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$ 62,400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$ 7,500,365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accent2"/>
                          </a:solidFill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$ 7,377,965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7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280258"/>
              </p:ext>
            </p:extLst>
          </p:nvPr>
        </p:nvGraphicFramePr>
        <p:xfrm>
          <a:off x="418055" y="2234768"/>
          <a:ext cx="6972296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600" dirty="0"/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$ 11,133,674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$ 17,449,724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$ 8,148,873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$ 36,732,271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600" dirty="0"/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$ 2,939,290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$ 4,606,727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$ 2,151,302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$ 9,697,319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8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† Assuming proportional revenues from market shares of 18% (inpatient) and 12% (outpatient)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‡ Conservatively assuming a commercial margin of 26.4% (80% of the estimated commercial margin)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⁰ Assuming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67% inpatient and 58%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market steerage based on KBA narrow network DTE experience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(see extended analysis for more details)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* Conservatively assuming a commercial </a:t>
            </a:r>
            <a:r>
              <a:rPr lang="en-US" sz="14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margin of </a:t>
            </a:r>
            <a:r>
              <a:rPr lang="en-US" sz="140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26.4%, with a 10 percentage-point reduction to reflect competitive-edge rates and a 10 percentage-point increase due to lower billing costs and higher patient responsibility collections because of the member credit card.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6286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Year </a:t>
            </a:r>
            <a:r>
              <a:rPr lang="en-US" sz="3200" b="1">
                <a:latin typeface="Calibri" panose="020F0502020204030204" pitchFamily="34" charset="0"/>
                <a:cs typeface="Calibri" panose="020F0502020204030204" pitchFamily="34" charset="0"/>
              </a:rPr>
              <a:t>4 Projected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Revenue and Profit</a:t>
            </a: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46081</TotalTime>
  <Words>1119</Words>
  <Application>Microsoft Office PowerPoint</Application>
  <PresentationFormat>Widescreen</PresentationFormat>
  <Paragraphs>339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 Narrow</vt:lpstr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Market Leader in Private Labeled DTE Plans</vt:lpstr>
      <vt:lpstr>Direct-to-Employer (DTE)  Your Health Plan Focused on a Direct Relationship with Self-Funded Employers in Your Market</vt:lpstr>
      <vt:lpstr>Methodist Health System is Patient Recommended</vt:lpstr>
      <vt:lpstr>Patients Pass Other Hospitals to Come to Methodist Health System</vt:lpstr>
      <vt:lpstr>Direct-to-Employer Strategy: Only Available to Premier Health Systems</vt:lpstr>
      <vt:lpstr>Significant Opportunity for Plan Growth Researched for Eastern Nebraska/Western Iowa</vt:lpstr>
      <vt:lpstr>Plan Potential Growth Paths</vt:lpstr>
      <vt:lpstr>Growing Powerful, Lasting Profitability</vt:lpstr>
      <vt:lpstr>FOUR-YEAR PROJECTIONS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2024-10-29T03:50:31Z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