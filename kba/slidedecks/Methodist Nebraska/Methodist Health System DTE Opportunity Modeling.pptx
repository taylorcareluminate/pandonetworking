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8"/>
  </p:notesMasterIdLst>
  <p:sldIdLst>
    <p:sldId id="577" r:id="rId5"/>
    <p:sldId id="454" r:id="rId6"/>
    <p:sldId id="549" r:id="rId7"/>
    <p:sldId id="487" r:id="rId8"/>
    <p:sldId id="564" r:id="rId9"/>
    <p:sldId id="587" r:id="rId10"/>
    <p:sldId id="521" r:id="rId11"/>
    <p:sldId id="452" r:id="rId12"/>
    <p:sldId id="518" r:id="rId13"/>
    <p:sldId id="466" r:id="rId14"/>
    <p:sldId id="559" r:id="rId15"/>
    <p:sldId id="580" r:id="rId16"/>
    <p:sldId id="582" r:id="rId17"/>
    <p:sldId id="558" r:id="rId18"/>
    <p:sldId id="548" r:id="rId19"/>
    <p:sldId id="456" r:id="rId20"/>
    <p:sldId id="489" r:id="rId21"/>
    <p:sldId id="499" r:id="rId22"/>
    <p:sldId id="458" r:id="rId23"/>
    <p:sldId id="446" r:id="rId24"/>
    <p:sldId id="461" r:id="rId25"/>
    <p:sldId id="462" r:id="rId26"/>
    <p:sldId id="469" r:id="rId27"/>
    <p:sldId id="336" r:id="rId28"/>
    <p:sldId id="337" r:id="rId29"/>
    <p:sldId id="578" r:id="rId30"/>
    <p:sldId id="583" r:id="rId31"/>
    <p:sldId id="525" r:id="rId32"/>
    <p:sldId id="527" r:id="rId33"/>
    <p:sldId id="571" r:id="rId34"/>
    <p:sldId id="546" r:id="rId35"/>
    <p:sldId id="547" r:id="rId36"/>
    <p:sldId id="585" r:id="rId37"/>
    <p:sldId id="536" r:id="rId38"/>
    <p:sldId id="256" r:id="rId39"/>
    <p:sldId id="574" r:id="rId40"/>
    <p:sldId id="572" r:id="rId41"/>
    <p:sldId id="575" r:id="rId42"/>
    <p:sldId id="498" r:id="rId43"/>
    <p:sldId id="325" r:id="rId44"/>
    <p:sldId id="326" r:id="rId45"/>
    <p:sldId id="491" r:id="rId46"/>
    <p:sldId id="472" r:id="rId47"/>
  </p:sldIdLst>
  <p:sldSz cx="12192000" cy="6858000"/>
  <p:notesSz cx="7315200" cy="96012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8A5"/>
    <a:srgbClr val="30589B"/>
    <a:srgbClr val="2F5597"/>
    <a:srgbClr val="6087CE"/>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1110" y="9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ADCFFCCC-ECB4-4871-9393-DBA7B33A4FE4}"/>
    <pc:docChg chg="modSld">
      <pc:chgData name="Taylor Davis" userId="5c9e72a0-c39f-4aa1-9d7d-64125e78cbe6" providerId="ADAL" clId="{ADCFFCCC-ECB4-4871-9393-DBA7B33A4FE4}" dt="2024-10-29T03:50:47.064" v="2"/>
      <pc:docMkLst>
        <pc:docMk/>
      </pc:docMkLst>
      <pc:sldChg chg="modSp mod">
        <pc:chgData name="Taylor Davis" userId="5c9e72a0-c39f-4aa1-9d7d-64125e78cbe6" providerId="ADAL" clId="{ADCFFCCC-ECB4-4871-9393-DBA7B33A4FE4}" dt="2024-10-29T03:50:47.064" v="2"/>
        <pc:sldMkLst>
          <pc:docMk/>
          <pc:sldMk cId="1419816550" sldId="536"/>
        </pc:sldMkLst>
        <pc:spChg chg="mod">
          <ac:chgData name="Taylor Davis" userId="5c9e72a0-c39f-4aa1-9d7d-64125e78cbe6" providerId="ADAL" clId="{ADCFFCCC-ECB4-4871-9393-DBA7B33A4FE4}" dt="2024-10-29T03:50:47.064" v="2"/>
          <ac:spMkLst>
            <pc:docMk/>
            <pc:sldMk cId="1419816550" sldId="536"/>
            <ac:spMk id="11" creationId="{A897897D-C568-B204-6568-514AD4B71A5C}"/>
          </ac:spMkLst>
        </pc:spChg>
      </pc:sldChg>
      <pc:sldChg chg="modSp mod">
        <pc:chgData name="Taylor Davis" userId="5c9e72a0-c39f-4aa1-9d7d-64125e78cbe6" providerId="ADAL" clId="{ADCFFCCC-ECB4-4871-9393-DBA7B33A4FE4}" dt="2024-10-10T19:36:03.641" v="0"/>
        <pc:sldMkLst>
          <pc:docMk/>
          <pc:sldMk cId="636727059" sldId="577"/>
        </pc:sldMkLst>
        <pc:spChg chg="mod">
          <ac:chgData name="Taylor Davis" userId="5c9e72a0-c39f-4aa1-9d7d-64125e78cbe6" providerId="ADAL" clId="{ADCFFCCC-ECB4-4871-9393-DBA7B33A4FE4}" dt="2024-10-10T19:36:03.641" v="0"/>
          <ac:spMkLst>
            <pc:docMk/>
            <pc:sldMk cId="636727059" sldId="577"/>
            <ac:spMk id="5" creationId="{B981BBA2-A3ED-6F7B-693B-880E5B031B26}"/>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image" Target="../media/image2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image" Target="../media/image27.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10/28/2024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13</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10/28/2024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10/28/2024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10/28/2024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10/28/2024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10/28/2024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10/28/2024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1.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6.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jpeg"/><Relationship Id="rId4" Type="http://schemas.openxmlformats.org/officeDocument/2006/relationships/image" Target="../media/image32.png"/><Relationship Id="rId9"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4.jpeg"/><Relationship Id="rId5" Type="http://schemas.openxmlformats.org/officeDocument/2006/relationships/image" Target="../media/image43.jpeg"/><Relationship Id="rId4" Type="http://schemas.microsoft.com/office/2007/relationships/hdphoto" Target="../media/hdphoto2.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image" Target="../media/image50.svg"/><Relationship Id="rId11" Type="http://schemas.openxmlformats.org/officeDocument/2006/relationships/image" Target="../media/image6.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METHODIST HEALTH SYSTEM DIRECT-TO-EMPLOYER PLAN </a:t>
            </a:r>
          </a:p>
          <a:p>
            <a:r>
              <a:rPr lang="en-US" sz="2000" b="1">
                <a:solidFill>
                  <a:schemeClr val="bg1"/>
                </a:solidFill>
              </a:rPr>
              <a:t>October 10, 2024</a:t>
            </a:r>
            <a:endParaRPr lang="en-US" sz="2000" b="1" dirty="0">
              <a:solidFill>
                <a:schemeClr val="bg1"/>
              </a:solidFill>
            </a:endParaRP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p:cNvPicPr>
          <p:nvPr>
            <p:ph/>
          </p:nvPr>
        </p:nvPicPr>
        <p:blipFill>
          <a:blip r:embed="rId4" cstate="print"/>
          <a:stretch>
            <a:fillRect/>
          </a:stretch>
        </p:blipFill>
        <p:spPr>
          <a:xfrm>
            <a:off x="10232136" y="795528"/>
            <a:ext cx="1625987" cy="704088"/>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3" name="Content Placeholder 12"/>
          <p:cNvPicPr>
            <a:picLocks noGrp="1"/>
          </p:cNvPicPr>
          <p:nvPr>
            <p:ph/>
          </p:nvPr>
        </p:nvPicPr>
        <p:blipFill>
          <a:blip r:embed="rId3" cstate="print"/>
          <a:stretch>
            <a:fillRect/>
          </a:stretch>
        </p:blipFill>
        <p:spPr>
          <a:xfrm>
            <a:off x="9646920" y="347472"/>
            <a:ext cx="1794921" cy="777240"/>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Methodist Health System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Methodist Health System has the strongest brand quality in Methodist Health System’s Competitive Area*.</a:t>
            </a:r>
          </a:p>
        </p:txBody>
      </p:sp>
      <p:graphicFrame>
        <p:nvGraphicFramePr>
          <p:cNvPr id="7" name="Table 6"/>
          <p:cNvGraphicFramePr>
            <a:graphicFrameLocks noGrp="1"/>
          </p:cNvGraphicFramePr>
          <p:nvPr/>
        </p:nvGraphicFramePr>
        <p:xfrm>
          <a:off x="1561815" y="2258869"/>
          <a:ext cx="7651822" cy="2165238"/>
        </p:xfrm>
        <a:graphic>
          <a:graphicData uri="http://schemas.openxmlformats.org/drawingml/2006/table">
            <a:tbl>
              <a:tblPr/>
              <a:tblGrid>
                <a:gridCol w="2039220">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Readmission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Methodist Health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84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172A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B7BB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583B4">
                        <a:alpha val="100000"/>
                      </a:srgbClr>
                    </a:solidFill>
                  </a:tcPr>
                </a:tc>
                <a:extLst>
                  <a:ext uri="{0D108BD9-81ED-4DB2-BD59-A6C34878D82A}">
                    <a16:rowId xmlns:a16="http://schemas.microsoft.com/office/drawing/2014/main" val="10001"/>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2"/>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Nebraska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91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267A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3"/>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CBD5E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4"/>
                  </a:ext>
                </a:extLst>
              </a:tr>
            </a:tbl>
          </a:graphicData>
        </a:graphic>
      </p:graphicFrame>
      <p:sp>
        <p:nvSpPr>
          <p:cNvPr id="9" name="TextBox 8">
            <a:extLst>
              <a:ext uri="{FF2B5EF4-FFF2-40B4-BE49-F238E27FC236}">
                <a16:creationId xmlns:a16="http://schemas.microsoft.com/office/drawing/2014/main" id="{B61C2CDE-2BC3-1AD4-F8B9-AA6C3F0A2ED2}"/>
              </a:ext>
            </a:extLst>
          </p:cNvPr>
          <p:cNvSpPr txBox="1"/>
          <p:nvPr/>
        </p:nvSpPr>
        <p:spPr>
          <a:xfrm>
            <a:off x="1811216" y="5853513"/>
            <a:ext cx="9744388" cy="523220"/>
          </a:xfrm>
          <a:prstGeom prst="rect">
            <a:avLst/>
          </a:prstGeom>
          <a:noFill/>
        </p:spPr>
        <p:txBody>
          <a:bodyPr wrap="square">
            <a:spAutoFit/>
          </a:bodyPr>
          <a:lstStyle/>
          <a:p>
            <a:r>
              <a:rPr lang="en-US" sz="1400" dirty="0">
                <a:solidFill>
                  <a:schemeClr val="tx1"/>
                </a:solidFill>
              </a:rPr>
              <a:t>KBA defines Methodist Health System’s competitive area as including Audubon, Cass, Fremont, Harrison, Mills, Montgomery, Pottawattamie, Shelby, Burt, Cuming, Dodge, Douglas, Sarpy, Saunders, and Washington Counties</a:t>
            </a:r>
            <a:endParaRPr lang="en-US" sz="1400" dirty="0"/>
          </a:p>
        </p:txBody>
      </p:sp>
    </p:spTree>
    <p:extLst>
      <p:ext uri="{BB962C8B-B14F-4D97-AF65-F5344CB8AC3E}">
        <p14:creationId xmlns:p14="http://schemas.microsoft.com/office/powerpoint/2010/main" val="93228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Patients Pass Other Hospitals to Come to Methodist Health System</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7013749" y="1989573"/>
            <a:ext cx="4923693"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KBA models Medicare patient encounter data to identify strong health system brands where patients will travel past other hospitals or long distances to frequent a specific hospital.  </a:t>
            </a:r>
          </a:p>
          <a:p>
            <a:pPr algn="ctr"/>
            <a:endParaRPr lang="en-US" dirty="0">
              <a:solidFill>
                <a:schemeClr val="tx1"/>
              </a:solidFill>
            </a:endParaRPr>
          </a:p>
          <a:p>
            <a:pPr algn="ctr"/>
            <a:r>
              <a:rPr lang="en-US" dirty="0">
                <a:solidFill>
                  <a:schemeClr val="tx1"/>
                </a:solidFill>
              </a:rPr>
              <a:t>The center of the donut are zip codes within which patients have a higher probability of frequenting Methodist Hospital. These zip codes are ignored for this analysis. </a:t>
            </a:r>
          </a:p>
          <a:p>
            <a:pPr algn="ctr"/>
            <a:endParaRPr lang="en-US" dirty="0">
              <a:solidFill>
                <a:schemeClr val="tx1"/>
              </a:solidFill>
            </a:endParaRPr>
          </a:p>
          <a:p>
            <a:pPr algn="ctr"/>
            <a:r>
              <a:rPr lang="en-US" dirty="0">
                <a:solidFill>
                  <a:schemeClr val="tx1"/>
                </a:solidFill>
              </a:rPr>
              <a:t>Significant patient encounters outside of this center, as seen here, indicate that patients are willing to travel significant distances, passing other hospitals to go to Methodist Hospital.</a:t>
            </a:r>
          </a:p>
        </p:txBody>
      </p:sp>
      <p:pic>
        <p:nvPicPr>
          <p:cNvPr id="7" name="Content Placeholder 6"/>
          <p:cNvPicPr>
            <a:picLocks noGrp="1"/>
          </p:cNvPicPr>
          <p:nvPr>
            <p:ph/>
          </p:nvPr>
        </p:nvPicPr>
        <p:blipFill>
          <a:blip r:embed="rId2" cstate="print"/>
          <a:stretch>
            <a:fillRect/>
          </a:stretch>
        </p:blipFill>
        <p:spPr>
          <a:xfrm>
            <a:off x="978408" y="1463040"/>
            <a:ext cx="5961888" cy="4764024"/>
          </a:xfrm>
          <a:prstGeom prst="rect">
            <a:avLst/>
          </a:prstGeom>
        </p:spPr>
      </p:pic>
    </p:spTree>
    <p:extLst>
      <p:ext uri="{BB962C8B-B14F-4D97-AF65-F5344CB8AC3E}">
        <p14:creationId xmlns:p14="http://schemas.microsoft.com/office/powerpoint/2010/main" val="3890907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508760" y="2834640"/>
            <a:ext cx="3154680" cy="1366045"/>
          </a:xfrm>
          <a:prstGeom prst="rect">
            <a:avLst/>
          </a:prstGeom>
        </p:spPr>
      </p:pic>
    </p:spTree>
    <p:extLst>
      <p:ext uri="{BB962C8B-B14F-4D97-AF65-F5344CB8AC3E}">
        <p14:creationId xmlns:p14="http://schemas.microsoft.com/office/powerpoint/2010/main" val="2777369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Methodist Health System</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8</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145203"/>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Methodist Health System is the quality and access leader </a:t>
            </a:r>
            <a:r>
              <a:rPr lang="en-US" dirty="0"/>
              <a:t>in </a:t>
            </a:r>
            <a:r>
              <a:rPr lang="en-US" sz="1800" dirty="0">
                <a:solidFill>
                  <a:srgbClr val="000B2E"/>
                </a:solidFill>
              </a:rPr>
              <a:t>Eastern Nebraska/Western Iowa</a:t>
            </a:r>
            <a:r>
              <a:rPr lang="en-US" dirty="0"/>
              <a:t>. </a:t>
            </a:r>
            <a:r>
              <a:rPr lang="en-US" dirty="0">
                <a:solidFill/>
              </a:rPr>
              <a:t>KBA expects strong plan growth because Methodist Health System is the leading brand in the area.</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Methodist Health System.</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~$0.90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~$0.33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14" name="Content Placeholder 13"/>
          <p:cNvPicPr>
            <a:picLocks noGrp="1"/>
          </p:cNvPicPr>
          <p:nvPr>
            <p:ph/>
          </p:nvPr>
        </p:nvPicPr>
        <p:blipFill>
          <a:blip r:embed="rId2" cstate="print"/>
          <a:stretch>
            <a:fillRect/>
          </a:stretch>
        </p:blipFill>
        <p:spPr>
          <a:xfrm>
            <a:off x="9646920" y="347472"/>
            <a:ext cx="1794921" cy="777240"/>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10</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Methodist Health System</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1.400</a:t>
            </a:r>
            <a:r>
              <a:rPr lang="en-US" spc="200" dirty="0">
                <a:latin typeface="+mj-lt"/>
                <a:cs typeface="+mj-cs"/>
              </a:rPr>
              <a:t>+</a:t>
            </a:r>
            <a:r>
              <a:rPr lang="en-US" sz="1800" spc="200" dirty="0">
                <a:latin typeface="+mj-lt"/>
                <a:cs typeface="+mj-cs"/>
              </a:rPr>
              <a:t> Employers       300,000</a:t>
            </a:r>
            <a:r>
              <a:rPr lang="en-US" sz="1800" spc="200" dirty="0">
                <a:latin typeface="+mj-lt"/>
                <a:cs typeface="+mj-cs"/>
                <a:sym typeface="Wingdings" panose="05000000000000000000" pitchFamily="2" charset="2"/>
              </a:rPr>
              <a:t>+ Employees       600,000+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Eastern Nebraska/Western Iowa</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769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329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136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28</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57,675</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49,350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57,900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95,200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102,000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308,000</a:t>
                      </a:r>
                    </a:p>
                  </a:txBody>
                  <a:tcPr marL="6350" marR="6350" marT="635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103,815</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88,830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104,220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171,360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183,600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554,400</a:t>
                      </a:r>
                    </a:p>
                  </a:txBody>
                  <a:tcPr marL="6350" marR="6350" marT="635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31912" t="34777" r="30107" b="29481"/>
          <a:stretch/>
        </p:blipFill>
        <p:spPr>
          <a:xfrm>
            <a:off x="0" y="2390915"/>
            <a:ext cx="3887755" cy="2941422"/>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12</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Audubon, Cass, Fremont, Harrison, Mills, Montgomery, Pottawattamie, Shelby, Burt, Cuming, Dodge, Douglas, Sarpy, Saunders, and Washington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1,075K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620K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465K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283K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$24.79M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$6.45M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$182.44M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$48.71M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$380.58M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$101.72M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14</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Methodist Health System has 18% inpatient market share, and 12% outpatient market compared to hospitals/clinics in Eastern Nebraska/Western Iowa.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64253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Methodist Health System 33% commercial margin. Conservatively, we model the DTE to be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95119"/>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95119"/>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95119"/>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853972"/>
            <a:ext cx="785793" cy="369332"/>
          </a:xfrm>
          <a:prstGeom prst="rect">
            <a:avLst/>
          </a:prstGeom>
          <a:noFill/>
        </p:spPr>
        <p:txBody>
          <a:bodyPr wrap="none" rtlCol="0">
            <a:spAutoFit/>
          </a:bodyPr>
          <a:lstStyle/>
          <a:p>
            <a:r>
              <a:rPr lang="en-US" dirty="0">
                <a:solidFill/>
              </a:rPr>
              <a:t>21.4%</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865944"/>
            <a:ext cx="885179" cy="369332"/>
          </a:xfrm>
          <a:prstGeom prst="rect">
            <a:avLst/>
          </a:prstGeom>
          <a:noFill/>
        </p:spPr>
        <p:txBody>
          <a:bodyPr wrap="none" rtlCol="0">
            <a:spAutoFit/>
          </a:bodyPr>
          <a:lstStyle/>
          <a:p>
            <a:r>
              <a:rPr lang="en-US" dirty="0">
                <a:solidFill/>
              </a:rPr>
              <a:t>26.4%</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865944"/>
            <a:ext cx="832279" cy="369332"/>
          </a:xfrm>
          <a:prstGeom prst="rect">
            <a:avLst/>
          </a:prstGeom>
          <a:noFill/>
        </p:spPr>
        <p:txBody>
          <a:bodyPr wrap="none" rtlCol="0">
            <a:spAutoFit/>
          </a:bodyPr>
          <a:lstStyle/>
          <a:p>
            <a:r>
              <a:rPr lang="en-US" dirty="0">
                <a:solidFill/>
              </a:rPr>
              <a:t>31.4%</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2,442.6K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4,654.4K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7,558.0K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904.8K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2,286.6K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4,515.2K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7,440.4K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1,711.9K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6,160.3K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1,398.7K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6,034.3K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9,931.6K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1,709.8K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3,148.6K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5,087.1K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534.3K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1,546.6K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2,996.2K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4,949.1K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Methodist Health System’s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Methodist Health System’s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Methodist Health System</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38360" y="4059936"/>
            <a:ext cx="1042416" cy="451389"/>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17</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METHODIST HEALTH SYSTEM</a:t>
            </a:r>
          </a:p>
        </p:txBody>
      </p:sp>
      <p:pic>
        <p:nvPicPr>
          <p:cNvPr id="9" name="Content Placeholder 8"/>
          <p:cNvPicPr>
            <a:picLocks noGrp="1"/>
          </p:cNvPicPr>
          <p:nvPr>
            <p:ph/>
          </p:nvPr>
        </p:nvPicPr>
        <p:blipFill>
          <a:blip r:embed="rId3" cstate="print"/>
          <a:stretch>
            <a:fillRect/>
          </a:stretch>
        </p:blipFill>
        <p:spPr>
          <a:xfrm>
            <a:off x="9089136" y="5239512"/>
            <a:ext cx="2111672"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26.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Methodist Health System’s approved site(s) with network integration, and development of Methodist Health System’s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$ 4,010K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$ 15,475K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$ 4,085K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$ 2,727K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$4,234K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$ 61,901K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$45,862K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$16,342K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$12,108K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$11,898K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$32,077K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$8,468K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$123,801K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$91,724K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$32,684K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$24,125K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19</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Methodist Health System’s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Methodist Health System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Methodist Health System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Methodist Health System’s managed care processes to KBA’s patented care management programs will turbocharge results – Positioning Methodist Health System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Methodist Health System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20</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21</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Methodist Health System’s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Methodist Health System’s 340B drug pricing program</a:t>
            </a:r>
          </a:p>
          <a:p>
            <a:pPr marL="285753" indent="-285753">
              <a:spcBef>
                <a:spcPts val="600"/>
              </a:spcBef>
              <a:buFont typeface="Wingdings" panose="05000000000000000000" pitchFamily="2" charset="2"/>
              <a:buChar char="§"/>
            </a:pPr>
            <a:r>
              <a:rPr lang="en-US" sz="2000" dirty="0">
                <a:solidFill>
                  <a:schemeClr val="bg1"/>
                </a:solidFill>
              </a:rPr>
              <a:t>Allows Methodist Health System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22</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23</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9412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52588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Methodist Health System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525884"/>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25</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26</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3600" b="1" dirty="0">
                <a:solidFill/>
                <a:latin typeface="+mn-lt"/>
                <a:cs typeface="Arial" panose="020B0604020202020204" pitchFamily="34" charset="0"/>
              </a:rPr>
              <a:t>Estimation of Methodist Health System</a:t>
            </a:r>
            <a:r>
              <a:rPr lang="en-US" sz="3600" b="1" dirty="0">
                <a:latin typeface="+mn-lt"/>
                <a:cs typeface="Arial" panose="020B0604020202020204" pitchFamily="34" charset="0"/>
              </a:rPr>
              <a:t>’s 2022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653538269"/>
              </p:ext>
            </p:extLst>
          </p:nvPr>
        </p:nvGraphicFramePr>
        <p:xfrm>
          <a:off x="243838" y="1690689"/>
          <a:ext cx="5516882" cy="277368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Methodist Health System</a:t>
                      </a:r>
                    </a:p>
                  </a:txBody>
                  <a:tcPr>
                    <a:solidFill>
                      <a:schemeClr val="accent3">
                        <a:lumMod val="20000"/>
                        <a:lumOff val="80000"/>
                      </a:schemeClr>
                    </a:solidFill>
                  </a:tcPr>
                </a:tc>
                <a:tc>
                  <a:txBody>
                    <a:bodyPr/>
                    <a:lstStyle/>
                    <a:p>
                      <a:pPr algn="ctr"/>
                      <a:r>
                        <a:rPr lang="en-US" sz="1400" dirty="0">
                          <a:solidFill>
                            <a:schemeClr val="accent1">
                              <a:lumMod val="75000"/>
                            </a:schemeClr>
                          </a:solidFill>
                        </a:rPr>
                        <a:t>132,828</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$962,742K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37,409</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$167,598K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28%</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12,657</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$72,636K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10%</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5,375</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-$44,114K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77,387</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$722,631K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58%</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normAutofit fontScale="92500"/>
          </a:bodyPr>
          <a:lstStyle/>
          <a:p>
            <a:pPr marL="0" indent="0">
              <a:buNone/>
            </a:pPr>
            <a:r>
              <a:rPr lang="en-US" dirty="0">
                <a:solidFill/>
                <a:latin typeface="Arial" panose="020B0604020202020204" pitchFamily="34" charset="0"/>
                <a:cs typeface="Arial" panose="020B0604020202020204" pitchFamily="34" charset="0"/>
              </a:rPr>
              <a:t>The RAND data for Methodist Health System estimates commercial insurance reimbursements at 279%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6941300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722,631K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279%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670,954K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1,393,585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938,444</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$455,141K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39838490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279%</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258,737K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240,234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498,971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938,444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-439,473</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-88%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66%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1705235564"/>
              </p:ext>
            </p:extLst>
          </p:nvPr>
        </p:nvGraphicFramePr>
        <p:xfrm>
          <a:off x="914400" y="914400"/>
          <a:ext cx="9829800" cy="461987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991301">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56521">
                <a:tc>
                  <a:txBody>
                    <a:bodyPr/>
                    <a:lstStyle/>
                    <a:p>
                      <a:pPr marL="63500" marR="63500" algn="l">
                        <a:lnSpc>
                          <a:spcPct val="100000"/>
                        </a:lnSpc>
                        <a:spcBef>
                          <a:spcPts val="0"/>
                        </a:spcBef>
                        <a:spcAft>
                          <a:spcPts val="0"/>
                        </a:spcAft>
                        <a:buNone/>
                      </a:pPr>
                      <a:r>
                        <a:rPr sz="1100" b="0" i="0" u="none" cap="none" dirty="0">
                          <a:solidFill>
                            <a:srgbClr val="4468A5"/>
                          </a:solidFill>
                          <a:latin typeface="Arial"/>
                          <a:cs typeface="Arial"/>
                          <a:sym typeface="Arial"/>
                        </a:rPr>
                        <a:t>Methodist Jennie Edmundson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dirty="0">
                          <a:solidFill>
                            <a:srgbClr val="4468A5"/>
                          </a:solidFill>
                          <a:latin typeface="Arial"/>
                          <a:cs typeface="Arial"/>
                          <a:sym typeface="Arial"/>
                        </a:rPr>
                        <a:t>127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4468A5"/>
                          </a:solidFill>
                          <a:latin typeface="Arial"/>
                          <a:cs typeface="Arial"/>
                          <a:sym typeface="Arial"/>
                        </a:rPr>
                        <a:t>$  162,222.6K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4468A5"/>
                          </a:solidFill>
                          <a:latin typeface="Arial"/>
                          <a:cs typeface="Arial"/>
                          <a:sym typeface="Arial"/>
                        </a:rPr>
                        <a:t>$  254,769.0K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4468A5"/>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4468A5"/>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56521">
                <a:tc>
                  <a:txBody>
                    <a:bodyPr/>
                    <a:lstStyle/>
                    <a:p>
                      <a:pPr marL="63500" marR="63500" algn="l">
                        <a:lnSpc>
                          <a:spcPct val="100000"/>
                        </a:lnSpc>
                        <a:spcBef>
                          <a:spcPts val="0"/>
                        </a:spcBef>
                        <a:spcAft>
                          <a:spcPts val="0"/>
                        </a:spcAft>
                        <a:buNone/>
                      </a:pPr>
                      <a:r>
                        <a:rPr sz="1100" b="0" i="0" u="none" cap="none">
                          <a:solidFill>
                            <a:srgbClr val="4468A5"/>
                          </a:solidFill>
                          <a:latin typeface="Arial"/>
                          <a:cs typeface="Arial"/>
                          <a:sym typeface="Arial"/>
                        </a:rPr>
                        <a:t>Methodist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dirty="0">
                          <a:solidFill>
                            <a:srgbClr val="4468A5"/>
                          </a:solidFill>
                          <a:latin typeface="Arial"/>
                          <a:cs typeface="Arial"/>
                          <a:sym typeface="Arial"/>
                        </a:rPr>
                        <a:t>363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4468A5"/>
                          </a:solidFill>
                          <a:latin typeface="Arial"/>
                          <a:cs typeface="Arial"/>
                          <a:sym typeface="Arial"/>
                        </a:rPr>
                        <a:t>$  893,610.4K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4468A5"/>
                          </a:solidFill>
                          <a:latin typeface="Arial"/>
                          <a:cs typeface="Arial"/>
                          <a:sym typeface="Arial"/>
                        </a:rPr>
                        <a:t>$  926,194.5K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dirty="0">
                          <a:solidFill>
                            <a:srgbClr val="4468A5"/>
                          </a:solidFill>
                          <a:latin typeface="Arial"/>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dirty="0">
                          <a:solidFill>
                            <a:srgbClr val="4468A5"/>
                          </a:solidFill>
                          <a:latin typeface="Arial"/>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56521">
                <a:tc>
                  <a:txBody>
                    <a:bodyPr/>
                    <a:lstStyle/>
                    <a:p>
                      <a:pPr marL="63500" marR="63500" algn="l">
                        <a:lnSpc>
                          <a:spcPct val="100000"/>
                        </a:lnSpc>
                        <a:spcBef>
                          <a:spcPts val="0"/>
                        </a:spcBef>
                        <a:spcAft>
                          <a:spcPts val="0"/>
                        </a:spcAft>
                        <a:buNone/>
                      </a:pPr>
                      <a:r>
                        <a:rPr sz="1100" b="0" i="0" u="none" cap="none">
                          <a:solidFill>
                            <a:srgbClr val="4468A5"/>
                          </a:solidFill>
                          <a:latin typeface="Arial"/>
                          <a:cs typeface="Arial"/>
                          <a:sym typeface="Arial"/>
                        </a:rPr>
                        <a:t>Methodist Fremont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4468A5"/>
                          </a:solidFill>
                          <a:latin typeface="Arial"/>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dirty="0">
                          <a:solidFill>
                            <a:srgbClr val="4468A5"/>
                          </a:solidFill>
                          <a:latin typeface="Arial"/>
                          <a:cs typeface="Arial"/>
                          <a:sym typeface="Arial"/>
                        </a:rPr>
                        <a:t>$  134,398.3K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4468A5"/>
                          </a:solidFill>
                          <a:latin typeface="Arial"/>
                          <a:cs typeface="Arial"/>
                          <a:sym typeface="Arial"/>
                        </a:rPr>
                        <a:t>$  268,226.1K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dirty="0">
                          <a:solidFill>
                            <a:srgbClr val="4468A5"/>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dirty="0">
                          <a:solidFill>
                            <a:srgbClr val="4468A5"/>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36915">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CHI Health Mercy Council Bluffs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141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  193,215.2K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  283,188.5K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36915">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CHI Health Missouri Valley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    5,737.9K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48,741.0K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George C Grape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3,051.6K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15,307.1K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Audubon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1,119.4K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17,361.3K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Montgomery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    7,377.6K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   75,335.2K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Myrtue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9,813.8K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75,018.4K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Cass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13,820.5K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  101,134.5K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Harrison County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    5,341.8K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39,149.5K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Nebraska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592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$2,470,139.2K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$2,043,716.7K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50434">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CHI Health Creighton University Medical Center - Bergan Mercy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389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$1,094,863.5K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$1,000,256.6K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CHI Health Immanuel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177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374,459.7K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376,728.6K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CHI Health Midlands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27,191.8K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145,416.2K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OrthoNebraska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21,849.8K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dirty="0">
                          <a:solidFill>
                            <a:srgbClr val="000000">
                              <a:alpha val="100000"/>
                            </a:srgbClr>
                          </a:solidFill>
                          <a:latin typeface="Arial"/>
                          <a:cs typeface="Arial"/>
                          <a:sym typeface="Arial"/>
                        </a:rPr>
                        <a:t>$  247,974.5K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CHI Health Lakeside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109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291,930.1K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464,800.0K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Midwest Surgical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53,215.1K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169,956.8K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Bellevue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69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178,589.4K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265,467.2K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Nebraska Spine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180,418.1K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28,517.5K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Saunders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8,138.8K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38,255.7K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Franciscan Healthcare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11,659.3K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70,881.4K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Memorial Community Hospital &amp; Health System</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8,127.6K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65,948.0K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Boys Town National Research Hospital - West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34,377.6K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302,846.0K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36915">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Childrens Nebraska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186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535,152.8K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800" b="0" i="0" u="none" cap="none">
                          <a:solidFill>
                            <a:srgbClr val="000000">
                              <a:alpha val="100000"/>
                            </a:srgbClr>
                          </a:solidFill>
                          <a:latin typeface="Arial"/>
                          <a:cs typeface="Arial"/>
                          <a:sym typeface="Arial"/>
                        </a:rPr>
                        <a:t>$  535,682.5K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Arial"/>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800" b="0" i="0" u="none" cap="none" dirty="0">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4061479504"/>
              </p:ext>
            </p:extLst>
          </p:nvPr>
        </p:nvGraphicFramePr>
        <p:xfrm>
          <a:off x="0" y="1"/>
          <a:ext cx="12192000" cy="6857999"/>
        </p:xfrm>
        <a:graphic>
          <a:graphicData uri="http://schemas.openxmlformats.org/drawingml/2006/table">
            <a:tbl>
              <a:tblPr/>
              <a:tblGrid>
                <a:gridCol w="4134633">
                  <a:extLst>
                    <a:ext uri="{9D8B030D-6E8A-4147-A177-3AD203B41FA5}">
                      <a16:colId xmlns:a16="http://schemas.microsoft.com/office/drawing/2014/main" val="20000"/>
                    </a:ext>
                  </a:extLst>
                </a:gridCol>
                <a:gridCol w="1913990">
                  <a:extLst>
                    <a:ext uri="{9D8B030D-6E8A-4147-A177-3AD203B41FA5}">
                      <a16:colId xmlns:a16="http://schemas.microsoft.com/office/drawing/2014/main" val="20001"/>
                    </a:ext>
                  </a:extLst>
                </a:gridCol>
                <a:gridCol w="2522769">
                  <a:extLst>
                    <a:ext uri="{9D8B030D-6E8A-4147-A177-3AD203B41FA5}">
                      <a16:colId xmlns:a16="http://schemas.microsoft.com/office/drawing/2014/main" val="20002"/>
                    </a:ext>
                  </a:extLst>
                </a:gridCol>
                <a:gridCol w="3620608">
                  <a:extLst>
                    <a:ext uri="{9D8B030D-6E8A-4147-A177-3AD203B41FA5}">
                      <a16:colId xmlns:a16="http://schemas.microsoft.com/office/drawing/2014/main" val="20003"/>
                    </a:ext>
                  </a:extLst>
                </a:gridCol>
              </a:tblGrid>
              <a:tr h="336690">
                <a:tc gridSpan="4">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36690">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Methodist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Methodist Fremont Health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Methodist Jennie Edmundson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182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$334,210K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$48,383K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$53,371K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1867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$346,397K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$96,561K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$83,819K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182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$119,265K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$19,690K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$28,642K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1993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$20,542K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182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$520,360K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$114,165K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$88,106K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1862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$26,984K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$5,583K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1862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$330,821K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$42,432K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$53,539K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1867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$342,884K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$84,685K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$84,083K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1993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$673,705K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$127,117K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$137,622K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1826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$17,827K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1857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1857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1993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1857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1988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1988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56495">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56495">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56495">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312202">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54001018"/>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solidFill/>
                          <a:effectLst/>
                        </a:rPr>
                        <a:t>Adjusted to Omaha NE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$ 3,197</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$ 5,813</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$ 2,714</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32</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33</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Methodist Health System has 18% inpatient market share, and 12% outpatient market compared to hospitals/clinics in the Eastern Nebraska/Western Iowa.</a:t>
            </a:r>
          </a:p>
          <a:p>
            <a:endParaRPr lang="en-US" sz="1400" dirty="0">
              <a:solidFill/>
            </a:endParaRPr>
          </a:p>
          <a:p>
            <a:r>
              <a:rPr lang="en-US" sz="1400" dirty="0">
                <a:solidFill/>
              </a:rPr>
              <a:t>Based on previous DTE experience, KBA expects a significant bump in patient steerage to Methodist Health System.</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2682848485"/>
              </p:ext>
            </p:extLst>
          </p:nvPr>
        </p:nvGraphicFramePr>
        <p:xfrm>
          <a:off x="1316736" y="384048"/>
          <a:ext cx="6858000" cy="567876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8763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Methodist Health System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Methodist Health System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20032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34</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5,200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$ 2,944,793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$ 3,677,720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$ 1,717,464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$ 8,339,978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$ 777,425.5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$ 970,918.1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$ 453,410.5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$ 2,201,754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095924731"/>
              </p:ext>
            </p:extLst>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$ 7,495,565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$ 62,400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$ 7,500,365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$ 7,377,965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$ 11,133,674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$ 17,449,724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$ 8,148,873</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$ 36,732,271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$ 2,939,290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$ 4,606,727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$ 2,151,302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$ 9,697,319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18% (inpatient) and 12%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26.4%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a:t>
            </a:r>
            <a:r>
              <a:rPr lang="en-US" sz="1400" dirty="0">
                <a:solidFill/>
                <a:latin typeface="Arial" panose="020B0604020202020204" pitchFamily="34" charset="0"/>
                <a:cs typeface="Arial" panose="020B0604020202020204" pitchFamily="34" charset="0"/>
              </a:rPr>
              <a:t>margin of </a:t>
            </a:r>
            <a:r>
              <a:rPr lang="en-US" sz="1400">
                <a:solidFill/>
                <a:latin typeface="Arial" panose="020B0604020202020204" pitchFamily="34" charset="0"/>
                <a:cs typeface="Arial" panose="020B0604020202020204" pitchFamily="34" charset="0"/>
              </a:rPr>
              <a:t>26.4%, 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56632038"/>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758243">
                <a:tc gridSpan="5">
                  <a:txBody>
                    <a:bodyPr/>
                    <a:lstStyle/>
                    <a:p>
                      <a:pPr marL="63500" marR="635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11569">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99664">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966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$801.9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$1,603.8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$8,019.2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$40,096.0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9966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$10,585.4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9966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$6,190.1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$154,751.6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9577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$2,293.1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$4,586.2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$22,931.1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$114,655.5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9577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966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$1,634.2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$8,170.9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$40,854.4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9966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$605.4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$1,210.8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$6,053.8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$30,269.1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9966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9966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99664">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9664">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$892.8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$5,783.8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$30,239.1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53412529"/>
              </p:ext>
            </p:extLst>
          </p:nvPr>
        </p:nvGraphicFramePr>
        <p:xfrm>
          <a:off x="0" y="1"/>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9">
                <a:tc gridSpan="5">
                  <a:txBody>
                    <a:bodyPr/>
                    <a:lstStyle/>
                    <a:p>
                      <a:pPr marL="63500" marR="635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Target Estimate Assuming 50%+ Within-Plan Steerage and a Commercial Margin of 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$14,157.7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$747.5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$1,918.9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$47,973.1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$6,763.1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$33,815.4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$1,785.5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$8,927.3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$3,536.3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$17,681.3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$4,667.9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$72,787.4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$768.6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$3,843.2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$19,215.9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$11,021.2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$55,106.1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$581.9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$2,909.6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$14,548.0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$165.1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$1,651.4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$8,257.0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$2,179.9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$1,359.6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$6,798.2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$33,991.1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$25,734.1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$135.9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$1,358.8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$6,793.8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$281.4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$892.8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$5,783.8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$30,239.1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90640610"/>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High Estimate Assuming 60%+ Within-Plan Steerage and a Commercial Margin of 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High Estimate Assuming 60%+ Within-Plan Steerage and a Commercial Margin of 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High Estimate Assuming 60%+ Within-Plan Steerage and a Commercial Margin of 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High Estimate Assuming 60%+ Within-Plan Steerage and a Commercial Margin of 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High Estimate Assuming 60%+ Within-Plan Steerage and a Commercial Margin of 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$801.9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$1,603.8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$8,019.2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$40,096.0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$10,585.4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$3,680.2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$7,360.3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$36,801.7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$184,008.3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$5,756.5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$28,782.5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$143,912.3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$2,311.1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$11,555.7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$57,778.6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$1,887.7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$9,438.7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$47,193.3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$619.9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$1,569.7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$9,168.7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$47,163.3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57777234"/>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Low Estimate Assuming 40%+ Within-Plan Steerage and a Commercial Margin of 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Low Estimate Assuming 40%+ Within-Plan Steerage and a Commercial Margin of 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Low Estimate Assuming 40%+ Within-Plan Steerage and a Commercial Margin of 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Low Estimate Assuming 40%+ Within-Plan Steerage and a Commercial Margin of 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400" b="1" i="0" u="none" cap="none">
                          <a:solidFill>
                            <a:srgbClr val="FFFFFF">
                              <a:alpha val="100000"/>
                            </a:srgbClr>
                          </a:solidFill>
                          <a:latin typeface="Arial"/>
                          <a:cs typeface="Arial"/>
                          <a:sym typeface="Arial"/>
                        </a:rPr>
                        <a:t>Low Estimate Assuming 40%+ Within-Plan Steerage and a Commercial Margin of 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$801.9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$1,603.8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$8,019.2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$40,096.0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$10,585.4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$25,058.8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$125,294.1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$3,407.9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$17,039.6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$85,198.0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$536.3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$5,362.6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$26,812.9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$3,245.5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$16,227.6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$0.6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$331.1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$2,975.5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$16,197.6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39</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Methodist Health System’s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Methodist Health System</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Methodist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Methodist Health System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Methodist Health System</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Methodist Health System’s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43</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46079</TotalTime>
  <Words>5682</Words>
  <Application>Microsoft Office PowerPoint</Application>
  <PresentationFormat>Widescreen</PresentationFormat>
  <Paragraphs>1590</Paragraphs>
  <Slides>43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Methodist Health System is Patient Recommended</vt:lpstr>
      <vt:lpstr>Patients Pass Other Hospitals to Come to Methodist Health System</vt:lpstr>
      <vt:lpstr>Direct-to-Employer Strategy: Only Available to Premier Health Systems</vt:lpstr>
      <vt:lpstr>DTE Keys to Success for Methodist Health System</vt:lpstr>
      <vt:lpstr>Every $1 of Care</vt:lpstr>
      <vt:lpstr>Direct-to-Employer Strategy: Powerful Employer Value</vt:lpstr>
      <vt:lpstr>Significant Opportunity for Plan Growth Researched for Eastern Nebraska/Western Iowa</vt:lpstr>
      <vt:lpstr>Plan Potential Growth Paths</vt:lpstr>
      <vt:lpstr>Growing Powerful, Lasting Profitability</vt:lpstr>
      <vt:lpstr>Estimated Financial Returns and Assumptions</vt:lpstr>
      <vt:lpstr>FOUR-YEAR PROJECTIONS</vt:lpstr>
      <vt:lpstr>PowerPoint Presentation</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Methodist Health System’s 2022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2024-10-29T03:50:49Z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