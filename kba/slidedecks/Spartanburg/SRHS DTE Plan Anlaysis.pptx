
<file path=[Content_Types].xml><?xml version="1.0" encoding="utf-8"?>
<Types xmlns="http://schemas.openxmlformats.org/package/2006/content-types">
  <Default Extension="emf" ContentType="image/x-emf"/>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6.xml" ContentType="application/vnd.openxmlformats-officedocument.presentationml.tags+xml"/>
  <Override PartName="/ppt/comments/modernComment_7FE53189_F808901F.xml" ContentType="application/vnd.ms-powerpoint.comments+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E53192_3C36F9F4.xml" ContentType="application/vnd.ms-powerpoint.comments+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4"/>
  </p:notesMasterIdLst>
  <p:sldIdLst>
    <p:sldId id="588" r:id="rId10"/>
    <p:sldId id="454" r:id="rId11"/>
    <p:sldId id="549" r:id="rId12"/>
    <p:sldId id="2145726869" r:id="rId13"/>
    <p:sldId id="452" r:id="rId14"/>
    <p:sldId id="466" r:id="rId15"/>
    <p:sldId id="2145726867" r:id="rId16"/>
    <p:sldId id="559" r:id="rId17"/>
    <p:sldId id="580" r:id="rId18"/>
    <p:sldId id="582" r:id="rId19"/>
    <p:sldId id="558" r:id="rId20"/>
    <p:sldId id="548" r:id="rId21"/>
    <p:sldId id="521" r:id="rId22"/>
    <p:sldId id="564" r:id="rId23"/>
    <p:sldId id="456" r:id="rId24"/>
    <p:sldId id="489" r:id="rId25"/>
    <p:sldId id="499" r:id="rId26"/>
    <p:sldId id="613" r:id="rId27"/>
    <p:sldId id="458" r:id="rId28"/>
    <p:sldId id="2145726859" r:id="rId29"/>
    <p:sldId id="2145726857" r:id="rId30"/>
    <p:sldId id="469" r:id="rId31"/>
    <p:sldId id="2145726856" r:id="rId32"/>
    <p:sldId id="614" r:id="rId33"/>
    <p:sldId id="281" r:id="rId34"/>
    <p:sldId id="283" r:id="rId35"/>
    <p:sldId id="285" r:id="rId36"/>
    <p:sldId id="2145726866" r:id="rId37"/>
    <p:sldId id="583" r:id="rId38"/>
    <p:sldId id="525" r:id="rId39"/>
    <p:sldId id="2145726868" r:id="rId40"/>
    <p:sldId id="571" r:id="rId41"/>
    <p:sldId id="2145726864" r:id="rId42"/>
    <p:sldId id="585" r:id="rId43"/>
    <p:sldId id="536" r:id="rId44"/>
    <p:sldId id="256" r:id="rId45"/>
    <p:sldId id="574" r:id="rId46"/>
    <p:sldId id="572" r:id="rId47"/>
    <p:sldId id="575" r:id="rId48"/>
    <p:sldId id="498" r:id="rId49"/>
    <p:sldId id="325" r:id="rId50"/>
    <p:sldId id="326" r:id="rId51"/>
    <p:sldId id="491" r:id="rId52"/>
    <p:sldId id="472" r:id="rId53"/>
  </p:sldIdLst>
  <p:sldSz cx="12192000" cy="6858000"/>
  <p:notesSz cx="7315200" cy="9601200"/>
  <p:custDataLst>
    <p:tags r:id="rId5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B10DCC-BEBF-4FE3-ADD1-AF90ECEEE850}" v="1" dt="2025-01-17T21:47:59.128"/>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p:scale>
          <a:sx n="66" d="100"/>
          <a:sy n="66" d="100"/>
        </p:scale>
        <p:origin x="1536" y="780"/>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tags" Target="tags/tag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viewProps" Target="viewProps.xml"/><Relationship Id="rId5" Type="http://schemas.openxmlformats.org/officeDocument/2006/relationships/slideMaster" Target="slideMasters/slideMaster2.xml"/><Relationship Id="rId61" Type="http://schemas.microsoft.com/office/2015/10/relationships/revisionInfo" Target="revisionInfo.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commentAuthors" Target="commentAuthor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theme" Target="theme/theme1.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notesMaster" Target="notesMasters/notesMaster1.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presProps" Target="presProp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2.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51.svg"/><Relationship Id="rId9" Type="http://schemas.openxmlformats.org/officeDocument/2006/relationships/image" Target="../media/image56.png"/></Relationships>
</file>

<file path=ppt/diagrams/_rels/drawing2.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51.svg"/><Relationship Id="rId9" Type="http://schemas.openxmlformats.org/officeDocument/2006/relationships/image" Target="../media/image56.pn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1/17/2025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1 of updates provided by Jan, but update design to match the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2 of updated ppt provided by Jan, but update to match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72758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Make necessary changes to match slide 4 of updated ppt provided by Jan</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50662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1/17/2025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1/17/2025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1/17/2025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1/17/2025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1/17/2025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1/17/2025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1/17/2025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1/17/2025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1/17/2025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1/17/2025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1/17/2025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1/17/2025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1/17/2025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1/17/2025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1/17/2025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1/17/2025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1/17/2025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1/17/2025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1/17/2025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1/17/2025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1/17/2025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1/17/2025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1/17/2025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1/17/2025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1/17/2025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1/17/2025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1/17/2025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1/17/2025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1/17/2025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1/17/2025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1/17/2025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1/17/2025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1/17/2025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1/17/2025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1/17/2025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1/17/2025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1/17/2025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1/17/2025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1/17/2025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1/17/2025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1/17/2025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1/17/2025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1/17/2025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1/17/2025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1/17/2025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1/17/2025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1/17/2025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1/17/2025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1/17/2025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1/17/2025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1/17/2025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1/17/2025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1/17/2025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1/17/2025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1/17/2025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1/17/2025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1/17/2025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ags" Target="../tags/tag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6" Type="http://schemas.openxmlformats.org/officeDocument/2006/relationships/tags" Target="../tags/tag5.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theme" Target="../theme/theme6.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1/17/2025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1/17/2025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1/17/2025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1/17/2025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svg"/><Relationship Id="rId18" Type="http://schemas.openxmlformats.org/officeDocument/2006/relationships/image" Target="../media/image32.png"/><Relationship Id="rId3" Type="http://schemas.openxmlformats.org/officeDocument/2006/relationships/image" Target="../media/image17.png"/><Relationship Id="rId21" Type="http://schemas.openxmlformats.org/officeDocument/2006/relationships/image" Target="../media/image35.svg"/><Relationship Id="rId7" Type="http://schemas.openxmlformats.org/officeDocument/2006/relationships/image" Target="../media/image21.svg"/><Relationship Id="rId12" Type="http://schemas.openxmlformats.org/officeDocument/2006/relationships/image" Target="../media/image26.svg"/><Relationship Id="rId17" Type="http://schemas.openxmlformats.org/officeDocument/2006/relationships/image" Target="../media/image31.svg"/><Relationship Id="rId2" Type="http://schemas.openxmlformats.org/officeDocument/2006/relationships/notesSlide" Target="../notesSlides/notesSlide2.xml"/><Relationship Id="rId16" Type="http://schemas.openxmlformats.org/officeDocument/2006/relationships/image" Target="../media/image30.png"/><Relationship Id="rId20"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svg"/><Relationship Id="rId19" Type="http://schemas.openxmlformats.org/officeDocument/2006/relationships/image" Target="../media/image33.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4.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slideLayout" Target="../slideLayouts/slideLayout14.xml"/><Relationship Id="rId1" Type="http://schemas.openxmlformats.org/officeDocument/2006/relationships/tags" Target="../tags/tag6.xml"/><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43.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6.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8/10/relationships/comments" Target="../comments/modernComment_7FE53189_F808901F.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image" Target="../media/image58.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6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60.png"/></Relationships>
</file>

<file path=ppt/slides/_rels/slide2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7.xml"/><Relationship Id="rId1" Type="http://schemas.openxmlformats.org/officeDocument/2006/relationships/slideLayout" Target="../slideLayouts/slideLayout28.xml"/><Relationship Id="rId6" Type="http://schemas.openxmlformats.org/officeDocument/2006/relationships/image" Target="../media/image64.emf"/><Relationship Id="rId5" Type="http://schemas.openxmlformats.org/officeDocument/2006/relationships/image" Target="../media/image63.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image" Target="../media/image65.jpeg"/></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68.png"/></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jpeg"/><Relationship Id="rId1" Type="http://schemas.openxmlformats.org/officeDocument/2006/relationships/slideLayout" Target="../slideLayouts/slideLayout2.xml"/><Relationship Id="rId6" Type="http://schemas.openxmlformats.org/officeDocument/2006/relationships/image" Target="../media/image72.jpeg"/><Relationship Id="rId5" Type="http://schemas.openxmlformats.org/officeDocument/2006/relationships/image" Target="../media/image71.jpeg"/><Relationship Id="rId4" Type="http://schemas.microsoft.com/office/2007/relationships/hdphoto" Target="../media/hdphoto1.wdp"/></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4.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jpeg"/><Relationship Id="rId1" Type="http://schemas.openxmlformats.org/officeDocument/2006/relationships/slideLayout" Target="../slideLayouts/slideLayout6.xml"/><Relationship Id="rId6" Type="http://schemas.openxmlformats.org/officeDocument/2006/relationships/image" Target="../media/image78.svg"/><Relationship Id="rId11" Type="http://schemas.openxmlformats.org/officeDocument/2006/relationships/image" Target="../media/image10.png"/><Relationship Id="rId5" Type="http://schemas.openxmlformats.org/officeDocument/2006/relationships/image" Target="../media/image77.png"/><Relationship Id="rId10" Type="http://schemas.openxmlformats.org/officeDocument/2006/relationships/image" Target="../media/image82.svg"/><Relationship Id="rId4" Type="http://schemas.openxmlformats.org/officeDocument/2006/relationships/image" Target="../media/image76.svg"/><Relationship Id="rId9"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SRHS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592372" y="3693371"/>
            <a:ext cx="2053120"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Northwest Health Plan</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cstate="print"/>
          <a:stretch>
            <a:fillRect/>
          </a:stretch>
        </p:blipFill>
        <p:spPr>
          <a:xfrm>
            <a:off x="8773990" y="136525"/>
            <a:ext cx="2320795" cy="1364596"/>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cstate="screen">
            <a:alphaModFix amt="35000"/>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b="0" dirty="0">
                <a:solidFill>
                  <a:schemeClr val="tx1">
                    <a:lumMod val="75000"/>
                    <a:lumOff val="25000"/>
                  </a:schemeClr>
                </a:solidFill>
              </a:rPr>
              <a:t>DTE KEYS TO SUCCESS FOR SRHS</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5</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latin typeface="Montserrat" panose="00000500000000000000" pitchFamily="2" charset="0"/>
            </a:endParaRPr>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1979003"/>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DTE Plan Sells</a:t>
            </a:r>
          </a:p>
          <a:p>
            <a:pPr algn="ctr" defTabSz="914411">
              <a:lnSpc>
                <a:spcPct val="90000"/>
              </a:lnSpc>
              <a:spcAft>
                <a:spcPts val="1200"/>
              </a:spcAft>
              <a:buClr>
                <a:schemeClr val="tx1"/>
              </a:buClr>
            </a:pPr>
            <a:r>
              <a:rPr lang="en-US" sz="1600" dirty="0">
                <a:latin typeface="Montserrat" panose="00000500000000000000" pitchFamily="2" charset="0"/>
              </a:rPr>
              <a:t>DTE plans only work when the network is built around a strong brand with good access and competitive costs. </a:t>
            </a:r>
          </a:p>
          <a:p>
            <a:pPr algn="ctr" defTabSz="914411">
              <a:lnSpc>
                <a:spcPct val="90000"/>
              </a:lnSpc>
              <a:spcAft>
                <a:spcPts val="1200"/>
              </a:spcAft>
              <a:buClr>
                <a:schemeClr val="tx1"/>
              </a:buClr>
            </a:pPr>
            <a:r>
              <a:rPr lang="en-US" sz="1600" dirty="0">
                <a:solidFill/>
                <a:latin typeface="Montserrat" panose="00000500000000000000" pitchFamily="2" charset="0"/>
              </a:rPr>
              <a:t>Spartanburg Regional Healthcare System is the quality and access leader in this service area (see slide 8). Market size and brand quality are likelty to negatively impact plan growth</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979003"/>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Estimates for Margin and Steerage Hold</a:t>
            </a:r>
          </a:p>
          <a:p>
            <a:pPr algn="ctr" defTabSz="914411">
              <a:lnSpc>
                <a:spcPct val="90000"/>
              </a:lnSpc>
              <a:spcAft>
                <a:spcPts val="1200"/>
              </a:spcAft>
              <a:buClr>
                <a:schemeClr val="tx1"/>
              </a:buClr>
            </a:pPr>
            <a:r>
              <a:rPr lang="en-US" sz="1600" dirty="0">
                <a:latin typeface="Montserrat" panose="00000500000000000000" pitchFamily="2" charset="0"/>
              </a:rPr>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sz="1600" dirty="0">
                <a:solidFill/>
                <a:latin typeface="Montserrat" panose="00000500000000000000" pitchFamily="2" charset="0"/>
              </a:rPr>
              <a:t>Profit growth will hold if these assumptions accurately play out as expected for Spartanburg Regional Healthcare System.</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2</a:t>
            </a:r>
          </a:p>
        </p:txBody>
      </p:sp>
    </p:spTree>
    <p:extLst>
      <p:ext uri="{BB962C8B-B14F-4D97-AF65-F5344CB8AC3E}">
        <p14:creationId xmlns:p14="http://schemas.microsoft.com/office/powerpoint/2010/main" val="405954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Spartanburg Regional Healthcare System</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2">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pic>
        <p:nvPicPr>
          <p:cNvPr id="9" name="Content Placeholder 8"/>
          <p:cNvPicPr>
            <a:picLocks noGrp="1"/>
          </p:cNvPicPr>
          <p:nvPr>
            <p:ph/>
          </p:nvPr>
        </p:nvPicPr>
        <p:blipFill>
          <a:blip r:embed="rId2" cstate="print"/>
          <a:stretch>
            <a:fillRect/>
          </a:stretch>
        </p:blipFill>
        <p:spPr>
          <a:xfrm>
            <a:off x="-116490" y="1063906"/>
            <a:ext cx="6517289" cy="5264323"/>
          </a:xfrm>
          <a:prstGeom prst="rect">
            <a:avLst/>
          </a:prstGeom>
        </p:spPr>
      </p:pic>
      <p:grpSp>
        <p:nvGrpSpPr>
          <p:cNvPr id="10" name="Group 28">
            <a:extLst>
              <a:ext uri="{FF2B5EF4-FFF2-40B4-BE49-F238E27FC236}">
                <a16:creationId xmlns:a16="http://schemas.microsoft.com/office/drawing/2014/main" id="{69A10699-B4B2-AF88-E1A1-1EF0A88AB471}"/>
              </a:ext>
            </a:extLst>
          </p:cNvPr>
          <p:cNvGrpSpPr/>
          <p:nvPr/>
        </p:nvGrpSpPr>
        <p:grpSpPr>
          <a:xfrm>
            <a:off x="6789362" y="1915224"/>
            <a:ext cx="4179295" cy="3636786"/>
            <a:chOff x="1267778" y="2161521"/>
            <a:chExt cx="8731885" cy="4307840"/>
          </a:xfrm>
        </p:grpSpPr>
        <p:grpSp>
          <p:nvGrpSpPr>
            <p:cNvPr id="11"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31"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32"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2"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13"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2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3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27"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28"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5"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6"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2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33" name="TextBox 76">
            <a:extLst>
              <a:ext uri="{FF2B5EF4-FFF2-40B4-BE49-F238E27FC236}">
                <a16:creationId xmlns:a16="http://schemas.microsoft.com/office/drawing/2014/main" id="{F3A378C3-B669-3EE2-B76D-98EDB44E8CDF}"/>
              </a:ext>
            </a:extLst>
          </p:cNvPr>
          <p:cNvSpPr txBox="1"/>
          <p:nvPr/>
        </p:nvSpPr>
        <p:spPr>
          <a:xfrm>
            <a:off x="8799626" y="4909050"/>
            <a:ext cx="1752403" cy="461665"/>
          </a:xfrm>
          <a:prstGeom prst="rect">
            <a:avLst/>
          </a:prstGeom>
          <a:noFill/>
        </p:spPr>
        <p:txBody>
          <a:bodyPr wrap="none" rtlCol="0">
            <a:spAutoFit/>
          </a:bodyPr>
          <a:lstStyle/>
          <a:p>
            <a:r>
              <a:rPr lang="en-US" sz="2400" dirty="0">
                <a:solidFill/>
                <a:latin typeface="Montserrat" panose="00000500000000000000" pitchFamily="2" charset="0"/>
              </a:rPr>
              <a:t>1,256K</a:t>
            </a:r>
          </a:p>
        </p:txBody>
      </p:sp>
      <p:sp>
        <p:nvSpPr>
          <p:cNvPr id="34" name="TextBox 77">
            <a:extLst>
              <a:ext uri="{FF2B5EF4-FFF2-40B4-BE49-F238E27FC236}">
                <a16:creationId xmlns:a16="http://schemas.microsoft.com/office/drawing/2014/main" id="{F24CF5B8-0E02-1AF3-2A3D-F14253B44FE8}"/>
              </a:ext>
            </a:extLst>
          </p:cNvPr>
          <p:cNvSpPr txBox="1"/>
          <p:nvPr/>
        </p:nvSpPr>
        <p:spPr>
          <a:xfrm>
            <a:off x="9022559" y="3983995"/>
            <a:ext cx="1162498" cy="461665"/>
          </a:xfrm>
          <a:prstGeom prst="rect">
            <a:avLst/>
          </a:prstGeom>
          <a:noFill/>
        </p:spPr>
        <p:txBody>
          <a:bodyPr wrap="none" rtlCol="0">
            <a:spAutoFit/>
          </a:bodyPr>
          <a:lstStyle/>
          <a:p>
            <a:r>
              <a:rPr lang="en-US" sz="2400" dirty="0">
                <a:solidFill/>
                <a:latin typeface="Montserrat" panose="00000500000000000000" pitchFamily="2" charset="0"/>
              </a:rPr>
              <a:t>736K</a:t>
            </a:r>
          </a:p>
        </p:txBody>
      </p:sp>
      <p:sp>
        <p:nvSpPr>
          <p:cNvPr id="35" name="TextBox 78">
            <a:extLst>
              <a:ext uri="{FF2B5EF4-FFF2-40B4-BE49-F238E27FC236}">
                <a16:creationId xmlns:a16="http://schemas.microsoft.com/office/drawing/2014/main" id="{509B3348-F2D5-63CE-B5D5-5FB7263B3D0F}"/>
              </a:ext>
            </a:extLst>
          </p:cNvPr>
          <p:cNvSpPr txBox="1"/>
          <p:nvPr/>
        </p:nvSpPr>
        <p:spPr>
          <a:xfrm>
            <a:off x="9242015" y="3041250"/>
            <a:ext cx="1132041" cy="461665"/>
          </a:xfrm>
          <a:prstGeom prst="rect">
            <a:avLst/>
          </a:prstGeom>
          <a:noFill/>
        </p:spPr>
        <p:txBody>
          <a:bodyPr wrap="none" rtlCol="0">
            <a:spAutoFit/>
          </a:bodyPr>
          <a:lstStyle/>
          <a:p>
            <a:r>
              <a:rPr lang="en-US" sz="2400" dirty="0">
                <a:solidFill/>
                <a:latin typeface="Montserrat" panose="00000500000000000000" pitchFamily="2" charset="0"/>
              </a:rPr>
              <a:t>505K</a:t>
            </a:r>
          </a:p>
        </p:txBody>
      </p:sp>
      <p:sp>
        <p:nvSpPr>
          <p:cNvPr id="36" name="TextBox 79">
            <a:extLst>
              <a:ext uri="{FF2B5EF4-FFF2-40B4-BE49-F238E27FC236}">
                <a16:creationId xmlns:a16="http://schemas.microsoft.com/office/drawing/2014/main" id="{7E24246C-24ED-62DA-EA2E-6EA4A6ADAEAC}"/>
              </a:ext>
            </a:extLst>
          </p:cNvPr>
          <p:cNvSpPr txBox="1"/>
          <p:nvPr/>
        </p:nvSpPr>
        <p:spPr>
          <a:xfrm>
            <a:off x="9461471" y="2109715"/>
            <a:ext cx="984565" cy="461665"/>
          </a:xfrm>
          <a:prstGeom prst="rect">
            <a:avLst/>
          </a:prstGeom>
          <a:noFill/>
        </p:spPr>
        <p:txBody>
          <a:bodyPr wrap="none" rtlCol="0">
            <a:spAutoFit/>
          </a:bodyPr>
          <a:lstStyle/>
          <a:p>
            <a:r>
              <a:rPr lang="en-US" sz="2400" dirty="0">
                <a:solidFill/>
                <a:latin typeface="Montserrat" panose="00000500000000000000" pitchFamily="2" charset="0"/>
              </a:rPr>
              <a:t>322K</a:t>
            </a:r>
          </a:p>
        </p:txBody>
      </p:sp>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148584" y="187050"/>
            <a:ext cx="10515600" cy="1325563"/>
          </a:xfrm>
        </p:spPr>
        <p:txBody>
          <a:bodyPr/>
          <a:lstStyle/>
          <a:p>
            <a:r>
              <a:rPr lang="en-US" b="0" dirty="0"/>
              <a:t>PLAN POTENTIAL GROWTH PATHS</a:t>
            </a:r>
          </a:p>
        </p:txBody>
      </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Spartanburg Regional Healthcare System service area in Cleveland, Polk, Rutherford, Anderson, Cherokee, Greenville, Laurens, Newberry, Pickens, Spartanburg, Union, and York Counties</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1973187" y="1450598"/>
            <a:ext cx="7531172" cy="4342587"/>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$10.47M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$3.03M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$62.58M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$19.11M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$128.61M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$39.43M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Spartanburg Regional Healthcare System has 28% inpatient market share, and 13% outpatient market compared to hospitals/clinics in the Spartanburg Regional Healthcare System service area (see slide 8). The DTE tiered structure will create immediate steerage, with additional steerage over time from patient bonus benefits and the patient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SRHS 38%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25.4%</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30.4%</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35.4%</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1,035.2K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2,070.4K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3,815.4K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6,117.6K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714.8K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1,909.6K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3,666.6K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5,984.4K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1,552.8K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3,105.6K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5,723.1K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9,254.8K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1,237.2K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2,954.4K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5,589.9K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9,145.6K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517.6K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1,035.2K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1,907.7K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3,137.2K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192.4K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864.8K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1,743.3K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2,981.2K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1508760" y="2834640"/>
            <a:ext cx="3154680" cy="1693069"/>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136525"/>
            <a:ext cx="11590512" cy="1325563"/>
          </a:xfrm>
        </p:spPr>
        <p:txBody>
          <a:bodyPr>
            <a:noAutofit/>
          </a:bodyPr>
          <a:lstStyle/>
          <a:p>
            <a:pPr>
              <a:lnSpc>
                <a:spcPct val="100000"/>
              </a:lnSpc>
              <a:spcBef>
                <a:spcPts val="1800"/>
              </a:spcBef>
              <a:spcAft>
                <a:spcPts val="600"/>
              </a:spcAft>
            </a:pPr>
            <a:r>
              <a:rPr lang="en-US" sz="3600" dirty="0">
                <a:solidFill>
                  <a:srgbClr val="000B2E"/>
                </a:solidFill>
                <a:cs typeface="Arial" panose="020B0604020202020204" pitchFamily="34" charset="0"/>
              </a:rPr>
              <a:t>SRHS IS PATIENT RECOMMENDED</a:t>
            </a:r>
            <a:endParaRPr lang="en-US" sz="1400" dirty="0">
              <a:solidFill>
                <a:schemeClr val="tx1">
                  <a:lumMod val="75000"/>
                  <a:lumOff val="25000"/>
                </a:schemeClr>
              </a:solidFill>
              <a:cs typeface="Arial" panose="020B0604020202020204" pitchFamily="34" charset="0"/>
            </a:endParaRPr>
          </a:p>
        </p:txBody>
      </p:sp>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ontserrat" panose="00000500000000000000" pitchFamily="2" charset="0"/>
              </a:rPr>
              <a:t>Based on quality measures and HCAHPS feedback, KBA estimates that SRHS has a competitive brand compared to health systems in Cleveland, Polk, Rutherford, Anderson, Cherokee, Greenville, Laurens, Newberry, Pickens, Spartanburg, Union, and York Counties.</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1063769604"/>
              </p:ext>
            </p:extLst>
          </p:nvPr>
        </p:nvGraphicFramePr>
        <p:xfrm>
          <a:off x="472959" y="1989573"/>
          <a:ext cx="8451482" cy="2553243"/>
        </p:xfrm>
        <a:graphic>
          <a:graphicData uri="http://schemas.openxmlformats.org/drawingml/2006/table">
            <a:tbl>
              <a:tblPr/>
              <a:tblGrid>
                <a:gridCol w="2639892">
                  <a:extLst>
                    <a:ext uri="{9D8B030D-6E8A-4147-A177-3AD203B41FA5}">
                      <a16:colId xmlns:a16="http://schemas.microsoft.com/office/drawing/2014/main" val="20000"/>
                    </a:ext>
                  </a:extLst>
                </a:gridCol>
                <a:gridCol w="1631863">
                  <a:extLst>
                    <a:ext uri="{9D8B030D-6E8A-4147-A177-3AD203B41FA5}">
                      <a16:colId xmlns:a16="http://schemas.microsoft.com/office/drawing/2014/main" val="20001"/>
                    </a:ext>
                  </a:extLst>
                </a:gridCol>
                <a:gridCol w="959478">
                  <a:extLst>
                    <a:ext uri="{9D8B030D-6E8A-4147-A177-3AD203B41FA5}">
                      <a16:colId xmlns:a16="http://schemas.microsoft.com/office/drawing/2014/main" val="20002"/>
                    </a:ext>
                  </a:extLst>
                </a:gridCol>
                <a:gridCol w="928578">
                  <a:extLst>
                    <a:ext uri="{9D8B030D-6E8A-4147-A177-3AD203B41FA5}">
                      <a16:colId xmlns:a16="http://schemas.microsoft.com/office/drawing/2014/main" val="20003"/>
                    </a:ext>
                  </a:extLst>
                </a:gridCol>
                <a:gridCol w="1130283">
                  <a:extLst>
                    <a:ext uri="{9D8B030D-6E8A-4147-A177-3AD203B41FA5}">
                      <a16:colId xmlns:a16="http://schemas.microsoft.com/office/drawing/2014/main" val="20004"/>
                    </a:ext>
                  </a:extLst>
                </a:gridCol>
                <a:gridCol w="1161388">
                  <a:extLst>
                    <a:ext uri="{9D8B030D-6E8A-4147-A177-3AD203B41FA5}">
                      <a16:colId xmlns:a16="http://schemas.microsoft.com/office/drawing/2014/main" val="20005"/>
                    </a:ext>
                  </a:extLst>
                </a:gridCol>
              </a:tblGrid>
              <a:tr h="737040">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Montserrat"/>
                          <a:cs typeface="Arial"/>
                          <a:sym typeface="Arial"/>
                        </a:rPr>
                        <a:t>HCAHPS</a:t>
                      </a:r>
                      <a:br>
                        <a:rPr sz="1100" b="1" i="0" u="none" cap="none" dirty="0">
                          <a:solidFill>
                            <a:srgbClr val="000000">
                              <a:alpha val="100000"/>
                            </a:srgbClr>
                          </a:solidFill>
                          <a:latin typeface="Montserrat"/>
                          <a:cs typeface="Arial"/>
                          <a:sym typeface="Arial"/>
                        </a:rPr>
                      </a:br>
                      <a:r>
                        <a:rPr sz="1100" b="1" i="0" u="none" cap="none" dirty="0">
                          <a:solidFill>
                            <a:srgbClr val="000000">
                              <a:alpha val="100000"/>
                            </a:srgbClr>
                          </a:solidFill>
                          <a:latin typeface="Montserrat"/>
                          <a:cs typeface="Arial"/>
                          <a:sym typeface="Arial"/>
                        </a:rPr>
                        <a:t>Recommendation</a:t>
                      </a:r>
                      <a:br>
                        <a:rPr sz="1100" b="1" i="0" u="none" cap="none" dirty="0">
                          <a:solidFill>
                            <a:srgbClr val="000000">
                              <a:alpha val="100000"/>
                            </a:srgbClr>
                          </a:solidFill>
                          <a:latin typeface="Montserrat"/>
                          <a:cs typeface="Arial"/>
                          <a:sym typeface="Arial"/>
                        </a:rPr>
                      </a:br>
                      <a:r>
                        <a:rPr sz="1100" b="1" i="0" u="none" cap="none" dirty="0">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CMS Stars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Mortality</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Readmission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KBA Brand</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540892">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Spartanburg Regional Healthcare System</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35</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B6C4DC">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A94BF">
                        <a:alpha val="100000"/>
                      </a:srgbClr>
                    </a:solidFill>
                  </a:tcPr>
                </a:tc>
                <a:extLst>
                  <a:ext uri="{0D108BD9-81ED-4DB2-BD59-A6C34878D82A}">
                    <a16:rowId xmlns:a16="http://schemas.microsoft.com/office/drawing/2014/main" val="10002"/>
                  </a:ext>
                </a:extLst>
              </a:tr>
              <a:tr h="424598">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Prisma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BAEC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F7EB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extLst>
                  <a:ext uri="{0D108BD9-81ED-4DB2-BD59-A6C34878D82A}">
                    <a16:rowId xmlns:a16="http://schemas.microsoft.com/office/drawing/2014/main" val="10003"/>
                  </a:ext>
                </a:extLst>
              </a:tr>
              <a:tr h="424678">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Advocate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24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DD6E7">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1A6CA">
                        <a:alpha val="100000"/>
                      </a:srgbClr>
                    </a:solidFill>
                  </a:tcPr>
                </a:tc>
                <a:extLst>
                  <a:ext uri="{0D108BD9-81ED-4DB2-BD59-A6C34878D82A}">
                    <a16:rowId xmlns:a16="http://schemas.microsoft.com/office/drawing/2014/main" val="10004"/>
                  </a:ext>
                </a:extLst>
              </a:tr>
              <a:tr h="426035">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LifePoint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16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DDE4E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6180B3">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30589B">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7ABCD">
                        <a:alpha val="100000"/>
                      </a:srgb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15</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324535"/>
          </a:xfrm>
          <a:prstGeom prst="rect">
            <a:avLst/>
          </a:prstGeom>
        </p:spPr>
        <p:txBody>
          <a:bodyPr wrap="square">
            <a:spAutoFit/>
          </a:bodyPr>
          <a:lstStyle/>
          <a:p>
            <a:pPr>
              <a:spcAft>
                <a:spcPts val="1200"/>
              </a:spcAft>
            </a:pPr>
            <a:r>
              <a:rPr lang="en-US" sz="1600" b="1" cap="all" dirty="0">
                <a:solidFill>
                  <a:srgbClr val="000B2E"/>
                </a:solidFill>
                <a:latin typeface="Montserrat" panose="00000500000000000000" pitchFamily="2" charset="0"/>
              </a:rPr>
              <a:t>SRHS’s 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The medical providers in your direct control or part of Spartanburg Regional Healthcare System’s integrated delivery system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Potential risk sharing arrangements (e.g. employer stop-loss participation)</a:t>
            </a:r>
          </a:p>
          <a:p>
            <a:pPr>
              <a:spcAft>
                <a:spcPts val="1200"/>
              </a:spcAft>
            </a:pPr>
            <a:r>
              <a:rPr lang="en-US" sz="1600" b="1" cap="all" dirty="0">
                <a:solidFill>
                  <a:srgbClr val="000B2E"/>
                </a:solidFill>
                <a:latin typeface="Montserrat" panose="00000500000000000000" pitchFamily="2" charset="0"/>
              </a:rPr>
              <a:t>Friends &amp; Family Providers – TIER 1</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Access through direct contracts at the discretion of Spartanburg Regional Healthcare System</a:t>
            </a:r>
          </a:p>
          <a:p>
            <a:pPr>
              <a:spcAft>
                <a:spcPts val="1200"/>
              </a:spcAft>
            </a:pPr>
            <a:r>
              <a:rPr lang="en-US" sz="1600" b="1" dirty="0">
                <a:solidFill>
                  <a:srgbClr val="000B2E"/>
                </a:solidFill>
                <a:latin typeface="Montserrat" panose="00000500000000000000" pitchFamily="2" charset="0"/>
              </a:rPr>
              <a:t>WRAP NETWORK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Medical services from national PPO networks for members that travel, tertiary and specialty services you do not provide, and employees residing outside your direct catchment area </a:t>
            </a:r>
          </a:p>
          <a:p>
            <a:pPr marL="0" lvl="1">
              <a:spcAft>
                <a:spcPts val="1200"/>
              </a:spcAft>
            </a:pPr>
            <a:r>
              <a:rPr lang="en-US" sz="1600" b="1" dirty="0">
                <a:solidFill>
                  <a:srgbClr val="000B2E"/>
                </a:solidFill>
                <a:latin typeface="Montserrat" panose="00000500000000000000" pitchFamily="2" charset="0"/>
              </a:rPr>
              <a:t>OUT-OF-NETWORK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Non-contracted medical providers</a:t>
            </a:r>
          </a:p>
        </p:txBody>
      </p:sp>
      <p:graphicFrame>
        <p:nvGraphicFramePr>
          <p:cNvPr id="7"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Content Placeholder 7"/>
          <p:cNvPicPr>
            <a:picLocks noGrp="1"/>
          </p:cNvPicPr>
          <p:nvPr>
            <p:ph/>
          </p:nvPr>
        </p:nvPicPr>
        <p:blipFill>
          <a:blip r:embed="rId7" cstate="print"/>
          <a:stretch>
            <a:fillRect/>
          </a:stretch>
        </p:blipFill>
        <p:spPr>
          <a:xfrm>
            <a:off x="9738360" y="4059936"/>
            <a:ext cx="1042416" cy="559449"/>
          </a:xfrm>
          <a:prstGeom prst="rect">
            <a:avLst/>
          </a:prstGeom>
        </p:spPr>
      </p:pic>
    </p:spTree>
    <p:extLst>
      <p:ext uri="{BB962C8B-B14F-4D97-AF65-F5344CB8AC3E}">
        <p14:creationId xmlns:p14="http://schemas.microsoft.com/office/powerpoint/2010/main" val="1700621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3"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16</a:t>
            </a:fld>
            <a:endParaRPr lang="en-US" dirty="0"/>
          </a:p>
        </p:txBody>
      </p:sp>
      <p:pic>
        <p:nvPicPr>
          <p:cNvPr id="4"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5"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latin typeface="Montserrat" panose="00000500000000000000" pitchFamily="2" charset="0"/>
            </a:endParaRPr>
          </a:p>
        </p:txBody>
      </p:sp>
      <p:sp>
        <p:nvSpPr>
          <p:cNvPr id="6"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dirty="0">
                <a:latin typeface="Montserrat" panose="00000500000000000000" pitchFamily="2" charset="0"/>
              </a:rPr>
              <a:t>Exclusive Provider Organization (EPO) Plan Design Structure</a:t>
            </a:r>
          </a:p>
        </p:txBody>
      </p:sp>
      <p:sp>
        <p:nvSpPr>
          <p:cNvPr id="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00539F">
              <a:alpha val="94902"/>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latin typeface="Montserrat" panose="00000500000000000000" pitchFamily="2" charset="0"/>
            </a:endParaRPr>
          </a:p>
        </p:txBody>
      </p:sp>
      <p:sp>
        <p:nvSpPr>
          <p:cNvPr id="8" name="TextBox 7">
            <a:extLst>
              <a:ext uri="{FF2B5EF4-FFF2-40B4-BE49-F238E27FC236}">
                <a16:creationId xmlns:a16="http://schemas.microsoft.com/office/drawing/2014/main" id="{FF7C74A4-33A6-F02F-D22F-33835E639085}"/>
              </a:ext>
            </a:extLst>
          </p:cNvPr>
          <p:cNvSpPr txBox="1"/>
          <p:nvPr/>
        </p:nvSpPr>
        <p:spPr>
          <a:xfrm>
            <a:off x="157424" y="71860"/>
            <a:ext cx="11877152" cy="954107"/>
          </a:xfrm>
          <a:prstGeom prst="rect">
            <a:avLst/>
          </a:prstGeom>
          <a:noFill/>
        </p:spPr>
        <p:txBody>
          <a:bodyPr wrap="square">
            <a:spAutoFit/>
          </a:bodyPr>
          <a:lstStyle/>
          <a:p>
            <a:pPr algn="ctr"/>
            <a:r>
              <a:rPr lang="en-US" sz="2800" dirty="0">
                <a:solidFill>
                  <a:schemeClr val="bg1"/>
                </a:solidFill>
                <a:latin typeface="Montserrat" panose="00000500000000000000" pitchFamily="2" charset="0"/>
              </a:rPr>
              <a:t>BENEFIT PLAN DESIGNS THAT OPTIMIZE STEERAGE TO SRHS</a:t>
            </a:r>
          </a:p>
        </p:txBody>
      </p:sp>
      <p:pic>
        <p:nvPicPr>
          <p:cNvPr id="9" name="Content Placeholder 8"/>
          <p:cNvPicPr>
            <a:picLocks noGrp="1"/>
          </p:cNvPicPr>
          <p:nvPr>
            <p:ph/>
          </p:nvPr>
        </p:nvPicPr>
        <p:blipFill>
          <a:blip r:embed="rId3" cstate="print"/>
          <a:stretch>
            <a:fillRect/>
          </a:stretch>
        </p:blipFill>
        <p:spPr>
          <a:xfrm>
            <a:off x="9089136" y="5239512"/>
            <a:ext cx="1703793" cy="914400"/>
          </a:xfrm>
          <a:prstGeom prst="rect">
            <a:avLst/>
          </a:prstGeom>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17</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28.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SRHS’s approved site(s) with network integration, and development of SRHS’s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30.4%.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30.4%.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30.4%.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30.4%.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30.4%.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30.4%.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30.4%.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30.4%.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196K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618K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3,091K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$ 2,109K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317K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$ 1,965K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6,182K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$ 4,217K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$ 1,879K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$ 1,282K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964K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$ 4,912K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$ 1,493K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$ 15,455K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$10,543K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$ 4,698K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$ 3,205K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$ 2,905K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$19,649K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$ 5,973K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$ 61,819K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$42,171K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$18,793K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$12,820K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$12,610K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$39,298K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$11,946K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$123,639K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$84,341K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$37,586K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$25,640K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$25,550K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SRHS’s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SRHS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SRHS’s managed care with KBA’s programs positions SRHS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SRHS’s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SRHS’s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SRHS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22</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Credit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534623"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a:ln>
                  <a:noFill/>
                </a:ln>
                <a:solidFill>
                  <a:srgbClr val="00539F"/>
                </a:solidFill>
                <a:effectLst/>
                <a:uLnTx/>
                <a:uFillTx/>
                <a:latin typeface="Montserrat" panose="00000500000000000000" pitchFamily="2" charset="0"/>
                <a:ea typeface="+mj-ea"/>
                <a:cs typeface="+mj-cs"/>
              </a:rPr>
              <a:t>THE KBA HEALTHCARE CREDIT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16DA80FC-AC13-8B4D-1B26-8FFCCBE68854}"/>
              </a:ext>
            </a:extLst>
          </p:cNvPr>
          <p:cNvSpPr txBox="1">
            <a:spLocks/>
          </p:cNvSpPr>
          <p:nvPr/>
        </p:nvSpPr>
        <p:spPr>
          <a:xfrm>
            <a:off x="401217" y="172586"/>
            <a:ext cx="11534623" cy="807442"/>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dirty="0">
                <a:ln>
                  <a:noFill/>
                </a:ln>
                <a:solidFill>
                  <a:srgbClr val="44546A"/>
                </a:solidFill>
                <a:effectLst/>
                <a:uLnTx/>
                <a:uFillTx/>
                <a:latin typeface="Montserrat" panose="00000500000000000000" pitchFamily="2" charset="0"/>
                <a:ea typeface="+mj-ea"/>
                <a:cs typeface="+mj-cs"/>
              </a:rPr>
              <a:t>KEY INCENTIVE PLAN (KIP): </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2600" b="0" i="0" u="none" strike="noStrike" kern="1200" cap="none" spc="0" normalizeH="0" baseline="0" noProof="0" dirty="0">
                <a:ln>
                  <a:noFill/>
                </a:ln>
                <a:solidFill>
                  <a:prstClr val="black"/>
                </a:solidFill>
                <a:effectLst/>
                <a:uLnTx/>
                <a:uFillTx/>
                <a:latin typeface="Montserrat" panose="00000500000000000000" pitchFamily="2" charset="0"/>
                <a:ea typeface="+mj-ea"/>
                <a:cs typeface="Arial" panose="020B0604020202020204" pitchFamily="34" charset="0"/>
              </a:rPr>
              <a:t>BASE MEDICAL + BONUS BENEFITS = YOUR DEDUCTIBLE CAN SIMPLY VANISH</a:t>
            </a:r>
          </a:p>
          <a:p>
            <a:pPr marL="0" marR="0" lvl="0" indent="0" algn="ctr" defTabSz="914400" rtl="0" eaLnBrk="1" fontAlgn="auto" latinLnBrk="0" hangingPunct="1">
              <a:lnSpc>
                <a:spcPct val="90000"/>
              </a:lnSpc>
              <a:spcBef>
                <a:spcPts val="1000"/>
              </a:spcBef>
              <a:spcAft>
                <a:spcPts val="0"/>
              </a:spcAft>
              <a:buClrTx/>
              <a:buSzTx/>
              <a:buFontTx/>
              <a:buNone/>
              <a:tabLst/>
              <a:defRPr/>
            </a:pPr>
            <a:endParaRPr kumimoji="0" lang="en-US" sz="3800" b="0" i="0" u="none" strike="noStrike" kern="1200" cap="none" spc="0" normalizeH="0" baseline="0" noProof="0" dirty="0">
              <a:ln>
                <a:noFill/>
              </a:ln>
              <a:solidFill>
                <a:prstClr val="black"/>
              </a:solidFill>
              <a:effectLst/>
              <a:uLnTx/>
              <a:uFillTx/>
              <a:latin typeface="Montserrat" panose="00000500000000000000" pitchFamily="2" charset="0"/>
              <a:ea typeface="+mj-ea"/>
              <a:cs typeface="+mj-cs"/>
            </a:endParaRPr>
          </a:p>
        </p:txBody>
      </p:sp>
      <p:sp>
        <p:nvSpPr>
          <p:cNvPr id="3" name="Slide Number Placeholder 3">
            <a:extLst>
              <a:ext uri="{FF2B5EF4-FFF2-40B4-BE49-F238E27FC236}">
                <a16:creationId xmlns:a16="http://schemas.microsoft.com/office/drawing/2014/main" id="{8B3A2443-C9A5-9840-65A4-36B20C47DD4C}"/>
              </a:ext>
            </a:extLst>
          </p:cNvPr>
          <p:cNvSpPr>
            <a:spLocks noGrp="1"/>
          </p:cNvSpPr>
          <p:nvPr>
            <p:ph type="sldNum" sz="quarter" idx="12"/>
          </p:nvPr>
        </p:nvSpPr>
        <p:spPr>
          <a:xfrm>
            <a:off x="9006827" y="626813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4" name="Picture 12">
            <a:extLst>
              <a:ext uri="{FF2B5EF4-FFF2-40B4-BE49-F238E27FC236}">
                <a16:creationId xmlns:a16="http://schemas.microsoft.com/office/drawing/2014/main" id="{E4909EF0-0675-CA57-8ADA-A19CD01D38EA}"/>
              </a:ext>
            </a:extLst>
          </p:cNvPr>
          <p:cNvPicPr>
            <a:picLocks noChangeAspect="1"/>
          </p:cNvPicPr>
          <p:nvPr/>
        </p:nvPicPr>
        <p:blipFill>
          <a:blip r:embed="rId3"/>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CA353A74-5D89-849A-9B03-BCFB396BAA13}"/>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9">
            <a:extLst>
              <a:ext uri="{FF2B5EF4-FFF2-40B4-BE49-F238E27FC236}">
                <a16:creationId xmlns:a16="http://schemas.microsoft.com/office/drawing/2014/main" id="{065E6D81-E529-3946-F4D6-5D6609CC0FE8}"/>
              </a:ext>
            </a:extLst>
          </p:cNvPr>
          <p:cNvGraphicFramePr>
            <a:graphicFrameLocks noGrp="1"/>
          </p:cNvGraphicFramePr>
          <p:nvPr/>
        </p:nvGraphicFramePr>
        <p:xfrm>
          <a:off x="401217" y="970995"/>
          <a:ext cx="11005538" cy="5271741"/>
        </p:xfrm>
        <a:graphic>
          <a:graphicData uri="http://schemas.openxmlformats.org/drawingml/2006/table">
            <a:tbl>
              <a:tblPr/>
              <a:tblGrid>
                <a:gridCol w="1330055">
                  <a:extLst>
                    <a:ext uri="{9D8B030D-6E8A-4147-A177-3AD203B41FA5}">
                      <a16:colId xmlns:a16="http://schemas.microsoft.com/office/drawing/2014/main" val="3195232096"/>
                    </a:ext>
                  </a:extLst>
                </a:gridCol>
                <a:gridCol w="1699612">
                  <a:extLst>
                    <a:ext uri="{9D8B030D-6E8A-4147-A177-3AD203B41FA5}">
                      <a16:colId xmlns:a16="http://schemas.microsoft.com/office/drawing/2014/main" val="1786901733"/>
                    </a:ext>
                  </a:extLst>
                </a:gridCol>
                <a:gridCol w="2400820">
                  <a:extLst>
                    <a:ext uri="{9D8B030D-6E8A-4147-A177-3AD203B41FA5}">
                      <a16:colId xmlns:a16="http://schemas.microsoft.com/office/drawing/2014/main" val="1392519372"/>
                    </a:ext>
                  </a:extLst>
                </a:gridCol>
                <a:gridCol w="1964908">
                  <a:extLst>
                    <a:ext uri="{9D8B030D-6E8A-4147-A177-3AD203B41FA5}">
                      <a16:colId xmlns:a16="http://schemas.microsoft.com/office/drawing/2014/main" val="660552617"/>
                    </a:ext>
                  </a:extLst>
                </a:gridCol>
                <a:gridCol w="156744">
                  <a:extLst>
                    <a:ext uri="{9D8B030D-6E8A-4147-A177-3AD203B41FA5}">
                      <a16:colId xmlns:a16="http://schemas.microsoft.com/office/drawing/2014/main" val="1136356776"/>
                    </a:ext>
                  </a:extLst>
                </a:gridCol>
                <a:gridCol w="2620433">
                  <a:extLst>
                    <a:ext uri="{9D8B030D-6E8A-4147-A177-3AD203B41FA5}">
                      <a16:colId xmlns:a16="http://schemas.microsoft.com/office/drawing/2014/main" val="713959702"/>
                    </a:ext>
                  </a:extLst>
                </a:gridCol>
                <a:gridCol w="832966">
                  <a:extLst>
                    <a:ext uri="{9D8B030D-6E8A-4147-A177-3AD203B41FA5}">
                      <a16:colId xmlns:a16="http://schemas.microsoft.com/office/drawing/2014/main" val="1233038709"/>
                    </a:ext>
                  </a:extLst>
                </a:gridCol>
              </a:tblGrid>
              <a:tr h="393475">
                <a:tc gridSpan="4">
                  <a:txBody>
                    <a:bodyPr/>
                    <a:lstStyle/>
                    <a:p>
                      <a:pPr algn="ctr" fontAlgn="b"/>
                      <a:r>
                        <a:rPr lang="en-US" sz="1200" b="1" i="0" u="none" strike="noStrike">
                          <a:solidFill>
                            <a:srgbClr val="000000"/>
                          </a:solidFill>
                          <a:effectLst/>
                          <a:latin typeface="Montserrat" panose="00000500000000000000" pitchFamily="2" charset="0"/>
                        </a:rPr>
                        <a:t>BENEFIT EXAMPLE</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a:txBody>
                    <a:bodyPr/>
                    <a:lstStyle/>
                    <a:p>
                      <a:pPr algn="l" fontAlgn="b"/>
                      <a:endParaRPr lang="en-US" sz="800" b="0" i="0" u="none" strike="noStrike">
                        <a:solidFill>
                          <a:srgbClr val="000000"/>
                        </a:solidFill>
                        <a:effectLst/>
                        <a:latin typeface="Montserrat" panose="00000500000000000000" pitchFamily="2" charset="0"/>
                      </a:endParaRPr>
                    </a:p>
                  </a:txBody>
                  <a:tcPr marL="7133" marR="7133" marT="7133" marB="0" anchor="b">
                    <a:lnL w="12700" cmpd="sng">
                      <a:noFill/>
                      <a:prstDash val="solid"/>
                    </a:lnL>
                    <a:lnR>
                      <a:noFill/>
                    </a:lnR>
                    <a:lnT>
                      <a:noFill/>
                    </a:lnT>
                    <a:lnB>
                      <a:noFill/>
                    </a:lnB>
                    <a:lnTlToBr w="12700" cmpd="sng">
                      <a:noFill/>
                      <a:prstDash val="solid"/>
                    </a:lnTlToBr>
                    <a:lnBlToTr w="12700" cmpd="sng">
                      <a:noFill/>
                      <a:prstDash val="solid"/>
                    </a:lnBlToTr>
                    <a:noFill/>
                  </a:tcPr>
                </a:tc>
                <a:tc gridSpan="2">
                  <a:txBody>
                    <a:bodyPr/>
                    <a:lstStyle/>
                    <a:p>
                      <a:pPr algn="ctr" fontAlgn="b"/>
                      <a:r>
                        <a:rPr lang="en-US" sz="1200" b="1" i="0" u="none" strike="noStrike">
                          <a:solidFill>
                            <a:srgbClr val="000000"/>
                          </a:solidFill>
                          <a:effectLst/>
                          <a:latin typeface="Montserrat" panose="00000500000000000000" pitchFamily="2" charset="0"/>
                        </a:rPr>
                        <a:t>CLAIM EXAMPLE  </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extLst>
                  <a:ext uri="{0D108BD9-81ED-4DB2-BD59-A6C34878D82A}">
                    <a16:rowId xmlns:a16="http://schemas.microsoft.com/office/drawing/2014/main" val="4091891274"/>
                  </a:ext>
                </a:extLst>
              </a:tr>
              <a:tr h="708259">
                <a:tc gridSpan="2">
                  <a:txBody>
                    <a:bodyPr/>
                    <a:lstStyle/>
                    <a:p>
                      <a:pPr algn="ctr" rtl="0" fontAlgn="ctr"/>
                      <a:r>
                        <a:rPr lang="en-US" sz="1400" b="1" i="0" u="none" strike="noStrike">
                          <a:solidFill>
                            <a:srgbClr val="FFFFFF"/>
                          </a:solidFill>
                          <a:effectLst/>
                          <a:latin typeface="Montserrat" panose="00000500000000000000" pitchFamily="2" charset="0"/>
                        </a:rPr>
                        <a:t>BASE MEDICAL BENEFITS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ctr"/>
                      <a:r>
                        <a:rPr lang="en-US" sz="1400" b="1" i="0" u="none" strike="noStrike">
                          <a:solidFill>
                            <a:srgbClr val="FFFFFF"/>
                          </a:solidFill>
                          <a:effectLst/>
                          <a:latin typeface="Montserrat" panose="00000500000000000000" pitchFamily="2" charset="0"/>
                        </a:rPr>
                        <a:t>BONUS BENEFITS</a:t>
                      </a:r>
                    </a:p>
                  </a:txBody>
                  <a:tcPr marL="7133" marR="7133" marT="7133"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9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400" b="1" i="0" u="none" strike="noStrike">
                          <a:solidFill>
                            <a:srgbClr val="FFFFFF"/>
                          </a:solidFill>
                          <a:effectLst/>
                          <a:latin typeface="Montserrat" panose="00000500000000000000" pitchFamily="2" charset="0"/>
                        </a:rPr>
                        <a:t>“How Your Deductible Can Vanish”</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792043374"/>
                  </a:ext>
                </a:extLst>
              </a:tr>
              <a:tr h="454683">
                <a:tc gridSpan="2">
                  <a:txBody>
                    <a:bodyPr/>
                    <a:lstStyle/>
                    <a:p>
                      <a:pPr algn="ctr" rtl="0" fontAlgn="b"/>
                      <a:r>
                        <a:rPr lang="en-US" sz="1150" b="1" i="0" u="none" strike="noStrike">
                          <a:solidFill>
                            <a:srgbClr val="000000"/>
                          </a:solidFill>
                          <a:effectLst/>
                          <a:latin typeface="Montserrat" panose="00000500000000000000" pitchFamily="2" charset="0"/>
                        </a:rPr>
                        <a:t>Deductible</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b"/>
                      <a:r>
                        <a:rPr lang="en-US" sz="1150" b="1" i="0" u="none" strike="noStrike">
                          <a:solidFill>
                            <a:srgbClr val="000000"/>
                          </a:solidFill>
                          <a:effectLst/>
                          <a:latin typeface="Montserrat" panose="00000500000000000000" pitchFamily="2" charset="0"/>
                        </a:rPr>
                        <a:t>Benefits Automatically Included In Your Plan,                                                                 At NO Additional Cost To You!</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100" b="1" i="0" u="none" strike="noStrike">
                          <a:solidFill>
                            <a:srgbClr val="000000"/>
                          </a:solidFill>
                          <a:effectLst/>
                          <a:latin typeface="Montserrat" panose="00000500000000000000" pitchFamily="2" charset="0"/>
                        </a:rPr>
                        <a:t>CLAIM EXAMPLE:     Heart Attack, with Surgery</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BFBFBF"/>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531598024"/>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US" sz="1150" b="1" i="0" u="none" strike="noStrike">
                          <a:solidFill>
                            <a:srgbClr val="000000"/>
                          </a:solidFill>
                          <a:effectLst/>
                          <a:latin typeface="Montserrat" panose="00000500000000000000" pitchFamily="2" charset="0"/>
                        </a:rPr>
                        <a:t> 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5  Days at $500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$200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12700" cmpd="sng">
                      <a:noFill/>
                      <a:prstDash val="solid"/>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804750250"/>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rtl="0" fontAlgn="ctr"/>
                      <a:r>
                        <a:rPr lang="en-US" sz="1150" b="1" i="0" u="none" strike="noStrike">
                          <a:solidFill>
                            <a:srgbClr val="000000"/>
                          </a:solidFill>
                          <a:effectLst/>
                          <a:latin typeface="Montserrat" panose="00000500000000000000" pitchFamily="2" charset="0"/>
                        </a:rPr>
                        <a:t> Non-Preferred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1 Day at $50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52238380"/>
                  </a:ext>
                </a:extLst>
              </a:tr>
              <a:tr h="349758">
                <a:tc>
                  <a:txBody>
                    <a:bodyPr/>
                    <a:lstStyle/>
                    <a:p>
                      <a:pPr algn="r" rtl="0" fontAlgn="ctr"/>
                      <a:r>
                        <a:rPr lang="en-US" sz="1150" b="1" i="0" u="none" strike="noStrike">
                          <a:solidFill>
                            <a:srgbClr val="000000"/>
                          </a:solidFill>
                          <a:effectLst/>
                          <a:latin typeface="Montserrat" panose="00000500000000000000" pitchFamily="2" charset="0"/>
                        </a:rPr>
                        <a:t>Coinsurance</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80% / 20%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Surgery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$700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Preferred Hospital Stay, </a:t>
                      </a:r>
                    </a:p>
                    <a:p>
                      <a:pPr algn="r" rtl="0" fontAlgn="ctr"/>
                      <a:r>
                        <a:rPr lang="en-US" sz="1100" b="1" i="0" u="none" strike="noStrike">
                          <a:solidFill>
                            <a:srgbClr val="000000"/>
                          </a:solidFill>
                          <a:effectLst/>
                          <a:latin typeface="Montserrat" panose="00000500000000000000" pitchFamily="2" charset="0"/>
                        </a:rPr>
                        <a:t>5 Days at $500/Day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$2,500</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703207580"/>
                  </a:ext>
                </a:extLst>
              </a:tr>
              <a:tr h="349758">
                <a:tc gridSpan="2">
                  <a:txBody>
                    <a:bodyPr/>
                    <a:lstStyle/>
                    <a:p>
                      <a:pPr algn="ctr" rtl="0" fontAlgn="b"/>
                      <a:r>
                        <a:rPr lang="en-US" sz="1150" b="1" i="0" u="none" strike="noStrike">
                          <a:solidFill>
                            <a:srgbClr val="000000"/>
                          </a:solidFill>
                          <a:effectLst/>
                          <a:latin typeface="Montserrat" panose="00000500000000000000" pitchFamily="2" charset="0"/>
                        </a:rPr>
                        <a:t>Maximum Out-of-Pocket</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OP Anesthesia</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$250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Critical Illness</a:t>
                      </a:r>
                      <a:r>
                        <a:rPr lang="en-US" sz="1100" b="0" i="0" u="none" strike="noStrike">
                          <a:solidFill>
                            <a:srgbClr val="000000"/>
                          </a:solidFill>
                          <a:effectLst/>
                          <a:latin typeface="Montserrat" panose="00000500000000000000" pitchFamily="2" charset="0"/>
                        </a:rPr>
                        <a:t>   (Heart Attack Benefit)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$2,000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325680797"/>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$200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Health Screening Benefit</a:t>
                      </a:r>
                      <a:r>
                        <a:rPr lang="en-US" sz="1100" b="0" i="0" u="none" strike="noStrike">
                          <a:solidFill>
                            <a:srgbClr val="000000"/>
                          </a:solidFill>
                          <a:effectLst/>
                          <a:latin typeface="Montserrat" panose="00000500000000000000" pitchFamily="2" charset="0"/>
                        </a:rPr>
                        <a:t> (Stress-Test)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266247627"/>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$7,000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lang="en-US" sz="1150" b="1" i="0" u="none" strike="noStrike">
                          <a:solidFill>
                            <a:srgbClr val="000000"/>
                          </a:solidFill>
                          <a:effectLst/>
                          <a:latin typeface="Montserrat" panose="00000500000000000000" pitchFamily="2" charset="0"/>
                        </a:rPr>
                        <a:t> 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Wellness Benefit </a:t>
                      </a:r>
                      <a:r>
                        <a:rPr lang="en-US" sz="1100" b="0" i="0" u="none" strike="noStrike">
                          <a:solidFill>
                            <a:srgbClr val="000000"/>
                          </a:solidFill>
                          <a:effectLst/>
                          <a:latin typeface="Montserrat" panose="00000500000000000000" pitchFamily="2" charset="0"/>
                        </a:rPr>
                        <a:t>(Telephonic Coaching)</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4367116"/>
                  </a:ext>
                </a:extLst>
              </a:tr>
              <a:tr h="349758">
                <a:tc gridSpan="2">
                  <a:txBody>
                    <a:bodyPr/>
                    <a:lstStyle/>
                    <a:p>
                      <a:pPr algn="ctr" rtl="0" fontAlgn="ctr"/>
                      <a:r>
                        <a:rPr lang="en-US" sz="1050" b="0" i="0" u="none" strike="noStrike">
                          <a:solidFill>
                            <a:srgbClr val="000000"/>
                          </a:solidFill>
                          <a:effectLst/>
                          <a:latin typeface="Montserrat" panose="00000500000000000000" pitchFamily="2" charset="0"/>
                        </a:rPr>
                        <a:t>Chronic Disease Management Regimens of Care,   Covered at 100%</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lnL w="6350" cap="flat" cmpd="sng" algn="ctr">
                      <a:solidFill>
                        <a:srgbClr val="80808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fontAlgn="ctr"/>
                      <a:r>
                        <a:rPr lang="en-US" sz="1150" b="1" i="0" u="none" strike="noStrike">
                          <a:solidFill>
                            <a:srgbClr val="000000"/>
                          </a:solidFill>
                          <a:effectLst/>
                          <a:latin typeface="Montserrat" panose="00000500000000000000" pitchFamily="2" charset="0"/>
                        </a:rPr>
                        <a:t> Health Screening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$125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t"/>
                      <a:r>
                        <a:rPr lang="en-US" sz="1100" b="1" i="0" u="none" strike="noStrike">
                          <a:solidFill>
                            <a:srgbClr val="000000"/>
                          </a:solidFill>
                          <a:effectLst/>
                          <a:latin typeface="Montserrat" panose="00000500000000000000" pitchFamily="2" charset="0"/>
                        </a:rPr>
                        <a:t>TOTAL BONUS BENEFIT PAYABLE</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$5,050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extLst>
                  <a:ext uri="{0D108BD9-81ED-4DB2-BD59-A6C34878D82A}">
                    <a16:rowId xmlns:a16="http://schemas.microsoft.com/office/drawing/2014/main" val="1559647697"/>
                  </a:ext>
                </a:extLst>
              </a:tr>
              <a:tr h="393475">
                <a:tc gridSpan="2">
                  <a:txBody>
                    <a:bodyPr/>
                    <a:lstStyle/>
                    <a:p>
                      <a:pPr algn="ctr" rtl="0" fontAlgn="ctr"/>
                      <a:r>
                        <a:rPr lang="en-US" sz="1050" b="0" i="0" u="none" strike="noStrike">
                          <a:solidFill>
                            <a:srgbClr val="000000"/>
                          </a:solidFill>
                          <a:effectLst/>
                          <a:latin typeface="Montserrat" panose="00000500000000000000" pitchFamily="2" charset="0"/>
                        </a:rPr>
                        <a:t>Healthcare Specific, Interest Free Credit Card to Cover Out-of-Pocket Costs </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Wellness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$125/1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0" i="0" u="none" strike="noStrike">
                          <a:solidFill>
                            <a:srgbClr val="000000"/>
                          </a:solidFill>
                          <a:effectLst/>
                          <a:latin typeface="Montserrat" panose="00000500000000000000" pitchFamily="2" charset="0"/>
                        </a:rPr>
                        <a:t>Less Your Maximum  Out-of-Pocket Cost</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rtl="0" fontAlgn="ctr"/>
                      <a:r>
                        <a:rPr lang="en-US" sz="1100" b="1" i="0" u="none" strike="noStrike">
                          <a:solidFill>
                            <a:srgbClr val="A6192E"/>
                          </a:solidFill>
                          <a:effectLst/>
                          <a:latin typeface="Montserrat" panose="00000500000000000000" pitchFamily="2" charset="0"/>
                        </a:rPr>
                        <a:t>($3,500)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4281273"/>
                  </a:ext>
                </a:extLst>
              </a:tr>
              <a:tr h="515890">
                <a:tc rowSpan="2" gridSpan="2">
                  <a:txBody>
                    <a:bodyPr/>
                    <a:lstStyle/>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pPr algn="l" fontAlgn="b"/>
                      <a:endParaRPr lang="en-US" sz="1000" b="0" i="0" u="none" strike="noStrike">
                        <a:solidFill>
                          <a:srgbClr val="000000"/>
                        </a:solidFill>
                        <a:effectLst/>
                        <a:latin typeface="Calibri" panose="020F0502020204030204" pitchFamily="34" charset="0"/>
                      </a:endParaRPr>
                    </a:p>
                  </a:txBody>
                  <a:tcPr marL="7133" marR="7133" marT="7133" marB="0" anchor="b">
                    <a:lnL w="6350" cap="flat" cmpd="sng" algn="ctr">
                      <a:solidFill>
                        <a:srgbClr val="000000"/>
                      </a:solidFill>
                      <a:prstDash val="solid"/>
                      <a:round/>
                      <a:headEnd type="none" w="med" len="med"/>
                      <a:tailEnd type="none" w="med" len="med"/>
                    </a:lnL>
                  </a:tcPr>
                </a:tc>
                <a:tc>
                  <a:txBody>
                    <a:bodyPr/>
                    <a:lstStyle/>
                    <a:p>
                      <a:pPr algn="r" rtl="0" fontAlgn="ctr"/>
                      <a:r>
                        <a:rPr lang="en-US" sz="1150" b="1" i="0" u="none" strike="noStrike">
                          <a:solidFill>
                            <a:srgbClr val="000000"/>
                          </a:solidFill>
                          <a:effectLst/>
                          <a:latin typeface="Montserrat" panose="00000500000000000000" pitchFamily="2" charset="0"/>
                        </a:rPr>
                        <a:t> Critical Illness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$2,000 Lump Sum</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Additional Benefit, </a:t>
                      </a:r>
                    </a:p>
                    <a:p>
                      <a:pPr algn="r" rtl="0" fontAlgn="ctr"/>
                      <a:r>
                        <a:rPr lang="en-US" sz="1100" b="1" i="0" u="none" strike="noStrike">
                          <a:solidFill>
                            <a:srgbClr val="000000"/>
                          </a:solidFill>
                          <a:effectLst/>
                          <a:latin typeface="Montserrat" panose="00000500000000000000" pitchFamily="2" charset="0"/>
                        </a:rPr>
                        <a:t>Payable Directly to You!</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100" b="1" i="0" u="none" strike="noStrike">
                          <a:solidFill>
                            <a:srgbClr val="000000"/>
                          </a:solidFill>
                          <a:effectLst/>
                          <a:latin typeface="Montserrat" panose="00000500000000000000" pitchFamily="2" charset="0"/>
                        </a:rPr>
                        <a:t>$1,550!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0967084"/>
                  </a:ext>
                </a:extLst>
              </a:tr>
              <a:tr h="349758">
                <a:tc gridSpan="2" vMerge="1">
                  <a:txBody>
                    <a:bodyPr/>
                    <a:lstStyle/>
                    <a:p>
                      <a:endParaRPr/>
                    </a:p>
                  </a:txBody>
                  <a:tcPr marL="7133" marR="7133" marT="7133" marB="0" anchor="b">
                    <a:lnL w="25400" cap="flat" cmpd="dbl"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hMerge="1" vMerge="1">
                  <a:txBody>
                    <a:bodyPr/>
                    <a:lstStyle/>
                    <a:p>
                      <a:endParaRPr/>
                    </a:p>
                  </a:txBody>
                  <a:tcPr marL="7133" marR="7133" marT="7133" marB="0" anchor="b">
                    <a:lnL>
                      <a:noFill/>
                    </a:lnL>
                    <a:lnR w="6350" cap="flat" cmpd="sng" algn="ctr">
                      <a:solidFill>
                        <a:srgbClr val="000000"/>
                      </a:solidFill>
                      <a:prstDash val="solid"/>
                      <a:round/>
                      <a:headEnd type="none" w="med" len="med"/>
                      <a:tailEnd type="none" w="med" len="med"/>
                    </a:lnR>
                    <a:lnB>
                      <a:noFill/>
                    </a:lnB>
                    <a:noFill/>
                  </a:tcPr>
                </a:tc>
                <a:tc gridSpan="2">
                  <a:txBody>
                    <a:bodyPr/>
                    <a:lstStyle/>
                    <a:p>
                      <a:pPr algn="ctr" fontAlgn="b"/>
                      <a:r>
                        <a:rPr lang="en-US" sz="1150" b="0" i="0" u="none" strike="noStrike">
                          <a:solidFill>
                            <a:srgbClr val="000000"/>
                          </a:solidFill>
                          <a:effectLst/>
                          <a:latin typeface="Montserrat" panose="00000500000000000000" pitchFamily="2" charset="0"/>
                        </a:rPr>
                        <a:t>*Critical Illness Benefits pays for 1st Diagnosis:  </a:t>
                      </a:r>
                    </a:p>
                    <a:p>
                      <a:pPr algn="ctr" fontAlgn="b"/>
                      <a:r>
                        <a:rPr lang="en-US" sz="1150" b="0" i="0" u="none" strike="noStrike">
                          <a:solidFill>
                            <a:srgbClr val="000000"/>
                          </a:solidFill>
                          <a:effectLst/>
                          <a:latin typeface="Montserrat" panose="00000500000000000000" pitchFamily="2" charset="0"/>
                        </a:rPr>
                        <a:t>Heart Attack, Stroke, Internal Cancer</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757171"/>
                      </a:solidFill>
                      <a:prstDash val="dot"/>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679086056"/>
                  </a:ext>
                </a:extLst>
              </a:tr>
            </a:tbl>
          </a:graphicData>
        </a:graphic>
      </p:graphicFrame>
    </p:spTree>
    <p:extLst>
      <p:ext uri="{BB962C8B-B14F-4D97-AF65-F5344CB8AC3E}">
        <p14:creationId xmlns:p14="http://schemas.microsoft.com/office/powerpoint/2010/main" val="26057324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6242924E-816E-0617-E717-FD91AE2D01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 y="1500695"/>
            <a:ext cx="7241309" cy="4525818"/>
          </a:xfrm>
          <a:prstGeom prst="rect">
            <a:avLst/>
          </a:prstGeom>
        </p:spPr>
      </p:pic>
      <p:sp>
        <p:nvSpPr>
          <p:cNvPr id="3" name="Title 2">
            <a:extLst>
              <a:ext uri="{FF2B5EF4-FFF2-40B4-BE49-F238E27FC236}">
                <a16:creationId xmlns:a16="http://schemas.microsoft.com/office/drawing/2014/main" id="{DD2743DB-6003-F77F-2D46-16EC76C23EA4}"/>
              </a:ext>
            </a:extLst>
          </p:cNvPr>
          <p:cNvSpPr txBox="1">
            <a:spLocks/>
          </p:cNvSpPr>
          <p:nvPr/>
        </p:nvSpPr>
        <p:spPr>
          <a:xfrm>
            <a:off x="117445" y="207689"/>
            <a:ext cx="11534623" cy="1082169"/>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SRHS</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
        <p:nvSpPr>
          <p:cNvPr id="4" name="Slide Number Placeholder 1">
            <a:extLst>
              <a:ext uri="{FF2B5EF4-FFF2-40B4-BE49-F238E27FC236}">
                <a16:creationId xmlns:a16="http://schemas.microsoft.com/office/drawing/2014/main" id="{A82E6EAB-830B-F36B-F482-0339C23492B5}"/>
              </a:ext>
            </a:extLst>
          </p:cNvPr>
          <p:cNvSpPr>
            <a:spLocks noGrp="1"/>
          </p:cNvSpPr>
          <p:nvPr>
            <p:ph type="sldNum" sz="quarter" idx="12"/>
          </p:nvPr>
        </p:nvSpPr>
        <p:spPr>
          <a:xfrm>
            <a:off x="8960395" y="633560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5" name="Picture 14">
            <a:extLst>
              <a:ext uri="{FF2B5EF4-FFF2-40B4-BE49-F238E27FC236}">
                <a16:creationId xmlns:a16="http://schemas.microsoft.com/office/drawing/2014/main" id="{18EE2CCA-91EC-8D14-02DB-5622F72597A9}"/>
              </a:ext>
            </a:extLst>
          </p:cNvPr>
          <p:cNvPicPr>
            <a:picLocks noChangeAspect="1"/>
          </p:cNvPicPr>
          <p:nvPr/>
        </p:nvPicPr>
        <p:blipFill>
          <a:blip r:embed="rId4"/>
          <a:stretch>
            <a:fillRect/>
          </a:stretch>
        </p:blipFill>
        <p:spPr>
          <a:xfrm>
            <a:off x="215573" y="6356350"/>
            <a:ext cx="2125097" cy="463658"/>
          </a:xfrm>
          <a:prstGeom prst="rect">
            <a:avLst/>
          </a:prstGeom>
        </p:spPr>
      </p:pic>
      <p:sp>
        <p:nvSpPr>
          <p:cNvPr id="6" name="Freeform 15">
            <a:extLst>
              <a:ext uri="{FF2B5EF4-FFF2-40B4-BE49-F238E27FC236}">
                <a16:creationId xmlns:a16="http://schemas.microsoft.com/office/drawing/2014/main" id="{1E58FADC-8A75-0ED5-B025-55AFCAF82465}"/>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Rectangle 10">
            <a:extLst>
              <a:ext uri="{FF2B5EF4-FFF2-40B4-BE49-F238E27FC236}">
                <a16:creationId xmlns:a16="http://schemas.microsoft.com/office/drawing/2014/main" id="{4B00F08C-D58D-B160-274C-358241C0A9BA}"/>
              </a:ext>
            </a:extLst>
          </p:cNvPr>
          <p:cNvSpPr/>
          <p:nvPr/>
        </p:nvSpPr>
        <p:spPr>
          <a:xfrm>
            <a:off x="8037505" y="1852181"/>
            <a:ext cx="3737727" cy="3975527"/>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pic>
        <p:nvPicPr>
          <p:cNvPr id="8" name="Picture 16">
            <a:extLst>
              <a:ext uri="{FF2B5EF4-FFF2-40B4-BE49-F238E27FC236}">
                <a16:creationId xmlns:a16="http://schemas.microsoft.com/office/drawing/2014/main" id="{5AC4AED8-CD54-569B-E7E6-AF890B69A91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22899" y="1981860"/>
            <a:ext cx="1197168" cy="261201"/>
          </a:xfrm>
          <a:prstGeom prst="rect">
            <a:avLst/>
          </a:prstGeom>
        </p:spPr>
      </p:pic>
      <p:pic>
        <p:nvPicPr>
          <p:cNvPr id="9" name="Picture 1">
            <a:extLst>
              <a:ext uri="{FF2B5EF4-FFF2-40B4-BE49-F238E27FC236}">
                <a16:creationId xmlns:a16="http://schemas.microsoft.com/office/drawing/2014/main" id="{77CEF25D-7C3B-E3B1-4CB8-566FCA777CFA}"/>
              </a:ext>
            </a:extLst>
          </p:cNvPr>
          <p:cNvPicPr>
            <a:picLocks noChangeAspect="1"/>
          </p:cNvPicPr>
          <p:nvPr/>
        </p:nvPicPr>
        <p:blipFill>
          <a:blip r:embed="rId6"/>
          <a:stretch>
            <a:fillRect/>
          </a:stretch>
        </p:blipFill>
        <p:spPr>
          <a:xfrm>
            <a:off x="8122899" y="2243061"/>
            <a:ext cx="3600450" cy="3429000"/>
          </a:xfrm>
          <a:prstGeom prst="rect">
            <a:avLst/>
          </a:prstGeom>
        </p:spPr>
      </p:pic>
      <p:sp>
        <p:nvSpPr>
          <p:cNvPr id="10" name="Arrow: Pentagon 17">
            <a:extLst>
              <a:ext uri="{FF2B5EF4-FFF2-40B4-BE49-F238E27FC236}">
                <a16:creationId xmlns:a16="http://schemas.microsoft.com/office/drawing/2014/main" id="{04BF0C8D-2E38-04D3-C1BE-5EA5D09D3B9B}"/>
              </a:ext>
            </a:extLst>
          </p:cNvPr>
          <p:cNvSpPr/>
          <p:nvPr/>
        </p:nvSpPr>
        <p:spPr>
          <a:xfrm>
            <a:off x="0" y="5080000"/>
            <a:ext cx="7639406" cy="766181"/>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TextBox 2">
            <a:extLst>
              <a:ext uri="{FF2B5EF4-FFF2-40B4-BE49-F238E27FC236}">
                <a16:creationId xmlns:a16="http://schemas.microsoft.com/office/drawing/2014/main" id="{4D269B07-A1ED-07AD-3675-D58BFB1D18D7}"/>
              </a:ext>
            </a:extLst>
          </p:cNvPr>
          <p:cNvSpPr txBox="1"/>
          <p:nvPr/>
        </p:nvSpPr>
        <p:spPr>
          <a:xfrm>
            <a:off x="57992" y="5309201"/>
            <a:ext cx="760735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SRHS patients will often receive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cash</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not bills </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after care episodes!</a:t>
            </a:r>
          </a:p>
        </p:txBody>
      </p:sp>
    </p:spTree>
    <p:extLst>
      <p:ext uri="{BB962C8B-B14F-4D97-AF65-F5344CB8AC3E}">
        <p14:creationId xmlns:p14="http://schemas.microsoft.com/office/powerpoint/2010/main" val="5140314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SRHS’S 2022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432474"/>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SRHS</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215,520</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$1,460,572K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52,529</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$202,592K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24%</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9,646</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$189,277K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4%</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13,424</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-$100,134K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6%</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139,921</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$1,068,259K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65%</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2021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SRHS estimates commercial insurance reimbursements at 283%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1,068,259K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283%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1,108,533K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2,176,791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1,353,144</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$823,647K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38%</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283%</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377,633K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391,870</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769,502</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1,353,144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-583,642</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-76%</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49.1%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28%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13%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4200777771"/>
              </p:ext>
            </p:extLst>
          </p:nvPr>
        </p:nvGraphicFramePr>
        <p:xfrm>
          <a:off x="265176" y="914400"/>
          <a:ext cx="9829800" cy="5095240"/>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Percent of Market Total (Assuming 49.1%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28600">
                <a:tc>
                  <a:txBody>
                    <a:bodyPr/>
                    <a:lstStyle/>
                    <a:p>
                      <a:pPr marL="63500" marR="63500" algn="l">
                        <a:lnSpc>
                          <a:spcPct val="100000"/>
                        </a:lnSpc>
                        <a:spcBef>
                          <a:spcPts val="1"/>
                        </a:spcBef>
                        <a:spcAft>
                          <a:spcPts val="1"/>
                        </a:spcAft>
                        <a:buNone/>
                      </a:pPr>
                      <a:r>
                        <a:rPr sz="1000" b="1" i="0" u="none" cap="none" dirty="0">
                          <a:solidFill>
                            <a:schemeClr val="accent1"/>
                          </a:solidFill>
                          <a:latin typeface="Montserrat"/>
                          <a:cs typeface="Arial"/>
                          <a:sym typeface="Arial"/>
                        </a:rPr>
                        <a:t>Spartanburg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626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dirty="0">
                          <a:solidFill>
                            <a:schemeClr val="accent1"/>
                          </a:solidFill>
                          <a:latin typeface="Montserrat"/>
                          <a:cs typeface="Arial"/>
                          <a:sym typeface="Arial"/>
                        </a:rPr>
                        <a:t>$2,005,249.8K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dirty="0">
                          <a:solidFill>
                            <a:schemeClr val="accent1"/>
                          </a:solidFill>
                          <a:latin typeface="Montserrat"/>
                          <a:cs typeface="Arial"/>
                          <a:sym typeface="Arial"/>
                        </a:rPr>
                        <a:t>$2,633,529.2K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dirty="0">
                          <a:solidFill>
                            <a:schemeClr val="accent1"/>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1"/>
                        </a:spcBef>
                        <a:spcAft>
                          <a:spcPts val="1"/>
                        </a:spcAft>
                        <a:buNone/>
                      </a:pPr>
                      <a:r>
                        <a:rPr sz="1000" b="1" i="0" u="none" cap="none" dirty="0">
                          <a:solidFill>
                            <a:schemeClr val="accent1"/>
                          </a:solidFill>
                          <a:latin typeface="Montserrat"/>
                          <a:cs typeface="Arial"/>
                          <a:sym typeface="Arial"/>
                        </a:rPr>
                        <a:t>Cherokee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dirty="0">
                          <a:solidFill>
                            <a:schemeClr val="accent1"/>
                          </a:solidFill>
                          <a:latin typeface="Montserrat"/>
                          <a:cs typeface="Arial"/>
                          <a:sym typeface="Arial"/>
                        </a:rPr>
                        <a:t>24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dirty="0">
                          <a:solidFill>
                            <a:schemeClr val="accent1"/>
                          </a:solidFill>
                          <a:latin typeface="Montserrat"/>
                          <a:cs typeface="Arial"/>
                          <a:sym typeface="Arial"/>
                        </a:rPr>
                        <a:t>$   46,041.0K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chemeClr val="accent1"/>
                          </a:solidFill>
                          <a:latin typeface="Montserrat"/>
                          <a:cs typeface="Arial"/>
                          <a:sym typeface="Arial"/>
                        </a:rPr>
                        <a:t>$  227,541.6K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dirty="0">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dirty="0">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1"/>
                        </a:spcBef>
                        <a:spcAft>
                          <a:spcPts val="1"/>
                        </a:spcAft>
                        <a:buNone/>
                      </a:pPr>
                      <a:r>
                        <a:rPr sz="1000" b="1" i="0" u="none" cap="none" dirty="0">
                          <a:solidFill>
                            <a:schemeClr val="accent1"/>
                          </a:solidFill>
                          <a:latin typeface="Montserrat"/>
                          <a:cs typeface="Arial"/>
                          <a:sym typeface="Arial"/>
                        </a:rPr>
                        <a:t>Pelham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48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chemeClr val="accent1"/>
                          </a:solidFill>
                          <a:latin typeface="Montserrat"/>
                          <a:cs typeface="Arial"/>
                          <a:sym typeface="Arial"/>
                        </a:rPr>
                        <a:t>$  170,670.5K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dirty="0">
                          <a:solidFill>
                            <a:schemeClr val="accent1"/>
                          </a:solidFill>
                          <a:latin typeface="Montserrat"/>
                          <a:cs typeface="Arial"/>
                          <a:sym typeface="Arial"/>
                        </a:rPr>
                        <a:t>$  406,031.5K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dirty="0">
                          <a:solidFill>
                            <a:schemeClr val="accent1"/>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Union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dirty="0">
                          <a:solidFill>
                            <a:schemeClr val="accent1"/>
                          </a:solidFill>
                          <a:latin typeface="Montserrat"/>
                          <a:cs typeface="Arial"/>
                          <a:sym typeface="Arial"/>
                        </a:rPr>
                        <a:t>15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dirty="0">
                          <a:solidFill>
                            <a:schemeClr val="accent1"/>
                          </a:solidFill>
                          <a:latin typeface="Montserrat"/>
                          <a:cs typeface="Arial"/>
                          <a:sym typeface="Arial"/>
                        </a:rPr>
                        <a:t>$    9,864.9K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dirty="0">
                          <a:solidFill>
                            <a:schemeClr val="accent1"/>
                          </a:solidFill>
                          <a:latin typeface="Montserrat"/>
                          <a:cs typeface="Arial"/>
                          <a:sym typeface="Arial"/>
                        </a:rPr>
                        <a:t>$  118,313.7K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dirty="0">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dirty="0">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Rutherford Regional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119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156,775.7K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279,998.5K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Atrium Health Cleveland</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308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640,755.1K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942,060.7K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Atrium Health Kings Mountain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51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53,725.9K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167,141.3K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AdventHealth Polk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19,110.9K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121,086.3K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AnMed Health Cannon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22,797.4K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101,499.1K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Prisma Health Baptist Easley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74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189,916.3K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350,672.7K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St Francis Downtown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338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$1,378,022.0K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$2,552,964.0K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Prisma Health Greer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74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201,940.7K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463,125.5K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Prisma Health Hillcrest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128,559.7K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381,721.0K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Prisma Health Laurens County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52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111,268.0K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240,844.1K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Prisma Health Greenville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712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$2,850,435.1K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$3,386,704.5K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Prisma Health Patewood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64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92,046.9K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733,540.5K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Shriners Childrens - Greenville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50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998671095"/>
              </p:ext>
            </p:extLst>
          </p:nvPr>
        </p:nvGraphicFramePr>
        <p:xfrm>
          <a:off x="0" y="1"/>
          <a:ext cx="12192000" cy="6858003"/>
        </p:xfrm>
        <a:graphic>
          <a:graphicData uri="http://schemas.openxmlformats.org/drawingml/2006/table">
            <a:tbl>
              <a:tblPr/>
              <a:tblGrid>
                <a:gridCol w="3677147">
                  <a:extLst>
                    <a:ext uri="{9D8B030D-6E8A-4147-A177-3AD203B41FA5}">
                      <a16:colId xmlns:a16="http://schemas.microsoft.com/office/drawing/2014/main" val="20000"/>
                    </a:ext>
                  </a:extLst>
                </a:gridCol>
                <a:gridCol w="2403772">
                  <a:extLst>
                    <a:ext uri="{9D8B030D-6E8A-4147-A177-3AD203B41FA5}">
                      <a16:colId xmlns:a16="http://schemas.microsoft.com/office/drawing/2014/main" val="20001"/>
                    </a:ext>
                  </a:extLst>
                </a:gridCol>
                <a:gridCol w="2182165">
                  <a:extLst>
                    <a:ext uri="{9D8B030D-6E8A-4147-A177-3AD203B41FA5}">
                      <a16:colId xmlns:a16="http://schemas.microsoft.com/office/drawing/2014/main" val="20002"/>
                    </a:ext>
                  </a:extLst>
                </a:gridCol>
                <a:gridCol w="2022336">
                  <a:extLst>
                    <a:ext uri="{9D8B030D-6E8A-4147-A177-3AD203B41FA5}">
                      <a16:colId xmlns:a16="http://schemas.microsoft.com/office/drawing/2014/main" val="20003"/>
                    </a:ext>
                  </a:extLst>
                </a:gridCol>
                <a:gridCol w="1906580">
                  <a:extLst>
                    <a:ext uri="{9D8B030D-6E8A-4147-A177-3AD203B41FA5}">
                      <a16:colId xmlns:a16="http://schemas.microsoft.com/office/drawing/2014/main" val="20004"/>
                    </a:ext>
                  </a:extLst>
                </a:gridCol>
              </a:tblGrid>
              <a:tr h="330165">
                <a:tc gridSpan="5">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32247">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Spartanburg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Cherokee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Pelham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Union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31105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$527,381K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$10,129K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$43,862K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$2,476K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31146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$692,618K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$50,059K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$104,350K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$29,697K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31105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$177,702K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$5,759K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$16,348K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$2,783K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46006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$182,460K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$504K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$6,088K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$225K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31105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$859,340K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$53,876K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$125,897K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$29,145K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3114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$78,906K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$8,846K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$8,252K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Montserrat"/>
                          <a:cs typeface="Arial"/>
                          <a:sym typeface="Arial"/>
                        </a:rPr>
                        <a:t>$4,130K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3114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$493,464K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$9,866K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$35,999K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$2,412K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31146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$648,075K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$48,761K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$85,644K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$28,923K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31268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$1,141,540K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$58,627K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$121,643K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$31,334K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31105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$77,962K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$1,512K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$26,690K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$819K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31135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23.8%</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29.9%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29.7%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31.9%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31135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5.5%</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31268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31135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12.8%</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11.4%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31263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65.4%</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55.2%</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63.8%</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51.3%</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31263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39.2%</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18.1%</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35.8%</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16.8%</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65215">
                <a:tc gridSpan="5">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65215">
                <a:tc gridSpan="5">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65215">
                <a:tc gridSpan="5">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65215">
                <a:tc gridSpan="5">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1335314" y="400062"/>
            <a:ext cx="10853638" cy="426472"/>
          </a:xfrm>
          <a:prstGeom prst="rect">
            <a:avLst/>
          </a:prstGeom>
          <a:noFill/>
        </p:spPr>
        <p:txBody>
          <a:bodyPr wrap="square" lIns="0" tIns="0" rIns="0" bIns="0" rtlCol="0" anchor="t"/>
          <a:lstStyle/>
          <a:p>
            <a:pPr marL="0" marR="0" lvl="0" indent="0"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dirty="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p>
          <a:p>
            <a:pPr marL="0" marR="0" lvl="0" indent="0" defTabSz="914400" rtl="0" eaLnBrk="1" fontAlgn="auto" latinLnBrk="0" hangingPunct="1">
              <a:lnSpc>
                <a:spcPts val="3360"/>
              </a:lnSpc>
              <a:spcBef>
                <a:spcPts val="0"/>
              </a:spcBef>
              <a:spcAft>
                <a:spcPts val="0"/>
              </a:spcAft>
              <a:buClrTx/>
              <a:buSzTx/>
              <a:buFontTx/>
              <a:buNone/>
              <a:tabLst/>
              <a:defRPr/>
            </a:pPr>
            <a:r>
              <a:rPr lang="en-US" sz="1600" kern="0" spc="90" dirty="0">
                <a:solidFill>
                  <a:srgbClr val="181818">
                    <a:alpha val="80000"/>
                  </a:srgbClr>
                </a:solidFill>
                <a:latin typeface="Montserrat" panose="00000500000000000000" pitchFamily="2" charset="0"/>
                <a:ea typeface="Jost*" pitchFamily="34" charset="-122"/>
              </a:rPr>
              <a:t>(Data Used for Estimating SRHS Possible Steerage)</a:t>
            </a:r>
            <a:endParaRPr kumimoji="0" lang="en-US" sz="105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Spartanburg Regional Healthcare System has 28% inpatient market share, and 13% outpatient market compared to hospitals/clinics in the Spartanburg Regional Healthcare System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Spartanburg Regional Healthcare System.</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11586827"/>
              </p:ext>
            </p:extLst>
          </p:nvPr>
        </p:nvGraphicFramePr>
        <p:xfrm>
          <a:off x="986971" y="1140566"/>
          <a:ext cx="7050605" cy="4854860"/>
        </p:xfrm>
        <a:graphic>
          <a:graphicData uri="http://schemas.openxmlformats.org/drawingml/2006/table">
            <a:tbl>
              <a:tblPr/>
              <a:tblGrid>
                <a:gridCol w="1410121">
                  <a:extLst>
                    <a:ext uri="{9D8B030D-6E8A-4147-A177-3AD203B41FA5}">
                      <a16:colId xmlns:a16="http://schemas.microsoft.com/office/drawing/2014/main" val="20000"/>
                    </a:ext>
                  </a:extLst>
                </a:gridCol>
                <a:gridCol w="1410121">
                  <a:extLst>
                    <a:ext uri="{9D8B030D-6E8A-4147-A177-3AD203B41FA5}">
                      <a16:colId xmlns:a16="http://schemas.microsoft.com/office/drawing/2014/main" val="20001"/>
                    </a:ext>
                  </a:extLst>
                </a:gridCol>
                <a:gridCol w="1410121">
                  <a:extLst>
                    <a:ext uri="{9D8B030D-6E8A-4147-A177-3AD203B41FA5}">
                      <a16:colId xmlns:a16="http://schemas.microsoft.com/office/drawing/2014/main" val="20002"/>
                    </a:ext>
                  </a:extLst>
                </a:gridCol>
                <a:gridCol w="1410121">
                  <a:extLst>
                    <a:ext uri="{9D8B030D-6E8A-4147-A177-3AD203B41FA5}">
                      <a16:colId xmlns:a16="http://schemas.microsoft.com/office/drawing/2014/main" val="20003"/>
                    </a:ext>
                  </a:extLst>
                </a:gridCol>
                <a:gridCol w="1410121">
                  <a:extLst>
                    <a:ext uri="{9D8B030D-6E8A-4147-A177-3AD203B41FA5}">
                      <a16:colId xmlns:a16="http://schemas.microsoft.com/office/drawing/2014/main" val="20004"/>
                    </a:ext>
                  </a:extLst>
                </a:gridCol>
              </a:tblGrid>
              <a:tr h="75216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SRHS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SRHS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19,800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27,000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19,800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37,800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21,900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39,400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40,700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42,300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3,900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$ 3,445,427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$ 2,875,010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$ 1,342,605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$ 7,663,042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$ 1,047,410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$ 874,002.9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$ 408,151.9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$ 2,329,565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$ 6,070,768</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$ 46,800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$ 6,075,568</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$ 5,937,568</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$ 8,372,007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$ 13,129,364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$ 6,131,302</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$ 27,632,673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$ 2,545,090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$ 3,991,327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$ 1,863,916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$ 8,400,333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28% (inpatient) and 13%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30.4%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30.4%, with a 10 percentage-point reduction to reflect competitive-edge rates and a 10 percentage-point increase due to lower billing costs and higher patient responsibility collections because of the member credit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235346847"/>
              </p:ext>
            </p:extLst>
          </p:nvPr>
        </p:nvGraphicFramePr>
        <p:xfrm>
          <a:off x="0" y="0"/>
          <a:ext cx="12198096" cy="6614113"/>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89746">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60771">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188443">
                <a:tc>
                  <a:txBody>
                    <a:bodyPr/>
                    <a:lstStyle/>
                    <a:p>
                      <a:pPr marL="63500" marR="63500" algn="l">
                        <a:lnSpc>
                          <a:spcPct val="100000"/>
                        </a:lnSpc>
                        <a:spcBef>
                          <a:spcPts val="5"/>
                        </a:spcBef>
                        <a:spcAft>
                          <a:spcPts val="5"/>
                        </a:spcAft>
                        <a:buNone/>
                      </a:pPr>
                      <a:r>
                        <a:rPr sz="1050" b="1" i="0" u="none" cap="none" dirty="0">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7521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$441.7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$883.4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$4,417.2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$22,086.1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188443">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$134.3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$268.6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$1,342.8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$6,714.2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188443">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$959.2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$1,918.4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$9,591.8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$47,958.9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188443">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$291.6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$583.2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$2,915.9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$14,579.5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7521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$517.5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$1,034.9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$5,174.6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$25,872.8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7521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$157.3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$314.6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$1,573.1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$7,865.3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7521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$368.6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$737.2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$3,685.9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$18,429.5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7521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$224.1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$1,120.5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$5,602.6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188443">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$1,453.2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$2,906.3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$14,531.7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$72,658.6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188443">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$441.8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$883.5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$4,417.6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$22,088.2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7521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$1,084.6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$2,169.2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$10,845.8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$54,229.0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7521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$329.7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$659.4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$3,297.1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$16,485.6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7521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$172.1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$344.3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$1,721.3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$8,606.4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7521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$523.3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$2,616.4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7521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$678.6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$1,357.2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$6,786.2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$33,930.9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188443">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$412.6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$2,063.0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$10,315.0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7521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$506.5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$1,013.0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$5,064.9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$25,324.5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7521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$154.0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$307.9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$1,539.7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$7,698.6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02822">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$317.0</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$964.0</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$6,139.9</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$32,019.6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026661866"/>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$982.4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$1,964.9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$9,824.4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$49,122.1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$597.3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$2,986.6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$14,933.1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$3,091.0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$6,181.9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$30,909.7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$154,548.4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$2,108.5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$4,217.1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$21,085.3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$105,426.4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$939.7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$1,879.3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$9,396.5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$46,982.7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$641.0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$1,282.0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$6,409.9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$32,049.6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dirty="0">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$317.0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$964.0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$6,139.9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$32,019.6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341389311"/>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$982.4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$1,964.9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$9,824.4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$49,122.1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$597.3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$2,986.6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$14,933.1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$3,677.2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$7,354.4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$36,771.9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$183,859.5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$2,694.7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$5,389.5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$26,947.5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$134,737.4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$1,301.7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$2,603.5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$13,017.3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$65,086.3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$1,003.1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$2,006.1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$10,030.6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$50,153.2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$679.1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$1,688.1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$9,760.6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$50,123.2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001954595"/>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$982.4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$1,964.9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$9,824.4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$49,122.1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$597.3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$2,986.6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$14,933.1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$2,504.7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$5,009.5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$25,047.5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$125,237.4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$1,522.3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$3,044.6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$15,223.1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$76,115.3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$636.2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$1,272.4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$6,362.1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$31,810.3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$337.5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$675.1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$3,375.4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$16,877.2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$13.5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$357.1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$3,105.4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$16,847.2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40</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SRHS’s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Spartanburg Regional Healthcare System</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Spartanburg Regional Healthcare System</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SRHS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41</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42</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SRHS</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SRHS’s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43</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44</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46201</TotalTime>
  <Words>5016</Words>
  <Application>Microsoft Office PowerPoint</Application>
  <PresentationFormat>Widescreen</PresentationFormat>
  <Paragraphs>1340</Paragraphs>
  <Slides>44</Slides>
  <Notes>9</Notes>
  <HiddenSlides>0</HiddenSlides>
  <MMClips>0</MMClips>
  <ScaleCrop>false</ScaleCrop>
  <HeadingPairs>
    <vt:vector size="6" baseType="variant">
      <vt:variant>
        <vt:lpstr>Fonts Used</vt:lpstr>
      </vt:variant>
      <vt:variant>
        <vt:i4>3</vt:i4>
      </vt:variant>
      <vt:variant>
        <vt:lpstr>Theme</vt:lpstr>
      </vt:variant>
      <vt:variant>
        <vt:i4>6</vt:i4>
      </vt:variant>
      <vt:variant>
        <vt:lpstr>Slide Titles</vt:lpstr>
      </vt:variant>
      <vt:variant>
        <vt:i4>44</vt:i4>
      </vt:variant>
    </vt:vector>
  </HeadingPairs>
  <TitlesOfParts>
    <vt:vector size="53" baseType="lpstr">
      <vt:lpstr>Arial</vt:lpstr>
      <vt:lpstr>Montserrat</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PowerPoint Presentation</vt:lpstr>
      <vt:lpstr>DIRECT-TO-EMPLOYER (DTE)  </vt:lpstr>
      <vt:lpstr>DTE KEYS TO SUCCESS FOR SRHS</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SRHS IS PATIENT RECOMMENDED</vt:lpstr>
      <vt:lpstr>PowerPoint Presentation</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SRHS’S 2022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2025-01-17T21:50:50Z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