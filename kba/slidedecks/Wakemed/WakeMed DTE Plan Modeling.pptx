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2145726874" r:id="rId12"/>
    <p:sldId id="2145726912" r:id="rId13"/>
    <p:sldId id="2145726869" r:id="rId14"/>
    <p:sldId id="466" r:id="rId15"/>
    <p:sldId id="2145726867" r:id="rId16"/>
    <p:sldId id="559" r:id="rId17"/>
    <p:sldId id="580" r:id="rId18"/>
    <p:sldId id="582" r:id="rId19"/>
    <p:sldId id="558" r:id="rId20"/>
    <p:sldId id="548" r:id="rId21"/>
    <p:sldId id="521" r:id="rId22"/>
    <p:sldId id="2145726872" r:id="rId23"/>
    <p:sldId id="2145726911" r:id="rId24"/>
    <p:sldId id="499" r:id="rId25"/>
    <p:sldId id="613" r:id="rId26"/>
    <p:sldId id="458" r:id="rId27"/>
    <p:sldId id="2145726859" r:id="rId28"/>
    <p:sldId id="2145726857" r:id="rId29"/>
    <p:sldId id="469" r:id="rId30"/>
    <p:sldId id="2145726856" r:id="rId31"/>
    <p:sldId id="614" r:id="rId32"/>
    <p:sldId id="459" r:id="rId33"/>
    <p:sldId id="2145726870" r:id="rId34"/>
    <p:sldId id="281"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22C045-ED67-4684-87B2-60EECC9F0408}" v="3" dt="2026-03-06T22:24:04.66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50" d="100"/>
          <a:sy n="50" d="100"/>
        </p:scale>
        <p:origin x="2670" y="1038"/>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3/6/2026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14</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24</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25</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3/6/2026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3/6/2026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3/6/2026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3/6/2026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3/6/2026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3/6/2026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3/6/2026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3/6/2026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3/6/2026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3/6/2026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3/6/2026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3/6/2026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3/6/2026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WakeMed Health and Hospitals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646920" y="347472"/>
            <a:ext cx="1041502"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WakeMed Health and Hospitals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2,200+ Employers       410,000</a:t>
            </a:r>
            <a:r>
              <a:rPr lang="en-US" sz="1600" spc="200" dirty="0">
                <a:latin typeface="Montserrat" panose="00000500000000000000" pitchFamily="2" charset="0"/>
                <a:cs typeface="+mj-cs"/>
                <a:sym typeface="Wingdings" panose="05000000000000000000" pitchFamily="2" charset="2"/>
              </a:rPr>
              <a:t>+ Employees       840,000+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66504314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1,132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497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306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223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61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84,900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74,600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91,800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156,100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366,000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152,800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134,300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165,200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281,000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241,200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658,800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stretch>
            <a:fillRect/>
          </a:stretch>
        </p:blipFill>
        <p:spPr>
          <a:xfrm>
            <a:off x="65634" y="2203024"/>
            <a:ext cx="4823663" cy="403352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WakeMed Health and Hospitals service area in Chatham, Durham, Franklin, Harnett, Johnston, Orange, and Wake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1,585K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982K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764K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410K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$13.47M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$3.63M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$79.91M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$22.53M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$163.48M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$46.25M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WakeMed Health and Hospitals has 24% inpatient market share, and 8% outpatient market compared to hospitals/clinics in the WakeMed Health and Hospitals service area (see slide 8). The DTE tiered structure will create immediate steerage, with additional steerage over time from patient bonus benefits and the patient convenience card (see slide 33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WakeMed Health and Hospitals 35%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23%</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33%</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2,452.4K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4,535.8K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7,303.9K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909.6K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2,296.4K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4,395.4K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7,183.9K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1,841.4K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3,678.6K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6,872.4K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10,955.9K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1,529.4K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3,534.6K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6,752.4K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10,865.9K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613.8K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1,226.2K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2,336.6K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3,652.0K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289.8K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1,058.2K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2,177.0K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3,502.0K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2354239"/>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14</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27.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WakeMed Health and Hospitals’s approved site(s) with network integration, and development of WakeMed Health and Hospitals’s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2,862K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898K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$ 3,457K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$ 14,311K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$10,854K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$ 4,007K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$ 3,039K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$ 2,739K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$13,827K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$ 57,242K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$43,415K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$16,028K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$12,156K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$11,946K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$27,655K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$7,743K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$114,484K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$86,830K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$32,056K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$24,312K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$24,222K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lnSpcReduction="10000"/>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WakeMed Health and Hospitals’s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WakeMed Health and Hospitals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WakeMed Health and Hospitals’s managed care with KBA’s programs positions WakeMed Health and Hospitals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WakeMed Health and Hospitals’s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WakeMed Health and Hospitals’s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WakeMed Health and Hospitals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24</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25</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WakeMed Health and Hospitals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WAKEMED</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WAKEMED HEALTH AND HOSPITALS</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WakeMed Health and Hospitals</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274,316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$1,853,637K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57,881</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$189,127K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45,421</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$348,093K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17%</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15,314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-$109,619K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155,700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$1,317,002K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WakeMed Health and Hospitals estimates commercial insurance reimbursements at 257%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1,317,002K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257%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1,380,067K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2,697,069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1,755,944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$941,125K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257%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512,671K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537,220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1,049,891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1,755,944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-706,053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-67%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24%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8%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nvGraphicFramePr>
        <p:xfrm>
          <a:off x="265176" y="914400"/>
          <a:ext cx="9829800" cy="43332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WakeMed Raleigh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$2,738,677.2K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$2,682,999.3K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WakeMed Cary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728,197.6K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860,492.8K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Duke University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$4,596,666.4K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$7,070,168.6K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 Carolina Specialty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43,908.5K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154,154.3K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UNC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1,009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$2,930,406.4K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$4,956,574.7K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UNC Health Johnston - Smithfield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505,523.5K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922,981.3K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UNC Rex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775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$1,661,998.2K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$3,063,667.7K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Durham 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151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Duke Regional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661,920.1K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932,607.9K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Select Specialty Hospital - Durham</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148,609.1K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Central Regional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Holly Hill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296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122,944.0K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4,231.7K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Triangle Springs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71,075.8K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30,433.6K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Raleigh Oaks Behavioral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102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64,407.9K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190.4K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441265570"/>
              </p:ext>
            </p:extLst>
          </p:nvPr>
        </p:nvGraphicFramePr>
        <p:xfrm>
          <a:off x="0" y="0"/>
          <a:ext cx="12192000" cy="6858002"/>
        </p:xfrm>
        <a:graphic>
          <a:graphicData uri="http://schemas.openxmlformats.org/drawingml/2006/table">
            <a:tbl>
              <a:tblPr/>
              <a:tblGrid>
                <a:gridCol w="5556956">
                  <a:extLst>
                    <a:ext uri="{9D8B030D-6E8A-4147-A177-3AD203B41FA5}">
                      <a16:colId xmlns:a16="http://schemas.microsoft.com/office/drawing/2014/main" val="20000"/>
                    </a:ext>
                  </a:extLst>
                </a:gridCol>
                <a:gridCol w="3485146">
                  <a:extLst>
                    <a:ext uri="{9D8B030D-6E8A-4147-A177-3AD203B41FA5}">
                      <a16:colId xmlns:a16="http://schemas.microsoft.com/office/drawing/2014/main" val="20001"/>
                    </a:ext>
                  </a:extLst>
                </a:gridCol>
                <a:gridCol w="3149898">
                  <a:extLst>
                    <a:ext uri="{9D8B030D-6E8A-4147-A177-3AD203B41FA5}">
                      <a16:colId xmlns:a16="http://schemas.microsoft.com/office/drawing/2014/main" val="20002"/>
                    </a:ext>
                  </a:extLst>
                </a:gridCol>
              </a:tblGrid>
              <a:tr h="349197">
                <a:tc gridSpan="3">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49197">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WakeMed Raleigh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WakeMed Cary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$728,488K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$188,603K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$713,678K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$222,868K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$142,036K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$47,091K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$307,317K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$40,776K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$993,447K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$323,556K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$92,142K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$17,477K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$699,815K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$169,843K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$685,587K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$200,699K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$1,385,402K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$370,542K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$57,398K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$40,880K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4850">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4850">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55.3%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62.0%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485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80502">
                <a:tc gridSpan="3">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80502">
                <a:tc gridSpan="3">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80502">
                <a:tc gridSpan="3">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80502">
                <a:tc gridSpan="3">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WakeMed Health and Hospitals has 24% inpatient market share, and 8% outpatient market compared to hospitals/clinics in the WakeMed Health and Hospitals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WakeMed Health and Hospitals.</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535210695"/>
              </p:ext>
            </p:extLst>
          </p:nvPr>
        </p:nvGraphicFramePr>
        <p:xfrm>
          <a:off x="571500" y="1054578"/>
          <a:ext cx="7466075" cy="5108481"/>
        </p:xfrm>
        <a:graphic>
          <a:graphicData uri="http://schemas.openxmlformats.org/drawingml/2006/table">
            <a:tbl>
              <a:tblPr/>
              <a:tblGrid>
                <a:gridCol w="1493215">
                  <a:extLst>
                    <a:ext uri="{9D8B030D-6E8A-4147-A177-3AD203B41FA5}">
                      <a16:colId xmlns:a16="http://schemas.microsoft.com/office/drawing/2014/main" val="20000"/>
                    </a:ext>
                  </a:extLst>
                </a:gridCol>
                <a:gridCol w="1493215">
                  <a:extLst>
                    <a:ext uri="{9D8B030D-6E8A-4147-A177-3AD203B41FA5}">
                      <a16:colId xmlns:a16="http://schemas.microsoft.com/office/drawing/2014/main" val="20001"/>
                    </a:ext>
                  </a:extLst>
                </a:gridCol>
                <a:gridCol w="1493215">
                  <a:extLst>
                    <a:ext uri="{9D8B030D-6E8A-4147-A177-3AD203B41FA5}">
                      <a16:colId xmlns:a16="http://schemas.microsoft.com/office/drawing/2014/main" val="20002"/>
                    </a:ext>
                  </a:extLst>
                </a:gridCol>
                <a:gridCol w="1493215">
                  <a:extLst>
                    <a:ext uri="{9D8B030D-6E8A-4147-A177-3AD203B41FA5}">
                      <a16:colId xmlns:a16="http://schemas.microsoft.com/office/drawing/2014/main" val="20003"/>
                    </a:ext>
                  </a:extLst>
                </a:gridCol>
                <a:gridCol w="1493215">
                  <a:extLst>
                    <a:ext uri="{9D8B030D-6E8A-4147-A177-3AD203B41FA5}">
                      <a16:colId xmlns:a16="http://schemas.microsoft.com/office/drawing/2014/main" val="20004"/>
                    </a:ext>
                  </a:extLst>
                </a:gridCol>
              </a:tblGrid>
              <a:tr h="921201">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WakeMed Health and Hospitals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WakeMed Health and Hospitals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936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$ 3,593,533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$ 2,263,249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$ 1,056,918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$ 6,913,699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$ 1,006,189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$ 633,709.6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$ 295,937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$ 1,935,836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$ 7,243,941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$ 7,303,941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$ 7,123,941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$ 9,933,200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$ 15,577,267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$ 7,274,451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$ 32,784,918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$ 2,781,296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$ 4,361,635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$ 2,036,846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$ 9,179,777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24% (inpatient) and 8%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83747995"/>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1932">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3739">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8234">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$17,967.7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$1,006.2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$5,030.9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$44,453.5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$248.9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$2,489.4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$12,447.0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$529.7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$5,297.2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$26,485.9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$1,483.2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$7,416.0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$2,263.2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$11,316.2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$633.7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$13,449.6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$67,247.8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$18,829.4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$11,186.3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$55,931.6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$626.4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$3,132.2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$15,660.8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$1,056.9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$5,284.6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$1,479.7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$1,256.2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$31,404.2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$8,793.2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$5,223.9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$26,119.6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$1,462.7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$7,313.5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8234">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$283.8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$897.6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$5,808.1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$30,360.4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99574510"/>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$1,382.7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$6,913.7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$34,568.5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$9,679.2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$28,621.1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$143,105.6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$108,537.1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$8,013.9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$40,069.6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$607.8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$1,215.6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$6,078.1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$30,390.4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$897.6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$5,808.1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$30,360.4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17103356"/>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$1,382.7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$6,913.7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$34,568.5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$9,679.2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$34,065.9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$170,329.3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$27,152.2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$135,760.8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$11,241.7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$56,208.7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$606.6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$1,543.2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$9,035.9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$46,499.5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8235856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$1,382.7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$6,913.7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$34,568.5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$9,679.2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$23,182.2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$115,911.2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$3,253.7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$16,268.5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$81,342.7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$1,066.4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$5,331.9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$3,396.1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$16,980.4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$361.2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$3,126.1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$16,950.4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WakeMed Health and Hospitals’s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WakeMed Health and Hospitals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WakeMed Health and Hospitals</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WakeMed Health and Hospitals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WakeMed Health and Hospitals</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WakeMed Health and Hospitals’s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46241</TotalTime>
  <Words>5130</Words>
  <Application>Microsoft Office PowerPoint</Application>
  <PresentationFormat>Widescreen</PresentationFormat>
  <Paragraphs>1303</Paragraphs>
  <Slides>43</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43</vt:i4>
      </vt:variant>
    </vt:vector>
  </HeadingPairs>
  <TitlesOfParts>
    <vt:vector size="57"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WAKEMED HEALTH AND HOSPITALS’S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2026-03-06T22:33:54Z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