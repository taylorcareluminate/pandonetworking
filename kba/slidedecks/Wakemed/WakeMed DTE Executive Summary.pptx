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  <p:sldMasterId id="2147483756" r:id="rId5"/>
    <p:sldMasterId id="2147483758" r:id="rId6"/>
    <p:sldMasterId id="2147483773" r:id="rId7"/>
  </p:sldMasterIdLst>
  <p:notesMasterIdLst>
    <p:notesMasterId r:id="rId22"/>
  </p:notesMasterIdLst>
  <p:sldIdLst>
    <p:sldId id="588" r:id="rId8"/>
    <p:sldId id="454" r:id="rId9"/>
    <p:sldId id="2145726874" r:id="rId10"/>
    <p:sldId id="2145726912" r:id="rId11"/>
    <p:sldId id="2145726869" r:id="rId12"/>
    <p:sldId id="559" r:id="rId13"/>
    <p:sldId id="580" r:id="rId14"/>
    <p:sldId id="582" r:id="rId15"/>
    <p:sldId id="548" r:id="rId16"/>
    <p:sldId id="521" r:id="rId17"/>
    <p:sldId id="2145726870" r:id="rId18"/>
    <p:sldId id="585" r:id="rId19"/>
    <p:sldId id="536" r:id="rId20"/>
    <p:sldId id="472" r:id="rId21"/>
  </p:sldIdLst>
  <p:sldSz cx="12192000" cy="6858000"/>
  <p:notesSz cx="7315200" cy="9601200"/>
  <p:custDataLst>
    <p:tags r:id="rId2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E2597A-94BE-EE4F-A6CE-E20FE57E2F9C}" name="Guest User" initials="GU" userId="S::urn:spo:anon#4882e948f16bd08fe685987adb7b014b58869755eb6e2ab80c2be75a5daf6f48::" providerId="AD"/>
  <p188:author id="{6244F3C6-ED6E-17B5-41BE-FE4DD862B991}" name="Taylor Davis" initials="TD" userId="S::taylordavis@careluminate.com::5c9e72a0-c39f-4aa1-9d7d-64125e78cbe6" providerId="AD"/>
  <p188:author id="{66F9D3D0-34A3-8F09-07C8-70124CEFC9C1}" name="Guest User" initials="GU" userId="S::urn:spo:anon#24b610c975cf575f85befe109f115faf394b3198ecce54128fd3ac5d0276f2d0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9F"/>
    <a:srgbClr val="244F9A"/>
    <a:srgbClr val="30589B"/>
    <a:srgbClr val="2F5597"/>
    <a:srgbClr val="6087CE"/>
    <a:srgbClr val="4468A5"/>
    <a:srgbClr val="F2F2F2"/>
    <a:srgbClr val="C55A11"/>
    <a:srgbClr val="F424AA"/>
    <a:srgbClr val="E23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88609" autoAdjust="0"/>
  </p:normalViewPr>
  <p:slideViewPr>
    <p:cSldViewPr snapToGrid="0">
      <p:cViewPr>
        <p:scale>
          <a:sx n="50" d="100"/>
          <a:sy n="50" d="100"/>
        </p:scale>
        <p:origin x="2670" y="10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7444AE22-21A2-46C1-A42F-3B4E8AE858E0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4139CA89-B4B2-4050-B038-8DF8E3A335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>
            <a:extLst>
              <a:ext uri="{FF2B5EF4-FFF2-40B4-BE49-F238E27FC236}">
                <a16:creationId xmlns:a16="http://schemas.microsoft.com/office/drawing/2014/main" id="{E97793FA-FB1F-6E11-725C-63C747CEFA4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12643" name="Notes Placeholder 2">
            <a:extLst>
              <a:ext uri="{FF2B5EF4-FFF2-40B4-BE49-F238E27FC236}">
                <a16:creationId xmlns:a16="http://schemas.microsoft.com/office/drawing/2014/main" id="{6A6F21D1-E85A-DA78-A39D-E1F6649EB0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112644" name="Slide Number Placeholder 3">
            <a:extLst>
              <a:ext uri="{FF2B5EF4-FFF2-40B4-BE49-F238E27FC236}">
                <a16:creationId xmlns:a16="http://schemas.microsoft.com/office/drawing/2014/main" id="{A73E266B-7A84-C243-1D0C-6C16C29DFB42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3AFF9F3-C8AB-436D-99D0-D375E19F3267}" type="slidenum">
              <a:rPr lang="en-US" altLang="en-US">
                <a:solidFill>
                  <a:srgbClr val="000000"/>
                </a:solidFill>
                <a:latin typeface="Montserrat" panose="00000500000000000000" pitchFamily="2" charset="0"/>
              </a:rPr>
              <a:pPr eaLnBrk="1" hangingPunct="1"/>
              <a:t>11</a:t>
            </a:fld>
            <a:endParaRPr lang="en-US" altLang="en-US">
              <a:solidFill>
                <a:srgbClr val="000000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737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65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57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83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99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503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796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47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90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915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91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07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29F"/>
          </a:solidFill>
        </p:spPr>
        <p:txBody>
          <a:bodyPr wrap="square" lIns="0" tIns="0" rIns="0" bIns="0" rtlCol="0"/>
          <a:lstStyle/>
          <a:p>
            <a:endParaRPr>
              <a:latin typeface="Montserrat" panose="00000500000000000000" pitchFamily="2" charset="0"/>
            </a:endParaRPr>
          </a:p>
        </p:txBody>
      </p:sp>
      <p:pic>
        <p:nvPicPr>
          <p:cNvPr id="17" name="bg object 17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07951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48784" y="2668124"/>
            <a:ext cx="312991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529F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529F"/>
                </a:solidFill>
                <a:latin typeface="Montserrat" panose="00000500000000000000" pitchFamily="2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ontserrat" panose="00000500000000000000" pitchFamily="2" charset="0"/>
                <a:cs typeface="Calibri"/>
              </a:defRPr>
            </a:lvl1pPr>
          </a:lstStyle>
          <a:p>
            <a:pPr marL="118745">
              <a:spcBef>
                <a:spcPts val="25"/>
              </a:spcBef>
            </a:pPr>
            <a:fld id="{81D60167-4931-47E6-BA6A-407CBD079E47}" type="slidenum">
              <a:rPr lang="en-US" spc="-50" smtClean="0">
                <a:solidFill>
                  <a:srgbClr val="767676"/>
                </a:solidFill>
              </a:rPr>
              <a:pPr marL="118745">
                <a:spcBef>
                  <a:spcPts val="25"/>
                </a:spcBef>
              </a:pPr>
              <a:t>‹#›</a:t>
            </a:fld>
            <a:endParaRPr lang="en-US" spc="-50" dirty="0">
              <a:solidFill>
                <a:srgbClr val="7676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895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D6220A-7814-163E-54CD-0C84B57887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>
            <a:off x="1" y="0"/>
            <a:ext cx="809640" cy="6857999"/>
          </a:xfrm>
          <a:prstGeom prst="rect">
            <a:avLst/>
          </a:prstGeom>
        </p:spPr>
      </p:pic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55968D7-D34D-4B87-A52E-96B1C2706D0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508908E-9339-78F7-37C3-1674CECF3B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D69C5BF-D386-C158-3456-9FBA5C891F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 flipH="1">
            <a:off x="11382361" y="0"/>
            <a:ext cx="80963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3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274F3-D212-A6CA-42D8-FA4F764F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936"/>
            <a:ext cx="12191999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847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333A-D7F4-8BF6-7FE6-B245E061D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FD55F-2B6A-BC81-01A1-E169ABA4D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AA2D5-089E-22AF-3D0B-4F19067E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94B4-59C2-ED48-02F2-59E034C4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61B42-85D1-521C-676B-AEF121AD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261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4B23-3A0F-2FFB-F140-0ED21664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27193-0571-3183-9568-FBC2C4C41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BE860-C86D-39CD-1793-0B867B62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9902B-89A3-6032-AD27-5B274772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0BC3B-8A86-AA5A-AD97-AFE05C11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058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9683-D972-023F-219D-7BB60D67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BF06F-33B9-F6B7-D0B0-58368CF72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91E4-3B21-B2C2-F89D-019DFA1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F9B1F-218C-4099-354A-77985CA8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B7BA-EB30-276C-F6A4-57FBE4B1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209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3683-51F3-237C-28D3-307EE44F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47C5-37A5-7576-DF3F-A03DBF5DC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1057-0101-3CB8-D158-2EAE2463F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A133-63CE-4F37-E482-EA1EECCA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C3D78-6D9B-64CF-B7D6-AEEA3A6E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D38F0-00C1-C0D4-F298-433BE1D1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716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A98D-65C1-1E26-EDD7-90B5F4CA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DBA72-820B-660B-EB15-EF77956BD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EE162-1C58-9826-D133-1AD84A30A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50119-C4BF-8D07-DED7-073F40FB5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9C018-AAE1-01C5-C4E7-1C69A018E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C6F45-ECE2-F081-F98C-EECF3EBF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19771-6EC0-7828-5F14-219FFD62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FBBDB-D016-3519-189F-C3EF7A0A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658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90F4-6BF3-9A05-11B0-CFDC94F6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2DC46-DA37-DBBE-5107-914E8DF1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D90FD-81A9-E6FB-27D3-24713EF1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16EA0-D473-AC28-DECA-DEAEF656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6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7604C-AB91-78A2-2DA4-6D1088A3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85361-F6B7-FAAB-4738-E0ADE5E1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3D6D1-624B-8B3C-90BE-2C90B19A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574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8A9-03E2-CC5E-A121-E5984E9A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13174-A575-A915-92B0-207B93D1F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26E49-3074-8C94-B0CC-8EFA1B825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9E3CC-7C4A-D7EC-E46C-5A842B8A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330E3-0B96-933C-829B-04B30C41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57A92-1BAA-DAA4-E90F-EDFBED3D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84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07BE-FE86-FD17-6855-F4BBD305C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FE0AE-B8E3-6453-74A9-2CCBC448E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BFAC6-51C3-1D27-7E41-47878F27E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98224-E0A8-36C0-DDF7-27FA70A4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4AEAA-95D8-5BA2-2F25-047DDCC1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86F25-6C70-7C4B-DFD4-192375D5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519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3B00-617F-6CDB-FC05-71E366A0D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BB096-36EC-BC27-3A10-9065A2B11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F6E8-F910-F328-584A-CA901BB3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3A474-10C6-034E-0576-8B73F4B7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4C70E-6DC2-4298-EEB8-A2AC6AD7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269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8DBE0-CED9-F7B0-5642-5731DA249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7D136-9913-226C-7C14-436B6CF99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3D2C8-E528-BF1F-C711-971E74B5E8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D753D-C084-2ADF-0E12-AA92D30C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82D8B-8E1E-F47C-7C0F-AEDE48C2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0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1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6"/>
    </p:custDataLst>
    <p:extLst>
      <p:ext uri="{BB962C8B-B14F-4D97-AF65-F5344CB8AC3E}">
        <p14:creationId xmlns:p14="http://schemas.microsoft.com/office/powerpoint/2010/main" val="293135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8BEE0-7577-10C8-2F70-A988114D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D88FE-EDC7-60BB-7A69-AF9890EA0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6E3C9-054B-7BB4-0692-08B96E994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Montserrat" panose="00000500000000000000" pitchFamily="2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svg"/><Relationship Id="rId11" Type="http://schemas.openxmlformats.org/officeDocument/2006/relationships/image" Target="../media/image10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14271" cy="6856286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2180680" y="1196279"/>
            <a:ext cx="5761184" cy="2483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195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0" cap="none" spc="47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OPPORTUNITY REVIEW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178743" y="1685802"/>
            <a:ext cx="6953573" cy="11517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9072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0" cap="none" spc="24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DIRECT-TO-EMPLOYER GTM STRATEGY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218209" y="5372101"/>
            <a:ext cx="7723655" cy="3111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2370"/>
              </a:lnSpc>
              <a:spcBef>
                <a:spcPts val="59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0" cap="none" spc="53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Exploring a WakeMed Health and Hospitals DTE Health Plan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pic>
        <p:nvPicPr>
          <p:cNvPr id="6" name="Object 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2769" y="0"/>
            <a:ext cx="3866183" cy="6856286"/>
          </a:xfrm>
          <a:prstGeom prst="rect">
            <a:avLst/>
          </a:prstGeom>
        </p:spPr>
      </p:pic>
      <p:sp>
        <p:nvSpPr>
          <p:cNvPr id="7" name="Object 8"/>
          <p:cNvSpPr/>
          <p:nvPr/>
        </p:nvSpPr>
        <p:spPr>
          <a:xfrm>
            <a:off x="495176" y="285679"/>
            <a:ext cx="2005028" cy="47613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Object 9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538" y="380905"/>
            <a:ext cx="1700304" cy="285679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8321040" y="0"/>
            <a:ext cx="38679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 descr="A large white monument in a city&#10;&#10;Description automatically generated">
            <a:extLst>
              <a:ext uri="{FF2B5EF4-FFF2-40B4-BE49-F238E27FC236}">
                <a16:creationId xmlns:a16="http://schemas.microsoft.com/office/drawing/2014/main" id="{BE8CB555-2013-D606-CB39-161E7EAEF5C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Rectangle: Single Corner Rounded 4">
            <a:extLst>
              <a:ext uri="{FF2B5EF4-FFF2-40B4-BE49-F238E27FC236}">
                <a16:creationId xmlns:a16="http://schemas.microsoft.com/office/drawing/2014/main" id="{90B02A10-01E7-2494-66B5-078DDFE69A60}"/>
              </a:ext>
            </a:extLst>
          </p:cNvPr>
          <p:cNvSpPr/>
          <p:nvPr/>
        </p:nvSpPr>
        <p:spPr>
          <a:xfrm>
            <a:off x="-8238" y="1163706"/>
            <a:ext cx="5843847" cy="5702531"/>
          </a:xfrm>
          <a:prstGeom prst="round1Rect">
            <a:avLst>
              <a:gd name="adj" fmla="val 12082"/>
            </a:avLst>
          </a:prstGeom>
          <a:solidFill>
            <a:srgbClr val="0053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marR="0" lvl="1" indent="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C3359629-7405-5BED-0491-4C3A6C6FF755}"/>
              </a:ext>
            </a:extLst>
          </p:cNvPr>
          <p:cNvSpPr txBox="1"/>
          <p:nvPr/>
        </p:nvSpPr>
        <p:spPr>
          <a:xfrm>
            <a:off x="81069" y="2184943"/>
            <a:ext cx="5681708" cy="40164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Founded in 1979, headquartered in Indianapolis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Largest Independently-Owned Full-Service Third-Party Administrator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Specialize in Administration of Self-Funded Plans and Population Health Management​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Leader in the Direct-to-Employer Movement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We Know and Understand the Market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Experience Working with All Professional Teams: Agents, Networks, MGAs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The Key Family of Companies is a Vertically Integrated group of benefit related organizations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3,000+ Corporate Clients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 Million Members under Management 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700 Employees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7533ABB-0CFF-7B45-D905-4C9D58558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0497" y="1415781"/>
            <a:ext cx="3302852" cy="64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9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D9CFD-1D5C-FF21-4A1E-7AB392E8D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39B371-73B9-408F-674E-7CD4D0AB597E}"/>
              </a:ext>
            </a:extLst>
          </p:cNvPr>
          <p:cNvSpPr/>
          <p:nvPr/>
        </p:nvSpPr>
        <p:spPr>
          <a:xfrm>
            <a:off x="1" y="0"/>
            <a:ext cx="4846964" cy="6870346"/>
          </a:xfrm>
          <a:prstGeom prst="rect">
            <a:avLst/>
          </a:prstGeom>
          <a:solidFill>
            <a:srgbClr val="1116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29C9EE-93FE-78B8-4BCD-C09DECB33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9520" y="6421464"/>
            <a:ext cx="4114800" cy="365125"/>
          </a:xfrm>
        </p:spPr>
        <p:txBody>
          <a:bodyPr/>
          <a:lstStyle/>
          <a:p>
            <a:r>
              <a:rPr lang="en-US"/>
              <a:t>Key Benefit Administrators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966400-D608-A464-A105-DE053AB49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2655" y="683306"/>
            <a:ext cx="5957965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000">
                <a:solidFill>
                  <a:srgbClr val="000B2E"/>
                </a:solidFill>
              </a:rPr>
              <a:t>Our Founding and Heritage:</a:t>
            </a:r>
            <a:br>
              <a:rPr lang="en-US" sz="4000" b="1">
                <a:solidFill>
                  <a:srgbClr val="000B2E"/>
                </a:solidFill>
              </a:rPr>
            </a:br>
            <a:r>
              <a:rPr lang="en-US" sz="3600" b="0">
                <a:solidFill>
                  <a:srgbClr val="000B2E"/>
                </a:solidFill>
              </a:rPr>
              <a:t>46 Years of Striving for Honesty in Healthcare</a:t>
            </a:r>
            <a:endParaRPr lang="en-US" sz="1600" b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Picture 2" descr="Larry Dust - Crunchbase Person Profile">
            <a:extLst>
              <a:ext uri="{FF2B5EF4-FFF2-40B4-BE49-F238E27FC236}">
                <a16:creationId xmlns:a16="http://schemas.microsoft.com/office/drawing/2014/main" id="{F7A901A5-A0C2-992D-8392-CF98ABD42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442" y="1049081"/>
            <a:ext cx="2498081" cy="24980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4" descr="Working at Key Benefit Administrators | Top Workplaces">
            <a:extLst>
              <a:ext uri="{FF2B5EF4-FFF2-40B4-BE49-F238E27FC236}">
                <a16:creationId xmlns:a16="http://schemas.microsoft.com/office/drawing/2014/main" id="{F140746C-3B1E-D8A0-5BED-E05A5C3DA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057" y="3913332"/>
            <a:ext cx="299085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0">
            <a:extLst>
              <a:ext uri="{FF2B5EF4-FFF2-40B4-BE49-F238E27FC236}">
                <a16:creationId xmlns:a16="http://schemas.microsoft.com/office/drawing/2014/main" id="{0CBFE08E-E446-CB70-FF81-2CC0C8485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7206" y="2298120"/>
            <a:ext cx="5863414" cy="398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481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>
            <a:extLst>
              <a:ext uri="{FF2B5EF4-FFF2-40B4-BE49-F238E27FC236}">
                <a16:creationId xmlns:a16="http://schemas.microsoft.com/office/drawing/2014/main" id="{E9585457-04EC-9F2F-1461-7D06991F1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26" y="691197"/>
            <a:ext cx="8657166" cy="5455920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8816521" y="0"/>
            <a:ext cx="3375480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396923" y="3710892"/>
            <a:ext cx="2304822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Bentonville, AR</a:t>
            </a:r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2439551" y="4605432"/>
            <a:ext cx="1781467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Dallas Fort Worth, TX</a:t>
            </a:r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4645491" y="5362115"/>
            <a:ext cx="2132682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Fort Myers, FL</a:t>
            </a:r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5957116" y="4048009"/>
            <a:ext cx="2272613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Knoxville, TN</a:t>
            </a:r>
          </a:p>
        </p:txBody>
      </p:sp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6678138" y="3093352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Cincinnati, OH</a:t>
            </a: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4102202" y="3058516"/>
            <a:ext cx="1854914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Louisville, KY</a:t>
            </a:r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1FBDB55F-E2EE-D357-32A6-FEC23D86F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7C6371C7-344C-3C21-F253-96E09F12864E}"/>
              </a:ext>
            </a:extLst>
          </p:cNvPr>
          <p:cNvSpPr txBox="1">
            <a:spLocks/>
          </p:cNvSpPr>
          <p:nvPr/>
        </p:nvSpPr>
        <p:spPr>
          <a:xfrm>
            <a:off x="8881352" y="1661020"/>
            <a:ext cx="3245817" cy="3307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2"/>
                </a:solidFill>
                <a:latin typeface="Book Antiqua" panose="02040602050305030304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MARKET LEADER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IN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PRIVATE LABELED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DTE PLANS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E4CD584-8CF7-DD3D-64A2-A93AEE54754C}"/>
              </a:ext>
            </a:extLst>
          </p:cNvPr>
          <p:cNvSpPr/>
          <p:nvPr/>
        </p:nvSpPr>
        <p:spPr>
          <a:xfrm>
            <a:off x="6962035" y="2256594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Cleveland, OH</a:t>
            </a:r>
          </a:p>
        </p:txBody>
      </p:sp>
    </p:spTree>
    <p:extLst>
      <p:ext uri="{BB962C8B-B14F-4D97-AF65-F5344CB8AC3E}">
        <p14:creationId xmlns:p14="http://schemas.microsoft.com/office/powerpoint/2010/main" val="358070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908" y="818337"/>
            <a:ext cx="3397612" cy="30439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4000" dirty="0">
                <a:solidFill>
                  <a:srgbClr val="000B2E"/>
                </a:solidFill>
                <a:cs typeface="Arial" panose="020B0604020202020204" pitchFamily="34" charset="0"/>
              </a:rPr>
              <a:t>DIRECT-TO-EMPLOYER</a:t>
            </a:r>
            <a:br>
              <a:rPr lang="en-US" sz="40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r>
              <a:rPr lang="en-US" sz="2800" dirty="0">
                <a:solidFill>
                  <a:srgbClr val="000B2E"/>
                </a:solidFill>
                <a:cs typeface="Arial" panose="020B0604020202020204" pitchFamily="34" charset="0"/>
              </a:rPr>
              <a:t>(DTE)</a:t>
            </a:r>
            <a:br>
              <a:rPr lang="en-US" sz="1600" dirty="0">
                <a:solidFill>
                  <a:srgbClr val="000B2E"/>
                </a:solidFill>
                <a:cs typeface="Arial" panose="020B0604020202020204" pitchFamily="34" charset="0"/>
              </a:rPr>
            </a:br>
            <a:br>
              <a:rPr lang="en-US" sz="16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78" y="1468132"/>
            <a:ext cx="6697847" cy="4660901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Pick the Name of the Health Plan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Determine the Fees Charged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Practice the Medicine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Receive the Profits 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WE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Make it Successful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00539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grpSp>
        <p:nvGrpSpPr>
          <p:cNvPr id="7" name="Group 41">
            <a:extLst>
              <a:ext uri="{FF2B5EF4-FFF2-40B4-BE49-F238E27FC236}">
                <a16:creationId xmlns:a16="http://schemas.microsoft.com/office/drawing/2014/main" id="{C3A11C0D-6225-4F5F-9034-762253C251A2}"/>
              </a:ext>
            </a:extLst>
          </p:cNvPr>
          <p:cNvGrpSpPr/>
          <p:nvPr/>
        </p:nvGrpSpPr>
        <p:grpSpPr>
          <a:xfrm>
            <a:off x="4632939" y="1468132"/>
            <a:ext cx="640080" cy="4254692"/>
            <a:chOff x="5315974" y="943768"/>
            <a:chExt cx="640080" cy="4254692"/>
          </a:xfrm>
          <a:noFill/>
        </p:grpSpPr>
        <p:pic>
          <p:nvPicPr>
            <p:cNvPr id="8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D8A1C779-0B9F-4A67-8037-7D25A11FFA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4558380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9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78B72E30-7B45-40B1-9302-CE9A3F3AD9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3678222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0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9D9240A2-869D-4166-9772-32124160B4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2798065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1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E8C8DD14-AAF4-4762-B170-F052A3B228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1870916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2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C05F6E83-E756-4853-B3A8-49C6BE0325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943768"/>
              <a:ext cx="640080" cy="640080"/>
            </a:xfrm>
            <a:prstGeom prst="rect">
              <a:avLst/>
            </a:prstGeom>
            <a:grpFill/>
          </p:spPr>
        </p:pic>
      </p:grpSp>
      <p:sp>
        <p:nvSpPr>
          <p:cNvPr id="13" name="TextBox 14">
            <a:extLst>
              <a:ext uri="{FF2B5EF4-FFF2-40B4-BE49-F238E27FC236}">
                <a16:creationId xmlns:a16="http://schemas.microsoft.com/office/drawing/2014/main" id="{B8E36735-A0E0-6123-117C-3DE9AA3B9518}"/>
              </a:ext>
            </a:extLst>
          </p:cNvPr>
          <p:cNvSpPr txBox="1"/>
          <p:nvPr/>
        </p:nvSpPr>
        <p:spPr>
          <a:xfrm>
            <a:off x="1148436" y="3085346"/>
            <a:ext cx="24786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000B2E"/>
                </a:solidFill>
                <a:cs typeface="Arial" panose="020B0604020202020204" pitchFamily="34" charset="0"/>
              </a:rPr>
              <a:t>Your</a:t>
            </a:r>
            <a:r>
              <a:rPr lang="en-US" sz="1800" b="1" dirty="0">
                <a:solidFill>
                  <a:srgbClr val="000B2E"/>
                </a:solidFill>
                <a:cs typeface="Arial" panose="020B0604020202020204" pitchFamily="34" charset="0"/>
              </a:rPr>
              <a:t> Health Plan Focused on a Direct Relationship with Self-Funded Employers in </a:t>
            </a:r>
            <a:r>
              <a:rPr lang="en-US" sz="1800" b="1" i="1" dirty="0">
                <a:solidFill>
                  <a:srgbClr val="000B2E"/>
                </a:solidFill>
                <a:cs typeface="Arial" panose="020B0604020202020204" pitchFamily="34" charset="0"/>
              </a:rPr>
              <a:t>Your</a:t>
            </a:r>
            <a:r>
              <a:rPr lang="en-US" sz="1800" b="1" dirty="0">
                <a:solidFill>
                  <a:srgbClr val="000B2E"/>
                </a:solidFill>
                <a:cs typeface="Arial" panose="020B0604020202020204" pitchFamily="34" charset="0"/>
              </a:rPr>
              <a:t> Market</a:t>
            </a:r>
            <a:endParaRPr lang="en-US" dirty="0"/>
          </a:p>
        </p:txBody>
      </p:sp>
      <p:pic>
        <p:nvPicPr>
          <p:cNvPr id="14" name="Content Placeholder 13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9646920" y="347472"/>
            <a:ext cx="1041502" cy="77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748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227045" y="1330559"/>
            <a:ext cx="117379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spc="2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  <a:cs typeface="+mj-cs"/>
              </a:rPr>
              <a:t>Target Market</a:t>
            </a:r>
            <a:br>
              <a:rPr lang="en-US" sz="1600" spc="200" dirty="0">
                <a:latin typeface="Montserrat" panose="00000500000000000000" pitchFamily="2" charset="0"/>
                <a:cs typeface="+mj-cs"/>
              </a:rPr>
            </a:br>
            <a:r>
              <a:rPr lang="en-US" sz="1600" spc="200" dirty="0">
                <a:latin typeface="Montserrat" panose="00000500000000000000" pitchFamily="2" charset="0"/>
                <a:cs typeface="+mj-cs"/>
              </a:rPr>
              <a:t>2,200+ Employers       410,000</a:t>
            </a:r>
            <a:r>
              <a:rPr lang="en-US" sz="1600" spc="200" dirty="0">
                <a:latin typeface="Montserrat" panose="00000500000000000000" pitchFamily="2" charset="0"/>
                <a:cs typeface="+mj-cs"/>
                <a:sym typeface="Wingdings" panose="05000000000000000000" pitchFamily="2" charset="2"/>
              </a:rPr>
              <a:t>+ Employees       840,000+ Members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5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ontserrat" panose="00000500000000000000" pitchFamily="2" charset="0"/>
              </a:rPr>
              <a:t>    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6" y="43143"/>
            <a:ext cx="12028428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200" b="0" dirty="0">
                <a:solidFill>
                  <a:srgbClr val="000B2E"/>
                </a:solidFill>
              </a:rPr>
              <a:t>SIGNIFICANT OPPORTUNITY FOR PLAN GROWTH</a:t>
            </a:r>
            <a:br>
              <a:rPr lang="en-US" sz="3200" dirty="0">
                <a:solidFill>
                  <a:srgbClr val="000B2E"/>
                </a:solidFill>
              </a:rPr>
            </a:br>
            <a:r>
              <a:rPr lang="en-US" sz="2000" b="0" dirty="0">
                <a:solidFill>
                  <a:srgbClr val="000B2E"/>
                </a:solidFill>
              </a:rPr>
              <a:t>Researched for the below highlighted service area</a:t>
            </a:r>
            <a:endParaRPr lang="en-US" sz="14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B9E0A44D-EDC5-EBD5-4D77-F30FF46B0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043143"/>
              </p:ext>
            </p:extLst>
          </p:nvPr>
        </p:nvGraphicFramePr>
        <p:xfrm>
          <a:off x="4889297" y="2140949"/>
          <a:ext cx="6949427" cy="3441355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33313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Commercial Employers With Headquarters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1,132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Employees at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84,900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74,600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91,800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156,100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134,000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366,000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Members with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152,800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134,300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165,200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241,200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658,800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5634" y="2203024"/>
            <a:ext cx="4823663" cy="403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60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/>
          <a:lstStyle/>
          <a:p>
            <a:r>
              <a:rPr lang="en-US" b="0" dirty="0"/>
              <a:t>PLAN POTENTIAL GROWTH PATHS</a:t>
            </a:r>
          </a:p>
        </p:txBody>
      </p:sp>
      <p:grpSp>
        <p:nvGrpSpPr>
          <p:cNvPr id="3" name="Group 28">
            <a:extLst>
              <a:ext uri="{FF2B5EF4-FFF2-40B4-BE49-F238E27FC236}">
                <a16:creationId xmlns:a16="http://schemas.microsoft.com/office/drawing/2014/main" id="{69A10699-B4B2-AF88-E1A1-1EF0A88AB471}"/>
              </a:ext>
            </a:extLst>
          </p:cNvPr>
          <p:cNvGrpSpPr/>
          <p:nvPr/>
        </p:nvGrpSpPr>
        <p:grpSpPr>
          <a:xfrm>
            <a:off x="315991" y="1915224"/>
            <a:ext cx="4179295" cy="3636786"/>
            <a:chOff x="1267778" y="2161521"/>
            <a:chExt cx="8731885" cy="4307840"/>
          </a:xfrm>
        </p:grpSpPr>
        <p:grpSp>
          <p:nvGrpSpPr>
            <p:cNvPr id="4" name="Group 29">
              <a:extLst>
                <a:ext uri="{FF2B5EF4-FFF2-40B4-BE49-F238E27FC236}">
                  <a16:creationId xmlns:a16="http://schemas.microsoft.com/office/drawing/2014/main" id="{11C874E5-E3B4-BAE0-4E2D-2C86D4E7E53A}"/>
                </a:ext>
              </a:extLst>
            </p:cNvPr>
            <p:cNvGrpSpPr/>
            <p:nvPr/>
          </p:nvGrpSpPr>
          <p:grpSpPr>
            <a:xfrm>
              <a:off x="1267778" y="5494001"/>
              <a:ext cx="7329805" cy="975360"/>
              <a:chOff x="1267778" y="5494001"/>
              <a:chExt cx="7329805" cy="975360"/>
            </a:xfrm>
          </p:grpSpPr>
          <p:sp>
            <p:nvSpPr>
              <p:cNvPr id="5" name="Freeform: Shape 72">
                <a:extLst>
                  <a:ext uri="{FF2B5EF4-FFF2-40B4-BE49-F238E27FC236}">
                    <a16:creationId xmlns:a16="http://schemas.microsoft.com/office/drawing/2014/main" id="{C2AD90F2-700F-581B-540A-D6A10D5F84F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" name="TextBox 73">
                <a:extLst>
                  <a:ext uri="{FF2B5EF4-FFF2-40B4-BE49-F238E27FC236}">
                    <a16:creationId xmlns:a16="http://schemas.microsoft.com/office/drawing/2014/main" id="{AEAD331A-F2F6-E5AA-6FA8-43463612A331}"/>
                  </a:ext>
                </a:extLst>
              </p:cNvPr>
              <p:cNvSpPr txBox="1"/>
              <p:nvPr/>
            </p:nvSpPr>
            <p:spPr>
              <a:xfrm>
                <a:off x="1267778" y="5759838"/>
                <a:ext cx="3705006" cy="443686"/>
              </a:xfrm>
              <a:prstGeom prst="roundRect">
                <a:avLst/>
              </a:prstGeom>
              <a:solidFill>
                <a:srgbClr val="00539F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Group 30">
              <a:extLst>
                <a:ext uri="{FF2B5EF4-FFF2-40B4-BE49-F238E27FC236}">
                  <a16:creationId xmlns:a16="http://schemas.microsoft.com/office/drawing/2014/main" id="{689474B3-12FA-8E66-D71F-53822C9C68C9}"/>
                </a:ext>
              </a:extLst>
            </p:cNvPr>
            <p:cNvGrpSpPr/>
            <p:nvPr/>
          </p:nvGrpSpPr>
          <p:grpSpPr>
            <a:xfrm>
              <a:off x="1724978" y="2161521"/>
              <a:ext cx="8274685" cy="3197014"/>
              <a:chOff x="3170556" y="1830493"/>
              <a:chExt cx="8274685" cy="3197014"/>
            </a:xfrm>
          </p:grpSpPr>
          <p:grpSp>
            <p:nvGrpSpPr>
              <p:cNvPr id="8" name="Group 58">
                <a:extLst>
                  <a:ext uri="{FF2B5EF4-FFF2-40B4-BE49-F238E27FC236}">
                    <a16:creationId xmlns:a16="http://schemas.microsoft.com/office/drawing/2014/main" id="{51ED3EA0-1B18-EEE0-293E-BB00AD4DE764}"/>
                  </a:ext>
                </a:extLst>
              </p:cNvPr>
              <p:cNvGrpSpPr/>
              <p:nvPr/>
            </p:nvGrpSpPr>
            <p:grpSpPr>
              <a:xfrm>
                <a:off x="3170556" y="4052147"/>
                <a:ext cx="7339965" cy="975360"/>
                <a:chOff x="3170556" y="4052147"/>
                <a:chExt cx="7339965" cy="975360"/>
              </a:xfrm>
            </p:grpSpPr>
            <p:sp>
              <p:nvSpPr>
                <p:cNvPr id="9" name="Freeform: Shape 62">
                  <a:extLst>
                    <a:ext uri="{FF2B5EF4-FFF2-40B4-BE49-F238E27FC236}">
                      <a16:creationId xmlns:a16="http://schemas.microsoft.com/office/drawing/2014/main" id="{BC70B6BA-E51B-5756-ABB1-C97D21E56F2F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" name="TextBox 63">
                  <a:extLst>
                    <a:ext uri="{FF2B5EF4-FFF2-40B4-BE49-F238E27FC236}">
                      <a16:creationId xmlns:a16="http://schemas.microsoft.com/office/drawing/2014/main" id="{89D49C14-1775-066C-353B-1ACCC4D24138}"/>
                    </a:ext>
                  </a:extLst>
                </p:cNvPr>
                <p:cNvSpPr txBox="1"/>
                <p:nvPr/>
              </p:nvSpPr>
              <p:spPr>
                <a:xfrm>
                  <a:off x="3170556" y="4317984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" name="Group 52">
                <a:extLst>
                  <a:ext uri="{FF2B5EF4-FFF2-40B4-BE49-F238E27FC236}">
                    <a16:creationId xmlns:a16="http://schemas.microsoft.com/office/drawing/2014/main" id="{1DBB449D-FFE3-79BF-CC4B-CBC0A3F03B29}"/>
                  </a:ext>
                </a:extLst>
              </p:cNvPr>
              <p:cNvGrpSpPr/>
              <p:nvPr/>
            </p:nvGrpSpPr>
            <p:grpSpPr>
              <a:xfrm>
                <a:off x="3612748" y="2930285"/>
                <a:ext cx="7365133" cy="975360"/>
                <a:chOff x="3612747" y="2930285"/>
                <a:chExt cx="7365133" cy="975360"/>
              </a:xfrm>
            </p:grpSpPr>
            <p:sp>
              <p:nvSpPr>
                <p:cNvPr id="12" name="Freeform: Shape 56">
                  <a:extLst>
                    <a:ext uri="{FF2B5EF4-FFF2-40B4-BE49-F238E27FC236}">
                      <a16:creationId xmlns:a16="http://schemas.microsoft.com/office/drawing/2014/main" id="{2D2231FB-5290-0F34-19A4-B0491233CE27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" name="TextBox 57">
                  <a:extLst>
                    <a:ext uri="{FF2B5EF4-FFF2-40B4-BE49-F238E27FC236}">
                      <a16:creationId xmlns:a16="http://schemas.microsoft.com/office/drawing/2014/main" id="{3C6B2C41-D61E-2C7A-3D82-5A90E06CEE5A}"/>
                    </a:ext>
                  </a:extLst>
                </p:cNvPr>
                <p:cNvSpPr txBox="1"/>
                <p:nvPr/>
              </p:nvSpPr>
              <p:spPr>
                <a:xfrm>
                  <a:off x="3612747" y="3206963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" name="Group 46">
                <a:extLst>
                  <a:ext uri="{FF2B5EF4-FFF2-40B4-BE49-F238E27FC236}">
                    <a16:creationId xmlns:a16="http://schemas.microsoft.com/office/drawing/2014/main" id="{F80321D4-B659-65A7-5D2E-CFE404DB4D8E}"/>
                  </a:ext>
                </a:extLst>
              </p:cNvPr>
              <p:cNvGrpSpPr/>
              <p:nvPr/>
            </p:nvGrpSpPr>
            <p:grpSpPr>
              <a:xfrm>
                <a:off x="4104006" y="1830493"/>
                <a:ext cx="7341235" cy="975360"/>
                <a:chOff x="4104006" y="1830493"/>
                <a:chExt cx="7341235" cy="975360"/>
              </a:xfrm>
            </p:grpSpPr>
            <p:sp>
              <p:nvSpPr>
                <p:cNvPr id="15" name="Freeform: Shape 50">
                  <a:extLst>
                    <a:ext uri="{FF2B5EF4-FFF2-40B4-BE49-F238E27FC236}">
                      <a16:creationId xmlns:a16="http://schemas.microsoft.com/office/drawing/2014/main" id="{19C69411-1E7E-AB74-D150-B508F4902A7E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6" name="TextBox 51">
                  <a:extLst>
                    <a:ext uri="{FF2B5EF4-FFF2-40B4-BE49-F238E27FC236}">
                      <a16:creationId xmlns:a16="http://schemas.microsoft.com/office/drawing/2014/main" id="{2AE87841-825C-FE4F-1AB9-6CC03862C17F}"/>
                    </a:ext>
                  </a:extLst>
                </p:cNvPr>
                <p:cNvSpPr txBox="1"/>
                <p:nvPr/>
              </p:nvSpPr>
              <p:spPr>
                <a:xfrm>
                  <a:off x="4104006" y="2096329"/>
                  <a:ext cx="3705005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7" name="Freeform: Shape 31">
              <a:extLst>
                <a:ext uri="{FF2B5EF4-FFF2-40B4-BE49-F238E27FC236}">
                  <a16:creationId xmlns:a16="http://schemas.microsoft.com/office/drawing/2014/main" id="{93803CD4-6355-5262-37E3-213F86A67BEA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grpSp>
          <p:nvGrpSpPr>
            <p:cNvPr id="18" name="Group 32">
              <a:extLst>
                <a:ext uri="{FF2B5EF4-FFF2-40B4-BE49-F238E27FC236}">
                  <a16:creationId xmlns:a16="http://schemas.microsoft.com/office/drawing/2014/main" id="{C15EBE08-F14E-85B7-24FB-021AE8C94BA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19" name="Freeform: Shape 36">
                <a:extLst>
                  <a:ext uri="{FF2B5EF4-FFF2-40B4-BE49-F238E27FC236}">
                    <a16:creationId xmlns:a16="http://schemas.microsoft.com/office/drawing/2014/main" id="{99971868-A4E7-F273-D79D-9C20F2C9304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0" name="Freeform: Shape 37">
                <a:extLst>
                  <a:ext uri="{FF2B5EF4-FFF2-40B4-BE49-F238E27FC236}">
                    <a16:creationId xmlns:a16="http://schemas.microsoft.com/office/drawing/2014/main" id="{26D4449C-E24F-47A1-0BA9-B4D1231EE90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1" name="Freeform: Shape 38">
                <a:extLst>
                  <a:ext uri="{FF2B5EF4-FFF2-40B4-BE49-F238E27FC236}">
                    <a16:creationId xmlns:a16="http://schemas.microsoft.com/office/drawing/2014/main" id="{380CB4F0-D598-949F-D94F-54D7DBD5CD13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2" name="Freeform: Shape 39">
                <a:extLst>
                  <a:ext uri="{FF2B5EF4-FFF2-40B4-BE49-F238E27FC236}">
                    <a16:creationId xmlns:a16="http://schemas.microsoft.com/office/drawing/2014/main" id="{71E01EC1-04E0-F00A-E7D0-A3570350B0A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3" name="Freeform: Shape 40">
                <a:extLst>
                  <a:ext uri="{FF2B5EF4-FFF2-40B4-BE49-F238E27FC236}">
                    <a16:creationId xmlns:a16="http://schemas.microsoft.com/office/drawing/2014/main" id="{3D3A0C0B-3028-02AB-45A9-5AC22941B39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24" name="Freeform: Shape 33">
              <a:extLst>
                <a:ext uri="{FF2B5EF4-FFF2-40B4-BE49-F238E27FC236}">
                  <a16:creationId xmlns:a16="http://schemas.microsoft.com/office/drawing/2014/main" id="{F62C5FEE-739C-5CD8-3480-47AFBD4B137D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sp>
          <p:nvSpPr>
            <p:cNvPr id="25" name="Freeform: Shape 34">
              <a:extLst>
                <a:ext uri="{FF2B5EF4-FFF2-40B4-BE49-F238E27FC236}">
                  <a16:creationId xmlns:a16="http://schemas.microsoft.com/office/drawing/2014/main" id="{BCD906C9-9D1F-D350-D161-F4D9B4B287D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26" name="TextBox 75">
            <a:extLst>
              <a:ext uri="{FF2B5EF4-FFF2-40B4-BE49-F238E27FC236}">
                <a16:creationId xmlns:a16="http://schemas.microsoft.com/office/drawing/2014/main" id="{02AD65D6-9504-23E6-E4FD-CC294F4A3C64}"/>
              </a:ext>
            </a:extLst>
          </p:cNvPr>
          <p:cNvSpPr txBox="1"/>
          <p:nvPr/>
        </p:nvSpPr>
        <p:spPr>
          <a:xfrm>
            <a:off x="981590" y="5731169"/>
            <a:ext cx="9514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/>
                <a:latin typeface="Montserrat" panose="00000500000000000000" pitchFamily="2" charset="0"/>
              </a:rPr>
              <a:t>Estimates includes the WakeMed Health and Hospitals service area in Chatham, Durham, Franklin, Harnett, Johnston, Orange, and Wake Counties</a:t>
            </a:r>
          </a:p>
        </p:txBody>
      </p:sp>
      <p:sp>
        <p:nvSpPr>
          <p:cNvPr id="27" name="TextBox 76">
            <a:extLst>
              <a:ext uri="{FF2B5EF4-FFF2-40B4-BE49-F238E27FC236}">
                <a16:creationId xmlns:a16="http://schemas.microsoft.com/office/drawing/2014/main" id="{F3A378C3-B669-3EE2-B76D-98EDB44E8CDF}"/>
              </a:ext>
            </a:extLst>
          </p:cNvPr>
          <p:cNvSpPr txBox="1"/>
          <p:nvPr/>
        </p:nvSpPr>
        <p:spPr>
          <a:xfrm>
            <a:off x="2326255" y="4909050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1,585K</a:t>
            </a:r>
          </a:p>
        </p:txBody>
      </p:sp>
      <p:sp>
        <p:nvSpPr>
          <p:cNvPr id="28" name="TextBox 77">
            <a:extLst>
              <a:ext uri="{FF2B5EF4-FFF2-40B4-BE49-F238E27FC236}">
                <a16:creationId xmlns:a16="http://schemas.microsoft.com/office/drawing/2014/main" id="{F24CF5B8-0E02-1AF3-2A3D-F14253B44FE8}"/>
              </a:ext>
            </a:extLst>
          </p:cNvPr>
          <p:cNvSpPr txBox="1"/>
          <p:nvPr/>
        </p:nvSpPr>
        <p:spPr>
          <a:xfrm>
            <a:off x="2549188" y="3983995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982K</a:t>
            </a:r>
          </a:p>
        </p:txBody>
      </p:sp>
      <p:sp>
        <p:nvSpPr>
          <p:cNvPr id="29" name="TextBox 78">
            <a:extLst>
              <a:ext uri="{FF2B5EF4-FFF2-40B4-BE49-F238E27FC236}">
                <a16:creationId xmlns:a16="http://schemas.microsoft.com/office/drawing/2014/main" id="{509B3348-F2D5-63CE-B5D5-5FB7263B3D0F}"/>
              </a:ext>
            </a:extLst>
          </p:cNvPr>
          <p:cNvSpPr txBox="1"/>
          <p:nvPr/>
        </p:nvSpPr>
        <p:spPr>
          <a:xfrm>
            <a:off x="2768644" y="3041250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764K</a:t>
            </a:r>
          </a:p>
        </p:txBody>
      </p:sp>
      <p:sp>
        <p:nvSpPr>
          <p:cNvPr id="30" name="TextBox 79">
            <a:extLst>
              <a:ext uri="{FF2B5EF4-FFF2-40B4-BE49-F238E27FC236}">
                <a16:creationId xmlns:a16="http://schemas.microsoft.com/office/drawing/2014/main" id="{7E24246C-24ED-62DA-EA2E-6EA4A6ADAEAC}"/>
              </a:ext>
            </a:extLst>
          </p:cNvPr>
          <p:cNvSpPr txBox="1"/>
          <p:nvPr/>
        </p:nvSpPr>
        <p:spPr>
          <a:xfrm>
            <a:off x="2988100" y="2109715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410K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0D8A2093-EE63-6F98-17FC-8FA2F27D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32" name="Freeform 13">
            <a:extLst>
              <a:ext uri="{FF2B5EF4-FFF2-40B4-BE49-F238E27FC236}">
                <a16:creationId xmlns:a16="http://schemas.microsoft.com/office/drawing/2014/main" id="{28524B04-16FE-D5D9-4125-86AD5B994E04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33" name="Content Placeholder 32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5705856" y="1911096"/>
            <a:ext cx="6364224" cy="381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$13.47M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$3.63M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$79.91M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$22.53M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$163.48M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$46.25M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3200" b="0" dirty="0"/>
              <a:t>GROWING POWERFUL, LASTING PROFITABILITY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00539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1,227.6K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2,452.4K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4,535.8K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7,303.9K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24.0K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39.6K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909.6K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2,296.4K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4,395.4K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7,183.9K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1,841.4K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3,678.6K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6,872.4K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10,955.9K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18.0K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36.0K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1,529.4K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3,534.6K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6,752.4K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10,865.9K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613.8K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1,226.2K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2,336.6K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3,652.0K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20.4K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289.8K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1,058.2K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2,177.0K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3,502.0K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4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157" y="136525"/>
            <a:ext cx="11569498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000B2E"/>
                </a:solidFill>
                <a:cs typeface="Arial" panose="020B0604020202020204" pitchFamily="34" charset="0"/>
              </a:rPr>
              <a:t>DIRECT-TO-EMPLOYER STRATEGY:</a:t>
            </a:r>
            <a:br>
              <a:rPr lang="en-US" sz="36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000B2E"/>
                </a:solidFill>
                <a:cs typeface="Arial" panose="020B0604020202020204" pitchFamily="34" charset="0"/>
              </a:rPr>
              <a:t>ONLY AVAILABLE TO </a:t>
            </a:r>
            <a:r>
              <a:rPr lang="en-US" sz="3200" b="1" i="1" dirty="0">
                <a:solidFill>
                  <a:srgbClr val="000B2E"/>
                </a:solidFill>
                <a:cs typeface="Arial" panose="020B0604020202020204" pitchFamily="34" charset="0"/>
              </a:rPr>
              <a:t>PREMIER</a:t>
            </a:r>
            <a:r>
              <a:rPr lang="en-US" sz="3200" b="1" dirty="0">
                <a:solidFill>
                  <a:srgbClr val="000B2E"/>
                </a:solidFill>
                <a:cs typeface="Arial" panose="020B0604020202020204" pitchFamily="34" charset="0"/>
              </a:rPr>
              <a:t> HEALTH SYSTEMS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2859" y="1848935"/>
            <a:ext cx="6028455" cy="46609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STRONG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Brand Quality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EXTENSIVE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Patient Access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AFFORDABLE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 Pricing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EXCELLENT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Care Quality  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182E78E4-84F7-ECC4-4085-D8F128942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63B286E7-A296-8685-AC6B-CA7B2EB60EBD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6" name="Content Placeholder 5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1508760" y="2834640"/>
            <a:ext cx="3154680" cy="235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461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>
            <a:extLst>
              <a:ext uri="{FF2B5EF4-FFF2-40B4-BE49-F238E27FC236}">
                <a16:creationId xmlns:a16="http://schemas.microsoft.com/office/drawing/2014/main" id="{1FA40FF6-6F06-E7AC-B58F-754B92C3F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00188"/>
            <a:ext cx="7240588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EB2CE0FD-6B1E-B7F0-53B0-E04CE9D1F3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959850" y="633571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A699914-4451-4BEC-AE9A-05A627140C49}" type="slidenum">
              <a:rPr lang="en-US" altLang="en-US" smtClean="0">
                <a:solidFill>
                  <a:srgbClr val="898989"/>
                </a:solidFill>
                <a:latin typeface="Montserrat" panose="00000500000000000000" pitchFamily="2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en-US" dirty="0">
              <a:solidFill>
                <a:srgbClr val="898989"/>
              </a:solidFill>
              <a:latin typeface="Montserrat" panose="00000500000000000000" pitchFamily="2" charset="0"/>
            </a:endParaRPr>
          </a:p>
        </p:txBody>
      </p:sp>
      <p:pic>
        <p:nvPicPr>
          <p:cNvPr id="4" name="Picture 14">
            <a:extLst>
              <a:ext uri="{FF2B5EF4-FFF2-40B4-BE49-F238E27FC236}">
                <a16:creationId xmlns:a16="http://schemas.microsoft.com/office/drawing/2014/main" id="{24DABA54-344C-0002-7993-38600E1AC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6356350"/>
            <a:ext cx="2124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reeform 15">
            <a:extLst>
              <a:ext uri="{FF2B5EF4-FFF2-40B4-BE49-F238E27FC236}">
                <a16:creationId xmlns:a16="http://schemas.microsoft.com/office/drawing/2014/main" id="{C7195C47-ACB6-7506-6D43-E4D4E204766B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7292976" y="1958975"/>
            <a:ext cx="195262" cy="9628187"/>
          </a:xfrm>
          <a:custGeom>
            <a:avLst/>
            <a:gdLst>
              <a:gd name="T0" fmla="*/ 0 w 165300"/>
              <a:gd name="T1" fmla="*/ 0 h 503014"/>
              <a:gd name="T2" fmla="*/ 229461 w 165300"/>
              <a:gd name="T3" fmla="*/ 0 h 503014"/>
              <a:gd name="T4" fmla="*/ 229461 w 165300"/>
              <a:gd name="T5" fmla="*/ 184313858 h 503014"/>
              <a:gd name="T6" fmla="*/ 0 w 165300"/>
              <a:gd name="T7" fmla="*/ 184313858 h 50301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lnTo>
                  <a:pt x="0" y="0"/>
                </a:lnTo>
                <a:close/>
              </a:path>
            </a:pathLst>
          </a:custGeom>
          <a:solidFill>
            <a:srgbClr val="00539F"/>
          </a:solidFill>
          <a:ln>
            <a:noFill/>
          </a:ln>
          <a:extLst>
            <a:ext uri="{91240B29-F687-4F45-9708-019B960494DF}">
              <a14:hiddenLine xmlns:a14="http://schemas.microsoft.com/office/drawing/2010/main" w="0" cap="flat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2C3C063F-478C-1983-EB9B-BC9212331397}"/>
              </a:ext>
            </a:extLst>
          </p:cNvPr>
          <p:cNvSpPr/>
          <p:nvPr/>
        </p:nvSpPr>
        <p:spPr>
          <a:xfrm>
            <a:off x="8037513" y="1449547"/>
            <a:ext cx="3736975" cy="488616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Montserrat" panose="00000500000000000000" pitchFamily="2" charset="0"/>
            </a:endParaRPr>
          </a:p>
        </p:txBody>
      </p:sp>
      <p:pic>
        <p:nvPicPr>
          <p:cNvPr id="7" name="Picture 16">
            <a:extLst>
              <a:ext uri="{FF2B5EF4-FFF2-40B4-BE49-F238E27FC236}">
                <a16:creationId xmlns:a16="http://schemas.microsoft.com/office/drawing/2014/main" id="{AC6455EE-959B-4362-17D7-EFB7941BC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238" y="1578134"/>
            <a:ext cx="119697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Arrow: Pentagon 17">
            <a:extLst>
              <a:ext uri="{FF2B5EF4-FFF2-40B4-BE49-F238E27FC236}">
                <a16:creationId xmlns:a16="http://schemas.microsoft.com/office/drawing/2014/main" id="{2B66BBAF-AA35-B92F-61FA-4E65114689A0}"/>
              </a:ext>
            </a:extLst>
          </p:cNvPr>
          <p:cNvSpPr/>
          <p:nvPr/>
        </p:nvSpPr>
        <p:spPr>
          <a:xfrm>
            <a:off x="0" y="5080000"/>
            <a:ext cx="7639050" cy="766763"/>
          </a:xfrm>
          <a:prstGeom prst="homePlate">
            <a:avLst/>
          </a:prstGeom>
          <a:solidFill>
            <a:srgbClr val="D9D9D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F0DF9754-79F6-1B64-8084-B9999BBEB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8" y="5308600"/>
            <a:ext cx="76073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</a:rPr>
              <a:t>WakeMed Health and Hospitals patients can have all out-of-pocket liability reduced to $0!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50F6F2E0-D342-3007-3295-A5A48FF44313}"/>
              </a:ext>
            </a:extLst>
          </p:cNvPr>
          <p:cNvGraphicFramePr>
            <a:graphicFrameLocks noGrp="1"/>
          </p:cNvGraphicFramePr>
          <p:nvPr/>
        </p:nvGraphicFramePr>
        <p:xfrm>
          <a:off x="8123238" y="1876901"/>
          <a:ext cx="3579812" cy="4471035"/>
        </p:xfrm>
        <a:graphic>
          <a:graphicData uri="http://schemas.openxmlformats.org/drawingml/2006/table">
            <a:tbl>
              <a:tblPr/>
              <a:tblGrid>
                <a:gridCol w="2000483">
                  <a:extLst>
                    <a:ext uri="{9D8B030D-6E8A-4147-A177-3AD203B41FA5}">
                      <a16:colId xmlns:a16="http://schemas.microsoft.com/office/drawing/2014/main" val="1876924050"/>
                    </a:ext>
                  </a:extLst>
                </a:gridCol>
                <a:gridCol w="1579329">
                  <a:extLst>
                    <a:ext uri="{9D8B030D-6E8A-4147-A177-3AD203B41FA5}">
                      <a16:colId xmlns:a16="http://schemas.microsoft.com/office/drawing/2014/main" val="2083762870"/>
                    </a:ext>
                  </a:extLst>
                </a:gridCol>
              </a:tblGrid>
              <a:tr h="2286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Explanation of Benefits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869175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Heart Attack, Cardiac Surgery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465819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THE CHARGES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1566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Medical Bills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$25,000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62246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Healthcare out-of-pocket due to provider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$4,500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44777"/>
                  </a:ext>
                </a:extLst>
              </a:tr>
              <a:tr h="61722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Since your out of pocket maximum has been met, the rest of your eligible charges this year will be paid at 100%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997664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THE CREDITS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04715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OP Radiology/X-Ray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$200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3834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OP Diagnostic  Labs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5297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Preferred Hospital Stay ($500/day, 5 days)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$2,500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2357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Critical Illness Benefit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$2,000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2794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Health Screening Benefit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$125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3452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Benefit 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$4,925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05045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 of Pocket Paid to Hospital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($4,500)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7791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Balance Paid to HGA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$425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894644"/>
                  </a:ext>
                </a:extLst>
              </a:tr>
            </a:tbl>
          </a:graphicData>
        </a:graphic>
      </p:graphicFrame>
      <p:sp>
        <p:nvSpPr>
          <p:cNvPr id="11" name="Title 2">
            <a:extLst>
              <a:ext uri="{FF2B5EF4-FFF2-40B4-BE49-F238E27FC236}">
                <a16:creationId xmlns:a16="http://schemas.microsoft.com/office/drawing/2014/main" id="{540D5885-347A-7711-D396-2864B8FC4403}"/>
              </a:ext>
            </a:extLst>
          </p:cNvPr>
          <p:cNvSpPr txBox="1">
            <a:spLocks/>
          </p:cNvSpPr>
          <p:nvPr/>
        </p:nvSpPr>
        <p:spPr>
          <a:xfrm>
            <a:off x="117445" y="207689"/>
            <a:ext cx="11534623" cy="108216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ts val="1000"/>
              </a:spcBef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539F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THE BENEFIT STEERING THE PATIENT TO WAKEMED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i="0" u="none" strike="noStrike" kern="1200" cap="none" spc="0" normalizeH="0" baseline="0" noProof="0" dirty="0">
                <a:ln>
                  <a:noFill/>
                </a:ln>
                <a:solidFill>
                  <a:srgbClr val="00539F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Arial" panose="020B0604020202020204" pitchFamily="34" charset="0"/>
              </a:rPr>
              <a:t>What Will this Claim Cost Me?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E799F91A-3FD1-47AB-858A-263DC729BC42}"/>
              </a:ext>
            </a:extLst>
          </p:cNvPr>
          <p:cNvSpPr txBox="1"/>
          <p:nvPr/>
        </p:nvSpPr>
        <p:spPr>
          <a:xfrm>
            <a:off x="8932985" y="1054579"/>
            <a:ext cx="286817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/>
                <a:latin typeface="Montserrat" panose="00000500000000000000" pitchFamily="2" charset="0"/>
              </a:rPr>
              <a:t>KBA currently estimates that WakeMed Health and Hospitals has 24% inpatient market share, and 8% outpatient market compared to hospitals/clinics in the WakeMed Health and Hospitals service area (see slide 8).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Based on previous DTE experience, KBA expects a significant bump in patient steerage to WakeMed Health and Hospitals.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Additional steerage will occur from additional steerage patient benefits and the patient convenience card. 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High estimates start nearly 10% higher than target with low estimates at 10% lower than target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08E53A-80EF-253B-70F2-1B864197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-184997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PROJECTED PLAN GROWTH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00A413C-9879-29A5-B50B-ADCD0DEF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6D19D72-B714-CC67-EEAD-28291439C72F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5210695"/>
              </p:ext>
            </p:extLst>
          </p:nvPr>
        </p:nvGraphicFramePr>
        <p:xfrm>
          <a:off x="571500" y="1054578"/>
          <a:ext cx="7466075" cy="5108481"/>
        </p:xfrm>
        <a:graphic>
          <a:graphicData uri="http://schemas.openxmlformats.org/drawingml/2006/table">
            <a:tbl>
              <a:tblPr/>
              <a:tblGrid>
                <a:gridCol w="1493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3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32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32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212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WakeMed Health and Hospitals for Inpatient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WakeMed Health and Hospitals for Outpatient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29,900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34,400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21,400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38,500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23,500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42,300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45,500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26,700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48,100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51,700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29,400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52,900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29,900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53,800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724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56461"/>
              </p:ext>
            </p:extLst>
          </p:nvPr>
        </p:nvGraphicFramePr>
        <p:xfrm>
          <a:off x="418056" y="764777"/>
          <a:ext cx="6972297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Pre-DTE Cohort of 5,000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$ 3,593,533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$ 2,263,249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$ 1,056,918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$ 6,913,699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$ 1,006,189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$ 633,709.6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$ 295,937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$ 1,935,836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940483"/>
              </p:ext>
            </p:extLst>
          </p:nvPr>
        </p:nvGraphicFramePr>
        <p:xfrm>
          <a:off x="462503" y="4085951"/>
          <a:ext cx="713405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5589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$ 7,243,941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$ 60,000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$ 7,303,941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/>
                          <a:latin typeface="Montserrat" panose="00000500000000000000" pitchFamily="2" charset="0"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$ 7,123,941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198922"/>
              </p:ext>
            </p:extLst>
          </p:nvPr>
        </p:nvGraphicFramePr>
        <p:xfrm>
          <a:off x="418055" y="2234768"/>
          <a:ext cx="6972296" cy="88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$ 9,933,200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$ 15,577,267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$ 7,274,451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$ 32,784,918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$ 2,781,296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$ 4,361,635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$ 2,036,846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$ 9,179,777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6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† Assuming proportional revenues from market shares of 24% (inpatient) and 8% (outpatient)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‡ Conservatively assuming a commercial margin of 28% (80% of the estimated commercial margin)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⁰ Assuming 67% inpatient and 58%  market steerage based on KBA narrow network DTE experience (see previous slide)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* Conservatively assuming a commercial margin of 28%, with a 10 percentage-point reduction to reflect competitive-edge rates and a 10 percentage-point increase due to lower billing costs and higher patient responsibility collections because of the member convenience card. 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10286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  <a:cs typeface="Calibri" panose="020F0502020204030204" pitchFamily="34" charset="0"/>
              </a:rPr>
              <a:t>YEAR 4 PROJECTED REVENUE AND PROFIT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7D073370-D0BE-1A39-1DCE-8896BD0D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Freeform 13">
            <a:extLst>
              <a:ext uri="{FF2B5EF4-FFF2-40B4-BE49-F238E27FC236}">
                <a16:creationId xmlns:a16="http://schemas.microsoft.com/office/drawing/2014/main" id="{47B20ECB-E742-CAF7-0C94-E491C5D3F04B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816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5" y="560444"/>
            <a:ext cx="10479445" cy="78254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sz="1100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z="1100" smtClean="0">
                <a:solidFill>
                  <a:schemeClr val="bg1"/>
                </a:solidFill>
              </a:rPr>
              <a:t>14</a:t>
            </a:fld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569660"/>
            <a:chOff x="908754" y="2695500"/>
            <a:chExt cx="10558665" cy="1569660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KNOW THE </a:t>
              </a:r>
            </a:p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584775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46242</TotalTime>
  <Words>1248</Words>
  <Application>Microsoft Office PowerPoint</Application>
  <PresentationFormat>Widescreen</PresentationFormat>
  <Paragraphs>430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 Narrow</vt:lpstr>
      <vt:lpstr>Arial</vt:lpstr>
      <vt:lpstr>Montserrat</vt:lpstr>
      <vt:lpstr>Office Theme</vt:lpstr>
      <vt:lpstr>1_Office Theme</vt:lpstr>
      <vt:lpstr>2_Office Theme</vt:lpstr>
      <vt:lpstr>3_Office Theme</vt:lpstr>
      <vt:lpstr>PowerPoint Presentation</vt:lpstr>
      <vt:lpstr>PowerPoint Presentation</vt:lpstr>
      <vt:lpstr>Our Founding and Heritage: 46 Years of Striving for Honesty in Healthcare</vt:lpstr>
      <vt:lpstr>PowerPoint Presentation</vt:lpstr>
      <vt:lpstr>DIRECT-TO-EMPLOYER (DTE)  </vt:lpstr>
      <vt:lpstr>SIGNIFICANT OPPORTUNITY FOR PLAN GROWTH Researched for the below highlighted service area</vt:lpstr>
      <vt:lpstr>PLAN POTENTIAL GROWTH PATHS</vt:lpstr>
      <vt:lpstr>GROWING POWERFUL, LASTING PROFITABILITY</vt:lpstr>
      <vt:lpstr>FOUR-YEAR PROJECTIONS</vt:lpstr>
      <vt:lpstr>DIRECT-TO-EMPLOYER STRATEGY: ONLY AVAILABLE TO PREMIER HEALTH SYSTEMS</vt:lpstr>
      <vt:lpstr>PowerPoint Presentation</vt:lpstr>
      <vt:lpstr>PROJECTED PLAN GROWTH</vt:lpstr>
      <vt:lpstr>PowerPoint Presentation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113</cp:revision>
  <cp:lastPrinted>2023-07-13T10:24:43Z</cp:lastPrinted>
  <dcterms:created xsi:type="dcterms:W3CDTF">2021-01-20T14:12:11Z</dcterms:created>
  <dcterms:modified xsi:type="dcterms:W3CDTF">2026-03-06T22:35:25Z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