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549" r:id="rId12"/>
    <p:sldId id="2145726869" r:id="rId13"/>
    <p:sldId id="466" r:id="rId14"/>
    <p:sldId id="2145726867" r:id="rId15"/>
    <p:sldId id="559" r:id="rId16"/>
    <p:sldId id="452" r:id="rId17"/>
    <p:sldId id="580" r:id="rId18"/>
    <p:sldId id="582" r:id="rId19"/>
    <p:sldId id="558" r:id="rId20"/>
    <p:sldId id="548" r:id="rId21"/>
    <p:sldId id="521" r:id="rId22"/>
    <p:sldId id="564" r:id="rId23"/>
    <p:sldId id="456" r:id="rId24"/>
    <p:sldId id="489" r:id="rId25"/>
    <p:sldId id="499" r:id="rId26"/>
    <p:sldId id="613" r:id="rId27"/>
    <p:sldId id="458" r:id="rId28"/>
    <p:sldId id="2145726859" r:id="rId29"/>
    <p:sldId id="2145726857" r:id="rId30"/>
    <p:sldId id="469" r:id="rId31"/>
    <p:sldId id="2145726856" r:id="rId32"/>
    <p:sldId id="614" r:id="rId33"/>
    <p:sldId id="281" r:id="rId34"/>
    <p:sldId id="283" r:id="rId35"/>
    <p:sldId id="285"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02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1108B2DF-B027-4438-9C5A-9F1F654762AD}"/>
    <pc:docChg chg="modSld sldOrd">
      <pc:chgData name="Taylor Davis" userId="5c9e72a0-c39f-4aa1-9d7d-64125e78cbe6" providerId="ADAL" clId="{1108B2DF-B027-4438-9C5A-9F1F654762AD}" dt="2025-02-14T00:42:28.746" v="161"/>
      <pc:docMkLst>
        <pc:docMk/>
      </pc:docMkLst>
      <pc:sldChg chg="modSp mod ord">
        <pc:chgData name="Taylor Davis" userId="5c9e72a0-c39f-4aa1-9d7d-64125e78cbe6" providerId="ADAL" clId="{1108B2DF-B027-4438-9C5A-9F1F654762AD}" dt="2025-02-14T00:42:28.746" v="161"/>
        <pc:sldMkLst>
          <pc:docMk/>
          <pc:sldMk cId="4059548579" sldId="452"/>
        </pc:sldMkLst>
        <pc:spChg chg="mod">
          <ac:chgData name="Taylor Davis" userId="5c9e72a0-c39f-4aa1-9d7d-64125e78cbe6" providerId="ADAL" clId="{1108B2DF-B027-4438-9C5A-9F1F654762AD}" dt="2025-02-14T00:42:00.658" v="159" actId="20577"/>
          <ac:spMkLst>
            <pc:docMk/>
            <pc:sldMk cId="4059548579" sldId="452"/>
            <ac:spMk id="3" creationId="{7B4D036B-CF91-40EF-88B5-63D0260D0147}"/>
          </ac:spMkLst>
        </pc:spChg>
        <pc:spChg chg="mod">
          <ac:chgData name="Taylor Davis" userId="5c9e72a0-c39f-4aa1-9d7d-64125e78cbe6" providerId="ADAL" clId="{1108B2DF-B027-4438-9C5A-9F1F654762AD}" dt="2025-02-14T00:41:54.128" v="151" actId="20577"/>
          <ac:spMkLst>
            <pc:docMk/>
            <pc:sldMk cId="4059548579" sldId="452"/>
            <ac:spMk id="8" creationId="{869C0219-52DA-48A1-B7B2-E6F8C4FBD3C3}"/>
          </ac:spMkLst>
        </pc:sp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2/13/2025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6</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2/13/2025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2/13/2025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2/13/2025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2/13/2025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2/13/2025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2/13/2025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2/13/2025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2/13/2025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2/13/2025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2/13/2025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2/13/2025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2/13/2025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2/13/2025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2/13/2025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2/13/2025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2/13/2025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2/13/2025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2/13/2025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2/13/2025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2/13/2025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2/13/2025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2/13/2025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2/13/2025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2/13/2025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2/13/2025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2/13/2025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2/13/2025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2/13/2025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2/13/2025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2/13/2025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2/13/2025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2/13/2025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2/13/2025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2/13/2025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2/13/2025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4.svg"/><Relationship Id="rId7" Type="http://schemas.openxmlformats.org/officeDocument/2006/relationships/image" Target="../media/image20.svg"/><Relationship Id="rId12" Type="http://schemas.openxmlformats.org/officeDocument/2006/relationships/image" Target="../media/image25.svg"/><Relationship Id="rId17" Type="http://schemas.openxmlformats.org/officeDocument/2006/relationships/image" Target="../media/image30.svg"/><Relationship Id="rId2" Type="http://schemas.openxmlformats.org/officeDocument/2006/relationships/notesSlide" Target="../notesSlides/notesSlide2.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svg"/><Relationship Id="rId19" Type="http://schemas.openxmlformats.org/officeDocument/2006/relationships/image" Target="../media/image32.sv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 Id="rId22"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MercyOne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7650482" y="316757"/>
            <a:ext cx="3874334"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5</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MercyOne</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2,000+ Employers       400,000</a:t>
            </a:r>
            <a:r>
              <a:rPr lang="en-US" sz="1600" spc="200" dirty="0">
                <a:latin typeface="Montserrat" panose="00000500000000000000" pitchFamily="2" charset="0"/>
                <a:cs typeface="+mj-cs"/>
                <a:sym typeface="Wingdings" panose="05000000000000000000" pitchFamily="2" charset="2"/>
              </a:rPr>
              <a:t>+ Employees       600,000+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936906749"/>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1,079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468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191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26</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80,900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93,900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133,700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156,000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145,600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126,400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169,000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240,700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223,200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280,800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0" y="2153159"/>
            <a:ext cx="4866035" cy="4049478"/>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MERCYONE</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8</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MercyOne is boasts excellent access, but current brand quality compared to UnityPoint could create a risk for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MercyOne.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646331"/>
          </a:xfrm>
          <a:prstGeom prst="rect">
            <a:avLst/>
          </a:prstGeom>
          <a:noFill/>
        </p:spPr>
        <p:txBody>
          <a:bodyPr wrap="square" rtlCol="0">
            <a:spAutoFit/>
          </a:bodyPr>
          <a:lstStyle/>
          <a:p>
            <a:r>
              <a:rPr lang="en-US" sz="900" dirty="0">
                <a:solidFill/>
                <a:latin typeface="Montserrat" panose="00000500000000000000" pitchFamily="2" charset="0"/>
              </a:rPr>
              <a:t>Estimates includes the MercyOne service area in Carroll, Henry, Jo Daviess, Rock Island, Whiteside, Appanoose, Benton, Black Hawk, Boone, Bremer, Buchanan, Butler, Cerro Gordo, Chickasaw, Clayton, Clinton, Dallas, Delaware, Dubuque, Fayette, Floyd, Franklin, Grundy, Hancock, Howard, Jackson, Jasper, Linn, Madison, Marion, Marshall, Mitchell, Monona, O'Brien, Plymouth, Polk, Poweshiek, Scott, Sioux, Story, Tama, Warren, Wayne, Winnebago, Woodbury, Worth, Wright, Freeborn, Mower, Dakota, Dixon, Thurston, Clay, Union, Grant, and Lafayette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1,664K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964K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721K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436K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$8.95M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$0.67M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$55.34M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$5.16M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$115.84M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$10.94M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MercyOne has 40% inpatient market share, and 24% outpatient market compared to hospitals/clinics in the MercyOne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MercyOne 9%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6.5%</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9%</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11.5%</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
        <p:nvSpPr>
          <p:cNvPr id="26" name="Rectangle 25">
            <a:extLst>
              <a:ext uri="{FF2B5EF4-FFF2-40B4-BE49-F238E27FC236}">
                <a16:creationId xmlns:a16="http://schemas.microsoft.com/office/drawing/2014/main" id="{F15640A5-FD0F-C7BD-56A5-0C967979DFB0}"/>
              </a:ext>
            </a:extLst>
          </p:cNvPr>
          <p:cNvSpPr/>
          <p:nvPr/>
        </p:nvSpPr>
        <p:spPr>
          <a:xfrm>
            <a:off x="5600700" y="1912005"/>
            <a:ext cx="964692" cy="3142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971.5K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833.5K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1,490.1K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2,424.9K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604.2K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2,340.9K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818.4K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670.8K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632868"/>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MERCYONE QUALITY COMPARISON</a:t>
            </a:r>
            <a:endParaRPr lang="en-US" sz="1400" dirty="0">
              <a:solidFill>
                <a:schemeClr val="tx1">
                  <a:lumMod val="75000"/>
                  <a:lumOff val="25000"/>
                </a:schemeClr>
              </a:solidFill>
              <a:cs typeface="Arial" panose="020B0604020202020204" pitchFamily="34" charset="0"/>
            </a:endParaRP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365572079"/>
              </p:ext>
            </p:extLst>
          </p:nvPr>
        </p:nvGraphicFramePr>
        <p:xfrm>
          <a:off x="1492969" y="1840172"/>
          <a:ext cx="9206061" cy="2799620"/>
        </p:xfrm>
        <a:graphic>
          <a:graphicData uri="http://schemas.openxmlformats.org/drawingml/2006/table">
            <a:tbl>
              <a:tblPr/>
              <a:tblGrid>
                <a:gridCol w="2453427">
                  <a:extLst>
                    <a:ext uri="{9D8B030D-6E8A-4147-A177-3AD203B41FA5}">
                      <a16:colId xmlns:a16="http://schemas.microsoft.com/office/drawing/2014/main" val="20000"/>
                    </a:ext>
                  </a:extLst>
                </a:gridCol>
                <a:gridCol w="1723921">
                  <a:extLst>
                    <a:ext uri="{9D8B030D-6E8A-4147-A177-3AD203B41FA5}">
                      <a16:colId xmlns:a16="http://schemas.microsoft.com/office/drawing/2014/main" val="20001"/>
                    </a:ext>
                  </a:extLst>
                </a:gridCol>
                <a:gridCol w="1154367">
                  <a:extLst>
                    <a:ext uri="{9D8B030D-6E8A-4147-A177-3AD203B41FA5}">
                      <a16:colId xmlns:a16="http://schemas.microsoft.com/office/drawing/2014/main" val="20002"/>
                    </a:ext>
                  </a:extLst>
                </a:gridCol>
                <a:gridCol w="1117191">
                  <a:extLst>
                    <a:ext uri="{9D8B030D-6E8A-4147-A177-3AD203B41FA5}">
                      <a16:colId xmlns:a16="http://schemas.microsoft.com/office/drawing/2014/main" val="20003"/>
                    </a:ext>
                  </a:extLst>
                </a:gridCol>
                <a:gridCol w="1359866">
                  <a:extLst>
                    <a:ext uri="{9D8B030D-6E8A-4147-A177-3AD203B41FA5}">
                      <a16:colId xmlns:a16="http://schemas.microsoft.com/office/drawing/2014/main" val="20004"/>
                    </a:ext>
                  </a:extLst>
                </a:gridCol>
                <a:gridCol w="1397289">
                  <a:extLst>
                    <a:ext uri="{9D8B030D-6E8A-4147-A177-3AD203B41FA5}">
                      <a16:colId xmlns:a16="http://schemas.microsoft.com/office/drawing/2014/main" val="20005"/>
                    </a:ext>
                  </a:extLst>
                </a:gridCol>
              </a:tblGrid>
              <a:tr h="1094442">
                <a:tc>
                  <a:txBody>
                    <a:bodyPr/>
                    <a:lstStyle/>
                    <a:p>
                      <a:pPr marL="63500" marR="63500" algn="l">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HCAHPS</a:t>
                      </a:r>
                      <a:br>
                        <a:rPr sz="1200" b="1" i="0" u="none" cap="none">
                          <a:solidFill>
                            <a:srgbClr val="000000">
                              <a:alpha val="100000"/>
                            </a:srgbClr>
                          </a:solidFill>
                          <a:latin typeface="Montserrat"/>
                          <a:cs typeface="Arial"/>
                          <a:sym typeface="Arial"/>
                        </a:rPr>
                      </a:br>
                      <a:r>
                        <a:rPr sz="1200" b="1" i="0" u="none" cap="none">
                          <a:solidFill>
                            <a:srgbClr val="000000">
                              <a:alpha val="100000"/>
                            </a:srgbClr>
                          </a:solidFill>
                          <a:latin typeface="Montserrat"/>
                          <a:cs typeface="Arial"/>
                          <a:sym typeface="Arial"/>
                        </a:rPr>
                        <a:t>Recommendation</a:t>
                      </a:r>
                      <a:br>
                        <a:rPr sz="1200" b="1" i="0" u="none" cap="none">
                          <a:solidFill>
                            <a:srgbClr val="000000">
                              <a:alpha val="100000"/>
                            </a:srgbClr>
                          </a:solidFill>
                          <a:latin typeface="Montserrat"/>
                          <a:cs typeface="Arial"/>
                          <a:sym typeface="Arial"/>
                        </a:rPr>
                      </a:br>
                      <a:r>
                        <a:rPr sz="12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CMS Stars</a:t>
                      </a:r>
                      <a:br>
                        <a:rPr sz="1200" b="1" i="0" u="none" cap="none">
                          <a:solidFill>
                            <a:srgbClr val="000000">
                              <a:alpha val="100000"/>
                            </a:srgbClr>
                          </a:solidFill>
                          <a:latin typeface="Montserrat"/>
                          <a:cs typeface="Arial"/>
                          <a:sym typeface="Arial"/>
                        </a:rPr>
                      </a:br>
                      <a:r>
                        <a:rPr sz="12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Mortality</a:t>
                      </a:r>
                      <a:br>
                        <a:rPr sz="1200" b="1" i="0" u="none" cap="none">
                          <a:solidFill>
                            <a:srgbClr val="000000">
                              <a:alpha val="100000"/>
                            </a:srgbClr>
                          </a:solidFill>
                          <a:latin typeface="Montserrat"/>
                          <a:cs typeface="Arial"/>
                          <a:sym typeface="Arial"/>
                        </a:rPr>
                      </a:br>
                      <a:r>
                        <a:rPr sz="12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Readmission</a:t>
                      </a:r>
                      <a:br>
                        <a:rPr sz="1200" b="1" i="0" u="none" cap="none">
                          <a:solidFill>
                            <a:srgbClr val="000000">
                              <a:alpha val="100000"/>
                            </a:srgbClr>
                          </a:solidFill>
                          <a:latin typeface="Montserrat"/>
                          <a:cs typeface="Arial"/>
                          <a:sym typeface="Arial"/>
                        </a:rPr>
                      </a:br>
                      <a:r>
                        <a:rPr sz="12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KBA Brand</a:t>
                      </a:r>
                      <a:br>
                        <a:rPr sz="1200" b="1" i="0" u="none" cap="none">
                          <a:solidFill>
                            <a:srgbClr val="000000">
                              <a:alpha val="100000"/>
                            </a:srgbClr>
                          </a:solidFill>
                          <a:latin typeface="Montserrat"/>
                          <a:cs typeface="Arial"/>
                          <a:sym typeface="Arial"/>
                        </a:rPr>
                      </a:br>
                      <a:r>
                        <a:rPr sz="12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34358">
                <a:tc>
                  <a:txBody>
                    <a:bodyPr/>
                    <a:lstStyle/>
                    <a:p>
                      <a:pPr marL="63500" marR="63500" algn="l">
                        <a:lnSpc>
                          <a:spcPct val="100000"/>
                        </a:lnSpc>
                        <a:spcBef>
                          <a:spcPts val="500"/>
                        </a:spcBef>
                        <a:spcAft>
                          <a:spcPts val="500"/>
                        </a:spcAft>
                        <a:buNone/>
                      </a:pPr>
                      <a:r>
                        <a:rPr sz="12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1"/>
                  </a:ext>
                </a:extLst>
              </a:tr>
              <a:tr h="535410">
                <a:tc>
                  <a:txBody>
                    <a:bodyPr/>
                    <a:lstStyle/>
                    <a:p>
                      <a:pPr marL="63500" marR="63500" algn="l">
                        <a:lnSpc>
                          <a:spcPct val="100000"/>
                        </a:lnSpc>
                        <a:spcBef>
                          <a:spcPts val="500"/>
                        </a:spcBef>
                        <a:spcAft>
                          <a:spcPts val="500"/>
                        </a:spcAft>
                        <a:buNone/>
                      </a:pPr>
                      <a:r>
                        <a:rPr sz="1200" b="0" i="0" u="none" cap="none">
                          <a:solidFill>
                            <a:srgbClr val="000000">
                              <a:alpha val="100000"/>
                            </a:srgbClr>
                          </a:solidFill>
                          <a:latin typeface="Montserrat"/>
                          <a:cs typeface="Arial"/>
                          <a:sym typeface="Arial"/>
                        </a:rPr>
                        <a:t>UnityPoint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2"/>
                  </a:ext>
                </a:extLst>
              </a:tr>
              <a:tr h="535410">
                <a:tc>
                  <a:txBody>
                    <a:bodyPr/>
                    <a:lstStyle/>
                    <a:p>
                      <a:pPr marL="63500" marR="63500" algn="l">
                        <a:lnSpc>
                          <a:spcPct val="100000"/>
                        </a:lnSpc>
                        <a:spcBef>
                          <a:spcPts val="500"/>
                        </a:spcBef>
                        <a:spcAft>
                          <a:spcPts val="500"/>
                        </a:spcAft>
                        <a:buNone/>
                      </a:pPr>
                      <a:r>
                        <a:rPr sz="1200" b="0" i="0" u="non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876B667D-8DF9-74F7-FEDE-ACBACA0EDAC0}"/>
              </a:ext>
            </a:extLst>
          </p:cNvPr>
          <p:cNvSpPr txBox="1"/>
          <p:nvPr/>
        </p:nvSpPr>
        <p:spPr>
          <a:xfrm>
            <a:off x="2249318" y="4833210"/>
            <a:ext cx="7645683" cy="923330"/>
          </a:xfrm>
          <a:prstGeom prst="rect">
            <a:avLst/>
          </a:prstGeom>
          <a:noFill/>
        </p:spPr>
        <p:txBody>
          <a:bodyPr wrap="none" rtlCol="0">
            <a:spAutoFit/>
          </a:bodyPr>
          <a:lstStyle/>
          <a:p>
            <a:pPr algn="ctr"/>
            <a:r>
              <a:rPr lang="en-US" dirty="0"/>
              <a:t>Plan growth is most at risk from UnityPoint Health’s strong market reputation.</a:t>
            </a:r>
          </a:p>
          <a:p>
            <a:pPr algn="ctr"/>
            <a:r>
              <a:rPr lang="en-US" dirty="0"/>
              <a:t>Growth estimates are adjusted down in this analysis </a:t>
            </a:r>
          </a:p>
          <a:p>
            <a:pPr algn="ctr"/>
            <a:r>
              <a:rPr lang="en-US" dirty="0"/>
              <a:t>to account for UnityPoint Health’s strong reputation. </a:t>
            </a:r>
          </a:p>
        </p:txBody>
      </p:sp>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MercyOne’s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MercyOne’s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MercyOne</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4275836"/>
            <a:ext cx="1042416" cy="209122"/>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MercyOne</a:t>
            </a:r>
          </a:p>
        </p:txBody>
      </p:sp>
      <p:pic>
        <p:nvPicPr>
          <p:cNvPr id="9" name="Content Placeholder 8"/>
          <p:cNvPicPr>
            <a:picLocks noGrp="1"/>
          </p:cNvPicPr>
          <p:nvPr>
            <p:ph/>
          </p:nvPr>
        </p:nvPicPr>
        <p:blipFill>
          <a:blip r:embed="rId3" cstate="print"/>
          <a:stretch>
            <a:fillRect/>
          </a:stretch>
        </p:blipFill>
        <p:spPr>
          <a:xfrm>
            <a:off x="7214859" y="5234652"/>
            <a:ext cx="4558040"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MercyOne’s approved site(s) with network integration, and development of MercyOne’s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2,663K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$ 7,176K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$ 13,316K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$28,702K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$ 53,265K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$24,563K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$4,794K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$57,404K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$5,166K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$106,531K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$49,126K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$9,588K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$4,331K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MercyOne’s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MercyOne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MercyOne’s managed care with KBA’s programs positions MercyOne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MercyOne’s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MercyOne’s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MercyOne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MercyOne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MercyOne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MERCYONE’S 202</a:t>
            </a:r>
            <a:r>
              <a:rPr lang="en-US" sz="2800" dirty="0">
                <a:solidFill/>
                <a:cs typeface="Arial" panose="020B0604020202020204" pitchFamily="34" charset="0"/>
              </a:rPr>
              <a:t>2</a:t>
            </a:r>
            <a:r>
              <a:rPr lang="en-US" sz="2800" dirty="0">
                <a:solidFill/>
                <a:latin typeface="Montserrat" panose="00000500000000000000" pitchFamily="2" charset="0"/>
                <a:cs typeface="Arial" panose="020B0604020202020204" pitchFamily="34" charset="0"/>
              </a:rPr>
              <a:t>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MercyOne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303,109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$1,829,195K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103,540</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$432,418K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23,439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$225,625K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16,186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-$93,241K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159,944</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$1,169,504K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MercyOne estimates commercial insurance reimbursements at 180%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1,169,504K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180%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1,181,761K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2,351,265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2,134,887</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$216,378K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180%</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651,219K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658,044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1,309,263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2,134,887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-825,624</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-63%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40%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24%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037076898"/>
              </p:ext>
            </p:extLst>
          </p:nvPr>
        </p:nvGraphicFramePr>
        <p:xfrm>
          <a:off x="266700" y="224790"/>
          <a:ext cx="9829800" cy="613156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494195">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Newton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15,227.9K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104,079.4K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Cedar Falls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29,351.1K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139,896.2K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North Iowa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453,334.0K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992,806.5K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Waterloo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221,971.0K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954,823.4K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Dubuque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238,258.8K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275,122.9K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Clinton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116,183.5K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329,547.2K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89178">
                <a:tc>
                  <a:txBody>
                    <a:bodyPr/>
                    <a:lstStyle/>
                    <a:p>
                      <a:pPr marL="63500" marR="63500" algn="l">
                        <a:lnSpc>
                          <a:spcPct val="100000"/>
                        </a:lnSpc>
                        <a:spcBef>
                          <a:spcPts val="1"/>
                        </a:spcBef>
                        <a:spcAft>
                          <a:spcPts val="1"/>
                        </a:spcAft>
                        <a:buNone/>
                      </a:pPr>
                      <a:r>
                        <a:rPr sz="800" b="1" i="0" u="none" cap="none" dirty="0" err="1">
                          <a:solidFill>
                            <a:schemeClr val="accent1"/>
                          </a:solidFill>
                          <a:latin typeface="Montserrat"/>
                          <a:cs typeface="Arial"/>
                          <a:sym typeface="Arial"/>
                        </a:rPr>
                        <a:t>MercyOne</a:t>
                      </a:r>
                      <a:r>
                        <a:rPr sz="800" b="1" i="0" u="none" cap="none" dirty="0">
                          <a:solidFill>
                            <a:schemeClr val="accent1"/>
                          </a:solidFill>
                          <a:latin typeface="Montserrat"/>
                          <a:cs typeface="Arial"/>
                          <a:sym typeface="Arial"/>
                        </a:rPr>
                        <a:t> Des Moines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802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$1,692,468.5K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$1,540,198.3K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Siouxland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302,265.4K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242,742.1K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Primghar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431.9K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7,470.6K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Elkader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4,336.9K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14,661.6K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New Hampton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5,654.3K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32,749.4K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Oelwein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5,319.5K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26,457.3K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89178">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MercyOne Centerville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6,088.6K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91,088.2K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89178">
                <a:tc>
                  <a:txBody>
                    <a:bodyPr/>
                    <a:lstStyle/>
                    <a:p>
                      <a:pPr marL="63500" marR="63500" algn="l">
                        <a:lnSpc>
                          <a:spcPct val="100000"/>
                        </a:lnSpc>
                        <a:spcBef>
                          <a:spcPts val="1"/>
                        </a:spcBef>
                        <a:spcAft>
                          <a:spcPts val="1"/>
                        </a:spcAft>
                        <a:buNone/>
                      </a:pPr>
                      <a:r>
                        <a:rPr sz="800" b="1" i="0" u="none" cap="none" dirty="0" err="1">
                          <a:solidFill>
                            <a:schemeClr val="accent1"/>
                          </a:solidFill>
                          <a:latin typeface="Montserrat"/>
                          <a:cs typeface="Arial"/>
                          <a:sym typeface="Arial"/>
                        </a:rPr>
                        <a:t>MercyOne</a:t>
                      </a:r>
                      <a:r>
                        <a:rPr sz="800" b="1" i="0" u="none" cap="none" dirty="0">
                          <a:solidFill>
                            <a:schemeClr val="accent1"/>
                          </a:solidFill>
                          <a:latin typeface="Montserrat"/>
                          <a:cs typeface="Arial"/>
                          <a:sym typeface="Arial"/>
                        </a:rPr>
                        <a:t> Dyersville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1,230.3K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8,750.6K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66884">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CGH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210,515.6K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888,968.2K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66884">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Genesis Medical Center - Silvis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145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54,171.5K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266,000.3K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66884">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Midwest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11,782.2K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41,880.0K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Hammond Henry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11,939.2K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112,400.8K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Morrison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4,495.4K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79,573.9K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Mary Greeley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274,427.7K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430,236.0K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Genesis Medical Center - East Rusholme Street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386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525,475.5K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812,757.6K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Iowa Methodist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780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$1,945,949.9K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$1,865,845.4K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Broadlawns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77,857.2K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352,461.0K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UnityPoint Health - Trinity Bettendorf</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81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113,346.4K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202,795.3K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Allen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189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322,874.4K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571,378.4K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UnityPoint Health Finley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117,467.3K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261,152.5K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UnityPoint Health St Lukes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466,256.0K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   78,215.9K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UnityPoint Health Grinnell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41,572.5K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119,970.5K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Iowa Specialty Hospital - Belmond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27,155.9K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70,558.2K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Grundy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3,605.2K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45,322.9K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Hancock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7,233.2K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47,702.7K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Franklin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8,520.1K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31,387.8K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Guttenberg Municipal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5,048.0K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32,662.5K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Genesis Medical Center - Dewitt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2,865.0K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51,065.9K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Community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2,390.8K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21,384.3K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Dallas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1,302.9K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39,505.7K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6"/>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Mitchell County Regional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5,066.2K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59,224.0K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7"/>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Madison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2,892.4K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45,134.6K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8"/>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Regional Health Services of Howard County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5,725.9K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71,650.0K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9"/>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Jackson County Regional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2,619.4K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40,033.3K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0"/>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Story County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4,656.2K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34,512.5K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1"/>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Buchanan County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8,482.4K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88,080.5K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2"/>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Waverly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13,961.0K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128,569.9K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3"/>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Floyd County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11,311.5K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63,928.3K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4"/>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Virginia Gay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7,574.5K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54,498.9K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5"/>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Floyd Valley Healthcare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8,050.6K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66,762.7K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6"/>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Sanford Sheldon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13,691.9K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69,763.3K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7"/>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Twelve Clans 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8"/>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Providence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5,221.1K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25,618.2K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49"/>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Pender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4,708.7K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42,722.4K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0"/>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Dunes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64,284.3K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297,537.0K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1"/>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Sanford Vermillion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11,407.4K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56,090.2K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2"/>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Memorial Hospital of Lafayette County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5,991.1K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43,044.6K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3"/>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Grant Regional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10,513.0K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77,028.5K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4"/>
                  </a:ext>
                </a:extLst>
              </a:tr>
              <a:tr h="66884">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Southwest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39,791.9K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600" b="0" i="0" u="none" cap="none">
                          <a:solidFill>
                            <a:srgbClr val="000000">
                              <a:alpha val="100000"/>
                            </a:srgbClr>
                          </a:solidFill>
                          <a:latin typeface="Montserrat"/>
                          <a:cs typeface="Arial"/>
                          <a:sym typeface="Arial"/>
                        </a:rPr>
                        <a:t>$  172,129.7K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6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55"/>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84BFE-A66C-EE28-0B82-3FC2737525CB}"/>
              </a:ext>
            </a:extLst>
          </p:cNvPr>
          <p:cNvSpPr txBox="1"/>
          <p:nvPr/>
        </p:nvSpPr>
        <p:spPr>
          <a:xfrm>
            <a:off x="0" y="6599576"/>
            <a:ext cx="11498661" cy="230832"/>
          </a:xfrm>
          <a:prstGeom prst="rect">
            <a:avLst/>
          </a:prstGeom>
          <a:noFill/>
        </p:spPr>
        <p:txBody>
          <a:bodyPr wrap="none" rtlCol="0">
            <a:spAutoFit/>
          </a:bodyPr>
          <a:lstStyle/>
          <a:p>
            <a:r>
              <a:rPr lang="en-US" sz="900" b="1" dirty="0">
                <a:solidFill/>
                <a:latin typeface="Montserrat" panose="00000500000000000000" pitchFamily="2" charset="0"/>
              </a:rPr>
              <a:t>Hospitals droped due to insufficient data: </a:t>
            </a:r>
            <a:r>
              <a:rPr lang="en-US" sz="900" b="1" dirty="0" err="1">
                <a:solidFill/>
                <a:latin typeface="Montserrat" panose="00000500000000000000" pitchFamily="2" charset="0"/>
              </a:rPr>
              <a:t>MercyOne</a:t>
            </a:r>
            <a:r>
              <a:rPr lang="en-US" sz="900" b="1" dirty="0">
                <a:solidFill/>
                <a:latin typeface="Montserrat" panose="00000500000000000000" pitchFamily="2" charset="0"/>
              </a:rPr>
              <a:t> Cedar Falls Medical Center, </a:t>
            </a:r>
            <a:r>
              <a:rPr lang="en-US" sz="900" b="1" dirty="0" err="1">
                <a:solidFill/>
                <a:latin typeface="Montserrat" panose="00000500000000000000" pitchFamily="2" charset="0"/>
              </a:rPr>
              <a:t>MercyOne</a:t>
            </a:r>
            <a:r>
              <a:rPr lang="en-US" sz="900" b="1" dirty="0">
                <a:solidFill/>
                <a:latin typeface="Montserrat" panose="00000500000000000000" pitchFamily="2" charset="0"/>
              </a:rPr>
              <a:t> Elkader Medical Center, </a:t>
            </a:r>
            <a:r>
              <a:rPr lang="en-US" sz="900" b="1" dirty="0" err="1">
                <a:solidFill/>
                <a:latin typeface="Montserrat" panose="00000500000000000000" pitchFamily="2" charset="0"/>
              </a:rPr>
              <a:t>MercyOne</a:t>
            </a:r>
            <a:r>
              <a:rPr lang="en-US" sz="900" b="1" dirty="0">
                <a:solidFill/>
                <a:latin typeface="Montserrat" panose="00000500000000000000" pitchFamily="2" charset="0"/>
              </a:rPr>
              <a:t> Oelwein Medical Center, </a:t>
            </a:r>
            <a:r>
              <a:rPr lang="en-US" sz="900" b="1" dirty="0" err="1">
                <a:solidFill/>
                <a:latin typeface="Montserrat" panose="00000500000000000000" pitchFamily="2" charset="0"/>
              </a:rPr>
              <a:t>MercyOne</a:t>
            </a:r>
            <a:r>
              <a:rPr lang="en-US" sz="900" b="1" dirty="0">
                <a:solidFill/>
                <a:latin typeface="Montserrat" panose="00000500000000000000" pitchFamily="2" charset="0"/>
              </a:rPr>
              <a:t> Primghar Medical Center</a:t>
            </a:r>
          </a:p>
        </p:txBody>
      </p:sp>
      <p:graphicFrame>
        <p:nvGraphicFramePr>
          <p:cNvPr id="3" name="Table 2"/>
          <p:cNvGraphicFramePr>
            <a:graphicFrameLocks noGrp="1"/>
          </p:cNvGraphicFramePr>
          <p:nvPr>
            <p:extLst>
              <p:ext uri="{D42A27DB-BD31-4B8C-83A1-F6EECF244321}">
                <p14:modId xmlns:p14="http://schemas.microsoft.com/office/powerpoint/2010/main" val="3340436037"/>
              </p:ext>
            </p:extLst>
          </p:nvPr>
        </p:nvGraphicFramePr>
        <p:xfrm>
          <a:off x="0" y="0"/>
          <a:ext cx="12192000" cy="6599576"/>
        </p:xfrm>
        <a:graphic>
          <a:graphicData uri="http://schemas.openxmlformats.org/drawingml/2006/table">
            <a:tbl>
              <a:tblPr/>
              <a:tblGrid>
                <a:gridCol w="1318498">
                  <a:extLst>
                    <a:ext uri="{9D8B030D-6E8A-4147-A177-3AD203B41FA5}">
                      <a16:colId xmlns:a16="http://schemas.microsoft.com/office/drawing/2014/main" val="20000"/>
                    </a:ext>
                  </a:extLst>
                </a:gridCol>
                <a:gridCol w="1107172">
                  <a:extLst>
                    <a:ext uri="{9D8B030D-6E8A-4147-A177-3AD203B41FA5}">
                      <a16:colId xmlns:a16="http://schemas.microsoft.com/office/drawing/2014/main" val="20001"/>
                    </a:ext>
                  </a:extLst>
                </a:gridCol>
                <a:gridCol w="1011517">
                  <a:extLst>
                    <a:ext uri="{9D8B030D-6E8A-4147-A177-3AD203B41FA5}">
                      <a16:colId xmlns:a16="http://schemas.microsoft.com/office/drawing/2014/main" val="20002"/>
                    </a:ext>
                  </a:extLst>
                </a:gridCol>
                <a:gridCol w="1132596">
                  <a:extLst>
                    <a:ext uri="{9D8B030D-6E8A-4147-A177-3AD203B41FA5}">
                      <a16:colId xmlns:a16="http://schemas.microsoft.com/office/drawing/2014/main" val="20003"/>
                    </a:ext>
                  </a:extLst>
                </a:gridCol>
                <a:gridCol w="1062449">
                  <a:extLst>
                    <a:ext uri="{9D8B030D-6E8A-4147-A177-3AD203B41FA5}">
                      <a16:colId xmlns:a16="http://schemas.microsoft.com/office/drawing/2014/main" val="20004"/>
                    </a:ext>
                  </a:extLst>
                </a:gridCol>
                <a:gridCol w="1084964">
                  <a:extLst>
                    <a:ext uri="{9D8B030D-6E8A-4147-A177-3AD203B41FA5}">
                      <a16:colId xmlns:a16="http://schemas.microsoft.com/office/drawing/2014/main" val="20005"/>
                    </a:ext>
                  </a:extLst>
                </a:gridCol>
                <a:gridCol w="1196170">
                  <a:extLst>
                    <a:ext uri="{9D8B030D-6E8A-4147-A177-3AD203B41FA5}">
                      <a16:colId xmlns:a16="http://schemas.microsoft.com/office/drawing/2014/main" val="20006"/>
                    </a:ext>
                  </a:extLst>
                </a:gridCol>
                <a:gridCol w="1021111">
                  <a:extLst>
                    <a:ext uri="{9D8B030D-6E8A-4147-A177-3AD203B41FA5}">
                      <a16:colId xmlns:a16="http://schemas.microsoft.com/office/drawing/2014/main" val="20007"/>
                    </a:ext>
                  </a:extLst>
                </a:gridCol>
                <a:gridCol w="1110221">
                  <a:extLst>
                    <a:ext uri="{9D8B030D-6E8A-4147-A177-3AD203B41FA5}">
                      <a16:colId xmlns:a16="http://schemas.microsoft.com/office/drawing/2014/main" val="20008"/>
                    </a:ext>
                  </a:extLst>
                </a:gridCol>
                <a:gridCol w="1087985">
                  <a:extLst>
                    <a:ext uri="{9D8B030D-6E8A-4147-A177-3AD203B41FA5}">
                      <a16:colId xmlns:a16="http://schemas.microsoft.com/office/drawing/2014/main" val="20009"/>
                    </a:ext>
                  </a:extLst>
                </a:gridCol>
                <a:gridCol w="1059317">
                  <a:extLst>
                    <a:ext uri="{9D8B030D-6E8A-4147-A177-3AD203B41FA5}">
                      <a16:colId xmlns:a16="http://schemas.microsoft.com/office/drawing/2014/main" val="20010"/>
                    </a:ext>
                  </a:extLst>
                </a:gridCol>
              </a:tblGrid>
              <a:tr h="867356">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Centerville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err="1">
                          <a:solidFill>
                            <a:srgbClr val="000000">
                              <a:alpha val="100000"/>
                            </a:srgbClr>
                          </a:solidFill>
                          <a:latin typeface="Montserrat"/>
                          <a:cs typeface="Arial"/>
                          <a:sym typeface="Arial"/>
                        </a:rPr>
                        <a:t>MercyOne</a:t>
                      </a:r>
                      <a:r>
                        <a:rPr sz="1200" b="1" i="0" u="none" cap="none" dirty="0">
                          <a:solidFill>
                            <a:srgbClr val="000000">
                              <a:alpha val="100000"/>
                            </a:srgbClr>
                          </a:solidFill>
                          <a:latin typeface="Montserrat"/>
                          <a:cs typeface="Arial"/>
                          <a:sym typeface="Arial"/>
                        </a:rPr>
                        <a:t> Clinton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Des Moines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Dubuque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Dyersville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New Hampton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Newton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North Iowa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MercyOne Siouxland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err="1">
                          <a:solidFill>
                            <a:srgbClr val="000000">
                              <a:alpha val="100000"/>
                            </a:srgbClr>
                          </a:solidFill>
                          <a:latin typeface="Montserrat"/>
                          <a:cs typeface="Arial"/>
                          <a:sym typeface="Arial"/>
                        </a:rPr>
                        <a:t>MercyOne</a:t>
                      </a:r>
                      <a:r>
                        <a:rPr sz="1200" b="1" i="0" u="none" cap="none" dirty="0">
                          <a:solidFill>
                            <a:srgbClr val="000000">
                              <a:alpha val="100000"/>
                            </a:srgbClr>
                          </a:solidFill>
                          <a:latin typeface="Montserrat"/>
                          <a:cs typeface="Arial"/>
                          <a:sym typeface="Arial"/>
                        </a:rPr>
                        <a:t> Waterloo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59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$2,533K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$30,208K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$333,416K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$71,001K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$2,895K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$122,400K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$82,216K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$53,495K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59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$37,893K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$85,682K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$303,419K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$81,987K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$5,688K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$16,768K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$30,183K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$268,058K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$66,026K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$230,112K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59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$5,455K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$23,272K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$146,538K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$57,509K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$109,829K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$34,996K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$39,956K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74042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$12,843K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$12,157K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$88,569K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$9,494K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$39,260K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$20,755K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$35,554K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865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$22,118K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$80,648K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$400,644K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$85,739K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$13,208K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$21,754K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$241,255K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$92,432K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$207,818K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865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$148K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$38,997K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$9,817K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$17,266K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$14,849K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59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$36,112K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$351,778K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$89,183K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$5,176K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$160,196K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$115,710K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$56,159K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59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$43,906K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$102,429K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$320,129K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$102,982K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$16,941K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$35,375K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$350,831K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$92,924K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$241,570K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59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$46,841K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$138,540K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$671,907K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$192,165K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$7,628K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$19,866K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$40,551K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$511,026K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$208,634K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$297,729K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3270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$-22,463K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$-36,155K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$-39,423K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$-6,005K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$-120,682K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$-60,451K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$-14,400K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157644">
                <a:tc gridSpan="11">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1. Most data is taken from the CMS provider cost report</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57644">
                <a:tc gridSpan="11">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2. Medicare costs are taken from the Medicare Provider Analysis and Review (</a:t>
                      </a:r>
                      <a:r>
                        <a:rPr sz="800" b="0" i="0" u="none" cap="none" dirty="0" err="1">
                          <a:solidFill>
                            <a:srgbClr val="666666">
                              <a:alpha val="100000"/>
                            </a:srgbClr>
                          </a:solidFill>
                          <a:latin typeface="Montserrat"/>
                          <a:cs typeface="Arial"/>
                          <a:sym typeface="Arial"/>
                        </a:rPr>
                        <a:t>MedPAR</a:t>
                      </a:r>
                      <a:r>
                        <a:rPr sz="800" b="0" i="0" u="none" cap="none" dirty="0">
                          <a:solidFill>
                            <a:srgbClr val="666666">
                              <a:alpha val="100000"/>
                            </a:srgbClr>
                          </a:solidFill>
                          <a:latin typeface="Montserrat"/>
                          <a:cs typeface="Arial"/>
                          <a:sym typeface="Arial"/>
                        </a:rPr>
                        <a:t>)</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57644">
                <a:tc gridSpan="11">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3. Data with 'Estimated' in the title are derived from other data points.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57644">
                <a:tc gridSpan="11">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MercyOne has 40% inpatient market share, and 24% outpatient market compared to hospitals/clinics in the MercyOne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MercyOne.</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158151204"/>
              </p:ext>
            </p:extLst>
          </p:nvPr>
        </p:nvGraphicFramePr>
        <p:xfrm>
          <a:off x="1050587" y="1054578"/>
          <a:ext cx="6986990" cy="5013560"/>
        </p:xfrm>
        <a:graphic>
          <a:graphicData uri="http://schemas.openxmlformats.org/drawingml/2006/table">
            <a:tbl>
              <a:tblPr/>
              <a:tblGrid>
                <a:gridCol w="1397398">
                  <a:extLst>
                    <a:ext uri="{9D8B030D-6E8A-4147-A177-3AD203B41FA5}">
                      <a16:colId xmlns:a16="http://schemas.microsoft.com/office/drawing/2014/main" val="20000"/>
                    </a:ext>
                  </a:extLst>
                </a:gridCol>
                <a:gridCol w="1397398">
                  <a:extLst>
                    <a:ext uri="{9D8B030D-6E8A-4147-A177-3AD203B41FA5}">
                      <a16:colId xmlns:a16="http://schemas.microsoft.com/office/drawing/2014/main" val="20001"/>
                    </a:ext>
                  </a:extLst>
                </a:gridCol>
                <a:gridCol w="1397398">
                  <a:extLst>
                    <a:ext uri="{9D8B030D-6E8A-4147-A177-3AD203B41FA5}">
                      <a16:colId xmlns:a16="http://schemas.microsoft.com/office/drawing/2014/main" val="20002"/>
                    </a:ext>
                  </a:extLst>
                </a:gridCol>
                <a:gridCol w="1397398">
                  <a:extLst>
                    <a:ext uri="{9D8B030D-6E8A-4147-A177-3AD203B41FA5}">
                      <a16:colId xmlns:a16="http://schemas.microsoft.com/office/drawing/2014/main" val="20003"/>
                    </a:ext>
                  </a:extLst>
                </a:gridCol>
                <a:gridCol w="1397398">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MercyOne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MercyOne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$ 5,900,611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$ 6,347,371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$ 2,964,168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$ 15,212,150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$ 531,055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$ 571,263.4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$ 266,775.1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$ 1,369,093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$ 1,542,909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$ 63,600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$ 1,547,709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$ 1,426,509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$ 9,802,260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$ 15,373,858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$ 7,179,461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$ 32,355,578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$ 882,203.4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$ 1,383,647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$ 646,151.5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$ 2,912,002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40% (inpatient) and 24%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9% (100%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9%,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57337459"/>
              </p:ext>
            </p:extLst>
          </p:nvPr>
        </p:nvGraphicFramePr>
        <p:xfrm>
          <a:off x="0" y="0"/>
          <a:ext cx="12198096" cy="6667719"/>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7410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46691">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2727">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$1,113.3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$5,566.6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$27,833.1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272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272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$8,262.9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$41,314.7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272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$743.7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$13,481.7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$1,213.3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$1,197.6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$5,988.1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$29,940.4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272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$2,504.4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$12,522.0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$62,610.1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272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$1,306.8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$32,669.6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$2,940.3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$279.6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$2,796.4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$13,981.9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$1,169.5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$5,847.7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$29,238.4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272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$2,631.5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$15,256.4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8374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$1,373.1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2727">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$-213.5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$-96.9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$835.3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$5,496.7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1620543"/>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$2,870.2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$14,351.1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$71,755.4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$2,456.3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$12,281.5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$61,407.7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$11,984.7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$5,496.7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47956399"/>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$2,870.2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$14,351.1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$71,755.4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$31,693.6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$158,468.1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$1,734.3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$17,342.5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$86,712.6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$18,223.8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$11,765.8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$152.6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$2,083.2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$11,735.8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6948840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$2,870.2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$14,351.1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$71,755.4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$107,794.0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$7,207.7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$-313.0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$-296.1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$-160.3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$518.6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MercyOne’s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MercyOne</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MercyOne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MercyOne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MercyOne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MercyOne’s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46172</TotalTime>
  <Words>5770</Words>
  <Application>Microsoft Office PowerPoint</Application>
  <PresentationFormat>Widescreen</PresentationFormat>
  <Paragraphs>1643</Paragraphs>
  <Slides>44</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44</vt:i4>
      </vt:variant>
    </vt:vector>
  </HeadingPairs>
  <TitlesOfParts>
    <vt:vector size="54"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DTE KEYS TO SUCCESS FOR MERCYONE</vt:lpstr>
      <vt:lpstr>PLAN POTENTIAL GROWTH PATHS</vt:lpstr>
      <vt:lpstr>GROWING POWERFUL, LASTING PROFITABILITY</vt:lpstr>
      <vt:lpstr>MODEL ASSUMPTIONS AND BREAK EVEN</vt:lpstr>
      <vt:lpstr>FOUR-YEAR PROJECTIONS</vt:lpstr>
      <vt:lpstr>DIRECT-TO-EMPLOYER STRATEGY: ONLY AVAILABLE TO PREMIER HEALTH SYSTEMS</vt:lpstr>
      <vt:lpstr>MERCYONE QUALITY COMPARISON</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MERCYONE’S 2022 PAYER MIX</vt:lpstr>
      <vt:lpstr>ESTIMATION OF MARGIN FOR COMMERCIAL VS. GOVERNMENT PAY</vt:lpstr>
      <vt:lpstr>PowerPoint Presentation</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2025-02-14T00:42:32Z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