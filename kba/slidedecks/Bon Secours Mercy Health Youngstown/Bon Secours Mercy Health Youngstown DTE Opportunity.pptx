
<file path=[Content_Types].xml><?xml version="1.0" encoding="utf-8"?>
<Types xmlns="http://schemas.openxmlformats.org/package/2006/content-types">
  <Default Extension="emf" ContentType="image/x-emf"/>
  <Default Extension="jpeg" ContentType="image/jpeg"/>
  <Default Extension="jpg" ContentType="application/octet-stream"/>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tags/tag3.xml" ContentType="application/vnd.openxmlformats-officedocument.presentationml.tags+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4.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5.xml" ContentType="application/vnd.openxmlformats-officedocument.theme+xml"/>
  <Override PartName="/ppt/tags/tag4.xml" ContentType="application/vnd.openxmlformats-officedocument.presentationml.tags+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6.xml" ContentType="application/vnd.openxmlformats-officedocument.theme+xml"/>
  <Override PartName="/ppt/tags/tag5.xml" ContentType="application/vnd.openxmlformats-officedocument.presentationml.tags+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6.xml" ContentType="application/vnd.openxmlformats-officedocument.presentationml.tags+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omments/modernComment_7FE53192_3C36F9F4.xml" ContentType="application/vnd.ms-powerpoint.comments+xml"/>
  <Override PartName="/ppt/notesSlides/notesSlide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 id="2147483756" r:id="rId5"/>
    <p:sldMasterId id="2147483758" r:id="rId6"/>
    <p:sldMasterId id="2147483773" r:id="rId7"/>
    <p:sldMasterId id="2147483785" r:id="rId8"/>
    <p:sldMasterId id="2147483797" r:id="rId9"/>
  </p:sldMasterIdLst>
  <p:notesMasterIdLst>
    <p:notesMasterId r:id="rId54"/>
  </p:notesMasterIdLst>
  <p:sldIdLst>
    <p:sldId id="588" r:id="rId10"/>
    <p:sldId id="454" r:id="rId11"/>
    <p:sldId id="549" r:id="rId12"/>
    <p:sldId id="2145726869" r:id="rId13"/>
    <p:sldId id="452" r:id="rId14"/>
    <p:sldId id="466" r:id="rId15"/>
    <p:sldId id="2145726867" r:id="rId16"/>
    <p:sldId id="559" r:id="rId17"/>
    <p:sldId id="580" r:id="rId18"/>
    <p:sldId id="582" r:id="rId19"/>
    <p:sldId id="558" r:id="rId20"/>
    <p:sldId id="548" r:id="rId21"/>
    <p:sldId id="521" r:id="rId22"/>
    <p:sldId id="564" r:id="rId23"/>
    <p:sldId id="456" r:id="rId24"/>
    <p:sldId id="489" r:id="rId25"/>
    <p:sldId id="499" r:id="rId26"/>
    <p:sldId id="613" r:id="rId27"/>
    <p:sldId id="458" r:id="rId28"/>
    <p:sldId id="2145726859" r:id="rId29"/>
    <p:sldId id="2145726857" r:id="rId30"/>
    <p:sldId id="469" r:id="rId31"/>
    <p:sldId id="2145726856" r:id="rId32"/>
    <p:sldId id="614" r:id="rId33"/>
    <p:sldId id="281" r:id="rId34"/>
    <p:sldId id="283" r:id="rId35"/>
    <p:sldId id="285" r:id="rId36"/>
    <p:sldId id="2145726866" r:id="rId37"/>
    <p:sldId id="583" r:id="rId38"/>
    <p:sldId id="525" r:id="rId39"/>
    <p:sldId id="2145726868" r:id="rId40"/>
    <p:sldId id="571" r:id="rId41"/>
    <p:sldId id="2145726864" r:id="rId42"/>
    <p:sldId id="585" r:id="rId43"/>
    <p:sldId id="536" r:id="rId44"/>
    <p:sldId id="256" r:id="rId45"/>
    <p:sldId id="574" r:id="rId46"/>
    <p:sldId id="572" r:id="rId47"/>
    <p:sldId id="575" r:id="rId48"/>
    <p:sldId id="498" r:id="rId49"/>
    <p:sldId id="325" r:id="rId50"/>
    <p:sldId id="326" r:id="rId51"/>
    <p:sldId id="491" r:id="rId52"/>
    <p:sldId id="472" r:id="rId53"/>
  </p:sldIdLst>
  <p:sldSz cx="12192000" cy="6858000"/>
  <p:notesSz cx="7315200" cy="9601200"/>
  <p:custDataLst>
    <p:tags r:id="rId55"/>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2E2597A-94BE-EE4F-A6CE-E20FE57E2F9C}" name="Guest User" initials="GU" userId="S::urn:spo:anon#4882e948f16bd08fe685987adb7b014b58869755eb6e2ab80c2be75a5daf6f48::" providerId="AD"/>
  <p188:author id="{6244F3C6-ED6E-17B5-41BE-FE4DD862B991}" name="Taylor Davis" initials="TD" userId="S::taylordavis@careluminate.com::5c9e72a0-c39f-4aa1-9d7d-64125e78cbe6" providerId="AD"/>
  <p188:author id="{66F9D3D0-34A3-8F09-07C8-70124CEFC9C1}" name="Guest User" initials="GU" userId="S::urn:spo:anon#24b610c975cf575f85befe109f115faf394b3198ecce54128fd3ac5d0276f2d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39F"/>
    <a:srgbClr val="244F9A"/>
    <a:srgbClr val="30589B"/>
    <a:srgbClr val="2F5597"/>
    <a:srgbClr val="6087CE"/>
    <a:srgbClr val="4468A5"/>
    <a:srgbClr val="F2F2F2"/>
    <a:srgbClr val="C55A11"/>
    <a:srgbClr val="F424AA"/>
    <a:srgbClr val="E234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ABFD43-4455-4DAF-AEC5-16D24612DA36}" v="3" dt="2025-03-12T04:18:21.056"/>
  </p1510:revLst>
</p1510:revInfo>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14" autoAdjust="0"/>
    <p:restoredTop sz="88609" autoAdjust="0"/>
  </p:normalViewPr>
  <p:slideViewPr>
    <p:cSldViewPr snapToGrid="0">
      <p:cViewPr>
        <p:scale>
          <a:sx n="80" d="100"/>
          <a:sy n="80" d="100"/>
        </p:scale>
        <p:origin x="590" y="154"/>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9" Type="http://schemas.openxmlformats.org/officeDocument/2006/relationships/slide" Target="slides/slide30.xml"/><Relationship Id="rId21" Type="http://schemas.openxmlformats.org/officeDocument/2006/relationships/slide" Target="slides/slide12.xml"/><Relationship Id="rId34" Type="http://schemas.openxmlformats.org/officeDocument/2006/relationships/slide" Target="slides/slide25.xml"/><Relationship Id="rId42" Type="http://schemas.openxmlformats.org/officeDocument/2006/relationships/slide" Target="slides/slide33.xml"/><Relationship Id="rId47" Type="http://schemas.openxmlformats.org/officeDocument/2006/relationships/slide" Target="slides/slide38.xml"/><Relationship Id="rId50" Type="http://schemas.openxmlformats.org/officeDocument/2006/relationships/slide" Target="slides/slide41.xml"/><Relationship Id="rId55" Type="http://schemas.openxmlformats.org/officeDocument/2006/relationships/tags" Target="tags/tag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7.xml"/><Relationship Id="rId29" Type="http://schemas.openxmlformats.org/officeDocument/2006/relationships/slide" Target="slides/slide20.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slide" Target="slides/slide36.xml"/><Relationship Id="rId53" Type="http://schemas.openxmlformats.org/officeDocument/2006/relationships/slide" Target="slides/slide44.xml"/><Relationship Id="rId58" Type="http://schemas.openxmlformats.org/officeDocument/2006/relationships/viewProps" Target="viewProps.xml"/><Relationship Id="rId5" Type="http://schemas.openxmlformats.org/officeDocument/2006/relationships/slideMaster" Target="slideMasters/slideMaster2.xml"/><Relationship Id="rId61" Type="http://schemas.microsoft.com/office/2015/10/relationships/revisionInfo" Target="revisionInfo.xml"/><Relationship Id="rId19" Type="http://schemas.openxmlformats.org/officeDocument/2006/relationships/slide" Target="slides/slide10.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slide" Target="slides/slide39.xml"/><Relationship Id="rId56" Type="http://schemas.openxmlformats.org/officeDocument/2006/relationships/commentAuthors" Target="commentAuthors.xml"/><Relationship Id="rId8" Type="http://schemas.openxmlformats.org/officeDocument/2006/relationships/slideMaster" Target="slideMasters/slideMaster5.xml"/><Relationship Id="rId51" Type="http://schemas.openxmlformats.org/officeDocument/2006/relationships/slide" Target="slides/slide42.xml"/><Relationship Id="rId3" Type="http://schemas.openxmlformats.org/officeDocument/2006/relationships/customXml" Target="../customXml/item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59" Type="http://schemas.openxmlformats.org/officeDocument/2006/relationships/theme" Target="theme/theme1.xml"/><Relationship Id="rId20" Type="http://schemas.openxmlformats.org/officeDocument/2006/relationships/slide" Target="slides/slide11.xml"/><Relationship Id="rId41" Type="http://schemas.openxmlformats.org/officeDocument/2006/relationships/slide" Target="slides/slide32.xml"/><Relationship Id="rId54" Type="http://schemas.openxmlformats.org/officeDocument/2006/relationships/notesMaster" Target="notesMasters/notesMaster1.xml"/><Relationship Id="rId62"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slide" Target="slides/slide40.xml"/><Relationship Id="rId57" Type="http://schemas.openxmlformats.org/officeDocument/2006/relationships/presProps" Target="presProps.xml"/><Relationship Id="rId10" Type="http://schemas.openxmlformats.org/officeDocument/2006/relationships/slide" Target="slides/slide1.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slide" Target="slides/slide43.xml"/><Relationship Id="rId6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Master" Target="slideMasters/slideMaster6.xml"/></Relationships>
</file>

<file path=ppt/comments/modernComment_7FE53192_3C36F9F4.xml><?xml version="1.0" encoding="utf-8"?>
<p188:cmLst xmlns:a="http://schemas.openxmlformats.org/drawingml/2006/main" xmlns:r="http://schemas.openxmlformats.org/officeDocument/2006/relationships" xmlns:p188="http://schemas.microsoft.com/office/powerpoint/2018/8/main">
  <p188:cm id="{22EC8C09-C53C-4C2E-B154-C4AFEC883543}" authorId="{66F9D3D0-34A3-8F09-07C8-70124CEFC9C1}" created="2024-12-06T22:26:01.707">
    <pc:sldMkLst xmlns:pc="http://schemas.microsoft.com/office/powerpoint/2013/main/command">
      <pc:docMk/>
      <pc:sldMk cId="1010235892" sldId="2145726866"/>
    </pc:sldMkLst>
    <p188:txBody>
      <a:bodyPr/>
      <a:lstStyle/>
      <a:p>
        <a:r>
          <a:rPr lang="en-US"/>
          <a:t>Updated</a:t>
        </a:r>
      </a:p>
    </p188:txBody>
  </p188:cm>
</p188:cmLst>
</file>

<file path=ppt/diagrams/_rels/data2.xml.rels><?xml version="1.0" encoding="UTF-8" standalone="yes"?>
<Relationships xmlns="http://schemas.openxmlformats.org/package/2006/relationships"><Relationship Id="rId8" Type="http://schemas.openxmlformats.org/officeDocument/2006/relationships/image" Target="../media/image55.svg"/><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image" Target="../media/image49.svg"/><Relationship Id="rId1" Type="http://schemas.openxmlformats.org/officeDocument/2006/relationships/image" Target="../media/image48.png"/><Relationship Id="rId6" Type="http://schemas.openxmlformats.org/officeDocument/2006/relationships/image" Target="../media/image53.svg"/><Relationship Id="rId5" Type="http://schemas.openxmlformats.org/officeDocument/2006/relationships/image" Target="../media/image52.png"/><Relationship Id="rId10" Type="http://schemas.openxmlformats.org/officeDocument/2006/relationships/image" Target="../media/image57.svg"/><Relationship Id="rId4" Type="http://schemas.openxmlformats.org/officeDocument/2006/relationships/image" Target="../media/image51.svg"/><Relationship Id="rId9" Type="http://schemas.openxmlformats.org/officeDocument/2006/relationships/image" Target="../media/image56.png"/></Relationships>
</file>

<file path=ppt/diagrams/_rels/drawing2.xml.rels><?xml version="1.0" encoding="UTF-8" standalone="yes"?>
<Relationships xmlns="http://schemas.openxmlformats.org/package/2006/relationships"><Relationship Id="rId8" Type="http://schemas.openxmlformats.org/officeDocument/2006/relationships/image" Target="../media/image55.svg"/><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image" Target="../media/image49.svg"/><Relationship Id="rId1" Type="http://schemas.openxmlformats.org/officeDocument/2006/relationships/image" Target="../media/image48.png"/><Relationship Id="rId6" Type="http://schemas.openxmlformats.org/officeDocument/2006/relationships/image" Target="../media/image53.svg"/><Relationship Id="rId5" Type="http://schemas.openxmlformats.org/officeDocument/2006/relationships/image" Target="../media/image52.png"/><Relationship Id="rId10" Type="http://schemas.openxmlformats.org/officeDocument/2006/relationships/image" Target="../media/image57.svg"/><Relationship Id="rId4" Type="http://schemas.openxmlformats.org/officeDocument/2006/relationships/image" Target="../media/image51.svg"/><Relationship Id="rId9" Type="http://schemas.openxmlformats.org/officeDocument/2006/relationships/image" Target="../media/image56.png"/></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C7552FD-62D0-4C89-AB2B-72AE9D7341CF}" type="doc">
      <dgm:prSet loTypeId="urn:microsoft.com/office/officeart/2005/8/layout/venn2" loCatId="relationship" qsTypeId="urn:microsoft.com/office/officeart/2005/8/quickstyle/3d1#1" qsCatId="3D" csTypeId="urn:microsoft.com/office/officeart/2005/8/colors/accent1_3" csCatId="accent1" phldr="1"/>
      <dgm:spPr/>
      <dgm:t>
        <a:bodyPr/>
        <a:lstStyle/>
        <a:p>
          <a:endParaRPr lang="en-US"/>
        </a:p>
      </dgm:t>
    </dgm:pt>
    <dgm:pt modelId="{95724BCE-4D84-45F0-853F-F17C772D0584}">
      <dgm:prSet phldrT="[Text]" custT="1"/>
      <dgm:spPr>
        <a:solidFill>
          <a:srgbClr val="61A606"/>
        </a:solidFill>
      </dgm:spPr>
      <dgm:t>
        <a:bodyPr/>
        <a:lstStyle/>
        <a:p>
          <a:r>
            <a:rPr lang="en-US" sz="1200" b="1" dirty="0"/>
            <a:t>Out of Network</a:t>
          </a:r>
        </a:p>
      </dgm:t>
    </dgm:pt>
    <dgm:pt modelId="{C4069396-DBC4-441D-858D-6F1FB8AB3335}" type="parTrans" cxnId="{EDE789B6-DE86-481F-A7CA-05566DD34C7E}">
      <dgm:prSet/>
      <dgm:spPr/>
      <dgm:t>
        <a:bodyPr/>
        <a:lstStyle/>
        <a:p>
          <a:endParaRPr lang="en-US" sz="1200" b="1"/>
        </a:p>
      </dgm:t>
    </dgm:pt>
    <dgm:pt modelId="{B7AFCCD7-67D9-4F40-93BA-B7F5FA89153B}" type="sibTrans" cxnId="{EDE789B6-DE86-481F-A7CA-05566DD34C7E}">
      <dgm:prSet/>
      <dgm:spPr/>
      <dgm:t>
        <a:bodyPr/>
        <a:lstStyle/>
        <a:p>
          <a:endParaRPr lang="en-US" sz="1200" b="1"/>
        </a:p>
      </dgm:t>
    </dgm:pt>
    <dgm:pt modelId="{569713F0-CA36-4804-9BAC-B1D988D414E1}">
      <dgm:prSet phldrT="[Text]" custT="1"/>
      <dgm:spPr>
        <a:solidFill>
          <a:srgbClr val="244F9A"/>
        </a:solidFill>
      </dgm:spPr>
      <dgm:t>
        <a:bodyPr/>
        <a:lstStyle/>
        <a:p>
          <a:r>
            <a:rPr lang="en-US" sz="1200" b="1" dirty="0"/>
            <a:t>Friends &amp; Family (Contracted)</a:t>
          </a:r>
        </a:p>
      </dgm:t>
    </dgm:pt>
    <dgm:pt modelId="{C2ABEC94-DF33-4E2B-8072-2FB520905D00}" type="parTrans" cxnId="{FBE4C505-B914-4ED7-A279-063D711FC2A4}">
      <dgm:prSet/>
      <dgm:spPr/>
      <dgm:t>
        <a:bodyPr/>
        <a:lstStyle/>
        <a:p>
          <a:endParaRPr lang="en-US" sz="1200" b="1"/>
        </a:p>
      </dgm:t>
    </dgm:pt>
    <dgm:pt modelId="{7F7B88C7-943C-4452-A6E8-0E402C95A08B}" type="sibTrans" cxnId="{FBE4C505-B914-4ED7-A279-063D711FC2A4}">
      <dgm:prSet/>
      <dgm:spPr/>
      <dgm:t>
        <a:bodyPr/>
        <a:lstStyle/>
        <a:p>
          <a:endParaRPr lang="en-US" sz="1200" b="1"/>
        </a:p>
      </dgm:t>
    </dgm:pt>
    <dgm:pt modelId="{1E65235D-8651-4890-AE0B-49DC383A1E91}">
      <dgm:prSet phldrT="[Text]" custT="1"/>
      <dgm:spPr>
        <a:solidFill>
          <a:srgbClr val="59CAE8"/>
        </a:solidFill>
      </dgm:spPr>
      <dgm:t>
        <a:bodyPr/>
        <a:lstStyle/>
        <a:p>
          <a:endParaRPr lang="en-US" sz="1200" b="1" dirty="0">
            <a:effectLst>
              <a:outerShdw blurRad="38100" dist="38100" dir="2700000" algn="tl">
                <a:srgbClr val="000000">
                  <a:alpha val="43137"/>
                </a:srgbClr>
              </a:outerShdw>
            </a:effectLst>
          </a:endParaRPr>
        </a:p>
      </dgm:t>
    </dgm:pt>
    <dgm:pt modelId="{EBC95944-0EC3-46F4-9FEF-8988CFF8C43A}" type="parTrans" cxnId="{C483DC75-E93F-42FC-9F22-8AEF775BA916}">
      <dgm:prSet/>
      <dgm:spPr/>
      <dgm:t>
        <a:bodyPr/>
        <a:lstStyle/>
        <a:p>
          <a:endParaRPr lang="en-US" sz="1200" b="1"/>
        </a:p>
      </dgm:t>
    </dgm:pt>
    <dgm:pt modelId="{61F457D8-374A-49D4-900E-947546529662}" type="sibTrans" cxnId="{C483DC75-E93F-42FC-9F22-8AEF775BA916}">
      <dgm:prSet/>
      <dgm:spPr/>
      <dgm:t>
        <a:bodyPr/>
        <a:lstStyle/>
        <a:p>
          <a:endParaRPr lang="en-US" sz="1200" b="1"/>
        </a:p>
      </dgm:t>
    </dgm:pt>
    <dgm:pt modelId="{ECE6B814-0FC3-4C58-9174-74C36EF10323}">
      <dgm:prSet phldrT="[Text]" custT="1"/>
      <dgm:spPr>
        <a:solidFill>
          <a:srgbClr val="019CA5"/>
        </a:solidFill>
      </dgm:spPr>
      <dgm:t>
        <a:bodyPr/>
        <a:lstStyle/>
        <a:p>
          <a:r>
            <a:rPr lang="en-US" sz="1200" b="1" dirty="0"/>
            <a:t>Wrap Network (Rented)</a:t>
          </a:r>
        </a:p>
      </dgm:t>
    </dgm:pt>
    <dgm:pt modelId="{86D68A84-8990-42F1-BDC0-9D23A1F134C4}" type="sibTrans" cxnId="{249B36A5-1CF8-4FAF-92A3-07C95195B8A7}">
      <dgm:prSet/>
      <dgm:spPr/>
      <dgm:t>
        <a:bodyPr/>
        <a:lstStyle/>
        <a:p>
          <a:endParaRPr lang="en-US" sz="1200" b="1"/>
        </a:p>
      </dgm:t>
    </dgm:pt>
    <dgm:pt modelId="{93698D8B-DBC4-4A38-ACF6-A3FD1A770EC5}" type="parTrans" cxnId="{249B36A5-1CF8-4FAF-92A3-07C95195B8A7}">
      <dgm:prSet/>
      <dgm:spPr/>
      <dgm:t>
        <a:bodyPr/>
        <a:lstStyle/>
        <a:p>
          <a:endParaRPr lang="en-US" sz="1200" b="1"/>
        </a:p>
      </dgm:t>
    </dgm:pt>
    <dgm:pt modelId="{B48E91E1-A56E-40AF-9FB7-1CF2ACB11A26}" type="pres">
      <dgm:prSet presAssocID="{CC7552FD-62D0-4C89-AB2B-72AE9D7341CF}" presName="Name0" presStyleCnt="0">
        <dgm:presLayoutVars>
          <dgm:chMax val="7"/>
          <dgm:resizeHandles val="exact"/>
        </dgm:presLayoutVars>
      </dgm:prSet>
      <dgm:spPr/>
    </dgm:pt>
    <dgm:pt modelId="{51B4B7A6-5CC6-4D2B-A008-C2393CCE8E1A}" type="pres">
      <dgm:prSet presAssocID="{CC7552FD-62D0-4C89-AB2B-72AE9D7341CF}" presName="comp1" presStyleCnt="0"/>
      <dgm:spPr/>
    </dgm:pt>
    <dgm:pt modelId="{2137BF38-EED7-40B6-AE30-314765FAF99B}" type="pres">
      <dgm:prSet presAssocID="{CC7552FD-62D0-4C89-AB2B-72AE9D7341CF}" presName="circle1" presStyleLbl="node1" presStyleIdx="0" presStyleCnt="4"/>
      <dgm:spPr/>
    </dgm:pt>
    <dgm:pt modelId="{DF426F85-4C8C-4ED2-8675-11BFB0838EC8}" type="pres">
      <dgm:prSet presAssocID="{CC7552FD-62D0-4C89-AB2B-72AE9D7341CF}" presName="c1text" presStyleLbl="node1" presStyleIdx="0" presStyleCnt="4">
        <dgm:presLayoutVars>
          <dgm:bulletEnabled val="1"/>
        </dgm:presLayoutVars>
      </dgm:prSet>
      <dgm:spPr/>
    </dgm:pt>
    <dgm:pt modelId="{C6723F7F-022F-4FCC-B6E2-7067916A4B10}" type="pres">
      <dgm:prSet presAssocID="{CC7552FD-62D0-4C89-AB2B-72AE9D7341CF}" presName="comp2" presStyleCnt="0"/>
      <dgm:spPr/>
    </dgm:pt>
    <dgm:pt modelId="{68806E35-FB05-408F-AFBC-163227E8487B}" type="pres">
      <dgm:prSet presAssocID="{CC7552FD-62D0-4C89-AB2B-72AE9D7341CF}" presName="circle2" presStyleLbl="node1" presStyleIdx="1" presStyleCnt="4"/>
      <dgm:spPr/>
    </dgm:pt>
    <dgm:pt modelId="{0B6A6A60-FE79-4554-9C37-549CA04643BE}" type="pres">
      <dgm:prSet presAssocID="{CC7552FD-62D0-4C89-AB2B-72AE9D7341CF}" presName="c2text" presStyleLbl="node1" presStyleIdx="1" presStyleCnt="4">
        <dgm:presLayoutVars>
          <dgm:bulletEnabled val="1"/>
        </dgm:presLayoutVars>
      </dgm:prSet>
      <dgm:spPr/>
    </dgm:pt>
    <dgm:pt modelId="{6FD52F53-EBEF-48E2-8A07-24379F9A581F}" type="pres">
      <dgm:prSet presAssocID="{CC7552FD-62D0-4C89-AB2B-72AE9D7341CF}" presName="comp3" presStyleCnt="0"/>
      <dgm:spPr/>
    </dgm:pt>
    <dgm:pt modelId="{EBC66B5F-74A7-4C59-9CEC-5E7379E73E3B}" type="pres">
      <dgm:prSet presAssocID="{CC7552FD-62D0-4C89-AB2B-72AE9D7341CF}" presName="circle3" presStyleLbl="node1" presStyleIdx="2" presStyleCnt="4"/>
      <dgm:spPr/>
    </dgm:pt>
    <dgm:pt modelId="{F4A2D7CC-0825-42DF-BF52-41782C7F5FD9}" type="pres">
      <dgm:prSet presAssocID="{CC7552FD-62D0-4C89-AB2B-72AE9D7341CF}" presName="c3text" presStyleLbl="node1" presStyleIdx="2" presStyleCnt="4">
        <dgm:presLayoutVars>
          <dgm:bulletEnabled val="1"/>
        </dgm:presLayoutVars>
      </dgm:prSet>
      <dgm:spPr/>
    </dgm:pt>
    <dgm:pt modelId="{28E403A5-F99B-4FAC-89FC-A846539584D0}" type="pres">
      <dgm:prSet presAssocID="{CC7552FD-62D0-4C89-AB2B-72AE9D7341CF}" presName="comp4" presStyleCnt="0"/>
      <dgm:spPr/>
    </dgm:pt>
    <dgm:pt modelId="{F92C6764-1AFD-4DFF-B75E-6422C5503855}" type="pres">
      <dgm:prSet presAssocID="{CC7552FD-62D0-4C89-AB2B-72AE9D7341CF}" presName="circle4" presStyleLbl="node1" presStyleIdx="3" presStyleCnt="4" custLinFactNeighborX="805" custLinFactNeighborY="1231"/>
      <dgm:spPr/>
    </dgm:pt>
    <dgm:pt modelId="{D63BE29E-2BB7-44DC-AA3E-8ABC2E4D12DA}" type="pres">
      <dgm:prSet presAssocID="{CC7552FD-62D0-4C89-AB2B-72AE9D7341CF}" presName="c4text" presStyleLbl="node1" presStyleIdx="3" presStyleCnt="4">
        <dgm:presLayoutVars>
          <dgm:bulletEnabled val="1"/>
        </dgm:presLayoutVars>
      </dgm:prSet>
      <dgm:spPr/>
    </dgm:pt>
  </dgm:ptLst>
  <dgm:cxnLst>
    <dgm:cxn modelId="{FBE4C505-B914-4ED7-A279-063D711FC2A4}" srcId="{CC7552FD-62D0-4C89-AB2B-72AE9D7341CF}" destId="{569713F0-CA36-4804-9BAC-B1D988D414E1}" srcOrd="2" destOrd="0" parTransId="{C2ABEC94-DF33-4E2B-8072-2FB520905D00}" sibTransId="{7F7B88C7-943C-4452-A6E8-0E402C95A08B}"/>
    <dgm:cxn modelId="{F2B3A710-39AB-4C98-A65E-5BAFADE8822C}" type="presOf" srcId="{1E65235D-8651-4890-AE0B-49DC383A1E91}" destId="{F92C6764-1AFD-4DFF-B75E-6422C5503855}" srcOrd="0" destOrd="0" presId="urn:microsoft.com/office/officeart/2005/8/layout/venn2"/>
    <dgm:cxn modelId="{AB7ABC15-C91B-4510-987C-DC7E28931CDF}" type="presOf" srcId="{ECE6B814-0FC3-4C58-9174-74C36EF10323}" destId="{68806E35-FB05-408F-AFBC-163227E8487B}" srcOrd="0" destOrd="0" presId="urn:microsoft.com/office/officeart/2005/8/layout/venn2"/>
    <dgm:cxn modelId="{0DECDB18-FC83-4AD8-8CE5-199CE52396EB}" type="presOf" srcId="{ECE6B814-0FC3-4C58-9174-74C36EF10323}" destId="{0B6A6A60-FE79-4554-9C37-549CA04643BE}" srcOrd="1" destOrd="0" presId="urn:microsoft.com/office/officeart/2005/8/layout/venn2"/>
    <dgm:cxn modelId="{14418032-6613-4832-B925-ADD3CB109AC1}" type="presOf" srcId="{95724BCE-4D84-45F0-853F-F17C772D0584}" destId="{DF426F85-4C8C-4ED2-8675-11BFB0838EC8}" srcOrd="1" destOrd="0" presId="urn:microsoft.com/office/officeart/2005/8/layout/venn2"/>
    <dgm:cxn modelId="{402ECC72-BF1F-4D94-9E07-E240E3CDC58B}" type="presOf" srcId="{569713F0-CA36-4804-9BAC-B1D988D414E1}" destId="{EBC66B5F-74A7-4C59-9CEC-5E7379E73E3B}" srcOrd="0" destOrd="0" presId="urn:microsoft.com/office/officeart/2005/8/layout/venn2"/>
    <dgm:cxn modelId="{C8818974-6CAA-4CB2-8EE8-57F21A36CA14}" type="presOf" srcId="{569713F0-CA36-4804-9BAC-B1D988D414E1}" destId="{F4A2D7CC-0825-42DF-BF52-41782C7F5FD9}" srcOrd="1" destOrd="0" presId="urn:microsoft.com/office/officeart/2005/8/layout/venn2"/>
    <dgm:cxn modelId="{C483DC75-E93F-42FC-9F22-8AEF775BA916}" srcId="{CC7552FD-62D0-4C89-AB2B-72AE9D7341CF}" destId="{1E65235D-8651-4890-AE0B-49DC383A1E91}" srcOrd="3" destOrd="0" parTransId="{EBC95944-0EC3-46F4-9FEF-8988CFF8C43A}" sibTransId="{61F457D8-374A-49D4-900E-947546529662}"/>
    <dgm:cxn modelId="{A6A7605A-1F39-45EF-BF83-BA2406EE7A18}" type="presOf" srcId="{95724BCE-4D84-45F0-853F-F17C772D0584}" destId="{2137BF38-EED7-40B6-AE30-314765FAF99B}" srcOrd="0" destOrd="0" presId="urn:microsoft.com/office/officeart/2005/8/layout/venn2"/>
    <dgm:cxn modelId="{E2740696-3283-48CE-B97D-9876EDC46B7F}" type="presOf" srcId="{1E65235D-8651-4890-AE0B-49DC383A1E91}" destId="{D63BE29E-2BB7-44DC-AA3E-8ABC2E4D12DA}" srcOrd="1" destOrd="0" presId="urn:microsoft.com/office/officeart/2005/8/layout/venn2"/>
    <dgm:cxn modelId="{249B36A5-1CF8-4FAF-92A3-07C95195B8A7}" srcId="{CC7552FD-62D0-4C89-AB2B-72AE9D7341CF}" destId="{ECE6B814-0FC3-4C58-9174-74C36EF10323}" srcOrd="1" destOrd="0" parTransId="{93698D8B-DBC4-4A38-ACF6-A3FD1A770EC5}" sibTransId="{86D68A84-8990-42F1-BDC0-9D23A1F134C4}"/>
    <dgm:cxn modelId="{248A33AF-5C9C-44CD-83DB-FBE3BC11E892}" type="presOf" srcId="{CC7552FD-62D0-4C89-AB2B-72AE9D7341CF}" destId="{B48E91E1-A56E-40AF-9FB7-1CF2ACB11A26}" srcOrd="0" destOrd="0" presId="urn:microsoft.com/office/officeart/2005/8/layout/venn2"/>
    <dgm:cxn modelId="{EDE789B6-DE86-481F-A7CA-05566DD34C7E}" srcId="{CC7552FD-62D0-4C89-AB2B-72AE9D7341CF}" destId="{95724BCE-4D84-45F0-853F-F17C772D0584}" srcOrd="0" destOrd="0" parTransId="{C4069396-DBC4-441D-858D-6F1FB8AB3335}" sibTransId="{B7AFCCD7-67D9-4F40-93BA-B7F5FA89153B}"/>
    <dgm:cxn modelId="{5BD9092F-1A66-4F0A-AF1E-25AF0EE8FD30}" type="presParOf" srcId="{B48E91E1-A56E-40AF-9FB7-1CF2ACB11A26}" destId="{51B4B7A6-5CC6-4D2B-A008-C2393CCE8E1A}" srcOrd="0" destOrd="0" presId="urn:microsoft.com/office/officeart/2005/8/layout/venn2"/>
    <dgm:cxn modelId="{2F863CF6-5E37-43DF-912A-4A5621BA5BF0}" type="presParOf" srcId="{51B4B7A6-5CC6-4D2B-A008-C2393CCE8E1A}" destId="{2137BF38-EED7-40B6-AE30-314765FAF99B}" srcOrd="0" destOrd="0" presId="urn:microsoft.com/office/officeart/2005/8/layout/venn2"/>
    <dgm:cxn modelId="{975CD106-737C-48C1-9A8D-9501AD23E7A8}" type="presParOf" srcId="{51B4B7A6-5CC6-4D2B-A008-C2393CCE8E1A}" destId="{DF426F85-4C8C-4ED2-8675-11BFB0838EC8}" srcOrd="1" destOrd="0" presId="urn:microsoft.com/office/officeart/2005/8/layout/venn2"/>
    <dgm:cxn modelId="{9D0C7BE2-1A22-4D14-8173-13BB6F5F499A}" type="presParOf" srcId="{B48E91E1-A56E-40AF-9FB7-1CF2ACB11A26}" destId="{C6723F7F-022F-4FCC-B6E2-7067916A4B10}" srcOrd="1" destOrd="0" presId="urn:microsoft.com/office/officeart/2005/8/layout/venn2"/>
    <dgm:cxn modelId="{0FB070D9-1CF8-45D8-910F-51CDC89BD66C}" type="presParOf" srcId="{C6723F7F-022F-4FCC-B6E2-7067916A4B10}" destId="{68806E35-FB05-408F-AFBC-163227E8487B}" srcOrd="0" destOrd="0" presId="urn:microsoft.com/office/officeart/2005/8/layout/venn2"/>
    <dgm:cxn modelId="{E874FD9E-42DD-4775-BD14-98A78C0E358F}" type="presParOf" srcId="{C6723F7F-022F-4FCC-B6E2-7067916A4B10}" destId="{0B6A6A60-FE79-4554-9C37-549CA04643BE}" srcOrd="1" destOrd="0" presId="urn:microsoft.com/office/officeart/2005/8/layout/venn2"/>
    <dgm:cxn modelId="{533F2428-7D48-425A-84B9-BD8EE9858991}" type="presParOf" srcId="{B48E91E1-A56E-40AF-9FB7-1CF2ACB11A26}" destId="{6FD52F53-EBEF-48E2-8A07-24379F9A581F}" srcOrd="2" destOrd="0" presId="urn:microsoft.com/office/officeart/2005/8/layout/venn2"/>
    <dgm:cxn modelId="{D6C94450-97EC-46B7-8F51-45063118571E}" type="presParOf" srcId="{6FD52F53-EBEF-48E2-8A07-24379F9A581F}" destId="{EBC66B5F-74A7-4C59-9CEC-5E7379E73E3B}" srcOrd="0" destOrd="0" presId="urn:microsoft.com/office/officeart/2005/8/layout/venn2"/>
    <dgm:cxn modelId="{83345C35-304E-4D9D-A9F4-F8721176DD23}" type="presParOf" srcId="{6FD52F53-EBEF-48E2-8A07-24379F9A581F}" destId="{F4A2D7CC-0825-42DF-BF52-41782C7F5FD9}" srcOrd="1" destOrd="0" presId="urn:microsoft.com/office/officeart/2005/8/layout/venn2"/>
    <dgm:cxn modelId="{AC46EE94-CB6F-43B3-84C8-F82373D89B41}" type="presParOf" srcId="{B48E91E1-A56E-40AF-9FB7-1CF2ACB11A26}" destId="{28E403A5-F99B-4FAC-89FC-A846539584D0}" srcOrd="3" destOrd="0" presId="urn:microsoft.com/office/officeart/2005/8/layout/venn2"/>
    <dgm:cxn modelId="{0E30E2C5-34DC-4093-889B-5B1D03CBEB01}" type="presParOf" srcId="{28E403A5-F99B-4FAC-89FC-A846539584D0}" destId="{F92C6764-1AFD-4DFF-B75E-6422C5503855}" srcOrd="0" destOrd="0" presId="urn:microsoft.com/office/officeart/2005/8/layout/venn2"/>
    <dgm:cxn modelId="{5C9EDED6-C0C0-452F-9674-0BA712F0109C}" type="presParOf" srcId="{28E403A5-F99B-4FAC-89FC-A846539584D0}" destId="{D63BE29E-2BB7-44DC-AA3E-8ABC2E4D12DA}" srcOrd="1" destOrd="0" presId="urn:microsoft.com/office/officeart/2005/8/layout/venn2"/>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1F1B84F-4F37-4E4B-B28C-05C8DFC94756}"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0911CD98-B2F6-4E17-9C61-BB702C3250BF}">
      <dgm:prSet/>
      <dgm:spPr/>
      <dgm:t>
        <a:bodyPr/>
        <a:lstStyle/>
        <a:p>
          <a:r>
            <a:rPr lang="en-US"/>
            <a:t>Locally based sales rep with strong community ties</a:t>
          </a:r>
        </a:p>
      </dgm:t>
    </dgm:pt>
    <dgm:pt modelId="{1B3485FF-7759-40EC-AD38-B4C3F252244B}" type="parTrans" cxnId="{A168C851-557D-4049-B12D-0918348F3F6B}">
      <dgm:prSet/>
      <dgm:spPr/>
      <dgm:t>
        <a:bodyPr/>
        <a:lstStyle/>
        <a:p>
          <a:endParaRPr lang="en-US"/>
        </a:p>
      </dgm:t>
    </dgm:pt>
    <dgm:pt modelId="{9180CA49-E8E8-4099-ADFF-9A61D44E83A0}" type="sibTrans" cxnId="{A168C851-557D-4049-B12D-0918348F3F6B}">
      <dgm:prSet/>
      <dgm:spPr/>
      <dgm:t>
        <a:bodyPr/>
        <a:lstStyle/>
        <a:p>
          <a:endParaRPr lang="en-US"/>
        </a:p>
      </dgm:t>
    </dgm:pt>
    <dgm:pt modelId="{9AFA7D91-6390-4F95-BF06-02D171762A63}">
      <dgm:prSet/>
      <dgm:spPr/>
      <dgm:t>
        <a:bodyPr/>
        <a:lstStyle/>
        <a:p>
          <a:r>
            <a:rPr lang="en-US"/>
            <a:t>Collaboration with DTE provider partners to identify strategic employers for early adoption and sales</a:t>
          </a:r>
        </a:p>
      </dgm:t>
    </dgm:pt>
    <dgm:pt modelId="{D0587002-3B85-493B-96BA-C0B5C3BC8362}" type="parTrans" cxnId="{8425CA16-C12A-4854-A8A6-A903ECA909CC}">
      <dgm:prSet/>
      <dgm:spPr/>
      <dgm:t>
        <a:bodyPr/>
        <a:lstStyle/>
        <a:p>
          <a:endParaRPr lang="en-US"/>
        </a:p>
      </dgm:t>
    </dgm:pt>
    <dgm:pt modelId="{0B994676-137E-4272-9E37-A6B069477E49}" type="sibTrans" cxnId="{8425CA16-C12A-4854-A8A6-A903ECA909CC}">
      <dgm:prSet/>
      <dgm:spPr/>
      <dgm:t>
        <a:bodyPr/>
        <a:lstStyle/>
        <a:p>
          <a:endParaRPr lang="en-US"/>
        </a:p>
      </dgm:t>
    </dgm:pt>
    <dgm:pt modelId="{9D9C157A-8184-4810-813C-F9ABE512F84B}">
      <dgm:prSet/>
      <dgm:spPr/>
      <dgm:t>
        <a:bodyPr/>
        <a:lstStyle/>
        <a:p>
          <a:r>
            <a:rPr lang="en-US"/>
            <a:t>Work with select broker distribution partners with aligned incentives and goals</a:t>
          </a:r>
        </a:p>
      </dgm:t>
    </dgm:pt>
    <dgm:pt modelId="{D8EDC1F2-E417-46FD-8716-E1D397B83704}" type="parTrans" cxnId="{D6C9B23D-AA21-442F-A1F4-60E86C0DFD38}">
      <dgm:prSet/>
      <dgm:spPr/>
      <dgm:t>
        <a:bodyPr/>
        <a:lstStyle/>
        <a:p>
          <a:endParaRPr lang="en-US"/>
        </a:p>
      </dgm:t>
    </dgm:pt>
    <dgm:pt modelId="{A9D49BD5-FFD1-45FF-B858-025048928466}" type="sibTrans" cxnId="{D6C9B23D-AA21-442F-A1F4-60E86C0DFD38}">
      <dgm:prSet/>
      <dgm:spPr/>
      <dgm:t>
        <a:bodyPr/>
        <a:lstStyle/>
        <a:p>
          <a:endParaRPr lang="en-US"/>
        </a:p>
      </dgm:t>
    </dgm:pt>
    <dgm:pt modelId="{39D9786D-012C-4B3E-84F3-BFD2C13FD7FC}">
      <dgm:prSet/>
      <dgm:spPr/>
      <dgm:t>
        <a:bodyPr/>
        <a:lstStyle/>
        <a:p>
          <a:r>
            <a:rPr lang="en-US"/>
            <a:t>Pipeline reporting and collaboration with our DTE provider partners</a:t>
          </a:r>
        </a:p>
      </dgm:t>
    </dgm:pt>
    <dgm:pt modelId="{C689F240-B9AE-4A72-BADB-436944BA27AA}" type="parTrans" cxnId="{9F11DF62-E12D-48E8-9AF7-8969B05FD323}">
      <dgm:prSet/>
      <dgm:spPr/>
      <dgm:t>
        <a:bodyPr/>
        <a:lstStyle/>
        <a:p>
          <a:endParaRPr lang="en-US"/>
        </a:p>
      </dgm:t>
    </dgm:pt>
    <dgm:pt modelId="{0FD7031B-D881-49AA-97BB-5ACDC9BF069B}" type="sibTrans" cxnId="{9F11DF62-E12D-48E8-9AF7-8969B05FD323}">
      <dgm:prSet/>
      <dgm:spPr/>
      <dgm:t>
        <a:bodyPr/>
        <a:lstStyle/>
        <a:p>
          <a:endParaRPr lang="en-US"/>
        </a:p>
      </dgm:t>
    </dgm:pt>
    <dgm:pt modelId="{B99A3672-DF6D-4974-8FC9-C3A40F7EE8D6}">
      <dgm:prSet/>
      <dgm:spPr/>
      <dgm:t>
        <a:bodyPr/>
        <a:lstStyle/>
        <a:p>
          <a:r>
            <a:rPr lang="en-US"/>
            <a:t>Marketing and promotion of the new option in the community</a:t>
          </a:r>
        </a:p>
      </dgm:t>
    </dgm:pt>
    <dgm:pt modelId="{F021CB03-DC97-4F5D-A6E0-B31CA8867184}" type="parTrans" cxnId="{BA63E6F6-73E3-400D-860F-4F734F4C4B3F}">
      <dgm:prSet/>
      <dgm:spPr/>
      <dgm:t>
        <a:bodyPr/>
        <a:lstStyle/>
        <a:p>
          <a:endParaRPr lang="en-US"/>
        </a:p>
      </dgm:t>
    </dgm:pt>
    <dgm:pt modelId="{FF3C2DEC-F562-4F34-AE34-A164E841B7EF}" type="sibTrans" cxnId="{BA63E6F6-73E3-400D-860F-4F734F4C4B3F}">
      <dgm:prSet/>
      <dgm:spPr/>
      <dgm:t>
        <a:bodyPr/>
        <a:lstStyle/>
        <a:p>
          <a:endParaRPr lang="en-US"/>
        </a:p>
      </dgm:t>
    </dgm:pt>
    <dgm:pt modelId="{37E61AA2-39C5-4D3B-A37D-5BFF2E9B8AED}" type="pres">
      <dgm:prSet presAssocID="{A1F1B84F-4F37-4E4B-B28C-05C8DFC94756}" presName="root" presStyleCnt="0">
        <dgm:presLayoutVars>
          <dgm:dir/>
          <dgm:resizeHandles val="exact"/>
        </dgm:presLayoutVars>
      </dgm:prSet>
      <dgm:spPr/>
    </dgm:pt>
    <dgm:pt modelId="{DFD5F05F-A43A-4652-80DD-25D35540632C}" type="pres">
      <dgm:prSet presAssocID="{0911CD98-B2F6-4E17-9C61-BB702C3250BF}" presName="compNode" presStyleCnt="0"/>
      <dgm:spPr/>
    </dgm:pt>
    <dgm:pt modelId="{EF2B0188-8507-44E9-B757-7CDCC1B0E1A1}" type="pres">
      <dgm:prSet presAssocID="{0911CD98-B2F6-4E17-9C61-BB702C3250BF}" presName="bgRect" presStyleLbl="bgShp" presStyleIdx="0" presStyleCnt="5"/>
      <dgm:spPr>
        <a:solidFill>
          <a:srgbClr val="00539F"/>
        </a:solidFill>
      </dgm:spPr>
    </dgm:pt>
    <dgm:pt modelId="{62DBE401-C7C8-4CFE-9E6C-C1AF672BE62E}" type="pres">
      <dgm:prSet presAssocID="{0911CD98-B2F6-4E17-9C61-BB702C3250BF}" presName="iconRect" presStyleLbl="node1" presStyleIdx="0" presStyleCnt="5"/>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Cheers with solid fill"/>
        </a:ext>
      </dgm:extLst>
    </dgm:pt>
    <dgm:pt modelId="{5865C594-3822-4E5D-A8F0-237AFF390341}" type="pres">
      <dgm:prSet presAssocID="{0911CD98-B2F6-4E17-9C61-BB702C3250BF}" presName="spaceRect" presStyleCnt="0"/>
      <dgm:spPr/>
    </dgm:pt>
    <dgm:pt modelId="{4CB68EC3-6DDF-4EA3-93EC-B1D00317444B}" type="pres">
      <dgm:prSet presAssocID="{0911CD98-B2F6-4E17-9C61-BB702C3250BF}" presName="parTx" presStyleLbl="revTx" presStyleIdx="0" presStyleCnt="5">
        <dgm:presLayoutVars>
          <dgm:chMax val="0"/>
          <dgm:chPref val="0"/>
        </dgm:presLayoutVars>
      </dgm:prSet>
      <dgm:spPr/>
    </dgm:pt>
    <dgm:pt modelId="{8F49C51A-DAE6-4363-9FDF-3E95B30C7DB1}" type="pres">
      <dgm:prSet presAssocID="{9180CA49-E8E8-4099-ADFF-9A61D44E83A0}" presName="sibTrans" presStyleCnt="0"/>
      <dgm:spPr/>
    </dgm:pt>
    <dgm:pt modelId="{8EF2CCDE-7F5C-4F5F-B2FA-43FDCA78B104}" type="pres">
      <dgm:prSet presAssocID="{9AFA7D91-6390-4F95-BF06-02D171762A63}" presName="compNode" presStyleCnt="0"/>
      <dgm:spPr/>
    </dgm:pt>
    <dgm:pt modelId="{B3E1CF03-EDE1-471D-890C-AA2901FB45D9}" type="pres">
      <dgm:prSet presAssocID="{9AFA7D91-6390-4F95-BF06-02D171762A63}" presName="bgRect" presStyleLbl="bgShp" presStyleIdx="1" presStyleCnt="5"/>
      <dgm:spPr>
        <a:solidFill>
          <a:srgbClr val="00539F"/>
        </a:solidFill>
      </dgm:spPr>
    </dgm:pt>
    <dgm:pt modelId="{ECC08DA8-E403-48CD-BD4C-54248151AF43}" type="pres">
      <dgm:prSet presAssocID="{9AFA7D91-6390-4F95-BF06-02D171762A63}"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eeting"/>
        </a:ext>
      </dgm:extLst>
    </dgm:pt>
    <dgm:pt modelId="{FE4C47F7-8462-46EB-8C62-1EA1F9B6F345}" type="pres">
      <dgm:prSet presAssocID="{9AFA7D91-6390-4F95-BF06-02D171762A63}" presName="spaceRect" presStyleCnt="0"/>
      <dgm:spPr/>
    </dgm:pt>
    <dgm:pt modelId="{29DB6DFD-5EF2-4FE9-B832-B73DBBA6C818}" type="pres">
      <dgm:prSet presAssocID="{9AFA7D91-6390-4F95-BF06-02D171762A63}" presName="parTx" presStyleLbl="revTx" presStyleIdx="1" presStyleCnt="5">
        <dgm:presLayoutVars>
          <dgm:chMax val="0"/>
          <dgm:chPref val="0"/>
        </dgm:presLayoutVars>
      </dgm:prSet>
      <dgm:spPr/>
    </dgm:pt>
    <dgm:pt modelId="{BBD30813-D29A-4BFF-871C-E33ABBA55401}" type="pres">
      <dgm:prSet presAssocID="{0B994676-137E-4272-9E37-A6B069477E49}" presName="sibTrans" presStyleCnt="0"/>
      <dgm:spPr/>
    </dgm:pt>
    <dgm:pt modelId="{94B5DC3D-A2E9-423D-897A-CA8E16E3511B}" type="pres">
      <dgm:prSet presAssocID="{9D9C157A-8184-4810-813C-F9ABE512F84B}" presName="compNode" presStyleCnt="0"/>
      <dgm:spPr/>
    </dgm:pt>
    <dgm:pt modelId="{495539A5-77BE-4439-9E54-31CB6AC437BE}" type="pres">
      <dgm:prSet presAssocID="{9D9C157A-8184-4810-813C-F9ABE512F84B}" presName="bgRect" presStyleLbl="bgShp" presStyleIdx="2" presStyleCnt="5"/>
      <dgm:spPr>
        <a:solidFill>
          <a:srgbClr val="00539F"/>
        </a:solidFill>
      </dgm:spPr>
    </dgm:pt>
    <dgm:pt modelId="{66BBB871-A6BE-4530-8850-268C29376138}" type="pres">
      <dgm:prSet presAssocID="{9D9C157A-8184-4810-813C-F9ABE512F84B}"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andshake"/>
        </a:ext>
      </dgm:extLst>
    </dgm:pt>
    <dgm:pt modelId="{09342166-EBA1-4B27-8ACE-D6FAC2A4DB0C}" type="pres">
      <dgm:prSet presAssocID="{9D9C157A-8184-4810-813C-F9ABE512F84B}" presName="spaceRect" presStyleCnt="0"/>
      <dgm:spPr/>
    </dgm:pt>
    <dgm:pt modelId="{85678566-6F19-4FD8-B582-931B4C3F49E3}" type="pres">
      <dgm:prSet presAssocID="{9D9C157A-8184-4810-813C-F9ABE512F84B}" presName="parTx" presStyleLbl="revTx" presStyleIdx="2" presStyleCnt="5">
        <dgm:presLayoutVars>
          <dgm:chMax val="0"/>
          <dgm:chPref val="0"/>
        </dgm:presLayoutVars>
      </dgm:prSet>
      <dgm:spPr/>
    </dgm:pt>
    <dgm:pt modelId="{44ECB50D-A07B-4D5E-844D-7D32E84393B1}" type="pres">
      <dgm:prSet presAssocID="{A9D49BD5-FFD1-45FF-B858-025048928466}" presName="sibTrans" presStyleCnt="0"/>
      <dgm:spPr/>
    </dgm:pt>
    <dgm:pt modelId="{CE6CF16D-32CC-42ED-9AB1-8FA8B428B507}" type="pres">
      <dgm:prSet presAssocID="{39D9786D-012C-4B3E-84F3-BFD2C13FD7FC}" presName="compNode" presStyleCnt="0"/>
      <dgm:spPr/>
    </dgm:pt>
    <dgm:pt modelId="{98428F15-F0D5-4130-9147-37C3DDCA1DC9}" type="pres">
      <dgm:prSet presAssocID="{39D9786D-012C-4B3E-84F3-BFD2C13FD7FC}" presName="bgRect" presStyleLbl="bgShp" presStyleIdx="3" presStyleCnt="5"/>
      <dgm:spPr>
        <a:solidFill>
          <a:srgbClr val="00539F"/>
        </a:solidFill>
      </dgm:spPr>
    </dgm:pt>
    <dgm:pt modelId="{317B8A92-F6D8-485E-BFCD-F23A414CD080}" type="pres">
      <dgm:prSet presAssocID="{39D9786D-012C-4B3E-84F3-BFD2C13FD7FC}" presName="iconRect" presStyleLbl="node1" presStyleIdx="3" presStyleCnt="5"/>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Business Growth with solid fill"/>
        </a:ext>
      </dgm:extLst>
    </dgm:pt>
    <dgm:pt modelId="{D67C9A0B-8E41-46E6-8087-A85826FA64FA}" type="pres">
      <dgm:prSet presAssocID="{39D9786D-012C-4B3E-84F3-BFD2C13FD7FC}" presName="spaceRect" presStyleCnt="0"/>
      <dgm:spPr/>
    </dgm:pt>
    <dgm:pt modelId="{ECF200B6-4CF1-49FA-82CB-D36753C29C94}" type="pres">
      <dgm:prSet presAssocID="{39D9786D-012C-4B3E-84F3-BFD2C13FD7FC}" presName="parTx" presStyleLbl="revTx" presStyleIdx="3" presStyleCnt="5">
        <dgm:presLayoutVars>
          <dgm:chMax val="0"/>
          <dgm:chPref val="0"/>
        </dgm:presLayoutVars>
      </dgm:prSet>
      <dgm:spPr/>
    </dgm:pt>
    <dgm:pt modelId="{D6C45ADB-0B0E-41AD-966C-A24E2BDD5A10}" type="pres">
      <dgm:prSet presAssocID="{0FD7031B-D881-49AA-97BB-5ACDC9BF069B}" presName="sibTrans" presStyleCnt="0"/>
      <dgm:spPr/>
    </dgm:pt>
    <dgm:pt modelId="{2A54FCFA-8C28-4B8F-83AC-553D4CE8145D}" type="pres">
      <dgm:prSet presAssocID="{B99A3672-DF6D-4974-8FC9-C3A40F7EE8D6}" presName="compNode" presStyleCnt="0"/>
      <dgm:spPr/>
    </dgm:pt>
    <dgm:pt modelId="{7566ED39-D6F5-4DF5-8A39-A79490273A0B}" type="pres">
      <dgm:prSet presAssocID="{B99A3672-DF6D-4974-8FC9-C3A40F7EE8D6}" presName="bgRect" presStyleLbl="bgShp" presStyleIdx="4" presStyleCnt="5"/>
      <dgm:spPr>
        <a:solidFill>
          <a:srgbClr val="00539F"/>
        </a:solidFill>
      </dgm:spPr>
    </dgm:pt>
    <dgm:pt modelId="{B3F6EF59-567A-4333-BF88-50EE8E8487A2}" type="pres">
      <dgm:prSet presAssocID="{B99A3672-DF6D-4974-8FC9-C3A40F7EE8D6}"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onnections"/>
        </a:ext>
      </dgm:extLst>
    </dgm:pt>
    <dgm:pt modelId="{C07678B5-F1A8-408B-99D7-F5DF97732B8E}" type="pres">
      <dgm:prSet presAssocID="{B99A3672-DF6D-4974-8FC9-C3A40F7EE8D6}" presName="spaceRect" presStyleCnt="0"/>
      <dgm:spPr/>
    </dgm:pt>
    <dgm:pt modelId="{AEFC0EFB-BD3D-4AF8-8A4E-66BB21DDE307}" type="pres">
      <dgm:prSet presAssocID="{B99A3672-DF6D-4974-8FC9-C3A40F7EE8D6}" presName="parTx" presStyleLbl="revTx" presStyleIdx="4" presStyleCnt="5">
        <dgm:presLayoutVars>
          <dgm:chMax val="0"/>
          <dgm:chPref val="0"/>
        </dgm:presLayoutVars>
      </dgm:prSet>
      <dgm:spPr/>
    </dgm:pt>
  </dgm:ptLst>
  <dgm:cxnLst>
    <dgm:cxn modelId="{E984370F-FCB1-497C-85E7-CE8CDEE5CE72}" type="presOf" srcId="{0911CD98-B2F6-4E17-9C61-BB702C3250BF}" destId="{4CB68EC3-6DDF-4EA3-93EC-B1D00317444B}" srcOrd="0" destOrd="0" presId="urn:microsoft.com/office/officeart/2018/2/layout/IconVerticalSolidList"/>
    <dgm:cxn modelId="{8425CA16-C12A-4854-A8A6-A903ECA909CC}" srcId="{A1F1B84F-4F37-4E4B-B28C-05C8DFC94756}" destId="{9AFA7D91-6390-4F95-BF06-02D171762A63}" srcOrd="1" destOrd="0" parTransId="{D0587002-3B85-493B-96BA-C0B5C3BC8362}" sibTransId="{0B994676-137E-4272-9E37-A6B069477E49}"/>
    <dgm:cxn modelId="{0E351628-9811-4200-BF32-763ECC730587}" type="presOf" srcId="{A1F1B84F-4F37-4E4B-B28C-05C8DFC94756}" destId="{37E61AA2-39C5-4D3B-A37D-5BFF2E9B8AED}" srcOrd="0" destOrd="0" presId="urn:microsoft.com/office/officeart/2018/2/layout/IconVerticalSolidList"/>
    <dgm:cxn modelId="{D6C9B23D-AA21-442F-A1F4-60E86C0DFD38}" srcId="{A1F1B84F-4F37-4E4B-B28C-05C8DFC94756}" destId="{9D9C157A-8184-4810-813C-F9ABE512F84B}" srcOrd="2" destOrd="0" parTransId="{D8EDC1F2-E417-46FD-8716-E1D397B83704}" sibTransId="{A9D49BD5-FFD1-45FF-B858-025048928466}"/>
    <dgm:cxn modelId="{7673B861-15F1-4DFB-91C8-F9338D4E2FD3}" type="presOf" srcId="{9AFA7D91-6390-4F95-BF06-02D171762A63}" destId="{29DB6DFD-5EF2-4FE9-B832-B73DBBA6C818}" srcOrd="0" destOrd="0" presId="urn:microsoft.com/office/officeart/2018/2/layout/IconVerticalSolidList"/>
    <dgm:cxn modelId="{9F11DF62-E12D-48E8-9AF7-8969B05FD323}" srcId="{A1F1B84F-4F37-4E4B-B28C-05C8DFC94756}" destId="{39D9786D-012C-4B3E-84F3-BFD2C13FD7FC}" srcOrd="3" destOrd="0" parTransId="{C689F240-B9AE-4A72-BADB-436944BA27AA}" sibTransId="{0FD7031B-D881-49AA-97BB-5ACDC9BF069B}"/>
    <dgm:cxn modelId="{A168C851-557D-4049-B12D-0918348F3F6B}" srcId="{A1F1B84F-4F37-4E4B-B28C-05C8DFC94756}" destId="{0911CD98-B2F6-4E17-9C61-BB702C3250BF}" srcOrd="0" destOrd="0" parTransId="{1B3485FF-7759-40EC-AD38-B4C3F252244B}" sibTransId="{9180CA49-E8E8-4099-ADFF-9A61D44E83A0}"/>
    <dgm:cxn modelId="{6C0ED558-1C36-4942-87C9-E5CDEBD5215A}" type="presOf" srcId="{B99A3672-DF6D-4974-8FC9-C3A40F7EE8D6}" destId="{AEFC0EFB-BD3D-4AF8-8A4E-66BB21DDE307}" srcOrd="0" destOrd="0" presId="urn:microsoft.com/office/officeart/2018/2/layout/IconVerticalSolidList"/>
    <dgm:cxn modelId="{907FDB82-6D78-4B5B-B8D5-FBD143D2D9B7}" type="presOf" srcId="{9D9C157A-8184-4810-813C-F9ABE512F84B}" destId="{85678566-6F19-4FD8-B582-931B4C3F49E3}" srcOrd="0" destOrd="0" presId="urn:microsoft.com/office/officeart/2018/2/layout/IconVerticalSolidList"/>
    <dgm:cxn modelId="{A6F3D9AA-9AE5-4F50-98F3-131244F0904B}" type="presOf" srcId="{39D9786D-012C-4B3E-84F3-BFD2C13FD7FC}" destId="{ECF200B6-4CF1-49FA-82CB-D36753C29C94}" srcOrd="0" destOrd="0" presId="urn:microsoft.com/office/officeart/2018/2/layout/IconVerticalSolidList"/>
    <dgm:cxn modelId="{BA63E6F6-73E3-400D-860F-4F734F4C4B3F}" srcId="{A1F1B84F-4F37-4E4B-B28C-05C8DFC94756}" destId="{B99A3672-DF6D-4974-8FC9-C3A40F7EE8D6}" srcOrd="4" destOrd="0" parTransId="{F021CB03-DC97-4F5D-A6E0-B31CA8867184}" sibTransId="{FF3C2DEC-F562-4F34-AE34-A164E841B7EF}"/>
    <dgm:cxn modelId="{842AB080-082E-4C17-94CA-7742D671B3ED}" type="presParOf" srcId="{37E61AA2-39C5-4D3B-A37D-5BFF2E9B8AED}" destId="{DFD5F05F-A43A-4652-80DD-25D35540632C}" srcOrd="0" destOrd="0" presId="urn:microsoft.com/office/officeart/2018/2/layout/IconVerticalSolidList"/>
    <dgm:cxn modelId="{6EF39C1D-FAFD-4A04-A11A-1030AC4CFC8B}" type="presParOf" srcId="{DFD5F05F-A43A-4652-80DD-25D35540632C}" destId="{EF2B0188-8507-44E9-B757-7CDCC1B0E1A1}" srcOrd="0" destOrd="0" presId="urn:microsoft.com/office/officeart/2018/2/layout/IconVerticalSolidList"/>
    <dgm:cxn modelId="{6D810C82-4D92-4389-B5AA-752860BBE629}" type="presParOf" srcId="{DFD5F05F-A43A-4652-80DD-25D35540632C}" destId="{62DBE401-C7C8-4CFE-9E6C-C1AF672BE62E}" srcOrd="1" destOrd="0" presId="urn:microsoft.com/office/officeart/2018/2/layout/IconVerticalSolidList"/>
    <dgm:cxn modelId="{19579CB1-0E46-435D-B65A-526C3672873F}" type="presParOf" srcId="{DFD5F05F-A43A-4652-80DD-25D35540632C}" destId="{5865C594-3822-4E5D-A8F0-237AFF390341}" srcOrd="2" destOrd="0" presId="urn:microsoft.com/office/officeart/2018/2/layout/IconVerticalSolidList"/>
    <dgm:cxn modelId="{F4A6F0DC-71D2-4A28-8F71-A32E7CC21BE4}" type="presParOf" srcId="{DFD5F05F-A43A-4652-80DD-25D35540632C}" destId="{4CB68EC3-6DDF-4EA3-93EC-B1D00317444B}" srcOrd="3" destOrd="0" presId="urn:microsoft.com/office/officeart/2018/2/layout/IconVerticalSolidList"/>
    <dgm:cxn modelId="{7298B435-A464-40AF-81C1-277811F934A6}" type="presParOf" srcId="{37E61AA2-39C5-4D3B-A37D-5BFF2E9B8AED}" destId="{8F49C51A-DAE6-4363-9FDF-3E95B30C7DB1}" srcOrd="1" destOrd="0" presId="urn:microsoft.com/office/officeart/2018/2/layout/IconVerticalSolidList"/>
    <dgm:cxn modelId="{80208897-E320-4A70-A0C1-2D462611E667}" type="presParOf" srcId="{37E61AA2-39C5-4D3B-A37D-5BFF2E9B8AED}" destId="{8EF2CCDE-7F5C-4F5F-B2FA-43FDCA78B104}" srcOrd="2" destOrd="0" presId="urn:microsoft.com/office/officeart/2018/2/layout/IconVerticalSolidList"/>
    <dgm:cxn modelId="{8631143E-C593-472F-A2DF-22ED3A77E9C2}" type="presParOf" srcId="{8EF2CCDE-7F5C-4F5F-B2FA-43FDCA78B104}" destId="{B3E1CF03-EDE1-471D-890C-AA2901FB45D9}" srcOrd="0" destOrd="0" presId="urn:microsoft.com/office/officeart/2018/2/layout/IconVerticalSolidList"/>
    <dgm:cxn modelId="{10D11F1E-AA15-4AA8-8E34-D7EDB0314473}" type="presParOf" srcId="{8EF2CCDE-7F5C-4F5F-B2FA-43FDCA78B104}" destId="{ECC08DA8-E403-48CD-BD4C-54248151AF43}" srcOrd="1" destOrd="0" presId="urn:microsoft.com/office/officeart/2018/2/layout/IconVerticalSolidList"/>
    <dgm:cxn modelId="{906D20FF-7949-4A1E-8CD3-654B8ABBD8B6}" type="presParOf" srcId="{8EF2CCDE-7F5C-4F5F-B2FA-43FDCA78B104}" destId="{FE4C47F7-8462-46EB-8C62-1EA1F9B6F345}" srcOrd="2" destOrd="0" presId="urn:microsoft.com/office/officeart/2018/2/layout/IconVerticalSolidList"/>
    <dgm:cxn modelId="{C4FEB834-80E4-4B2F-AE68-1B09BC0B63E4}" type="presParOf" srcId="{8EF2CCDE-7F5C-4F5F-B2FA-43FDCA78B104}" destId="{29DB6DFD-5EF2-4FE9-B832-B73DBBA6C818}" srcOrd="3" destOrd="0" presId="urn:microsoft.com/office/officeart/2018/2/layout/IconVerticalSolidList"/>
    <dgm:cxn modelId="{37736754-2A48-4138-ABD2-2E7DB36CA19F}" type="presParOf" srcId="{37E61AA2-39C5-4D3B-A37D-5BFF2E9B8AED}" destId="{BBD30813-D29A-4BFF-871C-E33ABBA55401}" srcOrd="3" destOrd="0" presId="urn:microsoft.com/office/officeart/2018/2/layout/IconVerticalSolidList"/>
    <dgm:cxn modelId="{2ABD4FB5-C6B5-4317-ACF2-B5CDA0D2D5BD}" type="presParOf" srcId="{37E61AA2-39C5-4D3B-A37D-5BFF2E9B8AED}" destId="{94B5DC3D-A2E9-423D-897A-CA8E16E3511B}" srcOrd="4" destOrd="0" presId="urn:microsoft.com/office/officeart/2018/2/layout/IconVerticalSolidList"/>
    <dgm:cxn modelId="{5D74FEC5-780E-4A88-9479-49C0D344EB21}" type="presParOf" srcId="{94B5DC3D-A2E9-423D-897A-CA8E16E3511B}" destId="{495539A5-77BE-4439-9E54-31CB6AC437BE}" srcOrd="0" destOrd="0" presId="urn:microsoft.com/office/officeart/2018/2/layout/IconVerticalSolidList"/>
    <dgm:cxn modelId="{D99BB2F5-81E7-487E-81C0-21F85C306EA1}" type="presParOf" srcId="{94B5DC3D-A2E9-423D-897A-CA8E16E3511B}" destId="{66BBB871-A6BE-4530-8850-268C29376138}" srcOrd="1" destOrd="0" presId="urn:microsoft.com/office/officeart/2018/2/layout/IconVerticalSolidList"/>
    <dgm:cxn modelId="{8B962ACB-D181-409F-88AC-9E2B1F991553}" type="presParOf" srcId="{94B5DC3D-A2E9-423D-897A-CA8E16E3511B}" destId="{09342166-EBA1-4B27-8ACE-D6FAC2A4DB0C}" srcOrd="2" destOrd="0" presId="urn:microsoft.com/office/officeart/2018/2/layout/IconVerticalSolidList"/>
    <dgm:cxn modelId="{C553F894-B963-4961-A07F-A8686370A1B7}" type="presParOf" srcId="{94B5DC3D-A2E9-423D-897A-CA8E16E3511B}" destId="{85678566-6F19-4FD8-B582-931B4C3F49E3}" srcOrd="3" destOrd="0" presId="urn:microsoft.com/office/officeart/2018/2/layout/IconVerticalSolidList"/>
    <dgm:cxn modelId="{5B7F9F0D-3160-4A91-87B9-34FD02B96799}" type="presParOf" srcId="{37E61AA2-39C5-4D3B-A37D-5BFF2E9B8AED}" destId="{44ECB50D-A07B-4D5E-844D-7D32E84393B1}" srcOrd="5" destOrd="0" presId="urn:microsoft.com/office/officeart/2018/2/layout/IconVerticalSolidList"/>
    <dgm:cxn modelId="{6ABCCA69-7FE2-4620-B149-176B6A2139E3}" type="presParOf" srcId="{37E61AA2-39C5-4D3B-A37D-5BFF2E9B8AED}" destId="{CE6CF16D-32CC-42ED-9AB1-8FA8B428B507}" srcOrd="6" destOrd="0" presId="urn:microsoft.com/office/officeart/2018/2/layout/IconVerticalSolidList"/>
    <dgm:cxn modelId="{1411B764-7C10-4824-81F9-5712E11B9478}" type="presParOf" srcId="{CE6CF16D-32CC-42ED-9AB1-8FA8B428B507}" destId="{98428F15-F0D5-4130-9147-37C3DDCA1DC9}" srcOrd="0" destOrd="0" presId="urn:microsoft.com/office/officeart/2018/2/layout/IconVerticalSolidList"/>
    <dgm:cxn modelId="{69CF457E-E251-47A1-A455-671F5086320B}" type="presParOf" srcId="{CE6CF16D-32CC-42ED-9AB1-8FA8B428B507}" destId="{317B8A92-F6D8-485E-BFCD-F23A414CD080}" srcOrd="1" destOrd="0" presId="urn:microsoft.com/office/officeart/2018/2/layout/IconVerticalSolidList"/>
    <dgm:cxn modelId="{E8FBD433-CB19-48B7-943E-4B7E5146EE63}" type="presParOf" srcId="{CE6CF16D-32CC-42ED-9AB1-8FA8B428B507}" destId="{D67C9A0B-8E41-46E6-8087-A85826FA64FA}" srcOrd="2" destOrd="0" presId="urn:microsoft.com/office/officeart/2018/2/layout/IconVerticalSolidList"/>
    <dgm:cxn modelId="{14639D21-D3D9-425C-9A7E-08E6E10AF458}" type="presParOf" srcId="{CE6CF16D-32CC-42ED-9AB1-8FA8B428B507}" destId="{ECF200B6-4CF1-49FA-82CB-D36753C29C94}" srcOrd="3" destOrd="0" presId="urn:microsoft.com/office/officeart/2018/2/layout/IconVerticalSolidList"/>
    <dgm:cxn modelId="{0A1FA13D-2846-47A2-8450-A2943D76228F}" type="presParOf" srcId="{37E61AA2-39C5-4D3B-A37D-5BFF2E9B8AED}" destId="{D6C45ADB-0B0E-41AD-966C-A24E2BDD5A10}" srcOrd="7" destOrd="0" presId="urn:microsoft.com/office/officeart/2018/2/layout/IconVerticalSolidList"/>
    <dgm:cxn modelId="{B1096B87-C599-42D7-8BC1-D3901BD2E7A7}" type="presParOf" srcId="{37E61AA2-39C5-4D3B-A37D-5BFF2E9B8AED}" destId="{2A54FCFA-8C28-4B8F-83AC-553D4CE8145D}" srcOrd="8" destOrd="0" presId="urn:microsoft.com/office/officeart/2018/2/layout/IconVerticalSolidList"/>
    <dgm:cxn modelId="{952352DE-697E-41A0-AA50-DA440E7D7B84}" type="presParOf" srcId="{2A54FCFA-8C28-4B8F-83AC-553D4CE8145D}" destId="{7566ED39-D6F5-4DF5-8A39-A79490273A0B}" srcOrd="0" destOrd="0" presId="urn:microsoft.com/office/officeart/2018/2/layout/IconVerticalSolidList"/>
    <dgm:cxn modelId="{3F91414F-7B45-4BE9-91C9-7DDDF27875CB}" type="presParOf" srcId="{2A54FCFA-8C28-4B8F-83AC-553D4CE8145D}" destId="{B3F6EF59-567A-4333-BF88-50EE8E8487A2}" srcOrd="1" destOrd="0" presId="urn:microsoft.com/office/officeart/2018/2/layout/IconVerticalSolidList"/>
    <dgm:cxn modelId="{589CE084-1CA3-4809-B2B9-4C3A6957C4E5}" type="presParOf" srcId="{2A54FCFA-8C28-4B8F-83AC-553D4CE8145D}" destId="{C07678B5-F1A8-408B-99D7-F5DF97732B8E}" srcOrd="2" destOrd="0" presId="urn:microsoft.com/office/officeart/2018/2/layout/IconVerticalSolidList"/>
    <dgm:cxn modelId="{4FAF5214-1D30-44F5-A655-91B4158F77D6}" type="presParOf" srcId="{2A54FCFA-8C28-4B8F-83AC-553D4CE8145D}" destId="{AEFC0EFB-BD3D-4AF8-8A4E-66BB21DDE307}"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1EB95AC-B718-49BE-B9F7-7B46D03A9070}" type="doc">
      <dgm:prSet loTypeId="urn:microsoft.com/office/officeart/2005/8/layout/chevron2" loCatId="list" qsTypeId="urn:microsoft.com/office/officeart/2005/8/quickstyle/simple1" qsCatId="simple" csTypeId="urn:microsoft.com/office/officeart/2005/8/colors/colorful3" csCatId="colorful" phldr="1"/>
      <dgm:spPr>
        <a:scene3d>
          <a:camera prst="orthographicFront">
            <a:rot lat="0" lon="0" rev="0"/>
          </a:camera>
          <a:lightRig rig="balanced" dir="t">
            <a:rot lat="0" lon="0" rev="8700000"/>
          </a:lightRig>
        </a:scene3d>
      </dgm:spPr>
      <dgm:t>
        <a:bodyPr/>
        <a:lstStyle/>
        <a:p>
          <a:endParaRPr lang="en-US"/>
        </a:p>
      </dgm:t>
    </dgm:pt>
    <dgm:pt modelId="{47BCB690-E656-418C-B55B-B79A4FCE6245}">
      <dgm:prSet phldrT="[Text]" custT="1"/>
      <dgm:spPr>
        <a:scene3d>
          <a:camera prst="orthographicFront">
            <a:rot lat="0" lon="0" rev="0"/>
          </a:camera>
          <a:lightRig rig="balanced" dir="t">
            <a:rot lat="0" lon="0" rev="8700000"/>
          </a:lightRig>
        </a:scene3d>
        <a:sp3d>
          <a:bevelT w="190500" h="38100"/>
        </a:sp3d>
      </dgm:spPr>
      <dgm:t>
        <a:bodyPr/>
        <a:lstStyle/>
        <a:p>
          <a:r>
            <a:rPr lang="en-US" sz="2000" dirty="0"/>
            <a:t>PROVIDER FILE</a:t>
          </a:r>
        </a:p>
      </dgm:t>
    </dgm:pt>
    <dgm:pt modelId="{21485E53-BF3D-4432-8067-935595586B0F}" type="parTrans" cxnId="{8A02C773-1A4A-4225-AE5B-19BBABCA0546}">
      <dgm:prSet/>
      <dgm:spPr/>
      <dgm:t>
        <a:bodyPr/>
        <a:lstStyle/>
        <a:p>
          <a:endParaRPr lang="en-US" sz="2000"/>
        </a:p>
      </dgm:t>
    </dgm:pt>
    <dgm:pt modelId="{8E928878-0D2F-4A4F-888D-4D1DC978E21E}" type="sibTrans" cxnId="{8A02C773-1A4A-4225-AE5B-19BBABCA0546}">
      <dgm:prSet/>
      <dgm:spPr/>
      <dgm:t>
        <a:bodyPr/>
        <a:lstStyle/>
        <a:p>
          <a:endParaRPr lang="en-US" sz="2000"/>
        </a:p>
      </dgm:t>
    </dgm:pt>
    <dgm:pt modelId="{F23082BA-6E41-4A1F-B1B1-BB53C7ABA88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92C3D120-BAFB-4E00-B475-B58E77B980C1}" type="parTrans" cxnId="{9060E8D6-14D8-45D4-94F6-5D26D3CC4E2E}">
      <dgm:prSet/>
      <dgm:spPr/>
      <dgm:t>
        <a:bodyPr/>
        <a:lstStyle/>
        <a:p>
          <a:endParaRPr lang="en-US" sz="2000"/>
        </a:p>
      </dgm:t>
    </dgm:pt>
    <dgm:pt modelId="{465CAD08-1732-4D98-964A-5E10FDE2D8CB}" type="sibTrans" cxnId="{9060E8D6-14D8-45D4-94F6-5D26D3CC4E2E}">
      <dgm:prSet/>
      <dgm:spPr/>
      <dgm:t>
        <a:bodyPr/>
        <a:lstStyle/>
        <a:p>
          <a:endParaRPr lang="en-US" sz="2000"/>
        </a:p>
      </dgm:t>
    </dgm:pt>
    <dgm:pt modelId="{8FF7F8DE-0085-4489-85EA-475C2622F1F3}">
      <dgm:prSet phldrT="[Text]" custT="1"/>
      <dgm:spPr>
        <a:solidFill>
          <a:srgbClr val="244F9A"/>
        </a:solidFill>
        <a:ln>
          <a:solidFill>
            <a:srgbClr val="6A3085"/>
          </a:solidFill>
        </a:ln>
        <a:scene3d>
          <a:camera prst="orthographicFront">
            <a:rot lat="0" lon="0" rev="0"/>
          </a:camera>
          <a:lightRig rig="balanced" dir="t">
            <a:rot lat="0" lon="0" rev="8700000"/>
          </a:lightRig>
        </a:scene3d>
        <a:sp3d>
          <a:bevelT w="190500" h="38100"/>
        </a:sp3d>
      </dgm:spPr>
      <dgm:t>
        <a:bodyPr/>
        <a:lstStyle/>
        <a:p>
          <a:r>
            <a:rPr lang="en-US" sz="2000" dirty="0"/>
            <a:t>PRICING</a:t>
          </a:r>
        </a:p>
      </dgm:t>
    </dgm:pt>
    <dgm:pt modelId="{78703D96-49FE-4F74-BBE0-39D3C04B358D}" type="parTrans" cxnId="{1BA4842A-4C22-4B8F-A09D-47DDB89E291B}">
      <dgm:prSet/>
      <dgm:spPr/>
      <dgm:t>
        <a:bodyPr/>
        <a:lstStyle/>
        <a:p>
          <a:endParaRPr lang="en-US" sz="2000"/>
        </a:p>
      </dgm:t>
    </dgm:pt>
    <dgm:pt modelId="{62E82B07-65F9-4D6F-8234-7C637FD1F21F}" type="sibTrans" cxnId="{1BA4842A-4C22-4B8F-A09D-47DDB89E291B}">
      <dgm:prSet/>
      <dgm:spPr/>
      <dgm:t>
        <a:bodyPr/>
        <a:lstStyle/>
        <a:p>
          <a:endParaRPr lang="en-US" sz="2000"/>
        </a:p>
      </dgm:t>
    </dgm:pt>
    <dgm:pt modelId="{11EC91AA-3CFF-4ADD-AA31-272D003909E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71667140-5D68-4DDA-853E-B4B81BBDF37E}" type="parTrans" cxnId="{EE804DF4-6270-48F2-9F5E-5D86BEB84224}">
      <dgm:prSet/>
      <dgm:spPr/>
      <dgm:t>
        <a:bodyPr/>
        <a:lstStyle/>
        <a:p>
          <a:endParaRPr lang="en-US" sz="2000"/>
        </a:p>
      </dgm:t>
    </dgm:pt>
    <dgm:pt modelId="{98D4B22A-FE0F-4782-B365-D2B118F43F7B}" type="sibTrans" cxnId="{EE804DF4-6270-48F2-9F5E-5D86BEB84224}">
      <dgm:prSet/>
      <dgm:spPr/>
      <dgm:t>
        <a:bodyPr/>
        <a:lstStyle/>
        <a:p>
          <a:endParaRPr lang="en-US" sz="2000"/>
        </a:p>
      </dgm:t>
    </dgm:pt>
    <dgm:pt modelId="{F08F3DDB-C1F5-4A86-8DFF-07C39C5A038C}" type="pres">
      <dgm:prSet presAssocID="{51EB95AC-B718-49BE-B9F7-7B46D03A9070}" presName="linearFlow" presStyleCnt="0">
        <dgm:presLayoutVars>
          <dgm:dir/>
          <dgm:animLvl val="lvl"/>
          <dgm:resizeHandles val="exact"/>
        </dgm:presLayoutVars>
      </dgm:prSet>
      <dgm:spPr/>
    </dgm:pt>
    <dgm:pt modelId="{A460E43C-7A3B-40A7-856C-577CDE509837}" type="pres">
      <dgm:prSet presAssocID="{47BCB690-E656-418C-B55B-B79A4FCE6245}" presName="composite" presStyleCnt="0"/>
      <dgm:spPr/>
    </dgm:pt>
    <dgm:pt modelId="{EF8C66CE-B1D9-43FD-91B0-9A298E99D806}" type="pres">
      <dgm:prSet presAssocID="{47BCB690-E656-418C-B55B-B79A4FCE6245}" presName="parentText" presStyleLbl="alignNode1" presStyleIdx="0" presStyleCnt="2">
        <dgm:presLayoutVars>
          <dgm:chMax val="1"/>
          <dgm:bulletEnabled val="1"/>
        </dgm:presLayoutVars>
      </dgm:prSet>
      <dgm:spPr/>
    </dgm:pt>
    <dgm:pt modelId="{7C07DD5C-F3F7-413D-935A-CCBA7C6C1E36}" type="pres">
      <dgm:prSet presAssocID="{47BCB690-E656-418C-B55B-B79A4FCE6245}" presName="descendantText" presStyleLbl="alignAcc1" presStyleIdx="0" presStyleCnt="2">
        <dgm:presLayoutVars>
          <dgm:bulletEnabled val="1"/>
        </dgm:presLayoutVars>
      </dgm:prSet>
      <dgm:spPr/>
    </dgm:pt>
    <dgm:pt modelId="{53111215-410F-4929-AE9A-3D7A22F3D43A}" type="pres">
      <dgm:prSet presAssocID="{8E928878-0D2F-4A4F-888D-4D1DC978E21E}" presName="sp" presStyleCnt="0"/>
      <dgm:spPr/>
    </dgm:pt>
    <dgm:pt modelId="{204CEF18-7407-4A94-A5D8-6E37733B43AA}" type="pres">
      <dgm:prSet presAssocID="{8FF7F8DE-0085-4489-85EA-475C2622F1F3}" presName="composite" presStyleCnt="0"/>
      <dgm:spPr/>
    </dgm:pt>
    <dgm:pt modelId="{1FCF5A5E-7DF9-412A-B101-D83967D7DE65}" type="pres">
      <dgm:prSet presAssocID="{8FF7F8DE-0085-4489-85EA-475C2622F1F3}" presName="parentText" presStyleLbl="alignNode1" presStyleIdx="1" presStyleCnt="2">
        <dgm:presLayoutVars>
          <dgm:chMax val="1"/>
          <dgm:bulletEnabled val="1"/>
        </dgm:presLayoutVars>
      </dgm:prSet>
      <dgm:spPr/>
    </dgm:pt>
    <dgm:pt modelId="{FE1F4B02-EB68-4CAB-8CF0-3D5AB6A01850}" type="pres">
      <dgm:prSet presAssocID="{8FF7F8DE-0085-4489-85EA-475C2622F1F3}" presName="descendantText" presStyleLbl="alignAcc1" presStyleIdx="1" presStyleCnt="2">
        <dgm:presLayoutVars>
          <dgm:bulletEnabled val="1"/>
        </dgm:presLayoutVars>
      </dgm:prSet>
      <dgm:spPr/>
    </dgm:pt>
  </dgm:ptLst>
  <dgm:cxnLst>
    <dgm:cxn modelId="{DEECD01F-E20C-420F-AEDD-9769ED623BAE}" type="presOf" srcId="{51EB95AC-B718-49BE-B9F7-7B46D03A9070}" destId="{F08F3DDB-C1F5-4A86-8DFF-07C39C5A038C}" srcOrd="0" destOrd="0" presId="urn:microsoft.com/office/officeart/2005/8/layout/chevron2"/>
    <dgm:cxn modelId="{1BA4842A-4C22-4B8F-A09D-47DDB89E291B}" srcId="{51EB95AC-B718-49BE-B9F7-7B46D03A9070}" destId="{8FF7F8DE-0085-4489-85EA-475C2622F1F3}" srcOrd="1" destOrd="0" parTransId="{78703D96-49FE-4F74-BBE0-39D3C04B358D}" sibTransId="{62E82B07-65F9-4D6F-8234-7C637FD1F21F}"/>
    <dgm:cxn modelId="{37B0893D-B99A-4826-8404-BA4A45B0DFA8}" type="presOf" srcId="{8FF7F8DE-0085-4489-85EA-475C2622F1F3}" destId="{1FCF5A5E-7DF9-412A-B101-D83967D7DE65}" srcOrd="0" destOrd="0" presId="urn:microsoft.com/office/officeart/2005/8/layout/chevron2"/>
    <dgm:cxn modelId="{8A02C773-1A4A-4225-AE5B-19BBABCA0546}" srcId="{51EB95AC-B718-49BE-B9F7-7B46D03A9070}" destId="{47BCB690-E656-418C-B55B-B79A4FCE6245}" srcOrd="0" destOrd="0" parTransId="{21485E53-BF3D-4432-8067-935595586B0F}" sibTransId="{8E928878-0D2F-4A4F-888D-4D1DC978E21E}"/>
    <dgm:cxn modelId="{CB455777-21A2-410E-866F-7E7844CFE53F}" type="presOf" srcId="{47BCB690-E656-418C-B55B-B79A4FCE6245}" destId="{EF8C66CE-B1D9-43FD-91B0-9A298E99D806}" srcOrd="0" destOrd="0" presId="urn:microsoft.com/office/officeart/2005/8/layout/chevron2"/>
    <dgm:cxn modelId="{9060E8D6-14D8-45D4-94F6-5D26D3CC4E2E}" srcId="{47BCB690-E656-418C-B55B-B79A4FCE6245}" destId="{F23082BA-6E41-4A1F-B1B1-BB53C7ABA883}" srcOrd="0" destOrd="0" parTransId="{92C3D120-BAFB-4E00-B475-B58E77B980C1}" sibTransId="{465CAD08-1732-4D98-964A-5E10FDE2D8CB}"/>
    <dgm:cxn modelId="{0BFFBFD7-1BD2-4E12-A146-CEA4E68A364B}" type="presOf" srcId="{11EC91AA-3CFF-4ADD-AA31-272D003909E3}" destId="{FE1F4B02-EB68-4CAB-8CF0-3D5AB6A01850}" srcOrd="0" destOrd="0" presId="urn:microsoft.com/office/officeart/2005/8/layout/chevron2"/>
    <dgm:cxn modelId="{305855E5-C74A-4663-BCA6-E1E4E74132D9}" type="presOf" srcId="{F23082BA-6E41-4A1F-B1B1-BB53C7ABA883}" destId="{7C07DD5C-F3F7-413D-935A-CCBA7C6C1E36}" srcOrd="0" destOrd="0" presId="urn:microsoft.com/office/officeart/2005/8/layout/chevron2"/>
    <dgm:cxn modelId="{EE804DF4-6270-48F2-9F5E-5D86BEB84224}" srcId="{8FF7F8DE-0085-4489-85EA-475C2622F1F3}" destId="{11EC91AA-3CFF-4ADD-AA31-272D003909E3}" srcOrd="0" destOrd="0" parTransId="{71667140-5D68-4DDA-853E-B4B81BBDF37E}" sibTransId="{98D4B22A-FE0F-4782-B365-D2B118F43F7B}"/>
    <dgm:cxn modelId="{AD0A8861-8976-4B98-B46F-1831317A4D43}" type="presParOf" srcId="{F08F3DDB-C1F5-4A86-8DFF-07C39C5A038C}" destId="{A460E43C-7A3B-40A7-856C-577CDE509837}" srcOrd="0" destOrd="0" presId="urn:microsoft.com/office/officeart/2005/8/layout/chevron2"/>
    <dgm:cxn modelId="{37EF18C4-C04F-42DE-B94C-8DF03E8CB139}" type="presParOf" srcId="{A460E43C-7A3B-40A7-856C-577CDE509837}" destId="{EF8C66CE-B1D9-43FD-91B0-9A298E99D806}" srcOrd="0" destOrd="0" presId="urn:microsoft.com/office/officeart/2005/8/layout/chevron2"/>
    <dgm:cxn modelId="{F155F96C-4EBD-49B3-B0B7-6B749C57E951}" type="presParOf" srcId="{A460E43C-7A3B-40A7-856C-577CDE509837}" destId="{7C07DD5C-F3F7-413D-935A-CCBA7C6C1E36}" srcOrd="1" destOrd="0" presId="urn:microsoft.com/office/officeart/2005/8/layout/chevron2"/>
    <dgm:cxn modelId="{79B363EE-151A-4824-9B91-0773C63E07D1}" type="presParOf" srcId="{F08F3DDB-C1F5-4A86-8DFF-07C39C5A038C}" destId="{53111215-410F-4929-AE9A-3D7A22F3D43A}" srcOrd="1" destOrd="0" presId="urn:microsoft.com/office/officeart/2005/8/layout/chevron2"/>
    <dgm:cxn modelId="{97ED0AEB-B87E-4DED-A727-EEBE18CF44C9}" type="presParOf" srcId="{F08F3DDB-C1F5-4A86-8DFF-07C39C5A038C}" destId="{204CEF18-7407-4A94-A5D8-6E37733B43AA}" srcOrd="2" destOrd="0" presId="urn:microsoft.com/office/officeart/2005/8/layout/chevron2"/>
    <dgm:cxn modelId="{811C3B02-6064-4A5E-876F-78E8E2D45824}" type="presParOf" srcId="{204CEF18-7407-4A94-A5D8-6E37733B43AA}" destId="{1FCF5A5E-7DF9-412A-B101-D83967D7DE65}" srcOrd="0" destOrd="0" presId="urn:microsoft.com/office/officeart/2005/8/layout/chevron2"/>
    <dgm:cxn modelId="{673F51CA-3789-4836-87D2-93CB813B9F2A}" type="presParOf" srcId="{204CEF18-7407-4A94-A5D8-6E37733B43AA}" destId="{FE1F4B02-EB68-4CAB-8CF0-3D5AB6A01850}"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75857B3-F10A-3A4D-A2C9-BEF46A178372}" type="doc">
      <dgm:prSet loTypeId="urn:microsoft.com/office/officeart/2009/3/layout/StepUpProcess" loCatId="process" qsTypeId="urn:microsoft.com/office/officeart/2005/8/quickstyle/simple1" qsCatId="simple" csTypeId="urn:microsoft.com/office/officeart/2005/8/colors/accent1_3" csCatId="accent1" phldr="1"/>
      <dgm:spPr/>
      <dgm:t>
        <a:bodyPr/>
        <a:lstStyle/>
        <a:p>
          <a:endParaRPr lang="en-US"/>
        </a:p>
      </dgm:t>
    </dgm:pt>
    <dgm:pt modelId="{F5213418-7B8D-FE42-BB8D-9ED790F1F229}">
      <dgm:prSet phldrT="[Text]"/>
      <dgm:spPr/>
      <dgm:t>
        <a:bodyPr/>
        <a:lstStyle/>
        <a:p>
          <a:r>
            <a:rPr lang="en-US" b="1" dirty="0">
              <a:solidFill>
                <a:srgbClr val="000B2E"/>
              </a:solidFill>
            </a:rPr>
            <a:t>MONTH 1</a:t>
          </a:r>
        </a:p>
        <a:p>
          <a:r>
            <a:rPr lang="en-US" b="0" dirty="0"/>
            <a:t>Agreement &amp; Project Scope</a:t>
          </a:r>
        </a:p>
      </dgm:t>
    </dgm:pt>
    <dgm:pt modelId="{9DF97D3B-8FDE-1941-877F-C93610802B66}" type="parTrans" cxnId="{E719DAB5-073E-4647-88AC-B2BC93AD7BA4}">
      <dgm:prSet/>
      <dgm:spPr/>
      <dgm:t>
        <a:bodyPr/>
        <a:lstStyle/>
        <a:p>
          <a:endParaRPr lang="en-US" b="1"/>
        </a:p>
      </dgm:t>
    </dgm:pt>
    <dgm:pt modelId="{006D824C-9578-134B-90CE-18E5A593B00E}" type="sibTrans" cxnId="{E719DAB5-073E-4647-88AC-B2BC93AD7BA4}">
      <dgm:prSet/>
      <dgm:spPr/>
      <dgm:t>
        <a:bodyPr/>
        <a:lstStyle/>
        <a:p>
          <a:endParaRPr lang="en-US" b="1"/>
        </a:p>
      </dgm:t>
    </dgm:pt>
    <dgm:pt modelId="{436C2DFF-FC8F-6245-A7DB-4708073EC4A1}">
      <dgm:prSet phldrT="[Text]"/>
      <dgm:spPr/>
      <dgm:t>
        <a:bodyPr/>
        <a:lstStyle/>
        <a:p>
          <a:r>
            <a:rPr lang="en-US" b="1" dirty="0">
              <a:solidFill>
                <a:srgbClr val="000B2E"/>
              </a:solidFill>
            </a:rPr>
            <a:t>MONTH 1-6</a:t>
          </a:r>
        </a:p>
        <a:p>
          <a:r>
            <a:rPr lang="en-US" b="0" dirty="0"/>
            <a:t>Implementation</a:t>
          </a:r>
        </a:p>
        <a:p>
          <a:r>
            <a:rPr lang="en-US" b="0" dirty="0"/>
            <a:t>Market Outreach begins in Month 3</a:t>
          </a:r>
        </a:p>
        <a:p>
          <a:endParaRPr lang="en-US" b="0" dirty="0"/>
        </a:p>
      </dgm:t>
    </dgm:pt>
    <dgm:pt modelId="{2E56DBD1-74B0-4640-939F-DBB53814ABC4}" type="parTrans" cxnId="{4AE933AE-806A-574B-903E-37EED7A432CD}">
      <dgm:prSet/>
      <dgm:spPr/>
      <dgm:t>
        <a:bodyPr/>
        <a:lstStyle/>
        <a:p>
          <a:endParaRPr lang="en-US" b="1"/>
        </a:p>
      </dgm:t>
    </dgm:pt>
    <dgm:pt modelId="{FBB42B92-FDFF-AF44-923C-BD5D2B5DE5B6}" type="sibTrans" cxnId="{4AE933AE-806A-574B-903E-37EED7A432CD}">
      <dgm:prSet/>
      <dgm:spPr/>
      <dgm:t>
        <a:bodyPr/>
        <a:lstStyle/>
        <a:p>
          <a:endParaRPr lang="en-US" b="1"/>
        </a:p>
      </dgm:t>
    </dgm:pt>
    <dgm:pt modelId="{242EFE72-A7E7-8647-84E0-E41410AA3ACF}">
      <dgm:prSet phldrT="[Text]"/>
      <dgm:spPr/>
      <dgm:t>
        <a:bodyPr/>
        <a:lstStyle/>
        <a:p>
          <a:r>
            <a:rPr lang="en-US" b="1" dirty="0">
              <a:solidFill>
                <a:srgbClr val="000B2E"/>
              </a:solidFill>
            </a:rPr>
            <a:t>MONTH 3-6</a:t>
          </a:r>
        </a:p>
        <a:p>
          <a:r>
            <a:rPr lang="en-US" b="0" dirty="0"/>
            <a:t>Sales &amp; Mkg.</a:t>
          </a:r>
        </a:p>
        <a:p>
          <a:r>
            <a:rPr lang="en-US" b="0" dirty="0"/>
            <a:t>Hire Sales Executive</a:t>
          </a:r>
        </a:p>
      </dgm:t>
    </dgm:pt>
    <dgm:pt modelId="{D9B6A2EC-2BDF-5A4E-9509-2AF847C113C2}" type="parTrans" cxnId="{625FB806-21A7-F94D-9D04-87A1EDD21099}">
      <dgm:prSet/>
      <dgm:spPr/>
      <dgm:t>
        <a:bodyPr/>
        <a:lstStyle/>
        <a:p>
          <a:endParaRPr lang="en-US" b="1"/>
        </a:p>
      </dgm:t>
    </dgm:pt>
    <dgm:pt modelId="{4B906FD7-82E7-7C44-B493-74C84F6E8B56}" type="sibTrans" cxnId="{625FB806-21A7-F94D-9D04-87A1EDD21099}">
      <dgm:prSet/>
      <dgm:spPr/>
      <dgm:t>
        <a:bodyPr/>
        <a:lstStyle/>
        <a:p>
          <a:endParaRPr lang="en-US" b="1"/>
        </a:p>
      </dgm:t>
    </dgm:pt>
    <dgm:pt modelId="{EC8EE670-6387-644E-B1F6-D3D60F07DCBC}">
      <dgm:prSet/>
      <dgm:spPr/>
      <dgm:t>
        <a:bodyPr/>
        <a:lstStyle/>
        <a:p>
          <a:r>
            <a:rPr lang="en-US" b="1" dirty="0">
              <a:solidFill>
                <a:srgbClr val="000B2E"/>
              </a:solidFill>
            </a:rPr>
            <a:t>MONTH 6 TO 8</a:t>
          </a:r>
        </a:p>
        <a:p>
          <a:r>
            <a:rPr lang="en-US" b="1" dirty="0">
              <a:solidFill>
                <a:srgbClr val="000B2E"/>
              </a:solidFill>
            </a:rPr>
            <a:t>GO LIVE!!</a:t>
          </a:r>
        </a:p>
      </dgm:t>
    </dgm:pt>
    <dgm:pt modelId="{3751126E-7A05-E04C-B6A7-9683DCF88FF8}" type="parTrans" cxnId="{DA4FB979-7504-014F-8E71-A42784194ABF}">
      <dgm:prSet/>
      <dgm:spPr/>
      <dgm:t>
        <a:bodyPr/>
        <a:lstStyle/>
        <a:p>
          <a:endParaRPr lang="en-US" b="1"/>
        </a:p>
      </dgm:t>
    </dgm:pt>
    <dgm:pt modelId="{76894B11-0BAB-B649-B337-881DADDA80B0}" type="sibTrans" cxnId="{DA4FB979-7504-014F-8E71-A42784194ABF}">
      <dgm:prSet/>
      <dgm:spPr/>
      <dgm:t>
        <a:bodyPr/>
        <a:lstStyle/>
        <a:p>
          <a:endParaRPr lang="en-US" b="1"/>
        </a:p>
      </dgm:t>
    </dgm:pt>
    <dgm:pt modelId="{9500A708-F18B-44DC-BB96-0E6D9DB43890}" type="pres">
      <dgm:prSet presAssocID="{F75857B3-F10A-3A4D-A2C9-BEF46A178372}" presName="rootnode" presStyleCnt="0">
        <dgm:presLayoutVars>
          <dgm:chMax/>
          <dgm:chPref/>
          <dgm:dir/>
          <dgm:animLvl val="lvl"/>
        </dgm:presLayoutVars>
      </dgm:prSet>
      <dgm:spPr/>
    </dgm:pt>
    <dgm:pt modelId="{FAFE92F7-602C-4A84-BB77-CD24C855B722}" type="pres">
      <dgm:prSet presAssocID="{F5213418-7B8D-FE42-BB8D-9ED790F1F229}" presName="composite" presStyleCnt="0"/>
      <dgm:spPr/>
    </dgm:pt>
    <dgm:pt modelId="{D24B72F3-991D-4D26-9463-0028447AF8D0}" type="pres">
      <dgm:prSet presAssocID="{F5213418-7B8D-FE42-BB8D-9ED790F1F229}" presName="LShape" presStyleLbl="alignNode1" presStyleIdx="0" presStyleCnt="7"/>
      <dgm:spPr>
        <a:solidFill>
          <a:srgbClr val="244F9A"/>
        </a:solidFill>
      </dgm:spPr>
    </dgm:pt>
    <dgm:pt modelId="{6EB3AA31-421F-4B20-8208-0825BF70090F}" type="pres">
      <dgm:prSet presAssocID="{F5213418-7B8D-FE42-BB8D-9ED790F1F229}" presName="ParentText" presStyleLbl="revTx" presStyleIdx="0" presStyleCnt="4">
        <dgm:presLayoutVars>
          <dgm:chMax val="0"/>
          <dgm:chPref val="0"/>
          <dgm:bulletEnabled val="1"/>
        </dgm:presLayoutVars>
      </dgm:prSet>
      <dgm:spPr/>
    </dgm:pt>
    <dgm:pt modelId="{4B9E1A38-3040-4C60-B94E-F33823D540F9}" type="pres">
      <dgm:prSet presAssocID="{F5213418-7B8D-FE42-BB8D-9ED790F1F229}" presName="Triangle" presStyleLbl="alignNode1" presStyleIdx="1" presStyleCnt="7"/>
      <dgm:spPr>
        <a:solidFill>
          <a:srgbClr val="244F9A">
            <a:alpha val="80000"/>
          </a:srgbClr>
        </a:solidFill>
      </dgm:spPr>
    </dgm:pt>
    <dgm:pt modelId="{95B64B29-91C6-430C-B5C4-265DB74CF7B4}" type="pres">
      <dgm:prSet presAssocID="{006D824C-9578-134B-90CE-18E5A593B00E}" presName="sibTrans" presStyleCnt="0"/>
      <dgm:spPr/>
    </dgm:pt>
    <dgm:pt modelId="{725D0832-B1E8-4F6F-A3C2-BF8DCF1DD948}" type="pres">
      <dgm:prSet presAssocID="{006D824C-9578-134B-90CE-18E5A593B00E}" presName="space" presStyleCnt="0"/>
      <dgm:spPr/>
    </dgm:pt>
    <dgm:pt modelId="{E07D9642-9AC8-4EB7-B901-FEF05DF1BC3B}" type="pres">
      <dgm:prSet presAssocID="{436C2DFF-FC8F-6245-A7DB-4708073EC4A1}" presName="composite" presStyleCnt="0"/>
      <dgm:spPr/>
    </dgm:pt>
    <dgm:pt modelId="{F7636A15-31BC-483D-A19B-F594F97B4CB7}" type="pres">
      <dgm:prSet presAssocID="{436C2DFF-FC8F-6245-A7DB-4708073EC4A1}" presName="LShape" presStyleLbl="alignNode1" presStyleIdx="2" presStyleCnt="7"/>
      <dgm:spPr>
        <a:solidFill>
          <a:srgbClr val="244F9A">
            <a:alpha val="80000"/>
          </a:srgbClr>
        </a:solidFill>
      </dgm:spPr>
    </dgm:pt>
    <dgm:pt modelId="{55D54D3E-74C0-4BF4-9694-114A266E7DAC}" type="pres">
      <dgm:prSet presAssocID="{436C2DFF-FC8F-6245-A7DB-4708073EC4A1}" presName="ParentText" presStyleLbl="revTx" presStyleIdx="1" presStyleCnt="4">
        <dgm:presLayoutVars>
          <dgm:chMax val="0"/>
          <dgm:chPref val="0"/>
          <dgm:bulletEnabled val="1"/>
        </dgm:presLayoutVars>
      </dgm:prSet>
      <dgm:spPr/>
    </dgm:pt>
    <dgm:pt modelId="{E2E1B3D5-626C-4984-B966-96AB737EB32D}" type="pres">
      <dgm:prSet presAssocID="{436C2DFF-FC8F-6245-A7DB-4708073EC4A1}" presName="Triangle" presStyleLbl="alignNode1" presStyleIdx="3" presStyleCnt="7"/>
      <dgm:spPr>
        <a:solidFill>
          <a:srgbClr val="244F9A">
            <a:alpha val="60000"/>
          </a:srgbClr>
        </a:solidFill>
      </dgm:spPr>
    </dgm:pt>
    <dgm:pt modelId="{2EAEE5A0-B074-4A93-8279-7600764CD028}" type="pres">
      <dgm:prSet presAssocID="{FBB42B92-FDFF-AF44-923C-BD5D2B5DE5B6}" presName="sibTrans" presStyleCnt="0"/>
      <dgm:spPr/>
    </dgm:pt>
    <dgm:pt modelId="{10F5B5E3-6AAB-49E5-A7BA-45959CE0CB13}" type="pres">
      <dgm:prSet presAssocID="{FBB42B92-FDFF-AF44-923C-BD5D2B5DE5B6}" presName="space" presStyleCnt="0"/>
      <dgm:spPr/>
    </dgm:pt>
    <dgm:pt modelId="{EE304BD9-C951-4C45-A4B8-B99F5FAB7C24}" type="pres">
      <dgm:prSet presAssocID="{242EFE72-A7E7-8647-84E0-E41410AA3ACF}" presName="composite" presStyleCnt="0"/>
      <dgm:spPr/>
    </dgm:pt>
    <dgm:pt modelId="{A88D8255-18CE-4518-9174-DEB3D03C550D}" type="pres">
      <dgm:prSet presAssocID="{242EFE72-A7E7-8647-84E0-E41410AA3ACF}" presName="LShape" presStyleLbl="alignNode1" presStyleIdx="4" presStyleCnt="7"/>
      <dgm:spPr>
        <a:solidFill>
          <a:srgbClr val="244F9A">
            <a:alpha val="60000"/>
          </a:srgbClr>
        </a:solidFill>
      </dgm:spPr>
    </dgm:pt>
    <dgm:pt modelId="{598D4C6B-62CE-4CE4-91E9-7E9EB1E1C398}" type="pres">
      <dgm:prSet presAssocID="{242EFE72-A7E7-8647-84E0-E41410AA3ACF}" presName="ParentText" presStyleLbl="revTx" presStyleIdx="2" presStyleCnt="4">
        <dgm:presLayoutVars>
          <dgm:chMax val="0"/>
          <dgm:chPref val="0"/>
          <dgm:bulletEnabled val="1"/>
        </dgm:presLayoutVars>
      </dgm:prSet>
      <dgm:spPr/>
    </dgm:pt>
    <dgm:pt modelId="{C472BF19-FDA3-4EC5-AD0C-1C04B1D94EC9}" type="pres">
      <dgm:prSet presAssocID="{242EFE72-A7E7-8647-84E0-E41410AA3ACF}" presName="Triangle" presStyleLbl="alignNode1" presStyleIdx="5" presStyleCnt="7"/>
      <dgm:spPr>
        <a:solidFill>
          <a:srgbClr val="244F9A">
            <a:alpha val="40000"/>
          </a:srgbClr>
        </a:solidFill>
      </dgm:spPr>
    </dgm:pt>
    <dgm:pt modelId="{2095D891-25AC-413C-8D3D-B5069B04412E}" type="pres">
      <dgm:prSet presAssocID="{4B906FD7-82E7-7C44-B493-74C84F6E8B56}" presName="sibTrans" presStyleCnt="0"/>
      <dgm:spPr/>
    </dgm:pt>
    <dgm:pt modelId="{318181AA-42DB-46D0-9070-BBDA59A39E82}" type="pres">
      <dgm:prSet presAssocID="{4B906FD7-82E7-7C44-B493-74C84F6E8B56}" presName="space" presStyleCnt="0"/>
      <dgm:spPr/>
    </dgm:pt>
    <dgm:pt modelId="{33F07F37-AE67-4554-9495-80AF9B84232B}" type="pres">
      <dgm:prSet presAssocID="{EC8EE670-6387-644E-B1F6-D3D60F07DCBC}" presName="composite" presStyleCnt="0"/>
      <dgm:spPr/>
    </dgm:pt>
    <dgm:pt modelId="{67966FFF-E62A-4DBC-B29D-25E2B05997AB}" type="pres">
      <dgm:prSet presAssocID="{EC8EE670-6387-644E-B1F6-D3D60F07DCBC}" presName="LShape" presStyleLbl="alignNode1" presStyleIdx="6" presStyleCnt="7"/>
      <dgm:spPr>
        <a:solidFill>
          <a:srgbClr val="244F9A">
            <a:alpha val="40000"/>
          </a:srgbClr>
        </a:solidFill>
      </dgm:spPr>
    </dgm:pt>
    <dgm:pt modelId="{8247AD9B-A3F5-425E-903D-1FEBBA4D2840}" type="pres">
      <dgm:prSet presAssocID="{EC8EE670-6387-644E-B1F6-D3D60F07DCBC}" presName="ParentText" presStyleLbl="revTx" presStyleIdx="3" presStyleCnt="4">
        <dgm:presLayoutVars>
          <dgm:chMax val="0"/>
          <dgm:chPref val="0"/>
          <dgm:bulletEnabled val="1"/>
        </dgm:presLayoutVars>
      </dgm:prSet>
      <dgm:spPr/>
    </dgm:pt>
  </dgm:ptLst>
  <dgm:cxnLst>
    <dgm:cxn modelId="{625FB806-21A7-F94D-9D04-87A1EDD21099}" srcId="{F75857B3-F10A-3A4D-A2C9-BEF46A178372}" destId="{242EFE72-A7E7-8647-84E0-E41410AA3ACF}" srcOrd="2" destOrd="0" parTransId="{D9B6A2EC-2BDF-5A4E-9509-2AF847C113C2}" sibTransId="{4B906FD7-82E7-7C44-B493-74C84F6E8B56}"/>
    <dgm:cxn modelId="{078A184F-154A-4B82-90D5-AFD40FC655EE}" type="presOf" srcId="{436C2DFF-FC8F-6245-A7DB-4708073EC4A1}" destId="{55D54D3E-74C0-4BF4-9694-114A266E7DAC}" srcOrd="0" destOrd="0" presId="urn:microsoft.com/office/officeart/2009/3/layout/StepUpProcess"/>
    <dgm:cxn modelId="{5C50C957-1A43-43AB-B9FF-37ECD87D303E}" type="presOf" srcId="{F75857B3-F10A-3A4D-A2C9-BEF46A178372}" destId="{9500A708-F18B-44DC-BB96-0E6D9DB43890}" srcOrd="0" destOrd="0" presId="urn:microsoft.com/office/officeart/2009/3/layout/StepUpProcess"/>
    <dgm:cxn modelId="{DA4FB979-7504-014F-8E71-A42784194ABF}" srcId="{F75857B3-F10A-3A4D-A2C9-BEF46A178372}" destId="{EC8EE670-6387-644E-B1F6-D3D60F07DCBC}" srcOrd="3" destOrd="0" parTransId="{3751126E-7A05-E04C-B6A7-9683DCF88FF8}" sibTransId="{76894B11-0BAB-B649-B337-881DADDA80B0}"/>
    <dgm:cxn modelId="{4AE933AE-806A-574B-903E-37EED7A432CD}" srcId="{F75857B3-F10A-3A4D-A2C9-BEF46A178372}" destId="{436C2DFF-FC8F-6245-A7DB-4708073EC4A1}" srcOrd="1" destOrd="0" parTransId="{2E56DBD1-74B0-4640-939F-DBB53814ABC4}" sibTransId="{FBB42B92-FDFF-AF44-923C-BD5D2B5DE5B6}"/>
    <dgm:cxn modelId="{E719DAB5-073E-4647-88AC-B2BC93AD7BA4}" srcId="{F75857B3-F10A-3A4D-A2C9-BEF46A178372}" destId="{F5213418-7B8D-FE42-BB8D-9ED790F1F229}" srcOrd="0" destOrd="0" parTransId="{9DF97D3B-8FDE-1941-877F-C93610802B66}" sibTransId="{006D824C-9578-134B-90CE-18E5A593B00E}"/>
    <dgm:cxn modelId="{4A732ED1-444F-4045-88BD-959FEF7735ED}" type="presOf" srcId="{EC8EE670-6387-644E-B1F6-D3D60F07DCBC}" destId="{8247AD9B-A3F5-425E-903D-1FEBBA4D2840}" srcOrd="0" destOrd="0" presId="urn:microsoft.com/office/officeart/2009/3/layout/StepUpProcess"/>
    <dgm:cxn modelId="{61049AE5-6223-4D82-92EB-9AC71ABD3EBB}" type="presOf" srcId="{F5213418-7B8D-FE42-BB8D-9ED790F1F229}" destId="{6EB3AA31-421F-4B20-8208-0825BF70090F}" srcOrd="0" destOrd="0" presId="urn:microsoft.com/office/officeart/2009/3/layout/StepUpProcess"/>
    <dgm:cxn modelId="{94D35EFE-98A6-4303-88CE-AD93F8262D2C}" type="presOf" srcId="{242EFE72-A7E7-8647-84E0-E41410AA3ACF}" destId="{598D4C6B-62CE-4CE4-91E9-7E9EB1E1C398}" srcOrd="0" destOrd="0" presId="urn:microsoft.com/office/officeart/2009/3/layout/StepUpProcess"/>
    <dgm:cxn modelId="{10E040AC-37AA-4150-BA7B-FD29B01D2D5F}" type="presParOf" srcId="{9500A708-F18B-44DC-BB96-0E6D9DB43890}" destId="{FAFE92F7-602C-4A84-BB77-CD24C855B722}" srcOrd="0" destOrd="0" presId="urn:microsoft.com/office/officeart/2009/3/layout/StepUpProcess"/>
    <dgm:cxn modelId="{F0D311F0-1CA1-4F58-84E1-FF7B3E7ED30E}" type="presParOf" srcId="{FAFE92F7-602C-4A84-BB77-CD24C855B722}" destId="{D24B72F3-991D-4D26-9463-0028447AF8D0}" srcOrd="0" destOrd="0" presId="urn:microsoft.com/office/officeart/2009/3/layout/StepUpProcess"/>
    <dgm:cxn modelId="{3FF027DC-A329-4FB6-8046-3B3E1921B50D}" type="presParOf" srcId="{FAFE92F7-602C-4A84-BB77-CD24C855B722}" destId="{6EB3AA31-421F-4B20-8208-0825BF70090F}" srcOrd="1" destOrd="0" presId="urn:microsoft.com/office/officeart/2009/3/layout/StepUpProcess"/>
    <dgm:cxn modelId="{D68934AB-78C0-494F-855E-EED8CDC062E9}" type="presParOf" srcId="{FAFE92F7-602C-4A84-BB77-CD24C855B722}" destId="{4B9E1A38-3040-4C60-B94E-F33823D540F9}" srcOrd="2" destOrd="0" presId="urn:microsoft.com/office/officeart/2009/3/layout/StepUpProcess"/>
    <dgm:cxn modelId="{1DFA7715-BB73-4EAC-9DE6-8B6063DADB35}" type="presParOf" srcId="{9500A708-F18B-44DC-BB96-0E6D9DB43890}" destId="{95B64B29-91C6-430C-B5C4-265DB74CF7B4}" srcOrd="1" destOrd="0" presId="urn:microsoft.com/office/officeart/2009/3/layout/StepUpProcess"/>
    <dgm:cxn modelId="{EA25C0D4-A114-4D76-83CD-A48C60F77BD0}" type="presParOf" srcId="{95B64B29-91C6-430C-B5C4-265DB74CF7B4}" destId="{725D0832-B1E8-4F6F-A3C2-BF8DCF1DD948}" srcOrd="0" destOrd="0" presId="urn:microsoft.com/office/officeart/2009/3/layout/StepUpProcess"/>
    <dgm:cxn modelId="{18F99E03-D030-4DEA-A408-CEFFFEFF2F10}" type="presParOf" srcId="{9500A708-F18B-44DC-BB96-0E6D9DB43890}" destId="{E07D9642-9AC8-4EB7-B901-FEF05DF1BC3B}" srcOrd="2" destOrd="0" presId="urn:microsoft.com/office/officeart/2009/3/layout/StepUpProcess"/>
    <dgm:cxn modelId="{77769D1F-0BDD-4E72-931D-E6C38B33D623}" type="presParOf" srcId="{E07D9642-9AC8-4EB7-B901-FEF05DF1BC3B}" destId="{F7636A15-31BC-483D-A19B-F594F97B4CB7}" srcOrd="0" destOrd="0" presId="urn:microsoft.com/office/officeart/2009/3/layout/StepUpProcess"/>
    <dgm:cxn modelId="{6C63D3BB-C919-45C6-8F7C-8677870EA096}" type="presParOf" srcId="{E07D9642-9AC8-4EB7-B901-FEF05DF1BC3B}" destId="{55D54D3E-74C0-4BF4-9694-114A266E7DAC}" srcOrd="1" destOrd="0" presId="urn:microsoft.com/office/officeart/2009/3/layout/StepUpProcess"/>
    <dgm:cxn modelId="{17FEFD49-5D94-4B34-98CE-2AC13A7F5A76}" type="presParOf" srcId="{E07D9642-9AC8-4EB7-B901-FEF05DF1BC3B}" destId="{E2E1B3D5-626C-4984-B966-96AB737EB32D}" srcOrd="2" destOrd="0" presId="urn:microsoft.com/office/officeart/2009/3/layout/StepUpProcess"/>
    <dgm:cxn modelId="{09D4BC6A-3E60-444F-BDFA-FFA1138C5FBA}" type="presParOf" srcId="{9500A708-F18B-44DC-BB96-0E6D9DB43890}" destId="{2EAEE5A0-B074-4A93-8279-7600764CD028}" srcOrd="3" destOrd="0" presId="urn:microsoft.com/office/officeart/2009/3/layout/StepUpProcess"/>
    <dgm:cxn modelId="{4DCE9832-F2F6-408E-B653-6FCC7F66895F}" type="presParOf" srcId="{2EAEE5A0-B074-4A93-8279-7600764CD028}" destId="{10F5B5E3-6AAB-49E5-A7BA-45959CE0CB13}" srcOrd="0" destOrd="0" presId="urn:microsoft.com/office/officeart/2009/3/layout/StepUpProcess"/>
    <dgm:cxn modelId="{F7E2350E-9887-4B0E-B80F-B3DE21C7CC55}" type="presParOf" srcId="{9500A708-F18B-44DC-BB96-0E6D9DB43890}" destId="{EE304BD9-C951-4C45-A4B8-B99F5FAB7C24}" srcOrd="4" destOrd="0" presId="urn:microsoft.com/office/officeart/2009/3/layout/StepUpProcess"/>
    <dgm:cxn modelId="{CD206FD3-14D0-4AD5-BCCE-0DA09866B14E}" type="presParOf" srcId="{EE304BD9-C951-4C45-A4B8-B99F5FAB7C24}" destId="{A88D8255-18CE-4518-9174-DEB3D03C550D}" srcOrd="0" destOrd="0" presId="urn:microsoft.com/office/officeart/2009/3/layout/StepUpProcess"/>
    <dgm:cxn modelId="{989EF61B-DEFE-4F5A-8F99-D5F9B21CBE30}" type="presParOf" srcId="{EE304BD9-C951-4C45-A4B8-B99F5FAB7C24}" destId="{598D4C6B-62CE-4CE4-91E9-7E9EB1E1C398}" srcOrd="1" destOrd="0" presId="urn:microsoft.com/office/officeart/2009/3/layout/StepUpProcess"/>
    <dgm:cxn modelId="{A45C9F72-6650-40FB-AE43-EEBE086FED41}" type="presParOf" srcId="{EE304BD9-C951-4C45-A4B8-B99F5FAB7C24}" destId="{C472BF19-FDA3-4EC5-AD0C-1C04B1D94EC9}" srcOrd="2" destOrd="0" presId="urn:microsoft.com/office/officeart/2009/3/layout/StepUpProcess"/>
    <dgm:cxn modelId="{CD634433-040B-472D-AA9B-60257E77B3FB}" type="presParOf" srcId="{9500A708-F18B-44DC-BB96-0E6D9DB43890}" destId="{2095D891-25AC-413C-8D3D-B5069B04412E}" srcOrd="5" destOrd="0" presId="urn:microsoft.com/office/officeart/2009/3/layout/StepUpProcess"/>
    <dgm:cxn modelId="{E3BF9A38-CA67-41AE-AC55-CAB3725E0DE2}" type="presParOf" srcId="{2095D891-25AC-413C-8D3D-B5069B04412E}" destId="{318181AA-42DB-46D0-9070-BBDA59A39E82}" srcOrd="0" destOrd="0" presId="urn:microsoft.com/office/officeart/2009/3/layout/StepUpProcess"/>
    <dgm:cxn modelId="{E72B43F2-E09B-4E8B-AECB-64D97433BB8B}" type="presParOf" srcId="{9500A708-F18B-44DC-BB96-0E6D9DB43890}" destId="{33F07F37-AE67-4554-9495-80AF9B84232B}" srcOrd="6" destOrd="0" presId="urn:microsoft.com/office/officeart/2009/3/layout/StepUpProcess"/>
    <dgm:cxn modelId="{E0C915BC-9E17-4265-87BA-E1A4BB45FDBC}" type="presParOf" srcId="{33F07F37-AE67-4554-9495-80AF9B84232B}" destId="{67966FFF-E62A-4DBC-B29D-25E2B05997AB}" srcOrd="0" destOrd="0" presId="urn:microsoft.com/office/officeart/2009/3/layout/StepUpProcess"/>
    <dgm:cxn modelId="{C0168929-E9ED-48FF-B23F-832B0F0E60B3}" type="presParOf" srcId="{33F07F37-AE67-4554-9495-80AF9B84232B}" destId="{8247AD9B-A3F5-425E-903D-1FEBBA4D2840}" srcOrd="1" destOrd="0" presId="urn:microsoft.com/office/officeart/2009/3/layout/StepUpProcess"/>
  </dgm:cxnLst>
  <dgm:bg>
    <a:solidFill>
      <a:schemeClr val="bg1"/>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37BF38-EED7-40B6-AE30-314765FAF99B}">
      <dsp:nvSpPr>
        <dsp:cNvPr id="0" name=""/>
        <dsp:cNvSpPr/>
      </dsp:nvSpPr>
      <dsp:spPr>
        <a:xfrm>
          <a:off x="0" y="1066800"/>
          <a:ext cx="3718560" cy="3718560"/>
        </a:xfrm>
        <a:prstGeom prst="ellipse">
          <a:avLst/>
        </a:prstGeom>
        <a:solidFill>
          <a:srgbClr val="61A606"/>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Out of Network</a:t>
          </a:r>
        </a:p>
      </dsp:txBody>
      <dsp:txXfrm>
        <a:off x="1339425" y="1252728"/>
        <a:ext cx="1039709" cy="557784"/>
      </dsp:txXfrm>
    </dsp:sp>
    <dsp:sp modelId="{68806E35-FB05-408F-AFBC-163227E8487B}">
      <dsp:nvSpPr>
        <dsp:cNvPr id="0" name=""/>
        <dsp:cNvSpPr/>
      </dsp:nvSpPr>
      <dsp:spPr>
        <a:xfrm>
          <a:off x="371855" y="1810511"/>
          <a:ext cx="2974848" cy="2974848"/>
        </a:xfrm>
        <a:prstGeom prst="ellipse">
          <a:avLst/>
        </a:prstGeom>
        <a:solidFill>
          <a:srgbClr val="019CA5"/>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Wrap Network (Rented)</a:t>
          </a:r>
        </a:p>
      </dsp:txBody>
      <dsp:txXfrm>
        <a:off x="1339425" y="1989002"/>
        <a:ext cx="1039709" cy="535472"/>
      </dsp:txXfrm>
    </dsp:sp>
    <dsp:sp modelId="{EBC66B5F-74A7-4C59-9CEC-5E7379E73E3B}">
      <dsp:nvSpPr>
        <dsp:cNvPr id="0" name=""/>
        <dsp:cNvSpPr/>
      </dsp:nvSpPr>
      <dsp:spPr>
        <a:xfrm>
          <a:off x="743711" y="2554223"/>
          <a:ext cx="2231136" cy="2231136"/>
        </a:xfrm>
        <a:prstGeom prst="ellipse">
          <a:avLst/>
        </a:prstGeom>
        <a:solidFill>
          <a:srgbClr val="244F9A"/>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Friends &amp; Family (Contracted)</a:t>
          </a:r>
        </a:p>
      </dsp:txBody>
      <dsp:txXfrm>
        <a:off x="1339425" y="2721559"/>
        <a:ext cx="1039709" cy="502005"/>
      </dsp:txXfrm>
    </dsp:sp>
    <dsp:sp modelId="{F92C6764-1AFD-4DFF-B75E-6422C5503855}">
      <dsp:nvSpPr>
        <dsp:cNvPr id="0" name=""/>
        <dsp:cNvSpPr/>
      </dsp:nvSpPr>
      <dsp:spPr>
        <a:xfrm>
          <a:off x="1127541" y="3316246"/>
          <a:ext cx="1487424" cy="1487424"/>
        </a:xfrm>
        <a:prstGeom prst="ellipse">
          <a:avLst/>
        </a:prstGeom>
        <a:solidFill>
          <a:srgbClr val="59CAE8"/>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endParaRPr lang="en-US" sz="1200" b="1" kern="1200" dirty="0">
            <a:effectLst>
              <a:outerShdw blurRad="38100" dist="38100" dir="2700000" algn="tl">
                <a:srgbClr val="000000">
                  <a:alpha val="43137"/>
                </a:srgbClr>
              </a:outerShdw>
            </a:effectLst>
          </a:endParaRPr>
        </a:p>
      </dsp:txBody>
      <dsp:txXfrm>
        <a:off x="1345369" y="3688102"/>
        <a:ext cx="1051767" cy="7437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2B0188-8507-44E9-B757-7CDCC1B0E1A1}">
      <dsp:nvSpPr>
        <dsp:cNvPr id="0" name=""/>
        <dsp:cNvSpPr/>
      </dsp:nvSpPr>
      <dsp:spPr>
        <a:xfrm>
          <a:off x="0" y="4366"/>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62DBE401-C7C8-4CFE-9E6C-C1AF672BE62E}">
      <dsp:nvSpPr>
        <dsp:cNvPr id="0" name=""/>
        <dsp:cNvSpPr/>
      </dsp:nvSpPr>
      <dsp:spPr>
        <a:xfrm>
          <a:off x="281355" y="213639"/>
          <a:ext cx="511556" cy="511556"/>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CB68EC3-6DDF-4EA3-93EC-B1D00317444B}">
      <dsp:nvSpPr>
        <dsp:cNvPr id="0" name=""/>
        <dsp:cNvSpPr/>
      </dsp:nvSpPr>
      <dsp:spPr>
        <a:xfrm>
          <a:off x="1074268" y="4366"/>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Locally based sales rep with strong community ties</a:t>
          </a:r>
        </a:p>
      </dsp:txBody>
      <dsp:txXfrm>
        <a:off x="1074268" y="4366"/>
        <a:ext cx="5170996" cy="930102"/>
      </dsp:txXfrm>
    </dsp:sp>
    <dsp:sp modelId="{B3E1CF03-EDE1-471D-890C-AA2901FB45D9}">
      <dsp:nvSpPr>
        <dsp:cNvPr id="0" name=""/>
        <dsp:cNvSpPr/>
      </dsp:nvSpPr>
      <dsp:spPr>
        <a:xfrm>
          <a:off x="0" y="1166994"/>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ECC08DA8-E403-48CD-BD4C-54248151AF43}">
      <dsp:nvSpPr>
        <dsp:cNvPr id="0" name=""/>
        <dsp:cNvSpPr/>
      </dsp:nvSpPr>
      <dsp:spPr>
        <a:xfrm>
          <a:off x="281355" y="1376267"/>
          <a:ext cx="511556" cy="51155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9DB6DFD-5EF2-4FE9-B832-B73DBBA6C818}">
      <dsp:nvSpPr>
        <dsp:cNvPr id="0" name=""/>
        <dsp:cNvSpPr/>
      </dsp:nvSpPr>
      <dsp:spPr>
        <a:xfrm>
          <a:off x="1074268" y="1166994"/>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Collaboration with DTE provider partners to identify strategic employers for early adoption and sales</a:t>
          </a:r>
        </a:p>
      </dsp:txBody>
      <dsp:txXfrm>
        <a:off x="1074268" y="1166994"/>
        <a:ext cx="5170996" cy="930102"/>
      </dsp:txXfrm>
    </dsp:sp>
    <dsp:sp modelId="{495539A5-77BE-4439-9E54-31CB6AC437BE}">
      <dsp:nvSpPr>
        <dsp:cNvPr id="0" name=""/>
        <dsp:cNvSpPr/>
      </dsp:nvSpPr>
      <dsp:spPr>
        <a:xfrm>
          <a:off x="0" y="2329622"/>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66BBB871-A6BE-4530-8850-268C29376138}">
      <dsp:nvSpPr>
        <dsp:cNvPr id="0" name=""/>
        <dsp:cNvSpPr/>
      </dsp:nvSpPr>
      <dsp:spPr>
        <a:xfrm>
          <a:off x="281355" y="2538895"/>
          <a:ext cx="511556" cy="51155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5678566-6F19-4FD8-B582-931B4C3F49E3}">
      <dsp:nvSpPr>
        <dsp:cNvPr id="0" name=""/>
        <dsp:cNvSpPr/>
      </dsp:nvSpPr>
      <dsp:spPr>
        <a:xfrm>
          <a:off x="1074268" y="2329622"/>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Work with select broker distribution partners with aligned incentives and goals</a:t>
          </a:r>
        </a:p>
      </dsp:txBody>
      <dsp:txXfrm>
        <a:off x="1074268" y="2329622"/>
        <a:ext cx="5170996" cy="930102"/>
      </dsp:txXfrm>
    </dsp:sp>
    <dsp:sp modelId="{98428F15-F0D5-4130-9147-37C3DDCA1DC9}">
      <dsp:nvSpPr>
        <dsp:cNvPr id="0" name=""/>
        <dsp:cNvSpPr/>
      </dsp:nvSpPr>
      <dsp:spPr>
        <a:xfrm>
          <a:off x="0" y="3492250"/>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317B8A92-F6D8-485E-BFCD-F23A414CD080}">
      <dsp:nvSpPr>
        <dsp:cNvPr id="0" name=""/>
        <dsp:cNvSpPr/>
      </dsp:nvSpPr>
      <dsp:spPr>
        <a:xfrm>
          <a:off x="281355" y="3701523"/>
          <a:ext cx="511556" cy="511556"/>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CF200B6-4CF1-49FA-82CB-D36753C29C94}">
      <dsp:nvSpPr>
        <dsp:cNvPr id="0" name=""/>
        <dsp:cNvSpPr/>
      </dsp:nvSpPr>
      <dsp:spPr>
        <a:xfrm>
          <a:off x="1074268" y="3492250"/>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Pipeline reporting and collaboration with our DTE provider partners</a:t>
          </a:r>
        </a:p>
      </dsp:txBody>
      <dsp:txXfrm>
        <a:off x="1074268" y="3492250"/>
        <a:ext cx="5170996" cy="930102"/>
      </dsp:txXfrm>
    </dsp:sp>
    <dsp:sp modelId="{7566ED39-D6F5-4DF5-8A39-A79490273A0B}">
      <dsp:nvSpPr>
        <dsp:cNvPr id="0" name=""/>
        <dsp:cNvSpPr/>
      </dsp:nvSpPr>
      <dsp:spPr>
        <a:xfrm>
          <a:off x="0" y="4654878"/>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B3F6EF59-567A-4333-BF88-50EE8E8487A2}">
      <dsp:nvSpPr>
        <dsp:cNvPr id="0" name=""/>
        <dsp:cNvSpPr/>
      </dsp:nvSpPr>
      <dsp:spPr>
        <a:xfrm>
          <a:off x="281355" y="4864151"/>
          <a:ext cx="511556" cy="51155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EFC0EFB-BD3D-4AF8-8A4E-66BB21DDE307}">
      <dsp:nvSpPr>
        <dsp:cNvPr id="0" name=""/>
        <dsp:cNvSpPr/>
      </dsp:nvSpPr>
      <dsp:spPr>
        <a:xfrm>
          <a:off x="1074268" y="4654878"/>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Marketing and promotion of the new option in the community</a:t>
          </a:r>
        </a:p>
      </dsp:txBody>
      <dsp:txXfrm>
        <a:off x="1074268" y="4654878"/>
        <a:ext cx="5170996" cy="93010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8C66CE-B1D9-43FD-91B0-9A298E99D806}">
      <dsp:nvSpPr>
        <dsp:cNvPr id="0" name=""/>
        <dsp:cNvSpPr/>
      </dsp:nvSpPr>
      <dsp:spPr>
        <a:xfrm rot="5400000">
          <a:off x="-311576" y="311921"/>
          <a:ext cx="2077175" cy="1454023"/>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PROVIDER FILE</a:t>
          </a:r>
        </a:p>
      </dsp:txBody>
      <dsp:txXfrm rot="-5400000">
        <a:off x="1" y="727357"/>
        <a:ext cx="1454023" cy="623152"/>
      </dsp:txXfrm>
    </dsp:sp>
    <dsp:sp modelId="{7C07DD5C-F3F7-413D-935A-CCBA7C6C1E36}">
      <dsp:nvSpPr>
        <dsp:cNvPr id="0" name=""/>
        <dsp:cNvSpPr/>
      </dsp:nvSpPr>
      <dsp:spPr>
        <a:xfrm rot="5400000">
          <a:off x="3574418" y="-2120050"/>
          <a:ext cx="1350164" cy="5590955"/>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66255"/>
        <a:ext cx="5525045" cy="1218344"/>
      </dsp:txXfrm>
    </dsp:sp>
    <dsp:sp modelId="{1FCF5A5E-7DF9-412A-B101-D83967D7DE65}">
      <dsp:nvSpPr>
        <dsp:cNvPr id="0" name=""/>
        <dsp:cNvSpPr/>
      </dsp:nvSpPr>
      <dsp:spPr>
        <a:xfrm rot="5400000">
          <a:off x="-311576" y="2101379"/>
          <a:ext cx="2077175" cy="1454023"/>
        </a:xfrm>
        <a:prstGeom prst="chevron">
          <a:avLst/>
        </a:prstGeom>
        <a:solidFill>
          <a:srgbClr val="244F9A"/>
        </a:solidFill>
        <a:ln w="12700" cap="flat" cmpd="sng" algn="ctr">
          <a:solidFill>
            <a:srgbClr val="6A3085"/>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PRICING</a:t>
          </a:r>
        </a:p>
      </dsp:txBody>
      <dsp:txXfrm rot="-5400000">
        <a:off x="1" y="2516815"/>
        <a:ext cx="1454023" cy="623152"/>
      </dsp:txXfrm>
    </dsp:sp>
    <dsp:sp modelId="{FE1F4B02-EB68-4CAB-8CF0-3D5AB6A01850}">
      <dsp:nvSpPr>
        <dsp:cNvPr id="0" name=""/>
        <dsp:cNvSpPr/>
      </dsp:nvSpPr>
      <dsp:spPr>
        <a:xfrm rot="5400000">
          <a:off x="3574418" y="-330593"/>
          <a:ext cx="1350164" cy="5590955"/>
        </a:xfrm>
        <a:prstGeom prst="round2SameRect">
          <a:avLst/>
        </a:prstGeom>
        <a:solidFill>
          <a:schemeClr val="lt1">
            <a:alpha val="90000"/>
            <a:hueOff val="0"/>
            <a:satOff val="0"/>
            <a:lumOff val="0"/>
            <a:alphaOff val="0"/>
          </a:schemeClr>
        </a:solidFill>
        <a:ln w="12700" cap="flat" cmpd="sng" algn="ctr">
          <a:solidFill>
            <a:schemeClr val="accent3">
              <a:hueOff val="2710599"/>
              <a:satOff val="100000"/>
              <a:lumOff val="-14706"/>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1855712"/>
        <a:ext cx="5525045" cy="121834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4B72F3-991D-4D26-9463-0028447AF8D0}">
      <dsp:nvSpPr>
        <dsp:cNvPr id="0" name=""/>
        <dsp:cNvSpPr/>
      </dsp:nvSpPr>
      <dsp:spPr>
        <a:xfrm rot="5400000">
          <a:off x="332041" y="1572155"/>
          <a:ext cx="990861" cy="1648771"/>
        </a:xfrm>
        <a:prstGeom prst="corner">
          <a:avLst>
            <a:gd name="adj1" fmla="val 16120"/>
            <a:gd name="adj2" fmla="val 16110"/>
          </a:avLst>
        </a:prstGeom>
        <a:solidFill>
          <a:srgbClr val="244F9A"/>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B3AA31-421F-4B20-8208-0825BF70090F}">
      <dsp:nvSpPr>
        <dsp:cNvPr id="0" name=""/>
        <dsp:cNvSpPr/>
      </dsp:nvSpPr>
      <dsp:spPr>
        <a:xfrm>
          <a:off x="166642" y="206478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a:t>
          </a:r>
        </a:p>
        <a:p>
          <a:pPr marL="0" lvl="0" indent="0" algn="l" defTabSz="577850">
            <a:lnSpc>
              <a:spcPct val="90000"/>
            </a:lnSpc>
            <a:spcBef>
              <a:spcPct val="0"/>
            </a:spcBef>
            <a:spcAft>
              <a:spcPct val="35000"/>
            </a:spcAft>
            <a:buNone/>
          </a:pPr>
          <a:r>
            <a:rPr lang="en-US" sz="1300" b="0" kern="1200" dirty="0"/>
            <a:t>Agreement &amp; Project Scope</a:t>
          </a:r>
        </a:p>
      </dsp:txBody>
      <dsp:txXfrm>
        <a:off x="166642" y="2064782"/>
        <a:ext cx="1488520" cy="1304775"/>
      </dsp:txXfrm>
    </dsp:sp>
    <dsp:sp modelId="{4B9E1A38-3040-4C60-B94E-F33823D540F9}">
      <dsp:nvSpPr>
        <dsp:cNvPr id="0" name=""/>
        <dsp:cNvSpPr/>
      </dsp:nvSpPr>
      <dsp:spPr>
        <a:xfrm>
          <a:off x="1374309" y="1450770"/>
          <a:ext cx="280852" cy="280852"/>
        </a:xfrm>
        <a:prstGeom prst="triangle">
          <a:avLst>
            <a:gd name="adj" fmla="val 100000"/>
          </a:avLst>
        </a:prstGeom>
        <a:solidFill>
          <a:srgbClr val="244F9A">
            <a:alpha val="80000"/>
          </a:srgbClr>
        </a:solidFill>
        <a:ln w="12700" cap="flat" cmpd="sng" algn="ctr">
          <a:solidFill>
            <a:schemeClr val="accent1">
              <a:shade val="80000"/>
              <a:hueOff val="58214"/>
              <a:satOff val="-1043"/>
              <a:lumOff val="443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636A15-31BC-483D-A19B-F594F97B4CB7}">
      <dsp:nvSpPr>
        <dsp:cNvPr id="0" name=""/>
        <dsp:cNvSpPr/>
      </dsp:nvSpPr>
      <dsp:spPr>
        <a:xfrm rot="5400000">
          <a:off x="2154281" y="1121239"/>
          <a:ext cx="990861" cy="1648771"/>
        </a:xfrm>
        <a:prstGeom prst="corner">
          <a:avLst>
            <a:gd name="adj1" fmla="val 16120"/>
            <a:gd name="adj2" fmla="val 16110"/>
          </a:avLst>
        </a:prstGeom>
        <a:solidFill>
          <a:srgbClr val="244F9A">
            <a:alpha val="80000"/>
          </a:srgbClr>
        </a:solidFill>
        <a:ln w="12700" cap="flat" cmpd="sng" algn="ctr">
          <a:solidFill>
            <a:schemeClr val="accent1">
              <a:shade val="80000"/>
              <a:hueOff val="116428"/>
              <a:satOff val="-2085"/>
              <a:lumOff val="886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D54D3E-74C0-4BF4-9694-114A266E7DAC}">
      <dsp:nvSpPr>
        <dsp:cNvPr id="0" name=""/>
        <dsp:cNvSpPr/>
      </dsp:nvSpPr>
      <dsp:spPr>
        <a:xfrm>
          <a:off x="1988882" y="161386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1-6</a:t>
          </a:r>
        </a:p>
        <a:p>
          <a:pPr marL="0" lvl="0" indent="0" algn="l" defTabSz="577850">
            <a:lnSpc>
              <a:spcPct val="90000"/>
            </a:lnSpc>
            <a:spcBef>
              <a:spcPct val="0"/>
            </a:spcBef>
            <a:spcAft>
              <a:spcPct val="35000"/>
            </a:spcAft>
            <a:buNone/>
          </a:pPr>
          <a:r>
            <a:rPr lang="en-US" sz="1300" b="0" kern="1200" dirty="0"/>
            <a:t>Implementation</a:t>
          </a:r>
        </a:p>
        <a:p>
          <a:pPr marL="0" lvl="0" indent="0" algn="l" defTabSz="577850">
            <a:lnSpc>
              <a:spcPct val="90000"/>
            </a:lnSpc>
            <a:spcBef>
              <a:spcPct val="0"/>
            </a:spcBef>
            <a:spcAft>
              <a:spcPct val="35000"/>
            </a:spcAft>
            <a:buNone/>
          </a:pPr>
          <a:r>
            <a:rPr lang="en-US" sz="1300" b="0" kern="1200" dirty="0"/>
            <a:t>Market Outreach begins in Month 3</a:t>
          </a:r>
        </a:p>
        <a:p>
          <a:pPr marL="0" lvl="0" indent="0" algn="l" defTabSz="577850">
            <a:lnSpc>
              <a:spcPct val="90000"/>
            </a:lnSpc>
            <a:spcBef>
              <a:spcPct val="0"/>
            </a:spcBef>
            <a:spcAft>
              <a:spcPct val="35000"/>
            </a:spcAft>
            <a:buNone/>
          </a:pPr>
          <a:endParaRPr lang="en-US" sz="1300" b="0" kern="1200" dirty="0"/>
        </a:p>
      </dsp:txBody>
      <dsp:txXfrm>
        <a:off x="1988882" y="1613867"/>
        <a:ext cx="1488520" cy="1304775"/>
      </dsp:txXfrm>
    </dsp:sp>
    <dsp:sp modelId="{E2E1B3D5-626C-4984-B966-96AB737EB32D}">
      <dsp:nvSpPr>
        <dsp:cNvPr id="0" name=""/>
        <dsp:cNvSpPr/>
      </dsp:nvSpPr>
      <dsp:spPr>
        <a:xfrm>
          <a:off x="3196549" y="999855"/>
          <a:ext cx="280852" cy="280852"/>
        </a:xfrm>
        <a:prstGeom prst="triangle">
          <a:avLst>
            <a:gd name="adj" fmla="val 100000"/>
          </a:avLst>
        </a:prstGeom>
        <a:solidFill>
          <a:srgbClr val="244F9A">
            <a:alpha val="60000"/>
          </a:srgbClr>
        </a:solidFill>
        <a:ln w="12700" cap="flat" cmpd="sng" algn="ctr">
          <a:solidFill>
            <a:schemeClr val="accent1">
              <a:shade val="80000"/>
              <a:hueOff val="174641"/>
              <a:satOff val="-3128"/>
              <a:lumOff val="1329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8D8255-18CE-4518-9174-DEB3D03C550D}">
      <dsp:nvSpPr>
        <dsp:cNvPr id="0" name=""/>
        <dsp:cNvSpPr/>
      </dsp:nvSpPr>
      <dsp:spPr>
        <a:xfrm rot="5400000">
          <a:off x="3976521" y="670324"/>
          <a:ext cx="990861" cy="1648771"/>
        </a:xfrm>
        <a:prstGeom prst="corner">
          <a:avLst>
            <a:gd name="adj1" fmla="val 16120"/>
            <a:gd name="adj2" fmla="val 16110"/>
          </a:avLst>
        </a:prstGeom>
        <a:solidFill>
          <a:srgbClr val="244F9A">
            <a:alpha val="60000"/>
          </a:srgbClr>
        </a:solidFill>
        <a:ln w="12700" cap="flat" cmpd="sng" algn="ctr">
          <a:solidFill>
            <a:schemeClr val="accent1">
              <a:shade val="80000"/>
              <a:hueOff val="232855"/>
              <a:satOff val="-4171"/>
              <a:lumOff val="1772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8D4C6B-62CE-4CE4-91E9-7E9EB1E1C398}">
      <dsp:nvSpPr>
        <dsp:cNvPr id="0" name=""/>
        <dsp:cNvSpPr/>
      </dsp:nvSpPr>
      <dsp:spPr>
        <a:xfrm>
          <a:off x="3811121" y="116295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3-6</a:t>
          </a:r>
        </a:p>
        <a:p>
          <a:pPr marL="0" lvl="0" indent="0" algn="l" defTabSz="577850">
            <a:lnSpc>
              <a:spcPct val="90000"/>
            </a:lnSpc>
            <a:spcBef>
              <a:spcPct val="0"/>
            </a:spcBef>
            <a:spcAft>
              <a:spcPct val="35000"/>
            </a:spcAft>
            <a:buNone/>
          </a:pPr>
          <a:r>
            <a:rPr lang="en-US" sz="1300" b="0" kern="1200" dirty="0"/>
            <a:t>Sales &amp; Mkg.</a:t>
          </a:r>
        </a:p>
        <a:p>
          <a:pPr marL="0" lvl="0" indent="0" algn="l" defTabSz="577850">
            <a:lnSpc>
              <a:spcPct val="90000"/>
            </a:lnSpc>
            <a:spcBef>
              <a:spcPct val="0"/>
            </a:spcBef>
            <a:spcAft>
              <a:spcPct val="35000"/>
            </a:spcAft>
            <a:buNone/>
          </a:pPr>
          <a:r>
            <a:rPr lang="en-US" sz="1300" b="0" kern="1200" dirty="0"/>
            <a:t>Hire Sales Executive</a:t>
          </a:r>
        </a:p>
      </dsp:txBody>
      <dsp:txXfrm>
        <a:off x="3811121" y="1162952"/>
        <a:ext cx="1488520" cy="1304775"/>
      </dsp:txXfrm>
    </dsp:sp>
    <dsp:sp modelId="{C472BF19-FDA3-4EC5-AD0C-1C04B1D94EC9}">
      <dsp:nvSpPr>
        <dsp:cNvPr id="0" name=""/>
        <dsp:cNvSpPr/>
      </dsp:nvSpPr>
      <dsp:spPr>
        <a:xfrm>
          <a:off x="5018789" y="548940"/>
          <a:ext cx="280852" cy="280852"/>
        </a:xfrm>
        <a:prstGeom prst="triangle">
          <a:avLst>
            <a:gd name="adj" fmla="val 100000"/>
          </a:avLst>
        </a:prstGeom>
        <a:solidFill>
          <a:srgbClr val="244F9A">
            <a:alpha val="40000"/>
          </a:srgbClr>
        </a:solidFill>
        <a:ln w="12700" cap="flat" cmpd="sng" algn="ctr">
          <a:solidFill>
            <a:schemeClr val="accent1">
              <a:shade val="80000"/>
              <a:hueOff val="291069"/>
              <a:satOff val="-5213"/>
              <a:lumOff val="2215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966FFF-E62A-4DBC-B29D-25E2B05997AB}">
      <dsp:nvSpPr>
        <dsp:cNvPr id="0" name=""/>
        <dsp:cNvSpPr/>
      </dsp:nvSpPr>
      <dsp:spPr>
        <a:xfrm rot="5400000">
          <a:off x="5798761" y="219409"/>
          <a:ext cx="990861" cy="1648771"/>
        </a:xfrm>
        <a:prstGeom prst="corner">
          <a:avLst>
            <a:gd name="adj1" fmla="val 16120"/>
            <a:gd name="adj2" fmla="val 16110"/>
          </a:avLst>
        </a:prstGeom>
        <a:solidFill>
          <a:srgbClr val="244F9A">
            <a:alpha val="40000"/>
          </a:srgbClr>
        </a:solidFill>
        <a:ln w="12700" cap="flat" cmpd="sng" algn="ctr">
          <a:solidFill>
            <a:schemeClr val="accent1">
              <a:shade val="80000"/>
              <a:hueOff val="349283"/>
              <a:satOff val="-6256"/>
              <a:lumOff val="2658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47AD9B-A3F5-425E-903D-1FEBBA4D2840}">
      <dsp:nvSpPr>
        <dsp:cNvPr id="0" name=""/>
        <dsp:cNvSpPr/>
      </dsp:nvSpPr>
      <dsp:spPr>
        <a:xfrm>
          <a:off x="5633361" y="71203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6 TO 8</a:t>
          </a:r>
        </a:p>
        <a:p>
          <a:pPr marL="0" lvl="0" indent="0" algn="l" defTabSz="577850">
            <a:lnSpc>
              <a:spcPct val="90000"/>
            </a:lnSpc>
            <a:spcBef>
              <a:spcPct val="0"/>
            </a:spcBef>
            <a:spcAft>
              <a:spcPct val="35000"/>
            </a:spcAft>
            <a:buNone/>
          </a:pPr>
          <a:r>
            <a:rPr lang="en-US" sz="1300" b="1" kern="1200" dirty="0">
              <a:solidFill>
                <a:srgbClr val="000B2E"/>
              </a:solidFill>
            </a:rPr>
            <a:t>GO LIVE!!</a:t>
          </a:r>
        </a:p>
      </dsp:txBody>
      <dsp:txXfrm>
        <a:off x="5633361" y="712037"/>
        <a:ext cx="1488520" cy="1304775"/>
      </dsp:txXfrm>
    </dsp:sp>
  </dsp:spTree>
</dsp:drawing>
</file>

<file path=ppt/diagrams/layout1.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1">
  <dgm:title val=""/>
  <dgm:desc val=""/>
  <dgm:catLst>
    <dgm:cat type="3D" pri="11100"/>
  </dgm:catLst>
  <dgm:scene3d>
    <a:camera prst="orthographicFront"/>
    <a:lightRig rig="threePt" dir="t"/>
  </dgm:scene3d>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atin typeface="Montserrat" panose="00000500000000000000" pitchFamily="2" charset="0"/>
              </a:defRPr>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atin typeface="Montserrat" panose="00000500000000000000" pitchFamily="2" charset="0"/>
              </a:defRPr>
            </a:lvl1pPr>
          </a:lstStyle>
          <a:p>
            <a:fld id="{7444AE22-21A2-46C1-A42F-3B4E8AE858E0}" type="datetimeFigureOut">
              <a:rPr lang="en-US" smtClean="0"/>
              <a:pPr/>
              <a:t>3/11/2025</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atin typeface="Montserrat" panose="00000500000000000000" pitchFamily="2" charset="0"/>
              </a:defRPr>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atin typeface="Montserrat" panose="00000500000000000000" pitchFamily="2" charset="0"/>
              </a:defRPr>
            </a:lvl1pPr>
          </a:lstStyle>
          <a:p>
            <a:fld id="{4139CA89-B4B2-4050-B038-8DF8E3A33516}" type="slidenum">
              <a:rPr lang="en-US" smtClean="0"/>
              <a:pPr/>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fld id="{F7021451-1387-4CA6-816F-3879F97B5CBC}" type="slidenum">
              <a:rPr lang="en-US" smtClean="0">
                <a:latin typeface="Montserrat" panose="00000500000000000000" pitchFamily="2" charset="0"/>
              </a:rPr>
              <a:t>7</a:t>
            </a:fld>
            <a:endParaRPr lang="en-US">
              <a:latin typeface="Montserrat" panose="00000500000000000000" pitchFamily="2"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4139CA89-B4B2-4050-B038-8DF8E3A33516}" type="slidenum">
              <a:rPr lang="en-US" smtClean="0"/>
              <a:t>10</a:t>
            </a:fld>
            <a:endParaRPr lang="en-US" dirty="0"/>
          </a:p>
        </p:txBody>
      </p:sp>
    </p:spTree>
    <p:extLst>
      <p:ext uri="{BB962C8B-B14F-4D97-AF65-F5344CB8AC3E}">
        <p14:creationId xmlns:p14="http://schemas.microsoft.com/office/powerpoint/2010/main" val="31893513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F90F11E-B424-48C6-BD86-192B859FFD4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5122410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Montserrat" panose="00000500000000000000" pitchFamily="2" charset="0"/>
              </a:rPr>
              <a:t>Replace with slide 1 of updates provided by Jan, but update design to match the rest of ppt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73F6DB-F15B-884B-AA15-B75C0F48DEC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40509297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Montserrat" panose="00000500000000000000" pitchFamily="2" charset="0"/>
              </a:rPr>
              <a:t>Replace with slide 2 of updated ppt provided by Jan, but update to match rest of ppt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73F6DB-F15B-884B-AA15-B75C0F48DEC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8727588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Montserrat" panose="00000500000000000000" pitchFamily="2" charset="0"/>
              </a:rPr>
              <a:t>Make necessary changes to match slide 4 of updated ppt provided by Jan</a:t>
            </a:r>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973F6DB-F15B-884B-AA15-B75C0F48DEC7}"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8506627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63D2E-5F58-105C-7EEE-D8B4A2B801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6E703C-44B6-D6FB-7B2E-833F495D97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278385-2CC1-C186-E8ED-F22EB5BA1CF3}"/>
              </a:ext>
            </a:extLst>
          </p:cNvPr>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a:extLst>
              <a:ext uri="{FF2B5EF4-FFF2-40B4-BE49-F238E27FC236}">
                <a16:creationId xmlns:a16="http://schemas.microsoft.com/office/drawing/2014/main" id="{81B7C823-FC3C-8434-5AC0-78EC4F34F78E}"/>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8844013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33</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3/11/2025</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3/11/2025</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3/11/2025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3/11/2025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3/11/2025</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3/11/2025</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3/11/2025</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3/11/2025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3/11/2025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3/11/2025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3/11/2025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17378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3/11/2025</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1289658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3/11/2025</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3121576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3/11/2025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578834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3/11/2025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86899206"/>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3/11/2025</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928250306"/>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3/11/2025</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8255796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3/11/2025</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8090479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3/11/2025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9986902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3/11/2025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3884915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3/11/2025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84491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3/11/2025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77210789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3/11/2025</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335028952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1686739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30184788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0333A-D7F4-8BF6-7FE6-B245E061DF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7AFD55F-2B6A-BC81-01A1-E169ABA4D220}"/>
              </a:ext>
            </a:extLst>
          </p:cNvPr>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BAAA2D5-089E-22AF-3D0B-4F19067E8217}"/>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3/11/2025</a:t>
            </a:fld>
            <a:endParaRPr lang="en-US"/>
          </a:p>
        </p:txBody>
      </p:sp>
      <p:sp>
        <p:nvSpPr>
          <p:cNvPr id="5" name="Footer Placeholder 4">
            <a:extLst>
              <a:ext uri="{FF2B5EF4-FFF2-40B4-BE49-F238E27FC236}">
                <a16:creationId xmlns:a16="http://schemas.microsoft.com/office/drawing/2014/main" id="{589894B4-59C2-ED48-02F2-59E034C4F88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9D461B42-85D1-521C-676B-AEF121AD5CB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56872617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24B23-3A0F-2FFB-F140-0ED21664BD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127193-0571-3183-9568-FBC2C4C41923}"/>
              </a:ext>
            </a:extLst>
          </p:cNvPr>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A4BE860-C86D-39CD-1793-0B867B627B8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3/11/2025</a:t>
            </a:fld>
            <a:endParaRPr lang="en-US"/>
          </a:p>
        </p:txBody>
      </p:sp>
      <p:sp>
        <p:nvSpPr>
          <p:cNvPr id="5" name="Footer Placeholder 4">
            <a:extLst>
              <a:ext uri="{FF2B5EF4-FFF2-40B4-BE49-F238E27FC236}">
                <a16:creationId xmlns:a16="http://schemas.microsoft.com/office/drawing/2014/main" id="{D959902B-89A3-6032-AD27-5B2747726C70}"/>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C4B0BC3B-8A86-AA5A-AD97-AFE05C11E31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26440587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49683-D972-023F-219D-7BB60D6790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7FBF06F-33B9-F6B7-D0B0-58368CF72D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latin typeface="Montserrat" panose="00000500000000000000" pitchFamily="2"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10D591E4-3B21-B2C2-F89D-019DFA1351E6}"/>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3/11/2025</a:t>
            </a:fld>
            <a:endParaRPr lang="en-US"/>
          </a:p>
        </p:txBody>
      </p:sp>
      <p:sp>
        <p:nvSpPr>
          <p:cNvPr id="5" name="Footer Placeholder 4">
            <a:extLst>
              <a:ext uri="{FF2B5EF4-FFF2-40B4-BE49-F238E27FC236}">
                <a16:creationId xmlns:a16="http://schemas.microsoft.com/office/drawing/2014/main" id="{578F9B1F-218C-4099-354A-77985CA88E63}"/>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BB87B7BA-EB30-276C-F6A4-57FBE4B1BA2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71612093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93683-51F3-237C-28D3-307EE44F33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FA447C5-37A5-7576-DF3F-A03DBF5DC6D7}"/>
              </a:ext>
            </a:extLst>
          </p:cNvPr>
          <p:cNvSpPr>
            <a:spLocks noGrp="1"/>
          </p:cNvSpPr>
          <p:nvPr>
            <p:ph sz="half" idx="1"/>
          </p:nvPr>
        </p:nvSpPr>
        <p:spPr>
          <a:xfrm>
            <a:off x="838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A53D1057-0101-3CB8-D158-2EAE2463F32A}"/>
              </a:ext>
            </a:extLst>
          </p:cNvPr>
          <p:cNvSpPr>
            <a:spLocks noGrp="1"/>
          </p:cNvSpPr>
          <p:nvPr>
            <p:ph sz="half" idx="2"/>
          </p:nvPr>
        </p:nvSpPr>
        <p:spPr>
          <a:xfrm>
            <a:off x="6172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F9A133-63CE-4F37-E482-EA1EECCAB0CF}"/>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3/11/2025</a:t>
            </a:fld>
            <a:endParaRPr lang="en-US"/>
          </a:p>
        </p:txBody>
      </p:sp>
      <p:sp>
        <p:nvSpPr>
          <p:cNvPr id="6" name="Footer Placeholder 5">
            <a:extLst>
              <a:ext uri="{FF2B5EF4-FFF2-40B4-BE49-F238E27FC236}">
                <a16:creationId xmlns:a16="http://schemas.microsoft.com/office/drawing/2014/main" id="{E2DC3D78-6D9B-64CF-B7D6-AEEA3A6E0ECC}"/>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97CD38F0-00C1-C0D4-F298-433BE1D17D12}"/>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50577165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8A98D-65C1-1E26-EDD7-90B5F4CAFC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ADBA72-820B-660B-EB15-EF77956BD268}"/>
              </a:ext>
            </a:extLst>
          </p:cNvPr>
          <p:cNvSpPr>
            <a:spLocks noGrp="1"/>
          </p:cNvSpPr>
          <p:nvPr>
            <p:ph type="body" idx="1"/>
          </p:nvPr>
        </p:nvSpPr>
        <p:spPr>
          <a:xfrm>
            <a:off x="839788" y="1681163"/>
            <a:ext cx="5157787"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159EE162-1C58-9826-D133-1AD84A30AF1E}"/>
              </a:ext>
            </a:extLst>
          </p:cNvPr>
          <p:cNvSpPr>
            <a:spLocks noGrp="1"/>
          </p:cNvSpPr>
          <p:nvPr>
            <p:ph sz="half" idx="2"/>
          </p:nvPr>
        </p:nvSpPr>
        <p:spPr>
          <a:xfrm>
            <a:off x="839788" y="2505075"/>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27950119-C4BF-8D07-DED7-073F40FB57DA}"/>
              </a:ext>
            </a:extLst>
          </p:cNvPr>
          <p:cNvSpPr>
            <a:spLocks noGrp="1"/>
          </p:cNvSpPr>
          <p:nvPr>
            <p:ph type="body" sz="quarter" idx="3"/>
          </p:nvPr>
        </p:nvSpPr>
        <p:spPr>
          <a:xfrm>
            <a:off x="6172200" y="1681163"/>
            <a:ext cx="5183188"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90C9C018-AAE1-01C5-C4E7-1C69A018EB1A}"/>
              </a:ext>
            </a:extLst>
          </p:cNvPr>
          <p:cNvSpPr>
            <a:spLocks noGrp="1"/>
          </p:cNvSpPr>
          <p:nvPr>
            <p:ph sz="quarter" idx="4"/>
          </p:nvPr>
        </p:nvSpPr>
        <p:spPr>
          <a:xfrm>
            <a:off x="6172200" y="2505075"/>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5C6C6F45-ECE2-F081-F98C-EECF3EBF428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3/11/2025</a:t>
            </a:fld>
            <a:endParaRPr lang="en-US"/>
          </a:p>
        </p:txBody>
      </p:sp>
      <p:sp>
        <p:nvSpPr>
          <p:cNvPr id="8" name="Footer Placeholder 7">
            <a:extLst>
              <a:ext uri="{FF2B5EF4-FFF2-40B4-BE49-F238E27FC236}">
                <a16:creationId xmlns:a16="http://schemas.microsoft.com/office/drawing/2014/main" id="{81C19771-6EC0-7828-5F14-219FFD629621}"/>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9" name="Slide Number Placeholder 8">
            <a:extLst>
              <a:ext uri="{FF2B5EF4-FFF2-40B4-BE49-F238E27FC236}">
                <a16:creationId xmlns:a16="http://schemas.microsoft.com/office/drawing/2014/main" id="{A1AFBBDB-D016-3519-189F-C3EF7A0A34F9}"/>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7731658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190F4-6BF3-9A05-11B0-CFDC94F6AB1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432DC46-DA37-DBBE-5107-914E8DF19A4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3/11/2025</a:t>
            </a:fld>
            <a:endParaRPr lang="en-US"/>
          </a:p>
        </p:txBody>
      </p:sp>
      <p:sp>
        <p:nvSpPr>
          <p:cNvPr id="4" name="Footer Placeholder 3">
            <a:extLst>
              <a:ext uri="{FF2B5EF4-FFF2-40B4-BE49-F238E27FC236}">
                <a16:creationId xmlns:a16="http://schemas.microsoft.com/office/drawing/2014/main" id="{500D90FD-81A9-E6FB-27D3-24713EF14A15}"/>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5" name="Slide Number Placeholder 4">
            <a:extLst>
              <a:ext uri="{FF2B5EF4-FFF2-40B4-BE49-F238E27FC236}">
                <a16:creationId xmlns:a16="http://schemas.microsoft.com/office/drawing/2014/main" id="{29316EA0-D473-AC28-DECA-DEAEF6567180}"/>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656068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17604C-AB91-78A2-2DA4-6D1088A321F1}"/>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3/11/2025</a:t>
            </a:fld>
            <a:endParaRPr lang="en-US"/>
          </a:p>
        </p:txBody>
      </p:sp>
      <p:sp>
        <p:nvSpPr>
          <p:cNvPr id="3" name="Footer Placeholder 2">
            <a:extLst>
              <a:ext uri="{FF2B5EF4-FFF2-40B4-BE49-F238E27FC236}">
                <a16:creationId xmlns:a16="http://schemas.microsoft.com/office/drawing/2014/main" id="{E4C85361-F6B7-FAAB-4738-E0ADE5E1C7C4}"/>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4" name="Slide Number Placeholder 3">
            <a:extLst>
              <a:ext uri="{FF2B5EF4-FFF2-40B4-BE49-F238E27FC236}">
                <a16:creationId xmlns:a16="http://schemas.microsoft.com/office/drawing/2014/main" id="{F923D6D1-624B-8B3C-90BE-2C90B19A71DF}"/>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44235742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CB8A9-03E2-CC5E-A121-E5984E9AEC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9A13174-A575-A915-92B0-207B93D1FE50}"/>
              </a:ext>
            </a:extLst>
          </p:cNvPr>
          <p:cNvSpPr>
            <a:spLocks noGrp="1"/>
          </p:cNvSpPr>
          <p:nvPr>
            <p:ph idx="1"/>
          </p:nvPr>
        </p:nvSpPr>
        <p:spPr>
          <a:xfrm>
            <a:off x="5183188" y="987425"/>
            <a:ext cx="6172200"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5EF26E49-3074-8C94-B0CC-8EFA1B8250BC}"/>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7A89E3CC-7C4A-D7EC-E46C-5A842B8A1384}"/>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3/11/2025</a:t>
            </a:fld>
            <a:endParaRPr lang="en-US"/>
          </a:p>
        </p:txBody>
      </p:sp>
      <p:sp>
        <p:nvSpPr>
          <p:cNvPr id="6" name="Footer Placeholder 5">
            <a:extLst>
              <a:ext uri="{FF2B5EF4-FFF2-40B4-BE49-F238E27FC236}">
                <a16:creationId xmlns:a16="http://schemas.microsoft.com/office/drawing/2014/main" id="{0CF330E3-0B96-933C-829B-04B30C41D7D7}"/>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14757A92-1BAA-DAA4-E90F-EDFBED3D782C}"/>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732848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A07BE-FE86-FD17-6855-F4BBD305C4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7EFE0AE-B8E3-6453-74A9-2CCBC448EB45}"/>
              </a:ext>
            </a:extLst>
          </p:cNvPr>
          <p:cNvSpPr>
            <a:spLocks noGrp="1"/>
          </p:cNvSpPr>
          <p:nvPr>
            <p:ph type="pic" idx="1"/>
          </p:nvPr>
        </p:nvSpPr>
        <p:spPr>
          <a:xfrm>
            <a:off x="5183188" y="987425"/>
            <a:ext cx="6172200" cy="4873625"/>
          </a:xfrm>
        </p:spPr>
        <p:txBody>
          <a:bodyPr/>
          <a:lstStyle>
            <a:lvl1pPr marL="0" indent="0">
              <a:buNone/>
              <a:defRPr sz="3200">
                <a:latin typeface="Montserrat" panose="000005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7C1BFAC6-51C3-1D27-7E41-47878F27E0A5}"/>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F198224-E0A8-36C0-DDF7-27FA70A43C0C}"/>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3/11/2025</a:t>
            </a:fld>
            <a:endParaRPr lang="en-US"/>
          </a:p>
        </p:txBody>
      </p:sp>
      <p:sp>
        <p:nvSpPr>
          <p:cNvPr id="6" name="Footer Placeholder 5">
            <a:extLst>
              <a:ext uri="{FF2B5EF4-FFF2-40B4-BE49-F238E27FC236}">
                <a16:creationId xmlns:a16="http://schemas.microsoft.com/office/drawing/2014/main" id="{BB34AEAA-95D8-5BA2-2F25-047DDCC1DE29}"/>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5A686F25-6C70-7C4B-DFD4-192375D55DA3}"/>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17645199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03B00-617F-6CDB-FC05-71E366A0DE7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7BB096-36EC-BC27-3A10-9065A2B11C2F}"/>
              </a:ext>
            </a:extLst>
          </p:cNvPr>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044F6E8-F910-F328-584A-CA901BB3A3E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3/11/2025</a:t>
            </a:fld>
            <a:endParaRPr lang="en-US"/>
          </a:p>
        </p:txBody>
      </p:sp>
      <p:sp>
        <p:nvSpPr>
          <p:cNvPr id="5" name="Footer Placeholder 4">
            <a:extLst>
              <a:ext uri="{FF2B5EF4-FFF2-40B4-BE49-F238E27FC236}">
                <a16:creationId xmlns:a16="http://schemas.microsoft.com/office/drawing/2014/main" id="{3D93A474-10C6-034E-0576-8B73F4B7084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2CD4C70E-6DC2-4298-EEB8-A2AC6AD76BE8}"/>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17292695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08DBE0-CED9-F7B0-5642-5731DA249BC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C47D136-9913-226C-7C14-436B6CF99CC4}"/>
              </a:ext>
            </a:extLst>
          </p:cNvPr>
          <p:cNvSpPr>
            <a:spLocks noGrp="1"/>
          </p:cNvSpPr>
          <p:nvPr>
            <p:ph type="body" orient="vert" idx="1"/>
          </p:nvPr>
        </p:nvSpPr>
        <p:spPr>
          <a:xfrm>
            <a:off x="838200"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0E3D2C8-E528-BF1F-C711-971E74B5E8A5}"/>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3/11/2025</a:t>
            </a:fld>
            <a:endParaRPr lang="en-US"/>
          </a:p>
        </p:txBody>
      </p:sp>
      <p:sp>
        <p:nvSpPr>
          <p:cNvPr id="5" name="Footer Placeholder 4">
            <a:extLst>
              <a:ext uri="{FF2B5EF4-FFF2-40B4-BE49-F238E27FC236}">
                <a16:creationId xmlns:a16="http://schemas.microsoft.com/office/drawing/2014/main" id="{30DD753D-C084-2ADF-0E12-AA92D30C6A36}"/>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32C82D8B-8E1E-F47C-7C0F-AEDE48C2DDF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34810900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3/11/2025</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9837842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3/11/2025</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60188173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3/11/2025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56268673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3/11/2025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003081434"/>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3/11/2025</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10118790"/>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3/11/2025</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71132839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3/11/2025</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42394096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3/11/2025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032606110"/>
      </p:ext>
    </p:extLst>
  </p:cSld>
  <p:clrMapOvr>
    <a:masterClrMapping/>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3/11/2025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25439223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3/11/2025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2054009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3/11/2025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27886578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3/11/2025</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82429384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3/11/2025</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5042185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3/11/2025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29816320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3/11/2025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91304296"/>
      </p:ext>
    </p:extLst>
  </p:cSld>
  <p:clrMapOvr>
    <a:masterClrMapping/>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3/11/2025</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121920882"/>
      </p:ext>
    </p:extLst>
  </p:cSld>
  <p:clrMapOvr>
    <a:masterClrMapping/>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3/11/2025</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88587412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3/11/2025</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0653441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3/11/2025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91300616"/>
      </p:ext>
    </p:extLst>
  </p:cSld>
  <p:clrMapOvr>
    <a:masterClrMapping/>
  </p:clrMapOvr>
  <p:extLst>
    <p:ext uri="{DCECCB84-F9BA-43D5-87BE-67443E8EF086}">
      <p15:sldGuideLst xmlns:p15="http://schemas.microsoft.com/office/powerpoint/2012/main"/>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3/11/2025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92156517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3/11/2025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15921051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3/11/2025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21717615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3/11/2025</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89584381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6847194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25304609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tags" Target="../tags/tag3.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theme" Target="../theme/theme3.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4.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tags" Target="../tags/tag4.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theme" Target="../theme/theme5.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slideLayout" Target="../slideLayouts/slideLayout61.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2" Type="http://schemas.openxmlformats.org/officeDocument/2006/relationships/slideLayout" Target="../slideLayouts/slideLayout50.xml"/><Relationship Id="rId16" Type="http://schemas.openxmlformats.org/officeDocument/2006/relationships/tags" Target="../tags/tag5.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5" Type="http://schemas.openxmlformats.org/officeDocument/2006/relationships/theme" Target="../theme/theme6.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slideLayout" Target="../slideLayouts/slideLayout6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3/11/2025</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dirty="0"/>
          </a:p>
        </p:txBody>
      </p:sp>
    </p:spTree>
    <p:custDataLst>
      <p:tags r:id="rId13"/>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0145033"/>
      </p:ext>
    </p:extLst>
  </p:cSld>
  <p:clrMap bg1="lt1" tx1="dk1" bg2="lt2" tx2="dk2" accent1="accent1" accent2="accent2" accent3="accent3" accent4="accent4" accent5="accent5" accent6="accent6" hlink="hlink" folHlink="folHlink"/>
  <p:sldLayoutIdLst>
    <p:sldLayoutId id="2147483757"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3/11/2025</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2931359225"/>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 id="2147483772"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28BEE0-7577-10C8-2F70-A988114D83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EED88FE-EDC7-60BB-7A69-AF9890EA04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4C56E3C9-054B-7BB4-0692-08B96E9944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4180493562"/>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Lst>
  <p:txStyles>
    <p:titleStyle>
      <a:lvl1pPr algn="l" defTabSz="914400" rtl="0" eaLnBrk="1" latinLnBrk="0" hangingPunct="1">
        <a:lnSpc>
          <a:spcPct val="90000"/>
        </a:lnSpc>
        <a:spcBef>
          <a:spcPct val="0"/>
        </a:spcBef>
        <a:buNone/>
        <a:defRPr sz="4400" b="1" i="0" kern="1200">
          <a:solidFill>
            <a:schemeClr val="tx2"/>
          </a:solidFill>
          <a:latin typeface="Montserrat" panose="00000500000000000000"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Montserrat" panose="00000500000000000000" pitchFamily="2"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3/11/2025</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3"/>
    </p:custDataLst>
    <p:extLst>
      <p:ext uri="{BB962C8B-B14F-4D97-AF65-F5344CB8AC3E}">
        <p14:creationId xmlns:p14="http://schemas.microsoft.com/office/powerpoint/2010/main" val="1265540980"/>
      </p:ext>
    </p:extLst>
  </p:cSld>
  <p:clrMap bg1="lt1" tx1="dk1" bg2="lt2" tx2="dk2" accent1="accent1" accent2="accent2" accent3="accent3" accent4="accent4" accent5="accent5" accent6="accent6" hlink="hlink" folHlink="folHlink"/>
  <p:sldLayoutIdLst>
    <p:sldLayoutId id="2147483786" r:id="rId1"/>
    <p:sldLayoutId id="2147483787" r:id="rId2"/>
    <p:sldLayoutId id="2147483788" r:id="rId3"/>
    <p:sldLayoutId id="2147483789" r:id="rId4"/>
    <p:sldLayoutId id="2147483790" r:id="rId5"/>
    <p:sldLayoutId id="2147483791" r:id="rId6"/>
    <p:sldLayoutId id="2147483792" r:id="rId7"/>
    <p:sldLayoutId id="2147483793" r:id="rId8"/>
    <p:sldLayoutId id="2147483794" r:id="rId9"/>
    <p:sldLayoutId id="2147483795" r:id="rId10"/>
    <p:sldLayoutId id="2147483796" r:id="rId11"/>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3/11/2025</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3563936643"/>
      </p:ext>
    </p:extLst>
  </p:cSld>
  <p:clrMap bg1="lt1" tx1="dk1" bg2="lt2" tx2="dk2" accent1="accent1" accent2="accent2" accent3="accent3" accent4="accent4" accent5="accent5" accent6="accent6" hlink="hlink" folHlink="folHlink"/>
  <p:sldLayoutIdLst>
    <p:sldLayoutId id="2147483798" r:id="rId1"/>
    <p:sldLayoutId id="2147483799" r:id="rId2"/>
    <p:sldLayoutId id="2147483800" r:id="rId3"/>
    <p:sldLayoutId id="2147483801" r:id="rId4"/>
    <p:sldLayoutId id="2147483802" r:id="rId5"/>
    <p:sldLayoutId id="2147483803" r:id="rId6"/>
    <p:sldLayoutId id="2147483804" r:id="rId7"/>
    <p:sldLayoutId id="2147483805" r:id="rId8"/>
    <p:sldLayoutId id="2147483806" r:id="rId9"/>
    <p:sldLayoutId id="2147483807" r:id="rId10"/>
    <p:sldLayoutId id="2147483808" r:id="rId11"/>
    <p:sldLayoutId id="2147483809" r:id="rId12"/>
    <p:sldLayoutId id="2147483810" r:id="rId13"/>
    <p:sldLayoutId id="2147483811"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jp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sv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8" Type="http://schemas.openxmlformats.org/officeDocument/2006/relationships/image" Target="../media/image22.svg"/><Relationship Id="rId13" Type="http://schemas.openxmlformats.org/officeDocument/2006/relationships/image" Target="../media/image27.svg"/><Relationship Id="rId18" Type="http://schemas.openxmlformats.org/officeDocument/2006/relationships/image" Target="../media/image32.png"/><Relationship Id="rId3" Type="http://schemas.openxmlformats.org/officeDocument/2006/relationships/image" Target="../media/image17.png"/><Relationship Id="rId21" Type="http://schemas.openxmlformats.org/officeDocument/2006/relationships/image" Target="../media/image35.svg"/><Relationship Id="rId7" Type="http://schemas.openxmlformats.org/officeDocument/2006/relationships/image" Target="../media/image21.svg"/><Relationship Id="rId12" Type="http://schemas.openxmlformats.org/officeDocument/2006/relationships/image" Target="../media/image26.svg"/><Relationship Id="rId17" Type="http://schemas.openxmlformats.org/officeDocument/2006/relationships/image" Target="../media/image31.svg"/><Relationship Id="rId2" Type="http://schemas.openxmlformats.org/officeDocument/2006/relationships/notesSlide" Target="../notesSlides/notesSlide2.xml"/><Relationship Id="rId16" Type="http://schemas.openxmlformats.org/officeDocument/2006/relationships/image" Target="../media/image30.png"/><Relationship Id="rId20"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svg"/><Relationship Id="rId15" Type="http://schemas.openxmlformats.org/officeDocument/2006/relationships/image" Target="../media/image29.svg"/><Relationship Id="rId10" Type="http://schemas.openxmlformats.org/officeDocument/2006/relationships/image" Target="../media/image24.svg"/><Relationship Id="rId19" Type="http://schemas.openxmlformats.org/officeDocument/2006/relationships/image" Target="../media/image33.svg"/><Relationship Id="rId4" Type="http://schemas.openxmlformats.org/officeDocument/2006/relationships/image" Target="../media/image18.png"/><Relationship Id="rId9" Type="http://schemas.openxmlformats.org/officeDocument/2006/relationships/image" Target="../media/image23.svg"/><Relationship Id="rId14" Type="http://schemas.openxmlformats.org/officeDocument/2006/relationships/image" Target="../media/image28.png"/><Relationship Id="rId22"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38.png"/></Relationships>
</file>

<file path=ppt/slides/_rels/slide1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4.png"/><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41.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slideLayout" Target="../slideLayouts/slideLayout14.xml"/><Relationship Id="rId1" Type="http://schemas.openxmlformats.org/officeDocument/2006/relationships/tags" Target="../tags/tag6.xml"/><Relationship Id="rId4" Type="http://schemas.openxmlformats.org/officeDocument/2006/relationships/image" Target="../media/image43.png"/></Relationships>
</file>

<file path=ppt/slides/_rels/slide19.xml.rels><?xml version="1.0" encoding="UTF-8" standalone="yes"?>
<Relationships xmlns="http://schemas.openxmlformats.org/package/2006/relationships"><Relationship Id="rId3" Type="http://schemas.openxmlformats.org/officeDocument/2006/relationships/image" Target="../media/image45.svg"/><Relationship Id="rId2" Type="http://schemas.openxmlformats.org/officeDocument/2006/relationships/image" Target="../media/image44.png"/><Relationship Id="rId1" Type="http://schemas.openxmlformats.org/officeDocument/2006/relationships/slideLayout" Target="../slideLayouts/slideLayout43.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6.png"/><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8" Type="http://schemas.openxmlformats.org/officeDocument/2006/relationships/image" Target="../media/image58.jpe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6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12.png"/><Relationship Id="rId1" Type="http://schemas.openxmlformats.org/officeDocument/2006/relationships/slideLayout" Target="../slideLayouts/slideLayout18.xml"/><Relationship Id="rId4" Type="http://schemas.openxmlformats.org/officeDocument/2006/relationships/image" Target="../media/image60.png"/></Relationships>
</file>

<file path=ppt/slides/_rels/slide2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5.xml"/><Relationship Id="rId1" Type="http://schemas.openxmlformats.org/officeDocument/2006/relationships/slideLayout" Target="../slideLayouts/slideLayout28.xml"/><Relationship Id="rId4" Type="http://schemas.openxmlformats.org/officeDocument/2006/relationships/image" Target="../media/image12.png"/></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27.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7.xml"/><Relationship Id="rId1" Type="http://schemas.openxmlformats.org/officeDocument/2006/relationships/slideLayout" Target="../slideLayouts/slideLayout28.xml"/><Relationship Id="rId6" Type="http://schemas.openxmlformats.org/officeDocument/2006/relationships/image" Target="../media/image64.emf"/><Relationship Id="rId5" Type="http://schemas.openxmlformats.org/officeDocument/2006/relationships/image" Target="../media/image63.png"/><Relationship Id="rId4" Type="http://schemas.openxmlformats.org/officeDocument/2006/relationships/image" Target="../media/image12.png"/></Relationships>
</file>

<file path=ppt/slides/_rels/slide28.xml.rels><?xml version="1.0" encoding="UTF-8" standalone="yes"?>
<Relationships xmlns="http://schemas.openxmlformats.org/package/2006/relationships"><Relationship Id="rId3" Type="http://schemas.microsoft.com/office/2018/10/relationships/comments" Target="../comments/modernComment_7FE53192_3C36F9F4.xml"/><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67.svg"/><Relationship Id="rId5" Type="http://schemas.openxmlformats.org/officeDocument/2006/relationships/image" Target="../media/image66.png"/><Relationship Id="rId4" Type="http://schemas.openxmlformats.org/officeDocument/2006/relationships/image" Target="../media/image65.jpeg"/></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data.cms.gov/provider-compliance/cost-report/hospital-provider-cost-report/data"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www.physiciansadvocacyinstitute.org/Portals/0/assets/docs/PAI-Research/PAI-Avalere%20Physician%20Employment%20Trends%20Study%202019-2023%20Final.pdf?ver=uGHF46u1GSeZgYXMKFyYvw%3d%3d"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68.png"/></Relationships>
</file>

<file path=ppt/slides/_rels/slide3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jpeg"/><Relationship Id="rId1" Type="http://schemas.openxmlformats.org/officeDocument/2006/relationships/slideLayout" Target="../slideLayouts/slideLayout2.xml"/><Relationship Id="rId6" Type="http://schemas.openxmlformats.org/officeDocument/2006/relationships/image" Target="../media/image72.jpeg"/><Relationship Id="rId5" Type="http://schemas.openxmlformats.org/officeDocument/2006/relationships/image" Target="../media/image71.jpeg"/><Relationship Id="rId4" Type="http://schemas.microsoft.com/office/2007/relationships/hdphoto" Target="../media/hdphoto1.wdp"/></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73.jpeg"/><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3.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73.jpeg"/><Relationship Id="rId1" Type="http://schemas.openxmlformats.org/officeDocument/2006/relationships/slideLayout" Target="../slideLayouts/slideLayout6.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44.xml.rels><?xml version="1.0" encoding="UTF-8" standalone="yes"?>
<Relationships xmlns="http://schemas.openxmlformats.org/package/2006/relationships"><Relationship Id="rId8" Type="http://schemas.openxmlformats.org/officeDocument/2006/relationships/image" Target="../media/image80.svg"/><Relationship Id="rId3" Type="http://schemas.openxmlformats.org/officeDocument/2006/relationships/image" Target="../media/image75.png"/><Relationship Id="rId7" Type="http://schemas.openxmlformats.org/officeDocument/2006/relationships/image" Target="../media/image79.png"/><Relationship Id="rId2" Type="http://schemas.openxmlformats.org/officeDocument/2006/relationships/image" Target="../media/image74.jpeg"/><Relationship Id="rId1" Type="http://schemas.openxmlformats.org/officeDocument/2006/relationships/slideLayout" Target="../slideLayouts/slideLayout6.xml"/><Relationship Id="rId6" Type="http://schemas.openxmlformats.org/officeDocument/2006/relationships/image" Target="../media/image78.svg"/><Relationship Id="rId11" Type="http://schemas.openxmlformats.org/officeDocument/2006/relationships/image" Target="../media/image10.png"/><Relationship Id="rId5" Type="http://schemas.openxmlformats.org/officeDocument/2006/relationships/image" Target="../media/image77.png"/><Relationship Id="rId10" Type="http://schemas.openxmlformats.org/officeDocument/2006/relationships/image" Target="../media/image82.svg"/><Relationship Id="rId4" Type="http://schemas.openxmlformats.org/officeDocument/2006/relationships/image" Target="../media/image76.svg"/><Relationship Id="rId9" Type="http://schemas.openxmlformats.org/officeDocument/2006/relationships/image" Target="../media/image8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627"/>
        </a:solidFill>
        <a:effectLst/>
      </p:bgPr>
    </p:bg>
    <p:spTree>
      <p:nvGrpSpPr>
        <p:cNvPr id="1" name=""/>
        <p:cNvGrpSpPr/>
        <p:nvPr/>
      </p:nvGrpSpPr>
      <p:grpSpPr>
        <a:xfrm>
          <a:off x="0" y="0"/>
          <a:ext cx="0" cy="0"/>
          <a:chOff x="0" y="0"/>
          <a:chExt cx="0" cy="0"/>
        </a:xfrm>
      </p:grpSpPr>
      <p:pic>
        <p:nvPicPr>
          <p:cNvPr id="2" name="Object 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14271" cy="6856286"/>
          </a:xfrm>
          <a:prstGeom prst="rect">
            <a:avLst/>
          </a:prstGeom>
        </p:spPr>
      </p:pic>
      <p:sp>
        <p:nvSpPr>
          <p:cNvPr id="3" name="Object 2"/>
          <p:cNvSpPr/>
          <p:nvPr/>
        </p:nvSpPr>
        <p:spPr>
          <a:xfrm>
            <a:off x="2180680" y="1196279"/>
            <a:ext cx="5761184" cy="248332"/>
          </a:xfrm>
          <a:prstGeom prst="rect">
            <a:avLst/>
          </a:prstGeom>
          <a:noFill/>
        </p:spPr>
        <p:txBody>
          <a:bodyPr wrap="square" lIns="0" tIns="0" rIns="0" bIns="0" rtlCol="0" anchor="t"/>
          <a:lstStyle/>
          <a:p>
            <a:pPr marL="0" marR="0" lvl="0" indent="0" algn="r" defTabSz="914400" rtl="0" eaLnBrk="1" fontAlgn="auto" latinLnBrk="0" hangingPunct="1">
              <a:lnSpc>
                <a:spcPts val="1956"/>
              </a:lnSpc>
              <a:spcBef>
                <a:spcPts val="0"/>
              </a:spcBef>
              <a:spcAft>
                <a:spcPts val="0"/>
              </a:spcAft>
              <a:buClrTx/>
              <a:buSzTx/>
              <a:buFontTx/>
              <a:buNone/>
              <a:tabLst/>
              <a:defRPr/>
            </a:pPr>
            <a:r>
              <a:rPr kumimoji="0" lang="en-US" sz="1552" b="0" i="0" u="none" strike="noStrike" kern="0" cap="none" spc="47" normalizeH="0" baseline="0" noProof="0">
                <a:ln>
                  <a:noFill/>
                </a:ln>
                <a:solidFill>
                  <a:srgbClr val="FFFFFF">
                    <a:alpha val="80000"/>
                  </a:srgbClr>
                </a:solidFill>
                <a:effectLst/>
                <a:uLnTx/>
                <a:uFillTx/>
                <a:latin typeface="Montserrat" panose="00000500000000000000" pitchFamily="2" charset="0"/>
                <a:ea typeface="Jost*" pitchFamily="34" charset="-122"/>
                <a:cs typeface="Jost*" pitchFamily="34" charset="-120"/>
              </a:rPr>
              <a:t>OPPORTUNITY REVIEW</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3"/>
          <p:cNvSpPr/>
          <p:nvPr/>
        </p:nvSpPr>
        <p:spPr>
          <a:xfrm>
            <a:off x="1178743" y="1685802"/>
            <a:ext cx="6953573" cy="1151790"/>
          </a:xfrm>
          <a:prstGeom prst="rect">
            <a:avLst/>
          </a:prstGeom>
          <a:noFill/>
        </p:spPr>
        <p:txBody>
          <a:bodyPr wrap="square" lIns="0" tIns="0" rIns="0" bIns="0" rtlCol="0" anchor="t"/>
          <a:lstStyle/>
          <a:p>
            <a:pPr marL="0" marR="0" lvl="0" indent="0" algn="r" defTabSz="914400" rtl="0" eaLnBrk="1" fontAlgn="auto" latinLnBrk="0" hangingPunct="1">
              <a:lnSpc>
                <a:spcPts val="9072"/>
              </a:lnSpc>
              <a:spcBef>
                <a:spcPts val="975"/>
              </a:spcBef>
              <a:spcAft>
                <a:spcPts val="0"/>
              </a:spcAft>
              <a:buClrTx/>
              <a:buSzTx/>
              <a:buFontTx/>
              <a:buNone/>
              <a:tabLst/>
              <a:defRPr/>
            </a:pPr>
            <a:r>
              <a:rPr kumimoji="0" lang="en-US" sz="6600" b="0" i="0" u="none" strike="noStrike" kern="0" cap="none" spc="243" normalizeH="0" baseline="0" noProof="0" dirty="0">
                <a:ln>
                  <a:noFill/>
                </a:ln>
                <a:solidFill>
                  <a:srgbClr val="FFFFFF"/>
                </a:solidFill>
                <a:effectLst/>
                <a:uLnTx/>
                <a:uFillTx/>
                <a:latin typeface="Montserrat"/>
                <a:ea typeface="Jost*"/>
                <a:cs typeface="Jost*" pitchFamily="34" charset="-120"/>
              </a:rPr>
              <a:t>DIRECT-TO-EMPLOYER GTM STRATEGY</a:t>
            </a:r>
            <a:endParaRPr kumimoji="0" lang="en-US" sz="1200" b="0" i="0" u="none" strike="noStrike" kern="1200" cap="none" spc="0" normalizeH="0" baseline="0" noProof="0" dirty="0">
              <a:ln>
                <a:noFill/>
              </a:ln>
              <a:solidFill>
                <a:prstClr val="black"/>
              </a:solidFill>
              <a:effectLst/>
              <a:uLnTx/>
              <a:uFillTx/>
              <a:latin typeface="Montserrat"/>
              <a:ea typeface="Jost*"/>
              <a:cs typeface="+mn-cs"/>
            </a:endParaRPr>
          </a:p>
        </p:txBody>
      </p:sp>
      <p:sp>
        <p:nvSpPr>
          <p:cNvPr id="5" name="Object 6"/>
          <p:cNvSpPr/>
          <p:nvPr/>
        </p:nvSpPr>
        <p:spPr>
          <a:xfrm>
            <a:off x="218209" y="5372101"/>
            <a:ext cx="7723655" cy="311118"/>
          </a:xfrm>
          <a:prstGeom prst="rect">
            <a:avLst/>
          </a:prstGeom>
          <a:noFill/>
        </p:spPr>
        <p:txBody>
          <a:bodyPr wrap="square" lIns="0" tIns="0" rIns="0" bIns="0" rtlCol="0" anchor="t"/>
          <a:lstStyle/>
          <a:p>
            <a:pPr marL="0" marR="0" lvl="0" indent="0" algn="r" defTabSz="914400" rtl="0" eaLnBrk="1" fontAlgn="auto" latinLnBrk="0" hangingPunct="1">
              <a:lnSpc>
                <a:spcPts val="2370"/>
              </a:lnSpc>
              <a:spcBef>
                <a:spcPts val="599"/>
              </a:spcBef>
              <a:spcAft>
                <a:spcPts val="0"/>
              </a:spcAft>
              <a:buClrTx/>
              <a:buSzTx/>
              <a:buFontTx/>
              <a:buNone/>
              <a:tabLst/>
              <a:defRPr/>
            </a:pPr>
            <a:r>
              <a:rPr kumimoji="0" lang="en-US" sz="1750" b="0" i="0" u="none" strike="noStrike" kern="0" cap="none" spc="53" normalizeH="0" baseline="0" noProof="0" dirty="0">
                <a:ln>
                  <a:noFill/>
                </a:ln>
                <a:solidFill>
                  <a:srgbClr val="FFFFFF">
                    <a:alpha val="80000"/>
                  </a:srgbClr>
                </a:solidFill>
                <a:effectLst/>
                <a:uLnTx/>
                <a:uFillTx/>
                <a:latin typeface="Montserrat"/>
                <a:ea typeface="Jost*"/>
                <a:cs typeface="Jost*" pitchFamily="34" charset="-120"/>
              </a:rPr>
              <a:t>Exploring a Bon Secours Mercy Health DTE Health Plan</a:t>
            </a:r>
            <a:endParaRPr kumimoji="0" lang="en-US" sz="175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6" name="Object 7"/>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8322769" y="0"/>
            <a:ext cx="3866183" cy="6856286"/>
          </a:xfrm>
          <a:prstGeom prst="rect">
            <a:avLst/>
          </a:prstGeom>
        </p:spPr>
      </p:pic>
      <p:sp>
        <p:nvSpPr>
          <p:cNvPr id="7" name="Object 8"/>
          <p:cNvSpPr/>
          <p:nvPr/>
        </p:nvSpPr>
        <p:spPr>
          <a:xfrm>
            <a:off x="495176" y="285679"/>
            <a:ext cx="2005028" cy="476131"/>
          </a:xfrm>
          <a:prstGeom prst="rect">
            <a:avLst/>
          </a:pr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8" name="Object 9"/>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647538" y="380905"/>
            <a:ext cx="1700304" cy="285679"/>
          </a:xfrm>
          <a:prstGeom prst="rect">
            <a:avLst/>
          </a:prstGeom>
        </p:spPr>
      </p:pic>
      <p:pic>
        <p:nvPicPr>
          <p:cNvPr id="9" name="Content Placeholder 8"/>
          <p:cNvPicPr>
            <a:picLocks noGrp="1"/>
          </p:cNvPicPr>
          <p:nvPr>
            <p:ph/>
          </p:nvPr>
        </p:nvPicPr>
        <p:blipFill>
          <a:blip r:embed="rId7" cstate="print"/>
          <a:stretch>
            <a:fillRect/>
          </a:stretch>
        </p:blipFill>
        <p:spPr>
          <a:xfrm>
            <a:off x="8321040" y="0"/>
            <a:ext cx="3867912"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9" descr="A large white monument in a city&#10;&#10;Description automatically generated">
            <a:extLst>
              <a:ext uri="{FF2B5EF4-FFF2-40B4-BE49-F238E27FC236}">
                <a16:creationId xmlns:a16="http://schemas.microsoft.com/office/drawing/2014/main" id="{BE8CB555-2013-D606-CB39-161E7EAEF5C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 y="1"/>
            <a:ext cx="12192000" cy="6858000"/>
          </a:xfrm>
          <a:prstGeom prst="rect">
            <a:avLst/>
          </a:prstGeom>
        </p:spPr>
      </p:pic>
      <p:sp>
        <p:nvSpPr>
          <p:cNvPr id="3"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4" name="Rectangle: Single Corner Rounded 4">
            <a:extLst>
              <a:ext uri="{FF2B5EF4-FFF2-40B4-BE49-F238E27FC236}">
                <a16:creationId xmlns:a16="http://schemas.microsoft.com/office/drawing/2014/main" id="{90B02A10-01E7-2494-66B5-078DDFE69A60}"/>
              </a:ext>
            </a:extLst>
          </p:cNvPr>
          <p:cNvSpPr/>
          <p:nvPr/>
        </p:nvSpPr>
        <p:spPr>
          <a:xfrm>
            <a:off x="-8238" y="1163706"/>
            <a:ext cx="5843847" cy="5702531"/>
          </a:xfrm>
          <a:prstGeom prst="round1Rect">
            <a:avLst>
              <a:gd name="adj" fmla="val 12082"/>
            </a:avLst>
          </a:prstGeom>
          <a:solidFill>
            <a:srgbClr val="00539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marR="0" lvl="1" indent="0" algn="l" defTabSz="914411" rtl="0" eaLnBrk="1" fontAlgn="base"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extBox 6">
            <a:extLst>
              <a:ext uri="{FF2B5EF4-FFF2-40B4-BE49-F238E27FC236}">
                <a16:creationId xmlns:a16="http://schemas.microsoft.com/office/drawing/2014/main" id="{C3359629-7405-5BED-0491-4C3A6C6FF755}"/>
              </a:ext>
            </a:extLst>
          </p:cNvPr>
          <p:cNvSpPr txBox="1"/>
          <p:nvPr/>
        </p:nvSpPr>
        <p:spPr>
          <a:xfrm>
            <a:off x="81069" y="2184943"/>
            <a:ext cx="5681708" cy="4016484"/>
          </a:xfrm>
          <a:prstGeom prst="rect">
            <a:avLst/>
          </a:prstGeom>
          <a:noFill/>
        </p:spPr>
        <p:txBody>
          <a:bodyPr wrap="square" lIns="91440" tIns="45720" rIns="91440" bIns="45720" rtlCol="0" anchor="t">
            <a:spAutoFit/>
          </a:bodyPr>
          <a:lstStyle/>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Founded in 1979, headquartered in Indianapolis</a:t>
            </a:r>
            <a:endParaRPr kumimoji="0" lang="en-US" sz="1800" b="0" i="0" u="none" strike="noStrike" kern="1200" cap="none" spc="0" normalizeH="0" baseline="0" noProof="0" dirty="0">
              <a:ln>
                <a:noFill/>
              </a:ln>
              <a:solidFill>
                <a:prstClr val="white"/>
              </a:solidFill>
              <a:effectLst/>
              <a:uLnTx/>
              <a:uFillTx/>
              <a:latin typeface="Montserrat"/>
              <a:ea typeface="+mn-ea"/>
              <a:cs typeface="Arial"/>
            </a:endParaRP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Largest Independently-Owned Full-Service Third-Party Administrator</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Specialize in Administration of Self-Funded Plans and Population Health Management​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Leader in the Direct-to-Employer Movement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We Know and Understand the Market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Experience Working with All Professional Teams: Agents, Networks, MGAs</a:t>
            </a:r>
          </a:p>
          <a:p>
            <a:pPr marL="285750" marR="0" lvl="0" indent="-285750" algn="l" defTabSz="914411" rtl="0" eaLnBrk="1" fontAlgn="base"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The Key Family of Companies is a Vertically Integrated group of benefit related organizations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3,000+ Corporate Clients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 Million Members under Management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700 Employees</a:t>
            </a:r>
          </a:p>
        </p:txBody>
      </p:sp>
      <p:pic>
        <p:nvPicPr>
          <p:cNvPr id="6" name="Picture 4">
            <a:extLst>
              <a:ext uri="{FF2B5EF4-FFF2-40B4-BE49-F238E27FC236}">
                <a16:creationId xmlns:a16="http://schemas.microsoft.com/office/drawing/2014/main" id="{E7533ABB-0CFF-7B45-D905-4C9D58558C6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270497" y="1415781"/>
            <a:ext cx="3302852" cy="6416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091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5">
            <a:extLst>
              <a:ext uri="{FF2B5EF4-FFF2-40B4-BE49-F238E27FC236}">
                <a16:creationId xmlns:a16="http://schemas.microsoft.com/office/drawing/2014/main" id="{E4D4BA5E-072E-BFC4-86A7-A8EC0FA16D37}"/>
              </a:ext>
            </a:extLst>
          </p:cNvPr>
          <p:cNvPicPr>
            <a:picLocks noChangeAspect="1"/>
          </p:cNvPicPr>
          <p:nvPr/>
        </p:nvPicPr>
        <p:blipFill>
          <a:blip r:embed="rId2"/>
          <a:stretch>
            <a:fillRect/>
          </a:stretch>
        </p:blipFill>
        <p:spPr>
          <a:xfrm>
            <a:off x="154871" y="759389"/>
            <a:ext cx="8455729" cy="5111065"/>
          </a:xfrm>
          <a:prstGeom prst="rect">
            <a:avLst/>
          </a:prstGeom>
          <a:ln>
            <a:noFill/>
          </a:ln>
          <a:effectLst>
            <a:outerShdw blurRad="292100" dist="139700" dir="2700000" sx="1000" sy="1000" algn="tl" rotWithShape="0">
              <a:srgbClr val="333333">
                <a:alpha val="65000"/>
              </a:srgbClr>
            </a:outerShdw>
          </a:effectLst>
        </p:spPr>
      </p:pic>
      <p:sp>
        <p:nvSpPr>
          <p:cNvPr id="3" name="Rectangle 5">
            <a:extLst>
              <a:ext uri="{FF2B5EF4-FFF2-40B4-BE49-F238E27FC236}">
                <a16:creationId xmlns:a16="http://schemas.microsoft.com/office/drawing/2014/main" id="{F34C8217-D749-4511-B7B5-02F77484B378}"/>
              </a:ext>
            </a:extLst>
          </p:cNvPr>
          <p:cNvSpPr/>
          <p:nvPr/>
        </p:nvSpPr>
        <p:spPr>
          <a:xfrm>
            <a:off x="8816521" y="0"/>
            <a:ext cx="3375480" cy="6872068"/>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sp>
        <p:nvSpPr>
          <p:cNvPr id="5" name="Rectangle: Rounded Corners 7">
            <a:extLst>
              <a:ext uri="{FF2B5EF4-FFF2-40B4-BE49-F238E27FC236}">
                <a16:creationId xmlns:a16="http://schemas.microsoft.com/office/drawing/2014/main" id="{880AE72B-2936-B7FD-B16B-B7DDE61C48BF}"/>
              </a:ext>
            </a:extLst>
          </p:cNvPr>
          <p:cNvSpPr/>
          <p:nvPr/>
        </p:nvSpPr>
        <p:spPr>
          <a:xfrm>
            <a:off x="2592372" y="3693371"/>
            <a:ext cx="2053120"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Bentonville, AR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Northwest Health Plan</a:t>
            </a:r>
          </a:p>
        </p:txBody>
      </p:sp>
      <p:sp>
        <p:nvSpPr>
          <p:cNvPr id="6" name="Rectangle: Rounded Corners 9">
            <a:extLst>
              <a:ext uri="{FF2B5EF4-FFF2-40B4-BE49-F238E27FC236}">
                <a16:creationId xmlns:a16="http://schemas.microsoft.com/office/drawing/2014/main" id="{83BAAF75-9BFE-8A09-84C8-29127AD11CC8}"/>
              </a:ext>
            </a:extLst>
          </p:cNvPr>
          <p:cNvSpPr/>
          <p:nvPr/>
        </p:nvSpPr>
        <p:spPr>
          <a:xfrm>
            <a:off x="3384431" y="4574952"/>
            <a:ext cx="1781467"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Meridian, MS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Affinity Health Plan</a:t>
            </a:r>
          </a:p>
        </p:txBody>
      </p:sp>
      <p:sp>
        <p:nvSpPr>
          <p:cNvPr id="7" name="Rectangle: Rounded Corners 10">
            <a:extLst>
              <a:ext uri="{FF2B5EF4-FFF2-40B4-BE49-F238E27FC236}">
                <a16:creationId xmlns:a16="http://schemas.microsoft.com/office/drawing/2014/main" id="{F7F76DEC-1B86-5F34-4522-EE137E2BEDC5}"/>
              </a:ext>
            </a:extLst>
          </p:cNvPr>
          <p:cNvSpPr/>
          <p:nvPr/>
        </p:nvSpPr>
        <p:spPr>
          <a:xfrm>
            <a:off x="4645491" y="5362115"/>
            <a:ext cx="2132682"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Fort Myers, FL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Lee Health Care Partners</a:t>
            </a:r>
          </a:p>
        </p:txBody>
      </p:sp>
      <p:sp>
        <p:nvSpPr>
          <p:cNvPr id="8" name="Rectangle: Rounded Corners 11">
            <a:extLst>
              <a:ext uri="{FF2B5EF4-FFF2-40B4-BE49-F238E27FC236}">
                <a16:creationId xmlns:a16="http://schemas.microsoft.com/office/drawing/2014/main" id="{B522D9FB-03E8-0475-A3A5-AF33059EA7E6}"/>
              </a:ext>
            </a:extLst>
          </p:cNvPr>
          <p:cNvSpPr/>
          <p:nvPr/>
        </p:nvSpPr>
        <p:spPr>
          <a:xfrm>
            <a:off x="5957116" y="4048009"/>
            <a:ext cx="2272613"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Knoxville, TN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East Tennessee Health Plan</a:t>
            </a:r>
          </a:p>
        </p:txBody>
      </p:sp>
      <p:sp>
        <p:nvSpPr>
          <p:cNvPr id="9" name="Rectangle: Rounded Corners 12">
            <a:extLst>
              <a:ext uri="{FF2B5EF4-FFF2-40B4-BE49-F238E27FC236}">
                <a16:creationId xmlns:a16="http://schemas.microsoft.com/office/drawing/2014/main" id="{F3AB3343-FA0C-E9FA-637F-E45BB11DFFC1}"/>
              </a:ext>
            </a:extLst>
          </p:cNvPr>
          <p:cNvSpPr/>
          <p:nvPr/>
        </p:nvSpPr>
        <p:spPr>
          <a:xfrm>
            <a:off x="6678138" y="3093352"/>
            <a:ext cx="1751526"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Cincinnati, OH</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TCH Optimal</a:t>
            </a:r>
          </a:p>
        </p:txBody>
      </p:sp>
      <p:sp>
        <p:nvSpPr>
          <p:cNvPr id="10" name="Rectangle: Rounded Corners 13">
            <a:extLst>
              <a:ext uri="{FF2B5EF4-FFF2-40B4-BE49-F238E27FC236}">
                <a16:creationId xmlns:a16="http://schemas.microsoft.com/office/drawing/2014/main" id="{A5F1AA97-617E-DEDA-E780-8518ACB143FB}"/>
              </a:ext>
            </a:extLst>
          </p:cNvPr>
          <p:cNvSpPr/>
          <p:nvPr/>
        </p:nvSpPr>
        <p:spPr>
          <a:xfrm>
            <a:off x="4102202" y="2976014"/>
            <a:ext cx="1854914"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Louisville, KY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prstClr val="white"/>
                </a:solidFill>
                <a:effectLst/>
                <a:uLnTx/>
                <a:uFillTx/>
                <a:latin typeface="Montserrat" panose="00000500000000000000" pitchFamily="2" charset="0"/>
                <a:ea typeface="+mn-ea"/>
                <a:cs typeface="Arial" panose="020B0604020202020204" pitchFamily="34" charset="0"/>
              </a:rPr>
              <a:t>OneHealth</a:t>
            </a: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 Plan</a:t>
            </a:r>
          </a:p>
        </p:txBody>
      </p:sp>
      <p:pic>
        <p:nvPicPr>
          <p:cNvPr id="11" name="Picture 13">
            <a:extLst>
              <a:ext uri="{FF2B5EF4-FFF2-40B4-BE49-F238E27FC236}">
                <a16:creationId xmlns:a16="http://schemas.microsoft.com/office/drawing/2014/main" id="{1FBDB55F-E2EE-D357-32A6-FEC23D86FA8B}"/>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2" name="Title 4">
            <a:extLst>
              <a:ext uri="{FF2B5EF4-FFF2-40B4-BE49-F238E27FC236}">
                <a16:creationId xmlns:a16="http://schemas.microsoft.com/office/drawing/2014/main" id="{7C6371C7-344C-3C21-F253-96E09F12864E}"/>
              </a:ext>
            </a:extLst>
          </p:cNvPr>
          <p:cNvSpPr txBox="1">
            <a:spLocks/>
          </p:cNvSpPr>
          <p:nvPr/>
        </p:nvSpPr>
        <p:spPr>
          <a:xfrm>
            <a:off x="8881352" y="1661020"/>
            <a:ext cx="3245817" cy="330780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i="0" kern="1200">
                <a:solidFill>
                  <a:schemeClr val="tx2"/>
                </a:solidFill>
                <a:latin typeface="Book Antiqua" panose="02040602050305030304" pitchFamily="18"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MARKET LEADER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IN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PRIVATE LABELED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DTE PLANS</a:t>
            </a:r>
          </a:p>
        </p:txBody>
      </p:sp>
    </p:spTree>
    <p:extLst>
      <p:ext uri="{BB962C8B-B14F-4D97-AF65-F5344CB8AC3E}">
        <p14:creationId xmlns:p14="http://schemas.microsoft.com/office/powerpoint/2010/main" val="263972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143908" y="818337"/>
            <a:ext cx="3397612" cy="3043929"/>
          </a:xfrm>
        </p:spPr>
        <p:txBody>
          <a:bodyPr>
            <a:noAutofit/>
          </a:bodyPr>
          <a:lstStyle/>
          <a:p>
            <a:pPr>
              <a:lnSpc>
                <a:spcPct val="100000"/>
              </a:lnSpc>
              <a:spcBef>
                <a:spcPts val="1800"/>
              </a:spcBef>
              <a:spcAft>
                <a:spcPts val="600"/>
              </a:spcAft>
            </a:pPr>
            <a:r>
              <a:rPr lang="en-US" sz="4000" dirty="0">
                <a:solidFill>
                  <a:srgbClr val="000B2E"/>
                </a:solidFill>
                <a:cs typeface="Arial" panose="020B0604020202020204" pitchFamily="34" charset="0"/>
              </a:rPr>
              <a:t>DIRECT-TO-EMPLOYER</a:t>
            </a:r>
            <a:br>
              <a:rPr lang="en-US" sz="4000" b="1" dirty="0">
                <a:solidFill>
                  <a:srgbClr val="000B2E"/>
                </a:solidFill>
                <a:cs typeface="Arial" panose="020B0604020202020204" pitchFamily="34" charset="0"/>
              </a:rPr>
            </a:br>
            <a:r>
              <a:rPr lang="en-US" sz="2800" dirty="0">
                <a:solidFill>
                  <a:srgbClr val="000B2E"/>
                </a:solidFill>
                <a:cs typeface="Arial" panose="020B0604020202020204" pitchFamily="34" charset="0"/>
              </a:rPr>
              <a:t>(DTE)</a:t>
            </a:r>
            <a:br>
              <a:rPr lang="en-US" sz="1600" dirty="0">
                <a:solidFill>
                  <a:srgbClr val="000B2E"/>
                </a:solidFill>
                <a:cs typeface="Arial" panose="020B0604020202020204" pitchFamily="34" charset="0"/>
              </a:rPr>
            </a:br>
            <a:br>
              <a:rPr lang="en-US" sz="1600" b="1" dirty="0">
                <a:solidFill>
                  <a:srgbClr val="000B2E"/>
                </a:solidFill>
                <a:cs typeface="Arial" panose="020B0604020202020204" pitchFamily="34" charset="0"/>
              </a:rPr>
            </a:br>
            <a:endParaRPr lang="en-US" sz="1600" dirty="0">
              <a:solidFill>
                <a:schemeClr val="tx1">
                  <a:lumMod val="75000"/>
                  <a:lumOff val="25000"/>
                </a:schemeClr>
              </a:solidFill>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461078" y="1468132"/>
            <a:ext cx="6697847" cy="4660901"/>
          </a:xfrm>
        </p:spPr>
        <p:txBody>
          <a:bodyPr>
            <a:normAutofit fontScale="92500"/>
          </a:bodyPr>
          <a:lstStyle/>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Pick the Name of the Health Plan</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Determine the Fees Charged</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Practice the Medicine </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Receive the Profits  </a:t>
            </a:r>
          </a:p>
          <a:p>
            <a:pPr marL="0" indent="0">
              <a:lnSpc>
                <a:spcPct val="150000"/>
              </a:lnSpc>
              <a:spcAft>
                <a:spcPts val="1200"/>
              </a:spcAft>
              <a:buNone/>
            </a:pPr>
            <a:r>
              <a:rPr lang="en-US" sz="3000" b="1" dirty="0">
                <a:solidFill>
                  <a:srgbClr val="59CAE8"/>
                </a:solidFill>
                <a:latin typeface="Montserrat" panose="00000500000000000000" pitchFamily="2" charset="0"/>
              </a:rPr>
              <a:t>WE</a:t>
            </a:r>
            <a:r>
              <a:rPr lang="en-US" dirty="0">
                <a:solidFill>
                  <a:srgbClr val="9900CC"/>
                </a:solidFill>
              </a:rPr>
              <a:t> </a:t>
            </a:r>
            <a:r>
              <a:rPr lang="en-US" dirty="0">
                <a:solidFill>
                  <a:schemeClr val="tx1">
                    <a:lumMod val="75000"/>
                    <a:lumOff val="25000"/>
                  </a:schemeClr>
                </a:solidFill>
              </a:rPr>
              <a:t>Make it Successful</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4</a:t>
            </a:fld>
            <a:endParaRPr lang="en-US" dirty="0"/>
          </a:p>
        </p:txBody>
      </p:sp>
      <p:sp>
        <p:nvSpPr>
          <p:cNvPr id="6"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grpSp>
        <p:nvGrpSpPr>
          <p:cNvPr id="7" name="Group 41">
            <a:extLst>
              <a:ext uri="{FF2B5EF4-FFF2-40B4-BE49-F238E27FC236}">
                <a16:creationId xmlns:a16="http://schemas.microsoft.com/office/drawing/2014/main" id="{C3A11C0D-6225-4F5F-9034-762253C251A2}"/>
              </a:ext>
            </a:extLst>
          </p:cNvPr>
          <p:cNvGrpSpPr/>
          <p:nvPr/>
        </p:nvGrpSpPr>
        <p:grpSpPr>
          <a:xfrm>
            <a:off x="4632939" y="1468132"/>
            <a:ext cx="640080" cy="4254692"/>
            <a:chOff x="5315974" y="943768"/>
            <a:chExt cx="640080" cy="4254692"/>
          </a:xfrm>
          <a:noFill/>
        </p:grpSpPr>
        <p:pic>
          <p:nvPicPr>
            <p:cNvPr id="8" name="Picture 10" descr="Blue check mark - Transparent PNG &amp; SVG vector file">
              <a:extLst>
                <a:ext uri="{FF2B5EF4-FFF2-40B4-BE49-F238E27FC236}">
                  <a16:creationId xmlns:a16="http://schemas.microsoft.com/office/drawing/2014/main" id="{D8A1C779-0B9F-4A67-8037-7D25A11FFA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4558380"/>
              <a:ext cx="640080" cy="640080"/>
            </a:xfrm>
            <a:prstGeom prst="rect">
              <a:avLst/>
            </a:prstGeom>
            <a:grpFill/>
          </p:spPr>
        </p:pic>
        <p:pic>
          <p:nvPicPr>
            <p:cNvPr id="9" name="Picture 10" descr="Blue check mark - Transparent PNG &amp; SVG vector file">
              <a:extLst>
                <a:ext uri="{FF2B5EF4-FFF2-40B4-BE49-F238E27FC236}">
                  <a16:creationId xmlns:a16="http://schemas.microsoft.com/office/drawing/2014/main" id="{78B72E30-7B45-40B1-9302-CE9A3F3AD97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3678222"/>
              <a:ext cx="640080" cy="640080"/>
            </a:xfrm>
            <a:prstGeom prst="rect">
              <a:avLst/>
            </a:prstGeom>
            <a:grpFill/>
          </p:spPr>
        </p:pic>
        <p:pic>
          <p:nvPicPr>
            <p:cNvPr id="10" name="Picture 10" descr="Blue check mark - Transparent PNG &amp; SVG vector file">
              <a:extLst>
                <a:ext uri="{FF2B5EF4-FFF2-40B4-BE49-F238E27FC236}">
                  <a16:creationId xmlns:a16="http://schemas.microsoft.com/office/drawing/2014/main" id="{9D9240A2-869D-4166-9772-32124160B4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2798065"/>
              <a:ext cx="640080" cy="640080"/>
            </a:xfrm>
            <a:prstGeom prst="rect">
              <a:avLst/>
            </a:prstGeom>
            <a:grpFill/>
          </p:spPr>
        </p:pic>
        <p:pic>
          <p:nvPicPr>
            <p:cNvPr id="11" name="Picture 10" descr="Blue check mark - Transparent PNG &amp; SVG vector file">
              <a:extLst>
                <a:ext uri="{FF2B5EF4-FFF2-40B4-BE49-F238E27FC236}">
                  <a16:creationId xmlns:a16="http://schemas.microsoft.com/office/drawing/2014/main" id="{E8C8DD14-AAF4-4762-B170-F052A3B2288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1870916"/>
              <a:ext cx="640080" cy="640080"/>
            </a:xfrm>
            <a:prstGeom prst="rect">
              <a:avLst/>
            </a:prstGeom>
            <a:grpFill/>
          </p:spPr>
        </p:pic>
        <p:pic>
          <p:nvPicPr>
            <p:cNvPr id="12" name="Picture 10" descr="Blue check mark - Transparent PNG &amp; SVG vector file">
              <a:extLst>
                <a:ext uri="{FF2B5EF4-FFF2-40B4-BE49-F238E27FC236}">
                  <a16:creationId xmlns:a16="http://schemas.microsoft.com/office/drawing/2014/main" id="{C05F6E83-E756-4853-B3A8-49C6BE03258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943768"/>
              <a:ext cx="640080" cy="640080"/>
            </a:xfrm>
            <a:prstGeom prst="rect">
              <a:avLst/>
            </a:prstGeom>
            <a:grpFill/>
          </p:spPr>
        </p:pic>
      </p:grpSp>
      <p:sp>
        <p:nvSpPr>
          <p:cNvPr id="13" name="TextBox 14">
            <a:extLst>
              <a:ext uri="{FF2B5EF4-FFF2-40B4-BE49-F238E27FC236}">
                <a16:creationId xmlns:a16="http://schemas.microsoft.com/office/drawing/2014/main" id="{B8E36735-A0E0-6123-117C-3DE9AA3B9518}"/>
              </a:ext>
            </a:extLst>
          </p:cNvPr>
          <p:cNvSpPr txBox="1"/>
          <p:nvPr/>
        </p:nvSpPr>
        <p:spPr>
          <a:xfrm>
            <a:off x="1148436" y="3085346"/>
            <a:ext cx="2478684" cy="1477328"/>
          </a:xfrm>
          <a:prstGeom prst="rect">
            <a:avLst/>
          </a:prstGeom>
          <a:noFill/>
        </p:spPr>
        <p:txBody>
          <a:bodyPr wrap="square">
            <a:spAutoFit/>
          </a:bodyPr>
          <a:lstStyle/>
          <a:p>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Health Plan Focused on a Direct Relationship with Self-Funded Employers in </a:t>
            </a:r>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Market</a:t>
            </a:r>
            <a:endParaRPr lang="en-US" dirty="0"/>
          </a:p>
        </p:txBody>
      </p:sp>
      <p:pic>
        <p:nvPicPr>
          <p:cNvPr id="14" name="Content Placeholder 13"/>
          <p:cNvPicPr>
            <a:picLocks noGrp="1"/>
          </p:cNvPicPr>
          <p:nvPr>
            <p:ph/>
          </p:nvPr>
        </p:nvPicPr>
        <p:blipFill>
          <a:blip r:embed="rId3" cstate="print"/>
          <a:stretch>
            <a:fillRect/>
          </a:stretch>
        </p:blipFill>
        <p:spPr>
          <a:xfrm>
            <a:off x="7650482" y="519861"/>
            <a:ext cx="3829526" cy="777240"/>
          </a:xfrm>
          <a:prstGeom prst="rect">
            <a:avLst/>
          </a:prstGeom>
        </p:spPr>
      </p:pic>
    </p:spTree>
    <p:extLst>
      <p:ext uri="{BB962C8B-B14F-4D97-AF65-F5344CB8AC3E}">
        <p14:creationId xmlns:p14="http://schemas.microsoft.com/office/powerpoint/2010/main" val="33067487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ESA - Do business with ESA">
            <a:extLst>
              <a:ext uri="{FF2B5EF4-FFF2-40B4-BE49-F238E27FC236}">
                <a16:creationId xmlns:a16="http://schemas.microsoft.com/office/drawing/2014/main" id="{D7347B8B-C5AE-4C49-8B43-951D5F7A55F1}"/>
              </a:ext>
            </a:extLst>
          </p:cNvPr>
          <p:cNvPicPr>
            <a:picLocks noChangeAspect="1" noChangeArrowheads="1"/>
          </p:cNvPicPr>
          <p:nvPr/>
        </p:nvPicPr>
        <p:blipFill rotWithShape="1">
          <a:blip r:embed="rId2" cstate="screen">
            <a:alphaModFix amt="35000"/>
            <a:duotone>
              <a:schemeClr val="bg2">
                <a:shade val="45000"/>
                <a:satMod val="135000"/>
              </a:schemeClr>
              <a:prstClr val="white"/>
            </a:duotone>
            <a:extLst>
              <a:ext uri="{28A0092B-C50C-407E-A947-70E740481C1C}">
                <a14:useLocalDpi xmlns:a14="http://schemas.microsoft.com/office/drawing/2010/main"/>
              </a:ext>
            </a:extLst>
          </a:blip>
          <a:srcRect/>
          <a:stretch/>
        </p:blipFill>
        <p:spPr bwMode="auto">
          <a:xfrm>
            <a:off x="2078" y="16890"/>
            <a:ext cx="12197593" cy="6855179"/>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7B4D036B-CF91-40EF-88B5-63D0260D0147}"/>
              </a:ext>
            </a:extLst>
          </p:cNvPr>
          <p:cNvSpPr>
            <a:spLocks noGrp="1"/>
          </p:cNvSpPr>
          <p:nvPr>
            <p:ph type="title"/>
          </p:nvPr>
        </p:nvSpPr>
        <p:spPr>
          <a:xfrm>
            <a:off x="343013" y="277193"/>
            <a:ext cx="11515725" cy="1325563"/>
          </a:xfrm>
        </p:spPr>
        <p:txBody>
          <a:bodyPr>
            <a:normAutofit/>
          </a:bodyPr>
          <a:lstStyle/>
          <a:p>
            <a:r>
              <a:rPr lang="en-US" sz="3200" b="0" dirty="0">
                <a:solidFill>
                  <a:schemeClr val="tx1">
                    <a:lumMod val="75000"/>
                    <a:lumOff val="25000"/>
                  </a:schemeClr>
                </a:solidFill>
              </a:rPr>
              <a:t>DTE KEYS TO SUCCESS FOR BSMH</a:t>
            </a:r>
          </a:p>
        </p:txBody>
      </p:sp>
      <p:sp>
        <p:nvSpPr>
          <p:cNvPr id="4" name="Rectangle 24">
            <a:extLst>
              <a:ext uri="{FF2B5EF4-FFF2-40B4-BE49-F238E27FC236}">
                <a16:creationId xmlns:a16="http://schemas.microsoft.com/office/drawing/2014/main" id="{D24DE94D-6484-49BD-8A91-DBD5A9631194}"/>
              </a:ext>
            </a:extLst>
          </p:cNvPr>
          <p:cNvSpPr/>
          <p:nvPr/>
        </p:nvSpPr>
        <p:spPr>
          <a:xfrm>
            <a:off x="0" y="6209596"/>
            <a:ext cx="12192000" cy="662473"/>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Footer Placeholder 2">
            <a:extLst>
              <a:ext uri="{FF2B5EF4-FFF2-40B4-BE49-F238E27FC236}">
                <a16:creationId xmlns:a16="http://schemas.microsoft.com/office/drawing/2014/main" id="{8CA890C3-CCF4-4C60-8A15-4AAD2952EFC0}"/>
              </a:ext>
            </a:extLst>
          </p:cNvPr>
          <p:cNvSpPr>
            <a:spLocks noGrp="1"/>
          </p:cNvSpPr>
          <p:nvPr>
            <p:ph type="ftr" sz="quarter" idx="11"/>
          </p:nvPr>
        </p:nvSpPr>
        <p:spPr>
          <a:xfrm>
            <a:off x="3962400" y="6355207"/>
            <a:ext cx="4114800" cy="365125"/>
          </a:xfrm>
        </p:spPr>
        <p:txBody>
          <a:bodyPr/>
          <a:lstStyle/>
          <a:p>
            <a:r>
              <a:rPr lang="en-US" dirty="0"/>
              <a:t>Key Benefit Administrators</a:t>
            </a:r>
          </a:p>
        </p:txBody>
      </p:sp>
      <p:sp>
        <p:nvSpPr>
          <p:cNvPr id="6" name="Slide Number Placeholder 3">
            <a:extLst>
              <a:ext uri="{FF2B5EF4-FFF2-40B4-BE49-F238E27FC236}">
                <a16:creationId xmlns:a16="http://schemas.microsoft.com/office/drawing/2014/main" id="{D8E8B177-4E99-4D87-A5BC-C4903809E352}"/>
              </a:ext>
            </a:extLst>
          </p:cNvPr>
          <p:cNvSpPr>
            <a:spLocks noGrp="1"/>
          </p:cNvSpPr>
          <p:nvPr>
            <p:ph type="sldNum" sz="quarter" idx="12"/>
          </p:nvPr>
        </p:nvSpPr>
        <p:spPr>
          <a:xfrm>
            <a:off x="8466666" y="6355207"/>
            <a:ext cx="2743200" cy="365125"/>
          </a:xfrm>
        </p:spPr>
        <p:txBody>
          <a:bodyPr/>
          <a:lstStyle/>
          <a:p>
            <a:fld id="{3AFC719D-C4A7-4544-876E-D411D11AF6C9}" type="slidenum">
              <a:rPr lang="en-US" smtClean="0"/>
              <a:t>5</a:t>
            </a:fld>
            <a:endParaRPr lang="en-US" dirty="0"/>
          </a:p>
        </p:txBody>
      </p:sp>
      <p:sp>
        <p:nvSpPr>
          <p:cNvPr id="7" name="Rectangle 4">
            <a:extLst>
              <a:ext uri="{FF2B5EF4-FFF2-40B4-BE49-F238E27FC236}">
                <a16:creationId xmlns:a16="http://schemas.microsoft.com/office/drawing/2014/main" id="{08721A3A-5CA5-4F32-91E4-D6082004CA50}"/>
              </a:ext>
            </a:extLst>
          </p:cNvPr>
          <p:cNvSpPr/>
          <p:nvPr/>
        </p:nvSpPr>
        <p:spPr>
          <a:xfrm>
            <a:off x="4134811" y="649481"/>
            <a:ext cx="7495215" cy="5546047"/>
          </a:xfrm>
          <a:prstGeom prst="rect">
            <a:avLst/>
          </a:prstGeom>
        </p:spPr>
        <p:txBody>
          <a:bodyPr vert="horz" lIns="91440" tIns="45720" rIns="91440" bIns="45720" rtlCol="0" anchor="ctr">
            <a:noAutofit/>
          </a:bodyPr>
          <a:lstStyle/>
          <a:p>
            <a:pPr defTabSz="914411">
              <a:lnSpc>
                <a:spcPct val="90000"/>
              </a:lnSpc>
              <a:spcAft>
                <a:spcPts val="1200"/>
              </a:spcAft>
            </a:pPr>
            <a:endParaRPr lang="en-US" sz="2200" dirty="0">
              <a:latin typeface="Montserrat" panose="00000500000000000000" pitchFamily="2" charset="0"/>
            </a:endParaRPr>
          </a:p>
        </p:txBody>
      </p:sp>
      <p:sp>
        <p:nvSpPr>
          <p:cNvPr id="8" name="Rectangle 5">
            <a:extLst>
              <a:ext uri="{FF2B5EF4-FFF2-40B4-BE49-F238E27FC236}">
                <a16:creationId xmlns:a16="http://schemas.microsoft.com/office/drawing/2014/main" id="{869C0219-52DA-48A1-B7B2-E6F8C4FBD3C3}"/>
              </a:ext>
            </a:extLst>
          </p:cNvPr>
          <p:cNvSpPr/>
          <p:nvPr/>
        </p:nvSpPr>
        <p:spPr>
          <a:xfrm>
            <a:off x="740621" y="3205513"/>
            <a:ext cx="5352581" cy="1979003"/>
          </a:xfrm>
          <a:prstGeom prst="rect">
            <a:avLst/>
          </a:prstGeom>
        </p:spPr>
        <p:txBody>
          <a:bodyPr wrap="square">
            <a:spAutoFit/>
          </a:bodyPr>
          <a:lstStyle/>
          <a:p>
            <a:pPr algn="ctr" defTabSz="914411">
              <a:lnSpc>
                <a:spcPct val="90000"/>
              </a:lnSpc>
              <a:spcAft>
                <a:spcPts val="1200"/>
              </a:spcAft>
              <a:buClr>
                <a:schemeClr val="tx1"/>
              </a:buClr>
            </a:pPr>
            <a:r>
              <a:rPr lang="en-US" b="1" dirty="0">
                <a:latin typeface="Montserrat" panose="00000500000000000000" pitchFamily="2" charset="0"/>
              </a:rPr>
              <a:t>DTE Plan Sells</a:t>
            </a:r>
          </a:p>
          <a:p>
            <a:pPr algn="ctr" defTabSz="914411">
              <a:lnSpc>
                <a:spcPct val="90000"/>
              </a:lnSpc>
              <a:spcAft>
                <a:spcPts val="1200"/>
              </a:spcAft>
              <a:buClr>
                <a:schemeClr val="tx1"/>
              </a:buClr>
            </a:pPr>
            <a:r>
              <a:rPr lang="en-US" sz="1600" dirty="0">
                <a:latin typeface="Montserrat" panose="00000500000000000000" pitchFamily="2" charset="0"/>
              </a:rPr>
              <a:t>DTE plans only work when the network is built around a strong brand with good access and competitive costs. </a:t>
            </a:r>
          </a:p>
          <a:p>
            <a:pPr algn="ctr" defTabSz="914411">
              <a:lnSpc>
                <a:spcPct val="90000"/>
              </a:lnSpc>
              <a:spcAft>
                <a:spcPts val="1200"/>
              </a:spcAft>
              <a:buClr>
                <a:schemeClr val="tx1"/>
              </a:buClr>
            </a:pPr>
            <a:r>
              <a:rPr lang="en-US" sz="1600" dirty="0">
                <a:solidFill/>
                <a:latin typeface="Montserrat" panose="00000500000000000000" pitchFamily="2" charset="0"/>
              </a:rPr>
              <a:t>Bon Secours Mercy Health (Youngstown Area) is the access leader with market-similar quality in this service area (see slide 8). Some brand quality concerns at St Elizabeth Youngstown Hospital might hurt plan sales.</a:t>
            </a:r>
          </a:p>
        </p:txBody>
      </p:sp>
      <p:sp>
        <p:nvSpPr>
          <p:cNvPr id="9" name="Rectangle 6">
            <a:extLst>
              <a:ext uri="{FF2B5EF4-FFF2-40B4-BE49-F238E27FC236}">
                <a16:creationId xmlns:a16="http://schemas.microsoft.com/office/drawing/2014/main" id="{8FCD729A-32AD-4303-8BA6-9EBD13F93D1C}"/>
              </a:ext>
            </a:extLst>
          </p:cNvPr>
          <p:cNvSpPr/>
          <p:nvPr/>
        </p:nvSpPr>
        <p:spPr>
          <a:xfrm>
            <a:off x="6093202" y="3205513"/>
            <a:ext cx="5352581" cy="2200602"/>
          </a:xfrm>
          <a:prstGeom prst="rect">
            <a:avLst/>
          </a:prstGeom>
        </p:spPr>
        <p:txBody>
          <a:bodyPr wrap="square">
            <a:spAutoFit/>
          </a:bodyPr>
          <a:lstStyle/>
          <a:p>
            <a:pPr algn="ctr" defTabSz="914411">
              <a:lnSpc>
                <a:spcPct val="90000"/>
              </a:lnSpc>
              <a:spcAft>
                <a:spcPts val="1200"/>
              </a:spcAft>
              <a:buClr>
                <a:schemeClr val="tx1"/>
              </a:buClr>
            </a:pPr>
            <a:r>
              <a:rPr lang="en-US" b="1" dirty="0">
                <a:latin typeface="Montserrat" panose="00000500000000000000" pitchFamily="2" charset="0"/>
              </a:rPr>
              <a:t>Estimates for Margin and Steerage Hold</a:t>
            </a:r>
          </a:p>
          <a:p>
            <a:pPr algn="ctr" defTabSz="914411">
              <a:lnSpc>
                <a:spcPct val="90000"/>
              </a:lnSpc>
              <a:spcAft>
                <a:spcPts val="1200"/>
              </a:spcAft>
              <a:buClr>
                <a:schemeClr val="tx1"/>
              </a:buClr>
            </a:pPr>
            <a:r>
              <a:rPr lang="en-US" sz="1600" dirty="0">
                <a:latin typeface="Montserrat" panose="00000500000000000000" pitchFamily="2" charset="0"/>
              </a:rPr>
              <a:t>KBA models high, medium and low estimates for net income based on (1) estimates of commercial margin and (2) the within-DTE-network steerage rate. </a:t>
            </a:r>
          </a:p>
          <a:p>
            <a:pPr algn="ctr" defTabSz="914411">
              <a:lnSpc>
                <a:spcPct val="90000"/>
              </a:lnSpc>
              <a:spcAft>
                <a:spcPts val="1200"/>
              </a:spcAft>
              <a:buClr>
                <a:schemeClr val="tx1"/>
              </a:buClr>
            </a:pPr>
            <a:r>
              <a:rPr lang="en-US" sz="1600" dirty="0">
                <a:solidFill/>
                <a:latin typeface="Montserrat" panose="00000500000000000000" pitchFamily="2" charset="0"/>
              </a:rPr>
              <a:t>Profit growth will hold if these assumptions accurately play out as expected for Bon Secours Mercy Health.</a:t>
            </a:r>
          </a:p>
        </p:txBody>
      </p:sp>
      <p:cxnSp>
        <p:nvCxnSpPr>
          <p:cNvPr id="10" name="Straight Connector 13">
            <a:extLst>
              <a:ext uri="{FF2B5EF4-FFF2-40B4-BE49-F238E27FC236}">
                <a16:creationId xmlns:a16="http://schemas.microsoft.com/office/drawing/2014/main" id="{DD477D80-386D-4C49-BB5B-4192EF9C3FCB}"/>
              </a:ext>
            </a:extLst>
          </p:cNvPr>
          <p:cNvCxnSpPr/>
          <p:nvPr/>
        </p:nvCxnSpPr>
        <p:spPr>
          <a:xfrm>
            <a:off x="6100876" y="3205513"/>
            <a:ext cx="0" cy="2425682"/>
          </a:xfrm>
          <a:prstGeom prst="line">
            <a:avLst/>
          </a:prstGeom>
          <a:ln>
            <a:solidFill>
              <a:srgbClr val="0063A3"/>
            </a:solidFill>
          </a:ln>
        </p:spPr>
        <p:style>
          <a:lnRef idx="1">
            <a:schemeClr val="accent1"/>
          </a:lnRef>
          <a:fillRef idx="0">
            <a:schemeClr val="accent1"/>
          </a:fillRef>
          <a:effectRef idx="0">
            <a:schemeClr val="accent1"/>
          </a:effectRef>
          <a:fontRef idx="minor">
            <a:schemeClr val="tx1"/>
          </a:fontRef>
        </p:style>
      </p:cxnSp>
      <p:sp>
        <p:nvSpPr>
          <p:cNvPr id="11" name="Oval 18">
            <a:extLst>
              <a:ext uri="{FF2B5EF4-FFF2-40B4-BE49-F238E27FC236}">
                <a16:creationId xmlns:a16="http://schemas.microsoft.com/office/drawing/2014/main" id="{6E3306A4-A22E-44B4-B28D-02A4477CAE09}"/>
              </a:ext>
            </a:extLst>
          </p:cNvPr>
          <p:cNvSpPr/>
          <p:nvPr/>
        </p:nvSpPr>
        <p:spPr>
          <a:xfrm>
            <a:off x="3074011" y="2236449"/>
            <a:ext cx="685800" cy="68580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Montserrat" panose="00000500000000000000" pitchFamily="2" charset="0"/>
              </a:rPr>
              <a:t>1</a:t>
            </a:r>
          </a:p>
        </p:txBody>
      </p:sp>
      <p:sp>
        <p:nvSpPr>
          <p:cNvPr id="12" name="Oval 19">
            <a:extLst>
              <a:ext uri="{FF2B5EF4-FFF2-40B4-BE49-F238E27FC236}">
                <a16:creationId xmlns:a16="http://schemas.microsoft.com/office/drawing/2014/main" id="{50C0D7B4-43BC-4CE3-AA3D-60612464FC41}"/>
              </a:ext>
            </a:extLst>
          </p:cNvPr>
          <p:cNvSpPr/>
          <p:nvPr/>
        </p:nvSpPr>
        <p:spPr>
          <a:xfrm>
            <a:off x="8466666" y="2236449"/>
            <a:ext cx="685800" cy="68580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Montserrat" panose="00000500000000000000" pitchFamily="2" charset="0"/>
              </a:rPr>
              <a:t>2</a:t>
            </a:r>
          </a:p>
        </p:txBody>
      </p:sp>
    </p:spTree>
    <p:extLst>
      <p:ext uri="{BB962C8B-B14F-4D97-AF65-F5344CB8AC3E}">
        <p14:creationId xmlns:p14="http://schemas.microsoft.com/office/powerpoint/2010/main" val="40595485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Are You a Small Business Owner or an Entrepreneur?">
            <a:extLst>
              <a:ext uri="{FF2B5EF4-FFF2-40B4-BE49-F238E27FC236}">
                <a16:creationId xmlns:a16="http://schemas.microsoft.com/office/drawing/2014/main" id="{EA765432-EB85-413C-8936-1CB9E6368C33}"/>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8467" y="0"/>
            <a:ext cx="7328369" cy="6870346"/>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2A856662-DB6E-45A6-97AD-3C04EB8973D1}"/>
              </a:ext>
            </a:extLst>
          </p:cNvPr>
          <p:cNvSpPr>
            <a:spLocks noGrp="1"/>
          </p:cNvSpPr>
          <p:nvPr>
            <p:ph type="sldNum" sz="quarter" idx="12"/>
          </p:nvPr>
        </p:nvSpPr>
        <p:spPr>
          <a:xfrm>
            <a:off x="9067800" y="6455835"/>
            <a:ext cx="2743200" cy="365125"/>
          </a:xfrm>
        </p:spPr>
        <p:txBody>
          <a:bodyPr/>
          <a:lstStyle/>
          <a:p>
            <a:fld id="{3AFC719D-C4A7-4544-876E-D411D11AF6C9}" type="slidenum">
              <a:rPr lang="en-US" smtClean="0"/>
              <a:t>6</a:t>
            </a:fld>
            <a:endParaRPr lang="en-US" dirty="0"/>
          </a:p>
        </p:txBody>
      </p:sp>
      <p:sp>
        <p:nvSpPr>
          <p:cNvPr id="4" name="Rectangle 6">
            <a:extLst>
              <a:ext uri="{FF2B5EF4-FFF2-40B4-BE49-F238E27FC236}">
                <a16:creationId xmlns:a16="http://schemas.microsoft.com/office/drawing/2014/main" id="{4873A62E-6928-4B7B-95B7-002E00DAA648}"/>
              </a:ext>
            </a:extLst>
          </p:cNvPr>
          <p:cNvSpPr/>
          <p:nvPr/>
        </p:nvSpPr>
        <p:spPr>
          <a:xfrm>
            <a:off x="4282251" y="0"/>
            <a:ext cx="3454400" cy="6870346"/>
          </a:xfrm>
          <a:prstGeom prst="rect">
            <a:avLst/>
          </a:prstGeom>
          <a:gradFill flip="none" rotWithShape="1">
            <a:gsLst>
              <a:gs pos="60000">
                <a:srgbClr val="FFFFFF"/>
              </a:gs>
              <a:gs pos="0">
                <a:schemeClr val="bg1">
                  <a:alpha val="1000"/>
                </a:schemeClr>
              </a:gs>
              <a:gs pos="36000">
                <a:schemeClr val="bg1">
                  <a:alpha val="81000"/>
                </a:scheme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Rectangle 5">
            <a:extLst>
              <a:ext uri="{FF2B5EF4-FFF2-40B4-BE49-F238E27FC236}">
                <a16:creationId xmlns:a16="http://schemas.microsoft.com/office/drawing/2014/main" id="{4579F9FC-9C26-4EE8-993C-4E9774C6CB61}"/>
              </a:ext>
            </a:extLst>
          </p:cNvPr>
          <p:cNvSpPr/>
          <p:nvPr/>
        </p:nvSpPr>
        <p:spPr>
          <a:xfrm>
            <a:off x="6301081" y="2692174"/>
            <a:ext cx="5726288" cy="3536353"/>
          </a:xfrm>
          <a:prstGeom prst="rect">
            <a:avLst/>
          </a:prstGeom>
        </p:spPr>
        <p:txBody>
          <a:bodyPr wrap="square">
            <a:spAutoFit/>
          </a:bodyPr>
          <a:lstStyle/>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Reduced medical spend through lower unit costs and better integrated care</a:t>
            </a:r>
          </a:p>
          <a:p>
            <a:pPr marL="514356" indent="-342905" defTabSz="914411">
              <a:lnSpc>
                <a:spcPct val="90000"/>
              </a:lnSpc>
              <a:spcAft>
                <a:spcPts val="1200"/>
              </a:spcAft>
              <a:buClr>
                <a:srgbClr val="244F9A"/>
              </a:buClr>
              <a:buFont typeface="Wingdings" panose="05000000000000000000" pitchFamily="2" charset="2"/>
              <a:buChar char="§"/>
            </a:pPr>
            <a:r>
              <a:rPr lang="en-US" sz="1600" dirty="0">
                <a:solidFill/>
                <a:latin typeface="Montserrat" panose="00000500000000000000" pitchFamily="2" charset="0"/>
              </a:rPr>
              <a:t>“At the table” with Bon Secours Mercy Health</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Aligned financial incentives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Complete transparency for unlimited visibility into health benefit plan expenses and cost drivers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Aggressive stop-loss premiums and policy terms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Increased employee satisfaction</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Improved cash flow &amp; stabilization of future medical cost trend</a:t>
            </a:r>
          </a:p>
        </p:txBody>
      </p:sp>
      <p:sp>
        <p:nvSpPr>
          <p:cNvPr id="6" name="Footer Placeholder 2">
            <a:extLst>
              <a:ext uri="{FF2B5EF4-FFF2-40B4-BE49-F238E27FC236}">
                <a16:creationId xmlns:a16="http://schemas.microsoft.com/office/drawing/2014/main" id="{FE58BE34-132B-41A8-8534-03C951FA73B1}"/>
              </a:ext>
            </a:extLst>
          </p:cNvPr>
          <p:cNvSpPr>
            <a:spLocks noGrp="1"/>
          </p:cNvSpPr>
          <p:nvPr>
            <p:ph type="ftr" sz="quarter" idx="11"/>
          </p:nvPr>
        </p:nvSpPr>
        <p:spPr>
          <a:xfrm>
            <a:off x="6096000" y="6449839"/>
            <a:ext cx="4114800" cy="365125"/>
          </a:xfrm>
        </p:spPr>
        <p:txBody>
          <a:bodyPr/>
          <a:lstStyle/>
          <a:p>
            <a:r>
              <a:rPr lang="en-US" dirty="0"/>
              <a:t>Key Benefit Administrators</a:t>
            </a:r>
          </a:p>
        </p:txBody>
      </p:sp>
      <p:sp>
        <p:nvSpPr>
          <p:cNvPr id="7" name="Title 1">
            <a:extLst>
              <a:ext uri="{FF2B5EF4-FFF2-40B4-BE49-F238E27FC236}">
                <a16:creationId xmlns:a16="http://schemas.microsoft.com/office/drawing/2014/main" id="{E9C15F56-47BD-D180-EBFB-0843E8BBCCEE}"/>
              </a:ext>
            </a:extLst>
          </p:cNvPr>
          <p:cNvSpPr>
            <a:spLocks noGrp="1"/>
          </p:cNvSpPr>
          <p:nvPr>
            <p:ph type="title"/>
          </p:nvPr>
        </p:nvSpPr>
        <p:spPr>
          <a:xfrm>
            <a:off x="6763656" y="683306"/>
            <a:ext cx="4846964" cy="1325563"/>
          </a:xfrm>
        </p:spPr>
        <p:txBody>
          <a:bodyPr>
            <a:noAutofit/>
          </a:bodyPr>
          <a:lstStyle/>
          <a:p>
            <a:pPr>
              <a:lnSpc>
                <a:spcPct val="100000"/>
              </a:lnSpc>
              <a:spcBef>
                <a:spcPts val="1800"/>
              </a:spcBef>
              <a:spcAft>
                <a:spcPts val="600"/>
              </a:spcAft>
            </a:pPr>
            <a:r>
              <a:rPr lang="en-US" sz="2000" dirty="0">
                <a:solidFill>
                  <a:srgbClr val="000B2E"/>
                </a:solidFill>
              </a:rPr>
              <a:t>Direct-to-Employer Strategy:</a:t>
            </a:r>
            <a:br>
              <a:rPr lang="en-US" sz="4000" b="1" dirty="0">
                <a:solidFill>
                  <a:srgbClr val="000B2E"/>
                </a:solidFill>
              </a:rPr>
            </a:br>
            <a:r>
              <a:rPr lang="en-US" sz="3600" b="0" dirty="0">
                <a:solidFill>
                  <a:srgbClr val="000B2E"/>
                </a:solidFill>
              </a:rPr>
              <a:t>POWERFUL EMPLOYER VALUE</a:t>
            </a:r>
            <a:endParaRPr lang="en-US" sz="1600" b="0" dirty="0">
              <a:solidFill>
                <a:schemeClr val="tx1">
                  <a:lumMod val="75000"/>
                  <a:lumOff val="25000"/>
                </a:schemeClr>
              </a:solidFill>
            </a:endParaRPr>
          </a:p>
        </p:txBody>
      </p:sp>
    </p:spTree>
    <p:extLst>
      <p:ext uri="{BB962C8B-B14F-4D97-AF65-F5344CB8AC3E}">
        <p14:creationId xmlns:p14="http://schemas.microsoft.com/office/powerpoint/2010/main" val="171412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400062"/>
            <a:ext cx="12188952" cy="426472"/>
          </a:xfrm>
          <a:prstGeom prst="rect">
            <a:avLst/>
          </a:prstGeom>
          <a:noFill/>
        </p:spPr>
        <p:txBody>
          <a:bodyPr wrap="square" lIns="0" tIns="0" rIns="0" bIns="0" rtlCol="0" anchor="t"/>
          <a:lstStyle/>
          <a:p>
            <a:pPr algn="ctr">
              <a:lnSpc>
                <a:spcPts val="3360"/>
              </a:lnSpc>
              <a:buNone/>
            </a:pPr>
            <a:r>
              <a:rPr lang="en-US" sz="3000" kern="0" spc="90">
                <a:solidFill>
                  <a:srgbClr val="181818">
                    <a:alpha val="80000"/>
                  </a:srgbClr>
                </a:solidFill>
                <a:latin typeface="Montserrat" panose="00000500000000000000" pitchFamily="2" charset="0"/>
                <a:ea typeface="Jost*" pitchFamily="34" charset="-122"/>
                <a:cs typeface="Jost*" pitchFamily="34" charset="-120"/>
              </a:rPr>
              <a:t>KBA PLAN GROWTH IN THE FIRST TWO YEARS</a:t>
            </a:r>
            <a:endParaRPr lang="en-US">
              <a:latin typeface="Montserrat" panose="00000500000000000000" pitchFamily="2" charset="0"/>
            </a:endParaRPr>
          </a:p>
        </p:txBody>
      </p:sp>
      <p:pic>
        <p:nvPicPr>
          <p:cNvPr id="3" name="Object 2"/>
          <p:cNvPicPr>
            <a:picLocks noChangeAspect="1"/>
          </p:cNvPicPr>
          <p:nvPr/>
        </p:nvPicPr>
        <p:blipFill>
          <a:blip r:embed="rId3"/>
          <a:stretch>
            <a:fillRect/>
          </a:stretch>
        </p:blipFill>
        <p:spPr>
          <a:xfrm>
            <a:off x="285679" y="1323644"/>
            <a:ext cx="11617595" cy="4208997"/>
          </a:xfrm>
          <a:prstGeom prst="rect">
            <a:avLst/>
          </a:prstGeom>
        </p:spPr>
      </p:pic>
      <p:pic>
        <p:nvPicPr>
          <p:cNvPr id="4" name="Object 3"/>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515060" y="3527791"/>
            <a:ext cx="9523" cy="142839"/>
          </a:xfrm>
          <a:prstGeom prst="rect">
            <a:avLst/>
          </a:prstGeom>
        </p:spPr>
      </p:pic>
      <p:pic>
        <p:nvPicPr>
          <p:cNvPr id="5" name="Object 4"/>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467447" y="3623017"/>
            <a:ext cx="95226" cy="95226"/>
          </a:xfrm>
          <a:prstGeom prst="rect">
            <a:avLst/>
          </a:prstGeom>
        </p:spPr>
      </p:pic>
      <p:pic>
        <p:nvPicPr>
          <p:cNvPr id="6" name="Object 5"/>
          <p:cNvPicPr>
            <a:picLocks noChangeAspect="1"/>
          </p:cNvPicPr>
          <p:nvPr/>
        </p:nvPicPr>
        <p:blipFill>
          <a:blip r:embed="rId4">
            <a:extLst>
              <a:ext uri="{96DAC541-7B7A-43D3-8B79-37D633B846F1}">
                <asvg:svgBlip xmlns:asvg="http://schemas.microsoft.com/office/drawing/2016/SVG/main" r:embed="rId8"/>
              </a:ext>
            </a:extLst>
          </a:blip>
          <a:stretch>
            <a:fillRect/>
          </a:stretch>
        </p:blipFill>
        <p:spPr>
          <a:xfrm>
            <a:off x="5088548" y="3883175"/>
            <a:ext cx="9523" cy="142839"/>
          </a:xfrm>
          <a:prstGeom prst="rect">
            <a:avLst/>
          </a:prstGeom>
        </p:spPr>
      </p:pic>
      <p:pic>
        <p:nvPicPr>
          <p:cNvPr id="7" name="Object 6"/>
          <p:cNvPicPr>
            <a:picLocks noChangeAspect="1"/>
          </p:cNvPicPr>
          <p:nvPr/>
        </p:nvPicPr>
        <p:blipFill>
          <a:blip r:embed="rId6">
            <a:extLst>
              <a:ext uri="{96DAC541-7B7A-43D3-8B79-37D633B846F1}">
                <asvg:svgBlip xmlns:asvg="http://schemas.microsoft.com/office/drawing/2016/SVG/main" r:embed="rId9"/>
              </a:ext>
            </a:extLst>
          </a:blip>
          <a:stretch>
            <a:fillRect/>
          </a:stretch>
        </p:blipFill>
        <p:spPr>
          <a:xfrm>
            <a:off x="5040935" y="3978402"/>
            <a:ext cx="95226" cy="95226"/>
          </a:xfrm>
          <a:prstGeom prst="rect">
            <a:avLst/>
          </a:prstGeom>
        </p:spPr>
      </p:pic>
      <p:pic>
        <p:nvPicPr>
          <p:cNvPr id="8" name="Object 7"/>
          <p:cNvPicPr>
            <a:picLocks noChangeAspect="1"/>
          </p:cNvPicPr>
          <p:nvPr/>
        </p:nvPicPr>
        <p:blipFill>
          <a:blip r:embed="rId4">
            <a:extLst>
              <a:ext uri="{96DAC541-7B7A-43D3-8B79-37D633B846F1}">
                <asvg:svgBlip xmlns:asvg="http://schemas.microsoft.com/office/drawing/2016/SVG/main" r:embed="rId10"/>
              </a:ext>
            </a:extLst>
          </a:blip>
          <a:stretch>
            <a:fillRect/>
          </a:stretch>
        </p:blipFill>
        <p:spPr>
          <a:xfrm>
            <a:off x="7662036" y="2876254"/>
            <a:ext cx="9523" cy="142839"/>
          </a:xfrm>
          <a:prstGeom prst="rect">
            <a:avLst/>
          </a:prstGeom>
        </p:spPr>
      </p:pic>
      <p:pic>
        <p:nvPicPr>
          <p:cNvPr id="9" name="Object 8"/>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614423" y="2971480"/>
            <a:ext cx="104749" cy="95226"/>
          </a:xfrm>
          <a:prstGeom prst="rect">
            <a:avLst/>
          </a:prstGeom>
        </p:spPr>
      </p:pic>
      <p:pic>
        <p:nvPicPr>
          <p:cNvPr id="10" name="Object 9"/>
          <p:cNvPicPr>
            <a:picLocks noChangeAspect="1"/>
          </p:cNvPicPr>
          <p:nvPr/>
        </p:nvPicPr>
        <p:blipFill>
          <a:blip r:embed="rId4">
            <a:extLst>
              <a:ext uri="{96DAC541-7B7A-43D3-8B79-37D633B846F1}">
                <asvg:svgBlip xmlns:asvg="http://schemas.microsoft.com/office/drawing/2016/SVG/main" r:embed="rId13"/>
              </a:ext>
            </a:extLst>
          </a:blip>
          <a:stretch>
            <a:fillRect/>
          </a:stretch>
        </p:blipFill>
        <p:spPr>
          <a:xfrm>
            <a:off x="10235523" y="1691640"/>
            <a:ext cx="9523" cy="142839"/>
          </a:xfrm>
          <a:prstGeom prst="rect">
            <a:avLst/>
          </a:prstGeom>
        </p:spPr>
      </p:pic>
      <p:pic>
        <p:nvPicPr>
          <p:cNvPr id="11" name="Object 10"/>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0187910" y="1786866"/>
            <a:ext cx="95226" cy="95226"/>
          </a:xfrm>
          <a:prstGeom prst="rect">
            <a:avLst/>
          </a:prstGeom>
        </p:spPr>
      </p:pic>
      <p:pic>
        <p:nvPicPr>
          <p:cNvPr id="12" name="Object 11"/>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791219" y="2984895"/>
            <a:ext cx="1447438" cy="552312"/>
          </a:xfrm>
          <a:prstGeom prst="rect">
            <a:avLst/>
          </a:prstGeom>
        </p:spPr>
      </p:pic>
      <p:sp>
        <p:nvSpPr>
          <p:cNvPr id="13" name="Object 12"/>
          <p:cNvSpPr/>
          <p:nvPr/>
        </p:nvSpPr>
        <p:spPr>
          <a:xfrm>
            <a:off x="1939043" y="3129701"/>
            <a:ext cx="1152237"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1,800 Lives</a:t>
            </a:r>
            <a:endParaRPr lang="en-US" sz="1400" b="1">
              <a:latin typeface="Montserrat" panose="00000500000000000000" pitchFamily="2" charset="0"/>
            </a:endParaRPr>
          </a:p>
        </p:txBody>
      </p:sp>
      <p:pic>
        <p:nvPicPr>
          <p:cNvPr id="14" name="Object 13"/>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4302810" y="3340319"/>
            <a:ext cx="1571232" cy="552312"/>
          </a:xfrm>
          <a:prstGeom prst="rect">
            <a:avLst/>
          </a:prstGeom>
        </p:spPr>
      </p:pic>
      <p:sp>
        <p:nvSpPr>
          <p:cNvPr id="15" name="Object 14"/>
          <p:cNvSpPr/>
          <p:nvPr/>
        </p:nvSpPr>
        <p:spPr>
          <a:xfrm>
            <a:off x="4444450" y="3485085"/>
            <a:ext cx="1288288"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12,900 Lives</a:t>
            </a:r>
            <a:endParaRPr lang="en-US" sz="1400" b="1">
              <a:latin typeface="Montserrat" panose="00000500000000000000" pitchFamily="2" charset="0"/>
            </a:endParaRPr>
          </a:p>
        </p:txBody>
      </p:sp>
      <p:pic>
        <p:nvPicPr>
          <p:cNvPr id="16" name="Object 15"/>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6923948" y="2333376"/>
            <a:ext cx="1476006" cy="552312"/>
          </a:xfrm>
          <a:prstGeom prst="rect">
            <a:avLst/>
          </a:prstGeom>
        </p:spPr>
      </p:pic>
      <p:sp>
        <p:nvSpPr>
          <p:cNvPr id="17" name="Object 16"/>
          <p:cNvSpPr/>
          <p:nvPr/>
        </p:nvSpPr>
        <p:spPr>
          <a:xfrm>
            <a:off x="7070312" y="2478163"/>
            <a:ext cx="1183539"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6,400 Lives</a:t>
            </a:r>
            <a:endParaRPr lang="en-US" sz="1400" b="1">
              <a:latin typeface="Montserrat" panose="00000500000000000000" pitchFamily="2" charset="0"/>
            </a:endParaRPr>
          </a:p>
        </p:txBody>
      </p:sp>
      <p:pic>
        <p:nvPicPr>
          <p:cNvPr id="18" name="Object 17"/>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9511608" y="1149001"/>
            <a:ext cx="1447438" cy="552312"/>
          </a:xfrm>
          <a:prstGeom prst="rect">
            <a:avLst/>
          </a:prstGeom>
        </p:spPr>
      </p:pic>
      <p:sp>
        <p:nvSpPr>
          <p:cNvPr id="19" name="Object 18"/>
          <p:cNvSpPr/>
          <p:nvPr/>
        </p:nvSpPr>
        <p:spPr>
          <a:xfrm>
            <a:off x="9659506" y="1293550"/>
            <a:ext cx="1152237"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1,600 Lives</a:t>
            </a:r>
            <a:endParaRPr lang="en-US" sz="1400" b="1">
              <a:latin typeface="Montserrat" panose="00000500000000000000" pitchFamily="2" charset="0"/>
            </a:endParaRPr>
          </a:p>
        </p:txBody>
      </p:sp>
      <p:sp>
        <p:nvSpPr>
          <p:cNvPr id="20" name="Object 19"/>
          <p:cNvSpPr/>
          <p:nvPr/>
        </p:nvSpPr>
        <p:spPr>
          <a:xfrm>
            <a:off x="0" y="5909306"/>
            <a:ext cx="12188952" cy="946979"/>
          </a:xfrm>
          <a:prstGeom prst="rect">
            <a:avLst/>
          </a:prstGeom>
          <a:solidFill>
            <a:srgbClr val="EDF1EB"/>
          </a:solidFill>
        </p:spPr>
        <p:txBody>
          <a:bodyPr/>
          <a:lstStyle/>
          <a:p>
            <a:endParaRPr lang="en-US">
              <a:latin typeface="Montserrat" panose="00000500000000000000" pitchFamily="2" charset="0"/>
            </a:endParaRPr>
          </a:p>
        </p:txBody>
      </p:sp>
      <p:sp>
        <p:nvSpPr>
          <p:cNvPr id="21" name="Object 20"/>
          <p:cNvSpPr/>
          <p:nvPr/>
        </p:nvSpPr>
        <p:spPr>
          <a:xfrm>
            <a:off x="-95226" y="6103419"/>
            <a:ext cx="12379404" cy="323806"/>
          </a:xfrm>
          <a:prstGeom prst="rect">
            <a:avLst/>
          </a:prstGeom>
          <a:noFill/>
        </p:spPr>
        <p:txBody>
          <a:bodyPr wrap="square" lIns="0" tIns="0" rIns="0" bIns="0" rtlCol="0" anchor="t"/>
          <a:lstStyle/>
          <a:p>
            <a:pPr algn="ctr">
              <a:lnSpc>
                <a:spcPts val="2552"/>
              </a:lnSpc>
              <a:buNone/>
            </a:pPr>
            <a:r>
              <a:rPr lang="en-US" kern="0" spc="61">
                <a:solidFill>
                  <a:srgbClr val="181818">
                    <a:alpha val="80000"/>
                  </a:srgbClr>
                </a:solidFill>
                <a:latin typeface="Montserrat" panose="00000500000000000000" pitchFamily="2" charset="0"/>
                <a:ea typeface="Jost*" pitchFamily="34" charset="-122"/>
                <a:cs typeface="Jost*" pitchFamily="34" charset="-120"/>
              </a:rPr>
              <a:t>An average of 25 employer groups in plan within the first two years!</a:t>
            </a:r>
            <a:endParaRPr lang="en-US" sz="1400">
              <a:latin typeface="Montserrat" panose="00000500000000000000" pitchFamily="2" charset="0"/>
            </a:endParaRPr>
          </a:p>
        </p:txBody>
      </p:sp>
      <p:pic>
        <p:nvPicPr>
          <p:cNvPr id="22" name="Picture 21">
            <a:extLst>
              <a:ext uri="{FF2B5EF4-FFF2-40B4-BE49-F238E27FC236}">
                <a16:creationId xmlns:a16="http://schemas.microsoft.com/office/drawing/2014/main" id="{E22A75D8-89B5-1F62-9C4C-107CCDE0D2AD}"/>
              </a:ext>
            </a:extLst>
          </p:cNvPr>
          <p:cNvPicPr>
            <a:picLocks noChangeAspect="1"/>
          </p:cNvPicPr>
          <p:nvPr/>
        </p:nvPicPr>
        <p:blipFill>
          <a:blip r:embed="rId22">
            <a:clrChange>
              <a:clrFrom>
                <a:srgbClr val="FFFFFF"/>
              </a:clrFrom>
              <a:clrTo>
                <a:srgbClr val="FFFFFF">
                  <a:alpha val="0"/>
                </a:srgbClr>
              </a:clrTo>
            </a:clrChange>
          </a:blip>
          <a:stretch>
            <a:fillRect/>
          </a:stretch>
        </p:blipFill>
        <p:spPr>
          <a:xfrm>
            <a:off x="10465482" y="6412295"/>
            <a:ext cx="1723470" cy="376030"/>
          </a:xfrm>
          <a:prstGeom prst="rect">
            <a:avLst/>
          </a:prstGeom>
        </p:spPr>
      </p:pic>
      <p:sp>
        <p:nvSpPr>
          <p:cNvPr id="23" name="Rectangle 22">
            <a:extLst>
              <a:ext uri="{FF2B5EF4-FFF2-40B4-BE49-F238E27FC236}">
                <a16:creationId xmlns:a16="http://schemas.microsoft.com/office/drawing/2014/main" id="{24F747D9-A9F5-5E25-4E27-63DF68AEA450}"/>
              </a:ext>
            </a:extLst>
          </p:cNvPr>
          <p:cNvSpPr/>
          <p:nvPr/>
        </p:nvSpPr>
        <p:spPr>
          <a:xfrm>
            <a:off x="5403273" y="5070764"/>
            <a:ext cx="2022763" cy="4774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8</a:t>
            </a:fld>
            <a:endParaRPr lang="en-US" dirty="0"/>
          </a:p>
        </p:txBody>
      </p:sp>
      <p:sp>
        <p:nvSpPr>
          <p:cNvPr id="4" name="TextBox 5">
            <a:extLst>
              <a:ext uri="{FF2B5EF4-FFF2-40B4-BE49-F238E27FC236}">
                <a16:creationId xmlns:a16="http://schemas.microsoft.com/office/drawing/2014/main" id="{C9963971-9E27-D1D8-44A6-33EAA3782592}"/>
              </a:ext>
            </a:extLst>
          </p:cNvPr>
          <p:cNvSpPr txBox="1"/>
          <p:nvPr/>
        </p:nvSpPr>
        <p:spPr>
          <a:xfrm>
            <a:off x="227045" y="1330559"/>
            <a:ext cx="11737910" cy="584775"/>
          </a:xfrm>
          <a:prstGeom prst="rect">
            <a:avLst/>
          </a:prstGeom>
          <a:noFill/>
        </p:spPr>
        <p:txBody>
          <a:bodyPr wrap="square">
            <a:spAutoFit/>
          </a:bodyPr>
          <a:lstStyle/>
          <a:p>
            <a:pPr algn="ctr"/>
            <a:r>
              <a:rPr lang="en-US" sz="1600" b="1" spc="200" dirty="0">
                <a:solidFill>
                  <a:schemeClr val="accent2">
                    <a:lumMod val="75000"/>
                  </a:schemeClr>
                </a:solidFill>
                <a:latin typeface="Montserrat" panose="00000500000000000000" pitchFamily="2" charset="0"/>
                <a:cs typeface="+mj-cs"/>
              </a:rPr>
              <a:t>Target Market</a:t>
            </a:r>
            <a:br>
              <a:rPr lang="en-US" sz="1600" spc="200" dirty="0">
                <a:latin typeface="Montserrat" panose="00000500000000000000" pitchFamily="2" charset="0"/>
                <a:cs typeface="+mj-cs"/>
              </a:rPr>
            </a:br>
            <a:r>
              <a:rPr lang="en-US" sz="1600" spc="200" dirty="0">
                <a:latin typeface="Montserrat" panose="00000500000000000000" pitchFamily="2" charset="0"/>
                <a:cs typeface="+mj-cs"/>
              </a:rPr>
              <a:t>600+ Employers       90,000</a:t>
            </a:r>
            <a:r>
              <a:rPr lang="en-US" sz="1600" spc="200" dirty="0">
                <a:latin typeface="Montserrat" panose="00000500000000000000" pitchFamily="2" charset="0"/>
                <a:cs typeface="+mj-cs"/>
                <a:sym typeface="Wingdings" panose="05000000000000000000" pitchFamily="2" charset="2"/>
              </a:rPr>
              <a:t>+ Employees       160,000+ Members</a:t>
            </a:r>
            <a:endParaRPr lang="en-US" sz="1600" dirty="0">
              <a:latin typeface="Montserrat" panose="00000500000000000000" pitchFamily="2" charset="0"/>
            </a:endParaRPr>
          </a:p>
        </p:txBody>
      </p:sp>
      <p:sp>
        <p:nvSpPr>
          <p:cNvPr id="5" name="Arrow: Chevron 8">
            <a:extLst>
              <a:ext uri="{FF2B5EF4-FFF2-40B4-BE49-F238E27FC236}">
                <a16:creationId xmlns:a16="http://schemas.microsoft.com/office/drawing/2014/main" id="{CCED4F75-71FE-39B7-D7A7-16E95303FB5C}"/>
              </a:ext>
            </a:extLst>
          </p:cNvPr>
          <p:cNvSpPr/>
          <p:nvPr/>
        </p:nvSpPr>
        <p:spPr>
          <a:xfrm>
            <a:off x="4333487" y="1656396"/>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ontserrat" panose="00000500000000000000" pitchFamily="2" charset="0"/>
            </a:endParaRPr>
          </a:p>
        </p:txBody>
      </p:sp>
      <p:sp>
        <p:nvSpPr>
          <p:cNvPr id="6" name="Arrow: Chevron 9">
            <a:extLst>
              <a:ext uri="{FF2B5EF4-FFF2-40B4-BE49-F238E27FC236}">
                <a16:creationId xmlns:a16="http://schemas.microsoft.com/office/drawing/2014/main" id="{340F1AD2-D85A-D177-8D19-AC9B027C53E2}"/>
              </a:ext>
            </a:extLst>
          </p:cNvPr>
          <p:cNvSpPr/>
          <p:nvPr/>
        </p:nvSpPr>
        <p:spPr>
          <a:xfrm>
            <a:off x="7280031" y="1647719"/>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ontserrat" panose="00000500000000000000" pitchFamily="2" charset="0"/>
              </a:rPr>
              <a:t>     </a:t>
            </a:r>
          </a:p>
        </p:txBody>
      </p:sp>
      <p:sp>
        <p:nvSpPr>
          <p:cNvPr id="7" name="Title 1">
            <a:extLst>
              <a:ext uri="{FF2B5EF4-FFF2-40B4-BE49-F238E27FC236}">
                <a16:creationId xmlns:a16="http://schemas.microsoft.com/office/drawing/2014/main" id="{012C7A76-8C4C-0C17-C582-24A807F19DA5}"/>
              </a:ext>
            </a:extLst>
          </p:cNvPr>
          <p:cNvSpPr>
            <a:spLocks noGrp="1"/>
          </p:cNvSpPr>
          <p:nvPr>
            <p:ph type="title"/>
          </p:nvPr>
        </p:nvSpPr>
        <p:spPr>
          <a:xfrm>
            <a:off x="81786" y="43143"/>
            <a:ext cx="12028428" cy="1325563"/>
          </a:xfrm>
        </p:spPr>
        <p:txBody>
          <a:bodyPr>
            <a:noAutofit/>
          </a:bodyPr>
          <a:lstStyle/>
          <a:p>
            <a:pPr>
              <a:lnSpc>
                <a:spcPct val="100000"/>
              </a:lnSpc>
              <a:spcBef>
                <a:spcPts val="1800"/>
              </a:spcBef>
              <a:spcAft>
                <a:spcPts val="600"/>
              </a:spcAft>
            </a:pPr>
            <a:r>
              <a:rPr lang="en-US" sz="3200" b="0" dirty="0">
                <a:solidFill>
                  <a:srgbClr val="000B2E"/>
                </a:solidFill>
              </a:rPr>
              <a:t>SIGNIFICANT OPPORTUNITY FOR PLAN GROWTH</a:t>
            </a:r>
            <a:br>
              <a:rPr lang="en-US" sz="3200" dirty="0">
                <a:solidFill>
                  <a:srgbClr val="000B2E"/>
                </a:solidFill>
              </a:rPr>
            </a:br>
            <a:r>
              <a:rPr lang="en-US" sz="2000" b="0" dirty="0">
                <a:solidFill>
                  <a:srgbClr val="000B2E"/>
                </a:solidFill>
              </a:rPr>
              <a:t>Researched for the below highlighted service area</a:t>
            </a:r>
            <a:endParaRPr lang="en-US" sz="1400" b="0" dirty="0">
              <a:solidFill>
                <a:schemeClr val="tx1">
                  <a:lumMod val="75000"/>
                  <a:lumOff val="25000"/>
                </a:schemeClr>
              </a:solidFill>
            </a:endParaRPr>
          </a:p>
        </p:txBody>
      </p:sp>
      <p:graphicFrame>
        <p:nvGraphicFramePr>
          <p:cNvPr id="8" name="Table 12">
            <a:extLst>
              <a:ext uri="{FF2B5EF4-FFF2-40B4-BE49-F238E27FC236}">
                <a16:creationId xmlns:a16="http://schemas.microsoft.com/office/drawing/2014/main" id="{B9E0A44D-EDC5-EBD5-4D77-F30FF46B060F}"/>
              </a:ext>
            </a:extLst>
          </p:cNvPr>
          <p:cNvGraphicFramePr>
            <a:graphicFrameLocks noGrp="1"/>
          </p:cNvGraphicFramePr>
          <p:nvPr>
            <p:extLst>
              <p:ext uri="{D42A27DB-BD31-4B8C-83A1-F6EECF244321}">
                <p14:modId xmlns:p14="http://schemas.microsoft.com/office/powerpoint/2010/main" val="2357208772"/>
              </p:ext>
            </p:extLst>
          </p:nvPr>
        </p:nvGraphicFramePr>
        <p:xfrm>
          <a:off x="4889297" y="2140949"/>
          <a:ext cx="6949427" cy="3441355"/>
        </p:xfrm>
        <a:graphic>
          <a:graphicData uri="http://schemas.openxmlformats.org/drawingml/2006/table">
            <a:tbl>
              <a:tblPr/>
              <a:tblGrid>
                <a:gridCol w="2681975">
                  <a:extLst>
                    <a:ext uri="{9D8B030D-6E8A-4147-A177-3AD203B41FA5}">
                      <a16:colId xmlns:a16="http://schemas.microsoft.com/office/drawing/2014/main" val="1559488425"/>
                    </a:ext>
                  </a:extLst>
                </a:gridCol>
                <a:gridCol w="711242">
                  <a:extLst>
                    <a:ext uri="{9D8B030D-6E8A-4147-A177-3AD203B41FA5}">
                      <a16:colId xmlns:a16="http://schemas.microsoft.com/office/drawing/2014/main" val="3447311937"/>
                    </a:ext>
                  </a:extLst>
                </a:gridCol>
                <a:gridCol w="711242">
                  <a:extLst>
                    <a:ext uri="{9D8B030D-6E8A-4147-A177-3AD203B41FA5}">
                      <a16:colId xmlns:a16="http://schemas.microsoft.com/office/drawing/2014/main" val="3754037008"/>
                    </a:ext>
                  </a:extLst>
                </a:gridCol>
                <a:gridCol w="711242">
                  <a:extLst>
                    <a:ext uri="{9D8B030D-6E8A-4147-A177-3AD203B41FA5}">
                      <a16:colId xmlns:a16="http://schemas.microsoft.com/office/drawing/2014/main" val="1458190780"/>
                    </a:ext>
                  </a:extLst>
                </a:gridCol>
                <a:gridCol w="711242">
                  <a:extLst>
                    <a:ext uri="{9D8B030D-6E8A-4147-A177-3AD203B41FA5}">
                      <a16:colId xmlns:a16="http://schemas.microsoft.com/office/drawing/2014/main" val="957112869"/>
                    </a:ext>
                  </a:extLst>
                </a:gridCol>
                <a:gridCol w="711242">
                  <a:extLst>
                    <a:ext uri="{9D8B030D-6E8A-4147-A177-3AD203B41FA5}">
                      <a16:colId xmlns:a16="http://schemas.microsoft.com/office/drawing/2014/main" val="257020552"/>
                    </a:ext>
                  </a:extLst>
                </a:gridCol>
                <a:gridCol w="711242">
                  <a:extLst>
                    <a:ext uri="{9D8B030D-6E8A-4147-A177-3AD203B41FA5}">
                      <a16:colId xmlns:a16="http://schemas.microsoft.com/office/drawing/2014/main" val="3699895334"/>
                    </a:ext>
                  </a:extLst>
                </a:gridCol>
              </a:tblGrid>
              <a:tr h="333130">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gridSpan="6">
                  <a:txBody>
                    <a:bodyPr/>
                    <a:lstStyle/>
                    <a:p>
                      <a:pPr algn="ctr" fontAlgn="b"/>
                      <a:r>
                        <a:rPr lang="en-US" sz="1100" b="0" i="0" u="none" strike="noStrike" dirty="0">
                          <a:solidFill>
                            <a:srgbClr val="000000"/>
                          </a:solidFill>
                          <a:effectLst/>
                          <a:latin typeface="Montserrat" panose="00000500000000000000" pitchFamily="2" charset="0"/>
                        </a:rPr>
                        <a:t>Employer Size Group (# of Employees)</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381166579"/>
                  </a:ext>
                </a:extLst>
              </a:tr>
              <a:tr h="539395">
                <a:tc>
                  <a:txBody>
                    <a:bodyPr/>
                    <a:lstStyle/>
                    <a:p>
                      <a:pPr algn="ctr" fontAlgn="b"/>
                      <a:r>
                        <a:rPr lang="en-US" sz="1100" b="1" i="0" u="none" strike="noStrike" dirty="0">
                          <a:solidFill>
                            <a:srgbClr val="000000"/>
                          </a:solidFill>
                          <a:effectLst/>
                          <a:latin typeface="Montserrat" panose="00000500000000000000" pitchFamily="2" charset="0"/>
                        </a:rPr>
                        <a:t>Commercial Employers With Headquarters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2831961423"/>
                  </a:ext>
                </a:extLst>
              </a:tr>
              <a:tr h="298008">
                <a:tc>
                  <a:txBody>
                    <a:bodyPr/>
                    <a:lstStyle/>
                    <a:p>
                      <a:pPr algn="ctr" fontAlgn="b"/>
                      <a:r>
                        <a:rPr lang="en-US" sz="1100" b="1" i="0" u="none" strike="noStrike" dirty="0">
                          <a:solidFill>
                            <a:srgbClr val="000000"/>
                          </a:solidFill>
                          <a:effectLst/>
                          <a:latin typeface="Montserrat" panose="00000500000000000000" pitchFamily="2" charset="0"/>
                        </a:rPr>
                        <a:t>In Catchment Area</a:t>
                      </a:r>
                    </a:p>
                  </a:txBody>
                  <a:tcPr marL="9525" marR="9525" marT="9525" marB="0">
                    <a:lnL>
                      <a:noFill/>
                    </a:lnL>
                    <a:lnR>
                      <a:noFill/>
                    </a:lnR>
                    <a:lnT>
                      <a:noFill/>
                    </a:lnT>
                    <a:lnB>
                      <a:noFill/>
                    </a:lnB>
                    <a:noFill/>
                  </a:tcPr>
                </a:tc>
                <a:tc>
                  <a:txBody>
                    <a:bodyPr/>
                    <a:lstStyle/>
                    <a:p>
                      <a:pPr algn="ctr" rtl="0" fontAlgn="b"/>
                      <a:r>
                        <a:rPr lang="en-US" sz="1100" b="0" i="0" u="none" strike="noStrike">
                          <a:solidFill>
                            <a:srgbClr val="000000"/>
                          </a:solidFill>
                          <a:effectLst/>
                          <a:latin typeface="Aptos Narrow" panose="020B0004020202020204" pitchFamily="34" charset="0"/>
                        </a:rPr>
                        <a:t>437</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180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97</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56</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11</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4</a:t>
                      </a:r>
                    </a:p>
                  </a:txBody>
                  <a:tcPr marL="9525" marR="9525" marT="9525" marB="0" anchor="b">
                    <a:lnL>
                      <a:noFill/>
                    </a:lnL>
                    <a:lnR>
                      <a:noFill/>
                    </a:lnR>
                    <a:lnT>
                      <a:noFill/>
                    </a:lnT>
                    <a:lnB>
                      <a:noFill/>
                    </a:lnB>
                    <a:noFill/>
                  </a:tcPr>
                </a:tc>
                <a:extLst>
                  <a:ext uri="{0D108BD9-81ED-4DB2-BD59-A6C34878D82A}">
                    <a16:rowId xmlns:a16="http://schemas.microsoft.com/office/drawing/2014/main" val="4059977521"/>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0967609"/>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Employees at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1072000535"/>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32,800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27,000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29,100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39,200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22,000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dirty="0">
                          <a:solidFill>
                            <a:srgbClr val="000000"/>
                          </a:solidFill>
                          <a:effectLst/>
                          <a:latin typeface="Aptos Narrow" panose="020B0004020202020204" pitchFamily="34" charset="0"/>
                        </a:rPr>
                        <a:t>24,000</a:t>
                      </a:r>
                    </a:p>
                  </a:txBody>
                  <a:tcPr marL="9525" marR="9525" marT="9525" marB="0" anchor="b">
                    <a:lnL>
                      <a:noFill/>
                    </a:lnL>
                    <a:lnR>
                      <a:noFill/>
                    </a:lnR>
                    <a:lnT>
                      <a:noFill/>
                    </a:lnT>
                    <a:lnB>
                      <a:noFill/>
                    </a:lnB>
                    <a:noFill/>
                  </a:tcPr>
                </a:tc>
                <a:extLst>
                  <a:ext uri="{0D108BD9-81ED-4DB2-BD59-A6C34878D82A}">
                    <a16:rowId xmlns:a16="http://schemas.microsoft.com/office/drawing/2014/main" val="486299110"/>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54517032"/>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Members with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306436592"/>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59,000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48,600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52,400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70,600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39,600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dirty="0">
                          <a:solidFill>
                            <a:srgbClr val="000000"/>
                          </a:solidFill>
                          <a:effectLst/>
                          <a:latin typeface="Aptos Narrow" panose="020B0004020202020204" pitchFamily="34" charset="0"/>
                        </a:rPr>
                        <a:t>43,200</a:t>
                      </a:r>
                    </a:p>
                  </a:txBody>
                  <a:tcPr marL="9525" marR="9525" marT="9525" marB="0" anchor="b">
                    <a:lnL>
                      <a:noFill/>
                    </a:lnL>
                    <a:lnR>
                      <a:noFill/>
                    </a:lnR>
                    <a:lnT>
                      <a:noFill/>
                    </a:lnT>
                    <a:lnB>
                      <a:noFill/>
                    </a:lnB>
                    <a:noFill/>
                  </a:tcPr>
                </a:tc>
                <a:extLst>
                  <a:ext uri="{0D108BD9-81ED-4DB2-BD59-A6C34878D82A}">
                    <a16:rowId xmlns:a16="http://schemas.microsoft.com/office/drawing/2014/main" val="1581610804"/>
                  </a:ext>
                </a:extLst>
              </a:tr>
            </a:tbl>
          </a:graphicData>
        </a:graphic>
      </p:graphicFrame>
      <p:pic>
        <p:nvPicPr>
          <p:cNvPr id="9" name="Content Placeholder 8"/>
          <p:cNvPicPr>
            <a:picLocks noGrp="1"/>
          </p:cNvPicPr>
          <p:nvPr>
            <p:ph/>
          </p:nvPr>
        </p:nvPicPr>
        <p:blipFill>
          <a:blip r:embed="rId2" cstate="print"/>
          <a:stretch>
            <a:fillRect/>
          </a:stretch>
        </p:blipFill>
        <p:spPr>
          <a:xfrm>
            <a:off x="-512064" y="1752255"/>
            <a:ext cx="6096000" cy="4876800"/>
          </a:xfrm>
          <a:prstGeom prst="rect">
            <a:avLst/>
          </a:prstGeom>
        </p:spPr>
      </p:pic>
    </p:spTree>
    <p:extLst>
      <p:ext uri="{BB962C8B-B14F-4D97-AF65-F5344CB8AC3E}">
        <p14:creationId xmlns:p14="http://schemas.microsoft.com/office/powerpoint/2010/main" val="16600605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588DF-56D9-837C-AA1C-128F048C493A}"/>
              </a:ext>
            </a:extLst>
          </p:cNvPr>
          <p:cNvSpPr>
            <a:spLocks noGrp="1"/>
          </p:cNvSpPr>
          <p:nvPr>
            <p:ph type="title"/>
          </p:nvPr>
        </p:nvSpPr>
        <p:spPr>
          <a:xfrm>
            <a:off x="981590" y="296677"/>
            <a:ext cx="10515600" cy="1325563"/>
          </a:xfrm>
        </p:spPr>
        <p:txBody>
          <a:bodyPr/>
          <a:lstStyle/>
          <a:p>
            <a:r>
              <a:rPr lang="en-US" b="0" dirty="0"/>
              <a:t>PLAN POTENTIAL GROWTH PATHS</a:t>
            </a:r>
          </a:p>
        </p:txBody>
      </p:sp>
      <p:grpSp>
        <p:nvGrpSpPr>
          <p:cNvPr id="3" name="Group 28">
            <a:extLst>
              <a:ext uri="{FF2B5EF4-FFF2-40B4-BE49-F238E27FC236}">
                <a16:creationId xmlns:a16="http://schemas.microsoft.com/office/drawing/2014/main" id="{69A10699-B4B2-AF88-E1A1-1EF0A88AB471}"/>
              </a:ext>
            </a:extLst>
          </p:cNvPr>
          <p:cNvGrpSpPr/>
          <p:nvPr/>
        </p:nvGrpSpPr>
        <p:grpSpPr>
          <a:xfrm>
            <a:off x="315991" y="1915224"/>
            <a:ext cx="4179295" cy="3636786"/>
            <a:chOff x="1267778" y="2161521"/>
            <a:chExt cx="8731885" cy="4307840"/>
          </a:xfrm>
        </p:grpSpPr>
        <p:grpSp>
          <p:nvGrpSpPr>
            <p:cNvPr id="4" name="Group 29">
              <a:extLst>
                <a:ext uri="{FF2B5EF4-FFF2-40B4-BE49-F238E27FC236}">
                  <a16:creationId xmlns:a16="http://schemas.microsoft.com/office/drawing/2014/main" id="{11C874E5-E3B4-BAE0-4E2D-2C86D4E7E53A}"/>
                </a:ext>
              </a:extLst>
            </p:cNvPr>
            <p:cNvGrpSpPr/>
            <p:nvPr/>
          </p:nvGrpSpPr>
          <p:grpSpPr>
            <a:xfrm>
              <a:off x="1267778" y="5494001"/>
              <a:ext cx="7329805" cy="975360"/>
              <a:chOff x="1267778" y="5494001"/>
              <a:chExt cx="7329805" cy="975360"/>
            </a:xfrm>
          </p:grpSpPr>
          <p:sp>
            <p:nvSpPr>
              <p:cNvPr id="5" name="Freeform: Shape 72">
                <a:extLst>
                  <a:ext uri="{FF2B5EF4-FFF2-40B4-BE49-F238E27FC236}">
                    <a16:creationId xmlns:a16="http://schemas.microsoft.com/office/drawing/2014/main" id="{C2AD90F2-700F-581B-540A-D6A10D5F84F2}"/>
                  </a:ext>
                </a:extLst>
              </p:cNvPr>
              <p:cNvSpPr/>
              <p:nvPr/>
            </p:nvSpPr>
            <p:spPr>
              <a:xfrm flipV="1">
                <a:off x="2339023" y="5494001"/>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98060"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6" name="TextBox 73">
                <a:extLst>
                  <a:ext uri="{FF2B5EF4-FFF2-40B4-BE49-F238E27FC236}">
                    <a16:creationId xmlns:a16="http://schemas.microsoft.com/office/drawing/2014/main" id="{AEAD331A-F2F6-E5AA-6FA8-43463612A331}"/>
                  </a:ext>
                </a:extLst>
              </p:cNvPr>
              <p:cNvSpPr txBox="1"/>
              <p:nvPr/>
            </p:nvSpPr>
            <p:spPr>
              <a:xfrm>
                <a:off x="1267778" y="5759838"/>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Population</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7" name="Group 30">
              <a:extLst>
                <a:ext uri="{FF2B5EF4-FFF2-40B4-BE49-F238E27FC236}">
                  <a16:creationId xmlns:a16="http://schemas.microsoft.com/office/drawing/2014/main" id="{689474B3-12FA-8E66-D71F-53822C9C68C9}"/>
                </a:ext>
              </a:extLst>
            </p:cNvPr>
            <p:cNvGrpSpPr/>
            <p:nvPr/>
          </p:nvGrpSpPr>
          <p:grpSpPr>
            <a:xfrm>
              <a:off x="1724978" y="2161521"/>
              <a:ext cx="8274685" cy="3197014"/>
              <a:chOff x="3170556" y="1830493"/>
              <a:chExt cx="8274685" cy="3197014"/>
            </a:xfrm>
          </p:grpSpPr>
          <p:grpSp>
            <p:nvGrpSpPr>
              <p:cNvPr id="8" name="Group 58">
                <a:extLst>
                  <a:ext uri="{FF2B5EF4-FFF2-40B4-BE49-F238E27FC236}">
                    <a16:creationId xmlns:a16="http://schemas.microsoft.com/office/drawing/2014/main" id="{51ED3EA0-1B18-EEE0-293E-BB00AD4DE764}"/>
                  </a:ext>
                </a:extLst>
              </p:cNvPr>
              <p:cNvGrpSpPr/>
              <p:nvPr/>
            </p:nvGrpSpPr>
            <p:grpSpPr>
              <a:xfrm>
                <a:off x="3170556" y="4052147"/>
                <a:ext cx="7339965" cy="975360"/>
                <a:chOff x="3170556" y="4052147"/>
                <a:chExt cx="7339965" cy="975360"/>
              </a:xfrm>
            </p:grpSpPr>
            <p:sp>
              <p:nvSpPr>
                <p:cNvPr id="9" name="Freeform: Shape 62">
                  <a:extLst>
                    <a:ext uri="{FF2B5EF4-FFF2-40B4-BE49-F238E27FC236}">
                      <a16:creationId xmlns:a16="http://schemas.microsoft.com/office/drawing/2014/main" id="{BC70B6BA-E51B-5756-ABB1-C97D21E56F2F}"/>
                    </a:ext>
                  </a:extLst>
                </p:cNvPr>
                <p:cNvSpPr/>
                <p:nvPr/>
              </p:nvSpPr>
              <p:spPr>
                <a:xfrm flipV="1">
                  <a:off x="4251961" y="4052147"/>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0" name="TextBox 63">
                  <a:extLst>
                    <a:ext uri="{FF2B5EF4-FFF2-40B4-BE49-F238E27FC236}">
                      <a16:creationId xmlns:a16="http://schemas.microsoft.com/office/drawing/2014/main" id="{89D49C14-1775-066C-353B-1ACCC4D24138}"/>
                    </a:ext>
                  </a:extLst>
                </p:cNvPr>
                <p:cNvSpPr txBox="1"/>
                <p:nvPr/>
              </p:nvSpPr>
              <p:spPr>
                <a:xfrm>
                  <a:off x="3170556" y="4317984"/>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Working Age</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1" name="Group 52">
                <a:extLst>
                  <a:ext uri="{FF2B5EF4-FFF2-40B4-BE49-F238E27FC236}">
                    <a16:creationId xmlns:a16="http://schemas.microsoft.com/office/drawing/2014/main" id="{1DBB449D-FFE3-79BF-CC4B-CBC0A3F03B29}"/>
                  </a:ext>
                </a:extLst>
              </p:cNvPr>
              <p:cNvGrpSpPr/>
              <p:nvPr/>
            </p:nvGrpSpPr>
            <p:grpSpPr>
              <a:xfrm>
                <a:off x="3612748" y="2930285"/>
                <a:ext cx="7365133" cy="975360"/>
                <a:chOff x="3612747" y="2930285"/>
                <a:chExt cx="7365133" cy="975360"/>
              </a:xfrm>
            </p:grpSpPr>
            <p:sp>
              <p:nvSpPr>
                <p:cNvPr id="12" name="Freeform: Shape 56">
                  <a:extLst>
                    <a:ext uri="{FF2B5EF4-FFF2-40B4-BE49-F238E27FC236}">
                      <a16:creationId xmlns:a16="http://schemas.microsoft.com/office/drawing/2014/main" id="{2D2231FB-5290-0F34-19A4-B0491233CE27}"/>
                    </a:ext>
                  </a:extLst>
                </p:cNvPr>
                <p:cNvSpPr/>
                <p:nvPr/>
              </p:nvSpPr>
              <p:spPr>
                <a:xfrm flipV="1">
                  <a:off x="4719320" y="2930285"/>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3" name="TextBox 57">
                  <a:extLst>
                    <a:ext uri="{FF2B5EF4-FFF2-40B4-BE49-F238E27FC236}">
                      <a16:creationId xmlns:a16="http://schemas.microsoft.com/office/drawing/2014/main" id="{3C6B2C41-D61E-2C7A-3D82-5A90E06CEE5A}"/>
                    </a:ext>
                  </a:extLst>
                </p:cNvPr>
                <p:cNvSpPr txBox="1"/>
                <p:nvPr/>
              </p:nvSpPr>
              <p:spPr>
                <a:xfrm>
                  <a:off x="3612747" y="3206963"/>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Insured</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4" name="Group 46">
                <a:extLst>
                  <a:ext uri="{FF2B5EF4-FFF2-40B4-BE49-F238E27FC236}">
                    <a16:creationId xmlns:a16="http://schemas.microsoft.com/office/drawing/2014/main" id="{F80321D4-B659-65A7-5D2E-CFE404DB4D8E}"/>
                  </a:ext>
                </a:extLst>
              </p:cNvPr>
              <p:cNvGrpSpPr/>
              <p:nvPr/>
            </p:nvGrpSpPr>
            <p:grpSpPr>
              <a:xfrm>
                <a:off x="4104006" y="1830493"/>
                <a:ext cx="7341235" cy="975360"/>
                <a:chOff x="4104006" y="1830493"/>
                <a:chExt cx="7341235" cy="975360"/>
              </a:xfrm>
            </p:grpSpPr>
            <p:sp>
              <p:nvSpPr>
                <p:cNvPr id="15" name="Freeform: Shape 50">
                  <a:extLst>
                    <a:ext uri="{FF2B5EF4-FFF2-40B4-BE49-F238E27FC236}">
                      <a16:creationId xmlns:a16="http://schemas.microsoft.com/office/drawing/2014/main" id="{19C69411-1E7E-AB74-D150-B508F4902A7E}"/>
                    </a:ext>
                  </a:extLst>
                </p:cNvPr>
                <p:cNvSpPr/>
                <p:nvPr/>
              </p:nvSpPr>
              <p:spPr>
                <a:xfrm flipV="1">
                  <a:off x="5186681" y="1830493"/>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6" name="TextBox 51">
                  <a:extLst>
                    <a:ext uri="{FF2B5EF4-FFF2-40B4-BE49-F238E27FC236}">
                      <a16:creationId xmlns:a16="http://schemas.microsoft.com/office/drawing/2014/main" id="{2AE87841-825C-FE4F-1AB9-6CC03862C17F}"/>
                    </a:ext>
                  </a:extLst>
                </p:cNvPr>
                <p:cNvSpPr txBox="1"/>
                <p:nvPr/>
              </p:nvSpPr>
              <p:spPr>
                <a:xfrm>
                  <a:off x="4104006" y="2096329"/>
                  <a:ext cx="3705005"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Self Funded</a:t>
                  </a:r>
                  <a:endParaRPr lang="en-IN" sz="1600" b="1" i="1" dirty="0">
                    <a:solidFill>
                      <a:schemeClr val="bg1"/>
                    </a:solidFill>
                    <a:latin typeface="Montserrat" panose="00000500000000000000" pitchFamily="2" charset="0"/>
                    <a:cs typeface="Arial" panose="020B0604020202020204" pitchFamily="34" charset="0"/>
                  </a:endParaRPr>
                </a:p>
              </p:txBody>
            </p:sp>
          </p:grpSp>
        </p:grpSp>
        <p:sp>
          <p:nvSpPr>
            <p:cNvPr id="17" name="Freeform: Shape 31">
              <a:extLst>
                <a:ext uri="{FF2B5EF4-FFF2-40B4-BE49-F238E27FC236}">
                  <a16:creationId xmlns:a16="http://schemas.microsoft.com/office/drawing/2014/main" id="{93803CD4-6355-5262-37E3-213F86A67BEA}"/>
                </a:ext>
              </a:extLst>
            </p:cNvPr>
            <p:cNvSpPr/>
            <p:nvPr/>
          </p:nvSpPr>
          <p:spPr>
            <a:xfrm flipV="1">
              <a:off x="7997252" y="517548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nvGrpSpPr>
            <p:cNvPr id="18" name="Group 32">
              <a:extLst>
                <a:ext uri="{FF2B5EF4-FFF2-40B4-BE49-F238E27FC236}">
                  <a16:creationId xmlns:a16="http://schemas.microsoft.com/office/drawing/2014/main" id="{C15EBE08-F14E-85B7-24FB-021AE8C94BA3}"/>
                </a:ext>
              </a:extLst>
            </p:cNvPr>
            <p:cNvGrpSpPr/>
            <p:nvPr/>
          </p:nvGrpSpPr>
          <p:grpSpPr>
            <a:xfrm>
              <a:off x="8755080" y="3384449"/>
              <a:ext cx="568098" cy="706284"/>
              <a:chOff x="3970882" y="2311049"/>
              <a:chExt cx="704850" cy="876300"/>
            </a:xfrm>
          </p:grpSpPr>
          <p:sp>
            <p:nvSpPr>
              <p:cNvPr id="19" name="Freeform: Shape 36">
                <a:extLst>
                  <a:ext uri="{FF2B5EF4-FFF2-40B4-BE49-F238E27FC236}">
                    <a16:creationId xmlns:a16="http://schemas.microsoft.com/office/drawing/2014/main" id="{99971868-A4E7-F273-D79D-9C20F2C9304D}"/>
                  </a:ext>
                </a:extLst>
              </p:cNvPr>
              <p:cNvSpPr/>
              <p:nvPr/>
            </p:nvSpPr>
            <p:spPr>
              <a:xfrm>
                <a:off x="3970882" y="2311049"/>
                <a:ext cx="704850" cy="876300"/>
              </a:xfrm>
              <a:custGeom>
                <a:avLst/>
                <a:gdLst>
                  <a:gd name="connsiteX0" fmla="*/ 7144 w 704850"/>
                  <a:gd name="connsiteY0" fmla="*/ 410166 h 876300"/>
                  <a:gd name="connsiteX1" fmla="*/ 7144 w 704850"/>
                  <a:gd name="connsiteY1" fmla="*/ 312791 h 876300"/>
                  <a:gd name="connsiteX2" fmla="*/ 164497 w 704850"/>
                  <a:gd name="connsiteY2" fmla="*/ 221942 h 876300"/>
                  <a:gd name="connsiteX3" fmla="*/ 164497 w 704850"/>
                  <a:gd name="connsiteY3" fmla="*/ 220266 h 876300"/>
                  <a:gd name="connsiteX4" fmla="*/ 164497 w 704850"/>
                  <a:gd name="connsiteY4" fmla="*/ 218589 h 876300"/>
                  <a:gd name="connsiteX5" fmla="*/ 140141 w 704850"/>
                  <a:gd name="connsiteY5" fmla="*/ 162935 h 876300"/>
                  <a:gd name="connsiteX6" fmla="*/ 140141 w 704850"/>
                  <a:gd name="connsiteY6" fmla="*/ 91459 h 876300"/>
                  <a:gd name="connsiteX7" fmla="*/ 156782 w 704850"/>
                  <a:gd name="connsiteY7" fmla="*/ 138608 h 876300"/>
                  <a:gd name="connsiteX8" fmla="*/ 140160 w 704850"/>
                  <a:gd name="connsiteY8" fmla="*/ 91478 h 876300"/>
                  <a:gd name="connsiteX9" fmla="*/ 237554 w 704850"/>
                  <a:gd name="connsiteY9" fmla="*/ 7144 h 876300"/>
                  <a:gd name="connsiteX10" fmla="*/ 334937 w 704850"/>
                  <a:gd name="connsiteY10" fmla="*/ 91488 h 876300"/>
                  <a:gd name="connsiteX11" fmla="*/ 334909 w 704850"/>
                  <a:gd name="connsiteY11" fmla="*/ 91964 h 876300"/>
                  <a:gd name="connsiteX12" fmla="*/ 334909 w 704850"/>
                  <a:gd name="connsiteY12" fmla="*/ 162963 h 876300"/>
                  <a:gd name="connsiteX13" fmla="*/ 334756 w 704850"/>
                  <a:gd name="connsiteY13" fmla="*/ 165440 h 876300"/>
                  <a:gd name="connsiteX14" fmla="*/ 334499 w 704850"/>
                  <a:gd name="connsiteY14" fmla="*/ 170240 h 876300"/>
                  <a:gd name="connsiteX15" fmla="*/ 334261 w 704850"/>
                  <a:gd name="connsiteY15" fmla="*/ 172488 h 876300"/>
                  <a:gd name="connsiteX16" fmla="*/ 332975 w 704850"/>
                  <a:gd name="connsiteY16" fmla="*/ 179756 h 876300"/>
                  <a:gd name="connsiteX17" fmla="*/ 332899 w 704850"/>
                  <a:gd name="connsiteY17" fmla="*/ 180051 h 876300"/>
                  <a:gd name="connsiteX18" fmla="*/ 332261 w 704850"/>
                  <a:gd name="connsiteY18" fmla="*/ 182204 h 876300"/>
                  <a:gd name="connsiteX19" fmla="*/ 467963 w 704850"/>
                  <a:gd name="connsiteY19" fmla="*/ 338880 h 876300"/>
                  <a:gd name="connsiteX20" fmla="*/ 467963 w 704850"/>
                  <a:gd name="connsiteY20" fmla="*/ 436274 h 876300"/>
                  <a:gd name="connsiteX21" fmla="*/ 175803 w 704850"/>
                  <a:gd name="connsiteY21" fmla="*/ 604923 h 876300"/>
                  <a:gd name="connsiteX22" fmla="*/ 7144 w 704850"/>
                  <a:gd name="connsiteY22" fmla="*/ 410166 h 876300"/>
                  <a:gd name="connsiteX23" fmla="*/ 695516 w 704850"/>
                  <a:gd name="connsiteY23" fmla="*/ 699859 h 876300"/>
                  <a:gd name="connsiteX24" fmla="*/ 403384 w 704850"/>
                  <a:gd name="connsiteY24" fmla="*/ 868518 h 876300"/>
                  <a:gd name="connsiteX25" fmla="*/ 401003 w 704850"/>
                  <a:gd name="connsiteY25" fmla="*/ 869156 h 876300"/>
                  <a:gd name="connsiteX26" fmla="*/ 397402 w 704850"/>
                  <a:gd name="connsiteY26" fmla="*/ 867508 h 876300"/>
                  <a:gd name="connsiteX27" fmla="*/ 228724 w 704850"/>
                  <a:gd name="connsiteY27" fmla="*/ 672770 h 876300"/>
                  <a:gd name="connsiteX28" fmla="*/ 227628 w 704850"/>
                  <a:gd name="connsiteY28" fmla="*/ 668865 h 876300"/>
                  <a:gd name="connsiteX29" fmla="*/ 229943 w 704850"/>
                  <a:gd name="connsiteY29" fmla="*/ 665531 h 876300"/>
                  <a:gd name="connsiteX30" fmla="*/ 522094 w 704850"/>
                  <a:gd name="connsiteY30" fmla="*/ 496853 h 876300"/>
                  <a:gd name="connsiteX31" fmla="*/ 528076 w 704850"/>
                  <a:gd name="connsiteY31" fmla="*/ 497853 h 876300"/>
                  <a:gd name="connsiteX32" fmla="*/ 696735 w 704850"/>
                  <a:gd name="connsiteY32" fmla="*/ 692610 h 876300"/>
                  <a:gd name="connsiteX33" fmla="*/ 697830 w 704850"/>
                  <a:gd name="connsiteY33" fmla="*/ 696516 h 876300"/>
                  <a:gd name="connsiteX34" fmla="*/ 695516 w 704850"/>
                  <a:gd name="connsiteY34" fmla="*/ 699859 h 87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04850" h="876300">
                    <a:moveTo>
                      <a:pt x="7144" y="410166"/>
                    </a:moveTo>
                    <a:lnTo>
                      <a:pt x="7144" y="312791"/>
                    </a:lnTo>
                    <a:lnTo>
                      <a:pt x="164497" y="221942"/>
                    </a:lnTo>
                    <a:lnTo>
                      <a:pt x="164497" y="220266"/>
                    </a:lnTo>
                    <a:lnTo>
                      <a:pt x="164497" y="218589"/>
                    </a:lnTo>
                    <a:cubicBezTo>
                      <a:pt x="149390" y="203730"/>
                      <a:pt x="140141" y="184290"/>
                      <a:pt x="140141" y="162935"/>
                    </a:cubicBezTo>
                    <a:lnTo>
                      <a:pt x="140141" y="91459"/>
                    </a:lnTo>
                    <a:cubicBezTo>
                      <a:pt x="140141" y="108918"/>
                      <a:pt x="146275" y="125149"/>
                      <a:pt x="156782" y="138608"/>
                    </a:cubicBezTo>
                    <a:cubicBezTo>
                      <a:pt x="146285" y="125149"/>
                      <a:pt x="140160" y="108937"/>
                      <a:pt x="140160" y="91478"/>
                    </a:cubicBezTo>
                    <a:cubicBezTo>
                      <a:pt x="140160" y="44901"/>
                      <a:pt x="183775" y="7144"/>
                      <a:pt x="237554" y="7144"/>
                    </a:cubicBezTo>
                    <a:cubicBezTo>
                      <a:pt x="291313" y="7144"/>
                      <a:pt x="334918" y="44901"/>
                      <a:pt x="334937" y="91488"/>
                    </a:cubicBezTo>
                    <a:cubicBezTo>
                      <a:pt x="334937" y="91650"/>
                      <a:pt x="334909" y="91802"/>
                      <a:pt x="334909" y="91964"/>
                    </a:cubicBezTo>
                    <a:lnTo>
                      <a:pt x="334909" y="162963"/>
                    </a:lnTo>
                    <a:cubicBezTo>
                      <a:pt x="334909" y="163792"/>
                      <a:pt x="334794" y="164602"/>
                      <a:pt x="334756" y="165440"/>
                    </a:cubicBezTo>
                    <a:cubicBezTo>
                      <a:pt x="334699" y="167040"/>
                      <a:pt x="334632" y="168650"/>
                      <a:pt x="334499" y="170240"/>
                    </a:cubicBezTo>
                    <a:cubicBezTo>
                      <a:pt x="334413" y="170983"/>
                      <a:pt x="334356" y="171736"/>
                      <a:pt x="334261" y="172488"/>
                    </a:cubicBezTo>
                    <a:cubicBezTo>
                      <a:pt x="333927" y="174936"/>
                      <a:pt x="333537" y="177375"/>
                      <a:pt x="332975" y="179756"/>
                    </a:cubicBezTo>
                    <a:cubicBezTo>
                      <a:pt x="332956" y="179851"/>
                      <a:pt x="332918" y="179946"/>
                      <a:pt x="332899" y="180051"/>
                    </a:cubicBezTo>
                    <a:cubicBezTo>
                      <a:pt x="332718" y="180785"/>
                      <a:pt x="332461" y="181480"/>
                      <a:pt x="332261" y="182204"/>
                    </a:cubicBezTo>
                    <a:lnTo>
                      <a:pt x="467963" y="338880"/>
                    </a:lnTo>
                    <a:lnTo>
                      <a:pt x="467963" y="436274"/>
                    </a:lnTo>
                    <a:lnTo>
                      <a:pt x="175803" y="604923"/>
                    </a:lnTo>
                    <a:lnTo>
                      <a:pt x="7144" y="410166"/>
                    </a:lnTo>
                    <a:close/>
                    <a:moveTo>
                      <a:pt x="695516" y="699859"/>
                    </a:moveTo>
                    <a:lnTo>
                      <a:pt x="403384" y="868518"/>
                    </a:lnTo>
                    <a:cubicBezTo>
                      <a:pt x="402641" y="868956"/>
                      <a:pt x="401822" y="869156"/>
                      <a:pt x="401003" y="869156"/>
                    </a:cubicBezTo>
                    <a:cubicBezTo>
                      <a:pt x="399660" y="869156"/>
                      <a:pt x="398336" y="868585"/>
                      <a:pt x="397402" y="867508"/>
                    </a:cubicBezTo>
                    <a:lnTo>
                      <a:pt x="228724" y="672770"/>
                    </a:lnTo>
                    <a:cubicBezTo>
                      <a:pt x="227790" y="671703"/>
                      <a:pt x="227390" y="670265"/>
                      <a:pt x="227628" y="668865"/>
                    </a:cubicBezTo>
                    <a:cubicBezTo>
                      <a:pt x="227867" y="667464"/>
                      <a:pt x="228714" y="666245"/>
                      <a:pt x="229943" y="665531"/>
                    </a:cubicBezTo>
                    <a:lnTo>
                      <a:pt x="522094" y="496853"/>
                    </a:lnTo>
                    <a:cubicBezTo>
                      <a:pt x="524056" y="495700"/>
                      <a:pt x="526590" y="496119"/>
                      <a:pt x="528076" y="497853"/>
                    </a:cubicBezTo>
                    <a:lnTo>
                      <a:pt x="696735" y="692610"/>
                    </a:lnTo>
                    <a:cubicBezTo>
                      <a:pt x="697668" y="693677"/>
                      <a:pt x="698068" y="695115"/>
                      <a:pt x="697830" y="696516"/>
                    </a:cubicBezTo>
                    <a:cubicBezTo>
                      <a:pt x="697592" y="697916"/>
                      <a:pt x="696744" y="699145"/>
                      <a:pt x="695516" y="699859"/>
                    </a:cubicBezTo>
                    <a:close/>
                  </a:path>
                </a:pathLst>
              </a:custGeom>
              <a:no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0" name="Freeform: Shape 37">
                <a:extLst>
                  <a:ext uri="{FF2B5EF4-FFF2-40B4-BE49-F238E27FC236}">
                    <a16:creationId xmlns:a16="http://schemas.microsoft.com/office/drawing/2014/main" id="{26D4449C-E24F-47A1-0BA9-B4D1231EE90A}"/>
                  </a:ext>
                </a:extLst>
              </p:cNvPr>
              <p:cNvSpPr/>
              <p:nvPr/>
            </p:nvSpPr>
            <p:spPr>
              <a:xfrm>
                <a:off x="4272815" y="2536792"/>
                <a:ext cx="9525" cy="9525"/>
              </a:xfrm>
              <a:custGeom>
                <a:avLst/>
                <a:gdLst>
                  <a:gd name="connsiteX0" fmla="*/ 7182 w 9525"/>
                  <a:gd name="connsiteY0" fmla="*/ 7144 h 9525"/>
                  <a:gd name="connsiteX1" fmla="*/ 7144 w 9525"/>
                  <a:gd name="connsiteY1" fmla="*/ 7296 h 9525"/>
                  <a:gd name="connsiteX2" fmla="*/ 7182 w 9525"/>
                  <a:gd name="connsiteY2" fmla="*/ 7172 h 9525"/>
                </a:gdLst>
                <a:ahLst/>
                <a:cxnLst>
                  <a:cxn ang="0">
                    <a:pos x="connsiteX0" y="connsiteY0"/>
                  </a:cxn>
                  <a:cxn ang="0">
                    <a:pos x="connsiteX1" y="connsiteY1"/>
                  </a:cxn>
                  <a:cxn ang="0">
                    <a:pos x="connsiteX2" y="connsiteY2"/>
                  </a:cxn>
                </a:cxnLst>
                <a:rect l="l" t="t" r="r" b="b"/>
                <a:pathLst>
                  <a:path w="9525" h="9525">
                    <a:moveTo>
                      <a:pt x="7182" y="7144"/>
                    </a:moveTo>
                    <a:lnTo>
                      <a:pt x="7144" y="7296"/>
                    </a:lnTo>
                    <a:lnTo>
                      <a:pt x="7182" y="7172"/>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1" name="Freeform: Shape 38">
                <a:extLst>
                  <a:ext uri="{FF2B5EF4-FFF2-40B4-BE49-F238E27FC236}">
                    <a16:creationId xmlns:a16="http://schemas.microsoft.com/office/drawing/2014/main" id="{380CB4F0-D598-949F-D94F-54D7DBD5CD13}"/>
                  </a:ext>
                </a:extLst>
              </p:cNvPr>
              <p:cNvSpPr/>
              <p:nvPr/>
            </p:nvSpPr>
            <p:spPr>
              <a:xfrm>
                <a:off x="4234039" y="2448019"/>
                <a:ext cx="38100" cy="28575"/>
              </a:xfrm>
              <a:custGeom>
                <a:avLst/>
                <a:gdLst>
                  <a:gd name="connsiteX0" fmla="*/ 7144 w 38100"/>
                  <a:gd name="connsiteY0" fmla="*/ 23879 h 28575"/>
                  <a:gd name="connsiteX1" fmla="*/ 9049 w 38100"/>
                  <a:gd name="connsiteY1" fmla="*/ 23241 h 28575"/>
                  <a:gd name="connsiteX2" fmla="*/ 9896 w 38100"/>
                  <a:gd name="connsiteY2" fmla="*/ 22927 h 28575"/>
                  <a:gd name="connsiteX3" fmla="*/ 17659 w 38100"/>
                  <a:gd name="connsiteY3" fmla="*/ 19555 h 28575"/>
                  <a:gd name="connsiteX4" fmla="*/ 19040 w 38100"/>
                  <a:gd name="connsiteY4" fmla="*/ 18831 h 28575"/>
                  <a:gd name="connsiteX5" fmla="*/ 20241 w 38100"/>
                  <a:gd name="connsiteY5" fmla="*/ 18202 h 28575"/>
                  <a:gd name="connsiteX6" fmla="*/ 25803 w 38100"/>
                  <a:gd name="connsiteY6" fmla="*/ 15069 h 28575"/>
                  <a:gd name="connsiteX7" fmla="*/ 29518 w 38100"/>
                  <a:gd name="connsiteY7" fmla="*/ 12649 h 28575"/>
                  <a:gd name="connsiteX8" fmla="*/ 30413 w 38100"/>
                  <a:gd name="connsiteY8" fmla="*/ 12049 h 28575"/>
                  <a:gd name="connsiteX9" fmla="*/ 31423 w 38100"/>
                  <a:gd name="connsiteY9" fmla="*/ 11354 h 28575"/>
                  <a:gd name="connsiteX10" fmla="*/ 36376 w 38100"/>
                  <a:gd name="connsiteY10" fmla="*/ 7439 h 28575"/>
                  <a:gd name="connsiteX11" fmla="*/ 36119 w 38100"/>
                  <a:gd name="connsiteY11" fmla="*/ 7144 h 28575"/>
                  <a:gd name="connsiteX12" fmla="*/ 7144 w 38100"/>
                  <a:gd name="connsiteY12" fmla="*/ 23879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00" h="28575">
                    <a:moveTo>
                      <a:pt x="7144" y="23879"/>
                    </a:moveTo>
                    <a:cubicBezTo>
                      <a:pt x="7772" y="23670"/>
                      <a:pt x="8458" y="23460"/>
                      <a:pt x="9049" y="23241"/>
                    </a:cubicBezTo>
                    <a:lnTo>
                      <a:pt x="9896" y="22927"/>
                    </a:lnTo>
                    <a:cubicBezTo>
                      <a:pt x="12449" y="21955"/>
                      <a:pt x="15059" y="20822"/>
                      <a:pt x="17659" y="19555"/>
                    </a:cubicBezTo>
                    <a:cubicBezTo>
                      <a:pt x="18117" y="19336"/>
                      <a:pt x="18583" y="19079"/>
                      <a:pt x="19040" y="18831"/>
                    </a:cubicBezTo>
                    <a:lnTo>
                      <a:pt x="20241" y="18202"/>
                    </a:lnTo>
                    <a:cubicBezTo>
                      <a:pt x="22117" y="17221"/>
                      <a:pt x="23993" y="16164"/>
                      <a:pt x="25803" y="15069"/>
                    </a:cubicBezTo>
                    <a:cubicBezTo>
                      <a:pt x="27022" y="14316"/>
                      <a:pt x="28270" y="13506"/>
                      <a:pt x="29518" y="12649"/>
                    </a:cubicBezTo>
                    <a:lnTo>
                      <a:pt x="30413" y="12049"/>
                    </a:lnTo>
                    <a:lnTo>
                      <a:pt x="31423" y="11354"/>
                    </a:lnTo>
                    <a:cubicBezTo>
                      <a:pt x="33090" y="10135"/>
                      <a:pt x="34757" y="8820"/>
                      <a:pt x="36376" y="7439"/>
                    </a:cubicBezTo>
                    <a:lnTo>
                      <a:pt x="36119" y="7144"/>
                    </a:lnTo>
                    <a:lnTo>
                      <a:pt x="7144" y="23879"/>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2" name="Freeform: Shape 39">
                <a:extLst>
                  <a:ext uri="{FF2B5EF4-FFF2-40B4-BE49-F238E27FC236}">
                    <a16:creationId xmlns:a16="http://schemas.microsoft.com/office/drawing/2014/main" id="{71E01EC1-04E0-F00A-E7D0-A3570350B0AE}"/>
                  </a:ext>
                </a:extLst>
              </p:cNvPr>
              <p:cNvSpPr/>
              <p:nvPr/>
            </p:nvSpPr>
            <p:spPr>
              <a:xfrm>
                <a:off x="4266357" y="2417310"/>
                <a:ext cx="19050" cy="38100"/>
              </a:xfrm>
              <a:custGeom>
                <a:avLst/>
                <a:gdLst>
                  <a:gd name="connsiteX0" fmla="*/ 14792 w 19050"/>
                  <a:gd name="connsiteY0" fmla="*/ 12287 h 38100"/>
                  <a:gd name="connsiteX1" fmla="*/ 14621 w 19050"/>
                  <a:gd name="connsiteY1" fmla="*/ 13954 h 38100"/>
                  <a:gd name="connsiteX2" fmla="*/ 13649 w 19050"/>
                  <a:gd name="connsiteY2" fmla="*/ 19469 h 38100"/>
                  <a:gd name="connsiteX3" fmla="*/ 13611 w 19050"/>
                  <a:gd name="connsiteY3" fmla="*/ 19583 h 38100"/>
                  <a:gd name="connsiteX4" fmla="*/ 12011 w 19050"/>
                  <a:gd name="connsiteY4" fmla="*/ 25003 h 38100"/>
                  <a:gd name="connsiteX5" fmla="*/ 11430 w 19050"/>
                  <a:gd name="connsiteY5" fmla="*/ 26565 h 38100"/>
                  <a:gd name="connsiteX6" fmla="*/ 9754 w 19050"/>
                  <a:gd name="connsiteY6" fmla="*/ 30490 h 38100"/>
                  <a:gd name="connsiteX7" fmla="*/ 9106 w 19050"/>
                  <a:gd name="connsiteY7" fmla="*/ 31899 h 38100"/>
                  <a:gd name="connsiteX8" fmla="*/ 7144 w 19050"/>
                  <a:gd name="connsiteY8" fmla="*/ 35433 h 38100"/>
                  <a:gd name="connsiteX9" fmla="*/ 9830 w 19050"/>
                  <a:gd name="connsiteY9" fmla="*/ 32766 h 38100"/>
                  <a:gd name="connsiteX10" fmla="*/ 10925 w 19050"/>
                  <a:gd name="connsiteY10" fmla="*/ 31566 h 38100"/>
                  <a:gd name="connsiteX11" fmla="*/ 10992 w 19050"/>
                  <a:gd name="connsiteY11" fmla="*/ 31490 h 38100"/>
                  <a:gd name="connsiteX12" fmla="*/ 11316 w 19050"/>
                  <a:gd name="connsiteY12" fmla="*/ 31128 h 38100"/>
                  <a:gd name="connsiteX13" fmla="*/ 14535 w 19050"/>
                  <a:gd name="connsiteY13" fmla="*/ 27403 h 38100"/>
                  <a:gd name="connsiteX14" fmla="*/ 15088 w 19050"/>
                  <a:gd name="connsiteY14" fmla="*/ 26708 h 38100"/>
                  <a:gd name="connsiteX15" fmla="*/ 15088 w 19050"/>
                  <a:gd name="connsiteY15" fmla="*/ 7144 h 38100"/>
                  <a:gd name="connsiteX16" fmla="*/ 14792 w 19050"/>
                  <a:gd name="connsiteY16" fmla="*/ 1228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 h="38100">
                    <a:moveTo>
                      <a:pt x="14792" y="12287"/>
                    </a:moveTo>
                    <a:cubicBezTo>
                      <a:pt x="14735" y="12849"/>
                      <a:pt x="14697" y="13402"/>
                      <a:pt x="14621" y="13954"/>
                    </a:cubicBezTo>
                    <a:cubicBezTo>
                      <a:pt x="14373" y="15811"/>
                      <a:pt x="14059" y="17669"/>
                      <a:pt x="13649" y="19469"/>
                    </a:cubicBezTo>
                    <a:cubicBezTo>
                      <a:pt x="13630" y="19507"/>
                      <a:pt x="13630" y="19545"/>
                      <a:pt x="13611" y="19583"/>
                    </a:cubicBezTo>
                    <a:cubicBezTo>
                      <a:pt x="13183" y="21422"/>
                      <a:pt x="12621" y="23222"/>
                      <a:pt x="12011" y="25003"/>
                    </a:cubicBezTo>
                    <a:cubicBezTo>
                      <a:pt x="11820" y="25537"/>
                      <a:pt x="11620" y="26041"/>
                      <a:pt x="11430" y="26565"/>
                    </a:cubicBezTo>
                    <a:cubicBezTo>
                      <a:pt x="10906" y="27899"/>
                      <a:pt x="10363" y="29194"/>
                      <a:pt x="9754" y="30490"/>
                    </a:cubicBezTo>
                    <a:cubicBezTo>
                      <a:pt x="9554" y="30947"/>
                      <a:pt x="9325" y="31432"/>
                      <a:pt x="9106" y="31899"/>
                    </a:cubicBezTo>
                    <a:cubicBezTo>
                      <a:pt x="8506" y="33099"/>
                      <a:pt x="7820" y="34271"/>
                      <a:pt x="7144" y="35433"/>
                    </a:cubicBezTo>
                    <a:cubicBezTo>
                      <a:pt x="7991" y="34623"/>
                      <a:pt x="8887" y="33738"/>
                      <a:pt x="9830" y="32766"/>
                    </a:cubicBezTo>
                    <a:cubicBezTo>
                      <a:pt x="10211" y="32366"/>
                      <a:pt x="10563" y="31966"/>
                      <a:pt x="10925" y="31566"/>
                    </a:cubicBezTo>
                    <a:lnTo>
                      <a:pt x="10992" y="31490"/>
                    </a:lnTo>
                    <a:lnTo>
                      <a:pt x="11316" y="31128"/>
                    </a:lnTo>
                    <a:cubicBezTo>
                      <a:pt x="12440" y="29918"/>
                      <a:pt x="13516" y="28689"/>
                      <a:pt x="14535" y="27403"/>
                    </a:cubicBezTo>
                    <a:lnTo>
                      <a:pt x="15088" y="26708"/>
                    </a:lnTo>
                    <a:lnTo>
                      <a:pt x="15088" y="7144"/>
                    </a:lnTo>
                    <a:cubicBezTo>
                      <a:pt x="15078" y="8868"/>
                      <a:pt x="14973" y="10592"/>
                      <a:pt x="14792" y="12287"/>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3" name="Freeform: Shape 40">
                <a:extLst>
                  <a:ext uri="{FF2B5EF4-FFF2-40B4-BE49-F238E27FC236}">
                    <a16:creationId xmlns:a16="http://schemas.microsoft.com/office/drawing/2014/main" id="{3D3A0C0B-3028-02AB-45A9-5AC22941B397}"/>
                  </a:ext>
                </a:extLst>
              </p:cNvPr>
              <p:cNvSpPr/>
              <p:nvPr/>
            </p:nvSpPr>
            <p:spPr>
              <a:xfrm>
                <a:off x="4266319" y="2416967"/>
                <a:ext cx="19050" cy="38100"/>
              </a:xfrm>
              <a:custGeom>
                <a:avLst/>
                <a:gdLst>
                  <a:gd name="connsiteX0" fmla="*/ 9792 w 19050"/>
                  <a:gd name="connsiteY0" fmla="*/ 30832 h 38100"/>
                  <a:gd name="connsiteX1" fmla="*/ 11468 w 19050"/>
                  <a:gd name="connsiteY1" fmla="*/ 26908 h 38100"/>
                  <a:gd name="connsiteX2" fmla="*/ 12049 w 19050"/>
                  <a:gd name="connsiteY2" fmla="*/ 25346 h 38100"/>
                  <a:gd name="connsiteX3" fmla="*/ 13649 w 19050"/>
                  <a:gd name="connsiteY3" fmla="*/ 19926 h 38100"/>
                  <a:gd name="connsiteX4" fmla="*/ 13687 w 19050"/>
                  <a:gd name="connsiteY4" fmla="*/ 19812 h 38100"/>
                  <a:gd name="connsiteX5" fmla="*/ 14659 w 19050"/>
                  <a:gd name="connsiteY5" fmla="*/ 14297 h 38100"/>
                  <a:gd name="connsiteX6" fmla="*/ 14830 w 19050"/>
                  <a:gd name="connsiteY6" fmla="*/ 12630 h 38100"/>
                  <a:gd name="connsiteX7" fmla="*/ 15126 w 19050"/>
                  <a:gd name="connsiteY7" fmla="*/ 7487 h 38100"/>
                  <a:gd name="connsiteX8" fmla="*/ 15126 w 19050"/>
                  <a:gd name="connsiteY8" fmla="*/ 7144 h 38100"/>
                  <a:gd name="connsiteX9" fmla="*/ 14811 w 19050"/>
                  <a:gd name="connsiteY9" fmla="*/ 12621 h 38100"/>
                  <a:gd name="connsiteX10" fmla="*/ 14640 w 19050"/>
                  <a:gd name="connsiteY10" fmla="*/ 14288 h 38100"/>
                  <a:gd name="connsiteX11" fmla="*/ 13668 w 19050"/>
                  <a:gd name="connsiteY11" fmla="*/ 19802 h 38100"/>
                  <a:gd name="connsiteX12" fmla="*/ 13630 w 19050"/>
                  <a:gd name="connsiteY12" fmla="*/ 19917 h 38100"/>
                  <a:gd name="connsiteX13" fmla="*/ 12030 w 19050"/>
                  <a:gd name="connsiteY13" fmla="*/ 25336 h 38100"/>
                  <a:gd name="connsiteX14" fmla="*/ 11449 w 19050"/>
                  <a:gd name="connsiteY14" fmla="*/ 26899 h 38100"/>
                  <a:gd name="connsiteX15" fmla="*/ 9773 w 19050"/>
                  <a:gd name="connsiteY15" fmla="*/ 30823 h 38100"/>
                  <a:gd name="connsiteX16" fmla="*/ 9125 w 19050"/>
                  <a:gd name="connsiteY16" fmla="*/ 32233 h 38100"/>
                  <a:gd name="connsiteX17" fmla="*/ 7144 w 19050"/>
                  <a:gd name="connsiteY17" fmla="*/ 35814 h 38100"/>
                  <a:gd name="connsiteX18" fmla="*/ 7191 w 19050"/>
                  <a:gd name="connsiteY18" fmla="*/ 35776 h 38100"/>
                  <a:gd name="connsiteX19" fmla="*/ 9154 w 19050"/>
                  <a:gd name="connsiteY19" fmla="*/ 32242 h 38100"/>
                  <a:gd name="connsiteX20" fmla="*/ 9792 w 19050"/>
                  <a:gd name="connsiteY20" fmla="*/ 3083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050" h="38100">
                    <a:moveTo>
                      <a:pt x="9792" y="30832"/>
                    </a:moveTo>
                    <a:cubicBezTo>
                      <a:pt x="10401" y="29537"/>
                      <a:pt x="10944" y="28242"/>
                      <a:pt x="11468" y="26908"/>
                    </a:cubicBezTo>
                    <a:cubicBezTo>
                      <a:pt x="11659" y="26384"/>
                      <a:pt x="11859" y="25879"/>
                      <a:pt x="12049" y="25346"/>
                    </a:cubicBezTo>
                    <a:cubicBezTo>
                      <a:pt x="12659" y="23555"/>
                      <a:pt x="13221" y="21765"/>
                      <a:pt x="13649" y="19926"/>
                    </a:cubicBezTo>
                    <a:cubicBezTo>
                      <a:pt x="13668" y="19888"/>
                      <a:pt x="13668" y="19850"/>
                      <a:pt x="13687" y="19812"/>
                    </a:cubicBezTo>
                    <a:cubicBezTo>
                      <a:pt x="14097" y="18012"/>
                      <a:pt x="14411" y="16154"/>
                      <a:pt x="14659" y="14297"/>
                    </a:cubicBezTo>
                    <a:cubicBezTo>
                      <a:pt x="14735" y="13745"/>
                      <a:pt x="14773" y="13192"/>
                      <a:pt x="14830" y="12630"/>
                    </a:cubicBezTo>
                    <a:cubicBezTo>
                      <a:pt x="15011" y="10935"/>
                      <a:pt x="15116" y="9220"/>
                      <a:pt x="15126" y="7487"/>
                    </a:cubicBezTo>
                    <a:lnTo>
                      <a:pt x="15126" y="7144"/>
                    </a:lnTo>
                    <a:cubicBezTo>
                      <a:pt x="15135" y="8992"/>
                      <a:pt x="15002" y="10820"/>
                      <a:pt x="14811" y="12621"/>
                    </a:cubicBezTo>
                    <a:cubicBezTo>
                      <a:pt x="14754" y="13183"/>
                      <a:pt x="14716" y="13735"/>
                      <a:pt x="14640" y="14288"/>
                    </a:cubicBezTo>
                    <a:cubicBezTo>
                      <a:pt x="14402" y="16145"/>
                      <a:pt x="14078" y="18002"/>
                      <a:pt x="13668" y="19802"/>
                    </a:cubicBezTo>
                    <a:cubicBezTo>
                      <a:pt x="13649" y="19841"/>
                      <a:pt x="13649" y="19879"/>
                      <a:pt x="13630" y="19917"/>
                    </a:cubicBezTo>
                    <a:cubicBezTo>
                      <a:pt x="13202" y="21755"/>
                      <a:pt x="12640" y="23565"/>
                      <a:pt x="12030" y="25336"/>
                    </a:cubicBezTo>
                    <a:cubicBezTo>
                      <a:pt x="11840" y="25870"/>
                      <a:pt x="11640" y="26375"/>
                      <a:pt x="11449" y="26899"/>
                    </a:cubicBezTo>
                    <a:cubicBezTo>
                      <a:pt x="10925" y="28232"/>
                      <a:pt x="10392" y="29527"/>
                      <a:pt x="9773" y="30823"/>
                    </a:cubicBezTo>
                    <a:cubicBezTo>
                      <a:pt x="9573" y="31290"/>
                      <a:pt x="9344" y="31775"/>
                      <a:pt x="9125" y="32233"/>
                    </a:cubicBezTo>
                    <a:cubicBezTo>
                      <a:pt x="8515" y="33452"/>
                      <a:pt x="7820" y="34633"/>
                      <a:pt x="7144" y="35814"/>
                    </a:cubicBezTo>
                    <a:cubicBezTo>
                      <a:pt x="7153" y="35804"/>
                      <a:pt x="7172" y="35785"/>
                      <a:pt x="7191" y="35776"/>
                    </a:cubicBezTo>
                    <a:cubicBezTo>
                      <a:pt x="7868" y="34604"/>
                      <a:pt x="8553" y="33442"/>
                      <a:pt x="9154" y="32242"/>
                    </a:cubicBezTo>
                    <a:cubicBezTo>
                      <a:pt x="9363" y="31775"/>
                      <a:pt x="9592" y="31290"/>
                      <a:pt x="9792" y="30832"/>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grpSp>
        <p:sp>
          <p:nvSpPr>
            <p:cNvPr id="24" name="Freeform: Shape 33">
              <a:extLst>
                <a:ext uri="{FF2B5EF4-FFF2-40B4-BE49-F238E27FC236}">
                  <a16:creationId xmlns:a16="http://schemas.microsoft.com/office/drawing/2014/main" id="{F62C5FEE-739C-5CD8-3480-47AFBD4B137D}"/>
                </a:ext>
              </a:extLst>
            </p:cNvPr>
            <p:cNvSpPr/>
            <p:nvPr/>
          </p:nvSpPr>
          <p:spPr>
            <a:xfrm flipV="1">
              <a:off x="8573407" y="4059813"/>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sp>
          <p:nvSpPr>
            <p:cNvPr id="25" name="Freeform: Shape 34">
              <a:extLst>
                <a:ext uri="{FF2B5EF4-FFF2-40B4-BE49-F238E27FC236}">
                  <a16:creationId xmlns:a16="http://schemas.microsoft.com/office/drawing/2014/main" id="{BCD906C9-9D1F-D350-D161-F4D9B4B287D1}"/>
                </a:ext>
              </a:extLst>
            </p:cNvPr>
            <p:cNvSpPr/>
            <p:nvPr/>
          </p:nvSpPr>
          <p:spPr>
            <a:xfrm flipV="1">
              <a:off x="9021642" y="293743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sp>
        <p:nvSpPr>
          <p:cNvPr id="26" name="TextBox 75">
            <a:extLst>
              <a:ext uri="{FF2B5EF4-FFF2-40B4-BE49-F238E27FC236}">
                <a16:creationId xmlns:a16="http://schemas.microsoft.com/office/drawing/2014/main" id="{02AD65D6-9504-23E6-E4FD-CC294F4A3C64}"/>
              </a:ext>
            </a:extLst>
          </p:cNvPr>
          <p:cNvSpPr txBox="1"/>
          <p:nvPr/>
        </p:nvSpPr>
        <p:spPr>
          <a:xfrm>
            <a:off x="981590" y="5731169"/>
            <a:ext cx="9514366" cy="276999"/>
          </a:xfrm>
          <a:prstGeom prst="rect">
            <a:avLst/>
          </a:prstGeom>
          <a:noFill/>
        </p:spPr>
        <p:txBody>
          <a:bodyPr wrap="square" rtlCol="0">
            <a:spAutoFit/>
          </a:bodyPr>
          <a:lstStyle/>
          <a:p>
            <a:r>
              <a:rPr lang="en-US" sz="1200" dirty="0">
                <a:solidFill/>
                <a:latin typeface="Montserrat" panose="00000500000000000000" pitchFamily="2" charset="0"/>
              </a:rPr>
              <a:t>Estimates includes the Bon Secours Mercy Health (Youngstown Area) service area in Columbiana, Geauga, Mahoning, Portage, Stark, Trumbull, Beaver, Butler, Crawford, Lawrence, and Mercer Counties</a:t>
            </a:r>
          </a:p>
        </p:txBody>
      </p:sp>
      <p:sp>
        <p:nvSpPr>
          <p:cNvPr id="27" name="TextBox 76">
            <a:extLst>
              <a:ext uri="{FF2B5EF4-FFF2-40B4-BE49-F238E27FC236}">
                <a16:creationId xmlns:a16="http://schemas.microsoft.com/office/drawing/2014/main" id="{F3A378C3-B669-3EE2-B76D-98EDB44E8CDF}"/>
              </a:ext>
            </a:extLst>
          </p:cNvPr>
          <p:cNvSpPr txBox="1"/>
          <p:nvPr/>
        </p:nvSpPr>
        <p:spPr>
          <a:xfrm>
            <a:off x="2326255" y="4909050"/>
            <a:ext cx="1752403" cy="461665"/>
          </a:xfrm>
          <a:prstGeom prst="rect">
            <a:avLst/>
          </a:prstGeom>
          <a:noFill/>
        </p:spPr>
        <p:txBody>
          <a:bodyPr wrap="none" rtlCol="0">
            <a:spAutoFit/>
          </a:bodyPr>
          <a:lstStyle/>
          <a:p>
            <a:r>
              <a:rPr lang="en-US" sz="2400" dirty="0">
                <a:solidFill/>
                <a:latin typeface="Montserrat" panose="00000500000000000000" pitchFamily="2" charset="0"/>
              </a:rPr>
              <a:t>864K</a:t>
            </a:r>
          </a:p>
        </p:txBody>
      </p:sp>
      <p:sp>
        <p:nvSpPr>
          <p:cNvPr id="28" name="TextBox 77">
            <a:extLst>
              <a:ext uri="{FF2B5EF4-FFF2-40B4-BE49-F238E27FC236}">
                <a16:creationId xmlns:a16="http://schemas.microsoft.com/office/drawing/2014/main" id="{F24CF5B8-0E02-1AF3-2A3D-F14253B44FE8}"/>
              </a:ext>
            </a:extLst>
          </p:cNvPr>
          <p:cNvSpPr txBox="1"/>
          <p:nvPr/>
        </p:nvSpPr>
        <p:spPr>
          <a:xfrm>
            <a:off x="2549188" y="3983995"/>
            <a:ext cx="1162498" cy="461665"/>
          </a:xfrm>
          <a:prstGeom prst="rect">
            <a:avLst/>
          </a:prstGeom>
          <a:noFill/>
        </p:spPr>
        <p:txBody>
          <a:bodyPr wrap="none" rtlCol="0">
            <a:spAutoFit/>
          </a:bodyPr>
          <a:lstStyle/>
          <a:p>
            <a:r>
              <a:rPr lang="en-US" sz="2400" dirty="0">
                <a:solidFill/>
                <a:latin typeface="Montserrat" panose="00000500000000000000" pitchFamily="2" charset="0"/>
              </a:rPr>
              <a:t>486K</a:t>
            </a:r>
          </a:p>
        </p:txBody>
      </p:sp>
      <p:sp>
        <p:nvSpPr>
          <p:cNvPr id="29" name="TextBox 78">
            <a:extLst>
              <a:ext uri="{FF2B5EF4-FFF2-40B4-BE49-F238E27FC236}">
                <a16:creationId xmlns:a16="http://schemas.microsoft.com/office/drawing/2014/main" id="{509B3348-F2D5-63CE-B5D5-5FB7263B3D0F}"/>
              </a:ext>
            </a:extLst>
          </p:cNvPr>
          <p:cNvSpPr txBox="1"/>
          <p:nvPr/>
        </p:nvSpPr>
        <p:spPr>
          <a:xfrm>
            <a:off x="2768644" y="3041250"/>
            <a:ext cx="1132041" cy="461665"/>
          </a:xfrm>
          <a:prstGeom prst="rect">
            <a:avLst/>
          </a:prstGeom>
          <a:noFill/>
        </p:spPr>
        <p:txBody>
          <a:bodyPr wrap="none" rtlCol="0">
            <a:spAutoFit/>
          </a:bodyPr>
          <a:lstStyle/>
          <a:p>
            <a:r>
              <a:rPr lang="en-US" sz="2400" dirty="0">
                <a:solidFill/>
                <a:latin typeface="Montserrat" panose="00000500000000000000" pitchFamily="2" charset="0"/>
              </a:rPr>
              <a:t>318K</a:t>
            </a:r>
          </a:p>
        </p:txBody>
      </p:sp>
      <p:sp>
        <p:nvSpPr>
          <p:cNvPr id="30" name="TextBox 79">
            <a:extLst>
              <a:ext uri="{FF2B5EF4-FFF2-40B4-BE49-F238E27FC236}">
                <a16:creationId xmlns:a16="http://schemas.microsoft.com/office/drawing/2014/main" id="{7E24246C-24ED-62DA-EA2E-6EA4A6ADAEAC}"/>
              </a:ext>
            </a:extLst>
          </p:cNvPr>
          <p:cNvSpPr txBox="1"/>
          <p:nvPr/>
        </p:nvSpPr>
        <p:spPr>
          <a:xfrm>
            <a:off x="2988100" y="2109715"/>
            <a:ext cx="984565" cy="461665"/>
          </a:xfrm>
          <a:prstGeom prst="rect">
            <a:avLst/>
          </a:prstGeom>
          <a:noFill/>
        </p:spPr>
        <p:txBody>
          <a:bodyPr wrap="none" rtlCol="0">
            <a:spAutoFit/>
          </a:bodyPr>
          <a:lstStyle/>
          <a:p>
            <a:r>
              <a:rPr lang="en-US" sz="2400" dirty="0">
                <a:solidFill/>
                <a:latin typeface="Montserrat" panose="00000500000000000000" pitchFamily="2" charset="0"/>
              </a:rPr>
              <a:t>212K</a:t>
            </a:r>
          </a:p>
        </p:txBody>
      </p:sp>
      <p:pic>
        <p:nvPicPr>
          <p:cNvPr id="31" name="Picture 4">
            <a:extLst>
              <a:ext uri="{FF2B5EF4-FFF2-40B4-BE49-F238E27FC236}">
                <a16:creationId xmlns:a16="http://schemas.microsoft.com/office/drawing/2014/main" id="{0D8A2093-EE63-6F98-17FC-8FA2F27D269E}"/>
              </a:ext>
            </a:extLst>
          </p:cNvPr>
          <p:cNvPicPr>
            <a:picLocks noChangeAspect="1"/>
          </p:cNvPicPr>
          <p:nvPr/>
        </p:nvPicPr>
        <p:blipFill>
          <a:blip r:embed="rId2"/>
          <a:stretch>
            <a:fillRect/>
          </a:stretch>
        </p:blipFill>
        <p:spPr>
          <a:xfrm>
            <a:off x="215573" y="6356350"/>
            <a:ext cx="2125097" cy="463658"/>
          </a:xfrm>
          <a:prstGeom prst="rect">
            <a:avLst/>
          </a:prstGeom>
        </p:spPr>
      </p:pic>
      <p:sp>
        <p:nvSpPr>
          <p:cNvPr id="32" name="Freeform 13">
            <a:extLst>
              <a:ext uri="{FF2B5EF4-FFF2-40B4-BE49-F238E27FC236}">
                <a16:creationId xmlns:a16="http://schemas.microsoft.com/office/drawing/2014/main" id="{28524B04-16FE-D5D9-4125-86AD5B994E0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33" name="Content Placeholder 32"/>
          <p:cNvPicPr>
            <a:picLocks noGrp="1"/>
          </p:cNvPicPr>
          <p:nvPr>
            <p:ph/>
          </p:nvPr>
        </p:nvPicPr>
        <p:blipFill>
          <a:blip r:embed="rId3" cstate="print"/>
          <a:stretch>
            <a:fillRect/>
          </a:stretch>
        </p:blipFill>
        <p:spPr>
          <a:xfrm>
            <a:off x="5705856" y="1911096"/>
            <a:ext cx="6364224" cy="3813048"/>
          </a:xfrm>
          <a:prstGeom prst="rect">
            <a:avLst/>
          </a:prstGeom>
        </p:spPr>
      </p:pic>
    </p:spTree>
    <p:extLst>
      <p:ext uri="{BB962C8B-B14F-4D97-AF65-F5344CB8AC3E}">
        <p14:creationId xmlns:p14="http://schemas.microsoft.com/office/powerpoint/2010/main" val="10823273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
            <a:extLst>
              <a:ext uri="{FF2B5EF4-FFF2-40B4-BE49-F238E27FC236}">
                <a16:creationId xmlns:a16="http://schemas.microsoft.com/office/drawing/2014/main" id="{C0C1C4CA-44D9-9691-E058-46CEB5C35DF2}"/>
              </a:ext>
            </a:extLst>
          </p:cNvPr>
          <p:cNvSpPr/>
          <p:nvPr/>
        </p:nvSpPr>
        <p:spPr>
          <a:xfrm>
            <a:off x="5541867" y="1756658"/>
            <a:ext cx="1914733" cy="41198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Rectangle 11">
            <a:extLst>
              <a:ext uri="{FF2B5EF4-FFF2-40B4-BE49-F238E27FC236}">
                <a16:creationId xmlns:a16="http://schemas.microsoft.com/office/drawing/2014/main" id="{8DCAE5A5-11EC-16C5-5F5F-C5DF9E3B0859}"/>
              </a:ext>
            </a:extLst>
          </p:cNvPr>
          <p:cNvSpPr/>
          <p:nvPr/>
        </p:nvSpPr>
        <p:spPr>
          <a:xfrm>
            <a:off x="7456600" y="1756656"/>
            <a:ext cx="1914733" cy="41198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Rectangle 12">
            <a:extLst>
              <a:ext uri="{FF2B5EF4-FFF2-40B4-BE49-F238E27FC236}">
                <a16:creationId xmlns:a16="http://schemas.microsoft.com/office/drawing/2014/main" id="{98C73641-C807-1985-E19A-CA79DA10785E}"/>
              </a:ext>
            </a:extLst>
          </p:cNvPr>
          <p:cNvSpPr/>
          <p:nvPr/>
        </p:nvSpPr>
        <p:spPr>
          <a:xfrm>
            <a:off x="9371334" y="1756655"/>
            <a:ext cx="1914732" cy="41198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3">
            <a:extLst>
              <a:ext uri="{FF2B5EF4-FFF2-40B4-BE49-F238E27FC236}">
                <a16:creationId xmlns:a16="http://schemas.microsoft.com/office/drawing/2014/main" id="{8546D6DB-89F3-8B35-A9E8-670CED022928}"/>
              </a:ext>
            </a:extLst>
          </p:cNvPr>
          <p:cNvSpPr txBox="1"/>
          <p:nvPr/>
        </p:nvSpPr>
        <p:spPr>
          <a:xfrm>
            <a:off x="1447022" y="1524619"/>
            <a:ext cx="3100529" cy="630942"/>
          </a:xfrm>
          <a:prstGeom prst="rect">
            <a:avLst/>
          </a:prstGeom>
          <a:noFill/>
        </p:spPr>
        <p:txBody>
          <a:bodyPr wrap="none" rtlCol="0">
            <a:spAutoFit/>
          </a:bodyPr>
          <a:lstStyle/>
          <a:p>
            <a:pPr algn="ctr"/>
            <a:r>
              <a:rPr lang="en-US" sz="2400" b="1" dirty="0">
                <a:solidFill>
                  <a:srgbClr val="6087CE"/>
                </a:solidFill>
                <a:latin typeface="Montserrat" panose="00000500000000000000" pitchFamily="2" charset="0"/>
              </a:rPr>
              <a:t>Early Stage</a:t>
            </a:r>
          </a:p>
          <a:p>
            <a:pPr algn="ctr"/>
            <a:r>
              <a:rPr lang="en-US" sz="1100" dirty="0">
                <a:solidFill>
                  <a:srgbClr val="6087CE"/>
                </a:solidFill>
                <a:latin typeface="Montserrat" panose="00000500000000000000" pitchFamily="2" charset="0"/>
              </a:rPr>
              <a:t>Gaining Name Recognition, Early Growth</a:t>
            </a:r>
          </a:p>
        </p:txBody>
      </p:sp>
      <p:sp>
        <p:nvSpPr>
          <p:cNvPr id="6" name="TextBox 6">
            <a:extLst>
              <a:ext uri="{FF2B5EF4-FFF2-40B4-BE49-F238E27FC236}">
                <a16:creationId xmlns:a16="http://schemas.microsoft.com/office/drawing/2014/main" id="{0C35DE11-AC92-1958-1813-38A8A86CBCE8}"/>
              </a:ext>
            </a:extLst>
          </p:cNvPr>
          <p:cNvSpPr txBox="1"/>
          <p:nvPr/>
        </p:nvSpPr>
        <p:spPr>
          <a:xfrm>
            <a:off x="1275976" y="2181545"/>
            <a:ext cx="1624165"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Revenue:</a:t>
            </a:r>
          </a:p>
        </p:txBody>
      </p:sp>
      <p:sp>
        <p:nvSpPr>
          <p:cNvPr id="7" name="TextBox 7">
            <a:extLst>
              <a:ext uri="{FF2B5EF4-FFF2-40B4-BE49-F238E27FC236}">
                <a16:creationId xmlns:a16="http://schemas.microsoft.com/office/drawing/2014/main" id="{2E2DA353-8032-9A29-CBFC-5E2CAB8FA818}"/>
              </a:ext>
            </a:extLst>
          </p:cNvPr>
          <p:cNvSpPr txBox="1"/>
          <p:nvPr/>
        </p:nvSpPr>
        <p:spPr>
          <a:xfrm>
            <a:off x="3224011" y="2181545"/>
            <a:ext cx="1412759"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Profit:</a:t>
            </a:r>
          </a:p>
        </p:txBody>
      </p:sp>
      <p:sp>
        <p:nvSpPr>
          <p:cNvPr id="8" name="TextBox 9">
            <a:extLst>
              <a:ext uri="{FF2B5EF4-FFF2-40B4-BE49-F238E27FC236}">
                <a16:creationId xmlns:a16="http://schemas.microsoft.com/office/drawing/2014/main" id="{2EE70FCE-698F-980C-DE5B-A5E0DD82F2B7}"/>
              </a:ext>
            </a:extLst>
          </p:cNvPr>
          <p:cNvSpPr txBox="1"/>
          <p:nvPr/>
        </p:nvSpPr>
        <p:spPr>
          <a:xfrm>
            <a:off x="1269691"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$5.73M</a:t>
            </a:r>
            <a:endParaRPr lang="en-US" sz="2000" dirty="0">
              <a:latin typeface="Montserrat" panose="00000500000000000000" pitchFamily="2" charset="0"/>
            </a:endParaRPr>
          </a:p>
        </p:txBody>
      </p:sp>
      <p:sp>
        <p:nvSpPr>
          <p:cNvPr id="9" name="TextBox 14">
            <a:extLst>
              <a:ext uri="{FF2B5EF4-FFF2-40B4-BE49-F238E27FC236}">
                <a16:creationId xmlns:a16="http://schemas.microsoft.com/office/drawing/2014/main" id="{DBAF8120-09F6-4EB0-E666-C1CBDC5CF295}"/>
              </a:ext>
            </a:extLst>
          </p:cNvPr>
          <p:cNvSpPr txBox="1"/>
          <p:nvPr/>
        </p:nvSpPr>
        <p:spPr>
          <a:xfrm>
            <a:off x="3063240"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$1.48M</a:t>
            </a:r>
            <a:endParaRPr lang="en-US" sz="2000" dirty="0">
              <a:latin typeface="Montserrat" panose="00000500000000000000" pitchFamily="2" charset="0"/>
            </a:endParaRPr>
          </a:p>
        </p:txBody>
      </p:sp>
      <p:sp>
        <p:nvSpPr>
          <p:cNvPr id="10" name="TextBox 15">
            <a:extLst>
              <a:ext uri="{FF2B5EF4-FFF2-40B4-BE49-F238E27FC236}">
                <a16:creationId xmlns:a16="http://schemas.microsoft.com/office/drawing/2014/main" id="{5B374298-411A-3F68-B672-E1DC32DEA9AE}"/>
              </a:ext>
            </a:extLst>
          </p:cNvPr>
          <p:cNvSpPr txBox="1"/>
          <p:nvPr/>
        </p:nvSpPr>
        <p:spPr>
          <a:xfrm>
            <a:off x="1679267" y="3039035"/>
            <a:ext cx="261802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Growth Stage</a:t>
            </a:r>
          </a:p>
          <a:p>
            <a:pPr algn="ctr"/>
            <a:r>
              <a:rPr lang="en-US" sz="1100" dirty="0">
                <a:solidFill>
                  <a:srgbClr val="2F5597"/>
                </a:solidFill>
                <a:latin typeface="Montserrat" panose="00000500000000000000" pitchFamily="2" charset="0"/>
              </a:rPr>
              <a:t>Strong Reputation, Strong Growth</a:t>
            </a:r>
          </a:p>
        </p:txBody>
      </p:sp>
      <p:sp>
        <p:nvSpPr>
          <p:cNvPr id="11" name="TextBox 16">
            <a:extLst>
              <a:ext uri="{FF2B5EF4-FFF2-40B4-BE49-F238E27FC236}">
                <a16:creationId xmlns:a16="http://schemas.microsoft.com/office/drawing/2014/main" id="{734215D0-1B81-9E25-D893-D1A81A7D90DE}"/>
              </a:ext>
            </a:extLst>
          </p:cNvPr>
          <p:cNvSpPr txBox="1"/>
          <p:nvPr/>
        </p:nvSpPr>
        <p:spPr>
          <a:xfrm>
            <a:off x="1266967" y="3695961"/>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2" name="TextBox 17">
            <a:extLst>
              <a:ext uri="{FF2B5EF4-FFF2-40B4-BE49-F238E27FC236}">
                <a16:creationId xmlns:a16="http://schemas.microsoft.com/office/drawing/2014/main" id="{44D03DDF-E57A-E22B-A334-B0D6BAD568C1}"/>
              </a:ext>
            </a:extLst>
          </p:cNvPr>
          <p:cNvSpPr txBox="1"/>
          <p:nvPr/>
        </p:nvSpPr>
        <p:spPr>
          <a:xfrm>
            <a:off x="3215002" y="3695961"/>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3" name="TextBox 20">
            <a:extLst>
              <a:ext uri="{FF2B5EF4-FFF2-40B4-BE49-F238E27FC236}">
                <a16:creationId xmlns:a16="http://schemas.microsoft.com/office/drawing/2014/main" id="{2F96F890-CA85-53B4-4C86-B02186E9E89E}"/>
              </a:ext>
            </a:extLst>
          </p:cNvPr>
          <p:cNvSpPr txBox="1"/>
          <p:nvPr/>
        </p:nvSpPr>
        <p:spPr>
          <a:xfrm>
            <a:off x="1260682"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$33.44M</a:t>
            </a:r>
            <a:endParaRPr lang="en-US" sz="2000" dirty="0">
              <a:solidFill>
                <a:srgbClr val="2F5597"/>
              </a:solidFill>
              <a:latin typeface="Montserrat" panose="00000500000000000000" pitchFamily="2" charset="0"/>
            </a:endParaRPr>
          </a:p>
        </p:txBody>
      </p:sp>
      <p:sp>
        <p:nvSpPr>
          <p:cNvPr id="14" name="TextBox 21">
            <a:extLst>
              <a:ext uri="{FF2B5EF4-FFF2-40B4-BE49-F238E27FC236}">
                <a16:creationId xmlns:a16="http://schemas.microsoft.com/office/drawing/2014/main" id="{BD5125C9-83DD-4D9F-DE79-D476BE3F058D}"/>
              </a:ext>
            </a:extLst>
          </p:cNvPr>
          <p:cNvSpPr txBox="1"/>
          <p:nvPr/>
        </p:nvSpPr>
        <p:spPr>
          <a:xfrm>
            <a:off x="3054231"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$9.63M</a:t>
            </a:r>
            <a:endParaRPr lang="en-US" sz="2000" dirty="0">
              <a:solidFill>
                <a:srgbClr val="2F5597"/>
              </a:solidFill>
              <a:latin typeface="Montserrat" panose="00000500000000000000" pitchFamily="2" charset="0"/>
            </a:endParaRPr>
          </a:p>
        </p:txBody>
      </p:sp>
      <p:sp>
        <p:nvSpPr>
          <p:cNvPr id="15" name="TextBox 22">
            <a:extLst>
              <a:ext uri="{FF2B5EF4-FFF2-40B4-BE49-F238E27FC236}">
                <a16:creationId xmlns:a16="http://schemas.microsoft.com/office/drawing/2014/main" id="{DEBB9E11-84A3-58F8-237D-4A265C29D49C}"/>
              </a:ext>
            </a:extLst>
          </p:cNvPr>
          <p:cNvSpPr txBox="1"/>
          <p:nvPr/>
        </p:nvSpPr>
        <p:spPr>
          <a:xfrm>
            <a:off x="1629765" y="4659602"/>
            <a:ext cx="273504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Mature Stage</a:t>
            </a:r>
          </a:p>
          <a:p>
            <a:pPr algn="ctr"/>
            <a:r>
              <a:rPr lang="en-US" sz="1100" dirty="0">
                <a:solidFill>
                  <a:srgbClr val="2F5597"/>
                </a:solidFill>
                <a:latin typeface="Montserrat" panose="00000500000000000000" pitchFamily="2" charset="0"/>
              </a:rPr>
              <a:t>High Profitability, Market Saturation</a:t>
            </a:r>
          </a:p>
        </p:txBody>
      </p:sp>
      <p:sp>
        <p:nvSpPr>
          <p:cNvPr id="16" name="TextBox 23">
            <a:extLst>
              <a:ext uri="{FF2B5EF4-FFF2-40B4-BE49-F238E27FC236}">
                <a16:creationId xmlns:a16="http://schemas.microsoft.com/office/drawing/2014/main" id="{E4C2D887-78BC-455D-E84B-4706DBDF3CA1}"/>
              </a:ext>
            </a:extLst>
          </p:cNvPr>
          <p:cNvSpPr txBox="1"/>
          <p:nvPr/>
        </p:nvSpPr>
        <p:spPr>
          <a:xfrm>
            <a:off x="1275976" y="5316528"/>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7" name="TextBox 24">
            <a:extLst>
              <a:ext uri="{FF2B5EF4-FFF2-40B4-BE49-F238E27FC236}">
                <a16:creationId xmlns:a16="http://schemas.microsoft.com/office/drawing/2014/main" id="{FC3AFD72-934E-C314-76C9-3BD3C3ADC5D7}"/>
              </a:ext>
            </a:extLst>
          </p:cNvPr>
          <p:cNvSpPr txBox="1"/>
          <p:nvPr/>
        </p:nvSpPr>
        <p:spPr>
          <a:xfrm>
            <a:off x="3224011" y="5316528"/>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8" name="TextBox 25">
            <a:extLst>
              <a:ext uri="{FF2B5EF4-FFF2-40B4-BE49-F238E27FC236}">
                <a16:creationId xmlns:a16="http://schemas.microsoft.com/office/drawing/2014/main" id="{AFC7E587-98BA-0E7B-D632-50ECCC546F0C}"/>
              </a:ext>
            </a:extLst>
          </p:cNvPr>
          <p:cNvSpPr txBox="1"/>
          <p:nvPr/>
        </p:nvSpPr>
        <p:spPr>
          <a:xfrm>
            <a:off x="1269691"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$67.49M</a:t>
            </a:r>
            <a:endParaRPr lang="en-US" sz="2000" dirty="0">
              <a:solidFill>
                <a:srgbClr val="2F5597"/>
              </a:solidFill>
              <a:latin typeface="Montserrat" panose="00000500000000000000" pitchFamily="2" charset="0"/>
            </a:endParaRPr>
          </a:p>
        </p:txBody>
      </p:sp>
      <p:sp>
        <p:nvSpPr>
          <p:cNvPr id="19" name="TextBox 26">
            <a:extLst>
              <a:ext uri="{FF2B5EF4-FFF2-40B4-BE49-F238E27FC236}">
                <a16:creationId xmlns:a16="http://schemas.microsoft.com/office/drawing/2014/main" id="{CDADE326-124A-38EC-26DF-B19515A72278}"/>
              </a:ext>
            </a:extLst>
          </p:cNvPr>
          <p:cNvSpPr txBox="1"/>
          <p:nvPr/>
        </p:nvSpPr>
        <p:spPr>
          <a:xfrm>
            <a:off x="3063240"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$19.6M</a:t>
            </a:r>
            <a:endParaRPr lang="en-US" sz="2000" dirty="0">
              <a:solidFill>
                <a:srgbClr val="2F5597"/>
              </a:solidFill>
              <a:latin typeface="Montserrat" panose="00000500000000000000" pitchFamily="2" charset="0"/>
            </a:endParaRPr>
          </a:p>
        </p:txBody>
      </p:sp>
      <p:sp>
        <p:nvSpPr>
          <p:cNvPr id="20" name="Title 1">
            <a:extLst>
              <a:ext uri="{FF2B5EF4-FFF2-40B4-BE49-F238E27FC236}">
                <a16:creationId xmlns:a16="http://schemas.microsoft.com/office/drawing/2014/main" id="{BC0B4224-A0CC-AD78-8E24-07E538135775}"/>
              </a:ext>
            </a:extLst>
          </p:cNvPr>
          <p:cNvSpPr>
            <a:spLocks noGrp="1"/>
          </p:cNvSpPr>
          <p:nvPr>
            <p:ph type="title"/>
          </p:nvPr>
        </p:nvSpPr>
        <p:spPr>
          <a:xfrm>
            <a:off x="295590" y="144962"/>
            <a:ext cx="11431354" cy="979057"/>
          </a:xfrm>
        </p:spPr>
        <p:txBody>
          <a:bodyPr>
            <a:normAutofit/>
          </a:bodyPr>
          <a:lstStyle/>
          <a:p>
            <a:r>
              <a:rPr lang="en-US" sz="3200" b="0" dirty="0"/>
              <a:t>GROWING POWERFUL, LASTING PROFITABILITY</a:t>
            </a:r>
          </a:p>
        </p:txBody>
      </p:sp>
      <p:pic>
        <p:nvPicPr>
          <p:cNvPr id="21" name="Picture 27">
            <a:extLst>
              <a:ext uri="{FF2B5EF4-FFF2-40B4-BE49-F238E27FC236}">
                <a16:creationId xmlns:a16="http://schemas.microsoft.com/office/drawing/2014/main" id="{DBDCCE94-7BFC-4E15-1810-1983169DBDE0}"/>
              </a:ext>
            </a:extLst>
          </p:cNvPr>
          <p:cNvPicPr>
            <a:picLocks noChangeAspect="1"/>
          </p:cNvPicPr>
          <p:nvPr/>
        </p:nvPicPr>
        <p:blipFill>
          <a:blip r:embed="rId3"/>
          <a:stretch>
            <a:fillRect/>
          </a:stretch>
        </p:blipFill>
        <p:spPr>
          <a:xfrm>
            <a:off x="215573" y="6356350"/>
            <a:ext cx="2125097" cy="463658"/>
          </a:xfrm>
          <a:prstGeom prst="rect">
            <a:avLst/>
          </a:prstGeom>
        </p:spPr>
      </p:pic>
      <p:sp>
        <p:nvSpPr>
          <p:cNvPr id="22" name="Freeform 13">
            <a:extLst>
              <a:ext uri="{FF2B5EF4-FFF2-40B4-BE49-F238E27FC236}">
                <a16:creationId xmlns:a16="http://schemas.microsoft.com/office/drawing/2014/main" id="{C4AAE38D-C93C-25B4-95B9-199DADB77C3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3" name="Content Placeholder 22"/>
          <p:cNvPicPr>
            <a:picLocks noGrp="1"/>
          </p:cNvPicPr>
          <p:nvPr>
            <p:ph/>
          </p:nvPr>
        </p:nvPicPr>
        <p:blipFill>
          <a:blip r:embed="rId4" cstate="print"/>
          <a:stretch>
            <a:fillRect/>
          </a:stretch>
        </p:blipFill>
        <p:spPr>
          <a:xfrm>
            <a:off x="5202936" y="1353312"/>
            <a:ext cx="6364224" cy="4773168"/>
          </a:xfrm>
          <a:prstGeom prst="rect">
            <a:avLst/>
          </a:prstGeom>
        </p:spPr>
      </p:pic>
    </p:spTree>
    <p:extLst>
      <p:ext uri="{BB962C8B-B14F-4D97-AF65-F5344CB8AC3E}">
        <p14:creationId xmlns:p14="http://schemas.microsoft.com/office/powerpoint/2010/main" val="42940513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20CCE-F739-8633-848E-AA7349974A46}"/>
              </a:ext>
            </a:extLst>
          </p:cNvPr>
          <p:cNvSpPr>
            <a:spLocks noGrp="1"/>
          </p:cNvSpPr>
          <p:nvPr>
            <p:ph type="title"/>
          </p:nvPr>
        </p:nvSpPr>
        <p:spPr>
          <a:xfrm>
            <a:off x="350393" y="37992"/>
            <a:ext cx="11506990" cy="1325563"/>
          </a:xfrm>
        </p:spPr>
        <p:txBody>
          <a:bodyPr>
            <a:normAutofit/>
          </a:bodyPr>
          <a:lstStyle/>
          <a:p>
            <a:r>
              <a:rPr lang="en-US" sz="3600" dirty="0">
                <a:solidFill>
                  <a:schemeClr val="tx1">
                    <a:lumMod val="85000"/>
                    <a:lumOff val="15000"/>
                  </a:schemeClr>
                </a:solidFill>
                <a:cs typeface="Arial" panose="020B0604020202020204" pitchFamily="34" charset="0"/>
              </a:rPr>
              <a:t>MODEL ASSUMPTIONS AND BREAK EVEN</a:t>
            </a:r>
          </a:p>
        </p:txBody>
      </p:sp>
      <p:sp>
        <p:nvSpPr>
          <p:cNvPr id="3" name="Rectangle 7">
            <a:extLst>
              <a:ext uri="{FF2B5EF4-FFF2-40B4-BE49-F238E27FC236}">
                <a16:creationId xmlns:a16="http://schemas.microsoft.com/office/drawing/2014/main" id="{55A48ACE-D370-6BA3-A39B-CF7D87E5C9A5}"/>
              </a:ext>
            </a:extLst>
          </p:cNvPr>
          <p:cNvSpPr/>
          <p:nvPr/>
        </p:nvSpPr>
        <p:spPr>
          <a:xfrm>
            <a:off x="7466120" y="1236348"/>
            <a:ext cx="4725880"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Oval 8">
            <a:extLst>
              <a:ext uri="{FF2B5EF4-FFF2-40B4-BE49-F238E27FC236}">
                <a16:creationId xmlns:a16="http://schemas.microsoft.com/office/drawing/2014/main" id="{99386F57-8E81-E6DF-1A01-623E3BB7AB0B}"/>
              </a:ext>
            </a:extLst>
          </p:cNvPr>
          <p:cNvSpPr/>
          <p:nvPr/>
        </p:nvSpPr>
        <p:spPr>
          <a:xfrm>
            <a:off x="7168718" y="1236348"/>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1">
            <a:extLst>
              <a:ext uri="{FF2B5EF4-FFF2-40B4-BE49-F238E27FC236}">
                <a16:creationId xmlns:a16="http://schemas.microsoft.com/office/drawing/2014/main" id="{7B828AB6-CD3A-4CD3-8950-2942DDBEAC0D}"/>
              </a:ext>
            </a:extLst>
          </p:cNvPr>
          <p:cNvSpPr txBox="1"/>
          <p:nvPr/>
        </p:nvSpPr>
        <p:spPr>
          <a:xfrm>
            <a:off x="8019782" y="1329256"/>
            <a:ext cx="4102405"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Patient Steerage Assumptions</a:t>
            </a:r>
          </a:p>
        </p:txBody>
      </p:sp>
      <p:sp>
        <p:nvSpPr>
          <p:cNvPr id="6" name="TextBox 12">
            <a:extLst>
              <a:ext uri="{FF2B5EF4-FFF2-40B4-BE49-F238E27FC236}">
                <a16:creationId xmlns:a16="http://schemas.microsoft.com/office/drawing/2014/main" id="{025AE6BF-C458-13D4-626E-DAD4C1439055}"/>
              </a:ext>
            </a:extLst>
          </p:cNvPr>
          <p:cNvSpPr txBox="1"/>
          <p:nvPr/>
        </p:nvSpPr>
        <p:spPr>
          <a:xfrm>
            <a:off x="7524487" y="1912005"/>
            <a:ext cx="4616389" cy="1169551"/>
          </a:xfrm>
          <a:prstGeom prst="rect">
            <a:avLst/>
          </a:prstGeom>
          <a:noFill/>
        </p:spPr>
        <p:txBody>
          <a:bodyPr wrap="square" rtlCol="0">
            <a:spAutoFit/>
          </a:bodyPr>
          <a:lstStyle/>
          <a:p>
            <a:r>
              <a:rPr lang="en-US" sz="1000" dirty="0">
                <a:solidFill/>
                <a:latin typeface="Montserrat" panose="00000500000000000000" pitchFamily="2" charset="0"/>
              </a:rPr>
              <a:t>KBA currently estimates that Bon Secours Mercy Health (Youngstown Area) has 58% inpatient market share, and 26% outpatient market compared to hospitals/clinics in the Bon Secours Mercy Health service area (see slide 8). The DTE tiered structure will create immediate steerage, with additional steerage over time from patient bonus benefits and the patient card (see slide 34 for estimates of target steerage). </a:t>
            </a:r>
            <a:endParaRPr lang="en-US" sz="1000" dirty="0">
              <a:latin typeface="Montserrat" panose="00000500000000000000" pitchFamily="2" charset="0"/>
            </a:endParaRPr>
          </a:p>
        </p:txBody>
      </p:sp>
      <p:sp>
        <p:nvSpPr>
          <p:cNvPr id="7" name="Rectangle 20">
            <a:extLst>
              <a:ext uri="{FF2B5EF4-FFF2-40B4-BE49-F238E27FC236}">
                <a16:creationId xmlns:a16="http://schemas.microsoft.com/office/drawing/2014/main" id="{620CA171-241C-9006-DA4D-7174E70B2EF3}"/>
              </a:ext>
            </a:extLst>
          </p:cNvPr>
          <p:cNvSpPr/>
          <p:nvPr/>
        </p:nvSpPr>
        <p:spPr>
          <a:xfrm>
            <a:off x="7611253" y="5443305"/>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8" name="Rectangle 21">
            <a:extLst>
              <a:ext uri="{FF2B5EF4-FFF2-40B4-BE49-F238E27FC236}">
                <a16:creationId xmlns:a16="http://schemas.microsoft.com/office/drawing/2014/main" id="{BD8E1912-BAE3-A76F-55A7-754D206BC471}"/>
              </a:ext>
            </a:extLst>
          </p:cNvPr>
          <p:cNvSpPr/>
          <p:nvPr/>
        </p:nvSpPr>
        <p:spPr>
          <a:xfrm>
            <a:off x="7522476" y="3870527"/>
            <a:ext cx="4682971"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9" name="Oval 22">
            <a:extLst>
              <a:ext uri="{FF2B5EF4-FFF2-40B4-BE49-F238E27FC236}">
                <a16:creationId xmlns:a16="http://schemas.microsoft.com/office/drawing/2014/main" id="{D2B9ED21-8D89-315C-4C9C-403AA9B2666A}"/>
              </a:ext>
            </a:extLst>
          </p:cNvPr>
          <p:cNvSpPr/>
          <p:nvPr/>
        </p:nvSpPr>
        <p:spPr>
          <a:xfrm>
            <a:off x="7225074" y="3870527"/>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0" name="TextBox 23">
            <a:extLst>
              <a:ext uri="{FF2B5EF4-FFF2-40B4-BE49-F238E27FC236}">
                <a16:creationId xmlns:a16="http://schemas.microsoft.com/office/drawing/2014/main" id="{950E697A-C380-A6EE-50AE-8B3DED34929F}"/>
              </a:ext>
            </a:extLst>
          </p:cNvPr>
          <p:cNvSpPr txBox="1"/>
          <p:nvPr/>
        </p:nvSpPr>
        <p:spPr>
          <a:xfrm>
            <a:off x="7667790" y="3963435"/>
            <a:ext cx="4501553"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Commercial Margin Assumptions</a:t>
            </a:r>
          </a:p>
        </p:txBody>
      </p:sp>
      <p:sp>
        <p:nvSpPr>
          <p:cNvPr id="11" name="TextBox 24">
            <a:extLst>
              <a:ext uri="{FF2B5EF4-FFF2-40B4-BE49-F238E27FC236}">
                <a16:creationId xmlns:a16="http://schemas.microsoft.com/office/drawing/2014/main" id="{32C9D62D-25B0-6CD9-8AD7-E6855B1B1B26}"/>
              </a:ext>
            </a:extLst>
          </p:cNvPr>
          <p:cNvSpPr txBox="1"/>
          <p:nvPr/>
        </p:nvSpPr>
        <p:spPr>
          <a:xfrm>
            <a:off x="7522476" y="4546184"/>
            <a:ext cx="4616389" cy="400110"/>
          </a:xfrm>
          <a:prstGeom prst="rect">
            <a:avLst/>
          </a:prstGeom>
          <a:noFill/>
        </p:spPr>
        <p:txBody>
          <a:bodyPr wrap="square" rtlCol="0">
            <a:spAutoFit/>
          </a:bodyPr>
          <a:lstStyle/>
          <a:p>
            <a:r>
              <a:rPr lang="en-US" sz="1000" dirty="0">
                <a:solidFill/>
                <a:latin typeface="Montserrat" panose="00000500000000000000" pitchFamily="2" charset="0"/>
              </a:rPr>
              <a:t>KBA observes a Bon Secours Mercy Health 36% commercial margin. Conservatively, we model the DTE to be even with commercial rates given prices 10% below market, but with a 10 percentage-point increase through friendlier billing practices and improved patient collections with the patient card.</a:t>
            </a:r>
          </a:p>
        </p:txBody>
      </p:sp>
      <p:sp>
        <p:nvSpPr>
          <p:cNvPr id="12" name="TextBox 25">
            <a:extLst>
              <a:ext uri="{FF2B5EF4-FFF2-40B4-BE49-F238E27FC236}">
                <a16:creationId xmlns:a16="http://schemas.microsoft.com/office/drawing/2014/main" id="{A76920ED-352E-9285-CC83-BDA6AB18978D}"/>
              </a:ext>
            </a:extLst>
          </p:cNvPr>
          <p:cNvSpPr txBox="1"/>
          <p:nvPr/>
        </p:nvSpPr>
        <p:spPr>
          <a:xfrm>
            <a:off x="7720842" y="5395891"/>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13" name="TextBox 26">
            <a:extLst>
              <a:ext uri="{FF2B5EF4-FFF2-40B4-BE49-F238E27FC236}">
                <a16:creationId xmlns:a16="http://schemas.microsoft.com/office/drawing/2014/main" id="{2559AB8C-6F23-81D3-4546-DE75EBD91879}"/>
              </a:ext>
            </a:extLst>
          </p:cNvPr>
          <p:cNvSpPr txBox="1"/>
          <p:nvPr/>
        </p:nvSpPr>
        <p:spPr>
          <a:xfrm>
            <a:off x="9586212" y="5395891"/>
            <a:ext cx="800219" cy="307777"/>
          </a:xfrm>
          <a:prstGeom prst="rect">
            <a:avLst/>
          </a:prstGeom>
          <a:noFill/>
        </p:spPr>
        <p:txBody>
          <a:bodyPr wrap="none" rtlCol="0">
            <a:spAutoFit/>
          </a:bodyPr>
          <a:lstStyle/>
          <a:p>
            <a:r>
              <a:rPr lang="en-US" sz="1400" b="1" dirty="0">
                <a:latin typeface="Montserrat" panose="00000500000000000000" pitchFamily="2" charset="0"/>
              </a:rPr>
              <a:t>Target</a:t>
            </a:r>
          </a:p>
        </p:txBody>
      </p:sp>
      <p:sp>
        <p:nvSpPr>
          <p:cNvPr id="14" name="TextBox 27">
            <a:extLst>
              <a:ext uri="{FF2B5EF4-FFF2-40B4-BE49-F238E27FC236}">
                <a16:creationId xmlns:a16="http://schemas.microsoft.com/office/drawing/2014/main" id="{314AFF5C-ABDA-A82B-40C8-14E2DB160036}"/>
              </a:ext>
            </a:extLst>
          </p:cNvPr>
          <p:cNvSpPr txBox="1"/>
          <p:nvPr/>
        </p:nvSpPr>
        <p:spPr>
          <a:xfrm>
            <a:off x="11450235" y="5395891"/>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15" name="TextBox 28">
            <a:extLst>
              <a:ext uri="{FF2B5EF4-FFF2-40B4-BE49-F238E27FC236}">
                <a16:creationId xmlns:a16="http://schemas.microsoft.com/office/drawing/2014/main" id="{2C03026B-6D1E-F7B1-9995-7D9DC1019C60}"/>
              </a:ext>
            </a:extLst>
          </p:cNvPr>
          <p:cNvSpPr txBox="1"/>
          <p:nvPr/>
        </p:nvSpPr>
        <p:spPr>
          <a:xfrm>
            <a:off x="7673393" y="5654744"/>
            <a:ext cx="726481" cy="307777"/>
          </a:xfrm>
          <a:prstGeom prst="rect">
            <a:avLst/>
          </a:prstGeom>
          <a:noFill/>
        </p:spPr>
        <p:txBody>
          <a:bodyPr wrap="none" rtlCol="0">
            <a:spAutoFit/>
          </a:bodyPr>
          <a:lstStyle/>
          <a:p>
            <a:r>
              <a:rPr lang="en-US" sz="1400" dirty="0">
                <a:solidFill/>
                <a:latin typeface="Montserrat" panose="00000500000000000000" pitchFamily="2" charset="0"/>
              </a:rPr>
              <a:t>23.8%</a:t>
            </a:r>
          </a:p>
        </p:txBody>
      </p:sp>
      <p:sp>
        <p:nvSpPr>
          <p:cNvPr id="16" name="TextBox 29">
            <a:extLst>
              <a:ext uri="{FF2B5EF4-FFF2-40B4-BE49-F238E27FC236}">
                <a16:creationId xmlns:a16="http://schemas.microsoft.com/office/drawing/2014/main" id="{9C64CEEB-E16A-926D-5DF0-DC8275443A40}"/>
              </a:ext>
            </a:extLst>
          </p:cNvPr>
          <p:cNvSpPr txBox="1"/>
          <p:nvPr/>
        </p:nvSpPr>
        <p:spPr>
          <a:xfrm>
            <a:off x="9593508" y="5666716"/>
            <a:ext cx="792205" cy="307777"/>
          </a:xfrm>
          <a:prstGeom prst="rect">
            <a:avLst/>
          </a:prstGeom>
          <a:noFill/>
        </p:spPr>
        <p:txBody>
          <a:bodyPr wrap="none" rtlCol="0">
            <a:spAutoFit/>
          </a:bodyPr>
          <a:lstStyle/>
          <a:p>
            <a:r>
              <a:rPr lang="en-US" sz="1400" dirty="0">
                <a:solidFill/>
                <a:latin typeface="Montserrat" panose="00000500000000000000" pitchFamily="2" charset="0"/>
              </a:rPr>
              <a:t>28.8%</a:t>
            </a:r>
          </a:p>
        </p:txBody>
      </p:sp>
      <p:sp>
        <p:nvSpPr>
          <p:cNvPr id="17" name="TextBox 30">
            <a:extLst>
              <a:ext uri="{FF2B5EF4-FFF2-40B4-BE49-F238E27FC236}">
                <a16:creationId xmlns:a16="http://schemas.microsoft.com/office/drawing/2014/main" id="{716000A2-AFB1-117D-BFF0-2BDA3EA8A77D}"/>
              </a:ext>
            </a:extLst>
          </p:cNvPr>
          <p:cNvSpPr txBox="1"/>
          <p:nvPr/>
        </p:nvSpPr>
        <p:spPr>
          <a:xfrm>
            <a:off x="11402786" y="5666716"/>
            <a:ext cx="766557" cy="307777"/>
          </a:xfrm>
          <a:prstGeom prst="rect">
            <a:avLst/>
          </a:prstGeom>
          <a:noFill/>
        </p:spPr>
        <p:txBody>
          <a:bodyPr wrap="none" rtlCol="0">
            <a:spAutoFit/>
          </a:bodyPr>
          <a:lstStyle/>
          <a:p>
            <a:r>
              <a:rPr lang="en-US" sz="1400" dirty="0">
                <a:solidFill/>
                <a:latin typeface="Montserrat" panose="00000500000000000000" pitchFamily="2" charset="0"/>
              </a:rPr>
              <a:t>33.8%</a:t>
            </a:r>
          </a:p>
        </p:txBody>
      </p:sp>
      <p:sp>
        <p:nvSpPr>
          <p:cNvPr id="18" name="Rectangle 19">
            <a:extLst>
              <a:ext uri="{FF2B5EF4-FFF2-40B4-BE49-F238E27FC236}">
                <a16:creationId xmlns:a16="http://schemas.microsoft.com/office/drawing/2014/main" id="{F6627BBC-E6C5-1195-07E5-6C53EE01CC8B}"/>
              </a:ext>
            </a:extLst>
          </p:cNvPr>
          <p:cNvSpPr/>
          <p:nvPr/>
        </p:nvSpPr>
        <p:spPr>
          <a:xfrm>
            <a:off x="7597806" y="3136844"/>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9" name="TextBox 25">
            <a:extLst>
              <a:ext uri="{FF2B5EF4-FFF2-40B4-BE49-F238E27FC236}">
                <a16:creationId xmlns:a16="http://schemas.microsoft.com/office/drawing/2014/main" id="{C22B0D02-4198-9ACE-8A8D-89E646CD21E5}"/>
              </a:ext>
            </a:extLst>
          </p:cNvPr>
          <p:cNvSpPr txBox="1"/>
          <p:nvPr/>
        </p:nvSpPr>
        <p:spPr>
          <a:xfrm>
            <a:off x="8366143" y="3105426"/>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20" name="TextBox 27">
            <a:extLst>
              <a:ext uri="{FF2B5EF4-FFF2-40B4-BE49-F238E27FC236}">
                <a16:creationId xmlns:a16="http://schemas.microsoft.com/office/drawing/2014/main" id="{E8084D42-778C-82F6-630D-9D8469AFEE15}"/>
              </a:ext>
            </a:extLst>
          </p:cNvPr>
          <p:cNvSpPr txBox="1"/>
          <p:nvPr/>
        </p:nvSpPr>
        <p:spPr>
          <a:xfrm>
            <a:off x="10950749" y="3096719"/>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21" name="TextBox 28">
            <a:extLst>
              <a:ext uri="{FF2B5EF4-FFF2-40B4-BE49-F238E27FC236}">
                <a16:creationId xmlns:a16="http://schemas.microsoft.com/office/drawing/2014/main" id="{F168AC10-2BD6-A49E-428D-30E6B39D197A}"/>
              </a:ext>
            </a:extLst>
          </p:cNvPr>
          <p:cNvSpPr txBox="1"/>
          <p:nvPr/>
        </p:nvSpPr>
        <p:spPr>
          <a:xfrm>
            <a:off x="7647303" y="3340887"/>
            <a:ext cx="1712328" cy="307777"/>
          </a:xfrm>
          <a:prstGeom prst="rect">
            <a:avLst/>
          </a:prstGeom>
          <a:noFill/>
        </p:spPr>
        <p:txBody>
          <a:bodyPr wrap="none" rtlCol="0">
            <a:spAutoFit/>
          </a:bodyPr>
          <a:lstStyle/>
          <a:p>
            <a:r>
              <a:rPr lang="en-US" sz="1400" dirty="0">
                <a:solidFill/>
                <a:latin typeface="Montserrat" panose="00000500000000000000" pitchFamily="2" charset="0"/>
              </a:rPr>
              <a:t>10% below target</a:t>
            </a:r>
          </a:p>
        </p:txBody>
      </p:sp>
      <p:sp>
        <p:nvSpPr>
          <p:cNvPr id="22" name="TextBox 30">
            <a:extLst>
              <a:ext uri="{FF2B5EF4-FFF2-40B4-BE49-F238E27FC236}">
                <a16:creationId xmlns:a16="http://schemas.microsoft.com/office/drawing/2014/main" id="{85A3284B-C2CB-7693-6750-302A3F66B386}"/>
              </a:ext>
            </a:extLst>
          </p:cNvPr>
          <p:cNvSpPr txBox="1"/>
          <p:nvPr/>
        </p:nvSpPr>
        <p:spPr>
          <a:xfrm>
            <a:off x="10299672" y="3338607"/>
            <a:ext cx="1710725" cy="307777"/>
          </a:xfrm>
          <a:prstGeom prst="rect">
            <a:avLst/>
          </a:prstGeom>
          <a:noFill/>
        </p:spPr>
        <p:txBody>
          <a:bodyPr wrap="none" rtlCol="0">
            <a:spAutoFit/>
          </a:bodyPr>
          <a:lstStyle/>
          <a:p>
            <a:r>
              <a:rPr lang="en-US" sz="1400" dirty="0">
                <a:solidFill/>
                <a:latin typeface="Montserrat" panose="00000500000000000000" pitchFamily="2" charset="0"/>
              </a:rPr>
              <a:t>10% above target</a:t>
            </a:r>
          </a:p>
        </p:txBody>
      </p:sp>
      <p:pic>
        <p:nvPicPr>
          <p:cNvPr id="23" name="Picture 13">
            <a:extLst>
              <a:ext uri="{FF2B5EF4-FFF2-40B4-BE49-F238E27FC236}">
                <a16:creationId xmlns:a16="http://schemas.microsoft.com/office/drawing/2014/main" id="{65F53EDF-0588-3C27-A588-DCF0628F1090}"/>
              </a:ext>
            </a:extLst>
          </p:cNvPr>
          <p:cNvPicPr>
            <a:picLocks noChangeAspect="1"/>
          </p:cNvPicPr>
          <p:nvPr/>
        </p:nvPicPr>
        <p:blipFill>
          <a:blip r:embed="rId2"/>
          <a:stretch>
            <a:fillRect/>
          </a:stretch>
        </p:blipFill>
        <p:spPr>
          <a:xfrm>
            <a:off x="215573" y="6356350"/>
            <a:ext cx="2125097" cy="463658"/>
          </a:xfrm>
          <a:prstGeom prst="rect">
            <a:avLst/>
          </a:prstGeom>
        </p:spPr>
      </p:pic>
      <p:sp>
        <p:nvSpPr>
          <p:cNvPr id="24" name="Freeform 13">
            <a:extLst>
              <a:ext uri="{FF2B5EF4-FFF2-40B4-BE49-F238E27FC236}">
                <a16:creationId xmlns:a16="http://schemas.microsoft.com/office/drawing/2014/main" id="{A69C37A6-72AB-457A-7E49-54EBE4F44F0E}"/>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5" name="Content Placeholder 24"/>
          <p:cNvPicPr>
            <a:picLocks noGrp="1"/>
          </p:cNvPicPr>
          <p:nvPr>
            <p:ph/>
          </p:nvPr>
        </p:nvPicPr>
        <p:blipFill>
          <a:blip r:embed="rId3" cstate="print"/>
          <a:stretch>
            <a:fillRect/>
          </a:stretch>
        </p:blipFill>
        <p:spPr>
          <a:xfrm>
            <a:off x="182880" y="1618488"/>
            <a:ext cx="6382512" cy="4553712"/>
          </a:xfrm>
          <a:prstGeom prst="rect">
            <a:avLst/>
          </a:prstGeom>
        </p:spPr>
      </p:pic>
    </p:spTree>
    <p:extLst>
      <p:ext uri="{BB962C8B-B14F-4D97-AF65-F5344CB8AC3E}">
        <p14:creationId xmlns:p14="http://schemas.microsoft.com/office/powerpoint/2010/main" val="34709052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DEBD79AC-6896-6E13-B0EE-8405AC1D8926}"/>
              </a:ext>
            </a:extLst>
          </p:cNvPr>
          <p:cNvSpPr/>
          <p:nvPr/>
        </p:nvSpPr>
        <p:spPr>
          <a:xfrm>
            <a:off x="0" y="-7770"/>
            <a:ext cx="978408" cy="6858000"/>
          </a:xfrm>
          <a:prstGeom prst="rect">
            <a:avLst/>
          </a:prstGeom>
          <a:solidFill>
            <a:srgbClr val="00539F">
              <a:alpha val="9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200" b="0" dirty="0">
                <a:solidFill>
                  <a:schemeClr val="bg1"/>
                </a:solidFill>
              </a:rPr>
              <a:t>FOUR-YEAR PROJECTIONS</a:t>
            </a:r>
          </a:p>
        </p:txBody>
      </p:sp>
      <p:graphicFrame>
        <p:nvGraphicFramePr>
          <p:cNvPr id="4" name="Table 3"/>
          <p:cNvGraphicFramePr>
            <a:graphicFrameLocks noGrp="1"/>
          </p:cNvGraphicFramePr>
          <p:nvPr/>
        </p:nvGraphicFramePr>
        <p:xfrm>
          <a:off x="6135624" y="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1,700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514.7K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1,029.4K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2,023.2K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3,254.3K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6.0K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12.0K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20.4K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31.2K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190.7K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861.4K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1,863.6K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3,105.5K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5" name="Table 4"/>
          <p:cNvGraphicFramePr>
            <a:graphicFrameLocks noGrp="1"/>
          </p:cNvGraphicFramePr>
          <p:nvPr/>
        </p:nvGraphicFramePr>
        <p:xfrm>
          <a:off x="6135624" y="2286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823.6K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1,647.1K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3,094.3K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4,881.5K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9.6K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19.2K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31.2K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46.8K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503.2K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1,486.3K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2,945.5K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4,748.3K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6" name="Table 5"/>
          <p:cNvGraphicFramePr>
            <a:graphicFrameLocks noGrp="1"/>
          </p:cNvGraphicFramePr>
          <p:nvPr/>
        </p:nvGraphicFramePr>
        <p:xfrm>
          <a:off x="6135624" y="4572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308.8K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514.7K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1,071.1K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1,627.2K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6.0K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10.8K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-17.6K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340.7K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901.9K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1,462.8K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pic>
        <p:nvPicPr>
          <p:cNvPr id="7" name="Content Placeholder 6"/>
          <p:cNvPicPr>
            <a:picLocks noGrp="1"/>
          </p:cNvPicPr>
          <p:nvPr>
            <p:ph/>
          </p:nvPr>
        </p:nvPicPr>
        <p:blipFill>
          <a:blip r:embed="rId2" cstate="print"/>
          <a:stretch>
            <a:fillRect/>
          </a:stretch>
        </p:blipFill>
        <p:spPr>
          <a:xfrm>
            <a:off x="1179576" y="0"/>
            <a:ext cx="4572000" cy="6858000"/>
          </a:xfrm>
          <a:prstGeom prst="rect">
            <a:avLst/>
          </a:prstGeom>
        </p:spPr>
      </p:pic>
    </p:spTree>
    <p:extLst>
      <p:ext uri="{BB962C8B-B14F-4D97-AF65-F5344CB8AC3E}">
        <p14:creationId xmlns:p14="http://schemas.microsoft.com/office/powerpoint/2010/main" val="3157945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337157" y="136525"/>
            <a:ext cx="11569498" cy="1091529"/>
          </a:xfrm>
        </p:spPr>
        <p:txBody>
          <a:bodyPr>
            <a:noAutofit/>
          </a:bodyPr>
          <a:lstStyle/>
          <a:p>
            <a:pPr>
              <a:lnSpc>
                <a:spcPct val="100000"/>
              </a:lnSpc>
              <a:spcBef>
                <a:spcPts val="1800"/>
              </a:spcBef>
              <a:spcAft>
                <a:spcPts val="600"/>
              </a:spcAft>
            </a:pPr>
            <a:r>
              <a:rPr lang="en-US" sz="2400" dirty="0">
                <a:solidFill>
                  <a:srgbClr val="000B2E"/>
                </a:solidFill>
                <a:cs typeface="Arial" panose="020B0604020202020204" pitchFamily="34" charset="0"/>
              </a:rPr>
              <a:t>DIRECT-TO-EMPLOYER STRATEGY:</a:t>
            </a:r>
            <a:br>
              <a:rPr lang="en-US" sz="3600" b="1" dirty="0">
                <a:solidFill>
                  <a:srgbClr val="000B2E"/>
                </a:solidFill>
                <a:cs typeface="Arial" panose="020B0604020202020204" pitchFamily="34" charset="0"/>
              </a:rPr>
            </a:br>
            <a:r>
              <a:rPr lang="en-US" sz="3200" b="1" dirty="0">
                <a:solidFill>
                  <a:srgbClr val="000B2E"/>
                </a:solidFill>
                <a:cs typeface="Arial" panose="020B0604020202020204" pitchFamily="34" charset="0"/>
              </a:rPr>
              <a:t>ONLY AVAILABLE TO </a:t>
            </a:r>
            <a:r>
              <a:rPr lang="en-US" sz="3200" b="1" i="1" dirty="0">
                <a:solidFill>
                  <a:srgbClr val="000B2E"/>
                </a:solidFill>
                <a:cs typeface="Arial" panose="020B0604020202020204" pitchFamily="34" charset="0"/>
              </a:rPr>
              <a:t>PREMIER</a:t>
            </a:r>
            <a:r>
              <a:rPr lang="en-US" sz="3200" b="1" dirty="0">
                <a:solidFill>
                  <a:srgbClr val="000B2E"/>
                </a:solidFill>
                <a:cs typeface="Arial" panose="020B0604020202020204" pitchFamily="34" charset="0"/>
              </a:rPr>
              <a:t> HEALTH SYSTEMS</a:t>
            </a:r>
            <a:endParaRPr lang="en-US" sz="1600" dirty="0">
              <a:solidFill>
                <a:schemeClr val="tx1">
                  <a:lumMod val="75000"/>
                  <a:lumOff val="25000"/>
                </a:schemeClr>
              </a:solidFill>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612859" y="1848935"/>
            <a:ext cx="6028455" cy="4660901"/>
          </a:xfrm>
        </p:spPr>
        <p:txBody>
          <a:bodyPr>
            <a:normAutofit/>
          </a:bodyPr>
          <a:lstStyle/>
          <a:p>
            <a:pPr marL="0" indent="0">
              <a:lnSpc>
                <a:spcPct val="150000"/>
              </a:lnSpc>
              <a:spcAft>
                <a:spcPts val="1200"/>
              </a:spcAft>
              <a:buNone/>
            </a:pPr>
            <a:r>
              <a:rPr lang="en-US" sz="3200" b="1" dirty="0">
                <a:solidFill>
                  <a:srgbClr val="59CAE8"/>
                </a:solidFill>
                <a:latin typeface="Montserrat" panose="00000500000000000000" pitchFamily="2" charset="0"/>
              </a:rPr>
              <a:t>STRONG</a:t>
            </a:r>
            <a:r>
              <a:rPr lang="en-US" sz="3200" dirty="0">
                <a:solidFill>
                  <a:srgbClr val="9900CC"/>
                </a:solidFill>
              </a:rPr>
              <a:t> </a:t>
            </a:r>
            <a:r>
              <a:rPr lang="en-US" sz="3200" dirty="0">
                <a:solidFill>
                  <a:schemeClr val="tx1">
                    <a:lumMod val="75000"/>
                    <a:lumOff val="25000"/>
                  </a:schemeClr>
                </a:solidFill>
              </a:rPr>
              <a:t>Brand Quality</a:t>
            </a:r>
          </a:p>
          <a:p>
            <a:pPr marL="0" indent="0">
              <a:lnSpc>
                <a:spcPct val="150000"/>
              </a:lnSpc>
              <a:spcAft>
                <a:spcPts val="1200"/>
              </a:spcAft>
              <a:buNone/>
            </a:pPr>
            <a:r>
              <a:rPr lang="en-US" sz="3200" b="1" dirty="0">
                <a:solidFill>
                  <a:srgbClr val="59CAE8"/>
                </a:solidFill>
                <a:latin typeface="Montserrat" panose="00000500000000000000" pitchFamily="2" charset="0"/>
              </a:rPr>
              <a:t>EXTENSIVE</a:t>
            </a:r>
            <a:r>
              <a:rPr lang="en-US" sz="3200" dirty="0"/>
              <a:t> </a:t>
            </a:r>
            <a:r>
              <a:rPr lang="en-US" sz="3200" dirty="0">
                <a:solidFill>
                  <a:schemeClr val="tx1">
                    <a:lumMod val="75000"/>
                    <a:lumOff val="25000"/>
                  </a:schemeClr>
                </a:solidFill>
              </a:rPr>
              <a:t>Patient Access</a:t>
            </a:r>
          </a:p>
          <a:p>
            <a:pPr marL="0" indent="0">
              <a:lnSpc>
                <a:spcPct val="150000"/>
              </a:lnSpc>
              <a:spcAft>
                <a:spcPts val="1200"/>
              </a:spcAft>
              <a:buNone/>
            </a:pPr>
            <a:r>
              <a:rPr lang="en-US" sz="3200" b="1" dirty="0">
                <a:solidFill>
                  <a:srgbClr val="59CAE8"/>
                </a:solidFill>
                <a:latin typeface="Montserrat" panose="00000500000000000000" pitchFamily="2" charset="0"/>
              </a:rPr>
              <a:t>AFFORDABLE</a:t>
            </a:r>
            <a:r>
              <a:rPr lang="en-US" sz="3200" dirty="0"/>
              <a:t> </a:t>
            </a:r>
            <a:r>
              <a:rPr lang="en-US" sz="3200" dirty="0">
                <a:solidFill>
                  <a:schemeClr val="tx1">
                    <a:lumMod val="75000"/>
                    <a:lumOff val="25000"/>
                  </a:schemeClr>
                </a:solidFill>
              </a:rPr>
              <a:t>Value Pricing</a:t>
            </a:r>
          </a:p>
          <a:p>
            <a:pPr marL="0" indent="0">
              <a:lnSpc>
                <a:spcPct val="150000"/>
              </a:lnSpc>
              <a:spcAft>
                <a:spcPts val="1200"/>
              </a:spcAft>
              <a:buNone/>
            </a:pPr>
            <a:r>
              <a:rPr lang="en-US" sz="3200" b="1" dirty="0">
                <a:solidFill>
                  <a:srgbClr val="59CAE8"/>
                </a:solidFill>
                <a:latin typeface="Montserrat" panose="00000500000000000000" pitchFamily="2" charset="0"/>
              </a:rPr>
              <a:t>EXCELLENT</a:t>
            </a:r>
            <a:r>
              <a:rPr lang="en-US" sz="3200" dirty="0">
                <a:solidFill>
                  <a:srgbClr val="9900CC"/>
                </a:solidFill>
              </a:rPr>
              <a:t> </a:t>
            </a:r>
            <a:r>
              <a:rPr lang="en-US" sz="3200" dirty="0">
                <a:solidFill>
                  <a:schemeClr val="tx1">
                    <a:lumMod val="75000"/>
                    <a:lumOff val="25000"/>
                  </a:schemeClr>
                </a:solidFill>
              </a:rPr>
              <a:t>Care Quality  </a:t>
            </a:r>
          </a:p>
        </p:txBody>
      </p:sp>
      <p:pic>
        <p:nvPicPr>
          <p:cNvPr id="4" name="Picture 5">
            <a:extLst>
              <a:ext uri="{FF2B5EF4-FFF2-40B4-BE49-F238E27FC236}">
                <a16:creationId xmlns:a16="http://schemas.microsoft.com/office/drawing/2014/main" id="{182E78E4-84F7-ECC4-4085-D8F128942AD6}"/>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63B286E7-A296-8685-AC6B-CA7B2EB60EBD}"/>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Content Placeholder 5"/>
          <p:cNvPicPr>
            <a:picLocks noGrp="1"/>
          </p:cNvPicPr>
          <p:nvPr>
            <p:ph/>
          </p:nvPr>
        </p:nvPicPr>
        <p:blipFill>
          <a:blip r:embed="rId3" cstate="print"/>
          <a:stretch>
            <a:fillRect/>
          </a:stretch>
        </p:blipFill>
        <p:spPr>
          <a:xfrm>
            <a:off x="1508760" y="2834640"/>
            <a:ext cx="3154680" cy="640273"/>
          </a:xfrm>
          <a:prstGeom prst="rect">
            <a:avLst/>
          </a:prstGeom>
        </p:spPr>
      </p:pic>
    </p:spTree>
    <p:extLst>
      <p:ext uri="{BB962C8B-B14F-4D97-AF65-F5344CB8AC3E}">
        <p14:creationId xmlns:p14="http://schemas.microsoft.com/office/powerpoint/2010/main" val="5004615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157AD-9D57-0448-105A-79BA8850085E}"/>
              </a:ext>
            </a:extLst>
          </p:cNvPr>
          <p:cNvSpPr>
            <a:spLocks noGrp="1"/>
          </p:cNvSpPr>
          <p:nvPr>
            <p:ph type="title"/>
          </p:nvPr>
        </p:nvSpPr>
        <p:spPr>
          <a:xfrm>
            <a:off x="215573" y="136525"/>
            <a:ext cx="11590512" cy="1325563"/>
          </a:xfrm>
        </p:spPr>
        <p:txBody>
          <a:bodyPr>
            <a:noAutofit/>
          </a:bodyPr>
          <a:lstStyle/>
          <a:p>
            <a:pPr>
              <a:lnSpc>
                <a:spcPct val="100000"/>
              </a:lnSpc>
              <a:spcBef>
                <a:spcPts val="1800"/>
              </a:spcBef>
              <a:spcAft>
                <a:spcPts val="600"/>
              </a:spcAft>
            </a:pPr>
            <a:r>
              <a:rPr lang="en-US" sz="3600" dirty="0">
                <a:solidFill>
                  <a:srgbClr val="000B2E"/>
                </a:solidFill>
                <a:cs typeface="Arial" panose="020B0604020202020204" pitchFamily="34" charset="0"/>
              </a:rPr>
              <a:t>YOUNGSTOWN BRAND QUALITY COMPARISONS</a:t>
            </a:r>
            <a:endParaRPr lang="en-US" sz="1400" dirty="0">
              <a:solidFill>
                <a:schemeClr val="tx1">
                  <a:lumMod val="75000"/>
                  <a:lumOff val="25000"/>
                </a:schemeClr>
              </a:solidFill>
              <a:cs typeface="Arial" panose="020B0604020202020204" pitchFamily="34" charset="0"/>
            </a:endParaRPr>
          </a:p>
        </p:txBody>
      </p:sp>
      <p:sp>
        <p:nvSpPr>
          <p:cNvPr id="3" name="Rectangle 1">
            <a:extLst>
              <a:ext uri="{FF2B5EF4-FFF2-40B4-BE49-F238E27FC236}">
                <a16:creationId xmlns:a16="http://schemas.microsoft.com/office/drawing/2014/main" id="{3E0219A2-C97D-9E0E-9C52-C5207AB41BD4}"/>
              </a:ext>
            </a:extLst>
          </p:cNvPr>
          <p:cNvSpPr/>
          <p:nvPr/>
        </p:nvSpPr>
        <p:spPr>
          <a:xfrm>
            <a:off x="9405257" y="1989573"/>
            <a:ext cx="2532185" cy="34867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Montserrat" panose="00000500000000000000" pitchFamily="2" charset="0"/>
              </a:rPr>
              <a:t>Based on quality measures and HCAHPS feedback, KBA estimates that Bon Secours Mercy Health has the strongest brand quality in Columbiana, Geauga, Mahoning, Portage, Stark, Trumbull, Beaver, Butler, Crawford, Lawrence, and Mercer Counties.</a:t>
            </a:r>
          </a:p>
        </p:txBody>
      </p:sp>
      <p:pic>
        <p:nvPicPr>
          <p:cNvPr id="4" name="Picture 8">
            <a:extLst>
              <a:ext uri="{FF2B5EF4-FFF2-40B4-BE49-F238E27FC236}">
                <a16:creationId xmlns:a16="http://schemas.microsoft.com/office/drawing/2014/main" id="{2AD52701-1DE7-13B3-FBF0-4BD24A480709}"/>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A6B1301C-BF63-22CC-7705-C12ACB4A1EC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5"/>
          <p:cNvGraphicFramePr>
            <a:graphicFrameLocks noGrp="1"/>
          </p:cNvGraphicFramePr>
          <p:nvPr>
            <p:extLst>
              <p:ext uri="{D42A27DB-BD31-4B8C-83A1-F6EECF244321}">
                <p14:modId xmlns:p14="http://schemas.microsoft.com/office/powerpoint/2010/main" val="2796734562"/>
              </p:ext>
            </p:extLst>
          </p:nvPr>
        </p:nvGraphicFramePr>
        <p:xfrm>
          <a:off x="254558" y="1989573"/>
          <a:ext cx="8655277" cy="3022331"/>
        </p:xfrm>
        <a:graphic>
          <a:graphicData uri="http://schemas.openxmlformats.org/drawingml/2006/table">
            <a:tbl>
              <a:tblPr/>
              <a:tblGrid>
                <a:gridCol w="2793987">
                  <a:extLst>
                    <a:ext uri="{9D8B030D-6E8A-4147-A177-3AD203B41FA5}">
                      <a16:colId xmlns:a16="http://schemas.microsoft.com/office/drawing/2014/main" val="20000"/>
                    </a:ext>
                  </a:extLst>
                </a:gridCol>
                <a:gridCol w="1496364">
                  <a:extLst>
                    <a:ext uri="{9D8B030D-6E8A-4147-A177-3AD203B41FA5}">
                      <a16:colId xmlns:a16="http://schemas.microsoft.com/office/drawing/2014/main" val="20001"/>
                    </a:ext>
                  </a:extLst>
                </a:gridCol>
                <a:gridCol w="1001991">
                  <a:extLst>
                    <a:ext uri="{9D8B030D-6E8A-4147-A177-3AD203B41FA5}">
                      <a16:colId xmlns:a16="http://schemas.microsoft.com/office/drawing/2014/main" val="20002"/>
                    </a:ext>
                  </a:extLst>
                </a:gridCol>
                <a:gridCol w="969722">
                  <a:extLst>
                    <a:ext uri="{9D8B030D-6E8A-4147-A177-3AD203B41FA5}">
                      <a16:colId xmlns:a16="http://schemas.microsoft.com/office/drawing/2014/main" val="20003"/>
                    </a:ext>
                  </a:extLst>
                </a:gridCol>
                <a:gridCol w="1180365">
                  <a:extLst>
                    <a:ext uri="{9D8B030D-6E8A-4147-A177-3AD203B41FA5}">
                      <a16:colId xmlns:a16="http://schemas.microsoft.com/office/drawing/2014/main" val="20004"/>
                    </a:ext>
                  </a:extLst>
                </a:gridCol>
                <a:gridCol w="1212848">
                  <a:extLst>
                    <a:ext uri="{9D8B030D-6E8A-4147-A177-3AD203B41FA5}">
                      <a16:colId xmlns:a16="http://schemas.microsoft.com/office/drawing/2014/main" val="20005"/>
                    </a:ext>
                  </a:extLst>
                </a:gridCol>
              </a:tblGrid>
              <a:tr h="567527">
                <a:tc>
                  <a:txBody>
                    <a:bodyPr/>
                    <a:lstStyle/>
                    <a:p>
                      <a:pPr marL="63500" marR="63500" algn="l">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Health System</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HCAHPS</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Recommendation</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CMS Stars</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Mortality</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Readmission</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KBA Brand</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Quality Score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390310">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Other Independent Hospitals</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34</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B8C6DD">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69</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708BBA">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61</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8099C2">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69</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708BBA">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55</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8DA3C8">
                        <a:alpha val="100000"/>
                      </a:srgbClr>
                    </a:solidFill>
                  </a:tcPr>
                </a:tc>
                <a:extLst>
                  <a:ext uri="{0D108BD9-81ED-4DB2-BD59-A6C34878D82A}">
                    <a16:rowId xmlns:a16="http://schemas.microsoft.com/office/drawing/2014/main" val="10001"/>
                  </a:ext>
                </a:extLst>
              </a:tr>
              <a:tr h="391879">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Bon Secours Mercy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23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CFD8E8">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46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FB2D1">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5F7EB2">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DA3C8">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1A6CA">
                        <a:alpha val="100000"/>
                      </a:srgbClr>
                    </a:solidFill>
                  </a:tcPr>
                </a:tc>
                <a:extLst>
                  <a:ext uri="{0D108BD9-81ED-4DB2-BD59-A6C34878D82A}">
                    <a16:rowId xmlns:a16="http://schemas.microsoft.com/office/drawing/2014/main" val="10002"/>
                  </a:ext>
                </a:extLst>
              </a:tr>
              <a:tr h="364184">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Prime Healthcare Services</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27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C7D1E3">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100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30589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785B5">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48FB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3A8CB">
                        <a:alpha val="100000"/>
                      </a:srgbClr>
                    </a:solidFill>
                  </a:tcPr>
                </a:tc>
                <a:extLst>
                  <a:ext uri="{0D108BD9-81ED-4DB2-BD59-A6C34878D82A}">
                    <a16:rowId xmlns:a16="http://schemas.microsoft.com/office/drawing/2014/main" val="10003"/>
                  </a:ext>
                </a:extLst>
              </a:tr>
              <a:tr h="391879">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University of Pittsburgh Medical Center</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23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CFD8E8">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5D7CB1">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28DB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E97C1">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3A8CB">
                        <a:alpha val="100000"/>
                      </a:srgbClr>
                    </a:solidFill>
                  </a:tcPr>
                </a:tc>
                <a:extLst>
                  <a:ext uri="{0D108BD9-81ED-4DB2-BD59-A6C34878D82A}">
                    <a16:rowId xmlns:a16="http://schemas.microsoft.com/office/drawing/2014/main" val="10004"/>
                  </a:ext>
                </a:extLst>
              </a:tr>
              <a:tr h="391879">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Heritage Valley Health System</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21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D3DBEA">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099C2">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80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5979AF">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28DB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5A9CB">
                        <a:alpha val="100000"/>
                      </a:srgbClr>
                    </a:solidFill>
                  </a:tcPr>
                </a:tc>
                <a:extLst>
                  <a:ext uri="{0D108BD9-81ED-4DB2-BD59-A6C34878D82A}">
                    <a16:rowId xmlns:a16="http://schemas.microsoft.com/office/drawing/2014/main" val="10005"/>
                  </a:ext>
                </a:extLst>
              </a:tr>
              <a:tr h="391879">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Steward Health Care System</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FAFBFD">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31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BECBE0">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708BBA">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708BBA">
                        <a:alpha val="100000"/>
                      </a:srgbClr>
                    </a:solidFill>
                  </a:tcPr>
                </a:tc>
                <a:tc>
                  <a:txBody>
                    <a:bodyPr/>
                    <a:lstStyle/>
                    <a:p>
                      <a:pPr marL="63500" marR="63500" algn="ctr">
                        <a:lnSpc>
                          <a:spcPct val="100000"/>
                        </a:lnSpc>
                        <a:spcBef>
                          <a:spcPts val="500"/>
                        </a:spcBef>
                        <a:spcAft>
                          <a:spcPts val="500"/>
                        </a:spcAft>
                        <a:buNone/>
                      </a:pPr>
                      <a:r>
                        <a:rPr sz="1100" b="0" i="0" u="none" cap="none" dirty="0">
                          <a:solidFill>
                            <a:srgbClr val="30589B">
                              <a:alpha val="100000"/>
                            </a:srgbClr>
                          </a:solidFill>
                          <a:latin typeface="Montserrat"/>
                          <a:cs typeface="Arial"/>
                          <a:sym typeface="Arial"/>
                        </a:rPr>
                        <a:t>44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A3B5D3">
                        <a:alpha val="100000"/>
                      </a:srgbClr>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40647523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9">
            <a:extLst>
              <a:ext uri="{FF2B5EF4-FFF2-40B4-BE49-F238E27FC236}">
                <a16:creationId xmlns:a16="http://schemas.microsoft.com/office/drawing/2014/main" id="{C179CC05-C580-445B-A6CE-880F87F13ADE}"/>
              </a:ext>
            </a:extLst>
          </p:cNvPr>
          <p:cNvSpPr/>
          <p:nvPr/>
        </p:nvSpPr>
        <p:spPr>
          <a:xfrm>
            <a:off x="1" y="-18338"/>
            <a:ext cx="1333500" cy="6888683"/>
          </a:xfrm>
          <a:prstGeom prst="rect">
            <a:avLst/>
          </a:prstGeom>
          <a:solidFill>
            <a:srgbClr val="00539F">
              <a:alpha val="9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Rectangle 18">
            <a:extLst>
              <a:ext uri="{FF2B5EF4-FFF2-40B4-BE49-F238E27FC236}">
                <a16:creationId xmlns:a16="http://schemas.microsoft.com/office/drawing/2014/main" id="{5D0A2589-D5AE-4FA5-AFEE-380FBDE57678}"/>
              </a:ext>
            </a:extLst>
          </p:cNvPr>
          <p:cNvSpPr/>
          <p:nvPr/>
        </p:nvSpPr>
        <p:spPr>
          <a:xfrm>
            <a:off x="8305799" y="0"/>
            <a:ext cx="3886201" cy="68703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Footer Placeholder 2">
            <a:extLst>
              <a:ext uri="{FF2B5EF4-FFF2-40B4-BE49-F238E27FC236}">
                <a16:creationId xmlns:a16="http://schemas.microsoft.com/office/drawing/2014/main" id="{3B8F1952-97F2-4B3F-B2E1-5810787BF1F5}"/>
              </a:ext>
            </a:extLst>
          </p:cNvPr>
          <p:cNvSpPr>
            <a:spLocks noGrp="1"/>
          </p:cNvSpPr>
          <p:nvPr>
            <p:ph type="ftr" sz="quarter" idx="11"/>
          </p:nvPr>
        </p:nvSpPr>
        <p:spPr/>
        <p:txBody>
          <a:bodyPr/>
          <a:lstStyle/>
          <a:p>
            <a:r>
              <a:rPr lang="en-US" dirty="0"/>
              <a:t>Key Benefit Administrators</a:t>
            </a:r>
          </a:p>
        </p:txBody>
      </p:sp>
      <p:sp>
        <p:nvSpPr>
          <p:cNvPr id="5" name="Slide Number Placeholder 3">
            <a:extLst>
              <a:ext uri="{FF2B5EF4-FFF2-40B4-BE49-F238E27FC236}">
                <a16:creationId xmlns:a16="http://schemas.microsoft.com/office/drawing/2014/main" id="{BE944F38-D276-436B-8BA7-1690795B2612}"/>
              </a:ext>
            </a:extLst>
          </p:cNvPr>
          <p:cNvSpPr>
            <a:spLocks noGrp="1"/>
          </p:cNvSpPr>
          <p:nvPr>
            <p:ph type="sldNum" sz="quarter" idx="12"/>
          </p:nvPr>
        </p:nvSpPr>
        <p:spPr/>
        <p:txBody>
          <a:bodyPr/>
          <a:lstStyle/>
          <a:p>
            <a:fld id="{3AFC719D-C4A7-4544-876E-D411D11AF6C9}" type="slidenum">
              <a:rPr lang="en-US" smtClean="0"/>
              <a:t>15</a:t>
            </a:fld>
            <a:endParaRPr lang="en-US" dirty="0"/>
          </a:p>
        </p:txBody>
      </p:sp>
      <p:sp>
        <p:nvSpPr>
          <p:cNvPr id="6" name="Rectangle 4">
            <a:extLst>
              <a:ext uri="{FF2B5EF4-FFF2-40B4-BE49-F238E27FC236}">
                <a16:creationId xmlns:a16="http://schemas.microsoft.com/office/drawing/2014/main" id="{3E6586F0-A9B4-4F4A-B94E-351404883741}"/>
              </a:ext>
            </a:extLst>
          </p:cNvPr>
          <p:cNvSpPr/>
          <p:nvPr/>
        </p:nvSpPr>
        <p:spPr>
          <a:xfrm>
            <a:off x="1981201" y="548292"/>
            <a:ext cx="5686424" cy="5262979"/>
          </a:xfrm>
          <a:prstGeom prst="rect">
            <a:avLst/>
          </a:prstGeom>
        </p:spPr>
        <p:txBody>
          <a:bodyPr wrap="square">
            <a:spAutoFit/>
          </a:bodyPr>
          <a:lstStyle/>
          <a:p>
            <a:pPr>
              <a:spcAft>
                <a:spcPts val="1200"/>
              </a:spcAft>
            </a:pPr>
            <a:r>
              <a:rPr lang="en-US" sz="1600" b="1" cap="all" dirty="0">
                <a:solidFill>
                  <a:srgbClr val="000B2E"/>
                </a:solidFill>
                <a:latin typeface="Montserrat" panose="00000500000000000000" pitchFamily="2" charset="0"/>
              </a:rPr>
              <a:t>Bon Secours Mercy Health’s Network</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The medical providers in your direct control or part of Bon Secours Mercy Health’s integrated delivery system </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Potential risk sharing arrangements (e.g. employer stop-loss participation)</a:t>
            </a:r>
          </a:p>
          <a:p>
            <a:pPr>
              <a:spcAft>
                <a:spcPts val="1200"/>
              </a:spcAft>
            </a:pPr>
            <a:r>
              <a:rPr lang="en-US" sz="1600" b="1" cap="all" dirty="0">
                <a:solidFill>
                  <a:srgbClr val="000B2E"/>
                </a:solidFill>
                <a:latin typeface="Montserrat" panose="00000500000000000000" pitchFamily="2" charset="0"/>
              </a:rPr>
              <a:t>Friends &amp; Family Providers – TIER 1</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Access through direct contracts at the discretion of Bon Secours Mercy Health</a:t>
            </a:r>
          </a:p>
          <a:p>
            <a:pPr>
              <a:spcAft>
                <a:spcPts val="1200"/>
              </a:spcAft>
            </a:pPr>
            <a:r>
              <a:rPr lang="en-US" sz="1600" b="1" dirty="0">
                <a:solidFill>
                  <a:srgbClr val="000B2E"/>
                </a:solidFill>
                <a:latin typeface="Montserrat" panose="00000500000000000000" pitchFamily="2" charset="0"/>
              </a:rPr>
              <a:t>WRAP NETWORK </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Medical services from national PPO networks for members that travel, tertiary and specialty services you do not provide, and employees residing outside your direct catchment area </a:t>
            </a:r>
          </a:p>
          <a:p>
            <a:pPr marL="0" lvl="1">
              <a:spcAft>
                <a:spcPts val="1200"/>
              </a:spcAft>
            </a:pPr>
            <a:r>
              <a:rPr lang="en-US" sz="1600" b="1" dirty="0">
                <a:solidFill>
                  <a:srgbClr val="000B2E"/>
                </a:solidFill>
                <a:latin typeface="Montserrat" panose="00000500000000000000" pitchFamily="2" charset="0"/>
              </a:rPr>
              <a:t>OUT-OF-NETWORK</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Non-contracted medical providers</a:t>
            </a:r>
          </a:p>
        </p:txBody>
      </p:sp>
      <p:graphicFrame>
        <p:nvGraphicFramePr>
          <p:cNvPr id="7" name="Diagram 8">
            <a:extLst>
              <a:ext uri="{FF2B5EF4-FFF2-40B4-BE49-F238E27FC236}">
                <a16:creationId xmlns:a16="http://schemas.microsoft.com/office/drawing/2014/main" id="{FAD0E162-C21A-49A7-B8F7-5357E17BEF5D}"/>
              </a:ext>
            </a:extLst>
          </p:cNvPr>
          <p:cNvGraphicFramePr/>
          <p:nvPr>
            <p:extLst>
              <p:ext uri="{D42A27DB-BD31-4B8C-83A1-F6EECF244321}">
                <p14:modId xmlns:p14="http://schemas.microsoft.com/office/powerpoint/2010/main" val="3661889314"/>
              </p:ext>
            </p:extLst>
          </p:nvPr>
        </p:nvGraphicFramePr>
        <p:xfrm>
          <a:off x="8377646" y="330927"/>
          <a:ext cx="3718560" cy="58521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8" name="Content Placeholder 7"/>
          <p:cNvPicPr>
            <a:picLocks noGrp="1"/>
          </p:cNvPicPr>
          <p:nvPr>
            <p:ph/>
          </p:nvPr>
        </p:nvPicPr>
        <p:blipFill>
          <a:blip r:embed="rId7" cstate="print"/>
          <a:stretch>
            <a:fillRect/>
          </a:stretch>
        </p:blipFill>
        <p:spPr>
          <a:xfrm>
            <a:off x="9727691" y="4325112"/>
            <a:ext cx="1042416" cy="211569"/>
          </a:xfrm>
          <a:prstGeom prst="rect">
            <a:avLst/>
          </a:prstGeom>
        </p:spPr>
      </p:pic>
    </p:spTree>
    <p:extLst>
      <p:ext uri="{BB962C8B-B14F-4D97-AF65-F5344CB8AC3E}">
        <p14:creationId xmlns:p14="http://schemas.microsoft.com/office/powerpoint/2010/main" val="17006213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F664F8C9-9C7F-4948-A85D-2E89D3FE40B6}"/>
              </a:ext>
            </a:extLst>
          </p:cNvPr>
          <p:cNvSpPr>
            <a:spLocks noGrp="1"/>
          </p:cNvSpPr>
          <p:nvPr>
            <p:ph type="ftr" sz="quarter" idx="11"/>
          </p:nvPr>
        </p:nvSpPr>
        <p:spPr/>
        <p:txBody>
          <a:bodyPr/>
          <a:lstStyle/>
          <a:p>
            <a:r>
              <a:rPr lang="en-US" dirty="0"/>
              <a:t>Key Benefit Administrators</a:t>
            </a:r>
          </a:p>
        </p:txBody>
      </p:sp>
      <p:sp>
        <p:nvSpPr>
          <p:cNvPr id="3" name="Slide Number Placeholder 3">
            <a:extLst>
              <a:ext uri="{FF2B5EF4-FFF2-40B4-BE49-F238E27FC236}">
                <a16:creationId xmlns:a16="http://schemas.microsoft.com/office/drawing/2014/main" id="{29335D2A-704B-40DA-B40A-6813A0904A8C}"/>
              </a:ext>
            </a:extLst>
          </p:cNvPr>
          <p:cNvSpPr>
            <a:spLocks noGrp="1"/>
          </p:cNvSpPr>
          <p:nvPr>
            <p:ph type="sldNum" sz="quarter" idx="12"/>
          </p:nvPr>
        </p:nvSpPr>
        <p:spPr/>
        <p:txBody>
          <a:bodyPr/>
          <a:lstStyle/>
          <a:p>
            <a:fld id="{3AFC719D-C4A7-4544-876E-D411D11AF6C9}" type="slidenum">
              <a:rPr lang="en-US" smtClean="0"/>
              <a:t>16</a:t>
            </a:fld>
            <a:endParaRPr lang="en-US" dirty="0"/>
          </a:p>
        </p:txBody>
      </p:sp>
      <p:pic>
        <p:nvPicPr>
          <p:cNvPr id="4" name="Picture 5">
            <a:extLst>
              <a:ext uri="{FF2B5EF4-FFF2-40B4-BE49-F238E27FC236}">
                <a16:creationId xmlns:a16="http://schemas.microsoft.com/office/drawing/2014/main" id="{10F9F71E-E6B1-42DA-8A5C-BA766FB41692}"/>
              </a:ext>
            </a:extLst>
          </p:cNvPr>
          <p:cNvPicPr/>
          <p:nvPr/>
        </p:nvPicPr>
        <p:blipFill>
          <a:blip r:embed="rId2"/>
          <a:stretch>
            <a:fillRect/>
          </a:stretch>
        </p:blipFill>
        <p:spPr>
          <a:xfrm>
            <a:off x="944808" y="1094934"/>
            <a:ext cx="10828091" cy="3515166"/>
          </a:xfrm>
          <a:prstGeom prst="rect">
            <a:avLst/>
          </a:prstGeom>
        </p:spPr>
      </p:pic>
      <p:sp>
        <p:nvSpPr>
          <p:cNvPr id="5" name="Right Brace 6">
            <a:extLst>
              <a:ext uri="{FF2B5EF4-FFF2-40B4-BE49-F238E27FC236}">
                <a16:creationId xmlns:a16="http://schemas.microsoft.com/office/drawing/2014/main" id="{3FB139EF-7F84-45B5-97A9-2678E891CE13}"/>
              </a:ext>
            </a:extLst>
          </p:cNvPr>
          <p:cNvSpPr/>
          <p:nvPr/>
        </p:nvSpPr>
        <p:spPr>
          <a:xfrm rot="5400000">
            <a:off x="3193839" y="2494417"/>
            <a:ext cx="555585" cy="4924885"/>
          </a:xfrm>
          <a:prstGeom prst="rightBrace">
            <a:avLst/>
          </a:prstGeom>
          <a:ln>
            <a:solidFill>
              <a:srgbClr val="254F96"/>
            </a:solidFill>
          </a:ln>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dirty="0">
              <a:latin typeface="Montserrat" panose="00000500000000000000" pitchFamily="2" charset="0"/>
            </a:endParaRPr>
          </a:p>
        </p:txBody>
      </p:sp>
      <p:sp>
        <p:nvSpPr>
          <p:cNvPr id="6" name="TextBox 8">
            <a:extLst>
              <a:ext uri="{FF2B5EF4-FFF2-40B4-BE49-F238E27FC236}">
                <a16:creationId xmlns:a16="http://schemas.microsoft.com/office/drawing/2014/main" id="{11F3B9D2-B381-4EA2-993A-13B4DAC230E5}"/>
              </a:ext>
            </a:extLst>
          </p:cNvPr>
          <p:cNvSpPr txBox="1"/>
          <p:nvPr/>
        </p:nvSpPr>
        <p:spPr>
          <a:xfrm>
            <a:off x="2036719" y="5303619"/>
            <a:ext cx="3019883" cy="923330"/>
          </a:xfrm>
          <a:prstGeom prst="rect">
            <a:avLst/>
          </a:prstGeom>
          <a:noFill/>
        </p:spPr>
        <p:txBody>
          <a:bodyPr wrap="square" rtlCol="0">
            <a:spAutoFit/>
          </a:bodyPr>
          <a:lstStyle/>
          <a:p>
            <a:pPr algn="ctr"/>
            <a:r>
              <a:rPr lang="en-US" dirty="0">
                <a:latin typeface="Montserrat" panose="00000500000000000000" pitchFamily="2" charset="0"/>
              </a:rPr>
              <a:t>Exclusive Provider Organization (EPO) Plan Design Structure</a:t>
            </a:r>
          </a:p>
        </p:txBody>
      </p:sp>
      <p:sp>
        <p:nvSpPr>
          <p:cNvPr id="7" name="Rectangle 16">
            <a:extLst>
              <a:ext uri="{FF2B5EF4-FFF2-40B4-BE49-F238E27FC236}">
                <a16:creationId xmlns:a16="http://schemas.microsoft.com/office/drawing/2014/main" id="{F2E566E5-041D-4247-A79E-A185C1420D0E}"/>
              </a:ext>
            </a:extLst>
          </p:cNvPr>
          <p:cNvSpPr/>
          <p:nvPr/>
        </p:nvSpPr>
        <p:spPr>
          <a:xfrm>
            <a:off x="0" y="12345"/>
            <a:ext cx="12192000" cy="1013622"/>
          </a:xfrm>
          <a:prstGeom prst="rect">
            <a:avLst/>
          </a:prstGeom>
          <a:solidFill>
            <a:srgbClr val="00539F">
              <a:alpha val="94902"/>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b="1" dirty="0">
              <a:latin typeface="Montserrat" panose="00000500000000000000" pitchFamily="2" charset="0"/>
            </a:endParaRPr>
          </a:p>
        </p:txBody>
      </p:sp>
      <p:sp>
        <p:nvSpPr>
          <p:cNvPr id="8" name="TextBox 7">
            <a:extLst>
              <a:ext uri="{FF2B5EF4-FFF2-40B4-BE49-F238E27FC236}">
                <a16:creationId xmlns:a16="http://schemas.microsoft.com/office/drawing/2014/main" id="{FF7C74A4-33A6-F02F-D22F-33835E639085}"/>
              </a:ext>
            </a:extLst>
          </p:cNvPr>
          <p:cNvSpPr txBox="1"/>
          <p:nvPr/>
        </p:nvSpPr>
        <p:spPr>
          <a:xfrm>
            <a:off x="157424" y="71860"/>
            <a:ext cx="11877152" cy="954107"/>
          </a:xfrm>
          <a:prstGeom prst="rect">
            <a:avLst/>
          </a:prstGeom>
          <a:noFill/>
        </p:spPr>
        <p:txBody>
          <a:bodyPr wrap="square">
            <a:spAutoFit/>
          </a:bodyPr>
          <a:lstStyle/>
          <a:p>
            <a:pPr algn="ctr"/>
            <a:r>
              <a:rPr lang="en-US" sz="2800" dirty="0">
                <a:solidFill>
                  <a:schemeClr val="bg1"/>
                </a:solidFill>
                <a:latin typeface="Montserrat" panose="00000500000000000000" pitchFamily="2" charset="0"/>
              </a:rPr>
              <a:t>BENEFIT PLAN DESIGNS THAT OPTIMIZE STEERAGE TO BSMH</a:t>
            </a:r>
          </a:p>
        </p:txBody>
      </p:sp>
      <p:pic>
        <p:nvPicPr>
          <p:cNvPr id="9" name="Content Placeholder 8"/>
          <p:cNvPicPr>
            <a:picLocks noGrp="1"/>
          </p:cNvPicPr>
          <p:nvPr>
            <p:ph/>
          </p:nvPr>
        </p:nvPicPr>
        <p:blipFill>
          <a:blip r:embed="rId3" cstate="print"/>
          <a:stretch>
            <a:fillRect/>
          </a:stretch>
        </p:blipFill>
        <p:spPr>
          <a:xfrm>
            <a:off x="7135400" y="5234652"/>
            <a:ext cx="4505325" cy="914400"/>
          </a:xfrm>
          <a:prstGeom prst="rect">
            <a:avLst/>
          </a:prstGeom>
        </p:spPr>
      </p:pic>
    </p:spTree>
    <p:extLst>
      <p:ext uri="{BB962C8B-B14F-4D97-AF65-F5344CB8AC3E}">
        <p14:creationId xmlns:p14="http://schemas.microsoft.com/office/powerpoint/2010/main" val="3325436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alpha val="95000"/>
          </a:schemeClr>
        </a:solidFill>
        <a:effectLst/>
      </p:bgPr>
    </p:bg>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1584104-3166-4FA8-92FB-C6ABEB17DCED}"/>
              </a:ext>
            </a:extLst>
          </p:cNvPr>
          <p:cNvSpPr/>
          <p:nvPr/>
        </p:nvSpPr>
        <p:spPr>
          <a:xfrm>
            <a:off x="0" y="0"/>
            <a:ext cx="97840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Footer Placeholder 2">
            <a:extLst>
              <a:ext uri="{FF2B5EF4-FFF2-40B4-BE49-F238E27FC236}">
                <a16:creationId xmlns:a16="http://schemas.microsoft.com/office/drawing/2014/main" id="{7BDF93BA-77DA-4714-87BA-6C1545215CCF}"/>
              </a:ext>
            </a:extLst>
          </p:cNvPr>
          <p:cNvSpPr>
            <a:spLocks noGrp="1"/>
          </p:cNvSpPr>
          <p:nvPr>
            <p:ph type="ftr" sz="quarter" idx="11"/>
          </p:nvPr>
        </p:nvSpPr>
        <p:spPr>
          <a:xfrm>
            <a:off x="5902199" y="646500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E912CE32-70CB-45CC-841F-9F408BFEE51E}"/>
              </a:ext>
            </a:extLst>
          </p:cNvPr>
          <p:cNvSpPr>
            <a:spLocks noGrp="1"/>
          </p:cNvSpPr>
          <p:nvPr>
            <p:ph type="sldNum" sz="quarter" idx="12"/>
          </p:nvPr>
        </p:nvSpPr>
        <p:spPr/>
        <p:txBody>
          <a:bodyPr/>
          <a:lstStyle/>
          <a:p>
            <a:fld id="{3AFC719D-C4A7-4544-876E-D411D11AF6C9}" type="slidenum">
              <a:rPr lang="en-US" smtClean="0"/>
              <a:t>17</a:t>
            </a:fld>
            <a:endParaRPr lang="en-US" dirty="0"/>
          </a:p>
        </p:txBody>
      </p:sp>
      <p:sp>
        <p:nvSpPr>
          <p:cNvPr id="5" name="Rectangle 6">
            <a:extLst>
              <a:ext uri="{FF2B5EF4-FFF2-40B4-BE49-F238E27FC236}">
                <a16:creationId xmlns:a16="http://schemas.microsoft.com/office/drawing/2014/main" id="{16B699B2-0ED4-420C-8D6A-E40BF532CD0F}"/>
              </a:ext>
            </a:extLst>
          </p:cNvPr>
          <p:cNvSpPr/>
          <p:nvPr/>
        </p:nvSpPr>
        <p:spPr>
          <a:xfrm>
            <a:off x="0" y="-27866"/>
            <a:ext cx="978408" cy="6858000"/>
          </a:xfrm>
          <a:prstGeom prst="rect">
            <a:avLst/>
          </a:prstGeom>
          <a:solidFill>
            <a:srgbClr val="00539F">
              <a:alpha val="8588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6" name="Title 1">
            <a:extLst>
              <a:ext uri="{FF2B5EF4-FFF2-40B4-BE49-F238E27FC236}">
                <a16:creationId xmlns:a16="http://schemas.microsoft.com/office/drawing/2014/main" id="{11A9C655-FF92-49E3-BB7D-E5BBC008C671}"/>
              </a:ext>
            </a:extLst>
          </p:cNvPr>
          <p:cNvSpPr>
            <a:spLocks noGrp="1"/>
          </p:cNvSpPr>
          <p:nvPr>
            <p:ph type="title"/>
          </p:nvPr>
        </p:nvSpPr>
        <p:spPr>
          <a:xfrm rot="16200000">
            <a:off x="-2823722" y="2964771"/>
            <a:ext cx="6625853" cy="752041"/>
          </a:xfrm>
        </p:spPr>
        <p:txBody>
          <a:bodyPr>
            <a:noAutofit/>
          </a:bodyPr>
          <a:lstStyle/>
          <a:p>
            <a:pPr>
              <a:lnSpc>
                <a:spcPct val="100000"/>
              </a:lnSpc>
              <a:spcBef>
                <a:spcPts val="600"/>
              </a:spcBef>
            </a:pPr>
            <a:r>
              <a:rPr lang="en-US" sz="3200" b="0" dirty="0">
                <a:solidFill>
                  <a:schemeClr val="bg1"/>
                </a:solidFill>
              </a:rPr>
              <a:t>SINGLE YEAR SUMMARY</a:t>
            </a:r>
          </a:p>
        </p:txBody>
      </p:sp>
      <p:sp>
        <p:nvSpPr>
          <p:cNvPr id="7" name="TextBox 8">
            <a:extLst>
              <a:ext uri="{FF2B5EF4-FFF2-40B4-BE49-F238E27FC236}">
                <a16:creationId xmlns:a16="http://schemas.microsoft.com/office/drawing/2014/main" id="{AB8821D0-DEDE-002D-E87D-13E033D5D75F}"/>
              </a:ext>
            </a:extLst>
          </p:cNvPr>
          <p:cNvSpPr txBox="1"/>
          <p:nvPr/>
        </p:nvSpPr>
        <p:spPr>
          <a:xfrm>
            <a:off x="1091591" y="5433068"/>
            <a:ext cx="10881335" cy="830997"/>
          </a:xfrm>
          <a:prstGeom prst="rect">
            <a:avLst/>
          </a:prstGeom>
          <a:noFill/>
        </p:spPr>
        <p:txBody>
          <a:bodyPr wrap="square" rtlCol="0">
            <a:spAutoFit/>
          </a:bodyPr>
          <a:lstStyle/>
          <a:p>
            <a:pPr marL="285750" indent="-285750">
              <a:buFont typeface="Arial" panose="020B0604020202020204" pitchFamily="34" charset="0"/>
              <a:buChar char="•"/>
            </a:pPr>
            <a:r>
              <a:rPr lang="en-US" sz="1200" dirty="0">
                <a:solidFill/>
                <a:latin typeface="Montserrat" panose="00000500000000000000" pitchFamily="2" charset="0"/>
              </a:rPr>
              <a:t>NOTE:  Please see detailed financial analysis and assumptions used starting on page 28.  </a:t>
            </a:r>
          </a:p>
          <a:p>
            <a:pPr marL="285750" indent="-285750">
              <a:buFont typeface="Arial" panose="020B0604020202020204" pitchFamily="34" charset="0"/>
              <a:buChar char="•"/>
            </a:pPr>
            <a:r>
              <a:rPr lang="en-US" sz="1200" dirty="0">
                <a:solidFill/>
                <a:latin typeface="Montserrat" panose="00000500000000000000" pitchFamily="2" charset="0"/>
              </a:rPr>
              <a:t>Financial projections do not include 340B contribution margin, which could represent $136 PMPM by optimizing 340B through Rx plan design, Bon Secours Mercy Health’s approved site(s) with network integration, and development of Bon Secours Mercy Health’s proprietary PBM program.</a:t>
            </a:r>
            <a:r>
              <a:rPr lang="en-US" sz="1200" dirty="0">
                <a:highlight>
                  <a:srgbClr val="FFFF00"/>
                </a:highlight>
                <a:latin typeface="Montserrat" panose="00000500000000000000" pitchFamily="2" charset="0"/>
              </a:rPr>
              <a:t>   </a:t>
            </a:r>
          </a:p>
        </p:txBody>
      </p:sp>
      <p:graphicFrame>
        <p:nvGraphicFramePr>
          <p:cNvPr id="8" name="Table 7"/>
          <p:cNvGraphicFramePr>
            <a:graphicFrameLocks noGrp="1"/>
          </p:cNvGraphicFramePr>
          <p:nvPr/>
        </p:nvGraphicFramePr>
        <p:xfrm>
          <a:off x="2176272" y="704088"/>
          <a:ext cx="9052560" cy="4541520"/>
        </p:xfrm>
        <a:graphic>
          <a:graphicData uri="http://schemas.openxmlformats.org/drawingml/2006/table">
            <a:tbl>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0">
                <a:tc gridSpan="8">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8">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24%.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24%.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24%.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24%.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24%.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24%.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24%.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24%.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Members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Pre-DTE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Pre-DTE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Incr.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Incr.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Net Margin Less DTE Fees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429K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124K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782K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353K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225K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102K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-227K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$ 2,146K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618K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3,912K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$ 1,766K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$ 1,127K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509K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185K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$ 4,291K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$ 1,236K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7,824K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$ 3,533K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$ 2,253K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$ 1,017K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699K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$10,728K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$ 3,090K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$ 19,560K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$ 8,832K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$ 5,633K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$ 2,544K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$ 2,244K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$42,910K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$12,358K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$ 78,238K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$35,328K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$22,533K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$10,174K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$ 9,964K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$85,820K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$24,716K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$156,476K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$70,656K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$45,065K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$20,349K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$20,259K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2035409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5">
            <a:extLst>
              <a:ext uri="{FF2B5EF4-FFF2-40B4-BE49-F238E27FC236}">
                <a16:creationId xmlns:a16="http://schemas.microsoft.com/office/drawing/2014/main" id="{44F15F00-C649-D6E2-C929-AE2A366162F0}"/>
              </a:ext>
            </a:extLst>
          </p:cNvPr>
          <p:cNvPicPr>
            <a:picLocks noChangeAspect="1"/>
          </p:cNvPicPr>
          <p:nvPr/>
        </p:nvPicPr>
        <p:blipFill>
          <a:blip r:embed="rId3" cstate="screen">
            <a:extLst>
              <a:ext uri="{28A0092B-C50C-407E-A947-70E740481C1C}">
                <a14:useLocalDpi xmlns:a14="http://schemas.microsoft.com/office/drawing/2010/main"/>
              </a:ext>
            </a:extLst>
          </a:blip>
          <a:srcRect t="-901"/>
          <a:stretch/>
        </p:blipFill>
        <p:spPr>
          <a:xfrm>
            <a:off x="5201987" y="-61812"/>
            <a:ext cx="6990013" cy="6919812"/>
          </a:xfrm>
          <a:prstGeom prst="rect">
            <a:avLst/>
          </a:prstGeom>
        </p:spPr>
      </p:pic>
      <p:pic>
        <p:nvPicPr>
          <p:cNvPr id="3" name="Picture 2" descr="Epic launches long-planned &quot;App Orchard&quot; app store | MobiHealthNews">
            <a:extLst>
              <a:ext uri="{FF2B5EF4-FFF2-40B4-BE49-F238E27FC236}">
                <a16:creationId xmlns:a16="http://schemas.microsoft.com/office/drawing/2014/main" id="{308658F5-D0C7-2129-4BB2-5ED078F19424}"/>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41491" y="4336490"/>
            <a:ext cx="4152546" cy="2327060"/>
          </a:xfrm>
          <a:prstGeom prst="rect">
            <a:avLst/>
          </a:prstGeom>
          <a:ln>
            <a:noFill/>
          </a:ln>
          <a:effectLst>
            <a:outerShdw blurRad="50800" dist="38100" dir="2700000" sx="1000" sy="1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4" name="TextBox 4">
            <a:extLst>
              <a:ext uri="{FF2B5EF4-FFF2-40B4-BE49-F238E27FC236}">
                <a16:creationId xmlns:a16="http://schemas.microsoft.com/office/drawing/2014/main" id="{E37C4D6D-E015-C93E-59BD-2C619644D714}"/>
              </a:ext>
            </a:extLst>
          </p:cNvPr>
          <p:cNvSpPr txBox="1"/>
          <p:nvPr/>
        </p:nvSpPr>
        <p:spPr>
          <a:xfrm>
            <a:off x="937651" y="2129640"/>
            <a:ext cx="3325169" cy="1477328"/>
          </a:xfrm>
          <a:prstGeom prst="rect">
            <a:avLst/>
          </a:prstGeom>
          <a:solidFill>
            <a:srgbClr val="00539F"/>
          </a:solidFill>
          <a:ln>
            <a:noFill/>
          </a:ln>
          <a:effectLst>
            <a:outerShdw blurRad="50800" dist="38100" dir="2700000" sx="1000" sy="1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2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KBA shares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2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evidence-based standards of care for 27 chronic conditions directly into Epic </a:t>
            </a:r>
            <a:endParaRPr kumimoji="0" lang="en-US" sz="1800" b="1"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itle 1">
            <a:extLst>
              <a:ext uri="{FF2B5EF4-FFF2-40B4-BE49-F238E27FC236}">
                <a16:creationId xmlns:a16="http://schemas.microsoft.com/office/drawing/2014/main" id="{F269CC86-C5A8-2144-482B-88B3FC7A5E1B}"/>
              </a:ext>
            </a:extLst>
          </p:cNvPr>
          <p:cNvSpPr>
            <a:spLocks noGrp="1"/>
          </p:cNvSpPr>
          <p:nvPr>
            <p:ph type="title"/>
          </p:nvPr>
        </p:nvSpPr>
        <p:spPr>
          <a:xfrm>
            <a:off x="76182" y="537915"/>
            <a:ext cx="5048109" cy="810829"/>
          </a:xfrm>
        </p:spPr>
        <p:txBody>
          <a:bodyPr>
            <a:noAutofit/>
          </a:bodyPr>
          <a:lstStyle/>
          <a:p>
            <a:pPr algn="ctr"/>
            <a:r>
              <a:rPr lang="en-US" sz="3600">
                <a:solidFill>
                  <a:srgbClr val="00539F"/>
                </a:solidFill>
              </a:rPr>
              <a:t>INTEGRATION WITH EPIC EHR SYSTEM</a:t>
            </a:r>
          </a:p>
        </p:txBody>
      </p:sp>
      <p:sp>
        <p:nvSpPr>
          <p:cNvPr id="6" name="Rectangle 6">
            <a:extLst>
              <a:ext uri="{FF2B5EF4-FFF2-40B4-BE49-F238E27FC236}">
                <a16:creationId xmlns:a16="http://schemas.microsoft.com/office/drawing/2014/main" id="{59DCC8D2-3E7C-0647-6219-D958C42D65C2}"/>
              </a:ext>
            </a:extLst>
          </p:cNvPr>
          <p:cNvSpPr/>
          <p:nvPr/>
        </p:nvSpPr>
        <p:spPr>
          <a:xfrm>
            <a:off x="5689600" y="5878286"/>
            <a:ext cx="6502400" cy="46365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7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ontserrat" panose="00000500000000000000" pitchFamily="2" charset="0"/>
                <a:ea typeface="Calibri" panose="020F0502020204030204" pitchFamily="34" charset="0"/>
                <a:cs typeface="Calibri" panose="020F0502020204030204" pitchFamily="34" charset="0"/>
              </a:rPr>
              <a:t>Hyperthyroidism: Yearly Clinical Evaluation, TSH and T4</a:t>
            </a:r>
            <a:endParaRPr kumimoji="0" lang="en-US" sz="1600" b="0" i="0" u="none" strike="noStrike" kern="1200" cap="none" spc="0" normalizeH="0" baseline="0" noProof="0" dirty="0">
              <a:ln>
                <a:noFill/>
              </a:ln>
              <a:solidFill>
                <a:prstClr val="white"/>
              </a:solidFill>
              <a:effectLst/>
              <a:uLnTx/>
              <a:uFillTx/>
              <a:latin typeface="Montserrat" panose="00000500000000000000" pitchFamily="2" charset="0"/>
              <a:ea typeface="Calibri" panose="020F0502020204030204" pitchFamily="34"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40422759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4BDBD4FD-FFB4-4EDA-B509-71118D163D8A}"/>
              </a:ext>
            </a:extLst>
          </p:cNvPr>
          <p:cNvSpPr/>
          <p:nvPr/>
        </p:nvSpPr>
        <p:spPr>
          <a:xfrm>
            <a:off x="-1" y="-3878"/>
            <a:ext cx="12191999" cy="6008751"/>
          </a:xfrm>
          <a:prstGeom prst="rect">
            <a:avLst/>
          </a:prstGeom>
          <a:solidFill>
            <a:srgbClr val="244F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3" name="Footer Placeholder 2">
            <a:extLst>
              <a:ext uri="{FF2B5EF4-FFF2-40B4-BE49-F238E27FC236}">
                <a16:creationId xmlns:a16="http://schemas.microsoft.com/office/drawing/2014/main" id="{B320BED0-748B-492F-A227-2FDEC8B681F8}"/>
              </a:ext>
            </a:extLst>
          </p:cNvPr>
          <p:cNvSpPr>
            <a:spLocks noGrp="1"/>
          </p:cNvSpPr>
          <p:nvPr>
            <p:ph type="ftr" sz="quarter" idx="11"/>
          </p:nvPr>
        </p:nvSpPr>
        <p:spPr>
          <a:xfrm>
            <a:off x="4038599" y="6395154"/>
            <a:ext cx="41148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Montserrat" panose="00000500000000000000" pitchFamily="2" charset="0"/>
                <a:ea typeface="+mn-ea"/>
                <a:cs typeface="+mn-cs"/>
              </a:rPr>
              <a:t>Key Benefit Administrators</a:t>
            </a:r>
          </a:p>
        </p:txBody>
      </p:sp>
      <p:sp>
        <p:nvSpPr>
          <p:cNvPr id="4" name="Slide Number Placeholder 3">
            <a:extLst>
              <a:ext uri="{FF2B5EF4-FFF2-40B4-BE49-F238E27FC236}">
                <a16:creationId xmlns:a16="http://schemas.microsoft.com/office/drawing/2014/main" id="{3EB79CFB-A771-4B11-8488-3E54ACE4F41F}"/>
              </a:ext>
            </a:extLst>
          </p:cNvPr>
          <p:cNvSpPr>
            <a:spLocks noGrp="1"/>
          </p:cNvSpPr>
          <p:nvPr>
            <p:ph type="sldNum" sz="quarter" idx="12"/>
          </p:nvPr>
        </p:nvSpPr>
        <p:spPr>
          <a:xfrm>
            <a:off x="8836377" y="6389509"/>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5" name="Rectangle 4">
            <a:extLst>
              <a:ext uri="{FF2B5EF4-FFF2-40B4-BE49-F238E27FC236}">
                <a16:creationId xmlns:a16="http://schemas.microsoft.com/office/drawing/2014/main" id="{F78CFBEA-CEF2-471A-842D-8314716A34E9}"/>
              </a:ext>
            </a:extLst>
          </p:cNvPr>
          <p:cNvSpPr/>
          <p:nvPr/>
        </p:nvSpPr>
        <p:spPr>
          <a:xfrm>
            <a:off x="3860800" y="406400"/>
            <a:ext cx="7800623" cy="5168899"/>
          </a:xfrm>
          <a:prstGeom prst="rect">
            <a:avLst/>
          </a:prstGeom>
        </p:spPr>
        <p:txBody>
          <a:bodyPr vert="horz" lIns="91440" tIns="45720" rIns="91440" bIns="45720" rtlCol="0" anchor="ctr">
            <a:normAutofit/>
          </a:bodyPr>
          <a:lstStyle/>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Patient engagement is the weak link in delivering value-based care; Bon Secours Mercy Health’s clinical leadership and employer participation can drive better outcomes.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KBA’s proactive care-management team supplements your care-management efforts in outreach to clients.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Bon Secours Mercy Health excels in Standards of Care completion rates for the Chronically Ill, improving care and costs.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Integrating Bon Secours Mercy Health’s managed care with KBA’s programs positions Bon Secours Mercy Health as the value leader.</a:t>
            </a:r>
          </a:p>
        </p:txBody>
      </p:sp>
      <p:sp>
        <p:nvSpPr>
          <p:cNvPr id="6" name="Title 1">
            <a:extLst>
              <a:ext uri="{FF2B5EF4-FFF2-40B4-BE49-F238E27FC236}">
                <a16:creationId xmlns:a16="http://schemas.microsoft.com/office/drawing/2014/main" id="{0CEEE520-446E-4089-8426-4255347085FB}"/>
              </a:ext>
            </a:extLst>
          </p:cNvPr>
          <p:cNvSpPr>
            <a:spLocks noGrp="1"/>
          </p:cNvSpPr>
          <p:nvPr>
            <p:ph type="title"/>
          </p:nvPr>
        </p:nvSpPr>
        <p:spPr>
          <a:xfrm>
            <a:off x="673503" y="783340"/>
            <a:ext cx="3053314" cy="2504922"/>
          </a:xfrm>
        </p:spPr>
        <p:txBody>
          <a:bodyPr vert="horz" lIns="91440" tIns="45720" rIns="91440" bIns="45720" rtlCol="0" anchor="t">
            <a:noAutofit/>
          </a:bodyPr>
          <a:lstStyle/>
          <a:p>
            <a:r>
              <a:rPr lang="en-US" sz="2800" dirty="0">
                <a:solidFill>
                  <a:schemeClr val="bg1"/>
                </a:solidFill>
              </a:rPr>
              <a:t>THE MISSING PIECE TO VALUE-BASED CARE</a:t>
            </a:r>
          </a:p>
        </p:txBody>
      </p:sp>
      <p:pic>
        <p:nvPicPr>
          <p:cNvPr id="7" name="Graphic 9" descr="Puzzle pieces with solid fill">
            <a:extLst>
              <a:ext uri="{FF2B5EF4-FFF2-40B4-BE49-F238E27FC236}">
                <a16:creationId xmlns:a16="http://schemas.microsoft.com/office/drawing/2014/main" id="{0CA67572-0D3A-6B78-1AF5-F6A1BEB1B50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6428" y="2426082"/>
            <a:ext cx="2767464" cy="2767464"/>
          </a:xfrm>
          <a:prstGeom prst="rect">
            <a:avLst/>
          </a:prstGeom>
        </p:spPr>
      </p:pic>
    </p:spTree>
    <p:extLst>
      <p:ext uri="{BB962C8B-B14F-4D97-AF65-F5344CB8AC3E}">
        <p14:creationId xmlns:p14="http://schemas.microsoft.com/office/powerpoint/2010/main" val="39580609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0">
            <a:extLst>
              <a:ext uri="{FF2B5EF4-FFF2-40B4-BE49-F238E27FC236}">
                <a16:creationId xmlns:a16="http://schemas.microsoft.com/office/drawing/2014/main" id="{FA5DA117-CC5D-CB44-90CF-6D02A1C20B2E}"/>
              </a:ext>
            </a:extLst>
          </p:cNvPr>
          <p:cNvPicPr>
            <a:picLocks noChangeAspect="1"/>
          </p:cNvPicPr>
          <p:nvPr/>
        </p:nvPicPr>
        <p:blipFill>
          <a:blip r:embed="rId2"/>
          <a:stretch>
            <a:fillRect/>
          </a:stretch>
        </p:blipFill>
        <p:spPr>
          <a:xfrm>
            <a:off x="-6726" y="-192804"/>
            <a:ext cx="12192000" cy="6857999"/>
          </a:xfrm>
          <a:prstGeom prst="rect">
            <a:avLst/>
          </a:prstGeom>
        </p:spPr>
      </p:pic>
      <p:sp>
        <p:nvSpPr>
          <p:cNvPr id="3" name="Rectangle 5">
            <a:extLst>
              <a:ext uri="{FF2B5EF4-FFF2-40B4-BE49-F238E27FC236}">
                <a16:creationId xmlns:a16="http://schemas.microsoft.com/office/drawing/2014/main" id="{C5B343BF-74E3-4449-BD50-77404688474B}"/>
              </a:ext>
            </a:extLst>
          </p:cNvPr>
          <p:cNvSpPr/>
          <p:nvPr/>
        </p:nvSpPr>
        <p:spPr>
          <a:xfrm>
            <a:off x="-1" y="0"/>
            <a:ext cx="12192001" cy="3429000"/>
          </a:xfrm>
          <a:prstGeom prst="rect">
            <a:avLst/>
          </a:prstGeom>
          <a:solidFill>
            <a:srgbClr val="00539F">
              <a:alpha val="92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Title 1">
            <a:extLst>
              <a:ext uri="{FF2B5EF4-FFF2-40B4-BE49-F238E27FC236}">
                <a16:creationId xmlns:a16="http://schemas.microsoft.com/office/drawing/2014/main" id="{BDB678D7-E940-4D9A-BC92-54EDE0B96DB2}"/>
              </a:ext>
            </a:extLst>
          </p:cNvPr>
          <p:cNvSpPr>
            <a:spLocks noGrp="1"/>
          </p:cNvSpPr>
          <p:nvPr>
            <p:ph type="title"/>
          </p:nvPr>
        </p:nvSpPr>
        <p:spPr>
          <a:xfrm>
            <a:off x="984961" y="263661"/>
            <a:ext cx="10515600" cy="740459"/>
          </a:xfrm>
        </p:spPr>
        <p:txBody>
          <a:bodyPr>
            <a:normAutofit/>
          </a:bodyPr>
          <a:lstStyle/>
          <a:p>
            <a:r>
              <a:rPr lang="en-US" b="0" dirty="0">
                <a:solidFill>
                  <a:schemeClr val="bg1"/>
                </a:solidFill>
              </a:rPr>
              <a:t>TRANSPARENT PBM INTEGRATION </a:t>
            </a:r>
          </a:p>
        </p:txBody>
      </p:sp>
      <p:sp>
        <p:nvSpPr>
          <p:cNvPr id="5" name="Rectangle 6">
            <a:extLst>
              <a:ext uri="{FF2B5EF4-FFF2-40B4-BE49-F238E27FC236}">
                <a16:creationId xmlns:a16="http://schemas.microsoft.com/office/drawing/2014/main" id="{8AFDC632-7C4B-44BF-B435-0CED1B7481B2}"/>
              </a:ext>
            </a:extLst>
          </p:cNvPr>
          <p:cNvSpPr/>
          <p:nvPr/>
        </p:nvSpPr>
        <p:spPr>
          <a:xfrm>
            <a:off x="696287" y="1075362"/>
            <a:ext cx="4944861" cy="1985159"/>
          </a:xfrm>
          <a:prstGeom prst="rect">
            <a:avLst/>
          </a:prstGeom>
        </p:spPr>
        <p:txBody>
          <a:bodyPr wrap="square">
            <a:spAutoFit/>
          </a:bodyPr>
          <a:lstStyle/>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Support of Bon Secours Mercy Health’s retail pharmacy(s)</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Optimize Bon Secours Mercy Health’s 340B drug </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      pricing program</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Allows Bon Secours Mercy Health to create its own PBM program if desired</a:t>
            </a:r>
          </a:p>
        </p:txBody>
      </p:sp>
      <p:sp>
        <p:nvSpPr>
          <p:cNvPr id="6" name="Rectangle 7">
            <a:extLst>
              <a:ext uri="{FF2B5EF4-FFF2-40B4-BE49-F238E27FC236}">
                <a16:creationId xmlns:a16="http://schemas.microsoft.com/office/drawing/2014/main" id="{BA8BB229-42C0-4FB6-AD0C-615BF4260145}"/>
              </a:ext>
            </a:extLst>
          </p:cNvPr>
          <p:cNvSpPr/>
          <p:nvPr/>
        </p:nvSpPr>
        <p:spPr>
          <a:xfrm>
            <a:off x="6615187" y="1075362"/>
            <a:ext cx="5196397" cy="2185214"/>
          </a:xfrm>
          <a:prstGeom prst="rect">
            <a:avLst/>
          </a:prstGeom>
        </p:spPr>
        <p:txBody>
          <a:bodyPr wrap="square">
            <a:spAutoFit/>
          </a:bodyPr>
          <a:lstStyle/>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 telephone number with personalized scripting and separate call tracking &amp; reporting</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Fully customizable member welcome booklet &amp; materials</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White labeled formulary document and marketing materials</a:t>
            </a:r>
          </a:p>
        </p:txBody>
      </p:sp>
      <p:sp>
        <p:nvSpPr>
          <p:cNvPr id="7" name="Rectangle 8">
            <a:extLst>
              <a:ext uri="{FF2B5EF4-FFF2-40B4-BE49-F238E27FC236}">
                <a16:creationId xmlns:a16="http://schemas.microsoft.com/office/drawing/2014/main" id="{CA0477AD-A883-49D0-84C0-1846E555302E}"/>
              </a:ext>
            </a:extLst>
          </p:cNvPr>
          <p:cNvSpPr/>
          <p:nvPr/>
        </p:nvSpPr>
        <p:spPr>
          <a:xfrm>
            <a:off x="472441" y="3804933"/>
            <a:ext cx="5168707" cy="1954381"/>
          </a:xfrm>
          <a:prstGeom prst="rect">
            <a:avLst/>
          </a:prstGeom>
        </p:spPr>
        <p:txBody>
          <a:bodyPr wrap="square">
            <a:spAutoFit/>
          </a:bodyPr>
          <a:lstStyle/>
          <a:p>
            <a:pPr marL="0" marR="0" lvl="0" indent="0" algn="l" defTabSz="4572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15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CUSTOM CLIENT SUPPORT:</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Specialized call center capabilities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Fully customizable plan designs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Operational access to the platform</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Customized process and functions to promote DTE strategy</a:t>
            </a:r>
          </a:p>
        </p:txBody>
      </p:sp>
      <p:sp>
        <p:nvSpPr>
          <p:cNvPr id="8" name="Rectangle 9">
            <a:extLst>
              <a:ext uri="{FF2B5EF4-FFF2-40B4-BE49-F238E27FC236}">
                <a16:creationId xmlns:a16="http://schemas.microsoft.com/office/drawing/2014/main" id="{97E1BE5C-BB73-4F75-AB8A-06D533303EDE}"/>
              </a:ext>
            </a:extLst>
          </p:cNvPr>
          <p:cNvSpPr/>
          <p:nvPr/>
        </p:nvSpPr>
        <p:spPr>
          <a:xfrm>
            <a:off x="6163406" y="3781627"/>
            <a:ext cx="5739036" cy="2693045"/>
          </a:xfrm>
          <a:prstGeom prst="rect">
            <a:avLst/>
          </a:prstGeom>
        </p:spPr>
        <p:txBody>
          <a:bodyPr wrap="square">
            <a:spAutoFit/>
          </a:bodyPr>
          <a:lstStyle/>
          <a:p>
            <a:pPr marL="0" marR="0" lvl="0" indent="0" algn="l" defTabSz="4572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15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CLINICAL FLEXIBILITY: </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Full portfolio of custom formulary offerings – with optimized formulary shield</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Clinical programs that drive towards overall DTE strategy</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Options for additional drug savings by driving members to lower cost alternatives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Flexibility to customize or layer on utilization management programs</a:t>
            </a:r>
          </a:p>
        </p:txBody>
      </p:sp>
      <p:sp>
        <p:nvSpPr>
          <p:cNvPr id="9" name="Freeform 11">
            <a:extLst>
              <a:ext uri="{FF2B5EF4-FFF2-40B4-BE49-F238E27FC236}">
                <a16:creationId xmlns:a16="http://schemas.microsoft.com/office/drawing/2014/main" id="{6CB7C47F-4ADC-898A-0ED1-9BBFB4AB4564}"/>
              </a:ext>
            </a:extLst>
          </p:cNvPr>
          <p:cNvSpPr/>
          <p:nvPr/>
        </p:nvSpPr>
        <p:spPr>
          <a:xfrm rot="16200000" flipV="1">
            <a:off x="4717511" y="1947684"/>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10" name="Rectangle 4">
            <a:extLst>
              <a:ext uri="{FF2B5EF4-FFF2-40B4-BE49-F238E27FC236}">
                <a16:creationId xmlns:a16="http://schemas.microsoft.com/office/drawing/2014/main" id="{F4DA59DB-7E53-7F90-5357-074B2A852989}"/>
              </a:ext>
            </a:extLst>
          </p:cNvPr>
          <p:cNvSpPr/>
          <p:nvPr/>
        </p:nvSpPr>
        <p:spPr>
          <a:xfrm>
            <a:off x="9609102" y="6356887"/>
            <a:ext cx="2576172" cy="5016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11" name="Slide Number Placeholder 3">
            <a:extLst>
              <a:ext uri="{FF2B5EF4-FFF2-40B4-BE49-F238E27FC236}">
                <a16:creationId xmlns:a16="http://schemas.microsoft.com/office/drawing/2014/main" id="{41289746-C0F3-4064-B405-1E696D5C76B2}"/>
              </a:ext>
            </a:extLst>
          </p:cNvPr>
          <p:cNvSpPr>
            <a:spLocks noGrp="1"/>
          </p:cNvSpPr>
          <p:nvPr>
            <p:ph type="sldNum" sz="quarter" idx="12"/>
          </p:nvPr>
        </p:nvSpPr>
        <p:spPr>
          <a:xfrm>
            <a:off x="9278222" y="6480530"/>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pic>
        <p:nvPicPr>
          <p:cNvPr id="12" name="Picture 12">
            <a:extLst>
              <a:ext uri="{FF2B5EF4-FFF2-40B4-BE49-F238E27FC236}">
                <a16:creationId xmlns:a16="http://schemas.microsoft.com/office/drawing/2014/main" id="{DAD531BF-718C-8489-C213-6F72BB2FABB8}"/>
              </a:ext>
            </a:extLst>
          </p:cNvPr>
          <p:cNvPicPr>
            <a:picLocks noChangeAspect="1"/>
          </p:cNvPicPr>
          <p:nvPr/>
        </p:nvPicPr>
        <p:blipFill>
          <a:blip r:embed="rId3"/>
          <a:stretch>
            <a:fillRect/>
          </a:stretch>
        </p:blipFill>
        <p:spPr>
          <a:xfrm>
            <a:off x="9799083" y="6427192"/>
            <a:ext cx="1701478" cy="371232"/>
          </a:xfrm>
          <a:prstGeom prst="rect">
            <a:avLst/>
          </a:prstGeom>
        </p:spPr>
      </p:pic>
    </p:spTree>
    <p:extLst>
      <p:ext uri="{BB962C8B-B14F-4D97-AF65-F5344CB8AC3E}">
        <p14:creationId xmlns:p14="http://schemas.microsoft.com/office/powerpoint/2010/main" val="13894538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1">
            <a:extLst>
              <a:ext uri="{FF2B5EF4-FFF2-40B4-BE49-F238E27FC236}">
                <a16:creationId xmlns:a16="http://schemas.microsoft.com/office/drawing/2014/main" id="{E43570CA-7D8B-9030-675E-C3DCA833B92A}"/>
              </a:ext>
            </a:extLst>
          </p:cNvPr>
          <p:cNvSpPr/>
          <p:nvPr/>
        </p:nvSpPr>
        <p:spPr>
          <a:xfrm rot="16200000" flipV="1">
            <a:off x="7175975" y="1850362"/>
            <a:ext cx="180722" cy="9851331"/>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 name="Rectangle 5">
            <a:extLst>
              <a:ext uri="{FF2B5EF4-FFF2-40B4-BE49-F238E27FC236}">
                <a16:creationId xmlns:a16="http://schemas.microsoft.com/office/drawing/2014/main" id="{24FCE51A-FD08-4E39-82DE-62E323002D4D}"/>
              </a:ext>
            </a:extLst>
          </p:cNvPr>
          <p:cNvSpPr/>
          <p:nvPr/>
        </p:nvSpPr>
        <p:spPr>
          <a:xfrm>
            <a:off x="9748911" y="0"/>
            <a:ext cx="2443089" cy="6859722"/>
          </a:xfrm>
          <a:prstGeom prst="rect">
            <a:avLst/>
          </a:prstGeom>
          <a:solidFill>
            <a:srgbClr val="0053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Tokio Marine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Nationwide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Berkshire Hathaway</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Sun Life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Liberty Mutual</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Granular (Google)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Companion Life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Crum &amp; Forster</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American Fidelity</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RGA</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endParaRPr>
          </a:p>
        </p:txBody>
      </p:sp>
      <p:sp>
        <p:nvSpPr>
          <p:cNvPr id="4" name="Title 1">
            <a:extLst>
              <a:ext uri="{FF2B5EF4-FFF2-40B4-BE49-F238E27FC236}">
                <a16:creationId xmlns:a16="http://schemas.microsoft.com/office/drawing/2014/main" id="{FB174226-47B5-4659-83B1-FE9CD406E947}"/>
              </a:ext>
            </a:extLst>
          </p:cNvPr>
          <p:cNvSpPr>
            <a:spLocks noGrp="1"/>
          </p:cNvSpPr>
          <p:nvPr>
            <p:ph type="title"/>
          </p:nvPr>
        </p:nvSpPr>
        <p:spPr>
          <a:xfrm>
            <a:off x="683456" y="244670"/>
            <a:ext cx="8784101" cy="1095361"/>
          </a:xfrm>
        </p:spPr>
        <p:txBody>
          <a:bodyPr>
            <a:normAutofit/>
          </a:bodyPr>
          <a:lstStyle/>
          <a:p>
            <a:r>
              <a:rPr lang="en-US" sz="3200" spc="200" dirty="0">
                <a:solidFill>
                  <a:srgbClr val="00539F"/>
                </a:solidFill>
              </a:rPr>
              <a:t>STOP-LOSS INSURANCE</a:t>
            </a:r>
            <a:br>
              <a:rPr lang="en-US" sz="3200" spc="200" dirty="0">
                <a:solidFill>
                  <a:srgbClr val="00539F"/>
                </a:solidFill>
              </a:rPr>
            </a:br>
            <a:r>
              <a:rPr lang="en-US" sz="3200" spc="200" dirty="0">
                <a:solidFill>
                  <a:srgbClr val="00539F"/>
                </a:solidFill>
              </a:rPr>
              <a:t>     </a:t>
            </a:r>
            <a:r>
              <a:rPr lang="en-US" sz="3200" spc="200" dirty="0">
                <a:solidFill>
                  <a:schemeClr val="bg2">
                    <a:lumMod val="25000"/>
                  </a:schemeClr>
                </a:solidFill>
              </a:rPr>
              <a:t>THE KBA EXPERIENCE</a:t>
            </a:r>
            <a:endParaRPr lang="en-US" sz="3200" spc="200" dirty="0">
              <a:solidFill>
                <a:srgbClr val="00539F"/>
              </a:solidFill>
            </a:endParaRPr>
          </a:p>
        </p:txBody>
      </p:sp>
      <p:sp>
        <p:nvSpPr>
          <p:cNvPr id="5" name="Slide Number Placeholder 3">
            <a:extLst>
              <a:ext uri="{FF2B5EF4-FFF2-40B4-BE49-F238E27FC236}">
                <a16:creationId xmlns:a16="http://schemas.microsoft.com/office/drawing/2014/main" id="{588E06CA-EBB4-47C7-805A-78F1EC93647B}"/>
              </a:ext>
            </a:extLst>
          </p:cNvPr>
          <p:cNvSpPr>
            <a:spLocks noGrp="1"/>
          </p:cNvSpPr>
          <p:nvPr>
            <p:ph type="sldNum" sz="quarter" idx="12"/>
          </p:nvPr>
        </p:nvSpPr>
        <p:spPr>
          <a:xfrm>
            <a:off x="9173894" y="643076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6" name="TextBox 4">
            <a:extLst>
              <a:ext uri="{FF2B5EF4-FFF2-40B4-BE49-F238E27FC236}">
                <a16:creationId xmlns:a16="http://schemas.microsoft.com/office/drawing/2014/main" id="{2FF25A3A-C156-4EF4-AAF0-4C022A00A18A}"/>
              </a:ext>
            </a:extLst>
          </p:cNvPr>
          <p:cNvSpPr txBox="1"/>
          <p:nvPr/>
        </p:nvSpPr>
        <p:spPr>
          <a:xfrm>
            <a:off x="683456" y="1689513"/>
            <a:ext cx="8629357" cy="4401205"/>
          </a:xfrm>
          <a:prstGeom prst="rect">
            <a:avLst/>
          </a:prstGeom>
          <a:noFill/>
        </p:spPr>
        <p:txBody>
          <a:bodyPr wrap="square" lIns="91440" tIns="45720" rIns="91440" bIns="45720" rtlCol="0" anchor="t">
            <a:spAutoFit/>
          </a:bodyPr>
          <a:lstStyle/>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Deep relationships with 20+ stop loss underwriters and carriers</a:t>
            </a:r>
            <a:endParaRPr kumimoji="0" lang="en-US" sz="1800" b="0" i="0" u="none" strike="noStrike" kern="1200" cap="none" spc="0" normalizeH="0" baseline="0" noProof="0" dirty="0">
              <a:ln>
                <a:noFill/>
              </a:ln>
              <a:solidFill>
                <a:prstClr val="black"/>
              </a:solidFill>
              <a:effectLst/>
              <a:uLnTx/>
              <a:uFillTx/>
              <a:latin typeface="Montserrat"/>
              <a:ea typeface="+mn-ea"/>
              <a:cs typeface="Arial"/>
            </a:endParaRP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Over $150M in annual stop loss premium placement</a:t>
            </a:r>
            <a:endParaRPr kumimoji="0" lang="en-US" sz="20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endParaRP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Comprehensive pricing and medical service analysis performed for each DTE health plan to ensure proper pricing</a:t>
            </a: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KBA provides the administration required of the stop-loss markets: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Bordereau Reporting</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Claim Reporting and Reconciliation</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Evaluation of Networks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Care Management</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Initial Underwriting </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Negotiation of rates and terms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Plan Design Actuarial</a:t>
            </a:r>
            <a:r>
              <a:rPr kumimoji="0" lang="en-US" sz="2000" b="1" i="0" u="none" strike="noStrike" kern="1200" cap="none" spc="0" normalizeH="0" baseline="0" noProof="0" dirty="0">
                <a:ln>
                  <a:noFill/>
                </a:ln>
                <a:solidFill>
                  <a:srgbClr val="0070C0"/>
                </a:solidFill>
                <a:effectLst/>
                <a:uLnTx/>
                <a:uFillTx/>
                <a:latin typeface="Montserrat"/>
                <a:ea typeface="+mn-ea"/>
                <a:cs typeface="Arial"/>
              </a:rPr>
              <a:t> </a:t>
            </a:r>
          </a:p>
        </p:txBody>
      </p:sp>
      <p:pic>
        <p:nvPicPr>
          <p:cNvPr id="7" name="Picture 3">
            <a:extLst>
              <a:ext uri="{FF2B5EF4-FFF2-40B4-BE49-F238E27FC236}">
                <a16:creationId xmlns:a16="http://schemas.microsoft.com/office/drawing/2014/main" id="{8E70A561-E2F5-98F1-0C82-55EA5F5BA01D}"/>
              </a:ext>
            </a:extLst>
          </p:cNvPr>
          <p:cNvPicPr>
            <a:picLocks noChangeAspect="1"/>
          </p:cNvPicPr>
          <p:nvPr/>
        </p:nvPicPr>
        <p:blipFill>
          <a:blip r:embed="rId2"/>
          <a:stretch>
            <a:fillRect/>
          </a:stretch>
        </p:blipFill>
        <p:spPr>
          <a:xfrm>
            <a:off x="215573" y="6356350"/>
            <a:ext cx="2125097" cy="463658"/>
          </a:xfrm>
          <a:prstGeom prst="rect">
            <a:avLst/>
          </a:prstGeom>
        </p:spPr>
      </p:pic>
    </p:spTree>
    <p:extLst>
      <p:ext uri="{BB962C8B-B14F-4D97-AF65-F5344CB8AC3E}">
        <p14:creationId xmlns:p14="http://schemas.microsoft.com/office/powerpoint/2010/main" val="41613107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7 Steps to Creating a Successful Sales Meeting">
            <a:extLst>
              <a:ext uri="{FF2B5EF4-FFF2-40B4-BE49-F238E27FC236}">
                <a16:creationId xmlns:a16="http://schemas.microsoft.com/office/drawing/2014/main" id="{429A0FED-F4B3-4E4D-82D7-8EADBA621831}"/>
              </a:ext>
            </a:extLst>
          </p:cNvPr>
          <p:cNvPicPr>
            <a:picLocks noChangeAspect="1" noChangeArrowheads="1"/>
          </p:cNvPicPr>
          <p:nvPr/>
        </p:nvPicPr>
        <p:blipFill rotWithShape="1">
          <a:blip r:embed="rId2" cstate="screen">
            <a:alphaModFix amt="85000"/>
            <a:extLst>
              <a:ext uri="{28A0092B-C50C-407E-A947-70E740481C1C}">
                <a14:useLocalDpi xmlns:a14="http://schemas.microsoft.com/office/drawing/2010/main"/>
              </a:ext>
            </a:extLst>
          </a:blip>
          <a:srcRect/>
          <a:stretch/>
        </p:blipFill>
        <p:spPr bwMode="auto">
          <a:xfrm>
            <a:off x="2819712" y="0"/>
            <a:ext cx="9372289" cy="6858000"/>
          </a:xfrm>
          <a:prstGeom prst="rect">
            <a:avLst/>
          </a:prstGeom>
          <a:solidFill>
            <a:srgbClr val="59CAE8"/>
          </a:solidFill>
        </p:spPr>
      </p:pic>
      <p:sp>
        <p:nvSpPr>
          <p:cNvPr id="3" name="Rectangle 4">
            <a:extLst>
              <a:ext uri="{FF2B5EF4-FFF2-40B4-BE49-F238E27FC236}">
                <a16:creationId xmlns:a16="http://schemas.microsoft.com/office/drawing/2014/main" id="{7BABB220-4ACE-4E11-A8BE-59C504FE2125}"/>
              </a:ext>
            </a:extLst>
          </p:cNvPr>
          <p:cNvSpPr/>
          <p:nvPr/>
        </p:nvSpPr>
        <p:spPr>
          <a:xfrm>
            <a:off x="0" y="2771775"/>
            <a:ext cx="6191250" cy="4086225"/>
          </a:xfrm>
          <a:prstGeom prst="rect">
            <a:avLst/>
          </a:prstGeom>
          <a:solidFill>
            <a:srgbClr val="59CAE8"/>
          </a:solidFill>
        </p:spPr>
        <p:txBody>
          <a:bodyPr vert="horz" lIns="91440" tIns="45720" rIns="91440" bIns="45720" rtlCol="0" anchor="t" anchorCtr="0">
            <a:noAutofit/>
          </a:bodyPr>
          <a:lstStyle/>
          <a:p>
            <a:pPr marL="347667" lvl="2" defTabSz="914411">
              <a:lnSpc>
                <a:spcPct val="90000"/>
              </a:lnSpc>
              <a:spcAft>
                <a:spcPts val="1200"/>
              </a:spcAft>
            </a:pPr>
            <a:endParaRPr lang="en-US" sz="1200" b="1" spc="150" dirty="0">
              <a:solidFill>
                <a:schemeClr val="bg1"/>
              </a:solidFill>
              <a:latin typeface="Montserrat" panose="00000500000000000000" pitchFamily="2" charset="0"/>
            </a:endParaRPr>
          </a:p>
          <a:p>
            <a:pPr marL="347667" lvl="2" defTabSz="914411">
              <a:lnSpc>
                <a:spcPct val="150000"/>
              </a:lnSpc>
              <a:spcAft>
                <a:spcPts val="1200"/>
              </a:spcAft>
            </a:pPr>
            <a:r>
              <a:rPr lang="en-US" sz="1600" b="1" spc="150" dirty="0">
                <a:solidFill>
                  <a:schemeClr val="bg1"/>
                </a:solidFill>
                <a:latin typeface="Montserrat" panose="00000500000000000000" pitchFamily="2" charset="0"/>
              </a:rPr>
              <a:t>KBA WORKS WITH YOU TO MANAGE &amp; SELL:</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Branding &amp; Messaging</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Direct &amp; Brokerage Sales Distribution – Focused Sales Representative</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Brochures, Web Site, Media, etc.</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Stop-Loss/Level Funded Down to 20 EE Lives</a:t>
            </a:r>
          </a:p>
          <a:p>
            <a:pPr marL="628658" lvl="1" indent="-285753" defTabSz="914411">
              <a:lnSpc>
                <a:spcPct val="90000"/>
              </a:lnSpc>
              <a:spcAft>
                <a:spcPts val="600"/>
              </a:spcAft>
              <a:buFont typeface="Wingdings" panose="05000000000000000000" pitchFamily="2" charset="2"/>
              <a:buChar char="§"/>
            </a:pPr>
            <a:r>
              <a:rPr lang="en-US" sz="1600" dirty="0">
                <a:solidFill>
                  <a:schemeClr val="bg1"/>
                </a:solidFill>
                <a:latin typeface="Montserrat" panose="00000500000000000000" pitchFamily="2" charset="0"/>
              </a:rPr>
              <a:t>Sell Through Established Brokers in Your Service Area</a:t>
            </a:r>
          </a:p>
        </p:txBody>
      </p:sp>
      <p:sp>
        <p:nvSpPr>
          <p:cNvPr id="4" name="Title 1">
            <a:extLst>
              <a:ext uri="{FF2B5EF4-FFF2-40B4-BE49-F238E27FC236}">
                <a16:creationId xmlns:a16="http://schemas.microsoft.com/office/drawing/2014/main" id="{EE4CC181-8C0A-4FE1-B12F-4C934443F672}"/>
              </a:ext>
            </a:extLst>
          </p:cNvPr>
          <p:cNvSpPr>
            <a:spLocks noGrp="1"/>
          </p:cNvSpPr>
          <p:nvPr>
            <p:ph type="title"/>
          </p:nvPr>
        </p:nvSpPr>
        <p:spPr>
          <a:xfrm>
            <a:off x="348205" y="483394"/>
            <a:ext cx="2580190" cy="1928812"/>
          </a:xfrm>
        </p:spPr>
        <p:txBody>
          <a:bodyPr>
            <a:normAutofit/>
          </a:bodyPr>
          <a:lstStyle/>
          <a:p>
            <a:r>
              <a:rPr lang="en-US" sz="2400" dirty="0">
                <a:solidFill>
                  <a:srgbClr val="244F9A"/>
                </a:solidFill>
              </a:rPr>
              <a:t>DTE </a:t>
            </a:r>
            <a:br>
              <a:rPr lang="en-US" sz="2400" dirty="0">
                <a:solidFill>
                  <a:srgbClr val="244F9A"/>
                </a:solidFill>
              </a:rPr>
            </a:br>
            <a:r>
              <a:rPr lang="en-US" sz="2400" dirty="0">
                <a:solidFill>
                  <a:srgbClr val="244F9A"/>
                </a:solidFill>
              </a:rPr>
              <a:t>PROGRAM MARKETING </a:t>
            </a:r>
            <a:br>
              <a:rPr lang="en-US" sz="2400" dirty="0">
                <a:solidFill>
                  <a:srgbClr val="244F9A"/>
                </a:solidFill>
              </a:rPr>
            </a:br>
            <a:r>
              <a:rPr lang="en-US" sz="2400" dirty="0">
                <a:solidFill>
                  <a:srgbClr val="244F9A"/>
                </a:solidFill>
              </a:rPr>
              <a:t>&amp; SALES</a:t>
            </a:r>
          </a:p>
        </p:txBody>
      </p:sp>
      <p:sp>
        <p:nvSpPr>
          <p:cNvPr id="5" name="Footer Placeholder 2">
            <a:extLst>
              <a:ext uri="{FF2B5EF4-FFF2-40B4-BE49-F238E27FC236}">
                <a16:creationId xmlns:a16="http://schemas.microsoft.com/office/drawing/2014/main" id="{AE6A2D3A-1C06-4981-9D70-783E212194C1}"/>
              </a:ext>
            </a:extLst>
          </p:cNvPr>
          <p:cNvSpPr>
            <a:spLocks noGrp="1"/>
          </p:cNvSpPr>
          <p:nvPr>
            <p:ph type="ftr" sz="quarter" idx="11"/>
          </p:nvPr>
        </p:nvSpPr>
        <p:spPr>
          <a:xfrm>
            <a:off x="1038225" y="6374606"/>
            <a:ext cx="4114800" cy="365125"/>
          </a:xfrm>
        </p:spPr>
        <p:txBody>
          <a:bodyPr/>
          <a:lstStyle/>
          <a:p>
            <a:r>
              <a:rPr lang="en-US" dirty="0">
                <a:solidFill>
                  <a:schemeClr val="tx1"/>
                </a:solidFill>
              </a:rPr>
              <a:t>Key Benefit Administrators</a:t>
            </a:r>
          </a:p>
        </p:txBody>
      </p:sp>
      <p:sp>
        <p:nvSpPr>
          <p:cNvPr id="6" name="Slide Number Placeholder 3">
            <a:extLst>
              <a:ext uri="{FF2B5EF4-FFF2-40B4-BE49-F238E27FC236}">
                <a16:creationId xmlns:a16="http://schemas.microsoft.com/office/drawing/2014/main" id="{432D94ED-38DB-4C84-A193-F82ECDE09C64}"/>
              </a:ext>
            </a:extLst>
          </p:cNvPr>
          <p:cNvSpPr>
            <a:spLocks noGrp="1"/>
          </p:cNvSpPr>
          <p:nvPr>
            <p:ph type="sldNum" sz="quarter" idx="12"/>
          </p:nvPr>
        </p:nvSpPr>
        <p:spPr>
          <a:xfrm>
            <a:off x="8963336" y="6374605"/>
            <a:ext cx="2743200" cy="365125"/>
          </a:xfrm>
        </p:spPr>
        <p:txBody>
          <a:bodyPr/>
          <a:lstStyle/>
          <a:p>
            <a:fld id="{3AFC719D-C4A7-4544-876E-D411D11AF6C9}" type="slidenum">
              <a:rPr lang="en-US" smtClean="0"/>
              <a:t>22</a:t>
            </a:fld>
            <a:endParaRPr lang="en-US" dirty="0"/>
          </a:p>
        </p:txBody>
      </p:sp>
    </p:spTree>
    <p:extLst>
      <p:ext uri="{BB962C8B-B14F-4D97-AF65-F5344CB8AC3E}">
        <p14:creationId xmlns:p14="http://schemas.microsoft.com/office/powerpoint/2010/main" val="26801220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 name="Rectangle 31">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cxnSp>
        <p:nvCxnSpPr>
          <p:cNvPr id="3" name="Straight Connector 33">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4" name="Text Placeholder 10">
            <a:extLst>
              <a:ext uri="{FF2B5EF4-FFF2-40B4-BE49-F238E27FC236}">
                <a16:creationId xmlns:a16="http://schemas.microsoft.com/office/drawing/2014/main" id="{625E5EBB-5E59-1F70-D065-8563E74742C3}"/>
              </a:ext>
            </a:extLst>
          </p:cNvPr>
          <p:cNvGraphicFramePr/>
          <p:nvPr/>
        </p:nvGraphicFramePr>
        <p:xfrm>
          <a:off x="5182908" y="642639"/>
          <a:ext cx="6245265" cy="55893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ectangle 2">
            <a:extLst>
              <a:ext uri="{FF2B5EF4-FFF2-40B4-BE49-F238E27FC236}">
                <a16:creationId xmlns:a16="http://schemas.microsoft.com/office/drawing/2014/main" id="{DBF3756C-E382-D591-9698-2313D86DCFF4}"/>
              </a:ext>
            </a:extLst>
          </p:cNvPr>
          <p:cNvSpPr/>
          <p:nvPr/>
        </p:nvSpPr>
        <p:spPr>
          <a:xfrm>
            <a:off x="0" y="-1"/>
            <a:ext cx="5353869" cy="6866313"/>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6" name="Title 1">
            <a:extLst>
              <a:ext uri="{FF2B5EF4-FFF2-40B4-BE49-F238E27FC236}">
                <a16:creationId xmlns:a16="http://schemas.microsoft.com/office/drawing/2014/main" id="{55C24332-E958-7C44-485A-7D07A70595F3}"/>
              </a:ext>
            </a:extLst>
          </p:cNvPr>
          <p:cNvSpPr>
            <a:spLocks noGrp="1"/>
          </p:cNvSpPr>
          <p:nvPr>
            <p:ph type="title"/>
          </p:nvPr>
        </p:nvSpPr>
        <p:spPr>
          <a:xfrm>
            <a:off x="131198" y="642639"/>
            <a:ext cx="5008340" cy="4075389"/>
          </a:xfrm>
        </p:spPr>
        <p:txBody>
          <a:bodyPr vert="horz" lIns="91440" tIns="45720" rIns="91440" bIns="45720" rtlCol="0" anchor="ctr">
            <a:normAutofit/>
          </a:bodyPr>
          <a:lstStyle/>
          <a:p>
            <a:pPr algn="r" defTabSz="914400"/>
            <a:r>
              <a:rPr lang="en-US" sz="4000" b="0" kern="1200">
                <a:solidFill>
                  <a:schemeClr val="bg1"/>
                </a:solidFill>
              </a:rPr>
              <a:t>COMMUNITY BASED SALES STRATEGY</a:t>
            </a:r>
          </a:p>
        </p:txBody>
      </p:sp>
      <p:pic>
        <p:nvPicPr>
          <p:cNvPr id="7" name="Picture 6" descr="A group of people sitting around a table">
            <a:extLst>
              <a:ext uri="{FF2B5EF4-FFF2-40B4-BE49-F238E27FC236}">
                <a16:creationId xmlns:a16="http://schemas.microsoft.com/office/drawing/2014/main" id="{63226C7D-D0B4-2995-A02F-196790FEB331}"/>
              </a:ext>
            </a:extLst>
          </p:cNvPr>
          <p:cNvPicPr>
            <a:picLocks noChangeAspect="1"/>
          </p:cNvPicPr>
          <p:nvPr/>
        </p:nvPicPr>
        <p:blipFill>
          <a:blip r:embed="rId8">
            <a:alphaModFix amt="70000"/>
          </a:blip>
          <a:stretch>
            <a:fillRect/>
          </a:stretch>
        </p:blipFill>
        <p:spPr>
          <a:xfrm>
            <a:off x="306146" y="3783400"/>
            <a:ext cx="4741575" cy="3099539"/>
          </a:xfrm>
          <a:prstGeom prst="rect">
            <a:avLst/>
          </a:prstGeom>
          <a:ln w="28575">
            <a:solidFill>
              <a:schemeClr val="bg1"/>
            </a:solidFill>
          </a:ln>
        </p:spPr>
      </p:pic>
    </p:spTree>
    <p:extLst>
      <p:ext uri="{BB962C8B-B14F-4D97-AF65-F5344CB8AC3E}">
        <p14:creationId xmlns:p14="http://schemas.microsoft.com/office/powerpoint/2010/main" val="2174952421"/>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Single Corner Rounded 2">
            <a:extLst>
              <a:ext uri="{FF2B5EF4-FFF2-40B4-BE49-F238E27FC236}">
                <a16:creationId xmlns:a16="http://schemas.microsoft.com/office/drawing/2014/main" id="{0E0827A4-8831-4F72-BCCA-ED2FC12E6729}"/>
              </a:ext>
            </a:extLst>
          </p:cNvPr>
          <p:cNvSpPr/>
          <p:nvPr/>
        </p:nvSpPr>
        <p:spPr>
          <a:xfrm flipV="1">
            <a:off x="-12707" y="-2"/>
            <a:ext cx="4787908" cy="5524593"/>
          </a:xfrm>
          <a:prstGeom prst="round1Rect">
            <a:avLst>
              <a:gd name="adj" fmla="val 14176"/>
            </a:avLst>
          </a:prstGeom>
          <a:solidFill>
            <a:srgbClr val="00539F">
              <a:alpha val="93725"/>
            </a:srgbClr>
          </a:solidFill>
          <a:ln>
            <a:solidFill>
              <a:srgbClr val="59CA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3" name="Title 1">
            <a:extLst>
              <a:ext uri="{FF2B5EF4-FFF2-40B4-BE49-F238E27FC236}">
                <a16:creationId xmlns:a16="http://schemas.microsoft.com/office/drawing/2014/main" id="{E25BDB08-48BA-4014-94E1-0CA6432F65F9}"/>
              </a:ext>
            </a:extLst>
          </p:cNvPr>
          <p:cNvSpPr>
            <a:spLocks noGrp="1"/>
          </p:cNvSpPr>
          <p:nvPr>
            <p:ph type="title"/>
          </p:nvPr>
        </p:nvSpPr>
        <p:spPr>
          <a:xfrm>
            <a:off x="297320" y="174481"/>
            <a:ext cx="3839251" cy="943119"/>
          </a:xfrm>
          <a:noFill/>
        </p:spPr>
        <p:txBody>
          <a:bodyPr>
            <a:normAutofit/>
          </a:bodyPr>
          <a:lstStyle/>
          <a:p>
            <a:r>
              <a:rPr lang="en-US" sz="2400" cap="all" dirty="0">
                <a:solidFill>
                  <a:schemeClr val="bg1"/>
                </a:solidFill>
              </a:rPr>
              <a:t>Complete Marketing System</a:t>
            </a:r>
          </a:p>
        </p:txBody>
      </p:sp>
      <p:sp>
        <p:nvSpPr>
          <p:cNvPr id="4" name="TextBox 9">
            <a:extLst>
              <a:ext uri="{FF2B5EF4-FFF2-40B4-BE49-F238E27FC236}">
                <a16:creationId xmlns:a16="http://schemas.microsoft.com/office/drawing/2014/main" id="{ED71BB9D-3705-447C-AA44-226373980B76}"/>
              </a:ext>
            </a:extLst>
          </p:cNvPr>
          <p:cNvSpPr txBox="1"/>
          <p:nvPr/>
        </p:nvSpPr>
        <p:spPr>
          <a:xfrm>
            <a:off x="326132" y="1333409"/>
            <a:ext cx="4029076" cy="2862322"/>
          </a:xfrm>
          <a:prstGeom prst="rect">
            <a:avLst/>
          </a:prstGeom>
          <a:noFill/>
        </p:spPr>
        <p:txBody>
          <a:bodyPr wrap="square" rtlCol="0">
            <a:spAutoFit/>
          </a:bodyPr>
          <a:lstStyle/>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Branding and Messaging</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Brochures</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Web Site</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Targeted Employer Outreach</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Sales System (Social Media, Email, Text, etc.)</a:t>
            </a:r>
          </a:p>
        </p:txBody>
      </p:sp>
      <p:sp>
        <p:nvSpPr>
          <p:cNvPr id="5" name="Freeform 11">
            <a:extLst>
              <a:ext uri="{FF2B5EF4-FFF2-40B4-BE49-F238E27FC236}">
                <a16:creationId xmlns:a16="http://schemas.microsoft.com/office/drawing/2014/main" id="{E9CEBAE5-9FB0-92E7-FE3C-8D162366D53C}"/>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Picture 13">
            <a:extLst>
              <a:ext uri="{FF2B5EF4-FFF2-40B4-BE49-F238E27FC236}">
                <a16:creationId xmlns:a16="http://schemas.microsoft.com/office/drawing/2014/main" id="{FEB77514-FCC1-8077-FF95-E9A7EC1FC920}"/>
              </a:ext>
            </a:extLst>
          </p:cNvPr>
          <p:cNvPicPr>
            <a:picLocks noChangeAspect="1"/>
          </p:cNvPicPr>
          <p:nvPr/>
        </p:nvPicPr>
        <p:blipFill>
          <a:blip r:embed="rId2"/>
          <a:stretch>
            <a:fillRect/>
          </a:stretch>
        </p:blipFill>
        <p:spPr>
          <a:xfrm>
            <a:off x="215573" y="6356350"/>
            <a:ext cx="2125097" cy="463658"/>
          </a:xfrm>
          <a:prstGeom prst="rect">
            <a:avLst/>
          </a:prstGeom>
        </p:spPr>
      </p:pic>
      <p:sp>
        <p:nvSpPr>
          <p:cNvPr id="7" name="Object 1">
            <a:extLst>
              <a:ext uri="{FF2B5EF4-FFF2-40B4-BE49-F238E27FC236}">
                <a16:creationId xmlns:a16="http://schemas.microsoft.com/office/drawing/2014/main" id="{6A650CAB-F194-C039-985A-378659DC9264}"/>
              </a:ext>
            </a:extLst>
          </p:cNvPr>
          <p:cNvSpPr/>
          <p:nvPr/>
        </p:nvSpPr>
        <p:spPr>
          <a:xfrm>
            <a:off x="6260477" y="1869754"/>
            <a:ext cx="4672331" cy="2916602"/>
          </a:xfrm>
          <a:prstGeom prst="rect">
            <a:avLst/>
          </a:prstGeom>
          <a:solidFill>
            <a:srgbClr val="254F9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pic>
        <p:nvPicPr>
          <p:cNvPr id="8" name="Object 2">
            <a:extLst>
              <a:ext uri="{FF2B5EF4-FFF2-40B4-BE49-F238E27FC236}">
                <a16:creationId xmlns:a16="http://schemas.microsoft.com/office/drawing/2014/main" id="{A8440E76-55C9-58AD-8FFE-1161A970BB40}"/>
              </a:ext>
            </a:extLst>
          </p:cNvPr>
          <p:cNvPicPr>
            <a:picLocks noChangeAspect="1"/>
          </p:cNvPicPr>
          <p:nvPr/>
        </p:nvPicPr>
        <p:blipFill>
          <a:blip r:embed="rId3" cstate="screen">
            <a:extLst>
              <a:ext uri="{28A0092B-C50C-407E-A947-70E740481C1C}">
                <a14:useLocalDpi xmlns:a14="http://schemas.microsoft.com/office/drawing/2010/main"/>
              </a:ext>
            </a:extLst>
          </a:blip>
          <a:srcRect l="-3017" t="358" r="-3017" b="358"/>
          <a:stretch/>
        </p:blipFill>
        <p:spPr>
          <a:xfrm>
            <a:off x="6260477" y="1869754"/>
            <a:ext cx="4672331" cy="2916602"/>
          </a:xfrm>
          <a:prstGeom prst="rect">
            <a:avLst/>
          </a:prstGeom>
        </p:spPr>
      </p:pic>
      <p:sp>
        <p:nvSpPr>
          <p:cNvPr id="9" name="Object 3">
            <a:extLst>
              <a:ext uri="{FF2B5EF4-FFF2-40B4-BE49-F238E27FC236}">
                <a16:creationId xmlns:a16="http://schemas.microsoft.com/office/drawing/2014/main" id="{8A7EB5CC-EEC2-B5AA-4D5D-3D6555854B7F}"/>
              </a:ext>
            </a:extLst>
          </p:cNvPr>
          <p:cNvSpPr/>
          <p:nvPr/>
        </p:nvSpPr>
        <p:spPr>
          <a:xfrm>
            <a:off x="6260477" y="1869754"/>
            <a:ext cx="4672331" cy="2916602"/>
          </a:xfrm>
          <a:prstGeom prst="rect">
            <a:avLst/>
          </a:prstGeom>
          <a:no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pic>
        <p:nvPicPr>
          <p:cNvPr id="10" name="Object 4">
            <a:extLst>
              <a:ext uri="{FF2B5EF4-FFF2-40B4-BE49-F238E27FC236}">
                <a16:creationId xmlns:a16="http://schemas.microsoft.com/office/drawing/2014/main" id="{80FD5046-6F68-9F9C-A2D7-3B2367BB6FD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492571" y="1610180"/>
            <a:ext cx="6211749" cy="3637640"/>
          </a:xfrm>
          <a:prstGeom prst="rect">
            <a:avLst/>
          </a:prstGeom>
        </p:spPr>
      </p:pic>
    </p:spTree>
    <p:extLst>
      <p:ext uri="{BB962C8B-B14F-4D97-AF65-F5344CB8AC3E}">
        <p14:creationId xmlns:p14="http://schemas.microsoft.com/office/powerpoint/2010/main" val="12815426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a:extLst>
              <a:ext uri="{FF2B5EF4-FFF2-40B4-BE49-F238E27FC236}">
                <a16:creationId xmlns:a16="http://schemas.microsoft.com/office/drawing/2014/main" id="{C8D87E68-6B58-6ABC-9125-FECD31D51802}"/>
              </a:ext>
            </a:extLst>
          </p:cNvPr>
          <p:cNvSpPr txBox="1">
            <a:spLocks/>
          </p:cNvSpPr>
          <p:nvPr/>
        </p:nvSpPr>
        <p:spPr>
          <a:xfrm>
            <a:off x="685800" y="1023158"/>
            <a:ext cx="11068050" cy="460829"/>
          </a:xfrm>
          <a:prstGeom prst="rect">
            <a:avLst/>
          </a:prstGeom>
        </p:spPr>
        <p:txBody>
          <a:bodyPr lIns="91440" tIns="45720" rIns="91440" bIns="4572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a:ea typeface="+mn-ea"/>
                <a:cs typeface="Arial"/>
              </a:rPr>
              <a:t>Creating EPO Steerage in a PPO Network</a:t>
            </a:r>
          </a:p>
        </p:txBody>
      </p:sp>
      <p:pic>
        <p:nvPicPr>
          <p:cNvPr id="3" name="Picture 4">
            <a:extLst>
              <a:ext uri="{FF2B5EF4-FFF2-40B4-BE49-F238E27FC236}">
                <a16:creationId xmlns:a16="http://schemas.microsoft.com/office/drawing/2014/main" id="{D27A37F9-7666-F7AF-4CB9-D45C937D6CEA}"/>
              </a:ext>
            </a:extLst>
          </p:cNvPr>
          <p:cNvPicPr>
            <a:picLocks noChangeAspect="1"/>
          </p:cNvPicPr>
          <p:nvPr/>
        </p:nvPicPr>
        <p:blipFill>
          <a:blip r:embed="rId3"/>
          <a:stretch>
            <a:fillRect/>
          </a:stretch>
        </p:blipFill>
        <p:spPr>
          <a:xfrm>
            <a:off x="862685" y="1823980"/>
            <a:ext cx="3420399" cy="3862399"/>
          </a:xfrm>
          <a:prstGeom prst="rect">
            <a:avLst/>
          </a:prstGeom>
          <a:solidFill>
            <a:srgbClr val="FFFFFF">
              <a:shade val="85000"/>
            </a:srgbClr>
          </a:solidFill>
          <a:ln w="190500" cap="sq">
            <a:solidFill>
              <a:srgbClr val="FFFFFF"/>
            </a:solidFill>
            <a:miter lim="800000"/>
          </a:ln>
          <a:effectLst>
            <a:outerShdw blurRad="65000" dist="50800" dir="12900000" sx="1000" sy="1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4" name="Content Placeholder 3">
            <a:extLst>
              <a:ext uri="{FF2B5EF4-FFF2-40B4-BE49-F238E27FC236}">
                <a16:creationId xmlns:a16="http://schemas.microsoft.com/office/drawing/2014/main" id="{C70E1274-9D49-4637-1DA7-A61DA7510958}"/>
              </a:ext>
            </a:extLst>
          </p:cNvPr>
          <p:cNvSpPr txBox="1">
            <a:spLocks/>
          </p:cNvSpPr>
          <p:nvPr/>
        </p:nvSpPr>
        <p:spPr>
          <a:xfrm>
            <a:off x="5119281" y="1970165"/>
            <a:ext cx="5905500" cy="3999585"/>
          </a:xfrm>
          <a:prstGeom prst="rect">
            <a:avLst/>
          </a:prstGeom>
        </p:spPr>
        <p:txBody>
          <a:bodyPr vert="horz" lIns="91440" tIns="45720" rIns="91440" bIns="45720" rtlCol="0">
            <a:noAutofit/>
          </a:bodyPr>
          <a:lstStyle>
            <a:lvl1pPr marL="246888" indent="-246888" algn="l" defTabSz="914400" rtl="0" eaLnBrk="1" latinLnBrk="0" hangingPunct="1">
              <a:lnSpc>
                <a:spcPct val="90000"/>
              </a:lnSpc>
              <a:spcBef>
                <a:spcPts val="1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1pPr>
            <a:lvl2pPr marL="548640"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2pPr>
            <a:lvl3pPr marL="850392"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3pPr>
            <a:lvl4pPr marL="1152144"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4pPr>
            <a:lvl5pPr marL="1453896"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5pPr>
            <a:lvl6pPr marL="1755648"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6pPr>
            <a:lvl7pPr marL="2057400"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7pPr>
            <a:lvl8pPr marL="2359152"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8pPr>
            <a:lvl9pPr marL="2660904"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None/>
              <a:tabLst/>
              <a:defRPr/>
            </a:pPr>
            <a:r>
              <a:rPr kumimoji="0" lang="en-US" sz="1800" b="1" i="0" u="none" strike="noStrike" kern="1200" cap="none" spc="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The Healthcare Credit Card is eligible to be used only for specific merchant codes.</a:t>
            </a:r>
          </a:p>
          <a:p>
            <a:pPr marL="342900" marR="0" lvl="0" indent="-342900" algn="l" defTabSz="914400" rtl="0" eaLnBrk="1" fontAlgn="auto" latinLnBrk="0" hangingPunct="1">
              <a:lnSpc>
                <a:spcPct val="6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To utilize at Specific Healthcare Providers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a.  Designated Hospitals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b.  Urgent Care Facilities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c.  Physicians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d.  Eligible Ancillary Providers</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Out of Pocket Expenses Qualify</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0% Interest Rate</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Employee Determines Repayment Schedules</a:t>
            </a:r>
          </a:p>
          <a:p>
            <a:pPr marL="0" marR="0" lvl="0" indent="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5.   To Qualify:  Answer One Simple Question</a:t>
            </a:r>
          </a:p>
          <a:p>
            <a:pPr marL="301752" marR="0" lvl="1" indent="0" algn="l" defTabSz="914400" rtl="0" eaLnBrk="1" fontAlgn="auto" latinLnBrk="0" hangingPunct="1">
              <a:lnSpc>
                <a:spcPct val="90000"/>
              </a:lnSpc>
              <a:spcBef>
                <a:spcPts val="800"/>
              </a:spcBef>
              <a:spcAft>
                <a:spcPts val="0"/>
              </a:spcAft>
              <a:buClr>
                <a:prstClr val="black">
                  <a:lumMod val="50000"/>
                </a:prstClr>
              </a:buClr>
              <a:buSzTx/>
              <a:buFont typeface="Arial" pitchFamily="34" charset="0"/>
              <a:buNone/>
              <a:tabLst/>
              <a:defRPr/>
            </a:pPr>
            <a:endPar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endParaRPr>
          </a:p>
          <a:p>
            <a:pPr marL="301752" marR="0" lvl="1" indent="0" algn="l" defTabSz="914400" rtl="0" eaLnBrk="1" fontAlgn="auto" latinLnBrk="0" hangingPunct="1">
              <a:lnSpc>
                <a:spcPct val="90000"/>
              </a:lnSpc>
              <a:spcBef>
                <a:spcPts val="800"/>
              </a:spcBef>
              <a:spcAft>
                <a:spcPts val="0"/>
              </a:spcAft>
              <a:buClr>
                <a:prstClr val="black">
                  <a:lumMod val="50000"/>
                </a:prstClr>
              </a:buClr>
              <a:buSzTx/>
              <a:buFont typeface="Arial" pitchFamily="34" charset="0"/>
              <a:buNone/>
              <a:tabLst/>
              <a:defRPr/>
            </a:pPr>
            <a:endPar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endParaRPr>
          </a:p>
        </p:txBody>
      </p:sp>
      <p:sp>
        <p:nvSpPr>
          <p:cNvPr id="5" name="Title 2">
            <a:extLst>
              <a:ext uri="{FF2B5EF4-FFF2-40B4-BE49-F238E27FC236}">
                <a16:creationId xmlns:a16="http://schemas.microsoft.com/office/drawing/2014/main" id="{C1B6353D-0F2D-B3C9-7A27-75C14D6BED8F}"/>
              </a:ext>
            </a:extLst>
          </p:cNvPr>
          <p:cNvSpPr txBox="1">
            <a:spLocks/>
          </p:cNvSpPr>
          <p:nvPr/>
        </p:nvSpPr>
        <p:spPr>
          <a:xfrm>
            <a:off x="117445" y="291892"/>
            <a:ext cx="11534623" cy="1082169"/>
          </a:xfrm>
          <a:prstGeom prst="rect">
            <a:avLst/>
          </a:prstGeom>
        </p:spPr>
        <p:txBody>
          <a:bodyPr vert="horz" lIns="91440" tIns="45720" rIns="91440" bIns="45720" rtlCol="0">
            <a:norm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4400" b="0" i="0" u="none" strike="noStrike" kern="1200" cap="none" spc="0" normalizeH="0" baseline="0" noProof="0">
                <a:ln>
                  <a:noFill/>
                </a:ln>
                <a:solidFill>
                  <a:srgbClr val="00539F"/>
                </a:solidFill>
                <a:effectLst/>
                <a:uLnTx/>
                <a:uFillTx/>
                <a:latin typeface="Montserrat" panose="00000500000000000000" pitchFamily="2" charset="0"/>
                <a:ea typeface="+mj-ea"/>
                <a:cs typeface="+mj-cs"/>
              </a:rPr>
              <a:t>THE KBA HEALTHCARE CREDIT CARD</a:t>
            </a:r>
          </a:p>
        </p:txBody>
      </p:sp>
      <p:sp>
        <p:nvSpPr>
          <p:cNvPr id="6" name="Slide Number Placeholder 2">
            <a:extLst>
              <a:ext uri="{FF2B5EF4-FFF2-40B4-BE49-F238E27FC236}">
                <a16:creationId xmlns:a16="http://schemas.microsoft.com/office/drawing/2014/main" id="{7A8CF715-9A59-9BC1-F563-EB57E0E8C3D0}"/>
              </a:ext>
            </a:extLst>
          </p:cNvPr>
          <p:cNvSpPr>
            <a:spLocks noGrp="1"/>
          </p:cNvSpPr>
          <p:nvPr>
            <p:ph type="sldNum" sz="quarter" idx="12"/>
          </p:nvPr>
        </p:nvSpPr>
        <p:spPr>
          <a:xfrm>
            <a:off x="9091613" y="62185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28FB93-0A08-4E7D-8E63-9EFA29F1E093}"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pic>
        <p:nvPicPr>
          <p:cNvPr id="7" name="Picture 10">
            <a:extLst>
              <a:ext uri="{FF2B5EF4-FFF2-40B4-BE49-F238E27FC236}">
                <a16:creationId xmlns:a16="http://schemas.microsoft.com/office/drawing/2014/main" id="{C29A4437-7BF2-00C8-3CE2-47821471F737}"/>
              </a:ext>
            </a:extLst>
          </p:cNvPr>
          <p:cNvPicPr>
            <a:picLocks noChangeAspect="1"/>
          </p:cNvPicPr>
          <p:nvPr/>
        </p:nvPicPr>
        <p:blipFill>
          <a:blip r:embed="rId4"/>
          <a:stretch>
            <a:fillRect/>
          </a:stretch>
        </p:blipFill>
        <p:spPr>
          <a:xfrm>
            <a:off x="215573" y="6356350"/>
            <a:ext cx="2125097" cy="463658"/>
          </a:xfrm>
          <a:prstGeom prst="rect">
            <a:avLst/>
          </a:prstGeom>
        </p:spPr>
      </p:pic>
      <p:sp>
        <p:nvSpPr>
          <p:cNvPr id="8" name="Freeform 11">
            <a:extLst>
              <a:ext uri="{FF2B5EF4-FFF2-40B4-BE49-F238E27FC236}">
                <a16:creationId xmlns:a16="http://schemas.microsoft.com/office/drawing/2014/main" id="{5887201F-FBD0-343F-D3E2-4BB44889CE3C}"/>
              </a:ext>
            </a:extLst>
          </p:cNvPr>
          <p:cNvSpPr/>
          <p:nvPr/>
        </p:nvSpPr>
        <p:spPr>
          <a:xfrm rot="16200000" flipV="1">
            <a:off x="7290397"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5434018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16DA80FC-AC13-8B4D-1B26-8FFCCBE68854}"/>
              </a:ext>
            </a:extLst>
          </p:cNvPr>
          <p:cNvSpPr txBox="1">
            <a:spLocks/>
          </p:cNvSpPr>
          <p:nvPr/>
        </p:nvSpPr>
        <p:spPr>
          <a:xfrm>
            <a:off x="401217" y="172586"/>
            <a:ext cx="11534623" cy="807442"/>
          </a:xfrm>
          <a:prstGeom prst="rect">
            <a:avLst/>
          </a:prstGeom>
        </p:spPr>
        <p:txBody>
          <a:bodyPr vert="horz" lIns="91440" tIns="45720" rIns="91440" bIns="45720" rtlCol="0">
            <a:normAutofit fontScale="77500" lnSpcReduction="20000"/>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4400" b="0" i="0" u="none" strike="noStrike" kern="1200" cap="none" spc="0" normalizeH="0" baseline="0" noProof="0" dirty="0">
                <a:ln>
                  <a:noFill/>
                </a:ln>
                <a:solidFill>
                  <a:srgbClr val="44546A"/>
                </a:solidFill>
                <a:effectLst/>
                <a:uLnTx/>
                <a:uFillTx/>
                <a:latin typeface="Montserrat" panose="00000500000000000000" pitchFamily="2" charset="0"/>
                <a:ea typeface="+mj-ea"/>
                <a:cs typeface="+mj-cs"/>
              </a:rPr>
              <a:t>KEY INCENTIVE PLAN (KIP): </a:t>
            </a:r>
          </a:p>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2600" b="0" i="0" u="none" strike="noStrike" kern="1200" cap="none" spc="0" normalizeH="0" baseline="0" noProof="0" dirty="0">
                <a:ln>
                  <a:noFill/>
                </a:ln>
                <a:solidFill>
                  <a:prstClr val="black"/>
                </a:solidFill>
                <a:effectLst/>
                <a:uLnTx/>
                <a:uFillTx/>
                <a:latin typeface="Montserrat" panose="00000500000000000000" pitchFamily="2" charset="0"/>
                <a:ea typeface="+mj-ea"/>
                <a:cs typeface="Arial" panose="020B0604020202020204" pitchFamily="34" charset="0"/>
              </a:rPr>
              <a:t>BASE MEDICAL + BONUS BENEFITS = YOUR DEDUCTIBLE CAN SIMPLY VANISH</a:t>
            </a:r>
          </a:p>
          <a:p>
            <a:pPr marL="0" marR="0" lvl="0" indent="0" algn="ctr" defTabSz="914400" rtl="0" eaLnBrk="1" fontAlgn="auto" latinLnBrk="0" hangingPunct="1">
              <a:lnSpc>
                <a:spcPct val="90000"/>
              </a:lnSpc>
              <a:spcBef>
                <a:spcPts val="1000"/>
              </a:spcBef>
              <a:spcAft>
                <a:spcPts val="0"/>
              </a:spcAft>
              <a:buClrTx/>
              <a:buSzTx/>
              <a:buFontTx/>
              <a:buNone/>
              <a:tabLst/>
              <a:defRPr/>
            </a:pPr>
            <a:endParaRPr kumimoji="0" lang="en-US" sz="3800" b="0" i="0" u="none" strike="noStrike" kern="1200" cap="none" spc="0" normalizeH="0" baseline="0" noProof="0" dirty="0">
              <a:ln>
                <a:noFill/>
              </a:ln>
              <a:solidFill>
                <a:prstClr val="black"/>
              </a:solidFill>
              <a:effectLst/>
              <a:uLnTx/>
              <a:uFillTx/>
              <a:latin typeface="Montserrat" panose="00000500000000000000" pitchFamily="2" charset="0"/>
              <a:ea typeface="+mj-ea"/>
              <a:cs typeface="+mj-cs"/>
            </a:endParaRPr>
          </a:p>
        </p:txBody>
      </p:sp>
      <p:sp>
        <p:nvSpPr>
          <p:cNvPr id="3" name="Slide Number Placeholder 3">
            <a:extLst>
              <a:ext uri="{FF2B5EF4-FFF2-40B4-BE49-F238E27FC236}">
                <a16:creationId xmlns:a16="http://schemas.microsoft.com/office/drawing/2014/main" id="{8B3A2443-C9A5-9840-65A4-36B20C47DD4C}"/>
              </a:ext>
            </a:extLst>
          </p:cNvPr>
          <p:cNvSpPr>
            <a:spLocks noGrp="1"/>
          </p:cNvSpPr>
          <p:nvPr>
            <p:ph type="sldNum" sz="quarter" idx="12"/>
          </p:nvPr>
        </p:nvSpPr>
        <p:spPr>
          <a:xfrm>
            <a:off x="9006827" y="626813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28FB93-0A08-4E7D-8E63-9EFA29F1E093}"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pic>
        <p:nvPicPr>
          <p:cNvPr id="4" name="Picture 12">
            <a:extLst>
              <a:ext uri="{FF2B5EF4-FFF2-40B4-BE49-F238E27FC236}">
                <a16:creationId xmlns:a16="http://schemas.microsoft.com/office/drawing/2014/main" id="{E4909EF0-0675-CA57-8ADA-A19CD01D38EA}"/>
              </a:ext>
            </a:extLst>
          </p:cNvPr>
          <p:cNvPicPr>
            <a:picLocks noChangeAspect="1"/>
          </p:cNvPicPr>
          <p:nvPr/>
        </p:nvPicPr>
        <p:blipFill>
          <a:blip r:embed="rId3"/>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CA353A74-5D89-849A-9B03-BCFB396BAA13}"/>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9">
            <a:extLst>
              <a:ext uri="{FF2B5EF4-FFF2-40B4-BE49-F238E27FC236}">
                <a16:creationId xmlns:a16="http://schemas.microsoft.com/office/drawing/2014/main" id="{065E6D81-E529-3946-F4D6-5D6609CC0FE8}"/>
              </a:ext>
            </a:extLst>
          </p:cNvPr>
          <p:cNvGraphicFramePr>
            <a:graphicFrameLocks noGrp="1"/>
          </p:cNvGraphicFramePr>
          <p:nvPr/>
        </p:nvGraphicFramePr>
        <p:xfrm>
          <a:off x="401217" y="970995"/>
          <a:ext cx="11005538" cy="5271741"/>
        </p:xfrm>
        <a:graphic>
          <a:graphicData uri="http://schemas.openxmlformats.org/drawingml/2006/table">
            <a:tbl>
              <a:tblPr/>
              <a:tblGrid>
                <a:gridCol w="1330055">
                  <a:extLst>
                    <a:ext uri="{9D8B030D-6E8A-4147-A177-3AD203B41FA5}">
                      <a16:colId xmlns:a16="http://schemas.microsoft.com/office/drawing/2014/main" val="3195232096"/>
                    </a:ext>
                  </a:extLst>
                </a:gridCol>
                <a:gridCol w="1699612">
                  <a:extLst>
                    <a:ext uri="{9D8B030D-6E8A-4147-A177-3AD203B41FA5}">
                      <a16:colId xmlns:a16="http://schemas.microsoft.com/office/drawing/2014/main" val="1786901733"/>
                    </a:ext>
                  </a:extLst>
                </a:gridCol>
                <a:gridCol w="2400820">
                  <a:extLst>
                    <a:ext uri="{9D8B030D-6E8A-4147-A177-3AD203B41FA5}">
                      <a16:colId xmlns:a16="http://schemas.microsoft.com/office/drawing/2014/main" val="1392519372"/>
                    </a:ext>
                  </a:extLst>
                </a:gridCol>
                <a:gridCol w="1964908">
                  <a:extLst>
                    <a:ext uri="{9D8B030D-6E8A-4147-A177-3AD203B41FA5}">
                      <a16:colId xmlns:a16="http://schemas.microsoft.com/office/drawing/2014/main" val="660552617"/>
                    </a:ext>
                  </a:extLst>
                </a:gridCol>
                <a:gridCol w="156744">
                  <a:extLst>
                    <a:ext uri="{9D8B030D-6E8A-4147-A177-3AD203B41FA5}">
                      <a16:colId xmlns:a16="http://schemas.microsoft.com/office/drawing/2014/main" val="1136356776"/>
                    </a:ext>
                  </a:extLst>
                </a:gridCol>
                <a:gridCol w="2620433">
                  <a:extLst>
                    <a:ext uri="{9D8B030D-6E8A-4147-A177-3AD203B41FA5}">
                      <a16:colId xmlns:a16="http://schemas.microsoft.com/office/drawing/2014/main" val="713959702"/>
                    </a:ext>
                  </a:extLst>
                </a:gridCol>
                <a:gridCol w="832966">
                  <a:extLst>
                    <a:ext uri="{9D8B030D-6E8A-4147-A177-3AD203B41FA5}">
                      <a16:colId xmlns:a16="http://schemas.microsoft.com/office/drawing/2014/main" val="1233038709"/>
                    </a:ext>
                  </a:extLst>
                </a:gridCol>
              </a:tblGrid>
              <a:tr h="393475">
                <a:tc gridSpan="4">
                  <a:txBody>
                    <a:bodyPr/>
                    <a:lstStyle/>
                    <a:p>
                      <a:pPr algn="ctr" fontAlgn="b"/>
                      <a:r>
                        <a:rPr lang="en-US" sz="1200" b="1" i="0" u="none" strike="noStrike">
                          <a:solidFill>
                            <a:srgbClr val="000000"/>
                          </a:solidFill>
                          <a:effectLst/>
                          <a:latin typeface="Montserrat" panose="00000500000000000000" pitchFamily="2" charset="0"/>
                        </a:rPr>
                        <a:t>BENEFIT EXAMPLE</a:t>
                      </a:r>
                    </a:p>
                  </a:txBody>
                  <a:tcPr marL="7133" marR="7133" marT="7133" marB="0" anchor="b">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mpd="sng">
                      <a:noFill/>
                      <a:prstDash val="solid"/>
                    </a:lnL>
                  </a:tcPr>
                </a:tc>
                <a:tc hMerge="1">
                  <a:txBody>
                    <a:bodyPr/>
                    <a:lstStyle/>
                    <a:p>
                      <a:endParaRPr lang="en-US"/>
                    </a:p>
                  </a:txBody>
                  <a:tcPr/>
                </a:tc>
                <a:tc hMerge="1">
                  <a:txBody>
                    <a:bodyPr/>
                    <a:lstStyle/>
                    <a:p>
                      <a:endParaRPr lang="en-US"/>
                    </a:p>
                  </a:txBody>
                  <a:tcPr/>
                </a:tc>
                <a:tc>
                  <a:txBody>
                    <a:bodyPr/>
                    <a:lstStyle/>
                    <a:p>
                      <a:pPr algn="l" fontAlgn="b"/>
                      <a:endParaRPr lang="en-US" sz="800" b="0" i="0" u="none" strike="noStrike">
                        <a:solidFill>
                          <a:srgbClr val="000000"/>
                        </a:solidFill>
                        <a:effectLst/>
                        <a:latin typeface="Montserrat" panose="00000500000000000000" pitchFamily="2" charset="0"/>
                      </a:endParaRPr>
                    </a:p>
                  </a:txBody>
                  <a:tcPr marL="7133" marR="7133" marT="7133" marB="0" anchor="b">
                    <a:lnL w="12700" cmpd="sng">
                      <a:noFill/>
                      <a:prstDash val="solid"/>
                    </a:lnL>
                    <a:lnR>
                      <a:noFill/>
                    </a:lnR>
                    <a:lnT>
                      <a:noFill/>
                    </a:lnT>
                    <a:lnB>
                      <a:noFill/>
                    </a:lnB>
                    <a:lnTlToBr w="12700" cmpd="sng">
                      <a:noFill/>
                      <a:prstDash val="solid"/>
                    </a:lnTlToBr>
                    <a:lnBlToTr w="12700" cmpd="sng">
                      <a:noFill/>
                      <a:prstDash val="solid"/>
                    </a:lnBlToTr>
                    <a:noFill/>
                  </a:tcPr>
                </a:tc>
                <a:tc gridSpan="2">
                  <a:txBody>
                    <a:bodyPr/>
                    <a:lstStyle/>
                    <a:p>
                      <a:pPr algn="ctr" fontAlgn="b"/>
                      <a:r>
                        <a:rPr lang="en-US" sz="1200" b="1" i="0" u="none" strike="noStrike">
                          <a:solidFill>
                            <a:srgbClr val="000000"/>
                          </a:solidFill>
                          <a:effectLst/>
                          <a:latin typeface="Montserrat" panose="00000500000000000000" pitchFamily="2" charset="0"/>
                        </a:rPr>
                        <a:t>CLAIM EXAMPLE  </a:t>
                      </a:r>
                    </a:p>
                  </a:txBody>
                  <a:tcPr marL="7133" marR="7133" marT="7133" marB="0" anchor="b">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mpd="sng">
                      <a:noFill/>
                      <a:prstDash val="solid"/>
                    </a:lnL>
                  </a:tcPr>
                </a:tc>
                <a:extLst>
                  <a:ext uri="{0D108BD9-81ED-4DB2-BD59-A6C34878D82A}">
                    <a16:rowId xmlns:a16="http://schemas.microsoft.com/office/drawing/2014/main" val="4091891274"/>
                  </a:ext>
                </a:extLst>
              </a:tr>
              <a:tr h="708259">
                <a:tc gridSpan="2">
                  <a:txBody>
                    <a:bodyPr/>
                    <a:lstStyle/>
                    <a:p>
                      <a:pPr algn="ctr" rtl="0" fontAlgn="ctr"/>
                      <a:r>
                        <a:rPr lang="en-US" sz="1400" b="1" i="0" u="none" strike="noStrike">
                          <a:solidFill>
                            <a:srgbClr val="FFFFFF"/>
                          </a:solidFill>
                          <a:effectLst/>
                          <a:latin typeface="Montserrat" panose="00000500000000000000" pitchFamily="2" charset="0"/>
                        </a:rPr>
                        <a:t>BASE MEDICAL BENEFITS</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C2340"/>
                    </a:solidFill>
                  </a:tcPr>
                </a:tc>
                <a:tc hMerge="1">
                  <a:txBody>
                    <a:bodyPr/>
                    <a:lstStyle/>
                    <a:p>
                      <a:endParaRPr lang="en-US"/>
                    </a:p>
                  </a:txBody>
                  <a:tcPr>
                    <a:lnL w="6350" cap="flat" cmpd="sng" algn="ctr">
                      <a:solidFill>
                        <a:srgbClr val="000000"/>
                      </a:solidFill>
                      <a:prstDash val="solid"/>
                      <a:round/>
                      <a:headEnd type="none" w="med" len="med"/>
                      <a:tailEnd type="none" w="med" len="med"/>
                    </a:lnL>
                  </a:tcPr>
                </a:tc>
                <a:tc gridSpan="2">
                  <a:txBody>
                    <a:bodyPr/>
                    <a:lstStyle/>
                    <a:p>
                      <a:pPr algn="ctr" rtl="0" fontAlgn="ctr"/>
                      <a:r>
                        <a:rPr lang="en-US" sz="1400" b="1" i="0" u="none" strike="noStrike">
                          <a:solidFill>
                            <a:srgbClr val="FFFFFF"/>
                          </a:solidFill>
                          <a:effectLst/>
                          <a:latin typeface="Montserrat" panose="00000500000000000000" pitchFamily="2" charset="0"/>
                        </a:rPr>
                        <a:t>BONUS BENEFITS</a:t>
                      </a:r>
                    </a:p>
                  </a:txBody>
                  <a:tcPr marL="7133" marR="7133" marT="7133"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hMerge="1">
                  <a:txBody>
                    <a:bodyPr/>
                    <a:lstStyle/>
                    <a:p>
                      <a:endParaRPr lang="en-US"/>
                    </a:p>
                  </a:txBody>
                  <a:tcPr>
                    <a:lnL w="25400" cap="flat" cmpd="dbl" algn="ctr">
                      <a:solidFill>
                        <a:srgbClr val="000000"/>
                      </a:solidFill>
                      <a:prstDash val="solid"/>
                      <a:round/>
                      <a:headEnd type="none" w="med" len="med"/>
                      <a:tailEnd type="none" w="med" len="med"/>
                    </a:lnL>
                  </a:tcPr>
                </a:tc>
                <a:tc>
                  <a:txBody>
                    <a:bodyPr/>
                    <a:lstStyle/>
                    <a:p>
                      <a:pPr algn="l" fontAlgn="b"/>
                      <a:endParaRPr lang="en-US" sz="9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gridSpan="2">
                  <a:txBody>
                    <a:bodyPr/>
                    <a:lstStyle/>
                    <a:p>
                      <a:pPr algn="ctr" rtl="0" fontAlgn="ctr"/>
                      <a:r>
                        <a:rPr lang="en-US" sz="1400" b="1" i="0" u="none" strike="noStrike">
                          <a:solidFill>
                            <a:srgbClr val="FFFFFF"/>
                          </a:solidFill>
                          <a:effectLst/>
                          <a:latin typeface="Montserrat" panose="00000500000000000000" pitchFamily="2" charset="0"/>
                        </a:rPr>
                        <a:t>“How Your Deductible Can Vanish”</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C2340"/>
                    </a:solidFill>
                  </a:tcPr>
                </a:tc>
                <a:tc hMerge="1">
                  <a:txBody>
                    <a:bodyPr/>
                    <a:lstStyle/>
                    <a:p>
                      <a:endParaRPr lang="en-US"/>
                    </a:p>
                  </a:txBody>
                  <a:tcPr>
                    <a:lnL w="25400" cap="flat" cmpd="dbl" algn="ctr">
                      <a:solidFill>
                        <a:srgbClr val="000000"/>
                      </a:solidFill>
                      <a:prstDash val="solid"/>
                      <a:round/>
                      <a:headEnd type="none" w="med" len="med"/>
                      <a:tailEnd type="none" w="med" len="med"/>
                    </a:lnL>
                  </a:tcPr>
                </a:tc>
                <a:extLst>
                  <a:ext uri="{0D108BD9-81ED-4DB2-BD59-A6C34878D82A}">
                    <a16:rowId xmlns:a16="http://schemas.microsoft.com/office/drawing/2014/main" val="2792043374"/>
                  </a:ext>
                </a:extLst>
              </a:tr>
              <a:tr h="454683">
                <a:tc gridSpan="2">
                  <a:txBody>
                    <a:bodyPr/>
                    <a:lstStyle/>
                    <a:p>
                      <a:pPr algn="ctr" rtl="0" fontAlgn="b"/>
                      <a:r>
                        <a:rPr lang="en-US" sz="1150" b="1" i="0" u="none" strike="noStrike">
                          <a:solidFill>
                            <a:srgbClr val="000000"/>
                          </a:solidFill>
                          <a:effectLst/>
                          <a:latin typeface="Montserrat" panose="00000500000000000000" pitchFamily="2" charset="0"/>
                        </a:rPr>
                        <a:t>Deductible</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hMerge="1">
                  <a:txBody>
                    <a:bodyPr/>
                    <a:lstStyle/>
                    <a:p>
                      <a:endParaRPr lang="en-US"/>
                    </a:p>
                  </a:txBody>
                  <a:tcPr>
                    <a:lnL w="6350" cap="flat" cmpd="sng" algn="ctr">
                      <a:solidFill>
                        <a:srgbClr val="000000"/>
                      </a:solidFill>
                      <a:prstDash val="solid"/>
                      <a:round/>
                      <a:headEnd type="none" w="med" len="med"/>
                      <a:tailEnd type="none" w="med" len="med"/>
                    </a:lnL>
                  </a:tcPr>
                </a:tc>
                <a:tc gridSpan="2">
                  <a:txBody>
                    <a:bodyPr/>
                    <a:lstStyle/>
                    <a:p>
                      <a:pPr algn="ctr" rtl="0" fontAlgn="b"/>
                      <a:r>
                        <a:rPr lang="en-US" sz="1150" b="1" i="0" u="none" strike="noStrike">
                          <a:solidFill>
                            <a:srgbClr val="000000"/>
                          </a:solidFill>
                          <a:effectLst/>
                          <a:latin typeface="Montserrat" panose="00000500000000000000" pitchFamily="2" charset="0"/>
                        </a:rPr>
                        <a:t>Benefits Automatically Included In Your Plan,                                                                 At NO Additional Cost To You!</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en-US"/>
                    </a:p>
                  </a:txBody>
                  <a:tcPr>
                    <a:lnL w="25400" cap="flat" cmpd="dbl" algn="ctr">
                      <a:solidFill>
                        <a:srgbClr val="000000"/>
                      </a:solidFill>
                      <a:prstDash val="solid"/>
                      <a:round/>
                      <a:headEnd type="none" w="med" len="med"/>
                      <a:tailEnd type="none" w="med" len="med"/>
                    </a:ln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gridSpan="2">
                  <a:txBody>
                    <a:bodyPr/>
                    <a:lstStyle/>
                    <a:p>
                      <a:pPr algn="ctr" rtl="0" fontAlgn="ctr"/>
                      <a:r>
                        <a:rPr lang="en-US" sz="1100" b="1" i="0" u="none" strike="noStrike">
                          <a:solidFill>
                            <a:srgbClr val="000000"/>
                          </a:solidFill>
                          <a:effectLst/>
                          <a:latin typeface="Montserrat" panose="00000500000000000000" pitchFamily="2" charset="0"/>
                        </a:rPr>
                        <a:t>CLAIM EXAMPLE:     Heart Attack, with Surgery</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rgbClr val="BFBFBF"/>
                    </a:solidFill>
                  </a:tcPr>
                </a:tc>
                <a:tc hMerge="1">
                  <a:txBody>
                    <a:bodyPr/>
                    <a:lstStyle/>
                    <a:p>
                      <a:endParaRPr lang="en-US"/>
                    </a:p>
                  </a:txBody>
                  <a:tcPr>
                    <a:lnL w="25400" cap="flat" cmpd="dbl" algn="ctr">
                      <a:solidFill>
                        <a:srgbClr val="000000"/>
                      </a:solidFill>
                      <a:prstDash val="solid"/>
                      <a:round/>
                      <a:headEnd type="none" w="med" len="med"/>
                      <a:tailEnd type="none" w="med" len="med"/>
                    </a:lnL>
                  </a:tcPr>
                </a:tc>
                <a:extLst>
                  <a:ext uri="{0D108BD9-81ED-4DB2-BD59-A6C34878D82A}">
                    <a16:rowId xmlns:a16="http://schemas.microsoft.com/office/drawing/2014/main" val="2531598024"/>
                  </a:ext>
                </a:extLst>
              </a:tr>
              <a:tr h="349758">
                <a:tc>
                  <a:txBody>
                    <a:bodyPr/>
                    <a:lstStyle/>
                    <a:p>
                      <a:pPr algn="r" rtl="0" fontAlgn="ctr"/>
                      <a:r>
                        <a:rPr lang="en-US" sz="1150" b="0" i="0" u="none" strike="noStrike">
                          <a:solidFill>
                            <a:srgbClr val="000000"/>
                          </a:solidFill>
                          <a:effectLst/>
                          <a:latin typeface="Montserrat" panose="00000500000000000000" pitchFamily="2" charset="0"/>
                        </a:rPr>
                        <a:t>Single</a:t>
                      </a:r>
                    </a:p>
                  </a:txBody>
                  <a:tcPr marL="7133" marR="64200"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$2,500 </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US" sz="1150" b="1" i="0" u="none" strike="noStrike">
                          <a:solidFill>
                            <a:srgbClr val="000000"/>
                          </a:solidFill>
                          <a:effectLst/>
                          <a:latin typeface="Montserrat" panose="00000500000000000000" pitchFamily="2" charset="0"/>
                        </a:rPr>
                        <a:t> Preferred Hospital Stay</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5  Days at $500 /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OP Radiology/X-Ray</a:t>
                      </a: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r>
                        <a:rPr lang="en-US" sz="1100" b="0" i="0" u="none" strike="noStrike">
                          <a:solidFill>
                            <a:srgbClr val="000000"/>
                          </a:solidFill>
                          <a:effectLst/>
                          <a:latin typeface="Montserrat" panose="00000500000000000000" pitchFamily="2" charset="0"/>
                        </a:rPr>
                        <a:t>$200 </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w="12700" cmpd="sng">
                      <a:noFill/>
                      <a:prstDash val="solid"/>
                    </a:lnT>
                    <a:lnB>
                      <a:noFill/>
                    </a:lnB>
                    <a:lnTlToBr w="12700" cmpd="sng">
                      <a:noFill/>
                      <a:prstDash val="solid"/>
                    </a:lnTlToBr>
                    <a:lnBlToTr w="12700" cmpd="sng">
                      <a:noFill/>
                      <a:prstDash val="solid"/>
                    </a:lnBlToTr>
                    <a:solidFill>
                      <a:srgbClr val="E7E7E7"/>
                    </a:solidFill>
                  </a:tcPr>
                </a:tc>
                <a:extLst>
                  <a:ext uri="{0D108BD9-81ED-4DB2-BD59-A6C34878D82A}">
                    <a16:rowId xmlns:a16="http://schemas.microsoft.com/office/drawing/2014/main" val="1804750250"/>
                  </a:ext>
                </a:extLst>
              </a:tr>
              <a:tr h="349758">
                <a:tc>
                  <a:txBody>
                    <a:bodyPr/>
                    <a:lstStyle/>
                    <a:p>
                      <a:pPr algn="r" rtl="0" fontAlgn="ctr"/>
                      <a:r>
                        <a:rPr lang="en-US" sz="1150" b="0" i="0" u="none" strike="noStrike">
                          <a:solidFill>
                            <a:srgbClr val="000000"/>
                          </a:solidFill>
                          <a:effectLst/>
                          <a:latin typeface="Montserrat" panose="00000500000000000000" pitchFamily="2" charset="0"/>
                        </a:rPr>
                        <a:t>Family</a:t>
                      </a:r>
                    </a:p>
                  </a:txBody>
                  <a:tcPr marL="7133" marR="64200"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7E7"/>
                    </a:solidFill>
                  </a:tcPr>
                </a:tc>
                <a:tc>
                  <a:txBody>
                    <a:bodyPr/>
                    <a:lstStyle/>
                    <a:p>
                      <a:pPr algn="ctr" rtl="0" fontAlgn="ctr"/>
                      <a:r>
                        <a:rPr lang="en-US" sz="1150" b="0" i="0" u="none" strike="noStrike">
                          <a:solidFill>
                            <a:srgbClr val="000000"/>
                          </a:solidFill>
                          <a:effectLst/>
                          <a:latin typeface="Montserrat" panose="00000500000000000000" pitchFamily="2" charset="0"/>
                        </a:rPr>
                        <a:t>$3,500 </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7E7"/>
                    </a:solidFill>
                  </a:tcPr>
                </a:tc>
                <a:tc>
                  <a:txBody>
                    <a:bodyPr/>
                    <a:lstStyle/>
                    <a:p>
                      <a:pPr algn="r" rtl="0" fontAlgn="ctr"/>
                      <a:r>
                        <a:rPr lang="en-US" sz="1150" b="1" i="0" u="none" strike="noStrike">
                          <a:solidFill>
                            <a:srgbClr val="000000"/>
                          </a:solidFill>
                          <a:effectLst/>
                          <a:latin typeface="Montserrat" panose="00000500000000000000" pitchFamily="2" charset="0"/>
                        </a:rPr>
                        <a:t> Non-Preferred Hospital Stay</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rtl="0" fontAlgn="ctr"/>
                      <a:r>
                        <a:rPr lang="en-US" sz="1150" b="0" i="0" u="none" strike="noStrike">
                          <a:solidFill>
                            <a:srgbClr val="000000"/>
                          </a:solidFill>
                          <a:effectLst/>
                          <a:latin typeface="Montserrat" panose="00000500000000000000" pitchFamily="2" charset="0"/>
                        </a:rPr>
                        <a:t>1 Day at $50 /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OP Diagnostic Labs</a:t>
                      </a: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algn="ctr" rtl="0" fontAlgn="ctr"/>
                      <a:r>
                        <a:rPr lang="en-US" sz="1100" b="0" i="0" u="none" strike="noStrike">
                          <a:solidFill>
                            <a:srgbClr val="000000"/>
                          </a:solidFill>
                          <a:effectLst/>
                          <a:latin typeface="Montserrat" panose="00000500000000000000" pitchFamily="2" charset="0"/>
                        </a:rPr>
                        <a:t>$100 </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4252238380"/>
                  </a:ext>
                </a:extLst>
              </a:tr>
              <a:tr h="349758">
                <a:tc>
                  <a:txBody>
                    <a:bodyPr/>
                    <a:lstStyle/>
                    <a:p>
                      <a:pPr algn="r" rtl="0" fontAlgn="ctr"/>
                      <a:r>
                        <a:rPr lang="en-US" sz="1150" b="1" i="0" u="none" strike="noStrike">
                          <a:solidFill>
                            <a:srgbClr val="000000"/>
                          </a:solidFill>
                          <a:effectLst/>
                          <a:latin typeface="Montserrat" panose="00000500000000000000" pitchFamily="2" charset="0"/>
                        </a:rPr>
                        <a:t>Coinsurance</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80% / 20%</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lang="en-US" sz="1150" b="1" i="0" u="none" strike="noStrike">
                          <a:solidFill>
                            <a:srgbClr val="000000"/>
                          </a:solidFill>
                          <a:effectLst/>
                          <a:latin typeface="Montserrat" panose="00000500000000000000" pitchFamily="2" charset="0"/>
                        </a:rPr>
                        <a:t> OP Surgery</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50" b="0" i="0" u="none" strike="noStrike">
                          <a:solidFill>
                            <a:srgbClr val="000000"/>
                          </a:solidFill>
                          <a:effectLst/>
                          <a:latin typeface="Montserrat" panose="00000500000000000000" pitchFamily="2" charset="0"/>
                        </a:rPr>
                        <a:t>$700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Preferred Hospital Stay, </a:t>
                      </a:r>
                    </a:p>
                    <a:p>
                      <a:pPr algn="r" rtl="0" fontAlgn="ctr"/>
                      <a:r>
                        <a:rPr lang="en-US" sz="1100" b="1" i="0" u="none" strike="noStrike">
                          <a:solidFill>
                            <a:srgbClr val="000000"/>
                          </a:solidFill>
                          <a:effectLst/>
                          <a:latin typeface="Montserrat" panose="00000500000000000000" pitchFamily="2" charset="0"/>
                        </a:rPr>
                        <a:t>5 Days at $500/Day</a:t>
                      </a: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a:noFill/>
                    </a:lnB>
                    <a:lnTlToBr w="12700" cmpd="sng">
                      <a:noFill/>
                      <a:prstDash val="solid"/>
                    </a:lnTlToBr>
                    <a:lnBlToTr w="12700" cmpd="sng">
                      <a:noFill/>
                      <a:prstDash val="solid"/>
                    </a:lnBlToTr>
                    <a:solidFill>
                      <a:srgbClr val="E7E7E7"/>
                    </a:solidFill>
                  </a:tcPr>
                </a:tc>
                <a:tc>
                  <a:txBody>
                    <a:bodyPr/>
                    <a:lstStyle/>
                    <a:p>
                      <a:pPr algn="ctr" rtl="0" fontAlgn="ctr"/>
                      <a:r>
                        <a:rPr lang="en-US" sz="1100" b="0" i="0" u="none" strike="noStrike">
                          <a:solidFill>
                            <a:srgbClr val="000000"/>
                          </a:solidFill>
                          <a:effectLst/>
                          <a:latin typeface="Montserrat" panose="00000500000000000000" pitchFamily="2" charset="0"/>
                        </a:rPr>
                        <a:t>$2,500</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rgbClr val="E7E7E7"/>
                    </a:solidFill>
                  </a:tcPr>
                </a:tc>
                <a:extLst>
                  <a:ext uri="{0D108BD9-81ED-4DB2-BD59-A6C34878D82A}">
                    <a16:rowId xmlns:a16="http://schemas.microsoft.com/office/drawing/2014/main" val="3703207580"/>
                  </a:ext>
                </a:extLst>
              </a:tr>
              <a:tr h="349758">
                <a:tc gridSpan="2">
                  <a:txBody>
                    <a:bodyPr/>
                    <a:lstStyle/>
                    <a:p>
                      <a:pPr algn="ctr" rtl="0" fontAlgn="b"/>
                      <a:r>
                        <a:rPr lang="en-US" sz="1150" b="1" i="0" u="none" strike="noStrike">
                          <a:solidFill>
                            <a:srgbClr val="000000"/>
                          </a:solidFill>
                          <a:effectLst/>
                          <a:latin typeface="Montserrat" panose="00000500000000000000" pitchFamily="2" charset="0"/>
                        </a:rPr>
                        <a:t>Maximum Out-of-Pocket</a:t>
                      </a: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hMerge="1">
                  <a:txBody>
                    <a:bodyPr/>
                    <a:lstStyle/>
                    <a:p>
                      <a:endParaRPr lang="en-US"/>
                    </a:p>
                  </a:txBody>
                  <a:tcPr>
                    <a:lnL w="6350" cap="flat" cmpd="sng" algn="ctr">
                      <a:solidFill>
                        <a:srgbClr val="000000"/>
                      </a:solidFill>
                      <a:prstDash val="solid"/>
                      <a:round/>
                      <a:headEnd type="none" w="med" len="med"/>
                      <a:tailEnd type="none" w="med" len="med"/>
                    </a:lnL>
                    <a:lnT w="6350" cap="flat" cmpd="sng" algn="ctr">
                      <a:solidFill>
                        <a:srgbClr val="000000"/>
                      </a:solidFill>
                      <a:prstDash val="solid"/>
                      <a:round/>
                      <a:headEnd type="none" w="med" len="med"/>
                      <a:tailEnd type="none" w="med" len="med"/>
                    </a:lnT>
                  </a:tcPr>
                </a:tc>
                <a:tc>
                  <a:txBody>
                    <a:bodyPr/>
                    <a:lstStyle/>
                    <a:p>
                      <a:pPr algn="r" rtl="0" fontAlgn="ctr"/>
                      <a:r>
                        <a:rPr lang="en-US" sz="1150" b="1" i="0" u="none" strike="noStrike">
                          <a:solidFill>
                            <a:srgbClr val="000000"/>
                          </a:solidFill>
                          <a:effectLst/>
                          <a:latin typeface="Montserrat" panose="00000500000000000000" pitchFamily="2" charset="0"/>
                        </a:rPr>
                        <a:t> OP Anesthesia</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rtl="0" fontAlgn="ctr"/>
                      <a:r>
                        <a:rPr lang="en-US" sz="1150" b="0" i="0" u="none" strike="noStrike">
                          <a:solidFill>
                            <a:srgbClr val="000000"/>
                          </a:solidFill>
                          <a:effectLst/>
                          <a:latin typeface="Montserrat" panose="00000500000000000000" pitchFamily="2" charset="0"/>
                        </a:rPr>
                        <a:t>$250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Critical Illness</a:t>
                      </a:r>
                      <a:r>
                        <a:rPr lang="en-US" sz="1100" b="0" i="0" u="none" strike="noStrike">
                          <a:solidFill>
                            <a:srgbClr val="000000"/>
                          </a:solidFill>
                          <a:effectLst/>
                          <a:latin typeface="Montserrat" panose="00000500000000000000" pitchFamily="2" charset="0"/>
                        </a:rPr>
                        <a:t>   (Heart Attack Benefit)</a:t>
                      </a:r>
                      <a:endParaRPr lang="en-US" sz="1100" b="1" i="0" u="none" strike="noStrike">
                        <a:solidFill>
                          <a:srgbClr val="000000"/>
                        </a:solidFill>
                        <a:effectLst/>
                        <a:latin typeface="Montserrat" panose="00000500000000000000" pitchFamily="2" charset="0"/>
                      </a:endParaRP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algn="ctr" rtl="0" fontAlgn="ctr"/>
                      <a:r>
                        <a:rPr lang="en-US" sz="1100" b="0" i="0" u="none" strike="noStrike">
                          <a:solidFill>
                            <a:srgbClr val="000000"/>
                          </a:solidFill>
                          <a:effectLst/>
                          <a:latin typeface="Montserrat" panose="00000500000000000000" pitchFamily="2" charset="0"/>
                        </a:rPr>
                        <a:t>$2,000 </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3325680797"/>
                  </a:ext>
                </a:extLst>
              </a:tr>
              <a:tr h="349758">
                <a:tc>
                  <a:txBody>
                    <a:bodyPr/>
                    <a:lstStyle/>
                    <a:p>
                      <a:pPr algn="r" rtl="0" fontAlgn="ctr"/>
                      <a:r>
                        <a:rPr lang="en-US" sz="1150" b="0" i="0" u="none" strike="noStrike">
                          <a:solidFill>
                            <a:srgbClr val="000000"/>
                          </a:solidFill>
                          <a:effectLst/>
                          <a:latin typeface="Montserrat" panose="00000500000000000000" pitchFamily="2" charset="0"/>
                        </a:rPr>
                        <a:t>Single</a:t>
                      </a:r>
                    </a:p>
                  </a:txBody>
                  <a:tcPr marL="7133" marR="64200"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$3,500 </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r>
                        <a:rPr lang="en-US" sz="1150" b="1" i="0" u="none" strike="noStrike">
                          <a:solidFill>
                            <a:srgbClr val="000000"/>
                          </a:solidFill>
                          <a:effectLst/>
                          <a:latin typeface="Montserrat" panose="00000500000000000000" pitchFamily="2" charset="0"/>
                        </a:rPr>
                        <a:t> OP Radiology/X-Ray</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50" b="0" i="0" u="none" strike="noStrike">
                          <a:solidFill>
                            <a:srgbClr val="000000"/>
                          </a:solidFill>
                          <a:effectLst/>
                          <a:latin typeface="Montserrat" panose="00000500000000000000" pitchFamily="2" charset="0"/>
                        </a:rPr>
                        <a:t>$200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b"/>
                      <a:r>
                        <a:rPr lang="en-US" sz="1100" b="1" i="0" u="none" strike="noStrike">
                          <a:solidFill>
                            <a:srgbClr val="000000"/>
                          </a:solidFill>
                          <a:effectLst/>
                          <a:latin typeface="Montserrat" panose="00000500000000000000" pitchFamily="2" charset="0"/>
                        </a:rPr>
                        <a:t>Health Screening Benefit</a:t>
                      </a:r>
                      <a:r>
                        <a:rPr lang="en-US" sz="1100" b="0" i="0" u="none" strike="noStrike">
                          <a:solidFill>
                            <a:srgbClr val="000000"/>
                          </a:solidFill>
                          <a:effectLst/>
                          <a:latin typeface="Montserrat" panose="00000500000000000000" pitchFamily="2" charset="0"/>
                        </a:rPr>
                        <a:t> (Stress-Test)</a:t>
                      </a:r>
                      <a:endParaRPr lang="en-US" sz="1100" b="1" i="0" u="none" strike="noStrike">
                        <a:solidFill>
                          <a:srgbClr val="000000"/>
                        </a:solidFill>
                        <a:effectLst/>
                        <a:latin typeface="Montserrat" panose="00000500000000000000" pitchFamily="2" charset="0"/>
                      </a:endParaRP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7E7E7"/>
                    </a:solidFill>
                  </a:tcPr>
                </a:tc>
                <a:tc>
                  <a:txBody>
                    <a:bodyPr/>
                    <a:lstStyle/>
                    <a:p>
                      <a:pPr algn="ctr" rtl="0" fontAlgn="ctr"/>
                      <a:r>
                        <a:rPr lang="en-US" sz="1100" b="0" i="0" u="none" strike="noStrike">
                          <a:solidFill>
                            <a:srgbClr val="000000"/>
                          </a:solidFill>
                          <a:effectLst/>
                          <a:latin typeface="Montserrat" panose="00000500000000000000" pitchFamily="2" charset="0"/>
                        </a:rPr>
                        <a:t>$125</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7E7E7"/>
                    </a:solidFill>
                  </a:tcPr>
                </a:tc>
                <a:extLst>
                  <a:ext uri="{0D108BD9-81ED-4DB2-BD59-A6C34878D82A}">
                    <a16:rowId xmlns:a16="http://schemas.microsoft.com/office/drawing/2014/main" val="3266247627"/>
                  </a:ext>
                </a:extLst>
              </a:tr>
              <a:tr h="349758">
                <a:tc>
                  <a:txBody>
                    <a:bodyPr/>
                    <a:lstStyle/>
                    <a:p>
                      <a:pPr algn="r" rtl="0" fontAlgn="ctr"/>
                      <a:r>
                        <a:rPr lang="en-US" sz="1150" b="0" i="0" u="none" strike="noStrike">
                          <a:solidFill>
                            <a:srgbClr val="000000"/>
                          </a:solidFill>
                          <a:effectLst/>
                          <a:latin typeface="Montserrat" panose="00000500000000000000" pitchFamily="2" charset="0"/>
                        </a:rPr>
                        <a:t>Family</a:t>
                      </a:r>
                    </a:p>
                  </a:txBody>
                  <a:tcPr marL="7133" marR="64200"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ctr"/>
                      <a:r>
                        <a:rPr lang="en-US" sz="1150" b="0" i="0" u="none" strike="noStrike">
                          <a:solidFill>
                            <a:srgbClr val="000000"/>
                          </a:solidFill>
                          <a:effectLst/>
                          <a:latin typeface="Montserrat" panose="00000500000000000000" pitchFamily="2" charset="0"/>
                        </a:rPr>
                        <a:t>$7,000</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r" rtl="0" fontAlgn="ctr"/>
                      <a:r>
                        <a:rPr lang="en-US" sz="1150" b="1" i="0" u="none" strike="noStrike">
                          <a:solidFill>
                            <a:srgbClr val="000000"/>
                          </a:solidFill>
                          <a:effectLst/>
                          <a:latin typeface="Montserrat" panose="00000500000000000000" pitchFamily="2" charset="0"/>
                        </a:rPr>
                        <a:t> OP Diagnostic Labs</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ctr"/>
                      <a:r>
                        <a:rPr lang="en-US" sz="1150" b="0" i="0" u="none" strike="noStrike">
                          <a:solidFill>
                            <a:srgbClr val="000000"/>
                          </a:solidFill>
                          <a:effectLst/>
                          <a:latin typeface="Montserrat" panose="00000500000000000000" pitchFamily="2" charset="0"/>
                        </a:rPr>
                        <a:t>$100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b"/>
                      <a:r>
                        <a:rPr lang="en-US" sz="1100" b="1" i="0" u="none" strike="noStrike">
                          <a:solidFill>
                            <a:srgbClr val="000000"/>
                          </a:solidFill>
                          <a:effectLst/>
                          <a:latin typeface="Montserrat" panose="00000500000000000000" pitchFamily="2" charset="0"/>
                        </a:rPr>
                        <a:t>Wellness Benefit </a:t>
                      </a:r>
                      <a:r>
                        <a:rPr lang="en-US" sz="1100" b="0" i="0" u="none" strike="noStrike">
                          <a:solidFill>
                            <a:srgbClr val="000000"/>
                          </a:solidFill>
                          <a:effectLst/>
                          <a:latin typeface="Montserrat" panose="00000500000000000000" pitchFamily="2" charset="0"/>
                        </a:rPr>
                        <a:t>(Telephonic Coaching)</a:t>
                      </a: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1100" b="0" i="0" u="none" strike="noStrike">
                          <a:solidFill>
                            <a:srgbClr val="000000"/>
                          </a:solidFill>
                          <a:effectLst/>
                          <a:latin typeface="Montserrat" panose="00000500000000000000" pitchFamily="2" charset="0"/>
                        </a:rPr>
                        <a:t>$125</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74367116"/>
                  </a:ext>
                </a:extLst>
              </a:tr>
              <a:tr h="349758">
                <a:tc gridSpan="2">
                  <a:txBody>
                    <a:bodyPr/>
                    <a:lstStyle/>
                    <a:p>
                      <a:pPr algn="ctr" rtl="0" fontAlgn="ctr"/>
                      <a:r>
                        <a:rPr lang="en-US" sz="1050" b="0" i="0" u="none" strike="noStrike">
                          <a:solidFill>
                            <a:srgbClr val="000000"/>
                          </a:solidFill>
                          <a:effectLst/>
                          <a:latin typeface="Montserrat" panose="00000500000000000000" pitchFamily="2" charset="0"/>
                        </a:rPr>
                        <a:t>Chronic Disease Management Regimens of Care,   Covered at 100%</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lnL w="6350" cap="flat" cmpd="sng" algn="ctr">
                      <a:solidFill>
                        <a:srgbClr val="80808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7E7"/>
                    </a:solidFill>
                  </a:tcPr>
                </a:tc>
                <a:tc>
                  <a:txBody>
                    <a:bodyPr/>
                    <a:lstStyle/>
                    <a:p>
                      <a:pPr algn="r" fontAlgn="ctr"/>
                      <a:r>
                        <a:rPr lang="en-US" sz="1150" b="1" i="0" u="none" strike="noStrike">
                          <a:solidFill>
                            <a:srgbClr val="000000"/>
                          </a:solidFill>
                          <a:effectLst/>
                          <a:latin typeface="Montserrat" panose="00000500000000000000" pitchFamily="2" charset="0"/>
                        </a:rPr>
                        <a:t> Health Screening Benefit</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50" b="0" i="0" u="none" strike="noStrike">
                          <a:solidFill>
                            <a:srgbClr val="000000"/>
                          </a:solidFill>
                          <a:effectLst/>
                          <a:latin typeface="Montserrat" panose="00000500000000000000" pitchFamily="2" charset="0"/>
                        </a:rPr>
                        <a:t>$125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t"/>
                      <a:r>
                        <a:rPr lang="en-US" sz="1100" b="1" i="0" u="none" strike="noStrike">
                          <a:solidFill>
                            <a:srgbClr val="000000"/>
                          </a:solidFill>
                          <a:effectLst/>
                          <a:latin typeface="Montserrat" panose="00000500000000000000" pitchFamily="2" charset="0"/>
                        </a:rPr>
                        <a:t>TOTAL BONUS BENEFIT PAYABLE</a:t>
                      </a:r>
                    </a:p>
                  </a:txBody>
                  <a:tcPr marL="64200" marR="7133" marT="7133" marB="0" anchor="ctr">
                    <a:lnL w="12700" cap="flat" cmpd="sng" algn="ctr">
                      <a:solidFill>
                        <a:schemeClr val="tx1"/>
                      </a:solidFill>
                      <a:prstDash val="solid"/>
                      <a:round/>
                      <a:headEnd type="none" w="med" len="med"/>
                      <a:tailEnd type="none" w="med" len="med"/>
                    </a:lnL>
                    <a:lnR w="6350" cap="flat" cmpd="sng" algn="ctr">
                      <a:solidFill>
                        <a:srgbClr val="000000"/>
                      </a:solidFill>
                      <a:prstDash val="dot"/>
                      <a:round/>
                      <a:headEnd type="none" w="med" len="med"/>
                      <a:tailEnd type="none" w="med" len="med"/>
                    </a:lnR>
                    <a:lnT w="12700" cap="flat" cmpd="sng" algn="ctr">
                      <a:solidFill>
                        <a:schemeClr val="tx1"/>
                      </a:solidFill>
                      <a:prstDash val="solid"/>
                      <a:round/>
                      <a:headEnd type="none" w="med" len="med"/>
                      <a:tailEnd type="none" w="med" len="med"/>
                    </a:lnT>
                    <a:lnB>
                      <a:noFill/>
                    </a:lnB>
                    <a:solidFill>
                      <a:schemeClr val="bg1">
                        <a:lumMod val="85000"/>
                      </a:schemeClr>
                    </a:solidFill>
                  </a:tcPr>
                </a:tc>
                <a:tc>
                  <a:txBody>
                    <a:bodyPr/>
                    <a:lstStyle/>
                    <a:p>
                      <a:pPr algn="ctr" rtl="0" fontAlgn="ctr"/>
                      <a:r>
                        <a:rPr lang="en-US" sz="1100" b="0" i="0" u="none" strike="noStrike">
                          <a:solidFill>
                            <a:srgbClr val="000000"/>
                          </a:solidFill>
                          <a:effectLst/>
                          <a:latin typeface="Montserrat" panose="00000500000000000000" pitchFamily="2" charset="0"/>
                        </a:rPr>
                        <a:t>$5,050</a:t>
                      </a:r>
                    </a:p>
                  </a:txBody>
                  <a:tcPr marL="7133" marR="7133" marT="7133" marB="0" anchor="ctr">
                    <a:lnL w="6350" cap="flat" cmpd="sng" algn="ctr">
                      <a:solidFill>
                        <a:srgbClr val="000000"/>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chemeClr val="bg1">
                        <a:lumMod val="85000"/>
                      </a:schemeClr>
                    </a:solidFill>
                  </a:tcPr>
                </a:tc>
                <a:extLst>
                  <a:ext uri="{0D108BD9-81ED-4DB2-BD59-A6C34878D82A}">
                    <a16:rowId xmlns:a16="http://schemas.microsoft.com/office/drawing/2014/main" val="1559647697"/>
                  </a:ext>
                </a:extLst>
              </a:tr>
              <a:tr h="393475">
                <a:tc gridSpan="2">
                  <a:txBody>
                    <a:bodyPr/>
                    <a:lstStyle/>
                    <a:p>
                      <a:pPr algn="ctr" rtl="0" fontAlgn="ctr"/>
                      <a:r>
                        <a:rPr lang="en-US" sz="1050" b="0" i="0" u="none" strike="noStrike">
                          <a:solidFill>
                            <a:srgbClr val="000000"/>
                          </a:solidFill>
                          <a:effectLst/>
                          <a:latin typeface="Montserrat" panose="00000500000000000000" pitchFamily="2" charset="0"/>
                        </a:rPr>
                        <a:t>Healthcare Specific, Interest Free Credit Card to Cover Out-of-Pocket Costs </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hMerge="1">
                  <a:txBody>
                    <a:bodyPr/>
                    <a:lstStyle/>
                    <a:p>
                      <a:endParaRPr lang="en-US"/>
                    </a:p>
                  </a:txBody>
                  <a:tcPr>
                    <a:lnL w="6350" cap="flat" cmpd="sng" algn="ctr">
                      <a:solidFill>
                        <a:srgbClr val="000000"/>
                      </a:solidFill>
                      <a:prstDash val="solid"/>
                      <a:round/>
                      <a:headEnd type="none" w="med" len="med"/>
                      <a:tailEnd type="none" w="med" len="med"/>
                    </a:lnL>
                    <a:lnT w="6350" cap="flat" cmpd="sng" algn="ctr">
                      <a:solidFill>
                        <a:srgbClr val="000000"/>
                      </a:solidFill>
                      <a:prstDash val="solid"/>
                      <a:round/>
                      <a:headEnd type="none" w="med" len="med"/>
                      <a:tailEnd type="none" w="med" len="med"/>
                    </a:lnT>
                  </a:tcPr>
                </a:tc>
                <a:tc>
                  <a:txBody>
                    <a:bodyPr/>
                    <a:lstStyle/>
                    <a:p>
                      <a:pPr algn="r" rtl="0" fontAlgn="ctr"/>
                      <a:r>
                        <a:rPr lang="en-US" sz="1150" b="1" i="0" u="none" strike="noStrike">
                          <a:solidFill>
                            <a:srgbClr val="000000"/>
                          </a:solidFill>
                          <a:effectLst/>
                          <a:latin typeface="Montserrat" panose="00000500000000000000" pitchFamily="2" charset="0"/>
                        </a:rPr>
                        <a:t> Wellness Benefit</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ctr"/>
                      <a:r>
                        <a:rPr lang="en-US" sz="1150" b="0" i="0" u="none" strike="noStrike">
                          <a:solidFill>
                            <a:srgbClr val="000000"/>
                          </a:solidFill>
                          <a:effectLst/>
                          <a:latin typeface="Montserrat" panose="00000500000000000000" pitchFamily="2" charset="0"/>
                        </a:rPr>
                        <a:t>$125/1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0" i="0" u="none" strike="noStrike">
                          <a:solidFill>
                            <a:srgbClr val="000000"/>
                          </a:solidFill>
                          <a:effectLst/>
                          <a:latin typeface="Montserrat" panose="00000500000000000000" pitchFamily="2" charset="0"/>
                        </a:rPr>
                        <a:t>Less Your Maximum  Out-of-Pocket Cost</a:t>
                      </a:r>
                    </a:p>
                  </a:txBody>
                  <a:tcPr marL="64200" marR="7133" marT="7133" marB="0" anchor="ctr">
                    <a:lnL w="12700" cap="flat" cmpd="sng" algn="ctr">
                      <a:solidFill>
                        <a:schemeClr val="tx1"/>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rtl="0" fontAlgn="ctr"/>
                      <a:r>
                        <a:rPr lang="en-US" sz="1100" b="1" i="0" u="none" strike="noStrike">
                          <a:solidFill>
                            <a:srgbClr val="A6192E"/>
                          </a:solidFill>
                          <a:effectLst/>
                          <a:latin typeface="Montserrat" panose="00000500000000000000" pitchFamily="2" charset="0"/>
                        </a:rPr>
                        <a:t>($3,500)</a:t>
                      </a:r>
                    </a:p>
                  </a:txBody>
                  <a:tcPr marL="7133" marR="7133" marT="7133" marB="0" anchor="ctr">
                    <a:lnL w="6350" cap="flat" cmpd="sng" algn="ctr">
                      <a:solidFill>
                        <a:srgbClr val="000000"/>
                      </a:solid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84281273"/>
                  </a:ext>
                </a:extLst>
              </a:tr>
              <a:tr h="515890">
                <a:tc rowSpan="2" gridSpan="2">
                  <a:txBody>
                    <a:bodyPr/>
                    <a:lstStyle/>
                    <a:p>
                      <a:pPr algn="l" fontAlgn="b"/>
                      <a:r>
                        <a:rPr lang="en-US" sz="1000" b="0" i="0" u="none" strike="noStrike">
                          <a:solidFill>
                            <a:srgbClr val="000000"/>
                          </a:solidFill>
                          <a:effectLst/>
                          <a:latin typeface="Montserrat" panose="00000500000000000000" pitchFamily="2" charset="0"/>
                        </a:rPr>
                        <a:t> </a:t>
                      </a:r>
                    </a:p>
                    <a:p>
                      <a:pPr algn="l" fontAlgn="b"/>
                      <a:r>
                        <a:rPr lang="en-US" sz="1000" b="0" i="0" u="none" strike="noStrike">
                          <a:solidFill>
                            <a:srgbClr val="000000"/>
                          </a:solidFill>
                          <a:effectLst/>
                          <a:latin typeface="Montserrat" panose="00000500000000000000" pitchFamily="2" charset="0"/>
                        </a:rPr>
                        <a:t> </a:t>
                      </a:r>
                    </a:p>
                    <a:p>
                      <a:pPr algn="l" fontAlgn="b"/>
                      <a:r>
                        <a:rPr lang="en-US" sz="1000" b="0" i="0" u="none" strike="noStrike">
                          <a:solidFill>
                            <a:srgbClr val="000000"/>
                          </a:solidFill>
                          <a:effectLst/>
                          <a:latin typeface="Montserrat" panose="00000500000000000000" pitchFamily="2" charset="0"/>
                        </a:rPr>
                        <a:t> </a:t>
                      </a: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hMerge="1">
                  <a:txBody>
                    <a:bodyPr/>
                    <a:lstStyle/>
                    <a:p>
                      <a:pPr algn="l" fontAlgn="b"/>
                      <a:endParaRPr lang="en-US" sz="1000" b="0" i="0" u="none" strike="noStrike">
                        <a:solidFill>
                          <a:srgbClr val="000000"/>
                        </a:solidFill>
                        <a:effectLst/>
                        <a:latin typeface="Calibri" panose="020F0502020204030204" pitchFamily="34" charset="0"/>
                      </a:endParaRPr>
                    </a:p>
                  </a:txBody>
                  <a:tcPr marL="7133" marR="7133" marT="7133" marB="0" anchor="b">
                    <a:lnL w="6350" cap="flat" cmpd="sng" algn="ctr">
                      <a:solidFill>
                        <a:srgbClr val="000000"/>
                      </a:solidFill>
                      <a:prstDash val="solid"/>
                      <a:round/>
                      <a:headEnd type="none" w="med" len="med"/>
                      <a:tailEnd type="none" w="med" len="med"/>
                    </a:lnL>
                  </a:tcPr>
                </a:tc>
                <a:tc>
                  <a:txBody>
                    <a:bodyPr/>
                    <a:lstStyle/>
                    <a:p>
                      <a:pPr algn="r" rtl="0" fontAlgn="ctr"/>
                      <a:r>
                        <a:rPr lang="en-US" sz="1150" b="1" i="0" u="none" strike="noStrike">
                          <a:solidFill>
                            <a:srgbClr val="000000"/>
                          </a:solidFill>
                          <a:effectLst/>
                          <a:latin typeface="Montserrat" panose="00000500000000000000" pitchFamily="2" charset="0"/>
                        </a:rPr>
                        <a:t> Critical Illness Benefit*</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$2,000 Lump Sum</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Additional Benefit, </a:t>
                      </a:r>
                    </a:p>
                    <a:p>
                      <a:pPr algn="r" rtl="0" fontAlgn="ctr"/>
                      <a:r>
                        <a:rPr lang="en-US" sz="1100" b="1" i="0" u="none" strike="noStrike">
                          <a:solidFill>
                            <a:srgbClr val="000000"/>
                          </a:solidFill>
                          <a:effectLst/>
                          <a:latin typeface="Montserrat" panose="00000500000000000000" pitchFamily="2" charset="0"/>
                        </a:rPr>
                        <a:t>Payable Directly to You!</a:t>
                      </a:r>
                    </a:p>
                  </a:txBody>
                  <a:tcPr marL="64200" marR="7133" marT="7133" marB="0" anchor="ctr">
                    <a:lnL w="12700" cap="flat" cmpd="sng" algn="ctr">
                      <a:solidFill>
                        <a:schemeClr val="tx1"/>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rtl="0" fontAlgn="ctr"/>
                      <a:r>
                        <a:rPr lang="en-US" sz="1100" b="1" i="0" u="none" strike="noStrike">
                          <a:solidFill>
                            <a:srgbClr val="000000"/>
                          </a:solidFill>
                          <a:effectLst/>
                          <a:latin typeface="Montserrat" panose="00000500000000000000" pitchFamily="2" charset="0"/>
                        </a:rPr>
                        <a:t>$1,550!</a:t>
                      </a:r>
                    </a:p>
                  </a:txBody>
                  <a:tcPr marL="7133" marR="7133" marT="7133" marB="0" anchor="ctr">
                    <a:lnL w="6350" cap="flat" cmpd="sng" algn="ctr">
                      <a:solidFill>
                        <a:srgbClr val="000000"/>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610967084"/>
                  </a:ext>
                </a:extLst>
              </a:tr>
              <a:tr h="349758">
                <a:tc gridSpan="2" vMerge="1">
                  <a:txBody>
                    <a:bodyPr/>
                    <a:lstStyle/>
                    <a:p>
                      <a:endParaRPr/>
                    </a:p>
                  </a:txBody>
                  <a:tcPr marL="7133" marR="7133" marT="7133" marB="0" anchor="b">
                    <a:lnL w="25400" cap="flat" cmpd="dbl"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hMerge="1" vMerge="1">
                  <a:txBody>
                    <a:bodyPr/>
                    <a:lstStyle/>
                    <a:p>
                      <a:endParaRPr/>
                    </a:p>
                  </a:txBody>
                  <a:tcPr marL="7133" marR="7133" marT="7133" marB="0" anchor="b">
                    <a:lnL>
                      <a:noFill/>
                    </a:lnL>
                    <a:lnR w="6350" cap="flat" cmpd="sng" algn="ctr">
                      <a:solidFill>
                        <a:srgbClr val="000000"/>
                      </a:solidFill>
                      <a:prstDash val="solid"/>
                      <a:round/>
                      <a:headEnd type="none" w="med" len="med"/>
                      <a:tailEnd type="none" w="med" len="med"/>
                    </a:lnR>
                    <a:lnB>
                      <a:noFill/>
                    </a:lnB>
                    <a:noFill/>
                  </a:tcPr>
                </a:tc>
                <a:tc gridSpan="2">
                  <a:txBody>
                    <a:bodyPr/>
                    <a:lstStyle/>
                    <a:p>
                      <a:pPr algn="ctr" fontAlgn="b"/>
                      <a:r>
                        <a:rPr lang="en-US" sz="1150" b="0" i="0" u="none" strike="noStrike">
                          <a:solidFill>
                            <a:srgbClr val="000000"/>
                          </a:solidFill>
                          <a:effectLst/>
                          <a:latin typeface="Montserrat" panose="00000500000000000000" pitchFamily="2" charset="0"/>
                        </a:rPr>
                        <a:t>*Critical Illness Benefits pays for 1st Diagnosis:  </a:t>
                      </a:r>
                    </a:p>
                    <a:p>
                      <a:pPr algn="ctr" fontAlgn="b"/>
                      <a:r>
                        <a:rPr lang="en-US" sz="1150" b="0" i="0" u="none" strike="noStrike">
                          <a:solidFill>
                            <a:srgbClr val="000000"/>
                          </a:solidFill>
                          <a:effectLst/>
                          <a:latin typeface="Montserrat" panose="00000500000000000000" pitchFamily="2" charset="0"/>
                        </a:rPr>
                        <a:t>Heart Attack, Stroke, Internal Cancer</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en-US"/>
                    </a:p>
                  </a:txBody>
                  <a:tcPr>
                    <a:lnL w="6350" cap="flat" cmpd="sng" algn="ctr">
                      <a:solidFill>
                        <a:srgbClr val="757171"/>
                      </a:solidFill>
                      <a:prstDash val="dot"/>
                      <a:round/>
                      <a:headEnd type="none" w="med" len="med"/>
                      <a:tailEnd type="none" w="med" len="med"/>
                    </a:lnL>
                    <a:lnR w="25400" cap="flat" cmpd="dbl"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a:noFill/>
                    </a:lnR>
                    <a:lnT>
                      <a:noFill/>
                    </a:lnT>
                    <a:lnB>
                      <a:noFill/>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a:noFill/>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679086056"/>
                  </a:ext>
                </a:extLst>
              </a:tr>
            </a:tbl>
          </a:graphicData>
        </a:graphic>
      </p:graphicFrame>
    </p:spTree>
    <p:extLst>
      <p:ext uri="{BB962C8B-B14F-4D97-AF65-F5344CB8AC3E}">
        <p14:creationId xmlns:p14="http://schemas.microsoft.com/office/powerpoint/2010/main" val="26057324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2">
            <a:extLst>
              <a:ext uri="{FF2B5EF4-FFF2-40B4-BE49-F238E27FC236}">
                <a16:creationId xmlns:a16="http://schemas.microsoft.com/office/drawing/2014/main" id="{6242924E-816E-0617-E717-FD91AE2D016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 y="1500695"/>
            <a:ext cx="7241309" cy="4525818"/>
          </a:xfrm>
          <a:prstGeom prst="rect">
            <a:avLst/>
          </a:prstGeom>
        </p:spPr>
      </p:pic>
      <p:sp>
        <p:nvSpPr>
          <p:cNvPr id="3" name="Title 2">
            <a:extLst>
              <a:ext uri="{FF2B5EF4-FFF2-40B4-BE49-F238E27FC236}">
                <a16:creationId xmlns:a16="http://schemas.microsoft.com/office/drawing/2014/main" id="{DD2743DB-6003-F77F-2D46-16EC76C23EA4}"/>
              </a:ext>
            </a:extLst>
          </p:cNvPr>
          <p:cNvSpPr txBox="1">
            <a:spLocks/>
          </p:cNvSpPr>
          <p:nvPr/>
        </p:nvSpPr>
        <p:spPr>
          <a:xfrm>
            <a:off x="117445" y="207689"/>
            <a:ext cx="11534623" cy="1082169"/>
          </a:xfrm>
          <a:prstGeom prst="rect">
            <a:avLst/>
          </a:prstGeom>
        </p:spPr>
        <p:txBody>
          <a:bodyPr vert="horz" lIns="91440" tIns="45720" rIns="91440" bIns="45720" rtlCol="0">
            <a:normAutofit fontScale="62500" lnSpcReduction="20000"/>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4400" b="1" i="0" u="none" strike="noStrike" kern="1200" cap="none" spc="0" normalizeH="0" baseline="0" noProof="0" dirty="0">
                <a:ln>
                  <a:noFill/>
                </a:ln>
                <a:solidFill>
                  <a:srgbClr val="00539F"/>
                </a:solidFill>
                <a:effectLst/>
                <a:uLnTx/>
                <a:uFillTx/>
                <a:latin typeface="Montserrat" panose="00000500000000000000" pitchFamily="2" charset="0"/>
                <a:ea typeface="+mj-ea"/>
                <a:cs typeface="+mj-cs"/>
              </a:rPr>
              <a:t>THE BENEFIT STEERING THE PATIENT TO Bon Secours Mercy Health</a:t>
            </a:r>
          </a:p>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3000" i="0" u="none" strike="noStrike" kern="1200" cap="none" spc="0" normalizeH="0" baseline="0" noProof="0" dirty="0">
                <a:ln>
                  <a:noFill/>
                </a:ln>
                <a:solidFill>
                  <a:srgbClr val="00539F"/>
                </a:solidFill>
                <a:effectLst/>
                <a:uLnTx/>
                <a:uFillTx/>
                <a:latin typeface="Montserrat" panose="00000500000000000000" pitchFamily="2" charset="0"/>
                <a:ea typeface="+mj-ea"/>
                <a:cs typeface="Arial" panose="020B0604020202020204" pitchFamily="34" charset="0"/>
              </a:rPr>
              <a:t>What Will this Claim Cost Me?</a:t>
            </a:r>
          </a:p>
        </p:txBody>
      </p:sp>
      <p:sp>
        <p:nvSpPr>
          <p:cNvPr id="4" name="Slide Number Placeholder 1">
            <a:extLst>
              <a:ext uri="{FF2B5EF4-FFF2-40B4-BE49-F238E27FC236}">
                <a16:creationId xmlns:a16="http://schemas.microsoft.com/office/drawing/2014/main" id="{A82E6EAB-830B-F36B-F482-0339C23492B5}"/>
              </a:ext>
            </a:extLst>
          </p:cNvPr>
          <p:cNvSpPr>
            <a:spLocks noGrp="1"/>
          </p:cNvSpPr>
          <p:nvPr>
            <p:ph type="sldNum" sz="quarter" idx="12"/>
          </p:nvPr>
        </p:nvSpPr>
        <p:spPr>
          <a:xfrm>
            <a:off x="8960395" y="633560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28FB93-0A08-4E7D-8E63-9EFA29F1E093}"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pic>
        <p:nvPicPr>
          <p:cNvPr id="5" name="Picture 14">
            <a:extLst>
              <a:ext uri="{FF2B5EF4-FFF2-40B4-BE49-F238E27FC236}">
                <a16:creationId xmlns:a16="http://schemas.microsoft.com/office/drawing/2014/main" id="{18EE2CCA-91EC-8D14-02DB-5622F72597A9}"/>
              </a:ext>
            </a:extLst>
          </p:cNvPr>
          <p:cNvPicPr>
            <a:picLocks noChangeAspect="1"/>
          </p:cNvPicPr>
          <p:nvPr/>
        </p:nvPicPr>
        <p:blipFill>
          <a:blip r:embed="rId4"/>
          <a:stretch>
            <a:fillRect/>
          </a:stretch>
        </p:blipFill>
        <p:spPr>
          <a:xfrm>
            <a:off x="215573" y="6356350"/>
            <a:ext cx="2125097" cy="463658"/>
          </a:xfrm>
          <a:prstGeom prst="rect">
            <a:avLst/>
          </a:prstGeom>
        </p:spPr>
      </p:pic>
      <p:sp>
        <p:nvSpPr>
          <p:cNvPr id="6" name="Freeform 15">
            <a:extLst>
              <a:ext uri="{FF2B5EF4-FFF2-40B4-BE49-F238E27FC236}">
                <a16:creationId xmlns:a16="http://schemas.microsoft.com/office/drawing/2014/main" id="{1E58FADC-8A75-0ED5-B025-55AFCAF82465}"/>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7" name="Rectangle 10">
            <a:extLst>
              <a:ext uri="{FF2B5EF4-FFF2-40B4-BE49-F238E27FC236}">
                <a16:creationId xmlns:a16="http://schemas.microsoft.com/office/drawing/2014/main" id="{4B00F08C-D58D-B160-274C-358241C0A9BA}"/>
              </a:ext>
            </a:extLst>
          </p:cNvPr>
          <p:cNvSpPr/>
          <p:nvPr/>
        </p:nvSpPr>
        <p:spPr>
          <a:xfrm>
            <a:off x="8037505" y="1852181"/>
            <a:ext cx="3737727" cy="3975527"/>
          </a:xfrm>
          <a:prstGeom prst="rect">
            <a:avLst/>
          </a:prstGeom>
          <a:solidFill>
            <a:schemeClr val="bg1"/>
          </a:solidFill>
          <a:ln w="9525">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pic>
        <p:nvPicPr>
          <p:cNvPr id="8" name="Picture 16">
            <a:extLst>
              <a:ext uri="{FF2B5EF4-FFF2-40B4-BE49-F238E27FC236}">
                <a16:creationId xmlns:a16="http://schemas.microsoft.com/office/drawing/2014/main" id="{5AC4AED8-CD54-569B-E7E6-AF890B69A915}"/>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8122899" y="1981860"/>
            <a:ext cx="1197168" cy="261201"/>
          </a:xfrm>
          <a:prstGeom prst="rect">
            <a:avLst/>
          </a:prstGeom>
        </p:spPr>
      </p:pic>
      <p:pic>
        <p:nvPicPr>
          <p:cNvPr id="9" name="Picture 1">
            <a:extLst>
              <a:ext uri="{FF2B5EF4-FFF2-40B4-BE49-F238E27FC236}">
                <a16:creationId xmlns:a16="http://schemas.microsoft.com/office/drawing/2014/main" id="{77CEF25D-7C3B-E3B1-4CB8-566FCA777CFA}"/>
              </a:ext>
            </a:extLst>
          </p:cNvPr>
          <p:cNvPicPr>
            <a:picLocks noChangeAspect="1"/>
          </p:cNvPicPr>
          <p:nvPr/>
        </p:nvPicPr>
        <p:blipFill>
          <a:blip r:embed="rId6"/>
          <a:stretch>
            <a:fillRect/>
          </a:stretch>
        </p:blipFill>
        <p:spPr>
          <a:xfrm>
            <a:off x="8122899" y="2243061"/>
            <a:ext cx="3600450" cy="3429000"/>
          </a:xfrm>
          <a:prstGeom prst="rect">
            <a:avLst/>
          </a:prstGeom>
        </p:spPr>
      </p:pic>
      <p:sp>
        <p:nvSpPr>
          <p:cNvPr id="10" name="Arrow: Pentagon 17">
            <a:extLst>
              <a:ext uri="{FF2B5EF4-FFF2-40B4-BE49-F238E27FC236}">
                <a16:creationId xmlns:a16="http://schemas.microsoft.com/office/drawing/2014/main" id="{04BF0C8D-2E38-04D3-C1BE-5EA5D09D3B9B}"/>
              </a:ext>
            </a:extLst>
          </p:cNvPr>
          <p:cNvSpPr/>
          <p:nvPr/>
        </p:nvSpPr>
        <p:spPr>
          <a:xfrm>
            <a:off x="0" y="5080000"/>
            <a:ext cx="7639406" cy="766181"/>
          </a:xfrm>
          <a:prstGeom prst="homePlate">
            <a:avLst/>
          </a:prstGeom>
          <a:solidFill>
            <a:srgbClr val="D9D9D9">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11" name="TextBox 2">
            <a:extLst>
              <a:ext uri="{FF2B5EF4-FFF2-40B4-BE49-F238E27FC236}">
                <a16:creationId xmlns:a16="http://schemas.microsoft.com/office/drawing/2014/main" id="{4D269B07-A1ED-07AD-3675-D58BFB1D18D7}"/>
              </a:ext>
            </a:extLst>
          </p:cNvPr>
          <p:cNvSpPr txBox="1"/>
          <p:nvPr/>
        </p:nvSpPr>
        <p:spPr>
          <a:xfrm>
            <a:off x="57992" y="5309201"/>
            <a:ext cx="7607355"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Bon Secours Mercy Health patients will often receive </a:t>
            </a:r>
            <a:r>
              <a:rPr kumimoji="0" lang="en-US" sz="1600" b="1"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cash</a:t>
            </a: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 </a:t>
            </a:r>
            <a:r>
              <a:rPr kumimoji="0" lang="en-US" sz="1600" b="1"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not bills </a:t>
            </a: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after care episodes!</a:t>
            </a:r>
          </a:p>
        </p:txBody>
      </p:sp>
    </p:spTree>
    <p:extLst>
      <p:ext uri="{BB962C8B-B14F-4D97-AF65-F5344CB8AC3E}">
        <p14:creationId xmlns:p14="http://schemas.microsoft.com/office/powerpoint/2010/main" val="5140314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0539F"/>
        </a:solidFill>
        <a:effectLst/>
      </p:bgPr>
    </p:bg>
    <p:spTree>
      <p:nvGrpSpPr>
        <p:cNvPr id="1" name="">
          <a:extLst>
            <a:ext uri="{FF2B5EF4-FFF2-40B4-BE49-F238E27FC236}">
              <a16:creationId xmlns:a16="http://schemas.microsoft.com/office/drawing/2014/main" id="{9C4CC002-2071-B4F4-E97B-DC9F53CE29FE}"/>
            </a:ext>
          </a:extLst>
        </p:cNvPr>
        <p:cNvGrpSpPr/>
        <p:nvPr/>
      </p:nvGrpSpPr>
      <p:grpSpPr>
        <a:xfrm>
          <a:off x="0" y="0"/>
          <a:ext cx="0" cy="0"/>
          <a:chOff x="0" y="0"/>
          <a:chExt cx="0" cy="0"/>
        </a:xfrm>
      </p:grpSpPr>
      <p:pic>
        <p:nvPicPr>
          <p:cNvPr id="2" name="Picture 5">
            <a:extLst>
              <a:ext uri="{FF2B5EF4-FFF2-40B4-BE49-F238E27FC236}">
                <a16:creationId xmlns:a16="http://schemas.microsoft.com/office/drawing/2014/main" id="{526E30EB-BEDD-4E13-5E8C-B6901CADE680}"/>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505920" y="0"/>
            <a:ext cx="11686080" cy="6858000"/>
          </a:xfrm>
          <a:prstGeom prst="rect">
            <a:avLst/>
          </a:prstGeom>
        </p:spPr>
      </p:pic>
      <p:sp>
        <p:nvSpPr>
          <p:cNvPr id="3" name="Rectangle 6">
            <a:extLst>
              <a:ext uri="{FF2B5EF4-FFF2-40B4-BE49-F238E27FC236}">
                <a16:creationId xmlns:a16="http://schemas.microsoft.com/office/drawing/2014/main" id="{F9EC7B3B-F0EA-B13C-D815-1424EEAA8F1E}"/>
              </a:ext>
            </a:extLst>
          </p:cNvPr>
          <p:cNvSpPr/>
          <p:nvPr/>
        </p:nvSpPr>
        <p:spPr>
          <a:xfrm>
            <a:off x="505920" y="3271520"/>
            <a:ext cx="11686080" cy="1676400"/>
          </a:xfrm>
          <a:prstGeom prst="rect">
            <a:avLst/>
          </a:prstGeom>
          <a:solidFill>
            <a:srgbClr val="F2F2F2">
              <a:alpha val="8588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Object 3">
            <a:extLst>
              <a:ext uri="{FF2B5EF4-FFF2-40B4-BE49-F238E27FC236}">
                <a16:creationId xmlns:a16="http://schemas.microsoft.com/office/drawing/2014/main" id="{2747FFAF-EF51-2AC8-5734-510419FDDDD5}"/>
              </a:ext>
            </a:extLst>
          </p:cNvPr>
          <p:cNvSpPr/>
          <p:nvPr/>
        </p:nvSpPr>
        <p:spPr>
          <a:xfrm>
            <a:off x="758880" y="3555967"/>
            <a:ext cx="11180160" cy="1152016"/>
          </a:xfrm>
          <a:prstGeom prst="rect">
            <a:avLst/>
          </a:prstGeom>
          <a:noFill/>
        </p:spPr>
        <p:txBody>
          <a:bodyPr wrap="square" lIns="0" tIns="0" rIns="0" bIns="0" rtlCol="0" anchor="t"/>
          <a:lstStyle/>
          <a:p>
            <a:pPr marL="0" marR="0" lvl="0" indent="0" algn="l" defTabSz="914400" rtl="0" eaLnBrk="1" fontAlgn="auto" latinLnBrk="0" hangingPunct="1">
              <a:lnSpc>
                <a:spcPts val="4725"/>
              </a:lnSpc>
              <a:spcBef>
                <a:spcPts val="0"/>
              </a:spcBef>
              <a:spcAft>
                <a:spcPts val="0"/>
              </a:spcAft>
              <a:buClrTx/>
              <a:buSzTx/>
              <a:buFontTx/>
              <a:buNone/>
              <a:tabLst/>
              <a:defRPr/>
            </a:pPr>
            <a:r>
              <a:rPr kumimoji="0" lang="en-US" sz="4500" b="1" i="0" u="none" strike="noStrike" kern="0" cap="none" spc="135" normalizeH="0" baseline="0" noProof="0" dirty="0">
                <a:ln>
                  <a:noFill/>
                </a:ln>
                <a:solidFill>
                  <a:prstClr val="black"/>
                </a:solidFill>
                <a:effectLst/>
                <a:uLnTx/>
                <a:uFillTx/>
                <a:latin typeface="Montserrat" panose="00000500000000000000" pitchFamily="2" charset="0"/>
                <a:ea typeface="Jost*" pitchFamily="34" charset="-122"/>
                <a:cs typeface="Jost*" pitchFamily="34" charset="-120"/>
              </a:rPr>
              <a:t>FINANCIAL PROJECTIONS </a:t>
            </a:r>
          </a:p>
          <a:p>
            <a:pPr marL="0" marR="0" lvl="0" indent="0" algn="l" defTabSz="914400" rtl="0" eaLnBrk="1" fontAlgn="auto" latinLnBrk="0" hangingPunct="1">
              <a:lnSpc>
                <a:spcPts val="4725"/>
              </a:lnSpc>
              <a:spcBef>
                <a:spcPts val="0"/>
              </a:spcBef>
              <a:spcAft>
                <a:spcPts val="0"/>
              </a:spcAft>
              <a:buClrTx/>
              <a:buSzTx/>
              <a:buFontTx/>
              <a:buNone/>
              <a:tabLst/>
              <a:defRPr/>
            </a:pPr>
            <a:r>
              <a:rPr lang="en-US" sz="4500" b="1" kern="0" spc="135" dirty="0">
                <a:solidFill>
                  <a:prstClr val="black"/>
                </a:solidFill>
                <a:latin typeface="Montserrat" panose="00000500000000000000" pitchFamily="2" charset="0"/>
                <a:ea typeface="Jost*" pitchFamily="34" charset="-122"/>
              </a:rPr>
              <a:t>&amp; ASSUPTIONS</a:t>
            </a:r>
            <a:endParaRPr kumimoji="0" lang="en-US" sz="180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5" name="Object 4">
            <a:extLst>
              <a:ext uri="{FF2B5EF4-FFF2-40B4-BE49-F238E27FC236}">
                <a16:creationId xmlns:a16="http://schemas.microsoft.com/office/drawing/2014/main" id="{56F25943-3DBB-C716-6FB6-64E3263E213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23594" y="4707983"/>
            <a:ext cx="1904524" cy="9523"/>
          </a:xfrm>
          <a:prstGeom prst="rect">
            <a:avLst/>
          </a:prstGeom>
        </p:spPr>
      </p:pic>
    </p:spTree>
    <p:extLst>
      <p:ext uri="{BB962C8B-B14F-4D97-AF65-F5344CB8AC3E}">
        <p14:creationId xmlns:p14="http://schemas.microsoft.com/office/powerpoint/2010/main" val="1010235892"/>
      </p:ext>
    </p:extLst>
  </p:cSld>
  <p:clrMapOvr>
    <a:masterClrMapping/>
  </p:clrMapOvr>
  <p:extLst>
    <p:ext uri="{6950BFC3-D8DA-4A85-94F7-54DA5524770B}">
      <p188:commentRel xmlns:p188="http://schemas.microsoft.com/office/powerpoint/2018/8/main" r:id="rId3"/>
    </p:ext>
  </p:extLs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748BE3BD-F9EE-3EE4-860C-3826F1F8465B}"/>
              </a:ext>
            </a:extLst>
          </p:cNvPr>
          <p:cNvSpPr>
            <a:spLocks noGrp="1"/>
          </p:cNvSpPr>
          <p:nvPr>
            <p:ph type="title"/>
          </p:nvPr>
        </p:nvSpPr>
        <p:spPr>
          <a:xfrm>
            <a:off x="256162" y="192961"/>
            <a:ext cx="11824080" cy="778058"/>
          </a:xfrm>
        </p:spPr>
        <p:txBody>
          <a:bodyPr>
            <a:normAutofit/>
          </a:bodyPr>
          <a:lstStyle/>
          <a:p>
            <a:r>
              <a:rPr lang="en-US" sz="2800" dirty="0">
                <a:solidFill/>
                <a:latin typeface="Montserrat" panose="00000500000000000000" pitchFamily="2" charset="0"/>
                <a:cs typeface="Arial" panose="020B0604020202020204" pitchFamily="34" charset="0"/>
              </a:rPr>
              <a:t>ESTIMATION OF BSMH’S 2023 PAYER MIX</a:t>
            </a:r>
          </a:p>
        </p:txBody>
      </p:sp>
      <p:graphicFrame>
        <p:nvGraphicFramePr>
          <p:cNvPr id="3" name="Table 7">
            <a:extLst>
              <a:ext uri="{FF2B5EF4-FFF2-40B4-BE49-F238E27FC236}">
                <a16:creationId xmlns:a16="http://schemas.microsoft.com/office/drawing/2014/main" id="{713AD275-CC86-F2BC-8594-AECC0B66117F}"/>
              </a:ext>
            </a:extLst>
          </p:cNvPr>
          <p:cNvGraphicFramePr>
            <a:graphicFrameLocks noGrp="1"/>
          </p:cNvGraphicFramePr>
          <p:nvPr>
            <p:extLst>
              <p:ext uri="{D42A27DB-BD31-4B8C-83A1-F6EECF244321}">
                <p14:modId xmlns:p14="http://schemas.microsoft.com/office/powerpoint/2010/main" val="3580298372"/>
              </p:ext>
            </p:extLst>
          </p:nvPr>
        </p:nvGraphicFramePr>
        <p:xfrm>
          <a:off x="215572" y="1193624"/>
          <a:ext cx="5880426" cy="3562772"/>
        </p:xfrm>
        <a:graphic>
          <a:graphicData uri="http://schemas.openxmlformats.org/drawingml/2006/table">
            <a:tbl>
              <a:tblPr firstRow="1" bandRow="1">
                <a:tableStyleId>{5C22544A-7EE6-4342-B048-85BDC9FD1C3A}</a:tableStyleId>
              </a:tblPr>
              <a:tblGrid>
                <a:gridCol w="2100216">
                  <a:extLst>
                    <a:ext uri="{9D8B030D-6E8A-4147-A177-3AD203B41FA5}">
                      <a16:colId xmlns:a16="http://schemas.microsoft.com/office/drawing/2014/main" val="1990432805"/>
                    </a:ext>
                  </a:extLst>
                </a:gridCol>
                <a:gridCol w="1143559">
                  <a:extLst>
                    <a:ext uri="{9D8B030D-6E8A-4147-A177-3AD203B41FA5}">
                      <a16:colId xmlns:a16="http://schemas.microsoft.com/office/drawing/2014/main" val="2178546237"/>
                    </a:ext>
                  </a:extLst>
                </a:gridCol>
                <a:gridCol w="1413731">
                  <a:extLst>
                    <a:ext uri="{9D8B030D-6E8A-4147-A177-3AD203B41FA5}">
                      <a16:colId xmlns:a16="http://schemas.microsoft.com/office/drawing/2014/main" val="3494448363"/>
                    </a:ext>
                  </a:extLst>
                </a:gridCol>
                <a:gridCol w="1222920">
                  <a:extLst>
                    <a:ext uri="{9D8B030D-6E8A-4147-A177-3AD203B41FA5}">
                      <a16:colId xmlns:a16="http://schemas.microsoft.com/office/drawing/2014/main" val="3564552567"/>
                    </a:ext>
                  </a:extLst>
                </a:gridCol>
              </a:tblGrid>
              <a:tr h="784566">
                <a:tc>
                  <a:txBody>
                    <a:bodyPr/>
                    <a:lstStyle/>
                    <a:p>
                      <a:r>
                        <a:rPr lang="en-US" sz="1400" dirty="0">
                          <a:latin typeface="Montserrat" panose="00000500000000000000" pitchFamily="2" charset="0"/>
                        </a:rPr>
                        <a:t>Payer Group</a:t>
                      </a:r>
                    </a:p>
                  </a:txBody>
                  <a:tcPr>
                    <a:solidFill>
                      <a:srgbClr val="00539F"/>
                    </a:solidFill>
                  </a:tcPr>
                </a:tc>
                <a:tc>
                  <a:txBody>
                    <a:bodyPr/>
                    <a:lstStyle/>
                    <a:p>
                      <a:r>
                        <a:rPr lang="en-US" sz="1400" dirty="0">
                          <a:latin typeface="Montserrat" panose="00000500000000000000" pitchFamily="2" charset="0"/>
                        </a:rPr>
                        <a:t>Total Inpatient Days</a:t>
                      </a:r>
                    </a:p>
                  </a:txBody>
                  <a:tcPr>
                    <a:solidFill>
                      <a:srgbClr val="00539F"/>
                    </a:solidFill>
                  </a:tcPr>
                </a:tc>
                <a:tc>
                  <a:txBody>
                    <a:bodyPr/>
                    <a:lstStyle/>
                    <a:p>
                      <a:r>
                        <a:rPr lang="en-US" sz="1400" dirty="0">
                          <a:latin typeface="Montserrat" panose="00000500000000000000" pitchFamily="2" charset="0"/>
                        </a:rPr>
                        <a:t>Revenue</a:t>
                      </a:r>
                    </a:p>
                  </a:txBody>
                  <a:tcPr>
                    <a:solidFill>
                      <a:srgbClr val="00539F"/>
                    </a:solidFill>
                  </a:tcPr>
                </a:tc>
                <a:tc>
                  <a:txBody>
                    <a:bodyPr/>
                    <a:lstStyle/>
                    <a:p>
                      <a:r>
                        <a:rPr lang="en-US" sz="1400" dirty="0">
                          <a:latin typeface="Montserrat" panose="00000500000000000000" pitchFamily="2" charset="0"/>
                        </a:rPr>
                        <a:t>Payer Mix</a:t>
                      </a:r>
                    </a:p>
                  </a:txBody>
                  <a:tcPr>
                    <a:solidFill>
                      <a:srgbClr val="00539F"/>
                    </a:solidFill>
                  </a:tcPr>
                </a:tc>
                <a:extLst>
                  <a:ext uri="{0D108BD9-81ED-4DB2-BD59-A6C34878D82A}">
                    <a16:rowId xmlns:a16="http://schemas.microsoft.com/office/drawing/2014/main" val="1397373735"/>
                  </a:ext>
                </a:extLst>
              </a:tr>
              <a:tr h="326902">
                <a:tc>
                  <a:txBody>
                    <a:bodyPr/>
                    <a:lstStyle/>
                    <a:p>
                      <a:r>
                        <a:rPr lang="en-US" sz="1200" dirty="0">
                          <a:solidFill/>
                          <a:latin typeface="Montserrat" panose="00000500000000000000" pitchFamily="2" charset="0"/>
                        </a:rPr>
                        <a:t>All Bon Secours Mercy Health</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196,334</a:t>
                      </a:r>
                    </a:p>
                  </a:txBody>
                  <a:tcPr anchor="ct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$957,899K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100%</a:t>
                      </a:r>
                    </a:p>
                  </a:txBody>
                  <a:tcPr anchor="ctr">
                    <a:solidFill>
                      <a:schemeClr val="accent3">
                        <a:lumMod val="20000"/>
                        <a:lumOff val="80000"/>
                      </a:schemeClr>
                    </a:solidFill>
                  </a:tcPr>
                </a:tc>
                <a:extLst>
                  <a:ext uri="{0D108BD9-81ED-4DB2-BD59-A6C34878D82A}">
                    <a16:rowId xmlns:a16="http://schemas.microsoft.com/office/drawing/2014/main" val="975973942"/>
                  </a:ext>
                </a:extLst>
              </a:tr>
              <a:tr h="326902">
                <a:tc>
                  <a:txBody>
                    <a:bodyPr/>
                    <a:lstStyle/>
                    <a:p>
                      <a:r>
                        <a:rPr lang="en-US" sz="1200" dirty="0">
                          <a:latin typeface="Montserrat" panose="00000500000000000000" pitchFamily="2" charset="0"/>
                        </a:rPr>
                        <a:t>Medicare</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40,535</a:t>
                      </a:r>
                    </a:p>
                  </a:txBody>
                  <a:tcPr anchor="ctr">
                    <a:solidFill>
                      <a:schemeClr val="accent3">
                        <a:lumMod val="20000"/>
                        <a:lumOff val="80000"/>
                      </a:schemeClr>
                    </a:solidFill>
                  </a:tcPr>
                </a:tc>
                <a:tc>
                  <a:txBody>
                    <a:bodyPr/>
                    <a:lstStyle/>
                    <a:p>
                      <a:pPr algn="ctr"/>
                      <a:r>
                        <a:rPr lang="en-US" sz="1200" dirty="0">
                          <a:solidFill>
                            <a:schemeClr val="accent4">
                              <a:lumMod val="75000"/>
                            </a:schemeClr>
                          </a:solidFill>
                          <a:latin typeface="Montserrat" panose="00000500000000000000" pitchFamily="2" charset="0"/>
                        </a:rPr>
                        <a:t>$152,452K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21%</a:t>
                      </a:r>
                    </a:p>
                  </a:txBody>
                  <a:tcPr anchor="ctr">
                    <a:solidFill>
                      <a:schemeClr val="accent3">
                        <a:lumMod val="20000"/>
                        <a:lumOff val="80000"/>
                      </a:schemeClr>
                    </a:solidFill>
                  </a:tcPr>
                </a:tc>
                <a:extLst>
                  <a:ext uri="{0D108BD9-81ED-4DB2-BD59-A6C34878D82A}">
                    <a16:rowId xmlns:a16="http://schemas.microsoft.com/office/drawing/2014/main" val="1145544718"/>
                  </a:ext>
                </a:extLst>
              </a:tr>
              <a:tr h="326902">
                <a:tc>
                  <a:txBody>
                    <a:bodyPr/>
                    <a:lstStyle/>
                    <a:p>
                      <a:r>
                        <a:rPr lang="en-US" sz="1200" dirty="0">
                          <a:latin typeface="Montserrat" panose="00000500000000000000" pitchFamily="2" charset="0"/>
                        </a:rPr>
                        <a:t>Medicaid</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4,731</a:t>
                      </a:r>
                    </a:p>
                  </a:txBody>
                  <a:tcPr anchor="ctr">
                    <a:solidFill>
                      <a:schemeClr val="accent3">
                        <a:lumMod val="20000"/>
                        <a:lumOff val="80000"/>
                      </a:schemeClr>
                    </a:solidFill>
                  </a:tcPr>
                </a:tc>
                <a:tc rowSpan="2">
                  <a:txBody>
                    <a:bodyPr/>
                    <a:lstStyle/>
                    <a:p>
                      <a:pPr algn="ctr"/>
                      <a:r>
                        <a:rPr lang="en-US" sz="1200" dirty="0">
                          <a:solidFill>
                            <a:schemeClr val="accent4">
                              <a:lumMod val="75000"/>
                            </a:schemeClr>
                          </a:solidFill>
                          <a:latin typeface="Montserrat" panose="00000500000000000000" pitchFamily="2" charset="0"/>
                        </a:rPr>
                        <a:t>$145,300K</a:t>
                      </a:r>
                    </a:p>
                  </a:txBody>
                  <a:tcPr anchor="ctr">
                    <a:solidFill>
                      <a:schemeClr val="accent3">
                        <a:lumMod val="20000"/>
                        <a:lumOff val="80000"/>
                      </a:schemeClr>
                    </a:solidFill>
                  </a:tcPr>
                </a:tc>
                <a:tc rowSpan="2">
                  <a:txBody>
                    <a:bodyPr/>
                    <a:lstStyle/>
                    <a:p>
                      <a:pPr algn="ctr"/>
                      <a:r>
                        <a:rPr lang="en-US" sz="1200" dirty="0">
                          <a:solidFill>
                            <a:schemeClr val="accent2">
                              <a:lumMod val="75000"/>
                            </a:schemeClr>
                          </a:solidFill>
                          <a:latin typeface="Montserrat" panose="00000500000000000000" pitchFamily="2" charset="0"/>
                        </a:rPr>
                        <a:t>2%</a:t>
                      </a:r>
                    </a:p>
                  </a:txBody>
                  <a:tcPr anchor="ctr">
                    <a:solidFill>
                      <a:schemeClr val="accent3">
                        <a:lumMod val="20000"/>
                        <a:lumOff val="80000"/>
                      </a:schemeClr>
                    </a:solidFill>
                  </a:tcPr>
                </a:tc>
                <a:extLst>
                  <a:ext uri="{0D108BD9-81ED-4DB2-BD59-A6C34878D82A}">
                    <a16:rowId xmlns:a16="http://schemas.microsoft.com/office/drawing/2014/main" val="680733009"/>
                  </a:ext>
                </a:extLst>
              </a:tr>
              <a:tr h="555734">
                <a:tc>
                  <a:txBody>
                    <a:bodyPr/>
                    <a:lstStyle/>
                    <a:p>
                      <a:r>
                        <a:rPr lang="en-US" sz="1200" dirty="0">
                          <a:latin typeface="Montserrat" panose="00000500000000000000" pitchFamily="2" charset="0"/>
                        </a:rPr>
                        <a:t>Other Government Pay</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0</a:t>
                      </a:r>
                    </a:p>
                  </a:txBody>
                  <a:tcPr anchor="ctr">
                    <a:solidFill>
                      <a:schemeClr val="accent3">
                        <a:lumMod val="20000"/>
                        <a:lumOff val="80000"/>
                      </a:schemeClr>
                    </a:solidFill>
                  </a:tcPr>
                </a:tc>
                <a:tc vMerge="1">
                  <a:txBody>
                    <a:bodyPr/>
                    <a:lstStyle/>
                    <a:p>
                      <a:endParaRPr lang="en-US" sz="1400" dirty="0">
                        <a:solidFill>
                          <a:schemeClr val="accent2">
                            <a:lumMod val="75000"/>
                          </a:schemeClr>
                        </a:solidFill>
                      </a:endParaRPr>
                    </a:p>
                  </a:txBody>
                  <a:tcPr/>
                </a:tc>
                <a:tc vMerge="1">
                  <a:txBody>
                    <a:bodyPr/>
                    <a:lstStyle/>
                    <a:p>
                      <a:pPr algn="ctr"/>
                      <a:endParaRPr lang="en-US" sz="1400" dirty="0">
                        <a:solidFill>
                          <a:schemeClr val="accent2">
                            <a:lumMod val="75000"/>
                          </a:schemeClr>
                        </a:solidFill>
                      </a:endParaRPr>
                    </a:p>
                  </a:txBody>
                  <a:tcPr anchor="ctr">
                    <a:solidFill>
                      <a:schemeClr val="accent3">
                        <a:lumMod val="20000"/>
                        <a:lumOff val="80000"/>
                      </a:schemeClr>
                    </a:solidFill>
                  </a:tcPr>
                </a:tc>
                <a:extLst>
                  <a:ext uri="{0D108BD9-81ED-4DB2-BD59-A6C34878D82A}">
                    <a16:rowId xmlns:a16="http://schemas.microsoft.com/office/drawing/2014/main" val="194994609"/>
                  </a:ext>
                </a:extLst>
              </a:tr>
              <a:tr h="555734">
                <a:tc>
                  <a:txBody>
                    <a:bodyPr/>
                    <a:lstStyle/>
                    <a:p>
                      <a:r>
                        <a:rPr lang="en-US" sz="1200" dirty="0">
                          <a:latin typeface="Montserrat" panose="00000500000000000000" pitchFamily="2" charset="0"/>
                        </a:rPr>
                        <a:t>No-Pay, Charity Care</a:t>
                      </a:r>
                    </a:p>
                  </a:txBody>
                  <a:tcP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7,197</a:t>
                      </a:r>
                    </a:p>
                  </a:txBody>
                  <a:tcPr anchor="ct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-$37,415K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4%</a:t>
                      </a:r>
                    </a:p>
                  </a:txBody>
                  <a:tcPr anchor="ctr">
                    <a:solidFill>
                      <a:schemeClr val="accent3">
                        <a:lumMod val="20000"/>
                        <a:lumOff val="80000"/>
                      </a:schemeClr>
                    </a:solidFill>
                  </a:tcPr>
                </a:tc>
                <a:extLst>
                  <a:ext uri="{0D108BD9-81ED-4DB2-BD59-A6C34878D82A}">
                    <a16:rowId xmlns:a16="http://schemas.microsoft.com/office/drawing/2014/main" val="1248958224"/>
                  </a:ext>
                </a:extLst>
              </a:tr>
              <a:tr h="555734">
                <a:tc>
                  <a:txBody>
                    <a:bodyPr/>
                    <a:lstStyle/>
                    <a:p>
                      <a:r>
                        <a:rPr lang="en-US" sz="1200" dirty="0">
                          <a:latin typeface="Montserrat" panose="00000500000000000000" pitchFamily="2" charset="0"/>
                        </a:rPr>
                        <a:t>Commercial/Self Pay</a:t>
                      </a:r>
                    </a:p>
                  </a:txBody>
                  <a:tcP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200" dirty="0">
                          <a:solidFill>
                            <a:schemeClr val="accent2">
                              <a:lumMod val="75000"/>
                            </a:schemeClr>
                          </a:solidFill>
                          <a:latin typeface="Montserrat" panose="00000500000000000000" pitchFamily="2" charset="0"/>
                        </a:rPr>
                        <a:t>143,871</a:t>
                      </a:r>
                    </a:p>
                  </a:txBody>
                  <a:tcPr anchor="ct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200" dirty="0">
                          <a:solidFill>
                            <a:schemeClr val="accent2">
                              <a:lumMod val="75000"/>
                            </a:schemeClr>
                          </a:solidFill>
                          <a:latin typeface="Montserrat" panose="00000500000000000000" pitchFamily="2" charset="0"/>
                        </a:rPr>
                        <a:t>$659,422K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73%</a:t>
                      </a:r>
                    </a:p>
                  </a:txBody>
                  <a:tcPr anchor="ctr">
                    <a:solidFill>
                      <a:schemeClr val="accent3">
                        <a:lumMod val="20000"/>
                        <a:lumOff val="80000"/>
                      </a:schemeClr>
                    </a:solidFill>
                  </a:tcPr>
                </a:tc>
                <a:extLst>
                  <a:ext uri="{0D108BD9-81ED-4DB2-BD59-A6C34878D82A}">
                    <a16:rowId xmlns:a16="http://schemas.microsoft.com/office/drawing/2014/main" val="1058780832"/>
                  </a:ext>
                </a:extLst>
              </a:tr>
            </a:tbl>
          </a:graphicData>
        </a:graphic>
      </p:graphicFrame>
      <p:sp>
        <p:nvSpPr>
          <p:cNvPr id="4" name="TextBox 8">
            <a:extLst>
              <a:ext uri="{FF2B5EF4-FFF2-40B4-BE49-F238E27FC236}">
                <a16:creationId xmlns:a16="http://schemas.microsoft.com/office/drawing/2014/main" id="{6AC02F6F-C422-9313-946A-CD28952173F8}"/>
              </a:ext>
            </a:extLst>
          </p:cNvPr>
          <p:cNvSpPr txBox="1"/>
          <p:nvPr/>
        </p:nvSpPr>
        <p:spPr>
          <a:xfrm>
            <a:off x="6431282" y="1690688"/>
            <a:ext cx="5648960" cy="181588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Estimating Payer Mix</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Medicare, Medicaid, and other government payer mixes are estimated as the percentage of inpatient days for each group divided by total inpatient days.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No-pay and charity care is estimated as the percentage of no-pay/charity care compared to total overall revenue.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Commercial/self pay is assumed to be the rest of the total payer mix share. </a:t>
            </a:r>
          </a:p>
        </p:txBody>
      </p:sp>
      <p:sp>
        <p:nvSpPr>
          <p:cNvPr id="5" name="TextBox 10">
            <a:extLst>
              <a:ext uri="{FF2B5EF4-FFF2-40B4-BE49-F238E27FC236}">
                <a16:creationId xmlns:a16="http://schemas.microsoft.com/office/drawing/2014/main" id="{E107289D-24BF-1E88-2683-BA2979EC32B6}"/>
              </a:ext>
            </a:extLst>
          </p:cNvPr>
          <p:cNvSpPr txBox="1"/>
          <p:nvPr/>
        </p:nvSpPr>
        <p:spPr>
          <a:xfrm>
            <a:off x="6431282" y="3666233"/>
            <a:ext cx="5648960" cy="116955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Estimating Total Inpatient Days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Total inpatient days for ‘No Pay’ and ‘Commercial’ are estimated to be the payer mix estimates for “No Pay, Charity Care” and “Commercial/Self Pay” multiplied by the total number of inpatient days. </a:t>
            </a:r>
          </a:p>
        </p:txBody>
      </p:sp>
      <p:sp>
        <p:nvSpPr>
          <p:cNvPr id="6" name="TextBox 11">
            <a:extLst>
              <a:ext uri="{FF2B5EF4-FFF2-40B4-BE49-F238E27FC236}">
                <a16:creationId xmlns:a16="http://schemas.microsoft.com/office/drawing/2014/main" id="{B06F8AA7-185E-8401-4C51-579C44EE0B64}"/>
              </a:ext>
            </a:extLst>
          </p:cNvPr>
          <p:cNvSpPr txBox="1"/>
          <p:nvPr/>
        </p:nvSpPr>
        <p:spPr>
          <a:xfrm>
            <a:off x="256162" y="4945531"/>
            <a:ext cx="5161280" cy="70788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rPr>
              <a:t>Values in blue are taken from the 2022 Medicare Provider Cost Report (</a:t>
            </a: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hlinkClick r:id="rId2"/>
              </a:rPr>
              <a:t>https://data.cms.gov/provider-compliance/cost-report/hospital-provider-cost-report/data</a:t>
            </a: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endParaRPr>
          </a:p>
        </p:txBody>
      </p:sp>
      <p:sp>
        <p:nvSpPr>
          <p:cNvPr id="7" name="TextBox 12">
            <a:extLst>
              <a:ext uri="{FF2B5EF4-FFF2-40B4-BE49-F238E27FC236}">
                <a16:creationId xmlns:a16="http://schemas.microsoft.com/office/drawing/2014/main" id="{CF495B2A-50EF-4B94-1C1C-99E3DB78B211}"/>
              </a:ext>
            </a:extLst>
          </p:cNvPr>
          <p:cNvSpPr txBox="1"/>
          <p:nvPr/>
        </p:nvSpPr>
        <p:spPr>
          <a:xfrm>
            <a:off x="256162" y="5956240"/>
            <a:ext cx="5161280"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70AD47">
                    <a:lumMod val="75000"/>
                  </a:srgbClr>
                </a:solidFill>
                <a:effectLst/>
                <a:uLnTx/>
                <a:uFillTx/>
                <a:latin typeface="Montserrat" panose="00000500000000000000" pitchFamily="2" charset="0"/>
                <a:cs typeface="Arial" panose="020B0604020202020204" pitchFamily="34" charset="0"/>
              </a:rPr>
              <a:t>Total Medicare patient revenue is reported by CMS in the Medicare Provider Analysis and Review Report (</a:t>
            </a:r>
            <a:r>
              <a:rPr kumimoji="0" lang="en-US" sz="1000" b="0" i="0" u="none" strike="noStrike" kern="1200" cap="none" spc="0" normalizeH="0" baseline="0" noProof="0" dirty="0" err="1">
                <a:ln>
                  <a:noFill/>
                </a:ln>
                <a:solidFill>
                  <a:srgbClr val="70AD47">
                    <a:lumMod val="75000"/>
                  </a:srgbClr>
                </a:solidFill>
                <a:effectLst/>
                <a:uLnTx/>
                <a:uFillTx/>
                <a:latin typeface="Montserrat" panose="00000500000000000000" pitchFamily="2" charset="0"/>
                <a:cs typeface="Arial" panose="020B0604020202020204" pitchFamily="34" charset="0"/>
              </a:rPr>
              <a:t>MedPAR</a:t>
            </a:r>
            <a:r>
              <a:rPr kumimoji="0" lang="en-US" sz="1000" b="0" i="0" u="none" strike="noStrike" kern="1200" cap="none" spc="0" normalizeH="0" baseline="0" noProof="0" dirty="0">
                <a:ln>
                  <a:noFill/>
                </a:ln>
                <a:solidFill>
                  <a:srgbClr val="70AD47">
                    <a:lumMod val="75000"/>
                  </a:srgbClr>
                </a:solidFill>
                <a:effectLst/>
                <a:uLnTx/>
                <a:uFillTx/>
                <a:latin typeface="Montserrat" panose="00000500000000000000" pitchFamily="2" charset="0"/>
                <a:cs typeface="Arial" panose="020B0604020202020204" pitchFamily="34" charset="0"/>
              </a:rPr>
              <a:t>) </a:t>
            </a:r>
          </a:p>
        </p:txBody>
      </p:sp>
      <p:sp>
        <p:nvSpPr>
          <p:cNvPr id="8" name="Rectangle 16">
            <a:extLst>
              <a:ext uri="{FF2B5EF4-FFF2-40B4-BE49-F238E27FC236}">
                <a16:creationId xmlns:a16="http://schemas.microsoft.com/office/drawing/2014/main" id="{802290A3-B694-4505-9BF2-D6CD7AF07C8B}"/>
              </a:ext>
            </a:extLst>
          </p:cNvPr>
          <p:cNvSpPr/>
          <p:nvPr/>
        </p:nvSpPr>
        <p:spPr>
          <a:xfrm>
            <a:off x="6471922" y="5141881"/>
            <a:ext cx="5463916" cy="430887"/>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In other analysis, the outpatient payer mix is assumed to mirror the inpatient payer mix. </a:t>
            </a:r>
          </a:p>
        </p:txBody>
      </p:sp>
      <p:sp>
        <p:nvSpPr>
          <p:cNvPr id="9" name="TextBox 12">
            <a:extLst>
              <a:ext uri="{FF2B5EF4-FFF2-40B4-BE49-F238E27FC236}">
                <a16:creationId xmlns:a16="http://schemas.microsoft.com/office/drawing/2014/main" id="{4D7BD8F7-B0DB-8CCC-E477-F7ABE50AAD26}"/>
              </a:ext>
            </a:extLst>
          </p:cNvPr>
          <p:cNvSpPr txBox="1"/>
          <p:nvPr/>
        </p:nvSpPr>
        <p:spPr>
          <a:xfrm>
            <a:off x="256162" y="5610759"/>
            <a:ext cx="5161280"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accent4">
                    <a:lumMod val="75000"/>
                  </a:schemeClr>
                </a:solidFill>
                <a:effectLst/>
                <a:uLnTx/>
                <a:uFillTx/>
                <a:latin typeface="Montserrat" panose="00000500000000000000" pitchFamily="2" charset="0"/>
                <a:cs typeface="Arial" panose="020B0604020202020204" pitchFamily="34" charset="0"/>
              </a:rPr>
              <a:t>Values in yellow are taken from Definitive Healthcare data. </a:t>
            </a:r>
          </a:p>
        </p:txBody>
      </p:sp>
      <p:pic>
        <p:nvPicPr>
          <p:cNvPr id="10" name="Picture 6">
            <a:extLst>
              <a:ext uri="{FF2B5EF4-FFF2-40B4-BE49-F238E27FC236}">
                <a16:creationId xmlns:a16="http://schemas.microsoft.com/office/drawing/2014/main" id="{C11EDAF0-1123-B26B-1178-B59C49AECFB2}"/>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1" name="Freeform 13">
            <a:extLst>
              <a:ext uri="{FF2B5EF4-FFF2-40B4-BE49-F238E27FC236}">
                <a16:creationId xmlns:a16="http://schemas.microsoft.com/office/drawing/2014/main" id="{90441EB9-4276-01D2-F346-F76695D74F2E}"/>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8386315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13EFE-107F-C70D-DA9D-3AACDFE5F414}"/>
              </a:ext>
            </a:extLst>
          </p:cNvPr>
          <p:cNvSpPr>
            <a:spLocks noGrp="1"/>
          </p:cNvSpPr>
          <p:nvPr>
            <p:ph type="title"/>
          </p:nvPr>
        </p:nvSpPr>
        <p:spPr>
          <a:xfrm>
            <a:off x="233464" y="245858"/>
            <a:ext cx="11120338" cy="917576"/>
          </a:xfrm>
        </p:spPr>
        <p:txBody>
          <a:bodyPr>
            <a:noAutofit/>
          </a:bodyPr>
          <a:lstStyle/>
          <a:p>
            <a:r>
              <a:rPr lang="en-US" sz="3600" dirty="0">
                <a:latin typeface="Montserrat" panose="00000500000000000000" pitchFamily="2" charset="0"/>
                <a:cs typeface="Arial" panose="020B0604020202020204" pitchFamily="34" charset="0"/>
              </a:rPr>
              <a:t>ESTIMATION OF MARGIN FOR COMMERCIAL VS. GOVERNMENT PAY</a:t>
            </a:r>
          </a:p>
        </p:txBody>
      </p:sp>
      <p:sp>
        <p:nvSpPr>
          <p:cNvPr id="3" name="Content Placeholder 2">
            <a:extLst>
              <a:ext uri="{FF2B5EF4-FFF2-40B4-BE49-F238E27FC236}">
                <a16:creationId xmlns:a16="http://schemas.microsoft.com/office/drawing/2014/main" id="{47D333E6-57DF-6C19-7BCA-1AE47F6C6568}"/>
              </a:ext>
            </a:extLst>
          </p:cNvPr>
          <p:cNvSpPr>
            <a:spLocks noGrp="1"/>
          </p:cNvSpPr>
          <p:nvPr>
            <p:ph idx="1"/>
          </p:nvPr>
        </p:nvSpPr>
        <p:spPr>
          <a:xfrm>
            <a:off x="838200" y="1259094"/>
            <a:ext cx="10515600" cy="917575"/>
          </a:xfrm>
        </p:spPr>
        <p:txBody>
          <a:bodyPr>
            <a:normAutofit/>
          </a:bodyPr>
          <a:lstStyle/>
          <a:p>
            <a:pPr marL="0" indent="0">
              <a:buNone/>
            </a:pPr>
            <a:r>
              <a:rPr lang="en-US" sz="2400" dirty="0">
                <a:solidFill/>
                <a:cs typeface="Arial" panose="020B0604020202020204" pitchFamily="34" charset="0"/>
              </a:rPr>
              <a:t>The RAND data for Bon Secours Mercy Health estimates commercial insurance reimbursements at 241% of Medicare Rates</a:t>
            </a:r>
          </a:p>
        </p:txBody>
      </p:sp>
      <p:sp>
        <p:nvSpPr>
          <p:cNvPr id="4" name="Content Placeholder 2">
            <a:extLst>
              <a:ext uri="{FF2B5EF4-FFF2-40B4-BE49-F238E27FC236}">
                <a16:creationId xmlns:a16="http://schemas.microsoft.com/office/drawing/2014/main" id="{18BFBD36-1E96-1E59-E3A7-CCEF02D0CF96}"/>
              </a:ext>
            </a:extLst>
          </p:cNvPr>
          <p:cNvSpPr txBox="1">
            <a:spLocks/>
          </p:cNvSpPr>
          <p:nvPr/>
        </p:nvSpPr>
        <p:spPr>
          <a:xfrm>
            <a:off x="838198" y="2403681"/>
            <a:ext cx="4526280" cy="917575"/>
          </a:xfrm>
          <a:prstGeom prst="rect">
            <a:avLst/>
          </a:prstGeom>
        </p:spPr>
        <p:txBody>
          <a:bodyPr vert="horz" lIns="91440" tIns="45720" rIns="91440" bIns="45720" rtlCol="0">
            <a:normAutofit/>
          </a:bodyPr>
          <a:lst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11"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4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endParaRPr>
          </a:p>
        </p:txBody>
      </p:sp>
      <p:sp>
        <p:nvSpPr>
          <p:cNvPr id="5" name="TextBox 7">
            <a:extLst>
              <a:ext uri="{FF2B5EF4-FFF2-40B4-BE49-F238E27FC236}">
                <a16:creationId xmlns:a16="http://schemas.microsoft.com/office/drawing/2014/main" id="{85163DF1-EB5C-1C3C-A93D-5F16CEEC2B92}"/>
              </a:ext>
            </a:extLst>
          </p:cNvPr>
          <p:cNvSpPr txBox="1"/>
          <p:nvPr/>
        </p:nvSpPr>
        <p:spPr>
          <a:xfrm>
            <a:off x="838197" y="2311606"/>
            <a:ext cx="4742179" cy="76944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Estimating Commercial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(Calculated through counterfactual of assuming all CMS/Government pay was paying at commercial rates)</a:t>
            </a:r>
          </a:p>
        </p:txBody>
      </p:sp>
      <p:sp>
        <p:nvSpPr>
          <p:cNvPr id="6" name="TextBox 8">
            <a:extLst>
              <a:ext uri="{FF2B5EF4-FFF2-40B4-BE49-F238E27FC236}">
                <a16:creationId xmlns:a16="http://schemas.microsoft.com/office/drawing/2014/main" id="{020B90EA-11B9-6E81-60B7-F3AFEA7FC5A7}"/>
              </a:ext>
            </a:extLst>
          </p:cNvPr>
          <p:cNvSpPr txBox="1"/>
          <p:nvPr/>
        </p:nvSpPr>
        <p:spPr>
          <a:xfrm>
            <a:off x="6827520" y="2311606"/>
            <a:ext cx="4358640" cy="76944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Estimating Gov-Pay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(Calculated through counterfactual of assuming all commercial pay was paying at Medicare rate)</a:t>
            </a:r>
          </a:p>
        </p:txBody>
      </p:sp>
      <p:graphicFrame>
        <p:nvGraphicFramePr>
          <p:cNvPr id="7" name="Table 10">
            <a:extLst>
              <a:ext uri="{FF2B5EF4-FFF2-40B4-BE49-F238E27FC236}">
                <a16:creationId xmlns:a16="http://schemas.microsoft.com/office/drawing/2014/main" id="{30CE50B1-E66B-B63F-C96E-A434E7ECFB6C}"/>
              </a:ext>
            </a:extLst>
          </p:cNvPr>
          <p:cNvGraphicFramePr>
            <a:graphicFrameLocks noGrp="1"/>
          </p:cNvGraphicFramePr>
          <p:nvPr>
            <p:extLst>
              <p:ext uri="{D42A27DB-BD31-4B8C-83A1-F6EECF244321}">
                <p14:modId xmlns:p14="http://schemas.microsoft.com/office/powerpoint/2010/main" val="2781215806"/>
              </p:ext>
            </p:extLst>
          </p:nvPr>
        </p:nvGraphicFramePr>
        <p:xfrm>
          <a:off x="1018538" y="3548268"/>
          <a:ext cx="4345939" cy="2489200"/>
        </p:xfrm>
        <a:graphic>
          <a:graphicData uri="http://schemas.openxmlformats.org/drawingml/2006/table">
            <a:tbl>
              <a:tblPr bandRow="1">
                <a:tableStyleId>{2D5ABB26-0587-4C30-8999-92F81FD0307C}</a:tableStyleId>
              </a:tblPr>
              <a:tblGrid>
                <a:gridCol w="2703097">
                  <a:extLst>
                    <a:ext uri="{9D8B030D-6E8A-4147-A177-3AD203B41FA5}">
                      <a16:colId xmlns:a16="http://schemas.microsoft.com/office/drawing/2014/main" val="1477699201"/>
                    </a:ext>
                  </a:extLst>
                </a:gridCol>
                <a:gridCol w="1642842">
                  <a:extLst>
                    <a:ext uri="{9D8B030D-6E8A-4147-A177-3AD203B41FA5}">
                      <a16:colId xmlns:a16="http://schemas.microsoft.com/office/drawing/2014/main" val="3897938436"/>
                    </a:ext>
                  </a:extLst>
                </a:gridCol>
              </a:tblGrid>
              <a:tr h="370840">
                <a:tc>
                  <a:txBody>
                    <a:bodyPr/>
                    <a:lstStyle/>
                    <a:p>
                      <a:r>
                        <a:rPr lang="en-US" dirty="0">
                          <a:solidFill>
                            <a:schemeClr val="tx1"/>
                          </a:solidFill>
                          <a:latin typeface="Montserrat" panose="00000500000000000000" pitchFamily="2" charset="0"/>
                        </a:rPr>
                        <a:t>Commercial Revenue</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Montserrat" panose="00000500000000000000" pitchFamily="2" charset="0"/>
                        </a:rPr>
                        <a:t>$</a:t>
                      </a:r>
                      <a:r>
                        <a:rPr lang="en-US" dirty="0">
                          <a:solidFill/>
                        </a:rPr>
                        <a:t>659,422K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latin typeface="Montserrat" panose="00000500000000000000" pitchFamily="2" charset="0"/>
                        </a:rPr>
                        <a:t>Gov-pay revenue at </a:t>
                      </a:r>
                      <a:r>
                        <a:rPr lang="en-US" sz="1800" kern="1200" dirty="0">
                          <a:solidFill>
                            <a:schemeClr val="tx1"/>
                          </a:solidFill>
                          <a:latin typeface="Montserrat" panose="00000500000000000000" pitchFamily="2" charset="0"/>
                          <a:ea typeface="+mn-ea"/>
                          <a:cs typeface="+mn-cs"/>
                        </a:rPr>
                        <a:t>241% current </a:t>
                      </a:r>
                      <a:r>
                        <a:rPr lang="en-US" dirty="0">
                          <a:solidFill>
                            <a:schemeClr val="tx1"/>
                          </a:solidFill>
                        </a:rPr>
                        <a:t>rate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716,619K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latin typeface="Montserrat" panose="00000500000000000000" pitchFamily="2" charset="0"/>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1,376,041</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latin typeface="Montserrat" panose="00000500000000000000" pitchFamily="2" charset="0"/>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884,397</a:t>
                      </a:r>
                      <a:r>
                        <a:rPr lang="en-US" sz="1800" dirty="0"/>
                        <a:t>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latin typeface="Montserrat" panose="00000500000000000000" pitchFamily="2" charset="0"/>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accent6">
                              <a:lumMod val="75000"/>
                            </a:schemeClr>
                          </a:solidFill>
                          <a:latin typeface="Montserrat" panose="00000500000000000000" pitchFamily="2" charset="0"/>
                        </a:rPr>
                        <a:t>$491,644K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276861">
                <a:tc>
                  <a:txBody>
                    <a:bodyPr/>
                    <a:lstStyle/>
                    <a:p>
                      <a:endParaRPr lang="en-US" dirty="0">
                        <a:solidFill>
                          <a:schemeClr val="tx1"/>
                        </a:solidFill>
                        <a:latin typeface="Montserrat" panose="00000500000000000000" pitchFamily="2" charset="0"/>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chemeClr val="accent6">
                              <a:lumMod val="75000"/>
                            </a:schemeClr>
                          </a:solidFill>
                          <a:latin typeface="Montserrat" panose="00000500000000000000" pitchFamily="2" charset="0"/>
                        </a:rPr>
                        <a:t>36%</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graphicFrame>
        <p:nvGraphicFramePr>
          <p:cNvPr id="8" name="Table 11">
            <a:extLst>
              <a:ext uri="{FF2B5EF4-FFF2-40B4-BE49-F238E27FC236}">
                <a16:creationId xmlns:a16="http://schemas.microsoft.com/office/drawing/2014/main" id="{BB254502-CBB2-8520-631D-31E05AB0F371}"/>
              </a:ext>
            </a:extLst>
          </p:cNvPr>
          <p:cNvGraphicFramePr>
            <a:graphicFrameLocks noGrp="1"/>
          </p:cNvGraphicFramePr>
          <p:nvPr>
            <p:extLst>
              <p:ext uri="{D42A27DB-BD31-4B8C-83A1-F6EECF244321}">
                <p14:modId xmlns:p14="http://schemas.microsoft.com/office/powerpoint/2010/main" val="1966836347"/>
              </p:ext>
            </p:extLst>
          </p:nvPr>
        </p:nvGraphicFramePr>
        <p:xfrm>
          <a:off x="6611619" y="3512837"/>
          <a:ext cx="4345939" cy="2494280"/>
        </p:xfrm>
        <a:graphic>
          <a:graphicData uri="http://schemas.openxmlformats.org/drawingml/2006/table">
            <a:tbl>
              <a:tblPr bandRow="1">
                <a:tableStyleId>{2D5ABB26-0587-4C30-8999-92F81FD0307C}</a:tableStyleId>
              </a:tblPr>
              <a:tblGrid>
                <a:gridCol w="2703097">
                  <a:extLst>
                    <a:ext uri="{9D8B030D-6E8A-4147-A177-3AD203B41FA5}">
                      <a16:colId xmlns:a16="http://schemas.microsoft.com/office/drawing/2014/main" val="1477699201"/>
                    </a:ext>
                  </a:extLst>
                </a:gridCol>
                <a:gridCol w="1642842">
                  <a:extLst>
                    <a:ext uri="{9D8B030D-6E8A-4147-A177-3AD203B41FA5}">
                      <a16:colId xmlns:a16="http://schemas.microsoft.com/office/drawing/2014/main" val="3897938436"/>
                    </a:ext>
                  </a:extLst>
                </a:gridCol>
              </a:tblGrid>
              <a:tr h="370840">
                <a:tc>
                  <a:txBody>
                    <a:bodyPr/>
                    <a:lstStyle/>
                    <a:p>
                      <a:r>
                        <a:rPr lang="en-US" dirty="0">
                          <a:solidFill>
                            <a:schemeClr val="tx1"/>
                          </a:solidFill>
                          <a:latin typeface="Montserrat" panose="00000500000000000000" pitchFamily="2" charset="0"/>
                        </a:rPr>
                        <a:t>Commercial Revenue </a:t>
                      </a:r>
                      <a:r>
                        <a:rPr lang="en-US" sz="1800" kern="1200" dirty="0">
                          <a:solidFill>
                            <a:schemeClr val="tx1"/>
                          </a:solidFill>
                          <a:latin typeface="Montserrat" panose="00000500000000000000" pitchFamily="2" charset="0"/>
                          <a:ea typeface="+mn-ea"/>
                          <a:cs typeface="+mn-cs"/>
                        </a:rPr>
                        <a:t>Divided by 241%</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Montserrat" panose="00000500000000000000" pitchFamily="2" charset="0"/>
                        </a:rPr>
                        <a:t>$</a:t>
                      </a:r>
                      <a:r>
                        <a:rPr lang="en-US" dirty="0">
                          <a:solidFill/>
                        </a:rPr>
                        <a:t>273,987K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latin typeface="Montserrat" panose="00000500000000000000" pitchFamily="2" charset="0"/>
                        </a:rPr>
                        <a:t>Gov-pay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297,752</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latin typeface="Montserrat" panose="00000500000000000000" pitchFamily="2" charset="0"/>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571,740</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latin typeface="Montserrat" panose="00000500000000000000" pitchFamily="2" charset="0"/>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884,397</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latin typeface="Montserrat" panose="00000500000000000000" pitchFamily="2" charset="0"/>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rgbClr val="C55A11"/>
                          </a:solidFill>
                          <a:latin typeface="Montserrat" panose="00000500000000000000" pitchFamily="2" charset="0"/>
                        </a:rPr>
                        <a:t>$ -312,657</a:t>
                      </a:r>
                      <a:r>
                        <a:rPr lang="en-US" dirty="0">
                          <a:solidFill>
                            <a:schemeClr val="accent2">
                              <a:lumMod val="75000"/>
                            </a:schemeClr>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370840">
                <a:tc>
                  <a:txBody>
                    <a:bodyPr/>
                    <a:lstStyle/>
                    <a:p>
                      <a:endParaRPr lang="en-US" dirty="0">
                        <a:solidFill>
                          <a:schemeClr val="tx1"/>
                        </a:solidFill>
                        <a:latin typeface="Montserrat" panose="00000500000000000000" pitchFamily="2" charset="0"/>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rgbClr val="C55A11"/>
                          </a:solidFill>
                          <a:latin typeface="Montserrat" panose="00000500000000000000" pitchFamily="2" charset="0"/>
                        </a:rPr>
                        <a:t>-55%</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pic>
        <p:nvPicPr>
          <p:cNvPr id="9" name="Picture 10">
            <a:extLst>
              <a:ext uri="{FF2B5EF4-FFF2-40B4-BE49-F238E27FC236}">
                <a16:creationId xmlns:a16="http://schemas.microsoft.com/office/drawing/2014/main" id="{342DBBC9-66B5-A226-D8E1-D21F79631943}"/>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0" name="Freeform 13">
            <a:extLst>
              <a:ext uri="{FF2B5EF4-FFF2-40B4-BE49-F238E27FC236}">
                <a16:creationId xmlns:a16="http://schemas.microsoft.com/office/drawing/2014/main" id="{0F4073EB-51F0-A6C1-7D34-41ED97664C8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67918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7C8AA-0E66-B861-59D6-F381D95EE319}"/>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ESTIMATING MARKET SHARE</a:t>
            </a:r>
          </a:p>
        </p:txBody>
      </p:sp>
      <p:sp>
        <p:nvSpPr>
          <p:cNvPr id="3" name="TextBox 9">
            <a:extLst>
              <a:ext uri="{FF2B5EF4-FFF2-40B4-BE49-F238E27FC236}">
                <a16:creationId xmlns:a16="http://schemas.microsoft.com/office/drawing/2014/main" id="{DD333F58-1E5B-D213-65EE-BB627B8B12A8}"/>
              </a:ext>
            </a:extLst>
          </p:cNvPr>
          <p:cNvSpPr txBox="1"/>
          <p:nvPr/>
        </p:nvSpPr>
        <p:spPr>
          <a:xfrm>
            <a:off x="10096500" y="4481504"/>
            <a:ext cx="1992085" cy="216982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900" dirty="0">
                <a:solidFill/>
                <a:latin typeface="Montserrat" panose="00000500000000000000" pitchFamily="2" charset="0"/>
                <a:cs typeface="Arial" panose="020B0604020202020204" pitchFamily="34" charset="0"/>
              </a:rPr>
              <a:t>For outpatient market share, it is estimated that only 66% of local physicians are employed by area hospitals (Research from the Physician Advocacy Institute</a:t>
            </a:r>
            <a:r>
              <a:rPr kumimoji="0" lang="en-US" sz="900" b="0" i="0" u="none" strike="noStrike" kern="1200" cap="none" spc="0" normalizeH="0" baseline="0" noProof="0" dirty="0">
                <a:ln>
                  <a:noFill/>
                </a:ln>
                <a:solidFill/>
                <a:effectLst/>
                <a:uLnTx/>
                <a:uFillTx/>
                <a:latin typeface="Montserrat" panose="00000500000000000000" pitchFamily="2" charset="0"/>
                <a:ea typeface="+mn-ea"/>
                <a:cs typeface="Arial" panose="020B0604020202020204" pitchFamily="34" charset="0"/>
              </a:rPr>
              <a:t>:  </a:t>
            </a:r>
            <a:r>
              <a:rPr kumimoji="0" lang="en-US" sz="9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hlinkClick r:id="rId2"/>
              </a:rPr>
              <a:t>https://www.physiciansadvocacyinstitute.org/Portals/0/assets/docs/PAI-Research/PAI-Avalere%20Physician%20Employment%20Trends%20Study%202019-2023%20Final.pdf?ver=uGHF46u1GSeZgYXMKFyYvw%3d%3d</a:t>
            </a:r>
            <a:r>
              <a:rPr kumimoji="0" lang="en-US" sz="9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a:t>
            </a:r>
          </a:p>
        </p:txBody>
      </p:sp>
      <p:sp>
        <p:nvSpPr>
          <p:cNvPr id="4" name="TextBox 6">
            <a:extLst>
              <a:ext uri="{FF2B5EF4-FFF2-40B4-BE49-F238E27FC236}">
                <a16:creationId xmlns:a16="http://schemas.microsoft.com/office/drawing/2014/main" id="{28816DA9-0016-360E-E0AF-042A76E415BD}"/>
              </a:ext>
            </a:extLst>
          </p:cNvPr>
          <p:cNvSpPr txBox="1"/>
          <p:nvPr/>
        </p:nvSpPr>
        <p:spPr>
          <a:xfrm>
            <a:off x="10334625" y="1860184"/>
            <a:ext cx="1590675" cy="2585323"/>
          </a:xfrm>
          <a:prstGeom prst="rect">
            <a:avLst/>
          </a:prstGeom>
          <a:noFill/>
        </p:spPr>
        <p:txBody>
          <a:bodyPr wrap="square" rtlCol="0">
            <a:spAutoFit/>
          </a:bodyPr>
          <a:lstStyle/>
          <a:p>
            <a:pPr algn="ctr"/>
            <a:r>
              <a:rPr lang="en-US" b="1" dirty="0">
                <a:solidFill>
                  <a:schemeClr val="accent1"/>
                </a:solidFill>
                <a:latin typeface="Montserrat" panose="00000500000000000000" pitchFamily="2" charset="0"/>
              </a:rPr>
              <a:t>58% Inpatient Market Share</a:t>
            </a:r>
          </a:p>
          <a:p>
            <a:pPr algn="ctr"/>
            <a:endParaRPr lang="en-US" b="1" dirty="0">
              <a:solidFill>
                <a:schemeClr val="accent1"/>
              </a:solidFill>
              <a:latin typeface="Montserrat" panose="00000500000000000000" pitchFamily="2" charset="0"/>
            </a:endParaRPr>
          </a:p>
          <a:p>
            <a:pPr algn="ctr"/>
            <a:r>
              <a:rPr lang="en-US" b="1" dirty="0">
                <a:solidFill>
                  <a:schemeClr val="accent1"/>
                </a:solidFill>
                <a:latin typeface="Montserrat" panose="00000500000000000000" pitchFamily="2" charset="0"/>
              </a:rPr>
              <a:t>26% Outpatient Market Share</a:t>
            </a:r>
          </a:p>
        </p:txBody>
      </p:sp>
      <p:pic>
        <p:nvPicPr>
          <p:cNvPr id="5" name="Picture 7">
            <a:extLst>
              <a:ext uri="{FF2B5EF4-FFF2-40B4-BE49-F238E27FC236}">
                <a16:creationId xmlns:a16="http://schemas.microsoft.com/office/drawing/2014/main" id="{D0DD692F-D109-0348-F9B8-914DE2DD8925}"/>
              </a:ext>
            </a:extLst>
          </p:cNvPr>
          <p:cNvPicPr>
            <a:picLocks noChangeAspect="1"/>
          </p:cNvPicPr>
          <p:nvPr/>
        </p:nvPicPr>
        <p:blipFill>
          <a:blip r:embed="rId3"/>
          <a:stretch>
            <a:fillRect/>
          </a:stretch>
        </p:blipFill>
        <p:spPr>
          <a:xfrm>
            <a:off x="215573" y="6356350"/>
            <a:ext cx="2125097" cy="463658"/>
          </a:xfrm>
          <a:prstGeom prst="rect">
            <a:avLst/>
          </a:prstGeom>
        </p:spPr>
      </p:pic>
      <p:sp>
        <p:nvSpPr>
          <p:cNvPr id="6" name="Freeform 13">
            <a:extLst>
              <a:ext uri="{FF2B5EF4-FFF2-40B4-BE49-F238E27FC236}">
                <a16:creationId xmlns:a16="http://schemas.microsoft.com/office/drawing/2014/main" id="{AC9E0C8C-1395-D9C5-6ED5-2E010F8A048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7" name="Table 6"/>
          <p:cNvGraphicFramePr>
            <a:graphicFrameLocks noGrp="1"/>
          </p:cNvGraphicFramePr>
          <p:nvPr/>
        </p:nvGraphicFramePr>
        <p:xfrm>
          <a:off x="265176" y="914400"/>
          <a:ext cx="9829800" cy="4638040"/>
        </p:xfrm>
        <a:graphic>
          <a:graphicData uri="http://schemas.openxmlformats.org/drawingml/2006/table">
            <a:tbl>
              <a:tblPr/>
              <a:tblGrid>
                <a:gridCol w="27432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gridCol w="1600200">
                  <a:extLst>
                    <a:ext uri="{9D8B030D-6E8A-4147-A177-3AD203B41FA5}">
                      <a16:colId xmlns:a16="http://schemas.microsoft.com/office/drawing/2014/main" val="20005"/>
                    </a:ext>
                  </a:extLst>
                </a:gridCol>
              </a:tblGrid>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Hospital Name</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Number of Beds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Inpatient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Outpatient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Inpatient Percent of Market Total</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Outpatient Percent of Market Total (Assuming 66% of Physicians Employed by Hospitals)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Mercy Health - St Elizabeth Youngstown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323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$1,316,157.2K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$1,125,033.1K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32%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Mercy Health - St Joseph Warren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137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410,002.4K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749,752.5K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Mercy Health - St Elizabeth Boardman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210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624,044.3K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840,994.9K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Trumbull Regional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197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433,665.7K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390,004.2K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University Hospitals Portage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99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223,221.5K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443,215.9K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East Liverpool City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116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143,237.6K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182,853.5K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Aultman Alliance Community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50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35,208.7K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257,028.4K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7"/>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Salem Regional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87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46,389.2K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230,087.1K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8"/>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Surgical Hospital at Southwoods</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49,045.8K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782,179.1K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9"/>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UPMC Jameson</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134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159,721.8K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321,799.4K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0"/>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Heritage Valley Beaver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148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250,163.8K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438,618.2K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1"/>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UPMC Horizon - Greenville</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263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120,562.5K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835,623.7K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2"/>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Sharon Regional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150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234,260.1K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337,261.9K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3"/>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Edgewood Surgical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8,831.9K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75,807.0K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4"/>
                  </a:ext>
                </a:extLst>
              </a:tr>
            </a:tbl>
          </a:graphicData>
        </a:graphic>
      </p:graphicFrame>
    </p:spTree>
    <p:extLst>
      <p:ext uri="{BB962C8B-B14F-4D97-AF65-F5344CB8AC3E}">
        <p14:creationId xmlns:p14="http://schemas.microsoft.com/office/powerpoint/2010/main" val="40876362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1198203807"/>
              </p:ext>
            </p:extLst>
          </p:nvPr>
        </p:nvGraphicFramePr>
        <p:xfrm>
          <a:off x="0" y="0"/>
          <a:ext cx="12192000" cy="6573520"/>
        </p:xfrm>
        <a:graphic>
          <a:graphicData uri="http://schemas.openxmlformats.org/drawingml/2006/table">
            <a:tbl>
              <a:tblPr/>
              <a:tblGrid>
                <a:gridCol w="3001583">
                  <a:extLst>
                    <a:ext uri="{9D8B030D-6E8A-4147-A177-3AD203B41FA5}">
                      <a16:colId xmlns:a16="http://schemas.microsoft.com/office/drawing/2014/main" val="20000"/>
                    </a:ext>
                  </a:extLst>
                </a:gridCol>
                <a:gridCol w="3258904">
                  <a:extLst>
                    <a:ext uri="{9D8B030D-6E8A-4147-A177-3AD203B41FA5}">
                      <a16:colId xmlns:a16="http://schemas.microsoft.com/office/drawing/2014/main" val="20001"/>
                    </a:ext>
                  </a:extLst>
                </a:gridCol>
                <a:gridCol w="2810014">
                  <a:extLst>
                    <a:ext uri="{9D8B030D-6E8A-4147-A177-3AD203B41FA5}">
                      <a16:colId xmlns:a16="http://schemas.microsoft.com/office/drawing/2014/main" val="20002"/>
                    </a:ext>
                  </a:extLst>
                </a:gridCol>
                <a:gridCol w="3121499">
                  <a:extLst>
                    <a:ext uri="{9D8B030D-6E8A-4147-A177-3AD203B41FA5}">
                      <a16:colId xmlns:a16="http://schemas.microsoft.com/office/drawing/2014/main" val="20003"/>
                    </a:ext>
                  </a:extLst>
                </a:gridCol>
              </a:tblGrid>
              <a:tr h="195411">
                <a:tc gridSpan="4">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310736">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Metric</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Mercy Health - St Elizabeth Youngstown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Mercy Health - St Joseph Warren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Mercy Health - St Elizabeth Boardman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17619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Total Inpatient Patient Revenue</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$248,754K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$72,980K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Montserrat"/>
                          <a:cs typeface="Arial"/>
                          <a:sym typeface="Arial"/>
                        </a:rPr>
                        <a:t>$123,561K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extLst>
                  <a:ext uri="{0D108BD9-81ED-4DB2-BD59-A6C34878D82A}">
                    <a16:rowId xmlns:a16="http://schemas.microsoft.com/office/drawing/2014/main" val="10002"/>
                  </a:ext>
                </a:extLst>
              </a:tr>
              <a:tr h="17619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Total Outpatient Patient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$212,631K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$133,456K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$166,517K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3"/>
                  </a:ext>
                </a:extLst>
              </a:tr>
              <a:tr h="17619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Total Medicare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$80,701K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$27,290K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$44,460K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4"/>
                  </a:ext>
                </a:extLst>
              </a:tr>
              <a:tr h="272294">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Medicaid and Other Government-Pay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$62,087K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$36,738K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$46,475K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5"/>
                  </a:ext>
                </a:extLst>
              </a:tr>
              <a:tr h="17619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Commercial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$317,195K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$142,699K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$199,528K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6"/>
                  </a:ext>
                </a:extLst>
              </a:tr>
              <a:tr h="17619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Total Uncompensated Care</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$27,780K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$4,805K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$4,829K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07"/>
                  </a:ext>
                </a:extLst>
              </a:tr>
              <a:tr h="17619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Inpatient Costs</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$246,335K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$64,475K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$104,411K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8"/>
                  </a:ext>
                </a:extLst>
              </a:tr>
              <a:tr h="17619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Outpatient Costs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$210,564K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$117,903K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$140,710K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9"/>
                  </a:ext>
                </a:extLst>
              </a:tr>
              <a:tr h="17619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Total Operating Expenses</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$456,899K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$182,378K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$245,120K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extLst>
                  <a:ext uri="{0D108BD9-81ED-4DB2-BD59-A6C34878D82A}">
                    <a16:rowId xmlns:a16="http://schemas.microsoft.com/office/drawing/2014/main" val="10010"/>
                  </a:ext>
                </a:extLst>
              </a:tr>
              <a:tr h="17619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Net Income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$3,085K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$24,349K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$45,343K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extLst>
                  <a:ext uri="{0D108BD9-81ED-4DB2-BD59-A6C34878D82A}">
                    <a16:rowId xmlns:a16="http://schemas.microsoft.com/office/drawing/2014/main" val="10011"/>
                  </a:ext>
                </a:extLst>
              </a:tr>
              <a:tr h="17619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Payer Mix Percent Medicare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21.8%</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20.0%</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19.3%</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2"/>
                  </a:ext>
                </a:extLst>
              </a:tr>
              <a:tr h="17619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Payer Mix Percent Medicaid</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2.9%</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2.1%</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1.9%</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3"/>
                  </a:ext>
                </a:extLst>
              </a:tr>
              <a:tr h="272294">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Payer Mix Percent Other Government-Pay</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4"/>
                  </a:ext>
                </a:extLst>
              </a:tr>
              <a:tr h="17619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Payer Mix Percent No Pay</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5.7%</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2.3%</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1.6%</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5"/>
                  </a:ext>
                </a:extLst>
              </a:tr>
              <a:tr h="17619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Payer Mix Percent Commercial</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69.6%</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75.7%</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77.1%</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extLst>
                  <a:ext uri="{0D108BD9-81ED-4DB2-BD59-A6C34878D82A}">
                    <a16:rowId xmlns:a16="http://schemas.microsoft.com/office/drawing/2014/main" val="10016"/>
                  </a:ext>
                </a:extLst>
              </a:tr>
              <a:tr h="17619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Commercial Profit Margin</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30.9%</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38.6%</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41.4%</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17"/>
                  </a:ext>
                </a:extLst>
              </a:tr>
              <a:tr h="156970">
                <a:tc gridSpan="4">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156970">
                <a:tc gridSpan="4">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156970">
                <a:tc gridSpan="4">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0"/>
                  </a:ext>
                </a:extLst>
              </a:tr>
              <a:tr h="156970">
                <a:tc gridSpan="4">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400062"/>
            <a:ext cx="12188952" cy="426472"/>
          </a:xfrm>
          <a:prstGeom prst="rect">
            <a:avLst/>
          </a:prstGeom>
          <a:noFill/>
        </p:spPr>
        <p:txBody>
          <a:bodyPr wrap="square" lIns="0" tIns="0" rIns="0" bIns="0" rtlCol="0" anchor="t"/>
          <a:lstStyle/>
          <a:p>
            <a:pPr marL="0" marR="0" lvl="0" indent="0" algn="ctr" defTabSz="914400" rtl="0" eaLnBrk="1" fontAlgn="auto" latinLnBrk="0" hangingPunct="1">
              <a:lnSpc>
                <a:spcPts val="3360"/>
              </a:lnSpc>
              <a:spcBef>
                <a:spcPts val="0"/>
              </a:spcBef>
              <a:spcAft>
                <a:spcPts val="0"/>
              </a:spcAft>
              <a:buClrTx/>
              <a:buSzTx/>
              <a:buFontTx/>
              <a:buNone/>
              <a:tabLst/>
              <a:defRPr/>
            </a:pPr>
            <a:r>
              <a:rPr kumimoji="0" lang="en-US" sz="3000" b="0" i="0" u="none" strike="noStrike" kern="0" cap="none" spc="90"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STEERAGE RATES FOR CURRENT DTE NETWORKS</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 name="Object 3"/>
          <p:cNvSpPr/>
          <p:nvPr/>
        </p:nvSpPr>
        <p:spPr>
          <a:xfrm>
            <a:off x="0" y="5723094"/>
            <a:ext cx="12188952" cy="1133192"/>
          </a:xfrm>
          <a:prstGeom prst="rect">
            <a:avLst/>
          </a:prstGeom>
          <a:solidFill>
            <a:srgbClr val="EDF1E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5"/>
          <p:cNvSpPr/>
          <p:nvPr/>
        </p:nvSpPr>
        <p:spPr>
          <a:xfrm>
            <a:off x="-761809" y="6529875"/>
            <a:ext cx="12760309" cy="178177"/>
          </a:xfrm>
          <a:prstGeom prst="rect">
            <a:avLst/>
          </a:prstGeom>
          <a:noFill/>
        </p:spPr>
        <p:txBody>
          <a:bodyPr wrap="square" lIns="0" tIns="0" rIns="0" bIns="0" rtlCol="0" anchor="t"/>
          <a:lstStyle/>
          <a:p>
            <a:pPr marL="0" marR="0" lvl="0" indent="0" algn="r" defTabSz="914400" rtl="0" eaLnBrk="1" fontAlgn="auto" latinLnBrk="0" hangingPunct="1">
              <a:lnSpc>
                <a:spcPts val="1405"/>
              </a:lnSpc>
              <a:spcBef>
                <a:spcPts val="0"/>
              </a:spcBef>
              <a:spcAft>
                <a:spcPts val="0"/>
              </a:spcAft>
              <a:buClrTx/>
              <a:buSzTx/>
              <a:buFontTx/>
              <a:buNone/>
              <a:tabLst/>
              <a:defRPr/>
            </a:pPr>
            <a:r>
              <a:rPr kumimoji="0" lang="en-US" sz="1056" b="0" i="0" u="none" strike="noStrike" kern="0" cap="none" spc="32"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 Data collected from KBA DTE Networks in Q1 2024</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5" name="Object 4">
            <a:extLst>
              <a:ext uri="{FF2B5EF4-FFF2-40B4-BE49-F238E27FC236}">
                <a16:creationId xmlns:a16="http://schemas.microsoft.com/office/drawing/2014/main" id="{89902BB1-829C-651C-B854-23D338EB208E}"/>
              </a:ext>
            </a:extLst>
          </p:cNvPr>
          <p:cNvSpPr/>
          <p:nvPr/>
        </p:nvSpPr>
        <p:spPr>
          <a:xfrm>
            <a:off x="-95226" y="6034625"/>
            <a:ext cx="12379404" cy="323806"/>
          </a:xfrm>
          <a:prstGeom prst="rect">
            <a:avLst/>
          </a:prstGeom>
          <a:noFill/>
        </p:spPr>
        <p:txBody>
          <a:bodyPr wrap="square" lIns="0" tIns="0" rIns="0" bIns="0" rtlCol="0" anchor="t"/>
          <a:lstStyle/>
          <a:p>
            <a:pPr marL="0" marR="0" lvl="0" indent="0" algn="ctr" defTabSz="914400" rtl="0" eaLnBrk="1" fontAlgn="auto" latinLnBrk="0" hangingPunct="1">
              <a:lnSpc>
                <a:spcPts val="2552"/>
              </a:lnSpc>
              <a:spcBef>
                <a:spcPts val="0"/>
              </a:spcBef>
              <a:spcAft>
                <a:spcPts val="0"/>
              </a:spcAft>
              <a:buClrTx/>
              <a:buSzTx/>
              <a:buFontTx/>
              <a:buNone/>
              <a:tabLst/>
              <a:defRPr/>
            </a:pPr>
            <a:r>
              <a:rPr kumimoji="0" lang="en-US" sz="2025" b="0" i="0" u="none" strike="noStrike" kern="0" cap="none" spc="61"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The average Tier 1 Steerage is 83%.</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Picture 7">
            <a:extLst>
              <a:ext uri="{FF2B5EF4-FFF2-40B4-BE49-F238E27FC236}">
                <a16:creationId xmlns:a16="http://schemas.microsoft.com/office/drawing/2014/main" id="{B216DA3F-8CF6-3754-AC28-F2C4F80AFB0F}"/>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01273" y="6342556"/>
            <a:ext cx="2125097" cy="463658"/>
          </a:xfrm>
          <a:prstGeom prst="rect">
            <a:avLst/>
          </a:prstGeom>
        </p:spPr>
      </p:pic>
      <p:pic>
        <p:nvPicPr>
          <p:cNvPr id="7" name="Object 2">
            <a:extLst>
              <a:ext uri="{FF2B5EF4-FFF2-40B4-BE49-F238E27FC236}">
                <a16:creationId xmlns:a16="http://schemas.microsoft.com/office/drawing/2014/main" id="{9EE68415-52C8-8A45-27E1-8A33BA25D0CC}"/>
              </a:ext>
            </a:extLst>
          </p:cNvPr>
          <p:cNvPicPr>
            <a:picLocks noChangeAspect="1"/>
          </p:cNvPicPr>
          <p:nvPr/>
        </p:nvPicPr>
        <p:blipFill>
          <a:blip r:embed="rId4"/>
          <a:stretch>
            <a:fillRect/>
          </a:stretch>
        </p:blipFill>
        <p:spPr>
          <a:xfrm>
            <a:off x="285679" y="1323644"/>
            <a:ext cx="11617595" cy="401854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2">
            <a:extLst>
              <a:ext uri="{FF2B5EF4-FFF2-40B4-BE49-F238E27FC236}">
                <a16:creationId xmlns:a16="http://schemas.microsoft.com/office/drawing/2014/main" id="{E799F91A-3FD1-47AB-858A-263DC729BC42}"/>
              </a:ext>
            </a:extLst>
          </p:cNvPr>
          <p:cNvSpPr txBox="1"/>
          <p:nvPr/>
        </p:nvSpPr>
        <p:spPr>
          <a:xfrm>
            <a:off x="8932985" y="1054579"/>
            <a:ext cx="2868171" cy="5693866"/>
          </a:xfrm>
          <a:prstGeom prst="rect">
            <a:avLst/>
          </a:prstGeom>
          <a:noFill/>
        </p:spPr>
        <p:txBody>
          <a:bodyPr wrap="square" rtlCol="0">
            <a:spAutoFit/>
          </a:bodyPr>
          <a:lstStyle/>
          <a:p>
            <a:r>
              <a:rPr lang="en-US" sz="1400" dirty="0">
                <a:solidFill/>
                <a:latin typeface="Montserrat" panose="00000500000000000000" pitchFamily="2" charset="0"/>
              </a:rPr>
              <a:t>KBA currently estimates that Bon Secours Mercy Health has 58% inpatient market share, and 26% outpatient market compared to hospitals/clinics in the Bon Secours Mercy Health (Youngstown Area) service area (see slide 8). </a:t>
            </a:r>
          </a:p>
          <a:p>
            <a:endParaRPr lang="en-US" sz="1400" dirty="0">
              <a:solidFill/>
              <a:latin typeface="Montserrat" panose="00000500000000000000" pitchFamily="2" charset="0"/>
            </a:endParaRPr>
          </a:p>
          <a:p>
            <a:r>
              <a:rPr lang="en-US" sz="1400" dirty="0">
                <a:solidFill/>
                <a:latin typeface="Montserrat" panose="00000500000000000000" pitchFamily="2" charset="0"/>
              </a:rPr>
              <a:t>Based on previous DTE experience, KBA expects a significant bump in patient steerage to Bon Secours Mercy Health.</a:t>
            </a:r>
          </a:p>
          <a:p>
            <a:endParaRPr lang="en-US" sz="1400" dirty="0">
              <a:solidFill/>
              <a:latin typeface="Montserrat" panose="00000500000000000000" pitchFamily="2" charset="0"/>
            </a:endParaRPr>
          </a:p>
          <a:p>
            <a:r>
              <a:rPr lang="en-US" sz="1400" dirty="0">
                <a:solidFill/>
                <a:latin typeface="Montserrat" panose="00000500000000000000" pitchFamily="2" charset="0"/>
              </a:rPr>
              <a:t>Additional steerage will occur from additional steerage patient benefits and the patient card.  </a:t>
            </a:r>
          </a:p>
          <a:p>
            <a:endParaRPr lang="en-US" sz="1400" dirty="0">
              <a:solidFill/>
              <a:latin typeface="Montserrat" panose="00000500000000000000" pitchFamily="2" charset="0"/>
            </a:endParaRPr>
          </a:p>
          <a:p>
            <a:r>
              <a:rPr lang="en-US" sz="1400" dirty="0">
                <a:solidFill/>
                <a:latin typeface="Montserrat" panose="00000500000000000000" pitchFamily="2" charset="0"/>
              </a:rPr>
              <a:t>High estimates start nearly 10% higher than target with low estimates at 10% lower than target</a:t>
            </a:r>
          </a:p>
        </p:txBody>
      </p:sp>
      <p:sp>
        <p:nvSpPr>
          <p:cNvPr id="3" name="Title 1">
            <a:extLst>
              <a:ext uri="{FF2B5EF4-FFF2-40B4-BE49-F238E27FC236}">
                <a16:creationId xmlns:a16="http://schemas.microsoft.com/office/drawing/2014/main" id="{B908E53A-80EF-253B-70F2-1B864197EF25}"/>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PROJECTED PLAN GROWTH</a:t>
            </a:r>
          </a:p>
        </p:txBody>
      </p:sp>
      <p:pic>
        <p:nvPicPr>
          <p:cNvPr id="4" name="Picture 5">
            <a:extLst>
              <a:ext uri="{FF2B5EF4-FFF2-40B4-BE49-F238E27FC236}">
                <a16:creationId xmlns:a16="http://schemas.microsoft.com/office/drawing/2014/main" id="{600A413C-9879-29A5-B50B-ADCD0DEFEC3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46D19D72-B714-CC67-EEAD-28291439C72F}"/>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5"/>
          <p:cNvGraphicFramePr>
            <a:graphicFrameLocks noGrp="1"/>
          </p:cNvGraphicFramePr>
          <p:nvPr>
            <p:extLst>
              <p:ext uri="{D42A27DB-BD31-4B8C-83A1-F6EECF244321}">
                <p14:modId xmlns:p14="http://schemas.microsoft.com/office/powerpoint/2010/main" val="2419724748"/>
              </p:ext>
            </p:extLst>
          </p:nvPr>
        </p:nvGraphicFramePr>
        <p:xfrm>
          <a:off x="594360" y="1054578"/>
          <a:ext cx="7443215" cy="5108481"/>
        </p:xfrm>
        <a:graphic>
          <a:graphicData uri="http://schemas.openxmlformats.org/drawingml/2006/table">
            <a:tbl>
              <a:tblPr/>
              <a:tblGrid>
                <a:gridCol w="1488643">
                  <a:extLst>
                    <a:ext uri="{9D8B030D-6E8A-4147-A177-3AD203B41FA5}">
                      <a16:colId xmlns:a16="http://schemas.microsoft.com/office/drawing/2014/main" val="20000"/>
                    </a:ext>
                  </a:extLst>
                </a:gridCol>
                <a:gridCol w="1488643">
                  <a:extLst>
                    <a:ext uri="{9D8B030D-6E8A-4147-A177-3AD203B41FA5}">
                      <a16:colId xmlns:a16="http://schemas.microsoft.com/office/drawing/2014/main" val="20001"/>
                    </a:ext>
                  </a:extLst>
                </a:gridCol>
                <a:gridCol w="1488643">
                  <a:extLst>
                    <a:ext uri="{9D8B030D-6E8A-4147-A177-3AD203B41FA5}">
                      <a16:colId xmlns:a16="http://schemas.microsoft.com/office/drawing/2014/main" val="20002"/>
                    </a:ext>
                  </a:extLst>
                </a:gridCol>
                <a:gridCol w="1488643">
                  <a:extLst>
                    <a:ext uri="{9D8B030D-6E8A-4147-A177-3AD203B41FA5}">
                      <a16:colId xmlns:a16="http://schemas.microsoft.com/office/drawing/2014/main" val="20003"/>
                    </a:ext>
                  </a:extLst>
                </a:gridCol>
                <a:gridCol w="1488643">
                  <a:extLst>
                    <a:ext uri="{9D8B030D-6E8A-4147-A177-3AD203B41FA5}">
                      <a16:colId xmlns:a16="http://schemas.microsoft.com/office/drawing/2014/main" val="20004"/>
                    </a:ext>
                  </a:extLst>
                </a:gridCol>
              </a:tblGrid>
              <a:tr h="92120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Year</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Employees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Members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Percent of Members Choosing Bon Secours Mercy Health for Inpatient Care</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Percent of Members Choosing Bon Secours Mercy Health for Outpatient Care</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209364">
                <a:tc>
                  <a:txBody>
                    <a:bodyPr/>
                    <a:lstStyle/>
                    <a:p>
                      <a:pPr marL="0" marR="0" algn="ctr">
                        <a:lnSpc>
                          <a:spcPct val="100000"/>
                        </a:lnSpc>
                        <a:spcBef>
                          <a:spcPts val="0"/>
                        </a:spcBef>
                        <a:spcAft>
                          <a:spcPts val="0"/>
                        </a:spcAft>
                        <a:buNone/>
                      </a:pPr>
                      <a:r>
                        <a:rPr sz="1100" b="1" i="0" u="none" cap="none" dirty="0">
                          <a:solidFill>
                            <a:srgbClr val="000000">
                              <a:alpha val="100000"/>
                            </a:srgbClr>
                          </a:solidFill>
                          <a:latin typeface="Montserrat"/>
                          <a:cs typeface="Arial"/>
                          <a:sym typeface="Arial"/>
                        </a:rPr>
                        <a:t>1</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1"/>
                  </a:ext>
                </a:extLst>
              </a:tr>
              <a:tr h="20936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0936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73%</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0936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74%</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0936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74%</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0936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74%</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0936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74%</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r h="20936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8,600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74%</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8"/>
                  </a:ext>
                </a:extLst>
              </a:tr>
              <a:tr h="20936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10,600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74%</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9"/>
                  </a:ext>
                </a:extLst>
              </a:tr>
              <a:tr h="20936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13,000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0"/>
                  </a:ext>
                </a:extLst>
              </a:tr>
              <a:tr h="20936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11</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8,600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15,500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1"/>
                  </a:ext>
                </a:extLst>
              </a:tr>
              <a:tr h="20936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17,800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2"/>
                  </a:ext>
                </a:extLst>
              </a:tr>
              <a:tr h="20936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11,100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20,000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3"/>
                  </a:ext>
                </a:extLst>
              </a:tr>
              <a:tr h="20936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12,100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21,800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4"/>
                  </a:ext>
                </a:extLst>
              </a:tr>
              <a:tr h="20936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13,100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23,600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5"/>
                  </a:ext>
                </a:extLst>
              </a:tr>
              <a:tr h="20936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13,800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24,800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6"/>
                  </a:ext>
                </a:extLst>
              </a:tr>
              <a:tr h="20936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14,400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25,900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7"/>
                  </a:ext>
                </a:extLst>
              </a:tr>
              <a:tr h="20936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14,900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26,800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8"/>
                  </a:ext>
                </a:extLst>
              </a:tr>
              <a:tr h="20936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15,200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27,400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9"/>
                  </a:ext>
                </a:extLst>
              </a:tr>
              <a:tr h="20936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20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15,500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27,900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76%</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Montserrat"/>
                          <a:cs typeface="Arial"/>
                          <a:sym typeface="Arial"/>
                        </a:rPr>
                        <a:t>72%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extLst>
      <p:ext uri="{BB962C8B-B14F-4D97-AF65-F5344CB8AC3E}">
        <p14:creationId xmlns:p14="http://schemas.microsoft.com/office/powerpoint/2010/main" val="20117248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5">
            <a:extLst>
              <a:ext uri="{FF2B5EF4-FFF2-40B4-BE49-F238E27FC236}">
                <a16:creationId xmlns:a16="http://schemas.microsoft.com/office/drawing/2014/main" id="{176BAF2A-5136-E457-9AAC-D0878752F10C}"/>
              </a:ext>
            </a:extLst>
          </p:cNvPr>
          <p:cNvGraphicFramePr>
            <a:graphicFrameLocks noGrp="1"/>
          </p:cNvGraphicFramePr>
          <p:nvPr>
            <p:extLst>
              <p:ext uri="{D42A27DB-BD31-4B8C-83A1-F6EECF244321}">
                <p14:modId xmlns:p14="http://schemas.microsoft.com/office/powerpoint/2010/main" val="287256461"/>
              </p:ext>
            </p:extLst>
          </p:nvPr>
        </p:nvGraphicFramePr>
        <p:xfrm>
          <a:off x="418056" y="764777"/>
          <a:ext cx="6972297" cy="119888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200" b="1" dirty="0">
                          <a:solidFill>
                            <a:schemeClr val="bg1"/>
                          </a:solidFill>
                          <a:latin typeface="Montserrat" panose="00000500000000000000" pitchFamily="2" charset="0"/>
                        </a:rPr>
                        <a:t>Pre-DTE Cohort of 2,600 Employees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400" dirty="0">
                          <a:latin typeface="Montserrat" panose="00000500000000000000" pitchFamily="2" charset="0"/>
                        </a:rPr>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$ 5,126,138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$ 4,110,806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$ 1,919,712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$ 11,156,656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$ 1,476,328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$ 1,183,912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$ 552,877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$ 3,213,117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3" name="Straight Connector 13">
            <a:extLst>
              <a:ext uri="{FF2B5EF4-FFF2-40B4-BE49-F238E27FC236}">
                <a16:creationId xmlns:a16="http://schemas.microsoft.com/office/drawing/2014/main" id="{8EA958C5-E105-8A94-794A-7A8EB2DFEBDC}"/>
              </a:ext>
            </a:extLst>
          </p:cNvPr>
          <p:cNvCxnSpPr/>
          <p:nvPr/>
        </p:nvCxnSpPr>
        <p:spPr>
          <a:xfrm>
            <a:off x="316454" y="3716618"/>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4" name="Table 14">
            <a:extLst>
              <a:ext uri="{FF2B5EF4-FFF2-40B4-BE49-F238E27FC236}">
                <a16:creationId xmlns:a16="http://schemas.microsoft.com/office/drawing/2014/main" id="{FF3ACACB-7F38-7EAA-4BDF-1A816CA00AAE}"/>
              </a:ext>
            </a:extLst>
          </p:cNvPr>
          <p:cNvGraphicFramePr>
            <a:graphicFrameLocks noGrp="1"/>
          </p:cNvGraphicFramePr>
          <p:nvPr>
            <p:extLst>
              <p:ext uri="{D42A27DB-BD31-4B8C-83A1-F6EECF244321}">
                <p14:modId xmlns:p14="http://schemas.microsoft.com/office/powerpoint/2010/main" val="484940483"/>
              </p:ext>
            </p:extLst>
          </p:nvPr>
        </p:nvGraphicFramePr>
        <p:xfrm>
          <a:off x="462503" y="4085951"/>
          <a:ext cx="7134051" cy="2225040"/>
        </p:xfrm>
        <a:graphic>
          <a:graphicData uri="http://schemas.openxmlformats.org/drawingml/2006/table">
            <a:tbl>
              <a:tblPr firstRow="1" bandRow="1">
                <a:tableStyleId>{5940675A-B579-460E-94D1-54222C63F5DA}</a:tableStyleId>
              </a:tblPr>
              <a:tblGrid>
                <a:gridCol w="5375589">
                  <a:extLst>
                    <a:ext uri="{9D8B030D-6E8A-4147-A177-3AD203B41FA5}">
                      <a16:colId xmlns:a16="http://schemas.microsoft.com/office/drawing/2014/main" val="1938271373"/>
                    </a:ext>
                  </a:extLst>
                </a:gridCol>
                <a:gridCol w="1758462">
                  <a:extLst>
                    <a:ext uri="{9D8B030D-6E8A-4147-A177-3AD203B41FA5}">
                      <a16:colId xmlns:a16="http://schemas.microsoft.com/office/drawing/2014/main" val="232002059"/>
                    </a:ext>
                  </a:extLst>
                </a:gridCol>
              </a:tblGrid>
              <a:tr h="370840">
                <a:tc>
                  <a:txBody>
                    <a:bodyPr/>
                    <a:lstStyle/>
                    <a:p>
                      <a:r>
                        <a:rPr lang="en-US" sz="1600" dirty="0">
                          <a:latin typeface="Montserrat" panose="00000500000000000000" pitchFamily="2" charset="0"/>
                        </a:rPr>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$ 3,223,132</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sz="1600" dirty="0">
                          <a:latin typeface="Montserrat" panose="00000500000000000000" pitchFamily="2" charset="0"/>
                        </a:rPr>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$ 31,200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sz="1600" dirty="0">
                          <a:latin typeface="Montserrat" panose="00000500000000000000" pitchFamily="2" charset="0"/>
                        </a:rPr>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$ 3,227,932</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sz="1600" dirty="0">
                          <a:solidFill/>
                          <a:latin typeface="Montserrat" panose="00000500000000000000" pitchFamily="2" charset="0"/>
                        </a:rPr>
                        <a:t>Minus Implementation Fee (One-Time)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sz="1600" dirty="0">
                          <a:latin typeface="Montserrat" panose="00000500000000000000" pitchFamily="2" charset="0"/>
                        </a:rPr>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sz="1600" b="1" dirty="0">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b="1" dirty="0">
                          <a:solidFill>
                            <a:schemeClr val="accent6">
                              <a:lumMod val="75000"/>
                            </a:schemeClr>
                          </a:solidFill>
                          <a:latin typeface="Montserrat" panose="00000500000000000000" pitchFamily="2" charset="0"/>
                        </a:rPr>
                        <a:t>$ 3,074,332</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5" name="Table 15">
            <a:extLst>
              <a:ext uri="{FF2B5EF4-FFF2-40B4-BE49-F238E27FC236}">
                <a16:creationId xmlns:a16="http://schemas.microsoft.com/office/drawing/2014/main" id="{32A51F3A-032C-30E2-F635-DD59B5A29A34}"/>
              </a:ext>
            </a:extLst>
          </p:cNvPr>
          <p:cNvGraphicFramePr>
            <a:graphicFrameLocks noGrp="1"/>
          </p:cNvGraphicFramePr>
          <p:nvPr>
            <p:extLst>
              <p:ext uri="{D42A27DB-BD31-4B8C-83A1-F6EECF244321}">
                <p14:modId xmlns:p14="http://schemas.microsoft.com/office/powerpoint/2010/main" val="1967198922"/>
              </p:ext>
            </p:extLst>
          </p:nvPr>
        </p:nvGraphicFramePr>
        <p:xfrm>
          <a:off x="418055" y="2234768"/>
          <a:ext cx="6972296" cy="88392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200" b="1" dirty="0">
                          <a:solidFill>
                            <a:schemeClr val="bg1"/>
                          </a:solidFill>
                          <a:latin typeface="Montserrat" panose="00000500000000000000" pitchFamily="2" charset="0"/>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400" dirty="0">
                          <a:latin typeface="Montserrat" panose="00000500000000000000" pitchFamily="2" charset="0"/>
                        </a:rPr>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$ 6,520,144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$ 10,789,389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$ 5,038,553</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$ 22,348,085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$ 1,877,801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$ 3,107,344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$ 1,451,103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$ 6,436,249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6" name="TextBox 1">
            <a:extLst>
              <a:ext uri="{FF2B5EF4-FFF2-40B4-BE49-F238E27FC236}">
                <a16:creationId xmlns:a16="http://schemas.microsoft.com/office/drawing/2014/main" id="{60820A86-1B9D-21A4-BBB6-DDFB73605882}"/>
              </a:ext>
            </a:extLst>
          </p:cNvPr>
          <p:cNvSpPr txBox="1"/>
          <p:nvPr/>
        </p:nvSpPr>
        <p:spPr>
          <a:xfrm>
            <a:off x="7752549" y="953947"/>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Assuming proportional revenues from market shares of 58% (inpatient) and 26% (outpatient)</a:t>
            </a:r>
          </a:p>
        </p:txBody>
      </p:sp>
      <p:sp>
        <p:nvSpPr>
          <p:cNvPr id="7" name="TextBox 2">
            <a:extLst>
              <a:ext uri="{FF2B5EF4-FFF2-40B4-BE49-F238E27FC236}">
                <a16:creationId xmlns:a16="http://schemas.microsoft.com/office/drawing/2014/main" id="{6CDBA057-BBD2-8F54-E977-26B782E37F88}"/>
              </a:ext>
            </a:extLst>
          </p:cNvPr>
          <p:cNvSpPr txBox="1"/>
          <p:nvPr/>
        </p:nvSpPr>
        <p:spPr>
          <a:xfrm>
            <a:off x="7752549" y="1801103"/>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28.8% (80% of the estimated commercial margin)</a:t>
            </a:r>
          </a:p>
        </p:txBody>
      </p:sp>
      <p:sp>
        <p:nvSpPr>
          <p:cNvPr id="8" name="TextBox 6">
            <a:extLst>
              <a:ext uri="{FF2B5EF4-FFF2-40B4-BE49-F238E27FC236}">
                <a16:creationId xmlns:a16="http://schemas.microsoft.com/office/drawing/2014/main" id="{C690F22E-C9CA-61DC-5584-149573110610}"/>
              </a:ext>
            </a:extLst>
          </p:cNvPr>
          <p:cNvSpPr txBox="1"/>
          <p:nvPr/>
        </p:nvSpPr>
        <p:spPr>
          <a:xfrm>
            <a:off x="7752549" y="2535638"/>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⁰ Assuming 74% inpatient and 67%  market steerage based on KBA narrow network DTE experience (see previous slide)</a:t>
            </a:r>
          </a:p>
        </p:txBody>
      </p:sp>
      <p:sp>
        <p:nvSpPr>
          <p:cNvPr id="9" name="TextBox 7">
            <a:extLst>
              <a:ext uri="{FF2B5EF4-FFF2-40B4-BE49-F238E27FC236}">
                <a16:creationId xmlns:a16="http://schemas.microsoft.com/office/drawing/2014/main" id="{A897897D-C568-B204-6568-514AD4B71A5C}"/>
              </a:ext>
            </a:extLst>
          </p:cNvPr>
          <p:cNvSpPr txBox="1"/>
          <p:nvPr/>
        </p:nvSpPr>
        <p:spPr>
          <a:xfrm>
            <a:off x="7752548" y="3324229"/>
            <a:ext cx="4318001" cy="1600438"/>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28.8%, with a 10 percentage-point reduction to reflect competitive-edge rates and a 10 percentage-point increase due to lower billing costs and higher patient responsibility collections because of the member credit card. </a:t>
            </a:r>
          </a:p>
        </p:txBody>
      </p:sp>
      <p:sp>
        <p:nvSpPr>
          <p:cNvPr id="10" name="TextBox 8">
            <a:extLst>
              <a:ext uri="{FF2B5EF4-FFF2-40B4-BE49-F238E27FC236}">
                <a16:creationId xmlns:a16="http://schemas.microsoft.com/office/drawing/2014/main" id="{1BBEE831-0583-9B2A-D9B8-C57C918E4C3C}"/>
              </a:ext>
            </a:extLst>
          </p:cNvPr>
          <p:cNvSpPr txBox="1"/>
          <p:nvPr/>
        </p:nvSpPr>
        <p:spPr>
          <a:xfrm>
            <a:off x="316454" y="34749"/>
            <a:ext cx="10286695" cy="584775"/>
          </a:xfrm>
          <a:prstGeom prst="rect">
            <a:avLst/>
          </a:prstGeom>
          <a:noFill/>
        </p:spPr>
        <p:txBody>
          <a:bodyPr wrap="square" rtlCol="0">
            <a:spAutoFit/>
          </a:bodyPr>
          <a:lstStyle/>
          <a:p>
            <a:r>
              <a:rPr lang="en-US" sz="3200" dirty="0">
                <a:latin typeface="Montserrat" panose="00000500000000000000" pitchFamily="2" charset="0"/>
                <a:cs typeface="Calibri" panose="020F0502020204030204" pitchFamily="34" charset="0"/>
              </a:rPr>
              <a:t>YEAR 4 PROJECTED REVENUE AND PROFIT</a:t>
            </a:r>
          </a:p>
        </p:txBody>
      </p:sp>
      <p:pic>
        <p:nvPicPr>
          <p:cNvPr id="11" name="Picture 9">
            <a:extLst>
              <a:ext uri="{FF2B5EF4-FFF2-40B4-BE49-F238E27FC236}">
                <a16:creationId xmlns:a16="http://schemas.microsoft.com/office/drawing/2014/main" id="{7D073370-D0BE-1A39-1DCE-8896BD0D4C9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2" name="Freeform 13">
            <a:extLst>
              <a:ext uri="{FF2B5EF4-FFF2-40B4-BE49-F238E27FC236}">
                <a16:creationId xmlns:a16="http://schemas.microsoft.com/office/drawing/2014/main" id="{47B20ECB-E742-CAF7-0C94-E491C5D3F04B}"/>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4198165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011965384"/>
              </p:ext>
            </p:extLst>
          </p:nvPr>
        </p:nvGraphicFramePr>
        <p:xfrm>
          <a:off x="0" y="0"/>
          <a:ext cx="12198096" cy="6858000"/>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329293">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Target Estimate Assuming 50%+ Within-Plan Steerage and a Commercial Margin of 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292705">
                <a:tc gridSpan="5">
                  <a:txBody>
                    <a:bodyPr/>
                    <a:lstStyle/>
                    <a:p>
                      <a:pPr marL="63500" marR="63500" algn="l">
                        <a:lnSpc>
                          <a:spcPct val="100000"/>
                        </a:lnSpc>
                        <a:spcBef>
                          <a:spcPts val="5"/>
                        </a:spcBef>
                        <a:spcAft>
                          <a:spcPts val="5"/>
                        </a:spcAft>
                        <a:buNone/>
                      </a:pPr>
                      <a:r>
                        <a:rPr sz="16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257261">
                <a:tc>
                  <a:txBody>
                    <a:bodyPr/>
                    <a:lstStyle/>
                    <a:p>
                      <a:pPr marL="63500" marR="63500" algn="l">
                        <a:lnSpc>
                          <a:spcPct val="100000"/>
                        </a:lnSpc>
                        <a:spcBef>
                          <a:spcPts val="5"/>
                        </a:spcBef>
                        <a:spcAft>
                          <a:spcPts val="5"/>
                        </a:spcAft>
                        <a:buNone/>
                      </a:pPr>
                      <a:r>
                        <a:rPr sz="105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$985.8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$1,971.6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$9,858.0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$49,289.8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$283.9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$567.8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$2,839.1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$14,195.5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$1,190.5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$2,380.9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$11,904.7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$59,523.4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$342.9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$685.7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$3,428.6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$17,142.8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39058">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$204.7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$409.3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$2,046.7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$10,233.7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439058">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Inpatient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$58.9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$117.9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$589.5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$2,947.3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Outpatient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$790.5</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$1,581.1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$7,905.4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$39,527.0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$227.7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$455.4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$2,276.8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$11,383.8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$1,855.1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$3,710.2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$18,551.1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$92,755.6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$534.3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$1,068.5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$5,342.7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$26,713.6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439058">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$1,064.6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$2,129.1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$10,645.7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$53,228.7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439058">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Outpatient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$306.6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$613.2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$3,066.0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$15,329.9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Professional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$369.2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$738.4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$3,691.8</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$18,458.8</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dirty="0">
                          <a:solidFill>
                            <a:srgbClr val="000000">
                              <a:alpha val="100000"/>
                            </a:srgbClr>
                          </a:solidFill>
                          <a:latin typeface="Montserrat"/>
                          <a:cs typeface="Arial"/>
                          <a:sym typeface="Arial"/>
                        </a:rPr>
                        <a:t>$106.3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$212.6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$1,063.2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$5,316.1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$866.3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$1,732.6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$8,663.2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$43,316.1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$249.5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$499.0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$2,495.0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$12,475.0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439058">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$497.1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$994.3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$4,971.5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$24,857.3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439058">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Professional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$143.2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$286.4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$1,431.8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$7,158.9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r h="257261">
                <a:tc>
                  <a:txBody>
                    <a:bodyPr/>
                    <a:lstStyle/>
                    <a:p>
                      <a:pPr marL="63500" marR="63500" algn="l">
                        <a:lnSpc>
                          <a:spcPct val="100000"/>
                        </a:lnSpc>
                        <a:spcBef>
                          <a:spcPts val="5"/>
                        </a:spcBef>
                        <a:spcAft>
                          <a:spcPts val="5"/>
                        </a:spcAft>
                        <a:buNone/>
                      </a:pPr>
                      <a:r>
                        <a:rPr sz="12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cap="none">
                          <a:solidFill>
                            <a:srgbClr val="000000">
                              <a:alpha val="100000"/>
                            </a:srgbClr>
                          </a:solidFill>
                          <a:latin typeface="Montserrat"/>
                          <a:cs typeface="Arial"/>
                          <a:sym typeface="Arial"/>
                        </a:rPr>
                        <a:t>$184.7</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cap="none">
                          <a:solidFill>
                            <a:srgbClr val="000000">
                              <a:alpha val="100000"/>
                            </a:srgbClr>
                          </a:solidFill>
                          <a:latin typeface="Montserrat"/>
                          <a:cs typeface="Arial"/>
                          <a:sym typeface="Arial"/>
                        </a:rPr>
                        <a:t>$699.4</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cap="none">
                          <a:solidFill>
                            <a:srgbClr val="000000">
                              <a:alpha val="100000"/>
                            </a:srgbClr>
                          </a:solidFill>
                          <a:latin typeface="Montserrat"/>
                          <a:cs typeface="Arial"/>
                          <a:sym typeface="Arial"/>
                        </a:rPr>
                        <a:t>$4,817.2</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cap="none" dirty="0">
                          <a:solidFill>
                            <a:srgbClr val="000000">
                              <a:alpha val="100000"/>
                            </a:srgbClr>
                          </a:solidFill>
                          <a:latin typeface="Montserrat"/>
                          <a:cs typeface="Arial"/>
                          <a:sym typeface="Arial"/>
                        </a:rPr>
                        <a:t>$25,406.1</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422372799"/>
              </p:ext>
            </p:extLst>
          </p:nvPr>
        </p:nvGraphicFramePr>
        <p:xfrm>
          <a:off x="0" y="0"/>
          <a:ext cx="12198096" cy="6858000"/>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551812">
                <a:tc gridSpan="5">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496631">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387994">
                <a:tc>
                  <a:txBody>
                    <a:bodyPr/>
                    <a:lstStyle/>
                    <a:p>
                      <a:pPr marL="63500" marR="63500" algn="l">
                        <a:lnSpc>
                          <a:spcPct val="100000"/>
                        </a:lnSpc>
                        <a:spcBef>
                          <a:spcPts val="5"/>
                        </a:spcBef>
                        <a:spcAft>
                          <a:spcPts val="5"/>
                        </a:spcAft>
                        <a:buNone/>
                      </a:pPr>
                      <a:r>
                        <a:rPr sz="110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$2,145.5</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$4,291.0</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$21,455.1</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$107,275.5</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$617.9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$1,235.8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$6,179.1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$30,895.4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$3,911.9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$7,823.8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$39,119.0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$195,595.2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772537">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$1,766.4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$3,532.8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$17,663.9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$88,319.7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772537">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Incremental Total Revenue by Member</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$1,126.6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$2,253.3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$11,266.3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$56,331.4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772537">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$508.7</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$1,017.4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$5,087.2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$25,436.1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87994">
                <a:tc>
                  <a:txBody>
                    <a:bodyPr/>
                    <a:lstStyle/>
                    <a:p>
                      <a:pPr marL="63500" marR="63500" algn="l">
                        <a:lnSpc>
                          <a:spcPct val="100000"/>
                        </a:lnSpc>
                        <a:spcBef>
                          <a:spcPts val="5"/>
                        </a:spcBef>
                        <a:spcAft>
                          <a:spcPts val="5"/>
                        </a:spcAft>
                        <a:buNone/>
                      </a:pPr>
                      <a:r>
                        <a:rPr sz="14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$184.7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$699.4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$4,817.2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$25,406.1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10642229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586024507"/>
              </p:ext>
            </p:extLst>
          </p:nvPr>
        </p:nvGraphicFramePr>
        <p:xfrm>
          <a:off x="0" y="0"/>
          <a:ext cx="12198096" cy="6858004"/>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10563">
                <a:tc gridSpan="5">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29%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29%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29%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29%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29%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0"/>
                  </a:ext>
                </a:extLst>
              </a:tr>
              <a:tr h="549506">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1"/>
                  </a:ext>
                </a:extLst>
              </a:tr>
              <a:tr h="443151">
                <a:tc>
                  <a:txBody>
                    <a:bodyPr/>
                    <a:lstStyle/>
                    <a:p>
                      <a:pPr marL="63500" marR="63500" algn="l">
                        <a:lnSpc>
                          <a:spcPct val="100000"/>
                        </a:lnSpc>
                        <a:spcBef>
                          <a:spcPts val="5"/>
                        </a:spcBef>
                        <a:spcAft>
                          <a:spcPts val="5"/>
                        </a:spcAft>
                        <a:buNone/>
                      </a:pPr>
                      <a:r>
                        <a:rPr sz="110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$2,145.5</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$4,291.0</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$21,455.1</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$107,275.5</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$617.9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$1,235.8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$6,179.1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$30,895.4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$4,546.0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$9,092.0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$45,459.9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$227,299.7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$2,400.5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$4,801.0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$24,004.8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$120,024.2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$1,536.5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$3,073.1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$15,365.5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$76,827.3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$918.6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$1,837.3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$9,186.4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$45,931.9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43151">
                <a:tc>
                  <a:txBody>
                    <a:bodyPr/>
                    <a:lstStyle/>
                    <a:p>
                      <a:pPr marL="63500" marR="63500" algn="l">
                        <a:lnSpc>
                          <a:spcPct val="100000"/>
                        </a:lnSpc>
                        <a:spcBef>
                          <a:spcPts val="5"/>
                        </a:spcBef>
                        <a:spcAft>
                          <a:spcPts val="5"/>
                        </a:spcAft>
                        <a:buNone/>
                      </a:pPr>
                      <a:r>
                        <a:rPr sz="14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$594.6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$1,519.3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$8,916.4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$45,901.9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693439607"/>
              </p:ext>
            </p:extLst>
          </p:nvPr>
        </p:nvGraphicFramePr>
        <p:xfrm>
          <a:off x="0" y="0"/>
          <a:ext cx="12198096" cy="6858004"/>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10563">
                <a:tc gridSpan="5">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549506">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443151">
                <a:tc>
                  <a:txBody>
                    <a:bodyPr/>
                    <a:lstStyle/>
                    <a:p>
                      <a:pPr marL="63500" marR="63500" algn="l">
                        <a:lnSpc>
                          <a:spcPct val="100000"/>
                        </a:lnSpc>
                        <a:spcBef>
                          <a:spcPts val="5"/>
                        </a:spcBef>
                        <a:spcAft>
                          <a:spcPts val="5"/>
                        </a:spcAft>
                        <a:buNone/>
                      </a:pPr>
                      <a:r>
                        <a:rPr sz="110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$2,145.5</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$4,291.0</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$21,455.1</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$107,275.5</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$617.9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$1,235.8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$6,179.1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$30,895.4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$3,288.3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$6,576.5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$32,882.6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$164,413.2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$1,142.8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$2,285.5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$11,427.5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$57,137.7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$782.6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$1,565.2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$7,826.1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$39,130.3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$164.7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$329.4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$1,647.0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$8,235.0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43151">
                <a:tc>
                  <a:txBody>
                    <a:bodyPr/>
                    <a:lstStyle/>
                    <a:p>
                      <a:pPr marL="63500" marR="63500" algn="l">
                        <a:lnSpc>
                          <a:spcPct val="100000"/>
                        </a:lnSpc>
                        <a:spcBef>
                          <a:spcPts val="5"/>
                        </a:spcBef>
                        <a:spcAft>
                          <a:spcPts val="5"/>
                        </a:spcAft>
                        <a:buNone/>
                      </a:pPr>
                      <a:r>
                        <a:rPr sz="14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$-159.3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$11.4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$1,377.0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$8,205.0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7909179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6">
            <a:extLst>
              <a:ext uri="{FF2B5EF4-FFF2-40B4-BE49-F238E27FC236}">
                <a16:creationId xmlns:a16="http://schemas.microsoft.com/office/drawing/2014/main" id="{1170DD0A-05C2-4268-9BEE-34CB1FB2DDC3}"/>
              </a:ext>
            </a:extLst>
          </p:cNvPr>
          <p:cNvSpPr/>
          <p:nvPr/>
        </p:nvSpPr>
        <p:spPr>
          <a:xfrm>
            <a:off x="3320170" y="2278363"/>
            <a:ext cx="2743200" cy="4180864"/>
          </a:xfrm>
          <a:prstGeom prst="roundRect">
            <a:avLst>
              <a:gd name="adj" fmla="val 5098"/>
            </a:avLst>
          </a:prstGeom>
          <a:solidFill>
            <a:srgbClr val="254F96"/>
          </a:solidFill>
          <a:ln>
            <a:solidFill>
              <a:srgbClr val="ED7623"/>
            </a:solid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Incremental Revenues and Margin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Branding &amp; Messaging</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Benefit Plan Integration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Network Steerage</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Relationship with Self-Funded Employers</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Referral Authorization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Plan Transparency</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Access to Members</a:t>
            </a:r>
          </a:p>
        </p:txBody>
      </p:sp>
      <p:sp>
        <p:nvSpPr>
          <p:cNvPr id="3" name="Rectangle: Rounded Corners 14">
            <a:extLst>
              <a:ext uri="{FF2B5EF4-FFF2-40B4-BE49-F238E27FC236}">
                <a16:creationId xmlns:a16="http://schemas.microsoft.com/office/drawing/2014/main" id="{A3776881-4D82-4E5B-9D20-1D9004AEFF9F}"/>
              </a:ext>
            </a:extLst>
          </p:cNvPr>
          <p:cNvSpPr/>
          <p:nvPr/>
        </p:nvSpPr>
        <p:spPr>
          <a:xfrm>
            <a:off x="3297324" y="2014404"/>
            <a:ext cx="2772550" cy="920386"/>
          </a:xfrm>
          <a:prstGeom prst="roundRect">
            <a:avLst>
              <a:gd name="adj" fmla="val 8168"/>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endParaRPr lang="en-US" sz="1400" b="1" spc="300" dirty="0">
              <a:latin typeface="Montserrat" panose="00000500000000000000" pitchFamily="2" charset="0"/>
            </a:endParaRPr>
          </a:p>
        </p:txBody>
      </p:sp>
      <p:sp>
        <p:nvSpPr>
          <p:cNvPr id="4" name="Rectangle: Rounded Corners 12">
            <a:extLst>
              <a:ext uri="{FF2B5EF4-FFF2-40B4-BE49-F238E27FC236}">
                <a16:creationId xmlns:a16="http://schemas.microsoft.com/office/drawing/2014/main" id="{19A4738F-4400-47B5-AF42-3846B7BB42F5}"/>
              </a:ext>
            </a:extLst>
          </p:cNvPr>
          <p:cNvSpPr/>
          <p:nvPr/>
        </p:nvSpPr>
        <p:spPr>
          <a:xfrm>
            <a:off x="3290788" y="640792"/>
            <a:ext cx="2752344" cy="1638357"/>
          </a:xfrm>
          <a:prstGeom prst="roundRect">
            <a:avLst>
              <a:gd name="adj" fmla="val 5098"/>
            </a:avLst>
          </a:pr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5" name="Rectangle: Rounded Corners 4">
            <a:extLst>
              <a:ext uri="{FF2B5EF4-FFF2-40B4-BE49-F238E27FC236}">
                <a16:creationId xmlns:a16="http://schemas.microsoft.com/office/drawing/2014/main" id="{033B2561-9797-4F6F-A55B-F4CC8AEBE7EA}"/>
              </a:ext>
            </a:extLst>
          </p:cNvPr>
          <p:cNvSpPr/>
          <p:nvPr/>
        </p:nvSpPr>
        <p:spPr>
          <a:xfrm>
            <a:off x="419877" y="2268991"/>
            <a:ext cx="2743200" cy="4206240"/>
          </a:xfrm>
          <a:prstGeom prst="roundRect">
            <a:avLst>
              <a:gd name="adj" fmla="val 5098"/>
            </a:avLst>
          </a:prstGeom>
          <a:solidFill>
            <a:srgbClr val="000B2E"/>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Full TPA Administration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Stop-Loss Administration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True Transparency &amp; Analytics</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Population Health  Management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Utilization &amp; Case Management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Sales &amp; Marketing</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Transparent PBM</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Website &amp; Mobile App</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Customizable options &amp;  plans</a:t>
            </a:r>
          </a:p>
        </p:txBody>
      </p:sp>
      <p:sp>
        <p:nvSpPr>
          <p:cNvPr id="6" name="Rectangle: Rounded Corners 7">
            <a:extLst>
              <a:ext uri="{FF2B5EF4-FFF2-40B4-BE49-F238E27FC236}">
                <a16:creationId xmlns:a16="http://schemas.microsoft.com/office/drawing/2014/main" id="{7E2632F1-6823-4C7E-A144-BBB7C0B6DEF9}"/>
              </a:ext>
            </a:extLst>
          </p:cNvPr>
          <p:cNvSpPr/>
          <p:nvPr/>
        </p:nvSpPr>
        <p:spPr>
          <a:xfrm>
            <a:off x="9080246" y="2252987"/>
            <a:ext cx="2743200" cy="4206240"/>
          </a:xfrm>
          <a:prstGeom prst="roundRect">
            <a:avLst>
              <a:gd name="adj" fmla="val 5098"/>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Reduced Out of Pocket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Improved Health</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Better Coordination &amp; Navigation of Care </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Access to the Best Medical Providers</a:t>
            </a:r>
          </a:p>
        </p:txBody>
      </p:sp>
      <p:sp>
        <p:nvSpPr>
          <p:cNvPr id="7" name="Rectangle: Rounded Corners 8">
            <a:extLst>
              <a:ext uri="{FF2B5EF4-FFF2-40B4-BE49-F238E27FC236}">
                <a16:creationId xmlns:a16="http://schemas.microsoft.com/office/drawing/2014/main" id="{452F9C72-ACBF-4B37-96AA-5B488724CF16}"/>
              </a:ext>
            </a:extLst>
          </p:cNvPr>
          <p:cNvSpPr/>
          <p:nvPr/>
        </p:nvSpPr>
        <p:spPr>
          <a:xfrm>
            <a:off x="417144" y="767141"/>
            <a:ext cx="2743200" cy="2194560"/>
          </a:xfrm>
          <a:prstGeom prst="roundRect">
            <a:avLst>
              <a:gd name="adj" fmla="val 8168"/>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Key Benefit Administrators</a:t>
            </a:r>
          </a:p>
        </p:txBody>
      </p:sp>
      <p:sp>
        <p:nvSpPr>
          <p:cNvPr id="8" name="Rectangle: Rounded Corners 11">
            <a:extLst>
              <a:ext uri="{FF2B5EF4-FFF2-40B4-BE49-F238E27FC236}">
                <a16:creationId xmlns:a16="http://schemas.microsoft.com/office/drawing/2014/main" id="{28D58689-51BB-4F50-AD3D-5F57EB09F0A5}"/>
              </a:ext>
            </a:extLst>
          </p:cNvPr>
          <p:cNvSpPr/>
          <p:nvPr/>
        </p:nvSpPr>
        <p:spPr>
          <a:xfrm>
            <a:off x="418323" y="614629"/>
            <a:ext cx="2752344" cy="1663734"/>
          </a:xfrm>
          <a:prstGeom prst="roundRect">
            <a:avLst>
              <a:gd name="adj" fmla="val 5098"/>
            </a:avLst>
          </a:prstGeom>
          <a:blipFill>
            <a:blip r:embed="rId3" cstate="screen">
              <a:duotone>
                <a:schemeClr val="accent3">
                  <a:shade val="45000"/>
                  <a:satMod val="135000"/>
                </a:schemeClr>
                <a:prstClr val="white"/>
              </a:duotone>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9" name="Rectangle: Rounded Corners 15">
            <a:extLst>
              <a:ext uri="{FF2B5EF4-FFF2-40B4-BE49-F238E27FC236}">
                <a16:creationId xmlns:a16="http://schemas.microsoft.com/office/drawing/2014/main" id="{1588ACF9-8E0F-4A2C-A1CE-0329366276D0}"/>
              </a:ext>
            </a:extLst>
          </p:cNvPr>
          <p:cNvSpPr/>
          <p:nvPr/>
        </p:nvSpPr>
        <p:spPr>
          <a:xfrm>
            <a:off x="9067800" y="751136"/>
            <a:ext cx="2760326" cy="2194560"/>
          </a:xfrm>
          <a:prstGeom prst="roundRect">
            <a:avLst>
              <a:gd name="adj" fmla="val 8168"/>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Employee</a:t>
            </a:r>
          </a:p>
        </p:txBody>
      </p:sp>
      <p:sp>
        <p:nvSpPr>
          <p:cNvPr id="10" name="Rectangle: Rounded Corners 13">
            <a:extLst>
              <a:ext uri="{FF2B5EF4-FFF2-40B4-BE49-F238E27FC236}">
                <a16:creationId xmlns:a16="http://schemas.microsoft.com/office/drawing/2014/main" id="{9CADBD40-EFBC-4DA0-9488-76FEF832A3DA}"/>
              </a:ext>
            </a:extLst>
          </p:cNvPr>
          <p:cNvSpPr/>
          <p:nvPr/>
        </p:nvSpPr>
        <p:spPr>
          <a:xfrm>
            <a:off x="9069166" y="598625"/>
            <a:ext cx="2758959" cy="1663734"/>
          </a:xfrm>
          <a:prstGeom prst="roundRect">
            <a:avLst>
              <a:gd name="adj" fmla="val 5098"/>
            </a:avLst>
          </a:prstGeom>
          <a:blipFill>
            <a:blip r:embed="rId5" cstate="screen">
              <a:duotone>
                <a:prstClr val="black"/>
                <a:schemeClr val="accent3">
                  <a:tint val="45000"/>
                  <a:satMod val="400000"/>
                </a:schemeClr>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11" name="Rectangle: Rounded Corners 18">
            <a:extLst>
              <a:ext uri="{FF2B5EF4-FFF2-40B4-BE49-F238E27FC236}">
                <a16:creationId xmlns:a16="http://schemas.microsoft.com/office/drawing/2014/main" id="{E603E0FD-1B79-43C3-ABAE-5EA24846155A}"/>
              </a:ext>
            </a:extLst>
          </p:cNvPr>
          <p:cNvSpPr/>
          <p:nvPr/>
        </p:nvSpPr>
        <p:spPr>
          <a:xfrm>
            <a:off x="6190866" y="2268991"/>
            <a:ext cx="2743200" cy="4206240"/>
          </a:xfrm>
          <a:prstGeom prst="roundRect">
            <a:avLst>
              <a:gd name="adj" fmla="val 5098"/>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endParaRPr lang="en-US" sz="1200" spc="70" dirty="0">
              <a:latin typeface="Montserrat" panose="00000500000000000000" pitchFamily="2" charset="0"/>
            </a:endParaRPr>
          </a:p>
        </p:txBody>
      </p:sp>
      <p:sp>
        <p:nvSpPr>
          <p:cNvPr id="12" name="Rectangle: Rounded Corners 19">
            <a:extLst>
              <a:ext uri="{FF2B5EF4-FFF2-40B4-BE49-F238E27FC236}">
                <a16:creationId xmlns:a16="http://schemas.microsoft.com/office/drawing/2014/main" id="{706CA18C-73A5-4798-ADEA-6A91A9CA3E3F}"/>
              </a:ext>
            </a:extLst>
          </p:cNvPr>
          <p:cNvSpPr/>
          <p:nvPr/>
        </p:nvSpPr>
        <p:spPr>
          <a:xfrm>
            <a:off x="6190866" y="767140"/>
            <a:ext cx="2743200" cy="2194560"/>
          </a:xfrm>
          <a:prstGeom prst="roundRect">
            <a:avLst>
              <a:gd name="adj" fmla="val 8168"/>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Employer</a:t>
            </a:r>
          </a:p>
        </p:txBody>
      </p:sp>
      <p:sp>
        <p:nvSpPr>
          <p:cNvPr id="13" name="Rectangle: Rounded Corners 20">
            <a:extLst>
              <a:ext uri="{FF2B5EF4-FFF2-40B4-BE49-F238E27FC236}">
                <a16:creationId xmlns:a16="http://schemas.microsoft.com/office/drawing/2014/main" id="{EC389E6D-655C-44F7-A512-D251981967B7}"/>
              </a:ext>
            </a:extLst>
          </p:cNvPr>
          <p:cNvSpPr/>
          <p:nvPr/>
        </p:nvSpPr>
        <p:spPr>
          <a:xfrm>
            <a:off x="6189312" y="614629"/>
            <a:ext cx="2743200" cy="1646474"/>
          </a:xfrm>
          <a:prstGeom prst="roundRect">
            <a:avLst>
              <a:gd name="adj" fmla="val 5098"/>
            </a:avLst>
          </a:prstGeom>
          <a:blipFill>
            <a:blip r:embed="rId6" cstate="screen">
              <a:duotone>
                <a:schemeClr val="accent3">
                  <a:shade val="45000"/>
                  <a:satMod val="135000"/>
                </a:schemeClr>
                <a:prstClr val="white"/>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14" name="TextBox 28">
            <a:extLst>
              <a:ext uri="{FF2B5EF4-FFF2-40B4-BE49-F238E27FC236}">
                <a16:creationId xmlns:a16="http://schemas.microsoft.com/office/drawing/2014/main" id="{4729117A-BB8C-4EBB-A387-7A08741A215C}"/>
              </a:ext>
            </a:extLst>
          </p:cNvPr>
          <p:cNvSpPr txBox="1"/>
          <p:nvPr/>
        </p:nvSpPr>
        <p:spPr>
          <a:xfrm>
            <a:off x="0" y="88118"/>
            <a:ext cx="12192000" cy="400110"/>
          </a:xfrm>
          <a:prstGeom prst="rect">
            <a:avLst/>
          </a:prstGeom>
          <a:noFill/>
        </p:spPr>
        <p:txBody>
          <a:bodyPr wrap="square" rtlCol="0">
            <a:spAutoFit/>
          </a:bodyPr>
          <a:lstStyle/>
          <a:p>
            <a:pPr algn="ctr"/>
            <a:r>
              <a:rPr lang="en-US" sz="2000" b="1" spc="600" dirty="0">
                <a:solidFill>
                  <a:schemeClr val="tx1">
                    <a:lumMod val="50000"/>
                    <a:lumOff val="50000"/>
                  </a:schemeClr>
                </a:solidFill>
                <a:latin typeface="Montserrat" panose="00000500000000000000" pitchFamily="2" charset="0"/>
                <a:cs typeface="Arial" panose="020B0604020202020204" pitchFamily="34" charset="0"/>
              </a:rPr>
              <a:t>COLLABORATION OF STAKEHOLDERS</a:t>
            </a:r>
          </a:p>
        </p:txBody>
      </p:sp>
      <p:sp>
        <p:nvSpPr>
          <p:cNvPr id="15" name="Footer Placeholder 1">
            <a:extLst>
              <a:ext uri="{FF2B5EF4-FFF2-40B4-BE49-F238E27FC236}">
                <a16:creationId xmlns:a16="http://schemas.microsoft.com/office/drawing/2014/main" id="{201E1F3B-34DC-4814-B207-BFA0952F846F}"/>
              </a:ext>
            </a:extLst>
          </p:cNvPr>
          <p:cNvSpPr>
            <a:spLocks noGrp="1"/>
          </p:cNvSpPr>
          <p:nvPr>
            <p:ph type="ftr" sz="quarter" idx="11"/>
          </p:nvPr>
        </p:nvSpPr>
        <p:spPr/>
        <p:txBody>
          <a:bodyPr/>
          <a:lstStyle/>
          <a:p>
            <a:r>
              <a:rPr lang="en-US" sz="1050" dirty="0"/>
              <a:t>Key Benefit Administrators</a:t>
            </a:r>
          </a:p>
        </p:txBody>
      </p:sp>
      <p:sp>
        <p:nvSpPr>
          <p:cNvPr id="16" name="Slide Number Placeholder 4">
            <a:extLst>
              <a:ext uri="{FF2B5EF4-FFF2-40B4-BE49-F238E27FC236}">
                <a16:creationId xmlns:a16="http://schemas.microsoft.com/office/drawing/2014/main" id="{F2BFC0BE-4983-4495-8C0B-3B2676EE2347}"/>
              </a:ext>
            </a:extLst>
          </p:cNvPr>
          <p:cNvSpPr>
            <a:spLocks noGrp="1"/>
          </p:cNvSpPr>
          <p:nvPr>
            <p:ph type="sldNum" sz="quarter" idx="12"/>
          </p:nvPr>
        </p:nvSpPr>
        <p:spPr>
          <a:xfrm>
            <a:off x="8610600" y="6471095"/>
            <a:ext cx="2743200" cy="250380"/>
          </a:xfrm>
        </p:spPr>
        <p:txBody>
          <a:bodyPr/>
          <a:lstStyle/>
          <a:p>
            <a:fld id="{3AFC719D-C4A7-4544-876E-D411D11AF6C9}" type="slidenum">
              <a:rPr lang="en-US" sz="1050" smtClean="0"/>
              <a:t>40</a:t>
            </a:fld>
            <a:endParaRPr lang="en-US" sz="1050" dirty="0"/>
          </a:p>
        </p:txBody>
      </p:sp>
      <p:sp>
        <p:nvSpPr>
          <p:cNvPr id="17" name="TextBox 5">
            <a:extLst>
              <a:ext uri="{FF2B5EF4-FFF2-40B4-BE49-F238E27FC236}">
                <a16:creationId xmlns:a16="http://schemas.microsoft.com/office/drawing/2014/main" id="{9E0B445C-F723-D2CD-7458-1C791D6F47F3}"/>
              </a:ext>
            </a:extLst>
          </p:cNvPr>
          <p:cNvSpPr txBox="1"/>
          <p:nvPr/>
        </p:nvSpPr>
        <p:spPr>
          <a:xfrm>
            <a:off x="3290788" y="2543108"/>
            <a:ext cx="2743200" cy="307777"/>
          </a:xfrm>
          <a:prstGeom prst="rect">
            <a:avLst/>
          </a:prstGeom>
          <a:noFill/>
        </p:spPr>
        <p:txBody>
          <a:bodyPr wrap="square">
            <a:spAutoFit/>
          </a:bodyPr>
          <a:lstStyle/>
          <a:p>
            <a:r>
              <a:rPr lang="en-US" sz="1400" b="1" spc="300" dirty="0">
                <a:solidFill>
                  <a:schemeClr val="bg1"/>
                </a:solidFill>
                <a:latin typeface="Montserrat" panose="00000500000000000000" pitchFamily="2" charset="0"/>
              </a:rPr>
              <a:t>BSMH</a:t>
            </a:r>
          </a:p>
        </p:txBody>
      </p:sp>
      <p:sp>
        <p:nvSpPr>
          <p:cNvPr id="18" name="TextBox 3">
            <a:extLst>
              <a:ext uri="{FF2B5EF4-FFF2-40B4-BE49-F238E27FC236}">
                <a16:creationId xmlns:a16="http://schemas.microsoft.com/office/drawing/2014/main" id="{023ECDC4-FBF0-6BFB-8749-2B605D488427}"/>
              </a:ext>
            </a:extLst>
          </p:cNvPr>
          <p:cNvSpPr txBox="1"/>
          <p:nvPr/>
        </p:nvSpPr>
        <p:spPr>
          <a:xfrm>
            <a:off x="6189312" y="3152422"/>
            <a:ext cx="2743200" cy="1723549"/>
          </a:xfrm>
          <a:prstGeom prst="rect">
            <a:avLst/>
          </a:prstGeom>
          <a:noFill/>
        </p:spPr>
        <p:txBody>
          <a:bodyPr wrap="square">
            <a:spAutoFit/>
          </a:bodyPr>
          <a:lstStyle/>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Reduced Spend</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“At The Table” with Bon Secours Mercy Health</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Improved Analytics</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Complete Transparency</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Lower Stop-Loss</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Benefit Plan Stabilization </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Healthier Population</a:t>
            </a:r>
          </a:p>
        </p:txBody>
      </p:sp>
    </p:spTree>
    <p:extLst>
      <p:ext uri="{BB962C8B-B14F-4D97-AF65-F5344CB8AC3E}">
        <p14:creationId xmlns:p14="http://schemas.microsoft.com/office/powerpoint/2010/main" val="31441921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1013460" y="262490"/>
            <a:ext cx="9576783" cy="528085"/>
          </a:xfrm>
        </p:spPr>
        <p:txBody>
          <a:bodyPr>
            <a:noAutofit/>
          </a:bodyPr>
          <a:lstStyle/>
          <a:p>
            <a:r>
              <a:rPr lang="en-US" sz="2400" dirty="0">
                <a:solidFill>
                  <a:srgbClr val="0063A3"/>
                </a:solidFill>
              </a:rPr>
              <a:t>ROLES &amp; RESPONSIBILITIES</a:t>
            </a:r>
          </a:p>
        </p:txBody>
      </p:sp>
      <p:graphicFrame>
        <p:nvGraphicFramePr>
          <p:cNvPr id="3" name="Table 4">
            <a:extLst>
              <a:ext uri="{FF2B5EF4-FFF2-40B4-BE49-F238E27FC236}">
                <a16:creationId xmlns:a16="http://schemas.microsoft.com/office/drawing/2014/main" id="{3DE2040A-C011-4979-87CF-A22C198DE3CA}"/>
              </a:ext>
            </a:extLst>
          </p:cNvPr>
          <p:cNvGraphicFramePr>
            <a:graphicFrameLocks noGrp="1"/>
          </p:cNvGraphicFramePr>
          <p:nvPr>
            <p:extLst>
              <p:ext uri="{D42A27DB-BD31-4B8C-83A1-F6EECF244321}">
                <p14:modId xmlns:p14="http://schemas.microsoft.com/office/powerpoint/2010/main" val="3202829898"/>
              </p:ext>
            </p:extLst>
          </p:nvPr>
        </p:nvGraphicFramePr>
        <p:xfrm>
          <a:off x="1013460" y="857025"/>
          <a:ext cx="10121264" cy="5560539"/>
        </p:xfrm>
        <a:graphic>
          <a:graphicData uri="http://schemas.openxmlformats.org/drawingml/2006/table">
            <a:tbl>
              <a:tblPr firstRow="1">
                <a:tableStyleId>{8799B23B-EC83-4686-B30A-512413B5E67A}</a:tableStyleId>
              </a:tblPr>
              <a:tblGrid>
                <a:gridCol w="4941454">
                  <a:extLst>
                    <a:ext uri="{9D8B030D-6E8A-4147-A177-3AD203B41FA5}">
                      <a16:colId xmlns:a16="http://schemas.microsoft.com/office/drawing/2014/main" val="2456270069"/>
                    </a:ext>
                  </a:extLst>
                </a:gridCol>
                <a:gridCol w="5179810">
                  <a:extLst>
                    <a:ext uri="{9D8B030D-6E8A-4147-A177-3AD203B41FA5}">
                      <a16:colId xmlns:a16="http://schemas.microsoft.com/office/drawing/2014/main" val="88257443"/>
                    </a:ext>
                  </a:extLst>
                </a:gridCol>
              </a:tblGrid>
              <a:tr h="274854">
                <a:tc gridSpan="2">
                  <a:txBody>
                    <a:bodyPr/>
                    <a:lstStyle/>
                    <a:p>
                      <a:pPr marL="0" marR="0" algn="ctr">
                        <a:spcBef>
                          <a:spcPts val="0"/>
                        </a:spcBef>
                        <a:spcAft>
                          <a:spcPts val="0"/>
                        </a:spcAft>
                        <a:tabLst>
                          <a:tab pos="4465955" algn="l"/>
                        </a:tabLst>
                      </a:pPr>
                      <a:r>
                        <a:rPr lang="en-US" sz="1400" spc="300" dirty="0">
                          <a:solidFill>
                            <a:schemeClr val="bg1"/>
                          </a:solidFill>
                          <a:effectLst/>
                          <a:latin typeface="Montserrat" panose="00000500000000000000" pitchFamily="2" charset="0"/>
                        </a:rPr>
                        <a:t>SERVICES &amp; ADMINISTRATIVE SYSTEMS PROVIDED BY:</a:t>
                      </a:r>
                      <a:endParaRPr lang="en-US" sz="1400" spc="300" dirty="0">
                        <a:solidFill>
                          <a:schemeClr val="bg1"/>
                        </a:solidFill>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0B2E"/>
                    </a:solidFill>
                  </a:tcPr>
                </a:tc>
                <a:tc hMerge="1">
                  <a:txBody>
                    <a:bodyPr/>
                    <a:lstStyle/>
                    <a:p>
                      <a:endParaRPr lang="en-US"/>
                    </a:p>
                  </a:txBody>
                  <a:tcPr/>
                </a:tc>
                <a:extLst>
                  <a:ext uri="{0D108BD9-81ED-4DB2-BD59-A6C34878D82A}">
                    <a16:rowId xmlns:a16="http://schemas.microsoft.com/office/drawing/2014/main" val="2661458497"/>
                  </a:ext>
                </a:extLst>
              </a:tr>
              <a:tr h="273577">
                <a:tc>
                  <a:txBody>
                    <a:bodyPr/>
                    <a:lstStyle/>
                    <a:p>
                      <a:pPr marL="0" marR="0" algn="ctr">
                        <a:spcBef>
                          <a:spcPts val="0"/>
                        </a:spcBef>
                        <a:spcAft>
                          <a:spcPts val="0"/>
                        </a:spcAft>
                        <a:tabLst>
                          <a:tab pos="4465955" algn="l"/>
                        </a:tabLst>
                      </a:pPr>
                      <a:r>
                        <a:rPr lang="en-US" sz="1200" b="1" u="none" dirty="0">
                          <a:solidFill>
                            <a:schemeClr val="bg1"/>
                          </a:solidFill>
                          <a:effectLst/>
                          <a:latin typeface="Montserrat" panose="00000500000000000000" pitchFamily="2" charset="0"/>
                          <a:ea typeface="Calibri" panose="020F0502020204030204" pitchFamily="34" charset="0"/>
                          <a:cs typeface="Times New Roman" panose="02020603050405020304" pitchFamily="18" charset="0"/>
                        </a:rPr>
                        <a:t>Bon Secours Mercy Health</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9CAE8"/>
                    </a:solidFill>
                  </a:tcPr>
                </a:tc>
                <a:tc>
                  <a:txBody>
                    <a:bodyPr/>
                    <a:lstStyle/>
                    <a:p>
                      <a:pPr marL="0" marR="0" algn="ctr">
                        <a:spcBef>
                          <a:spcPts val="0"/>
                        </a:spcBef>
                        <a:spcAft>
                          <a:spcPts val="0"/>
                        </a:spcAft>
                        <a:tabLst>
                          <a:tab pos="4465955" algn="l"/>
                        </a:tabLst>
                      </a:pPr>
                      <a:r>
                        <a:rPr lang="en-US" sz="1200" b="1" u="none" dirty="0">
                          <a:solidFill>
                            <a:schemeClr val="bg1"/>
                          </a:solidFill>
                          <a:effectLst/>
                          <a:latin typeface="Montserrat" panose="00000500000000000000" pitchFamily="2" charset="0"/>
                        </a:rPr>
                        <a:t>KBA Operations</a:t>
                      </a:r>
                      <a:endParaRPr lang="en-US" sz="1200" b="1" u="none" dirty="0">
                        <a:solidFill>
                          <a:schemeClr val="bg1"/>
                        </a:solidFill>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63A3"/>
                    </a:solidFill>
                  </a:tcPr>
                </a:tc>
                <a:extLst>
                  <a:ext uri="{0D108BD9-81ED-4DB2-BD59-A6C34878D82A}">
                    <a16:rowId xmlns:a16="http://schemas.microsoft.com/office/drawing/2014/main" val="2994131152"/>
                  </a:ext>
                </a:extLst>
              </a:tr>
              <a:tr h="2243128">
                <a:tc>
                  <a:txBody>
                    <a:bodyPr/>
                    <a:lstStyle/>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latin typeface="Montserrat" panose="00000500000000000000" pitchFamily="2" charset="0"/>
                        </a:rPr>
                        <a:t>Tier 1 Provider Network </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Provider Recruitment – If Necessary</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Network Pricing &amp; Contract Terms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Referral Management Protocols &amp; Approvals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Medical Director Oversight</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Practice Improvement Program using KBA/AHDI Data with Assistance from KBA</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latin typeface="Montserrat" panose="00000500000000000000" pitchFamily="2" charset="0"/>
                        </a:rPr>
                        <a:t>Network Evaluation – Actuarial 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PPO Wrap &amp; Tertiary Transplant Network, if needed</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Plan Design Development, Testing, and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Employer/Member/Provider Customer Service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Customized Member/Provider/Agent/HR Portal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Billing, Enrollment (Electronic/Paper), and Premium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Fulfilment – SPD &amp; Customized ID Cards  </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COBRA/HIPAA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Out of Network Negotiations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Wrap PPO Repricing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Coaching for Chronically Ill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Triage to Physicians and Facilities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Stop-Loss Underwriting, Pricing, and Placement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 Loss 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Complex Case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PBM Administration Interface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Reporting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Utilization &amp; Gaps in Care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Clinically Based Physician Profiling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Referrals</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Chronic Disease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 Health Risk Management Reports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Ancillary Administration – Dental, Vision, Weekly Income, 5500, Life, etc.</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Health Savings Account (HSA), Flexible Spending (FSA), Health Reimbursement Account (HRA)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Sales &amp; Marketing Plan</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Strategy Development: Branding, Brochures, Web Site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Distribution System Development</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Sales Management</a:t>
                      </a:r>
                      <a:endParaRPr lang="en-US" sz="1000" dirty="0">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29600542"/>
                  </a:ext>
                </a:extLst>
              </a:tr>
              <a:tr h="293678">
                <a:tc>
                  <a:txBody>
                    <a:bodyPr/>
                    <a:lstStyle/>
                    <a:p>
                      <a:pPr marL="0" marR="0" algn="ctr">
                        <a:spcBef>
                          <a:spcPts val="0"/>
                        </a:spcBef>
                        <a:spcAft>
                          <a:spcPts val="0"/>
                        </a:spcAft>
                        <a:tabLst>
                          <a:tab pos="4465955" algn="l"/>
                        </a:tabLst>
                      </a:pPr>
                      <a:r>
                        <a:rPr lang="en-US" sz="1200" b="1" u="none" dirty="0">
                          <a:solidFill>
                            <a:schemeClr val="tx1"/>
                          </a:solidFill>
                          <a:effectLst/>
                          <a:latin typeface="Montserrat" panose="00000500000000000000" pitchFamily="2" charset="0"/>
                        </a:rPr>
                        <a:t>KBA Consulting</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vMerge="1">
                  <a:txBody>
                    <a:bodyPr/>
                    <a:lstStyle/>
                    <a:p>
                      <a:endParaRPr lang="en-US"/>
                    </a:p>
                  </a:txBody>
                  <a:tcPr/>
                </a:tc>
                <a:extLst>
                  <a:ext uri="{0D108BD9-81ED-4DB2-BD59-A6C34878D82A}">
                    <a16:rowId xmlns:a16="http://schemas.microsoft.com/office/drawing/2014/main" val="2629869834"/>
                  </a:ext>
                </a:extLst>
              </a:tr>
              <a:tr h="2475302">
                <a:tc>
                  <a:txBody>
                    <a:bodyPr/>
                    <a:lstStyle/>
                    <a:p>
                      <a:pPr marL="171450" marR="0" lvl="0" indent="-171450">
                        <a:spcBef>
                          <a:spcPts val="0"/>
                        </a:spcBef>
                        <a:spcAft>
                          <a:spcPts val="0"/>
                        </a:spcAft>
                        <a:buClrTx/>
                        <a:buFont typeface="Arial" panose="020B0604020202020204" pitchFamily="34" charset="0"/>
                        <a:buChar char="•"/>
                      </a:pPr>
                      <a:endParaRPr lang="en-US" sz="1200" dirty="0">
                        <a:effectLst/>
                        <a:latin typeface="Montserrat" panose="00000500000000000000" pitchFamily="2" charset="0"/>
                      </a:endParaRPr>
                    </a:p>
                    <a:p>
                      <a:pPr marL="400050" marR="0" lvl="1" indent="-171450">
                        <a:spcBef>
                          <a:spcPts val="0"/>
                        </a:spcBef>
                        <a:spcAft>
                          <a:spcPts val="0"/>
                        </a:spcAft>
                        <a:buClrTx/>
                        <a:buFont typeface="Wingdings" panose="05000000000000000000" pitchFamily="2" charset="2"/>
                        <a:buChar char="§"/>
                      </a:pPr>
                      <a:r>
                        <a:rPr lang="en-US" sz="1200" dirty="0">
                          <a:effectLst/>
                        </a:rPr>
                        <a:t>Program oversight and integration across the enterprise</a:t>
                      </a:r>
                    </a:p>
                    <a:p>
                      <a:pPr marL="400050" marR="0" lvl="1" indent="-171450">
                        <a:spcBef>
                          <a:spcPts val="0"/>
                        </a:spcBef>
                        <a:spcAft>
                          <a:spcPts val="0"/>
                        </a:spcAft>
                        <a:buClrTx/>
                        <a:buFont typeface="Wingdings" panose="05000000000000000000" pitchFamily="2" charset="2"/>
                        <a:buChar char="§"/>
                      </a:pPr>
                      <a:r>
                        <a:rPr lang="en-US" sz="1200" dirty="0">
                          <a:effectLst/>
                        </a:rPr>
                        <a:t>Goal development, agreement and tracking</a:t>
                      </a:r>
                    </a:p>
                    <a:p>
                      <a:pPr marL="400050" marR="0" lvl="1" indent="-171450">
                        <a:spcBef>
                          <a:spcPts val="0"/>
                        </a:spcBef>
                        <a:spcAft>
                          <a:spcPts val="0"/>
                        </a:spcAft>
                        <a:buClrTx/>
                        <a:buFont typeface="Wingdings" panose="05000000000000000000" pitchFamily="2" charset="2"/>
                        <a:buChar char="§"/>
                      </a:pPr>
                      <a:r>
                        <a:rPr lang="en-US" sz="1200" dirty="0">
                          <a:effectLst/>
                        </a:rPr>
                        <a:t>Start-up assessments: market, network, operational and readiness</a:t>
                      </a:r>
                    </a:p>
                    <a:p>
                      <a:pPr marL="400050" marR="0" lvl="1" indent="-171450">
                        <a:spcBef>
                          <a:spcPts val="0"/>
                        </a:spcBef>
                        <a:spcAft>
                          <a:spcPts val="0"/>
                        </a:spcAft>
                        <a:buClrTx/>
                        <a:buFont typeface="Wingdings" panose="05000000000000000000" pitchFamily="2" charset="2"/>
                        <a:buChar char="§"/>
                      </a:pPr>
                      <a:r>
                        <a:rPr lang="en-US" sz="1200" dirty="0">
                          <a:effectLst/>
                        </a:rPr>
                        <a:t>Draft business plan with financial projections</a:t>
                      </a:r>
                    </a:p>
                    <a:p>
                      <a:pPr marL="400050" marR="0" lvl="1" indent="-171450">
                        <a:spcBef>
                          <a:spcPts val="0"/>
                        </a:spcBef>
                        <a:spcAft>
                          <a:spcPts val="0"/>
                        </a:spcAft>
                        <a:buClrTx/>
                        <a:buFont typeface="Wingdings" panose="05000000000000000000" pitchFamily="2" charset="2"/>
                        <a:buChar char="§"/>
                      </a:pPr>
                      <a:r>
                        <a:rPr lang="en-US" sz="1200" dirty="0">
                          <a:solidFill/>
                          <a:effectLst/>
                        </a:rPr>
                        <a:t>Facilitate program communication and engagement with Bon Secours Mercy Health departments including  system c-suite, operations, HR, managed care, marketing, strategy and business development </a:t>
                      </a:r>
                    </a:p>
                    <a:p>
                      <a:pPr marL="0" marR="0">
                        <a:spcBef>
                          <a:spcPts val="0"/>
                        </a:spcBef>
                        <a:spcAft>
                          <a:spcPts val="0"/>
                        </a:spcAft>
                        <a:tabLst>
                          <a:tab pos="4465955" algn="l"/>
                        </a:tabLst>
                      </a:pPr>
                      <a:endParaRPr lang="en-US" sz="1200" dirty="0">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en-US"/>
                    </a:p>
                  </a:txBody>
                  <a:tcPr/>
                </a:tc>
                <a:extLst>
                  <a:ext uri="{0D108BD9-81ED-4DB2-BD59-A6C34878D82A}">
                    <a16:rowId xmlns:a16="http://schemas.microsoft.com/office/drawing/2014/main" val="111150367"/>
                  </a:ext>
                </a:extLst>
              </a:tr>
            </a:tbl>
          </a:graphicData>
        </a:graphic>
      </p:graphicFrame>
      <p:sp>
        <p:nvSpPr>
          <p:cNvPr id="4"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41</a:t>
            </a:fld>
            <a:endParaRPr lang="en-US" sz="1100" dirty="0">
              <a:solidFill>
                <a:schemeClr val="tx1">
                  <a:lumMod val="50000"/>
                  <a:lumOff val="50000"/>
                </a:schemeClr>
              </a:solidFill>
            </a:endParaRPr>
          </a:p>
        </p:txBody>
      </p:sp>
      <p:sp>
        <p:nvSpPr>
          <p:cNvPr id="5"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p:txBody>
          <a:bodyPr/>
          <a:lstStyle/>
          <a:p>
            <a:r>
              <a:rPr lang="en-US" dirty="0"/>
              <a:t>Key Benefit Administrators</a:t>
            </a:r>
          </a:p>
        </p:txBody>
      </p:sp>
    </p:spTree>
    <p:extLst>
      <p:ext uri="{BB962C8B-B14F-4D97-AF65-F5344CB8AC3E}">
        <p14:creationId xmlns:p14="http://schemas.microsoft.com/office/powerpoint/2010/main" val="21195150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2800" dirty="0">
                <a:solidFill>
                  <a:srgbClr val="244F9A"/>
                </a:solidFill>
              </a:rPr>
              <a:t>PRE-IMPLEMENTATION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050">
                <a:solidFill>
                  <a:schemeClr val="tx1">
                    <a:lumMod val="50000"/>
                    <a:lumOff val="50000"/>
                  </a:schemeClr>
                </a:solidFill>
              </a:rPr>
              <a:pPr defTabSz="914411">
                <a:spcAft>
                  <a:spcPts val="600"/>
                </a:spcAft>
              </a:pPr>
              <a:t>42</a:t>
            </a:fld>
            <a:endParaRPr lang="en-US" sz="1050" dirty="0">
              <a:solidFill>
                <a:schemeClr val="tx1">
                  <a:lumMod val="50000"/>
                  <a:lumOff val="50000"/>
                </a:schemeClr>
              </a:solidFill>
            </a:endParaRPr>
          </a:p>
        </p:txBody>
      </p:sp>
      <p:sp>
        <p:nvSpPr>
          <p:cNvPr id="6"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sz="1100" dirty="0"/>
              <a:t>Key Benefit Administrators</a:t>
            </a:r>
          </a:p>
        </p:txBody>
      </p:sp>
      <p:graphicFrame>
        <p:nvGraphicFramePr>
          <p:cNvPr id="7" name="Diagram 3">
            <a:extLst>
              <a:ext uri="{FF2B5EF4-FFF2-40B4-BE49-F238E27FC236}">
                <a16:creationId xmlns:a16="http://schemas.microsoft.com/office/drawing/2014/main" id="{84E03A31-9E21-4107-85E9-ECD8397925B4}"/>
              </a:ext>
            </a:extLst>
          </p:cNvPr>
          <p:cNvGraphicFramePr/>
          <p:nvPr>
            <p:extLst>
              <p:ext uri="{D42A27DB-BD31-4B8C-83A1-F6EECF244321}">
                <p14:modId xmlns:p14="http://schemas.microsoft.com/office/powerpoint/2010/main" val="2920530452"/>
              </p:ext>
            </p:extLst>
          </p:nvPr>
        </p:nvGraphicFramePr>
        <p:xfrm>
          <a:off x="5000625" y="2314806"/>
          <a:ext cx="7044979" cy="38673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Box 8">
            <a:extLst>
              <a:ext uri="{FF2B5EF4-FFF2-40B4-BE49-F238E27FC236}">
                <a16:creationId xmlns:a16="http://schemas.microsoft.com/office/drawing/2014/main" id="{ACF7C59A-89AA-73E4-5A12-3925EF60D603}"/>
              </a:ext>
            </a:extLst>
          </p:cNvPr>
          <p:cNvSpPr txBox="1"/>
          <p:nvPr/>
        </p:nvSpPr>
        <p:spPr>
          <a:xfrm>
            <a:off x="6503796" y="2382657"/>
            <a:ext cx="5463791" cy="1077218"/>
          </a:xfrm>
          <a:prstGeom prst="rect">
            <a:avLst/>
          </a:prstGeom>
          <a:noFill/>
        </p:spPr>
        <p:txBody>
          <a:bodyPr wrap="square">
            <a:spAutoFit/>
          </a:bodyPr>
          <a:lstStyle/>
          <a:p>
            <a:pPr marL="285750" lvl="0" indent="-285750">
              <a:buFont typeface="Arial" panose="020B0604020202020204" pitchFamily="34" charset="0"/>
              <a:buChar char="•"/>
            </a:pPr>
            <a:r>
              <a:rPr lang="en-US" sz="1600" dirty="0">
                <a:latin typeface="Montserrat" panose="00000500000000000000" pitchFamily="2" charset="0"/>
              </a:rPr>
              <a:t>Determine Gaps in Medical Service Delivery</a:t>
            </a:r>
          </a:p>
          <a:p>
            <a:pPr marL="285750" lvl="0" indent="-285750">
              <a:buFont typeface="Arial" panose="020B0604020202020204" pitchFamily="34" charset="0"/>
              <a:buChar char="•"/>
            </a:pPr>
            <a:r>
              <a:rPr lang="en-US" sz="1600" dirty="0">
                <a:solidFill/>
                <a:latin typeface="Montserrat" panose="00000500000000000000" pitchFamily="2" charset="0"/>
              </a:rPr>
              <a:t>Identify Other Key Providers to Potentially Contract with on Behalf of Bon Secours Mercy Health</a:t>
            </a:r>
          </a:p>
          <a:p>
            <a:pPr marL="285750" lvl="0" indent="-285750">
              <a:buFont typeface="Arial" panose="020B0604020202020204" pitchFamily="34" charset="0"/>
              <a:buChar char="•"/>
            </a:pPr>
            <a:r>
              <a:rPr lang="en-US" sz="1600" dirty="0">
                <a:latin typeface="Montserrat" panose="00000500000000000000" pitchFamily="2" charset="0"/>
              </a:rPr>
              <a:t>Wrap Network to Cover All Other Provider Types</a:t>
            </a:r>
          </a:p>
        </p:txBody>
      </p:sp>
      <p:sp>
        <p:nvSpPr>
          <p:cNvPr id="9" name="TextBox 10">
            <a:extLst>
              <a:ext uri="{FF2B5EF4-FFF2-40B4-BE49-F238E27FC236}">
                <a16:creationId xmlns:a16="http://schemas.microsoft.com/office/drawing/2014/main" id="{7D39916A-1134-A7BF-5090-08FBB7FAA43C}"/>
              </a:ext>
            </a:extLst>
          </p:cNvPr>
          <p:cNvSpPr txBox="1"/>
          <p:nvPr/>
        </p:nvSpPr>
        <p:spPr>
          <a:xfrm>
            <a:off x="6503796" y="4328855"/>
            <a:ext cx="5463791" cy="830997"/>
          </a:xfrm>
          <a:prstGeom prst="rect">
            <a:avLst/>
          </a:prstGeom>
          <a:noFill/>
        </p:spPr>
        <p:txBody>
          <a:bodyPr wrap="square">
            <a:spAutoFit/>
          </a:bodyPr>
          <a:lstStyle/>
          <a:p>
            <a:pPr marL="285750" lvl="0" indent="-285750">
              <a:buFont typeface="Arial" panose="020B0604020202020204" pitchFamily="34" charset="0"/>
              <a:buChar char="•"/>
            </a:pPr>
            <a:r>
              <a:rPr lang="en-US" sz="1600" dirty="0">
                <a:solidFill/>
                <a:latin typeface="Montserrat" panose="00000500000000000000" pitchFamily="2" charset="0"/>
              </a:rPr>
              <a:t>To Dial in Competitive Stop-Loss Rates and Bon Secours Mercy Health’s Net Revenues/Margins</a:t>
            </a:r>
          </a:p>
          <a:p>
            <a:pPr marL="285750" lvl="0" indent="-285750">
              <a:buFont typeface="Arial" panose="020B0604020202020204" pitchFamily="34" charset="0"/>
              <a:buChar char="•"/>
            </a:pPr>
            <a:r>
              <a:rPr lang="en-US" sz="1600" dirty="0">
                <a:latin typeface="Montserrat" panose="00000500000000000000" pitchFamily="2" charset="0"/>
              </a:rPr>
              <a:t>Actuarial Evaluation Compared to the Market</a:t>
            </a:r>
          </a:p>
        </p:txBody>
      </p:sp>
    </p:spTree>
    <p:extLst>
      <p:ext uri="{BB962C8B-B14F-4D97-AF65-F5344CB8AC3E}">
        <p14:creationId xmlns:p14="http://schemas.microsoft.com/office/powerpoint/2010/main" val="2254222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2800" dirty="0">
                <a:solidFill>
                  <a:srgbClr val="244F9A"/>
                </a:solidFill>
              </a:rPr>
              <a:t>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5" name="Diagram 4">
            <a:extLst>
              <a:ext uri="{FF2B5EF4-FFF2-40B4-BE49-F238E27FC236}">
                <a16:creationId xmlns:a16="http://schemas.microsoft.com/office/drawing/2014/main" id="{8E6E34C3-E019-4EEA-855C-769086D79D48}"/>
              </a:ext>
            </a:extLst>
          </p:cNvPr>
          <p:cNvGraphicFramePr/>
          <p:nvPr>
            <p:extLst>
              <p:ext uri="{D42A27DB-BD31-4B8C-83A1-F6EECF244321}">
                <p14:modId xmlns:p14="http://schemas.microsoft.com/office/powerpoint/2010/main" val="4274435303"/>
              </p:ext>
            </p:extLst>
          </p:nvPr>
        </p:nvGraphicFramePr>
        <p:xfrm>
          <a:off x="4807387" y="2238738"/>
          <a:ext cx="7124969" cy="39179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050">
                <a:solidFill>
                  <a:schemeClr val="tx1">
                    <a:lumMod val="50000"/>
                    <a:lumOff val="50000"/>
                  </a:schemeClr>
                </a:solidFill>
              </a:rPr>
              <a:pPr defTabSz="914411">
                <a:spcAft>
                  <a:spcPts val="600"/>
                </a:spcAft>
              </a:pPr>
              <a:t>43</a:t>
            </a:fld>
            <a:endParaRPr lang="en-US" sz="1050" dirty="0">
              <a:solidFill>
                <a:schemeClr val="tx1">
                  <a:lumMod val="50000"/>
                  <a:lumOff val="50000"/>
                </a:schemeClr>
              </a:solidFill>
            </a:endParaRPr>
          </a:p>
        </p:txBody>
      </p:sp>
      <p:sp>
        <p:nvSpPr>
          <p:cNvPr id="7"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sz="1100" dirty="0"/>
              <a:t>Key Benefit Administrators</a:t>
            </a:r>
          </a:p>
        </p:txBody>
      </p:sp>
    </p:spTree>
    <p:extLst>
      <p:ext uri="{BB962C8B-B14F-4D97-AF65-F5344CB8AC3E}">
        <p14:creationId xmlns:p14="http://schemas.microsoft.com/office/powerpoint/2010/main" val="26601242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Montserrat" panose="00000500000000000000" pitchFamily="2" charset="0"/>
            </a:endParaRPr>
          </a:p>
        </p:txBody>
      </p:sp>
      <p:sp>
        <p:nvSpPr>
          <p:cNvPr id="4" name="Title 1">
            <a:extLst>
              <a:ext uri="{FF2B5EF4-FFF2-40B4-BE49-F238E27FC236}">
                <a16:creationId xmlns:a16="http://schemas.microsoft.com/office/drawing/2014/main" id="{FBB9A266-2718-4687-903B-B87AB1E45652}"/>
              </a:ext>
            </a:extLst>
          </p:cNvPr>
          <p:cNvSpPr>
            <a:spLocks noGrp="1"/>
          </p:cNvSpPr>
          <p:nvPr>
            <p:ph type="title"/>
          </p:nvPr>
        </p:nvSpPr>
        <p:spPr>
          <a:xfrm>
            <a:off x="532265" y="560444"/>
            <a:ext cx="10479445" cy="782540"/>
          </a:xfrm>
        </p:spPr>
        <p:txBody>
          <a:bodyPr>
            <a:normAutofit/>
          </a:bodyPr>
          <a:lstStyle/>
          <a:p>
            <a:r>
              <a:rPr lang="en-US" sz="3600" dirty="0">
                <a:solidFill>
                  <a:schemeClr val="bg1"/>
                </a:solidFill>
              </a:rPr>
              <a:t>A PARTNER YOU CAN TRUST</a:t>
            </a:r>
          </a:p>
        </p:txBody>
      </p:sp>
      <p:sp>
        <p:nvSpPr>
          <p:cNvPr id="5"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sz="1100" dirty="0">
                <a:solidFill>
                  <a:schemeClr val="bg1"/>
                </a:solidFill>
              </a:rPr>
              <a:t>Key Benefit Administrators</a:t>
            </a:r>
          </a:p>
        </p:txBody>
      </p:sp>
      <p:sp>
        <p:nvSpPr>
          <p:cNvPr id="6"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z="1100" smtClean="0">
                <a:solidFill>
                  <a:schemeClr val="bg1"/>
                </a:solidFill>
              </a:rPr>
              <a:t>44</a:t>
            </a:fld>
            <a:endParaRPr lang="en-US" sz="1100" dirty="0">
              <a:solidFill>
                <a:schemeClr val="bg1"/>
              </a:solidFill>
            </a:endParaRPr>
          </a:p>
        </p:txBody>
      </p:sp>
      <p:grpSp>
        <p:nvGrpSpPr>
          <p:cNvPr id="7" name="Group 26">
            <a:extLst>
              <a:ext uri="{FF2B5EF4-FFF2-40B4-BE49-F238E27FC236}">
                <a16:creationId xmlns:a16="http://schemas.microsoft.com/office/drawing/2014/main" id="{CE5A4C1D-715F-46F5-A80B-647078B97ADE}"/>
              </a:ext>
            </a:extLst>
          </p:cNvPr>
          <p:cNvGrpSpPr/>
          <p:nvPr/>
        </p:nvGrpSpPr>
        <p:grpSpPr>
          <a:xfrm>
            <a:off x="667280" y="3021140"/>
            <a:ext cx="10857442" cy="1569660"/>
            <a:chOff x="908754" y="2695500"/>
            <a:chExt cx="10558665" cy="1569660"/>
          </a:xfrm>
        </p:grpSpPr>
        <p:sp>
          <p:nvSpPr>
            <p:cNvPr id="8" name="Rectangle 21">
              <a:extLst>
                <a:ext uri="{FF2B5EF4-FFF2-40B4-BE49-F238E27FC236}">
                  <a16:creationId xmlns:a16="http://schemas.microsoft.com/office/drawing/2014/main" id="{E53A35DC-3649-45F8-BE1C-71234D1F47FC}"/>
                </a:ext>
              </a:extLst>
            </p:cNvPr>
            <p:cNvSpPr/>
            <p:nvPr/>
          </p:nvSpPr>
          <p:spPr>
            <a:xfrm>
              <a:off x="908754" y="2695500"/>
              <a:ext cx="2058812" cy="584775"/>
            </a:xfrm>
            <a:prstGeom prst="rect">
              <a:avLst/>
            </a:prstGeom>
          </p:spPr>
          <p:txBody>
            <a:bodyPr wrap="square">
              <a:spAutoFit/>
            </a:bodyPr>
            <a:lstStyle/>
            <a:p>
              <a:r>
                <a:rPr lang="en-US" sz="1600" b="1" dirty="0">
                  <a:solidFill>
                    <a:schemeClr val="bg1"/>
                  </a:solidFill>
                  <a:latin typeface="Montserrat" panose="00000500000000000000" pitchFamily="2" charset="0"/>
                </a:rPr>
                <a:t>OUR OBJECTIVES ARE ALIGNED</a:t>
              </a:r>
            </a:p>
          </p:txBody>
        </p:sp>
        <p:sp>
          <p:nvSpPr>
            <p:cNvPr id="9" name="Rectangle 23">
              <a:extLst>
                <a:ext uri="{FF2B5EF4-FFF2-40B4-BE49-F238E27FC236}">
                  <a16:creationId xmlns:a16="http://schemas.microsoft.com/office/drawing/2014/main" id="{9BB7B37B-58E4-4EF5-8BCD-B5AFD3FF7576}"/>
                </a:ext>
              </a:extLst>
            </p:cNvPr>
            <p:cNvSpPr/>
            <p:nvPr/>
          </p:nvSpPr>
          <p:spPr>
            <a:xfrm>
              <a:off x="3464860" y="2695500"/>
              <a:ext cx="2096575" cy="584775"/>
            </a:xfrm>
            <a:prstGeom prst="rect">
              <a:avLst/>
            </a:prstGeom>
          </p:spPr>
          <p:txBody>
            <a:bodyPr wrap="square">
              <a:spAutoFit/>
            </a:bodyPr>
            <a:lstStyle/>
            <a:p>
              <a:r>
                <a:rPr lang="en-US" sz="1600" b="1" dirty="0">
                  <a:solidFill>
                    <a:schemeClr val="bg1"/>
                  </a:solidFill>
                  <a:latin typeface="Montserrat" panose="00000500000000000000" pitchFamily="2" charset="0"/>
                </a:rPr>
                <a:t>WE KNOW THE </a:t>
              </a:r>
            </a:p>
            <a:p>
              <a:r>
                <a:rPr lang="en-US" sz="1600" b="1" dirty="0">
                  <a:solidFill>
                    <a:schemeClr val="bg1"/>
                  </a:solidFill>
                  <a:latin typeface="Montserrat" panose="00000500000000000000" pitchFamily="2" charset="0"/>
                </a:rPr>
                <a:t>MARKET</a:t>
              </a:r>
            </a:p>
          </p:txBody>
        </p:sp>
        <p:sp>
          <p:nvSpPr>
            <p:cNvPr id="10" name="Rectangle 24">
              <a:extLst>
                <a:ext uri="{FF2B5EF4-FFF2-40B4-BE49-F238E27FC236}">
                  <a16:creationId xmlns:a16="http://schemas.microsoft.com/office/drawing/2014/main" id="{712D71E1-CFC6-401F-B564-C6DB174E5C25}"/>
                </a:ext>
              </a:extLst>
            </p:cNvPr>
            <p:cNvSpPr/>
            <p:nvPr/>
          </p:nvSpPr>
          <p:spPr>
            <a:xfrm>
              <a:off x="6105045" y="2695500"/>
              <a:ext cx="1861517" cy="584775"/>
            </a:xfrm>
            <a:prstGeom prst="rect">
              <a:avLst/>
            </a:prstGeom>
          </p:spPr>
          <p:txBody>
            <a:bodyPr wrap="square">
              <a:spAutoFit/>
            </a:bodyPr>
            <a:lstStyle/>
            <a:p>
              <a:r>
                <a:rPr lang="en-US" sz="1600" b="1" dirty="0">
                  <a:solidFill>
                    <a:schemeClr val="bg1"/>
                  </a:solidFill>
                  <a:latin typeface="Montserrat" panose="00000500000000000000" pitchFamily="2" charset="0"/>
                </a:rPr>
                <a:t>COMPLETELY TRANSPARENT</a:t>
              </a:r>
            </a:p>
          </p:txBody>
        </p:sp>
        <p:sp>
          <p:nvSpPr>
            <p:cNvPr id="11" name="Rectangle 25">
              <a:extLst>
                <a:ext uri="{FF2B5EF4-FFF2-40B4-BE49-F238E27FC236}">
                  <a16:creationId xmlns:a16="http://schemas.microsoft.com/office/drawing/2014/main" id="{3219F81E-41A2-4D21-B41F-E66CCE1EAA9D}"/>
                </a:ext>
              </a:extLst>
            </p:cNvPr>
            <p:cNvSpPr/>
            <p:nvPr/>
          </p:nvSpPr>
          <p:spPr>
            <a:xfrm>
              <a:off x="9062157" y="2695500"/>
              <a:ext cx="2405262" cy="1569660"/>
            </a:xfrm>
            <a:prstGeom prst="rect">
              <a:avLst/>
            </a:prstGeom>
          </p:spPr>
          <p:txBody>
            <a:bodyPr wrap="square">
              <a:spAutoFit/>
            </a:bodyPr>
            <a:lstStyle/>
            <a:p>
              <a:r>
                <a:rPr lang="en-US" sz="1600" b="1" dirty="0">
                  <a:solidFill>
                    <a:schemeClr val="bg1"/>
                  </a:solidFill>
                  <a:latin typeface="Montserrat" panose="00000500000000000000" pitchFamily="2" charset="0"/>
                </a:rPr>
                <a:t>WE HAVE THE SOPHISTICATION AND INFRASTRUCTURE TO EFFECTIVELY COMPETE</a:t>
              </a:r>
            </a:p>
          </p:txBody>
        </p:sp>
      </p:grpSp>
      <p:cxnSp>
        <p:nvCxnSpPr>
          <p:cNvPr id="12"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1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17"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18"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19"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0"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584775"/>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sz="1600" dirty="0">
                <a:solidFill>
                  <a:schemeClr val="bg1"/>
                </a:solidFill>
                <a:latin typeface="Montserrat" panose="00000500000000000000" pitchFamily="2" charset="0"/>
                <a:cs typeface="Arial" panose="020B0604020202020204" pitchFamily="34" charset="0"/>
              </a:rPr>
              <a:t>Derek Moore, Senior Vice President – KBA</a:t>
            </a:r>
          </a:p>
          <a:p>
            <a:pPr algn="ctr"/>
            <a:r>
              <a:rPr lang="en-US" sz="1600" dirty="0">
                <a:solidFill>
                  <a:schemeClr val="bg1"/>
                </a:solidFill>
                <a:latin typeface="Montserrat" panose="00000500000000000000" pitchFamily="2"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Custom 3">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4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customXml/itemProps3.xml><?xml version="1.0" encoding="utf-8"?>
<ds:datastoreItem xmlns:ds="http://schemas.openxmlformats.org/officeDocument/2006/customXml" ds:itemID="{56F5604B-F201-4300-A086-2482203EA6B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46158</TotalTime>
  <Words>5134</Words>
  <Application>Microsoft Office PowerPoint</Application>
  <PresentationFormat>Widescreen</PresentationFormat>
  <Paragraphs>1361</Paragraphs>
  <Slides>44</Slides>
  <Notes>9</Notes>
  <HiddenSlides>0</HiddenSlides>
  <MMClips>0</MMClips>
  <ScaleCrop>false</ScaleCrop>
  <HeadingPairs>
    <vt:vector size="6" baseType="variant">
      <vt:variant>
        <vt:lpstr>Fonts Used</vt:lpstr>
      </vt:variant>
      <vt:variant>
        <vt:i4>4</vt:i4>
      </vt:variant>
      <vt:variant>
        <vt:lpstr>Theme</vt:lpstr>
      </vt:variant>
      <vt:variant>
        <vt:i4>6</vt:i4>
      </vt:variant>
      <vt:variant>
        <vt:lpstr>Slide Titles</vt:lpstr>
      </vt:variant>
      <vt:variant>
        <vt:i4>44</vt:i4>
      </vt:variant>
    </vt:vector>
  </HeadingPairs>
  <TitlesOfParts>
    <vt:vector size="54" baseType="lpstr">
      <vt:lpstr>Aptos Narrow</vt:lpstr>
      <vt:lpstr>Arial</vt:lpstr>
      <vt:lpstr>Montserrat</vt:lpstr>
      <vt:lpstr>Wingdings</vt:lpstr>
      <vt:lpstr>Office Theme</vt:lpstr>
      <vt:lpstr>1_Office Theme</vt:lpstr>
      <vt:lpstr>2_Office Theme</vt:lpstr>
      <vt:lpstr>3_Office Theme</vt:lpstr>
      <vt:lpstr>4_Office Theme</vt:lpstr>
      <vt:lpstr>5_Office Theme</vt:lpstr>
      <vt:lpstr>PowerPoint Presentation</vt:lpstr>
      <vt:lpstr>PowerPoint Presentation</vt:lpstr>
      <vt:lpstr>PowerPoint Presentation</vt:lpstr>
      <vt:lpstr>DIRECT-TO-EMPLOYER (DTE)  </vt:lpstr>
      <vt:lpstr>DTE KEYS TO SUCCESS FOR BSMH</vt:lpstr>
      <vt:lpstr>Direct-to-Employer Strategy: POWERFUL EMPLOYER VALUE</vt:lpstr>
      <vt:lpstr>PowerPoint Presentation</vt:lpstr>
      <vt:lpstr>SIGNIFICANT OPPORTUNITY FOR PLAN GROWTH Researched for the below highlighted service area</vt:lpstr>
      <vt:lpstr>PLAN POTENTIAL GROWTH PATHS</vt:lpstr>
      <vt:lpstr>GROWING POWERFUL, LASTING PROFITABILITY</vt:lpstr>
      <vt:lpstr>MODEL ASSUMPTIONS AND BREAK EVEN</vt:lpstr>
      <vt:lpstr>FOUR-YEAR PROJECTIONS</vt:lpstr>
      <vt:lpstr>DIRECT-TO-EMPLOYER STRATEGY: ONLY AVAILABLE TO PREMIER HEALTH SYSTEMS</vt:lpstr>
      <vt:lpstr>YOUNGSTOWN BRAND QUALITY COMPARISONS</vt:lpstr>
      <vt:lpstr>PowerPoint Presentation</vt:lpstr>
      <vt:lpstr>PowerPoint Presentation</vt:lpstr>
      <vt:lpstr>SINGLE YEAR SUMMARY</vt:lpstr>
      <vt:lpstr>INTEGRATION WITH EPIC EHR SYSTEM</vt:lpstr>
      <vt:lpstr>THE MISSING PIECE TO VALUE-BASED CARE</vt:lpstr>
      <vt:lpstr>TRANSPARENT PBM INTEGRATION </vt:lpstr>
      <vt:lpstr>STOP-LOSS INSURANCE      THE KBA EXPERIENCE</vt:lpstr>
      <vt:lpstr>DTE  PROGRAM MARKETING  &amp; SALES</vt:lpstr>
      <vt:lpstr>COMMUNITY BASED SALES STRATEGY</vt:lpstr>
      <vt:lpstr>Complete Marketing System</vt:lpstr>
      <vt:lpstr>PowerPoint Presentation</vt:lpstr>
      <vt:lpstr>PowerPoint Presentation</vt:lpstr>
      <vt:lpstr>PowerPoint Presentation</vt:lpstr>
      <vt:lpstr>PowerPoint Presentation</vt:lpstr>
      <vt:lpstr>ESTIMATION OF BSMH’S 2023 PAYER MIX</vt:lpstr>
      <vt:lpstr>ESTIMATION OF MARGIN FOR COMMERCIAL VS. GOVERNMENT PAY</vt:lpstr>
      <vt:lpstr>ESTIMATING MARKET SHARE</vt:lpstr>
      <vt:lpstr>PowerPoint Presentation</vt:lpstr>
      <vt:lpstr>PowerPoint Presentation</vt:lpstr>
      <vt:lpstr>PROJECTED PLAN GROWTH</vt:lpstr>
      <vt:lpstr>PowerPoint Presentation</vt:lpstr>
      <vt:lpstr>PowerPoint Presentation</vt:lpstr>
      <vt:lpstr>PowerPoint Presentation</vt:lpstr>
      <vt:lpstr>PowerPoint Presentation</vt:lpstr>
      <vt:lpstr>PowerPoint Presentation</vt:lpstr>
      <vt:lpstr>PowerPoint Presentation</vt:lpstr>
      <vt:lpstr>ROLES &amp; RESPONSIBILITIES</vt:lpstr>
      <vt:lpstr>PRE-IMPLEMENTATION</vt:lpstr>
      <vt:lpstr>IMPLEMENTATION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111</cp:revision>
  <cp:lastPrinted>2023-07-13T10:24:43Z</cp:lastPrinted>
  <dcterms:created xsi:type="dcterms:W3CDTF">2021-01-20T14:12:11Z</dcterms:created>
  <dcterms:modified xsi:type="dcterms:W3CDTF">2025-03-12T04:31:30Z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