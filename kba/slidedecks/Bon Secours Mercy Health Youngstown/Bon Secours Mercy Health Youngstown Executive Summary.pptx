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7"/>
  </p:notesMasterIdLst>
  <p:sldIdLst>
    <p:sldId id="588" r:id="rId8"/>
    <p:sldId id="454" r:id="rId9"/>
    <p:sldId id="549" r:id="rId10"/>
    <p:sldId id="559" r:id="rId11"/>
    <p:sldId id="582" r:id="rId12"/>
    <p:sldId id="548" r:id="rId13"/>
    <p:sldId id="585" r:id="rId14"/>
    <p:sldId id="536" r:id="rId15"/>
    <p:sldId id="472" r:id="rId16"/>
  </p:sldIdLst>
  <p:sldSz cx="12192000" cy="6858000"/>
  <p:notesSz cx="7315200" cy="96012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80" d="100"/>
          <a:sy n="80" d="100"/>
        </p:scale>
        <p:origin x="590" y="1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EEDB15E1-CC4D-4A65-AE7E-BEADF0D36ACF}"/>
    <pc:docChg chg="delSld delMainMaster">
      <pc:chgData name="Taylor Davis" userId="5c9e72a0-c39f-4aa1-9d7d-64125e78cbe6" providerId="ADAL" clId="{EEDB15E1-CC4D-4A65-AE7E-BEADF0D36ACF}" dt="2025-03-12T04:32:37.899" v="4" actId="47"/>
      <pc:docMkLst>
        <pc:docMk/>
      </pc:docMkLst>
      <pc:sldChg chg="del">
        <pc:chgData name="Taylor Davis" userId="5c9e72a0-c39f-4aa1-9d7d-64125e78cbe6" providerId="ADAL" clId="{EEDB15E1-CC4D-4A65-AE7E-BEADF0D36ACF}" dt="2025-03-12T04:32:37.899" v="4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EEDB15E1-CC4D-4A65-AE7E-BEADF0D36ACF}" dt="2025-03-12T04:32:37.899" v="4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EEDB15E1-CC4D-4A65-AE7E-BEADF0D36ACF}" dt="2025-03-12T04:32:37.899" v="4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EEDB15E1-CC4D-4A65-AE7E-BEADF0D36ACF}" dt="2025-03-12T04:31:59.300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EEDB15E1-CC4D-4A65-AE7E-BEADF0D36ACF}" dt="2025-03-12T04:31:59.300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EEDB15E1-CC4D-4A65-AE7E-BEADF0D36ACF}" dt="2025-03-12T04:32:37.899" v="4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EEDB15E1-CC4D-4A65-AE7E-BEADF0D36ACF}" dt="2025-03-12T04:32:37.899" v="4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EEDB15E1-CC4D-4A65-AE7E-BEADF0D36ACF}" dt="2025-03-12T04:32:15.365" v="2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4064752386" sldId="564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EEDB15E1-CC4D-4A65-AE7E-BEADF0D36ACF}" dt="2025-03-12T04:32:37.899" v="4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EEDB15E1-CC4D-4A65-AE7E-BEADF0D36ACF}" dt="2025-03-12T04:32:37.899" v="4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EEDB15E1-CC4D-4A65-AE7E-BEADF0D36ACF}" dt="2025-03-12T04:32:37.899" v="4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EEDB15E1-CC4D-4A65-AE7E-BEADF0D36ACF}" dt="2025-03-12T04:32:08.918" v="1" actId="47"/>
        <pc:sldMkLst>
          <pc:docMk/>
          <pc:sldMk cId="1082327325" sldId="580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EEDB15E1-CC4D-4A65-AE7E-BEADF0D36ACF}" dt="2025-03-12T04:31:59.300" v="0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EEDB15E1-CC4D-4A65-AE7E-BEADF0D36ACF}" dt="2025-03-12T04:32:31.158" v="3" actId="47"/>
        <pc:sldMkLst>
          <pc:docMk/>
          <pc:sldMk cId="4087636236" sldId="2145726868"/>
        </pc:sldMkLst>
      </pc:sldChg>
      <pc:sldChg chg="del">
        <pc:chgData name="Taylor Davis" userId="5c9e72a0-c39f-4aa1-9d7d-64125e78cbe6" providerId="ADAL" clId="{EEDB15E1-CC4D-4A65-AE7E-BEADF0D36ACF}" dt="2025-03-12T04:31:59.300" v="0" actId="47"/>
        <pc:sldMkLst>
          <pc:docMk/>
          <pc:sldMk cId="3306748702" sldId="2145726869"/>
        </pc:sldMkLst>
      </pc:sldChg>
      <pc:sldMasterChg chg="del delSldLayout">
        <pc:chgData name="Taylor Davis" userId="5c9e72a0-c39f-4aa1-9d7d-64125e78cbe6" providerId="ADAL" clId="{EEDB15E1-CC4D-4A65-AE7E-BEADF0D36ACF}" dt="2025-03-12T04:32:31.158" v="3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EEDB15E1-CC4D-4A65-AE7E-BEADF0D36ACF}" dt="2025-03-12T04:32:31.158" v="3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EEDB15E1-CC4D-4A65-AE7E-BEADF0D36ACF}" dt="2025-03-12T04:32:31.158" v="3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11" Type="http://schemas.openxmlformats.org/officeDocument/2006/relationships/image" Target="../media/image10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Bon Secours Mercy Health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600+ Employers       90,000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160,000+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208772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512064" y="1752255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$5.73M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$1.48M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$33.44M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$9.63M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$67.49M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$19.6M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514.7K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1,029.4K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2,023.2K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3,254.3K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861.4K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1,863.6K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3,105.5K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823.6K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1,647.1K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3,094.3K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4,881.5K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1,486.3K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2,945.5K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4,748.3K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514.7K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1,071.1K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1,627.2K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340.7K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901.9K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1,462.8K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Bon Secours Mercy Health has 58% inpatient market share, and 26% outpatient market compared to hospitals/clinics in the Bon Secours Mercy Health (Youngstown Area)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Bon Secours Mercy Health.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724748"/>
              </p:ext>
            </p:extLst>
          </p:nvPr>
        </p:nvGraphicFramePr>
        <p:xfrm>
          <a:off x="594360" y="1054578"/>
          <a:ext cx="7443215" cy="5108481"/>
        </p:xfrm>
        <a:graphic>
          <a:graphicData uri="http://schemas.openxmlformats.org/drawingml/2006/table">
            <a:tbl>
              <a:tblPr/>
              <a:tblGrid>
                <a:gridCol w="1488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8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1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Bon Secours Mercy Health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Bon Secours Mercy Health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2,600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$ 5,126,138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$ 4,110,806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$ 1,919,712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$ 11,156,656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$ 1,476,328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$ 1,183,912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$ 552,877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$ 3,213,117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$ 3,223,132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$ 31,200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$ 3,227,932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$ 3,074,332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$ 6,520,144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$ 10,789,389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$ 5,038,553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$ 22,348,085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$ 1,877,801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$ 3,107,344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$ 1,451,103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$ 6,436,249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58% (inpatient) and 26%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28.8%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74% inpatient and 67%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28.8%,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9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46159</TotalTime>
  <Words>1006</Words>
  <Application>Microsoft Office PowerPoint</Application>
  <PresentationFormat>Widescreen</PresentationFormat>
  <Paragraphs>379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SIGNIFICANT OPPORTUNITY FOR PLAN GROWTH Researched for the below highlighted service area</vt:lpstr>
      <vt:lpstr>GROWING POWERFUL, LASTING PROFITABILITY</vt:lpstr>
      <vt:lpstr>FOUR-YEAR PROJECTIONS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2025-03-12T04:32:40Z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