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17"/>
  </p:notesMasterIdLst>
  <p:sldIdLst>
    <p:sldId id="577" r:id="rId5"/>
    <p:sldId id="454" r:id="rId6"/>
    <p:sldId id="549" r:id="rId7"/>
    <p:sldId id="521" r:id="rId8"/>
    <p:sldId id="564" r:id="rId9"/>
    <p:sldId id="587" r:id="rId10"/>
    <p:sldId id="559" r:id="rId11"/>
    <p:sldId id="580" r:id="rId12"/>
    <p:sldId id="582" r:id="rId13"/>
    <p:sldId id="536" r:id="rId14"/>
    <p:sldId id="588" r:id="rId15"/>
    <p:sldId id="472" r:id="rId16"/>
  </p:sldIdLst>
  <p:sldSz cx="12192000" cy="6858000"/>
  <p:notesSz cx="7315200" cy="96012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1B438-3B92-41E6-8042-EB034AAA6B40}" v="1" dt="2024-10-26T22:11:34.69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609" autoAdjust="0"/>
  </p:normalViewPr>
  <p:slideViewPr>
    <p:cSldViewPr snapToGrid="0">
      <p:cViewPr varScale="1">
        <p:scale>
          <a:sx n="95" d="100"/>
          <a:sy n="95" d="100"/>
        </p:scale>
        <p:origin x="111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5F41B438-3B92-41E6-8042-EB034AAA6B40}"/>
    <pc:docChg chg="custSel modSld">
      <pc:chgData name="Taylor Davis" userId="5c9e72a0-c39f-4aa1-9d7d-64125e78cbe6" providerId="ADAL" clId="{5F41B438-3B92-41E6-8042-EB034AAA6B40}" dt="2024-10-29T03:46:55.352" v="3"/>
      <pc:docMkLst>
        <pc:docMk/>
      </pc:docMkLst>
      <pc:sldChg chg="addSp delSp modSp mod">
        <pc:chgData name="Taylor Davis" userId="5c9e72a0-c39f-4aa1-9d7d-64125e78cbe6" providerId="ADAL" clId="{5F41B438-3B92-41E6-8042-EB034AAA6B40}" dt="2024-10-29T03:46:55.352" v="3"/>
        <pc:sldMkLst>
          <pc:docMk/>
          <pc:sldMk cId="1419816550" sldId="536"/>
        </pc:sldMkLst>
        <pc:spChg chg="del">
          <ac:chgData name="Taylor Davis" userId="5c9e72a0-c39f-4aa1-9d7d-64125e78cbe6" providerId="ADAL" clId="{5F41B438-3B92-41E6-8042-EB034AAA6B40}" dt="2024-10-26T22:11:30.524" v="0" actId="478"/>
          <ac:spMkLst>
            <pc:docMk/>
            <pc:sldMk cId="1419816550" sldId="536"/>
            <ac:spMk id="11" creationId="{A897897D-C568-B204-6568-514AD4B71A5C}"/>
          </ac:spMkLst>
        </pc:spChg>
        <pc:spChg chg="add mod">
          <ac:chgData name="Taylor Davis" userId="5c9e72a0-c39f-4aa1-9d7d-64125e78cbe6" providerId="ADAL" clId="{5F41B438-3B92-41E6-8042-EB034AAA6B40}" dt="2024-10-29T03:46:55.352" v="3"/>
          <ac:spMkLst>
            <pc:docMk/>
            <pc:sldMk cId="1419816550" sldId="536"/>
            <ac:spMk id="13" creationId="{48F1F0D8-77B8-B632-2662-5D8587B2EECB}"/>
          </ac:spMkLst>
        </pc:spChg>
      </pc:sldChg>
    </pc:docChg>
  </pc:docChgLst>
  <pc:docChgLst>
    <pc:chgData name="Taylor Davis" userId="5c9e72a0-c39f-4aa1-9d7d-64125e78cbe6" providerId="ADAL" clId="{A7E95E2C-B4A1-4E58-A761-EC6D8CF1A025}"/>
    <pc:docChg chg="addSld delSld modSld sldOrd">
      <pc:chgData name="Taylor Davis" userId="5c9e72a0-c39f-4aa1-9d7d-64125e78cbe6" providerId="ADAL" clId="{A7E95E2C-B4A1-4E58-A761-EC6D8CF1A025}" dt="2024-10-10T22:11:55.216" v="7"/>
      <pc:docMkLst>
        <pc:docMk/>
      </pc:docMkLst>
      <pc:sldChg chg="del">
        <pc:chgData name="Taylor Davis" userId="5c9e72a0-c39f-4aa1-9d7d-64125e78cbe6" providerId="ADAL" clId="{A7E95E2C-B4A1-4E58-A761-EC6D8CF1A025}" dt="2024-10-10T22:11:40.383" v="3" actId="47"/>
        <pc:sldMkLst>
          <pc:docMk/>
          <pc:sldMk cId="0" sldId="256"/>
        </pc:sldMkLst>
      </pc:sldChg>
      <pc:sldChg chg="del">
        <pc:chgData name="Taylor Davis" userId="5c9e72a0-c39f-4aa1-9d7d-64125e78cbe6" providerId="ADAL" clId="{A7E95E2C-B4A1-4E58-A761-EC6D8CF1A025}" dt="2024-10-10T22:11:40.383" v="3" actId="47"/>
        <pc:sldMkLst>
          <pc:docMk/>
          <pc:sldMk cId="211951504" sldId="325"/>
        </pc:sldMkLst>
      </pc:sldChg>
      <pc:sldChg chg="del">
        <pc:chgData name="Taylor Davis" userId="5c9e72a0-c39f-4aa1-9d7d-64125e78cbe6" providerId="ADAL" clId="{A7E95E2C-B4A1-4E58-A761-EC6D8CF1A025}" dt="2024-10-10T22:11:40.383" v="3" actId="47"/>
        <pc:sldMkLst>
          <pc:docMk/>
          <pc:sldMk cId="225422285" sldId="326"/>
        </pc:sldMkLst>
      </pc:sldChg>
      <pc:sldChg chg="del">
        <pc:chgData name="Taylor Davis" userId="5c9e72a0-c39f-4aa1-9d7d-64125e78cbe6" providerId="ADAL" clId="{A7E95E2C-B4A1-4E58-A761-EC6D8CF1A025}" dt="2024-10-10T22:11:37.185" v="2" actId="47"/>
        <pc:sldMkLst>
          <pc:docMk/>
          <pc:sldMk cId="619324413" sldId="336"/>
        </pc:sldMkLst>
      </pc:sldChg>
      <pc:sldChg chg="del">
        <pc:chgData name="Taylor Davis" userId="5c9e72a0-c39f-4aa1-9d7d-64125e78cbe6" providerId="ADAL" clId="{A7E95E2C-B4A1-4E58-A761-EC6D8CF1A025}" dt="2024-10-10T22:11:37.185" v="2" actId="47"/>
        <pc:sldMkLst>
          <pc:docMk/>
          <pc:sldMk cId="420959824" sldId="337"/>
        </pc:sldMkLst>
      </pc:sldChg>
      <pc:sldChg chg="del">
        <pc:chgData name="Taylor Davis" userId="5c9e72a0-c39f-4aa1-9d7d-64125e78cbe6" providerId="ADAL" clId="{A7E95E2C-B4A1-4E58-A761-EC6D8CF1A025}" dt="2024-10-10T22:11:37.185" v="2" actId="47"/>
        <pc:sldMkLst>
          <pc:docMk/>
          <pc:sldMk cId="2984433661" sldId="446"/>
        </pc:sldMkLst>
      </pc:sldChg>
      <pc:sldChg chg="del">
        <pc:chgData name="Taylor Davis" userId="5c9e72a0-c39f-4aa1-9d7d-64125e78cbe6" providerId="ADAL" clId="{A7E95E2C-B4A1-4E58-A761-EC6D8CF1A025}" dt="2024-10-10T22:11:22.680" v="0" actId="47"/>
        <pc:sldMkLst>
          <pc:docMk/>
          <pc:sldMk cId="4059548579" sldId="452"/>
        </pc:sldMkLst>
      </pc:sldChg>
      <pc:sldChg chg="del">
        <pc:chgData name="Taylor Davis" userId="5c9e72a0-c39f-4aa1-9d7d-64125e78cbe6" providerId="ADAL" clId="{A7E95E2C-B4A1-4E58-A761-EC6D8CF1A025}" dt="2024-10-10T22:11:37.185" v="2" actId="47"/>
        <pc:sldMkLst>
          <pc:docMk/>
          <pc:sldMk cId="1700621358" sldId="456"/>
        </pc:sldMkLst>
      </pc:sldChg>
      <pc:sldChg chg="del">
        <pc:chgData name="Taylor Davis" userId="5c9e72a0-c39f-4aa1-9d7d-64125e78cbe6" providerId="ADAL" clId="{A7E95E2C-B4A1-4E58-A761-EC6D8CF1A025}" dt="2024-10-10T22:11:37.185" v="2" actId="47"/>
        <pc:sldMkLst>
          <pc:docMk/>
          <pc:sldMk cId="3958060990" sldId="458"/>
        </pc:sldMkLst>
      </pc:sldChg>
      <pc:sldChg chg="del">
        <pc:chgData name="Taylor Davis" userId="5c9e72a0-c39f-4aa1-9d7d-64125e78cbe6" providerId="ADAL" clId="{A7E95E2C-B4A1-4E58-A761-EC6D8CF1A025}" dt="2024-10-10T22:11:37.185" v="2" actId="47"/>
        <pc:sldMkLst>
          <pc:docMk/>
          <pc:sldMk cId="902706633" sldId="461"/>
        </pc:sldMkLst>
      </pc:sldChg>
      <pc:sldChg chg="del">
        <pc:chgData name="Taylor Davis" userId="5c9e72a0-c39f-4aa1-9d7d-64125e78cbe6" providerId="ADAL" clId="{A7E95E2C-B4A1-4E58-A761-EC6D8CF1A025}" dt="2024-10-10T22:11:37.185" v="2" actId="47"/>
        <pc:sldMkLst>
          <pc:docMk/>
          <pc:sldMk cId="3804806607" sldId="462"/>
        </pc:sldMkLst>
      </pc:sldChg>
      <pc:sldChg chg="del">
        <pc:chgData name="Taylor Davis" userId="5c9e72a0-c39f-4aa1-9d7d-64125e78cbe6" providerId="ADAL" clId="{A7E95E2C-B4A1-4E58-A761-EC6D8CF1A025}" dt="2024-10-10T22:11:22.680" v="0" actId="47"/>
        <pc:sldMkLst>
          <pc:docMk/>
          <pc:sldMk cId="1714126014" sldId="466"/>
        </pc:sldMkLst>
      </pc:sldChg>
      <pc:sldChg chg="del">
        <pc:chgData name="Taylor Davis" userId="5c9e72a0-c39f-4aa1-9d7d-64125e78cbe6" providerId="ADAL" clId="{A7E95E2C-B4A1-4E58-A761-EC6D8CF1A025}" dt="2024-10-10T22:11:37.185" v="2" actId="47"/>
        <pc:sldMkLst>
          <pc:docMk/>
          <pc:sldMk cId="2680122054" sldId="469"/>
        </pc:sldMkLst>
      </pc:sldChg>
      <pc:sldChg chg="del">
        <pc:chgData name="Taylor Davis" userId="5c9e72a0-c39f-4aa1-9d7d-64125e78cbe6" providerId="ADAL" clId="{A7E95E2C-B4A1-4E58-A761-EC6D8CF1A025}" dt="2024-10-10T22:11:22.680" v="0" actId="47"/>
        <pc:sldMkLst>
          <pc:docMk/>
          <pc:sldMk cId="1552833548" sldId="487"/>
        </pc:sldMkLst>
      </pc:sldChg>
      <pc:sldChg chg="del">
        <pc:chgData name="Taylor Davis" userId="5c9e72a0-c39f-4aa1-9d7d-64125e78cbe6" providerId="ADAL" clId="{A7E95E2C-B4A1-4E58-A761-EC6D8CF1A025}" dt="2024-10-10T22:11:37.185" v="2" actId="47"/>
        <pc:sldMkLst>
          <pc:docMk/>
          <pc:sldMk cId="3325436177" sldId="489"/>
        </pc:sldMkLst>
      </pc:sldChg>
      <pc:sldChg chg="del">
        <pc:chgData name="Taylor Davis" userId="5c9e72a0-c39f-4aa1-9d7d-64125e78cbe6" providerId="ADAL" clId="{A7E95E2C-B4A1-4E58-A761-EC6D8CF1A025}" dt="2024-10-10T22:11:40.383" v="3" actId="47"/>
        <pc:sldMkLst>
          <pc:docMk/>
          <pc:sldMk cId="2660124243" sldId="491"/>
        </pc:sldMkLst>
      </pc:sldChg>
      <pc:sldChg chg="del">
        <pc:chgData name="Taylor Davis" userId="5c9e72a0-c39f-4aa1-9d7d-64125e78cbe6" providerId="ADAL" clId="{A7E95E2C-B4A1-4E58-A761-EC6D8CF1A025}" dt="2024-10-10T22:11:40.383" v="3" actId="47"/>
        <pc:sldMkLst>
          <pc:docMk/>
          <pc:sldMk cId="3144192130" sldId="498"/>
        </pc:sldMkLst>
      </pc:sldChg>
      <pc:sldChg chg="del">
        <pc:chgData name="Taylor Davis" userId="5c9e72a0-c39f-4aa1-9d7d-64125e78cbe6" providerId="ADAL" clId="{A7E95E2C-B4A1-4E58-A761-EC6D8CF1A025}" dt="2024-10-10T22:11:22.680" v="0" actId="47"/>
        <pc:sldMkLst>
          <pc:docMk/>
          <pc:sldMk cId="3348736581" sldId="518"/>
        </pc:sldMkLst>
      </pc:sldChg>
      <pc:sldChg chg="del">
        <pc:chgData name="Taylor Davis" userId="5c9e72a0-c39f-4aa1-9d7d-64125e78cbe6" providerId="ADAL" clId="{A7E95E2C-B4A1-4E58-A761-EC6D8CF1A025}" dt="2024-10-10T22:11:52.114" v="6" actId="2696"/>
        <pc:sldMkLst>
          <pc:docMk/>
          <pc:sldMk cId="500461553" sldId="521"/>
        </pc:sldMkLst>
      </pc:sldChg>
      <pc:sldChg chg="add">
        <pc:chgData name="Taylor Davis" userId="5c9e72a0-c39f-4aa1-9d7d-64125e78cbe6" providerId="ADAL" clId="{A7E95E2C-B4A1-4E58-A761-EC6D8CF1A025}" dt="2024-10-10T22:11:55.216" v="7"/>
        <pc:sldMkLst>
          <pc:docMk/>
          <pc:sldMk cId="3920546925" sldId="521"/>
        </pc:sldMkLst>
      </pc:sldChg>
      <pc:sldChg chg="del">
        <pc:chgData name="Taylor Davis" userId="5c9e72a0-c39f-4aa1-9d7d-64125e78cbe6" providerId="ADAL" clId="{A7E95E2C-B4A1-4E58-A761-EC6D8CF1A025}" dt="2024-10-10T22:11:37.185" v="2" actId="47"/>
        <pc:sldMkLst>
          <pc:docMk/>
          <pc:sldMk cId="36791873" sldId="525"/>
        </pc:sldMkLst>
      </pc:sldChg>
      <pc:sldChg chg="del">
        <pc:chgData name="Taylor Davis" userId="5c9e72a0-c39f-4aa1-9d7d-64125e78cbe6" providerId="ADAL" clId="{A7E95E2C-B4A1-4E58-A761-EC6D8CF1A025}" dt="2024-10-10T22:11:37.185" v="2" actId="47"/>
        <pc:sldMkLst>
          <pc:docMk/>
          <pc:sldMk cId="3034923006" sldId="527"/>
        </pc:sldMkLst>
      </pc:sldChg>
      <pc:sldChg chg="ord">
        <pc:chgData name="Taylor Davis" userId="5c9e72a0-c39f-4aa1-9d7d-64125e78cbe6" providerId="ADAL" clId="{A7E95E2C-B4A1-4E58-A761-EC6D8CF1A025}" dt="2024-10-10T22:11:48.578" v="5"/>
        <pc:sldMkLst>
          <pc:docMk/>
          <pc:sldMk cId="1419816550" sldId="536"/>
        </pc:sldMkLst>
      </pc:sldChg>
      <pc:sldChg chg="del">
        <pc:chgData name="Taylor Davis" userId="5c9e72a0-c39f-4aa1-9d7d-64125e78cbe6" providerId="ADAL" clId="{A7E95E2C-B4A1-4E58-A761-EC6D8CF1A025}" dt="2024-10-10T22:11:37.185" v="2" actId="47"/>
        <pc:sldMkLst>
          <pc:docMk/>
          <pc:sldMk cId="94944115" sldId="546"/>
        </pc:sldMkLst>
      </pc:sldChg>
      <pc:sldChg chg="del">
        <pc:chgData name="Taylor Davis" userId="5c9e72a0-c39f-4aa1-9d7d-64125e78cbe6" providerId="ADAL" clId="{A7E95E2C-B4A1-4E58-A761-EC6D8CF1A025}" dt="2024-10-10T22:11:37.185" v="2" actId="47"/>
        <pc:sldMkLst>
          <pc:docMk/>
          <pc:sldMk cId="3616502281" sldId="547"/>
        </pc:sldMkLst>
      </pc:sldChg>
      <pc:sldChg chg="del">
        <pc:chgData name="Taylor Davis" userId="5c9e72a0-c39f-4aa1-9d7d-64125e78cbe6" providerId="ADAL" clId="{A7E95E2C-B4A1-4E58-A761-EC6D8CF1A025}" dt="2024-10-10T22:11:27.100" v="1" actId="47"/>
        <pc:sldMkLst>
          <pc:docMk/>
          <pc:sldMk cId="3470905217" sldId="558"/>
        </pc:sldMkLst>
      </pc:sldChg>
      <pc:sldChg chg="add">
        <pc:chgData name="Taylor Davis" userId="5c9e72a0-c39f-4aa1-9d7d-64125e78cbe6" providerId="ADAL" clId="{A7E95E2C-B4A1-4E58-A761-EC6D8CF1A025}" dt="2024-10-10T22:11:55.216" v="7"/>
        <pc:sldMkLst>
          <pc:docMk/>
          <pc:sldMk cId="888916288" sldId="564"/>
        </pc:sldMkLst>
      </pc:sldChg>
      <pc:sldChg chg="del">
        <pc:chgData name="Taylor Davis" userId="5c9e72a0-c39f-4aa1-9d7d-64125e78cbe6" providerId="ADAL" clId="{A7E95E2C-B4A1-4E58-A761-EC6D8CF1A025}" dt="2024-10-10T22:11:52.114" v="6" actId="2696"/>
        <pc:sldMkLst>
          <pc:docMk/>
          <pc:sldMk cId="4064752386" sldId="564"/>
        </pc:sldMkLst>
      </pc:sldChg>
      <pc:sldChg chg="del">
        <pc:chgData name="Taylor Davis" userId="5c9e72a0-c39f-4aa1-9d7d-64125e78cbe6" providerId="ADAL" clId="{A7E95E2C-B4A1-4E58-A761-EC6D8CF1A025}" dt="2024-10-10T22:11:37.185" v="2" actId="47"/>
        <pc:sldMkLst>
          <pc:docMk/>
          <pc:sldMk cId="0" sldId="571"/>
        </pc:sldMkLst>
      </pc:sldChg>
      <pc:sldChg chg="del">
        <pc:chgData name="Taylor Davis" userId="5c9e72a0-c39f-4aa1-9d7d-64125e78cbe6" providerId="ADAL" clId="{A7E95E2C-B4A1-4E58-A761-EC6D8CF1A025}" dt="2024-10-10T22:11:40.383" v="3" actId="47"/>
        <pc:sldMkLst>
          <pc:docMk/>
          <pc:sldMk cId="0" sldId="572"/>
        </pc:sldMkLst>
      </pc:sldChg>
      <pc:sldChg chg="del">
        <pc:chgData name="Taylor Davis" userId="5c9e72a0-c39f-4aa1-9d7d-64125e78cbe6" providerId="ADAL" clId="{A7E95E2C-B4A1-4E58-A761-EC6D8CF1A025}" dt="2024-10-10T22:11:40.383" v="3" actId="47"/>
        <pc:sldMkLst>
          <pc:docMk/>
          <pc:sldMk cId="1064222983" sldId="574"/>
        </pc:sldMkLst>
      </pc:sldChg>
      <pc:sldChg chg="del">
        <pc:chgData name="Taylor Davis" userId="5c9e72a0-c39f-4aa1-9d7d-64125e78cbe6" providerId="ADAL" clId="{A7E95E2C-B4A1-4E58-A761-EC6D8CF1A025}" dt="2024-10-10T22:11:40.383" v="3" actId="47"/>
        <pc:sldMkLst>
          <pc:docMk/>
          <pc:sldMk cId="3790917938" sldId="575"/>
        </pc:sldMkLst>
      </pc:sldChg>
      <pc:sldChg chg="del">
        <pc:chgData name="Taylor Davis" userId="5c9e72a0-c39f-4aa1-9d7d-64125e78cbe6" providerId="ADAL" clId="{A7E95E2C-B4A1-4E58-A761-EC6D8CF1A025}" dt="2024-10-10T22:11:37.185" v="2" actId="47"/>
        <pc:sldMkLst>
          <pc:docMk/>
          <pc:sldMk cId="3277395919" sldId="578"/>
        </pc:sldMkLst>
      </pc:sldChg>
      <pc:sldChg chg="del">
        <pc:chgData name="Taylor Davis" userId="5c9e72a0-c39f-4aa1-9d7d-64125e78cbe6" providerId="ADAL" clId="{A7E95E2C-B4A1-4E58-A761-EC6D8CF1A025}" dt="2024-10-10T22:11:37.185" v="2" actId="47"/>
        <pc:sldMkLst>
          <pc:docMk/>
          <pc:sldMk cId="838631500" sldId="583"/>
        </pc:sldMkLst>
      </pc:sldChg>
      <pc:sldChg chg="del">
        <pc:chgData name="Taylor Davis" userId="5c9e72a0-c39f-4aa1-9d7d-64125e78cbe6" providerId="ADAL" clId="{A7E95E2C-B4A1-4E58-A761-EC6D8CF1A025}" dt="2024-10-10T22:11:37.185" v="2" actId="47"/>
        <pc:sldMkLst>
          <pc:docMk/>
          <pc:sldMk cId="2011724879" sldId="585"/>
        </pc:sldMkLst>
      </pc:sldChg>
      <pc:sldChg chg="add">
        <pc:chgData name="Taylor Davis" userId="5c9e72a0-c39f-4aa1-9d7d-64125e78cbe6" providerId="ADAL" clId="{A7E95E2C-B4A1-4E58-A761-EC6D8CF1A025}" dt="2024-10-10T22:11:55.216" v="7"/>
        <pc:sldMkLst>
          <pc:docMk/>
          <pc:sldMk cId="2198750340" sldId="587"/>
        </pc:sldMkLst>
      </pc:sldChg>
      <pc:sldChg chg="del">
        <pc:chgData name="Taylor Davis" userId="5c9e72a0-c39f-4aa1-9d7d-64125e78cbe6" providerId="ADAL" clId="{A7E95E2C-B4A1-4E58-A761-EC6D8CF1A025}" dt="2024-10-10T22:11:52.114" v="6" actId="2696"/>
        <pc:sldMkLst>
          <pc:docMk/>
          <pc:sldMk cId="4222550375" sldId="587"/>
        </pc:sldMkLst>
      </pc:sldChg>
      <pc:sldChg chg="del">
        <pc:chgData name="Taylor Davis" userId="5c9e72a0-c39f-4aa1-9d7d-64125e78cbe6" providerId="ADAL" clId="{A7E95E2C-B4A1-4E58-A761-EC6D8CF1A025}" dt="2024-10-10T22:11:37.185" v="2" actId="47"/>
        <pc:sldMkLst>
          <pc:docMk/>
          <pc:sldMk cId="3600969995" sldId="5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10/28/2024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9</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10/28/2024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10/28/2024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10/28/2024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10/28/2024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10/28/2024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10/28/2024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10/28/2024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10/28/2024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image" Target="../media/image19.svg"/><Relationship Id="rId11" Type="http://schemas.openxmlformats.org/officeDocument/2006/relationships/image" Target="../media/image6.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a:solidFill>
                  <a:schemeClr val="bg1"/>
                </a:solidFill>
              </a:rPr>
              <a:t>VANDALIA HEALTH DIRECT-TO-EMPLOYER </a:t>
            </a:r>
            <a:r>
              <a:rPr lang="en-US" sz="2000" b="1" dirty="0">
                <a:solidFill>
                  <a:schemeClr val="bg1"/>
                </a:solidFill>
              </a:rPr>
              <a:t>PLAN </a:t>
            </a:r>
          </a:p>
          <a:p>
            <a:r>
              <a:rPr lang="en-US" sz="2000" b="1" dirty="0">
                <a:solidFill>
                  <a:schemeClr val="bg1"/>
                </a:solidFill>
              </a:rPr>
              <a:t>October 10,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p:cNvPicPr>
          <p:nvPr>
            <p:ph/>
          </p:nvPr>
        </p:nvPicPr>
        <p:blipFill>
          <a:blip r:embed="rId4" cstate="print"/>
          <a:stretch>
            <a:fillRect/>
          </a:stretch>
        </p:blipFill>
        <p:spPr>
          <a:xfrm>
            <a:off x="8900084" y="930818"/>
            <a:ext cx="3052839" cy="425709"/>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118681" y="3008375"/>
            <a:ext cx="3834321" cy="609031"/>
          </a:xfrm>
          <a:prstGeom prst="rect">
            <a:avLst/>
          </a:prstGeom>
        </p:spPr>
      </p:pic>
    </p:spTree>
    <p:extLst>
      <p:ext uri="{BB962C8B-B14F-4D97-AF65-F5344CB8AC3E}">
        <p14:creationId xmlns:p14="http://schemas.microsoft.com/office/powerpoint/2010/main" val="3920546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3600" b="1" dirty="0">
                <a:solidFill>
                  <a:srgbClr val="000B2E"/>
                </a:solidFill>
                <a:latin typeface="Arial" panose="020B0604020202020204" pitchFamily="34" charset="0"/>
                <a:cs typeface="Arial" panose="020B0604020202020204" pitchFamily="34" charset="0"/>
              </a:rPr>
              <a:t>Vandalia Health is Patient Recommended</a:t>
            </a:r>
            <a:endParaRPr 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9405257" y="1989573"/>
            <a:ext cx="2532185" cy="25723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Based on quality measures and HCAHPS feedback, KBA estimates that Vandalia Health one of the strongest brands in West Virginia. </a:t>
            </a:r>
          </a:p>
        </p:txBody>
      </p:sp>
      <p:graphicFrame>
        <p:nvGraphicFramePr>
          <p:cNvPr id="7" name="Table 6"/>
          <p:cNvGraphicFramePr>
            <a:graphicFrameLocks noGrp="1"/>
          </p:cNvGraphicFramePr>
          <p:nvPr/>
        </p:nvGraphicFramePr>
        <p:xfrm>
          <a:off x="1591960" y="2233730"/>
          <a:ext cx="6859734" cy="2084064"/>
        </p:xfrm>
        <a:graphic>
          <a:graphicData uri="http://schemas.openxmlformats.org/drawingml/2006/table">
            <a:tbl>
              <a:tblPr/>
              <a:tblGrid>
                <a:gridCol w="1247132">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Arial"/>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HCAHPS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Recommendation</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CMS Stars</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Mortality</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Readmission</a:t>
                      </a:r>
                      <a:br>
                        <a:rPr sz="1100" b="1" i="0" u="none" cap="none" dirty="0">
                          <a:solidFill>
                            <a:srgbClr val="000000">
                              <a:alpha val="100000"/>
                            </a:srgbClr>
                          </a:solidFill>
                          <a:latin typeface="Arial"/>
                          <a:cs typeface="Arial"/>
                          <a:sym typeface="Arial"/>
                        </a:rPr>
                      </a:br>
                      <a:r>
                        <a:rPr sz="1100" b="1" i="0" u="none" cap="none" dirty="0">
                          <a:solidFill>
                            <a:srgbClr val="000000">
                              <a:alpha val="100000"/>
                            </a:srgbClr>
                          </a:solidFill>
                          <a:latin typeface="Arial"/>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KBA Brand</a:t>
                      </a:r>
                      <a:br>
                        <a:rPr sz="1100" b="1" i="0" u="none" cap="none">
                          <a:solidFill>
                            <a:srgbClr val="000000">
                              <a:alpha val="100000"/>
                            </a:srgbClr>
                          </a:solidFill>
                          <a:latin typeface="Arial"/>
                          <a:cs typeface="Arial"/>
                          <a:sym typeface="Arial"/>
                        </a:rPr>
                      </a:br>
                      <a:r>
                        <a:rPr sz="1100" b="1" i="0" u="none" cap="none">
                          <a:solidFill>
                            <a:srgbClr val="000000">
                              <a:alpha val="100000"/>
                            </a:srgbClr>
                          </a:solidFill>
                          <a:latin typeface="Arial"/>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WVU Medicine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4C2D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1"/>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Vandalia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Arial"/>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2"/>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ScionHealth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Arial"/>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03"/>
                  </a:ext>
                </a:extLst>
              </a:tr>
              <a:tr h="36411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Arial"/>
                          <a:cs typeface="Arial"/>
                          <a:sym typeface="Arial"/>
                        </a:rPr>
                        <a:t>LifePoint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8F9F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Arial"/>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Arial"/>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88916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29718EC-0FBE-02AB-65D1-5F9EA78861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51A8707D-53C1-F2FE-8133-D607A3729294}"/>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E63A94DB-FE92-CA1C-15F4-F7EC71D30241}"/>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49C157AD-9D57-0448-105A-79BA8850085E}"/>
              </a:ext>
            </a:extLst>
          </p:cNvPr>
          <p:cNvSpPr>
            <a:spLocks noGrp="1"/>
          </p:cNvSpPr>
          <p:nvPr>
            <p:ph type="title"/>
          </p:nvPr>
        </p:nvSpPr>
        <p:spPr>
          <a:xfrm>
            <a:off x="1290485" y="136525"/>
            <a:ext cx="10515600" cy="1325563"/>
          </a:xfrm>
        </p:spPr>
        <p:txBody>
          <a:bodyPr>
            <a:noAutofit/>
          </a:bodyPr>
          <a:lstStyle/>
          <a:p>
            <a:pPr>
              <a:lnSpc>
                <a:spcPct val="100000"/>
              </a:lnSpc>
              <a:spcBef>
                <a:spcPts val="1800"/>
              </a:spcBef>
              <a:spcAft>
                <a:spcPts val="600"/>
              </a:spcAft>
            </a:pPr>
            <a:r>
              <a:rPr lang="en-US" sz="2800" b="1" dirty="0">
                <a:solidFill>
                  <a:srgbClr val="000B2E"/>
                </a:solidFill>
                <a:latin typeface="Arial" panose="020B0604020202020204" pitchFamily="34" charset="0"/>
                <a:cs typeface="Arial" panose="020B0604020202020204" pitchFamily="34" charset="0"/>
              </a:rPr>
              <a:t>Patients Pass Other Hospitals to Come to Vandalia Health</a:t>
            </a:r>
            <a:endParaRPr lang="en-US" sz="11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3E0219A2-C97D-9E0E-9C52-C5207AB41BD4}"/>
              </a:ext>
            </a:extLst>
          </p:cNvPr>
          <p:cNvSpPr/>
          <p:nvPr/>
        </p:nvSpPr>
        <p:spPr>
          <a:xfrm>
            <a:off x="7013749" y="1989573"/>
            <a:ext cx="4923693"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KBA models Medicare patient encounter data to identify strong health system brands where patients will travel past other hospitals or long distances to frequent a specific hospital.  </a:t>
            </a:r>
          </a:p>
          <a:p>
            <a:pPr algn="ctr"/>
            <a:endParaRPr lang="en-US" dirty="0">
              <a:solidFill>
                <a:schemeClr val="tx1"/>
              </a:solidFill>
            </a:endParaRPr>
          </a:p>
          <a:p>
            <a:pPr algn="ctr"/>
            <a:r>
              <a:rPr lang="en-US" dirty="0">
                <a:solidFill>
                  <a:schemeClr val="tx1"/>
                </a:solidFill>
              </a:rPr>
              <a:t>The center of the donut are zip codes within which patients have a higher probability of frequenting Mon Health Medical Center. These zip codes are ignored for this analysis. </a:t>
            </a:r>
          </a:p>
          <a:p>
            <a:pPr algn="ctr"/>
            <a:endParaRPr lang="en-US" dirty="0">
              <a:solidFill>
                <a:schemeClr val="tx1"/>
              </a:solidFill>
            </a:endParaRPr>
          </a:p>
          <a:p>
            <a:pPr algn="ctr"/>
            <a:r>
              <a:rPr lang="en-US" dirty="0">
                <a:solidFill>
                  <a:schemeClr val="tx1"/>
                </a:solidFill>
              </a:rPr>
              <a:t>Significant patient encounters outside of this center, as seen here, indicate that patients are willing to travel significant distances, passing other hospitals to go to Mon Health Medical Center.</a:t>
            </a:r>
          </a:p>
        </p:txBody>
      </p:sp>
      <p:pic>
        <p:nvPicPr>
          <p:cNvPr id="7" name="Content Placeholder 6"/>
          <p:cNvPicPr>
            <a:picLocks noGrp="1"/>
          </p:cNvPicPr>
          <p:nvPr>
            <p:ph/>
          </p:nvPr>
        </p:nvPicPr>
        <p:blipFill>
          <a:blip r:embed="rId2" cstate="print"/>
          <a:stretch>
            <a:fillRect/>
          </a:stretch>
        </p:blipFill>
        <p:spPr>
          <a:xfrm>
            <a:off x="978408" y="1463040"/>
            <a:ext cx="5961888" cy="4764024"/>
          </a:xfrm>
          <a:prstGeom prst="rect">
            <a:avLst/>
          </a:prstGeom>
        </p:spPr>
      </p:pic>
    </p:spTree>
    <p:extLst>
      <p:ext uri="{BB962C8B-B14F-4D97-AF65-F5344CB8AC3E}">
        <p14:creationId xmlns:p14="http://schemas.microsoft.com/office/powerpoint/2010/main" val="2198750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9</a:t>
            </a:r>
            <a:r>
              <a:rPr lang="en-US" spc="200" dirty="0">
                <a:latin typeface="+mj-lt"/>
                <a:cs typeface="+mj-cs"/>
              </a:rPr>
              <a:t>00+</a:t>
            </a:r>
            <a:r>
              <a:rPr lang="en-US" sz="1800" spc="200" dirty="0">
                <a:latin typeface="+mj-lt"/>
                <a:cs typeface="+mj-cs"/>
              </a:rPr>
              <a:t> Employers       120,000</a:t>
            </a:r>
            <a:r>
              <a:rPr lang="en-US" sz="1800" spc="200" dirty="0">
                <a:latin typeface="+mj-lt"/>
                <a:cs typeface="+mj-cs"/>
                <a:sym typeface="Wingdings" panose="05000000000000000000" pitchFamily="2" charset="2"/>
              </a:rPr>
              <a:t>+ Employees       190,000+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227045" y="103065"/>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25278475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464</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209</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129</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54</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24</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a:t>
                      </a:r>
                    </a:p>
                  </a:txBody>
                  <a:tcPr marL="6350" marR="6350" marT="635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34,800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31,350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38,700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37,800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6350" marR="6350" marT="6350"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121,000</a:t>
                      </a:r>
                    </a:p>
                  </a:txBody>
                  <a:tcPr marL="6350" marR="6350" marT="635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r" fontAlgn="b"/>
                      <a:r>
                        <a:rPr lang="en-US" sz="1100" b="0" i="0" u="none" strike="noStrike" dirty="0">
                          <a:solidFill>
                            <a:srgbClr val="000000"/>
                          </a:solidFill>
                          <a:effectLst/>
                          <a:latin typeface="Aptos Narrow" panose="020B0004020202020204" pitchFamily="34" charset="0"/>
                        </a:rPr>
                        <a:t>62,640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56,430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69,660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68,040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86,400</a:t>
                      </a:r>
                    </a:p>
                  </a:txBody>
                  <a:tcPr marL="6350" marR="6350" marT="6350" marB="0" anchor="b">
                    <a:lnL>
                      <a:noFill/>
                    </a:lnL>
                    <a:lnR>
                      <a:noFill/>
                    </a:lnR>
                    <a:lnT>
                      <a:noFill/>
                    </a:lnT>
                    <a:lnB>
                      <a:noFill/>
                    </a:lnB>
                    <a:solidFill>
                      <a:schemeClr val="accent2">
                        <a:lumMod val="20000"/>
                        <a:lumOff val="80000"/>
                      </a:schemeClr>
                    </a:solidFill>
                  </a:tcPr>
                </a:tc>
                <a:tc>
                  <a:txBody>
                    <a:bodyPr/>
                    <a:lstStyle/>
                    <a:p>
                      <a:pPr algn="r" fontAlgn="b"/>
                      <a:r>
                        <a:rPr lang="en-US" sz="1100" b="0" i="0" u="none" strike="noStrike" dirty="0">
                          <a:solidFill>
                            <a:srgbClr val="000000"/>
                          </a:solidFill>
                          <a:effectLst/>
                          <a:latin typeface="Aptos Narrow" panose="020B0004020202020204" pitchFamily="34" charset="0"/>
                        </a:rPr>
                        <a:t>217,800</a:t>
                      </a:r>
                    </a:p>
                  </a:txBody>
                  <a:tcPr marL="6350" marR="6350" marT="635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2" name="Content Placeholder 8">
            <a:extLst>
              <a:ext uri="{FF2B5EF4-FFF2-40B4-BE49-F238E27FC236}">
                <a16:creationId xmlns:a16="http://schemas.microsoft.com/office/drawing/2014/main" id="{E82CE56B-6837-53AD-57C9-3F65CEC2F357}"/>
              </a:ext>
            </a:extLst>
          </p:cNvPr>
          <p:cNvPicPr>
            <a:picLocks/>
          </p:cNvPicPr>
          <p:nvPr/>
        </p:nvPicPr>
        <p:blipFill>
          <a:blip r:embed="rId2" cstate="print"/>
          <a:srcRect l="39304" t="39668" r="40002" b="33063"/>
          <a:stretch/>
        </p:blipFill>
        <p:spPr>
          <a:xfrm>
            <a:off x="723482" y="2385814"/>
            <a:ext cx="3122941" cy="2988828"/>
          </a:xfrm>
          <a:prstGeom prst="rect">
            <a:avLst/>
          </a:prstGeom>
        </p:spPr>
      </p:pic>
      <p:sp>
        <p:nvSpPr>
          <p:cNvPr id="14" name="TextBox 13">
            <a:extLst>
              <a:ext uri="{FF2B5EF4-FFF2-40B4-BE49-F238E27FC236}">
                <a16:creationId xmlns:a16="http://schemas.microsoft.com/office/drawing/2014/main" id="{7F2EB483-F4AD-C43D-146F-C406022948EC}"/>
              </a:ext>
            </a:extLst>
          </p:cNvPr>
          <p:cNvSpPr txBox="1"/>
          <p:nvPr/>
        </p:nvSpPr>
        <p:spPr>
          <a:xfrm>
            <a:off x="857041" y="6046092"/>
            <a:ext cx="10477918" cy="430887"/>
          </a:xfrm>
          <a:prstGeom prst="rect">
            <a:avLst/>
          </a:prstGeom>
          <a:noFill/>
        </p:spPr>
        <p:txBody>
          <a:bodyPr wrap="square">
            <a:spAutoFit/>
          </a:bodyPr>
          <a:lstStyle/>
          <a:p>
            <a:r>
              <a:rPr lang="en-US" sz="1100" dirty="0">
                <a:solidFill>
                  <a:srgbClr val="000B2E"/>
                </a:solidFill>
              </a:rPr>
              <a:t>Researched for Clay, Lewis, Fayette, Jackson, Monroe, Greene, Boone, Braxton, Calhoun, Gilmer, Greenbrier, Kanawha, Lincoln, Logan, McDowell, Mason, Monongalia, Nicholas, Pocahontas, Preston, Putnam, Raleigh, Randolph, Roane, Summers, Taylor, Tucker, Webster, and Wyoming Counties</a:t>
            </a:r>
            <a:endParaRPr lang="en-US" sz="1100" dirty="0"/>
          </a:p>
        </p:txBody>
      </p:sp>
    </p:spTree>
    <p:extLst>
      <p:ext uri="{BB962C8B-B14F-4D97-AF65-F5344CB8AC3E}">
        <p14:creationId xmlns:p14="http://schemas.microsoft.com/office/powerpoint/2010/main" val="1660060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646331"/>
          </a:xfrm>
          <a:prstGeom prst="rect">
            <a:avLst/>
          </a:prstGeom>
          <a:noFill/>
        </p:spPr>
        <p:txBody>
          <a:bodyPr wrap="square" rtlCol="0">
            <a:spAutoFit/>
          </a:bodyPr>
          <a:lstStyle/>
          <a:p>
            <a:r>
              <a:rPr lang="en-US" sz="1200" dirty="0">
                <a:solidFill/>
              </a:rPr>
              <a:t>Estimates include Clay, Lewis, Fayette, Harrison, Jackson, Greene, Barbour, Boone, Braxton, Calhoun, Gilmer, Greenbrier, Kanawha, Lincoln, Logan, McDowell, Marion, Mason, Monongalia, Nicholas, Pocahontas, Preston, Putnam, Raleigh, Randolph, Roane, Summers, Taylor, Tucker, Upshur, Webster, and Wyoming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1,318K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745K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441K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261K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$15.07M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$1.07M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$110.41M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$9.1M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$229.53M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$19.06M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3,600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$ 1,407,375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$ 1,822,031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$ 850,873.1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$ 4,080,279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$ 315,252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$ 408,135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$ 190,595.6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$ 913,982.5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$ 4,357,962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$ 43,200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$ 4,362,762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$ 4,221,162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$ 7,135,398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$ 11,179,388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$ 5,220,679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$ 23,535,466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$ 1,598,329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$ 2,504,183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$ 1,169,432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$ 5,271,944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13% (inpatient) and 9%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22.4%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
        <p:nvSpPr>
          <p:cNvPr id="13" name="TextBox 7">
            <a:extLst>
              <a:ext uri="{FF2B5EF4-FFF2-40B4-BE49-F238E27FC236}">
                <a16:creationId xmlns:a16="http://schemas.microsoft.com/office/drawing/2014/main" id="{48F1F0D8-77B8-B632-2662-5D8587B2EECB}"/>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dirty="0">
                <a:solidFill/>
                <a:latin typeface="Arial" panose="020B0604020202020204" pitchFamily="34" charset="0"/>
                <a:cs typeface="Arial" panose="020B0604020202020204" pitchFamily="34" charset="0"/>
              </a:rPr>
              <a:t>margin of </a:t>
            </a:r>
            <a:r>
              <a:rPr lang="en-US" sz="1400">
                <a:solidFill/>
                <a:latin typeface="Arial" panose="020B0604020202020204" pitchFamily="34" charset="0"/>
                <a:cs typeface="Arial" panose="020B0604020202020204" pitchFamily="34" charset="0"/>
              </a:rPr>
              <a:t>22.4%, with a 10 percentage-point reduction to reflect competitive-edge rates and a 10 percentage-point increase due to lower billing costs and higher patient responsibility collections because of the member credit card. </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9816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2,771.3K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407.9K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1,293.5K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2,620.1K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4,264.4K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3,810.5K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6,112.7K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724.2K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1,925.1K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3,670.1K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5,992.7K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2,811.9K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91.7K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767.3K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1,570.1K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2,659.5K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417948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12</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46181</TotalTime>
  <Words>1108</Words>
  <Application>Microsoft Office PowerPoint</Application>
  <PresentationFormat>Widescreen</PresentationFormat>
  <Paragraphs>331</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 Narrow</vt:lpstr>
      <vt:lpstr>Arial</vt:lpstr>
      <vt:lpstr>Arial Black</vt:lpstr>
      <vt:lpstr>Calibri</vt:lpstr>
      <vt:lpstr>Calibri Light</vt:lpstr>
      <vt:lpstr>Wingdings</vt:lpstr>
      <vt:lpstr>Office Theme</vt:lpstr>
      <vt:lpstr>PowerPoint Presentation</vt:lpstr>
      <vt:lpstr>PowerPoint Presentation</vt:lpstr>
      <vt:lpstr>Market Leader in Private Labeled DTE Plans</vt:lpstr>
      <vt:lpstr>Direct-to-Employer Strategy: Only Available to Premier Health Systems</vt:lpstr>
      <vt:lpstr>Vandalia Health is Patient Recommended</vt:lpstr>
      <vt:lpstr>Patients Pass Other Hospitals to Come to Vandalia Health</vt:lpstr>
      <vt:lpstr>Significant Opportunity for Plan Growth </vt:lpstr>
      <vt:lpstr>Plan Potential Growth Paths</vt:lpstr>
      <vt:lpstr>Growing Powerful, Lasting Profitability</vt:lpstr>
      <vt:lpstr>PowerPoint Presentation</vt:lpstr>
      <vt:lpstr>FOUR-YEAR PROJECTIONS</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2024-10-29T03:46:58Z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