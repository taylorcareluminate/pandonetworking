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8"/>
  </p:notesMasterIdLst>
  <p:sldIdLst>
    <p:sldId id="577" r:id="rId5"/>
    <p:sldId id="454" r:id="rId6"/>
    <p:sldId id="549" r:id="rId7"/>
    <p:sldId id="487" r:id="rId8"/>
    <p:sldId id="452" r:id="rId9"/>
    <p:sldId id="518" r:id="rId10"/>
    <p:sldId id="466" r:id="rId11"/>
    <p:sldId id="559" r:id="rId12"/>
    <p:sldId id="580" r:id="rId13"/>
    <p:sldId id="582" r:id="rId14"/>
    <p:sldId id="558" r:id="rId15"/>
    <p:sldId id="588" r:id="rId16"/>
    <p:sldId id="521" r:id="rId17"/>
    <p:sldId id="564" r:id="rId18"/>
    <p:sldId id="587" r:id="rId19"/>
    <p:sldId id="456" r:id="rId20"/>
    <p:sldId id="489" r:id="rId21"/>
    <p:sldId id="589" r:id="rId22"/>
    <p:sldId id="458" r:id="rId23"/>
    <p:sldId id="446" r:id="rId24"/>
    <p:sldId id="461" r:id="rId25"/>
    <p:sldId id="462" r:id="rId26"/>
    <p:sldId id="469" r:id="rId27"/>
    <p:sldId id="336" r:id="rId28"/>
    <p:sldId id="337" r:id="rId29"/>
    <p:sldId id="578" r:id="rId30"/>
    <p:sldId id="583" r:id="rId31"/>
    <p:sldId id="525" r:id="rId32"/>
    <p:sldId id="527" r:id="rId33"/>
    <p:sldId id="571" r:id="rId34"/>
    <p:sldId id="546" r:id="rId35"/>
    <p:sldId id="547" r:id="rId36"/>
    <p:sldId id="585" r:id="rId37"/>
    <p:sldId id="536" r:id="rId38"/>
    <p:sldId id="256" r:id="rId39"/>
    <p:sldId id="574" r:id="rId40"/>
    <p:sldId id="572" r:id="rId41"/>
    <p:sldId id="575" r:id="rId42"/>
    <p:sldId id="498" r:id="rId43"/>
    <p:sldId id="325" r:id="rId44"/>
    <p:sldId id="326" r:id="rId45"/>
    <p:sldId id="491" r:id="rId46"/>
    <p:sldId id="472" r:id="rId47"/>
  </p:sldIdLst>
  <p:sldSz cx="12192000" cy="6858000"/>
  <p:notesSz cx="7315200" cy="9601200"/>
  <p:custDataLst>
    <p:tags r:id="rId4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2F5597"/>
    <a:srgbClr val="6087CE"/>
    <a:srgbClr val="4468A5"/>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D918E5-61BF-4291-A467-014FA2D5775E}" v="8" dt="2024-10-26T22:09:50.486"/>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609" autoAdjust="0"/>
  </p:normalViewPr>
  <p:slideViewPr>
    <p:cSldViewPr snapToGrid="0">
      <p:cViewPr>
        <p:scale>
          <a:sx n="75" d="100"/>
          <a:sy n="75" d="100"/>
        </p:scale>
        <p:origin x="1872" y="51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46D918E5-61BF-4291-A467-014FA2D5775E}"/>
    <pc:docChg chg="custSel modSld">
      <pc:chgData name="Taylor Davis" userId="5c9e72a0-c39f-4aa1-9d7d-64125e78cbe6" providerId="ADAL" clId="{46D918E5-61BF-4291-A467-014FA2D5775E}" dt="2024-10-26T22:11:07.867" v="151" actId="20577"/>
      <pc:docMkLst>
        <pc:docMk/>
      </pc:docMkLst>
      <pc:sldChg chg="addSp delSp modSp mod">
        <pc:chgData name="Taylor Davis" userId="5c9e72a0-c39f-4aa1-9d7d-64125e78cbe6" providerId="ADAL" clId="{46D918E5-61BF-4291-A467-014FA2D5775E}" dt="2024-10-26T22:11:07.867" v="151" actId="20577"/>
        <pc:sldMkLst>
          <pc:docMk/>
          <pc:sldMk cId="1419816550" sldId="536"/>
        </pc:sldMkLst>
        <pc:spChg chg="mod">
          <ac:chgData name="Taylor Davis" userId="5c9e72a0-c39f-4aa1-9d7d-64125e78cbe6" providerId="ADAL" clId="{46D918E5-61BF-4291-A467-014FA2D5775E}" dt="2024-10-26T22:11:07.867" v="151" actId="20577"/>
          <ac:spMkLst>
            <pc:docMk/>
            <pc:sldMk cId="1419816550" sldId="536"/>
            <ac:spMk id="11" creationId="{A897897D-C568-B204-6568-514AD4B71A5C}"/>
          </ac:spMkLst>
        </pc:spChg>
        <pc:spChg chg="add del">
          <ac:chgData name="Taylor Davis" userId="5c9e72a0-c39f-4aa1-9d7d-64125e78cbe6" providerId="ADAL" clId="{46D918E5-61BF-4291-A467-014FA2D5775E}" dt="2024-10-26T22:09:17.038" v="5" actId="478"/>
          <ac:spMkLst>
            <pc:docMk/>
            <pc:sldMk cId="1419816550" sldId="536"/>
            <ac:spMk id="13" creationId="{45FE27E9-0C09-9DDC-CCD0-BD39383DE804}"/>
          </ac:spMkLst>
        </pc:spChg>
        <pc:spChg chg="add">
          <ac:chgData name="Taylor Davis" userId="5c9e72a0-c39f-4aa1-9d7d-64125e78cbe6" providerId="ADAL" clId="{46D918E5-61BF-4291-A467-014FA2D5775E}" dt="2024-10-26T22:09:22.893" v="7"/>
          <ac:spMkLst>
            <pc:docMk/>
            <pc:sldMk cId="1419816550" sldId="536"/>
            <ac:spMk id="14" creationId="{137BBBCF-EE4C-8058-9E30-E9460F1C66CD}"/>
          </ac:spMkLst>
        </pc:spChg>
        <pc:spChg chg="add">
          <ac:chgData name="Taylor Davis" userId="5c9e72a0-c39f-4aa1-9d7d-64125e78cbe6" providerId="ADAL" clId="{46D918E5-61BF-4291-A467-014FA2D5775E}" dt="2024-10-26T22:09:28.132" v="9"/>
          <ac:spMkLst>
            <pc:docMk/>
            <pc:sldMk cId="1419816550" sldId="536"/>
            <ac:spMk id="15" creationId="{3E05010A-49A6-D0F6-1E00-384846FDCC9D}"/>
          </ac:spMkLst>
        </pc:spChg>
        <pc:spChg chg="add">
          <ac:chgData name="Taylor Davis" userId="5c9e72a0-c39f-4aa1-9d7d-64125e78cbe6" providerId="ADAL" clId="{46D918E5-61BF-4291-A467-014FA2D5775E}" dt="2024-10-26T22:09:48.601" v="21"/>
          <ac:spMkLst>
            <pc:docMk/>
            <pc:sldMk cId="1419816550" sldId="536"/>
            <ac:spMk id="16" creationId="{A9E749A7-A1B8-45BB-F43B-F40DDBE21B30}"/>
          </ac:spMkLst>
        </pc:spChg>
      </pc:sldChg>
      <pc:sldChg chg="modSp mod">
        <pc:chgData name="Taylor Davis" userId="5c9e72a0-c39f-4aa1-9d7d-64125e78cbe6" providerId="ADAL" clId="{46D918E5-61BF-4291-A467-014FA2D5775E}" dt="2024-10-26T22:07:53.590" v="3" actId="20577"/>
        <pc:sldMkLst>
          <pc:docMk/>
          <pc:sldMk cId="4064752386" sldId="564"/>
        </pc:sldMkLst>
        <pc:spChg chg="mod">
          <ac:chgData name="Taylor Davis" userId="5c9e72a0-c39f-4aa1-9d7d-64125e78cbe6" providerId="ADAL" clId="{46D918E5-61BF-4291-A467-014FA2D5775E}" dt="2024-10-26T22:07:53.590" v="3" actId="20577"/>
          <ac:spMkLst>
            <pc:docMk/>
            <pc:sldMk cId="4064752386" sldId="564"/>
            <ac:spMk id="6" creationId="{3E0219A2-C97D-9E0E-9C52-C5207AB41BD4}"/>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image" Target="../media/image26.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image" Target="../media/image26.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54060E05-1455-499C-A6BB-E47A1C8EFC1A}" type="presOf" srcId="{B1FA3D48-7F41-4C46-99D6-6C8591F4198C}" destId="{8C4E3136-41AF-48D5-891D-C7A5263CF655}" srcOrd="0" destOrd="1" presId="urn:microsoft.com/office/officeart/2005/8/layout/bList2"/>
    <dgm:cxn modelId="{EBF30808-A408-4F9D-B9C2-E5FC4507A989}" srcId="{137481BD-655E-4B21-9249-6EBB92970AA3}" destId="{B1FA3D48-7F41-4C46-99D6-6C8591F4198C}" srcOrd="1" destOrd="0" parTransId="{012C922E-7A6C-43B7-A753-53C75D0CB07F}" sibTransId="{4E6B45C1-37A8-43E1-8B00-EA4364BA9A53}"/>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1"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92EAACA0-EC69-4A7A-A0D6-B767ABABFD4D}" type="presOf" srcId="{8AA02574-A625-4CCB-B607-53FB332909CE}" destId="{9E8AA967-F63D-4462-B3DF-2E61DCE37D82}" srcOrd="0" destOrd="0" presId="urn:microsoft.com/office/officeart/2005/8/layout/bList2"/>
    <dgm:cxn modelId="{FB851ADA-FDC3-4AC9-B5D1-634F1680EA45}" type="presOf" srcId="{D23E581B-AA16-403B-8AF5-1BB3E719881C}" destId="{5F2862EE-15F0-400F-BA0C-7A5864BA0266}" srcOrd="0" destOrd="0" presId="urn:microsoft.com/office/officeart/2005/8/layout/bList2"/>
    <dgm:cxn modelId="{D5EF1BE8-567B-4AEB-9931-155FFDAC15D1}" srcId="{8AA02574-A625-4CCB-B607-53FB332909CE}" destId="{5E564713-3E5C-4216-AC76-2C8D569707A1}" srcOrd="1" destOrd="0" parTransId="{0C8DA182-D421-4374-AA69-62A4033F8D61}" sibTransId="{C594015F-2B43-47FD-9E44-22D00FC6EB48}"/>
    <dgm:cxn modelId="{AECB39EB-1DBA-434A-8146-CF9B196B8451}" type="presOf" srcId="{8F0095CA-0C27-493A-9874-D794A8A73536}" destId="{35B06EAE-30F4-4745-ACED-5452905F1416}" srcOrd="0" destOrd="0" presId="urn:microsoft.com/office/officeart/2005/8/layout/bList2"/>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10/26/2024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10/26/2024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10/26/2024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10/26/2024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10/26/2024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10/26/2024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10/26/2024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10/26/2024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10/26/2024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10/26/2024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10/26/2024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10/26/2024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10/26/2024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5.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jpeg"/><Relationship Id="rId7" Type="http://schemas.openxmlformats.org/officeDocument/2006/relationships/image" Target="../media/image34.jpeg"/><Relationship Id="rId2" Type="http://schemas.openxmlformats.org/officeDocument/2006/relationships/image" Target="../media/image29.png"/><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jpeg"/><Relationship Id="rId4" Type="http://schemas.openxmlformats.org/officeDocument/2006/relationships/image" Target="../media/image31.png"/><Relationship Id="rId9"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image" Target="../media/image43.jpeg"/><Relationship Id="rId5" Type="http://schemas.openxmlformats.org/officeDocument/2006/relationships/image" Target="../media/image42.jpeg"/><Relationship Id="rId4" Type="http://schemas.microsoft.com/office/2007/relationships/hdphoto" Target="../media/hdphoto2.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4.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4.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jpeg"/><Relationship Id="rId1" Type="http://schemas.openxmlformats.org/officeDocument/2006/relationships/slideLayout" Target="../slideLayouts/slideLayout6.xml"/><Relationship Id="rId6" Type="http://schemas.openxmlformats.org/officeDocument/2006/relationships/image" Target="../media/image49.svg"/><Relationship Id="rId11" Type="http://schemas.openxmlformats.org/officeDocument/2006/relationships/image" Target="../media/image6.png"/><Relationship Id="rId5" Type="http://schemas.openxmlformats.org/officeDocument/2006/relationships/image" Target="../media/image4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a:solidFill>
                  <a:schemeClr val="bg1"/>
                </a:solidFill>
              </a:rPr>
              <a:t>VANDALIA HEALTH DIRECT-TO-EMPLOYER </a:t>
            </a:r>
            <a:r>
              <a:rPr lang="en-US" sz="2000" b="1" dirty="0">
                <a:solidFill>
                  <a:schemeClr val="bg1"/>
                </a:solidFill>
              </a:rPr>
              <a:t>PLAN </a:t>
            </a:r>
          </a:p>
          <a:p>
            <a:r>
              <a:rPr lang="en-US" sz="2000" b="1" dirty="0">
                <a:solidFill>
                  <a:schemeClr val="bg1"/>
                </a:solidFill>
              </a:rPr>
              <a:t>October 10,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7" name="Content Placeholder 6"/>
          <p:cNvPicPr>
            <a:picLocks noGrp="1"/>
          </p:cNvPicPr>
          <p:nvPr>
            <p:ph/>
          </p:nvPr>
        </p:nvPicPr>
        <p:blipFill>
          <a:blip r:embed="rId3" cstate="print"/>
          <a:stretch>
            <a:fillRect/>
          </a:stretch>
        </p:blipFill>
        <p:spPr>
          <a:xfrm>
            <a:off x="987552" y="1636776"/>
            <a:ext cx="11201400" cy="5221224"/>
          </a:xfrm>
          <a:prstGeom prst="rect">
            <a:avLst/>
          </a:prstGeom>
        </p:spPr>
      </p:pic>
      <p:pic>
        <p:nvPicPr>
          <p:cNvPr id="8" name="Content Placeholder 7"/>
          <p:cNvPicPr>
            <a:picLocks noGrp="1"/>
          </p:cNvPicPr>
          <p:nvPr>
            <p:ph/>
          </p:nvPr>
        </p:nvPicPr>
        <p:blipFill>
          <a:blip r:embed="rId4" cstate="print"/>
          <a:stretch>
            <a:fillRect/>
          </a:stretch>
        </p:blipFill>
        <p:spPr>
          <a:xfrm>
            <a:off x="8900084" y="930818"/>
            <a:ext cx="3052839" cy="425709"/>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56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16" name="Content Placeholder 7">
            <a:extLst>
              <a:ext uri="{FF2B5EF4-FFF2-40B4-BE49-F238E27FC236}">
                <a16:creationId xmlns:a16="http://schemas.microsoft.com/office/drawing/2014/main" id="{46CC184C-C6B3-4433-84DE-67A08D1A0A00}"/>
              </a:ext>
            </a:extLst>
          </p:cNvPr>
          <p:cNvPicPr>
            <a:picLocks/>
          </p:cNvPicPr>
          <p:nvPr/>
        </p:nvPicPr>
        <p:blipFill>
          <a:blip r:embed="rId3" cstate="print"/>
          <a:stretch>
            <a:fillRect/>
          </a:stretch>
        </p:blipFill>
        <p:spPr>
          <a:xfrm>
            <a:off x="8937242" y="516112"/>
            <a:ext cx="3052839" cy="425709"/>
          </a:xfrm>
          <a:prstGeom prst="rect">
            <a:avLst/>
          </a:prstGeom>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dirty="0">
                <a:solidFill>
                  <a:schemeClr val="tx1">
                    <a:lumMod val="75000"/>
                    <a:lumOff val="25000"/>
                  </a:schemeClr>
                </a:solidFill>
              </a:rPr>
              <a:t>DTE Keys to Success for Vandalia Health</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646605"/>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a:solidFill/>
              </a:rPr>
              <a:t>Vandalia Health is a quality and access leader </a:t>
            </a:r>
            <a:r>
              <a:rPr lang="en-US" dirty="0"/>
              <a:t>in </a:t>
            </a:r>
            <a:r>
              <a:rPr lang="en-US" sz="1800" dirty="0">
                <a:solidFill>
                  <a:srgbClr val="000B2E"/>
                </a:solidFill>
              </a:rPr>
              <a:t>West Virginia, which is </a:t>
            </a:r>
            <a:r>
              <a:rPr lang="en-US" dirty="0">
                <a:solidFill>
                  <a:srgbClr val="000B2E"/>
                </a:solidFill>
              </a:rPr>
              <a:t>critical for success.</a:t>
            </a:r>
            <a:endParaRPr lang="en-US" dirty="0">
              <a:solidFill/>
            </a:endParaRP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Estimates for Margin and Steerage Hold</a:t>
            </a:r>
          </a:p>
          <a:p>
            <a:pPr algn="ctr" defTabSz="914411">
              <a:lnSpc>
                <a:spcPct val="90000"/>
              </a:lnSpc>
              <a:spcAft>
                <a:spcPts val="1200"/>
              </a:spcAft>
              <a:buClr>
                <a:schemeClr val="tx1"/>
              </a:buClr>
            </a:pPr>
            <a:r>
              <a:rPr lang="en-US" dirty="0"/>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dirty="0">
                <a:solidFill/>
              </a:rPr>
              <a:t>Profit growth will hold if these assumptions accurately play out as expected for Vandalia Health.</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4"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5"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~$.96 of loss</a:t>
            </a:r>
          </a:p>
        </p:txBody>
      </p:sp>
      <p:sp>
        <p:nvSpPr>
          <p:cNvPr id="7"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9"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0"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~$0.28 of profit</a:t>
            </a:r>
          </a:p>
        </p:txBody>
      </p:sp>
      <p:sp>
        <p:nvSpPr>
          <p:cNvPr id="13" name="TextBox 6">
            <a:extLst>
              <a:ext uri="{FF2B5EF4-FFF2-40B4-BE49-F238E27FC236}">
                <a16:creationId xmlns:a16="http://schemas.microsoft.com/office/drawing/2014/main" id="{820D1BA4-6D19-00FD-17FF-A0AD0AAAF7EE}"/>
              </a:ext>
            </a:extLst>
          </p:cNvPr>
          <p:cNvSpPr txBox="1"/>
          <p:nvPr/>
        </p:nvSpPr>
        <p:spPr>
          <a:xfrm>
            <a:off x="1973943" y="5562552"/>
            <a:ext cx="9132180" cy="369332"/>
          </a:xfrm>
          <a:prstGeom prst="rect">
            <a:avLst/>
          </a:prstGeom>
          <a:noFill/>
        </p:spPr>
        <p:txBody>
          <a:bodyPr wrap="none" rtlCol="0">
            <a:spAutoFit/>
          </a:bodyPr>
          <a:lstStyle/>
          <a:p>
            <a:r>
              <a:rPr lang="en-US" dirty="0"/>
              <a:t>See slide 24 for more details on the calculation of commercial and government-pay net income.</a:t>
            </a:r>
          </a:p>
        </p:txBody>
      </p:sp>
      <p:pic>
        <p:nvPicPr>
          <p:cNvPr id="17" name="Content Placeholder 7">
            <a:extLst>
              <a:ext uri="{FF2B5EF4-FFF2-40B4-BE49-F238E27FC236}">
                <a16:creationId xmlns:a16="http://schemas.microsoft.com/office/drawing/2014/main" id="{5BFEE09B-E9AA-1897-E21E-A19C09B37436}"/>
              </a:ext>
            </a:extLst>
          </p:cNvPr>
          <p:cNvPicPr>
            <a:picLocks/>
          </p:cNvPicPr>
          <p:nvPr/>
        </p:nvPicPr>
        <p:blipFill>
          <a:blip r:embed="rId2" cstate="print"/>
          <a:stretch>
            <a:fillRect/>
          </a:stretch>
        </p:blipFill>
        <p:spPr>
          <a:xfrm>
            <a:off x="8942941" y="511850"/>
            <a:ext cx="3052839" cy="425709"/>
          </a:xfrm>
          <a:prstGeom prst="rect">
            <a:avLst/>
          </a:prstGeom>
        </p:spPr>
      </p:pic>
    </p:spTree>
    <p:extLst>
      <p:ext uri="{BB962C8B-B14F-4D97-AF65-F5344CB8AC3E}">
        <p14:creationId xmlns:p14="http://schemas.microsoft.com/office/powerpoint/2010/main" val="3348736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solidFill/>
              </a:rPr>
              <a:t>“At the table” with Vandalia Health</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9</a:t>
            </a:r>
            <a:r>
              <a:rPr lang="en-US" spc="200" dirty="0">
                <a:latin typeface="+mj-lt"/>
                <a:cs typeface="+mj-cs"/>
              </a:rPr>
              <a:t>00+</a:t>
            </a:r>
            <a:r>
              <a:rPr lang="en-US" sz="1800" spc="200" dirty="0">
                <a:latin typeface="+mj-lt"/>
                <a:cs typeface="+mj-cs"/>
              </a:rPr>
              <a:t> Employers       120,000</a:t>
            </a:r>
            <a:r>
              <a:rPr lang="en-US" sz="1800" spc="200" dirty="0">
                <a:latin typeface="+mj-lt"/>
                <a:cs typeface="+mj-cs"/>
                <a:sym typeface="Wingdings" panose="05000000000000000000" pitchFamily="2" charset="2"/>
              </a:rPr>
              <a:t>+ Employees       190,000+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227045" y="103065"/>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3252784753"/>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464</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209</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129</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54</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24</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11</a:t>
                      </a:r>
                    </a:p>
                  </a:txBody>
                  <a:tcPr marL="6350" marR="6350" marT="635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34,800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31,350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38,700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37,800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48,000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121,000</a:t>
                      </a:r>
                    </a:p>
                  </a:txBody>
                  <a:tcPr marL="6350" marR="6350" marT="635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r" fontAlgn="b"/>
                      <a:r>
                        <a:rPr lang="en-US" sz="1100" b="0" i="0" u="none" strike="noStrike" dirty="0">
                          <a:solidFill>
                            <a:srgbClr val="000000"/>
                          </a:solidFill>
                          <a:effectLst/>
                          <a:latin typeface="Aptos Narrow" panose="020B0004020202020204" pitchFamily="34" charset="0"/>
                        </a:rPr>
                        <a:t>62,640</a:t>
                      </a:r>
                    </a:p>
                  </a:txBody>
                  <a:tcPr marL="6350" marR="6350" marT="6350" marB="0" anchor="b">
                    <a:lnL>
                      <a:noFill/>
                    </a:lnL>
                    <a:lnR>
                      <a:noFill/>
                    </a:lnR>
                    <a:lnT>
                      <a:noFill/>
                    </a:lnT>
                    <a:lnB>
                      <a:noFill/>
                    </a:lnB>
                    <a:solidFill>
                      <a:schemeClr val="accent2">
                        <a:lumMod val="20000"/>
                        <a:lumOff val="80000"/>
                      </a:schemeClr>
                    </a:solidFill>
                  </a:tcPr>
                </a:tc>
                <a:tc>
                  <a:txBody>
                    <a:bodyPr/>
                    <a:lstStyle/>
                    <a:p>
                      <a:pPr algn="r" fontAlgn="b"/>
                      <a:r>
                        <a:rPr lang="en-US" sz="1100" b="0" i="0" u="none" strike="noStrike" dirty="0">
                          <a:solidFill>
                            <a:srgbClr val="000000"/>
                          </a:solidFill>
                          <a:effectLst/>
                          <a:latin typeface="Aptos Narrow" panose="020B0004020202020204" pitchFamily="34" charset="0"/>
                        </a:rPr>
                        <a:t>56,430</a:t>
                      </a:r>
                    </a:p>
                  </a:txBody>
                  <a:tcPr marL="6350" marR="6350" marT="6350" marB="0" anchor="b">
                    <a:lnL>
                      <a:noFill/>
                    </a:lnL>
                    <a:lnR>
                      <a:noFill/>
                    </a:lnR>
                    <a:lnT>
                      <a:noFill/>
                    </a:lnT>
                    <a:lnB>
                      <a:noFill/>
                    </a:lnB>
                    <a:solidFill>
                      <a:schemeClr val="accent2">
                        <a:lumMod val="20000"/>
                        <a:lumOff val="80000"/>
                      </a:schemeClr>
                    </a:solidFill>
                  </a:tcPr>
                </a:tc>
                <a:tc>
                  <a:txBody>
                    <a:bodyPr/>
                    <a:lstStyle/>
                    <a:p>
                      <a:pPr algn="r" fontAlgn="b"/>
                      <a:r>
                        <a:rPr lang="en-US" sz="1100" b="0" i="0" u="none" strike="noStrike" dirty="0">
                          <a:solidFill>
                            <a:srgbClr val="000000"/>
                          </a:solidFill>
                          <a:effectLst/>
                          <a:latin typeface="Aptos Narrow" panose="020B0004020202020204" pitchFamily="34" charset="0"/>
                        </a:rPr>
                        <a:t>69,660</a:t>
                      </a:r>
                    </a:p>
                  </a:txBody>
                  <a:tcPr marL="6350" marR="6350" marT="6350" marB="0" anchor="b">
                    <a:lnL>
                      <a:noFill/>
                    </a:lnL>
                    <a:lnR>
                      <a:noFill/>
                    </a:lnR>
                    <a:lnT>
                      <a:noFill/>
                    </a:lnT>
                    <a:lnB>
                      <a:noFill/>
                    </a:lnB>
                    <a:solidFill>
                      <a:schemeClr val="accent2">
                        <a:lumMod val="20000"/>
                        <a:lumOff val="80000"/>
                      </a:schemeClr>
                    </a:solidFill>
                  </a:tcPr>
                </a:tc>
                <a:tc>
                  <a:txBody>
                    <a:bodyPr/>
                    <a:lstStyle/>
                    <a:p>
                      <a:pPr algn="r" fontAlgn="b"/>
                      <a:r>
                        <a:rPr lang="en-US" sz="1100" b="0" i="0" u="none" strike="noStrike" dirty="0">
                          <a:solidFill>
                            <a:srgbClr val="000000"/>
                          </a:solidFill>
                          <a:effectLst/>
                          <a:latin typeface="Aptos Narrow" panose="020B0004020202020204" pitchFamily="34" charset="0"/>
                        </a:rPr>
                        <a:t>68,040</a:t>
                      </a:r>
                    </a:p>
                  </a:txBody>
                  <a:tcPr marL="6350" marR="6350" marT="6350" marB="0" anchor="b">
                    <a:lnL>
                      <a:noFill/>
                    </a:lnL>
                    <a:lnR>
                      <a:noFill/>
                    </a:lnR>
                    <a:lnT>
                      <a:noFill/>
                    </a:lnT>
                    <a:lnB>
                      <a:noFill/>
                    </a:lnB>
                    <a:solidFill>
                      <a:schemeClr val="accent2">
                        <a:lumMod val="20000"/>
                        <a:lumOff val="80000"/>
                      </a:schemeClr>
                    </a:solidFill>
                  </a:tcPr>
                </a:tc>
                <a:tc>
                  <a:txBody>
                    <a:bodyPr/>
                    <a:lstStyle/>
                    <a:p>
                      <a:pPr algn="r" fontAlgn="b"/>
                      <a:r>
                        <a:rPr lang="en-US" sz="1100" b="0" i="0" u="none" strike="noStrike" dirty="0">
                          <a:solidFill>
                            <a:srgbClr val="000000"/>
                          </a:solidFill>
                          <a:effectLst/>
                          <a:latin typeface="Aptos Narrow" panose="020B0004020202020204" pitchFamily="34" charset="0"/>
                        </a:rPr>
                        <a:t>86,400</a:t>
                      </a:r>
                    </a:p>
                  </a:txBody>
                  <a:tcPr marL="6350" marR="6350" marT="6350" marB="0" anchor="b">
                    <a:lnL>
                      <a:noFill/>
                    </a:lnL>
                    <a:lnR>
                      <a:noFill/>
                    </a:lnR>
                    <a:lnT>
                      <a:noFill/>
                    </a:lnT>
                    <a:lnB>
                      <a:noFill/>
                    </a:lnB>
                    <a:solidFill>
                      <a:schemeClr val="accent2">
                        <a:lumMod val="20000"/>
                        <a:lumOff val="80000"/>
                      </a:schemeClr>
                    </a:solidFill>
                  </a:tcPr>
                </a:tc>
                <a:tc>
                  <a:txBody>
                    <a:bodyPr/>
                    <a:lstStyle/>
                    <a:p>
                      <a:pPr algn="r" fontAlgn="b"/>
                      <a:r>
                        <a:rPr lang="en-US" sz="1100" b="0" i="0" u="none" strike="noStrike" dirty="0">
                          <a:solidFill>
                            <a:srgbClr val="000000"/>
                          </a:solidFill>
                          <a:effectLst/>
                          <a:latin typeface="Aptos Narrow" panose="020B0004020202020204" pitchFamily="34" charset="0"/>
                        </a:rPr>
                        <a:t>217,800</a:t>
                      </a:r>
                    </a:p>
                  </a:txBody>
                  <a:tcPr marL="6350" marR="6350" marT="635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12" name="Content Placeholder 8">
            <a:extLst>
              <a:ext uri="{FF2B5EF4-FFF2-40B4-BE49-F238E27FC236}">
                <a16:creationId xmlns:a16="http://schemas.microsoft.com/office/drawing/2014/main" id="{E82CE56B-6837-53AD-57C9-3F65CEC2F357}"/>
              </a:ext>
            </a:extLst>
          </p:cNvPr>
          <p:cNvPicPr>
            <a:picLocks/>
          </p:cNvPicPr>
          <p:nvPr/>
        </p:nvPicPr>
        <p:blipFill>
          <a:blip r:embed="rId2" cstate="print"/>
          <a:srcRect l="39304" t="39668" r="40002" b="33063"/>
          <a:stretch/>
        </p:blipFill>
        <p:spPr>
          <a:xfrm>
            <a:off x="723482" y="2385814"/>
            <a:ext cx="3122941" cy="2988828"/>
          </a:xfrm>
          <a:prstGeom prst="rect">
            <a:avLst/>
          </a:prstGeom>
        </p:spPr>
      </p:pic>
      <p:sp>
        <p:nvSpPr>
          <p:cNvPr id="14" name="TextBox 13">
            <a:extLst>
              <a:ext uri="{FF2B5EF4-FFF2-40B4-BE49-F238E27FC236}">
                <a16:creationId xmlns:a16="http://schemas.microsoft.com/office/drawing/2014/main" id="{7F2EB483-F4AD-C43D-146F-C406022948EC}"/>
              </a:ext>
            </a:extLst>
          </p:cNvPr>
          <p:cNvSpPr txBox="1"/>
          <p:nvPr/>
        </p:nvSpPr>
        <p:spPr>
          <a:xfrm>
            <a:off x="857041" y="6046092"/>
            <a:ext cx="10477918" cy="430887"/>
          </a:xfrm>
          <a:prstGeom prst="rect">
            <a:avLst/>
          </a:prstGeom>
          <a:noFill/>
        </p:spPr>
        <p:txBody>
          <a:bodyPr wrap="square">
            <a:spAutoFit/>
          </a:bodyPr>
          <a:lstStyle/>
          <a:p>
            <a:r>
              <a:rPr lang="en-US" sz="1100" dirty="0">
                <a:solidFill>
                  <a:srgbClr val="000B2E"/>
                </a:solidFill>
              </a:rPr>
              <a:t>Researched for Clay, Lewis, Fayette, Jackson, Monroe, Greene, Boone, Braxton, Calhoun, Gilmer, Greenbrier, Kanawha, Lincoln, Logan, McDowell, Mason, Monongalia, Nicholas, Pocahontas, Preston, Putnam, Raleigh, Randolph, Roane, Summers, Taylor, Tucker, Webster, and Wyoming Counties</a:t>
            </a:r>
            <a:endParaRPr lang="en-US" sz="1100" dirty="0"/>
          </a:p>
        </p:txBody>
      </p:sp>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646331"/>
          </a:xfrm>
          <a:prstGeom prst="rect">
            <a:avLst/>
          </a:prstGeom>
          <a:noFill/>
        </p:spPr>
        <p:txBody>
          <a:bodyPr wrap="square" rtlCol="0">
            <a:spAutoFit/>
          </a:bodyPr>
          <a:lstStyle/>
          <a:p>
            <a:r>
              <a:rPr lang="en-US" sz="1200" dirty="0">
                <a:solidFill/>
              </a:rPr>
              <a:t>Estimates include Clay, Lewis, Fayette, Harrison, Jackson, Greene, Barbour, Boone, Braxton, Calhoun, Gilmer, Greenbrier, Kanawha, Lincoln, Logan, McDowell, Marion, Mason, Monongalia, Nicholas, Pocahontas, Preston, Putnam, Raleigh, Randolph, Roane, Summers, Taylor, Tucker, Upshur, Webster, and Wyoming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1,318K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745K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441K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261K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$15.07M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$1.07M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$110.41M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$9.1M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$229.53M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$19.06M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3"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11</a:t>
            </a:fld>
            <a:endParaRPr lang="en-US" dirty="0"/>
          </a:p>
        </p:txBody>
      </p:sp>
      <p:sp>
        <p:nvSpPr>
          <p:cNvPr id="5"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8" name="TextBox 12">
            <a:extLst>
              <a:ext uri="{FF2B5EF4-FFF2-40B4-BE49-F238E27FC236}">
                <a16:creationId xmlns:a16="http://schemas.microsoft.com/office/drawing/2014/main" id="{025AE6BF-C458-13D4-626E-DAD4C1439055}"/>
              </a:ext>
            </a:extLst>
          </p:cNvPr>
          <p:cNvSpPr txBox="1"/>
          <p:nvPr/>
        </p:nvSpPr>
        <p:spPr>
          <a:xfrm>
            <a:off x="7466120" y="2250333"/>
            <a:ext cx="4616389" cy="900246"/>
          </a:xfrm>
          <a:prstGeom prst="rect">
            <a:avLst/>
          </a:prstGeom>
          <a:noFill/>
        </p:spPr>
        <p:txBody>
          <a:bodyPr wrap="square" rtlCol="0">
            <a:spAutoFit/>
          </a:bodyPr>
          <a:lstStyle/>
          <a:p>
            <a:r>
              <a:rPr lang="en-US" sz="1050" dirty="0">
                <a:solidFill/>
              </a:rPr>
              <a:t>KBA currently estimates that Vandalia Health has 13% inpatient market share, and 9% outpatient market compared to hospitals in the catchment area. The DTE tiered structure will create immediate steerage, with additional steerage over time from patient bonus benefits and the patient card (see slide 33 for estimates of target steerage). </a:t>
            </a:r>
            <a:endParaRPr lang="en-US" sz="1050" dirty="0"/>
          </a:p>
        </p:txBody>
      </p:sp>
      <p:sp>
        <p:nvSpPr>
          <p:cNvPr id="9" name="Rectangle 20">
            <a:extLst>
              <a:ext uri="{FF2B5EF4-FFF2-40B4-BE49-F238E27FC236}">
                <a16:creationId xmlns:a16="http://schemas.microsoft.com/office/drawing/2014/main" id="{620CA171-241C-9006-DA4D-7174E70B2EF3}"/>
              </a:ext>
            </a:extLst>
          </p:cNvPr>
          <p:cNvSpPr/>
          <p:nvPr/>
        </p:nvSpPr>
        <p:spPr>
          <a:xfrm>
            <a:off x="7597806" y="5673610"/>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13" name="TextBox 24">
            <a:extLst>
              <a:ext uri="{FF2B5EF4-FFF2-40B4-BE49-F238E27FC236}">
                <a16:creationId xmlns:a16="http://schemas.microsoft.com/office/drawing/2014/main" id="{32C9D62D-25B0-6CD9-8AD7-E6855B1B1B26}"/>
              </a:ext>
            </a:extLst>
          </p:cNvPr>
          <p:cNvSpPr txBox="1"/>
          <p:nvPr/>
        </p:nvSpPr>
        <p:spPr>
          <a:xfrm>
            <a:off x="7509029" y="4771081"/>
            <a:ext cx="4616389" cy="738664"/>
          </a:xfrm>
          <a:prstGeom prst="rect">
            <a:avLst/>
          </a:prstGeom>
          <a:noFill/>
        </p:spPr>
        <p:txBody>
          <a:bodyPr wrap="square" rtlCol="0">
            <a:spAutoFit/>
          </a:bodyPr>
          <a:lstStyle/>
          <a:p>
            <a:r>
              <a:rPr lang="en-US" sz="1050" dirty="0">
                <a:solidFill/>
              </a:rPr>
              <a:t>KBA observes a Vandalia Health 10% commercial margin. Conservatively, we model the DTE to level with commercial rates given prices 10% below market, but with a 10 percentage-point increase through friendlier billing practices and improved patient collections with the patient card.</a:t>
            </a:r>
          </a:p>
        </p:txBody>
      </p:sp>
      <p:sp>
        <p:nvSpPr>
          <p:cNvPr id="14" name="TextBox 25">
            <a:extLst>
              <a:ext uri="{FF2B5EF4-FFF2-40B4-BE49-F238E27FC236}">
                <a16:creationId xmlns:a16="http://schemas.microsoft.com/office/drawing/2014/main" id="{A76920ED-352E-9285-CC83-BDA6AB18978D}"/>
              </a:ext>
            </a:extLst>
          </p:cNvPr>
          <p:cNvSpPr txBox="1"/>
          <p:nvPr/>
        </p:nvSpPr>
        <p:spPr>
          <a:xfrm>
            <a:off x="7707395" y="5626196"/>
            <a:ext cx="488916" cy="307777"/>
          </a:xfrm>
          <a:prstGeom prst="rect">
            <a:avLst/>
          </a:prstGeom>
          <a:noFill/>
        </p:spPr>
        <p:txBody>
          <a:bodyPr wrap="none" rtlCol="0">
            <a:spAutoFit/>
          </a:bodyPr>
          <a:lstStyle/>
          <a:p>
            <a:r>
              <a:rPr lang="en-US" sz="1400" b="1" dirty="0"/>
              <a:t>Low</a:t>
            </a:r>
          </a:p>
        </p:txBody>
      </p:sp>
      <p:sp>
        <p:nvSpPr>
          <p:cNvPr id="15" name="TextBox 26">
            <a:extLst>
              <a:ext uri="{FF2B5EF4-FFF2-40B4-BE49-F238E27FC236}">
                <a16:creationId xmlns:a16="http://schemas.microsoft.com/office/drawing/2014/main" id="{2559AB8C-6F23-81D3-4546-DE75EBD91879}"/>
              </a:ext>
            </a:extLst>
          </p:cNvPr>
          <p:cNvSpPr txBox="1"/>
          <p:nvPr/>
        </p:nvSpPr>
        <p:spPr>
          <a:xfrm>
            <a:off x="9572765" y="5626196"/>
            <a:ext cx="643509" cy="307777"/>
          </a:xfrm>
          <a:prstGeom prst="rect">
            <a:avLst/>
          </a:prstGeom>
          <a:noFill/>
        </p:spPr>
        <p:txBody>
          <a:bodyPr wrap="none" rtlCol="0">
            <a:spAutoFit/>
          </a:bodyPr>
          <a:lstStyle/>
          <a:p>
            <a:r>
              <a:rPr lang="en-US" sz="1400" b="1" dirty="0"/>
              <a:t>Target</a:t>
            </a:r>
          </a:p>
        </p:txBody>
      </p:sp>
      <p:sp>
        <p:nvSpPr>
          <p:cNvPr id="16" name="TextBox 27">
            <a:extLst>
              <a:ext uri="{FF2B5EF4-FFF2-40B4-BE49-F238E27FC236}">
                <a16:creationId xmlns:a16="http://schemas.microsoft.com/office/drawing/2014/main" id="{314AFF5C-ABDA-A82B-40C8-14E2DB160036}"/>
              </a:ext>
            </a:extLst>
          </p:cNvPr>
          <p:cNvSpPr txBox="1"/>
          <p:nvPr/>
        </p:nvSpPr>
        <p:spPr>
          <a:xfrm>
            <a:off x="11436788" y="5626196"/>
            <a:ext cx="524503" cy="307777"/>
          </a:xfrm>
          <a:prstGeom prst="rect">
            <a:avLst/>
          </a:prstGeom>
          <a:noFill/>
        </p:spPr>
        <p:txBody>
          <a:bodyPr wrap="none" rtlCol="0">
            <a:spAutoFit/>
          </a:bodyPr>
          <a:lstStyle/>
          <a:p>
            <a:r>
              <a:rPr lang="en-US" sz="1400" b="1" dirty="0"/>
              <a:t>High</a:t>
            </a:r>
          </a:p>
        </p:txBody>
      </p:sp>
      <p:sp>
        <p:nvSpPr>
          <p:cNvPr id="17" name="TextBox 28">
            <a:extLst>
              <a:ext uri="{FF2B5EF4-FFF2-40B4-BE49-F238E27FC236}">
                <a16:creationId xmlns:a16="http://schemas.microsoft.com/office/drawing/2014/main" id="{2C03026B-6D1E-F7B1-9995-7D9DC1019C60}"/>
              </a:ext>
            </a:extLst>
          </p:cNvPr>
          <p:cNvSpPr txBox="1"/>
          <p:nvPr/>
        </p:nvSpPr>
        <p:spPr>
          <a:xfrm>
            <a:off x="7659946" y="5885049"/>
            <a:ext cx="785793" cy="369332"/>
          </a:xfrm>
          <a:prstGeom prst="rect">
            <a:avLst/>
          </a:prstGeom>
          <a:noFill/>
        </p:spPr>
        <p:txBody>
          <a:bodyPr wrap="none" rtlCol="0">
            <a:spAutoFit/>
          </a:bodyPr>
          <a:lstStyle/>
          <a:p>
            <a:r>
              <a:rPr lang="en-US" dirty="0">
                <a:solidFill/>
              </a:rPr>
              <a:t>3%</a:t>
            </a:r>
          </a:p>
        </p:txBody>
      </p:sp>
      <p:sp>
        <p:nvSpPr>
          <p:cNvPr id="18" name="TextBox 29">
            <a:extLst>
              <a:ext uri="{FF2B5EF4-FFF2-40B4-BE49-F238E27FC236}">
                <a16:creationId xmlns:a16="http://schemas.microsoft.com/office/drawing/2014/main" id="{9C64CEEB-E16A-926D-5DF0-DC8275443A40}"/>
              </a:ext>
            </a:extLst>
          </p:cNvPr>
          <p:cNvSpPr txBox="1"/>
          <p:nvPr/>
        </p:nvSpPr>
        <p:spPr>
          <a:xfrm>
            <a:off x="9580061" y="5897021"/>
            <a:ext cx="885179" cy="369332"/>
          </a:xfrm>
          <a:prstGeom prst="rect">
            <a:avLst/>
          </a:prstGeom>
          <a:noFill/>
        </p:spPr>
        <p:txBody>
          <a:bodyPr wrap="none" rtlCol="0">
            <a:spAutoFit/>
          </a:bodyPr>
          <a:lstStyle/>
          <a:p>
            <a:r>
              <a:rPr lang="en-US" dirty="0">
                <a:solidFill/>
              </a:rPr>
              <a:t>8%</a:t>
            </a:r>
          </a:p>
        </p:txBody>
      </p:sp>
      <p:sp>
        <p:nvSpPr>
          <p:cNvPr id="19" name="TextBox 30">
            <a:extLst>
              <a:ext uri="{FF2B5EF4-FFF2-40B4-BE49-F238E27FC236}">
                <a16:creationId xmlns:a16="http://schemas.microsoft.com/office/drawing/2014/main" id="{716000A2-AFB1-117D-BFF0-2BDA3EA8A77D}"/>
              </a:ext>
            </a:extLst>
          </p:cNvPr>
          <p:cNvSpPr txBox="1"/>
          <p:nvPr/>
        </p:nvSpPr>
        <p:spPr>
          <a:xfrm>
            <a:off x="11389339" y="5897021"/>
            <a:ext cx="832279" cy="369332"/>
          </a:xfrm>
          <a:prstGeom prst="rect">
            <a:avLst/>
          </a:prstGeom>
          <a:noFill/>
        </p:spPr>
        <p:txBody>
          <a:bodyPr wrap="none" rtlCol="0">
            <a:spAutoFit/>
          </a:bodyPr>
          <a:lstStyle/>
          <a:p>
            <a:r>
              <a:rPr lang="en-US" dirty="0">
                <a:solidFill/>
              </a:rPr>
              <a:t>13%</a:t>
            </a:r>
          </a:p>
        </p:txBody>
      </p:sp>
      <p:sp>
        <p:nvSpPr>
          <p:cNvPr id="20"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1"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
        <p:nvSpPr>
          <p:cNvPr id="22" name="Rectangle 19">
            <a:extLst>
              <a:ext uri="{FF2B5EF4-FFF2-40B4-BE49-F238E27FC236}">
                <a16:creationId xmlns:a16="http://schemas.microsoft.com/office/drawing/2014/main" id="{F6627BBC-E6C5-1195-07E5-6C53EE01CC8B}"/>
              </a:ext>
            </a:extLst>
          </p:cNvPr>
          <p:cNvSpPr/>
          <p:nvPr/>
        </p:nvSpPr>
        <p:spPr>
          <a:xfrm>
            <a:off x="7597806" y="320341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5">
            <a:extLst>
              <a:ext uri="{FF2B5EF4-FFF2-40B4-BE49-F238E27FC236}">
                <a16:creationId xmlns:a16="http://schemas.microsoft.com/office/drawing/2014/main" id="{C22B0D02-4198-9ACE-8A8D-89E646CD21E5}"/>
              </a:ext>
            </a:extLst>
          </p:cNvPr>
          <p:cNvSpPr txBox="1"/>
          <p:nvPr/>
        </p:nvSpPr>
        <p:spPr>
          <a:xfrm>
            <a:off x="8366143" y="3171997"/>
            <a:ext cx="488916" cy="307777"/>
          </a:xfrm>
          <a:prstGeom prst="rect">
            <a:avLst/>
          </a:prstGeom>
          <a:noFill/>
        </p:spPr>
        <p:txBody>
          <a:bodyPr wrap="none" rtlCol="0">
            <a:spAutoFit/>
          </a:bodyPr>
          <a:lstStyle/>
          <a:p>
            <a:r>
              <a:rPr lang="en-US" sz="1400" b="1" dirty="0"/>
              <a:t>Low</a:t>
            </a:r>
          </a:p>
        </p:txBody>
      </p:sp>
      <p:sp>
        <p:nvSpPr>
          <p:cNvPr id="24" name="TextBox 27">
            <a:extLst>
              <a:ext uri="{FF2B5EF4-FFF2-40B4-BE49-F238E27FC236}">
                <a16:creationId xmlns:a16="http://schemas.microsoft.com/office/drawing/2014/main" id="{E8084D42-778C-82F6-630D-9D8469AFEE15}"/>
              </a:ext>
            </a:extLst>
          </p:cNvPr>
          <p:cNvSpPr txBox="1"/>
          <p:nvPr/>
        </p:nvSpPr>
        <p:spPr>
          <a:xfrm>
            <a:off x="10950749" y="3163290"/>
            <a:ext cx="524503" cy="307777"/>
          </a:xfrm>
          <a:prstGeom prst="rect">
            <a:avLst/>
          </a:prstGeom>
          <a:noFill/>
        </p:spPr>
        <p:txBody>
          <a:bodyPr wrap="none" rtlCol="0">
            <a:spAutoFit/>
          </a:bodyPr>
          <a:lstStyle/>
          <a:p>
            <a:r>
              <a:rPr lang="en-US" sz="1400" b="1" dirty="0"/>
              <a:t>High</a:t>
            </a:r>
          </a:p>
        </p:txBody>
      </p:sp>
      <p:sp>
        <p:nvSpPr>
          <p:cNvPr id="25" name="TextBox 28">
            <a:extLst>
              <a:ext uri="{FF2B5EF4-FFF2-40B4-BE49-F238E27FC236}">
                <a16:creationId xmlns:a16="http://schemas.microsoft.com/office/drawing/2014/main" id="{F168AC10-2BD6-A49E-428D-30E6B39D197A}"/>
              </a:ext>
            </a:extLst>
          </p:cNvPr>
          <p:cNvSpPr txBox="1"/>
          <p:nvPr/>
        </p:nvSpPr>
        <p:spPr>
          <a:xfrm>
            <a:off x="7647303" y="3407458"/>
            <a:ext cx="1825756" cy="369332"/>
          </a:xfrm>
          <a:prstGeom prst="rect">
            <a:avLst/>
          </a:prstGeom>
          <a:noFill/>
        </p:spPr>
        <p:txBody>
          <a:bodyPr wrap="none" rtlCol="0">
            <a:spAutoFit/>
          </a:bodyPr>
          <a:lstStyle/>
          <a:p>
            <a:r>
              <a:rPr lang="en-US" dirty="0">
                <a:solidFill/>
              </a:rPr>
              <a:t>10% below target</a:t>
            </a:r>
          </a:p>
        </p:txBody>
      </p:sp>
      <p:sp>
        <p:nvSpPr>
          <p:cNvPr id="26" name="TextBox 30">
            <a:extLst>
              <a:ext uri="{FF2B5EF4-FFF2-40B4-BE49-F238E27FC236}">
                <a16:creationId xmlns:a16="http://schemas.microsoft.com/office/drawing/2014/main" id="{85A3284B-C2CB-7693-6750-302A3F66B386}"/>
              </a:ext>
            </a:extLst>
          </p:cNvPr>
          <p:cNvSpPr txBox="1"/>
          <p:nvPr/>
        </p:nvSpPr>
        <p:spPr>
          <a:xfrm>
            <a:off x="10299672" y="3405178"/>
            <a:ext cx="1820178" cy="369332"/>
          </a:xfrm>
          <a:prstGeom prst="rect">
            <a:avLst/>
          </a:prstGeom>
          <a:noFill/>
        </p:spPr>
        <p:txBody>
          <a:bodyPr wrap="none" rtlCol="0">
            <a:spAutoFit/>
          </a:bodyPr>
          <a:lstStyle/>
          <a:p>
            <a:r>
              <a:rPr lang="en-US" dirty="0">
                <a:solidFill/>
              </a:rPr>
              <a:t>10% above target</a:t>
            </a:r>
          </a:p>
        </p:txBody>
      </p:sp>
      <p:pic>
        <p:nvPicPr>
          <p:cNvPr id="30" name="Content Placeholder 26">
            <a:extLst>
              <a:ext uri="{FF2B5EF4-FFF2-40B4-BE49-F238E27FC236}">
                <a16:creationId xmlns:a16="http://schemas.microsoft.com/office/drawing/2014/main" id="{B5E870DB-3836-9E02-1111-759FB78EAA8B}"/>
              </a:ext>
            </a:extLst>
          </p:cNvPr>
          <p:cNvPicPr>
            <a:picLocks/>
          </p:cNvPicPr>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1,456.7K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2,771.3K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4,401.2K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407.9K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1,293.5K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2,620.1K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4,264.4K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1,042.2K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2,081.1K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3,810.5K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6,112.7K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724.2K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1,925.1K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3,670.1K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5,992.7K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936.5K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1,732.1K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2,811.9K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91.7K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767.3K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1,570.1K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2,659.5K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417948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Content Placeholder 6"/>
          <p:cNvPicPr>
            <a:picLocks noGrp="1"/>
          </p:cNvPicPr>
          <p:nvPr>
            <p:ph/>
          </p:nvPr>
        </p:nvPicPr>
        <p:blipFill>
          <a:blip r:embed="rId2" cstate="print"/>
          <a:stretch>
            <a:fillRect/>
          </a:stretch>
        </p:blipFill>
        <p:spPr>
          <a:xfrm>
            <a:off x="1118681" y="3008375"/>
            <a:ext cx="3834321" cy="609031"/>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Vandalia Health is Patient Recommended</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9405257" y="1989573"/>
            <a:ext cx="2532185" cy="25723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Based on quality measures and HCAHPS feedback, KBA estimates that Vandalia Health has one of the strongest brands in West Virginia. </a:t>
            </a:r>
          </a:p>
        </p:txBody>
      </p:sp>
      <p:graphicFrame>
        <p:nvGraphicFramePr>
          <p:cNvPr id="7" name="Table 6"/>
          <p:cNvGraphicFramePr>
            <a:graphicFrameLocks noGrp="1"/>
          </p:cNvGraphicFramePr>
          <p:nvPr>
            <p:extLst>
              <p:ext uri="{D42A27DB-BD31-4B8C-83A1-F6EECF244321}">
                <p14:modId xmlns:p14="http://schemas.microsoft.com/office/powerpoint/2010/main" val="4242737818"/>
              </p:ext>
            </p:extLst>
          </p:nvPr>
        </p:nvGraphicFramePr>
        <p:xfrm>
          <a:off x="1591960" y="2233730"/>
          <a:ext cx="6859734" cy="2084064"/>
        </p:xfrm>
        <a:graphic>
          <a:graphicData uri="http://schemas.openxmlformats.org/drawingml/2006/table">
            <a:tbl>
              <a:tblPr/>
              <a:tblGrid>
                <a:gridCol w="1247132">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Arial"/>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HCAHPS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Recommendation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CMS Stars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Mortality</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Readmission</a:t>
                      </a:r>
                      <a:br>
                        <a:rPr sz="1100" b="1" i="0" u="none" cap="none" dirty="0">
                          <a:solidFill>
                            <a:srgbClr val="000000">
                              <a:alpha val="100000"/>
                            </a:srgbClr>
                          </a:solidFill>
                          <a:latin typeface="Arial"/>
                          <a:cs typeface="Arial"/>
                          <a:sym typeface="Arial"/>
                        </a:rPr>
                      </a:br>
                      <a:r>
                        <a:rPr sz="1100" b="1" i="0" u="none" cap="none" dirty="0">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KBA Brand</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WVU Medicine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B4C2D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1"/>
                  </a:ext>
                </a:extLst>
              </a:tr>
              <a:tr h="36288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Vandalia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DB0D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02"/>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ScionHealth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16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DE4E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9ADCE">
                        <a:alpha val="100000"/>
                      </a:srgbClr>
                    </a:solidFill>
                  </a:tcPr>
                </a:tc>
                <a:extLst>
                  <a:ext uri="{0D108BD9-81ED-4DB2-BD59-A6C34878D82A}">
                    <a16:rowId xmlns:a16="http://schemas.microsoft.com/office/drawing/2014/main" val="10003"/>
                  </a:ext>
                </a:extLst>
              </a:tr>
              <a:tr h="36411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LifePoint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8F9F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7ABC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1B3D2">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Arial"/>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FB2D1">
                        <a:alpha val="100000"/>
                      </a:srgb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2800" b="1" dirty="0">
                <a:solidFill>
                  <a:srgbClr val="000B2E"/>
                </a:solidFill>
                <a:latin typeface="Arial" panose="020B0604020202020204" pitchFamily="34" charset="0"/>
                <a:cs typeface="Arial" panose="020B0604020202020204" pitchFamily="34" charset="0"/>
              </a:rPr>
              <a:t>Patients Pass Other Hospitals to Come to Vandalia Health</a:t>
            </a:r>
            <a:endParaRPr lang="en-US" sz="11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7013749" y="1989573"/>
            <a:ext cx="4923693"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KBA models Medicare patient encounter data to identify strong health system brands where patients will travel past other hospitals or long distances to frequent a specific hospital.  </a:t>
            </a:r>
          </a:p>
          <a:p>
            <a:pPr algn="ctr"/>
            <a:endParaRPr lang="en-US" dirty="0">
              <a:solidFill>
                <a:schemeClr val="tx1"/>
              </a:solidFill>
            </a:endParaRPr>
          </a:p>
          <a:p>
            <a:pPr algn="ctr"/>
            <a:r>
              <a:rPr lang="en-US" dirty="0">
                <a:solidFill>
                  <a:schemeClr val="tx1"/>
                </a:solidFill>
              </a:rPr>
              <a:t>The center of the donut are zip codes within which patients have a higher probability of frequenting Mon Health Medical Center. These zip codes are ignored for this analysis. </a:t>
            </a:r>
          </a:p>
          <a:p>
            <a:pPr algn="ctr"/>
            <a:endParaRPr lang="en-US" dirty="0">
              <a:solidFill>
                <a:schemeClr val="tx1"/>
              </a:solidFill>
            </a:endParaRPr>
          </a:p>
          <a:p>
            <a:pPr algn="ctr"/>
            <a:r>
              <a:rPr lang="en-US" dirty="0">
                <a:solidFill>
                  <a:schemeClr val="tx1"/>
                </a:solidFill>
              </a:rPr>
              <a:t>Significant patient encounters outside of this center, as seen here, indicate that patients are willing to travel significant distances, passing other hospitals to go to Mon Health Medical Center.</a:t>
            </a:r>
          </a:p>
        </p:txBody>
      </p:sp>
      <p:pic>
        <p:nvPicPr>
          <p:cNvPr id="7" name="Content Placeholder 6"/>
          <p:cNvPicPr>
            <a:picLocks noGrp="1"/>
          </p:cNvPicPr>
          <p:nvPr>
            <p:ph/>
          </p:nvPr>
        </p:nvPicPr>
        <p:blipFill>
          <a:blip r:embed="rId2" cstate="print"/>
          <a:stretch>
            <a:fillRect/>
          </a:stretch>
        </p:blipFill>
        <p:spPr>
          <a:xfrm>
            <a:off x="978408" y="1463040"/>
            <a:ext cx="5961888" cy="4764024"/>
          </a:xfrm>
          <a:prstGeom prst="rect">
            <a:avLst/>
          </a:prstGeom>
        </p:spPr>
      </p:pic>
    </p:spTree>
    <p:extLst>
      <p:ext uri="{BB962C8B-B14F-4D97-AF65-F5344CB8AC3E}">
        <p14:creationId xmlns:p14="http://schemas.microsoft.com/office/powerpoint/2010/main" val="4222550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Vandalia Health’s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Vandalia Health’s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Vandalia Health</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7"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400" cap="all" spc="-150" dirty="0">
                <a:solidFill>
                  <a:schemeClr val="bg1"/>
                </a:solidFill>
              </a:rPr>
              <a:t>Vandalia Health N</a:t>
            </a:r>
            <a:r>
              <a:rPr lang="en-US" sz="2400" spc="-150" dirty="0">
                <a:solidFill>
                  <a:schemeClr val="bg1"/>
                </a:solidFill>
              </a:rPr>
              <a:t>ETWORK</a:t>
            </a:r>
            <a:r>
              <a:rPr lang="en-US" sz="2400" cap="all" spc="-150" dirty="0">
                <a:solidFill>
                  <a:schemeClr val="bg1"/>
                </a:solidFill>
              </a:rPr>
              <a:t> </a:t>
            </a:r>
          </a:p>
        </p:txBody>
      </p:sp>
      <p:graphicFrame>
        <p:nvGraphicFramePr>
          <p:cNvPr id="8"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Content Placeholder 8"/>
          <p:cNvPicPr>
            <a:picLocks noGrp="1"/>
          </p:cNvPicPr>
          <p:nvPr>
            <p:ph/>
          </p:nvPr>
        </p:nvPicPr>
        <p:blipFill>
          <a:blip r:embed="rId7" cstate="print"/>
          <a:stretch>
            <a:fillRect/>
          </a:stretch>
        </p:blipFill>
        <p:spPr>
          <a:xfrm>
            <a:off x="9727691" y="4341290"/>
            <a:ext cx="1042416" cy="138989"/>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17</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257546"/>
            <a:ext cx="11877152" cy="523220"/>
          </a:xfrm>
          <a:prstGeom prst="rect">
            <a:avLst/>
          </a:prstGeom>
          <a:noFill/>
        </p:spPr>
        <p:txBody>
          <a:bodyPr wrap="square">
            <a:spAutoFit/>
          </a:bodyPr>
          <a:lstStyle/>
          <a:p>
            <a:pPr algn="ctr"/>
            <a:r>
              <a:rPr lang="en-US" sz="2800" b="1" dirty="0">
                <a:solidFill>
                  <a:schemeClr val="bg1"/>
                </a:solidFill>
              </a:rPr>
              <a:t>BENEFIT PLAN DESIGNS THAT OPTIMIZE STEERAGE TO VANDALIA HEALTH</a:t>
            </a:r>
          </a:p>
        </p:txBody>
      </p:sp>
      <p:pic>
        <p:nvPicPr>
          <p:cNvPr id="9" name="Content Placeholder 8"/>
          <p:cNvPicPr>
            <a:picLocks noGrp="1"/>
          </p:cNvPicPr>
          <p:nvPr>
            <p:ph/>
          </p:nvPr>
        </p:nvPicPr>
        <p:blipFill>
          <a:blip r:embed="rId3" cstate="print"/>
          <a:stretch>
            <a:fillRect/>
          </a:stretch>
        </p:blipFill>
        <p:spPr>
          <a:xfrm>
            <a:off x="7598662" y="5424447"/>
            <a:ext cx="4174237" cy="523554"/>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23.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Vandalia Health’s approved site(s) with network integration, and development of Vandalia Health’s proprietary PBM program.</a:t>
            </a:r>
            <a:r>
              <a:rPr lang="en-US" sz="1600" dirty="0">
                <a:highlight>
                  <a:srgbClr val="FFFF00"/>
                </a:highlight>
              </a:rPr>
              <a:t>   </a:t>
            </a:r>
          </a:p>
        </p:txBody>
      </p:sp>
      <p:graphicFrame>
        <p:nvGraphicFramePr>
          <p:cNvPr id="8" name="Table 7"/>
          <p:cNvGraphicFramePr>
            <a:graphicFrameLocks noGrp="1"/>
          </p:cNvGraphicFramePr>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2,866K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$ 1,133K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5,732K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$ 4,599K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712K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$ 2,834K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$ 14,331K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$ 2,275K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$11,334K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$ 57,323K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$45,989K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$12,840K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$10,302K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$10,092K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$22,668K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$114,647K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$91,979K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$25,681K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$20,603K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$20,513K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600969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19</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Vandalia Health’s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Vandalia Health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Vandalia Health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Vandalia Health’s managed care processes to KBA’s patented care management programs will turbocharge results – Positioning Vandalia Health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Vandalia Health </a:t>
            </a:r>
            <a:r>
              <a:rPr lang="en-US" sz="2400" b="1" cap="small" dirty="0">
                <a:solidFill>
                  <a:srgbClr val="000B2E"/>
                </a:solidFill>
              </a:rPr>
              <a:t>CAN PROMOTE THESE RESULTS FROM DAY ONE!!</a:t>
            </a:r>
          </a:p>
        </p:txBody>
      </p:sp>
      <p:pic>
        <p:nvPicPr>
          <p:cNvPr id="8"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3"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4"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5"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20</a:t>
            </a:fld>
            <a:endParaRPr lang="en-US" dirty="0"/>
          </a:p>
        </p:txBody>
      </p:sp>
      <p:sp>
        <p:nvSpPr>
          <p:cNvPr id="6"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7"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9"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10"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11"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5"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21</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Vandalia Health’s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Vandalia Health’s 340B drug pricing program</a:t>
            </a:r>
          </a:p>
          <a:p>
            <a:pPr marL="285753" indent="-285753">
              <a:spcBef>
                <a:spcPts val="600"/>
              </a:spcBef>
              <a:buFont typeface="Wingdings" panose="05000000000000000000" pitchFamily="2" charset="2"/>
              <a:buChar char="§"/>
            </a:pPr>
            <a:r>
              <a:rPr lang="en-US" sz="2000" dirty="0">
                <a:solidFill>
                  <a:schemeClr val="bg1"/>
                </a:solidFill>
              </a:rPr>
              <a:t>Allows Vandalia Health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3"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4"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22</a:t>
            </a:fld>
            <a:endParaRPr lang="en-US" dirty="0"/>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23</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4"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1186276558"/>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24</a:t>
            </a:fld>
            <a:endParaRPr lang="en-US" sz="1100" dirty="0">
              <a:solidFill>
                <a:schemeClr val="tx1">
                  <a:lumMod val="50000"/>
                  <a:lumOff val="50000"/>
                </a:schemeClr>
              </a:solidFill>
            </a:endParaRPr>
          </a:p>
        </p:txBody>
      </p:sp>
      <p:sp>
        <p:nvSpPr>
          <p:cNvPr id="6"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
        <p:nvSpPr>
          <p:cNvPr id="7" name="TextBox 3">
            <a:extLst>
              <a:ext uri="{FF2B5EF4-FFF2-40B4-BE49-F238E27FC236}">
                <a16:creationId xmlns:a16="http://schemas.microsoft.com/office/drawing/2014/main" id="{812A6EF0-F485-2EBB-BDEB-7A43025A5A29}"/>
              </a:ext>
            </a:extLst>
          </p:cNvPr>
          <p:cNvSpPr txBox="1"/>
          <p:nvPr/>
        </p:nvSpPr>
        <p:spPr>
          <a:xfrm>
            <a:off x="856622" y="2494128"/>
            <a:ext cx="2811026" cy="1515800"/>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Distribution Agents</a:t>
            </a:r>
          </a:p>
          <a:p>
            <a:pPr marL="285750" lvl="0" indent="-285750">
              <a:lnSpc>
                <a:spcPct val="100000"/>
              </a:lnSpc>
              <a:spcAft>
                <a:spcPts val="300"/>
              </a:spcAft>
              <a:buFont typeface="Arial" panose="020B0604020202020204" pitchFamily="34" charset="0"/>
              <a:buChar char="•"/>
            </a:pPr>
            <a:r>
              <a:rPr lang="en-US" sz="1700" b="0" dirty="0"/>
              <a:t>Training and Development</a:t>
            </a:r>
          </a:p>
          <a:p>
            <a:pPr marL="285750" lvl="0" indent="-285750">
              <a:lnSpc>
                <a:spcPct val="100000"/>
              </a:lnSpc>
              <a:spcAft>
                <a:spcPts val="300"/>
              </a:spcAft>
              <a:buFont typeface="Arial" panose="020B0604020202020204" pitchFamily="34" charset="0"/>
              <a:buChar char="•"/>
            </a:pPr>
            <a:r>
              <a:rPr lang="en-US" sz="1700" b="0" dirty="0"/>
              <a:t>Quote Evaluation</a:t>
            </a:r>
          </a:p>
          <a:p>
            <a:pPr marL="285750" lvl="0" indent="-285750">
              <a:lnSpc>
                <a:spcPct val="100000"/>
              </a:lnSpc>
              <a:spcAft>
                <a:spcPts val="300"/>
              </a:spcAft>
              <a:buFont typeface="Arial" panose="020B0604020202020204" pitchFamily="34" charset="0"/>
              <a:buChar char="•"/>
            </a:pPr>
            <a:r>
              <a:rPr lang="en-US" sz="1700" b="0" dirty="0"/>
              <a:t>Compensation</a:t>
            </a:r>
          </a:p>
        </p:txBody>
      </p:sp>
      <p:sp>
        <p:nvSpPr>
          <p:cNvPr id="8" name="TextBox 9">
            <a:extLst>
              <a:ext uri="{FF2B5EF4-FFF2-40B4-BE49-F238E27FC236}">
                <a16:creationId xmlns:a16="http://schemas.microsoft.com/office/drawing/2014/main" id="{537397C7-FB49-032A-7017-50CDF43FA202}"/>
              </a:ext>
            </a:extLst>
          </p:cNvPr>
          <p:cNvSpPr txBox="1"/>
          <p:nvPr/>
        </p:nvSpPr>
        <p:spPr>
          <a:xfrm>
            <a:off x="4499567" y="2525884"/>
            <a:ext cx="2885971" cy="207749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Targets</a:t>
            </a:r>
          </a:p>
          <a:p>
            <a:pPr marL="285750" lvl="0" indent="-285750">
              <a:lnSpc>
                <a:spcPct val="100000"/>
              </a:lnSpc>
              <a:spcAft>
                <a:spcPts val="300"/>
              </a:spcAft>
              <a:buFont typeface="Arial" panose="020B0604020202020204" pitchFamily="34" charset="0"/>
              <a:buChar char="•"/>
            </a:pPr>
            <a:r>
              <a:rPr lang="en-US" sz="1700" b="0" dirty="0">
                <a:solidFill/>
              </a:rPr>
              <a:t>Working with Vandalia Health to Engage Specific Employers</a:t>
            </a:r>
          </a:p>
          <a:p>
            <a:pPr marL="285750" lvl="0" indent="-285750">
              <a:lnSpc>
                <a:spcPct val="100000"/>
              </a:lnSpc>
              <a:spcAft>
                <a:spcPts val="300"/>
              </a:spcAft>
              <a:buFont typeface="Arial" panose="020B0604020202020204" pitchFamily="34" charset="0"/>
              <a:buChar char="•"/>
            </a:pPr>
            <a:r>
              <a:rPr lang="en-US" sz="1700" b="0" dirty="0"/>
              <a:t>Meet and Greet</a:t>
            </a:r>
          </a:p>
          <a:p>
            <a:pPr marL="285750" lvl="0" indent="-285750">
              <a:lnSpc>
                <a:spcPct val="100000"/>
              </a:lnSpc>
              <a:spcAft>
                <a:spcPts val="300"/>
              </a:spcAft>
              <a:buFont typeface="Arial" panose="020B0604020202020204" pitchFamily="34" charset="0"/>
              <a:buChar char="•"/>
            </a:pPr>
            <a:r>
              <a:rPr lang="en-US" sz="1700" b="0" dirty="0"/>
              <a:t>Sales Process</a:t>
            </a:r>
          </a:p>
          <a:p>
            <a:pPr marL="285750" lvl="0" indent="-285750">
              <a:lnSpc>
                <a:spcPct val="100000"/>
              </a:lnSpc>
              <a:spcAft>
                <a:spcPts val="300"/>
              </a:spcAft>
              <a:buFont typeface="Arial" panose="020B0604020202020204" pitchFamily="34" charset="0"/>
              <a:buChar char="•"/>
            </a:pPr>
            <a:r>
              <a:rPr lang="en-US" sz="1700" b="0" dirty="0"/>
              <a:t>Closing</a:t>
            </a:r>
          </a:p>
        </p:txBody>
      </p:sp>
      <p:sp>
        <p:nvSpPr>
          <p:cNvPr id="9" name="TextBox 11">
            <a:extLst>
              <a:ext uri="{FF2B5EF4-FFF2-40B4-BE49-F238E27FC236}">
                <a16:creationId xmlns:a16="http://schemas.microsoft.com/office/drawing/2014/main" id="{32AE8163-8376-4B77-CD83-691410ECD2AE}"/>
              </a:ext>
            </a:extLst>
          </p:cNvPr>
          <p:cNvSpPr txBox="1"/>
          <p:nvPr/>
        </p:nvSpPr>
        <p:spPr>
          <a:xfrm>
            <a:off x="8217457" y="2525884"/>
            <a:ext cx="2690445" cy="155427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Quote System</a:t>
            </a:r>
          </a:p>
          <a:p>
            <a:pPr marL="285750" lvl="0" indent="-285750">
              <a:lnSpc>
                <a:spcPct val="100000"/>
              </a:lnSpc>
              <a:spcAft>
                <a:spcPts val="300"/>
              </a:spcAft>
              <a:buFont typeface="Arial" panose="020B0604020202020204" pitchFamily="34" charset="0"/>
              <a:buChar char="•"/>
            </a:pPr>
            <a:r>
              <a:rPr lang="en-US" sz="1700" b="0" dirty="0"/>
              <a:t>Proposal Development</a:t>
            </a:r>
          </a:p>
          <a:p>
            <a:pPr marL="285750" lvl="0" indent="-285750">
              <a:lnSpc>
                <a:spcPct val="100000"/>
              </a:lnSpc>
              <a:spcAft>
                <a:spcPts val="300"/>
              </a:spcAft>
              <a:buFont typeface="Arial" panose="020B0604020202020204" pitchFamily="34" charset="0"/>
              <a:buChar char="•"/>
            </a:pPr>
            <a:r>
              <a:rPr lang="en-US" sz="1700" b="0" dirty="0"/>
              <a:t>Stop Loss Negotiations</a:t>
            </a:r>
          </a:p>
          <a:p>
            <a:pPr marL="285750" lvl="0" indent="-285750">
              <a:lnSpc>
                <a:spcPct val="100000"/>
              </a:lnSpc>
              <a:spcAft>
                <a:spcPts val="300"/>
              </a:spcAft>
              <a:buFont typeface="Arial" panose="020B0604020202020204" pitchFamily="34" charset="0"/>
              <a:buChar char="•"/>
            </a:pPr>
            <a:r>
              <a:rPr lang="en-US" sz="1700" b="0" dirty="0"/>
              <a:t>Reporting &amp; Analysis</a:t>
            </a:r>
          </a:p>
          <a:p>
            <a:pPr marL="342900" lvl="0" indent="-342900">
              <a:lnSpc>
                <a:spcPct val="100000"/>
              </a:lnSpc>
              <a:spcAft>
                <a:spcPts val="300"/>
              </a:spcAft>
              <a:buFont typeface="Arial" panose="020B0604020202020204" pitchFamily="34" charset="0"/>
              <a:buChar char="•"/>
            </a:pPr>
            <a:endParaRPr lang="en-US" sz="1700" b="0" dirty="0"/>
          </a:p>
        </p:txBody>
      </p:sp>
    </p:spTree>
    <p:extLst>
      <p:ext uri="{BB962C8B-B14F-4D97-AF65-F5344CB8AC3E}">
        <p14:creationId xmlns:p14="http://schemas.microsoft.com/office/powerpoint/2010/main" val="619324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5"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6"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7"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8"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9"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0"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1"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2"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3"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25</a:t>
            </a:fld>
            <a:endParaRPr lang="en-US" sz="1100" dirty="0">
              <a:solidFill>
                <a:schemeClr val="tx1">
                  <a:lumMod val="50000"/>
                  <a:lumOff val="50000"/>
                </a:schemeClr>
              </a:solidFill>
            </a:endParaRPr>
          </a:p>
        </p:txBody>
      </p:sp>
      <p:sp>
        <p:nvSpPr>
          <p:cNvPr id="14"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1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26</a:t>
            </a:fld>
            <a:endParaRPr lang="en-US"/>
          </a:p>
        </p:txBody>
      </p:sp>
      <p:pic>
        <p:nvPicPr>
          <p:cNvPr id="4"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Vandalia Health</a:t>
            </a:r>
            <a:r>
              <a:rPr lang="en-US" sz="4000" b="1">
                <a:latin typeface="+mn-lt"/>
                <a:cs typeface="Arial" panose="020B0604020202020204" pitchFamily="34" charset="0"/>
              </a:rPr>
              <a:t>’s 2022 </a:t>
            </a:r>
            <a:r>
              <a:rPr lang="en-US" sz="4000" b="1" dirty="0">
                <a:latin typeface="+mn-lt"/>
                <a:cs typeface="Arial" panose="020B0604020202020204" pitchFamily="34" charset="0"/>
              </a:rPr>
              <a:t>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Vandalia Health</a:t>
                      </a:r>
                    </a:p>
                  </a:txBody>
                  <a:tcPr>
                    <a:solidFill>
                      <a:schemeClr val="accent3">
                        <a:lumMod val="20000"/>
                        <a:lumOff val="80000"/>
                      </a:schemeClr>
                    </a:solidFill>
                  </a:tcPr>
                </a:tc>
                <a:tc>
                  <a:txBody>
                    <a:bodyPr/>
                    <a:lstStyle/>
                    <a:p>
                      <a:pPr algn="ctr"/>
                      <a:r>
                        <a:rPr lang="en-US" sz="1400" dirty="0">
                          <a:solidFill>
                            <a:schemeClr val="accent1">
                              <a:lumMod val="75000"/>
                            </a:schemeClr>
                          </a:solidFill>
                        </a:rPr>
                        <a:t>73,298</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$736,305K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26,641</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$108,509K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36%</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3,542</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$71,987K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5%</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4,663</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-$56,937K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6%</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38,452</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$555,660K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53%</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Vandalia Health estimates commercial insurance reimbursements at 277%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555,660K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277%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499,561K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1,055,222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755,574</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$299,648K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28%</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277%</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200,765K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180,496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381,261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755,574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-374,313</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-98%</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446253"/>
            <a:ext cx="10515600" cy="1325563"/>
          </a:xfrm>
        </p:spPr>
        <p:txBody>
          <a:bodyPr>
            <a:normAutofit/>
          </a:bodyPr>
          <a:lstStyle/>
          <a:p>
            <a:r>
              <a:rPr lang="en-US" sz="24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29</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895349" y="6342369"/>
            <a:ext cx="10515600" cy="507831"/>
          </a:xfrm>
          <a:prstGeom prst="rect">
            <a:avLst/>
          </a:prstGeom>
          <a:solidFill>
            <a:schemeClr val="bg1"/>
          </a:solid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49.1%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p:cNvGraphicFramePr>
            <a:graphicFrameLocks noGrp="1"/>
          </p:cNvGraphicFramePr>
          <p:nvPr>
            <p:extLst>
              <p:ext uri="{D42A27DB-BD31-4B8C-83A1-F6EECF244321}">
                <p14:modId xmlns:p14="http://schemas.microsoft.com/office/powerpoint/2010/main" val="2147999057"/>
              </p:ext>
            </p:extLst>
          </p:nvPr>
        </p:nvGraphicFramePr>
        <p:xfrm>
          <a:off x="895349" y="553637"/>
          <a:ext cx="9829800" cy="530860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398047">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94274">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CAMC Greenbrier Valley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73,658.3K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179,635.0K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94274">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Mon Health Medical Center</a:t>
                      </a:r>
                    </a:p>
                  </a:txBody>
                  <a:tcPr marL="0" marR="0" marT="0" marB="0"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160</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534,614.5K</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854,465.1K</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9%</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5%</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94274">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Davis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90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45,238.0K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197,687.3K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94274">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Stonewall Jackson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43,187.6K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141,655.3K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94274">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CAMC Charleston Surgical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3,046.0K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63,190.7K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94274">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Mon Health Marion Neighborhood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3,431.0K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33,518.1K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94274">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Broaddus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8,289.8K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18,975.7K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94274">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Webster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1,257.6K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21,486.1K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94274">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Grafton City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1,934.6K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24,341.4K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94274">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Preston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dirty="0">
                          <a:solidFill>
                            <a:srgbClr val="000000">
                              <a:alpha val="100000"/>
                            </a:srgbClr>
                          </a:solidFill>
                          <a:latin typeface="Arial"/>
                          <a:cs typeface="Arial"/>
                          <a:sym typeface="Arial"/>
                        </a:rPr>
                        <a:t>$    6,778.6K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84,029.3K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94274">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CAMC Plateau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18,878.5K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150,740.1K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94274">
                <a:tc>
                  <a:txBody>
                    <a:bodyPr/>
                    <a:lstStyle/>
                    <a:p>
                      <a:pPr marL="63500" marR="63500" algn="l">
                        <a:lnSpc>
                          <a:spcPct val="100000"/>
                        </a:lnSpc>
                        <a:spcBef>
                          <a:spcPts val="0"/>
                        </a:spcBef>
                        <a:spcAft>
                          <a:spcPts val="0"/>
                        </a:spcAft>
                        <a:buNone/>
                      </a:pPr>
                      <a:r>
                        <a:rPr sz="700" b="0" i="0" u="none" cap="none" dirty="0" err="1">
                          <a:solidFill>
                            <a:srgbClr val="000000">
                              <a:alpha val="100000"/>
                            </a:srgbClr>
                          </a:solidFill>
                          <a:latin typeface="Arial"/>
                          <a:cs typeface="Arial"/>
                          <a:sym typeface="Arial"/>
                        </a:rPr>
                        <a:t>AdventHealth</a:t>
                      </a:r>
                      <a:r>
                        <a:rPr sz="700" b="0" i="0" u="none" cap="none" dirty="0">
                          <a:solidFill>
                            <a:srgbClr val="000000">
                              <a:alpha val="100000"/>
                            </a:srgbClr>
                          </a:solidFill>
                          <a:latin typeface="Arial"/>
                          <a:cs typeface="Arial"/>
                          <a:sym typeface="Arial"/>
                        </a:rPr>
                        <a:t> Manchester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65,446.1K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217,643.7K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9427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Harrison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2,185.4K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33,658.2K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9427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Holzer Medical Center - Jackson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10,317.6K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73,528.8K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94274">
                <a:tc>
                  <a:txBody>
                    <a:bodyPr/>
                    <a:lstStyle/>
                    <a:p>
                      <a:pPr marL="63500" marR="63500" algn="l">
                        <a:lnSpc>
                          <a:spcPct val="100000"/>
                        </a:lnSpc>
                        <a:spcBef>
                          <a:spcPts val="0"/>
                        </a:spcBef>
                        <a:spcAft>
                          <a:spcPts val="0"/>
                        </a:spcAft>
                        <a:buNone/>
                      </a:pPr>
                      <a:r>
                        <a:rPr sz="700" b="0" i="0" u="none" cap="none" dirty="0" err="1">
                          <a:solidFill>
                            <a:srgbClr val="000000">
                              <a:alpha val="100000"/>
                            </a:srgbClr>
                          </a:solidFill>
                          <a:latin typeface="Arial"/>
                          <a:cs typeface="Arial"/>
                          <a:sym typeface="Arial"/>
                        </a:rPr>
                        <a:t>Adena</a:t>
                      </a:r>
                      <a:r>
                        <a:rPr sz="700" b="0" i="0" u="none" cap="none" dirty="0">
                          <a:solidFill>
                            <a:srgbClr val="000000">
                              <a:alpha val="100000"/>
                            </a:srgbClr>
                          </a:solidFill>
                          <a:latin typeface="Arial"/>
                          <a:cs typeface="Arial"/>
                          <a:sym typeface="Arial"/>
                        </a:rPr>
                        <a:t> Fayette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22,676.5K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148,835.6K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9427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Uniontown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134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178,692.8K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311,058.6K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Washington Health System Greene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5,236.7K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40,807.0K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9427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Penn Highlands Connellsville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61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11,921.2K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56,052.4K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9427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JW Ruby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716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$2,817,815.6K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$2,333,083.1K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9427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United Hospital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232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527,198.9K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$1,189,967.9K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Rivers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27,174.2K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132,252.8K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94274">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Thomas Health - Thomas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168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327,474.8K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679,629.9K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Thomas Health - Saint Francis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40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24,456.9K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184,020.1K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Logan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132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197,111.4K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282,477.5K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Beckley ARH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72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148,531.5K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280,203.3K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Raleigh General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300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413,232.3K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378,183.6K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7"/>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Minnie Hamilton Health Care Center CAH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6,406.8K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29,266.6K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8"/>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Roane General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12,092.2K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122,688.7K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9"/>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Braxton County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3,059.7K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46,908.4K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0"/>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Summers County ARH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9,380.5K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45,653.1K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1"/>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Boone Memorial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12,351.7K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151,213.4K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2"/>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Pocahontas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2,719.3K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27,371.4K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3"/>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Montgomery General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11,804.5K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51,531.5K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4"/>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Jackson General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11,205.7K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123,751.9K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5"/>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St Josephs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20,895.3K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243,634.4K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6"/>
                  </a:ext>
                </a:extLst>
              </a:tr>
              <a:tr h="94274">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Summersville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33,137.2K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144,986.3K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7"/>
                  </a:ext>
                </a:extLst>
              </a:tr>
            </a:tbl>
          </a:graphicData>
        </a:graphic>
      </p:graphicFrame>
      <p:sp>
        <p:nvSpPr>
          <p:cNvPr id="8" name="TextBox 7">
            <a:extLst>
              <a:ext uri="{FF2B5EF4-FFF2-40B4-BE49-F238E27FC236}">
                <a16:creationId xmlns:a16="http://schemas.microsoft.com/office/drawing/2014/main" id="{C3B4ABD9-0E95-90B6-4124-81F016FFB4B5}"/>
              </a:ext>
            </a:extLst>
          </p:cNvPr>
          <p:cNvSpPr txBox="1"/>
          <p:nvPr/>
        </p:nvSpPr>
        <p:spPr>
          <a:xfrm>
            <a:off x="895348" y="5973037"/>
            <a:ext cx="9829799" cy="261610"/>
          </a:xfrm>
          <a:prstGeom prst="rect">
            <a:avLst/>
          </a:prstGeom>
          <a:noFill/>
        </p:spPr>
        <p:txBody>
          <a:bodyPr wrap="square" rtlCol="0">
            <a:spAutoFit/>
          </a:bodyPr>
          <a:lstStyle/>
          <a:p>
            <a:r>
              <a:rPr lang="en-US" sz="1100" dirty="0">
                <a:solidFill>
                  <a:schemeClr val="accent2"/>
                </a:solidFill>
              </a:rPr>
              <a:t>CAMC Surgical Hospital and CAMC Teays Valley Hospital could not be included due to a lack of publicly available data in the Medicare Cost Report. </a:t>
            </a:r>
          </a:p>
        </p:txBody>
      </p:sp>
    </p:spTree>
    <p:extLst>
      <p:ext uri="{BB962C8B-B14F-4D97-AF65-F5344CB8AC3E}">
        <p14:creationId xmlns:p14="http://schemas.microsoft.com/office/powerpoint/2010/main" val="3034923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729296231"/>
              </p:ext>
            </p:extLst>
          </p:nvPr>
        </p:nvGraphicFramePr>
        <p:xfrm>
          <a:off x="0" y="0"/>
          <a:ext cx="12191999" cy="6451046"/>
        </p:xfrm>
        <a:graphic>
          <a:graphicData uri="http://schemas.openxmlformats.org/drawingml/2006/table">
            <a:tbl>
              <a:tblPr/>
              <a:tblGrid>
                <a:gridCol w="1791921">
                  <a:extLst>
                    <a:ext uri="{9D8B030D-6E8A-4147-A177-3AD203B41FA5}">
                      <a16:colId xmlns:a16="http://schemas.microsoft.com/office/drawing/2014/main" val="20000"/>
                    </a:ext>
                  </a:extLst>
                </a:gridCol>
                <a:gridCol w="1608489">
                  <a:extLst>
                    <a:ext uri="{9D8B030D-6E8A-4147-A177-3AD203B41FA5}">
                      <a16:colId xmlns:a16="http://schemas.microsoft.com/office/drawing/2014/main" val="20001"/>
                    </a:ext>
                  </a:extLst>
                </a:gridCol>
                <a:gridCol w="1128094">
                  <a:extLst>
                    <a:ext uri="{9D8B030D-6E8A-4147-A177-3AD203B41FA5}">
                      <a16:colId xmlns:a16="http://schemas.microsoft.com/office/drawing/2014/main" val="20003"/>
                    </a:ext>
                  </a:extLst>
                </a:gridCol>
                <a:gridCol w="916329">
                  <a:extLst>
                    <a:ext uri="{9D8B030D-6E8A-4147-A177-3AD203B41FA5}">
                      <a16:colId xmlns:a16="http://schemas.microsoft.com/office/drawing/2014/main" val="20004"/>
                    </a:ext>
                  </a:extLst>
                </a:gridCol>
                <a:gridCol w="1521899">
                  <a:extLst>
                    <a:ext uri="{9D8B030D-6E8A-4147-A177-3AD203B41FA5}">
                      <a16:colId xmlns:a16="http://schemas.microsoft.com/office/drawing/2014/main" val="20005"/>
                    </a:ext>
                  </a:extLst>
                </a:gridCol>
                <a:gridCol w="825253">
                  <a:extLst>
                    <a:ext uri="{9D8B030D-6E8A-4147-A177-3AD203B41FA5}">
                      <a16:colId xmlns:a16="http://schemas.microsoft.com/office/drawing/2014/main" val="20007"/>
                    </a:ext>
                  </a:extLst>
                </a:gridCol>
                <a:gridCol w="1132466">
                  <a:extLst>
                    <a:ext uri="{9D8B030D-6E8A-4147-A177-3AD203B41FA5}">
                      <a16:colId xmlns:a16="http://schemas.microsoft.com/office/drawing/2014/main" val="20008"/>
                    </a:ext>
                  </a:extLst>
                </a:gridCol>
                <a:gridCol w="911730">
                  <a:extLst>
                    <a:ext uri="{9D8B030D-6E8A-4147-A177-3AD203B41FA5}">
                      <a16:colId xmlns:a16="http://schemas.microsoft.com/office/drawing/2014/main" val="20009"/>
                    </a:ext>
                  </a:extLst>
                </a:gridCol>
                <a:gridCol w="1115171">
                  <a:extLst>
                    <a:ext uri="{9D8B030D-6E8A-4147-A177-3AD203B41FA5}">
                      <a16:colId xmlns:a16="http://schemas.microsoft.com/office/drawing/2014/main" val="20010"/>
                    </a:ext>
                  </a:extLst>
                </a:gridCol>
                <a:gridCol w="1240647">
                  <a:extLst>
                    <a:ext uri="{9D8B030D-6E8A-4147-A177-3AD203B41FA5}">
                      <a16:colId xmlns:a16="http://schemas.microsoft.com/office/drawing/2014/main" val="20011"/>
                    </a:ext>
                  </a:extLst>
                </a:gridCol>
              </a:tblGrid>
              <a:tr h="325217">
                <a:tc gridSpan="10">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709080">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CAMC Greenbrier Valley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Mon Health Medical Center</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Davis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Stonewall Jackson Memorial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Broaddus Hospital</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Webster Memorial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Grafton City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Preston Memorial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CAMC Plateau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39079">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Inpatient Patient Revenue</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$20,477K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$142,742K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$19,317K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$11,099K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$6,516K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$669K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$1,190K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$3,769K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$4,852K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39079">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Outpatient Patient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$49,939K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$228,142K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$84,412K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$36,405K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$14,915K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$11,431K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$14,970K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$46,720K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$38,740K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3956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$16,555K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$54,186K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$13,764K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$7,157K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$2,226K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$2,055K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$1,973K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$6,651K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$3,942K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9902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$11,179K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$10,524K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$8,703K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$10,095K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$7,526K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$1,150K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$4,041K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$17,579K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3907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$42,566K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$306,001K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$81,277K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$30,329K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$11,663K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$8,883K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$39,815K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$22,125K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3956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$2,460K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$24,913K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$14,313K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$3,342K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$7,251K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$1,417K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$1,237K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3956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$19,896K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$132,162K</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$24,274K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$12,558K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$6,932K</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$1,109K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$1,375K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$3,952K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$5,030K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3956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$48,522K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$211,232K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$106,078K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$41,189K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$15,868K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$18,954K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$17,299K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$48,984K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$40,162K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3956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$68,418K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$343,394K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$130,352K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$53,746K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$22,800K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$20,064K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$18,674K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$52,936K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$45,191K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1791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$1,882K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$27,318K</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$-26,608K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$-6,166K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$-1,385K</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$-7,975K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$-2,510K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$-2,428K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$-1,545K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3907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35.8%</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26.4%</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54.1%</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41.0%</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31.6%</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44.9%</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33907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3907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3956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37.5%</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3907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49.9%</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48.6%</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60.1%</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37.7%</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42.3%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48.7%</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63.6%</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3907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42.7%</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29.2%</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41.0%</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14.2%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23.7%</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44.7%</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147147">
                <a:tc gridSpan="10">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147147">
                <a:tc gridSpan="10">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147147">
                <a:tc gridSpan="10">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47147">
                <a:tc gridSpan="10">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
        <p:nvSpPr>
          <p:cNvPr id="4" name="TextBox 3">
            <a:extLst>
              <a:ext uri="{FF2B5EF4-FFF2-40B4-BE49-F238E27FC236}">
                <a16:creationId xmlns:a16="http://schemas.microsoft.com/office/drawing/2014/main" id="{C597C209-700F-C304-EA74-2B912B88DD42}"/>
              </a:ext>
            </a:extLst>
          </p:cNvPr>
          <p:cNvSpPr txBox="1"/>
          <p:nvPr/>
        </p:nvSpPr>
        <p:spPr>
          <a:xfrm>
            <a:off x="41240" y="6525696"/>
            <a:ext cx="9829799" cy="261610"/>
          </a:xfrm>
          <a:prstGeom prst="rect">
            <a:avLst/>
          </a:prstGeom>
          <a:noFill/>
        </p:spPr>
        <p:txBody>
          <a:bodyPr wrap="square" rtlCol="0">
            <a:spAutoFit/>
          </a:bodyPr>
          <a:lstStyle/>
          <a:p>
            <a:r>
              <a:rPr lang="en-US" sz="1100" dirty="0">
                <a:solidFill>
                  <a:schemeClr val="accent2"/>
                </a:solidFill>
              </a:rPr>
              <a:t>CAMC Surgical Hospital and CAMC Teays Valley Hospital could not be included due to a lack of publicly available data in the Medicare Cost Report.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4"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2334170208"/>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a:t>
                      </a:r>
                      <a:r>
                        <a:rPr lang="en-US" sz="1400" b="1" u="none" strike="noStrike" dirty="0">
                          <a:solidFill/>
                          <a:effectLst/>
                        </a:rPr>
                        <a:t>to West </a:t>
                      </a:r>
                      <a:r>
                        <a:rPr lang="en-US" sz="1400" b="1" u="none" strike="noStrike" dirty="0" err="1">
                          <a:solidFill/>
                          <a:effectLst/>
                        </a:rPr>
                        <a:t>Virgina</a:t>
                      </a:r>
                      <a:r>
                        <a:rPr lang="en-US" sz="1400" b="1" u="none" strike="noStrike" dirty="0">
                          <a:solidFill/>
                          <a:effectLst/>
                        </a:rPr>
                        <a:t> </a:t>
                      </a:r>
                      <a:r>
                        <a:rPr lang="en-US" sz="1400" b="1" u="none" strike="noStrike" dirty="0">
                          <a:effectLst/>
                        </a:rPr>
                        <a:t>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$ 2,959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$ 5,380</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$ 2,512</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5"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6"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31</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32</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3741339683"/>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8"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19A2854E-BB8B-2CAE-F670-0D2E7447BA42}"/>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rPr>
              <a:t>KBA is modeling steerage in line with other observed DTE networks.</a:t>
            </a:r>
          </a:p>
        </p:txBody>
      </p:sp>
    </p:spTree>
    <p:extLst>
      <p:ext uri="{BB962C8B-B14F-4D97-AF65-F5344CB8AC3E}">
        <p14:creationId xmlns:p14="http://schemas.microsoft.com/office/powerpoint/2010/main" val="3616502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D3DCB03-C008-AD89-6957-4E05EFDE3F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45156905-E918-9971-55DA-1B3D3593A1EC}"/>
              </a:ext>
            </a:extLst>
          </p:cNvPr>
          <p:cNvSpPr>
            <a:spLocks noGrp="1"/>
          </p:cNvSpPr>
          <p:nvPr>
            <p:ph type="sldNum" sz="quarter" idx="12"/>
          </p:nvPr>
        </p:nvSpPr>
        <p:spPr/>
        <p:txBody>
          <a:bodyPr/>
          <a:lstStyle/>
          <a:p>
            <a:fld id="{3AFC719D-C4A7-4544-876E-D411D11AF6C9}" type="slidenum">
              <a:rPr lang="en-US" smtClean="0"/>
              <a:t>33</a:t>
            </a:fld>
            <a:endParaRPr lang="en-US" dirty="0"/>
          </a:p>
        </p:txBody>
      </p:sp>
      <p:sp>
        <p:nvSpPr>
          <p:cNvPr id="4" name="Rectangle 6">
            <a:extLst>
              <a:ext uri="{FF2B5EF4-FFF2-40B4-BE49-F238E27FC236}">
                <a16:creationId xmlns:a16="http://schemas.microsoft.com/office/drawing/2014/main" id="{8E28090C-2F27-C065-17C4-ABD81529AB09}"/>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A1043D87-228F-7EE7-994A-5E1D92DA9012}"/>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PROJECTED PLAN GROWTH</a:t>
            </a:r>
          </a:p>
        </p:txBody>
      </p:sp>
      <p:sp>
        <p:nvSpPr>
          <p:cNvPr id="6" name="TextBox 12">
            <a:extLst>
              <a:ext uri="{FF2B5EF4-FFF2-40B4-BE49-F238E27FC236}">
                <a16:creationId xmlns:a16="http://schemas.microsoft.com/office/drawing/2014/main" id="{E799F91A-3FD1-47AB-858A-263DC729BC42}"/>
              </a:ext>
            </a:extLst>
          </p:cNvPr>
          <p:cNvSpPr txBox="1"/>
          <p:nvPr/>
        </p:nvSpPr>
        <p:spPr>
          <a:xfrm>
            <a:off x="8932985" y="1054579"/>
            <a:ext cx="2868171" cy="3754874"/>
          </a:xfrm>
          <a:prstGeom prst="rect">
            <a:avLst/>
          </a:prstGeom>
          <a:noFill/>
        </p:spPr>
        <p:txBody>
          <a:bodyPr wrap="square" rtlCol="0">
            <a:spAutoFit/>
          </a:bodyPr>
          <a:lstStyle/>
          <a:p>
            <a:r>
              <a:rPr lang="en-US" sz="1400" dirty="0">
                <a:solidFill/>
              </a:rPr>
              <a:t>KBA currently estimates that Vandalia Health has 13% inpatient market share, and 9% outpatient market compared to hospitals/clinics in the catchment area.</a:t>
            </a:r>
          </a:p>
          <a:p>
            <a:endParaRPr lang="en-US" sz="1400" dirty="0">
              <a:solidFill/>
            </a:endParaRPr>
          </a:p>
          <a:p>
            <a:r>
              <a:rPr lang="en-US" sz="1400" dirty="0">
                <a:solidFill/>
              </a:rPr>
              <a:t>Based on previous DTE experience, KBA expects a significant bump in patient steerage to Vandalia Health.</a:t>
            </a:r>
          </a:p>
          <a:p>
            <a:endParaRPr lang="en-US" sz="1400" dirty="0">
              <a:solidFill/>
            </a:endParaRPr>
          </a:p>
          <a:p>
            <a:r>
              <a:rPr lang="en-US" sz="1400" dirty="0">
                <a:solidFill/>
              </a:rPr>
              <a:t>Additional steerage will occur from additional steerage patient benefits and the patient card.  </a:t>
            </a:r>
          </a:p>
          <a:p>
            <a:endParaRPr lang="en-US" sz="1400" dirty="0">
              <a:solidFill/>
            </a:endParaRPr>
          </a:p>
          <a:p>
            <a:r>
              <a:rPr lang="en-US" sz="1400" dirty="0">
                <a:solidFill/>
              </a:rPr>
              <a:t>High estimates start nearly 10% higher than target with low estimates at 10% lower than target</a:t>
            </a:r>
          </a:p>
        </p:txBody>
      </p:sp>
      <p:graphicFrame>
        <p:nvGraphicFramePr>
          <p:cNvPr id="7" name="Table 6"/>
          <p:cNvGraphicFramePr>
            <a:graphicFrameLocks noGrp="1"/>
          </p:cNvGraphicFramePr>
          <p:nvPr>
            <p:extLst>
              <p:ext uri="{D42A27DB-BD31-4B8C-83A1-F6EECF244321}">
                <p14:modId xmlns:p14="http://schemas.microsoft.com/office/powerpoint/2010/main" val="1724724343"/>
              </p:ext>
            </p:extLst>
          </p:nvPr>
        </p:nvGraphicFramePr>
        <p:xfrm>
          <a:off x="1316735" y="384048"/>
          <a:ext cx="7174120" cy="5470935"/>
        </p:xfrm>
        <a:graphic>
          <a:graphicData uri="http://schemas.openxmlformats.org/drawingml/2006/table">
            <a:tbl>
              <a:tblPr/>
              <a:tblGrid>
                <a:gridCol w="1434824">
                  <a:extLst>
                    <a:ext uri="{9D8B030D-6E8A-4147-A177-3AD203B41FA5}">
                      <a16:colId xmlns:a16="http://schemas.microsoft.com/office/drawing/2014/main" val="20000"/>
                    </a:ext>
                  </a:extLst>
                </a:gridCol>
                <a:gridCol w="1434824">
                  <a:extLst>
                    <a:ext uri="{9D8B030D-6E8A-4147-A177-3AD203B41FA5}">
                      <a16:colId xmlns:a16="http://schemas.microsoft.com/office/drawing/2014/main" val="20001"/>
                    </a:ext>
                  </a:extLst>
                </a:gridCol>
                <a:gridCol w="1434824">
                  <a:extLst>
                    <a:ext uri="{9D8B030D-6E8A-4147-A177-3AD203B41FA5}">
                      <a16:colId xmlns:a16="http://schemas.microsoft.com/office/drawing/2014/main" val="20002"/>
                    </a:ext>
                  </a:extLst>
                </a:gridCol>
                <a:gridCol w="1434824">
                  <a:extLst>
                    <a:ext uri="{9D8B030D-6E8A-4147-A177-3AD203B41FA5}">
                      <a16:colId xmlns:a16="http://schemas.microsoft.com/office/drawing/2014/main" val="20003"/>
                    </a:ext>
                  </a:extLst>
                </a:gridCol>
                <a:gridCol w="1434824">
                  <a:extLst>
                    <a:ext uri="{9D8B030D-6E8A-4147-A177-3AD203B41FA5}">
                      <a16:colId xmlns:a16="http://schemas.microsoft.com/office/drawing/2014/main" val="20004"/>
                    </a:ext>
                  </a:extLst>
                </a:gridCol>
              </a:tblGrid>
              <a:tr h="56324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Vandalia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Vandalia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0"/>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1"/>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2"/>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3"/>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4"/>
                  </a:ext>
                </a:extLst>
              </a:tr>
              <a:tr h="1920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34</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3,600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$ 1,407,375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$ 1,822,031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$ 850,873.1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$ 4,080,279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$ 315,252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$ 408,135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$ 190,595.6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$ 913,982.5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62503" y="4085951"/>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$ 4,357,962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$ 43,200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$ 4,362,762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$ 4,221,162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$ 7,135,398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$ 11,179,388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$ 5,220,679</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$ 23,535,466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$ 1,598,329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$ 2,504,183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$ 1,169,432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$ 5,271,944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13% (inpatient) and 9%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22.4%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67% inpatient and 58%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a:t>
            </a:r>
            <a:r>
              <a:rPr lang="en-US" sz="1400" dirty="0">
                <a:solidFill/>
                <a:latin typeface="Arial" panose="020B0604020202020204" pitchFamily="34" charset="0"/>
                <a:cs typeface="Arial" panose="020B0604020202020204" pitchFamily="34" charset="0"/>
              </a:rPr>
              <a:t>margin of 22.4%, with a 10 percentage-point reduction to reflect competitive-edge rates and a 10 percentage-point increase due to lower billing costs and higher patient responsibility collections because of the member credit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6286914" cy="584775"/>
          </a:xfrm>
          <a:prstGeom prst="rect">
            <a:avLst/>
          </a:prstGeom>
          <a:noFill/>
        </p:spPr>
        <p:txBody>
          <a:bodyPr wrap="none" rtlCol="0">
            <a:spAutoFit/>
          </a:bodyPr>
          <a:lstStyle/>
          <a:p>
            <a:r>
              <a:rPr lang="en-US" sz="3200" b="1" dirty="0">
                <a:latin typeface="Calibri" panose="020F0502020204030204" pitchFamily="34" charset="0"/>
                <a:cs typeface="Calibri" panose="020F0502020204030204" pitchFamily="34" charset="0"/>
              </a:rPr>
              <a:t>Year </a:t>
            </a:r>
            <a:r>
              <a:rPr lang="en-US" sz="3200" b="1">
                <a:latin typeface="Calibri" panose="020F0502020204030204" pitchFamily="34" charset="0"/>
                <a:cs typeface="Calibri" panose="020F0502020204030204" pitchFamily="34" charset="0"/>
              </a:rPr>
              <a:t>4 Projected </a:t>
            </a:r>
            <a:r>
              <a:rPr lang="en-US" sz="3200" b="1" dirty="0">
                <a:latin typeface="Calibri" panose="020F0502020204030204" pitchFamily="34" charset="0"/>
                <a:cs typeface="Calibri" panose="020F0502020204030204" pitchFamily="34" charset="0"/>
              </a:rPr>
              <a:t>Revenue and Profit</a:t>
            </a:r>
          </a:p>
        </p:txBody>
      </p:sp>
    </p:spTree>
    <p:extLst>
      <p:ext uri="{BB962C8B-B14F-4D97-AF65-F5344CB8AC3E}">
        <p14:creationId xmlns:p14="http://schemas.microsoft.com/office/powerpoint/2010/main" val="1419816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11120145"/>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84592">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52613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11042">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$566.7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$1,133.4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$28,335.3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$1,269.4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$6,347.1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$2,866.2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$5,732.3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$28,661.7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$143,308.7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$2,299.5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$4,598.9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$22,994.7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$114,973.4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$642.0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$1,284.0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$6,420.2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$32,101.1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$515.1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$1,030.2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$5,150.8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$25,754.0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11042">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$191.1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$712.2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$4,880.8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$25,724.0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70881113"/>
              </p:ext>
            </p:extLst>
          </p:nvPr>
        </p:nvGraphicFramePr>
        <p:xfrm>
          <a:off x="0" y="0"/>
          <a:ext cx="12198096" cy="6858003"/>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068">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616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31377">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$1,954.7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$9,773.4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$437.8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$2,189.2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$888.1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$1,776.3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$8,881.3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$44,406.3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$1,989.4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$9,947.0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$692.7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$1,385.3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$6,926.6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$34,632.8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$155.2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$310.3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$1,551.6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$7,757.8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$253.1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$506.1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$2,530.6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$12,653.0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$2,834.3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$1,348.4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$2,696.7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$13,483.7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$67,418.5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$3,020.3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$15,101.7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$1,095.3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$2,190.6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$10,953.1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$54,765.5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$490.7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$2,453.5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$12,267.5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$118.2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$236.4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$1,181.8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$5,908.8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$1,323.6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$629.7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$1,259.4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$6,296.8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$31,483.9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$7,052.4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$5,115.0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$25,575.0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$229.2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$1,145.8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$5,728.8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31377">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$191.1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$712.2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$4,880.8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$25,724.0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09230533"/>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$566.7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$1,133.4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$28,335.3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$1,269.4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$6,347.1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$3,407.2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$6,814.4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$34,071.8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$170,358.9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$2,840.5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$5,680.9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$28,404.7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$142,023.7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$1,867.1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$9,335.7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$46,678.3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$806.6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$1,613.2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$8,066.2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$40,331.2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$482.6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$1,295.2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$7,796.2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$40,301.2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688055464"/>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$566.7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$1,133.4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$28,335.3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$1,269.4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$6,347.1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$2,322.8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$4,645.7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$23,228.4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$116,141.8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$1,756.1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$3,512.3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$17,561.3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$87,806.5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$808.3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$4,041.7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$20,208.7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$554.5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$2,772.3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$13,861.6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$-46.8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$236.5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$2,502.3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$13,831.6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b="1" spc="300" dirty="0"/>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500" spc="70" dirty="0">
              <a:latin typeface="+mj-lt"/>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39</a:t>
            </a:fld>
            <a:endParaRPr lang="en-US"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69332"/>
          </a:xfrm>
          <a:prstGeom prst="rect">
            <a:avLst/>
          </a:prstGeom>
          <a:noFill/>
        </p:spPr>
        <p:txBody>
          <a:bodyPr wrap="square">
            <a:spAutoFit/>
          </a:bodyPr>
          <a:lstStyle/>
          <a:p>
            <a:r>
              <a:rPr lang="en-US" b="1" spc="300" dirty="0">
                <a:solidFill>
                  <a:schemeClr val="bg1"/>
                </a:solidFill>
              </a:rPr>
              <a:t>Vandalia Health’s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2092881"/>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500" spc="70" dirty="0">
                <a:solidFill>
                  <a:schemeClr val="bg1"/>
                </a:solidFill>
                <a:latin typeface="+mj-lt"/>
              </a:rPr>
              <a:t>Reduced Spend</a:t>
            </a:r>
          </a:p>
          <a:p>
            <a:pPr marL="285753" indent="-285753">
              <a:spcAft>
                <a:spcPts val="200"/>
              </a:spcAft>
              <a:buFont typeface="Wingdings" panose="05000000000000000000" pitchFamily="2" charset="2"/>
              <a:buChar char="§"/>
            </a:pPr>
            <a:r>
              <a:rPr lang="en-US" sz="1500" spc="70" dirty="0">
                <a:solidFill>
                  <a:schemeClr val="bg1"/>
                </a:solidFill>
                <a:latin typeface="+mj-lt"/>
              </a:rPr>
              <a:t>“At The Table” with Vandalia Health</a:t>
            </a:r>
          </a:p>
          <a:p>
            <a:pPr marL="285753" indent="-285753">
              <a:spcAft>
                <a:spcPts val="200"/>
              </a:spcAft>
              <a:buFont typeface="Wingdings" panose="05000000000000000000" pitchFamily="2" charset="2"/>
              <a:buChar char="§"/>
            </a:pPr>
            <a:r>
              <a:rPr lang="en-US" sz="1500" spc="70" dirty="0">
                <a:solidFill>
                  <a:schemeClr val="bg1"/>
                </a:solidFill>
                <a:latin typeface="+mj-lt"/>
              </a:rPr>
              <a:t>Improved Analytics</a:t>
            </a:r>
          </a:p>
          <a:p>
            <a:pPr marL="285753" indent="-285753">
              <a:spcAft>
                <a:spcPts val="200"/>
              </a:spcAft>
              <a:buFont typeface="Wingdings" panose="05000000000000000000" pitchFamily="2" charset="2"/>
              <a:buChar char="§"/>
            </a:pPr>
            <a:r>
              <a:rPr lang="en-US" sz="1500" spc="70" dirty="0">
                <a:solidFill>
                  <a:schemeClr val="bg1"/>
                </a:solidFill>
                <a:latin typeface="+mj-lt"/>
              </a:rPr>
              <a:t>Complete Transparency</a:t>
            </a:r>
          </a:p>
          <a:p>
            <a:pPr marL="285753" indent="-285753">
              <a:spcAft>
                <a:spcPts val="200"/>
              </a:spcAft>
              <a:buFont typeface="Wingdings" panose="05000000000000000000" pitchFamily="2" charset="2"/>
              <a:buChar char="§"/>
            </a:pPr>
            <a:r>
              <a:rPr lang="en-US" sz="1500" spc="70" dirty="0">
                <a:solidFill>
                  <a:schemeClr val="bg1"/>
                </a:solidFill>
                <a:latin typeface="+mj-lt"/>
              </a:rPr>
              <a:t>Lower Stop-Loss</a:t>
            </a:r>
          </a:p>
          <a:p>
            <a:pPr marL="285753" indent="-285753">
              <a:spcAft>
                <a:spcPts val="200"/>
              </a:spcAft>
              <a:buFont typeface="Wingdings" panose="05000000000000000000" pitchFamily="2" charset="2"/>
              <a:buChar char="§"/>
            </a:pPr>
            <a:r>
              <a:rPr lang="en-US" sz="1500" spc="70" dirty="0">
                <a:solidFill>
                  <a:schemeClr val="bg1"/>
                </a:solidFill>
                <a:latin typeface="+mj-lt"/>
              </a:rPr>
              <a:t>Benefit Plan Stabilization </a:t>
            </a:r>
          </a:p>
          <a:p>
            <a:pPr marL="285753" indent="-285753">
              <a:spcAft>
                <a:spcPts val="200"/>
              </a:spcAft>
              <a:buFont typeface="Wingdings" panose="05000000000000000000" pitchFamily="2" charset="2"/>
              <a:buChar char="§"/>
            </a:pPr>
            <a:r>
              <a:rPr lang="en-US" sz="1500" spc="70" dirty="0">
                <a:solidFill>
                  <a:schemeClr val="bg1"/>
                </a:solidFill>
                <a:latin typeface="+mj-lt"/>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Vandalia Health</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Vandalia Health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3235786818"/>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200329"/>
          </a:xfrm>
          <a:prstGeom prst="rect">
            <a:avLst/>
          </a:prstGeom>
          <a:noFill/>
        </p:spPr>
        <p:txBody>
          <a:bodyPr wrap="square">
            <a:spAutoFit/>
          </a:bodyPr>
          <a:lstStyle/>
          <a:p>
            <a:pPr marL="285750" lvl="0" indent="-285750">
              <a:buFont typeface="Arial" panose="020B0604020202020204" pitchFamily="34" charset="0"/>
              <a:buChar char="•"/>
            </a:pPr>
            <a:r>
              <a:rPr lang="en-US" sz="1800" dirty="0"/>
              <a:t>Determine Gaps in Medical Service Delivery</a:t>
            </a:r>
          </a:p>
          <a:p>
            <a:pPr marL="285750" lvl="0" indent="-285750">
              <a:buFont typeface="Arial" panose="020B0604020202020204" pitchFamily="34" charset="0"/>
              <a:buChar char="•"/>
            </a:pPr>
            <a:r>
              <a:rPr lang="en-US" sz="1800" dirty="0">
                <a:solidFill/>
              </a:rPr>
              <a:t>Identify Other Key Providers to Potentially Contract with on Behalf of Vandalia Health</a:t>
            </a:r>
          </a:p>
          <a:p>
            <a:pPr marL="285750" lvl="0" indent="-285750">
              <a:buFont typeface="Arial" panose="020B0604020202020204" pitchFamily="34" charset="0"/>
              <a:buChar char="•"/>
            </a:pPr>
            <a:r>
              <a:rPr lang="en-US" sz="1800" dirty="0"/>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923330"/>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rPr>
              <a:t>To Dial in Competitive Stop-Loss Rates and Vandalia Health’s Net Revenues/Margins</a:t>
            </a:r>
          </a:p>
          <a:p>
            <a:pPr marL="285750" lvl="0" indent="-285750">
              <a:buFont typeface="Arial" panose="020B0604020202020204" pitchFamily="34" charset="0"/>
              <a:buChar char="•"/>
            </a:pPr>
            <a:r>
              <a:rPr lang="en-US" sz="1800" dirty="0"/>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42</a:t>
            </a:fld>
            <a:endParaRPr lang="en-US" sz="110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43</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46182</TotalTime>
  <Words>6095</Words>
  <Application>Microsoft Office PowerPoint</Application>
  <PresentationFormat>Widescreen</PresentationFormat>
  <Paragraphs>1761</Paragraphs>
  <Slides>43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Aptos Narrow</vt:lpstr>
      <vt:lpstr>Arial</vt:lpstr>
      <vt:lpstr>Arial Black</vt:lpstr>
      <vt:lpstr>Calibri</vt:lpstr>
      <vt:lpstr>Calibri Light</vt:lpstr>
      <vt:lpstr>Century Gothic</vt:lpstr>
      <vt:lpstr>Wingdings</vt:lpstr>
      <vt:lpstr>Office Theme</vt:lpstr>
      <vt:lpstr>PowerPoint Presentation</vt:lpstr>
      <vt:lpstr>PowerPoint Presentation</vt:lpstr>
      <vt:lpstr>Market Leader in Private Labeled DTE Plans</vt:lpstr>
      <vt:lpstr>Direct-to-Employer (DTE)  Your Health Plan Focused on a Direct Relationship with Self-Funded Employers in Your Market</vt:lpstr>
      <vt:lpstr>DTE Keys to Success for Vandalia Health</vt:lpstr>
      <vt:lpstr>Every $1 of Care</vt:lpstr>
      <vt:lpstr>Direct-to-Employer Strategy: Powerful Employer Value</vt:lpstr>
      <vt:lpstr>Significant Opportunity for Plan Growth </vt:lpstr>
      <vt:lpstr>Plan Potential Growth Paths</vt:lpstr>
      <vt:lpstr>Growing Powerful, Lasting Profitability</vt:lpstr>
      <vt:lpstr>Estimated Financial Returns and Assumptions</vt:lpstr>
      <vt:lpstr>FOUR-YEAR PROJECTIONS</vt:lpstr>
      <vt:lpstr>Direct-to-Employer Strategy: Only Available to Premier Health Systems</vt:lpstr>
      <vt:lpstr>Vandalia Health is Patient Recommended</vt:lpstr>
      <vt:lpstr>Patients Pass Other Hospitals to Come to Vandalia Health</vt:lpstr>
      <vt:lpstr>Vandalia Health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Vandalia Health’s 2022 Payer Mix</vt:lpstr>
      <vt:lpstr>Estimation of Margin for Commercial vs. Government Pay</vt:lpstr>
      <vt:lpstr>Estimating Market Share</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2024-10-26T22:11:12Z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