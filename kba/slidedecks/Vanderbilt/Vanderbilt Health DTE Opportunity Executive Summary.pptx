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8"/>
  </p:notesMasterIdLst>
  <p:sldIdLst>
    <p:sldId id="577" r:id="rId5"/>
    <p:sldId id="454" r:id="rId6"/>
    <p:sldId id="549" r:id="rId7"/>
    <p:sldId id="521" r:id="rId8"/>
    <p:sldId id="564" r:id="rId9"/>
    <p:sldId id="587" r:id="rId10"/>
    <p:sldId id="559" r:id="rId11"/>
    <p:sldId id="580" r:id="rId12"/>
    <p:sldId id="582" r:id="rId13"/>
    <p:sldId id="589" r:id="rId14"/>
    <p:sldId id="590" r:id="rId15"/>
    <p:sldId id="536" r:id="rId16"/>
    <p:sldId id="472" r:id="rId17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9B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09" autoAdjust="0"/>
  </p:normalViewPr>
  <p:slideViewPr>
    <p:cSldViewPr snapToGrid="0">
      <p:cViewPr>
        <p:scale>
          <a:sx n="78" d="100"/>
          <a:sy n="78" d="100"/>
        </p:scale>
        <p:origin x="1062" y="4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241D5E56-4F9F-4814-AF7A-A3C71C137FDE}"/>
    <pc:docChg chg="delSld modSld sldOrd">
      <pc:chgData name="Taylor Davis" userId="5c9e72a0-c39f-4aa1-9d7d-64125e78cbe6" providerId="ADAL" clId="{241D5E56-4F9F-4814-AF7A-A3C71C137FDE}" dt="2024-10-29T03:32:44.527" v="63" actId="20577"/>
      <pc:docMkLst>
        <pc:docMk/>
      </pc:docMkLst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241D5E56-4F9F-4814-AF7A-A3C71C137FDE}" dt="2024-10-29T03:29:00.301" v="1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241D5E56-4F9F-4814-AF7A-A3C71C137FDE}" dt="2024-10-29T03:29:29.308" v="7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241D5E56-4F9F-4814-AF7A-A3C71C137FDE}" dt="2024-10-29T03:29:01.506" v="3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241D5E56-4F9F-4814-AF7A-A3C71C137FDE}" dt="2024-10-29T03:28:59.644" v="0" actId="47"/>
        <pc:sldMkLst>
          <pc:docMk/>
          <pc:sldMk cId="1552833548" sldId="487"/>
        </pc:sldMkLst>
      </pc:sldChg>
      <pc:sldChg chg="del">
        <pc:chgData name="Taylor Davis" userId="5c9e72a0-c39f-4aa1-9d7d-64125e78cbe6" providerId="ADAL" clId="{241D5E56-4F9F-4814-AF7A-A3C71C137FDE}" dt="2024-10-29T03:29:29.308" v="7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241D5E56-4F9F-4814-AF7A-A3C71C137FDE}" dt="2024-10-29T03:29:00.950" v="2" actId="47"/>
        <pc:sldMkLst>
          <pc:docMk/>
          <pc:sldMk cId="3348736581" sldId="518"/>
        </pc:sldMkLst>
      </pc:sldChg>
      <pc:sldChg chg="ord">
        <pc:chgData name="Taylor Davis" userId="5c9e72a0-c39f-4aa1-9d7d-64125e78cbe6" providerId="ADAL" clId="{241D5E56-4F9F-4814-AF7A-A3C71C137FDE}" dt="2024-10-29T03:29:20.303" v="6"/>
        <pc:sldMkLst>
          <pc:docMk/>
          <pc:sldMk cId="500461553" sldId="521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3034923006" sldId="527"/>
        </pc:sldMkLst>
      </pc:sldChg>
      <pc:sldChg chg="modSp mod">
        <pc:chgData name="Taylor Davis" userId="5c9e72a0-c39f-4aa1-9d7d-64125e78cbe6" providerId="ADAL" clId="{241D5E56-4F9F-4814-AF7A-A3C71C137FDE}" dt="2024-10-29T03:32:19.204" v="29" actId="20577"/>
        <pc:sldMkLst>
          <pc:docMk/>
          <pc:sldMk cId="1419816550" sldId="536"/>
        </pc:sldMkLst>
        <pc:spChg chg="mod">
          <ac:chgData name="Taylor Davis" userId="5c9e72a0-c39f-4aa1-9d7d-64125e78cbe6" providerId="ADAL" clId="{241D5E56-4F9F-4814-AF7A-A3C71C137FDE}" dt="2024-10-29T03:32:19.204" v="29" actId="20577"/>
          <ac:spMkLst>
            <pc:docMk/>
            <pc:sldMk cId="1419816550" sldId="536"/>
            <ac:spMk id="10" creationId="{C690F22E-C9CA-61DC-5584-149573110610}"/>
          </ac:spMkLst>
        </pc:spChg>
        <pc:graphicFrameChg chg="modGraphic">
          <ac:chgData name="Taylor Davis" userId="5c9e72a0-c39f-4aa1-9d7d-64125e78cbe6" providerId="ADAL" clId="{241D5E56-4F9F-4814-AF7A-A3C71C137FDE}" dt="2024-10-29T03:29:54.191" v="28" actId="20577"/>
          <ac:graphicFrameMkLst>
            <pc:docMk/>
            <pc:sldMk cId="1419816550" sldId="536"/>
            <ac:graphicFrameMk id="6" creationId="{FF3ACACB-7F38-7EAA-4BDF-1A816CA00AAE}"/>
          </ac:graphicFrameMkLst>
        </pc:graphicFrameChg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3616502281" sldId="547"/>
        </pc:sldMkLst>
      </pc:sldChg>
      <pc:sldChg chg="ord">
        <pc:chgData name="Taylor Davis" userId="5c9e72a0-c39f-4aa1-9d7d-64125e78cbe6" providerId="ADAL" clId="{241D5E56-4F9F-4814-AF7A-A3C71C137FDE}" dt="2024-10-29T03:29:20.303" v="6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241D5E56-4F9F-4814-AF7A-A3C71C137FDE}" dt="2024-10-29T03:29:41.051" v="9" actId="47"/>
        <pc:sldMkLst>
          <pc:docMk/>
          <pc:sldMk cId="3790917938" sldId="575"/>
        </pc:sldMkLst>
      </pc:sldChg>
      <pc:sldChg chg="modSp mod">
        <pc:chgData name="Taylor Davis" userId="5c9e72a0-c39f-4aa1-9d7d-64125e78cbe6" providerId="ADAL" clId="{241D5E56-4F9F-4814-AF7A-A3C71C137FDE}" dt="2024-10-29T03:32:44.527" v="63" actId="20577"/>
        <pc:sldMkLst>
          <pc:docMk/>
          <pc:sldMk cId="636727059" sldId="577"/>
        </pc:sldMkLst>
        <pc:spChg chg="mod">
          <ac:chgData name="Taylor Davis" userId="5c9e72a0-c39f-4aa1-9d7d-64125e78cbe6" providerId="ADAL" clId="{241D5E56-4F9F-4814-AF7A-A3C71C137FDE}" dt="2024-10-29T03:32:44.527" v="63" actId="20577"/>
          <ac:spMkLst>
            <pc:docMk/>
            <pc:sldMk cId="636727059" sldId="577"/>
            <ac:spMk id="5" creationId="{B981BBA2-A3ED-6F7B-693B-880E5B031B26}"/>
          </ac:spMkLst>
        </pc:spChg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3277395919" sldId="578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241D5E56-4F9F-4814-AF7A-A3C71C137FDE}" dt="2024-10-29T03:29:36.675" v="8" actId="47"/>
        <pc:sldMkLst>
          <pc:docMk/>
          <pc:sldMk cId="2011724879" sldId="585"/>
        </pc:sldMkLst>
      </pc:sldChg>
      <pc:sldChg chg="ord">
        <pc:chgData name="Taylor Davis" userId="5c9e72a0-c39f-4aa1-9d7d-64125e78cbe6" providerId="ADAL" clId="{241D5E56-4F9F-4814-AF7A-A3C71C137FDE}" dt="2024-10-29T03:29:20.303" v="6"/>
        <pc:sldMkLst>
          <pc:docMk/>
          <pc:sldMk cId="4222550375" sldId="587"/>
        </pc:sldMkLst>
      </pc:sldChg>
      <pc:sldChg chg="del">
        <pc:chgData name="Taylor Davis" userId="5c9e72a0-c39f-4aa1-9d7d-64125e78cbe6" providerId="ADAL" clId="{241D5E56-4F9F-4814-AF7A-A3C71C137FDE}" dt="2024-10-29T03:29:05.794" v="4" actId="47"/>
        <pc:sldMkLst>
          <pc:docMk/>
          <pc:sldMk cId="835456127" sldId="588"/>
        </pc:sldMkLst>
      </pc:sldChg>
      <pc:sldChg chg="modSp mod">
        <pc:chgData name="Taylor Davis" userId="5c9e72a0-c39f-4aa1-9d7d-64125e78cbe6" providerId="ADAL" clId="{241D5E56-4F9F-4814-AF7A-A3C71C137FDE}" dt="2024-10-29T03:32:34.406" v="59" actId="20577"/>
        <pc:sldMkLst>
          <pc:docMk/>
          <pc:sldMk cId="2973222972" sldId="590"/>
        </pc:sldMkLst>
        <pc:spChg chg="mod">
          <ac:chgData name="Taylor Davis" userId="5c9e72a0-c39f-4aa1-9d7d-64125e78cbe6" providerId="ADAL" clId="{241D5E56-4F9F-4814-AF7A-A3C71C137FDE}" dt="2024-10-29T03:32:34.406" v="59" actId="20577"/>
          <ac:spMkLst>
            <pc:docMk/>
            <pc:sldMk cId="2973222972" sldId="590"/>
            <ac:spMk id="7" creationId="{AB8821D0-DEDE-002D-E87D-13E033D5D7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11" Type="http://schemas.openxmlformats.org/officeDocument/2006/relationships/image" Target="../media/image6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VANDERBILT HEALTH DIRECT-TO-EMPLOYER PLAN </a:t>
            </a:r>
          </a:p>
          <a:p>
            <a:r>
              <a:rPr lang="en-US" sz="2000" b="1">
                <a:solidFill>
                  <a:schemeClr val="bg1"/>
                </a:solidFill>
              </a:rPr>
              <a:t>October 29, </a:t>
            </a:r>
            <a:r>
              <a:rPr lang="en-US" sz="2000" b="1" dirty="0">
                <a:solidFill>
                  <a:schemeClr val="bg1"/>
                </a:solidFill>
              </a:rPr>
              <a:t>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7552" y="1636776"/>
            <a:ext cx="11201400" cy="52212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6883684" y="866269"/>
            <a:ext cx="5064235" cy="55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829480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Vanderbilt Health Nashville, TN">
            <a:extLst>
              <a:ext uri="{FF2B5EF4-FFF2-40B4-BE49-F238E27FC236}">
                <a16:creationId xmlns:a16="http://schemas.microsoft.com/office/drawing/2014/main" id="{E778C276-4F87-2F8C-8943-B53DBD366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136" y="2143474"/>
            <a:ext cx="3021806" cy="302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Vanderbilt Health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602666" y="2172109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Based on quality measures and HCAHPS feedback, KBA estimates that Vanderbilt Health has the strongest brand quality Central Tennessee.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81912" y="1645920"/>
          <a:ext cx="7969694" cy="4012967"/>
        </p:xfrm>
        <a:graphic>
          <a:graphicData uri="http://schemas.openxmlformats.org/drawingml/2006/table">
            <a:tbl>
              <a:tblPr/>
              <a:tblGrid>
                <a:gridCol w="2357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Vanderbilt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374A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Huntsville Hospital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9D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31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4C2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A8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Maury Regional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A8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Williamson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065A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76A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11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LifePoint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D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D0E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Community Health Systems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EC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0CC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AEC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Pass Other Hospitals to Come to Vanderbilt Health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7013749" y="1989573"/>
            <a:ext cx="4923693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KBA models Medicare patient encounter data to identify strong health system brands where patients will travel past other hospitals or long distances to frequent a specific hospital. 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center of the donut are zip codes within which patients have a higher probability of frequenting . These zip codes are ignored for this analysis.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Significant patient encounters outside of this center, as seen here, indicate that patients are willing to travel significant distances, passing other hospitals to go to .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F97C7BE6-9369-8F7B-976D-1F454B1D4FD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3391" y="1267796"/>
            <a:ext cx="6188042" cy="4930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A68518-626A-8436-D872-0B4289D2593F}"/>
              </a:ext>
            </a:extLst>
          </p:cNvPr>
          <p:cNvSpPr txBox="1"/>
          <p:nvPr/>
        </p:nvSpPr>
        <p:spPr>
          <a:xfrm>
            <a:off x="1790700" y="5476351"/>
            <a:ext cx="430530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1800" b="1" kern="1200" dirty="0">
                <a:latin typeface="+mn-lt"/>
                <a:ea typeface="+mn-ea"/>
                <a:cs typeface="+mn-cs"/>
              </a:rPr>
              <a:t>12 patients (admissions) traveled 298.3 miles to Vanderbilt University Medical Center despite 271 closer hospitals. </a:t>
            </a:r>
          </a:p>
        </p:txBody>
      </p:sp>
    </p:spTree>
    <p:extLst>
      <p:ext uri="{BB962C8B-B14F-4D97-AF65-F5344CB8AC3E}">
        <p14:creationId xmlns:p14="http://schemas.microsoft.com/office/powerpoint/2010/main" val="422255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9</a:t>
            </a:r>
            <a:r>
              <a:rPr lang="en-US" spc="200" dirty="0">
                <a:latin typeface="+mj-lt"/>
                <a:cs typeface="+mj-cs"/>
              </a:rPr>
              <a:t>00+</a:t>
            </a:r>
            <a:r>
              <a:rPr lang="en-US" sz="1800" spc="200" dirty="0">
                <a:latin typeface="+mj-lt"/>
                <a:cs typeface="+mj-cs"/>
              </a:rPr>
              <a:t> Employers       120,000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190,000+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Central Tennessee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14503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911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227,900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874,800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rcRect l="34832" t="32692" r="36167" b="27319"/>
          <a:stretch/>
        </p:blipFill>
        <p:spPr>
          <a:xfrm>
            <a:off x="881349" y="2291356"/>
            <a:ext cx="3157253" cy="3290948"/>
          </a:xfrm>
          <a:prstGeom prst="rect">
            <a:avLst/>
          </a:prstGeom>
        </p:spPr>
      </p:pic>
      <p:sp>
        <p:nvSpPr>
          <p:cNvPr id="10" name="TextBox 75">
            <a:extLst>
              <a:ext uri="{FF2B5EF4-FFF2-40B4-BE49-F238E27FC236}">
                <a16:creationId xmlns:a16="http://schemas.microsoft.com/office/drawing/2014/main" id="{5DC7D246-CC55-18D6-C9FF-FE5B75D16ADB}"/>
              </a:ext>
            </a:extLst>
          </p:cNvPr>
          <p:cNvSpPr txBox="1"/>
          <p:nvPr/>
        </p:nvSpPr>
        <p:spPr>
          <a:xfrm>
            <a:off x="1307080" y="5801227"/>
            <a:ext cx="951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Sumner, Trousdale, Wilson, Smith, Davidson, Williamson, Rutherford, Cannon, Maury, Marshal, Bedford, Coffee, Moore, Lincoln, Franklin</a:t>
            </a:r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Sumner, Trousdale, Wilson, Smith, Davidson, Williamson, Rutherford, Cannon, Maury, Marshal, Bedford, Coffee, Moore, Lincoln, and Franklin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3,120K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1,885K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1,335K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704K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$54.62M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$4.43M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$405.54M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$34.07M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$851.65M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$71.5M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817.5K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1,667.8K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3,160.5K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5,129.5K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517.5K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1,549.0K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3,082.5K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1,111.9K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2,191.0K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4,201.5K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6,879.1K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822.7K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2,091.4K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4,157.1K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6,906.7K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555.9K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1,111.9K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2,082.2K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3,419.7K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972.7K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1,969.4K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3,342.9K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9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NOTE:  Please see detailed financial analysis and assumptions in extended financial forecast.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Financial projections do not include 340B contribution margin, which could represent $136 PMPM by optimizing 340B through Rx plan design, Vanderbilt Health’s approved site(s) with network integration, and development of Vanderbilt Health’s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76272" y="704088"/>
          <a:ext cx="9052560" cy="4358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8%.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224K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618K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394K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-297K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$ 1,122K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90K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3,091K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$ 1,969K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247K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158K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-166K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$ 2,244K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6,182K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$ 3,938K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495K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315K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-3K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$ 5,611K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449K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$ 15,455K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$ 9,844K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$1,236K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788K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488K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$22,444K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$1,796K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$ 61,822K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$39,377K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$4,946K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$3,150K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$2,940K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$44,888K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$3,591K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$123,643K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$78,755K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$9,891K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$6,300K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$6,210K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22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12,900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$ 10,690,296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$ 12,449,120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$ 5,813,633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$ 28,953,049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$ 855,223.6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$ 995,929.6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$ 465,090.7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$ 2,316,244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74560"/>
              </p:ext>
            </p:extLst>
          </p:nvPr>
        </p:nvGraphicFramePr>
        <p:xfrm>
          <a:off x="462503" y="4085951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$ 4,974,737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$ 154,800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$ 4,979,537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(Year-1 Only)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$ 4,949,537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$ 27,628,406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$ 43,291,906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$ 20,216,952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$ 91,137,264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$ 2,210,273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$ 3,463,352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$ 1,617,356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$ 7,290,981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26% (inpatient) and 17%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8%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67% inpatient and 58%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margin of 8%,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with a 10 percentage-point reduction to reflect competitive-edge rates and a 10 percentage-point increase due to lower billing costs and higher patient responsibility collections because of the member credit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4 Projected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46117</TotalTime>
  <Words>1295</Words>
  <Application>Microsoft Office PowerPoint</Application>
  <PresentationFormat>Widescreen</PresentationFormat>
  <Paragraphs>425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 Labeled DTE Plans</vt:lpstr>
      <vt:lpstr>Direct-to-Employer Strategy: Only Available to Premier Health Systems</vt:lpstr>
      <vt:lpstr>Vanderbilt Health is Patient Recommended</vt:lpstr>
      <vt:lpstr>Patients Pass Other Hospitals to Come to Vanderbilt Health</vt:lpstr>
      <vt:lpstr>Significant Opportunity for Plan Growth Researched for Central Tennessee</vt:lpstr>
      <vt:lpstr>Plan Potential Growth Paths</vt:lpstr>
      <vt:lpstr>Growing Powerful, Lasting Profitability</vt:lpstr>
      <vt:lpstr>FOUR-YEAR PROJECTIONS</vt:lpstr>
      <vt:lpstr>SINGLE YEAR SUMMARY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2024-10-29T03:32:46Z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