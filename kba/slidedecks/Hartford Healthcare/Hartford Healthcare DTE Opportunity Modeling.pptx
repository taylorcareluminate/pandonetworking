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8"/>
  </p:notesMasterIdLst>
  <p:sldIdLst>
    <p:sldId id="577" r:id="rId5"/>
    <p:sldId id="454" r:id="rId6"/>
    <p:sldId id="549" r:id="rId7"/>
    <p:sldId id="521" r:id="rId8"/>
    <p:sldId id="564" r:id="rId9"/>
    <p:sldId id="587" r:id="rId10"/>
    <p:sldId id="487" r:id="rId11"/>
    <p:sldId id="452" r:id="rId12"/>
    <p:sldId id="518" r:id="rId13"/>
    <p:sldId id="466" r:id="rId14"/>
    <p:sldId id="559" r:id="rId15"/>
    <p:sldId id="580" r:id="rId16"/>
    <p:sldId id="582" r:id="rId17"/>
    <p:sldId id="558" r:id="rId18"/>
    <p:sldId id="588" r:id="rId19"/>
    <p:sldId id="456" r:id="rId20"/>
    <p:sldId id="489" r:id="rId21"/>
    <p:sldId id="499" r:id="rId22"/>
    <p:sldId id="458" r:id="rId23"/>
    <p:sldId id="446" r:id="rId24"/>
    <p:sldId id="461" r:id="rId25"/>
    <p:sldId id="462" r:id="rId26"/>
    <p:sldId id="469" r:id="rId27"/>
    <p:sldId id="336" r:id="rId28"/>
    <p:sldId id="337" r:id="rId29"/>
    <p:sldId id="578" r:id="rId30"/>
    <p:sldId id="583" r:id="rId31"/>
    <p:sldId id="584" r:id="rId32"/>
    <p:sldId id="527" r:id="rId33"/>
    <p:sldId id="571" r:id="rId34"/>
    <p:sldId id="546" r:id="rId35"/>
    <p:sldId id="547" r:id="rId36"/>
    <p:sldId id="585" r:id="rId37"/>
    <p:sldId id="536" r:id="rId38"/>
    <p:sldId id="256" r:id="rId39"/>
    <p:sldId id="574" r:id="rId40"/>
    <p:sldId id="572" r:id="rId41"/>
    <p:sldId id="575" r:id="rId42"/>
    <p:sldId id="498" r:id="rId43"/>
    <p:sldId id="325" r:id="rId44"/>
    <p:sldId id="326" r:id="rId45"/>
    <p:sldId id="491" r:id="rId46"/>
    <p:sldId id="472" r:id="rId47"/>
  </p:sldIdLst>
  <p:sldSz cx="12192000" cy="6858000"/>
  <p:notesSz cx="7315200" cy="9601200"/>
  <p:custDataLst>
    <p:tags r:id="rId4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2F5597"/>
    <a:srgbClr val="6087CE"/>
    <a:srgbClr val="4468A5"/>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961E0E-7845-427F-811E-75A368ECC6F2}" v="86" dt="2024-10-09T23:05:52.178"/>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609" autoAdjust="0"/>
  </p:normalViewPr>
  <p:slideViewPr>
    <p:cSldViewPr snapToGrid="0">
      <p:cViewPr varScale="1">
        <p:scale>
          <a:sx n="95" d="100"/>
          <a:sy n="95" d="100"/>
        </p:scale>
        <p:origin x="1110" y="9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gs" Target="tags/tag1.xml"/></Relationships>
</file>

<file path=ppt/diagrams/_rels/data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image" Target="../media/image27.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image" Target="../media/image27.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Hartford Healthcare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[SHORT]’s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Hartford Healthcare</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Hartford Healthcare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Hartford Healthcare</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[SHORT]’s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10/9/2024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13</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10/9/2024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10/9/2024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10/9/2024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10/9/2024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10/9/2024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10/9/2024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10/9/2024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10/9/2024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10/9/2024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10/9/2024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10/9/2024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10/9/2024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6.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image" Target="../media/image30.png"/><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jpeg"/><Relationship Id="rId4" Type="http://schemas.openxmlformats.org/officeDocument/2006/relationships/image" Target="../media/image32.png"/><Relationship Id="rId9"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2.xml"/><Relationship Id="rId6" Type="http://schemas.openxmlformats.org/officeDocument/2006/relationships/image" Target="../media/image44.jpeg"/><Relationship Id="rId5" Type="http://schemas.openxmlformats.org/officeDocument/2006/relationships/image" Target="../media/image43.jpeg"/><Relationship Id="rId4" Type="http://schemas.microsoft.com/office/2007/relationships/hdphoto" Target="../media/hdphoto2.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5.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5.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jpeg"/><Relationship Id="rId1" Type="http://schemas.openxmlformats.org/officeDocument/2006/relationships/slideLayout" Target="../slideLayouts/slideLayout6.xml"/><Relationship Id="rId6" Type="http://schemas.openxmlformats.org/officeDocument/2006/relationships/image" Target="../media/image50.svg"/><Relationship Id="rId11" Type="http://schemas.openxmlformats.org/officeDocument/2006/relationships/image" Target="../media/image7.png"/><Relationship Id="rId5" Type="http://schemas.openxmlformats.org/officeDocument/2006/relationships/image" Target="../media/image49.png"/><Relationship Id="rId10" Type="http://schemas.openxmlformats.org/officeDocument/2006/relationships/image" Target="../media/image54.svg"/><Relationship Id="rId4" Type="http://schemas.openxmlformats.org/officeDocument/2006/relationships/image" Target="../media/image48.svg"/><Relationship Id="rId9"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HARTFORD HEALTHCARE DIRECT-TO-EMPLOYER ASSESSMENT </a:t>
            </a:r>
          </a:p>
          <a:p>
            <a:r>
              <a:rPr lang="en-US" sz="2000" b="1" dirty="0">
                <a:solidFill>
                  <a:schemeClr val="bg1"/>
                </a:solidFill>
              </a:rPr>
              <a:t>OCTOBER 8,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8" name="Picture 6">
            <a:extLst>
              <a:ext uri="{FF2B5EF4-FFF2-40B4-BE49-F238E27FC236}">
                <a16:creationId xmlns:a16="http://schemas.microsoft.com/office/drawing/2014/main" id="{D53C2B74-390E-5BEC-5003-F3AD48404D63}"/>
              </a:ext>
            </a:extLst>
          </p:cNvPr>
          <p:cNvPicPr>
            <a:picLocks noChangeAspect="1"/>
          </p:cNvPicPr>
          <p:nvPr/>
        </p:nvPicPr>
        <p:blipFill>
          <a:blip r:embed="rId3"/>
          <a:stretch>
            <a:fillRect/>
          </a:stretch>
        </p:blipFill>
        <p:spPr>
          <a:xfrm>
            <a:off x="4551388" y="3129471"/>
            <a:ext cx="3580952" cy="2409524"/>
          </a:xfrm>
          <a:prstGeom prst="rect">
            <a:avLst/>
          </a:prstGeom>
        </p:spPr>
      </p:pic>
      <p:pic>
        <p:nvPicPr>
          <p:cNvPr id="1026" name="Picture 2" descr="Hartford HealthCare">
            <a:extLst>
              <a:ext uri="{FF2B5EF4-FFF2-40B4-BE49-F238E27FC236}">
                <a16:creationId xmlns:a16="http://schemas.microsoft.com/office/drawing/2014/main" id="{6EC8BB0F-5450-AF00-BD91-75811A273E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32572" y="794686"/>
            <a:ext cx="1644580" cy="70023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ase Study - Hartford HealthCare: Standardizing Locums Management With VMS  Technology">
            <a:extLst>
              <a:ext uri="{FF2B5EF4-FFF2-40B4-BE49-F238E27FC236}">
                <a16:creationId xmlns:a16="http://schemas.microsoft.com/office/drawing/2014/main" id="{2E705CD9-2A66-646F-6796-516211ACB1D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2974" b="7352"/>
          <a:stretch/>
        </p:blipFill>
        <p:spPr bwMode="auto">
          <a:xfrm>
            <a:off x="981075" y="1640647"/>
            <a:ext cx="11233150" cy="5224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56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2" descr="Hartford HealthCare">
            <a:extLst>
              <a:ext uri="{FF2B5EF4-FFF2-40B4-BE49-F238E27FC236}">
                <a16:creationId xmlns:a16="http://schemas.microsoft.com/office/drawing/2014/main" id="{51869D12-06FF-22A6-B991-4EC89A8E88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4579" y="2837111"/>
            <a:ext cx="3154210" cy="1343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Hartford HealthCare is Patient Recommended</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KBA assesses HCAHPs recommendation rates and other quality data to determine if the DTE health system can support a narrow network plan. </a:t>
            </a:r>
          </a:p>
          <a:p>
            <a:pPr algn="ctr"/>
            <a:endParaRPr lang="en-US" sz="1600" dirty="0">
              <a:solidFill>
                <a:schemeClr val="tx1"/>
              </a:solidFill>
            </a:endParaRPr>
          </a:p>
          <a:p>
            <a:pPr algn="ctr"/>
            <a:r>
              <a:rPr lang="en-US" sz="1600" dirty="0">
                <a:solidFill>
                  <a:schemeClr val="tx1"/>
                </a:solidFill>
              </a:rPr>
              <a:t>Based on current data, KBA believes Hartford Healthcare will need to partner with another local system to be successful. </a:t>
            </a:r>
          </a:p>
          <a:p>
            <a:pPr algn="ctr"/>
            <a:endParaRPr lang="en-US" sz="1600" dirty="0">
              <a:solidFill>
                <a:schemeClr val="tx1"/>
              </a:solidFill>
            </a:endParaRPr>
          </a:p>
          <a:p>
            <a:pPr algn="ctr"/>
            <a:r>
              <a:rPr lang="en-US" sz="1600" b="1" dirty="0">
                <a:solidFill>
                  <a:schemeClr val="accent2">
                    <a:lumMod val="75000"/>
                  </a:schemeClr>
                </a:solidFill>
              </a:rPr>
              <a:t>These models are based on an assumption of including a partner health system. </a:t>
            </a:r>
          </a:p>
        </p:txBody>
      </p:sp>
      <p:graphicFrame>
        <p:nvGraphicFramePr>
          <p:cNvPr id="7" name="Table 6"/>
          <p:cNvGraphicFramePr>
            <a:graphicFrameLocks noGrp="1"/>
          </p:cNvGraphicFramePr>
          <p:nvPr>
            <p:extLst>
              <p:ext uri="{D42A27DB-BD31-4B8C-83A1-F6EECF244321}">
                <p14:modId xmlns:p14="http://schemas.microsoft.com/office/powerpoint/2010/main" val="1269295778"/>
              </p:ext>
            </p:extLst>
          </p:nvPr>
        </p:nvGraphicFramePr>
        <p:xfrm>
          <a:off x="1190026" y="1866983"/>
          <a:ext cx="7722862" cy="3536427"/>
        </p:xfrm>
        <a:graphic>
          <a:graphicData uri="http://schemas.openxmlformats.org/drawingml/2006/table">
            <a:tbl>
              <a:tblPr/>
              <a:tblGrid>
                <a:gridCol w="2082397">
                  <a:extLst>
                    <a:ext uri="{9D8B030D-6E8A-4147-A177-3AD203B41FA5}">
                      <a16:colId xmlns:a16="http://schemas.microsoft.com/office/drawing/2014/main" val="20000"/>
                    </a:ext>
                  </a:extLst>
                </a:gridCol>
                <a:gridCol w="1309625">
                  <a:extLst>
                    <a:ext uri="{9D8B030D-6E8A-4147-A177-3AD203B41FA5}">
                      <a16:colId xmlns:a16="http://schemas.microsoft.com/office/drawing/2014/main" val="20001"/>
                    </a:ext>
                  </a:extLst>
                </a:gridCol>
                <a:gridCol w="1014884">
                  <a:extLst>
                    <a:ext uri="{9D8B030D-6E8A-4147-A177-3AD203B41FA5}">
                      <a16:colId xmlns:a16="http://schemas.microsoft.com/office/drawing/2014/main" val="20002"/>
                    </a:ext>
                  </a:extLst>
                </a:gridCol>
                <a:gridCol w="993429">
                  <a:extLst>
                    <a:ext uri="{9D8B030D-6E8A-4147-A177-3AD203B41FA5}">
                      <a16:colId xmlns:a16="http://schemas.microsoft.com/office/drawing/2014/main" val="20003"/>
                    </a:ext>
                  </a:extLst>
                </a:gridCol>
                <a:gridCol w="1207160">
                  <a:extLst>
                    <a:ext uri="{9D8B030D-6E8A-4147-A177-3AD203B41FA5}">
                      <a16:colId xmlns:a16="http://schemas.microsoft.com/office/drawing/2014/main" val="20004"/>
                    </a:ext>
                  </a:extLst>
                </a:gridCol>
                <a:gridCol w="1115367">
                  <a:extLst>
                    <a:ext uri="{9D8B030D-6E8A-4147-A177-3AD203B41FA5}">
                      <a16:colId xmlns:a16="http://schemas.microsoft.com/office/drawing/2014/main" val="20005"/>
                    </a:ext>
                  </a:extLst>
                </a:gridCol>
              </a:tblGrid>
              <a:tr h="663281">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Arial"/>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HCAHPS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Recommendation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CMS Stars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Mortality</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Readmission</a:t>
                      </a:r>
                      <a:br>
                        <a:rPr sz="1100" b="1" i="0" u="none" cap="none" dirty="0">
                          <a:solidFill>
                            <a:srgbClr val="000000">
                              <a:alpha val="100000"/>
                            </a:srgbClr>
                          </a:solidFill>
                          <a:latin typeface="Arial"/>
                          <a:cs typeface="Arial"/>
                          <a:sym typeface="Arial"/>
                        </a:rPr>
                      </a:br>
                      <a:r>
                        <a:rPr sz="1100" b="1" i="0" u="none" cap="none" dirty="0">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KBA Brand</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412633">
                <a:tc>
                  <a:txBody>
                    <a:bodyPr/>
                    <a:lstStyle/>
                    <a:p>
                      <a:pPr marL="63500" marR="63500" algn="l">
                        <a:lnSpc>
                          <a:spcPct val="100000"/>
                        </a:lnSpc>
                        <a:spcBef>
                          <a:spcPts val="500"/>
                        </a:spcBef>
                        <a:spcAft>
                          <a:spcPts val="500"/>
                        </a:spcAft>
                        <a:buNone/>
                      </a:pPr>
                      <a:r>
                        <a:rPr sz="1100" b="0" i="0" u="none" cap="none" dirty="0">
                          <a:solidFill>
                            <a:srgbClr val="000000">
                              <a:alpha val="100000"/>
                            </a:srgbClr>
                          </a:solidFill>
                          <a:latin typeface="Arial"/>
                          <a:cs typeface="Arial"/>
                          <a:sym typeface="Arial"/>
                        </a:rPr>
                        <a:t>Stamford </a:t>
                      </a:r>
                      <a:r>
                        <a:rPr lang="en-US" sz="1100" b="0" i="0" u="none" cap="none" dirty="0">
                          <a:solidFill>
                            <a:srgbClr val="000000">
                              <a:alpha val="100000"/>
                            </a:srgbClr>
                          </a:solidFill>
                          <a:latin typeface="Arial"/>
                          <a:cs typeface="Arial"/>
                          <a:sym typeface="Arial"/>
                        </a:rPr>
                        <a:t>Health</a:t>
                      </a:r>
                      <a:endParaRPr sz="1100" b="0" i="0" u="non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73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87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70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E8AB9">
                        <a:alpha val="100000"/>
                      </a:srgbClr>
                    </a:solidFill>
                  </a:tcPr>
                </a:tc>
                <a:extLst>
                  <a:ext uri="{0D108BD9-81ED-4DB2-BD59-A6C34878D82A}">
                    <a16:rowId xmlns:a16="http://schemas.microsoft.com/office/drawing/2014/main" val="10001"/>
                  </a:ext>
                </a:extLst>
              </a:tr>
              <a:tr h="41098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2"/>
                  </a:ext>
                </a:extLst>
              </a:tr>
              <a:tr h="382107">
                <a:tc>
                  <a:txBody>
                    <a:bodyPr/>
                    <a:lstStyle/>
                    <a:p>
                      <a:pPr marL="63500" marR="63500" algn="l">
                        <a:lnSpc>
                          <a:spcPct val="100000"/>
                        </a:lnSpc>
                        <a:spcBef>
                          <a:spcPts val="500"/>
                        </a:spcBef>
                        <a:spcAft>
                          <a:spcPts val="500"/>
                        </a:spcAft>
                        <a:buNone/>
                      </a:pPr>
                      <a:r>
                        <a:rPr lang="en-US" sz="1100" b="0" i="0" u="none" cap="none">
                          <a:solidFill>
                            <a:srgbClr val="000000">
                              <a:alpha val="100000"/>
                            </a:srgbClr>
                          </a:solidFill>
                          <a:latin typeface="Arial"/>
                          <a:cs typeface="Arial"/>
                          <a:sym typeface="Arial"/>
                        </a:rPr>
                        <a:t>Northwell</a:t>
                      </a:r>
                      <a:r>
                        <a:rPr sz="1100" b="0" i="0" u="none" cap="none">
                          <a:solidFill>
                            <a:srgbClr val="000000">
                              <a:alpha val="100000"/>
                            </a:srgbClr>
                          </a:solidFill>
                          <a:latin typeface="Arial"/>
                          <a:cs typeface="Arial"/>
                          <a:sym typeface="Arial"/>
                        </a:rPr>
                        <a:t> </a:t>
                      </a:r>
                      <a:r>
                        <a:rPr sz="1100" b="0" i="0" u="none" cap="none" dirty="0">
                          <a:solidFill>
                            <a:srgbClr val="000000">
                              <a:alpha val="100000"/>
                            </a:srgbClr>
                          </a:solidFill>
                          <a:latin typeface="Arial"/>
                          <a:cs typeface="Arial"/>
                          <a:sym typeface="Arial"/>
                        </a:rPr>
                        <a:t>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03"/>
                  </a:ext>
                </a:extLst>
              </a:tr>
              <a:tr h="412633">
                <a:tc>
                  <a:txBody>
                    <a:bodyPr/>
                    <a:lstStyle/>
                    <a:p>
                      <a:pPr marL="63500" marR="63500" algn="l">
                        <a:lnSpc>
                          <a:spcPct val="100000"/>
                        </a:lnSpc>
                        <a:spcBef>
                          <a:spcPts val="500"/>
                        </a:spcBef>
                        <a:spcAft>
                          <a:spcPts val="500"/>
                        </a:spcAft>
                        <a:buNone/>
                      </a:pPr>
                      <a:r>
                        <a:rPr sz="1100" b="0" i="0" u="none" cap="none" dirty="0">
                          <a:solidFill>
                            <a:srgbClr val="000000">
                              <a:alpha val="100000"/>
                            </a:srgbClr>
                          </a:solidFill>
                          <a:latin typeface="Arial"/>
                          <a:cs typeface="Arial"/>
                          <a:sym typeface="Arial"/>
                        </a:rPr>
                        <a:t>Yale New Haven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Arial"/>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1B3D2">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04"/>
                  </a:ext>
                </a:extLst>
              </a:tr>
              <a:tr h="383471">
                <a:tc>
                  <a:txBody>
                    <a:bodyPr/>
                    <a:lstStyle/>
                    <a:p>
                      <a:pPr marL="63500" marR="63500" algn="l">
                        <a:lnSpc>
                          <a:spcPct val="100000"/>
                        </a:lnSpc>
                        <a:spcBef>
                          <a:spcPts val="500"/>
                        </a:spcBef>
                        <a:spcAft>
                          <a:spcPts val="500"/>
                        </a:spcAft>
                        <a:buNone/>
                      </a:pPr>
                      <a:r>
                        <a:rPr sz="1100" b="0" i="0" u="none" cap="none" dirty="0">
                          <a:solidFill>
                            <a:srgbClr val="000000">
                              <a:alpha val="100000"/>
                            </a:srgbClr>
                          </a:solidFill>
                          <a:latin typeface="Arial"/>
                          <a:cs typeface="Arial"/>
                          <a:sym typeface="Arial"/>
                        </a:rPr>
                        <a:t>Hartford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Arial"/>
                          <a:cs typeface="Arial"/>
                          <a:sym typeface="Arial"/>
                        </a:rPr>
                        <a:t>41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ABAD6">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extLst>
                  <a:ext uri="{0D108BD9-81ED-4DB2-BD59-A6C34878D82A}">
                    <a16:rowId xmlns:a16="http://schemas.microsoft.com/office/drawing/2014/main" val="10005"/>
                  </a:ext>
                </a:extLst>
              </a:tr>
              <a:tr h="410837">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Prospect Medical Holdings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28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5D0E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06"/>
                  </a:ext>
                </a:extLst>
              </a:tr>
              <a:tr h="410837">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Trinity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21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D3DBE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DB0D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870115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An Indicator of Brand Quality</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6269443" y="2045142"/>
            <a:ext cx="5536642"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KBA models Medicare patient encounter data to identify strong health system brands where patients will travel past other hospitals or long distances to frequent a specific hospital.  </a:t>
            </a:r>
          </a:p>
          <a:p>
            <a:pPr algn="ctr"/>
            <a:endParaRPr lang="en-US" dirty="0">
              <a:solidFill>
                <a:schemeClr val="tx1"/>
              </a:solidFill>
            </a:endParaRPr>
          </a:p>
          <a:p>
            <a:pPr algn="ctr"/>
            <a:r>
              <a:rPr lang="en-US" dirty="0">
                <a:solidFill>
                  <a:schemeClr val="tx1"/>
                </a:solidFill>
              </a:rPr>
              <a:t>The center of the donut are zip codes within which patients have a higher probability of frequenting Hartford Hospital. These zip codes are ignored for this analysis. </a:t>
            </a:r>
          </a:p>
          <a:p>
            <a:pPr algn="ctr"/>
            <a:endParaRPr lang="en-US" dirty="0">
              <a:solidFill>
                <a:schemeClr val="tx1"/>
              </a:solidFill>
            </a:endParaRPr>
          </a:p>
          <a:p>
            <a:pPr algn="ctr"/>
            <a:r>
              <a:rPr lang="en-US" dirty="0">
                <a:solidFill>
                  <a:schemeClr val="tx1"/>
                </a:solidFill>
              </a:rPr>
              <a:t>Significant patient encounters outside of this center, as seen here, indicate that patients are willing to travel significant distances, passing other hospitals to go to Hartford Hospital.</a:t>
            </a:r>
          </a:p>
          <a:p>
            <a:pPr algn="ctr"/>
            <a:endParaRPr lang="en-US" dirty="0">
              <a:solidFill>
                <a:schemeClr val="tx1"/>
              </a:solidFill>
            </a:endParaRPr>
          </a:p>
          <a:p>
            <a:pPr algn="ctr"/>
            <a:r>
              <a:rPr lang="en-US" dirty="0">
                <a:solidFill>
                  <a:schemeClr val="tx1"/>
                </a:solidFill>
              </a:rPr>
              <a:t>This data might indicate that the HCAHPs brand data is a false indicator of brand weakness. </a:t>
            </a:r>
          </a:p>
        </p:txBody>
      </p:sp>
      <p:pic>
        <p:nvPicPr>
          <p:cNvPr id="7" name="Content Placeholder 6"/>
          <p:cNvPicPr>
            <a:picLocks noGrp="1"/>
          </p:cNvPicPr>
          <p:nvPr>
            <p:ph/>
          </p:nvPr>
        </p:nvPicPr>
        <p:blipFill>
          <a:blip r:embed="rId2" cstate="print"/>
          <a:stretch>
            <a:fillRect/>
          </a:stretch>
        </p:blipFill>
        <p:spPr>
          <a:xfrm>
            <a:off x="709994" y="1350950"/>
            <a:ext cx="5961888" cy="4764024"/>
          </a:xfrm>
          <a:prstGeom prst="rect">
            <a:avLst/>
          </a:prstGeom>
        </p:spPr>
      </p:pic>
    </p:spTree>
    <p:extLst>
      <p:ext uri="{BB962C8B-B14F-4D97-AF65-F5344CB8AC3E}">
        <p14:creationId xmlns:p14="http://schemas.microsoft.com/office/powerpoint/2010/main" val="2717046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14" name="Picture 2" descr="Hartford HealthCare">
            <a:extLst>
              <a:ext uri="{FF2B5EF4-FFF2-40B4-BE49-F238E27FC236}">
                <a16:creationId xmlns:a16="http://schemas.microsoft.com/office/drawing/2014/main" id="{128FFD14-7401-0B1C-82D7-D95C6AF5FC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82201" y="378851"/>
            <a:ext cx="1644580" cy="700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dirty="0">
                <a:solidFill>
                  <a:schemeClr val="tx1">
                    <a:lumMod val="75000"/>
                    <a:lumOff val="25000"/>
                  </a:schemeClr>
                </a:solidFill>
              </a:rPr>
              <a:t>DTE Keys to Success for Hartford HealthCare</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8</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a:solidFill/>
              </a:rPr>
              <a:t>This model assumes that KBA strongly validates Hartford Healthcare as a suitably strong enough brand or partners with a strong-brand partner.</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Estimates for Margin and Steerage Hold</a:t>
            </a:r>
          </a:p>
          <a:p>
            <a:pPr algn="ctr" defTabSz="914411">
              <a:lnSpc>
                <a:spcPct val="90000"/>
              </a:lnSpc>
              <a:spcAft>
                <a:spcPts val="1200"/>
              </a:spcAft>
              <a:buClr>
                <a:schemeClr val="tx1"/>
              </a:buClr>
            </a:pPr>
            <a:r>
              <a:rPr lang="en-US" dirty="0"/>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dirty="0">
                <a:solidFill/>
              </a:rPr>
              <a:t>Profit growth will hold if these assumptions accurately play out as expected for Hartford HealthCare.</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4059548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4"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5"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2">
            <a:extLst>
              <a:ext uri="{FF2B5EF4-FFF2-40B4-BE49-F238E27FC236}">
                <a16:creationId xmlns:a16="http://schemas.microsoft.com/office/drawing/2014/main" id="{061C4F0D-14E1-8EB9-6313-04B404BF313E}"/>
              </a:ext>
            </a:extLst>
          </p:cNvPr>
          <p:cNvSpPr txBox="1"/>
          <p:nvPr/>
        </p:nvSpPr>
        <p:spPr>
          <a:xfrm>
            <a:off x="1036930" y="3444621"/>
            <a:ext cx="3034331" cy="1938992"/>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~$1.06 of loss</a:t>
            </a:r>
          </a:p>
        </p:txBody>
      </p:sp>
      <p:sp>
        <p:nvSpPr>
          <p:cNvPr id="7"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9"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0"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~$0.26 of profit</a:t>
            </a:r>
          </a:p>
        </p:txBody>
      </p:sp>
      <p:sp>
        <p:nvSpPr>
          <p:cNvPr id="13" name="TextBox 6">
            <a:extLst>
              <a:ext uri="{FF2B5EF4-FFF2-40B4-BE49-F238E27FC236}">
                <a16:creationId xmlns:a16="http://schemas.microsoft.com/office/drawing/2014/main" id="{820D1BA4-6D19-00FD-17FF-A0AD0AAAF7EE}"/>
              </a:ext>
            </a:extLst>
          </p:cNvPr>
          <p:cNvSpPr txBox="1"/>
          <p:nvPr/>
        </p:nvSpPr>
        <p:spPr>
          <a:xfrm>
            <a:off x="744636" y="5562552"/>
            <a:ext cx="10924850" cy="369332"/>
          </a:xfrm>
          <a:prstGeom prst="rect">
            <a:avLst/>
          </a:prstGeom>
          <a:noFill/>
        </p:spPr>
        <p:txBody>
          <a:bodyPr wrap="none" rtlCol="0">
            <a:spAutoFit/>
          </a:bodyPr>
          <a:lstStyle/>
          <a:p>
            <a:r>
              <a:rPr lang="en-US" dirty="0"/>
              <a:t>See analysis starting on slide 26 for more details on the calculation of commercial and government-pay net income.</a:t>
            </a:r>
          </a:p>
        </p:txBody>
      </p:sp>
      <p:pic>
        <p:nvPicPr>
          <p:cNvPr id="15" name="Picture 2" descr="Hartford HealthCare">
            <a:extLst>
              <a:ext uri="{FF2B5EF4-FFF2-40B4-BE49-F238E27FC236}">
                <a16:creationId xmlns:a16="http://schemas.microsoft.com/office/drawing/2014/main" id="{95989622-5035-4A98-E7CE-19818BE45F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9086" y="345491"/>
            <a:ext cx="2094523" cy="891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8736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10</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solidFill/>
              </a:rPr>
              <a:t>“At the table” with Hartford HealthCare</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0096" y="1275696"/>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5,000</a:t>
            </a:r>
            <a:r>
              <a:rPr lang="en-US" spc="200" dirty="0">
                <a:latin typeface="+mj-lt"/>
                <a:cs typeface="+mj-cs"/>
              </a:rPr>
              <a:t>+</a:t>
            </a:r>
            <a:r>
              <a:rPr lang="en-US" sz="1800" spc="200" dirty="0">
                <a:latin typeface="+mj-lt"/>
                <a:cs typeface="+mj-cs"/>
              </a:rPr>
              <a:t> Employers           1,100K</a:t>
            </a:r>
            <a:r>
              <a:rPr lang="en-US" sz="1800" spc="200" dirty="0">
                <a:latin typeface="+mj-lt"/>
                <a:cs typeface="+mj-cs"/>
                <a:sym typeface="Wingdings" panose="05000000000000000000" pitchFamily="2" charset="2"/>
              </a:rPr>
              <a:t>+ Employees        2,300K+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the State of Connecticut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9"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4108956908"/>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3,024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1,224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725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422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147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122</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226,800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183,600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217,500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295,400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294,000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1,342,000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408,240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330,480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391,500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531,720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529,200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2,415,600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10" name="Content Placeholder 9"/>
          <p:cNvPicPr>
            <a:picLocks noGrp="1"/>
          </p:cNvPicPr>
          <p:nvPr>
            <p:ph/>
          </p:nvPr>
        </p:nvPicPr>
        <p:blipFill>
          <a:blip r:embed="rId2" cstate="print"/>
          <a:srcRect l="31603" t="34600" r="28498" b="32011"/>
          <a:stretch/>
        </p:blipFill>
        <p:spPr>
          <a:xfrm>
            <a:off x="0" y="2487726"/>
            <a:ext cx="4267200" cy="2747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12</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pPr algn="ctr"/>
            <a:r>
              <a:rPr lang="en-US" dirty="0">
                <a:solidFill/>
              </a:rPr>
              <a:t>Estimates includes all of the State of Connecticut.</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3,611K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2,162K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1,556K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1,071K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$40.69M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$8.53M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$327.7M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$69.81M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$739.32M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$157.2M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3"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14</a:t>
            </a:fld>
            <a:endParaRPr lang="en-US" dirty="0"/>
          </a:p>
        </p:txBody>
      </p:sp>
      <p:sp>
        <p:nvSpPr>
          <p:cNvPr id="5"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8" name="TextBox 12">
            <a:extLst>
              <a:ext uri="{FF2B5EF4-FFF2-40B4-BE49-F238E27FC236}">
                <a16:creationId xmlns:a16="http://schemas.microsoft.com/office/drawing/2014/main" id="{025AE6BF-C458-13D4-626E-DAD4C1439055}"/>
              </a:ext>
            </a:extLst>
          </p:cNvPr>
          <p:cNvSpPr txBox="1"/>
          <p:nvPr/>
        </p:nvSpPr>
        <p:spPr>
          <a:xfrm>
            <a:off x="7466120" y="2250333"/>
            <a:ext cx="4616389" cy="900246"/>
          </a:xfrm>
          <a:prstGeom prst="rect">
            <a:avLst/>
          </a:prstGeom>
          <a:noFill/>
        </p:spPr>
        <p:txBody>
          <a:bodyPr wrap="square" rtlCol="0">
            <a:spAutoFit/>
          </a:bodyPr>
          <a:lstStyle/>
          <a:p>
            <a:r>
              <a:rPr lang="en-US" sz="1050" dirty="0">
                <a:solidFill/>
              </a:rPr>
              <a:t>KBA currently estimates that Hartford HealthCare has 30% inpatient market share, and 12% outpatient market compared to hospitals/clinics in the the State of Connecticut. The DTE tiered structure will create immediate steerage, with additional steerage over time from patient bonus benefits and the patient card (see slide 33 for estimates of target steerage). </a:t>
            </a:r>
            <a:endParaRPr lang="en-US" sz="1050" dirty="0"/>
          </a:p>
        </p:txBody>
      </p:sp>
      <p:sp>
        <p:nvSpPr>
          <p:cNvPr id="9" name="Rectangle 20">
            <a:extLst>
              <a:ext uri="{FF2B5EF4-FFF2-40B4-BE49-F238E27FC236}">
                <a16:creationId xmlns:a16="http://schemas.microsoft.com/office/drawing/2014/main" id="{620CA171-241C-9006-DA4D-7174E70B2EF3}"/>
              </a:ext>
            </a:extLst>
          </p:cNvPr>
          <p:cNvSpPr/>
          <p:nvPr/>
        </p:nvSpPr>
        <p:spPr>
          <a:xfrm>
            <a:off x="7613665" y="564253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13" name="TextBox 24">
            <a:extLst>
              <a:ext uri="{FF2B5EF4-FFF2-40B4-BE49-F238E27FC236}">
                <a16:creationId xmlns:a16="http://schemas.microsoft.com/office/drawing/2014/main" id="{32C9D62D-25B0-6CD9-8AD7-E6855B1B1B26}"/>
              </a:ext>
            </a:extLst>
          </p:cNvPr>
          <p:cNvSpPr txBox="1"/>
          <p:nvPr/>
        </p:nvSpPr>
        <p:spPr>
          <a:xfrm>
            <a:off x="7509029" y="4771081"/>
            <a:ext cx="4616389" cy="738664"/>
          </a:xfrm>
          <a:prstGeom prst="rect">
            <a:avLst/>
          </a:prstGeom>
          <a:noFill/>
        </p:spPr>
        <p:txBody>
          <a:bodyPr wrap="square" rtlCol="0">
            <a:spAutoFit/>
          </a:bodyPr>
          <a:lstStyle/>
          <a:p>
            <a:r>
              <a:rPr lang="en-US" sz="1050" dirty="0">
                <a:solidFill/>
              </a:rPr>
              <a:t>KBA observes a Hartford HealthCare 26% commercial margin. Conservatively, we model the DTE to be level with commercial rates given prices 10% below market, but with a 10 percentage-point increase through friendlier billing practices and improved patient collections with the patient card.</a:t>
            </a:r>
          </a:p>
        </p:txBody>
      </p:sp>
      <p:sp>
        <p:nvSpPr>
          <p:cNvPr id="14" name="TextBox 25">
            <a:extLst>
              <a:ext uri="{FF2B5EF4-FFF2-40B4-BE49-F238E27FC236}">
                <a16:creationId xmlns:a16="http://schemas.microsoft.com/office/drawing/2014/main" id="{A76920ED-352E-9285-CC83-BDA6AB18978D}"/>
              </a:ext>
            </a:extLst>
          </p:cNvPr>
          <p:cNvSpPr txBox="1"/>
          <p:nvPr/>
        </p:nvSpPr>
        <p:spPr>
          <a:xfrm>
            <a:off x="7723254" y="5595119"/>
            <a:ext cx="488916" cy="307777"/>
          </a:xfrm>
          <a:prstGeom prst="rect">
            <a:avLst/>
          </a:prstGeom>
          <a:noFill/>
        </p:spPr>
        <p:txBody>
          <a:bodyPr wrap="none" rtlCol="0">
            <a:spAutoFit/>
          </a:bodyPr>
          <a:lstStyle/>
          <a:p>
            <a:r>
              <a:rPr lang="en-US" sz="1400" b="1" dirty="0"/>
              <a:t>Low</a:t>
            </a:r>
          </a:p>
        </p:txBody>
      </p:sp>
      <p:sp>
        <p:nvSpPr>
          <p:cNvPr id="15" name="TextBox 26">
            <a:extLst>
              <a:ext uri="{FF2B5EF4-FFF2-40B4-BE49-F238E27FC236}">
                <a16:creationId xmlns:a16="http://schemas.microsoft.com/office/drawing/2014/main" id="{2559AB8C-6F23-81D3-4546-DE75EBD91879}"/>
              </a:ext>
            </a:extLst>
          </p:cNvPr>
          <p:cNvSpPr txBox="1"/>
          <p:nvPr/>
        </p:nvSpPr>
        <p:spPr>
          <a:xfrm>
            <a:off x="9588624" y="5595119"/>
            <a:ext cx="643509" cy="307777"/>
          </a:xfrm>
          <a:prstGeom prst="rect">
            <a:avLst/>
          </a:prstGeom>
          <a:noFill/>
        </p:spPr>
        <p:txBody>
          <a:bodyPr wrap="none" rtlCol="0">
            <a:spAutoFit/>
          </a:bodyPr>
          <a:lstStyle/>
          <a:p>
            <a:r>
              <a:rPr lang="en-US" sz="1400" b="1" dirty="0"/>
              <a:t>Target</a:t>
            </a:r>
          </a:p>
        </p:txBody>
      </p:sp>
      <p:sp>
        <p:nvSpPr>
          <p:cNvPr id="16" name="TextBox 27">
            <a:extLst>
              <a:ext uri="{FF2B5EF4-FFF2-40B4-BE49-F238E27FC236}">
                <a16:creationId xmlns:a16="http://schemas.microsoft.com/office/drawing/2014/main" id="{314AFF5C-ABDA-A82B-40C8-14E2DB160036}"/>
              </a:ext>
            </a:extLst>
          </p:cNvPr>
          <p:cNvSpPr txBox="1"/>
          <p:nvPr/>
        </p:nvSpPr>
        <p:spPr>
          <a:xfrm>
            <a:off x="11452647" y="5595119"/>
            <a:ext cx="524503" cy="307777"/>
          </a:xfrm>
          <a:prstGeom prst="rect">
            <a:avLst/>
          </a:prstGeom>
          <a:noFill/>
        </p:spPr>
        <p:txBody>
          <a:bodyPr wrap="none" rtlCol="0">
            <a:spAutoFit/>
          </a:bodyPr>
          <a:lstStyle/>
          <a:p>
            <a:r>
              <a:rPr lang="en-US" sz="1400" b="1" dirty="0"/>
              <a:t>High</a:t>
            </a:r>
          </a:p>
        </p:txBody>
      </p:sp>
      <p:sp>
        <p:nvSpPr>
          <p:cNvPr id="17" name="TextBox 28">
            <a:extLst>
              <a:ext uri="{FF2B5EF4-FFF2-40B4-BE49-F238E27FC236}">
                <a16:creationId xmlns:a16="http://schemas.microsoft.com/office/drawing/2014/main" id="{2C03026B-6D1E-F7B1-9995-7D9DC1019C60}"/>
              </a:ext>
            </a:extLst>
          </p:cNvPr>
          <p:cNvSpPr txBox="1"/>
          <p:nvPr/>
        </p:nvSpPr>
        <p:spPr>
          <a:xfrm>
            <a:off x="7675805" y="5853972"/>
            <a:ext cx="785793" cy="369332"/>
          </a:xfrm>
          <a:prstGeom prst="rect">
            <a:avLst/>
          </a:prstGeom>
          <a:noFill/>
        </p:spPr>
        <p:txBody>
          <a:bodyPr wrap="none" rtlCol="0">
            <a:spAutoFit/>
          </a:bodyPr>
          <a:lstStyle/>
          <a:p>
            <a:r>
              <a:rPr lang="en-US" dirty="0">
                <a:solidFill/>
              </a:rPr>
              <a:t>15.8%</a:t>
            </a:r>
          </a:p>
        </p:txBody>
      </p:sp>
      <p:sp>
        <p:nvSpPr>
          <p:cNvPr id="18" name="TextBox 29">
            <a:extLst>
              <a:ext uri="{FF2B5EF4-FFF2-40B4-BE49-F238E27FC236}">
                <a16:creationId xmlns:a16="http://schemas.microsoft.com/office/drawing/2014/main" id="{9C64CEEB-E16A-926D-5DF0-DC8275443A40}"/>
              </a:ext>
            </a:extLst>
          </p:cNvPr>
          <p:cNvSpPr txBox="1"/>
          <p:nvPr/>
        </p:nvSpPr>
        <p:spPr>
          <a:xfrm>
            <a:off x="9595920" y="5865944"/>
            <a:ext cx="885179" cy="369332"/>
          </a:xfrm>
          <a:prstGeom prst="rect">
            <a:avLst/>
          </a:prstGeom>
          <a:noFill/>
        </p:spPr>
        <p:txBody>
          <a:bodyPr wrap="none" rtlCol="0">
            <a:spAutoFit/>
          </a:bodyPr>
          <a:lstStyle/>
          <a:p>
            <a:r>
              <a:rPr lang="en-US" dirty="0">
                <a:solidFill/>
              </a:rPr>
              <a:t>20.8%</a:t>
            </a:r>
          </a:p>
        </p:txBody>
      </p:sp>
      <p:sp>
        <p:nvSpPr>
          <p:cNvPr id="19" name="TextBox 30">
            <a:extLst>
              <a:ext uri="{FF2B5EF4-FFF2-40B4-BE49-F238E27FC236}">
                <a16:creationId xmlns:a16="http://schemas.microsoft.com/office/drawing/2014/main" id="{716000A2-AFB1-117D-BFF0-2BDA3EA8A77D}"/>
              </a:ext>
            </a:extLst>
          </p:cNvPr>
          <p:cNvSpPr txBox="1"/>
          <p:nvPr/>
        </p:nvSpPr>
        <p:spPr>
          <a:xfrm>
            <a:off x="11405198" y="5865944"/>
            <a:ext cx="832279" cy="369332"/>
          </a:xfrm>
          <a:prstGeom prst="rect">
            <a:avLst/>
          </a:prstGeom>
          <a:noFill/>
        </p:spPr>
        <p:txBody>
          <a:bodyPr wrap="none" rtlCol="0">
            <a:spAutoFit/>
          </a:bodyPr>
          <a:lstStyle/>
          <a:p>
            <a:r>
              <a:rPr lang="en-US" dirty="0">
                <a:solidFill/>
              </a:rPr>
              <a:t>25.8%</a:t>
            </a:r>
          </a:p>
        </p:txBody>
      </p:sp>
      <p:sp>
        <p:nvSpPr>
          <p:cNvPr id="20"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1"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
        <p:nvSpPr>
          <p:cNvPr id="22" name="Rectangle 19">
            <a:extLst>
              <a:ext uri="{FF2B5EF4-FFF2-40B4-BE49-F238E27FC236}">
                <a16:creationId xmlns:a16="http://schemas.microsoft.com/office/drawing/2014/main" id="{F6627BBC-E6C5-1195-07E5-6C53EE01CC8B}"/>
              </a:ext>
            </a:extLst>
          </p:cNvPr>
          <p:cNvSpPr/>
          <p:nvPr/>
        </p:nvSpPr>
        <p:spPr>
          <a:xfrm>
            <a:off x="7597806" y="320341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5">
            <a:extLst>
              <a:ext uri="{FF2B5EF4-FFF2-40B4-BE49-F238E27FC236}">
                <a16:creationId xmlns:a16="http://schemas.microsoft.com/office/drawing/2014/main" id="{C22B0D02-4198-9ACE-8A8D-89E646CD21E5}"/>
              </a:ext>
            </a:extLst>
          </p:cNvPr>
          <p:cNvSpPr txBox="1"/>
          <p:nvPr/>
        </p:nvSpPr>
        <p:spPr>
          <a:xfrm>
            <a:off x="8366143" y="3171997"/>
            <a:ext cx="488916" cy="307777"/>
          </a:xfrm>
          <a:prstGeom prst="rect">
            <a:avLst/>
          </a:prstGeom>
          <a:noFill/>
        </p:spPr>
        <p:txBody>
          <a:bodyPr wrap="none" rtlCol="0">
            <a:spAutoFit/>
          </a:bodyPr>
          <a:lstStyle/>
          <a:p>
            <a:r>
              <a:rPr lang="en-US" sz="1400" b="1" dirty="0"/>
              <a:t>Low</a:t>
            </a:r>
          </a:p>
        </p:txBody>
      </p:sp>
      <p:sp>
        <p:nvSpPr>
          <p:cNvPr id="24" name="TextBox 27">
            <a:extLst>
              <a:ext uri="{FF2B5EF4-FFF2-40B4-BE49-F238E27FC236}">
                <a16:creationId xmlns:a16="http://schemas.microsoft.com/office/drawing/2014/main" id="{E8084D42-778C-82F6-630D-9D8469AFEE15}"/>
              </a:ext>
            </a:extLst>
          </p:cNvPr>
          <p:cNvSpPr txBox="1"/>
          <p:nvPr/>
        </p:nvSpPr>
        <p:spPr>
          <a:xfrm>
            <a:off x="10950749" y="3163290"/>
            <a:ext cx="524503" cy="307777"/>
          </a:xfrm>
          <a:prstGeom prst="rect">
            <a:avLst/>
          </a:prstGeom>
          <a:noFill/>
        </p:spPr>
        <p:txBody>
          <a:bodyPr wrap="none" rtlCol="0">
            <a:spAutoFit/>
          </a:bodyPr>
          <a:lstStyle/>
          <a:p>
            <a:r>
              <a:rPr lang="en-US" sz="1400" b="1" dirty="0"/>
              <a:t>High</a:t>
            </a:r>
          </a:p>
        </p:txBody>
      </p:sp>
      <p:sp>
        <p:nvSpPr>
          <p:cNvPr id="25" name="TextBox 28">
            <a:extLst>
              <a:ext uri="{FF2B5EF4-FFF2-40B4-BE49-F238E27FC236}">
                <a16:creationId xmlns:a16="http://schemas.microsoft.com/office/drawing/2014/main" id="{F168AC10-2BD6-A49E-428D-30E6B39D197A}"/>
              </a:ext>
            </a:extLst>
          </p:cNvPr>
          <p:cNvSpPr txBox="1"/>
          <p:nvPr/>
        </p:nvSpPr>
        <p:spPr>
          <a:xfrm>
            <a:off x="7647303" y="3407458"/>
            <a:ext cx="1825756" cy="369332"/>
          </a:xfrm>
          <a:prstGeom prst="rect">
            <a:avLst/>
          </a:prstGeom>
          <a:noFill/>
        </p:spPr>
        <p:txBody>
          <a:bodyPr wrap="none" rtlCol="0">
            <a:spAutoFit/>
          </a:bodyPr>
          <a:lstStyle/>
          <a:p>
            <a:r>
              <a:rPr lang="en-US" dirty="0">
                <a:solidFill/>
              </a:rPr>
              <a:t>10% below target</a:t>
            </a:r>
          </a:p>
        </p:txBody>
      </p:sp>
      <p:sp>
        <p:nvSpPr>
          <p:cNvPr id="26" name="TextBox 30">
            <a:extLst>
              <a:ext uri="{FF2B5EF4-FFF2-40B4-BE49-F238E27FC236}">
                <a16:creationId xmlns:a16="http://schemas.microsoft.com/office/drawing/2014/main" id="{85A3284B-C2CB-7693-6750-302A3F66B386}"/>
              </a:ext>
            </a:extLst>
          </p:cNvPr>
          <p:cNvSpPr txBox="1"/>
          <p:nvPr/>
        </p:nvSpPr>
        <p:spPr>
          <a:xfrm>
            <a:off x="10299672" y="3405178"/>
            <a:ext cx="1820178" cy="369332"/>
          </a:xfrm>
          <a:prstGeom prst="rect">
            <a:avLst/>
          </a:prstGeom>
          <a:noFill/>
        </p:spPr>
        <p:txBody>
          <a:bodyPr wrap="none" rtlCol="0">
            <a:spAutoFit/>
          </a:bodyPr>
          <a:lstStyle/>
          <a:p>
            <a:r>
              <a:rPr lang="en-US" dirty="0">
                <a:solidFill/>
              </a:rPr>
              <a:t>10% above target</a:t>
            </a:r>
          </a:p>
        </p:txBody>
      </p:sp>
      <p:pic>
        <p:nvPicPr>
          <p:cNvPr id="27" name="Content Placeholder 26"/>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2,644.8K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5,462.3K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9,262.8K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1,050.4K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2,526.0K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5,385.5K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9,240.0K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1,816.2K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3,682.0K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7,494.8K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12,798.3K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1,528.2K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3,587.2K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7,456.4K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12,835.5K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1,659.5K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3,429.8K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5,798.1K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519.5K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1,517.9K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3,314.6K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5,716.5K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787862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Hartford HealthCare’s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Hartford HealthCare’s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Hartford HealthCare</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graphicFrame>
        <p:nvGraphicFramePr>
          <p:cNvPr id="8"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Hartford HealthCare">
            <a:extLst>
              <a:ext uri="{FF2B5EF4-FFF2-40B4-BE49-F238E27FC236}">
                <a16:creationId xmlns:a16="http://schemas.microsoft.com/office/drawing/2014/main" id="{BBC800D4-9CE6-24AD-DD82-C45FF06D45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11658" y="4137902"/>
            <a:ext cx="1053494" cy="448558"/>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954E4FFD-E44E-7265-C08F-0C378D8D7915}"/>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NETWORK STRUCTURE</a:t>
            </a:r>
          </a:p>
        </p:txBody>
      </p:sp>
    </p:spTree>
    <p:extLst>
      <p:ext uri="{BB962C8B-B14F-4D97-AF65-F5344CB8AC3E}">
        <p14:creationId xmlns:p14="http://schemas.microsoft.com/office/powerpoint/2010/main" val="1700621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17</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9" name="TextBox 7">
            <a:extLst>
              <a:ext uri="{FF2B5EF4-FFF2-40B4-BE49-F238E27FC236}">
                <a16:creationId xmlns:a16="http://schemas.microsoft.com/office/drawing/2014/main" id="{FF7C74A4-33A6-F02F-D22F-33835E639085}"/>
              </a:ext>
            </a:extLst>
          </p:cNvPr>
          <p:cNvSpPr txBox="1"/>
          <p:nvPr/>
        </p:nvSpPr>
        <p:spPr>
          <a:xfrm>
            <a:off x="157424" y="257546"/>
            <a:ext cx="11877152" cy="523220"/>
          </a:xfrm>
          <a:prstGeom prst="rect">
            <a:avLst/>
          </a:prstGeom>
          <a:noFill/>
        </p:spPr>
        <p:txBody>
          <a:bodyPr wrap="square">
            <a:spAutoFit/>
          </a:bodyPr>
          <a:lstStyle/>
          <a:p>
            <a:pPr algn="ctr"/>
            <a:r>
              <a:rPr lang="en-US" sz="2800" b="1" dirty="0">
                <a:solidFill>
                  <a:schemeClr val="bg1"/>
                </a:solidFill>
              </a:rPr>
              <a:t>BENEFIT PLAN DESIGNS THAT OPTIMIZE STEERAGE TO HARTFORD HEALTHCARE</a:t>
            </a:r>
          </a:p>
        </p:txBody>
      </p:sp>
      <p:pic>
        <p:nvPicPr>
          <p:cNvPr id="10" name="Picture 2" descr="Hartford HealthCare">
            <a:extLst>
              <a:ext uri="{FF2B5EF4-FFF2-40B4-BE49-F238E27FC236}">
                <a16:creationId xmlns:a16="http://schemas.microsoft.com/office/drawing/2014/main" id="{14AAABBB-947B-0A58-6030-216760FC18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0048" y="5154022"/>
            <a:ext cx="2380618" cy="1013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26.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Hartford HealthCare’s approved site(s) with network integration, and development of Hartford HealthCare’s proprietary PBM program.</a:t>
            </a:r>
            <a:r>
              <a:rPr lang="en-US" sz="1600" dirty="0">
                <a:highlight>
                  <a:srgbClr val="FFFF00"/>
                </a:highlight>
              </a:rPr>
              <a:t>   </a:t>
            </a:r>
          </a:p>
        </p:txBody>
      </p:sp>
      <p:graphicFrame>
        <p:nvGraphicFramePr>
          <p:cNvPr id="8" name="Table 7"/>
          <p:cNvGraphicFramePr>
            <a:graphicFrameLocks noGrp="1"/>
          </p:cNvGraphicFramePr>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30%+ Within-Plan Steerage and a Commercial Margin of 20.8%.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30%+ Within-Plan Steerage and a Commercial Margin of 20.8%.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30%+ Within-Plan Steerage and a Commercial Margin of 20.8%.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30%+ Within-Plan Steerage and a Commercial Margin of 20.8%.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30%+ Within-Plan Steerage and a Commercial Margin of 20.8%.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30%+ Within-Plan Steerage and a Commercial Margin of 20.8%.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30%+ Within-Plan Steerage and a Commercial Margin of 20.8%.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30%+ Within-Plan Steerage and a Commercial Margin of 20.8%.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$ 4,968K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$ 6,093K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967K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$19,872K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$4,133K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$44,243K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$24,371K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$ 9,203K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$ 5,069K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$ 4,859K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$39,744K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$8,267K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$88,486K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$48,742K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$18,405K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$10,138K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$10,048K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19</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Hartford HealthCare’s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Hartford HealthCare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Hartford HealthCare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Hartford HealthCare’s managed care processes to KBA’s patented care management programs will turbocharge results – Positioning Hartford HealthCare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1662444" y="5427819"/>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Hartford HealthCare </a:t>
            </a:r>
            <a:r>
              <a:rPr lang="en-US" sz="2400" b="1" cap="small" dirty="0">
                <a:solidFill>
                  <a:srgbClr val="000B2E"/>
                </a:solidFill>
              </a:rPr>
              <a:t>CAN PROMOTE THESE RESULTS FROM DAY ONE</a:t>
            </a:r>
          </a:p>
        </p:txBody>
      </p:sp>
      <p:pic>
        <p:nvPicPr>
          <p:cNvPr id="8"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3"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4"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5"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20</a:t>
            </a:fld>
            <a:endParaRPr lang="en-US" dirty="0"/>
          </a:p>
        </p:txBody>
      </p:sp>
      <p:sp>
        <p:nvSpPr>
          <p:cNvPr id="6"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7"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9"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10"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11"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5"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21</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Hartford HealthCare’s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Hartford HealthCare’s 340B drug pricing program</a:t>
            </a:r>
          </a:p>
          <a:p>
            <a:pPr marL="285753" indent="-285753">
              <a:spcBef>
                <a:spcPts val="600"/>
              </a:spcBef>
              <a:buFont typeface="Wingdings" panose="05000000000000000000" pitchFamily="2" charset="2"/>
              <a:buChar char="§"/>
            </a:pPr>
            <a:r>
              <a:rPr lang="en-US" sz="2000" dirty="0">
                <a:solidFill>
                  <a:schemeClr val="bg1"/>
                </a:solidFill>
              </a:rPr>
              <a:t>Allows Hartford HealthCare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3"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4"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22</a:t>
            </a:fld>
            <a:endParaRPr lang="en-US" dirty="0"/>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23</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4"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3881915118"/>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24</a:t>
            </a:fld>
            <a:endParaRPr lang="en-US" sz="1100" dirty="0">
              <a:solidFill>
                <a:schemeClr val="tx1">
                  <a:lumMod val="50000"/>
                  <a:lumOff val="50000"/>
                </a:schemeClr>
              </a:solidFill>
            </a:endParaRPr>
          </a:p>
        </p:txBody>
      </p:sp>
      <p:sp>
        <p:nvSpPr>
          <p:cNvPr id="6"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5"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6"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7"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8"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9"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0"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1"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2"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3"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25</a:t>
            </a:fld>
            <a:endParaRPr lang="en-US" sz="1100" dirty="0">
              <a:solidFill>
                <a:schemeClr val="tx1">
                  <a:lumMod val="50000"/>
                  <a:lumOff val="50000"/>
                </a:schemeClr>
              </a:solidFill>
            </a:endParaRPr>
          </a:p>
        </p:txBody>
      </p:sp>
      <p:sp>
        <p:nvSpPr>
          <p:cNvPr id="14"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1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26</a:t>
            </a:fld>
            <a:endParaRPr lang="en-US"/>
          </a:p>
        </p:txBody>
      </p:sp>
      <p:pic>
        <p:nvPicPr>
          <p:cNvPr id="4"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Hartford HealthCare</a:t>
            </a:r>
            <a:r>
              <a:rPr lang="en-US" sz="4000" b="1">
                <a:latin typeface="+mn-lt"/>
                <a:cs typeface="Arial" panose="020B0604020202020204" pitchFamily="34" charset="0"/>
              </a:rPr>
              <a:t>’s 2022 </a:t>
            </a:r>
            <a:r>
              <a:rPr lang="en-US" sz="4000" b="1" dirty="0">
                <a:latin typeface="+mn-lt"/>
                <a:cs typeface="Arial" panose="020B0604020202020204" pitchFamily="34" charset="0"/>
              </a:rPr>
              <a:t>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204014085"/>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Hartford HealthCare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461,274</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$4,097,233K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120,539</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$645,947K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26%</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96,588</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$623,863K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21%</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36,577</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-$361,725K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8%</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207,570</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$2,830,190K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45%</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a:t>
            </a:r>
            <a:br>
              <a:rPr lang="en-US" b="1" dirty="0">
                <a:latin typeface="+mn-lt"/>
                <a:cs typeface="Arial" panose="020B0604020202020204" pitchFamily="34" charset="0"/>
              </a:rPr>
            </a:br>
            <a:r>
              <a:rPr lang="en-US" b="1" dirty="0">
                <a:latin typeface="+mn-lt"/>
                <a:cs typeface="Arial" panose="020B0604020202020204" pitchFamily="34" charset="0"/>
              </a:rPr>
              <a:t>Commercial vs. Government Pay</a:t>
            </a:r>
          </a:p>
        </p:txBody>
      </p:sp>
      <p:sp>
        <p:nvSpPr>
          <p:cNvPr id="3"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6" name="TextBox 7">
            <a:extLst>
              <a:ext uri="{FF2B5EF4-FFF2-40B4-BE49-F238E27FC236}">
                <a16:creationId xmlns:a16="http://schemas.microsoft.com/office/drawing/2014/main" id="{85163DF1-EB5C-1C3C-A93D-5F16CEEC2B92}"/>
              </a:ext>
            </a:extLst>
          </p:cNvPr>
          <p:cNvSpPr txBox="1"/>
          <p:nvPr/>
        </p:nvSpPr>
        <p:spPr>
          <a:xfrm>
            <a:off x="838199" y="1933595"/>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7" name="TextBox 8">
            <a:extLst>
              <a:ext uri="{FF2B5EF4-FFF2-40B4-BE49-F238E27FC236}">
                <a16:creationId xmlns:a16="http://schemas.microsoft.com/office/drawing/2014/main" id="{020B90EA-11B9-6E81-60B7-F3AFEA7FC5A7}"/>
              </a:ext>
            </a:extLst>
          </p:cNvPr>
          <p:cNvSpPr txBox="1"/>
          <p:nvPr/>
        </p:nvSpPr>
        <p:spPr>
          <a:xfrm>
            <a:off x="6827522" y="1933595"/>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8"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3084429148"/>
              </p:ext>
            </p:extLst>
          </p:nvPr>
        </p:nvGraphicFramePr>
        <p:xfrm>
          <a:off x="964071" y="3022094"/>
          <a:ext cx="4478017" cy="2021840"/>
        </p:xfrm>
        <a:graphic>
          <a:graphicData uri="http://schemas.openxmlformats.org/drawingml/2006/table">
            <a:tbl>
              <a:tblPr bandRow="1">
                <a:tableStyleId>{2D5ABB26-0587-4C30-8999-92F81FD0307C}</a:tableStyleId>
              </a:tblPr>
              <a:tblGrid>
                <a:gridCol w="2785247">
                  <a:extLst>
                    <a:ext uri="{9D8B030D-6E8A-4147-A177-3AD203B41FA5}">
                      <a16:colId xmlns:a16="http://schemas.microsoft.com/office/drawing/2014/main" val="1477699201"/>
                    </a:ext>
                  </a:extLst>
                </a:gridCol>
                <a:gridCol w="1692770">
                  <a:extLst>
                    <a:ext uri="{9D8B030D-6E8A-4147-A177-3AD203B41FA5}">
                      <a16:colId xmlns:a16="http://schemas.microsoft.com/office/drawing/2014/main" val="3897938436"/>
                    </a:ext>
                  </a:extLst>
                </a:gridCol>
              </a:tblGrid>
              <a:tr h="370840">
                <a:tc>
                  <a:txBody>
                    <a:bodyPr/>
                    <a:lstStyle/>
                    <a:p>
                      <a:r>
                        <a:rPr lang="en-US" dirty="0">
                          <a:solidFill>
                            <a:schemeClr val="tx1"/>
                          </a:solidFill>
                        </a:rPr>
                        <a:t>Estimated Total Revenue if All Patients Have Commercial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6,337,906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4,716,015</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$1,621,891K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26%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9"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837596021"/>
              </p:ext>
            </p:extLst>
          </p:nvPr>
        </p:nvGraphicFramePr>
        <p:xfrm>
          <a:off x="6827522" y="3017014"/>
          <a:ext cx="4358640" cy="2026920"/>
        </p:xfrm>
        <a:graphic>
          <a:graphicData uri="http://schemas.openxmlformats.org/drawingml/2006/table">
            <a:tbl>
              <a:tblPr bandRow="1">
                <a:tableStyleId>{2D5ABB26-0587-4C30-8999-92F81FD0307C}</a:tableStyleId>
              </a:tblPr>
              <a:tblGrid>
                <a:gridCol w="2710997">
                  <a:extLst>
                    <a:ext uri="{9D8B030D-6E8A-4147-A177-3AD203B41FA5}">
                      <a16:colId xmlns:a16="http://schemas.microsoft.com/office/drawing/2014/main" val="1477699201"/>
                    </a:ext>
                  </a:extLst>
                </a:gridCol>
                <a:gridCol w="1647643">
                  <a:extLst>
                    <a:ext uri="{9D8B030D-6E8A-4147-A177-3AD203B41FA5}">
                      <a16:colId xmlns:a16="http://schemas.microsoft.com/office/drawing/2014/main" val="3897938436"/>
                    </a:ext>
                  </a:extLst>
                </a:gridCol>
              </a:tblGrid>
              <a:tr h="370840">
                <a:tc>
                  <a:txBody>
                    <a:bodyPr/>
                    <a:lstStyle/>
                    <a:p>
                      <a:r>
                        <a:rPr lang="en-US" dirty="0">
                          <a:solidFill>
                            <a:schemeClr val="tx1"/>
                          </a:solidFill>
                        </a:rPr>
                        <a:t>Estimated Total Revenue if All Patients Have Gov-Pay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2,309,072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4,716,015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-2,406,943</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-104%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
        <p:nvSpPr>
          <p:cNvPr id="10" name="TextBox 12">
            <a:extLst>
              <a:ext uri="{FF2B5EF4-FFF2-40B4-BE49-F238E27FC236}">
                <a16:creationId xmlns:a16="http://schemas.microsoft.com/office/drawing/2014/main" id="{879CF531-03B5-98C7-7BF8-469C9D55F9E4}"/>
              </a:ext>
            </a:extLst>
          </p:cNvPr>
          <p:cNvSpPr txBox="1"/>
          <p:nvPr/>
        </p:nvSpPr>
        <p:spPr>
          <a:xfrm>
            <a:off x="1043940" y="5314948"/>
            <a:ext cx="4398148" cy="523220"/>
          </a:xfrm>
          <a:prstGeom prst="rect">
            <a:avLst/>
          </a:prstGeom>
          <a:noFill/>
        </p:spPr>
        <p:txBody>
          <a:bodyPr wrap="square" rtlCol="0">
            <a:spAutoFit/>
          </a:bodyPr>
          <a:lstStyle/>
          <a:p>
            <a:r>
              <a:rPr lang="en-US" sz="1400" dirty="0"/>
              <a:t>Calculated by dividing the current commercial revenue by the current commercial inpatient day payer mix.  </a:t>
            </a:r>
          </a:p>
        </p:txBody>
      </p:sp>
      <p:sp>
        <p:nvSpPr>
          <p:cNvPr id="11" name="TextBox 13">
            <a:extLst>
              <a:ext uri="{FF2B5EF4-FFF2-40B4-BE49-F238E27FC236}">
                <a16:creationId xmlns:a16="http://schemas.microsoft.com/office/drawing/2014/main" id="{5FAEC66D-2C5F-1BA4-6070-07C2BC7D18E6}"/>
              </a:ext>
            </a:extLst>
          </p:cNvPr>
          <p:cNvSpPr txBox="1"/>
          <p:nvPr/>
        </p:nvSpPr>
        <p:spPr>
          <a:xfrm>
            <a:off x="6827522" y="5314558"/>
            <a:ext cx="4114800" cy="523220"/>
          </a:xfrm>
          <a:prstGeom prst="rect">
            <a:avLst/>
          </a:prstGeom>
          <a:noFill/>
        </p:spPr>
        <p:txBody>
          <a:bodyPr wrap="square" rtlCol="0">
            <a:spAutoFit/>
          </a:bodyPr>
          <a:lstStyle/>
          <a:p>
            <a:r>
              <a:rPr lang="en-US" sz="1400" dirty="0"/>
              <a:t>Calculated by dividing the current gov-pay revenue by the current gov-pay inpatient day payer mix.  </a:t>
            </a:r>
          </a:p>
        </p:txBody>
      </p:sp>
    </p:spTree>
    <p:extLst>
      <p:ext uri="{BB962C8B-B14F-4D97-AF65-F5344CB8AC3E}">
        <p14:creationId xmlns:p14="http://schemas.microsoft.com/office/powerpoint/2010/main" val="3618341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29</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838199" y="6088454"/>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56.1%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p:cNvGraphicFramePr>
            <a:graphicFrameLocks noGrp="1"/>
          </p:cNvGraphicFramePr>
          <p:nvPr>
            <p:extLst>
              <p:ext uri="{D42A27DB-BD31-4B8C-83A1-F6EECF244321}">
                <p14:modId xmlns:p14="http://schemas.microsoft.com/office/powerpoint/2010/main" val="881138872"/>
              </p:ext>
            </p:extLst>
          </p:nvPr>
        </p:nvGraphicFramePr>
        <p:xfrm>
          <a:off x="371474" y="509321"/>
          <a:ext cx="11449051" cy="5201920"/>
        </p:xfrm>
        <a:graphic>
          <a:graphicData uri="http://schemas.openxmlformats.org/drawingml/2006/table">
            <a:tbl>
              <a:tblPr/>
              <a:tblGrid>
                <a:gridCol w="2550978">
                  <a:extLst>
                    <a:ext uri="{9D8B030D-6E8A-4147-A177-3AD203B41FA5}">
                      <a16:colId xmlns:a16="http://schemas.microsoft.com/office/drawing/2014/main" val="20000"/>
                    </a:ext>
                  </a:extLst>
                </a:gridCol>
                <a:gridCol w="1087572">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651000">
                  <a:extLst>
                    <a:ext uri="{9D8B030D-6E8A-4147-A177-3AD203B41FA5}">
                      <a16:colId xmlns:a16="http://schemas.microsoft.com/office/drawing/2014/main" val="20003"/>
                    </a:ext>
                  </a:extLst>
                </a:gridCol>
                <a:gridCol w="1892300">
                  <a:extLst>
                    <a:ext uri="{9D8B030D-6E8A-4147-A177-3AD203B41FA5}">
                      <a16:colId xmlns:a16="http://schemas.microsoft.com/office/drawing/2014/main" val="20004"/>
                    </a:ext>
                  </a:extLst>
                </a:gridCol>
                <a:gridCol w="2743201">
                  <a:extLst>
                    <a:ext uri="{9D8B030D-6E8A-4147-A177-3AD203B41FA5}">
                      <a16:colId xmlns:a16="http://schemas.microsoft.com/office/drawing/2014/main" val="20005"/>
                    </a:ext>
                  </a:extLst>
                </a:gridCol>
              </a:tblGrid>
              <a:tr h="346076">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56.1%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03823">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Charlotte Hungerford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228,909.8K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384,815.7K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03823">
                <a:tc>
                  <a:txBody>
                    <a:bodyPr/>
                    <a:lstStyle/>
                    <a:p>
                      <a:pPr marL="63500" marR="63500" algn="l">
                        <a:lnSpc>
                          <a:spcPct val="100000"/>
                        </a:lnSpc>
                        <a:spcBef>
                          <a:spcPts val="500"/>
                        </a:spcBef>
                        <a:spcAft>
                          <a:spcPts val="500"/>
                        </a:spcAft>
                        <a:buNone/>
                      </a:pPr>
                      <a:r>
                        <a:rPr sz="1000" b="0" i="0" u="none" cap="none" dirty="0" err="1">
                          <a:solidFill>
                            <a:srgbClr val="000000">
                              <a:alpha val="100000"/>
                            </a:srgbClr>
                          </a:solidFill>
                          <a:latin typeface="Arial"/>
                          <a:cs typeface="Arial"/>
                          <a:sym typeface="Arial"/>
                        </a:rPr>
                        <a:t>MidState</a:t>
                      </a:r>
                      <a:r>
                        <a:rPr sz="1000" b="0" i="0" u="none" cap="none" dirty="0">
                          <a:solidFill>
                            <a:srgbClr val="000000">
                              <a:alpha val="100000"/>
                            </a:srgbClr>
                          </a:solidFill>
                          <a:latin typeface="Arial"/>
                          <a:cs typeface="Arial"/>
                          <a:sym typeface="Arial"/>
                        </a:rPr>
                        <a:t>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500,688.5K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571,440.7K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65866">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Windham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74,380.7K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291,897.5K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65866">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The William W Backus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187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571,547.5K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893,592.3K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0382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Hartford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$3,487,497.8K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$2,075,998.8K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03823">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St </a:t>
                      </a:r>
                      <a:r>
                        <a:rPr sz="1000" b="0" i="0" u="none" cap="none" dirty="0" err="1">
                          <a:solidFill>
                            <a:srgbClr val="000000">
                              <a:alpha val="100000"/>
                            </a:srgbClr>
                          </a:solidFill>
                          <a:latin typeface="Arial"/>
                          <a:cs typeface="Arial"/>
                          <a:sym typeface="Arial"/>
                        </a:rPr>
                        <a:t>Vincents</a:t>
                      </a:r>
                      <a:r>
                        <a:rPr sz="1000" b="0" i="0" u="none" cap="none" dirty="0">
                          <a:solidFill>
                            <a:srgbClr val="000000">
                              <a:alpha val="100000"/>
                            </a:srgbClr>
                          </a:solidFill>
                          <a:latin typeface="Arial"/>
                          <a:cs typeface="Arial"/>
                          <a:sym typeface="Arial"/>
                        </a:rPr>
                        <a:t>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$1,070,223.8K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852,257.2K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87551">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The Hospital of Central Connecticut - Bradley Memorial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840,329.7K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$1,071,579.3K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93775">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Saint Francis Hospital and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$1,340,247.2K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$1,541,642.9K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77030">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Day Kimball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104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85,840.4K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220,492.4K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77030">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Sharon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50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   47,816.9K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91,125.9K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77336">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Waterbury Hospital (AKA Waterbury HEALTH)</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235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736,554.5K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  510,313.8K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77336">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Stamford Hospital (AKA Stamford Health)</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288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984,887.5K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$2,604,293.6K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770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Lawrence &amp; Memorial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236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447,586.8K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954,108.5K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770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Johnson Memorial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44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   41,578.9K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110,572.4K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770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Bridgeport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390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$1,218,329.2K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$1,660,953.2K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770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Rockville General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102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12,608.7K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113,957.7K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770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Saint Marys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146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  380,829.7K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  690,785.1K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770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Greenwich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185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554,635.2K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$1,059,206.2K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77336">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Middlesex Hospital (AKA Middlesex Health System)</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187</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534,236.7K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$1,085,720.5K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770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Yale New Haven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1,293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$5,654,580.0K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$6,311,818.3K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25%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12%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770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Manchester Memorial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123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460,607.7K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397,124.9K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770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Bristol Health (FKA Bristol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123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208,923.8K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407,273.7K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770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Griffin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101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356,761.5K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712,958.1K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770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Danbury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423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$1,074,812.4K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$1,426,508.1K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770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Norwalk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186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537,149.7K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673,734.5K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144012">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UConn John Dempsey Hospital (AKA UConn Health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141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602,843.6K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$1,165,156.3K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770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The Connecticut Hospice</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5,319.3K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11,392.9K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7"/>
                  </a:ext>
                </a:extLst>
              </a:tr>
              <a:tr h="770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Connecticut Childrens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Arial"/>
                          <a:cs typeface="Arial"/>
                          <a:sym typeface="Arial"/>
                        </a:rPr>
                        <a:t>187</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639,114.5K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800" b="0" i="0" u="none" cap="none">
                          <a:solidFill>
                            <a:srgbClr val="000000">
                              <a:alpha val="100000"/>
                            </a:srgbClr>
                          </a:solidFill>
                          <a:latin typeface="Arial"/>
                          <a:cs typeface="Arial"/>
                          <a:sym typeface="Arial"/>
                        </a:rPr>
                        <a:t>$  547,547.5K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434656176"/>
              </p:ext>
            </p:extLst>
          </p:nvPr>
        </p:nvGraphicFramePr>
        <p:xfrm>
          <a:off x="1" y="0"/>
          <a:ext cx="12191999" cy="6858001"/>
        </p:xfrm>
        <a:graphic>
          <a:graphicData uri="http://schemas.openxmlformats.org/drawingml/2006/table">
            <a:tbl>
              <a:tblPr/>
              <a:tblGrid>
                <a:gridCol w="1655555">
                  <a:extLst>
                    <a:ext uri="{9D8B030D-6E8A-4147-A177-3AD203B41FA5}">
                      <a16:colId xmlns:a16="http://schemas.microsoft.com/office/drawing/2014/main" val="20000"/>
                    </a:ext>
                  </a:extLst>
                </a:gridCol>
                <a:gridCol w="1153994">
                  <a:extLst>
                    <a:ext uri="{9D8B030D-6E8A-4147-A177-3AD203B41FA5}">
                      <a16:colId xmlns:a16="http://schemas.microsoft.com/office/drawing/2014/main" val="20001"/>
                    </a:ext>
                  </a:extLst>
                </a:gridCol>
                <a:gridCol w="954377">
                  <a:extLst>
                    <a:ext uri="{9D8B030D-6E8A-4147-A177-3AD203B41FA5}">
                      <a16:colId xmlns:a16="http://schemas.microsoft.com/office/drawing/2014/main" val="20002"/>
                    </a:ext>
                  </a:extLst>
                </a:gridCol>
                <a:gridCol w="1874873">
                  <a:extLst>
                    <a:ext uri="{9D8B030D-6E8A-4147-A177-3AD203B41FA5}">
                      <a16:colId xmlns:a16="http://schemas.microsoft.com/office/drawing/2014/main" val="20003"/>
                    </a:ext>
                  </a:extLst>
                </a:gridCol>
                <a:gridCol w="1790700">
                  <a:extLst>
                    <a:ext uri="{9D8B030D-6E8A-4147-A177-3AD203B41FA5}">
                      <a16:colId xmlns:a16="http://schemas.microsoft.com/office/drawing/2014/main" val="20004"/>
                    </a:ext>
                  </a:extLst>
                </a:gridCol>
                <a:gridCol w="1244600">
                  <a:extLst>
                    <a:ext uri="{9D8B030D-6E8A-4147-A177-3AD203B41FA5}">
                      <a16:colId xmlns:a16="http://schemas.microsoft.com/office/drawing/2014/main" val="20005"/>
                    </a:ext>
                  </a:extLst>
                </a:gridCol>
                <a:gridCol w="1511300">
                  <a:extLst>
                    <a:ext uri="{9D8B030D-6E8A-4147-A177-3AD203B41FA5}">
                      <a16:colId xmlns:a16="http://schemas.microsoft.com/office/drawing/2014/main" val="20006"/>
                    </a:ext>
                  </a:extLst>
                </a:gridCol>
                <a:gridCol w="2006600">
                  <a:extLst>
                    <a:ext uri="{9D8B030D-6E8A-4147-A177-3AD203B41FA5}">
                      <a16:colId xmlns:a16="http://schemas.microsoft.com/office/drawing/2014/main" val="20007"/>
                    </a:ext>
                  </a:extLst>
                </a:gridCol>
              </a:tblGrid>
              <a:tr h="332120">
                <a:tc gridSpan="8">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724130">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Charlotte Hungerford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MidState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Windham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The William W Backus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Hartford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Vincents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The Hospital of Central Connecticut - Bradley Memorial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4627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$64,552.56K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$168,231.3K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$24,024.98K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$172,607.3K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$1,154,362K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$305,013.8K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$269,745.8K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4627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$108,518K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$192,004.1K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$94,282.89K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$269,864.9K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$687,155.6K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$242,893.3K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$343,977K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30594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$29,840.96K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$53,867.88K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$16,744.29K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$61,718.09K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$308,718.7K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$94,917.21K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$80,140.13K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62612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$29,785.91K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$76,909.73K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$15,612.45K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$59,365.04K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$251,683.1K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$90,537.52K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$99,968.75K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4627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$113,660.1K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$229,064.3K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$86,073.57K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$321,868K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$1,282,536K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$362,720.8K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$434,266.9K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4627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$10,708.82K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$25,512.23K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$16,622.92K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$52,742.77K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$128,676.4K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$69,276.12K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$58,186.27K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30594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$70,778.89K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$181,464.3K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$25,205.76K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$184,423K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$1,438,979K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$338,440.8K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$280,101.9K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4627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$118,985K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$207,107K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$98,916.7K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$288,338.3K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$856,579.3K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$269,512.4K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$357,182.8K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30594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$189,763.9K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$388,571.2K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$124,122.5K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$472,761.3K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$2,295,558K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$607,953.2K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$637,284.7K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41392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$-16,476.9K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$-28,729.27K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$-5,692.14K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$-29,810.2K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$-452,620.2K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$-59,777.64K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$-22,908.89K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4627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32.0%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22.2%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38.4%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39.7%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37.5%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266785">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266785">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266785">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266785">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4"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702664457"/>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solidFill/>
                          <a:effectLst/>
                        </a:rPr>
                        <a:t>Adjusted to Connecticut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$ 3197</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$ 5812</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$ 2714</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5"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6"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31</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32</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3741339683"/>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8"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19A2854E-BB8B-2CAE-F670-0D2E7447BA42}"/>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rPr>
              <a:t>KBA is modeling steerage in line with other observed DTE networks.</a:t>
            </a:r>
          </a:p>
        </p:txBody>
      </p:sp>
    </p:spTree>
    <p:extLst>
      <p:ext uri="{BB962C8B-B14F-4D97-AF65-F5344CB8AC3E}">
        <p14:creationId xmlns:p14="http://schemas.microsoft.com/office/powerpoint/2010/main" val="3616502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D3DCB03-C008-AD89-6957-4E05EFDE3F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45156905-E918-9971-55DA-1B3D3593A1EC}"/>
              </a:ext>
            </a:extLst>
          </p:cNvPr>
          <p:cNvSpPr>
            <a:spLocks noGrp="1"/>
          </p:cNvSpPr>
          <p:nvPr>
            <p:ph type="sldNum" sz="quarter" idx="12"/>
          </p:nvPr>
        </p:nvSpPr>
        <p:spPr/>
        <p:txBody>
          <a:bodyPr/>
          <a:lstStyle/>
          <a:p>
            <a:fld id="{3AFC719D-C4A7-4544-876E-D411D11AF6C9}" type="slidenum">
              <a:rPr lang="en-US" smtClean="0"/>
              <a:t>33</a:t>
            </a:fld>
            <a:endParaRPr lang="en-US" dirty="0"/>
          </a:p>
        </p:txBody>
      </p:sp>
      <p:sp>
        <p:nvSpPr>
          <p:cNvPr id="4" name="Rectangle 6">
            <a:extLst>
              <a:ext uri="{FF2B5EF4-FFF2-40B4-BE49-F238E27FC236}">
                <a16:creationId xmlns:a16="http://schemas.microsoft.com/office/drawing/2014/main" id="{8E28090C-2F27-C065-17C4-ABD81529AB09}"/>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A1043D87-228F-7EE7-994A-5E1D92DA9012}"/>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PROJECTED PLAN GROWTH</a:t>
            </a:r>
          </a:p>
        </p:txBody>
      </p:sp>
      <p:graphicFrame>
        <p:nvGraphicFramePr>
          <p:cNvPr id="6" name="Table 5"/>
          <p:cNvGraphicFramePr>
            <a:graphicFrameLocks noGrp="1"/>
          </p:cNvGraphicFramePr>
          <p:nvPr>
            <p:extLst>
              <p:ext uri="{D42A27DB-BD31-4B8C-83A1-F6EECF244321}">
                <p14:modId xmlns:p14="http://schemas.microsoft.com/office/powerpoint/2010/main" val="542931157"/>
              </p:ext>
            </p:extLst>
          </p:nvPr>
        </p:nvGraphicFramePr>
        <p:xfrm>
          <a:off x="1240537" y="634428"/>
          <a:ext cx="10345210" cy="5330964"/>
        </p:xfrm>
        <a:graphic>
          <a:graphicData uri="http://schemas.openxmlformats.org/drawingml/2006/table">
            <a:tbl>
              <a:tblPr/>
              <a:tblGrid>
                <a:gridCol w="2069042">
                  <a:extLst>
                    <a:ext uri="{9D8B030D-6E8A-4147-A177-3AD203B41FA5}">
                      <a16:colId xmlns:a16="http://schemas.microsoft.com/office/drawing/2014/main" val="20000"/>
                    </a:ext>
                  </a:extLst>
                </a:gridCol>
                <a:gridCol w="2069042">
                  <a:extLst>
                    <a:ext uri="{9D8B030D-6E8A-4147-A177-3AD203B41FA5}">
                      <a16:colId xmlns:a16="http://schemas.microsoft.com/office/drawing/2014/main" val="20001"/>
                    </a:ext>
                  </a:extLst>
                </a:gridCol>
                <a:gridCol w="2069042">
                  <a:extLst>
                    <a:ext uri="{9D8B030D-6E8A-4147-A177-3AD203B41FA5}">
                      <a16:colId xmlns:a16="http://schemas.microsoft.com/office/drawing/2014/main" val="20002"/>
                    </a:ext>
                  </a:extLst>
                </a:gridCol>
                <a:gridCol w="2069042">
                  <a:extLst>
                    <a:ext uri="{9D8B030D-6E8A-4147-A177-3AD203B41FA5}">
                      <a16:colId xmlns:a16="http://schemas.microsoft.com/office/drawing/2014/main" val="20003"/>
                    </a:ext>
                  </a:extLst>
                </a:gridCol>
                <a:gridCol w="2069042">
                  <a:extLst>
                    <a:ext uri="{9D8B030D-6E8A-4147-A177-3AD203B41FA5}">
                      <a16:colId xmlns:a16="http://schemas.microsoft.com/office/drawing/2014/main" val="20004"/>
                    </a:ext>
                  </a:extLst>
                </a:gridCol>
              </a:tblGrid>
              <a:tr h="55981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Hartford HealthCare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Hartford HealthCare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137,500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247,500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259,600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0"/>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1"/>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2"/>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3"/>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4"/>
                  </a:ext>
                </a:extLst>
              </a:tr>
              <a:tr h="19084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59%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34</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1212883613"/>
              </p:ext>
            </p:extLst>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13,100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$ 12,498,665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$ 9,225,464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$ 4,308,213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$ 26,032,341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$ 2,599,722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$ 1,918,896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$ 896,108.3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$ 5,414,727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095924731"/>
              </p:ext>
            </p:extLst>
          </p:nvPr>
        </p:nvGraphicFramePr>
        <p:xfrm>
          <a:off x="462503" y="4085951"/>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$ 9,105,622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$ 157,200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$ 9,110,422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$ 9,082,822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435280258"/>
              </p:ext>
            </p:extLst>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$ 22,082,047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$ 32,534,153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$ 15,193,173</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$ 69,809,372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$ 4,593,066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$ 6,767,104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$ 3,160,180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$ 14,520,349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30% (inpatient) and 12%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20.8%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53% inpatient and 43%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20.8%, </a:t>
            </a:r>
            <a:r>
              <a:rPr lang="en-US" sz="1400" dirty="0">
                <a:solidFill/>
                <a:latin typeface="Arial" panose="020B0604020202020204" pitchFamily="34" charset="0"/>
                <a:cs typeface="Arial" panose="020B0604020202020204" pitchFamily="34" charset="0"/>
              </a:rPr>
              <a:t>with a 10 percentage-point reduction to reflect competitive-edge rates and a 10 percentage-point increase to reflect lower billing costs and better patient-responsibility collections because of the plan patient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6286914" cy="584775"/>
          </a:xfrm>
          <a:prstGeom prst="rect">
            <a:avLst/>
          </a:prstGeom>
          <a:noFill/>
        </p:spPr>
        <p:txBody>
          <a:bodyPr wrap="none" rtlCol="0">
            <a:spAutoFit/>
          </a:bodyPr>
          <a:lstStyle/>
          <a:p>
            <a:r>
              <a:rPr lang="en-US" sz="3200" b="1" dirty="0">
                <a:latin typeface="Calibri" panose="020F0502020204030204" pitchFamily="34" charset="0"/>
                <a:cs typeface="Calibri" panose="020F0502020204030204" pitchFamily="34" charset="0"/>
              </a:rPr>
              <a:t>Year 4 Projected Revenue and Profit</a:t>
            </a:r>
          </a:p>
        </p:txBody>
      </p:sp>
    </p:spTree>
    <p:extLst>
      <p:ext uri="{BB962C8B-B14F-4D97-AF65-F5344CB8AC3E}">
        <p14:creationId xmlns:p14="http://schemas.microsoft.com/office/powerpoint/2010/main" val="1419816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95050314"/>
              </p:ext>
            </p:extLst>
          </p:nvPr>
        </p:nvGraphicFramePr>
        <p:xfrm>
          <a:off x="0" y="0"/>
          <a:ext cx="12191998" cy="6857999"/>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955819">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Target Estimate Assuming 3</a:t>
                      </a:r>
                      <a:r>
                        <a:rPr lang="en-US" sz="2000" b="1" i="0" u="none" cap="none" dirty="0">
                          <a:solidFill>
                            <a:srgbClr val="FFFFFF">
                              <a:alpha val="100000"/>
                            </a:srgbClr>
                          </a:solidFill>
                          <a:latin typeface="Arial"/>
                          <a:cs typeface="Arial"/>
                          <a:sym typeface="Arial"/>
                        </a:rPr>
                        <a:t>5</a:t>
                      </a:r>
                      <a:r>
                        <a:rPr sz="2000" b="1" i="0" u="none" cap="none" dirty="0">
                          <a:solidFill>
                            <a:srgbClr val="FFFFFF">
                              <a:alpha val="100000"/>
                            </a:srgbClr>
                          </a:solidFill>
                          <a:latin typeface="Arial"/>
                          <a:cs typeface="Arial"/>
                          <a:sym typeface="Arial"/>
                        </a:rPr>
                        <a:t>%+ Within-Plan Steerage and a Commercial Margin of 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30%+ Within-Plan Steerage and a Commercial Margin of 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30%+ Within-Plan Steerage and a Commercial Margin of 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30%+ Within-Plan Steerage and a Commercial Margin of 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30%+ Within-Plan Steerage and a Commercial Margin of 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669073">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788551">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5843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$993.6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$1,987.2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$9,936.0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$49,680.0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5843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$2,066.7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$10,333.4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5843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$2,212.2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$4,424.3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$22,121.6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$110,608.0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257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$1,218.6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$2,437.1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$12,185.6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$60,928.0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5257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5843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$920.3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$4,601.3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$23,006.5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5257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$253.5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$506.9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$2,534.6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$12,673.0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5843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5843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5843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58432">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$2,264.6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$12,643.0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183531763"/>
              </p:ext>
            </p:extLst>
          </p:nvPr>
        </p:nvGraphicFramePr>
        <p:xfrm>
          <a:off x="0" y="0"/>
          <a:ext cx="12191998" cy="6858001"/>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583660">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Target Estimate Assuming 3</a:t>
                      </a:r>
                      <a:r>
                        <a:rPr lang="en-US" sz="2000" b="1" i="0" u="none" cap="none" dirty="0">
                          <a:solidFill>
                            <a:srgbClr val="FFFFFF">
                              <a:alpha val="100000"/>
                            </a:srgbClr>
                          </a:solidFill>
                          <a:latin typeface="Arial"/>
                          <a:cs typeface="Arial"/>
                          <a:sym typeface="Arial"/>
                        </a:rPr>
                        <a:t>5</a:t>
                      </a:r>
                      <a:r>
                        <a:rPr sz="2000" b="1" i="0" u="none" cap="none" dirty="0">
                          <a:solidFill>
                            <a:srgbClr val="FFFFFF">
                              <a:alpha val="100000"/>
                            </a:srgbClr>
                          </a:solidFill>
                          <a:latin typeface="Arial"/>
                          <a:cs typeface="Arial"/>
                          <a:sym typeface="Arial"/>
                        </a:rPr>
                        <a:t>%+ Within-Plan Steerage and a Commercial Margin of 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30%+ Within-Plan Steerage and a Commercial Margin of 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30%+ Within-Plan Steerage and a Commercial Margin of 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30%+ Within-Plan Steerage and a Commercial Margin of 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30%+ Within-Plan Steerage and a Commercial Margin of 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08562">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81519">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2101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$4,770.5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$23,852.4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887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$4,961.3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887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$1,439.2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$7,196.1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$35,980.4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887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$7,483.9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2101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$12,128.0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2101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$504.5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$2,522.6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2101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$352.1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$704.2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$3,521.2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$17,605.8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2101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$3,662.0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887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$1,017.4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$2,034.8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$10,174.2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$50,871.2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887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$10,581.2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2101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$1,330.6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$6,653.1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$33,265.4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2101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$276.8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$1,383.8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$6,919.2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2101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$164.4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$328.9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$1,644.4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$8,221.8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2101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$1,710.1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2101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$4,751.3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$23,756.4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887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$988.3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$4,941.3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2101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$3,106.9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$15,534.6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2101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$646.2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$3,231.2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8872">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$-70.5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$188.9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$2,264.6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$12,643.0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8265906"/>
              </p:ext>
            </p:extLst>
          </p:nvPr>
        </p:nvGraphicFramePr>
        <p:xfrm>
          <a:off x="0" y="0"/>
          <a:ext cx="12191998" cy="6858002"/>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035170">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High Estimate Assuming 4</a:t>
                      </a:r>
                      <a:r>
                        <a:rPr lang="en-US" sz="2000" b="1" i="0" u="none" cap="none" dirty="0">
                          <a:solidFill>
                            <a:srgbClr val="FFFFFF">
                              <a:alpha val="100000"/>
                            </a:srgbClr>
                          </a:solidFill>
                          <a:latin typeface="Arial"/>
                          <a:cs typeface="Arial"/>
                          <a:sym typeface="Arial"/>
                        </a:rPr>
                        <a:t>5</a:t>
                      </a:r>
                      <a:r>
                        <a:rPr sz="2000" b="1" i="0" u="none" cap="none" dirty="0">
                          <a:solidFill>
                            <a:srgbClr val="FFFFFF">
                              <a:alpha val="100000"/>
                            </a:srgbClr>
                          </a:solidFill>
                          <a:latin typeface="Arial"/>
                          <a:cs typeface="Arial"/>
                          <a:sym typeface="Arial"/>
                        </a:rPr>
                        <a:t>%+ Within-Plan Steerage and a Commercial Margin of 25.8%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40%+ Within-Plan Steerage and a Commercial Margin of 25.8%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40%+ Within-Plan Steerage and a Commercial Margin of 25.8%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40%+ Within-Plan Steerage and a Commercial Margin of 25.8%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40%+ Within-Plan Steerage and a Commercial Margin of 25.8%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724619">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854015">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8189">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$993.6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$1,987.2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$9,936.0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$49,680.0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8189">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$2,066.7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$10,333.4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8189">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$2,798.8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$5,597.6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$27,988.1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$139,940.5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6934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$3,610.4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$18,052.1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$90,260.5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88189">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$1,444.2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$7,220.9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$36,104.7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56934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$515.4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$1,030.8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$5,154.2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$25,771.2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388189">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8189">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8189">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8189">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$191.4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$712.8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$4,884.2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$25,741.2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47534904"/>
              </p:ext>
            </p:extLst>
          </p:nvPr>
        </p:nvGraphicFramePr>
        <p:xfrm>
          <a:off x="0" y="0"/>
          <a:ext cx="12191998" cy="6858002"/>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035170">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Low Estimate Assuming 2</a:t>
                      </a:r>
                      <a:r>
                        <a:rPr lang="en-US" sz="2000" b="1" i="0" u="none" cap="none" dirty="0">
                          <a:solidFill>
                            <a:srgbClr val="FFFFFF">
                              <a:alpha val="100000"/>
                            </a:srgbClr>
                          </a:solidFill>
                          <a:latin typeface="Arial"/>
                          <a:cs typeface="Arial"/>
                          <a:sym typeface="Arial"/>
                        </a:rPr>
                        <a:t>5</a:t>
                      </a:r>
                      <a:r>
                        <a:rPr sz="2000" b="1" i="0" u="none" cap="none" dirty="0">
                          <a:solidFill>
                            <a:srgbClr val="FFFFFF">
                              <a:alpha val="100000"/>
                            </a:srgbClr>
                          </a:solidFill>
                          <a:latin typeface="Arial"/>
                          <a:cs typeface="Arial"/>
                          <a:sym typeface="Arial"/>
                        </a:rPr>
                        <a:t>%+ Within-Plan Steerage and a Commercial Margin of 15.8%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20%+ Within-Plan Steerage and a Commercial Margin of 15.8%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20%+ Within-Plan Steerage and a Commercial Margin of 15.8%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20%+ Within-Plan Steerage and a Commercial Margin of 15.8%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20%+ Within-Plan Steerage and a Commercial Margin of 15.8%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724619">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854015">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8189">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$993.6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$1,987.2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$9,936.0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$49,680.0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8189">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$2,066.7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$10,333.4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8189">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$1,625.4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$3,250.8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$16,254.2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$81,270.8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6934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$1,263.6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$6,318.1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$31,590.7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88189">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$2,568.2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$12,840.8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569343">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388189">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8189">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8189">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8189">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$-273.9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$-217.7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$231.5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$2,477.3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b="1" spc="300" dirty="0"/>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solidFill>
                  <a:schemeClr val="bg1"/>
                </a:solidFill>
                <a:latin typeface="+mj-lt"/>
              </a:rPr>
              <a:t>“At The Table” with Hartford HealthCare</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Complete Transparency</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Benefit Plan 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39</a:t>
            </a:fld>
            <a:endParaRPr lang="en-US"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69332"/>
          </a:xfrm>
          <a:prstGeom prst="rect">
            <a:avLst/>
          </a:prstGeom>
          <a:noFill/>
        </p:spPr>
        <p:txBody>
          <a:bodyPr wrap="square">
            <a:spAutoFit/>
          </a:bodyPr>
          <a:lstStyle/>
          <a:p>
            <a:r>
              <a:rPr lang="en-US" b="1" spc="300" dirty="0">
                <a:solidFill>
                  <a:schemeClr val="bg1"/>
                </a:solidFill>
              </a:rPr>
              <a:t>Hartford HealthCare’s DTE</a:t>
            </a:r>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Hartford HealthCare</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Hartford HealthCare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741612525"/>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42</a:t>
            </a:fld>
            <a:endParaRPr lang="en-US" sz="110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43</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46118</TotalTime>
  <Words>5653</Words>
  <Application>Microsoft Office PowerPoint</Application>
  <PresentationFormat>Widescreen</PresentationFormat>
  <Paragraphs>1645</Paragraphs>
  <Slides>43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Aptos Narrow</vt:lpstr>
      <vt:lpstr>Arial</vt:lpstr>
      <vt:lpstr>Arial Black</vt:lpstr>
      <vt:lpstr>Calibri</vt:lpstr>
      <vt:lpstr>Calibri Light</vt:lpstr>
      <vt:lpstr>Century Gothic</vt:lpstr>
      <vt:lpstr>Wingdings</vt:lpstr>
      <vt:lpstr>Office Theme</vt:lpstr>
      <vt:lpstr>PowerPoint Presentation</vt:lpstr>
      <vt:lpstr>PowerPoint Presentation</vt:lpstr>
      <vt:lpstr>Market Leader in Private Labeled DTE Plans</vt:lpstr>
      <vt:lpstr>Direct-to-Employer Strategy: Only Available to Premier Health Systems</vt:lpstr>
      <vt:lpstr>Hartford HealthCare is Patient Recommended</vt:lpstr>
      <vt:lpstr>An Indicator of Brand Quality</vt:lpstr>
      <vt:lpstr>Direct-to-Employer (DTE)  Your Health Plan Focused on a Direct Relationship with Self-Funded Employers in Your Market</vt:lpstr>
      <vt:lpstr>DTE Keys to Success for Hartford HealthCare</vt:lpstr>
      <vt:lpstr>Every $1 of Care</vt:lpstr>
      <vt:lpstr>Direct-to-Employer Strategy: Powerful Employer Value</vt:lpstr>
      <vt:lpstr>Significant Opportunity for Plan Growth Researched for the State of Connecticut</vt:lpstr>
      <vt:lpstr>Plan Potential Growth Paths</vt:lpstr>
      <vt:lpstr>Growing Powerful, Lasting Profitability</vt:lpstr>
      <vt:lpstr>Estimated Financial Returns and Assumptions</vt:lpstr>
      <vt:lpstr>FOUR-YEAR PROJECTIONS</vt:lpstr>
      <vt:lpstr>NETWORK STRUCTURE</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Hartford HealthCare’s 2022 Payer Mix</vt:lpstr>
      <vt:lpstr>Estimation of Margin for  Commercial vs. Government Pay</vt:lpstr>
      <vt:lpstr>PowerPoint Presentation</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2024-10-09T23:06:15Z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