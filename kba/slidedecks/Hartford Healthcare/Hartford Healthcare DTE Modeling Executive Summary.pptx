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6"/>
  </p:notesMasterIdLst>
  <p:sldIdLst>
    <p:sldId id="577" r:id="rId5"/>
    <p:sldId id="454" r:id="rId6"/>
    <p:sldId id="549" r:id="rId7"/>
    <p:sldId id="521" r:id="rId8"/>
    <p:sldId id="564" r:id="rId9"/>
    <p:sldId id="587" r:id="rId10"/>
    <p:sldId id="559" r:id="rId11"/>
    <p:sldId id="580" r:id="rId12"/>
    <p:sldId id="582" r:id="rId13"/>
    <p:sldId id="536" r:id="rId14"/>
    <p:sldId id="472" r:id="rId15"/>
  </p:sldIdLst>
  <p:sldSz cx="12192000" cy="6858000"/>
  <p:notesSz cx="7315200" cy="96012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89B"/>
    <a:srgbClr val="2F5597"/>
    <a:srgbClr val="6087CE"/>
    <a:srgbClr val="4468A5"/>
    <a:srgbClr val="F2F2F2"/>
    <a:srgbClr val="C55A11"/>
    <a:srgbClr val="F424AA"/>
    <a:srgbClr val="E23440"/>
    <a:srgbClr val="02758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111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74CFD2E0-11B4-4B98-8C93-A3F0E33F9DB5}"/>
    <pc:docChg chg="delSld">
      <pc:chgData name="Taylor Davis" userId="5c9e72a0-c39f-4aa1-9d7d-64125e78cbe6" providerId="ADAL" clId="{74CFD2E0-11B4-4B98-8C93-A3F0E33F9DB5}" dt="2024-10-09T23:08:06.142" v="2" actId="47"/>
      <pc:docMkLst>
        <pc:docMk/>
      </pc:docMkLst>
      <pc:sldChg chg="del">
        <pc:chgData name="Taylor Davis" userId="5c9e72a0-c39f-4aa1-9d7d-64125e78cbe6" providerId="ADAL" clId="{74CFD2E0-11B4-4B98-8C93-A3F0E33F9DB5}" dt="2024-10-09T23:08:06.142" v="2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74CFD2E0-11B4-4B98-8C93-A3F0E33F9DB5}" dt="2024-10-09T23:08:06.142" v="2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74CFD2E0-11B4-4B98-8C93-A3F0E33F9DB5}" dt="2024-10-09T23:08:06.142" v="2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2984433661" sldId="446"/>
        </pc:sldMkLst>
      </pc:sldChg>
      <pc:sldChg chg="del">
        <pc:chgData name="Taylor Davis" userId="5c9e72a0-c39f-4aa1-9d7d-64125e78cbe6" providerId="ADAL" clId="{74CFD2E0-11B4-4B98-8C93-A3F0E33F9DB5}" dt="2024-10-09T23:07:30.559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74CFD2E0-11B4-4B98-8C93-A3F0E33F9DB5}" dt="2024-10-09T23:07:30.559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74CFD2E0-11B4-4B98-8C93-A3F0E33F9DB5}" dt="2024-10-09T23:07:30.559" v="0" actId="47"/>
        <pc:sldMkLst>
          <pc:docMk/>
          <pc:sldMk cId="1552833548" sldId="487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74CFD2E0-11B4-4B98-8C93-A3F0E33F9DB5}" dt="2024-10-09T23:08:06.142" v="2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74CFD2E0-11B4-4B98-8C93-A3F0E33F9DB5}" dt="2024-10-09T23:08:06.142" v="2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74CFD2E0-11B4-4B98-8C93-A3F0E33F9DB5}" dt="2024-10-09T23:07:30.559" v="0" actId="47"/>
        <pc:sldMkLst>
          <pc:docMk/>
          <pc:sldMk cId="3348736581" sldId="518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034923006" sldId="527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616502281" sldId="547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74CFD2E0-11B4-4B98-8C93-A3F0E33F9DB5}" dt="2024-10-09T23:08:06.142" v="2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74CFD2E0-11B4-4B98-8C93-A3F0E33F9DB5}" dt="2024-10-09T23:08:06.142" v="2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74CFD2E0-11B4-4B98-8C93-A3F0E33F9DB5}" dt="2024-10-09T23:08:06.142" v="2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277395919" sldId="578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618341172" sldId="584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2011724879" sldId="585"/>
        </pc:sldMkLst>
      </pc:sldChg>
      <pc:sldChg chg="del">
        <pc:chgData name="Taylor Davis" userId="5c9e72a0-c39f-4aa1-9d7d-64125e78cbe6" providerId="ADAL" clId="{74CFD2E0-11B4-4B98-8C93-A3F0E33F9DB5}" dt="2024-10-09T23:08:01.742" v="1" actId="47"/>
        <pc:sldMkLst>
          <pc:docMk/>
          <pc:sldMk cId="3787862579" sldId="5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10/9/2024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11" Type="http://schemas.openxmlformats.org/officeDocument/2006/relationships/image" Target="../media/image7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HARTFORD HEALTHCARE DIRECT-TO-EMPLOYER ASSESSMENT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OCTOBER 8,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D53C2B74-390E-5BEC-5003-F3AD48404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388" y="3129471"/>
            <a:ext cx="3580952" cy="2409524"/>
          </a:xfrm>
          <a:prstGeom prst="rect">
            <a:avLst/>
          </a:prstGeom>
        </p:spPr>
      </p:pic>
      <p:pic>
        <p:nvPicPr>
          <p:cNvPr id="1026" name="Picture 2" descr="Hartford HealthCare">
            <a:extLst>
              <a:ext uri="{FF2B5EF4-FFF2-40B4-BE49-F238E27FC236}">
                <a16:creationId xmlns:a16="http://schemas.microsoft.com/office/drawing/2014/main" id="{6EC8BB0F-5450-AF00-BD91-75811A273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72" y="794686"/>
            <a:ext cx="1644580" cy="70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se Study - Hartford HealthCare: Standardizing Locums Management With VMS  Technology">
            <a:extLst>
              <a:ext uri="{FF2B5EF4-FFF2-40B4-BE49-F238E27FC236}">
                <a16:creationId xmlns:a16="http://schemas.microsoft.com/office/drawing/2014/main" id="{2E705CD9-2A66-646F-6796-516211ACB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74" b="7352"/>
          <a:stretch/>
        </p:blipFill>
        <p:spPr bwMode="auto">
          <a:xfrm>
            <a:off x="981075" y="1640647"/>
            <a:ext cx="11233150" cy="522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243" y="1829480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2" descr="Hartford HealthCare">
            <a:extLst>
              <a:ext uri="{FF2B5EF4-FFF2-40B4-BE49-F238E27FC236}">
                <a16:creationId xmlns:a16="http://schemas.microsoft.com/office/drawing/2014/main" id="{51869D12-06FF-22A6-B991-4EC89A8E8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579" y="2837111"/>
            <a:ext cx="3154210" cy="134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29718EC-0FBE-02AB-65D1-5F9EA788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A8707D-53C1-F2FE-8133-D607A37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3A94DB-FE92-CA1C-15F4-F7EC71D30241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Hartford HealthCare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9405257" y="1989573"/>
            <a:ext cx="2532185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KBA assesses HCAHPs recommendation rates and other quality data to determine if the DTE health system can support a narrow network plan. 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Based on current data, KBA believes Hartford Healthcare will need to partner with another local system to be successful. 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These models are based on an assumption of including a partner health system.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95778"/>
              </p:ext>
            </p:extLst>
          </p:nvPr>
        </p:nvGraphicFramePr>
        <p:xfrm>
          <a:off x="1190026" y="1866983"/>
          <a:ext cx="7722862" cy="3536427"/>
        </p:xfrm>
        <a:graphic>
          <a:graphicData uri="http://schemas.openxmlformats.org/drawingml/2006/table">
            <a:tbl>
              <a:tblPr/>
              <a:tblGrid>
                <a:gridCol w="2082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53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328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63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Stamford </a:t>
                      </a:r>
                      <a:r>
                        <a:rPr lang="en-US"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Health</a:t>
                      </a:r>
                      <a:endParaRPr sz="1100" b="0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85B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690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98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Other Independent Hospitals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A1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A1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10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Northwell</a:t>
                      </a: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2D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180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63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Yale New Haven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1B3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180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47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Hartford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ABAD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83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83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83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Prospect Medical Holdings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5D0E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3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Trinity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DB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0D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85B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11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29718EC-0FBE-02AB-65D1-5F9EA788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A8707D-53C1-F2FE-8133-D607A37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3A94DB-FE92-CA1C-15F4-F7EC71D30241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Indicator of Brand Quality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6269443" y="2045142"/>
            <a:ext cx="5536642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KBA models Medicare patient encounter data to identify strong health system brands where patients will travel past other hospitals or long distances to frequent a specific hospital. 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center of the donut are zip codes within which patients have a higher probability of frequenting Hartford Hospital. These zip codes are ignored for this analysis.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Significant patient encounters outside of this center, as seen here, indicate that patients are willing to travel significant distances, passing other hospitals to go to Hartford Hospital.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This data might indicate that the HCAHPs brand data is a false indicator of brand weakness. </a:t>
            </a:r>
          </a:p>
        </p:txBody>
      </p:sp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709994" y="1350950"/>
            <a:ext cx="5961888" cy="476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4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0096" y="1275696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5,000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    1,100K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 2,300K+ Members</a:t>
            </a:r>
            <a:endParaRPr lang="en-US" dirty="0"/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r>
              <a:rPr lang="en-US" sz="2400" dirty="0">
                <a:solidFill>
                  <a:srgbClr val="000B2E"/>
                </a:solidFill>
              </a:rPr>
              <a:t>Researched for the State of Connecticut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956908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3,024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1,224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725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422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226,800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183,600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217,500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295,400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294,000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1,342,000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408,240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330,480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391,500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531,720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529,200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2,415,600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10" name="Content Placeholder 9"/>
          <p:cNvPicPr>
            <a:picLocks noGrp="1"/>
          </p:cNvPicPr>
          <p:nvPr>
            <p:ph/>
          </p:nvPr>
        </p:nvPicPr>
        <p:blipFill>
          <a:blip r:embed="rId2" cstate="print"/>
          <a:srcRect l="31603" t="34600" r="28498" b="32011"/>
          <a:stretch/>
        </p:blipFill>
        <p:spPr>
          <a:xfrm>
            <a:off x="0" y="2487726"/>
            <a:ext cx="4267200" cy="27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/>
              </a:rPr>
              <a:t>Estimates includes all of the State of Connecticut.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3,611K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2,162K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1,556K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1,071K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$40.69M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$8.53M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$327.7M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$69.81M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$739.32M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$157.2M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83613"/>
              </p:ext>
            </p:extLst>
          </p:nvPr>
        </p:nvGraphicFramePr>
        <p:xfrm>
          <a:off x="418056" y="764777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13,100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$ 12,498,665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$ 9,225,464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$ 4,308,213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$ 26,032,341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$ 2,599,722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$ 1,918,896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$ 896,108.3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$ 5,414,727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924731"/>
              </p:ext>
            </p:extLst>
          </p:nvPr>
        </p:nvGraphicFramePr>
        <p:xfrm>
          <a:off x="462503" y="4085951"/>
          <a:ext cx="69278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92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30492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$ 9,105,622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$ 157,200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$ 9,110,422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$ 9,082,822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80258"/>
              </p:ext>
            </p:extLst>
          </p:nvPr>
        </p:nvGraphicFramePr>
        <p:xfrm>
          <a:off x="418055" y="2234768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$ 22,082,047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$ 32,534,153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$ 15,193,173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$ 69,809,372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$ 4,593,066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$ 6,767,104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$ 3,160,180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$ 14,520,349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30% (inpatient) and 12%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20.8% (80% of the estimated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⁰ Assuming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53% inpatient and 43%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steerage based on KBA narrow network DTE experience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(see previous slide)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margin of 20.8%,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with a 10 percentage-point reduction to reflect competitive-edge rates and a 10 percentage-point increase to reflect lower billing costs and better patient-responsibility collections because of the plan patient card.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6286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Year 4 Projected Revenue and Profit</a:t>
            </a: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46119</TotalTime>
  <Words>881</Words>
  <Application>Microsoft Office PowerPoint</Application>
  <PresentationFormat>Widescreen</PresentationFormat>
  <Paragraphs>245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Market Leader in Private Labeled DTE Plans</vt:lpstr>
      <vt:lpstr>Direct-to-Employer Strategy: Only Available to Premier Health Systems</vt:lpstr>
      <vt:lpstr>Hartford HealthCare is Patient Recommended</vt:lpstr>
      <vt:lpstr>An Indicator of Brand Quality</vt:lpstr>
      <vt:lpstr>Significant Opportunity for Plan Growth Researched for the State of Connecticut</vt:lpstr>
      <vt:lpstr>Plan Potential Growth Paths</vt:lpstr>
      <vt:lpstr>Growing Powerful, Lasting Profitability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113</cp:revision>
  <cp:lastPrinted>2023-07-13T10:24:43Z</cp:lastPrinted>
  <dcterms:created xsi:type="dcterms:W3CDTF">2021-01-20T14:12:11Z</dcterms:created>
  <dcterms:modified xsi:type="dcterms:W3CDTF">2024-10-09T23:08:09Z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