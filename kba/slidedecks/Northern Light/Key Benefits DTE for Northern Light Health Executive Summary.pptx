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6"/>
  </p:notesMasterIdLst>
  <p:sldIdLst>
    <p:sldId id="554" r:id="rId5"/>
    <p:sldId id="549" r:id="rId6"/>
    <p:sldId id="555" r:id="rId7"/>
    <p:sldId id="520" r:id="rId8"/>
    <p:sldId id="517" r:id="rId9"/>
    <p:sldId id="521" r:id="rId10"/>
    <p:sldId id="267" r:id="rId11"/>
    <p:sldId id="558" r:id="rId12"/>
    <p:sldId id="499" r:id="rId13"/>
    <p:sldId id="454" r:id="rId14"/>
    <p:sldId id="472" r:id="rId15"/>
  </p:sldIdLst>
  <p:sldSz cx="12192000" cy="6858000"/>
  <p:notesSz cx="7315200" cy="96012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01A050"/>
    <a:srgbClr val="30589B"/>
    <a:srgbClr val="6A8C98"/>
    <a:srgbClr val="59CAE8"/>
    <a:srgbClr val="244F9A"/>
    <a:srgbClr val="254F96"/>
    <a:srgbClr val="61A606"/>
    <a:srgbClr val="019CA5"/>
    <a:srgbClr val="7D3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7/31/2024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hyperlink" Target="mailto:jack.hill@keybenefit.com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1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August 1,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Home - Northern Light Health">
            <a:extLst>
              <a:ext uri="{FF2B5EF4-FFF2-40B4-BE49-F238E27FC236}">
                <a16:creationId xmlns:a16="http://schemas.microsoft.com/office/drawing/2014/main" id="{53BE3E25-C4F6-C5B1-9767-4E116B8CB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525" y="793901"/>
            <a:ext cx="1493520" cy="83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large building with many windows&#10;&#10;Description automatically generated">
            <a:extLst>
              <a:ext uri="{FF2B5EF4-FFF2-40B4-BE49-F238E27FC236}">
                <a16:creationId xmlns:a16="http://schemas.microsoft.com/office/drawing/2014/main" id="{809CB034-B1EA-12F6-B0C3-B7DF8AD9C9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6" b="19002"/>
          <a:stretch/>
        </p:blipFill>
        <p:spPr>
          <a:xfrm>
            <a:off x="980336" y="1717404"/>
            <a:ext cx="11211664" cy="514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9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59" y="1292697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(DTE)</a:t>
            </a: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health plan focused on a direct relationship with self-funded employers in Your market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468132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308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3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4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pic>
        <p:nvPicPr>
          <p:cNvPr id="6" name="Picture 2" descr="Home - Northern Light Health">
            <a:extLst>
              <a:ext uri="{FF2B5EF4-FFF2-40B4-BE49-F238E27FC236}">
                <a16:creationId xmlns:a16="http://schemas.microsoft.com/office/drawing/2014/main" id="{8BE44744-89BE-E09C-17FE-5FECC7BD2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36524"/>
            <a:ext cx="1939833" cy="10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02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D2E8DAF-1D68-E498-59FF-722789499308}"/>
              </a:ext>
            </a:extLst>
          </p:cNvPr>
          <p:cNvSpPr/>
          <p:nvPr/>
        </p:nvSpPr>
        <p:spPr>
          <a:xfrm>
            <a:off x="1666276" y="2989943"/>
            <a:ext cx="8418286" cy="2191657"/>
          </a:xfrm>
          <a:custGeom>
            <a:avLst/>
            <a:gdLst>
              <a:gd name="connsiteX0" fmla="*/ 8157028 w 8418286"/>
              <a:gd name="connsiteY0" fmla="*/ 2191657 h 2191657"/>
              <a:gd name="connsiteX1" fmla="*/ 0 w 8418286"/>
              <a:gd name="connsiteY1" fmla="*/ 0 h 2191657"/>
              <a:gd name="connsiteX2" fmla="*/ 1088571 w 8418286"/>
              <a:gd name="connsiteY2" fmla="*/ 14515 h 2191657"/>
              <a:gd name="connsiteX3" fmla="*/ 8418286 w 8418286"/>
              <a:gd name="connsiteY3" fmla="*/ 2177143 h 2191657"/>
              <a:gd name="connsiteX4" fmla="*/ 8157028 w 8418286"/>
              <a:gd name="connsiteY4" fmla="*/ 2191657 h 219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8286" h="2191657">
                <a:moveTo>
                  <a:pt x="8157028" y="2191657"/>
                </a:moveTo>
                <a:lnTo>
                  <a:pt x="0" y="0"/>
                </a:lnTo>
                <a:lnTo>
                  <a:pt x="1088571" y="14515"/>
                </a:lnTo>
                <a:lnTo>
                  <a:pt x="8418286" y="2177143"/>
                </a:lnTo>
                <a:lnTo>
                  <a:pt x="8157028" y="21916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6AC806E-BA4D-AF7F-5FBB-58FA9ECC5E79}"/>
              </a:ext>
            </a:extLst>
          </p:cNvPr>
          <p:cNvSpPr/>
          <p:nvPr/>
        </p:nvSpPr>
        <p:spPr>
          <a:xfrm>
            <a:off x="1680790" y="3004458"/>
            <a:ext cx="5544457" cy="2206171"/>
          </a:xfrm>
          <a:custGeom>
            <a:avLst/>
            <a:gdLst>
              <a:gd name="connsiteX0" fmla="*/ 5370286 w 5544457"/>
              <a:gd name="connsiteY0" fmla="*/ 2206171 h 2206171"/>
              <a:gd name="connsiteX1" fmla="*/ 0 w 5544457"/>
              <a:gd name="connsiteY1" fmla="*/ 0 h 2206171"/>
              <a:gd name="connsiteX2" fmla="*/ 1117600 w 5544457"/>
              <a:gd name="connsiteY2" fmla="*/ 0 h 2206171"/>
              <a:gd name="connsiteX3" fmla="*/ 5544457 w 5544457"/>
              <a:gd name="connsiteY3" fmla="*/ 2177142 h 2206171"/>
              <a:gd name="connsiteX4" fmla="*/ 5370286 w 5544457"/>
              <a:gd name="connsiteY4" fmla="*/ 2206171 h 220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4457" h="2206171">
                <a:moveTo>
                  <a:pt x="5370286" y="2206171"/>
                </a:moveTo>
                <a:lnTo>
                  <a:pt x="0" y="0"/>
                </a:lnTo>
                <a:lnTo>
                  <a:pt x="1117600" y="0"/>
                </a:lnTo>
                <a:lnTo>
                  <a:pt x="5544457" y="2177142"/>
                </a:lnTo>
                <a:lnTo>
                  <a:pt x="5370286" y="22061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3FC6F23-9DB4-CE0C-FCDC-AE4293BB605A}"/>
              </a:ext>
            </a:extLst>
          </p:cNvPr>
          <p:cNvSpPr/>
          <p:nvPr/>
        </p:nvSpPr>
        <p:spPr>
          <a:xfrm>
            <a:off x="1666276" y="2989943"/>
            <a:ext cx="2859314" cy="2220686"/>
          </a:xfrm>
          <a:custGeom>
            <a:avLst/>
            <a:gdLst>
              <a:gd name="connsiteX0" fmla="*/ 2627086 w 2859314"/>
              <a:gd name="connsiteY0" fmla="*/ 2133600 h 2220686"/>
              <a:gd name="connsiteX1" fmla="*/ 0 w 2859314"/>
              <a:gd name="connsiteY1" fmla="*/ 0 h 2220686"/>
              <a:gd name="connsiteX2" fmla="*/ 1103086 w 2859314"/>
              <a:gd name="connsiteY2" fmla="*/ 0 h 2220686"/>
              <a:gd name="connsiteX3" fmla="*/ 2859314 w 2859314"/>
              <a:gd name="connsiteY3" fmla="*/ 2220686 h 2220686"/>
              <a:gd name="connsiteX4" fmla="*/ 2627086 w 2859314"/>
              <a:gd name="connsiteY4" fmla="*/ 2133600 h 222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9314" h="2220686">
                <a:moveTo>
                  <a:pt x="2627086" y="2133600"/>
                </a:moveTo>
                <a:lnTo>
                  <a:pt x="0" y="0"/>
                </a:lnTo>
                <a:lnTo>
                  <a:pt x="1103086" y="0"/>
                </a:lnTo>
                <a:lnTo>
                  <a:pt x="2859314" y="2220686"/>
                </a:lnTo>
                <a:lnTo>
                  <a:pt x="2627086" y="21336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53759E-194C-3BE9-0812-4BDD6E106166}"/>
              </a:ext>
            </a:extLst>
          </p:cNvPr>
          <p:cNvSpPr/>
          <p:nvPr/>
        </p:nvSpPr>
        <p:spPr>
          <a:xfrm>
            <a:off x="679304" y="3265715"/>
            <a:ext cx="2365829" cy="1959428"/>
          </a:xfrm>
          <a:custGeom>
            <a:avLst/>
            <a:gdLst>
              <a:gd name="connsiteX0" fmla="*/ 696686 w 2365829"/>
              <a:gd name="connsiteY0" fmla="*/ 1959428 h 1959428"/>
              <a:gd name="connsiteX1" fmla="*/ 0 w 2365829"/>
              <a:gd name="connsiteY1" fmla="*/ 0 h 1959428"/>
              <a:gd name="connsiteX2" fmla="*/ 2365829 w 2365829"/>
              <a:gd name="connsiteY2" fmla="*/ 0 h 1959428"/>
              <a:gd name="connsiteX3" fmla="*/ 1596572 w 2365829"/>
              <a:gd name="connsiteY3" fmla="*/ 1930400 h 1959428"/>
              <a:gd name="connsiteX4" fmla="*/ 696686 w 2365829"/>
              <a:gd name="connsiteY4" fmla="*/ 1959428 h 195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5829" h="1959428">
                <a:moveTo>
                  <a:pt x="696686" y="1959428"/>
                </a:moveTo>
                <a:lnTo>
                  <a:pt x="0" y="0"/>
                </a:lnTo>
                <a:lnTo>
                  <a:pt x="2365829" y="0"/>
                </a:lnTo>
                <a:lnTo>
                  <a:pt x="1596572" y="1930400"/>
                </a:lnTo>
                <a:lnTo>
                  <a:pt x="696686" y="1959428"/>
                </a:lnTo>
                <a:close/>
              </a:path>
            </a:pathLst>
          </a:custGeom>
          <a:solidFill>
            <a:srgbClr val="01A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D335AB1-AB15-7067-B3BD-167BDAD9B16A}"/>
              </a:ext>
            </a:extLst>
          </p:cNvPr>
          <p:cNvSpPr/>
          <p:nvPr/>
        </p:nvSpPr>
        <p:spPr>
          <a:xfrm>
            <a:off x="609598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1A050"/>
                </a:solidFill>
              </a:rPr>
              <a:t>Northern Light Health Plan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5F2996B7-8D0A-1EEE-8045-797310EFC387}"/>
              </a:ext>
            </a:extLst>
          </p:cNvPr>
          <p:cNvSpPr/>
          <p:nvPr/>
        </p:nvSpPr>
        <p:spPr>
          <a:xfrm>
            <a:off x="6449794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Carrier #2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420D1CFD-2433-B308-F247-7CAA7C100A3E}"/>
              </a:ext>
            </a:extLst>
          </p:cNvPr>
          <p:cNvSpPr/>
          <p:nvPr/>
        </p:nvSpPr>
        <p:spPr>
          <a:xfrm>
            <a:off x="9369892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Carrier #3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085909-3DBA-1031-1C78-985B4CD8D4FC}"/>
              </a:ext>
            </a:extLst>
          </p:cNvPr>
          <p:cNvSpPr/>
          <p:nvPr/>
        </p:nvSpPr>
        <p:spPr>
          <a:xfrm>
            <a:off x="4612676" y="2772229"/>
            <a:ext cx="1291771" cy="2409371"/>
          </a:xfrm>
          <a:custGeom>
            <a:avLst/>
            <a:gdLst>
              <a:gd name="connsiteX0" fmla="*/ 0 w 1291771"/>
              <a:gd name="connsiteY0" fmla="*/ 2409371 h 2409371"/>
              <a:gd name="connsiteX1" fmla="*/ 391886 w 1291771"/>
              <a:gd name="connsiteY1" fmla="*/ 14514 h 2409371"/>
              <a:gd name="connsiteX2" fmla="*/ 1291771 w 1291771"/>
              <a:gd name="connsiteY2" fmla="*/ 0 h 2409371"/>
              <a:gd name="connsiteX3" fmla="*/ 246743 w 1291771"/>
              <a:gd name="connsiteY3" fmla="*/ 2380343 h 2409371"/>
              <a:gd name="connsiteX4" fmla="*/ 0 w 1291771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1771" h="2409371">
                <a:moveTo>
                  <a:pt x="0" y="2409371"/>
                </a:moveTo>
                <a:lnTo>
                  <a:pt x="391886" y="14514"/>
                </a:lnTo>
                <a:lnTo>
                  <a:pt x="1291771" y="0"/>
                </a:lnTo>
                <a:lnTo>
                  <a:pt x="246743" y="2380343"/>
                </a:lnTo>
                <a:lnTo>
                  <a:pt x="0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75CE525B-6A36-CBFD-DAEC-08C2DCCA890E}"/>
              </a:ext>
            </a:extLst>
          </p:cNvPr>
          <p:cNvSpPr/>
          <p:nvPr/>
        </p:nvSpPr>
        <p:spPr>
          <a:xfrm>
            <a:off x="3529696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Carrier #1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DD61BC-D896-8689-4F94-1C5E1AD8A77C}"/>
              </a:ext>
            </a:extLst>
          </p:cNvPr>
          <p:cNvSpPr/>
          <p:nvPr/>
        </p:nvSpPr>
        <p:spPr>
          <a:xfrm>
            <a:off x="5120676" y="2685143"/>
            <a:ext cx="4702628" cy="2496457"/>
          </a:xfrm>
          <a:custGeom>
            <a:avLst/>
            <a:gdLst>
              <a:gd name="connsiteX0" fmla="*/ 0 w 4702628"/>
              <a:gd name="connsiteY0" fmla="*/ 2496457 h 2496457"/>
              <a:gd name="connsiteX1" fmla="*/ 4209143 w 4702628"/>
              <a:gd name="connsiteY1" fmla="*/ 0 h 2496457"/>
              <a:gd name="connsiteX2" fmla="*/ 4702628 w 4702628"/>
              <a:gd name="connsiteY2" fmla="*/ 14515 h 2496457"/>
              <a:gd name="connsiteX3" fmla="*/ 0 w 4702628"/>
              <a:gd name="connsiteY3" fmla="*/ 2496457 h 249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2628" h="2496457">
                <a:moveTo>
                  <a:pt x="0" y="2496457"/>
                </a:moveTo>
                <a:lnTo>
                  <a:pt x="4209143" y="0"/>
                </a:lnTo>
                <a:lnTo>
                  <a:pt x="4702628" y="14515"/>
                </a:lnTo>
                <a:lnTo>
                  <a:pt x="0" y="24964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58DA010-867A-9491-969D-99ECC30A6783}"/>
              </a:ext>
            </a:extLst>
          </p:cNvPr>
          <p:cNvSpPr/>
          <p:nvPr/>
        </p:nvSpPr>
        <p:spPr>
          <a:xfrm>
            <a:off x="4990047" y="2772229"/>
            <a:ext cx="2641600" cy="2423886"/>
          </a:xfrm>
          <a:custGeom>
            <a:avLst/>
            <a:gdLst>
              <a:gd name="connsiteX0" fmla="*/ 2481943 w 2641600"/>
              <a:gd name="connsiteY0" fmla="*/ 2423886 h 2423886"/>
              <a:gd name="connsiteX1" fmla="*/ 0 w 2641600"/>
              <a:gd name="connsiteY1" fmla="*/ 29029 h 2423886"/>
              <a:gd name="connsiteX2" fmla="*/ 914400 w 2641600"/>
              <a:gd name="connsiteY2" fmla="*/ 0 h 2423886"/>
              <a:gd name="connsiteX3" fmla="*/ 2641600 w 2641600"/>
              <a:gd name="connsiteY3" fmla="*/ 2409371 h 2423886"/>
              <a:gd name="connsiteX4" fmla="*/ 2481943 w 2641600"/>
              <a:gd name="connsiteY4" fmla="*/ 2423886 h 242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1600" h="2423886">
                <a:moveTo>
                  <a:pt x="2481943" y="2423886"/>
                </a:moveTo>
                <a:lnTo>
                  <a:pt x="0" y="29029"/>
                </a:lnTo>
                <a:lnTo>
                  <a:pt x="914400" y="0"/>
                </a:lnTo>
                <a:lnTo>
                  <a:pt x="2641600" y="2409371"/>
                </a:lnTo>
                <a:lnTo>
                  <a:pt x="2481943" y="24238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277868-FEA1-C248-ED39-1002FE8ADFE4}"/>
              </a:ext>
            </a:extLst>
          </p:cNvPr>
          <p:cNvSpPr/>
          <p:nvPr/>
        </p:nvSpPr>
        <p:spPr>
          <a:xfrm>
            <a:off x="7907419" y="2670629"/>
            <a:ext cx="1901371" cy="2525486"/>
          </a:xfrm>
          <a:custGeom>
            <a:avLst/>
            <a:gdLst>
              <a:gd name="connsiteX0" fmla="*/ 0 w 1901371"/>
              <a:gd name="connsiteY0" fmla="*/ 2510971 h 2525486"/>
              <a:gd name="connsiteX1" fmla="*/ 1422400 w 1901371"/>
              <a:gd name="connsiteY1" fmla="*/ 14514 h 2525486"/>
              <a:gd name="connsiteX2" fmla="*/ 1901371 w 1901371"/>
              <a:gd name="connsiteY2" fmla="*/ 0 h 2525486"/>
              <a:gd name="connsiteX3" fmla="*/ 87085 w 1901371"/>
              <a:gd name="connsiteY3" fmla="*/ 2510971 h 2525486"/>
              <a:gd name="connsiteX4" fmla="*/ 58057 w 1901371"/>
              <a:gd name="connsiteY4" fmla="*/ 2481943 h 2525486"/>
              <a:gd name="connsiteX5" fmla="*/ 72571 w 1901371"/>
              <a:gd name="connsiteY5" fmla="*/ 2481943 h 2525486"/>
              <a:gd name="connsiteX6" fmla="*/ 58057 w 1901371"/>
              <a:gd name="connsiteY6" fmla="*/ 2525486 h 2525486"/>
              <a:gd name="connsiteX7" fmla="*/ 0 w 1901371"/>
              <a:gd name="connsiteY7" fmla="*/ 2510971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1371" h="2525486">
                <a:moveTo>
                  <a:pt x="0" y="2510971"/>
                </a:moveTo>
                <a:lnTo>
                  <a:pt x="1422400" y="14514"/>
                </a:lnTo>
                <a:lnTo>
                  <a:pt x="1901371" y="0"/>
                </a:lnTo>
                <a:lnTo>
                  <a:pt x="87085" y="2510971"/>
                </a:lnTo>
                <a:lnTo>
                  <a:pt x="58057" y="2481943"/>
                </a:lnTo>
                <a:lnTo>
                  <a:pt x="72571" y="2481943"/>
                </a:lnTo>
                <a:lnTo>
                  <a:pt x="58057" y="2525486"/>
                </a:lnTo>
                <a:lnTo>
                  <a:pt x="0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44170D-73AC-E85A-8695-7AC58167EAA4}"/>
              </a:ext>
            </a:extLst>
          </p:cNvPr>
          <p:cNvSpPr/>
          <p:nvPr/>
        </p:nvSpPr>
        <p:spPr>
          <a:xfrm>
            <a:off x="4990047" y="2772229"/>
            <a:ext cx="5631543" cy="2409371"/>
          </a:xfrm>
          <a:custGeom>
            <a:avLst/>
            <a:gdLst>
              <a:gd name="connsiteX0" fmla="*/ 5413829 w 5631543"/>
              <a:gd name="connsiteY0" fmla="*/ 2409371 h 2409371"/>
              <a:gd name="connsiteX1" fmla="*/ 0 w 5631543"/>
              <a:gd name="connsiteY1" fmla="*/ 14514 h 2409371"/>
              <a:gd name="connsiteX2" fmla="*/ 957943 w 5631543"/>
              <a:gd name="connsiteY2" fmla="*/ 0 h 2409371"/>
              <a:gd name="connsiteX3" fmla="*/ 5631543 w 5631543"/>
              <a:gd name="connsiteY3" fmla="*/ 2380343 h 2409371"/>
              <a:gd name="connsiteX4" fmla="*/ 5413829 w 5631543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1543" h="2409371">
                <a:moveTo>
                  <a:pt x="5413829" y="2409371"/>
                </a:moveTo>
                <a:lnTo>
                  <a:pt x="0" y="14514"/>
                </a:lnTo>
                <a:lnTo>
                  <a:pt x="957943" y="0"/>
                </a:lnTo>
                <a:lnTo>
                  <a:pt x="5631543" y="2380343"/>
                </a:lnTo>
                <a:lnTo>
                  <a:pt x="5413829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29D0B6-560E-A26C-A57F-320C6F7E2095}"/>
              </a:ext>
            </a:extLst>
          </p:cNvPr>
          <p:cNvSpPr/>
          <p:nvPr/>
        </p:nvSpPr>
        <p:spPr>
          <a:xfrm>
            <a:off x="9286276" y="2699658"/>
            <a:ext cx="1698171" cy="2510971"/>
          </a:xfrm>
          <a:custGeom>
            <a:avLst/>
            <a:gdLst>
              <a:gd name="connsiteX0" fmla="*/ 1698171 w 1698171"/>
              <a:gd name="connsiteY0" fmla="*/ 2510971 h 2510971"/>
              <a:gd name="connsiteX1" fmla="*/ 0 w 1698171"/>
              <a:gd name="connsiteY1" fmla="*/ 43542 h 2510971"/>
              <a:gd name="connsiteX2" fmla="*/ 537028 w 1698171"/>
              <a:gd name="connsiteY2" fmla="*/ 0 h 2510971"/>
              <a:gd name="connsiteX3" fmla="*/ 1698171 w 1698171"/>
              <a:gd name="connsiteY3" fmla="*/ 2510971 h 251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8171" h="2510971">
                <a:moveTo>
                  <a:pt x="1698171" y="2510971"/>
                </a:moveTo>
                <a:lnTo>
                  <a:pt x="0" y="43542"/>
                </a:lnTo>
                <a:lnTo>
                  <a:pt x="537028" y="0"/>
                </a:lnTo>
                <a:lnTo>
                  <a:pt x="1698171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DEEC9E-0778-EDDC-EEB1-1D8F9A97B0BD}"/>
              </a:ext>
            </a:extLst>
          </p:cNvPr>
          <p:cNvSpPr/>
          <p:nvPr/>
        </p:nvSpPr>
        <p:spPr>
          <a:xfrm>
            <a:off x="461590" y="1625600"/>
            <a:ext cx="12194867" cy="1640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01D9EC-3751-78C1-9D95-70AEB636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74" y="23483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Capture of </a:t>
            </a:r>
            <a:r>
              <a:rPr lang="en-US" sz="36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 Share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Home - Northern Light Health">
            <a:extLst>
              <a:ext uri="{FF2B5EF4-FFF2-40B4-BE49-F238E27FC236}">
                <a16:creationId xmlns:a16="http://schemas.microsoft.com/office/drawing/2014/main" id="{DB3E55E2-C3DA-B3D6-DB60-93C570B5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04" y="1479775"/>
            <a:ext cx="2481203" cy="1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ineHealth to roll out new logo, new look and new names across hospitals |  Mainebiz.biz">
            <a:extLst>
              <a:ext uri="{FF2B5EF4-FFF2-40B4-BE49-F238E27FC236}">
                <a16:creationId xmlns:a16="http://schemas.microsoft.com/office/drawing/2014/main" id="{7EDC7ADD-3E7C-4BC7-04AB-C3E9204EE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281" y="2027918"/>
            <a:ext cx="4206276" cy="58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entral Maine Healthcare | Where You are the Center">
            <a:extLst>
              <a:ext uri="{FF2B5EF4-FFF2-40B4-BE49-F238E27FC236}">
                <a16:creationId xmlns:a16="http://schemas.microsoft.com/office/drawing/2014/main" id="{6282EB37-1C9F-88C6-EBFA-147EB3B07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191" y="1879540"/>
            <a:ext cx="3351613" cy="104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26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951 Employers       140,000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230,000+ Members</a:t>
            </a: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/>
        </p:nvGraphicFramePr>
        <p:xfrm>
          <a:off x="4889297" y="2140949"/>
          <a:ext cx="6949427" cy="4273027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16138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736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Employees at Above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25,050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63,195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9985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12,225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9,791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52134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at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42,585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44,370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53,550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69,020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107,432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13,770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18,870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21,420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4227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NLH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20,783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19,125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20,230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9,180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2753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</a:rPr>
              <a:t>Mapping Opportunity for Northern Light Health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9B0B2-9074-A0D9-39BC-7649137763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/>
          <a:stretch/>
        </p:blipFill>
        <p:spPr>
          <a:xfrm>
            <a:off x="-1" y="2330309"/>
            <a:ext cx="4333487" cy="374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8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2" descr="Home - Northern Light Health">
            <a:extLst>
              <a:ext uri="{FF2B5EF4-FFF2-40B4-BE49-F238E27FC236}">
                <a16:creationId xmlns:a16="http://schemas.microsoft.com/office/drawing/2014/main" id="{12D96072-237A-BF6B-D8FE-D09BB713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08" y="2394733"/>
            <a:ext cx="3340227" cy="187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A072E6-5B59-F58D-E1D5-FBB1C6050929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64B861-2919-13B0-DF11-6C92DA49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DTE Network Concern: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Northern Light Health Brand Quality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Home - Northern Light Health">
            <a:extLst>
              <a:ext uri="{FF2B5EF4-FFF2-40B4-BE49-F238E27FC236}">
                <a16:creationId xmlns:a16="http://schemas.microsoft.com/office/drawing/2014/main" id="{1B61CA49-7B57-CDA5-C5DA-8E35DA0A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542" y="3846098"/>
            <a:ext cx="2481203" cy="1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aineHealth to roll out new logo, new look and new names across hospitals |  Mainebiz.biz">
            <a:extLst>
              <a:ext uri="{FF2B5EF4-FFF2-40B4-BE49-F238E27FC236}">
                <a16:creationId xmlns:a16="http://schemas.microsoft.com/office/drawing/2014/main" id="{9C5FF57D-43F2-D916-9B88-F4C27F82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562" y="2347925"/>
            <a:ext cx="3047311" cy="4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321162-CB91-DEDA-2A21-0396A8DE825D}"/>
              </a:ext>
            </a:extLst>
          </p:cNvPr>
          <p:cNvGraphicFramePr>
            <a:graphicFrameLocks noGrp="1"/>
          </p:cNvGraphicFramePr>
          <p:nvPr/>
        </p:nvGraphicFramePr>
        <p:xfrm>
          <a:off x="5131837" y="1553360"/>
          <a:ext cx="6888713" cy="3892732"/>
        </p:xfrm>
        <a:graphic>
          <a:graphicData uri="http://schemas.openxmlformats.org/drawingml/2006/table">
            <a:tbl>
              <a:tblPr/>
              <a:tblGrid>
                <a:gridCol w="2202413">
                  <a:extLst>
                    <a:ext uri="{9D8B030D-6E8A-4147-A177-3AD203B41FA5}">
                      <a16:colId xmlns:a16="http://schemas.microsoft.com/office/drawing/2014/main" val="809547676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768973917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102674167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544317166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752025312"/>
                    </a:ext>
                  </a:extLst>
                </a:gridCol>
                <a:gridCol w="691185">
                  <a:extLst>
                    <a:ext uri="{9D8B030D-6E8A-4147-A177-3AD203B41FA5}">
                      <a16:colId xmlns:a16="http://schemas.microsoft.com/office/drawing/2014/main" val="3107972412"/>
                    </a:ext>
                  </a:extLst>
                </a:gridCol>
                <a:gridCol w="661365">
                  <a:extLst>
                    <a:ext uri="{9D8B030D-6E8A-4147-A177-3AD203B41FA5}">
                      <a16:colId xmlns:a16="http://schemas.microsoft.com/office/drawing/2014/main" val="2136406308"/>
                    </a:ext>
                  </a:extLst>
                </a:gridCol>
              </a:tblGrid>
              <a:tr h="4890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 System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Recommendation Percentile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CMS Stars Percentile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Mortality Percentile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Readmission Percentile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KBA Brand Quality Rating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850968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Lincolnhealth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286B8A"/>
                          </a:highlight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6B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367490"/>
                          </a:highlight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74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774695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Mercy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26888"/>
                          </a:highlight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68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2859C"/>
                          </a:highlight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B8099"/>
                          </a:highlight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80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1B6384"/>
                          </a:highlight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86771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Stephens Memorial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F708D"/>
                          </a:highlight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70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37C96"/>
                          </a:highlight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7C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06685"/>
                          </a:highlight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66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072111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 Medical Center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67E97"/>
                          </a:highlight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7E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367490"/>
                          </a:highlight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674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26888"/>
                          </a:highlight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68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39728D"/>
                          </a:highlight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72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249912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Inland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C8199"/>
                          </a:highlight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81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9AFB9"/>
                          </a:highlight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F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791A4"/>
                          </a:highlight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91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3859C"/>
                          </a:highlight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3788F"/>
                          </a:highlight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78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223840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Memorial Hospital, The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792A5"/>
                          </a:highlight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9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38FA3"/>
                          </a:highlight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27F94"/>
                          </a:highlight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7F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481307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Waldo County General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  <a:endParaRPr lang="en-US" sz="1000" b="0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2344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E96A8"/>
                          </a:highlight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E96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47C96"/>
                          </a:highlight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C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78295"/>
                          </a:highlight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782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22522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Franklin Memorial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2A1B0"/>
                          </a:highlight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A1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58889E"/>
                          </a:highlight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888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B8A9F"/>
                          </a:highlight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8A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78A99"/>
                          </a:highlight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8A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092250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Penobscot Bay Medical Center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7C9EAD"/>
                          </a:highlight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9E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E839A"/>
                          </a:highlight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83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791A5"/>
                          </a:highlight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91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78A99"/>
                          </a:highlight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8A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58507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Mid Coast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82A1B0"/>
                          </a:highlight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A1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0849B"/>
                          </a:highlight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084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4E829A"/>
                          </a:highlight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82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C8C9B"/>
                          </a:highlight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8C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216602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AR Gould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5ADB8"/>
                          </a:highlight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AD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6879D"/>
                          </a:highlight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687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5B8A9F"/>
                          </a:highlight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8A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7B949F"/>
                          </a:highlight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94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529339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Blue Hill Memorial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5ADB8"/>
                          </a:highlight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AD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2B6D8B"/>
                          </a:highlight>
                          <a:latin typeface="Aptos Narrow" panose="020B0004020202020204" pitchFamily="34" charset="0"/>
                        </a:rPr>
                        <a:t>89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6D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94A1A6"/>
                          </a:highlight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A1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148716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Eastern Maine Medical Center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A0B4BC"/>
                          </a:highlight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B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33728F"/>
                          </a:highlight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2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3F7994"/>
                          </a:highlight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799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76B8A"/>
                          </a:highlight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6B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4A1A6"/>
                          </a:highlight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A1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373290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Mayo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AABAC1"/>
                          </a:highlight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BA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9AFB9"/>
                          </a:highlight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F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490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90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94A1A6"/>
                          </a:highlight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A1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18996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Sebasticook Valley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A0B4BC"/>
                          </a:highlight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B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77E97"/>
                          </a:highlight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7E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99A3A8"/>
                          </a:highlight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3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415000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Maine Coast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BBC4C8"/>
                          </a:highlight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C4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48FA3"/>
                          </a:highlight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8F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628EA2"/>
                          </a:highlight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28E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608DA2"/>
                          </a:highlight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8D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A3A8AB"/>
                          </a:highlight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A8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6380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Southern Maine Health Care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23440"/>
                          </a:highlight>
                          <a:latin typeface="Aptos Narrow" panose="020B0004020202020204" pitchFamily="34" charset="0"/>
                        </a:rPr>
                        <a:t>Mainehealth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34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B8C2C6"/>
                          </a:highlight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8C2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99AFB9"/>
                          </a:highlight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F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5C8BA0"/>
                          </a:highlight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C8B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226888"/>
                          </a:highlight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68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ADADAD"/>
                          </a:highlight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53379"/>
                  </a:ext>
                </a:extLst>
              </a:tr>
              <a:tr h="181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CA Dean Hospital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259AA2"/>
                          </a:highlight>
                          <a:latin typeface="Aptos Narrow" panose="020B0004020202020204" pitchFamily="34" charset="0"/>
                        </a:rPr>
                        <a:t>Northern Light Health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8152" marR="8152" marT="815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91558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9AC6A65-9627-A5F8-EB1A-58EC39D247BD}"/>
              </a:ext>
            </a:extLst>
          </p:cNvPr>
          <p:cNvSpPr/>
          <p:nvPr/>
        </p:nvSpPr>
        <p:spPr>
          <a:xfrm>
            <a:off x="2628900" y="6058201"/>
            <a:ext cx="8562975" cy="657225"/>
          </a:xfrm>
          <a:prstGeom prst="rect">
            <a:avLst/>
          </a:prstGeom>
          <a:ln>
            <a:solidFill>
              <a:srgbClr val="4468A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KBA heavily weights the HCAHPS recommendation rate in our brand quality rating as it comes from patients. </a:t>
            </a:r>
          </a:p>
          <a:p>
            <a:pPr algn="ctr"/>
            <a:r>
              <a:rPr lang="en-US" sz="1400" dirty="0"/>
              <a:t>Northern Light low HCAHPS recommendation rates are concerning for the establishment of a DTE network</a:t>
            </a:r>
          </a:p>
        </p:txBody>
      </p:sp>
    </p:spTree>
    <p:extLst>
      <p:ext uri="{BB962C8B-B14F-4D97-AF65-F5344CB8AC3E}">
        <p14:creationId xmlns:p14="http://schemas.microsoft.com/office/powerpoint/2010/main" val="249435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1F948BD-D9F3-0E7A-A778-3B130A8365CE}"/>
              </a:ext>
            </a:extLst>
          </p:cNvPr>
          <p:cNvSpPr/>
          <p:nvPr/>
        </p:nvSpPr>
        <p:spPr>
          <a:xfrm>
            <a:off x="7554897" y="3022723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20CCE-F739-8633-848E-AA734997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028" y="365125"/>
            <a:ext cx="10458459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Estimated Financial Returns and Assumptions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7C855-B839-95B6-9EA2-09392396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490145"/>
            <a:ext cx="4114800" cy="250380"/>
          </a:xfrm>
        </p:spPr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7619F-9C66-420C-88E0-81D9A3B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49014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A48ACE-D370-6BA3-A39B-CF7D87E5C9A5}"/>
              </a:ext>
            </a:extLst>
          </p:cNvPr>
          <p:cNvSpPr/>
          <p:nvPr/>
        </p:nvSpPr>
        <p:spPr>
          <a:xfrm>
            <a:off x="7466120" y="1769985"/>
            <a:ext cx="4725880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86F57-8E81-E6DF-1A01-623E3BB7AB0B}"/>
              </a:ext>
            </a:extLst>
          </p:cNvPr>
          <p:cNvSpPr/>
          <p:nvPr/>
        </p:nvSpPr>
        <p:spPr>
          <a:xfrm>
            <a:off x="7168718" y="1769985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28AB6-CD3A-4CD3-8950-2942DDBEAC0D}"/>
              </a:ext>
            </a:extLst>
          </p:cNvPr>
          <p:cNvSpPr txBox="1"/>
          <p:nvPr/>
        </p:nvSpPr>
        <p:spPr>
          <a:xfrm>
            <a:off x="8019782" y="1862893"/>
            <a:ext cx="361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Steerage Assumptions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E6BF-C458-13D4-626E-DAD4C1439055}"/>
              </a:ext>
            </a:extLst>
          </p:cNvPr>
          <p:cNvSpPr txBox="1"/>
          <p:nvPr/>
        </p:nvSpPr>
        <p:spPr>
          <a:xfrm>
            <a:off x="7466120" y="2445642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KBA currently estimates that Northern Light Health has 32% inpatient market share and 21% outpatient market compared to hospitals/clinics within 20 miles of a NLH hospital. Based on other DTE networks, we expect steerage to be: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940AC-5161-4A7C-F820-720723177F99}"/>
              </a:ext>
            </a:extLst>
          </p:cNvPr>
          <p:cNvSpPr txBox="1"/>
          <p:nvPr/>
        </p:nvSpPr>
        <p:spPr>
          <a:xfrm>
            <a:off x="7664486" y="2975309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10C26-8A4C-C6CF-D8A6-005227E091A5}"/>
              </a:ext>
            </a:extLst>
          </p:cNvPr>
          <p:cNvSpPr txBox="1"/>
          <p:nvPr/>
        </p:nvSpPr>
        <p:spPr>
          <a:xfrm>
            <a:off x="9529856" y="2975309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F3B85-69EC-8FED-A956-FFB8BE6FE5D7}"/>
              </a:ext>
            </a:extLst>
          </p:cNvPr>
          <p:cNvSpPr txBox="1"/>
          <p:nvPr/>
        </p:nvSpPr>
        <p:spPr>
          <a:xfrm>
            <a:off x="11393879" y="2975309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EE2C1-9161-C3CD-EE7F-6727C796DF0D}"/>
              </a:ext>
            </a:extLst>
          </p:cNvPr>
          <p:cNvSpPr txBox="1"/>
          <p:nvPr/>
        </p:nvSpPr>
        <p:spPr>
          <a:xfrm>
            <a:off x="7690309" y="323725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51BEE-0560-3D56-4AE8-86D704578774}"/>
              </a:ext>
            </a:extLst>
          </p:cNvPr>
          <p:cNvSpPr txBox="1"/>
          <p:nvPr/>
        </p:nvSpPr>
        <p:spPr>
          <a:xfrm>
            <a:off x="9537152" y="3246134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77.4%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D3C89-20DF-71B2-E5D8-1DA9D1F926E7}"/>
              </a:ext>
            </a:extLst>
          </p:cNvPr>
          <p:cNvSpPr txBox="1"/>
          <p:nvPr/>
        </p:nvSpPr>
        <p:spPr>
          <a:xfrm>
            <a:off x="11346430" y="3246134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0CA171-241C-9006-DA4D-7174E70B2EF3}"/>
              </a:ext>
            </a:extLst>
          </p:cNvPr>
          <p:cNvSpPr/>
          <p:nvPr/>
        </p:nvSpPr>
        <p:spPr>
          <a:xfrm>
            <a:off x="7597806" y="5348162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8E1912-BAE3-A76F-55A7-754D206BC471}"/>
              </a:ext>
            </a:extLst>
          </p:cNvPr>
          <p:cNvSpPr/>
          <p:nvPr/>
        </p:nvSpPr>
        <p:spPr>
          <a:xfrm>
            <a:off x="7509029" y="4095424"/>
            <a:ext cx="4682971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B9ED21-8D89-315C-4C9C-403AA9B2666A}"/>
              </a:ext>
            </a:extLst>
          </p:cNvPr>
          <p:cNvSpPr/>
          <p:nvPr/>
        </p:nvSpPr>
        <p:spPr>
          <a:xfrm>
            <a:off x="7211627" y="4095424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E697A-C380-A6EE-50AE-8B3DED34929F}"/>
              </a:ext>
            </a:extLst>
          </p:cNvPr>
          <p:cNvSpPr txBox="1"/>
          <p:nvPr/>
        </p:nvSpPr>
        <p:spPr>
          <a:xfrm>
            <a:off x="8062691" y="4188332"/>
            <a:ext cx="393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Margin Assumptions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C9D62D-25B0-6CD9-8AD7-E6855B1B1B26}"/>
              </a:ext>
            </a:extLst>
          </p:cNvPr>
          <p:cNvSpPr txBox="1"/>
          <p:nvPr/>
        </p:nvSpPr>
        <p:spPr>
          <a:xfrm>
            <a:off x="7509029" y="4771081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KBA observes a NLH 32% commercial margin. Conservatively, we model the DTE to be 5% below commercial (10 percentage-point price reduction with a 5 percentage-point price increase from easier billing):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6920ED-352E-9285-CC83-BDA6AB18978D}"/>
              </a:ext>
            </a:extLst>
          </p:cNvPr>
          <p:cNvSpPr txBox="1"/>
          <p:nvPr/>
        </p:nvSpPr>
        <p:spPr>
          <a:xfrm>
            <a:off x="7707395" y="5300748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59AB8C-6F23-81D3-4546-DE75EBD91879}"/>
              </a:ext>
            </a:extLst>
          </p:cNvPr>
          <p:cNvSpPr txBox="1"/>
          <p:nvPr/>
        </p:nvSpPr>
        <p:spPr>
          <a:xfrm>
            <a:off x="9572765" y="5300748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4AFF5C-ABDA-A82B-40C8-14E2DB160036}"/>
              </a:ext>
            </a:extLst>
          </p:cNvPr>
          <p:cNvSpPr txBox="1"/>
          <p:nvPr/>
        </p:nvSpPr>
        <p:spPr>
          <a:xfrm>
            <a:off x="11436788" y="5300748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03026B-6D1E-F7B1-9995-7D9DC1019C60}"/>
              </a:ext>
            </a:extLst>
          </p:cNvPr>
          <p:cNvSpPr txBox="1"/>
          <p:nvPr/>
        </p:nvSpPr>
        <p:spPr>
          <a:xfrm>
            <a:off x="7733218" y="5562695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64CEEB-E16A-926D-5DF0-DC8275443A40}"/>
              </a:ext>
            </a:extLst>
          </p:cNvPr>
          <p:cNvSpPr txBox="1"/>
          <p:nvPr/>
        </p:nvSpPr>
        <p:spPr>
          <a:xfrm>
            <a:off x="9580061" y="5571573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6000A2-AFB1-117D-BFF0-2BDA3EA8A77D}"/>
              </a:ext>
            </a:extLst>
          </p:cNvPr>
          <p:cNvSpPr txBox="1"/>
          <p:nvPr/>
        </p:nvSpPr>
        <p:spPr>
          <a:xfrm>
            <a:off x="11389339" y="557157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32.3%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54312B-28D3-E83C-2C75-6E860911BB50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AB5DAF-375F-8C08-74DE-3B9B1A009F3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pic>
        <p:nvPicPr>
          <p:cNvPr id="37" name="Content Placeholder 36">
            <a:extLst>
              <a:ext uri="{FF2B5EF4-FFF2-40B4-BE49-F238E27FC236}">
                <a16:creationId xmlns:a16="http://schemas.microsoft.com/office/drawing/2014/main" id="{437F73D0-D91B-975C-49B7-6CEE95049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07" y="1634863"/>
            <a:ext cx="6216197" cy="4351338"/>
          </a:xfrm>
        </p:spPr>
      </p:pic>
    </p:spTree>
    <p:extLst>
      <p:ext uri="{BB962C8B-B14F-4D97-AF65-F5344CB8AC3E}">
        <p14:creationId xmlns:p14="http://schemas.microsoft.com/office/powerpoint/2010/main" val="347090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0" y="5162550"/>
            <a:ext cx="10881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 Please see detailed financial analysis and assumptions are in the extended analysis report.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Financial projections do not include 340B contribution margin, which could represent $136 PMPM by optimizing 340B through Rx plan design, NLH’s approved site(s) with network integration, and development of NLH’s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58F6CA4-031B-A360-9D62-DBD9E50CE9CA}"/>
              </a:ext>
            </a:extLst>
          </p:cNvPr>
          <p:cNvGraphicFramePr>
            <a:graphicFrameLocks noGrp="1"/>
          </p:cNvGraphicFramePr>
          <p:nvPr/>
        </p:nvGraphicFramePr>
        <p:xfrm>
          <a:off x="2005977" y="335314"/>
          <a:ext cx="9052560" cy="4765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(see slide 9 for assumptions).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305K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782K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151K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-252K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$ 1,527K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371K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3,910K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$ 2,384K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$ 3,053K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741K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7,821K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$ 4,767K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$ 1,507K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766K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448K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$ 7,634K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$ 1,853K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$ 19,552K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$11,919K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$ 3,768K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$ 1,915K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$ 1,615K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$30,535K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$ 7,412K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$ 78,210K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$47,675K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$15,074K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$ 7,662K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$ 7,452K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$61,070K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$14,824K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$156,419K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$95,350K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$30,148K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$15,324K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$15,234K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10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3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3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38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42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48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Jack Hill, Executive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630-878-7539 *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jack.hill@keybenefit.com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38394</TotalTime>
  <Words>1018</Words>
  <Application>Microsoft Office PowerPoint</Application>
  <PresentationFormat>Widescreen</PresentationFormat>
  <Paragraphs>370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Healthcare Leader in Private Labeled DTE Plans</vt:lpstr>
      <vt:lpstr>Direct-to-Employer (DTE)  Your health plan focused on a direct relationship with self-funded employers in Your market</vt:lpstr>
      <vt:lpstr>Direct-to-Employer Strategy: Increased Capture of Commercial Market Share</vt:lpstr>
      <vt:lpstr>Mapping Opportunity for Northern Light Health</vt:lpstr>
      <vt:lpstr>Direct-to-Employer Strategy: Only Available to Premier Health Systems</vt:lpstr>
      <vt:lpstr>DTE Network Concern: Northern Light Health Brand Quality</vt:lpstr>
      <vt:lpstr>Estimated Financial Returns and Assumptions</vt:lpstr>
      <vt:lpstr>SINGLE YEAR SUMMARY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101</cp:revision>
  <cp:lastPrinted>2023-07-13T10:24:43Z</cp:lastPrinted>
  <dcterms:created xsi:type="dcterms:W3CDTF">2021-01-20T14:12:11Z</dcterms:created>
  <dcterms:modified xsi:type="dcterms:W3CDTF">2024-08-01T05:18:48Z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