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577" r:id="rId5"/>
    <p:sldId id="454" r:id="rId6"/>
    <p:sldId id="549" r:id="rId7"/>
    <p:sldId id="559" r:id="rId8"/>
    <p:sldId id="580" r:id="rId9"/>
    <p:sldId id="582" r:id="rId10"/>
    <p:sldId id="499" r:id="rId11"/>
    <p:sldId id="536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89B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38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11" Type="http://schemas.openxmlformats.org/officeDocument/2006/relationships/image" Target="../media/image6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YALE NEW HAVEN HEALTH SYSTEM 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November 21,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7408851" y="882339"/>
            <a:ext cx="4780101" cy="52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5,000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1,500,000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2,000,000+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Connecticut and Rhode Island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8197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3,754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375,900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488,700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676,600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615,600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1,522,800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3BD27A6-3E47-2643-6E58-EBBF60EB2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9" t="14338" r="22091" b="18113"/>
          <a:stretch/>
        </p:blipFill>
        <p:spPr>
          <a:xfrm>
            <a:off x="625645" y="2601258"/>
            <a:ext cx="3707842" cy="319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Connecticut and Rhode Island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4,706K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2,827K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2,033K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1,090K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$29.53M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$6.79M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$219.56M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$51.69M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$461.5M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$108.72M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1" y="5433068"/>
            <a:ext cx="10881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NOTE:  Please see detailed financial analysis and assumptions used starting on page 25.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/>
              </a:rPr>
              <a:t>Financial projections do not include 340B contribution margin, which could represent $136 PMPM by optimizing 340B through Rx plan design, Yale New Haven Health System’s approved site(s) with network integration, and development of Yale New Haven Health System’s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176272" y="704088"/>
          <a:ext cx="9052560" cy="4358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Estimate Assuming 50%+ Within-Plan Steerage and a Commercial Margin of 24%.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247K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659K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96K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-233K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$ 1,234K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286K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3,293K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$ 2,059K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764K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478K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154K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$ 2,468K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573K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6,586K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$ 4,117K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$ 1,528K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955K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637K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$ 6,171K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$ 1,432K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$ 16,464K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$10,293K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$ 3,820K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$ 2,388K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$ 2,088K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$24,684K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$ 5,727K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$ 65,856K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$41,172K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$15,279K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$ 9,552K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$ 9,342K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$49,368K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$11,453K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$131,712K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$82,344K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$30,557K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$19,104K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$19,014K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540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83613"/>
              </p:ext>
            </p:extLst>
          </p:nvPr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6,700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$ 6,642,990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$ 6,745,354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$ 3,150,023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$ 16,538,367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$ 1,541,174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$ 1,564,922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$ 730,805.3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$ 3,836,901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24731"/>
              </p:ext>
            </p:extLst>
          </p:nvPr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$ 7,842,409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$ 80,400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$ 7,847,209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$ 7,742,809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80258"/>
              </p:ext>
            </p:extLst>
          </p:nvPr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$ 15,260,202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$ 23,914,011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$ 11,167,640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$ 50,341,853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$ 3,540,367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$ 5,548,051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$ 2,590,892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$ 11,679,310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29% (inpatient) and 16%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23.2%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67% inpatient and 58%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(see previous slide)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margin of 23.2%,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with a 10 percentage-point reduction to reflect competitive-edge rates and a 10 percentage-point increase due to lower billing costs and higher patient responsibility collections because of the member credit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46104</TotalTime>
  <Words>804</Words>
  <Application>Microsoft Office PowerPoint</Application>
  <PresentationFormat>Widescreen</PresentationFormat>
  <Paragraphs>235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Significant Opportunity for Plan Growth Researched for Connecticut and Rhode Island</vt:lpstr>
      <vt:lpstr>Plan Potential Growth Paths</vt:lpstr>
      <vt:lpstr>Growing Powerful, Lasting Profitability</vt:lpstr>
      <vt:lpstr>SINGLE YEAR SUMMARY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2024-11-21T00:35:35Z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