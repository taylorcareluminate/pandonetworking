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Lst>
  <p:notesMasterIdLst>
    <p:notesMasterId r:id="rId47"/>
  </p:notesMasterIdLst>
  <p:sldIdLst>
    <p:sldId id="577" r:id="rId5"/>
    <p:sldId id="454" r:id="rId6"/>
    <p:sldId id="549" r:id="rId7"/>
    <p:sldId id="487" r:id="rId8"/>
    <p:sldId id="452" r:id="rId9"/>
    <p:sldId id="518" r:id="rId10"/>
    <p:sldId id="466" r:id="rId11"/>
    <p:sldId id="559" r:id="rId12"/>
    <p:sldId id="580" r:id="rId13"/>
    <p:sldId id="582" r:id="rId14"/>
    <p:sldId id="558" r:id="rId15"/>
    <p:sldId id="548" r:id="rId16"/>
    <p:sldId id="521" r:id="rId17"/>
    <p:sldId id="564" r:id="rId18"/>
    <p:sldId id="456" r:id="rId19"/>
    <p:sldId id="489" r:id="rId20"/>
    <p:sldId id="499" r:id="rId21"/>
    <p:sldId id="458" r:id="rId22"/>
    <p:sldId id="446" r:id="rId23"/>
    <p:sldId id="461" r:id="rId24"/>
    <p:sldId id="462" r:id="rId25"/>
    <p:sldId id="469" r:id="rId26"/>
    <p:sldId id="336" r:id="rId27"/>
    <p:sldId id="337" r:id="rId28"/>
    <p:sldId id="578" r:id="rId29"/>
    <p:sldId id="583" r:id="rId30"/>
    <p:sldId id="584" r:id="rId31"/>
    <p:sldId id="527" r:id="rId32"/>
    <p:sldId id="571" r:id="rId33"/>
    <p:sldId id="546" r:id="rId34"/>
    <p:sldId id="547" r:id="rId35"/>
    <p:sldId id="585" r:id="rId36"/>
    <p:sldId id="536" r:id="rId37"/>
    <p:sldId id="256" r:id="rId38"/>
    <p:sldId id="574" r:id="rId39"/>
    <p:sldId id="572" r:id="rId40"/>
    <p:sldId id="575" r:id="rId41"/>
    <p:sldId id="498" r:id="rId42"/>
    <p:sldId id="325" r:id="rId43"/>
    <p:sldId id="326" r:id="rId44"/>
    <p:sldId id="491" r:id="rId45"/>
    <p:sldId id="472" r:id="rId46"/>
  </p:sldIdLst>
  <p:sldSz cx="12192000" cy="6858000"/>
  <p:notesSz cx="7315200" cy="9601200"/>
  <p:custDataLst>
    <p:tags r:id="rId4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589B"/>
    <a:srgbClr val="2F5597"/>
    <a:srgbClr val="6087CE"/>
    <a:srgbClr val="4468A5"/>
    <a:srgbClr val="F2F2F2"/>
    <a:srgbClr val="C55A11"/>
    <a:srgbClr val="F424AA"/>
    <a:srgbClr val="E23440"/>
    <a:srgbClr val="027587"/>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B40917-91E4-40A7-AC1A-E09267AD49EE}" v="18" dt="2024-11-21T01:23:30.921"/>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8609" autoAdjust="0"/>
  </p:normalViewPr>
  <p:slideViewPr>
    <p:cSldViewPr snapToGrid="0">
      <p:cViewPr>
        <p:scale>
          <a:sx n="66" d="100"/>
          <a:sy n="66" d="100"/>
        </p:scale>
        <p:origin x="2232" y="720"/>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gs" Target="tags/tag1.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49B40917-91E4-40A7-AC1A-E09267AD49EE}"/>
    <pc:docChg chg="undo custSel addSld delSld modSld">
      <pc:chgData name="Taylor Davis" userId="5c9e72a0-c39f-4aa1-9d7d-64125e78cbe6" providerId="ADAL" clId="{49B40917-91E4-40A7-AC1A-E09267AD49EE}" dt="2024-11-21T01:28:18.342" v="374" actId="1076"/>
      <pc:docMkLst>
        <pc:docMk/>
      </pc:docMkLst>
      <pc:sldChg chg="modSp add del mod">
        <pc:chgData name="Taylor Davis" userId="5c9e72a0-c39f-4aa1-9d7d-64125e78cbe6" providerId="ADAL" clId="{49B40917-91E4-40A7-AC1A-E09267AD49EE}" dt="2024-11-21T01:27:51.795" v="367" actId="14100"/>
        <pc:sldMkLst>
          <pc:docMk/>
          <pc:sldMk cId="0" sldId="256"/>
        </pc:sldMkLst>
        <pc:graphicFrameChg chg="modGraphic">
          <ac:chgData name="Taylor Davis" userId="5c9e72a0-c39f-4aa1-9d7d-64125e78cbe6" providerId="ADAL" clId="{49B40917-91E4-40A7-AC1A-E09267AD49EE}" dt="2024-11-21T01:27:51.795" v="367" actId="14100"/>
          <ac:graphicFrameMkLst>
            <pc:docMk/>
            <pc:sldMk cId="0" sldId="256"/>
            <ac:graphicFrameMk id="2" creationId="{00000000-0000-0000-0000-000000000000}"/>
          </ac:graphicFrameMkLst>
        </pc:graphicFrameChg>
      </pc:sldChg>
      <pc:sldChg chg="add del setBg">
        <pc:chgData name="Taylor Davis" userId="5c9e72a0-c39f-4aa1-9d7d-64125e78cbe6" providerId="ADAL" clId="{49B40917-91E4-40A7-AC1A-E09267AD49EE}" dt="2024-11-21T01:23:30.921" v="179"/>
        <pc:sldMkLst>
          <pc:docMk/>
          <pc:sldMk cId="211951504" sldId="325"/>
        </pc:sldMkLst>
      </pc:sldChg>
      <pc:sldChg chg="delSp add del setBg delDesignElem">
        <pc:chgData name="Taylor Davis" userId="5c9e72a0-c39f-4aa1-9d7d-64125e78cbe6" providerId="ADAL" clId="{49B40917-91E4-40A7-AC1A-E09267AD49EE}" dt="2024-11-21T01:23:30.921" v="179"/>
        <pc:sldMkLst>
          <pc:docMk/>
          <pc:sldMk cId="225422285" sldId="326"/>
        </pc:sldMkLst>
        <pc:cxnChg chg="del">
          <ac:chgData name="Taylor Davis" userId="5c9e72a0-c39f-4aa1-9d7d-64125e78cbe6" providerId="ADAL" clId="{49B40917-91E4-40A7-AC1A-E09267AD49EE}" dt="2024-11-21T01:23:30.921" v="179"/>
          <ac:cxnSpMkLst>
            <pc:docMk/>
            <pc:sldMk cId="225422285" sldId="326"/>
            <ac:cxnSpMk id="4" creationId="{A7F400EE-A8A5-48AF-B4D6-291B52C6F0B0}"/>
          </ac:cxnSpMkLst>
        </pc:cxnChg>
      </pc:sldChg>
      <pc:sldChg chg="modSp add del mod">
        <pc:chgData name="Taylor Davis" userId="5c9e72a0-c39f-4aa1-9d7d-64125e78cbe6" providerId="ADAL" clId="{49B40917-91E4-40A7-AC1A-E09267AD49EE}" dt="2024-11-21T01:25:59.125" v="338" actId="1076"/>
        <pc:sldMkLst>
          <pc:docMk/>
          <pc:sldMk cId="619324413" sldId="336"/>
        </pc:sldMkLst>
        <pc:spChg chg="mod">
          <ac:chgData name="Taylor Davis" userId="5c9e72a0-c39f-4aa1-9d7d-64125e78cbe6" providerId="ADAL" clId="{49B40917-91E4-40A7-AC1A-E09267AD49EE}" dt="2024-11-21T01:25:55.659" v="337" actId="1076"/>
          <ac:spMkLst>
            <pc:docMk/>
            <pc:sldMk cId="619324413" sldId="336"/>
            <ac:spMk id="7" creationId="{812A6EF0-F485-2EBB-BDEB-7A43025A5A29}"/>
          </ac:spMkLst>
        </pc:spChg>
        <pc:spChg chg="mod">
          <ac:chgData name="Taylor Davis" userId="5c9e72a0-c39f-4aa1-9d7d-64125e78cbe6" providerId="ADAL" clId="{49B40917-91E4-40A7-AC1A-E09267AD49EE}" dt="2024-11-21T01:25:52.153" v="336" actId="1076"/>
          <ac:spMkLst>
            <pc:docMk/>
            <pc:sldMk cId="619324413" sldId="336"/>
            <ac:spMk id="8" creationId="{537397C7-FB49-032A-7017-50CDF43FA202}"/>
          </ac:spMkLst>
        </pc:spChg>
        <pc:spChg chg="mod">
          <ac:chgData name="Taylor Davis" userId="5c9e72a0-c39f-4aa1-9d7d-64125e78cbe6" providerId="ADAL" clId="{49B40917-91E4-40A7-AC1A-E09267AD49EE}" dt="2024-11-21T01:25:59.125" v="338" actId="1076"/>
          <ac:spMkLst>
            <pc:docMk/>
            <pc:sldMk cId="619324413" sldId="336"/>
            <ac:spMk id="9" creationId="{32AE8163-8376-4B77-CD83-691410ECD2AE}"/>
          </ac:spMkLst>
        </pc:spChg>
      </pc:sldChg>
      <pc:sldChg chg="add del setBg">
        <pc:chgData name="Taylor Davis" userId="5c9e72a0-c39f-4aa1-9d7d-64125e78cbe6" providerId="ADAL" clId="{49B40917-91E4-40A7-AC1A-E09267AD49EE}" dt="2024-11-21T01:23:21.804" v="175"/>
        <pc:sldMkLst>
          <pc:docMk/>
          <pc:sldMk cId="420959824" sldId="337"/>
        </pc:sldMkLst>
      </pc:sldChg>
      <pc:sldChg chg="add del">
        <pc:chgData name="Taylor Davis" userId="5c9e72a0-c39f-4aa1-9d7d-64125e78cbe6" providerId="ADAL" clId="{49B40917-91E4-40A7-AC1A-E09267AD49EE}" dt="2024-11-21T01:23:21.804" v="175"/>
        <pc:sldMkLst>
          <pc:docMk/>
          <pc:sldMk cId="2984433661" sldId="446"/>
        </pc:sldMkLst>
      </pc:sldChg>
      <pc:sldChg chg="modSp add del mod">
        <pc:chgData name="Taylor Davis" userId="5c9e72a0-c39f-4aa1-9d7d-64125e78cbe6" providerId="ADAL" clId="{49B40917-91E4-40A7-AC1A-E09267AD49EE}" dt="2024-11-21T01:24:46.694" v="333" actId="20577"/>
        <pc:sldMkLst>
          <pc:docMk/>
          <pc:sldMk cId="4059548579" sldId="452"/>
        </pc:sldMkLst>
        <pc:spChg chg="mod">
          <ac:chgData name="Taylor Davis" userId="5c9e72a0-c39f-4aa1-9d7d-64125e78cbe6" providerId="ADAL" clId="{49B40917-91E4-40A7-AC1A-E09267AD49EE}" dt="2024-11-21T01:24:46.694" v="333" actId="20577"/>
          <ac:spMkLst>
            <pc:docMk/>
            <pc:sldMk cId="4059548579" sldId="452"/>
            <ac:spMk id="8" creationId="{869C0219-52DA-48A1-B7B2-E6F8C4FBD3C3}"/>
          </ac:spMkLst>
        </pc:spChg>
      </pc:sldChg>
      <pc:sldChg chg="addSp delSp modSp add del mod">
        <pc:chgData name="Taylor Davis" userId="5c9e72a0-c39f-4aa1-9d7d-64125e78cbe6" providerId="ADAL" clId="{49B40917-91E4-40A7-AC1A-E09267AD49EE}" dt="2024-11-21T01:22:50.192" v="174" actId="20577"/>
        <pc:sldMkLst>
          <pc:docMk/>
          <pc:sldMk cId="1700621358" sldId="456"/>
        </pc:sldMkLst>
        <pc:spChg chg="del mod">
          <ac:chgData name="Taylor Davis" userId="5c9e72a0-c39f-4aa1-9d7d-64125e78cbe6" providerId="ADAL" clId="{49B40917-91E4-40A7-AC1A-E09267AD49EE}" dt="2024-11-21T01:22:34.642" v="144" actId="478"/>
          <ac:spMkLst>
            <pc:docMk/>
            <pc:sldMk cId="1700621358" sldId="456"/>
            <ac:spMk id="7" creationId="{A044C7C1-57D3-4F0B-A71A-0CA303FF3DB8}"/>
          </ac:spMkLst>
        </pc:spChg>
        <pc:spChg chg="add del mod">
          <ac:chgData name="Taylor Davis" userId="5c9e72a0-c39f-4aa1-9d7d-64125e78cbe6" providerId="ADAL" clId="{49B40917-91E4-40A7-AC1A-E09267AD49EE}" dt="2024-11-21T01:21:49.933" v="121" actId="478"/>
          <ac:spMkLst>
            <pc:docMk/>
            <pc:sldMk cId="1700621358" sldId="456"/>
            <ac:spMk id="11" creationId="{03B1EB6B-A316-BEAB-9FCB-C67ED84B4954}"/>
          </ac:spMkLst>
        </pc:spChg>
        <pc:spChg chg="add del mod">
          <ac:chgData name="Taylor Davis" userId="5c9e72a0-c39f-4aa1-9d7d-64125e78cbe6" providerId="ADAL" clId="{49B40917-91E4-40A7-AC1A-E09267AD49EE}" dt="2024-11-21T01:22:36.340" v="145" actId="478"/>
          <ac:spMkLst>
            <pc:docMk/>
            <pc:sldMk cId="1700621358" sldId="456"/>
            <ac:spMk id="14" creationId="{7F58412A-A9B0-3219-538A-F5E559E6F8E2}"/>
          </ac:spMkLst>
        </pc:spChg>
        <pc:spChg chg="add mod">
          <ac:chgData name="Taylor Davis" userId="5c9e72a0-c39f-4aa1-9d7d-64125e78cbe6" providerId="ADAL" clId="{49B40917-91E4-40A7-AC1A-E09267AD49EE}" dt="2024-11-21T01:22:50.192" v="174" actId="20577"/>
          <ac:spMkLst>
            <pc:docMk/>
            <pc:sldMk cId="1700621358" sldId="456"/>
            <ac:spMk id="15" creationId="{4644F4BF-C476-FCA5-DC8D-6BDA34535D0C}"/>
          </ac:spMkLst>
        </pc:spChg>
        <pc:picChg chg="del mod">
          <ac:chgData name="Taylor Davis" userId="5c9e72a0-c39f-4aa1-9d7d-64125e78cbe6" providerId="ADAL" clId="{49B40917-91E4-40A7-AC1A-E09267AD49EE}" dt="2024-11-21T01:21:47.274" v="120" actId="478"/>
          <ac:picMkLst>
            <pc:docMk/>
            <pc:sldMk cId="1700621358" sldId="456"/>
            <ac:picMk id="9" creationId="{00000000-0000-0000-0000-000000000000}"/>
          </ac:picMkLst>
        </pc:picChg>
        <pc:picChg chg="add mod">
          <ac:chgData name="Taylor Davis" userId="5c9e72a0-c39f-4aa1-9d7d-64125e78cbe6" providerId="ADAL" clId="{49B40917-91E4-40A7-AC1A-E09267AD49EE}" dt="2024-11-21T01:22:03.325" v="126" actId="1076"/>
          <ac:picMkLst>
            <pc:docMk/>
            <pc:sldMk cId="1700621358" sldId="456"/>
            <ac:picMk id="12" creationId="{E89A5285-12D5-B807-8A70-89A58E45C5E4}"/>
          </ac:picMkLst>
        </pc:picChg>
      </pc:sldChg>
      <pc:sldChg chg="modSp add del mod">
        <pc:chgData name="Taylor Davis" userId="5c9e72a0-c39f-4aa1-9d7d-64125e78cbe6" providerId="ADAL" clId="{49B40917-91E4-40A7-AC1A-E09267AD49EE}" dt="2024-11-21T01:25:32.520" v="335" actId="404"/>
        <pc:sldMkLst>
          <pc:docMk/>
          <pc:sldMk cId="3958060990" sldId="458"/>
        </pc:sldMkLst>
        <pc:spChg chg="mod">
          <ac:chgData name="Taylor Davis" userId="5c9e72a0-c39f-4aa1-9d7d-64125e78cbe6" providerId="ADAL" clId="{49B40917-91E4-40A7-AC1A-E09267AD49EE}" dt="2024-11-21T01:25:32.520" v="335" actId="404"/>
          <ac:spMkLst>
            <pc:docMk/>
            <pc:sldMk cId="3958060990" sldId="458"/>
            <ac:spMk id="7" creationId="{F35A72B5-FEF9-458B-B242-8157703AFF9D}"/>
          </ac:spMkLst>
        </pc:spChg>
      </pc:sldChg>
      <pc:sldChg chg="add del">
        <pc:chgData name="Taylor Davis" userId="5c9e72a0-c39f-4aa1-9d7d-64125e78cbe6" providerId="ADAL" clId="{49B40917-91E4-40A7-AC1A-E09267AD49EE}" dt="2024-11-21T01:23:21.804" v="175"/>
        <pc:sldMkLst>
          <pc:docMk/>
          <pc:sldMk cId="902706633" sldId="461"/>
        </pc:sldMkLst>
      </pc:sldChg>
      <pc:sldChg chg="add del">
        <pc:chgData name="Taylor Davis" userId="5c9e72a0-c39f-4aa1-9d7d-64125e78cbe6" providerId="ADAL" clId="{49B40917-91E4-40A7-AC1A-E09267AD49EE}" dt="2024-11-21T01:23:21.804" v="175"/>
        <pc:sldMkLst>
          <pc:docMk/>
          <pc:sldMk cId="3804806607" sldId="462"/>
        </pc:sldMkLst>
      </pc:sldChg>
      <pc:sldChg chg="add del">
        <pc:chgData name="Taylor Davis" userId="5c9e72a0-c39f-4aa1-9d7d-64125e78cbe6" providerId="ADAL" clId="{49B40917-91E4-40A7-AC1A-E09267AD49EE}" dt="2024-11-21T01:17:52.019" v="6"/>
        <pc:sldMkLst>
          <pc:docMk/>
          <pc:sldMk cId="1714126014" sldId="466"/>
        </pc:sldMkLst>
      </pc:sldChg>
      <pc:sldChg chg="add del">
        <pc:chgData name="Taylor Davis" userId="5c9e72a0-c39f-4aa1-9d7d-64125e78cbe6" providerId="ADAL" clId="{49B40917-91E4-40A7-AC1A-E09267AD49EE}" dt="2024-11-21T01:23:21.804" v="175"/>
        <pc:sldMkLst>
          <pc:docMk/>
          <pc:sldMk cId="2680122054" sldId="469"/>
        </pc:sldMkLst>
      </pc:sldChg>
      <pc:sldChg chg="addSp delSp modSp add del mod">
        <pc:chgData name="Taylor Davis" userId="5c9e72a0-c39f-4aa1-9d7d-64125e78cbe6" providerId="ADAL" clId="{49B40917-91E4-40A7-AC1A-E09267AD49EE}" dt="2024-11-21T01:18:13.357" v="12"/>
        <pc:sldMkLst>
          <pc:docMk/>
          <pc:sldMk cId="1552833548" sldId="487"/>
        </pc:sldMkLst>
        <pc:spChg chg="add del mod">
          <ac:chgData name="Taylor Davis" userId="5c9e72a0-c39f-4aa1-9d7d-64125e78cbe6" providerId="ADAL" clId="{49B40917-91E4-40A7-AC1A-E09267AD49EE}" dt="2024-11-21T01:18:08.345" v="11" actId="478"/>
          <ac:spMkLst>
            <pc:docMk/>
            <pc:sldMk cId="1552833548" sldId="487"/>
            <ac:spMk id="15" creationId="{2A00E2EE-E69B-E44E-B2DC-D08379451406}"/>
          </ac:spMkLst>
        </pc:spChg>
        <pc:picChg chg="del">
          <ac:chgData name="Taylor Davis" userId="5c9e72a0-c39f-4aa1-9d7d-64125e78cbe6" providerId="ADAL" clId="{49B40917-91E4-40A7-AC1A-E09267AD49EE}" dt="2024-11-21T01:18:07.049" v="10" actId="478"/>
          <ac:picMkLst>
            <pc:docMk/>
            <pc:sldMk cId="1552833548" sldId="487"/>
            <ac:picMk id="13" creationId="{00000000-0000-0000-0000-000000000000}"/>
          </ac:picMkLst>
        </pc:picChg>
        <pc:picChg chg="add mod">
          <ac:chgData name="Taylor Davis" userId="5c9e72a0-c39f-4aa1-9d7d-64125e78cbe6" providerId="ADAL" clId="{49B40917-91E4-40A7-AC1A-E09267AD49EE}" dt="2024-11-21T01:18:13.357" v="12"/>
          <ac:picMkLst>
            <pc:docMk/>
            <pc:sldMk cId="1552833548" sldId="487"/>
            <ac:picMk id="16" creationId="{C3F2E886-7DD3-59CA-2D80-163F062062D9}"/>
          </ac:picMkLst>
        </pc:picChg>
      </pc:sldChg>
      <pc:sldChg chg="modSp add del mod">
        <pc:chgData name="Taylor Davis" userId="5c9e72a0-c39f-4aa1-9d7d-64125e78cbe6" providerId="ADAL" clId="{49B40917-91E4-40A7-AC1A-E09267AD49EE}" dt="2024-11-21T01:22:19.341" v="129" actId="404"/>
        <pc:sldMkLst>
          <pc:docMk/>
          <pc:sldMk cId="3325436177" sldId="489"/>
        </pc:sldMkLst>
        <pc:spChg chg="mod">
          <ac:chgData name="Taylor Davis" userId="5c9e72a0-c39f-4aa1-9d7d-64125e78cbe6" providerId="ADAL" clId="{49B40917-91E4-40A7-AC1A-E09267AD49EE}" dt="2024-11-21T01:22:19.341" v="129" actId="404"/>
          <ac:spMkLst>
            <pc:docMk/>
            <pc:sldMk cId="3325436177" sldId="489"/>
            <ac:spMk id="8" creationId="{FF7C74A4-33A6-F02F-D22F-33835E639085}"/>
          </ac:spMkLst>
        </pc:spChg>
        <pc:picChg chg="mod">
          <ac:chgData name="Taylor Davis" userId="5c9e72a0-c39f-4aa1-9d7d-64125e78cbe6" providerId="ADAL" clId="{49B40917-91E4-40A7-AC1A-E09267AD49EE}" dt="2024-11-21T01:22:15.305" v="128" actId="1076"/>
          <ac:picMkLst>
            <pc:docMk/>
            <pc:sldMk cId="3325436177" sldId="489"/>
            <ac:picMk id="9" creationId="{00000000-0000-0000-0000-000000000000}"/>
          </ac:picMkLst>
        </pc:picChg>
      </pc:sldChg>
      <pc:sldChg chg="delSp add del setBg delDesignElem">
        <pc:chgData name="Taylor Davis" userId="5c9e72a0-c39f-4aa1-9d7d-64125e78cbe6" providerId="ADAL" clId="{49B40917-91E4-40A7-AC1A-E09267AD49EE}" dt="2024-11-21T01:23:30.921" v="179"/>
        <pc:sldMkLst>
          <pc:docMk/>
          <pc:sldMk cId="2660124243" sldId="491"/>
        </pc:sldMkLst>
        <pc:cxnChg chg="del">
          <ac:chgData name="Taylor Davis" userId="5c9e72a0-c39f-4aa1-9d7d-64125e78cbe6" providerId="ADAL" clId="{49B40917-91E4-40A7-AC1A-E09267AD49EE}" dt="2024-11-21T01:23:30.921" v="179"/>
          <ac:cxnSpMkLst>
            <pc:docMk/>
            <pc:sldMk cId="2660124243" sldId="491"/>
            <ac:cxnSpMk id="4" creationId="{A7F400EE-A8A5-48AF-B4D6-291B52C6F0B0}"/>
          </ac:cxnSpMkLst>
        </pc:cxnChg>
      </pc:sldChg>
      <pc:sldChg chg="modSp add del mod">
        <pc:chgData name="Taylor Davis" userId="5c9e72a0-c39f-4aa1-9d7d-64125e78cbe6" providerId="ADAL" clId="{49B40917-91E4-40A7-AC1A-E09267AD49EE}" dt="2024-11-21T01:28:18.342" v="374" actId="1076"/>
        <pc:sldMkLst>
          <pc:docMk/>
          <pc:sldMk cId="3144192130" sldId="498"/>
        </pc:sldMkLst>
        <pc:spChg chg="mod">
          <ac:chgData name="Taylor Davis" userId="5c9e72a0-c39f-4aa1-9d7d-64125e78cbe6" providerId="ADAL" clId="{49B40917-91E4-40A7-AC1A-E09267AD49EE}" dt="2024-11-21T01:28:18.342" v="374" actId="1076"/>
          <ac:spMkLst>
            <pc:docMk/>
            <pc:sldMk cId="3144192130" sldId="498"/>
            <ac:spMk id="17" creationId="{9E0B445C-F723-D2CD-7458-1C791D6F47F3}"/>
          </ac:spMkLst>
        </pc:spChg>
      </pc:sldChg>
      <pc:sldChg chg="modSp add del mod">
        <pc:chgData name="Taylor Davis" userId="5c9e72a0-c39f-4aa1-9d7d-64125e78cbe6" providerId="ADAL" clId="{49B40917-91E4-40A7-AC1A-E09267AD49EE}" dt="2024-11-21T01:24:56.823" v="334" actId="20577"/>
        <pc:sldMkLst>
          <pc:docMk/>
          <pc:sldMk cId="3348736581" sldId="518"/>
        </pc:sldMkLst>
        <pc:spChg chg="mod">
          <ac:chgData name="Taylor Davis" userId="5c9e72a0-c39f-4aa1-9d7d-64125e78cbe6" providerId="ADAL" clId="{49B40917-91E4-40A7-AC1A-E09267AD49EE}" dt="2024-11-21T01:24:56.823" v="334" actId="20577"/>
          <ac:spMkLst>
            <pc:docMk/>
            <pc:sldMk cId="3348736581" sldId="518"/>
            <ac:spMk id="13" creationId="{820D1BA4-6D19-00FD-17FF-A0AD0AAAF7EE}"/>
          </ac:spMkLst>
        </pc:spChg>
        <pc:picChg chg="mod">
          <ac:chgData name="Taylor Davis" userId="5c9e72a0-c39f-4aa1-9d7d-64125e78cbe6" providerId="ADAL" clId="{49B40917-91E4-40A7-AC1A-E09267AD49EE}" dt="2024-11-21T01:18:03.752" v="9" actId="1076"/>
          <ac:picMkLst>
            <pc:docMk/>
            <pc:sldMk cId="3348736581" sldId="518"/>
            <ac:picMk id="14" creationId="{00000000-0000-0000-0000-000000000000}"/>
          </ac:picMkLst>
        </pc:picChg>
      </pc:sldChg>
      <pc:sldChg chg="add del">
        <pc:chgData name="Taylor Davis" userId="5c9e72a0-c39f-4aa1-9d7d-64125e78cbe6" providerId="ADAL" clId="{49B40917-91E4-40A7-AC1A-E09267AD49EE}" dt="2024-11-21T01:17:56.128" v="7" actId="47"/>
        <pc:sldMkLst>
          <pc:docMk/>
          <pc:sldMk cId="2103269747" sldId="520"/>
        </pc:sldMkLst>
      </pc:sldChg>
      <pc:sldChg chg="addSp delSp modSp add del mod">
        <pc:chgData name="Taylor Davis" userId="5c9e72a0-c39f-4aa1-9d7d-64125e78cbe6" providerId="ADAL" clId="{49B40917-91E4-40A7-AC1A-E09267AD49EE}" dt="2024-11-21T01:19:59.572" v="31" actId="14100"/>
        <pc:sldMkLst>
          <pc:docMk/>
          <pc:sldMk cId="500461553" sldId="521"/>
        </pc:sldMkLst>
        <pc:spChg chg="add del mod">
          <ac:chgData name="Taylor Davis" userId="5c9e72a0-c39f-4aa1-9d7d-64125e78cbe6" providerId="ADAL" clId="{49B40917-91E4-40A7-AC1A-E09267AD49EE}" dt="2024-11-21T01:19:34.861" v="27" actId="478"/>
          <ac:spMkLst>
            <pc:docMk/>
            <pc:sldMk cId="500461553" sldId="521"/>
            <ac:spMk id="9" creationId="{775D1FBF-387F-F4C8-D3D7-498F94F9EBA4}"/>
          </ac:spMkLst>
        </pc:spChg>
        <pc:picChg chg="del">
          <ac:chgData name="Taylor Davis" userId="5c9e72a0-c39f-4aa1-9d7d-64125e78cbe6" providerId="ADAL" clId="{49B40917-91E4-40A7-AC1A-E09267AD49EE}" dt="2024-11-21T01:19:32.173" v="26" actId="478"/>
          <ac:picMkLst>
            <pc:docMk/>
            <pc:sldMk cId="500461553" sldId="521"/>
            <ac:picMk id="7" creationId="{00000000-0000-0000-0000-000000000000}"/>
          </ac:picMkLst>
        </pc:picChg>
        <pc:picChg chg="add mod">
          <ac:chgData name="Taylor Davis" userId="5c9e72a0-c39f-4aa1-9d7d-64125e78cbe6" providerId="ADAL" clId="{49B40917-91E4-40A7-AC1A-E09267AD49EE}" dt="2024-11-21T01:19:59.572" v="31" actId="14100"/>
          <ac:picMkLst>
            <pc:docMk/>
            <pc:sldMk cId="500461553" sldId="521"/>
            <ac:picMk id="1026" creationId="{7D2A9679-5BFE-3F0D-1D23-875F51E842F5}"/>
          </ac:picMkLst>
        </pc:picChg>
      </pc:sldChg>
      <pc:sldChg chg="modSp add del mod">
        <pc:chgData name="Taylor Davis" userId="5c9e72a0-c39f-4aa1-9d7d-64125e78cbe6" providerId="ADAL" clId="{49B40917-91E4-40A7-AC1A-E09267AD49EE}" dt="2024-11-21T01:26:11.069" v="339" actId="47"/>
        <pc:sldMkLst>
          <pc:docMk/>
          <pc:sldMk cId="36791873" sldId="525"/>
        </pc:sldMkLst>
        <pc:spChg chg="mod">
          <ac:chgData name="Taylor Davis" userId="5c9e72a0-c39f-4aa1-9d7d-64125e78cbe6" providerId="ADAL" clId="{49B40917-91E4-40A7-AC1A-E09267AD49EE}" dt="2024-11-21T01:23:21.939" v="176" actId="27636"/>
          <ac:spMkLst>
            <pc:docMk/>
            <pc:sldMk cId="36791873" sldId="525"/>
            <ac:spMk id="3" creationId="{47D333E6-57DF-6C19-7BCA-1AE47F6C6568}"/>
          </ac:spMkLst>
        </pc:spChg>
      </pc:sldChg>
      <pc:sldChg chg="modSp add del mod">
        <pc:chgData name="Taylor Davis" userId="5c9e72a0-c39f-4aa1-9d7d-64125e78cbe6" providerId="ADAL" clId="{49B40917-91E4-40A7-AC1A-E09267AD49EE}" dt="2024-11-21T01:27:03.598" v="359" actId="207"/>
        <pc:sldMkLst>
          <pc:docMk/>
          <pc:sldMk cId="3034923006" sldId="527"/>
        </pc:sldMkLst>
        <pc:graphicFrameChg chg="mod modGraphic">
          <ac:chgData name="Taylor Davis" userId="5c9e72a0-c39f-4aa1-9d7d-64125e78cbe6" providerId="ADAL" clId="{49B40917-91E4-40A7-AC1A-E09267AD49EE}" dt="2024-11-21T01:27:03.598" v="359" actId="207"/>
          <ac:graphicFrameMkLst>
            <pc:docMk/>
            <pc:sldMk cId="3034923006" sldId="527"/>
            <ac:graphicFrameMk id="6" creationId="{00000000-0000-0000-0000-000000000000}"/>
          </ac:graphicFrameMkLst>
        </pc:graphicFrameChg>
      </pc:sldChg>
      <pc:sldChg chg="add del">
        <pc:chgData name="Taylor Davis" userId="5c9e72a0-c39f-4aa1-9d7d-64125e78cbe6" providerId="ADAL" clId="{49B40917-91E4-40A7-AC1A-E09267AD49EE}" dt="2024-11-21T01:23:21.804" v="175"/>
        <pc:sldMkLst>
          <pc:docMk/>
          <pc:sldMk cId="94944115" sldId="546"/>
        </pc:sldMkLst>
      </pc:sldChg>
      <pc:sldChg chg="add del">
        <pc:chgData name="Taylor Davis" userId="5c9e72a0-c39f-4aa1-9d7d-64125e78cbe6" providerId="ADAL" clId="{49B40917-91E4-40A7-AC1A-E09267AD49EE}" dt="2024-11-21T01:23:21.804" v="175"/>
        <pc:sldMkLst>
          <pc:docMk/>
          <pc:sldMk cId="3616502281" sldId="547"/>
        </pc:sldMkLst>
      </pc:sldChg>
      <pc:sldChg chg="add del">
        <pc:chgData name="Taylor Davis" userId="5c9e72a0-c39f-4aa1-9d7d-64125e78cbe6" providerId="ADAL" clId="{49B40917-91E4-40A7-AC1A-E09267AD49EE}" dt="2024-11-21T01:18:45.601" v="13"/>
        <pc:sldMkLst>
          <pc:docMk/>
          <pc:sldMk cId="315794589" sldId="548"/>
        </pc:sldMkLst>
      </pc:sldChg>
      <pc:sldChg chg="modSp add del mod">
        <pc:chgData name="Taylor Davis" userId="5c9e72a0-c39f-4aa1-9d7d-64125e78cbe6" providerId="ADAL" clId="{49B40917-91E4-40A7-AC1A-E09267AD49EE}" dt="2024-11-21T01:19:21.105" v="25" actId="20577"/>
        <pc:sldMkLst>
          <pc:docMk/>
          <pc:sldMk cId="3470905217" sldId="558"/>
        </pc:sldMkLst>
        <pc:spChg chg="mod">
          <ac:chgData name="Taylor Davis" userId="5c9e72a0-c39f-4aa1-9d7d-64125e78cbe6" providerId="ADAL" clId="{49B40917-91E4-40A7-AC1A-E09267AD49EE}" dt="2024-11-21T01:18:52.474" v="14" actId="1076"/>
          <ac:spMkLst>
            <pc:docMk/>
            <pc:sldMk cId="3470905217" sldId="558"/>
            <ac:spMk id="9" creationId="{620CA171-241C-9006-DA4D-7174E70B2EF3}"/>
          </ac:spMkLst>
        </pc:spChg>
        <pc:spChg chg="mod">
          <ac:chgData name="Taylor Davis" userId="5c9e72a0-c39f-4aa1-9d7d-64125e78cbe6" providerId="ADAL" clId="{49B40917-91E4-40A7-AC1A-E09267AD49EE}" dt="2024-11-21T01:19:21.105" v="25" actId="20577"/>
          <ac:spMkLst>
            <pc:docMk/>
            <pc:sldMk cId="3470905217" sldId="558"/>
            <ac:spMk id="13" creationId="{32C9D62D-25B0-6CD9-8AD7-E6855B1B1B26}"/>
          </ac:spMkLst>
        </pc:spChg>
        <pc:spChg chg="mod">
          <ac:chgData name="Taylor Davis" userId="5c9e72a0-c39f-4aa1-9d7d-64125e78cbe6" providerId="ADAL" clId="{49B40917-91E4-40A7-AC1A-E09267AD49EE}" dt="2024-11-21T01:18:52.474" v="14" actId="1076"/>
          <ac:spMkLst>
            <pc:docMk/>
            <pc:sldMk cId="3470905217" sldId="558"/>
            <ac:spMk id="14" creationId="{A76920ED-352E-9285-CC83-BDA6AB18978D}"/>
          </ac:spMkLst>
        </pc:spChg>
        <pc:spChg chg="mod">
          <ac:chgData name="Taylor Davis" userId="5c9e72a0-c39f-4aa1-9d7d-64125e78cbe6" providerId="ADAL" clId="{49B40917-91E4-40A7-AC1A-E09267AD49EE}" dt="2024-11-21T01:18:52.474" v="14" actId="1076"/>
          <ac:spMkLst>
            <pc:docMk/>
            <pc:sldMk cId="3470905217" sldId="558"/>
            <ac:spMk id="15" creationId="{2559AB8C-6F23-81D3-4546-DE75EBD91879}"/>
          </ac:spMkLst>
        </pc:spChg>
        <pc:spChg chg="mod">
          <ac:chgData name="Taylor Davis" userId="5c9e72a0-c39f-4aa1-9d7d-64125e78cbe6" providerId="ADAL" clId="{49B40917-91E4-40A7-AC1A-E09267AD49EE}" dt="2024-11-21T01:18:52.474" v="14" actId="1076"/>
          <ac:spMkLst>
            <pc:docMk/>
            <pc:sldMk cId="3470905217" sldId="558"/>
            <ac:spMk id="16" creationId="{314AFF5C-ABDA-A82B-40C8-14E2DB160036}"/>
          </ac:spMkLst>
        </pc:spChg>
        <pc:spChg chg="mod">
          <ac:chgData name="Taylor Davis" userId="5c9e72a0-c39f-4aa1-9d7d-64125e78cbe6" providerId="ADAL" clId="{49B40917-91E4-40A7-AC1A-E09267AD49EE}" dt="2024-11-21T01:18:52.474" v="14" actId="1076"/>
          <ac:spMkLst>
            <pc:docMk/>
            <pc:sldMk cId="3470905217" sldId="558"/>
            <ac:spMk id="17" creationId="{2C03026B-6D1E-F7B1-9995-7D9DC1019C60}"/>
          </ac:spMkLst>
        </pc:spChg>
        <pc:spChg chg="mod">
          <ac:chgData name="Taylor Davis" userId="5c9e72a0-c39f-4aa1-9d7d-64125e78cbe6" providerId="ADAL" clId="{49B40917-91E4-40A7-AC1A-E09267AD49EE}" dt="2024-11-21T01:18:52.474" v="14" actId="1076"/>
          <ac:spMkLst>
            <pc:docMk/>
            <pc:sldMk cId="3470905217" sldId="558"/>
            <ac:spMk id="18" creationId="{9C64CEEB-E16A-926D-5DF0-DC8275443A40}"/>
          </ac:spMkLst>
        </pc:spChg>
        <pc:spChg chg="mod">
          <ac:chgData name="Taylor Davis" userId="5c9e72a0-c39f-4aa1-9d7d-64125e78cbe6" providerId="ADAL" clId="{49B40917-91E4-40A7-AC1A-E09267AD49EE}" dt="2024-11-21T01:18:52.474" v="14" actId="1076"/>
          <ac:spMkLst>
            <pc:docMk/>
            <pc:sldMk cId="3470905217" sldId="558"/>
            <ac:spMk id="19" creationId="{716000A2-AFB1-117D-BFF0-2BDA3EA8A77D}"/>
          </ac:spMkLst>
        </pc:spChg>
      </pc:sldChg>
      <pc:sldChg chg="addSp delSp modSp add del mod">
        <pc:chgData name="Taylor Davis" userId="5c9e72a0-c39f-4aa1-9d7d-64125e78cbe6" providerId="ADAL" clId="{49B40917-91E4-40A7-AC1A-E09267AD49EE}" dt="2024-11-21T01:21:28.623" v="113" actId="14100"/>
        <pc:sldMkLst>
          <pc:docMk/>
          <pc:sldMk cId="4064752386" sldId="564"/>
        </pc:sldMkLst>
        <pc:spChg chg="mod">
          <ac:chgData name="Taylor Davis" userId="5c9e72a0-c39f-4aa1-9d7d-64125e78cbe6" providerId="ADAL" clId="{49B40917-91E4-40A7-AC1A-E09267AD49EE}" dt="2024-11-21T01:20:28.295" v="101" actId="20577"/>
          <ac:spMkLst>
            <pc:docMk/>
            <pc:sldMk cId="4064752386" sldId="564"/>
            <ac:spMk id="6" creationId="{3E0219A2-C97D-9E0E-9C52-C5207AB41BD4}"/>
          </ac:spMkLst>
        </pc:spChg>
        <pc:graphicFrameChg chg="del">
          <ac:chgData name="Taylor Davis" userId="5c9e72a0-c39f-4aa1-9d7d-64125e78cbe6" providerId="ADAL" clId="{49B40917-91E4-40A7-AC1A-E09267AD49EE}" dt="2024-11-21T01:20:54.075" v="102" actId="478"/>
          <ac:graphicFrameMkLst>
            <pc:docMk/>
            <pc:sldMk cId="4064752386" sldId="564"/>
            <ac:graphicFrameMk id="7" creationId="{00000000-0000-0000-0000-000000000000}"/>
          </ac:graphicFrameMkLst>
        </pc:graphicFrameChg>
        <pc:graphicFrameChg chg="add mod">
          <ac:chgData name="Taylor Davis" userId="5c9e72a0-c39f-4aa1-9d7d-64125e78cbe6" providerId="ADAL" clId="{49B40917-91E4-40A7-AC1A-E09267AD49EE}" dt="2024-11-21T01:20:55.297" v="103"/>
          <ac:graphicFrameMkLst>
            <pc:docMk/>
            <pc:sldMk cId="4064752386" sldId="564"/>
            <ac:graphicFrameMk id="8" creationId="{DB57F29E-A7B1-A211-7C34-0EA6B153D039}"/>
          </ac:graphicFrameMkLst>
        </pc:graphicFrameChg>
        <pc:graphicFrameChg chg="add mod modGraphic">
          <ac:chgData name="Taylor Davis" userId="5c9e72a0-c39f-4aa1-9d7d-64125e78cbe6" providerId="ADAL" clId="{49B40917-91E4-40A7-AC1A-E09267AD49EE}" dt="2024-11-21T01:21:28.623" v="113" actId="14100"/>
          <ac:graphicFrameMkLst>
            <pc:docMk/>
            <pc:sldMk cId="4064752386" sldId="564"/>
            <ac:graphicFrameMk id="9" creationId="{D9125581-AC86-2CDE-E3C4-E7489D98406D}"/>
          </ac:graphicFrameMkLst>
        </pc:graphicFrameChg>
      </pc:sldChg>
      <pc:sldChg chg="delSp modSp add del mod">
        <pc:chgData name="Taylor Davis" userId="5c9e72a0-c39f-4aa1-9d7d-64125e78cbe6" providerId="ADAL" clId="{49B40917-91E4-40A7-AC1A-E09267AD49EE}" dt="2024-11-21T01:27:26.612" v="365" actId="14100"/>
        <pc:sldMkLst>
          <pc:docMk/>
          <pc:sldMk cId="0" sldId="571"/>
        </pc:sldMkLst>
        <pc:spChg chg="del">
          <ac:chgData name="Taylor Davis" userId="5c9e72a0-c39f-4aa1-9d7d-64125e78cbe6" providerId="ADAL" clId="{49B40917-91E4-40A7-AC1A-E09267AD49EE}" dt="2024-11-21T01:27:20.698" v="363" actId="478"/>
          <ac:spMkLst>
            <pc:docMk/>
            <pc:sldMk cId="0" sldId="571"/>
            <ac:spMk id="2" creationId="{81B84BFE-A66C-EE28-0B82-3FC2737525CB}"/>
          </ac:spMkLst>
        </pc:spChg>
        <pc:graphicFrameChg chg="mod modGraphic">
          <ac:chgData name="Taylor Davis" userId="5c9e72a0-c39f-4aa1-9d7d-64125e78cbe6" providerId="ADAL" clId="{49B40917-91E4-40A7-AC1A-E09267AD49EE}" dt="2024-11-21T01:27:26.612" v="365" actId="14100"/>
          <ac:graphicFrameMkLst>
            <pc:docMk/>
            <pc:sldMk cId="0" sldId="571"/>
            <ac:graphicFrameMk id="3" creationId="{00000000-0000-0000-0000-000000000000}"/>
          </ac:graphicFrameMkLst>
        </pc:graphicFrameChg>
      </pc:sldChg>
      <pc:sldChg chg="modSp add del mod">
        <pc:chgData name="Taylor Davis" userId="5c9e72a0-c39f-4aa1-9d7d-64125e78cbe6" providerId="ADAL" clId="{49B40917-91E4-40A7-AC1A-E09267AD49EE}" dt="2024-11-21T01:28:02.225" v="369" actId="14100"/>
        <pc:sldMkLst>
          <pc:docMk/>
          <pc:sldMk cId="0" sldId="572"/>
        </pc:sldMkLst>
        <pc:graphicFrameChg chg="modGraphic">
          <ac:chgData name="Taylor Davis" userId="5c9e72a0-c39f-4aa1-9d7d-64125e78cbe6" providerId="ADAL" clId="{49B40917-91E4-40A7-AC1A-E09267AD49EE}" dt="2024-11-21T01:28:02.225" v="369" actId="14100"/>
          <ac:graphicFrameMkLst>
            <pc:docMk/>
            <pc:sldMk cId="0" sldId="572"/>
            <ac:graphicFrameMk id="2" creationId="{00000000-0000-0000-0000-000000000000}"/>
          </ac:graphicFrameMkLst>
        </pc:graphicFrameChg>
      </pc:sldChg>
      <pc:sldChg chg="modSp add del mod">
        <pc:chgData name="Taylor Davis" userId="5c9e72a0-c39f-4aa1-9d7d-64125e78cbe6" providerId="ADAL" clId="{49B40917-91E4-40A7-AC1A-E09267AD49EE}" dt="2024-11-21T01:27:56.194" v="368" actId="14100"/>
        <pc:sldMkLst>
          <pc:docMk/>
          <pc:sldMk cId="1064222983" sldId="574"/>
        </pc:sldMkLst>
        <pc:graphicFrameChg chg="modGraphic">
          <ac:chgData name="Taylor Davis" userId="5c9e72a0-c39f-4aa1-9d7d-64125e78cbe6" providerId="ADAL" clId="{49B40917-91E4-40A7-AC1A-E09267AD49EE}" dt="2024-11-21T01:27:56.194" v="368" actId="14100"/>
          <ac:graphicFrameMkLst>
            <pc:docMk/>
            <pc:sldMk cId="1064222983" sldId="574"/>
            <ac:graphicFrameMk id="2" creationId="{00000000-0000-0000-0000-000000000000}"/>
          </ac:graphicFrameMkLst>
        </pc:graphicFrameChg>
      </pc:sldChg>
      <pc:sldChg chg="modSp add del mod">
        <pc:chgData name="Taylor Davis" userId="5c9e72a0-c39f-4aa1-9d7d-64125e78cbe6" providerId="ADAL" clId="{49B40917-91E4-40A7-AC1A-E09267AD49EE}" dt="2024-11-21T01:28:06.694" v="370" actId="14100"/>
        <pc:sldMkLst>
          <pc:docMk/>
          <pc:sldMk cId="3790917938" sldId="575"/>
        </pc:sldMkLst>
        <pc:graphicFrameChg chg="modGraphic">
          <ac:chgData name="Taylor Davis" userId="5c9e72a0-c39f-4aa1-9d7d-64125e78cbe6" providerId="ADAL" clId="{49B40917-91E4-40A7-AC1A-E09267AD49EE}" dt="2024-11-21T01:28:06.694" v="370" actId="14100"/>
          <ac:graphicFrameMkLst>
            <pc:docMk/>
            <pc:sldMk cId="3790917938" sldId="575"/>
            <ac:graphicFrameMk id="2" creationId="{00000000-0000-0000-0000-000000000000}"/>
          </ac:graphicFrameMkLst>
        </pc:graphicFrameChg>
      </pc:sldChg>
      <pc:sldChg chg="modSp mod">
        <pc:chgData name="Taylor Davis" userId="5c9e72a0-c39f-4aa1-9d7d-64125e78cbe6" providerId="ADAL" clId="{49B40917-91E4-40A7-AC1A-E09267AD49EE}" dt="2024-11-21T01:24:02.619" v="208" actId="20577"/>
        <pc:sldMkLst>
          <pc:docMk/>
          <pc:sldMk cId="636727059" sldId="577"/>
        </pc:sldMkLst>
        <pc:spChg chg="mod">
          <ac:chgData name="Taylor Davis" userId="5c9e72a0-c39f-4aa1-9d7d-64125e78cbe6" providerId="ADAL" clId="{49B40917-91E4-40A7-AC1A-E09267AD49EE}" dt="2024-11-21T01:24:02.619" v="208" actId="20577"/>
          <ac:spMkLst>
            <pc:docMk/>
            <pc:sldMk cId="636727059" sldId="577"/>
            <ac:spMk id="5" creationId="{B981BBA2-A3ED-6F7B-693B-880E5B031B26}"/>
          </ac:spMkLst>
        </pc:spChg>
      </pc:sldChg>
      <pc:sldChg chg="add del">
        <pc:chgData name="Taylor Davis" userId="5c9e72a0-c39f-4aa1-9d7d-64125e78cbe6" providerId="ADAL" clId="{49B40917-91E4-40A7-AC1A-E09267AD49EE}" dt="2024-11-21T01:23:21.804" v="175"/>
        <pc:sldMkLst>
          <pc:docMk/>
          <pc:sldMk cId="3277395919" sldId="578"/>
        </pc:sldMkLst>
      </pc:sldChg>
      <pc:sldChg chg="add del">
        <pc:chgData name="Taylor Davis" userId="5c9e72a0-c39f-4aa1-9d7d-64125e78cbe6" providerId="ADAL" clId="{49B40917-91E4-40A7-AC1A-E09267AD49EE}" dt="2024-11-21T01:23:21.804" v="175"/>
        <pc:sldMkLst>
          <pc:docMk/>
          <pc:sldMk cId="838631500" sldId="583"/>
        </pc:sldMkLst>
      </pc:sldChg>
      <pc:sldChg chg="add del">
        <pc:chgData name="Taylor Davis" userId="5c9e72a0-c39f-4aa1-9d7d-64125e78cbe6" providerId="ADAL" clId="{49B40917-91E4-40A7-AC1A-E09267AD49EE}" dt="2024-11-21T01:23:21.804" v="175"/>
        <pc:sldMkLst>
          <pc:docMk/>
          <pc:sldMk cId="3618341172" sldId="584"/>
        </pc:sldMkLst>
      </pc:sldChg>
      <pc:sldChg chg="modSp add del mod">
        <pc:chgData name="Taylor Davis" userId="5c9e72a0-c39f-4aa1-9d7d-64125e78cbe6" providerId="ADAL" clId="{49B40917-91E4-40A7-AC1A-E09267AD49EE}" dt="2024-11-21T01:27:34.775" v="366" actId="14100"/>
        <pc:sldMkLst>
          <pc:docMk/>
          <pc:sldMk cId="2011724879" sldId="585"/>
        </pc:sldMkLst>
        <pc:graphicFrameChg chg="modGraphic">
          <ac:chgData name="Taylor Davis" userId="5c9e72a0-c39f-4aa1-9d7d-64125e78cbe6" providerId="ADAL" clId="{49B40917-91E4-40A7-AC1A-E09267AD49EE}" dt="2024-11-21T01:27:34.775" v="366" actId="14100"/>
          <ac:graphicFrameMkLst>
            <pc:docMk/>
            <pc:sldMk cId="2011724879" sldId="585"/>
            <ac:graphicFrameMk id="7" creationId="{00000000-0000-0000-0000-000000000000}"/>
          </ac:graphicFrameMkLst>
        </pc:graphicFrameChg>
      </pc:sldChg>
      <pc:sldChg chg="add del">
        <pc:chgData name="Taylor Davis" userId="5c9e72a0-c39f-4aa1-9d7d-64125e78cbe6" providerId="ADAL" clId="{49B40917-91E4-40A7-AC1A-E09267AD49EE}" dt="2024-11-21T01:21:37.747" v="114" actId="47"/>
        <pc:sldMkLst>
          <pc:docMk/>
          <pc:sldMk cId="4222550375" sldId="587"/>
        </pc:sldMkLst>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image" Target="../media/image26.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image" Target="../media/image26.jpe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150493-506C-4796-9188-B229C3F673EE}"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US"/>
        </a:p>
      </dgm:t>
    </dgm:pt>
    <dgm:pt modelId="{D23E581B-AA16-403B-8AF5-1BB3E719881C}">
      <dgm:prSet phldrT="[Text]" custT="1"/>
      <dgm:spPr>
        <a:solidFill>
          <a:srgbClr val="59CAE8"/>
        </a:solidFill>
        <a:ln>
          <a:solidFill>
            <a:srgbClr val="59CAE8"/>
          </a:solidFill>
        </a:ln>
      </dgm:spPr>
      <dgm:t>
        <a:bodyPr/>
        <a:lstStyle/>
        <a:p>
          <a:r>
            <a:rPr lang="en-US" sz="2200" b="1" dirty="0"/>
            <a:t>BROKER DEVELOPMENT</a:t>
          </a:r>
        </a:p>
      </dgm:t>
    </dgm:pt>
    <dgm:pt modelId="{B1EFF21B-7CA5-4F93-B9E5-5284C3F28E15}" type="parTrans" cxnId="{2F92E761-FCD0-4BDD-A76B-9C732D3383BD}">
      <dgm:prSet/>
      <dgm:spPr/>
      <dgm:t>
        <a:bodyPr/>
        <a:lstStyle/>
        <a:p>
          <a:endParaRPr lang="en-US"/>
        </a:p>
      </dgm:t>
    </dgm:pt>
    <dgm:pt modelId="{1A5DEF5B-E65A-4FF8-AF95-9D9360F04B85}" type="sibTrans" cxnId="{2F92E761-FCD0-4BDD-A76B-9C732D3383BD}">
      <dgm:prSet/>
      <dgm:spPr/>
      <dgm:t>
        <a:bodyPr/>
        <a:lstStyle/>
        <a:p>
          <a:endParaRPr lang="en-US"/>
        </a:p>
      </dgm:t>
    </dgm:pt>
    <dgm:pt modelId="{7FF46690-C008-4C6D-8B8B-295F75E0DB9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endParaRPr lang="en-US" sz="1800" b="0" dirty="0"/>
        </a:p>
      </dgm:t>
    </dgm:pt>
    <dgm:pt modelId="{8D0C7DC4-BF81-461E-AD4F-3807C09AE856}" type="parTrans" cxnId="{F91C5992-82A2-4E51-88AD-3B34B316A11D}">
      <dgm:prSet/>
      <dgm:spPr/>
      <dgm:t>
        <a:bodyPr/>
        <a:lstStyle/>
        <a:p>
          <a:endParaRPr lang="en-US"/>
        </a:p>
      </dgm:t>
    </dgm:pt>
    <dgm:pt modelId="{B3C1D7E9-AE25-4261-B242-F121DEE18B6F}" type="sibTrans" cxnId="{F91C5992-82A2-4E51-88AD-3B34B316A11D}">
      <dgm:prSet/>
      <dgm:spPr/>
      <dgm:t>
        <a:bodyPr/>
        <a:lstStyle/>
        <a:p>
          <a:endParaRPr lang="en-US"/>
        </a:p>
      </dgm:t>
    </dgm:pt>
    <dgm:pt modelId="{137481BD-655E-4B21-9249-6EBB92970AA3}">
      <dgm:prSet phldrT="[Text]" custT="1"/>
      <dgm:spPr>
        <a:solidFill>
          <a:srgbClr val="59CAE8"/>
        </a:solidFill>
        <a:ln>
          <a:solidFill>
            <a:srgbClr val="59CAE8"/>
          </a:solidFill>
        </a:ln>
      </dgm:spPr>
      <dgm:t>
        <a:bodyPr/>
        <a:lstStyle/>
        <a:p>
          <a:r>
            <a:rPr lang="en-US" sz="2200" b="1" dirty="0"/>
            <a:t>DIRECT SALES</a:t>
          </a:r>
        </a:p>
      </dgm:t>
    </dgm:pt>
    <dgm:pt modelId="{ACB6711E-EC99-4F64-AEE7-58413CCAC090}" type="parTrans" cxnId="{BE4C9AF1-D175-4190-956C-E575898133B0}">
      <dgm:prSet/>
      <dgm:spPr/>
      <dgm:t>
        <a:bodyPr/>
        <a:lstStyle/>
        <a:p>
          <a:endParaRPr lang="en-US"/>
        </a:p>
      </dgm:t>
    </dgm:pt>
    <dgm:pt modelId="{6DA4AAFE-429F-489B-91ED-08FB3BF54110}" type="sibTrans" cxnId="{BE4C9AF1-D175-4190-956C-E575898133B0}">
      <dgm:prSet/>
      <dgm:spPr/>
      <dgm:t>
        <a:bodyPr/>
        <a:lstStyle/>
        <a:p>
          <a:endParaRPr lang="en-US"/>
        </a:p>
      </dgm:t>
    </dgm:pt>
    <dgm:pt modelId="{F7F7C9CC-CBF7-4EC6-A201-AF42BC40F2A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endParaRPr lang="en-US" sz="1800" b="0" dirty="0"/>
        </a:p>
      </dgm:t>
    </dgm:pt>
    <dgm:pt modelId="{9087CC11-EF03-4DA5-ABF7-19F2B693FB4C}" type="parTrans" cxnId="{E3215492-455E-4EA7-919D-4D44F840E9C9}">
      <dgm:prSet/>
      <dgm:spPr/>
      <dgm:t>
        <a:bodyPr/>
        <a:lstStyle/>
        <a:p>
          <a:endParaRPr lang="en-US"/>
        </a:p>
      </dgm:t>
    </dgm:pt>
    <dgm:pt modelId="{43B95110-FECF-4DEB-82CB-554B129E2221}" type="sibTrans" cxnId="{E3215492-455E-4EA7-919D-4D44F840E9C9}">
      <dgm:prSet/>
      <dgm:spPr/>
      <dgm:t>
        <a:bodyPr/>
        <a:lstStyle/>
        <a:p>
          <a:endParaRPr lang="en-US"/>
        </a:p>
      </dgm:t>
    </dgm:pt>
    <dgm:pt modelId="{8AA02574-A625-4CCB-B607-53FB332909CE}">
      <dgm:prSet phldrT="[Text]"/>
      <dgm:spPr>
        <a:solidFill>
          <a:srgbClr val="59CAE8"/>
        </a:solidFill>
        <a:ln>
          <a:solidFill>
            <a:srgbClr val="59CAE8"/>
          </a:solidFill>
        </a:ln>
      </dgm:spPr>
      <dgm:t>
        <a:bodyPr/>
        <a:lstStyle/>
        <a:p>
          <a:r>
            <a:rPr lang="en-US" b="1" dirty="0"/>
            <a:t>SALES ADMINISTRATION</a:t>
          </a:r>
        </a:p>
      </dgm:t>
    </dgm:pt>
    <dgm:pt modelId="{03E4F07C-7651-4A84-978A-18980E54788A}" type="parTrans" cxnId="{04823003-2C67-4DC4-A96A-9D1D87D33B2A}">
      <dgm:prSet/>
      <dgm:spPr/>
      <dgm:t>
        <a:bodyPr/>
        <a:lstStyle/>
        <a:p>
          <a:endParaRPr lang="en-US"/>
        </a:p>
      </dgm:t>
    </dgm:pt>
    <dgm:pt modelId="{A59D420A-0509-48A4-84B8-BD859CBDE972}" type="sibTrans" cxnId="{04823003-2C67-4DC4-A96A-9D1D87D33B2A}">
      <dgm:prSet/>
      <dgm:spPr/>
      <dgm:t>
        <a:bodyPr/>
        <a:lstStyle/>
        <a:p>
          <a:endParaRPr lang="en-US"/>
        </a:p>
      </dgm:t>
    </dgm:pt>
    <dgm:pt modelId="{8F0095CA-0C27-493A-9874-D794A8A7353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endParaRPr lang="en-US" sz="1800" b="0" dirty="0"/>
        </a:p>
      </dgm:t>
    </dgm:pt>
    <dgm:pt modelId="{CDC7246F-F150-4E81-9FFD-97B9BE41076B}" type="parTrans" cxnId="{A94A4D77-D410-4172-B3AA-E2ACA791F98F}">
      <dgm:prSet/>
      <dgm:spPr/>
      <dgm:t>
        <a:bodyPr/>
        <a:lstStyle/>
        <a:p>
          <a:endParaRPr lang="en-US"/>
        </a:p>
      </dgm:t>
    </dgm:pt>
    <dgm:pt modelId="{510451AB-9983-4AEA-8022-D0BC130E6092}" type="sibTrans" cxnId="{A94A4D77-D410-4172-B3AA-E2ACA791F98F}">
      <dgm:prSet/>
      <dgm:spPr/>
      <dgm:t>
        <a:bodyPr/>
        <a:lstStyle/>
        <a:p>
          <a:endParaRPr lang="en-US"/>
        </a:p>
      </dgm:t>
    </dgm:pt>
    <dgm:pt modelId="{B1FA3D48-7F41-4C46-99D6-6C8591F4198C}">
      <dgm:prSet phldrT="[Text]"/>
      <dgm:spPr>
        <a:solidFill>
          <a:schemeClr val="lt1">
            <a:hueOff val="0"/>
            <a:satOff val="0"/>
            <a:lumOff val="0"/>
            <a:alpha val="80000"/>
          </a:schemeClr>
        </a:solidFill>
        <a:ln>
          <a:solidFill>
            <a:schemeClr val="bg1">
              <a:lumMod val="65000"/>
            </a:schemeClr>
          </a:solidFill>
        </a:ln>
      </dgm:spPr>
      <dgm:t>
        <a:bodyPr tIns="91440"/>
        <a:lstStyle/>
        <a:p>
          <a:pPr marL="114300" indent="0">
            <a:lnSpc>
              <a:spcPct val="100000"/>
            </a:lnSpc>
            <a:spcAft>
              <a:spcPts val="300"/>
            </a:spcAft>
          </a:pPr>
          <a:endParaRPr lang="en-US" sz="1500" b="0" dirty="0"/>
        </a:p>
      </dgm:t>
    </dgm:pt>
    <dgm:pt modelId="{012C922E-7A6C-43B7-A753-53C75D0CB07F}" type="parTrans" cxnId="{EBF30808-A408-4F9D-B9C2-E5FC4507A989}">
      <dgm:prSet/>
      <dgm:spPr/>
      <dgm:t>
        <a:bodyPr/>
        <a:lstStyle/>
        <a:p>
          <a:endParaRPr lang="en-US"/>
        </a:p>
      </dgm:t>
    </dgm:pt>
    <dgm:pt modelId="{4E6B45C1-37A8-43E1-8B00-EA4364BA9A53}" type="sibTrans" cxnId="{EBF30808-A408-4F9D-B9C2-E5FC4507A989}">
      <dgm:prSet/>
      <dgm:spPr/>
      <dgm:t>
        <a:bodyPr/>
        <a:lstStyle/>
        <a:p>
          <a:endParaRPr lang="en-US"/>
        </a:p>
      </dgm:t>
    </dgm:pt>
    <dgm:pt modelId="{5E564713-3E5C-4216-AC76-2C8D569707A1}">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0C8DA182-D421-4374-AA69-62A4033F8D61}" type="parTrans" cxnId="{D5EF1BE8-567B-4AEB-9931-155FFDAC15D1}">
      <dgm:prSet/>
      <dgm:spPr/>
      <dgm:t>
        <a:bodyPr/>
        <a:lstStyle/>
        <a:p>
          <a:endParaRPr lang="en-US"/>
        </a:p>
      </dgm:t>
    </dgm:pt>
    <dgm:pt modelId="{C594015F-2B43-47FD-9E44-22D00FC6EB48}" type="sibTrans" cxnId="{D5EF1BE8-567B-4AEB-9931-155FFDAC15D1}">
      <dgm:prSet/>
      <dgm:spPr/>
      <dgm:t>
        <a:bodyPr/>
        <a:lstStyle/>
        <a:p>
          <a:endParaRPr lang="en-US"/>
        </a:p>
      </dgm:t>
    </dgm:pt>
    <dgm:pt modelId="{02E691F9-88D3-4BD2-83C9-F0036F6DAFD4}" type="pres">
      <dgm:prSet presAssocID="{FD150493-506C-4796-9188-B229C3F673EE}" presName="diagram" presStyleCnt="0">
        <dgm:presLayoutVars>
          <dgm:dir/>
          <dgm:animLvl val="lvl"/>
          <dgm:resizeHandles val="exact"/>
        </dgm:presLayoutVars>
      </dgm:prSet>
      <dgm:spPr/>
    </dgm:pt>
    <dgm:pt modelId="{58D04B40-D6D0-4E84-B95B-18F2C07DF5B9}" type="pres">
      <dgm:prSet presAssocID="{D23E581B-AA16-403B-8AF5-1BB3E719881C}" presName="compNode" presStyleCnt="0"/>
      <dgm:spPr/>
    </dgm:pt>
    <dgm:pt modelId="{3F010C22-B439-4BEC-A07A-60ED666B2E08}" type="pres">
      <dgm:prSet presAssocID="{D23E581B-AA16-403B-8AF5-1BB3E719881C}" presName="childRect" presStyleLbl="bgAcc1" presStyleIdx="0" presStyleCnt="3" custScaleY="106070">
        <dgm:presLayoutVars>
          <dgm:bulletEnabled val="1"/>
        </dgm:presLayoutVars>
      </dgm:prSet>
      <dgm:spPr/>
    </dgm:pt>
    <dgm:pt modelId="{5F2862EE-15F0-400F-BA0C-7A5864BA0266}" type="pres">
      <dgm:prSet presAssocID="{D23E581B-AA16-403B-8AF5-1BB3E719881C}" presName="parentText" presStyleLbl="node1" presStyleIdx="0" presStyleCnt="0">
        <dgm:presLayoutVars>
          <dgm:chMax val="0"/>
          <dgm:bulletEnabled val="1"/>
        </dgm:presLayoutVars>
      </dgm:prSet>
      <dgm:spPr/>
    </dgm:pt>
    <dgm:pt modelId="{CBD6250E-21D7-41DA-B5C6-ED9529780301}" type="pres">
      <dgm:prSet presAssocID="{D23E581B-AA16-403B-8AF5-1BB3E719881C}" presName="parentRect" presStyleLbl="alignNode1" presStyleIdx="0" presStyleCnt="3"/>
      <dgm:spPr/>
    </dgm:pt>
    <dgm:pt modelId="{C9DDB7FA-A0FA-4D6A-949B-B117078ADD34}" type="pres">
      <dgm:prSet presAssocID="{D23E581B-AA16-403B-8AF5-1BB3E719881C}" presName="adorn" presStyleLbl="fgAccFollowNode1" presStyleIdx="0" presStyleCnt="3"/>
      <dgm:spPr>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dgm:spPr>
    </dgm:pt>
    <dgm:pt modelId="{E77E4508-34B4-407E-AA04-E065337321D5}" type="pres">
      <dgm:prSet presAssocID="{1A5DEF5B-E65A-4FF8-AF95-9D9360F04B85}" presName="sibTrans" presStyleLbl="sibTrans2D1" presStyleIdx="0" presStyleCnt="0"/>
      <dgm:spPr/>
    </dgm:pt>
    <dgm:pt modelId="{9DA3E70E-BD71-4D3F-B533-03B38D4C3DF0}" type="pres">
      <dgm:prSet presAssocID="{137481BD-655E-4B21-9249-6EBB92970AA3}" presName="compNode" presStyleCnt="0"/>
      <dgm:spPr/>
    </dgm:pt>
    <dgm:pt modelId="{8C4E3136-41AF-48D5-891D-C7A5263CF655}" type="pres">
      <dgm:prSet presAssocID="{137481BD-655E-4B21-9249-6EBB92970AA3}" presName="childRect" presStyleLbl="bgAcc1" presStyleIdx="1" presStyleCnt="3" custScaleY="106070">
        <dgm:presLayoutVars>
          <dgm:bulletEnabled val="1"/>
        </dgm:presLayoutVars>
      </dgm:prSet>
      <dgm:spPr/>
    </dgm:pt>
    <dgm:pt modelId="{87CDE648-3631-45A2-81CB-A378391DE746}" type="pres">
      <dgm:prSet presAssocID="{137481BD-655E-4B21-9249-6EBB92970AA3}" presName="parentText" presStyleLbl="node1" presStyleIdx="0" presStyleCnt="0">
        <dgm:presLayoutVars>
          <dgm:chMax val="0"/>
          <dgm:bulletEnabled val="1"/>
        </dgm:presLayoutVars>
      </dgm:prSet>
      <dgm:spPr/>
    </dgm:pt>
    <dgm:pt modelId="{79A312E4-6849-4D68-ADD1-B772AC6F907C}" type="pres">
      <dgm:prSet presAssocID="{137481BD-655E-4B21-9249-6EBB92970AA3}" presName="parentRect" presStyleLbl="alignNode1" presStyleIdx="1" presStyleCnt="3"/>
      <dgm:spPr/>
    </dgm:pt>
    <dgm:pt modelId="{59AE0CE5-CBA7-420A-835A-5F5591837FE8}" type="pres">
      <dgm:prSet presAssocID="{137481BD-655E-4B21-9249-6EBB92970AA3}" presName="adorn" presStyleLbl="fgAccFollowNode1" presStyleIdx="1" presStyleCnt="3"/>
      <dgm:spPr>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dgm:spPr>
    </dgm:pt>
    <dgm:pt modelId="{D3E0BD9C-A15C-4128-8A3E-11E4925B5449}" type="pres">
      <dgm:prSet presAssocID="{6DA4AAFE-429F-489B-91ED-08FB3BF54110}" presName="sibTrans" presStyleLbl="sibTrans2D1" presStyleIdx="0" presStyleCnt="0"/>
      <dgm:spPr/>
    </dgm:pt>
    <dgm:pt modelId="{FEE7CB4D-9AA0-4FA3-ACBC-9D2E9B793FB1}" type="pres">
      <dgm:prSet presAssocID="{8AA02574-A625-4CCB-B607-53FB332909CE}" presName="compNode" presStyleCnt="0"/>
      <dgm:spPr/>
    </dgm:pt>
    <dgm:pt modelId="{35B06EAE-30F4-4745-ACED-5452905F1416}" type="pres">
      <dgm:prSet presAssocID="{8AA02574-A625-4CCB-B607-53FB332909CE}" presName="childRect" presStyleLbl="bgAcc1" presStyleIdx="2" presStyleCnt="3" custScaleY="106070">
        <dgm:presLayoutVars>
          <dgm:bulletEnabled val="1"/>
        </dgm:presLayoutVars>
      </dgm:prSet>
      <dgm:spPr/>
    </dgm:pt>
    <dgm:pt modelId="{9E8AA967-F63D-4462-B3DF-2E61DCE37D82}" type="pres">
      <dgm:prSet presAssocID="{8AA02574-A625-4CCB-B607-53FB332909CE}" presName="parentText" presStyleLbl="node1" presStyleIdx="0" presStyleCnt="0">
        <dgm:presLayoutVars>
          <dgm:chMax val="0"/>
          <dgm:bulletEnabled val="1"/>
        </dgm:presLayoutVars>
      </dgm:prSet>
      <dgm:spPr/>
    </dgm:pt>
    <dgm:pt modelId="{A8558B5A-0979-484B-BD3E-256476C68F9A}" type="pres">
      <dgm:prSet presAssocID="{8AA02574-A625-4CCB-B607-53FB332909CE}" presName="parentRect" presStyleLbl="alignNode1" presStyleIdx="2" presStyleCnt="3"/>
      <dgm:spPr/>
    </dgm:pt>
    <dgm:pt modelId="{1AE27240-F06A-48BF-83C8-82D83CBD609C}" type="pres">
      <dgm:prSet presAssocID="{8AA02574-A625-4CCB-B607-53FB332909CE}" presName="adorn" presStyleLbl="fgAccFollowNode1" presStyleIdx="2" presStyleCnt="3"/>
      <dgm:spPr>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dgm:spPr>
    </dgm:pt>
  </dgm:ptLst>
  <dgm:cxnLst>
    <dgm:cxn modelId="{04823003-2C67-4DC4-A96A-9D1D87D33B2A}" srcId="{FD150493-506C-4796-9188-B229C3F673EE}" destId="{8AA02574-A625-4CCB-B607-53FB332909CE}" srcOrd="2" destOrd="0" parTransId="{03E4F07C-7651-4A84-978A-18980E54788A}" sibTransId="{A59D420A-0509-48A4-84B8-BD859CBDE972}"/>
    <dgm:cxn modelId="{54060E05-1455-499C-A6BB-E47A1C8EFC1A}" type="presOf" srcId="{B1FA3D48-7F41-4C46-99D6-6C8591F4198C}" destId="{8C4E3136-41AF-48D5-891D-C7A5263CF655}" srcOrd="0" destOrd="1" presId="urn:microsoft.com/office/officeart/2005/8/layout/bList2"/>
    <dgm:cxn modelId="{EBF30808-A408-4F9D-B9C2-E5FC4507A989}" srcId="{137481BD-655E-4B21-9249-6EBB92970AA3}" destId="{B1FA3D48-7F41-4C46-99D6-6C8591F4198C}" srcOrd="1" destOrd="0" parTransId="{012C922E-7A6C-43B7-A753-53C75D0CB07F}" sibTransId="{4E6B45C1-37A8-43E1-8B00-EA4364BA9A53}"/>
    <dgm:cxn modelId="{67E03231-DB0E-4277-AB75-FBA53D566E93}" type="presOf" srcId="{6DA4AAFE-429F-489B-91ED-08FB3BF54110}" destId="{D3E0BD9C-A15C-4128-8A3E-11E4925B5449}" srcOrd="0" destOrd="0" presId="urn:microsoft.com/office/officeart/2005/8/layout/bList2"/>
    <dgm:cxn modelId="{83C4A231-D186-4969-BA3D-B7D11C49A7DB}" type="presOf" srcId="{FD150493-506C-4796-9188-B229C3F673EE}" destId="{02E691F9-88D3-4BD2-83C9-F0036F6DAFD4}" srcOrd="0" destOrd="0" presId="urn:microsoft.com/office/officeart/2005/8/layout/bList2"/>
    <dgm:cxn modelId="{2F92E761-FCD0-4BDD-A76B-9C732D3383BD}" srcId="{FD150493-506C-4796-9188-B229C3F673EE}" destId="{D23E581B-AA16-403B-8AF5-1BB3E719881C}" srcOrd="0" destOrd="0" parTransId="{B1EFF21B-7CA5-4F93-B9E5-5284C3F28E15}" sibTransId="{1A5DEF5B-E65A-4FF8-AF95-9D9360F04B85}"/>
    <dgm:cxn modelId="{6F5B0544-A529-4966-AB26-9F11B7AE40CA}" type="presOf" srcId="{137481BD-655E-4B21-9249-6EBB92970AA3}" destId="{79A312E4-6849-4D68-ADD1-B772AC6F907C}" srcOrd="1" destOrd="0" presId="urn:microsoft.com/office/officeart/2005/8/layout/bList2"/>
    <dgm:cxn modelId="{A94A4D77-D410-4172-B3AA-E2ACA791F98F}" srcId="{8AA02574-A625-4CCB-B607-53FB332909CE}" destId="{8F0095CA-0C27-493A-9874-D794A8A73536}" srcOrd="0" destOrd="0" parTransId="{CDC7246F-F150-4E81-9FFD-97B9BE41076B}" sibTransId="{510451AB-9983-4AEA-8022-D0BC130E6092}"/>
    <dgm:cxn modelId="{EEE04859-9D6F-4F7C-A816-0425AD38F258}" type="presOf" srcId="{D23E581B-AA16-403B-8AF5-1BB3E719881C}" destId="{CBD6250E-21D7-41DA-B5C6-ED9529780301}" srcOrd="1" destOrd="0" presId="urn:microsoft.com/office/officeart/2005/8/layout/bList2"/>
    <dgm:cxn modelId="{C3C9F559-4F82-4941-A725-E9BCE191CFCA}" type="presOf" srcId="{5E564713-3E5C-4216-AC76-2C8D569707A1}" destId="{35B06EAE-30F4-4745-ACED-5452905F1416}" srcOrd="0" destOrd="1" presId="urn:microsoft.com/office/officeart/2005/8/layout/bList2"/>
    <dgm:cxn modelId="{49843980-F694-4D65-86B3-4D28E75D1CAD}" type="presOf" srcId="{137481BD-655E-4B21-9249-6EBB92970AA3}" destId="{87CDE648-3631-45A2-81CB-A378391DE746}" srcOrd="0" destOrd="0" presId="urn:microsoft.com/office/officeart/2005/8/layout/bList2"/>
    <dgm:cxn modelId="{BAD32D88-086B-4163-8EEE-CFA5FBE13314}" type="presOf" srcId="{F7F7C9CC-CBF7-4EC6-A201-AF42BC40F2A0}" destId="{8C4E3136-41AF-48D5-891D-C7A5263CF655}" srcOrd="0" destOrd="0" presId="urn:microsoft.com/office/officeart/2005/8/layout/bList2"/>
    <dgm:cxn modelId="{E3215492-455E-4EA7-919D-4D44F840E9C9}" srcId="{137481BD-655E-4B21-9249-6EBB92970AA3}" destId="{F7F7C9CC-CBF7-4EC6-A201-AF42BC40F2A0}" srcOrd="0" destOrd="0" parTransId="{9087CC11-EF03-4DA5-ABF7-19F2B693FB4C}" sibTransId="{43B95110-FECF-4DEB-82CB-554B129E2221}"/>
    <dgm:cxn modelId="{F91C5992-82A2-4E51-88AD-3B34B316A11D}" srcId="{D23E581B-AA16-403B-8AF5-1BB3E719881C}" destId="{7FF46690-C008-4C6D-8B8B-295F75E0DB90}" srcOrd="0" destOrd="0" parTransId="{8D0C7DC4-BF81-461E-AD4F-3807C09AE856}" sibTransId="{B3C1D7E9-AE25-4261-B242-F121DEE18B6F}"/>
    <dgm:cxn modelId="{92EAACA0-EC69-4A7A-A0D6-B767ABABFD4D}" type="presOf" srcId="{8AA02574-A625-4CCB-B607-53FB332909CE}" destId="{9E8AA967-F63D-4462-B3DF-2E61DCE37D82}" srcOrd="0" destOrd="0" presId="urn:microsoft.com/office/officeart/2005/8/layout/bList2"/>
    <dgm:cxn modelId="{FB851ADA-FDC3-4AC9-B5D1-634F1680EA45}" type="presOf" srcId="{D23E581B-AA16-403B-8AF5-1BB3E719881C}" destId="{5F2862EE-15F0-400F-BA0C-7A5864BA0266}" srcOrd="0" destOrd="0" presId="urn:microsoft.com/office/officeart/2005/8/layout/bList2"/>
    <dgm:cxn modelId="{D5EF1BE8-567B-4AEB-9931-155FFDAC15D1}" srcId="{8AA02574-A625-4CCB-B607-53FB332909CE}" destId="{5E564713-3E5C-4216-AC76-2C8D569707A1}" srcOrd="1" destOrd="0" parTransId="{0C8DA182-D421-4374-AA69-62A4033F8D61}" sibTransId="{C594015F-2B43-47FD-9E44-22D00FC6EB48}"/>
    <dgm:cxn modelId="{AECB39EB-1DBA-434A-8146-CF9B196B8451}" type="presOf" srcId="{8F0095CA-0C27-493A-9874-D794A8A73536}" destId="{35B06EAE-30F4-4745-ACED-5452905F1416}" srcOrd="0" destOrd="0" presId="urn:microsoft.com/office/officeart/2005/8/layout/bList2"/>
    <dgm:cxn modelId="{A3AD3BED-9760-4A23-A6A8-1FADD02C6B08}" type="presOf" srcId="{1A5DEF5B-E65A-4FF8-AF95-9D9360F04B85}" destId="{E77E4508-34B4-407E-AA04-E065337321D5}" srcOrd="0" destOrd="0" presId="urn:microsoft.com/office/officeart/2005/8/layout/bList2"/>
    <dgm:cxn modelId="{758129EF-89A9-4155-9DEC-39FAD16AFE4C}" type="presOf" srcId="{7FF46690-C008-4C6D-8B8B-295F75E0DB90}" destId="{3F010C22-B439-4BEC-A07A-60ED666B2E08}" srcOrd="0" destOrd="0" presId="urn:microsoft.com/office/officeart/2005/8/layout/bList2"/>
    <dgm:cxn modelId="{9E65D2EF-C724-4A4E-A250-0CDA6B8D3B0C}" type="presOf" srcId="{8AA02574-A625-4CCB-B607-53FB332909CE}" destId="{A8558B5A-0979-484B-BD3E-256476C68F9A}" srcOrd="1" destOrd="0" presId="urn:microsoft.com/office/officeart/2005/8/layout/bList2"/>
    <dgm:cxn modelId="{BE4C9AF1-D175-4190-956C-E575898133B0}" srcId="{FD150493-506C-4796-9188-B229C3F673EE}" destId="{137481BD-655E-4B21-9249-6EBB92970AA3}" srcOrd="1" destOrd="0" parTransId="{ACB6711E-EC99-4F64-AEE7-58413CCAC090}" sibTransId="{6DA4AAFE-429F-489B-91ED-08FB3BF54110}"/>
    <dgm:cxn modelId="{B5885EA0-DA88-4518-B897-8E4982D27502}" type="presParOf" srcId="{02E691F9-88D3-4BD2-83C9-F0036F6DAFD4}" destId="{58D04B40-D6D0-4E84-B95B-18F2C07DF5B9}" srcOrd="0" destOrd="0" presId="urn:microsoft.com/office/officeart/2005/8/layout/bList2"/>
    <dgm:cxn modelId="{0CC27C19-DFA1-4B50-89B5-9D9EF36DF7F7}" type="presParOf" srcId="{58D04B40-D6D0-4E84-B95B-18F2C07DF5B9}" destId="{3F010C22-B439-4BEC-A07A-60ED666B2E08}" srcOrd="0" destOrd="0" presId="urn:microsoft.com/office/officeart/2005/8/layout/bList2"/>
    <dgm:cxn modelId="{902D026E-25F8-4507-85F1-8886A8485D85}" type="presParOf" srcId="{58D04B40-D6D0-4E84-B95B-18F2C07DF5B9}" destId="{5F2862EE-15F0-400F-BA0C-7A5864BA0266}" srcOrd="1" destOrd="0" presId="urn:microsoft.com/office/officeart/2005/8/layout/bList2"/>
    <dgm:cxn modelId="{200FCB12-E1A4-4B3E-91D1-228A8C46AB54}" type="presParOf" srcId="{58D04B40-D6D0-4E84-B95B-18F2C07DF5B9}" destId="{CBD6250E-21D7-41DA-B5C6-ED9529780301}" srcOrd="2" destOrd="0" presId="urn:microsoft.com/office/officeart/2005/8/layout/bList2"/>
    <dgm:cxn modelId="{7012B8A7-875F-46B3-8C5A-A9BD60F7D309}" type="presParOf" srcId="{58D04B40-D6D0-4E84-B95B-18F2C07DF5B9}" destId="{C9DDB7FA-A0FA-4D6A-949B-B117078ADD34}" srcOrd="3" destOrd="0" presId="urn:microsoft.com/office/officeart/2005/8/layout/bList2"/>
    <dgm:cxn modelId="{BC40FDAD-F912-41AF-8C81-6A33BE58279A}" type="presParOf" srcId="{02E691F9-88D3-4BD2-83C9-F0036F6DAFD4}" destId="{E77E4508-34B4-407E-AA04-E065337321D5}" srcOrd="1" destOrd="0" presId="urn:microsoft.com/office/officeart/2005/8/layout/bList2"/>
    <dgm:cxn modelId="{FF99F07A-CF7A-4B8D-99C8-32ABC0973A79}" type="presParOf" srcId="{02E691F9-88D3-4BD2-83C9-F0036F6DAFD4}" destId="{9DA3E70E-BD71-4D3F-B533-03B38D4C3DF0}" srcOrd="2" destOrd="0" presId="urn:microsoft.com/office/officeart/2005/8/layout/bList2"/>
    <dgm:cxn modelId="{293E5CD8-2971-4070-8F9A-C3CF67512C00}" type="presParOf" srcId="{9DA3E70E-BD71-4D3F-B533-03B38D4C3DF0}" destId="{8C4E3136-41AF-48D5-891D-C7A5263CF655}" srcOrd="0" destOrd="0" presId="urn:microsoft.com/office/officeart/2005/8/layout/bList2"/>
    <dgm:cxn modelId="{03C40921-D762-4C86-9E2B-9930035E07F1}" type="presParOf" srcId="{9DA3E70E-BD71-4D3F-B533-03B38D4C3DF0}" destId="{87CDE648-3631-45A2-81CB-A378391DE746}" srcOrd="1" destOrd="0" presId="urn:microsoft.com/office/officeart/2005/8/layout/bList2"/>
    <dgm:cxn modelId="{B22706E5-299E-4A4D-BE8A-BEA92B369AC1}" type="presParOf" srcId="{9DA3E70E-BD71-4D3F-B533-03B38D4C3DF0}" destId="{79A312E4-6849-4D68-ADD1-B772AC6F907C}" srcOrd="2" destOrd="0" presId="urn:microsoft.com/office/officeart/2005/8/layout/bList2"/>
    <dgm:cxn modelId="{BA59C74A-96C1-4D66-B62F-0D9FD3E10D2E}" type="presParOf" srcId="{9DA3E70E-BD71-4D3F-B533-03B38D4C3DF0}" destId="{59AE0CE5-CBA7-420A-835A-5F5591837FE8}" srcOrd="3" destOrd="0" presId="urn:microsoft.com/office/officeart/2005/8/layout/bList2"/>
    <dgm:cxn modelId="{D569563E-4821-4932-9DEE-077AF6C7AC8D}" type="presParOf" srcId="{02E691F9-88D3-4BD2-83C9-F0036F6DAFD4}" destId="{D3E0BD9C-A15C-4128-8A3E-11E4925B5449}" srcOrd="3" destOrd="0" presId="urn:microsoft.com/office/officeart/2005/8/layout/bList2"/>
    <dgm:cxn modelId="{BA380A69-4FA1-47AC-9025-058A2CE8BDB0}" type="presParOf" srcId="{02E691F9-88D3-4BD2-83C9-F0036F6DAFD4}" destId="{FEE7CB4D-9AA0-4FA3-ACBC-9D2E9B793FB1}" srcOrd="4" destOrd="0" presId="urn:microsoft.com/office/officeart/2005/8/layout/bList2"/>
    <dgm:cxn modelId="{7816995C-B8DE-43A8-95DC-F6E98D106E71}" type="presParOf" srcId="{FEE7CB4D-9AA0-4FA3-ACBC-9D2E9B793FB1}" destId="{35B06EAE-30F4-4745-ACED-5452905F1416}" srcOrd="0" destOrd="0" presId="urn:microsoft.com/office/officeart/2005/8/layout/bList2"/>
    <dgm:cxn modelId="{282DD5D8-A007-4939-9EE0-EB47E62C0F7D}" type="presParOf" srcId="{FEE7CB4D-9AA0-4FA3-ACBC-9D2E9B793FB1}" destId="{9E8AA967-F63D-4462-B3DF-2E61DCE37D82}" srcOrd="1" destOrd="0" presId="urn:microsoft.com/office/officeart/2005/8/layout/bList2"/>
    <dgm:cxn modelId="{D9AD3E0C-08BA-47EA-993B-0B017926FEC1}" type="presParOf" srcId="{FEE7CB4D-9AA0-4FA3-ACBC-9D2E9B793FB1}" destId="{A8558B5A-0979-484B-BD3E-256476C68F9A}" srcOrd="2" destOrd="0" presId="urn:microsoft.com/office/officeart/2005/8/layout/bList2"/>
    <dgm:cxn modelId="{AB163A00-5796-4F8F-85A5-9EA91057261F}" type="presParOf" srcId="{FEE7CB4D-9AA0-4FA3-ACBC-9D2E9B793FB1}" destId="{1AE27240-F06A-48BF-83C8-82D83CBD609C}"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010C22-B439-4BEC-A07A-60ED666B2E08}">
      <dsp:nvSpPr>
        <dsp:cNvPr id="0" name=""/>
        <dsp:cNvSpPr/>
      </dsp:nvSpPr>
      <dsp:spPr>
        <a:xfrm>
          <a:off x="724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endParaRPr lang="en-US" sz="1800" b="0" kern="1200" dirty="0"/>
        </a:p>
      </dsp:txBody>
      <dsp:txXfrm>
        <a:off x="65274" y="739765"/>
        <a:ext cx="3011912" cy="2418668"/>
      </dsp:txXfrm>
    </dsp:sp>
    <dsp:sp modelId="{CBD6250E-21D7-41DA-B5C6-ED9529780301}">
      <dsp:nvSpPr>
        <dsp:cNvPr id="0" name=""/>
        <dsp:cNvSpPr/>
      </dsp:nvSpPr>
      <dsp:spPr>
        <a:xfrm>
          <a:off x="724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BROKER DEVELOPMENT</a:t>
          </a:r>
        </a:p>
      </dsp:txBody>
      <dsp:txXfrm>
        <a:off x="7242" y="3087567"/>
        <a:ext cx="2202800" cy="1004036"/>
      </dsp:txXfrm>
    </dsp:sp>
    <dsp:sp modelId="{C9DDB7FA-A0FA-4D6A-949B-B117078ADD34}">
      <dsp:nvSpPr>
        <dsp:cNvPr id="0" name=""/>
        <dsp:cNvSpPr/>
      </dsp:nvSpPr>
      <dsp:spPr>
        <a:xfrm>
          <a:off x="2298527" y="3247049"/>
          <a:ext cx="1094791" cy="1094791"/>
        </a:xfrm>
        <a:prstGeom prst="ellipse">
          <a:avLst/>
        </a:prstGeom>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4E3136-41AF-48D5-891D-C7A5263CF655}">
      <dsp:nvSpPr>
        <dsp:cNvPr id="0" name=""/>
        <dsp:cNvSpPr/>
      </dsp:nvSpPr>
      <dsp:spPr>
        <a:xfrm>
          <a:off x="3664547"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endParaRPr lang="en-US" sz="1800" b="0" kern="1200" dirty="0"/>
        </a:p>
        <a:p>
          <a:pPr marL="114300" lvl="1" indent="0" algn="l" defTabSz="666750">
            <a:lnSpc>
              <a:spcPct val="100000"/>
            </a:lnSpc>
            <a:spcBef>
              <a:spcPct val="0"/>
            </a:spcBef>
            <a:spcAft>
              <a:spcPts val="300"/>
            </a:spcAft>
            <a:buChar char="•"/>
          </a:pPr>
          <a:endParaRPr lang="en-US" sz="1500" b="0" kern="1200" dirty="0"/>
        </a:p>
      </dsp:txBody>
      <dsp:txXfrm>
        <a:off x="3722579" y="739765"/>
        <a:ext cx="3011912" cy="2418668"/>
      </dsp:txXfrm>
    </dsp:sp>
    <dsp:sp modelId="{79A312E4-6849-4D68-ADD1-B772AC6F907C}">
      <dsp:nvSpPr>
        <dsp:cNvPr id="0" name=""/>
        <dsp:cNvSpPr/>
      </dsp:nvSpPr>
      <dsp:spPr>
        <a:xfrm>
          <a:off x="3664547"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DIRECT SALES</a:t>
          </a:r>
        </a:p>
      </dsp:txBody>
      <dsp:txXfrm>
        <a:off x="3664547" y="3087567"/>
        <a:ext cx="2202800" cy="1004036"/>
      </dsp:txXfrm>
    </dsp:sp>
    <dsp:sp modelId="{59AE0CE5-CBA7-420A-835A-5F5591837FE8}">
      <dsp:nvSpPr>
        <dsp:cNvPr id="0" name=""/>
        <dsp:cNvSpPr/>
      </dsp:nvSpPr>
      <dsp:spPr>
        <a:xfrm>
          <a:off x="5955832" y="3247049"/>
          <a:ext cx="1094791" cy="1094791"/>
        </a:xfrm>
        <a:prstGeom prst="ellipse">
          <a:avLst/>
        </a:prstGeom>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B06EAE-30F4-4745-ACED-5452905F1416}">
      <dsp:nvSpPr>
        <dsp:cNvPr id="0" name=""/>
        <dsp:cNvSpPr/>
      </dsp:nvSpPr>
      <dsp:spPr>
        <a:xfrm>
          <a:off x="732185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endParaRPr lang="en-US" sz="1800" b="0" kern="1200" dirty="0"/>
        </a:p>
        <a:p>
          <a:pPr marL="228600" lvl="1" indent="0" algn="l" defTabSz="933450">
            <a:lnSpc>
              <a:spcPct val="100000"/>
            </a:lnSpc>
            <a:spcBef>
              <a:spcPct val="0"/>
            </a:spcBef>
            <a:spcAft>
              <a:spcPts val="300"/>
            </a:spcAft>
            <a:buChar char="•"/>
          </a:pPr>
          <a:endParaRPr lang="en-US" sz="2100" b="0" kern="1200" dirty="0"/>
        </a:p>
      </dsp:txBody>
      <dsp:txXfrm>
        <a:off x="7379884" y="739765"/>
        <a:ext cx="3011912" cy="2418668"/>
      </dsp:txXfrm>
    </dsp:sp>
    <dsp:sp modelId="{A8558B5A-0979-484B-BD3E-256476C68F9A}">
      <dsp:nvSpPr>
        <dsp:cNvPr id="0" name=""/>
        <dsp:cNvSpPr/>
      </dsp:nvSpPr>
      <dsp:spPr>
        <a:xfrm>
          <a:off x="732185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SALES ADMINISTRATION</a:t>
          </a:r>
        </a:p>
      </dsp:txBody>
      <dsp:txXfrm>
        <a:off x="7321852" y="3087567"/>
        <a:ext cx="2202800" cy="1004036"/>
      </dsp:txXfrm>
    </dsp:sp>
    <dsp:sp modelId="{1AE27240-F06A-48BF-83C8-82D83CBD609C}">
      <dsp:nvSpPr>
        <dsp:cNvPr id="0" name=""/>
        <dsp:cNvSpPr/>
      </dsp:nvSpPr>
      <dsp:spPr>
        <a:xfrm>
          <a:off x="9613138" y="3247049"/>
          <a:ext cx="1094791" cy="1094791"/>
        </a:xfrm>
        <a:prstGeom prst="ellipse">
          <a:avLst/>
        </a:prstGeom>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vl1pPr>
          </a:lstStyle>
          <a:p>
            <a:fld id="{7444AE22-21A2-46C1-A42F-3B4E8AE858E0}" type="datetimeFigureOut">
              <a:rPr lang="en-US" smtClean="0"/>
              <a:t>11/20/2024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vl1pPr>
          </a:lstStyle>
          <a:p>
            <a:fld id="{4139CA89-B4B2-4050-B038-8DF8E3A33516}" type="slidenum">
              <a:rPr lang="en-US" smtClean="0"/>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10</a:t>
            </a:fld>
            <a:endParaRPr lang="en-US" dirty="0"/>
          </a:p>
        </p:txBody>
      </p:sp>
    </p:spTree>
    <p:extLst>
      <p:ext uri="{BB962C8B-B14F-4D97-AF65-F5344CB8AC3E}">
        <p14:creationId xmlns:p14="http://schemas.microsoft.com/office/powerpoint/2010/main" val="3189351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11/20/2024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11/20/2024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11/20/2024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11/20/2024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11/20/2024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11/20/2024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11/20/2024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11/20/2024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11/20/2024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11/20/2024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11/20/2024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48873-4569-48AE-9711-BF92EE297A77}" type="datetime1">
              <a:rPr lang="en-US" smtClean="0"/>
              <a:t>11/20/2024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C719D-C4A7-4544-876E-D411D11AF6C9}" type="slidenum">
              <a:rPr lang="en-US" smtClean="0"/>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8.pn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5.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jpeg"/><Relationship Id="rId7" Type="http://schemas.openxmlformats.org/officeDocument/2006/relationships/image" Target="../media/image34.jpeg"/><Relationship Id="rId2" Type="http://schemas.openxmlformats.org/officeDocument/2006/relationships/image" Target="../media/image29.png"/><Relationship Id="rId1" Type="http://schemas.openxmlformats.org/officeDocument/2006/relationships/slideLayout" Target="../slideLayouts/slideLayout6.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image" Target="../media/image37.jpeg"/><Relationship Id="rId4" Type="http://schemas.openxmlformats.org/officeDocument/2006/relationships/image" Target="../media/image31.png"/><Relationship Id="rId9" Type="http://schemas.openxmlformats.org/officeDocument/2006/relationships/image" Target="../media/image36.png"/></Relationships>
</file>

<file path=ppt/slides/_rels/slide25.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Layout" Target="../slideLayouts/slideLayout2.xml"/><Relationship Id="rId6" Type="http://schemas.openxmlformats.org/officeDocument/2006/relationships/image" Target="../media/image43.jpeg"/><Relationship Id="rId5" Type="http://schemas.openxmlformats.org/officeDocument/2006/relationships/image" Target="../media/image42.jpeg"/><Relationship Id="rId4" Type="http://schemas.microsoft.com/office/2007/relationships/hdphoto" Target="../media/hdphoto2.wdp"/></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44.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44.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2.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image" Target="../media/image45.jpeg"/><Relationship Id="rId1" Type="http://schemas.openxmlformats.org/officeDocument/2006/relationships/slideLayout" Target="../slideLayouts/slideLayout6.xml"/><Relationship Id="rId6" Type="http://schemas.openxmlformats.org/officeDocument/2006/relationships/image" Target="../media/image49.svg"/><Relationship Id="rId11" Type="http://schemas.openxmlformats.org/officeDocument/2006/relationships/image" Target="../media/image6.png"/><Relationship Id="rId5" Type="http://schemas.openxmlformats.org/officeDocument/2006/relationships/image" Target="../media/image48.png"/><Relationship Id="rId10" Type="http://schemas.openxmlformats.org/officeDocument/2006/relationships/image" Target="../media/image53.svg"/><Relationship Id="rId4" Type="http://schemas.openxmlformats.org/officeDocument/2006/relationships/image" Target="../media/image47.svg"/><Relationship Id="rId9"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3"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a:t>
            </a:fld>
            <a:endParaRPr lang="en-US" dirty="0"/>
          </a:p>
        </p:txBody>
      </p:sp>
      <p:sp>
        <p:nvSpPr>
          <p:cNvPr id="4"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9">
            <a:extLst>
              <a:ext uri="{FF2B5EF4-FFF2-40B4-BE49-F238E27FC236}">
                <a16:creationId xmlns:a16="http://schemas.microsoft.com/office/drawing/2014/main" id="{B981BBA2-A3ED-6F7B-693B-880E5B031B26}"/>
              </a:ext>
            </a:extLst>
          </p:cNvPr>
          <p:cNvSpPr txBox="1"/>
          <p:nvPr/>
        </p:nvSpPr>
        <p:spPr>
          <a:xfrm>
            <a:off x="896984" y="0"/>
            <a:ext cx="11295016" cy="707886"/>
          </a:xfrm>
          <a:prstGeom prst="rect">
            <a:avLst/>
          </a:prstGeom>
          <a:solidFill>
            <a:srgbClr val="30589B"/>
          </a:solidFill>
          <a:ln>
            <a:noFill/>
          </a:ln>
        </p:spPr>
        <p:txBody>
          <a:bodyPr wrap="square" rtlCol="0">
            <a:spAutoFit/>
          </a:bodyPr>
          <a:lstStyle/>
          <a:p>
            <a:r>
              <a:rPr lang="en-US" sz="2000" b="1" dirty="0">
                <a:solidFill>
                  <a:schemeClr val="bg1"/>
                </a:solidFill>
              </a:rPr>
              <a:t>YALE NEW HAVEN HEALTH SYSTEM DIRECT-TO-EMPLOYER OPPORTUNITY MODELING </a:t>
            </a:r>
          </a:p>
          <a:p>
            <a:r>
              <a:rPr lang="en-US" sz="2000" b="1" dirty="0">
                <a:solidFill>
                  <a:schemeClr val="bg1"/>
                </a:solidFill>
              </a:rPr>
              <a:t>November 21, 2024</a:t>
            </a:r>
          </a:p>
        </p:txBody>
      </p:sp>
      <p:pic>
        <p:nvPicPr>
          <p:cNvPr id="6" name="Picture 5" descr="A close-up of a logo&#10;&#10;Description automatically generated with medium confidence">
            <a:extLst>
              <a:ext uri="{FF2B5EF4-FFF2-40B4-BE49-F238E27FC236}">
                <a16:creationId xmlns:a16="http://schemas.microsoft.com/office/drawing/2014/main" id="{F66A7945-0E55-35D5-B6B3-1588521B85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16318" y="735756"/>
            <a:ext cx="1493520" cy="818092"/>
          </a:xfrm>
          <a:prstGeom prst="rect">
            <a:avLst/>
          </a:prstGeom>
        </p:spPr>
      </p:pic>
      <p:pic>
        <p:nvPicPr>
          <p:cNvPr id="7" name="Content Placeholder 6"/>
          <p:cNvPicPr>
            <a:picLocks noGrp="1"/>
          </p:cNvPicPr>
          <p:nvPr>
            <p:ph/>
          </p:nvPr>
        </p:nvPicPr>
        <p:blipFill>
          <a:blip r:embed="rId3" cstate="print"/>
          <a:stretch>
            <a:fillRect/>
          </a:stretch>
        </p:blipFill>
        <p:spPr>
          <a:xfrm>
            <a:off x="987552" y="1636776"/>
            <a:ext cx="11201400" cy="5221224"/>
          </a:xfrm>
          <a:prstGeom prst="rect">
            <a:avLst/>
          </a:prstGeom>
        </p:spPr>
      </p:pic>
      <p:pic>
        <p:nvPicPr>
          <p:cNvPr id="8" name="Content Placeholder 7"/>
          <p:cNvPicPr>
            <a:picLocks noGrp="1"/>
          </p:cNvPicPr>
          <p:nvPr>
            <p:ph/>
          </p:nvPr>
        </p:nvPicPr>
        <p:blipFill>
          <a:blip r:embed="rId4" cstate="print"/>
          <a:stretch>
            <a:fillRect/>
          </a:stretch>
        </p:blipFill>
        <p:spPr>
          <a:xfrm>
            <a:off x="7408851" y="882339"/>
            <a:ext cx="4780101" cy="524926"/>
          </a:xfrm>
          <a:prstGeom prst="rect">
            <a:avLst/>
          </a:prstGeom>
        </p:spPr>
      </p:pic>
    </p:spTree>
    <p:extLst>
      <p:ext uri="{BB962C8B-B14F-4D97-AF65-F5344CB8AC3E}">
        <p14:creationId xmlns:p14="http://schemas.microsoft.com/office/powerpoint/2010/main" val="636727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6">
            <a:extLst>
              <a:ext uri="{FF2B5EF4-FFF2-40B4-BE49-F238E27FC236}">
                <a16:creationId xmlns:a16="http://schemas.microsoft.com/office/drawing/2014/main" id="{BB5D2E5F-7796-4A80-A1F0-244E8AA938D3}"/>
              </a:ext>
            </a:extLst>
          </p:cNvPr>
          <p:cNvSpPr/>
          <p:nvPr/>
        </p:nvSpPr>
        <p:spPr>
          <a:xfrm>
            <a:off x="0" y="0"/>
            <a:ext cx="3095625" cy="6845654"/>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4" descr="Key Benefit Administrators Office Photos | Glassdoor">
            <a:extLst>
              <a:ext uri="{FF2B5EF4-FFF2-40B4-BE49-F238E27FC236}">
                <a16:creationId xmlns:a16="http://schemas.microsoft.com/office/drawing/2014/main" id="{6CEA05B0-D867-49BD-BC20-745975B6F4C1}"/>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828926" y="0"/>
            <a:ext cx="936307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1">
            <a:extLst>
              <a:ext uri="{FF2B5EF4-FFF2-40B4-BE49-F238E27FC236}">
                <a16:creationId xmlns:a16="http://schemas.microsoft.com/office/drawing/2014/main" id="{F9E7BDA1-C2F0-47FC-8E35-E6C155FA11C4}"/>
              </a:ext>
            </a:extLst>
          </p:cNvPr>
          <p:cNvPicPr>
            <a:picLocks noChangeAspect="1"/>
          </p:cNvPicPr>
          <p:nvPr/>
        </p:nvPicPr>
        <p:blipFill>
          <a:blip r:embed="rId3"/>
          <a:stretch>
            <a:fillRect/>
          </a:stretch>
        </p:blipFill>
        <p:spPr>
          <a:xfrm rot="10800000">
            <a:off x="0" y="-4227"/>
            <a:ext cx="3000375" cy="1000125"/>
          </a:xfrm>
          <a:prstGeom prst="rect">
            <a:avLst/>
          </a:prstGeom>
        </p:spPr>
      </p:pic>
      <p:sp>
        <p:nvSpPr>
          <p:cNvPr id="5"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fld id="{3AFC719D-C4A7-4544-876E-D411D11AF6C9}" type="slidenum">
              <a:rPr lang="en-US" smtClean="0"/>
              <a:t>2</a:t>
            </a:fld>
            <a:endParaRPr lang="en-US" dirty="0"/>
          </a:p>
        </p:txBody>
      </p:sp>
      <p:sp>
        <p:nvSpPr>
          <p:cNvPr id="6" name="Rectangle 23">
            <a:extLst>
              <a:ext uri="{FF2B5EF4-FFF2-40B4-BE49-F238E27FC236}">
                <a16:creationId xmlns:a16="http://schemas.microsoft.com/office/drawing/2014/main" id="{88F9B5E8-D3C0-4885-9F6B-379525D51687}"/>
              </a:ext>
            </a:extLst>
          </p:cNvPr>
          <p:cNvSpPr/>
          <p:nvPr/>
        </p:nvSpPr>
        <p:spPr>
          <a:xfrm>
            <a:off x="-3796" y="1415180"/>
            <a:ext cx="7385671" cy="5439997"/>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Single Corner Rounded 4">
            <a:extLst>
              <a:ext uri="{FF2B5EF4-FFF2-40B4-BE49-F238E27FC236}">
                <a16:creationId xmlns:a16="http://schemas.microsoft.com/office/drawing/2014/main" id="{AD1D7B3D-91CE-4826-90BB-5F92F8BB9481}"/>
              </a:ext>
            </a:extLst>
          </p:cNvPr>
          <p:cNvSpPr/>
          <p:nvPr/>
        </p:nvSpPr>
        <p:spPr>
          <a:xfrm>
            <a:off x="0" y="1009650"/>
            <a:ext cx="7477760" cy="5845528"/>
          </a:xfrm>
          <a:prstGeom prst="round1Rect">
            <a:avLst>
              <a:gd name="adj" fmla="val 12082"/>
            </a:avLst>
          </a:prstGeom>
          <a:solidFill>
            <a:srgbClr val="254F9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lvl="1" defTabSz="914411" fontAlgn="base">
              <a:defRPr/>
            </a:pPr>
            <a:endParaRPr lang="en-US" dirty="0">
              <a:solidFill>
                <a:prstClr val="white"/>
              </a:solidFill>
              <a:latin typeface="Arial" panose="020B0604020202020204" pitchFamily="34" charset="0"/>
              <a:cs typeface="Arial" panose="020B0604020202020204" pitchFamily="34" charset="0"/>
            </a:endParaRPr>
          </a:p>
        </p:txBody>
      </p:sp>
      <p:sp>
        <p:nvSpPr>
          <p:cNvPr id="8" name="Freeform: Shape 5">
            <a:extLst>
              <a:ext uri="{FF2B5EF4-FFF2-40B4-BE49-F238E27FC236}">
                <a16:creationId xmlns:a16="http://schemas.microsoft.com/office/drawing/2014/main" id="{D616A404-B324-4680-9ED6-0746BB2B3A16}"/>
              </a:ext>
            </a:extLst>
          </p:cNvPr>
          <p:cNvSpPr/>
          <p:nvPr/>
        </p:nvSpPr>
        <p:spPr>
          <a:xfrm rot="16200000">
            <a:off x="5385400" y="4759020"/>
            <a:ext cx="1873602" cy="2318710"/>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9" name="TextBox 6">
            <a:extLst>
              <a:ext uri="{FF2B5EF4-FFF2-40B4-BE49-F238E27FC236}">
                <a16:creationId xmlns:a16="http://schemas.microsoft.com/office/drawing/2014/main" id="{B009B747-65C4-4EA6-8340-1E1EB3FE580D}"/>
              </a:ext>
            </a:extLst>
          </p:cNvPr>
          <p:cNvSpPr txBox="1"/>
          <p:nvPr/>
        </p:nvSpPr>
        <p:spPr>
          <a:xfrm>
            <a:off x="452402" y="2374741"/>
            <a:ext cx="6650809" cy="3785652"/>
          </a:xfrm>
          <a:prstGeom prst="rect">
            <a:avLst/>
          </a:prstGeom>
          <a:noFill/>
        </p:spPr>
        <p:txBody>
          <a:bodyPr wrap="square" rtlCol="0">
            <a:spAutoFit/>
          </a:bodyPr>
          <a:lstStyle/>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Founded in 1979 and headquartered in Indianapolis, IN​</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Full-service TPA specializing in the administration of self-funded health plans and population health management​</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One of the country’s largest independently-owned TPAs </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The Key Family is a commonly-held group of benefits related organizations with:​</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3,000+ corporate clients​</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 million members under management​</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700 Employees</a:t>
            </a:r>
          </a:p>
          <a:p>
            <a:pPr marL="285753" indent="-285753" defTabSz="914411">
              <a:lnSpc>
                <a:spcPct val="150000"/>
              </a:lnSpc>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Exclusive Relationships</a:t>
            </a:r>
          </a:p>
          <a:p>
            <a:pPr marL="285753" indent="-285753" defTabSz="914411">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We know The Market – Agents, Networks, and MGAs</a:t>
            </a:r>
          </a:p>
        </p:txBody>
      </p:sp>
      <p:sp>
        <p:nvSpPr>
          <p:cNvPr id="10" name="Footer Placeholder 2">
            <a:extLst>
              <a:ext uri="{FF2B5EF4-FFF2-40B4-BE49-F238E27FC236}">
                <a16:creationId xmlns:a16="http://schemas.microsoft.com/office/drawing/2014/main" id="{EFB33B55-1AEB-4BBC-9F3F-C887F0C42EF5}"/>
              </a:ext>
            </a:extLst>
          </p:cNvPr>
          <p:cNvSpPr>
            <a:spLocks noGrp="1"/>
          </p:cNvSpPr>
          <p:nvPr>
            <p:ph type="ftr" sz="quarter" idx="11"/>
          </p:nvPr>
        </p:nvSpPr>
        <p:spPr>
          <a:xfrm>
            <a:off x="1307458" y="6360415"/>
            <a:ext cx="4114800" cy="365125"/>
          </a:xfrm>
        </p:spPr>
        <p:txBody>
          <a:bodyPr/>
          <a:lstStyle/>
          <a:p>
            <a:r>
              <a:rPr lang="en-US" dirty="0"/>
              <a:t>Key Benefit Administrators</a:t>
            </a:r>
          </a:p>
        </p:txBody>
      </p:sp>
      <p:pic>
        <p:nvPicPr>
          <p:cNvPr id="11" name="Picture 4">
            <a:extLst>
              <a:ext uri="{FF2B5EF4-FFF2-40B4-BE49-F238E27FC236}">
                <a16:creationId xmlns:a16="http://schemas.microsoft.com/office/drawing/2014/main" id="{BA081F8A-34EF-4672-9370-DBC0CA8BE7A3}"/>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52402" y="1312679"/>
            <a:ext cx="3951647" cy="767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1561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983975" y="1574349"/>
            <a:ext cx="7705725" cy="4657725"/>
          </a:xfrm>
          <a:prstGeom prst="rect">
            <a:avLst/>
          </a:prstGeom>
        </p:spPr>
      </p:pic>
      <p:sp>
        <p:nvSpPr>
          <p:cNvPr id="3" name="Footer Placeholder 3">
            <a:extLst>
              <a:ext uri="{FF2B5EF4-FFF2-40B4-BE49-F238E27FC236}">
                <a16:creationId xmlns:a16="http://schemas.microsoft.com/office/drawing/2014/main" id="{226CABA5-B853-4CE2-9D0B-B062457265F2}"/>
              </a:ext>
            </a:extLst>
          </p:cNvPr>
          <p:cNvSpPr>
            <a:spLocks noGrp="1"/>
          </p:cNvSpPr>
          <p:nvPr>
            <p:ph type="ftr" sz="quarter" idx="11"/>
          </p:nvPr>
        </p:nvSpPr>
        <p:spPr>
          <a:xfrm>
            <a:off x="396376" y="6471095"/>
            <a:ext cx="4114800" cy="250380"/>
          </a:xfrm>
        </p:spPr>
        <p:txBody>
          <a:bodyPr/>
          <a:lstStyle/>
          <a:p>
            <a:r>
              <a:rPr lang="en-US" dirty="0"/>
              <a:t>Key Benefit Administrators</a:t>
            </a:r>
          </a:p>
        </p:txBody>
      </p:sp>
      <p:sp>
        <p:nvSpPr>
          <p:cNvPr id="4" name="Rectangle 5">
            <a:extLst>
              <a:ext uri="{FF2B5EF4-FFF2-40B4-BE49-F238E27FC236}">
                <a16:creationId xmlns:a16="http://schemas.microsoft.com/office/drawing/2014/main" id="{F34C8217-D749-4511-B7B5-02F77484B378}"/>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fld id="{3AFC719D-C4A7-4544-876E-D411D11AF6C9}" type="slidenum">
              <a:rPr lang="en-US" smtClean="0"/>
              <a:t>3</a:t>
            </a:fld>
            <a:endParaRPr lang="en-US" dirty="0"/>
          </a:p>
        </p:txBody>
      </p:sp>
      <p:sp>
        <p:nvSpPr>
          <p:cNvPr id="6" name="Title 1">
            <a:extLst>
              <a:ext uri="{FF2B5EF4-FFF2-40B4-BE49-F238E27FC236}">
                <a16:creationId xmlns:a16="http://schemas.microsoft.com/office/drawing/2014/main" id="{553571B1-9896-47E3-8ADF-78C38648412E}"/>
              </a:ext>
            </a:extLst>
          </p:cNvPr>
          <p:cNvSpPr>
            <a:spLocks noGrp="1"/>
          </p:cNvSpPr>
          <p:nvPr>
            <p:ph type="title"/>
          </p:nvPr>
        </p:nvSpPr>
        <p:spPr>
          <a:xfrm>
            <a:off x="396376" y="1023915"/>
            <a:ext cx="9984796" cy="502882"/>
          </a:xfrm>
          <a:noFill/>
        </p:spPr>
        <p:txBody>
          <a:bodyPr vert="horz" lIns="91440" tIns="45720" rIns="91440" bIns="45720" rtlCol="0" anchor="t">
            <a:normAutofit/>
          </a:bodyPr>
          <a:lstStyle/>
          <a:p>
            <a:r>
              <a:rPr lang="en-US" sz="2800" b="1" spc="150" dirty="0">
                <a:solidFill>
                  <a:srgbClr val="0F5DA6"/>
                </a:solidFill>
                <a:latin typeface="Arial" panose="020B0604020202020204" pitchFamily="34" charset="0"/>
                <a:cs typeface="Arial" panose="020B0604020202020204" pitchFamily="34" charset="0"/>
              </a:rPr>
              <a:t>Market Leader in Private Labeled DTE Plans</a:t>
            </a:r>
            <a:endParaRPr lang="en-US" sz="2800" b="1" cap="all" spc="150" dirty="0">
              <a:solidFill>
                <a:srgbClr val="0F5DA6"/>
              </a:solidFill>
              <a:latin typeface="Arial" panose="020B0604020202020204" pitchFamily="34" charset="0"/>
              <a:cs typeface="Arial" panose="020B0604020202020204" pitchFamily="34" charset="0"/>
            </a:endParaRPr>
          </a:p>
        </p:txBody>
      </p:sp>
      <p:pic>
        <p:nvPicPr>
          <p:cNvPr id="7" name="Picture 2">
            <a:extLst>
              <a:ext uri="{FF2B5EF4-FFF2-40B4-BE49-F238E27FC236}">
                <a16:creationId xmlns:a16="http://schemas.microsoft.com/office/drawing/2014/main" id="{654A305B-9BE0-4449-826C-ACCCBB29F8D4}"/>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96376" y="293729"/>
            <a:ext cx="3645898" cy="62996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880AE72B-2936-B7FD-B16B-B7DDE61C48BF}"/>
              </a:ext>
            </a:extLst>
          </p:cNvPr>
          <p:cNvSpPr/>
          <p:nvPr/>
        </p:nvSpPr>
        <p:spPr>
          <a:xfrm>
            <a:off x="2659533" y="39740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Bentonville, AR</a:t>
            </a:r>
          </a:p>
          <a:p>
            <a:pPr algn="ctr"/>
            <a:r>
              <a:rPr lang="en-US" sz="1200" dirty="0">
                <a:latin typeface="Arial" panose="020B0604020202020204" pitchFamily="34" charset="0"/>
                <a:cs typeface="Arial" panose="020B0604020202020204" pitchFamily="34" charset="0"/>
              </a:rPr>
              <a:t>Northwest Health Plan</a:t>
            </a:r>
          </a:p>
        </p:txBody>
      </p:sp>
      <p:sp>
        <p:nvSpPr>
          <p:cNvPr id="9" name="Rectangle: Rounded Corners 9">
            <a:extLst>
              <a:ext uri="{FF2B5EF4-FFF2-40B4-BE49-F238E27FC236}">
                <a16:creationId xmlns:a16="http://schemas.microsoft.com/office/drawing/2014/main" id="{83BAAF75-9BFE-8A09-84C8-29127AD11CC8}"/>
              </a:ext>
            </a:extLst>
          </p:cNvPr>
          <p:cNvSpPr/>
          <p:nvPr/>
        </p:nvSpPr>
        <p:spPr>
          <a:xfrm>
            <a:off x="3572730" y="52576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Meridian, MS</a:t>
            </a:r>
          </a:p>
          <a:p>
            <a:pPr algn="ctr"/>
            <a:r>
              <a:rPr lang="en-US" sz="1200" dirty="0">
                <a:latin typeface="Arial" panose="020B0604020202020204" pitchFamily="34" charset="0"/>
                <a:cs typeface="Arial" panose="020B0604020202020204" pitchFamily="34" charset="0"/>
              </a:rPr>
              <a:t>Affinity Health Plan</a:t>
            </a:r>
          </a:p>
        </p:txBody>
      </p:sp>
      <p:sp>
        <p:nvSpPr>
          <p:cNvPr id="10" name="Rectangle: Rounded Corners 10">
            <a:extLst>
              <a:ext uri="{FF2B5EF4-FFF2-40B4-BE49-F238E27FC236}">
                <a16:creationId xmlns:a16="http://schemas.microsoft.com/office/drawing/2014/main" id="{F7F76DEC-1B86-5F34-4522-EE137E2BEDC5}"/>
              </a:ext>
            </a:extLst>
          </p:cNvPr>
          <p:cNvSpPr/>
          <p:nvPr/>
        </p:nvSpPr>
        <p:spPr>
          <a:xfrm>
            <a:off x="7452111" y="5382713"/>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Fort Myers, FL</a:t>
            </a:r>
          </a:p>
          <a:p>
            <a:pPr algn="ctr"/>
            <a:r>
              <a:rPr lang="en-US" sz="1200" dirty="0">
                <a:latin typeface="Arial" panose="020B0604020202020204" pitchFamily="34" charset="0"/>
                <a:cs typeface="Arial" panose="020B0604020202020204" pitchFamily="34" charset="0"/>
              </a:rPr>
              <a:t>Lee Health Care Partners</a:t>
            </a:r>
          </a:p>
        </p:txBody>
      </p:sp>
      <p:sp>
        <p:nvSpPr>
          <p:cNvPr id="11" name="Rectangle: Rounded Corners 11">
            <a:extLst>
              <a:ext uri="{FF2B5EF4-FFF2-40B4-BE49-F238E27FC236}">
                <a16:creationId xmlns:a16="http://schemas.microsoft.com/office/drawing/2014/main" id="{B522D9FB-03E8-0475-A3A5-AF33059EA7E6}"/>
              </a:ext>
            </a:extLst>
          </p:cNvPr>
          <p:cNvSpPr/>
          <p:nvPr/>
        </p:nvSpPr>
        <p:spPr>
          <a:xfrm>
            <a:off x="7208737" y="4373211"/>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Knoxville, TN</a:t>
            </a:r>
          </a:p>
          <a:p>
            <a:pPr algn="ctr"/>
            <a:r>
              <a:rPr lang="en-US" sz="1200" dirty="0">
                <a:latin typeface="Arial" panose="020B0604020202020204" pitchFamily="34" charset="0"/>
                <a:cs typeface="Arial" panose="020B0604020202020204" pitchFamily="34" charset="0"/>
              </a:rPr>
              <a:t>East Tennessee Health Plan</a:t>
            </a:r>
          </a:p>
        </p:txBody>
      </p:sp>
      <p:sp>
        <p:nvSpPr>
          <p:cNvPr id="12" name="Rectangle: Rounded Corners 12">
            <a:extLst>
              <a:ext uri="{FF2B5EF4-FFF2-40B4-BE49-F238E27FC236}">
                <a16:creationId xmlns:a16="http://schemas.microsoft.com/office/drawing/2014/main" id="{F3AB3343-FA0C-E9FA-637F-E45BB11DFFC1}"/>
              </a:ext>
            </a:extLst>
          </p:cNvPr>
          <p:cNvSpPr/>
          <p:nvPr/>
        </p:nvSpPr>
        <p:spPr>
          <a:xfrm>
            <a:off x="7047737" y="336370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Cincinnati, OH</a:t>
            </a:r>
          </a:p>
          <a:p>
            <a:pPr algn="ctr"/>
            <a:r>
              <a:rPr lang="en-US" sz="1200" dirty="0">
                <a:latin typeface="Arial" panose="020B0604020202020204" pitchFamily="34" charset="0"/>
                <a:cs typeface="Arial" panose="020B0604020202020204" pitchFamily="34" charset="0"/>
              </a:rPr>
              <a:t>TCH Optimal</a:t>
            </a:r>
          </a:p>
        </p:txBody>
      </p:sp>
      <p:sp>
        <p:nvSpPr>
          <p:cNvPr id="13" name="Rectangle: Rounded Corners 13">
            <a:extLst>
              <a:ext uri="{FF2B5EF4-FFF2-40B4-BE49-F238E27FC236}">
                <a16:creationId xmlns:a16="http://schemas.microsoft.com/office/drawing/2014/main" id="{A5F1AA97-617E-DEDA-E780-8518ACB143FB}"/>
              </a:ext>
            </a:extLst>
          </p:cNvPr>
          <p:cNvSpPr/>
          <p:nvPr/>
        </p:nvSpPr>
        <p:spPr>
          <a:xfrm>
            <a:off x="3870663" y="2934468"/>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Louisville, KY</a:t>
            </a:r>
          </a:p>
          <a:p>
            <a:pPr algn="ctr"/>
            <a:r>
              <a:rPr lang="en-US" sz="1200" dirty="0" err="1">
                <a:latin typeface="Arial" panose="020B0604020202020204" pitchFamily="34" charset="0"/>
                <a:cs typeface="Arial" panose="020B0604020202020204" pitchFamily="34" charset="0"/>
              </a:rPr>
              <a:t>OneHealth</a:t>
            </a:r>
            <a:r>
              <a:rPr lang="en-US" sz="1200" dirty="0">
                <a:latin typeface="Arial" panose="020B0604020202020204" pitchFamily="34" charset="0"/>
                <a:cs typeface="Arial" panose="020B0604020202020204" pitchFamily="34" charset="0"/>
              </a:rPr>
              <a:t> Plan</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409959" y="1292697"/>
            <a:ext cx="3677156" cy="3043929"/>
          </a:xfrm>
        </p:spPr>
        <p:txBody>
          <a:bodyPr>
            <a:noAutofit/>
          </a:bodyPr>
          <a:lstStyle/>
          <a:p>
            <a:pP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Direct-to-Employer</a:t>
            </a:r>
            <a:br>
              <a:rPr lang="en-US" sz="4000" b="1" dirty="0">
                <a:solidFill>
                  <a:srgbClr val="000B2E"/>
                </a:solidFill>
                <a:latin typeface="Arial" panose="020B0604020202020204" pitchFamily="34" charset="0"/>
                <a:cs typeface="Arial" panose="020B0604020202020204" pitchFamily="34" charset="0"/>
              </a:rPr>
            </a:br>
            <a:r>
              <a:rPr lang="en-US" sz="2800" b="1" dirty="0">
                <a:solidFill>
                  <a:srgbClr val="000B2E"/>
                </a:solidFill>
                <a:latin typeface="Arial" panose="020B0604020202020204" pitchFamily="34" charset="0"/>
                <a:cs typeface="Arial" panose="020B0604020202020204" pitchFamily="34" charset="0"/>
              </a:rPr>
              <a:t>(DTE)</a:t>
            </a:r>
            <a:br>
              <a:rPr lang="en-US" sz="1600" b="1" dirty="0">
                <a:solidFill>
                  <a:srgbClr val="000B2E"/>
                </a:solidFill>
                <a:latin typeface="Arial" panose="020B0604020202020204" pitchFamily="34" charset="0"/>
                <a:cs typeface="Arial" panose="020B0604020202020204" pitchFamily="34" charset="0"/>
              </a:rPr>
            </a:br>
            <a:br>
              <a:rPr lang="en-US" sz="1600" b="1" dirty="0">
                <a:solidFill>
                  <a:srgbClr val="000B2E"/>
                </a:solidFill>
                <a:latin typeface="Arial" panose="020B0604020202020204" pitchFamily="34" charset="0"/>
                <a:cs typeface="Arial" panose="020B0604020202020204" pitchFamily="34" charset="0"/>
              </a:rPr>
            </a:br>
            <a:r>
              <a:rPr lang="en-US" sz="1600" b="1" i="1" dirty="0">
                <a:solidFill>
                  <a:srgbClr val="000B2E"/>
                </a:solidFill>
                <a:latin typeface="Arial" panose="020B0604020202020204" pitchFamily="34" charset="0"/>
                <a:cs typeface="Arial" panose="020B0604020202020204" pitchFamily="34" charset="0"/>
              </a:rPr>
              <a:t>Your</a:t>
            </a:r>
            <a:r>
              <a:rPr lang="en-US" sz="1600" b="1" dirty="0">
                <a:solidFill>
                  <a:srgbClr val="000B2E"/>
                </a:solidFill>
                <a:latin typeface="Arial" panose="020B0604020202020204" pitchFamily="34" charset="0"/>
                <a:cs typeface="Arial" panose="020B0604020202020204" pitchFamily="34" charset="0"/>
              </a:rPr>
              <a:t> Health Plan Focused on a Direct Relationship with Self-Funded Employers in </a:t>
            </a:r>
            <a:r>
              <a:rPr lang="en-US" sz="1600" b="1" i="1" dirty="0">
                <a:solidFill>
                  <a:srgbClr val="000B2E"/>
                </a:solidFill>
                <a:latin typeface="Arial" panose="020B0604020202020204" pitchFamily="34" charset="0"/>
                <a:cs typeface="Arial" panose="020B0604020202020204" pitchFamily="34" charset="0"/>
              </a:rPr>
              <a:t>Your</a:t>
            </a:r>
            <a:r>
              <a:rPr lang="en-US" sz="1600" b="1" dirty="0">
                <a:solidFill>
                  <a:srgbClr val="000B2E"/>
                </a:solidFill>
                <a:latin typeface="Arial" panose="020B0604020202020204" pitchFamily="34" charset="0"/>
                <a:cs typeface="Arial" panose="020B0604020202020204" pitchFamily="34" charset="0"/>
              </a:rPr>
              <a:t> Market</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6317763" y="1468132"/>
            <a:ext cx="5672318" cy="4660901"/>
          </a:xfrm>
        </p:spPr>
        <p:txBody>
          <a:bodyPr>
            <a:normAutofit/>
          </a:bodyPr>
          <a:lstStyle/>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Pick the Name of the Health Plan</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Determine the Fees Charged</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Practice the Medicine </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Receive the Profits  </a:t>
            </a:r>
          </a:p>
          <a:p>
            <a:pPr marL="0" indent="0">
              <a:lnSpc>
                <a:spcPct val="150000"/>
              </a:lnSpc>
              <a:spcAft>
                <a:spcPts val="1200"/>
              </a:spcAft>
              <a:buNone/>
            </a:pPr>
            <a:r>
              <a:rPr lang="en-US" sz="2700" b="1" dirty="0">
                <a:solidFill>
                  <a:srgbClr val="59CAE8"/>
                </a:solidFill>
                <a:latin typeface="Arial Black" panose="020B0A04020102020204" pitchFamily="34" charset="0"/>
              </a:rPr>
              <a:t>WE</a:t>
            </a:r>
            <a:r>
              <a:rPr lang="en-US" sz="2700" dirty="0">
                <a:solidFill>
                  <a:srgbClr val="9900CC"/>
                </a:solidFill>
              </a:rPr>
              <a:t> </a:t>
            </a:r>
            <a:r>
              <a:rPr lang="en-US" sz="2700"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41">
            <a:extLst>
              <a:ext uri="{FF2B5EF4-FFF2-40B4-BE49-F238E27FC236}">
                <a16:creationId xmlns:a16="http://schemas.microsoft.com/office/drawing/2014/main" id="{C3A11C0D-6225-4F5F-9034-762253C251A2}"/>
              </a:ext>
            </a:extLst>
          </p:cNvPr>
          <p:cNvGrpSpPr/>
          <p:nvPr/>
        </p:nvGrpSpPr>
        <p:grpSpPr>
          <a:xfrm>
            <a:off x="5489623"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pic>
        <p:nvPicPr>
          <p:cNvPr id="16" name="Content Placeholder 13">
            <a:extLst>
              <a:ext uri="{FF2B5EF4-FFF2-40B4-BE49-F238E27FC236}">
                <a16:creationId xmlns:a16="http://schemas.microsoft.com/office/drawing/2014/main" id="{C3F2E886-7DD3-59CA-2D80-163F062062D9}"/>
              </a:ext>
            </a:extLst>
          </p:cNvPr>
          <p:cNvPicPr>
            <a:picLocks/>
          </p:cNvPicPr>
          <p:nvPr/>
        </p:nvPicPr>
        <p:blipFill>
          <a:blip r:embed="rId3" cstate="print"/>
          <a:stretch>
            <a:fillRect/>
          </a:stretch>
        </p:blipFill>
        <p:spPr>
          <a:xfrm>
            <a:off x="8610601" y="389333"/>
            <a:ext cx="3474721" cy="536783"/>
          </a:xfrm>
          <a:prstGeom prst="rect">
            <a:avLst/>
          </a:prstGeom>
        </p:spPr>
      </p:pic>
    </p:spTree>
    <p:extLst>
      <p:ext uri="{BB962C8B-B14F-4D97-AF65-F5344CB8AC3E}">
        <p14:creationId xmlns:p14="http://schemas.microsoft.com/office/powerpoint/2010/main" val="1552833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a:alphaModFix amt="35000"/>
            <a:duotone>
              <a:schemeClr val="bg2">
                <a:shade val="45000"/>
                <a:satMod val="135000"/>
              </a:schemeClr>
              <a:prstClr val="white"/>
            </a:duotone>
            <a:extLst>
              <a:ext uri="{28A0092B-C50C-407E-A947-70E740481C1C}">
                <a14:useLocalDpi xmlns:a14="http://schemas.microsoft.com/office/drawing/2010/main" val="0"/>
              </a:ext>
            </a:extLst>
          </a:blip>
          <a:srcRect t="10741" b="7912"/>
          <a:stretch/>
        </p:blipFill>
        <p:spPr bwMode="auto">
          <a:xfrm>
            <a:off x="2078" y="1689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7B4D036B-CF91-40EF-88B5-63D0260D0147}"/>
              </a:ext>
            </a:extLst>
          </p:cNvPr>
          <p:cNvSpPr>
            <a:spLocks noGrp="1"/>
          </p:cNvSpPr>
          <p:nvPr>
            <p:ph type="title"/>
          </p:nvPr>
        </p:nvSpPr>
        <p:spPr>
          <a:xfrm>
            <a:off x="343013" y="277193"/>
            <a:ext cx="11515725" cy="1325563"/>
          </a:xfrm>
        </p:spPr>
        <p:txBody>
          <a:bodyPr>
            <a:normAutofit/>
          </a:bodyPr>
          <a:lstStyle/>
          <a:p>
            <a:r>
              <a:rPr lang="en-US" sz="3200" dirty="0">
                <a:solidFill>
                  <a:schemeClr val="tx1">
                    <a:lumMod val="75000"/>
                    <a:lumOff val="25000"/>
                  </a:schemeClr>
                </a:solidFill>
              </a:rPr>
              <a:t>DTE Keys to Success for Yale New Haven Health System</a:t>
            </a:r>
          </a:p>
        </p:txBody>
      </p:sp>
      <p:sp>
        <p:nvSpPr>
          <p:cNvPr id="4"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5</a:t>
            </a:fld>
            <a:endParaRPr lang="en-US" dirty="0"/>
          </a:p>
        </p:txBody>
      </p:sp>
      <p:sp>
        <p:nvSpPr>
          <p:cNvPr id="7"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p>
        </p:txBody>
      </p:sp>
      <p:sp>
        <p:nvSpPr>
          <p:cNvPr id="8" name="Rectangle 5">
            <a:extLst>
              <a:ext uri="{FF2B5EF4-FFF2-40B4-BE49-F238E27FC236}">
                <a16:creationId xmlns:a16="http://schemas.microsoft.com/office/drawing/2014/main" id="{869C0219-52DA-48A1-B7B2-E6F8C4FBD3C3}"/>
              </a:ext>
            </a:extLst>
          </p:cNvPr>
          <p:cNvSpPr/>
          <p:nvPr/>
        </p:nvSpPr>
        <p:spPr>
          <a:xfrm>
            <a:off x="740621" y="3205513"/>
            <a:ext cx="5352581" cy="2145203"/>
          </a:xfrm>
          <a:prstGeom prst="rect">
            <a:avLst/>
          </a:prstGeom>
        </p:spPr>
        <p:txBody>
          <a:bodyPr wrap="square">
            <a:spAutoFit/>
          </a:bodyPr>
          <a:lstStyle/>
          <a:p>
            <a:pPr algn="ctr" defTabSz="914411">
              <a:lnSpc>
                <a:spcPct val="90000"/>
              </a:lnSpc>
              <a:spcAft>
                <a:spcPts val="1200"/>
              </a:spcAft>
              <a:buClr>
                <a:schemeClr val="tx1"/>
              </a:buClr>
            </a:pPr>
            <a:r>
              <a:rPr lang="en-US" b="1" dirty="0"/>
              <a:t>DTE Plan Sells</a:t>
            </a:r>
          </a:p>
          <a:p>
            <a:pPr algn="ctr" defTabSz="914411">
              <a:lnSpc>
                <a:spcPct val="90000"/>
              </a:lnSpc>
              <a:spcAft>
                <a:spcPts val="1200"/>
              </a:spcAft>
              <a:buClr>
                <a:schemeClr val="tx1"/>
              </a:buClr>
            </a:pPr>
            <a:r>
              <a:rPr lang="en-US" dirty="0"/>
              <a:t>DTE plans only work when the network is built around a strong brand with good access and competitive costs. </a:t>
            </a:r>
          </a:p>
          <a:p>
            <a:pPr algn="ctr" defTabSz="914411">
              <a:lnSpc>
                <a:spcPct val="90000"/>
              </a:lnSpc>
              <a:spcAft>
                <a:spcPts val="1200"/>
              </a:spcAft>
              <a:buClr>
                <a:schemeClr val="tx1"/>
              </a:buClr>
            </a:pPr>
            <a:r>
              <a:rPr lang="en-US" dirty="0">
                <a:solidFill/>
              </a:rPr>
              <a:t>Yale New Haven Health System is the quality and access leader </a:t>
            </a:r>
            <a:r>
              <a:rPr lang="en-US" dirty="0"/>
              <a:t>in </a:t>
            </a:r>
            <a:r>
              <a:rPr lang="en-US" sz="1800" dirty="0">
                <a:solidFill>
                  <a:srgbClr val="000B2E"/>
                </a:solidFill>
              </a:rPr>
              <a:t>Connecticut and Rhode Island, </a:t>
            </a:r>
            <a:r>
              <a:rPr lang="en-US" dirty="0">
                <a:solidFill>
                  <a:srgbClr val="000B2E"/>
                </a:solidFill>
              </a:rPr>
              <a:t>and KBA expects this plan will sell well and is positioned in a favorable and large market. </a:t>
            </a:r>
            <a:endParaRPr lang="en-US" dirty="0">
              <a:solidFill/>
            </a:endParaRPr>
          </a:p>
        </p:txBody>
      </p:sp>
      <p:sp>
        <p:nvSpPr>
          <p:cNvPr id="9" name="Rectangle 6">
            <a:extLst>
              <a:ext uri="{FF2B5EF4-FFF2-40B4-BE49-F238E27FC236}">
                <a16:creationId xmlns:a16="http://schemas.microsoft.com/office/drawing/2014/main" id="{8FCD729A-32AD-4303-8BA6-9EBD13F93D1C}"/>
              </a:ext>
            </a:extLst>
          </p:cNvPr>
          <p:cNvSpPr/>
          <p:nvPr/>
        </p:nvSpPr>
        <p:spPr>
          <a:xfrm>
            <a:off x="6093202" y="3205513"/>
            <a:ext cx="5352581" cy="1895904"/>
          </a:xfrm>
          <a:prstGeom prst="rect">
            <a:avLst/>
          </a:prstGeom>
        </p:spPr>
        <p:txBody>
          <a:bodyPr wrap="square">
            <a:spAutoFit/>
          </a:bodyPr>
          <a:lstStyle/>
          <a:p>
            <a:pPr algn="ctr" defTabSz="914411">
              <a:lnSpc>
                <a:spcPct val="90000"/>
              </a:lnSpc>
              <a:spcAft>
                <a:spcPts val="1200"/>
              </a:spcAft>
              <a:buClr>
                <a:schemeClr val="tx1"/>
              </a:buClr>
            </a:pPr>
            <a:r>
              <a:rPr lang="en-US" b="1" dirty="0"/>
              <a:t>Estimates for Margin and Steerage Hold</a:t>
            </a:r>
          </a:p>
          <a:p>
            <a:pPr algn="ctr" defTabSz="914411">
              <a:lnSpc>
                <a:spcPct val="90000"/>
              </a:lnSpc>
              <a:spcAft>
                <a:spcPts val="1200"/>
              </a:spcAft>
              <a:buClr>
                <a:schemeClr val="tx1"/>
              </a:buClr>
            </a:pPr>
            <a:r>
              <a:rPr lang="en-US" dirty="0"/>
              <a:t>KBA models high, medium and low estimates for net income based on (1) estimates of commercial margin and (2) the within-DTE-network steerage rate. </a:t>
            </a:r>
          </a:p>
          <a:p>
            <a:pPr algn="ctr" defTabSz="914411">
              <a:lnSpc>
                <a:spcPct val="90000"/>
              </a:lnSpc>
              <a:spcAft>
                <a:spcPts val="1200"/>
              </a:spcAft>
              <a:buClr>
                <a:schemeClr val="tx1"/>
              </a:buClr>
            </a:pPr>
            <a:r>
              <a:rPr lang="en-US" dirty="0">
                <a:solidFill/>
              </a:rPr>
              <a:t>Profit growth will hold if these assumptions accurately play out as expected for Yale New Haven Health System.</a:t>
            </a:r>
          </a:p>
        </p:txBody>
      </p:sp>
      <p:cxnSp>
        <p:nvCxnSpPr>
          <p:cNvPr id="10" name="Straight Connector 13">
            <a:extLst>
              <a:ext uri="{FF2B5EF4-FFF2-40B4-BE49-F238E27FC236}">
                <a16:creationId xmlns:a16="http://schemas.microsoft.com/office/drawing/2014/main" id="{DD477D80-386D-4C49-BB5B-4192EF9C3FCB}"/>
              </a:ext>
            </a:extLst>
          </p:cNvPr>
          <p:cNvCxnSpPr/>
          <p:nvPr/>
        </p:nvCxnSpPr>
        <p:spPr>
          <a:xfrm>
            <a:off x="6100876" y="320551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sp>
        <p:nvSpPr>
          <p:cNvPr id="11" name="Oval 18">
            <a:extLst>
              <a:ext uri="{FF2B5EF4-FFF2-40B4-BE49-F238E27FC236}">
                <a16:creationId xmlns:a16="http://schemas.microsoft.com/office/drawing/2014/main" id="{6E3306A4-A22E-44B4-B28D-02A4477CAE09}"/>
              </a:ext>
            </a:extLst>
          </p:cNvPr>
          <p:cNvSpPr/>
          <p:nvPr/>
        </p:nvSpPr>
        <p:spPr>
          <a:xfrm>
            <a:off x="3074011"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1</a:t>
            </a:r>
          </a:p>
        </p:txBody>
      </p:sp>
      <p:sp>
        <p:nvSpPr>
          <p:cNvPr id="12" name="Oval 19">
            <a:extLst>
              <a:ext uri="{FF2B5EF4-FFF2-40B4-BE49-F238E27FC236}">
                <a16:creationId xmlns:a16="http://schemas.microsoft.com/office/drawing/2014/main" id="{50C0D7B4-43BC-4CE3-AA3D-60612464FC41}"/>
              </a:ext>
            </a:extLst>
          </p:cNvPr>
          <p:cNvSpPr/>
          <p:nvPr/>
        </p:nvSpPr>
        <p:spPr>
          <a:xfrm>
            <a:off x="8466666"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2</a:t>
            </a:r>
          </a:p>
        </p:txBody>
      </p:sp>
    </p:spTree>
    <p:extLst>
      <p:ext uri="{BB962C8B-B14F-4D97-AF65-F5344CB8AC3E}">
        <p14:creationId xmlns:p14="http://schemas.microsoft.com/office/powerpoint/2010/main" val="4059548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Top Corners Snipped 11">
            <a:extLst>
              <a:ext uri="{FF2B5EF4-FFF2-40B4-BE49-F238E27FC236}">
                <a16:creationId xmlns:a16="http://schemas.microsoft.com/office/drawing/2014/main" id="{C7294A92-B19F-3B44-DB12-00913CE67D8E}"/>
              </a:ext>
            </a:extLst>
          </p:cNvPr>
          <p:cNvSpPr/>
          <p:nvPr/>
        </p:nvSpPr>
        <p:spPr>
          <a:xfrm rot="5400000">
            <a:off x="8391398" y="1277595"/>
            <a:ext cx="1103086" cy="2468880"/>
          </a:xfrm>
          <a:prstGeom prst="snip2SameRect">
            <a:avLst/>
          </a:prstGeom>
          <a:gradFill flip="none" rotWithShape="1">
            <a:gsLst>
              <a:gs pos="0">
                <a:schemeClr val="accent6">
                  <a:lumMod val="75000"/>
                </a:schemeClr>
              </a:gs>
              <a:gs pos="50000">
                <a:schemeClr val="accent6">
                  <a:lumMod val="60000"/>
                  <a:lumOff val="4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4"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6</a:t>
            </a:fld>
            <a:endParaRPr lang="en-US" dirty="0"/>
          </a:p>
        </p:txBody>
      </p:sp>
      <p:sp>
        <p:nvSpPr>
          <p:cNvPr id="5" name="Rectangle 8">
            <a:extLst>
              <a:ext uri="{FF2B5EF4-FFF2-40B4-BE49-F238E27FC236}">
                <a16:creationId xmlns:a16="http://schemas.microsoft.com/office/drawing/2014/main" id="{BB2B5697-E648-40EC-88C5-97A77999C18D}"/>
              </a:ext>
            </a:extLst>
          </p:cNvPr>
          <p:cNvSpPr/>
          <p:nvPr/>
        </p:nvSpPr>
        <p:spPr>
          <a:xfrm>
            <a:off x="-2867" y="6008914"/>
            <a:ext cx="12194867" cy="849086"/>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12">
            <a:extLst>
              <a:ext uri="{FF2B5EF4-FFF2-40B4-BE49-F238E27FC236}">
                <a16:creationId xmlns:a16="http://schemas.microsoft.com/office/drawing/2014/main" id="{061C4F0D-14E1-8EB9-6313-04B404BF313E}"/>
              </a:ext>
            </a:extLst>
          </p:cNvPr>
          <p:cNvSpPr txBox="1"/>
          <p:nvPr/>
        </p:nvSpPr>
        <p:spPr>
          <a:xfrm>
            <a:off x="1036930" y="3444621"/>
            <a:ext cx="3034331" cy="1938992"/>
          </a:xfrm>
          <a:prstGeom prst="rect">
            <a:avLst/>
          </a:prstGeom>
          <a:noFill/>
        </p:spPr>
        <p:txBody>
          <a:bodyPr wrap="square">
            <a:spAutoFit/>
          </a:bodyPr>
          <a:lstStyle/>
          <a:p>
            <a:pPr algn="ctr"/>
            <a:r>
              <a:rPr lang="en-US" sz="4000" dirty="0">
                <a:solidFill>
                  <a:schemeClr val="accent2"/>
                </a:solidFill>
              </a:rPr>
              <a:t>Results in</a:t>
            </a:r>
          </a:p>
          <a:p>
            <a:pPr algn="ctr"/>
            <a:r>
              <a:rPr lang="en-US" sz="4000" dirty="0">
                <a:solidFill>
                  <a:schemeClr val="accent2"/>
                </a:solidFill>
              </a:rPr>
              <a:t>~$1.06 of loss</a:t>
            </a:r>
          </a:p>
        </p:txBody>
      </p:sp>
      <p:sp>
        <p:nvSpPr>
          <p:cNvPr id="7" name="Rectangle: Top Corners Snipped 13">
            <a:extLst>
              <a:ext uri="{FF2B5EF4-FFF2-40B4-BE49-F238E27FC236}">
                <a16:creationId xmlns:a16="http://schemas.microsoft.com/office/drawing/2014/main" id="{29FF9586-6515-7D59-3DF7-88C78AC367B3}"/>
              </a:ext>
            </a:extLst>
          </p:cNvPr>
          <p:cNvSpPr/>
          <p:nvPr/>
        </p:nvSpPr>
        <p:spPr>
          <a:xfrm rot="16200000">
            <a:off x="2929739" y="1279707"/>
            <a:ext cx="1103086" cy="2464655"/>
          </a:xfrm>
          <a:prstGeom prst="snip2SameRect">
            <a:avLst/>
          </a:prstGeom>
          <a:gradFill flip="none" rotWithShape="1">
            <a:gsLst>
              <a:gs pos="0">
                <a:schemeClr val="accent2">
                  <a:lumMod val="75000"/>
                </a:schemeClr>
              </a:gs>
              <a:gs pos="50000">
                <a:schemeClr val="accent2">
                  <a:lumMod val="40000"/>
                  <a:lumOff val="6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10">
            <a:extLst>
              <a:ext uri="{FF2B5EF4-FFF2-40B4-BE49-F238E27FC236}">
                <a16:creationId xmlns:a16="http://schemas.microsoft.com/office/drawing/2014/main" id="{A9E02499-7410-E23C-4113-F4DA25A9DAA4}"/>
              </a:ext>
            </a:extLst>
          </p:cNvPr>
          <p:cNvSpPr txBox="1"/>
          <p:nvPr/>
        </p:nvSpPr>
        <p:spPr>
          <a:xfrm>
            <a:off x="2321529"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Government Pay</a:t>
            </a:r>
            <a:endParaRPr lang="en-US" sz="2800" dirty="0"/>
          </a:p>
        </p:txBody>
      </p:sp>
      <p:sp>
        <p:nvSpPr>
          <p:cNvPr id="9" name="TextBox 14">
            <a:extLst>
              <a:ext uri="{FF2B5EF4-FFF2-40B4-BE49-F238E27FC236}">
                <a16:creationId xmlns:a16="http://schemas.microsoft.com/office/drawing/2014/main" id="{620BAD9F-253C-56EC-C1D5-EAAC15EB6015}"/>
              </a:ext>
            </a:extLst>
          </p:cNvPr>
          <p:cNvSpPr txBox="1"/>
          <p:nvPr/>
        </p:nvSpPr>
        <p:spPr>
          <a:xfrm>
            <a:off x="7660161"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Commercial Pay</a:t>
            </a:r>
            <a:endParaRPr lang="en-US" sz="2800" dirty="0"/>
          </a:p>
        </p:txBody>
      </p:sp>
      <p:sp>
        <p:nvSpPr>
          <p:cNvPr id="10" name="Oval 15">
            <a:extLst>
              <a:ext uri="{FF2B5EF4-FFF2-40B4-BE49-F238E27FC236}">
                <a16:creationId xmlns:a16="http://schemas.microsoft.com/office/drawing/2014/main" id="{AAF081E6-21F8-118C-A0B4-09143CFD45D2}"/>
              </a:ext>
            </a:extLst>
          </p:cNvPr>
          <p:cNvSpPr/>
          <p:nvPr/>
        </p:nvSpPr>
        <p:spPr>
          <a:xfrm>
            <a:off x="4425356" y="724705"/>
            <a:ext cx="3474720" cy="3474720"/>
          </a:xfrm>
          <a:prstGeom prst="ellips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215F9CFB-714A-4CB7-9915-2C74E697A7F1}"/>
              </a:ext>
            </a:extLst>
          </p:cNvPr>
          <p:cNvSpPr>
            <a:spLocks noGrp="1"/>
          </p:cNvSpPr>
          <p:nvPr>
            <p:ph type="title"/>
          </p:nvPr>
        </p:nvSpPr>
        <p:spPr>
          <a:xfrm>
            <a:off x="4930388" y="1975469"/>
            <a:ext cx="2464656" cy="1073132"/>
          </a:xfrm>
        </p:spPr>
        <p:txBody>
          <a:bodyPr>
            <a:noAutofit/>
          </a:bodyPr>
          <a:lstStyle/>
          <a:p>
            <a:pPr algn="ct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Every $1 of Care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2" name="TextBox 16">
            <a:extLst>
              <a:ext uri="{FF2B5EF4-FFF2-40B4-BE49-F238E27FC236}">
                <a16:creationId xmlns:a16="http://schemas.microsoft.com/office/drawing/2014/main" id="{32EE0BDF-0BD6-C413-7373-07B39FBF0CAC}"/>
              </a:ext>
            </a:extLst>
          </p:cNvPr>
          <p:cNvSpPr txBox="1"/>
          <p:nvPr/>
        </p:nvSpPr>
        <p:spPr>
          <a:xfrm>
            <a:off x="8050193" y="3439738"/>
            <a:ext cx="3619293" cy="1323439"/>
          </a:xfrm>
          <a:prstGeom prst="rect">
            <a:avLst/>
          </a:prstGeom>
          <a:noFill/>
        </p:spPr>
        <p:txBody>
          <a:bodyPr wrap="square">
            <a:spAutoFit/>
          </a:bodyPr>
          <a:lstStyle/>
          <a:p>
            <a:pPr algn="ctr"/>
            <a:r>
              <a:rPr lang="en-US" sz="4000" dirty="0">
                <a:solidFill>
                  <a:schemeClr val="accent6">
                    <a:lumMod val="75000"/>
                  </a:schemeClr>
                </a:solidFill>
              </a:rPr>
              <a:t>Generates</a:t>
            </a:r>
          </a:p>
          <a:p>
            <a:pPr algn="ctr"/>
            <a:r>
              <a:rPr lang="en-US" sz="4000" dirty="0">
                <a:solidFill>
                  <a:schemeClr val="accent6">
                    <a:lumMod val="75000"/>
                  </a:schemeClr>
                </a:solidFill>
              </a:rPr>
              <a:t>~$0.29 of profit</a:t>
            </a:r>
          </a:p>
        </p:txBody>
      </p:sp>
      <p:sp>
        <p:nvSpPr>
          <p:cNvPr id="13" name="TextBox 6">
            <a:extLst>
              <a:ext uri="{FF2B5EF4-FFF2-40B4-BE49-F238E27FC236}">
                <a16:creationId xmlns:a16="http://schemas.microsoft.com/office/drawing/2014/main" id="{820D1BA4-6D19-00FD-17FF-A0AD0AAAF7EE}"/>
              </a:ext>
            </a:extLst>
          </p:cNvPr>
          <p:cNvSpPr txBox="1"/>
          <p:nvPr/>
        </p:nvSpPr>
        <p:spPr>
          <a:xfrm>
            <a:off x="1973943" y="5562552"/>
            <a:ext cx="9132180" cy="369332"/>
          </a:xfrm>
          <a:prstGeom prst="rect">
            <a:avLst/>
          </a:prstGeom>
          <a:noFill/>
        </p:spPr>
        <p:txBody>
          <a:bodyPr wrap="none" rtlCol="0">
            <a:spAutoFit/>
          </a:bodyPr>
          <a:lstStyle/>
          <a:p>
            <a:r>
              <a:rPr lang="en-US" dirty="0"/>
              <a:t>See slide 26 for more details on the calculation of commercial and government-pay net income.</a:t>
            </a:r>
          </a:p>
        </p:txBody>
      </p:sp>
      <p:pic>
        <p:nvPicPr>
          <p:cNvPr id="14" name="Content Placeholder 13"/>
          <p:cNvPicPr>
            <a:picLocks noGrp="1"/>
          </p:cNvPicPr>
          <p:nvPr>
            <p:ph/>
          </p:nvPr>
        </p:nvPicPr>
        <p:blipFill>
          <a:blip r:embed="rId2" cstate="print"/>
          <a:stretch>
            <a:fillRect/>
          </a:stretch>
        </p:blipFill>
        <p:spPr>
          <a:xfrm>
            <a:off x="8610601" y="389333"/>
            <a:ext cx="3474721" cy="536783"/>
          </a:xfrm>
          <a:prstGeom prst="rect">
            <a:avLst/>
          </a:prstGeom>
        </p:spPr>
      </p:pic>
    </p:spTree>
    <p:extLst>
      <p:ext uri="{BB962C8B-B14F-4D97-AF65-F5344CB8AC3E}">
        <p14:creationId xmlns:p14="http://schemas.microsoft.com/office/powerpoint/2010/main" val="3348736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7</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086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dirty="0"/>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dirty="0">
                <a:solidFill/>
              </a:rPr>
              <a:t>“At the table” with Yale New Haven Health System</a:t>
            </a:r>
          </a:p>
          <a:p>
            <a:pPr marL="514356" indent="-342905" defTabSz="914411">
              <a:lnSpc>
                <a:spcPct val="90000"/>
              </a:lnSpc>
              <a:spcAft>
                <a:spcPts val="1200"/>
              </a:spcAft>
              <a:buClr>
                <a:srgbClr val="244F9A"/>
              </a:buClr>
              <a:buFont typeface="Wingdings" panose="05000000000000000000" pitchFamily="2" charset="2"/>
              <a:buChar char="§"/>
            </a:pPr>
            <a:r>
              <a:rPr lang="en-US" dirty="0"/>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dirty="0"/>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dirty="0"/>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dirty="0"/>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dirty="0"/>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3600" dirty="0">
                <a:solidFill>
                  <a:srgbClr val="000B2E"/>
                </a:solidFill>
              </a:rPr>
              <a:t>Powerful Employer Value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4126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275695"/>
            <a:ext cx="11737910" cy="646331"/>
          </a:xfrm>
          <a:prstGeom prst="rect">
            <a:avLst/>
          </a:prstGeom>
          <a:noFill/>
        </p:spPr>
        <p:txBody>
          <a:bodyPr wrap="square">
            <a:spAutoFit/>
          </a:bodyPr>
          <a:lstStyle/>
          <a:p>
            <a:pPr algn="ctr"/>
            <a:r>
              <a:rPr lang="en-US" sz="1800" b="1" spc="200" dirty="0">
                <a:solidFill>
                  <a:schemeClr val="accent2">
                    <a:lumMod val="75000"/>
                  </a:schemeClr>
                </a:solidFill>
                <a:latin typeface="+mj-lt"/>
                <a:cs typeface="+mj-cs"/>
              </a:rPr>
              <a:t>Target Market</a:t>
            </a:r>
            <a:br>
              <a:rPr lang="en-US" sz="1800" spc="200" dirty="0">
                <a:latin typeface="+mj-lt"/>
                <a:cs typeface="+mj-cs"/>
              </a:rPr>
            </a:br>
            <a:r>
              <a:rPr lang="en-US" sz="1800" spc="200" dirty="0">
                <a:latin typeface="+mj-lt"/>
                <a:cs typeface="+mj-cs"/>
              </a:rPr>
              <a:t>5,000</a:t>
            </a:r>
            <a:r>
              <a:rPr lang="en-US" spc="200" dirty="0">
                <a:latin typeface="+mj-lt"/>
                <a:cs typeface="+mj-cs"/>
              </a:rPr>
              <a:t>+</a:t>
            </a:r>
            <a:r>
              <a:rPr lang="en-US" sz="1800" spc="200" dirty="0">
                <a:latin typeface="+mj-lt"/>
                <a:cs typeface="+mj-cs"/>
              </a:rPr>
              <a:t> Employers       1,500,000</a:t>
            </a:r>
            <a:r>
              <a:rPr lang="en-US" sz="1800" spc="200" dirty="0">
                <a:latin typeface="+mj-lt"/>
                <a:cs typeface="+mj-cs"/>
                <a:sym typeface="Wingdings" panose="05000000000000000000" pitchFamily="2" charset="2"/>
              </a:rPr>
              <a:t>+ Employees       2,000,000+ Members</a:t>
            </a:r>
            <a:endParaRPr lang="en-US" dirty="0"/>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a:t>
            </a:r>
            <a:endParaRPr lang="en-US" dirty="0">
              <a:solidFill>
                <a:schemeClr val="tx1"/>
              </a:solidFill>
            </a:endParaRP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163572" y="43143"/>
            <a:ext cx="11801383" cy="1325563"/>
          </a:xfrm>
        </p:spPr>
        <p:txBody>
          <a:bodyPr>
            <a:noAutofit/>
          </a:bodyPr>
          <a:lstStyle/>
          <a:p>
            <a:pPr>
              <a:lnSpc>
                <a:spcPct val="100000"/>
              </a:lnSpc>
              <a:spcBef>
                <a:spcPts val="1800"/>
              </a:spcBef>
              <a:spcAft>
                <a:spcPts val="600"/>
              </a:spcAft>
            </a:pPr>
            <a:r>
              <a:rPr lang="en-US" sz="3600" dirty="0">
                <a:solidFill>
                  <a:srgbClr val="000B2E"/>
                </a:solidFill>
                <a:latin typeface="Arial" panose="020B0604020202020204" pitchFamily="34" charset="0"/>
                <a:cs typeface="Arial" panose="020B0604020202020204" pitchFamily="34" charset="0"/>
              </a:rPr>
              <a:t>Significant Opportunity for </a:t>
            </a:r>
            <a:r>
              <a:rPr lang="en-US" sz="3600" dirty="0">
                <a:solidFill>
                  <a:srgbClr val="000B2E"/>
                </a:solidFill>
              </a:rPr>
              <a:t>Plan Growth</a:t>
            </a:r>
            <a:br>
              <a:rPr lang="en-US" sz="3600" dirty="0">
                <a:solidFill>
                  <a:srgbClr val="000B2E"/>
                </a:solidFill>
              </a:rPr>
            </a:br>
            <a:r>
              <a:rPr lang="en-US" sz="2400" dirty="0">
                <a:solidFill>
                  <a:srgbClr val="000B2E"/>
                </a:solidFill>
              </a:rPr>
              <a:t>Researched for Connecticut and Rhode Island</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1409781978"/>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Aptos Narrow" panose="020B0004020202020204" pitchFamily="34"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In Catchment Area</a:t>
                      </a:r>
                    </a:p>
                  </a:txBody>
                  <a:tcPr marL="9525" marR="9525" marT="9525" marB="0">
                    <a:lnL>
                      <a:noFill/>
                    </a:lnL>
                    <a:lnR>
                      <a:noFill/>
                    </a:lnR>
                    <a:lnT>
                      <a:noFill/>
                    </a:lnT>
                    <a:lnB>
                      <a:noFill/>
                    </a:lnB>
                    <a:noFill/>
                  </a:tcPr>
                </a:tc>
                <a:tc>
                  <a:txBody>
                    <a:bodyPr/>
                    <a:lstStyle/>
                    <a:p>
                      <a:pPr algn="ctr" rtl="0" fontAlgn="b"/>
                      <a:r>
                        <a:rPr lang="en-US" sz="1100" b="0" i="0" u="none" strike="noStrike">
                          <a:solidFill>
                            <a:srgbClr val="000000"/>
                          </a:solidFill>
                          <a:effectLst/>
                          <a:latin typeface="Aptos Narrow" panose="020B0004020202020204" pitchFamily="34" charset="0"/>
                        </a:rPr>
                        <a:t>3,754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1566</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905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537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171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141</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281,600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234,900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271,500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375,900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342,000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846,000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506,900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422,800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488,700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676,600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615,600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1,522,800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10" name="Picture 9">
            <a:extLst>
              <a:ext uri="{FF2B5EF4-FFF2-40B4-BE49-F238E27FC236}">
                <a16:creationId xmlns:a16="http://schemas.microsoft.com/office/drawing/2014/main" id="{43BD27A6-3E47-2643-6E58-EBBF60EB2FDE}"/>
              </a:ext>
            </a:extLst>
          </p:cNvPr>
          <p:cNvPicPr>
            <a:picLocks noChangeAspect="1"/>
          </p:cNvPicPr>
          <p:nvPr/>
        </p:nvPicPr>
        <p:blipFill>
          <a:blip r:embed="rId2"/>
          <a:srcRect l="10539" t="14338" r="22091" b="18113"/>
          <a:stretch/>
        </p:blipFill>
        <p:spPr>
          <a:xfrm>
            <a:off x="625645" y="2601258"/>
            <a:ext cx="3707842" cy="3199969"/>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dirty="0"/>
              <a:t>Plan Potential Growth Paths</a:t>
            </a:r>
          </a:p>
        </p:txBody>
      </p:sp>
      <p:sp>
        <p:nvSpPr>
          <p:cNvPr id="3"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9</a:t>
            </a:fld>
            <a:endParaRPr lang="en-US" dirty="0"/>
          </a:p>
        </p:txBody>
      </p:sp>
      <p:sp>
        <p:nvSpPr>
          <p:cNvPr id="5" name="Rectangle 6">
            <a:extLst>
              <a:ext uri="{FF2B5EF4-FFF2-40B4-BE49-F238E27FC236}">
                <a16:creationId xmlns:a16="http://schemas.microsoft.com/office/drawing/2014/main" id="{F102BEAF-097D-41B4-20FD-56D98AD0F034}"/>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93706D05-011F-D6E5-AB62-168509A0E77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PLAN GROWTH POTENTIAL</a:t>
            </a:r>
          </a:p>
        </p:txBody>
      </p:sp>
      <p:grpSp>
        <p:nvGrpSpPr>
          <p:cNvPr id="7" name="Group 28">
            <a:extLst>
              <a:ext uri="{FF2B5EF4-FFF2-40B4-BE49-F238E27FC236}">
                <a16:creationId xmlns:a16="http://schemas.microsoft.com/office/drawing/2014/main" id="{69A10699-B4B2-AF88-E1A1-1EF0A88AB471}"/>
              </a:ext>
            </a:extLst>
          </p:cNvPr>
          <p:cNvGrpSpPr/>
          <p:nvPr/>
        </p:nvGrpSpPr>
        <p:grpSpPr>
          <a:xfrm>
            <a:off x="1359766" y="1855590"/>
            <a:ext cx="3960468" cy="3636786"/>
            <a:chOff x="1724978" y="2161521"/>
            <a:chExt cx="8274685" cy="4307840"/>
          </a:xfrm>
        </p:grpSpPr>
        <p:grpSp>
          <p:nvGrpSpPr>
            <p:cNvPr id="8" name="Group 29">
              <a:extLst>
                <a:ext uri="{FF2B5EF4-FFF2-40B4-BE49-F238E27FC236}">
                  <a16:creationId xmlns:a16="http://schemas.microsoft.com/office/drawing/2014/main" id="{11C874E5-E3B4-BAE0-4E2D-2C86D4E7E53A}"/>
                </a:ext>
              </a:extLst>
            </p:cNvPr>
            <p:cNvGrpSpPr/>
            <p:nvPr/>
          </p:nvGrpSpPr>
          <p:grpSpPr>
            <a:xfrm>
              <a:off x="1724978" y="5494001"/>
              <a:ext cx="6872605" cy="975360"/>
              <a:chOff x="1724978" y="5494001"/>
              <a:chExt cx="6872605" cy="975360"/>
            </a:xfrm>
          </p:grpSpPr>
          <p:sp>
            <p:nvSpPr>
              <p:cNvPr id="9"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0" name="TextBox 73">
                <a:extLst>
                  <a:ext uri="{FF2B5EF4-FFF2-40B4-BE49-F238E27FC236}">
                    <a16:creationId xmlns:a16="http://schemas.microsoft.com/office/drawing/2014/main" id="{AEAD331A-F2F6-E5AA-6FA8-43463612A331}"/>
                  </a:ext>
                </a:extLst>
              </p:cNvPr>
              <p:cNvSpPr txBox="1"/>
              <p:nvPr/>
            </p:nvSpPr>
            <p:spPr>
              <a:xfrm>
                <a:off x="1724978" y="5759838"/>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Population</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1" name="Group 30">
              <a:extLst>
                <a:ext uri="{FF2B5EF4-FFF2-40B4-BE49-F238E27FC236}">
                  <a16:creationId xmlns:a16="http://schemas.microsoft.com/office/drawing/2014/main" id="{689474B3-12FA-8E66-D71F-53822C9C68C9}"/>
                </a:ext>
              </a:extLst>
            </p:cNvPr>
            <p:cNvGrpSpPr/>
            <p:nvPr/>
          </p:nvGrpSpPr>
          <p:grpSpPr>
            <a:xfrm>
              <a:off x="2182178" y="2161521"/>
              <a:ext cx="7817485" cy="3197014"/>
              <a:chOff x="3627756" y="1830493"/>
              <a:chExt cx="7817485" cy="3197014"/>
            </a:xfrm>
          </p:grpSpPr>
          <p:grpSp>
            <p:nvGrpSpPr>
              <p:cNvPr id="12" name="Group 58">
                <a:extLst>
                  <a:ext uri="{FF2B5EF4-FFF2-40B4-BE49-F238E27FC236}">
                    <a16:creationId xmlns:a16="http://schemas.microsoft.com/office/drawing/2014/main" id="{51ED3EA0-1B18-EEE0-293E-BB00AD4DE764}"/>
                  </a:ext>
                </a:extLst>
              </p:cNvPr>
              <p:cNvGrpSpPr/>
              <p:nvPr/>
            </p:nvGrpSpPr>
            <p:grpSpPr>
              <a:xfrm>
                <a:off x="3627756" y="4052147"/>
                <a:ext cx="6882765" cy="975360"/>
                <a:chOff x="3627756" y="4052147"/>
                <a:chExt cx="6882765" cy="975360"/>
              </a:xfrm>
            </p:grpSpPr>
            <p:sp>
              <p:nvSpPr>
                <p:cNvPr id="13"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a:p>
              </p:txBody>
            </p:sp>
            <p:sp>
              <p:nvSpPr>
                <p:cNvPr id="14" name="TextBox 63">
                  <a:extLst>
                    <a:ext uri="{FF2B5EF4-FFF2-40B4-BE49-F238E27FC236}">
                      <a16:creationId xmlns:a16="http://schemas.microsoft.com/office/drawing/2014/main" id="{89D49C14-1775-066C-353B-1ACCC4D24138}"/>
                    </a:ext>
                  </a:extLst>
                </p:cNvPr>
                <p:cNvSpPr txBox="1"/>
                <p:nvPr/>
              </p:nvSpPr>
              <p:spPr>
                <a:xfrm>
                  <a:off x="3627756" y="4317984"/>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Working Age</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5" name="Group 52">
                <a:extLst>
                  <a:ext uri="{FF2B5EF4-FFF2-40B4-BE49-F238E27FC236}">
                    <a16:creationId xmlns:a16="http://schemas.microsoft.com/office/drawing/2014/main" id="{1DBB449D-FFE3-79BF-CC4B-CBC0A3F03B29}"/>
                  </a:ext>
                </a:extLst>
              </p:cNvPr>
              <p:cNvGrpSpPr/>
              <p:nvPr/>
            </p:nvGrpSpPr>
            <p:grpSpPr>
              <a:xfrm>
                <a:off x="4069948" y="2930285"/>
                <a:ext cx="6907933" cy="975360"/>
                <a:chOff x="4069947" y="2930285"/>
                <a:chExt cx="6907933" cy="975360"/>
              </a:xfrm>
            </p:grpSpPr>
            <p:sp>
              <p:nvSpPr>
                <p:cNvPr id="16"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7" name="TextBox 57">
                  <a:extLst>
                    <a:ext uri="{FF2B5EF4-FFF2-40B4-BE49-F238E27FC236}">
                      <a16:creationId xmlns:a16="http://schemas.microsoft.com/office/drawing/2014/main" id="{3C6B2C41-D61E-2C7A-3D82-5A90E06CEE5A}"/>
                    </a:ext>
                  </a:extLst>
                </p:cNvPr>
                <p:cNvSpPr txBox="1"/>
                <p:nvPr/>
              </p:nvSpPr>
              <p:spPr>
                <a:xfrm>
                  <a:off x="4069947" y="3206963"/>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Insured</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8" name="Group 46">
                <a:extLst>
                  <a:ext uri="{FF2B5EF4-FFF2-40B4-BE49-F238E27FC236}">
                    <a16:creationId xmlns:a16="http://schemas.microsoft.com/office/drawing/2014/main" id="{F80321D4-B659-65A7-5D2E-CFE404DB4D8E}"/>
                  </a:ext>
                </a:extLst>
              </p:cNvPr>
              <p:cNvGrpSpPr/>
              <p:nvPr/>
            </p:nvGrpSpPr>
            <p:grpSpPr>
              <a:xfrm>
                <a:off x="4561206" y="1830493"/>
                <a:ext cx="6884035" cy="975360"/>
                <a:chOff x="4561206" y="1830493"/>
                <a:chExt cx="6884035" cy="975360"/>
              </a:xfrm>
            </p:grpSpPr>
            <p:sp>
              <p:nvSpPr>
                <p:cNvPr id="19"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20" name="TextBox 51">
                  <a:extLst>
                    <a:ext uri="{FF2B5EF4-FFF2-40B4-BE49-F238E27FC236}">
                      <a16:creationId xmlns:a16="http://schemas.microsoft.com/office/drawing/2014/main" id="{2AE87841-825C-FE4F-1AB9-6CC03862C17F}"/>
                    </a:ext>
                  </a:extLst>
                </p:cNvPr>
                <p:cNvSpPr txBox="1"/>
                <p:nvPr/>
              </p:nvSpPr>
              <p:spPr>
                <a:xfrm>
                  <a:off x="4561206" y="2096329"/>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Self Funded</a:t>
                  </a:r>
                  <a:endParaRPr lang="en-IN" sz="1600" b="1" i="1" dirty="0">
                    <a:solidFill>
                      <a:schemeClr val="bg1"/>
                    </a:solidFill>
                    <a:latin typeface="Arial" panose="020B0604020202020204" pitchFamily="34" charset="0"/>
                    <a:cs typeface="Arial" panose="020B0604020202020204" pitchFamily="34" charset="0"/>
                  </a:endParaRPr>
                </a:p>
              </p:txBody>
            </p:sp>
          </p:grpSp>
        </p:grpSp>
        <p:sp>
          <p:nvSpPr>
            <p:cNvPr id="21"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nvGrpSpPr>
            <p:cNvPr id="22"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23"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a:solidFill>
                    <a:schemeClr val="bg1"/>
                  </a:solidFill>
                </a:endParaRPr>
              </a:p>
            </p:txBody>
          </p:sp>
          <p:sp>
            <p:nvSpPr>
              <p:cNvPr id="24"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5"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6"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7"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grpSp>
        <p:sp>
          <p:nvSpPr>
            <p:cNvPr id="28"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sp>
          <p:nvSpPr>
            <p:cNvPr id="29"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sp>
        <p:nvSpPr>
          <p:cNvPr id="30" name="TextBox 75">
            <a:extLst>
              <a:ext uri="{FF2B5EF4-FFF2-40B4-BE49-F238E27FC236}">
                <a16:creationId xmlns:a16="http://schemas.microsoft.com/office/drawing/2014/main" id="{02AD65D6-9504-23E6-E4FD-CC294F4A3C64}"/>
              </a:ext>
            </a:extLst>
          </p:cNvPr>
          <p:cNvSpPr txBox="1"/>
          <p:nvPr/>
        </p:nvSpPr>
        <p:spPr>
          <a:xfrm>
            <a:off x="1699594" y="5848141"/>
            <a:ext cx="9514366" cy="369332"/>
          </a:xfrm>
          <a:prstGeom prst="rect">
            <a:avLst/>
          </a:prstGeom>
          <a:noFill/>
        </p:spPr>
        <p:txBody>
          <a:bodyPr wrap="square" rtlCol="0">
            <a:spAutoFit/>
          </a:bodyPr>
          <a:lstStyle/>
          <a:p>
            <a:r>
              <a:rPr lang="en-US" dirty="0">
                <a:solidFill/>
              </a:rPr>
              <a:t>Estimates include Connecticut and Rhode Island</a:t>
            </a:r>
          </a:p>
        </p:txBody>
      </p:sp>
      <p:sp>
        <p:nvSpPr>
          <p:cNvPr id="31" name="TextBox 76">
            <a:extLst>
              <a:ext uri="{FF2B5EF4-FFF2-40B4-BE49-F238E27FC236}">
                <a16:creationId xmlns:a16="http://schemas.microsoft.com/office/drawing/2014/main" id="{F3A378C3-B669-3EE2-B76D-98EDB44E8CDF}"/>
              </a:ext>
            </a:extLst>
          </p:cNvPr>
          <p:cNvSpPr txBox="1"/>
          <p:nvPr/>
        </p:nvSpPr>
        <p:spPr>
          <a:xfrm>
            <a:off x="3297507" y="4821984"/>
            <a:ext cx="1613199" cy="523220"/>
          </a:xfrm>
          <a:prstGeom prst="rect">
            <a:avLst/>
          </a:prstGeom>
          <a:noFill/>
        </p:spPr>
        <p:txBody>
          <a:bodyPr wrap="none" rtlCol="0">
            <a:spAutoFit/>
          </a:bodyPr>
          <a:lstStyle/>
          <a:p>
            <a:r>
              <a:rPr lang="en-US" sz="2800" dirty="0">
                <a:solidFill/>
              </a:rPr>
              <a:t>4,706K</a:t>
            </a:r>
          </a:p>
        </p:txBody>
      </p:sp>
      <p:sp>
        <p:nvSpPr>
          <p:cNvPr id="32" name="TextBox 77">
            <a:extLst>
              <a:ext uri="{FF2B5EF4-FFF2-40B4-BE49-F238E27FC236}">
                <a16:creationId xmlns:a16="http://schemas.microsoft.com/office/drawing/2014/main" id="{F24CF5B8-0E02-1AF3-2A3D-F14253B44FE8}"/>
              </a:ext>
            </a:extLst>
          </p:cNvPr>
          <p:cNvSpPr txBox="1"/>
          <p:nvPr/>
        </p:nvSpPr>
        <p:spPr>
          <a:xfrm>
            <a:off x="3520440" y="3896929"/>
            <a:ext cx="1096775" cy="523220"/>
          </a:xfrm>
          <a:prstGeom prst="rect">
            <a:avLst/>
          </a:prstGeom>
          <a:noFill/>
        </p:spPr>
        <p:txBody>
          <a:bodyPr wrap="none" rtlCol="0">
            <a:spAutoFit/>
          </a:bodyPr>
          <a:lstStyle/>
          <a:p>
            <a:r>
              <a:rPr lang="en-US" sz="2800" dirty="0">
                <a:solidFill/>
              </a:rPr>
              <a:t>2,827K</a:t>
            </a:r>
          </a:p>
        </p:txBody>
      </p:sp>
      <p:sp>
        <p:nvSpPr>
          <p:cNvPr id="33" name="TextBox 78">
            <a:extLst>
              <a:ext uri="{FF2B5EF4-FFF2-40B4-BE49-F238E27FC236}">
                <a16:creationId xmlns:a16="http://schemas.microsoft.com/office/drawing/2014/main" id="{509B3348-F2D5-63CE-B5D5-5FB7263B3D0F}"/>
              </a:ext>
            </a:extLst>
          </p:cNvPr>
          <p:cNvSpPr txBox="1"/>
          <p:nvPr/>
        </p:nvSpPr>
        <p:spPr>
          <a:xfrm>
            <a:off x="3739896" y="2954184"/>
            <a:ext cx="1079142" cy="523220"/>
          </a:xfrm>
          <a:prstGeom prst="rect">
            <a:avLst/>
          </a:prstGeom>
          <a:noFill/>
        </p:spPr>
        <p:txBody>
          <a:bodyPr wrap="none" rtlCol="0">
            <a:spAutoFit/>
          </a:bodyPr>
          <a:lstStyle/>
          <a:p>
            <a:r>
              <a:rPr lang="en-US" sz="2800" dirty="0">
                <a:solidFill/>
              </a:rPr>
              <a:t>2,033K</a:t>
            </a:r>
          </a:p>
        </p:txBody>
      </p:sp>
      <p:sp>
        <p:nvSpPr>
          <p:cNvPr id="34" name="TextBox 79">
            <a:extLst>
              <a:ext uri="{FF2B5EF4-FFF2-40B4-BE49-F238E27FC236}">
                <a16:creationId xmlns:a16="http://schemas.microsoft.com/office/drawing/2014/main" id="{7E24246C-24ED-62DA-EA2E-6EA4A6ADAEAC}"/>
              </a:ext>
            </a:extLst>
          </p:cNvPr>
          <p:cNvSpPr txBox="1"/>
          <p:nvPr/>
        </p:nvSpPr>
        <p:spPr>
          <a:xfrm>
            <a:off x="3959352" y="2022649"/>
            <a:ext cx="922047" cy="523220"/>
          </a:xfrm>
          <a:prstGeom prst="rect">
            <a:avLst/>
          </a:prstGeom>
          <a:noFill/>
        </p:spPr>
        <p:txBody>
          <a:bodyPr wrap="none" rtlCol="0">
            <a:spAutoFit/>
          </a:bodyPr>
          <a:lstStyle/>
          <a:p>
            <a:r>
              <a:rPr lang="en-US" sz="2800" dirty="0">
                <a:solidFill/>
              </a:rPr>
              <a:t>1,090K</a:t>
            </a:r>
          </a:p>
        </p:txBody>
      </p:sp>
      <p:pic>
        <p:nvPicPr>
          <p:cNvPr id="35" name="Content Placeholder 34"/>
          <p:cNvPicPr>
            <a:picLocks noGrp="1"/>
          </p:cNvPicPr>
          <p:nvPr>
            <p:ph/>
          </p:nvPr>
        </p:nvPicPr>
        <p:blipFill>
          <a:blip r:embed="rId2"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Royalty-Free photo: Green tall trees near on the lake with overlooking  mountain during daytime | PickPik">
            <a:extLst>
              <a:ext uri="{FF2B5EF4-FFF2-40B4-BE49-F238E27FC236}">
                <a16:creationId xmlns:a16="http://schemas.microsoft.com/office/drawing/2014/main" id="{2478D38F-2055-3BED-F325-F30BC9616D52}"/>
              </a:ext>
            </a:extLst>
          </p:cNvPr>
          <p:cNvPicPr>
            <a:picLocks noChangeAspect="1" noChangeArrowheads="1"/>
          </p:cNvPicPr>
          <p:nvPr/>
        </p:nvPicPr>
        <p:blipFill rotWithShape="1">
          <a:blip r:embed="rId3">
            <a:duotone>
              <a:schemeClr val="bg2">
                <a:shade val="45000"/>
                <a:satMod val="135000"/>
              </a:schemeClr>
              <a:prstClr val="white"/>
            </a:duotone>
            <a:alphaModFix amt="28000"/>
            <a:extLst>
              <a:ext uri="{28A0092B-C50C-407E-A947-70E740481C1C}">
                <a14:useLocalDpi xmlns:a14="http://schemas.microsoft.com/office/drawing/2010/main" val="0"/>
              </a:ext>
            </a:extLst>
          </a:blip>
          <a:srcRect b="5528"/>
          <a:stretch/>
        </p:blipFill>
        <p:spPr bwMode="auto">
          <a:xfrm>
            <a:off x="-31771" y="1"/>
            <a:ext cx="10918845" cy="687206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C03588DF-56D9-837C-AA1C-128F048C493A}"/>
              </a:ext>
            </a:extLst>
          </p:cNvPr>
          <p:cNvSpPr>
            <a:spLocks noGrp="1"/>
          </p:cNvSpPr>
          <p:nvPr>
            <p:ph type="title"/>
          </p:nvPr>
        </p:nvSpPr>
        <p:spPr>
          <a:xfrm>
            <a:off x="295590" y="144962"/>
            <a:ext cx="10515600" cy="1325563"/>
          </a:xfrm>
        </p:spPr>
        <p:txBody>
          <a:bodyPr/>
          <a:lstStyle/>
          <a:p>
            <a:r>
              <a:rPr lang="en-US" dirty="0"/>
              <a:t>Growing Powerful, Lasting Profitability</a:t>
            </a:r>
          </a:p>
        </p:txBody>
      </p:sp>
      <p:sp>
        <p:nvSpPr>
          <p:cNvPr id="4"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a:xfrm>
            <a:off x="2752413" y="6480529"/>
            <a:ext cx="4114800" cy="365125"/>
          </a:xfrm>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10</a:t>
            </a:fld>
            <a:endParaRPr lang="en-US" dirty="0"/>
          </a:p>
        </p:txBody>
      </p:sp>
      <p:sp>
        <p:nvSpPr>
          <p:cNvPr id="6" name="Rectangle 4">
            <a:extLst>
              <a:ext uri="{FF2B5EF4-FFF2-40B4-BE49-F238E27FC236}">
                <a16:creationId xmlns:a16="http://schemas.microsoft.com/office/drawing/2014/main" id="{239038F2-C307-DC75-4AEA-316E0211A3AE}"/>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10">
            <a:extLst>
              <a:ext uri="{FF2B5EF4-FFF2-40B4-BE49-F238E27FC236}">
                <a16:creationId xmlns:a16="http://schemas.microsoft.com/office/drawing/2014/main" id="{C0C1C4CA-44D9-9691-E058-46CEB5C35DF2}"/>
              </a:ext>
            </a:extLst>
          </p:cNvPr>
          <p:cNvSpPr/>
          <p:nvPr/>
        </p:nvSpPr>
        <p:spPr>
          <a:xfrm>
            <a:off x="4401177" y="1868993"/>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a:extLst>
              <a:ext uri="{FF2B5EF4-FFF2-40B4-BE49-F238E27FC236}">
                <a16:creationId xmlns:a16="http://schemas.microsoft.com/office/drawing/2014/main" id="{8DCAE5A5-11EC-16C5-5F5F-C5DF9E3B0859}"/>
              </a:ext>
            </a:extLst>
          </p:cNvPr>
          <p:cNvSpPr/>
          <p:nvPr/>
        </p:nvSpPr>
        <p:spPr>
          <a:xfrm>
            <a:off x="6315910" y="1868991"/>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2">
            <a:extLst>
              <a:ext uri="{FF2B5EF4-FFF2-40B4-BE49-F238E27FC236}">
                <a16:creationId xmlns:a16="http://schemas.microsoft.com/office/drawing/2014/main" id="{98C73641-C807-1985-E19A-CA79DA10785E}"/>
              </a:ext>
            </a:extLst>
          </p:cNvPr>
          <p:cNvSpPr/>
          <p:nvPr/>
        </p:nvSpPr>
        <p:spPr>
          <a:xfrm>
            <a:off x="8230644" y="1868990"/>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3">
            <a:extLst>
              <a:ext uri="{FF2B5EF4-FFF2-40B4-BE49-F238E27FC236}">
                <a16:creationId xmlns:a16="http://schemas.microsoft.com/office/drawing/2014/main" id="{8546D6DB-89F3-8B35-A9E8-670CED022928}"/>
              </a:ext>
            </a:extLst>
          </p:cNvPr>
          <p:cNvSpPr txBox="1"/>
          <p:nvPr/>
        </p:nvSpPr>
        <p:spPr>
          <a:xfrm>
            <a:off x="572430" y="1636954"/>
            <a:ext cx="2568332" cy="630942"/>
          </a:xfrm>
          <a:prstGeom prst="rect">
            <a:avLst/>
          </a:prstGeom>
          <a:noFill/>
        </p:spPr>
        <p:txBody>
          <a:bodyPr wrap="none" rtlCol="0">
            <a:spAutoFit/>
          </a:bodyPr>
          <a:lstStyle/>
          <a:p>
            <a:pPr algn="ctr"/>
            <a:r>
              <a:rPr lang="en-US" sz="2400" b="1" dirty="0">
                <a:solidFill>
                  <a:srgbClr val="6087CE"/>
                </a:solidFill>
              </a:rPr>
              <a:t>Early Stage</a:t>
            </a:r>
          </a:p>
          <a:p>
            <a:pPr algn="ctr"/>
            <a:r>
              <a:rPr lang="en-US" sz="1100" dirty="0">
                <a:solidFill>
                  <a:srgbClr val="6087CE"/>
                </a:solidFill>
              </a:rPr>
              <a:t>Gaining Name Recognition, Early Growth</a:t>
            </a:r>
          </a:p>
        </p:txBody>
      </p:sp>
      <p:sp>
        <p:nvSpPr>
          <p:cNvPr id="11" name="TextBox 6">
            <a:extLst>
              <a:ext uri="{FF2B5EF4-FFF2-40B4-BE49-F238E27FC236}">
                <a16:creationId xmlns:a16="http://schemas.microsoft.com/office/drawing/2014/main" id="{0C35DE11-AC92-1958-1813-38A8A86CBCE8}"/>
              </a:ext>
            </a:extLst>
          </p:cNvPr>
          <p:cNvSpPr txBox="1"/>
          <p:nvPr/>
        </p:nvSpPr>
        <p:spPr>
          <a:xfrm>
            <a:off x="135286" y="2293880"/>
            <a:ext cx="1624165" cy="307777"/>
          </a:xfrm>
          <a:prstGeom prst="rect">
            <a:avLst/>
          </a:prstGeom>
          <a:noFill/>
        </p:spPr>
        <p:txBody>
          <a:bodyPr wrap="square">
            <a:spAutoFit/>
          </a:bodyPr>
          <a:lstStyle/>
          <a:p>
            <a:pPr algn="ctr"/>
            <a:r>
              <a:rPr lang="en-US" sz="1400" dirty="0">
                <a:solidFill>
                  <a:srgbClr val="6087CE"/>
                </a:solidFill>
              </a:rPr>
              <a:t>New Revenue:</a:t>
            </a:r>
          </a:p>
        </p:txBody>
      </p:sp>
      <p:sp>
        <p:nvSpPr>
          <p:cNvPr id="12" name="TextBox 7">
            <a:extLst>
              <a:ext uri="{FF2B5EF4-FFF2-40B4-BE49-F238E27FC236}">
                <a16:creationId xmlns:a16="http://schemas.microsoft.com/office/drawing/2014/main" id="{2E2DA353-8032-9A29-CBFC-5E2CAB8FA818}"/>
              </a:ext>
            </a:extLst>
          </p:cNvPr>
          <p:cNvSpPr txBox="1"/>
          <p:nvPr/>
        </p:nvSpPr>
        <p:spPr>
          <a:xfrm>
            <a:off x="2219510" y="2293880"/>
            <a:ext cx="1118086" cy="307777"/>
          </a:xfrm>
          <a:prstGeom prst="rect">
            <a:avLst/>
          </a:prstGeom>
          <a:noFill/>
        </p:spPr>
        <p:txBody>
          <a:bodyPr wrap="square">
            <a:spAutoFit/>
          </a:bodyPr>
          <a:lstStyle/>
          <a:p>
            <a:pPr algn="ctr"/>
            <a:r>
              <a:rPr lang="en-US" sz="1400" dirty="0">
                <a:solidFill>
                  <a:srgbClr val="6087CE"/>
                </a:solidFill>
              </a:rPr>
              <a:t>New Profit:</a:t>
            </a:r>
          </a:p>
        </p:txBody>
      </p:sp>
      <p:sp>
        <p:nvSpPr>
          <p:cNvPr id="13" name="TextBox 9">
            <a:extLst>
              <a:ext uri="{FF2B5EF4-FFF2-40B4-BE49-F238E27FC236}">
                <a16:creationId xmlns:a16="http://schemas.microsoft.com/office/drawing/2014/main" id="{2EE70FCE-698F-980C-DE5B-A5E0DD82F2B7}"/>
              </a:ext>
            </a:extLst>
          </p:cNvPr>
          <p:cNvSpPr txBox="1"/>
          <p:nvPr/>
        </p:nvSpPr>
        <p:spPr>
          <a:xfrm>
            <a:off x="129001" y="2539605"/>
            <a:ext cx="1588535" cy="400110"/>
          </a:xfrm>
          <a:prstGeom prst="rect">
            <a:avLst/>
          </a:prstGeom>
          <a:noFill/>
        </p:spPr>
        <p:txBody>
          <a:bodyPr wrap="square">
            <a:spAutoFit/>
          </a:bodyPr>
          <a:lstStyle/>
          <a:p>
            <a:pPr algn="ctr"/>
            <a:r>
              <a:rPr lang="en-US" sz="2000" b="1" dirty="0">
                <a:solidFill>
                  <a:srgbClr val="6087CE"/>
                </a:solidFill>
              </a:rPr>
              <a:t>$29.53M</a:t>
            </a:r>
            <a:endParaRPr lang="en-US" sz="2000" dirty="0"/>
          </a:p>
        </p:txBody>
      </p:sp>
      <p:sp>
        <p:nvSpPr>
          <p:cNvPr id="14" name="TextBox 14">
            <a:extLst>
              <a:ext uri="{FF2B5EF4-FFF2-40B4-BE49-F238E27FC236}">
                <a16:creationId xmlns:a16="http://schemas.microsoft.com/office/drawing/2014/main" id="{DBAF8120-09F6-4EB0-E666-C1CBDC5CF295}"/>
              </a:ext>
            </a:extLst>
          </p:cNvPr>
          <p:cNvSpPr txBox="1"/>
          <p:nvPr/>
        </p:nvSpPr>
        <p:spPr>
          <a:xfrm>
            <a:off x="1922550" y="2539605"/>
            <a:ext cx="1588535" cy="400110"/>
          </a:xfrm>
          <a:prstGeom prst="rect">
            <a:avLst/>
          </a:prstGeom>
          <a:noFill/>
        </p:spPr>
        <p:txBody>
          <a:bodyPr wrap="square">
            <a:spAutoFit/>
          </a:bodyPr>
          <a:lstStyle/>
          <a:p>
            <a:pPr algn="ctr"/>
            <a:r>
              <a:rPr lang="en-US" sz="2000" b="1" dirty="0">
                <a:solidFill>
                  <a:srgbClr val="6087CE"/>
                </a:solidFill>
              </a:rPr>
              <a:t>$6.79M</a:t>
            </a:r>
            <a:endParaRPr lang="en-US" sz="2000" dirty="0"/>
          </a:p>
        </p:txBody>
      </p:sp>
      <p:sp>
        <p:nvSpPr>
          <p:cNvPr id="15" name="TextBox 15">
            <a:extLst>
              <a:ext uri="{FF2B5EF4-FFF2-40B4-BE49-F238E27FC236}">
                <a16:creationId xmlns:a16="http://schemas.microsoft.com/office/drawing/2014/main" id="{5B374298-411A-3F68-B672-E1DC32DEA9AE}"/>
              </a:ext>
            </a:extLst>
          </p:cNvPr>
          <p:cNvSpPr txBox="1"/>
          <p:nvPr/>
        </p:nvSpPr>
        <p:spPr>
          <a:xfrm>
            <a:off x="781431" y="3151370"/>
            <a:ext cx="2132315" cy="630942"/>
          </a:xfrm>
          <a:prstGeom prst="rect">
            <a:avLst/>
          </a:prstGeom>
          <a:noFill/>
        </p:spPr>
        <p:txBody>
          <a:bodyPr wrap="none" rtlCol="0">
            <a:spAutoFit/>
          </a:bodyPr>
          <a:lstStyle/>
          <a:p>
            <a:pPr algn="ctr"/>
            <a:r>
              <a:rPr lang="en-US" sz="2400" b="1" dirty="0">
                <a:solidFill>
                  <a:srgbClr val="2F5597"/>
                </a:solidFill>
              </a:rPr>
              <a:t>Growth Stage</a:t>
            </a:r>
          </a:p>
          <a:p>
            <a:pPr algn="ctr"/>
            <a:r>
              <a:rPr lang="en-US" sz="1100" dirty="0">
                <a:solidFill>
                  <a:srgbClr val="2F5597"/>
                </a:solidFill>
              </a:rPr>
              <a:t>Strong Reputation, Strong Growth</a:t>
            </a:r>
          </a:p>
        </p:txBody>
      </p:sp>
      <p:sp>
        <p:nvSpPr>
          <p:cNvPr id="16" name="TextBox 16">
            <a:extLst>
              <a:ext uri="{FF2B5EF4-FFF2-40B4-BE49-F238E27FC236}">
                <a16:creationId xmlns:a16="http://schemas.microsoft.com/office/drawing/2014/main" id="{734215D0-1B81-9E25-D893-D1A81A7D90DE}"/>
              </a:ext>
            </a:extLst>
          </p:cNvPr>
          <p:cNvSpPr txBox="1"/>
          <p:nvPr/>
        </p:nvSpPr>
        <p:spPr>
          <a:xfrm>
            <a:off x="126277" y="3808296"/>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17" name="TextBox 17">
            <a:extLst>
              <a:ext uri="{FF2B5EF4-FFF2-40B4-BE49-F238E27FC236}">
                <a16:creationId xmlns:a16="http://schemas.microsoft.com/office/drawing/2014/main" id="{44D03DDF-E57A-E22B-A334-B0D6BAD568C1}"/>
              </a:ext>
            </a:extLst>
          </p:cNvPr>
          <p:cNvSpPr txBox="1"/>
          <p:nvPr/>
        </p:nvSpPr>
        <p:spPr>
          <a:xfrm>
            <a:off x="2210501" y="3808296"/>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18" name="TextBox 20">
            <a:extLst>
              <a:ext uri="{FF2B5EF4-FFF2-40B4-BE49-F238E27FC236}">
                <a16:creationId xmlns:a16="http://schemas.microsoft.com/office/drawing/2014/main" id="{2F96F890-CA85-53B4-4C86-B02186E9E89E}"/>
              </a:ext>
            </a:extLst>
          </p:cNvPr>
          <p:cNvSpPr txBox="1"/>
          <p:nvPr/>
        </p:nvSpPr>
        <p:spPr>
          <a:xfrm>
            <a:off x="119992" y="4054021"/>
            <a:ext cx="1588535" cy="400110"/>
          </a:xfrm>
          <a:prstGeom prst="rect">
            <a:avLst/>
          </a:prstGeom>
          <a:noFill/>
        </p:spPr>
        <p:txBody>
          <a:bodyPr wrap="square">
            <a:spAutoFit/>
          </a:bodyPr>
          <a:lstStyle/>
          <a:p>
            <a:pPr algn="ctr"/>
            <a:r>
              <a:rPr lang="en-US" sz="2000" b="1" dirty="0">
                <a:solidFill>
                  <a:srgbClr val="2F5597"/>
                </a:solidFill>
              </a:rPr>
              <a:t>$219.56M</a:t>
            </a:r>
            <a:endParaRPr lang="en-US" sz="2000" dirty="0">
              <a:solidFill>
                <a:srgbClr val="2F5597"/>
              </a:solidFill>
            </a:endParaRPr>
          </a:p>
        </p:txBody>
      </p:sp>
      <p:sp>
        <p:nvSpPr>
          <p:cNvPr id="19" name="TextBox 21">
            <a:extLst>
              <a:ext uri="{FF2B5EF4-FFF2-40B4-BE49-F238E27FC236}">
                <a16:creationId xmlns:a16="http://schemas.microsoft.com/office/drawing/2014/main" id="{BD5125C9-83DD-4D9F-DE79-D476BE3F058D}"/>
              </a:ext>
            </a:extLst>
          </p:cNvPr>
          <p:cNvSpPr txBox="1"/>
          <p:nvPr/>
        </p:nvSpPr>
        <p:spPr>
          <a:xfrm>
            <a:off x="1913541" y="4054021"/>
            <a:ext cx="1588535" cy="400110"/>
          </a:xfrm>
          <a:prstGeom prst="rect">
            <a:avLst/>
          </a:prstGeom>
          <a:noFill/>
        </p:spPr>
        <p:txBody>
          <a:bodyPr wrap="square">
            <a:spAutoFit/>
          </a:bodyPr>
          <a:lstStyle/>
          <a:p>
            <a:pPr algn="ctr"/>
            <a:r>
              <a:rPr lang="en-US" sz="2000" b="1" dirty="0">
                <a:solidFill>
                  <a:srgbClr val="2F5597"/>
                </a:solidFill>
              </a:rPr>
              <a:t>$51.69M</a:t>
            </a:r>
            <a:endParaRPr lang="en-US" sz="2000" dirty="0">
              <a:solidFill>
                <a:srgbClr val="2F5597"/>
              </a:solidFill>
            </a:endParaRPr>
          </a:p>
        </p:txBody>
      </p:sp>
      <p:sp>
        <p:nvSpPr>
          <p:cNvPr id="20" name="TextBox 22">
            <a:extLst>
              <a:ext uri="{FF2B5EF4-FFF2-40B4-BE49-F238E27FC236}">
                <a16:creationId xmlns:a16="http://schemas.microsoft.com/office/drawing/2014/main" id="{DEBB9E11-84A3-58F8-237D-4A265C29D49C}"/>
              </a:ext>
            </a:extLst>
          </p:cNvPr>
          <p:cNvSpPr txBox="1"/>
          <p:nvPr/>
        </p:nvSpPr>
        <p:spPr>
          <a:xfrm>
            <a:off x="729525" y="4771937"/>
            <a:ext cx="2254143" cy="630942"/>
          </a:xfrm>
          <a:prstGeom prst="rect">
            <a:avLst/>
          </a:prstGeom>
          <a:noFill/>
        </p:spPr>
        <p:txBody>
          <a:bodyPr wrap="none" rtlCol="0">
            <a:spAutoFit/>
          </a:bodyPr>
          <a:lstStyle/>
          <a:p>
            <a:pPr algn="ctr"/>
            <a:r>
              <a:rPr lang="en-US" sz="2400" b="1" dirty="0">
                <a:solidFill>
                  <a:srgbClr val="2F5597"/>
                </a:solidFill>
              </a:rPr>
              <a:t>Mature Stage</a:t>
            </a:r>
          </a:p>
          <a:p>
            <a:pPr algn="ctr"/>
            <a:r>
              <a:rPr lang="en-US" sz="1100" dirty="0">
                <a:solidFill>
                  <a:srgbClr val="2F5597"/>
                </a:solidFill>
              </a:rPr>
              <a:t>High Profitability, Market Saturation</a:t>
            </a:r>
          </a:p>
        </p:txBody>
      </p:sp>
      <p:sp>
        <p:nvSpPr>
          <p:cNvPr id="21" name="TextBox 23">
            <a:extLst>
              <a:ext uri="{FF2B5EF4-FFF2-40B4-BE49-F238E27FC236}">
                <a16:creationId xmlns:a16="http://schemas.microsoft.com/office/drawing/2014/main" id="{E4C2D887-78BC-455D-E84B-4706DBDF3CA1}"/>
              </a:ext>
            </a:extLst>
          </p:cNvPr>
          <p:cNvSpPr txBox="1"/>
          <p:nvPr/>
        </p:nvSpPr>
        <p:spPr>
          <a:xfrm>
            <a:off x="135286" y="5428863"/>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22" name="TextBox 24">
            <a:extLst>
              <a:ext uri="{FF2B5EF4-FFF2-40B4-BE49-F238E27FC236}">
                <a16:creationId xmlns:a16="http://schemas.microsoft.com/office/drawing/2014/main" id="{FC3AFD72-934E-C314-76C9-3BD3C3ADC5D7}"/>
              </a:ext>
            </a:extLst>
          </p:cNvPr>
          <p:cNvSpPr txBox="1"/>
          <p:nvPr/>
        </p:nvSpPr>
        <p:spPr>
          <a:xfrm>
            <a:off x="2219510" y="5428863"/>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23" name="TextBox 25">
            <a:extLst>
              <a:ext uri="{FF2B5EF4-FFF2-40B4-BE49-F238E27FC236}">
                <a16:creationId xmlns:a16="http://schemas.microsoft.com/office/drawing/2014/main" id="{AFC7E587-98BA-0E7B-D632-50ECCC546F0C}"/>
              </a:ext>
            </a:extLst>
          </p:cNvPr>
          <p:cNvSpPr txBox="1"/>
          <p:nvPr/>
        </p:nvSpPr>
        <p:spPr>
          <a:xfrm>
            <a:off x="129001" y="5674588"/>
            <a:ext cx="1588535" cy="400110"/>
          </a:xfrm>
          <a:prstGeom prst="rect">
            <a:avLst/>
          </a:prstGeom>
          <a:noFill/>
        </p:spPr>
        <p:txBody>
          <a:bodyPr wrap="square">
            <a:spAutoFit/>
          </a:bodyPr>
          <a:lstStyle/>
          <a:p>
            <a:pPr algn="ctr"/>
            <a:r>
              <a:rPr lang="en-US" sz="2000" b="1" dirty="0">
                <a:solidFill>
                  <a:srgbClr val="2F5597"/>
                </a:solidFill>
              </a:rPr>
              <a:t>$461.5M</a:t>
            </a:r>
            <a:endParaRPr lang="en-US" sz="2000" dirty="0">
              <a:solidFill>
                <a:srgbClr val="2F5597"/>
              </a:solidFill>
            </a:endParaRPr>
          </a:p>
        </p:txBody>
      </p:sp>
      <p:sp>
        <p:nvSpPr>
          <p:cNvPr id="24" name="TextBox 26">
            <a:extLst>
              <a:ext uri="{FF2B5EF4-FFF2-40B4-BE49-F238E27FC236}">
                <a16:creationId xmlns:a16="http://schemas.microsoft.com/office/drawing/2014/main" id="{CDADE326-124A-38EC-26DF-B19515A72278}"/>
              </a:ext>
            </a:extLst>
          </p:cNvPr>
          <p:cNvSpPr txBox="1"/>
          <p:nvPr/>
        </p:nvSpPr>
        <p:spPr>
          <a:xfrm>
            <a:off x="1922550" y="5674588"/>
            <a:ext cx="1588535" cy="400110"/>
          </a:xfrm>
          <a:prstGeom prst="rect">
            <a:avLst/>
          </a:prstGeom>
          <a:noFill/>
        </p:spPr>
        <p:txBody>
          <a:bodyPr wrap="square">
            <a:spAutoFit/>
          </a:bodyPr>
          <a:lstStyle/>
          <a:p>
            <a:pPr algn="ctr"/>
            <a:r>
              <a:rPr lang="en-US" sz="2000" b="1" dirty="0">
                <a:solidFill>
                  <a:srgbClr val="2F5597"/>
                </a:solidFill>
              </a:rPr>
              <a:t>$108.72M</a:t>
            </a:r>
            <a:endParaRPr lang="en-US" sz="2000" dirty="0">
              <a:solidFill>
                <a:srgbClr val="2F5597"/>
              </a:solidFill>
            </a:endParaRPr>
          </a:p>
        </p:txBody>
      </p:sp>
      <p:pic>
        <p:nvPicPr>
          <p:cNvPr id="25" name="Content Placeholder 24"/>
          <p:cNvPicPr>
            <a:picLocks noGrp="1"/>
          </p:cNvPicPr>
          <p:nvPr>
            <p:ph/>
          </p:nvPr>
        </p:nvPicPr>
        <p:blipFill>
          <a:blip r:embed="rId4" cstate="print"/>
          <a:stretch>
            <a:fillRect/>
          </a:stretch>
        </p:blipFill>
        <p:spPr>
          <a:xfrm>
            <a:off x="4078224" y="1472184"/>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1553028" y="365125"/>
            <a:ext cx="10458459" cy="1325563"/>
          </a:xfrm>
        </p:spPr>
        <p:txBody>
          <a:bodyPr>
            <a:normAutofit/>
          </a:bodyPr>
          <a:lstStyle/>
          <a:p>
            <a:r>
              <a:rPr lang="en-US" sz="3600" b="1" dirty="0">
                <a:solidFill>
                  <a:schemeClr val="tx1">
                    <a:lumMod val="85000"/>
                    <a:lumOff val="15000"/>
                  </a:schemeClr>
                </a:solidFill>
                <a:latin typeface="Arial" panose="020B0604020202020204" pitchFamily="34" charset="0"/>
                <a:cs typeface="Arial" panose="020B0604020202020204" pitchFamily="34" charset="0"/>
              </a:rPr>
              <a:t>Estimated Financial Returns and Assumptions</a:t>
            </a:r>
          </a:p>
        </p:txBody>
      </p:sp>
      <p:sp>
        <p:nvSpPr>
          <p:cNvPr id="3" name="Footer Placeholder 3">
            <a:extLst>
              <a:ext uri="{FF2B5EF4-FFF2-40B4-BE49-F238E27FC236}">
                <a16:creationId xmlns:a16="http://schemas.microsoft.com/office/drawing/2014/main" id="{5507C855-B839-95B6-9EA2-093923967C6B}"/>
              </a:ext>
            </a:extLst>
          </p:cNvPr>
          <p:cNvSpPr>
            <a:spLocks noGrp="1"/>
          </p:cNvSpPr>
          <p:nvPr>
            <p:ph type="ftr" sz="quarter" idx="11"/>
          </p:nvPr>
        </p:nvSpPr>
        <p:spPr>
          <a:xfrm>
            <a:off x="4038602" y="6490145"/>
            <a:ext cx="4114800" cy="250380"/>
          </a:xfrm>
        </p:spPr>
        <p:txBody>
          <a:bodyPr/>
          <a:lstStyle/>
          <a:p>
            <a:r>
              <a:rPr lang="en-US"/>
              <a:t>Key Benefit Administrators</a:t>
            </a:r>
            <a:endParaRPr lang="en-US" dirty="0"/>
          </a:p>
        </p:txBody>
      </p:sp>
      <p:sp>
        <p:nvSpPr>
          <p:cNvPr id="4" name="Slide Number Placeholder 4">
            <a:extLst>
              <a:ext uri="{FF2B5EF4-FFF2-40B4-BE49-F238E27FC236}">
                <a16:creationId xmlns:a16="http://schemas.microsoft.com/office/drawing/2014/main" id="{F7E7619F-9C66-420C-88E0-81D9A3B4FEB7}"/>
              </a:ext>
            </a:extLst>
          </p:cNvPr>
          <p:cNvSpPr>
            <a:spLocks noGrp="1"/>
          </p:cNvSpPr>
          <p:nvPr>
            <p:ph type="sldNum" sz="quarter" idx="12"/>
          </p:nvPr>
        </p:nvSpPr>
        <p:spPr>
          <a:xfrm>
            <a:off x="8610601" y="6490145"/>
            <a:ext cx="2743200" cy="250380"/>
          </a:xfrm>
        </p:spPr>
        <p:txBody>
          <a:bodyPr/>
          <a:lstStyle/>
          <a:p>
            <a:fld id="{3AFC719D-C4A7-4544-876E-D411D11AF6C9}" type="slidenum">
              <a:rPr lang="en-US" smtClean="0"/>
              <a:t>11</a:t>
            </a:fld>
            <a:endParaRPr lang="en-US" dirty="0"/>
          </a:p>
        </p:txBody>
      </p:sp>
      <p:sp>
        <p:nvSpPr>
          <p:cNvPr id="5" name="Rectangle 7">
            <a:extLst>
              <a:ext uri="{FF2B5EF4-FFF2-40B4-BE49-F238E27FC236}">
                <a16:creationId xmlns:a16="http://schemas.microsoft.com/office/drawing/2014/main" id="{55A48ACE-D370-6BA3-A39B-CF7D87E5C9A5}"/>
              </a:ext>
            </a:extLst>
          </p:cNvPr>
          <p:cNvSpPr/>
          <p:nvPr/>
        </p:nvSpPr>
        <p:spPr>
          <a:xfrm>
            <a:off x="7466120" y="1574676"/>
            <a:ext cx="4725880"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8">
            <a:extLst>
              <a:ext uri="{FF2B5EF4-FFF2-40B4-BE49-F238E27FC236}">
                <a16:creationId xmlns:a16="http://schemas.microsoft.com/office/drawing/2014/main" id="{99386F57-8E81-E6DF-1A01-623E3BB7AB0B}"/>
              </a:ext>
            </a:extLst>
          </p:cNvPr>
          <p:cNvSpPr/>
          <p:nvPr/>
        </p:nvSpPr>
        <p:spPr>
          <a:xfrm>
            <a:off x="7168718" y="1574676"/>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11">
            <a:extLst>
              <a:ext uri="{FF2B5EF4-FFF2-40B4-BE49-F238E27FC236}">
                <a16:creationId xmlns:a16="http://schemas.microsoft.com/office/drawing/2014/main" id="{7B828AB6-CD3A-4CD3-8950-2942DDBEAC0D}"/>
              </a:ext>
            </a:extLst>
          </p:cNvPr>
          <p:cNvSpPr txBox="1"/>
          <p:nvPr/>
        </p:nvSpPr>
        <p:spPr>
          <a:xfrm>
            <a:off x="8019782" y="1667584"/>
            <a:ext cx="3618555"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Patient Steerage Assumptions</a:t>
            </a:r>
          </a:p>
        </p:txBody>
      </p:sp>
      <p:sp>
        <p:nvSpPr>
          <p:cNvPr id="8" name="TextBox 12">
            <a:extLst>
              <a:ext uri="{FF2B5EF4-FFF2-40B4-BE49-F238E27FC236}">
                <a16:creationId xmlns:a16="http://schemas.microsoft.com/office/drawing/2014/main" id="{025AE6BF-C458-13D4-626E-DAD4C1439055}"/>
              </a:ext>
            </a:extLst>
          </p:cNvPr>
          <p:cNvSpPr txBox="1"/>
          <p:nvPr/>
        </p:nvSpPr>
        <p:spPr>
          <a:xfrm>
            <a:off x="7466120" y="2250333"/>
            <a:ext cx="4616389" cy="900246"/>
          </a:xfrm>
          <a:prstGeom prst="rect">
            <a:avLst/>
          </a:prstGeom>
          <a:noFill/>
        </p:spPr>
        <p:txBody>
          <a:bodyPr wrap="square" rtlCol="0">
            <a:spAutoFit/>
          </a:bodyPr>
          <a:lstStyle/>
          <a:p>
            <a:r>
              <a:rPr lang="en-US" sz="1050" dirty="0">
                <a:solidFill/>
              </a:rPr>
              <a:t>KBA currently estimates that Yale New Haven Health System has 29% inpatient market share, and 16% outpatient market compared to hospitals/clinics in the Connecticut and Rhode Island. The DTE tiered structure will create immediate steerage, with additional steerage over time from patient bonus benefits and the patient card (see slide 33 for estimates of target steerage). </a:t>
            </a:r>
            <a:endParaRPr lang="en-US" sz="1050" dirty="0"/>
          </a:p>
        </p:txBody>
      </p:sp>
      <p:sp>
        <p:nvSpPr>
          <p:cNvPr id="9" name="Rectangle 20">
            <a:extLst>
              <a:ext uri="{FF2B5EF4-FFF2-40B4-BE49-F238E27FC236}">
                <a16:creationId xmlns:a16="http://schemas.microsoft.com/office/drawing/2014/main" id="{620CA171-241C-9006-DA4D-7174E70B2EF3}"/>
              </a:ext>
            </a:extLst>
          </p:cNvPr>
          <p:cNvSpPr/>
          <p:nvPr/>
        </p:nvSpPr>
        <p:spPr>
          <a:xfrm>
            <a:off x="7597806" y="5589290"/>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21">
            <a:extLst>
              <a:ext uri="{FF2B5EF4-FFF2-40B4-BE49-F238E27FC236}">
                <a16:creationId xmlns:a16="http://schemas.microsoft.com/office/drawing/2014/main" id="{BD8E1912-BAE3-A76F-55A7-754D206BC471}"/>
              </a:ext>
            </a:extLst>
          </p:cNvPr>
          <p:cNvSpPr/>
          <p:nvPr/>
        </p:nvSpPr>
        <p:spPr>
          <a:xfrm>
            <a:off x="7509029" y="4095424"/>
            <a:ext cx="4682971"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22">
            <a:extLst>
              <a:ext uri="{FF2B5EF4-FFF2-40B4-BE49-F238E27FC236}">
                <a16:creationId xmlns:a16="http://schemas.microsoft.com/office/drawing/2014/main" id="{D2B9ED21-8D89-315C-4C9C-403AA9B2666A}"/>
              </a:ext>
            </a:extLst>
          </p:cNvPr>
          <p:cNvSpPr/>
          <p:nvPr/>
        </p:nvSpPr>
        <p:spPr>
          <a:xfrm>
            <a:off x="7211627" y="4095424"/>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23">
            <a:extLst>
              <a:ext uri="{FF2B5EF4-FFF2-40B4-BE49-F238E27FC236}">
                <a16:creationId xmlns:a16="http://schemas.microsoft.com/office/drawing/2014/main" id="{950E697A-C380-A6EE-50AE-8B3DED34929F}"/>
              </a:ext>
            </a:extLst>
          </p:cNvPr>
          <p:cNvSpPr txBox="1"/>
          <p:nvPr/>
        </p:nvSpPr>
        <p:spPr>
          <a:xfrm>
            <a:off x="8062691" y="4188332"/>
            <a:ext cx="3932743"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Commercial Margin Assumptions</a:t>
            </a:r>
          </a:p>
        </p:txBody>
      </p:sp>
      <p:sp>
        <p:nvSpPr>
          <p:cNvPr id="13" name="TextBox 24">
            <a:extLst>
              <a:ext uri="{FF2B5EF4-FFF2-40B4-BE49-F238E27FC236}">
                <a16:creationId xmlns:a16="http://schemas.microsoft.com/office/drawing/2014/main" id="{32C9D62D-25B0-6CD9-8AD7-E6855B1B1B26}"/>
              </a:ext>
            </a:extLst>
          </p:cNvPr>
          <p:cNvSpPr txBox="1"/>
          <p:nvPr/>
        </p:nvSpPr>
        <p:spPr>
          <a:xfrm>
            <a:off x="7509029" y="4771081"/>
            <a:ext cx="4616389" cy="738664"/>
          </a:xfrm>
          <a:prstGeom prst="rect">
            <a:avLst/>
          </a:prstGeom>
          <a:noFill/>
        </p:spPr>
        <p:txBody>
          <a:bodyPr wrap="square" rtlCol="0">
            <a:spAutoFit/>
          </a:bodyPr>
          <a:lstStyle/>
          <a:p>
            <a:r>
              <a:rPr lang="en-US" sz="1050" dirty="0">
                <a:solidFill/>
              </a:rPr>
              <a:t>KBA observes a Yale New Haven Health System 29% commercial margin. Conservatively, we model the DTE to be level with commercial rates given prices 10% below market, but with a 10 percentage-point increase through friendlier billing practices and improved patient collections with the patient card.</a:t>
            </a:r>
          </a:p>
        </p:txBody>
      </p:sp>
      <p:sp>
        <p:nvSpPr>
          <p:cNvPr id="14" name="TextBox 25">
            <a:extLst>
              <a:ext uri="{FF2B5EF4-FFF2-40B4-BE49-F238E27FC236}">
                <a16:creationId xmlns:a16="http://schemas.microsoft.com/office/drawing/2014/main" id="{A76920ED-352E-9285-CC83-BDA6AB18978D}"/>
              </a:ext>
            </a:extLst>
          </p:cNvPr>
          <p:cNvSpPr txBox="1"/>
          <p:nvPr/>
        </p:nvSpPr>
        <p:spPr>
          <a:xfrm>
            <a:off x="7707395" y="5541876"/>
            <a:ext cx="488916" cy="307777"/>
          </a:xfrm>
          <a:prstGeom prst="rect">
            <a:avLst/>
          </a:prstGeom>
          <a:noFill/>
        </p:spPr>
        <p:txBody>
          <a:bodyPr wrap="none" rtlCol="0">
            <a:spAutoFit/>
          </a:bodyPr>
          <a:lstStyle/>
          <a:p>
            <a:r>
              <a:rPr lang="en-US" sz="1400" b="1" dirty="0"/>
              <a:t>Low</a:t>
            </a:r>
          </a:p>
        </p:txBody>
      </p:sp>
      <p:sp>
        <p:nvSpPr>
          <p:cNvPr id="15" name="TextBox 26">
            <a:extLst>
              <a:ext uri="{FF2B5EF4-FFF2-40B4-BE49-F238E27FC236}">
                <a16:creationId xmlns:a16="http://schemas.microsoft.com/office/drawing/2014/main" id="{2559AB8C-6F23-81D3-4546-DE75EBD91879}"/>
              </a:ext>
            </a:extLst>
          </p:cNvPr>
          <p:cNvSpPr txBox="1"/>
          <p:nvPr/>
        </p:nvSpPr>
        <p:spPr>
          <a:xfrm>
            <a:off x="9572765" y="5541876"/>
            <a:ext cx="643509" cy="307777"/>
          </a:xfrm>
          <a:prstGeom prst="rect">
            <a:avLst/>
          </a:prstGeom>
          <a:noFill/>
        </p:spPr>
        <p:txBody>
          <a:bodyPr wrap="none" rtlCol="0">
            <a:spAutoFit/>
          </a:bodyPr>
          <a:lstStyle/>
          <a:p>
            <a:r>
              <a:rPr lang="en-US" sz="1400" b="1" dirty="0"/>
              <a:t>Target</a:t>
            </a:r>
          </a:p>
        </p:txBody>
      </p:sp>
      <p:sp>
        <p:nvSpPr>
          <p:cNvPr id="16" name="TextBox 27">
            <a:extLst>
              <a:ext uri="{FF2B5EF4-FFF2-40B4-BE49-F238E27FC236}">
                <a16:creationId xmlns:a16="http://schemas.microsoft.com/office/drawing/2014/main" id="{314AFF5C-ABDA-A82B-40C8-14E2DB160036}"/>
              </a:ext>
            </a:extLst>
          </p:cNvPr>
          <p:cNvSpPr txBox="1"/>
          <p:nvPr/>
        </p:nvSpPr>
        <p:spPr>
          <a:xfrm>
            <a:off x="11436788" y="5541876"/>
            <a:ext cx="524503" cy="307777"/>
          </a:xfrm>
          <a:prstGeom prst="rect">
            <a:avLst/>
          </a:prstGeom>
          <a:noFill/>
        </p:spPr>
        <p:txBody>
          <a:bodyPr wrap="none" rtlCol="0">
            <a:spAutoFit/>
          </a:bodyPr>
          <a:lstStyle/>
          <a:p>
            <a:r>
              <a:rPr lang="en-US" sz="1400" b="1" dirty="0"/>
              <a:t>High</a:t>
            </a:r>
          </a:p>
        </p:txBody>
      </p:sp>
      <p:sp>
        <p:nvSpPr>
          <p:cNvPr id="17" name="TextBox 28">
            <a:extLst>
              <a:ext uri="{FF2B5EF4-FFF2-40B4-BE49-F238E27FC236}">
                <a16:creationId xmlns:a16="http://schemas.microsoft.com/office/drawing/2014/main" id="{2C03026B-6D1E-F7B1-9995-7D9DC1019C60}"/>
              </a:ext>
            </a:extLst>
          </p:cNvPr>
          <p:cNvSpPr txBox="1"/>
          <p:nvPr/>
        </p:nvSpPr>
        <p:spPr>
          <a:xfrm>
            <a:off x="7659946" y="5800729"/>
            <a:ext cx="785793" cy="369332"/>
          </a:xfrm>
          <a:prstGeom prst="rect">
            <a:avLst/>
          </a:prstGeom>
          <a:noFill/>
        </p:spPr>
        <p:txBody>
          <a:bodyPr wrap="none" rtlCol="0">
            <a:spAutoFit/>
          </a:bodyPr>
          <a:lstStyle/>
          <a:p>
            <a:r>
              <a:rPr lang="en-US" dirty="0">
                <a:solidFill/>
              </a:rPr>
              <a:t>18.2%</a:t>
            </a:r>
          </a:p>
        </p:txBody>
      </p:sp>
      <p:sp>
        <p:nvSpPr>
          <p:cNvPr id="18" name="TextBox 29">
            <a:extLst>
              <a:ext uri="{FF2B5EF4-FFF2-40B4-BE49-F238E27FC236}">
                <a16:creationId xmlns:a16="http://schemas.microsoft.com/office/drawing/2014/main" id="{9C64CEEB-E16A-926D-5DF0-DC8275443A40}"/>
              </a:ext>
            </a:extLst>
          </p:cNvPr>
          <p:cNvSpPr txBox="1"/>
          <p:nvPr/>
        </p:nvSpPr>
        <p:spPr>
          <a:xfrm>
            <a:off x="9580061" y="5812701"/>
            <a:ext cx="885179" cy="369332"/>
          </a:xfrm>
          <a:prstGeom prst="rect">
            <a:avLst/>
          </a:prstGeom>
          <a:noFill/>
        </p:spPr>
        <p:txBody>
          <a:bodyPr wrap="none" rtlCol="0">
            <a:spAutoFit/>
          </a:bodyPr>
          <a:lstStyle/>
          <a:p>
            <a:r>
              <a:rPr lang="en-US" dirty="0">
                <a:solidFill/>
              </a:rPr>
              <a:t>23.2%</a:t>
            </a:r>
          </a:p>
        </p:txBody>
      </p:sp>
      <p:sp>
        <p:nvSpPr>
          <p:cNvPr id="19" name="TextBox 30">
            <a:extLst>
              <a:ext uri="{FF2B5EF4-FFF2-40B4-BE49-F238E27FC236}">
                <a16:creationId xmlns:a16="http://schemas.microsoft.com/office/drawing/2014/main" id="{716000A2-AFB1-117D-BFF0-2BDA3EA8A77D}"/>
              </a:ext>
            </a:extLst>
          </p:cNvPr>
          <p:cNvSpPr txBox="1"/>
          <p:nvPr/>
        </p:nvSpPr>
        <p:spPr>
          <a:xfrm>
            <a:off x="11389339" y="5812701"/>
            <a:ext cx="832279" cy="369332"/>
          </a:xfrm>
          <a:prstGeom prst="rect">
            <a:avLst/>
          </a:prstGeom>
          <a:noFill/>
        </p:spPr>
        <p:txBody>
          <a:bodyPr wrap="none" rtlCol="0">
            <a:spAutoFit/>
          </a:bodyPr>
          <a:lstStyle/>
          <a:p>
            <a:r>
              <a:rPr lang="en-US" dirty="0">
                <a:solidFill/>
              </a:rPr>
              <a:t>28.2%</a:t>
            </a:r>
          </a:p>
        </p:txBody>
      </p:sp>
      <p:sp>
        <p:nvSpPr>
          <p:cNvPr id="20" name="Rectangle 2">
            <a:extLst>
              <a:ext uri="{FF2B5EF4-FFF2-40B4-BE49-F238E27FC236}">
                <a16:creationId xmlns:a16="http://schemas.microsoft.com/office/drawing/2014/main" id="{E854312B-28D3-E83C-2C75-6E860911BB50}"/>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21" name="Title 1">
            <a:extLst>
              <a:ext uri="{FF2B5EF4-FFF2-40B4-BE49-F238E27FC236}">
                <a16:creationId xmlns:a16="http://schemas.microsoft.com/office/drawing/2014/main" id="{2DAB5DAF-375F-8C08-74DE-3B9B1A009F3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SINGLE-YEAR PROJECTION</a:t>
            </a:r>
          </a:p>
        </p:txBody>
      </p:sp>
      <p:sp>
        <p:nvSpPr>
          <p:cNvPr id="22" name="Rectangle 19">
            <a:extLst>
              <a:ext uri="{FF2B5EF4-FFF2-40B4-BE49-F238E27FC236}">
                <a16:creationId xmlns:a16="http://schemas.microsoft.com/office/drawing/2014/main" id="{F6627BBC-E6C5-1195-07E5-6C53EE01CC8B}"/>
              </a:ext>
            </a:extLst>
          </p:cNvPr>
          <p:cNvSpPr/>
          <p:nvPr/>
        </p:nvSpPr>
        <p:spPr>
          <a:xfrm>
            <a:off x="7597806" y="320341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5">
            <a:extLst>
              <a:ext uri="{FF2B5EF4-FFF2-40B4-BE49-F238E27FC236}">
                <a16:creationId xmlns:a16="http://schemas.microsoft.com/office/drawing/2014/main" id="{C22B0D02-4198-9ACE-8A8D-89E646CD21E5}"/>
              </a:ext>
            </a:extLst>
          </p:cNvPr>
          <p:cNvSpPr txBox="1"/>
          <p:nvPr/>
        </p:nvSpPr>
        <p:spPr>
          <a:xfrm>
            <a:off x="8366143" y="3171997"/>
            <a:ext cx="488916" cy="307777"/>
          </a:xfrm>
          <a:prstGeom prst="rect">
            <a:avLst/>
          </a:prstGeom>
          <a:noFill/>
        </p:spPr>
        <p:txBody>
          <a:bodyPr wrap="none" rtlCol="0">
            <a:spAutoFit/>
          </a:bodyPr>
          <a:lstStyle/>
          <a:p>
            <a:r>
              <a:rPr lang="en-US" sz="1400" b="1" dirty="0"/>
              <a:t>Low</a:t>
            </a:r>
          </a:p>
        </p:txBody>
      </p:sp>
      <p:sp>
        <p:nvSpPr>
          <p:cNvPr id="24" name="TextBox 27">
            <a:extLst>
              <a:ext uri="{FF2B5EF4-FFF2-40B4-BE49-F238E27FC236}">
                <a16:creationId xmlns:a16="http://schemas.microsoft.com/office/drawing/2014/main" id="{E8084D42-778C-82F6-630D-9D8469AFEE15}"/>
              </a:ext>
            </a:extLst>
          </p:cNvPr>
          <p:cNvSpPr txBox="1"/>
          <p:nvPr/>
        </p:nvSpPr>
        <p:spPr>
          <a:xfrm>
            <a:off x="10950749" y="3163290"/>
            <a:ext cx="524503" cy="307777"/>
          </a:xfrm>
          <a:prstGeom prst="rect">
            <a:avLst/>
          </a:prstGeom>
          <a:noFill/>
        </p:spPr>
        <p:txBody>
          <a:bodyPr wrap="none" rtlCol="0">
            <a:spAutoFit/>
          </a:bodyPr>
          <a:lstStyle/>
          <a:p>
            <a:r>
              <a:rPr lang="en-US" sz="1400" b="1" dirty="0"/>
              <a:t>High</a:t>
            </a:r>
          </a:p>
        </p:txBody>
      </p:sp>
      <p:sp>
        <p:nvSpPr>
          <p:cNvPr id="25" name="TextBox 28">
            <a:extLst>
              <a:ext uri="{FF2B5EF4-FFF2-40B4-BE49-F238E27FC236}">
                <a16:creationId xmlns:a16="http://schemas.microsoft.com/office/drawing/2014/main" id="{F168AC10-2BD6-A49E-428D-30E6B39D197A}"/>
              </a:ext>
            </a:extLst>
          </p:cNvPr>
          <p:cNvSpPr txBox="1"/>
          <p:nvPr/>
        </p:nvSpPr>
        <p:spPr>
          <a:xfrm>
            <a:off x="7647303" y="3407458"/>
            <a:ext cx="1825756" cy="369332"/>
          </a:xfrm>
          <a:prstGeom prst="rect">
            <a:avLst/>
          </a:prstGeom>
          <a:noFill/>
        </p:spPr>
        <p:txBody>
          <a:bodyPr wrap="none" rtlCol="0">
            <a:spAutoFit/>
          </a:bodyPr>
          <a:lstStyle/>
          <a:p>
            <a:r>
              <a:rPr lang="en-US" dirty="0">
                <a:solidFill/>
              </a:rPr>
              <a:t>10% below target</a:t>
            </a:r>
          </a:p>
        </p:txBody>
      </p:sp>
      <p:sp>
        <p:nvSpPr>
          <p:cNvPr id="26" name="TextBox 30">
            <a:extLst>
              <a:ext uri="{FF2B5EF4-FFF2-40B4-BE49-F238E27FC236}">
                <a16:creationId xmlns:a16="http://schemas.microsoft.com/office/drawing/2014/main" id="{85A3284B-C2CB-7693-6750-302A3F66B386}"/>
              </a:ext>
            </a:extLst>
          </p:cNvPr>
          <p:cNvSpPr txBox="1"/>
          <p:nvPr/>
        </p:nvSpPr>
        <p:spPr>
          <a:xfrm>
            <a:off x="10299672" y="3405178"/>
            <a:ext cx="1820178" cy="369332"/>
          </a:xfrm>
          <a:prstGeom prst="rect">
            <a:avLst/>
          </a:prstGeom>
          <a:noFill/>
        </p:spPr>
        <p:txBody>
          <a:bodyPr wrap="none" rtlCol="0">
            <a:spAutoFit/>
          </a:bodyPr>
          <a:lstStyle/>
          <a:p>
            <a:r>
              <a:rPr lang="en-US" dirty="0">
                <a:solidFill/>
              </a:rPr>
              <a:t>10% above target</a:t>
            </a:r>
          </a:p>
        </p:txBody>
      </p:sp>
      <p:pic>
        <p:nvPicPr>
          <p:cNvPr id="27" name="Content Placeholder 26"/>
          <p:cNvPicPr>
            <a:picLocks noGrp="1"/>
          </p:cNvPicPr>
          <p:nvPr>
            <p:ph/>
          </p:nvPr>
        </p:nvPicPr>
        <p:blipFill>
          <a:blip r:embed="rId2" cstate="print"/>
          <a:stretch>
            <a:fillRect/>
          </a:stretch>
        </p:blipFill>
        <p:spPr>
          <a:xfrm>
            <a:off x="1024128"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6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1,257.3K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2,512.0K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4,857.3K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7,922.8K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942.9K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2,363.2K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4,730.1K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7,823.2K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1,934.4K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3,767.9K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7,286.0K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11,825.1K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1,628.4K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3,634.7K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7,185.2K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11,765.1K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677.0K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1,256.0K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2,428.7K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3,902.3K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355.4K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1,091.6K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2,275.1K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3,761.9K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Only Available to </a:t>
            </a:r>
            <a:r>
              <a:rPr lang="en-US" sz="4000" b="1" i="1" dirty="0">
                <a:solidFill>
                  <a:srgbClr val="000B2E"/>
                </a:solidFill>
                <a:latin typeface="Arial" panose="020B0604020202020204" pitchFamily="34" charset="0"/>
                <a:cs typeface="Arial" panose="020B0604020202020204" pitchFamily="34" charset="0"/>
              </a:rPr>
              <a:t>Premier</a:t>
            </a:r>
            <a:r>
              <a:rPr lang="en-US" sz="4000" b="1" dirty="0">
                <a:solidFill>
                  <a:srgbClr val="000B2E"/>
                </a:solidFill>
                <a:latin typeface="Arial" panose="020B0604020202020204" pitchFamily="34" charset="0"/>
                <a:cs typeface="Arial" panose="020B0604020202020204" pitchFamily="34" charset="0"/>
              </a:rPr>
              <a:t> Health Systems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317243" y="1829480"/>
            <a:ext cx="5672318" cy="4660901"/>
          </a:xfrm>
        </p:spPr>
        <p:txBody>
          <a:bodyPr>
            <a:normAutofit/>
          </a:bodyPr>
          <a:lstStyle/>
          <a:p>
            <a:pPr marL="0" indent="0">
              <a:lnSpc>
                <a:spcPct val="150000"/>
              </a:lnSpc>
              <a:spcAft>
                <a:spcPts val="1200"/>
              </a:spcAft>
              <a:buNone/>
            </a:pPr>
            <a:r>
              <a:rPr lang="en-US" sz="3200" b="1" dirty="0">
                <a:solidFill>
                  <a:srgbClr val="59CAE8"/>
                </a:solidFill>
                <a:latin typeface="Arial Black" panose="020B0A04020102020204" pitchFamily="34"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Arial Black" panose="020B0A04020102020204" pitchFamily="34"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Arial Black" panose="020B0A04020102020204" pitchFamily="34"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Arial Black" panose="020B0A04020102020204" pitchFamily="34" charset="0"/>
              </a:rPr>
              <a:t>EXCELLENT</a:t>
            </a:r>
            <a:r>
              <a:rPr lang="en-US" sz="3200" dirty="0">
                <a:solidFill>
                  <a:srgbClr val="9900CC"/>
                </a:solidFill>
              </a:rPr>
              <a:t> </a:t>
            </a:r>
            <a:r>
              <a:rPr lang="en-US" sz="3200" dirty="0">
                <a:solidFill>
                  <a:schemeClr val="tx1">
                    <a:lumMod val="75000"/>
                    <a:lumOff val="25000"/>
                  </a:schemeClr>
                </a:solidFill>
              </a:rPr>
              <a:t>Care Quality  </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13</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descr="Yale New Haven Health | The Yale New Haven Health Brand">
            <a:extLst>
              <a:ext uri="{FF2B5EF4-FFF2-40B4-BE49-F238E27FC236}">
                <a16:creationId xmlns:a16="http://schemas.microsoft.com/office/drawing/2014/main" id="{7D2A9679-5BFE-3F0D-1D23-875F51E842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6838" y="2407329"/>
            <a:ext cx="3034340" cy="23263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046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D29718EC-0FBE-02AB-65D1-5F9EA788617B}"/>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4">
            <a:extLst>
              <a:ext uri="{FF2B5EF4-FFF2-40B4-BE49-F238E27FC236}">
                <a16:creationId xmlns:a16="http://schemas.microsoft.com/office/drawing/2014/main" id="{51A8707D-53C1-F2FE-8133-D607A3729294}"/>
              </a:ext>
            </a:extLst>
          </p:cNvPr>
          <p:cNvSpPr>
            <a:spLocks noGrp="1"/>
          </p:cNvSpPr>
          <p:nvPr>
            <p:ph type="sldNum" sz="quarter" idx="12"/>
          </p:nvPr>
        </p:nvSpPr>
        <p:spPr/>
        <p:txBody>
          <a:bodyPr/>
          <a:lstStyle/>
          <a:p>
            <a:fld id="{3AFC719D-C4A7-4544-876E-D411D11AF6C9}" type="slidenum">
              <a:rPr lang="en-US" smtClean="0"/>
              <a:t>14</a:t>
            </a:fld>
            <a:endParaRPr lang="en-US" dirty="0"/>
          </a:p>
        </p:txBody>
      </p:sp>
      <p:sp>
        <p:nvSpPr>
          <p:cNvPr id="4" name="Rectangle 6">
            <a:extLst>
              <a:ext uri="{FF2B5EF4-FFF2-40B4-BE49-F238E27FC236}">
                <a16:creationId xmlns:a16="http://schemas.microsoft.com/office/drawing/2014/main" id="{E63A94DB-FE92-CA1C-15F4-F7EC71D30241}"/>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49C157AD-9D57-0448-105A-79BA8850085E}"/>
              </a:ext>
            </a:extLst>
          </p:cNvPr>
          <p:cNvSpPr>
            <a:spLocks noGrp="1"/>
          </p:cNvSpPr>
          <p:nvPr>
            <p:ph type="title"/>
          </p:nvPr>
        </p:nvSpPr>
        <p:spPr>
          <a:xfrm>
            <a:off x="1290485" y="136525"/>
            <a:ext cx="10515600" cy="1325563"/>
          </a:xfrm>
        </p:spPr>
        <p:txBody>
          <a:bodyPr>
            <a:noAutofit/>
          </a:bodyPr>
          <a:lstStyle/>
          <a:p>
            <a:pPr>
              <a:lnSpc>
                <a:spcPct val="100000"/>
              </a:lnSpc>
              <a:spcBef>
                <a:spcPts val="1800"/>
              </a:spcBef>
              <a:spcAft>
                <a:spcPts val="600"/>
              </a:spcAft>
            </a:pPr>
            <a:r>
              <a:rPr lang="en-US" sz="3600" b="1" dirty="0">
                <a:solidFill>
                  <a:srgbClr val="000B2E"/>
                </a:solidFill>
                <a:latin typeface="Arial" panose="020B0604020202020204" pitchFamily="34" charset="0"/>
                <a:cs typeface="Arial" panose="020B0604020202020204" pitchFamily="34" charset="0"/>
              </a:rPr>
              <a:t>Yale New Haven Health System is Patient Recommended</a:t>
            </a:r>
            <a:endParaRPr lang="en-US" sz="14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6" name="Rectangle 1">
            <a:extLst>
              <a:ext uri="{FF2B5EF4-FFF2-40B4-BE49-F238E27FC236}">
                <a16:creationId xmlns:a16="http://schemas.microsoft.com/office/drawing/2014/main" id="{3E0219A2-C97D-9E0E-9C52-C5207AB41BD4}"/>
              </a:ext>
            </a:extLst>
          </p:cNvPr>
          <p:cNvSpPr/>
          <p:nvPr/>
        </p:nvSpPr>
        <p:spPr>
          <a:xfrm>
            <a:off x="9405257" y="1989573"/>
            <a:ext cx="2532185"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Based on quality measures and HCAHPS feedback, KBA estimates that Yale New Haven Health System has the best combination of brand quality and patient access. </a:t>
            </a:r>
          </a:p>
        </p:txBody>
      </p:sp>
      <p:graphicFrame>
        <p:nvGraphicFramePr>
          <p:cNvPr id="9" name="Table 8">
            <a:extLst>
              <a:ext uri="{FF2B5EF4-FFF2-40B4-BE49-F238E27FC236}">
                <a16:creationId xmlns:a16="http://schemas.microsoft.com/office/drawing/2014/main" id="{D9125581-AC86-2CDE-E3C4-E7489D98406D}"/>
              </a:ext>
            </a:extLst>
          </p:cNvPr>
          <p:cNvGraphicFramePr>
            <a:graphicFrameLocks noGrp="1"/>
          </p:cNvGraphicFramePr>
          <p:nvPr>
            <p:extLst>
              <p:ext uri="{D42A27DB-BD31-4B8C-83A1-F6EECF244321}">
                <p14:modId xmlns:p14="http://schemas.microsoft.com/office/powerpoint/2010/main" val="2966757566"/>
              </p:ext>
            </p:extLst>
          </p:nvPr>
        </p:nvGraphicFramePr>
        <p:xfrm>
          <a:off x="1688123" y="1825626"/>
          <a:ext cx="7596555" cy="4454589"/>
        </p:xfrm>
        <a:graphic>
          <a:graphicData uri="http://schemas.openxmlformats.org/drawingml/2006/table">
            <a:tbl>
              <a:tblPr/>
              <a:tblGrid>
                <a:gridCol w="1879042">
                  <a:extLst>
                    <a:ext uri="{9D8B030D-6E8A-4147-A177-3AD203B41FA5}">
                      <a16:colId xmlns:a16="http://schemas.microsoft.com/office/drawing/2014/main" val="544690471"/>
                    </a:ext>
                  </a:extLst>
                </a:gridCol>
                <a:gridCol w="1253365">
                  <a:extLst>
                    <a:ext uri="{9D8B030D-6E8A-4147-A177-3AD203B41FA5}">
                      <a16:colId xmlns:a16="http://schemas.microsoft.com/office/drawing/2014/main" val="2429797089"/>
                    </a:ext>
                  </a:extLst>
                </a:gridCol>
                <a:gridCol w="1116037">
                  <a:extLst>
                    <a:ext uri="{9D8B030D-6E8A-4147-A177-3AD203B41FA5}">
                      <a16:colId xmlns:a16="http://schemas.microsoft.com/office/drawing/2014/main" val="1159791103"/>
                    </a:ext>
                  </a:extLst>
                </a:gridCol>
                <a:gridCol w="1116037">
                  <a:extLst>
                    <a:ext uri="{9D8B030D-6E8A-4147-A177-3AD203B41FA5}">
                      <a16:colId xmlns:a16="http://schemas.microsoft.com/office/drawing/2014/main" val="1289796192"/>
                    </a:ext>
                  </a:extLst>
                </a:gridCol>
                <a:gridCol w="1116037">
                  <a:extLst>
                    <a:ext uri="{9D8B030D-6E8A-4147-A177-3AD203B41FA5}">
                      <a16:colId xmlns:a16="http://schemas.microsoft.com/office/drawing/2014/main" val="203133723"/>
                    </a:ext>
                  </a:extLst>
                </a:gridCol>
                <a:gridCol w="1116037">
                  <a:extLst>
                    <a:ext uri="{9D8B030D-6E8A-4147-A177-3AD203B41FA5}">
                      <a16:colId xmlns:a16="http://schemas.microsoft.com/office/drawing/2014/main" val="3926041910"/>
                    </a:ext>
                  </a:extLst>
                </a:gridCol>
              </a:tblGrid>
              <a:tr h="313752">
                <a:tc rowSpan="3">
                  <a:txBody>
                    <a:bodyPr/>
                    <a:lstStyle/>
                    <a:p>
                      <a:pPr algn="l" rtl="0" fontAlgn="ctr"/>
                      <a:r>
                        <a:rPr lang="en-US" sz="1050" b="1" i="0" u="none" strike="noStrike">
                          <a:solidFill>
                            <a:srgbClr val="000000"/>
                          </a:solidFill>
                          <a:effectLst/>
                          <a:latin typeface="Arial" panose="020B0604020202020204" pitchFamily="34" charset="0"/>
                        </a:rPr>
                        <a:t>Health System</a:t>
                      </a:r>
                    </a:p>
                  </a:txBody>
                  <a:tcPr marL="5912" marR="5912" marT="5912" marB="0" anchor="ctr">
                    <a:lnL>
                      <a:noFill/>
                    </a:lnL>
                    <a:lnR>
                      <a:noFill/>
                    </a:lnR>
                    <a:lnT w="190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FFFFFF"/>
                    </a:solidFill>
                  </a:tcPr>
                </a:tc>
                <a:tc>
                  <a:txBody>
                    <a:bodyPr/>
                    <a:lstStyle/>
                    <a:p>
                      <a:pPr algn="ctr" rtl="0" fontAlgn="ctr"/>
                      <a:r>
                        <a:rPr lang="en-US" sz="1050" b="1" i="0" u="none" strike="noStrike">
                          <a:solidFill>
                            <a:srgbClr val="000000"/>
                          </a:solidFill>
                          <a:effectLst/>
                          <a:latin typeface="Arial" panose="020B0604020202020204" pitchFamily="34" charset="0"/>
                        </a:rPr>
                        <a:t>HCAHPS</a:t>
                      </a:r>
                    </a:p>
                  </a:txBody>
                  <a:tcPr marL="5912" marR="5912" marT="5912" marB="0" anchor="ctr">
                    <a:lnL>
                      <a:noFill/>
                    </a:lnL>
                    <a:lnR>
                      <a:noFill/>
                    </a:lnR>
                    <a:lnT w="19050" cap="flat" cmpd="sng" algn="ctr">
                      <a:solidFill>
                        <a:srgbClr val="666666"/>
                      </a:solidFill>
                      <a:prstDash val="solid"/>
                      <a:round/>
                      <a:headEnd type="none" w="med" len="med"/>
                      <a:tailEnd type="none" w="med" len="med"/>
                    </a:lnT>
                    <a:lnB>
                      <a:noFill/>
                    </a:lnB>
                    <a:solidFill>
                      <a:srgbClr val="FFFFFF"/>
                    </a:solidFill>
                  </a:tcPr>
                </a:tc>
                <a:tc>
                  <a:txBody>
                    <a:bodyPr/>
                    <a:lstStyle/>
                    <a:p>
                      <a:pPr algn="ctr" rtl="0" fontAlgn="ctr"/>
                      <a:r>
                        <a:rPr lang="en-US" sz="1050" b="1" i="0" u="none" strike="noStrike">
                          <a:solidFill>
                            <a:srgbClr val="000000"/>
                          </a:solidFill>
                          <a:effectLst/>
                          <a:latin typeface="Arial" panose="020B0604020202020204" pitchFamily="34" charset="0"/>
                        </a:rPr>
                        <a:t>CMS Stars</a:t>
                      </a:r>
                    </a:p>
                  </a:txBody>
                  <a:tcPr marL="5912" marR="5912" marT="5912" marB="0" anchor="ctr">
                    <a:lnL>
                      <a:noFill/>
                    </a:lnL>
                    <a:lnR>
                      <a:noFill/>
                    </a:lnR>
                    <a:lnT w="19050" cap="flat" cmpd="sng" algn="ctr">
                      <a:solidFill>
                        <a:srgbClr val="666666"/>
                      </a:solidFill>
                      <a:prstDash val="solid"/>
                      <a:round/>
                      <a:headEnd type="none" w="med" len="med"/>
                      <a:tailEnd type="none" w="med" len="med"/>
                    </a:lnT>
                    <a:lnB>
                      <a:noFill/>
                    </a:lnB>
                    <a:solidFill>
                      <a:srgbClr val="FFFFFF"/>
                    </a:solidFill>
                  </a:tcPr>
                </a:tc>
                <a:tc>
                  <a:txBody>
                    <a:bodyPr/>
                    <a:lstStyle/>
                    <a:p>
                      <a:pPr algn="ctr" rtl="0" fontAlgn="ctr"/>
                      <a:r>
                        <a:rPr lang="en-US" sz="1050" b="1" i="0" u="none" strike="noStrike">
                          <a:solidFill>
                            <a:srgbClr val="000000"/>
                          </a:solidFill>
                          <a:effectLst/>
                          <a:latin typeface="Arial" panose="020B0604020202020204" pitchFamily="34" charset="0"/>
                        </a:rPr>
                        <a:t>Mortality</a:t>
                      </a:r>
                    </a:p>
                  </a:txBody>
                  <a:tcPr marL="5912" marR="5912" marT="5912" marB="0" anchor="ctr">
                    <a:lnL>
                      <a:noFill/>
                    </a:lnL>
                    <a:lnR>
                      <a:noFill/>
                    </a:lnR>
                    <a:lnT w="19050" cap="flat" cmpd="sng" algn="ctr">
                      <a:solidFill>
                        <a:srgbClr val="666666"/>
                      </a:solidFill>
                      <a:prstDash val="solid"/>
                      <a:round/>
                      <a:headEnd type="none" w="med" len="med"/>
                      <a:tailEnd type="none" w="med" len="med"/>
                    </a:lnT>
                    <a:lnB>
                      <a:noFill/>
                    </a:lnB>
                    <a:solidFill>
                      <a:srgbClr val="FFFFFF"/>
                    </a:solidFill>
                  </a:tcPr>
                </a:tc>
                <a:tc>
                  <a:txBody>
                    <a:bodyPr/>
                    <a:lstStyle/>
                    <a:p>
                      <a:pPr algn="ctr" rtl="0" fontAlgn="ctr"/>
                      <a:r>
                        <a:rPr lang="en-US" sz="1050" b="1" i="0" u="none" strike="noStrike">
                          <a:solidFill>
                            <a:srgbClr val="000000"/>
                          </a:solidFill>
                          <a:effectLst/>
                          <a:latin typeface="Arial" panose="020B0604020202020204" pitchFamily="34" charset="0"/>
                        </a:rPr>
                        <a:t>Readmission</a:t>
                      </a:r>
                    </a:p>
                  </a:txBody>
                  <a:tcPr marL="5912" marR="5912" marT="5912" marB="0" anchor="ctr">
                    <a:lnL>
                      <a:noFill/>
                    </a:lnL>
                    <a:lnR>
                      <a:noFill/>
                    </a:lnR>
                    <a:lnT w="19050" cap="flat" cmpd="sng" algn="ctr">
                      <a:solidFill>
                        <a:srgbClr val="666666"/>
                      </a:solidFill>
                      <a:prstDash val="solid"/>
                      <a:round/>
                      <a:headEnd type="none" w="med" len="med"/>
                      <a:tailEnd type="none" w="med" len="med"/>
                    </a:lnT>
                    <a:lnB>
                      <a:noFill/>
                    </a:lnB>
                    <a:solidFill>
                      <a:srgbClr val="FFFFFF"/>
                    </a:solidFill>
                  </a:tcPr>
                </a:tc>
                <a:tc>
                  <a:txBody>
                    <a:bodyPr/>
                    <a:lstStyle/>
                    <a:p>
                      <a:pPr algn="ctr" rtl="0" fontAlgn="ctr"/>
                      <a:r>
                        <a:rPr lang="en-US" sz="1050" b="1" i="0" u="none" strike="noStrike">
                          <a:solidFill>
                            <a:srgbClr val="000000"/>
                          </a:solidFill>
                          <a:effectLst/>
                          <a:latin typeface="Arial" panose="020B0604020202020204" pitchFamily="34" charset="0"/>
                        </a:rPr>
                        <a:t>KBA Brand</a:t>
                      </a:r>
                    </a:p>
                  </a:txBody>
                  <a:tcPr marL="5912" marR="5912" marT="5912" marB="0" anchor="ctr">
                    <a:lnL>
                      <a:noFill/>
                    </a:lnL>
                    <a:lnR>
                      <a:noFill/>
                    </a:lnR>
                    <a:lnT w="19050" cap="flat" cmpd="sng" algn="ctr">
                      <a:solidFill>
                        <a:srgbClr val="666666"/>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2732867641"/>
                  </a:ext>
                </a:extLst>
              </a:tr>
              <a:tr h="313752">
                <a:tc vMerge="1">
                  <a:txBody>
                    <a:bodyPr/>
                    <a:lstStyle/>
                    <a:p>
                      <a:endParaRPr lang="en-US"/>
                    </a:p>
                  </a:txBody>
                  <a:tcPr/>
                </a:tc>
                <a:tc>
                  <a:txBody>
                    <a:bodyPr/>
                    <a:lstStyle/>
                    <a:p>
                      <a:pPr algn="ctr" rtl="0" fontAlgn="ctr"/>
                      <a:r>
                        <a:rPr lang="en-US" sz="1050" b="1" i="0" u="none" strike="noStrike">
                          <a:solidFill>
                            <a:srgbClr val="000000"/>
                          </a:solidFill>
                          <a:effectLst/>
                          <a:latin typeface="Arial" panose="020B0604020202020204" pitchFamily="34" charset="0"/>
                        </a:rPr>
                        <a:t>Recommendation</a:t>
                      </a:r>
                    </a:p>
                  </a:txBody>
                  <a:tcPr marL="5912" marR="5912" marT="5912" marB="0" anchor="ctr">
                    <a:lnL>
                      <a:noFill/>
                    </a:lnL>
                    <a:lnR>
                      <a:noFill/>
                    </a:lnR>
                    <a:lnT>
                      <a:noFill/>
                    </a:lnT>
                    <a:lnB>
                      <a:noFill/>
                    </a:lnB>
                    <a:solidFill>
                      <a:srgbClr val="FFFFFF"/>
                    </a:solidFill>
                  </a:tcPr>
                </a:tc>
                <a:tc>
                  <a:txBody>
                    <a:bodyPr/>
                    <a:lstStyle/>
                    <a:p>
                      <a:pPr algn="ctr" rtl="0" fontAlgn="ctr"/>
                      <a:r>
                        <a:rPr lang="en-US" sz="1050" b="1" i="0" u="none" strike="noStrike">
                          <a:solidFill>
                            <a:srgbClr val="000000"/>
                          </a:solidFill>
                          <a:effectLst/>
                          <a:latin typeface="Arial" panose="020B0604020202020204" pitchFamily="34" charset="0"/>
                        </a:rPr>
                        <a:t>Percentile</a:t>
                      </a:r>
                    </a:p>
                  </a:txBody>
                  <a:tcPr marL="5912" marR="5912" marT="5912" marB="0" anchor="ctr">
                    <a:lnL>
                      <a:noFill/>
                    </a:lnL>
                    <a:lnR>
                      <a:noFill/>
                    </a:lnR>
                    <a:lnT>
                      <a:noFill/>
                    </a:lnT>
                    <a:lnB>
                      <a:noFill/>
                    </a:lnB>
                    <a:solidFill>
                      <a:srgbClr val="FFFFFF"/>
                    </a:solidFill>
                  </a:tcPr>
                </a:tc>
                <a:tc>
                  <a:txBody>
                    <a:bodyPr/>
                    <a:lstStyle/>
                    <a:p>
                      <a:pPr algn="ctr" rtl="0" fontAlgn="ctr"/>
                      <a:r>
                        <a:rPr lang="en-US" sz="1050" b="1" i="0" u="none" strike="noStrike">
                          <a:solidFill>
                            <a:srgbClr val="000000"/>
                          </a:solidFill>
                          <a:effectLst/>
                          <a:latin typeface="Arial" panose="020B0604020202020204" pitchFamily="34" charset="0"/>
                        </a:rPr>
                        <a:t>Percentile</a:t>
                      </a:r>
                    </a:p>
                  </a:txBody>
                  <a:tcPr marL="5912" marR="5912" marT="5912" marB="0" anchor="ctr">
                    <a:lnL>
                      <a:noFill/>
                    </a:lnL>
                    <a:lnR>
                      <a:noFill/>
                    </a:lnR>
                    <a:lnT>
                      <a:noFill/>
                    </a:lnT>
                    <a:lnB>
                      <a:noFill/>
                    </a:lnB>
                    <a:solidFill>
                      <a:srgbClr val="FFFFFF"/>
                    </a:solidFill>
                  </a:tcPr>
                </a:tc>
                <a:tc>
                  <a:txBody>
                    <a:bodyPr/>
                    <a:lstStyle/>
                    <a:p>
                      <a:pPr algn="ctr" rtl="0" fontAlgn="ctr"/>
                      <a:r>
                        <a:rPr lang="en-US" sz="1050" b="1" i="0" u="none" strike="noStrike">
                          <a:solidFill>
                            <a:srgbClr val="000000"/>
                          </a:solidFill>
                          <a:effectLst/>
                          <a:latin typeface="Arial" panose="020B0604020202020204" pitchFamily="34" charset="0"/>
                        </a:rPr>
                        <a:t>Percentile</a:t>
                      </a:r>
                    </a:p>
                  </a:txBody>
                  <a:tcPr marL="5912" marR="5912" marT="5912" marB="0" anchor="ctr">
                    <a:lnL>
                      <a:noFill/>
                    </a:lnL>
                    <a:lnR>
                      <a:noFill/>
                    </a:lnR>
                    <a:lnT>
                      <a:noFill/>
                    </a:lnT>
                    <a:lnB>
                      <a:noFill/>
                    </a:lnB>
                    <a:solidFill>
                      <a:srgbClr val="FFFFFF"/>
                    </a:solidFill>
                  </a:tcPr>
                </a:tc>
                <a:tc>
                  <a:txBody>
                    <a:bodyPr/>
                    <a:lstStyle/>
                    <a:p>
                      <a:pPr algn="ctr" rtl="0" fontAlgn="ctr"/>
                      <a:r>
                        <a:rPr lang="en-US" sz="1050" b="1" i="0" u="none" strike="noStrike">
                          <a:solidFill>
                            <a:srgbClr val="000000"/>
                          </a:solidFill>
                          <a:effectLst/>
                          <a:latin typeface="Arial" panose="020B0604020202020204" pitchFamily="34" charset="0"/>
                        </a:rPr>
                        <a:t>Quality Score</a:t>
                      </a:r>
                    </a:p>
                  </a:txBody>
                  <a:tcPr marL="5912" marR="5912" marT="5912" marB="0" anchor="ctr">
                    <a:lnL>
                      <a:noFill/>
                    </a:lnL>
                    <a:lnR>
                      <a:noFill/>
                    </a:lnR>
                    <a:lnT>
                      <a:noFill/>
                    </a:lnT>
                    <a:lnB>
                      <a:noFill/>
                    </a:lnB>
                    <a:solidFill>
                      <a:srgbClr val="FFFFFF"/>
                    </a:solidFill>
                  </a:tcPr>
                </a:tc>
                <a:extLst>
                  <a:ext uri="{0D108BD9-81ED-4DB2-BD59-A6C34878D82A}">
                    <a16:rowId xmlns:a16="http://schemas.microsoft.com/office/drawing/2014/main" val="3821443291"/>
                  </a:ext>
                </a:extLst>
              </a:tr>
              <a:tr h="313752">
                <a:tc vMerge="1">
                  <a:txBody>
                    <a:bodyPr/>
                    <a:lstStyle/>
                    <a:p>
                      <a:endParaRPr lang="en-US"/>
                    </a:p>
                  </a:txBody>
                  <a:tcPr/>
                </a:tc>
                <a:tc>
                  <a:txBody>
                    <a:bodyPr/>
                    <a:lstStyle/>
                    <a:p>
                      <a:pPr algn="ctr" rtl="0" fontAlgn="ctr"/>
                      <a:r>
                        <a:rPr lang="en-US" sz="1050" b="1" i="0" u="none" strike="noStrike">
                          <a:solidFill>
                            <a:srgbClr val="000000"/>
                          </a:solidFill>
                          <a:effectLst/>
                          <a:latin typeface="Arial" panose="020B0604020202020204" pitchFamily="34" charset="0"/>
                        </a:rPr>
                        <a:t>Percentile</a:t>
                      </a:r>
                    </a:p>
                  </a:txBody>
                  <a:tcPr marL="5912" marR="5912" marT="5912" marB="0" anchor="ctr">
                    <a:lnL>
                      <a:noFill/>
                    </a:lnL>
                    <a:lnR>
                      <a:noFill/>
                    </a:lnR>
                    <a:lnT>
                      <a:noFill/>
                    </a:lnT>
                    <a:lnB w="6350" cap="flat" cmpd="sng" algn="ctr">
                      <a:solidFill>
                        <a:srgbClr val="666666"/>
                      </a:solidFill>
                      <a:prstDash val="solid"/>
                      <a:round/>
                      <a:headEnd type="none" w="med" len="med"/>
                      <a:tailEnd type="none" w="med" len="med"/>
                    </a:lnB>
                    <a:solidFill>
                      <a:srgbClr val="FFFFFF"/>
                    </a:solidFill>
                  </a:tcPr>
                </a:tc>
                <a:tc>
                  <a:txBody>
                    <a:bodyPr/>
                    <a:lstStyle/>
                    <a:p>
                      <a:pPr algn="ctr" fontAlgn="ctr"/>
                      <a:r>
                        <a:rPr lang="en-US" sz="1050" b="0" i="0" u="none" strike="noStrike">
                          <a:solidFill>
                            <a:srgbClr val="000000"/>
                          </a:solidFill>
                          <a:effectLst/>
                          <a:latin typeface="Aptos Narrow" panose="020B0004020202020204" pitchFamily="34" charset="0"/>
                        </a:rPr>
                        <a:t> </a:t>
                      </a:r>
                    </a:p>
                  </a:txBody>
                  <a:tcPr marL="5912" marR="5912" marT="5912" marB="0" anchor="ctr">
                    <a:lnL>
                      <a:noFill/>
                    </a:lnL>
                    <a:lnR>
                      <a:noFill/>
                    </a:lnR>
                    <a:lnT>
                      <a:noFill/>
                    </a:lnT>
                    <a:lnB w="6350" cap="flat" cmpd="sng" algn="ctr">
                      <a:solidFill>
                        <a:srgbClr val="666666"/>
                      </a:solidFill>
                      <a:prstDash val="solid"/>
                      <a:round/>
                      <a:headEnd type="none" w="med" len="med"/>
                      <a:tailEnd type="none" w="med" len="med"/>
                    </a:lnB>
                    <a:solidFill>
                      <a:srgbClr val="FFFFFF"/>
                    </a:solidFill>
                  </a:tcPr>
                </a:tc>
                <a:tc>
                  <a:txBody>
                    <a:bodyPr/>
                    <a:lstStyle/>
                    <a:p>
                      <a:pPr algn="ctr" fontAlgn="ctr"/>
                      <a:r>
                        <a:rPr lang="en-US" sz="1050" b="0" i="0" u="none" strike="noStrike">
                          <a:solidFill>
                            <a:srgbClr val="000000"/>
                          </a:solidFill>
                          <a:effectLst/>
                          <a:latin typeface="Aptos Narrow" panose="020B0004020202020204" pitchFamily="34" charset="0"/>
                        </a:rPr>
                        <a:t> </a:t>
                      </a:r>
                    </a:p>
                  </a:txBody>
                  <a:tcPr marL="5912" marR="5912" marT="5912" marB="0" anchor="ctr">
                    <a:lnL>
                      <a:noFill/>
                    </a:lnL>
                    <a:lnR>
                      <a:noFill/>
                    </a:lnR>
                    <a:lnT>
                      <a:noFill/>
                    </a:lnT>
                    <a:lnB w="6350" cap="flat" cmpd="sng" algn="ctr">
                      <a:solidFill>
                        <a:srgbClr val="666666"/>
                      </a:solidFill>
                      <a:prstDash val="solid"/>
                      <a:round/>
                      <a:headEnd type="none" w="med" len="med"/>
                      <a:tailEnd type="none" w="med" len="med"/>
                    </a:lnB>
                    <a:solidFill>
                      <a:srgbClr val="FFFFFF"/>
                    </a:solidFill>
                  </a:tcPr>
                </a:tc>
                <a:tc>
                  <a:txBody>
                    <a:bodyPr/>
                    <a:lstStyle/>
                    <a:p>
                      <a:pPr algn="ctr" fontAlgn="ctr"/>
                      <a:r>
                        <a:rPr lang="en-US" sz="1050" b="0" i="0" u="none" strike="noStrike">
                          <a:solidFill>
                            <a:srgbClr val="000000"/>
                          </a:solidFill>
                          <a:effectLst/>
                          <a:latin typeface="Aptos Narrow" panose="020B0004020202020204" pitchFamily="34" charset="0"/>
                        </a:rPr>
                        <a:t> </a:t>
                      </a:r>
                    </a:p>
                  </a:txBody>
                  <a:tcPr marL="5912" marR="5912" marT="5912" marB="0" anchor="ctr">
                    <a:lnL>
                      <a:noFill/>
                    </a:lnL>
                    <a:lnR>
                      <a:noFill/>
                    </a:lnR>
                    <a:lnT>
                      <a:noFill/>
                    </a:lnT>
                    <a:lnB w="6350" cap="flat" cmpd="sng" algn="ctr">
                      <a:solidFill>
                        <a:srgbClr val="666666"/>
                      </a:solidFill>
                      <a:prstDash val="solid"/>
                      <a:round/>
                      <a:headEnd type="none" w="med" len="med"/>
                      <a:tailEnd type="none" w="med" len="med"/>
                    </a:lnB>
                    <a:solidFill>
                      <a:srgbClr val="FFFFFF"/>
                    </a:solidFill>
                  </a:tcPr>
                </a:tc>
                <a:tc>
                  <a:txBody>
                    <a:bodyPr/>
                    <a:lstStyle/>
                    <a:p>
                      <a:pPr algn="ctr" fontAlgn="ctr"/>
                      <a:r>
                        <a:rPr lang="en-US" sz="1050" b="0" i="0" u="none" strike="noStrike">
                          <a:solidFill>
                            <a:srgbClr val="000000"/>
                          </a:solidFill>
                          <a:effectLst/>
                          <a:latin typeface="Aptos Narrow" panose="020B0004020202020204" pitchFamily="34" charset="0"/>
                        </a:rPr>
                        <a:t> </a:t>
                      </a:r>
                    </a:p>
                  </a:txBody>
                  <a:tcPr marL="5912" marR="5912" marT="5912" marB="0" anchor="ctr">
                    <a:lnL>
                      <a:noFill/>
                    </a:lnL>
                    <a:lnR>
                      <a:noFill/>
                    </a:lnR>
                    <a:lnT>
                      <a:noFill/>
                    </a:lnT>
                    <a:lnB w="6350"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522769583"/>
                  </a:ext>
                </a:extLst>
              </a:tr>
              <a:tr h="616326">
                <a:tc>
                  <a:txBody>
                    <a:bodyPr/>
                    <a:lstStyle/>
                    <a:p>
                      <a:pPr algn="l" rtl="0" fontAlgn="ctr"/>
                      <a:r>
                        <a:rPr lang="en-US" sz="1050" b="0" i="0" u="none" strike="noStrike">
                          <a:solidFill>
                            <a:srgbClr val="000000"/>
                          </a:solidFill>
                          <a:effectLst/>
                          <a:latin typeface="Arial" panose="020B0604020202020204" pitchFamily="34" charset="0"/>
                        </a:rPr>
                        <a:t>Yale New Haven Health System</a:t>
                      </a:r>
                    </a:p>
                  </a:txBody>
                  <a:tcPr marL="5912" marR="5912" marT="5912" marB="0" anchor="ctr">
                    <a:lnL>
                      <a:noFill/>
                    </a:lnL>
                    <a:lnR>
                      <a:noFill/>
                    </a:lnR>
                    <a:lnT w="63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solidFill>
                      <a:srgbClr val="FFFFFF"/>
                    </a:solidFill>
                  </a:tcPr>
                </a:tc>
                <a:tc>
                  <a:txBody>
                    <a:bodyPr/>
                    <a:lstStyle/>
                    <a:p>
                      <a:pPr algn="ctr" rtl="0" fontAlgn="ctr"/>
                      <a:r>
                        <a:rPr lang="en-US" sz="1050" b="0" i="0" u="none" strike="noStrike">
                          <a:solidFill>
                            <a:srgbClr val="30589B"/>
                          </a:solidFill>
                          <a:effectLst/>
                          <a:latin typeface="Arial" panose="020B0604020202020204" pitchFamily="34" charset="0"/>
                        </a:rPr>
                        <a:t>46</a:t>
                      </a:r>
                    </a:p>
                  </a:txBody>
                  <a:tcPr marL="5912" marR="5912" marT="5912" marB="0" anchor="ctr">
                    <a:lnL>
                      <a:noFill/>
                    </a:lnL>
                    <a:lnR>
                      <a:noFill/>
                    </a:lnR>
                    <a:lnT w="63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solidFill>
                      <a:srgbClr val="9FB2D1"/>
                    </a:solidFill>
                  </a:tcPr>
                </a:tc>
                <a:tc>
                  <a:txBody>
                    <a:bodyPr/>
                    <a:lstStyle/>
                    <a:p>
                      <a:pPr algn="ctr" rtl="0" fontAlgn="ctr"/>
                      <a:r>
                        <a:rPr lang="en-US" sz="1050" b="0" i="0" u="none" strike="noStrike">
                          <a:solidFill>
                            <a:srgbClr val="FFFFFF"/>
                          </a:solidFill>
                          <a:effectLst/>
                          <a:latin typeface="Arial" panose="020B0604020202020204" pitchFamily="34" charset="0"/>
                        </a:rPr>
                        <a:t>77</a:t>
                      </a:r>
                    </a:p>
                  </a:txBody>
                  <a:tcPr marL="5912" marR="5912" marT="5912" marB="0" anchor="ctr">
                    <a:lnL>
                      <a:noFill/>
                    </a:lnL>
                    <a:lnR>
                      <a:noFill/>
                    </a:lnR>
                    <a:lnT w="63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solidFill>
                      <a:srgbClr val="5F7EB2"/>
                    </a:solidFill>
                  </a:tcPr>
                </a:tc>
                <a:tc>
                  <a:txBody>
                    <a:bodyPr/>
                    <a:lstStyle/>
                    <a:p>
                      <a:pPr algn="ctr" rtl="0" fontAlgn="ctr"/>
                      <a:r>
                        <a:rPr lang="en-US" sz="1050" b="0" i="0" u="none" strike="noStrike">
                          <a:solidFill>
                            <a:srgbClr val="FFFFFF"/>
                          </a:solidFill>
                          <a:effectLst/>
                          <a:latin typeface="Arial" panose="020B0604020202020204" pitchFamily="34" charset="0"/>
                        </a:rPr>
                        <a:t>65</a:t>
                      </a:r>
                    </a:p>
                  </a:txBody>
                  <a:tcPr marL="5912" marR="5912" marT="5912" marB="0" anchor="ctr">
                    <a:lnL>
                      <a:noFill/>
                    </a:lnL>
                    <a:lnR>
                      <a:noFill/>
                    </a:lnR>
                    <a:lnT w="63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solidFill>
                      <a:srgbClr val="7892BE"/>
                    </a:solidFill>
                  </a:tcPr>
                </a:tc>
                <a:tc>
                  <a:txBody>
                    <a:bodyPr/>
                    <a:lstStyle/>
                    <a:p>
                      <a:pPr algn="ctr" rtl="0" fontAlgn="ctr"/>
                      <a:r>
                        <a:rPr lang="en-US" sz="1050" b="0" i="0" u="none" strike="noStrike">
                          <a:solidFill>
                            <a:srgbClr val="FFFFFF"/>
                          </a:solidFill>
                          <a:effectLst/>
                          <a:latin typeface="Arial" panose="020B0604020202020204" pitchFamily="34" charset="0"/>
                        </a:rPr>
                        <a:t>68</a:t>
                      </a:r>
                    </a:p>
                  </a:txBody>
                  <a:tcPr marL="5912" marR="5912" marT="5912" marB="0" anchor="ctr">
                    <a:lnL>
                      <a:noFill/>
                    </a:lnL>
                    <a:lnR>
                      <a:noFill/>
                    </a:lnR>
                    <a:lnT w="63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solidFill>
                      <a:srgbClr val="728DBB"/>
                    </a:solidFill>
                  </a:tcPr>
                </a:tc>
                <a:tc>
                  <a:txBody>
                    <a:bodyPr/>
                    <a:lstStyle/>
                    <a:p>
                      <a:pPr algn="ctr" rtl="0" fontAlgn="ctr"/>
                      <a:r>
                        <a:rPr lang="en-US" sz="1050" b="0" i="0" u="none" strike="noStrike">
                          <a:solidFill>
                            <a:srgbClr val="FFFFFF"/>
                          </a:solidFill>
                          <a:effectLst/>
                          <a:latin typeface="Arial" panose="020B0604020202020204" pitchFamily="34" charset="0"/>
                        </a:rPr>
                        <a:t>61</a:t>
                      </a:r>
                    </a:p>
                  </a:txBody>
                  <a:tcPr marL="5912" marR="5912" marT="5912" marB="0" anchor="ctr">
                    <a:lnL>
                      <a:noFill/>
                    </a:lnL>
                    <a:lnR>
                      <a:noFill/>
                    </a:lnR>
                    <a:lnT w="63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solidFill>
                      <a:srgbClr val="8099C2"/>
                    </a:solidFill>
                  </a:tcPr>
                </a:tc>
                <a:extLst>
                  <a:ext uri="{0D108BD9-81ED-4DB2-BD59-A6C34878D82A}">
                    <a16:rowId xmlns:a16="http://schemas.microsoft.com/office/drawing/2014/main" val="3123034389"/>
                  </a:ext>
                </a:extLst>
              </a:tr>
              <a:tr h="313752">
                <a:tc>
                  <a:txBody>
                    <a:bodyPr/>
                    <a:lstStyle/>
                    <a:p>
                      <a:pPr algn="l" rtl="0" fontAlgn="ctr"/>
                      <a:r>
                        <a:rPr lang="en-US" sz="1050" b="0" i="0" u="none" strike="noStrike">
                          <a:solidFill>
                            <a:srgbClr val="000000"/>
                          </a:solidFill>
                          <a:effectLst/>
                          <a:latin typeface="Arial" panose="020B0604020202020204" pitchFamily="34" charset="0"/>
                        </a:rPr>
                        <a:t>Stamford Hospital</a:t>
                      </a:r>
                    </a:p>
                  </a:txBody>
                  <a:tcPr marL="5912" marR="5912" marT="5912" marB="0" anchor="ctr">
                    <a:lnL>
                      <a:noFill/>
                    </a:lnL>
                    <a:lnR>
                      <a:noFill/>
                    </a:lnR>
                    <a:lnT w="190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FFFFFF"/>
                    </a:solidFill>
                  </a:tcPr>
                </a:tc>
                <a:tc>
                  <a:txBody>
                    <a:bodyPr/>
                    <a:lstStyle/>
                    <a:p>
                      <a:pPr algn="ctr" rtl="0" fontAlgn="ctr"/>
                      <a:r>
                        <a:rPr lang="en-US" sz="1050" b="0" i="0" u="none" strike="noStrike">
                          <a:solidFill>
                            <a:srgbClr val="FFFFFF"/>
                          </a:solidFill>
                          <a:effectLst/>
                          <a:latin typeface="Arial" panose="020B0604020202020204" pitchFamily="34" charset="0"/>
                        </a:rPr>
                        <a:t>73</a:t>
                      </a:r>
                    </a:p>
                  </a:txBody>
                  <a:tcPr marL="5912" marR="5912" marT="5912" marB="0" anchor="ctr">
                    <a:lnL>
                      <a:noFill/>
                    </a:lnL>
                    <a:lnR>
                      <a:noFill/>
                    </a:lnR>
                    <a:lnT w="190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6785B5"/>
                    </a:solidFill>
                  </a:tcPr>
                </a:tc>
                <a:tc>
                  <a:txBody>
                    <a:bodyPr/>
                    <a:lstStyle/>
                    <a:p>
                      <a:pPr algn="ctr" rtl="0" fontAlgn="ctr"/>
                      <a:r>
                        <a:rPr lang="en-US" sz="1050" b="0" i="0" u="none" strike="noStrike">
                          <a:solidFill>
                            <a:srgbClr val="FFFFFF"/>
                          </a:solidFill>
                          <a:effectLst/>
                          <a:latin typeface="Arial" panose="020B0604020202020204" pitchFamily="34" charset="0"/>
                        </a:rPr>
                        <a:t>87</a:t>
                      </a:r>
                    </a:p>
                  </a:txBody>
                  <a:tcPr marL="5912" marR="5912" marT="5912" marB="0" anchor="ctr">
                    <a:lnL>
                      <a:noFill/>
                    </a:lnL>
                    <a:lnR>
                      <a:noFill/>
                    </a:lnR>
                    <a:lnT w="190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4A6DA7"/>
                    </a:solidFill>
                  </a:tcPr>
                </a:tc>
                <a:tc>
                  <a:txBody>
                    <a:bodyPr/>
                    <a:lstStyle/>
                    <a:p>
                      <a:pPr algn="ctr" rtl="0" fontAlgn="ctr"/>
                      <a:r>
                        <a:rPr lang="en-US" sz="1050" b="0" i="0" u="none" strike="noStrike">
                          <a:solidFill>
                            <a:srgbClr val="FFFFFF"/>
                          </a:solidFill>
                          <a:effectLst/>
                          <a:latin typeface="Arial" panose="020B0604020202020204" pitchFamily="34" charset="0"/>
                        </a:rPr>
                        <a:t>69</a:t>
                      </a:r>
                    </a:p>
                  </a:txBody>
                  <a:tcPr marL="5912" marR="5912" marT="5912" marB="0" anchor="ctr">
                    <a:lnL>
                      <a:noFill/>
                    </a:lnL>
                    <a:lnR>
                      <a:noFill/>
                    </a:lnR>
                    <a:lnT w="190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708BBA"/>
                    </a:solidFill>
                  </a:tcPr>
                </a:tc>
                <a:tc>
                  <a:txBody>
                    <a:bodyPr/>
                    <a:lstStyle/>
                    <a:p>
                      <a:pPr algn="ctr" rtl="0" fontAlgn="ctr"/>
                      <a:r>
                        <a:rPr lang="en-US" sz="1050" b="0" i="0" u="none" strike="noStrike">
                          <a:solidFill>
                            <a:srgbClr val="FFFFFF"/>
                          </a:solidFill>
                          <a:effectLst/>
                          <a:latin typeface="Arial" panose="020B0604020202020204" pitchFamily="34" charset="0"/>
                        </a:rPr>
                        <a:t>66</a:t>
                      </a:r>
                    </a:p>
                  </a:txBody>
                  <a:tcPr marL="5912" marR="5912" marT="5912" marB="0" anchor="ctr">
                    <a:lnL>
                      <a:noFill/>
                    </a:lnL>
                    <a:lnR>
                      <a:noFill/>
                    </a:lnR>
                    <a:lnT w="190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7690BD"/>
                    </a:solidFill>
                  </a:tcPr>
                </a:tc>
                <a:tc>
                  <a:txBody>
                    <a:bodyPr/>
                    <a:lstStyle/>
                    <a:p>
                      <a:pPr algn="ctr" rtl="0" fontAlgn="ctr"/>
                      <a:r>
                        <a:rPr lang="en-US" sz="1050" b="0" i="0" u="none" strike="noStrike">
                          <a:solidFill>
                            <a:srgbClr val="FFFFFF"/>
                          </a:solidFill>
                          <a:effectLst/>
                          <a:latin typeface="Arial" panose="020B0604020202020204" pitchFamily="34" charset="0"/>
                        </a:rPr>
                        <a:t>70</a:t>
                      </a:r>
                    </a:p>
                  </a:txBody>
                  <a:tcPr marL="5912" marR="5912" marT="5912" marB="0" anchor="ctr">
                    <a:lnL>
                      <a:noFill/>
                    </a:lnL>
                    <a:lnR>
                      <a:noFill/>
                    </a:lnR>
                    <a:lnT w="190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6E8AB9"/>
                    </a:solidFill>
                  </a:tcPr>
                </a:tc>
                <a:extLst>
                  <a:ext uri="{0D108BD9-81ED-4DB2-BD59-A6C34878D82A}">
                    <a16:rowId xmlns:a16="http://schemas.microsoft.com/office/drawing/2014/main" val="1936281417"/>
                  </a:ext>
                </a:extLst>
              </a:tr>
              <a:tr h="386991">
                <a:tc>
                  <a:txBody>
                    <a:bodyPr/>
                    <a:lstStyle/>
                    <a:p>
                      <a:pPr algn="l" rtl="0" fontAlgn="ctr"/>
                      <a:r>
                        <a:rPr lang="en-US" sz="1050" b="0" i="0" u="none" strike="noStrike">
                          <a:solidFill>
                            <a:srgbClr val="000000"/>
                          </a:solidFill>
                          <a:effectLst/>
                          <a:latin typeface="Arial" panose="020B0604020202020204" pitchFamily="34" charset="0"/>
                        </a:rPr>
                        <a:t>Other Independent Hospitals</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FFFFFF"/>
                    </a:solidFill>
                  </a:tcPr>
                </a:tc>
                <a:tc>
                  <a:txBody>
                    <a:bodyPr/>
                    <a:lstStyle/>
                    <a:p>
                      <a:pPr algn="ctr" rtl="0" fontAlgn="ctr"/>
                      <a:r>
                        <a:rPr lang="en-US" sz="1050" b="0" i="0" u="none" strike="noStrike">
                          <a:solidFill>
                            <a:srgbClr val="FFFFFF"/>
                          </a:solidFill>
                          <a:effectLst/>
                          <a:latin typeface="Arial" panose="020B0604020202020204" pitchFamily="34" charset="0"/>
                        </a:rPr>
                        <a:t>60</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829AC3"/>
                    </a:solidFill>
                  </a:tcPr>
                </a:tc>
                <a:tc>
                  <a:txBody>
                    <a:bodyPr/>
                    <a:lstStyle/>
                    <a:p>
                      <a:pPr algn="ctr" rtl="0" fontAlgn="ctr"/>
                      <a:r>
                        <a:rPr lang="en-US" sz="1050" b="0" i="0" u="none" strike="noStrike">
                          <a:solidFill>
                            <a:srgbClr val="FFFFFF"/>
                          </a:solidFill>
                          <a:effectLst/>
                          <a:latin typeface="Arial" panose="020B0604020202020204" pitchFamily="34" charset="0"/>
                        </a:rPr>
                        <a:t>65</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7892BE"/>
                    </a:solidFill>
                  </a:tcPr>
                </a:tc>
                <a:tc>
                  <a:txBody>
                    <a:bodyPr/>
                    <a:lstStyle/>
                    <a:p>
                      <a:pPr algn="ctr" rtl="0" fontAlgn="ctr"/>
                      <a:r>
                        <a:rPr lang="en-US" sz="1050" b="0" i="0" u="none" strike="noStrike">
                          <a:solidFill>
                            <a:srgbClr val="FFFFFF"/>
                          </a:solidFill>
                          <a:effectLst/>
                          <a:latin typeface="Arial" panose="020B0604020202020204" pitchFamily="34" charset="0"/>
                        </a:rPr>
                        <a:t>67</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748FBB"/>
                    </a:solidFill>
                  </a:tcPr>
                </a:tc>
                <a:tc>
                  <a:txBody>
                    <a:bodyPr/>
                    <a:lstStyle/>
                    <a:p>
                      <a:pPr algn="ctr" rtl="0" fontAlgn="ctr"/>
                      <a:r>
                        <a:rPr lang="en-US" sz="1050" b="0" i="0" u="none" strike="noStrike">
                          <a:solidFill>
                            <a:srgbClr val="FFFFFF"/>
                          </a:solidFill>
                          <a:effectLst/>
                          <a:latin typeface="Arial" panose="020B0604020202020204" pitchFamily="34" charset="0"/>
                        </a:rPr>
                        <a:t>58</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869EC4"/>
                    </a:solidFill>
                  </a:tcPr>
                </a:tc>
                <a:tc>
                  <a:txBody>
                    <a:bodyPr/>
                    <a:lstStyle/>
                    <a:p>
                      <a:pPr algn="ctr" rtl="0" fontAlgn="ctr"/>
                      <a:r>
                        <a:rPr lang="en-US" sz="1050" b="0" i="0" u="none" strike="noStrike">
                          <a:solidFill>
                            <a:srgbClr val="FFFFFF"/>
                          </a:solidFill>
                          <a:effectLst/>
                          <a:latin typeface="Arial" panose="020B0604020202020204" pitchFamily="34" charset="0"/>
                        </a:rPr>
                        <a:t>65</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7892BE"/>
                    </a:solidFill>
                  </a:tcPr>
                </a:tc>
                <a:extLst>
                  <a:ext uri="{0D108BD9-81ED-4DB2-BD59-A6C34878D82A}">
                    <a16:rowId xmlns:a16="http://schemas.microsoft.com/office/drawing/2014/main" val="2921198086"/>
                  </a:ext>
                </a:extLst>
              </a:tr>
              <a:tr h="313752">
                <a:tc>
                  <a:txBody>
                    <a:bodyPr/>
                    <a:lstStyle/>
                    <a:p>
                      <a:pPr algn="l" rtl="0" fontAlgn="ctr"/>
                      <a:r>
                        <a:rPr lang="en-US" sz="1050" b="0" i="0" u="none" strike="noStrike">
                          <a:solidFill>
                            <a:srgbClr val="000000"/>
                          </a:solidFill>
                          <a:effectLst/>
                          <a:latin typeface="Arial" panose="020B0604020202020204" pitchFamily="34" charset="0"/>
                        </a:rPr>
                        <a:t>Lifespan</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FFFFFF"/>
                    </a:solidFill>
                  </a:tcPr>
                </a:tc>
                <a:tc>
                  <a:txBody>
                    <a:bodyPr/>
                    <a:lstStyle/>
                    <a:p>
                      <a:pPr algn="ctr" rtl="0" fontAlgn="ctr"/>
                      <a:r>
                        <a:rPr lang="en-US" sz="1050" b="0" i="0" u="none" strike="noStrike">
                          <a:solidFill>
                            <a:srgbClr val="FFFFFF"/>
                          </a:solidFill>
                          <a:effectLst/>
                          <a:latin typeface="Arial" panose="020B0604020202020204" pitchFamily="34" charset="0"/>
                        </a:rPr>
                        <a:t>57</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899FC6"/>
                    </a:solidFill>
                  </a:tcPr>
                </a:tc>
                <a:tc>
                  <a:txBody>
                    <a:bodyPr/>
                    <a:lstStyle/>
                    <a:p>
                      <a:pPr algn="ctr" rtl="0" fontAlgn="ctr"/>
                      <a:r>
                        <a:rPr lang="en-US" sz="1050" b="0" i="0" u="none" strike="noStrike">
                          <a:solidFill>
                            <a:srgbClr val="FFFFFF"/>
                          </a:solidFill>
                          <a:effectLst/>
                          <a:latin typeface="Arial" panose="020B0604020202020204" pitchFamily="34" charset="0"/>
                        </a:rPr>
                        <a:t>72</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6986B6"/>
                    </a:solidFill>
                  </a:tcPr>
                </a:tc>
                <a:tc>
                  <a:txBody>
                    <a:bodyPr/>
                    <a:lstStyle/>
                    <a:p>
                      <a:pPr algn="ctr" rtl="0" fontAlgn="ctr"/>
                      <a:r>
                        <a:rPr lang="en-US" sz="1050" b="0" i="0" u="none" strike="noStrike">
                          <a:solidFill>
                            <a:srgbClr val="FFFFFF"/>
                          </a:solidFill>
                          <a:effectLst/>
                          <a:latin typeface="Arial" panose="020B0604020202020204" pitchFamily="34" charset="0"/>
                        </a:rPr>
                        <a:t>78</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5D7CB1"/>
                    </a:solidFill>
                  </a:tcPr>
                </a:tc>
                <a:tc>
                  <a:txBody>
                    <a:bodyPr/>
                    <a:lstStyle/>
                    <a:p>
                      <a:pPr algn="ctr" rtl="0" fontAlgn="ctr"/>
                      <a:r>
                        <a:rPr lang="en-US" sz="1050" b="0" i="0" u="none" strike="noStrike">
                          <a:solidFill>
                            <a:srgbClr val="FFFFFF"/>
                          </a:solidFill>
                          <a:effectLst/>
                          <a:latin typeface="Arial" panose="020B0604020202020204" pitchFamily="34" charset="0"/>
                        </a:rPr>
                        <a:t>61</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8099C2"/>
                    </a:solidFill>
                  </a:tcPr>
                </a:tc>
                <a:tc>
                  <a:txBody>
                    <a:bodyPr/>
                    <a:lstStyle/>
                    <a:p>
                      <a:pPr algn="ctr" rtl="0" fontAlgn="ctr"/>
                      <a:r>
                        <a:rPr lang="en-US" sz="1050" b="0" i="0" u="none" strike="noStrike">
                          <a:solidFill>
                            <a:srgbClr val="FFFFFF"/>
                          </a:solidFill>
                          <a:effectLst/>
                          <a:latin typeface="Arial" panose="020B0604020202020204" pitchFamily="34" charset="0"/>
                        </a:rPr>
                        <a:t>65</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7892BE"/>
                    </a:solidFill>
                  </a:tcPr>
                </a:tc>
                <a:extLst>
                  <a:ext uri="{0D108BD9-81ED-4DB2-BD59-A6C34878D82A}">
                    <a16:rowId xmlns:a16="http://schemas.microsoft.com/office/drawing/2014/main" val="739195315"/>
                  </a:ext>
                </a:extLst>
              </a:tr>
              <a:tr h="313752">
                <a:tc>
                  <a:txBody>
                    <a:bodyPr/>
                    <a:lstStyle/>
                    <a:p>
                      <a:pPr algn="l" rtl="0" fontAlgn="ctr"/>
                      <a:r>
                        <a:rPr lang="en-US" sz="1050" b="0" i="0" u="none" strike="noStrike">
                          <a:solidFill>
                            <a:srgbClr val="000000"/>
                          </a:solidFill>
                          <a:effectLst/>
                          <a:latin typeface="Arial" panose="020B0604020202020204" pitchFamily="34" charset="0"/>
                        </a:rPr>
                        <a:t>Nuvance Health</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FFFFFF"/>
                    </a:solidFill>
                  </a:tcPr>
                </a:tc>
                <a:tc>
                  <a:txBody>
                    <a:bodyPr/>
                    <a:lstStyle/>
                    <a:p>
                      <a:pPr algn="ctr" rtl="0" fontAlgn="ctr"/>
                      <a:r>
                        <a:rPr lang="en-US" sz="1050" b="0" i="0" u="none" strike="noStrike">
                          <a:solidFill>
                            <a:srgbClr val="30589B"/>
                          </a:solidFill>
                          <a:effectLst/>
                          <a:latin typeface="Arial" panose="020B0604020202020204" pitchFamily="34" charset="0"/>
                        </a:rPr>
                        <a:t>46</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9FB2D1"/>
                    </a:solidFill>
                  </a:tcPr>
                </a:tc>
                <a:tc>
                  <a:txBody>
                    <a:bodyPr/>
                    <a:lstStyle/>
                    <a:p>
                      <a:pPr algn="ctr" rtl="0" fontAlgn="ctr"/>
                      <a:r>
                        <a:rPr lang="en-US" sz="1050" b="0" i="0" u="none" strike="noStrike">
                          <a:solidFill>
                            <a:srgbClr val="FFFFFF"/>
                          </a:solidFill>
                          <a:effectLst/>
                          <a:latin typeface="Arial" panose="020B0604020202020204" pitchFamily="34" charset="0"/>
                        </a:rPr>
                        <a:t>64</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7A94BF"/>
                    </a:solidFill>
                  </a:tcPr>
                </a:tc>
                <a:tc>
                  <a:txBody>
                    <a:bodyPr/>
                    <a:lstStyle/>
                    <a:p>
                      <a:pPr algn="ctr" rtl="0" fontAlgn="ctr"/>
                      <a:r>
                        <a:rPr lang="en-US" sz="1050" b="0" i="0" u="none" strike="noStrike">
                          <a:solidFill>
                            <a:srgbClr val="FFFFFF"/>
                          </a:solidFill>
                          <a:effectLst/>
                          <a:latin typeface="Arial" panose="020B0604020202020204" pitchFamily="34" charset="0"/>
                        </a:rPr>
                        <a:t>76</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6180B3"/>
                    </a:solidFill>
                  </a:tcPr>
                </a:tc>
                <a:tc>
                  <a:txBody>
                    <a:bodyPr/>
                    <a:lstStyle/>
                    <a:p>
                      <a:pPr algn="ctr" rtl="0" fontAlgn="ctr"/>
                      <a:r>
                        <a:rPr lang="en-US" sz="1050" b="0" i="0" u="none" strike="noStrike">
                          <a:solidFill>
                            <a:srgbClr val="FFFFFF"/>
                          </a:solidFill>
                          <a:effectLst/>
                          <a:latin typeface="Arial" panose="020B0604020202020204" pitchFamily="34" charset="0"/>
                        </a:rPr>
                        <a:t>59</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849CC3"/>
                    </a:solidFill>
                  </a:tcPr>
                </a:tc>
                <a:tc>
                  <a:txBody>
                    <a:bodyPr/>
                    <a:lstStyle/>
                    <a:p>
                      <a:pPr algn="ctr" rtl="0" fontAlgn="ctr"/>
                      <a:r>
                        <a:rPr lang="en-US" sz="1050" b="0" i="0" u="none" strike="noStrike">
                          <a:solidFill>
                            <a:srgbClr val="FFFFFF"/>
                          </a:solidFill>
                          <a:effectLst/>
                          <a:latin typeface="Arial" panose="020B0604020202020204" pitchFamily="34" charset="0"/>
                        </a:rPr>
                        <a:t>62</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7E97C1"/>
                    </a:solidFill>
                  </a:tcPr>
                </a:tc>
                <a:extLst>
                  <a:ext uri="{0D108BD9-81ED-4DB2-BD59-A6C34878D82A}">
                    <a16:rowId xmlns:a16="http://schemas.microsoft.com/office/drawing/2014/main" val="3204854229"/>
                  </a:ext>
                </a:extLst>
              </a:tr>
              <a:tr h="313752">
                <a:tc>
                  <a:txBody>
                    <a:bodyPr/>
                    <a:lstStyle/>
                    <a:p>
                      <a:pPr algn="l" rtl="0" fontAlgn="ctr"/>
                      <a:r>
                        <a:rPr lang="en-US" sz="1050" b="0" i="0" u="none" strike="noStrike">
                          <a:solidFill>
                            <a:srgbClr val="000000"/>
                          </a:solidFill>
                          <a:effectLst/>
                          <a:latin typeface="Arial" panose="020B0604020202020204" pitchFamily="34" charset="0"/>
                        </a:rPr>
                        <a:t>Care New England</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FFFFFF"/>
                    </a:solidFill>
                  </a:tcPr>
                </a:tc>
                <a:tc>
                  <a:txBody>
                    <a:bodyPr/>
                    <a:lstStyle/>
                    <a:p>
                      <a:pPr algn="ctr" rtl="0" fontAlgn="ctr"/>
                      <a:r>
                        <a:rPr lang="en-US" sz="1050" b="0" i="0" u="none" strike="noStrike">
                          <a:solidFill>
                            <a:srgbClr val="30589B"/>
                          </a:solidFill>
                          <a:effectLst/>
                          <a:latin typeface="Arial" panose="020B0604020202020204" pitchFamily="34" charset="0"/>
                        </a:rPr>
                        <a:t>44</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A3B5D3"/>
                    </a:solidFill>
                  </a:tcPr>
                </a:tc>
                <a:tc>
                  <a:txBody>
                    <a:bodyPr/>
                    <a:lstStyle/>
                    <a:p>
                      <a:pPr algn="ctr" rtl="0" fontAlgn="ctr"/>
                      <a:r>
                        <a:rPr lang="en-US" sz="1050" b="0" i="0" u="none" strike="noStrike">
                          <a:solidFill>
                            <a:srgbClr val="FFFFFF"/>
                          </a:solidFill>
                          <a:effectLst/>
                          <a:latin typeface="Arial" panose="020B0604020202020204" pitchFamily="34" charset="0"/>
                        </a:rPr>
                        <a:t>61</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8099C2"/>
                    </a:solidFill>
                  </a:tcPr>
                </a:tc>
                <a:tc>
                  <a:txBody>
                    <a:bodyPr/>
                    <a:lstStyle/>
                    <a:p>
                      <a:pPr algn="ctr" rtl="0" fontAlgn="ctr"/>
                      <a:r>
                        <a:rPr lang="en-US" sz="1050" b="0" i="0" u="none" strike="noStrike">
                          <a:solidFill>
                            <a:srgbClr val="FFFFFF"/>
                          </a:solidFill>
                          <a:effectLst/>
                          <a:latin typeface="Arial" panose="020B0604020202020204" pitchFamily="34" charset="0"/>
                        </a:rPr>
                        <a:t>58</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869EC4"/>
                    </a:solidFill>
                  </a:tcPr>
                </a:tc>
                <a:tc>
                  <a:txBody>
                    <a:bodyPr/>
                    <a:lstStyle/>
                    <a:p>
                      <a:pPr algn="ctr" rtl="0" fontAlgn="ctr"/>
                      <a:r>
                        <a:rPr lang="en-US" sz="1050" b="0" i="0" u="none" strike="noStrike">
                          <a:solidFill>
                            <a:srgbClr val="FFFFFF"/>
                          </a:solidFill>
                          <a:effectLst/>
                          <a:latin typeface="Arial" panose="020B0604020202020204" pitchFamily="34" charset="0"/>
                        </a:rPr>
                        <a:t>66</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7690BD"/>
                    </a:solidFill>
                  </a:tcPr>
                </a:tc>
                <a:tc>
                  <a:txBody>
                    <a:bodyPr/>
                    <a:lstStyle/>
                    <a:p>
                      <a:pPr algn="ctr" rtl="0" fontAlgn="ctr"/>
                      <a:r>
                        <a:rPr lang="en-US" sz="1050" b="0" i="0" u="none" strike="noStrike">
                          <a:solidFill>
                            <a:srgbClr val="FFFFFF"/>
                          </a:solidFill>
                          <a:effectLst/>
                          <a:latin typeface="Arial" panose="020B0604020202020204" pitchFamily="34" charset="0"/>
                        </a:rPr>
                        <a:t>62</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7E97C1"/>
                    </a:solidFill>
                  </a:tcPr>
                </a:tc>
                <a:extLst>
                  <a:ext uri="{0D108BD9-81ED-4DB2-BD59-A6C34878D82A}">
                    <a16:rowId xmlns:a16="http://schemas.microsoft.com/office/drawing/2014/main" val="4093082003"/>
                  </a:ext>
                </a:extLst>
              </a:tr>
              <a:tr h="313752">
                <a:tc>
                  <a:txBody>
                    <a:bodyPr/>
                    <a:lstStyle/>
                    <a:p>
                      <a:pPr algn="l" rtl="0" fontAlgn="ctr"/>
                      <a:r>
                        <a:rPr lang="en-US" sz="1050" b="0" i="0" u="none" strike="noStrike">
                          <a:solidFill>
                            <a:srgbClr val="000000"/>
                          </a:solidFill>
                          <a:effectLst/>
                          <a:latin typeface="Arial" panose="020B0604020202020204" pitchFamily="34" charset="0"/>
                        </a:rPr>
                        <a:t>Hartford HealthCare</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FFFFFF"/>
                    </a:solidFill>
                  </a:tcPr>
                </a:tc>
                <a:tc>
                  <a:txBody>
                    <a:bodyPr/>
                    <a:lstStyle/>
                    <a:p>
                      <a:pPr algn="ctr" rtl="0" fontAlgn="ctr"/>
                      <a:r>
                        <a:rPr lang="en-US" sz="1050" b="0" i="0" u="none" strike="noStrike">
                          <a:solidFill>
                            <a:srgbClr val="30589B"/>
                          </a:solidFill>
                          <a:effectLst/>
                          <a:latin typeface="Arial" panose="020B0604020202020204" pitchFamily="34" charset="0"/>
                        </a:rPr>
                        <a:t>41</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AABAD6"/>
                    </a:solidFill>
                  </a:tcPr>
                </a:tc>
                <a:tc>
                  <a:txBody>
                    <a:bodyPr/>
                    <a:lstStyle/>
                    <a:p>
                      <a:pPr algn="ctr" rtl="0" fontAlgn="ctr"/>
                      <a:r>
                        <a:rPr lang="en-US" sz="1050" b="0" i="0" u="none" strike="noStrike">
                          <a:solidFill>
                            <a:srgbClr val="FFFFFF"/>
                          </a:solidFill>
                          <a:effectLst/>
                          <a:latin typeface="Arial" panose="020B0604020202020204" pitchFamily="34" charset="0"/>
                        </a:rPr>
                        <a:t>74</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6583B4"/>
                    </a:solidFill>
                  </a:tcPr>
                </a:tc>
                <a:tc>
                  <a:txBody>
                    <a:bodyPr/>
                    <a:lstStyle/>
                    <a:p>
                      <a:pPr algn="ctr" rtl="0" fontAlgn="ctr"/>
                      <a:r>
                        <a:rPr lang="en-US" sz="1050" b="0" i="0" u="none" strike="noStrike">
                          <a:solidFill>
                            <a:srgbClr val="FFFFFF"/>
                          </a:solidFill>
                          <a:effectLst/>
                          <a:latin typeface="Arial" panose="020B0604020202020204" pitchFamily="34" charset="0"/>
                        </a:rPr>
                        <a:t>74</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6583B4"/>
                    </a:solidFill>
                  </a:tcPr>
                </a:tc>
                <a:tc>
                  <a:txBody>
                    <a:bodyPr/>
                    <a:lstStyle/>
                    <a:p>
                      <a:pPr algn="ctr" rtl="0" fontAlgn="ctr"/>
                      <a:r>
                        <a:rPr lang="en-US" sz="1050" b="0" i="0" u="none" strike="noStrike">
                          <a:solidFill>
                            <a:srgbClr val="FFFFFF"/>
                          </a:solidFill>
                          <a:effectLst/>
                          <a:latin typeface="Arial" panose="020B0604020202020204" pitchFamily="34" charset="0"/>
                        </a:rPr>
                        <a:t>60</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829AC3"/>
                    </a:solidFill>
                  </a:tcPr>
                </a:tc>
                <a:tc>
                  <a:txBody>
                    <a:bodyPr/>
                    <a:lstStyle/>
                    <a:p>
                      <a:pPr algn="ctr" rtl="0" fontAlgn="ctr"/>
                      <a:r>
                        <a:rPr lang="en-US" sz="1050" b="0" i="0" u="none" strike="noStrike">
                          <a:solidFill>
                            <a:srgbClr val="FFFFFF"/>
                          </a:solidFill>
                          <a:effectLst/>
                          <a:latin typeface="Arial" panose="020B0604020202020204" pitchFamily="34" charset="0"/>
                        </a:rPr>
                        <a:t>59</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849CC3"/>
                    </a:solidFill>
                  </a:tcPr>
                </a:tc>
                <a:extLst>
                  <a:ext uri="{0D108BD9-81ED-4DB2-BD59-A6C34878D82A}">
                    <a16:rowId xmlns:a16="http://schemas.microsoft.com/office/drawing/2014/main" val="955879659"/>
                  </a:ext>
                </a:extLst>
              </a:tr>
              <a:tr h="313752">
                <a:tc>
                  <a:txBody>
                    <a:bodyPr/>
                    <a:lstStyle/>
                    <a:p>
                      <a:pPr algn="l" rtl="0" fontAlgn="ctr"/>
                      <a:r>
                        <a:rPr lang="en-US" sz="1050" b="0" i="0" u="none" strike="noStrike">
                          <a:solidFill>
                            <a:srgbClr val="000000"/>
                          </a:solidFill>
                          <a:effectLst/>
                          <a:latin typeface="Arial" panose="020B0604020202020204" pitchFamily="34" charset="0"/>
                        </a:rPr>
                        <a:t>Prospect Medical Holdings</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FFFFFF"/>
                    </a:solidFill>
                  </a:tcPr>
                </a:tc>
                <a:tc>
                  <a:txBody>
                    <a:bodyPr/>
                    <a:lstStyle/>
                    <a:p>
                      <a:pPr algn="ctr" rtl="0" fontAlgn="ctr"/>
                      <a:r>
                        <a:rPr lang="en-US" sz="1050" b="0" i="0" u="none" strike="noStrike">
                          <a:solidFill>
                            <a:srgbClr val="30589B"/>
                          </a:solidFill>
                          <a:effectLst/>
                          <a:latin typeface="Arial" panose="020B0604020202020204" pitchFamily="34" charset="0"/>
                        </a:rPr>
                        <a:t>26</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C9D3E5"/>
                    </a:solidFill>
                  </a:tcPr>
                </a:tc>
                <a:tc>
                  <a:txBody>
                    <a:bodyPr/>
                    <a:lstStyle/>
                    <a:p>
                      <a:pPr algn="ctr" rtl="0" fontAlgn="ctr"/>
                      <a:r>
                        <a:rPr lang="en-US" sz="1050" b="0" i="0" u="none" strike="noStrike">
                          <a:solidFill>
                            <a:srgbClr val="FFFFFF"/>
                          </a:solidFill>
                          <a:effectLst/>
                          <a:latin typeface="Arial" panose="020B0604020202020204" pitchFamily="34" charset="0"/>
                        </a:rPr>
                        <a:t>66</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7690BD"/>
                    </a:solidFill>
                  </a:tcPr>
                </a:tc>
                <a:tc>
                  <a:txBody>
                    <a:bodyPr/>
                    <a:lstStyle/>
                    <a:p>
                      <a:pPr algn="ctr" rtl="0" fontAlgn="ctr"/>
                      <a:r>
                        <a:rPr lang="en-US" sz="1050" b="0" i="0" u="none" strike="noStrike">
                          <a:solidFill>
                            <a:srgbClr val="FFFFFF"/>
                          </a:solidFill>
                          <a:effectLst/>
                          <a:latin typeface="Arial" panose="020B0604020202020204" pitchFamily="34" charset="0"/>
                        </a:rPr>
                        <a:t>68</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728DBB"/>
                    </a:solidFill>
                  </a:tcPr>
                </a:tc>
                <a:tc>
                  <a:txBody>
                    <a:bodyPr/>
                    <a:lstStyle/>
                    <a:p>
                      <a:pPr algn="ctr" rtl="0" fontAlgn="ctr"/>
                      <a:r>
                        <a:rPr lang="en-US" sz="1050" b="0" i="0" u="none" strike="noStrike">
                          <a:solidFill>
                            <a:srgbClr val="FFFFFF"/>
                          </a:solidFill>
                          <a:effectLst/>
                          <a:latin typeface="Arial" panose="020B0604020202020204" pitchFamily="34" charset="0"/>
                        </a:rPr>
                        <a:t>72</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6986B6"/>
                    </a:solidFill>
                  </a:tcPr>
                </a:tc>
                <a:tc>
                  <a:txBody>
                    <a:bodyPr/>
                    <a:lstStyle/>
                    <a:p>
                      <a:pPr algn="ctr" rtl="0" fontAlgn="ctr"/>
                      <a:r>
                        <a:rPr lang="en-US" sz="1050" b="0" i="0" u="none" strike="noStrike">
                          <a:solidFill>
                            <a:srgbClr val="FFFFFF"/>
                          </a:solidFill>
                          <a:effectLst/>
                          <a:latin typeface="Arial" panose="020B0604020202020204" pitchFamily="34" charset="0"/>
                        </a:rPr>
                        <a:t>53</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91A6CA"/>
                    </a:solidFill>
                  </a:tcPr>
                </a:tc>
                <a:extLst>
                  <a:ext uri="{0D108BD9-81ED-4DB2-BD59-A6C34878D82A}">
                    <a16:rowId xmlns:a16="http://schemas.microsoft.com/office/drawing/2014/main" val="1339322363"/>
                  </a:ext>
                </a:extLst>
              </a:tr>
              <a:tr h="313752">
                <a:tc>
                  <a:txBody>
                    <a:bodyPr/>
                    <a:lstStyle/>
                    <a:p>
                      <a:pPr algn="l" rtl="0" fontAlgn="ctr"/>
                      <a:r>
                        <a:rPr lang="en-US" sz="1050" b="0" i="0" u="none" strike="noStrike">
                          <a:solidFill>
                            <a:srgbClr val="000000"/>
                          </a:solidFill>
                          <a:effectLst/>
                          <a:latin typeface="Arial" panose="020B0604020202020204" pitchFamily="34" charset="0"/>
                        </a:rPr>
                        <a:t>Trinity Health</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FFFFFF"/>
                    </a:solidFill>
                  </a:tcPr>
                </a:tc>
                <a:tc>
                  <a:txBody>
                    <a:bodyPr/>
                    <a:lstStyle/>
                    <a:p>
                      <a:pPr algn="ctr" rtl="0" fontAlgn="ctr"/>
                      <a:r>
                        <a:rPr lang="en-US" sz="1050" b="0" i="0" u="none" strike="noStrike">
                          <a:solidFill>
                            <a:srgbClr val="30589B"/>
                          </a:solidFill>
                          <a:effectLst/>
                          <a:latin typeface="Arial" panose="020B0604020202020204" pitchFamily="34" charset="0"/>
                        </a:rPr>
                        <a:t>21</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D3DBEA"/>
                    </a:solidFill>
                  </a:tcPr>
                </a:tc>
                <a:tc>
                  <a:txBody>
                    <a:bodyPr/>
                    <a:lstStyle/>
                    <a:p>
                      <a:pPr algn="ctr" rtl="0" fontAlgn="ctr"/>
                      <a:r>
                        <a:rPr lang="en-US" sz="1050" b="0" i="0" u="none" strike="noStrike">
                          <a:solidFill>
                            <a:srgbClr val="30589B"/>
                          </a:solidFill>
                          <a:effectLst/>
                          <a:latin typeface="Arial" panose="020B0604020202020204" pitchFamily="34" charset="0"/>
                        </a:rPr>
                        <a:t>47</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9DB0D0"/>
                    </a:solidFill>
                  </a:tcPr>
                </a:tc>
                <a:tc>
                  <a:txBody>
                    <a:bodyPr/>
                    <a:lstStyle/>
                    <a:p>
                      <a:pPr algn="ctr" rtl="0" fontAlgn="ctr"/>
                      <a:r>
                        <a:rPr lang="en-US" sz="1050" b="0" i="0" u="none" strike="noStrike">
                          <a:solidFill>
                            <a:srgbClr val="FFFFFF"/>
                          </a:solidFill>
                          <a:effectLst/>
                          <a:latin typeface="Arial" panose="020B0604020202020204" pitchFamily="34" charset="0"/>
                        </a:rPr>
                        <a:t>65</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7892BE"/>
                    </a:solidFill>
                  </a:tcPr>
                </a:tc>
                <a:tc>
                  <a:txBody>
                    <a:bodyPr/>
                    <a:lstStyle/>
                    <a:p>
                      <a:pPr algn="ctr" rtl="0" fontAlgn="ctr"/>
                      <a:r>
                        <a:rPr lang="en-US" sz="1050" b="0" i="0" u="none" strike="noStrike">
                          <a:solidFill>
                            <a:srgbClr val="FFFFFF"/>
                          </a:solidFill>
                          <a:effectLst/>
                          <a:latin typeface="Arial" panose="020B0604020202020204" pitchFamily="34" charset="0"/>
                        </a:rPr>
                        <a:t>73</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6785B5"/>
                    </a:solidFill>
                  </a:tcPr>
                </a:tc>
                <a:tc>
                  <a:txBody>
                    <a:bodyPr/>
                    <a:lstStyle/>
                    <a:p>
                      <a:pPr algn="ctr" rtl="0" fontAlgn="ctr"/>
                      <a:r>
                        <a:rPr lang="en-US" sz="1050" b="0" i="0" u="none" strike="noStrike">
                          <a:solidFill>
                            <a:srgbClr val="FFFFFF"/>
                          </a:solidFill>
                          <a:effectLst/>
                          <a:latin typeface="Arial" panose="020B0604020202020204" pitchFamily="34" charset="0"/>
                        </a:rPr>
                        <a:t>51</a:t>
                      </a:r>
                    </a:p>
                  </a:txBody>
                  <a:tcPr marL="5912" marR="5912" marT="5912" marB="0" anchor="ctr">
                    <a:lnL>
                      <a:noFill/>
                    </a:lnL>
                    <a:lnR>
                      <a:noFill/>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95A9CB"/>
                    </a:solidFill>
                  </a:tcPr>
                </a:tc>
                <a:extLst>
                  <a:ext uri="{0D108BD9-81ED-4DB2-BD59-A6C34878D82A}">
                    <a16:rowId xmlns:a16="http://schemas.microsoft.com/office/drawing/2014/main" val="1196614820"/>
                  </a:ext>
                </a:extLst>
              </a:tr>
              <a:tr h="313752">
                <a:tc>
                  <a:txBody>
                    <a:bodyPr/>
                    <a:lstStyle/>
                    <a:p>
                      <a:pPr algn="l" rtl="0" fontAlgn="ctr"/>
                      <a:r>
                        <a:rPr lang="en-US" sz="1050" b="0" i="0" u="none" strike="noStrike">
                          <a:solidFill>
                            <a:srgbClr val="000000"/>
                          </a:solidFill>
                          <a:effectLst/>
                          <a:latin typeface="Arial" panose="020B0604020202020204" pitchFamily="34" charset="0"/>
                        </a:rPr>
                        <a:t>Prime Healthcare Services</a:t>
                      </a:r>
                    </a:p>
                  </a:txBody>
                  <a:tcPr marL="5912" marR="5912" marT="5912" marB="0" anchor="ctr">
                    <a:lnL>
                      <a:noFill/>
                    </a:lnL>
                    <a:lnR>
                      <a:noFill/>
                    </a:lnR>
                    <a:lnT w="63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solidFill>
                      <a:srgbClr val="FFFFFF"/>
                    </a:solidFill>
                  </a:tcPr>
                </a:tc>
                <a:tc>
                  <a:txBody>
                    <a:bodyPr/>
                    <a:lstStyle/>
                    <a:p>
                      <a:pPr algn="ctr" rtl="0" fontAlgn="ctr"/>
                      <a:r>
                        <a:rPr lang="en-US" sz="1050" b="0" i="0" u="none" strike="noStrike">
                          <a:solidFill>
                            <a:srgbClr val="30589B"/>
                          </a:solidFill>
                          <a:effectLst/>
                          <a:latin typeface="Arial" panose="020B0604020202020204" pitchFamily="34" charset="0"/>
                        </a:rPr>
                        <a:t>13</a:t>
                      </a:r>
                    </a:p>
                  </a:txBody>
                  <a:tcPr marL="5912" marR="5912" marT="5912" marB="0" anchor="ctr">
                    <a:lnL>
                      <a:noFill/>
                    </a:lnL>
                    <a:lnR>
                      <a:noFill/>
                    </a:lnR>
                    <a:lnT w="63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solidFill>
                      <a:srgbClr val="E4E9F2"/>
                    </a:solidFill>
                  </a:tcPr>
                </a:tc>
                <a:tc>
                  <a:txBody>
                    <a:bodyPr/>
                    <a:lstStyle/>
                    <a:p>
                      <a:pPr algn="ctr" rtl="0" fontAlgn="ctr"/>
                      <a:r>
                        <a:rPr lang="en-US" sz="1050" b="0" i="0" u="none" strike="noStrike">
                          <a:solidFill>
                            <a:srgbClr val="FFFFFF"/>
                          </a:solidFill>
                          <a:effectLst/>
                          <a:latin typeface="Arial" panose="020B0604020202020204" pitchFamily="34" charset="0"/>
                        </a:rPr>
                        <a:t>61</a:t>
                      </a:r>
                    </a:p>
                  </a:txBody>
                  <a:tcPr marL="5912" marR="5912" marT="5912" marB="0" anchor="ctr">
                    <a:lnL>
                      <a:noFill/>
                    </a:lnL>
                    <a:lnR>
                      <a:noFill/>
                    </a:lnR>
                    <a:lnT w="63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solidFill>
                      <a:srgbClr val="8099C2"/>
                    </a:solidFill>
                  </a:tcPr>
                </a:tc>
                <a:tc>
                  <a:txBody>
                    <a:bodyPr/>
                    <a:lstStyle/>
                    <a:p>
                      <a:pPr algn="ctr" rtl="0" fontAlgn="ctr"/>
                      <a:r>
                        <a:rPr lang="en-US" sz="1050" b="0" i="0" u="none" strike="noStrike">
                          <a:solidFill>
                            <a:srgbClr val="FFFFFF"/>
                          </a:solidFill>
                          <a:effectLst/>
                          <a:latin typeface="Arial" panose="020B0604020202020204" pitchFamily="34" charset="0"/>
                        </a:rPr>
                        <a:t>71</a:t>
                      </a:r>
                    </a:p>
                  </a:txBody>
                  <a:tcPr marL="5912" marR="5912" marT="5912" marB="0" anchor="ctr">
                    <a:lnL>
                      <a:noFill/>
                    </a:lnL>
                    <a:lnR>
                      <a:noFill/>
                    </a:lnR>
                    <a:lnT w="63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solidFill>
                      <a:srgbClr val="6C88B8"/>
                    </a:solidFill>
                  </a:tcPr>
                </a:tc>
                <a:tc>
                  <a:txBody>
                    <a:bodyPr/>
                    <a:lstStyle/>
                    <a:p>
                      <a:pPr algn="ctr" rtl="0" fontAlgn="ctr"/>
                      <a:r>
                        <a:rPr lang="en-US" sz="1050" b="0" i="0" u="none" strike="noStrike">
                          <a:solidFill>
                            <a:srgbClr val="30589B"/>
                          </a:solidFill>
                          <a:effectLst/>
                          <a:latin typeface="Arial" panose="020B0604020202020204" pitchFamily="34" charset="0"/>
                        </a:rPr>
                        <a:t>49</a:t>
                      </a:r>
                    </a:p>
                  </a:txBody>
                  <a:tcPr marL="5912" marR="5912" marT="5912" marB="0" anchor="ctr">
                    <a:lnL>
                      <a:noFill/>
                    </a:lnL>
                    <a:lnR>
                      <a:noFill/>
                    </a:lnR>
                    <a:lnT w="63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solidFill>
                      <a:srgbClr val="99ADCE"/>
                    </a:solidFill>
                  </a:tcPr>
                </a:tc>
                <a:tc>
                  <a:txBody>
                    <a:bodyPr/>
                    <a:lstStyle/>
                    <a:p>
                      <a:pPr algn="ctr" rtl="0" fontAlgn="ctr"/>
                      <a:r>
                        <a:rPr lang="en-US" sz="1050" b="0" i="0" u="none" strike="noStrike" dirty="0">
                          <a:solidFill>
                            <a:srgbClr val="30589B"/>
                          </a:solidFill>
                          <a:effectLst/>
                          <a:latin typeface="Arial" panose="020B0604020202020204" pitchFamily="34" charset="0"/>
                        </a:rPr>
                        <a:t>49</a:t>
                      </a:r>
                    </a:p>
                  </a:txBody>
                  <a:tcPr marL="5912" marR="5912" marT="5912" marB="0" anchor="ctr">
                    <a:lnL>
                      <a:noFill/>
                    </a:lnL>
                    <a:lnR>
                      <a:noFill/>
                    </a:lnR>
                    <a:lnT w="63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solidFill>
                      <a:srgbClr val="99ADCE"/>
                    </a:solidFill>
                  </a:tcPr>
                </a:tc>
                <a:extLst>
                  <a:ext uri="{0D108BD9-81ED-4DB2-BD59-A6C34878D82A}">
                    <a16:rowId xmlns:a16="http://schemas.microsoft.com/office/drawing/2014/main" val="489844723"/>
                  </a:ext>
                </a:extLst>
              </a:tr>
            </a:tbl>
          </a:graphicData>
        </a:graphic>
      </p:graphicFrame>
    </p:spTree>
    <p:extLst>
      <p:ext uri="{BB962C8B-B14F-4D97-AF65-F5344CB8AC3E}">
        <p14:creationId xmlns:p14="http://schemas.microsoft.com/office/powerpoint/2010/main" val="4064752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15</a:t>
            </a:fld>
            <a:endParaRPr lang="en-US" dirty="0"/>
          </a:p>
        </p:txBody>
      </p:sp>
      <p:sp>
        <p:nvSpPr>
          <p:cNvPr id="6" name="Rectangle 4">
            <a:extLst>
              <a:ext uri="{FF2B5EF4-FFF2-40B4-BE49-F238E27FC236}">
                <a16:creationId xmlns:a16="http://schemas.microsoft.com/office/drawing/2014/main" id="{3E6586F0-A9B4-4F4A-B94E-351404883741}"/>
              </a:ext>
            </a:extLst>
          </p:cNvPr>
          <p:cNvSpPr/>
          <p:nvPr/>
        </p:nvSpPr>
        <p:spPr>
          <a:xfrm>
            <a:off x="1981201" y="548292"/>
            <a:ext cx="5686424" cy="5478423"/>
          </a:xfrm>
          <a:prstGeom prst="rect">
            <a:avLst/>
          </a:prstGeom>
        </p:spPr>
        <p:txBody>
          <a:bodyPr wrap="square">
            <a:spAutoFit/>
          </a:bodyPr>
          <a:lstStyle/>
          <a:p>
            <a:pPr>
              <a:spcAft>
                <a:spcPts val="1200"/>
              </a:spcAft>
            </a:pPr>
            <a:r>
              <a:rPr lang="en-US" b="1" cap="all" dirty="0">
                <a:solidFill>
                  <a:srgbClr val="000B2E"/>
                </a:solidFill>
              </a:rPr>
              <a:t>Yale New Haven Health System’s 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The medical providers in your direct control or part of Yale New Haven Health System’s integrated delivery system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Potential risk sharing arrangements (e.g. employer stop-loss participation)</a:t>
            </a:r>
          </a:p>
          <a:p>
            <a:pPr>
              <a:spcAft>
                <a:spcPts val="1200"/>
              </a:spcAft>
            </a:pPr>
            <a:r>
              <a:rPr lang="en-US" b="1" cap="all" dirty="0">
                <a:solidFill>
                  <a:srgbClr val="000B2E"/>
                </a:solidFill>
              </a:rPr>
              <a:t>Friends &amp; Family Providers – TIER 1</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Access through direct contracts at the discretion of Yale New Haven Health System</a:t>
            </a:r>
          </a:p>
          <a:p>
            <a:pPr>
              <a:spcAft>
                <a:spcPts val="1200"/>
              </a:spcAft>
            </a:pPr>
            <a:r>
              <a:rPr lang="en-US" b="1" dirty="0">
                <a:solidFill>
                  <a:srgbClr val="000B2E"/>
                </a:solidFill>
              </a:rPr>
              <a:t>WRAP NETWORK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Medical services from national PPO networks for members that travel, tertiary and specialty services you do not provide, and employees residing outside your direct catchment area </a:t>
            </a:r>
          </a:p>
          <a:p>
            <a:pPr marL="0" lvl="1">
              <a:spcAft>
                <a:spcPts val="1200"/>
              </a:spcAft>
            </a:pPr>
            <a:r>
              <a:rPr lang="en-US" b="1" dirty="0">
                <a:solidFill>
                  <a:srgbClr val="000B2E"/>
                </a:solidFill>
              </a:rPr>
              <a:t>OUT-OF-NETWORK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Non-contracted medical providers</a:t>
            </a:r>
          </a:p>
        </p:txBody>
      </p:sp>
      <p:graphicFrame>
        <p:nvGraphicFramePr>
          <p:cNvPr id="8" name="Diagram 8">
            <a:extLst>
              <a:ext uri="{FF2B5EF4-FFF2-40B4-BE49-F238E27FC236}">
                <a16:creationId xmlns:a16="http://schemas.microsoft.com/office/drawing/2014/main" id="{FAD0E162-C21A-49A7-B8F7-5357E17BEF5D}"/>
              </a:ext>
            </a:extLst>
          </p:cNvPr>
          <p:cNvGraphicFramePr/>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2" name="Picture 2" descr="Yale New Haven Health | The Yale New Haven Health Brand">
            <a:extLst>
              <a:ext uri="{FF2B5EF4-FFF2-40B4-BE49-F238E27FC236}">
                <a16:creationId xmlns:a16="http://schemas.microsoft.com/office/drawing/2014/main" id="{E89A5285-12D5-B807-8A70-89A58E45C5E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613875" y="3969099"/>
            <a:ext cx="1193847" cy="915282"/>
          </a:xfrm>
          <a:prstGeom prst="rect">
            <a:avLst/>
          </a:prstGeom>
          <a:noFill/>
          <a:extLst>
            <a:ext uri="{909E8E84-426E-40DD-AFC4-6F175D3DCCD1}">
              <a14:hiddenFill xmlns:a14="http://schemas.microsoft.com/office/drawing/2010/main">
                <a:solidFill>
                  <a:srgbClr val="FFFFFF"/>
                </a:solidFill>
              </a14:hiddenFill>
            </a:ext>
          </a:extLst>
        </p:spPr>
      </p:pic>
      <p:sp>
        <p:nvSpPr>
          <p:cNvPr id="15" name="Title 1">
            <a:extLst>
              <a:ext uri="{FF2B5EF4-FFF2-40B4-BE49-F238E27FC236}">
                <a16:creationId xmlns:a16="http://schemas.microsoft.com/office/drawing/2014/main" id="{4644F4BF-C476-FCA5-DC8D-6BDA34535D0C}"/>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600" b="0" dirty="0">
                <a:solidFill>
                  <a:schemeClr val="bg1"/>
                </a:solidFill>
              </a:rPr>
              <a:t>NETWORK DESIGN</a:t>
            </a:r>
          </a:p>
        </p:txBody>
      </p:sp>
    </p:spTree>
    <p:extLst>
      <p:ext uri="{BB962C8B-B14F-4D97-AF65-F5344CB8AC3E}">
        <p14:creationId xmlns:p14="http://schemas.microsoft.com/office/powerpoint/2010/main" val="17006213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F664F8C9-9C7F-4948-A85D-2E89D3FE40B6}"/>
              </a:ext>
            </a:extLst>
          </p:cNvPr>
          <p:cNvSpPr>
            <a:spLocks noGrp="1"/>
          </p:cNvSpPr>
          <p:nvPr>
            <p:ph type="ftr" sz="quarter" idx="11"/>
          </p:nvPr>
        </p:nvSpPr>
        <p:spPr/>
        <p:txBody>
          <a:bodyPr/>
          <a:lstStyle/>
          <a:p>
            <a:r>
              <a:rPr lang="en-US" dirty="0"/>
              <a:t>Key Benefit Administrators</a:t>
            </a:r>
          </a:p>
        </p:txBody>
      </p:sp>
      <p:sp>
        <p:nvSpPr>
          <p:cNvPr id="3" name="Slide Number Placeholder 3">
            <a:extLst>
              <a:ext uri="{FF2B5EF4-FFF2-40B4-BE49-F238E27FC236}">
                <a16:creationId xmlns:a16="http://schemas.microsoft.com/office/drawing/2014/main" id="{29335D2A-704B-40DA-B40A-6813A0904A8C}"/>
              </a:ext>
            </a:extLst>
          </p:cNvPr>
          <p:cNvSpPr>
            <a:spLocks noGrp="1"/>
          </p:cNvSpPr>
          <p:nvPr>
            <p:ph type="sldNum" sz="quarter" idx="12"/>
          </p:nvPr>
        </p:nvSpPr>
        <p:spPr/>
        <p:txBody>
          <a:bodyPr/>
          <a:lstStyle/>
          <a:p>
            <a:fld id="{3AFC719D-C4A7-4544-876E-D411D11AF6C9}" type="slidenum">
              <a:rPr lang="en-US" smtClean="0"/>
              <a:t>16</a:t>
            </a:fld>
            <a:endParaRPr lang="en-US" dirty="0"/>
          </a:p>
        </p:txBody>
      </p:sp>
      <p:pic>
        <p:nvPicPr>
          <p:cNvPr id="4" name="Picture 5">
            <a:extLst>
              <a:ext uri="{FF2B5EF4-FFF2-40B4-BE49-F238E27FC236}">
                <a16:creationId xmlns:a16="http://schemas.microsoft.com/office/drawing/2014/main" id="{10F9F71E-E6B1-42DA-8A5C-BA766FB41692}"/>
              </a:ext>
            </a:extLst>
          </p:cNvPr>
          <p:cNvPicPr/>
          <p:nvPr/>
        </p:nvPicPr>
        <p:blipFill>
          <a:blip r:embed="rId2"/>
          <a:stretch>
            <a:fillRect/>
          </a:stretch>
        </p:blipFill>
        <p:spPr>
          <a:xfrm>
            <a:off x="944808" y="1094934"/>
            <a:ext cx="10828091" cy="3515166"/>
          </a:xfrm>
          <a:prstGeom prst="rect">
            <a:avLst/>
          </a:prstGeom>
        </p:spPr>
      </p:pic>
      <p:sp>
        <p:nvSpPr>
          <p:cNvPr id="5" name="Right Brace 6">
            <a:extLst>
              <a:ext uri="{FF2B5EF4-FFF2-40B4-BE49-F238E27FC236}">
                <a16:creationId xmlns:a16="http://schemas.microsoft.com/office/drawing/2014/main" id="{3FB139EF-7F84-45B5-97A9-2678E891CE13}"/>
              </a:ext>
            </a:extLst>
          </p:cNvPr>
          <p:cNvSpPr/>
          <p:nvPr/>
        </p:nvSpPr>
        <p:spPr>
          <a:xfrm rot="5400000">
            <a:off x="3193839" y="2494417"/>
            <a:ext cx="555585" cy="4924885"/>
          </a:xfrm>
          <a:prstGeom prst="rightBrace">
            <a:avLst/>
          </a:prstGeom>
          <a:ln>
            <a:solidFill>
              <a:srgbClr val="254F96"/>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p>
        </p:txBody>
      </p:sp>
      <p:sp>
        <p:nvSpPr>
          <p:cNvPr id="6" name="TextBox 8">
            <a:extLst>
              <a:ext uri="{FF2B5EF4-FFF2-40B4-BE49-F238E27FC236}">
                <a16:creationId xmlns:a16="http://schemas.microsoft.com/office/drawing/2014/main" id="{11F3B9D2-B381-4EA2-993A-13B4DAC230E5}"/>
              </a:ext>
            </a:extLst>
          </p:cNvPr>
          <p:cNvSpPr txBox="1"/>
          <p:nvPr/>
        </p:nvSpPr>
        <p:spPr>
          <a:xfrm>
            <a:off x="2036719" y="5303619"/>
            <a:ext cx="3019883" cy="923330"/>
          </a:xfrm>
          <a:prstGeom prst="rect">
            <a:avLst/>
          </a:prstGeom>
          <a:noFill/>
        </p:spPr>
        <p:txBody>
          <a:bodyPr wrap="square" rtlCol="0">
            <a:spAutoFit/>
          </a:bodyPr>
          <a:lstStyle/>
          <a:p>
            <a:pPr algn="ctr"/>
            <a:r>
              <a:rPr lang="en-US" b="1" dirty="0"/>
              <a:t>Exclusive Provider Organization (EPO) Plan Design Structure</a:t>
            </a:r>
          </a:p>
        </p:txBody>
      </p:sp>
      <p:sp>
        <p:nvSpPr>
          <p:cNvPr id="7" name="Rectangle 16">
            <a:extLst>
              <a:ext uri="{FF2B5EF4-FFF2-40B4-BE49-F238E27FC236}">
                <a16:creationId xmlns:a16="http://schemas.microsoft.com/office/drawing/2014/main" id="{F2E566E5-041D-4247-A79E-A185C1420D0E}"/>
              </a:ext>
            </a:extLst>
          </p:cNvPr>
          <p:cNvSpPr/>
          <p:nvPr/>
        </p:nvSpPr>
        <p:spPr>
          <a:xfrm>
            <a:off x="0" y="12345"/>
            <a:ext cx="12192000" cy="1013622"/>
          </a:xfrm>
          <a:prstGeom prst="rect">
            <a:avLst/>
          </a:prstGeom>
          <a:solidFill>
            <a:srgbClr val="244F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p>
        </p:txBody>
      </p:sp>
      <p:sp>
        <p:nvSpPr>
          <p:cNvPr id="8" name="TextBox 7">
            <a:extLst>
              <a:ext uri="{FF2B5EF4-FFF2-40B4-BE49-F238E27FC236}">
                <a16:creationId xmlns:a16="http://schemas.microsoft.com/office/drawing/2014/main" id="{FF7C74A4-33A6-F02F-D22F-33835E639085}"/>
              </a:ext>
            </a:extLst>
          </p:cNvPr>
          <p:cNvSpPr txBox="1"/>
          <p:nvPr/>
        </p:nvSpPr>
        <p:spPr>
          <a:xfrm>
            <a:off x="157424" y="257546"/>
            <a:ext cx="11877152" cy="461665"/>
          </a:xfrm>
          <a:prstGeom prst="rect">
            <a:avLst/>
          </a:prstGeom>
          <a:noFill/>
        </p:spPr>
        <p:txBody>
          <a:bodyPr wrap="square">
            <a:spAutoFit/>
          </a:bodyPr>
          <a:lstStyle/>
          <a:p>
            <a:pPr algn="ctr"/>
            <a:r>
              <a:rPr lang="en-US" sz="2400" b="1" dirty="0">
                <a:solidFill>
                  <a:schemeClr val="bg1"/>
                </a:solidFill>
              </a:rPr>
              <a:t>BENEFIT PLAN DESIGNS THAT OPTIMIZE STEERAGE TO YALE NEW HAVEN HEALTH SYSTEM</a:t>
            </a:r>
          </a:p>
        </p:txBody>
      </p:sp>
      <p:pic>
        <p:nvPicPr>
          <p:cNvPr id="9" name="Content Placeholder 8"/>
          <p:cNvPicPr>
            <a:picLocks noGrp="1"/>
          </p:cNvPicPr>
          <p:nvPr>
            <p:ph/>
          </p:nvPr>
        </p:nvPicPr>
        <p:blipFill>
          <a:blip r:embed="rId3" cstate="print"/>
          <a:stretch>
            <a:fillRect/>
          </a:stretch>
        </p:blipFill>
        <p:spPr>
          <a:xfrm>
            <a:off x="7765930" y="5578185"/>
            <a:ext cx="4006969" cy="555585"/>
          </a:xfrm>
          <a:prstGeom prst="rect">
            <a:avLst/>
          </a:prstGeom>
        </p:spPr>
      </p:pic>
    </p:spTree>
    <p:extLst>
      <p:ext uri="{BB962C8B-B14F-4D97-AF65-F5344CB8AC3E}">
        <p14:creationId xmlns:p14="http://schemas.microsoft.com/office/powerpoint/2010/main" val="332543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17</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583404" y="3031902"/>
            <a:ext cx="6145216" cy="752041"/>
          </a:xfrm>
        </p:spPr>
        <p:txBody>
          <a:bodyPr>
            <a:noAutofit/>
          </a:bodyPr>
          <a:lstStyle/>
          <a:p>
            <a:pPr>
              <a:lnSpc>
                <a:spcPct val="100000"/>
              </a:lnSpc>
              <a:spcBef>
                <a:spcPts val="600"/>
              </a:spcBef>
            </a:pPr>
            <a:r>
              <a:rPr lang="en-US" sz="36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rPr>
              <a:t>NOTE:  Please see detailed financial analysis and assumptions used starting on page 25.  </a:t>
            </a:r>
          </a:p>
          <a:p>
            <a:pPr marL="285750" indent="-285750">
              <a:buFont typeface="Arial" panose="020B0604020202020204" pitchFamily="34" charset="0"/>
              <a:buChar char="•"/>
            </a:pPr>
            <a:r>
              <a:rPr lang="en-US" sz="1600" dirty="0">
                <a:solidFill/>
              </a:rPr>
              <a:t>Financial projections do not include 340B contribution margin, which could represent $136 PMPM by optimizing 340B through Rx plan design, Yale New Haven Health System’s approved site(s) with network integration, and development of Yale New Haven Health System’s proprietary PBM program.</a:t>
            </a:r>
            <a:r>
              <a:rPr lang="en-US" sz="1600" dirty="0">
                <a:highlight>
                  <a:srgbClr val="FFFF00"/>
                </a:highlight>
              </a:rPr>
              <a:t>   </a:t>
            </a:r>
          </a:p>
        </p:txBody>
      </p:sp>
      <p:graphicFrame>
        <p:nvGraphicFramePr>
          <p:cNvPr id="8" name="Table 7"/>
          <p:cNvGraphicFramePr>
            <a:graphicFrameLocks noGrp="1"/>
          </p:cNvGraphicFramePr>
          <p:nvPr/>
        </p:nvGraphicFramePr>
        <p:xfrm>
          <a:off x="2176272" y="704088"/>
          <a:ext cx="9052560" cy="435864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247K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659K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412K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-233K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$ 1,234K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286K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3,293K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$ 2,059K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764K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478K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154K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$ 2,468K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573K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6,586K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$ 4,117K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$ 1,528K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955K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637K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$ 6,171K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$ 1,432K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$ 16,464K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$10,293K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$ 3,820K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$ 2,388K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$ 2,088K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$24,684K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$ 5,727K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$ 65,856K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$41,172K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$15,279K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$ 9,552K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$ 9,342K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$49,368K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$11,453K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$131,712K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$82,344K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$30,557K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$19,104K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$19,014K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7"/>
            <a:ext cx="12191999" cy="5021418"/>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fld id="{3AFC719D-C4A7-4544-876E-D411D11AF6C9}" type="slidenum">
              <a:rPr lang="en-US" smtClean="0"/>
              <a:t>18</a:t>
            </a:fld>
            <a:endParaRPr lang="en-US" dirty="0"/>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1"/>
            <a:ext cx="7800623" cy="4447822"/>
          </a:xfrm>
          <a:prstGeom prst="rect">
            <a:avLst/>
          </a:prstGeom>
        </p:spPr>
        <p:txBody>
          <a:bodyPr vert="horz" lIns="91440" tIns="45720" rIns="91440" bIns="45720" rtlCol="0" anchor="ctr">
            <a:normAutofit/>
          </a:bodyPr>
          <a:lstStyle/>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Patient engagement is the failure point of population health efforts. Direct employer participation and Yale New Haven Health System’s clinical leadership is key to driving patient engagement.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KBA’s DTE strategy positions Yale New Haven Health System to grow commercial market share by reducing per-employee plan costs even further at a time when employers are desperate for a path to better value.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Yale New Haven Health System can demonstrate greater completion rates for Standards of Care for the Chronically Ill, driving better care &amp; cost outcomes. </a:t>
            </a:r>
          </a:p>
          <a:p>
            <a:pPr marL="371480" indent="-342905" defTabSz="914411">
              <a:lnSpc>
                <a:spcPct val="90000"/>
              </a:lnSpc>
              <a:spcAft>
                <a:spcPts val="1800"/>
              </a:spcAft>
              <a:buClr>
                <a:schemeClr val="bg1"/>
              </a:buClr>
              <a:buFont typeface="Wingdings" panose="05000000000000000000" pitchFamily="2" charset="2"/>
              <a:buChar char="§"/>
            </a:pPr>
            <a:r>
              <a:rPr lang="en-US" sz="2000" dirty="0">
                <a:solidFill>
                  <a:schemeClr val="bg1"/>
                </a:solidFill>
              </a:rPr>
              <a:t>Adding Yale New Haven Health System’s managed care processes to KBA’s patented care management programs will turbocharge results – Positioning Yale New Haven Health System as a transformational population health leader. </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406401"/>
            <a:ext cx="3053314" cy="2504922"/>
          </a:xfrm>
        </p:spPr>
        <p:txBody>
          <a:bodyPr vert="horz" lIns="91440" tIns="45720" rIns="91440" bIns="45720" rtlCol="0" anchor="t">
            <a:normAutofit fontScale="90000"/>
          </a:bodyPr>
          <a:lstStyle/>
          <a:p>
            <a:r>
              <a:rPr lang="en-US" sz="3600" cap="all" dirty="0">
                <a:solidFill>
                  <a:schemeClr val="bg1"/>
                </a:solidFill>
              </a:rPr>
              <a:t>the missing piece to population health success</a:t>
            </a:r>
          </a:p>
        </p:txBody>
      </p:sp>
      <p:sp>
        <p:nvSpPr>
          <p:cNvPr id="7" name="Rectangle 6">
            <a:extLst>
              <a:ext uri="{FF2B5EF4-FFF2-40B4-BE49-F238E27FC236}">
                <a16:creationId xmlns:a16="http://schemas.microsoft.com/office/drawing/2014/main" id="{F35A72B5-FEF9-458B-B242-8157703AFF9D}"/>
              </a:ext>
            </a:extLst>
          </p:cNvPr>
          <p:cNvSpPr/>
          <p:nvPr/>
        </p:nvSpPr>
        <p:spPr>
          <a:xfrm>
            <a:off x="2170444" y="5369550"/>
            <a:ext cx="9490980" cy="369332"/>
          </a:xfrm>
          <a:prstGeom prst="rect">
            <a:avLst/>
          </a:prstGeom>
        </p:spPr>
        <p:txBody>
          <a:bodyPr wrap="square">
            <a:spAutoFit/>
          </a:bodyPr>
          <a:lstStyle/>
          <a:p>
            <a:pPr marL="28576" defTabSz="914411">
              <a:lnSpc>
                <a:spcPct val="90000"/>
              </a:lnSpc>
              <a:spcAft>
                <a:spcPts val="1200"/>
              </a:spcAft>
              <a:buClr>
                <a:schemeClr val="accent5">
                  <a:lumMod val="50000"/>
                </a:schemeClr>
              </a:buClr>
            </a:pPr>
            <a:r>
              <a:rPr lang="en-US" sz="2000" b="1" cap="all" dirty="0">
                <a:solidFill>
                  <a:srgbClr val="000B2E"/>
                </a:solidFill>
              </a:rPr>
              <a:t>Yale New Haven Health System </a:t>
            </a:r>
            <a:r>
              <a:rPr lang="en-US" sz="2000" b="1" cap="small" dirty="0">
                <a:solidFill>
                  <a:srgbClr val="000B2E"/>
                </a:solidFill>
              </a:rPr>
              <a:t>CAN PROMOTE THESE RESULTS FROM DAY ONE!!</a:t>
            </a:r>
          </a:p>
        </p:txBody>
      </p:sp>
      <p:pic>
        <p:nvPicPr>
          <p:cNvPr id="8"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8">
            <a:extLst>
              <a:ext uri="{FF2B5EF4-FFF2-40B4-BE49-F238E27FC236}">
                <a16:creationId xmlns:a16="http://schemas.microsoft.com/office/drawing/2014/main" id="{44DBAA81-6BB1-41F2-821B-655745573DD6}"/>
              </a:ext>
            </a:extLst>
          </p:cNvPr>
          <p:cNvGraphicFramePr>
            <a:graphicFrameLocks noGrp="1"/>
          </p:cNvGraphicFramePr>
          <p:nvPr/>
        </p:nvGraphicFramePr>
        <p:xfrm>
          <a:off x="4726294" y="136525"/>
          <a:ext cx="7205513" cy="6625708"/>
        </p:xfrm>
        <a:graphic>
          <a:graphicData uri="http://schemas.openxmlformats.org/drawingml/2006/table">
            <a:tbl>
              <a:tblPr firstRow="1" firstCol="1" bandRow="1"/>
              <a:tblGrid>
                <a:gridCol w="2597015">
                  <a:extLst>
                    <a:ext uri="{9D8B030D-6E8A-4147-A177-3AD203B41FA5}">
                      <a16:colId xmlns:a16="http://schemas.microsoft.com/office/drawing/2014/main" val="2366274540"/>
                    </a:ext>
                  </a:extLst>
                </a:gridCol>
                <a:gridCol w="1444924">
                  <a:extLst>
                    <a:ext uri="{9D8B030D-6E8A-4147-A177-3AD203B41FA5}">
                      <a16:colId xmlns:a16="http://schemas.microsoft.com/office/drawing/2014/main" val="3062753151"/>
                    </a:ext>
                  </a:extLst>
                </a:gridCol>
                <a:gridCol w="1581787">
                  <a:extLst>
                    <a:ext uri="{9D8B030D-6E8A-4147-A177-3AD203B41FA5}">
                      <a16:colId xmlns:a16="http://schemas.microsoft.com/office/drawing/2014/main" val="3107867473"/>
                    </a:ext>
                  </a:extLst>
                </a:gridCol>
                <a:gridCol w="1581787">
                  <a:extLst>
                    <a:ext uri="{9D8B030D-6E8A-4147-A177-3AD203B41FA5}">
                      <a16:colId xmlns:a16="http://schemas.microsoft.com/office/drawing/2014/main" val="1167931325"/>
                    </a:ext>
                  </a:extLst>
                </a:gridCol>
              </a:tblGrid>
              <a:tr h="144887">
                <a:tc>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CHRONIC CONDITION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A5A5A5"/>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gridSpan="3">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MINIMUM ANNUAL CARE RECOMMENDED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FFFFFF"/>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66498281"/>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ASTHMA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 (for patients 10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3001458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ATRIAL FIBRILLATION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06190503"/>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OBSTRUCTIVE PULMONARY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41583740"/>
                  </a:ext>
                </a:extLst>
              </a:tr>
              <a:tr h="591678">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VENOUS THROMBOTIC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Thrombo-embolic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48317387"/>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COPD WITH PULMONARY HYPERTENSION/COR PULMONALE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12 months of supplemental 02 Tx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5065669"/>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KIDNEY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Hgb or Hcrt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Calcium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Phosphorus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28746677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CONGESTIVE HEART FAILURE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412705431"/>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CORONARY ARTERY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56214346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DEPRESSION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18016476"/>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Glycohemoglobins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 no nephropathy Dx or ACE/ARB Rx,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Urine Albumin/Creatinine ratio, Total Protein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21537549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EPILEPSY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160324191"/>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HUMAN IMMUNODEFICIENCY VIRUS INFECTION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2CBCs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 T-Cell/CD-4 Count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HIV Quantifications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Pap Smear (for women only, 21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645771183"/>
                  </a:ext>
                </a:extLst>
              </a:tr>
              <a:tr h="144887">
                <a:tc>
                  <a:txBody>
                    <a:bodyPr/>
                    <a:lstStyle/>
                    <a:p>
                      <a:pPr marL="0" marR="0">
                        <a:lnSpc>
                          <a:spcPct val="107000"/>
                        </a:lnSpc>
                        <a:spcBef>
                          <a:spcPts val="0"/>
                        </a:spcBef>
                        <a:spcAft>
                          <a:spcPts val="0"/>
                        </a:spcAft>
                      </a:pPr>
                      <a:r>
                        <a:rPr lang="en-US" sz="900" kern="1200" cap="all" baseline="0" dirty="0">
                          <a:solidFill>
                            <a:schemeClr val="tx1"/>
                          </a:solidFill>
                          <a:effectLst/>
                          <a:latin typeface="+mn-lt"/>
                          <a:ea typeface="+mn-ea"/>
                          <a:cs typeface="+mn-cs"/>
                        </a:rPr>
                        <a:t>Hyperlipidemia</a:t>
                      </a:r>
                      <a:endParaRPr lang="en-US" sz="900" cap="all"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672632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HYPERTENSION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792869988"/>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T4</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751188136"/>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HYPOTHYROIDISM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1285030"/>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METABOLIC SYNDROME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6926027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MULTIPLE 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01061009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PARKINSON'S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2827539696"/>
                  </a:ext>
                </a:extLst>
              </a:tr>
              <a:tr h="599619">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PERIPHERAL ARTERIAL DISEASE (ATHEROSCLEROSIS]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Peripheral Vascular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07869528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75589749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POLYMYALGIA RHEUMATICA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ESR or CRP</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CBC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413089292"/>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PULMONARY HYPERTENSION (UNRELATED TO COPD)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319373926"/>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REGIONAL ENTERITIS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32154129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RHEUMATOID ARTHRITIS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6307893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SLEEP APNEA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608131130"/>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ULCERATIVE COLITIS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48385909"/>
                  </a:ext>
                </a:extLst>
              </a:tr>
            </a:tbl>
          </a:graphicData>
        </a:graphic>
      </p:graphicFrame>
      <p:sp>
        <p:nvSpPr>
          <p:cNvPr id="3" name="Title 1">
            <a:extLst>
              <a:ext uri="{FF2B5EF4-FFF2-40B4-BE49-F238E27FC236}">
                <a16:creationId xmlns:a16="http://schemas.microsoft.com/office/drawing/2014/main" id="{F97470F7-7696-413D-9209-D155562954BB}"/>
              </a:ext>
            </a:extLst>
          </p:cNvPr>
          <p:cNvSpPr txBox="1">
            <a:spLocks/>
          </p:cNvSpPr>
          <p:nvPr/>
        </p:nvSpPr>
        <p:spPr>
          <a:xfrm>
            <a:off x="657037" y="1646141"/>
            <a:ext cx="3494834" cy="952500"/>
          </a:xfrm>
          <a:prstGeom prst="rect">
            <a:avLst/>
          </a:prstGeom>
        </p:spPr>
        <p:txBody>
          <a:bodyPr vert="horz" lIns="91440" tIns="45720" rIns="91440" bIns="45720" rtlCol="0" anchor="ctr">
            <a:normAutofit fontScale="92500" lnSpcReduction="10000"/>
          </a:bodyPr>
          <a:lstStyle>
            <a:lvl1pPr algn="ctr" defTabSz="457200" rtl="0" eaLnBrk="1" latinLnBrk="0" hangingPunct="1">
              <a:spcBef>
                <a:spcPct val="0"/>
              </a:spcBef>
              <a:buNone/>
              <a:defRPr sz="3200" b="1" kern="1200">
                <a:solidFill>
                  <a:srgbClr val="F3734E"/>
                </a:solidFill>
                <a:latin typeface="Helvetica"/>
                <a:ea typeface="+mj-ea"/>
                <a:cs typeface="Helvetica"/>
              </a:defRPr>
            </a:lvl1pPr>
          </a:lstStyle>
          <a:p>
            <a:pPr algn="l"/>
            <a:r>
              <a:rPr lang="en-US" dirty="0">
                <a:solidFill>
                  <a:schemeClr val="bg1"/>
                </a:solidFill>
                <a:latin typeface="+mj-lt"/>
              </a:rPr>
              <a:t>CHRONIC DISEASE MANAGEMENT   </a:t>
            </a:r>
          </a:p>
        </p:txBody>
      </p:sp>
      <p:sp>
        <p:nvSpPr>
          <p:cNvPr id="4" name="TextBox 9">
            <a:extLst>
              <a:ext uri="{FF2B5EF4-FFF2-40B4-BE49-F238E27FC236}">
                <a16:creationId xmlns:a16="http://schemas.microsoft.com/office/drawing/2014/main" id="{B8534B2B-9B09-497C-8FF0-E0C8506830D0}"/>
              </a:ext>
            </a:extLst>
          </p:cNvPr>
          <p:cNvSpPr txBox="1"/>
          <p:nvPr/>
        </p:nvSpPr>
        <p:spPr>
          <a:xfrm>
            <a:off x="689518" y="2889855"/>
            <a:ext cx="2794135" cy="2554545"/>
          </a:xfrm>
          <a:prstGeom prst="rect">
            <a:avLst/>
          </a:prstGeom>
          <a:noFill/>
        </p:spPr>
        <p:txBody>
          <a:bodyPr wrap="square" rtlCol="0">
            <a:spAutoFit/>
          </a:bodyPr>
          <a:lstStyle/>
          <a:p>
            <a:pPr>
              <a:spcBef>
                <a:spcPct val="0"/>
              </a:spcBef>
              <a:buClrTx/>
              <a:buSzTx/>
              <a:buFontTx/>
              <a:buNone/>
            </a:pPr>
            <a:r>
              <a:rPr lang="en-US" altLang="en-US" sz="2000" dirty="0">
                <a:solidFill>
                  <a:schemeClr val="bg1"/>
                </a:solidFill>
                <a:latin typeface="+mj-lt"/>
              </a:rPr>
              <a:t>The chronic diseases identified include a list of services (i.e. exams, lab work and diagnostics) rendered by a network provider payable at 100% and not subject to the deductible or copay. </a:t>
            </a:r>
            <a:endParaRPr lang="en-US" sz="2000" dirty="0">
              <a:solidFill>
                <a:schemeClr val="bg1"/>
              </a:solidFill>
              <a:latin typeface="+mj-lt"/>
            </a:endParaRPr>
          </a:p>
        </p:txBody>
      </p:sp>
      <p:sp>
        <p:nvSpPr>
          <p:cNvPr id="5" name="Slide Number Placeholder 15">
            <a:extLst>
              <a:ext uri="{FF2B5EF4-FFF2-40B4-BE49-F238E27FC236}">
                <a16:creationId xmlns:a16="http://schemas.microsoft.com/office/drawing/2014/main" id="{1C3A6D29-B425-4835-A19F-07D86D1044DB}"/>
              </a:ext>
            </a:extLst>
          </p:cNvPr>
          <p:cNvSpPr>
            <a:spLocks noGrp="1"/>
          </p:cNvSpPr>
          <p:nvPr>
            <p:ph type="sldNum" sz="quarter" idx="12"/>
          </p:nvPr>
        </p:nvSpPr>
        <p:spPr>
          <a:xfrm>
            <a:off x="9089572" y="6424927"/>
            <a:ext cx="2743200" cy="365125"/>
          </a:xfrm>
        </p:spPr>
        <p:txBody>
          <a:bodyPr/>
          <a:lstStyle/>
          <a:p>
            <a:fld id="{3AFC719D-C4A7-4544-876E-D411D11AF6C9}" type="slidenum">
              <a:rPr lang="en-US" smtClean="0"/>
              <a:t>19</a:t>
            </a:fld>
            <a:endParaRPr lang="en-US" dirty="0"/>
          </a:p>
        </p:txBody>
      </p:sp>
      <p:sp>
        <p:nvSpPr>
          <p:cNvPr id="6" name="Rectangle 11">
            <a:extLst>
              <a:ext uri="{FF2B5EF4-FFF2-40B4-BE49-F238E27FC236}">
                <a16:creationId xmlns:a16="http://schemas.microsoft.com/office/drawing/2014/main" id="{5B293367-A455-490C-8A35-4511AA3B90CE}"/>
              </a:ext>
            </a:extLst>
          </p:cNvPr>
          <p:cNvSpPr/>
          <p:nvPr/>
        </p:nvSpPr>
        <p:spPr>
          <a:xfrm>
            <a:off x="-1" y="984"/>
            <a:ext cx="4275989" cy="6871084"/>
          </a:xfrm>
          <a:prstGeom prst="rect">
            <a:avLst/>
          </a:prstGeom>
          <a:solidFill>
            <a:srgbClr val="244F9A">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Ins="457200" rtlCol="0" anchor="ctr"/>
          <a:lstStyle/>
          <a:p>
            <a:pPr>
              <a:spcBef>
                <a:spcPct val="0"/>
              </a:spcBef>
              <a:buClrTx/>
              <a:buSzTx/>
              <a:buFontTx/>
              <a:buNone/>
            </a:pPr>
            <a:endParaRPr lang="en-US" sz="1600" b="1" spc="120" dirty="0">
              <a:solidFill>
                <a:schemeClr val="bg1"/>
              </a:solidFill>
            </a:endParaRPr>
          </a:p>
        </p:txBody>
      </p:sp>
      <p:sp>
        <p:nvSpPr>
          <p:cNvPr id="7" name="TextBox 1">
            <a:extLst>
              <a:ext uri="{FF2B5EF4-FFF2-40B4-BE49-F238E27FC236}">
                <a16:creationId xmlns:a16="http://schemas.microsoft.com/office/drawing/2014/main" id="{0255DED4-CAB2-4C40-8464-BA04A291D04E}"/>
              </a:ext>
            </a:extLst>
          </p:cNvPr>
          <p:cNvSpPr txBox="1"/>
          <p:nvPr/>
        </p:nvSpPr>
        <p:spPr>
          <a:xfrm>
            <a:off x="0" y="523930"/>
            <a:ext cx="4275989" cy="830997"/>
          </a:xfrm>
          <a:prstGeom prst="rect">
            <a:avLst/>
          </a:prstGeom>
          <a:noFill/>
        </p:spPr>
        <p:txBody>
          <a:bodyPr wrap="square" rtlCol="0">
            <a:spAutoFit/>
          </a:bodyPr>
          <a:lstStyle/>
          <a:p>
            <a:pPr marL="338142"/>
            <a:r>
              <a:rPr lang="en-US" sz="2400" b="1" dirty="0">
                <a:solidFill>
                  <a:srgbClr val="FFFFFF"/>
                </a:solidFill>
                <a:latin typeface="Arial" panose="020B0604020202020204" pitchFamily="34" charset="0"/>
                <a:cs typeface="Arial" panose="020B0604020202020204" pitchFamily="34" charset="0"/>
              </a:rPr>
              <a:t>INTEGRATION WITH EPIC EHR SYSTEM</a:t>
            </a:r>
            <a:endParaRPr lang="en-US" sz="2400" spc="150" dirty="0">
              <a:solidFill>
                <a:schemeClr val="bg1"/>
              </a:solidFill>
              <a:latin typeface="Arial" panose="020B0604020202020204" pitchFamily="34" charset="0"/>
              <a:cs typeface="Arial" panose="020B0604020202020204" pitchFamily="34" charset="0"/>
            </a:endParaRPr>
          </a:p>
        </p:txBody>
      </p:sp>
      <p:cxnSp>
        <p:nvCxnSpPr>
          <p:cNvPr id="8" name="Straight Connector 17">
            <a:extLst>
              <a:ext uri="{FF2B5EF4-FFF2-40B4-BE49-F238E27FC236}">
                <a16:creationId xmlns:a16="http://schemas.microsoft.com/office/drawing/2014/main" id="{654FDC49-A8BF-414E-8760-AA338D9AABBF}"/>
              </a:ext>
            </a:extLst>
          </p:cNvPr>
          <p:cNvCxnSpPr>
            <a:cxnSpLocks/>
          </p:cNvCxnSpPr>
          <p:nvPr/>
        </p:nvCxnSpPr>
        <p:spPr>
          <a:xfrm>
            <a:off x="437631" y="1627549"/>
            <a:ext cx="3207598" cy="0"/>
          </a:xfrm>
          <a:prstGeom prst="line">
            <a:avLst/>
          </a:prstGeom>
          <a:ln>
            <a:solidFill>
              <a:schemeClr val="bg1"/>
            </a:solidFill>
          </a:ln>
        </p:spPr>
        <p:style>
          <a:lnRef idx="1">
            <a:schemeClr val="accent5"/>
          </a:lnRef>
          <a:fillRef idx="0">
            <a:schemeClr val="accent5"/>
          </a:fillRef>
          <a:effectRef idx="0">
            <a:schemeClr val="accent5"/>
          </a:effectRef>
          <a:fontRef idx="minor">
            <a:schemeClr val="tx1"/>
          </a:fontRef>
        </p:style>
      </p:cxnSp>
      <p:sp>
        <p:nvSpPr>
          <p:cNvPr id="9" name="Freeform: Shape 12">
            <a:extLst>
              <a:ext uri="{FF2B5EF4-FFF2-40B4-BE49-F238E27FC236}">
                <a16:creationId xmlns:a16="http://schemas.microsoft.com/office/drawing/2014/main" id="{85E02AAF-B329-4E86-B476-C851852352F8}"/>
              </a:ext>
            </a:extLst>
          </p:cNvPr>
          <p:cNvSpPr/>
          <p:nvPr/>
        </p:nvSpPr>
        <p:spPr>
          <a:xfrm rot="16200000">
            <a:off x="2097937" y="4698539"/>
            <a:ext cx="1873602" cy="2482501"/>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10" name="Footer Placeholder 2">
            <a:extLst>
              <a:ext uri="{FF2B5EF4-FFF2-40B4-BE49-F238E27FC236}">
                <a16:creationId xmlns:a16="http://schemas.microsoft.com/office/drawing/2014/main" id="{897791F9-80A6-4A45-A936-C4A4E5494AFD}"/>
              </a:ext>
            </a:extLst>
          </p:cNvPr>
          <p:cNvSpPr>
            <a:spLocks noGrp="1"/>
          </p:cNvSpPr>
          <p:nvPr>
            <p:ph type="ftr" sz="quarter" idx="11"/>
          </p:nvPr>
        </p:nvSpPr>
        <p:spPr>
          <a:xfrm>
            <a:off x="90451" y="6424927"/>
            <a:ext cx="3871949" cy="323354"/>
          </a:xfrm>
        </p:spPr>
        <p:txBody>
          <a:bodyPr/>
          <a:lstStyle/>
          <a:p>
            <a:r>
              <a:rPr lang="en-US" dirty="0"/>
              <a:t>Key Benefit Administrators</a:t>
            </a:r>
          </a:p>
        </p:txBody>
      </p:sp>
      <p:pic>
        <p:nvPicPr>
          <p:cNvPr id="11"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168" y="2044461"/>
            <a:ext cx="3494834" cy="1958481"/>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4">
            <a:extLst>
              <a:ext uri="{FF2B5EF4-FFF2-40B4-BE49-F238E27FC236}">
                <a16:creationId xmlns:a16="http://schemas.microsoft.com/office/drawing/2014/main" id="{E37C4D6D-E015-C93E-59BD-2C619644D714}"/>
              </a:ext>
            </a:extLst>
          </p:cNvPr>
          <p:cNvSpPr txBox="1"/>
          <p:nvPr/>
        </p:nvSpPr>
        <p:spPr>
          <a:xfrm>
            <a:off x="260193" y="4477165"/>
            <a:ext cx="3494834" cy="1200329"/>
          </a:xfrm>
          <a:prstGeom prst="rect">
            <a:avLst/>
          </a:prstGeom>
          <a:noFill/>
        </p:spPr>
        <p:txBody>
          <a:bodyPr wrap="square">
            <a:spAutoFit/>
          </a:bodyPr>
          <a:lstStyle/>
          <a:p>
            <a:pPr marL="0" algn="l" rtl="0" eaLnBrk="1" latinLnBrk="0" hangingPunct="1">
              <a:spcBef>
                <a:spcPts val="0"/>
              </a:spcBef>
              <a:spcAft>
                <a:spcPts val="0"/>
              </a:spcAft>
            </a:pPr>
            <a:r>
              <a:rPr lang="en-US" sz="1800" kern="1200" spc="120" dirty="0">
                <a:solidFill>
                  <a:srgbClr val="FFFFFF"/>
                </a:solidFill>
                <a:effectLst/>
                <a:latin typeface="Calibri" panose="020F0502020204030204" pitchFamily="34" charset="0"/>
                <a:ea typeface="+mn-ea"/>
                <a:cs typeface="+mn-cs"/>
              </a:rPr>
              <a:t>KBA shares evidence-based standards of care for 27 chronic conditions</a:t>
            </a:r>
            <a:r>
              <a:rPr lang="en-US" spc="120" dirty="0">
                <a:solidFill>
                  <a:srgbClr val="FFFFFF"/>
                </a:solidFill>
                <a:latin typeface="Calibri" panose="020F0502020204030204" pitchFamily="34" charset="0"/>
              </a:rPr>
              <a:t> directly into Epic. </a:t>
            </a:r>
            <a:endParaRPr lang="en-US" dirty="0">
              <a:effectLst/>
            </a:endParaRPr>
          </a:p>
        </p:txBody>
      </p:sp>
    </p:spTree>
    <p:custDataLst>
      <p:tags r:id="rId1"/>
    </p:custDataLst>
    <p:extLst>
      <p:ext uri="{BB962C8B-B14F-4D97-AF65-F5344CB8AC3E}">
        <p14:creationId xmlns:p14="http://schemas.microsoft.com/office/powerpoint/2010/main" val="29844336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6B12664C-5A76-42DD-9387-37E05409FCD6}"/>
              </a:ext>
            </a:extLst>
          </p:cNvPr>
          <p:cNvPicPr>
            <a:picLocks noChangeAspect="1" noChangeArrowheads="1"/>
          </p:cNvPicPr>
          <p:nvPr/>
        </p:nvPicPr>
        <p:blipFill>
          <a:blip r:embed="rId2">
            <a:alphaModFix amt="2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 y="14068"/>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244F9A">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444305" y="351058"/>
            <a:ext cx="10515600" cy="740459"/>
          </a:xfrm>
        </p:spPr>
        <p:txBody>
          <a:bodyPr>
            <a:normAutofit/>
          </a:bodyPr>
          <a:lstStyle/>
          <a:p>
            <a:r>
              <a:rPr lang="en-US" dirty="0">
                <a:solidFill>
                  <a:schemeClr val="bg1"/>
                </a:solidFill>
              </a:rPr>
              <a:t>Transparent PBM Integration </a:t>
            </a:r>
          </a:p>
        </p:txBody>
      </p:sp>
      <p:sp>
        <p:nvSpPr>
          <p:cNvPr id="5" name="Footer Placeholder 2">
            <a:extLst>
              <a:ext uri="{FF2B5EF4-FFF2-40B4-BE49-F238E27FC236}">
                <a16:creationId xmlns:a16="http://schemas.microsoft.com/office/drawing/2014/main" id="{37D3F8B8-2E49-4602-96D2-63DBC785BD21}"/>
              </a:ext>
            </a:extLst>
          </p:cNvPr>
          <p:cNvSpPr>
            <a:spLocks noGrp="1"/>
          </p:cNvSpPr>
          <p:nvPr>
            <p:ph type="ftr" sz="quarter" idx="11"/>
          </p:nvPr>
        </p:nvSpPr>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p:txBody>
          <a:bodyPr/>
          <a:lstStyle/>
          <a:p>
            <a:fld id="{3AFC719D-C4A7-4544-876E-D411D11AF6C9}" type="slidenum">
              <a:rPr lang="en-US" smtClean="0"/>
              <a:t>20</a:t>
            </a:fld>
            <a:endParaRPr lang="en-US" dirty="0"/>
          </a:p>
        </p:txBody>
      </p:sp>
      <p:sp>
        <p:nvSpPr>
          <p:cNvPr id="7" name="Rectangle 6">
            <a:extLst>
              <a:ext uri="{FF2B5EF4-FFF2-40B4-BE49-F238E27FC236}">
                <a16:creationId xmlns:a16="http://schemas.microsoft.com/office/drawing/2014/main" id="{8AFDC632-7C4B-44BF-B435-0CED1B7481B2}"/>
              </a:ext>
            </a:extLst>
          </p:cNvPr>
          <p:cNvSpPr/>
          <p:nvPr/>
        </p:nvSpPr>
        <p:spPr>
          <a:xfrm>
            <a:off x="562791" y="1138424"/>
            <a:ext cx="4970417" cy="1785104"/>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cs typeface="Century Gothic"/>
              </a:rPr>
              <a:t>Support of Yale New Haven Health System’s retail pharmacy(s)</a:t>
            </a:r>
          </a:p>
          <a:p>
            <a:pPr marL="285753" indent="-285753">
              <a:spcBef>
                <a:spcPts val="600"/>
              </a:spcBef>
              <a:buFont typeface="Wingdings" panose="05000000000000000000" pitchFamily="2" charset="2"/>
              <a:buChar char="§"/>
            </a:pPr>
            <a:r>
              <a:rPr lang="en-US" sz="2000" dirty="0">
                <a:solidFill>
                  <a:schemeClr val="bg1"/>
                </a:solidFill>
                <a:cs typeface="Century Gothic"/>
              </a:rPr>
              <a:t>Optimize Yale New Haven Health System’s 340B drug pricing program</a:t>
            </a:r>
          </a:p>
          <a:p>
            <a:pPr marL="285753" indent="-285753">
              <a:spcBef>
                <a:spcPts val="600"/>
              </a:spcBef>
              <a:buFont typeface="Wingdings" panose="05000000000000000000" pitchFamily="2" charset="2"/>
              <a:buChar char="§"/>
            </a:pPr>
            <a:r>
              <a:rPr lang="en-US" sz="2000" dirty="0">
                <a:solidFill>
                  <a:schemeClr val="bg1"/>
                </a:solidFill>
              </a:rPr>
              <a:t>Allows Yale New Haven Health System to create its own PBM program if desired</a:t>
            </a:r>
          </a:p>
        </p:txBody>
      </p:sp>
      <p:sp>
        <p:nvSpPr>
          <p:cNvPr id="8" name="Rectangle 7">
            <a:extLst>
              <a:ext uri="{FF2B5EF4-FFF2-40B4-BE49-F238E27FC236}">
                <a16:creationId xmlns:a16="http://schemas.microsoft.com/office/drawing/2014/main" id="{BA8BB229-42C0-4FB6-AD0C-615BF4260145}"/>
              </a:ext>
            </a:extLst>
          </p:cNvPr>
          <p:cNvSpPr/>
          <p:nvPr/>
        </p:nvSpPr>
        <p:spPr>
          <a:xfrm>
            <a:off x="6095999" y="1173180"/>
            <a:ext cx="5715585" cy="2092881"/>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rPr>
              <a:t>Custom telephone number with personalized scripting and separate call tracking &amp; reporting</a:t>
            </a:r>
          </a:p>
          <a:p>
            <a:pPr marL="285753" indent="-285753">
              <a:spcBef>
                <a:spcPts val="600"/>
              </a:spcBef>
              <a:buFont typeface="Wingdings" panose="05000000000000000000" pitchFamily="2" charset="2"/>
              <a:buChar char="§"/>
            </a:pPr>
            <a:r>
              <a:rPr lang="en-US" sz="2000" dirty="0">
                <a:solidFill>
                  <a:schemeClr val="bg1"/>
                </a:solidFill>
              </a:rPr>
              <a:t>Fully customizable member welcome booklet &amp; materials</a:t>
            </a:r>
          </a:p>
          <a:p>
            <a:pPr marL="285753" indent="-285753">
              <a:spcBef>
                <a:spcPts val="600"/>
              </a:spcBef>
              <a:buFont typeface="Wingdings" panose="05000000000000000000" pitchFamily="2" charset="2"/>
              <a:buChar char="§"/>
            </a:pPr>
            <a:r>
              <a:rPr lang="en-US" sz="2000" dirty="0">
                <a:solidFill>
                  <a:schemeClr val="bg1"/>
                </a:solidFill>
              </a:rPr>
              <a:t>White labeled formulary document and marketing materials</a:t>
            </a:r>
          </a:p>
        </p:txBody>
      </p:sp>
      <p:sp>
        <p:nvSpPr>
          <p:cNvPr id="9" name="Rectangle 8">
            <a:extLst>
              <a:ext uri="{FF2B5EF4-FFF2-40B4-BE49-F238E27FC236}">
                <a16:creationId xmlns:a16="http://schemas.microsoft.com/office/drawing/2014/main" id="{CA0477AD-A883-49D0-84C0-1846E555302E}"/>
              </a:ext>
            </a:extLst>
          </p:cNvPr>
          <p:cNvSpPr/>
          <p:nvPr/>
        </p:nvSpPr>
        <p:spPr>
          <a:xfrm>
            <a:off x="472441" y="3804933"/>
            <a:ext cx="5168707" cy="2139047"/>
          </a:xfrm>
          <a:prstGeom prst="rect">
            <a:avLst/>
          </a:prstGeom>
        </p:spPr>
        <p:txBody>
          <a:bodyPr wrap="square">
            <a:spAutoFit/>
          </a:bodyPr>
          <a:lstStyle/>
          <a:p>
            <a:pPr>
              <a:spcBef>
                <a:spcPts val="600"/>
              </a:spcBef>
              <a:spcAft>
                <a:spcPts val="600"/>
              </a:spcAft>
            </a:pPr>
            <a:r>
              <a:rPr lang="en-US" b="1" spc="150" dirty="0">
                <a:solidFill>
                  <a:srgbClr val="59CAE8"/>
                </a:solidFill>
              </a:rPr>
              <a:t>CUSTOM CLIENT SUPPORT</a:t>
            </a:r>
            <a:r>
              <a:rPr lang="en-US" b="1" spc="150" dirty="0">
                <a:solidFill>
                  <a:srgbClr val="0063A3"/>
                </a:solidFill>
              </a:rPr>
              <a:t>:</a:t>
            </a:r>
          </a:p>
          <a:p>
            <a:pPr marL="285753" indent="-285753">
              <a:spcBef>
                <a:spcPts val="600"/>
              </a:spcBef>
              <a:buFont typeface="Wingdings" panose="05000000000000000000" pitchFamily="2" charset="2"/>
              <a:buChar char="§"/>
            </a:pPr>
            <a:r>
              <a:rPr lang="en-US" dirty="0"/>
              <a:t>Specialized call center capabilities</a:t>
            </a:r>
          </a:p>
          <a:p>
            <a:pPr marL="285753" indent="-285753">
              <a:spcBef>
                <a:spcPts val="600"/>
              </a:spcBef>
              <a:buFont typeface="Wingdings" panose="05000000000000000000" pitchFamily="2" charset="2"/>
              <a:buChar char="§"/>
            </a:pPr>
            <a:r>
              <a:rPr lang="en-US" dirty="0"/>
              <a:t>Fully customizable plan designs</a:t>
            </a:r>
          </a:p>
          <a:p>
            <a:pPr marL="285753" indent="-285753">
              <a:spcBef>
                <a:spcPts val="600"/>
              </a:spcBef>
              <a:buFont typeface="Wingdings" panose="05000000000000000000" pitchFamily="2" charset="2"/>
              <a:buChar char="§"/>
            </a:pPr>
            <a:r>
              <a:rPr lang="en-US" dirty="0"/>
              <a:t>Operational access to the platform</a:t>
            </a:r>
          </a:p>
          <a:p>
            <a:pPr marL="285753" indent="-285753">
              <a:spcBef>
                <a:spcPts val="600"/>
              </a:spcBef>
              <a:buFont typeface="Wingdings" panose="05000000000000000000" pitchFamily="2" charset="2"/>
              <a:buChar char="§"/>
            </a:pPr>
            <a:r>
              <a:rPr lang="en-US" dirty="0"/>
              <a:t>Customized process and functions to promote DTE strategy</a:t>
            </a:r>
          </a:p>
        </p:txBody>
      </p:sp>
      <p:sp>
        <p:nvSpPr>
          <p:cNvPr id="10"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a:spcBef>
                <a:spcPts val="600"/>
              </a:spcBef>
              <a:spcAft>
                <a:spcPts val="600"/>
              </a:spcAft>
            </a:pPr>
            <a:r>
              <a:rPr lang="en-US" b="1" spc="150" dirty="0">
                <a:solidFill>
                  <a:srgbClr val="59CAE8"/>
                </a:solidFill>
              </a:rPr>
              <a:t>CLINICAL FLEXIBILITY: </a:t>
            </a:r>
          </a:p>
          <a:p>
            <a:pPr>
              <a:spcBef>
                <a:spcPts val="600"/>
              </a:spcBef>
            </a:pPr>
            <a:r>
              <a:rPr lang="en-US" dirty="0"/>
              <a:t>Full portfolio of custom formulary offerings – with optimized formulary shield</a:t>
            </a:r>
          </a:p>
          <a:p>
            <a:pPr>
              <a:spcBef>
                <a:spcPts val="600"/>
              </a:spcBef>
            </a:pPr>
            <a:r>
              <a:rPr lang="en-US" dirty="0"/>
              <a:t>Clinical programs that drive towards overall DTE strategy</a:t>
            </a:r>
          </a:p>
          <a:p>
            <a:pPr>
              <a:spcBef>
                <a:spcPts val="600"/>
              </a:spcBef>
            </a:pPr>
            <a:r>
              <a:rPr lang="en-US" dirty="0"/>
              <a:t>Options for additional drug savings by driving members to lower cost alternatives</a:t>
            </a:r>
          </a:p>
          <a:p>
            <a:pPr>
              <a:spcBef>
                <a:spcPts val="600"/>
              </a:spcBef>
            </a:pPr>
            <a:r>
              <a:rPr lang="en-US" dirty="0"/>
              <a:t>Flexibility to customize or layer on utilization management programs</a:t>
            </a:r>
          </a:p>
        </p:txBody>
      </p:sp>
    </p:spTree>
    <p:extLst>
      <p:ext uri="{BB962C8B-B14F-4D97-AF65-F5344CB8AC3E}">
        <p14:creationId xmlns:p14="http://schemas.microsoft.com/office/powerpoint/2010/main" val="9027066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244F9A">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00000"/>
              </a:lnSpc>
            </a:pPr>
            <a:r>
              <a:rPr lang="en-US" dirty="0"/>
              <a:t>Tokio Marine</a:t>
            </a:r>
          </a:p>
          <a:p>
            <a:pPr algn="ctr">
              <a:lnSpc>
                <a:spcPct val="200000"/>
              </a:lnSpc>
            </a:pPr>
            <a:r>
              <a:rPr lang="en-US" dirty="0"/>
              <a:t>Nationwide</a:t>
            </a:r>
          </a:p>
          <a:p>
            <a:pPr algn="ctr">
              <a:lnSpc>
                <a:spcPct val="200000"/>
              </a:lnSpc>
            </a:pPr>
            <a:r>
              <a:rPr lang="en-US" dirty="0"/>
              <a:t>Berkshire Hathaway</a:t>
            </a:r>
          </a:p>
          <a:p>
            <a:pPr algn="ctr">
              <a:lnSpc>
                <a:spcPct val="200000"/>
              </a:lnSpc>
            </a:pPr>
            <a:r>
              <a:rPr lang="en-US" dirty="0"/>
              <a:t>Sun Life</a:t>
            </a:r>
          </a:p>
          <a:p>
            <a:pPr algn="ctr">
              <a:lnSpc>
                <a:spcPct val="200000"/>
              </a:lnSpc>
            </a:pPr>
            <a:r>
              <a:rPr lang="en-US" dirty="0"/>
              <a:t>Liberty Mutual</a:t>
            </a:r>
          </a:p>
          <a:p>
            <a:pPr algn="ctr">
              <a:lnSpc>
                <a:spcPct val="200000"/>
              </a:lnSpc>
            </a:pPr>
            <a:r>
              <a:rPr lang="en-US" dirty="0"/>
              <a:t>Granular (Google)</a:t>
            </a:r>
          </a:p>
          <a:p>
            <a:pPr algn="ctr">
              <a:lnSpc>
                <a:spcPct val="200000"/>
              </a:lnSpc>
            </a:pPr>
            <a:r>
              <a:rPr lang="en-US" dirty="0"/>
              <a:t>Companion Life</a:t>
            </a:r>
          </a:p>
          <a:p>
            <a:pPr algn="ctr">
              <a:lnSpc>
                <a:spcPct val="200000"/>
              </a:lnSpc>
            </a:pPr>
            <a:r>
              <a:rPr lang="en-US" dirty="0"/>
              <a:t>Crum &amp; Forster</a:t>
            </a:r>
          </a:p>
          <a:p>
            <a:pPr algn="ctr">
              <a:lnSpc>
                <a:spcPct val="200000"/>
              </a:lnSpc>
            </a:pPr>
            <a:r>
              <a:rPr lang="en-US" dirty="0"/>
              <a:t>American Fidelity</a:t>
            </a:r>
          </a:p>
          <a:p>
            <a:pPr algn="ctr">
              <a:lnSpc>
                <a:spcPct val="200000"/>
              </a:lnSpc>
            </a:pPr>
            <a:r>
              <a:rPr lang="en-US" dirty="0"/>
              <a:t>RGA</a:t>
            </a:r>
          </a:p>
          <a:p>
            <a:pPr algn="ctr"/>
            <a:endParaRPr lang="en-US" dirty="0"/>
          </a:p>
        </p:txBody>
      </p:sp>
      <p:sp>
        <p:nvSpPr>
          <p:cNvPr id="3"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59CAE8"/>
                </a:solidFill>
              </a:rPr>
              <a:t>STOP-LOSS INSURANCE</a:t>
            </a:r>
          </a:p>
        </p:txBody>
      </p:sp>
      <p:sp>
        <p:nvSpPr>
          <p:cNvPr id="4" name="Footer Placeholder 2">
            <a:extLst>
              <a:ext uri="{FF2B5EF4-FFF2-40B4-BE49-F238E27FC236}">
                <a16:creationId xmlns:a16="http://schemas.microsoft.com/office/drawing/2014/main" id="{A577469E-ACE0-4E96-83D4-09F32AADC3F2}"/>
              </a:ext>
            </a:extLst>
          </p:cNvPr>
          <p:cNvSpPr>
            <a:spLocks noGrp="1"/>
          </p:cNvSpPr>
          <p:nvPr>
            <p:ph type="ftr" sz="quarter" idx="11"/>
          </p:nvPr>
        </p:nvSpPr>
        <p:spPr>
          <a:xfrm>
            <a:off x="3018106" y="6430767"/>
            <a:ext cx="4114800" cy="365125"/>
          </a:xfrm>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fld id="{3AFC719D-C4A7-4544-876E-D411D11AF6C9}" type="slidenum">
              <a:rPr lang="en-US" smtClean="0"/>
              <a:t>21</a:t>
            </a:fld>
            <a:endParaRPr lang="en-US" dirty="0"/>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340031"/>
            <a:ext cx="8629357" cy="4632037"/>
          </a:xfrm>
          <a:prstGeom prst="rect">
            <a:avLst/>
          </a:prstGeom>
          <a:noFill/>
        </p:spPr>
        <p:txBody>
          <a:bodyPr wrap="square" rtlCol="0">
            <a:spAutoFit/>
          </a:bodyPr>
          <a:lstStyle/>
          <a:p>
            <a:pPr marL="285753" indent="-285753">
              <a:spcAft>
                <a:spcPts val="600"/>
              </a:spcAft>
              <a:buFont typeface="Wingdings" panose="05000000000000000000" pitchFamily="2" charset="2"/>
              <a:buChar char="§"/>
            </a:pPr>
            <a:r>
              <a:rPr lang="en-US" dirty="0"/>
              <a:t>KBA has over 20 stop-loss underwriters and carriers that we work with on core employer sponsored plans and DTE health plans;</a:t>
            </a:r>
          </a:p>
          <a:p>
            <a:pPr marL="285753" indent="-285753">
              <a:spcAft>
                <a:spcPts val="600"/>
              </a:spcAft>
              <a:buFont typeface="Wingdings" panose="05000000000000000000" pitchFamily="2" charset="2"/>
              <a:buChar char="§"/>
            </a:pPr>
            <a:r>
              <a:rPr lang="en-US" dirty="0"/>
              <a:t>KBA performs a comprehensive analysis of each stop-loss partner to approve them for our business;</a:t>
            </a:r>
          </a:p>
          <a:p>
            <a:pPr marL="285753" indent="-285753">
              <a:spcAft>
                <a:spcPts val="600"/>
              </a:spcAft>
              <a:buFont typeface="Wingdings" panose="05000000000000000000" pitchFamily="2" charset="2"/>
              <a:buChar char="§"/>
            </a:pPr>
            <a:r>
              <a:rPr lang="en-US" dirty="0"/>
              <a:t>KBA provides comprehensive pricing and medical service analysis for each DTE health plan to ensure proper pricing;</a:t>
            </a:r>
          </a:p>
          <a:p>
            <a:pPr marL="285753" indent="-285753">
              <a:spcAft>
                <a:spcPts val="600"/>
              </a:spcAft>
              <a:buFont typeface="Wingdings" panose="05000000000000000000" pitchFamily="2" charset="2"/>
              <a:buChar char="§"/>
            </a:pPr>
            <a:r>
              <a:rPr lang="en-US" dirty="0"/>
              <a:t>KBA is also evaluated by the stop-loss markets to be an approved claims payer for them;</a:t>
            </a:r>
          </a:p>
          <a:p>
            <a:pPr marL="285753" indent="-285753">
              <a:spcAft>
                <a:spcPts val="600"/>
              </a:spcAft>
              <a:buFont typeface="Wingdings" panose="05000000000000000000" pitchFamily="2" charset="2"/>
              <a:buChar char="§"/>
            </a:pPr>
            <a:r>
              <a:rPr lang="en-US" dirty="0"/>
              <a:t>KBA provides the administration required of the stop-loss markets:</a:t>
            </a:r>
          </a:p>
          <a:p>
            <a:pPr marL="742960" lvl="1" indent="-285753">
              <a:buFont typeface="Arial" panose="020B0604020202020204" pitchFamily="34" charset="0"/>
              <a:buChar char="•"/>
            </a:pPr>
            <a:r>
              <a:rPr lang="en-US" dirty="0"/>
              <a:t>Bordereau Reporting;</a:t>
            </a:r>
          </a:p>
          <a:p>
            <a:pPr marL="742960" lvl="1" indent="-285753">
              <a:buFont typeface="Arial" panose="020B0604020202020204" pitchFamily="34" charset="0"/>
              <a:buChar char="•"/>
            </a:pPr>
            <a:r>
              <a:rPr lang="en-US" dirty="0"/>
              <a:t>Claim Reporting and Reconciliation;</a:t>
            </a:r>
          </a:p>
          <a:p>
            <a:pPr marL="742960" lvl="1" indent="-285753">
              <a:buFont typeface="Arial" panose="020B0604020202020204" pitchFamily="34" charset="0"/>
              <a:buChar char="•"/>
            </a:pPr>
            <a:r>
              <a:rPr lang="en-US" dirty="0"/>
              <a:t>Evaluation of Networks;</a:t>
            </a:r>
          </a:p>
          <a:p>
            <a:pPr marL="742960" lvl="1" indent="-285753">
              <a:buFont typeface="Arial" panose="020B0604020202020204" pitchFamily="34" charset="0"/>
              <a:buChar char="•"/>
            </a:pPr>
            <a:r>
              <a:rPr lang="en-US" dirty="0"/>
              <a:t>Care Management;</a:t>
            </a:r>
          </a:p>
          <a:p>
            <a:pPr marL="742960" lvl="1" indent="-285753">
              <a:buFont typeface="Arial" panose="020B0604020202020204" pitchFamily="34" charset="0"/>
              <a:buChar char="•"/>
            </a:pPr>
            <a:r>
              <a:rPr lang="en-US" dirty="0"/>
              <a:t>Initial Underwriting; </a:t>
            </a:r>
          </a:p>
          <a:p>
            <a:pPr marL="742960" lvl="1" indent="-285753">
              <a:buFont typeface="Arial" panose="020B0604020202020204" pitchFamily="34" charset="0"/>
              <a:buChar char="•"/>
            </a:pPr>
            <a:r>
              <a:rPr lang="en-US" dirty="0"/>
              <a:t>Negotiation of rates and terms; and</a:t>
            </a:r>
          </a:p>
          <a:p>
            <a:pPr marL="742960" lvl="1" indent="-285753">
              <a:buFont typeface="Arial" panose="020B0604020202020204" pitchFamily="34" charset="0"/>
              <a:buChar char="•"/>
            </a:pPr>
            <a:r>
              <a:rPr lang="en-US" dirty="0"/>
              <a:t>Plan Design Actuarial</a:t>
            </a:r>
            <a:r>
              <a:rPr lang="en-US" b="1" dirty="0">
                <a:solidFill>
                  <a:srgbClr val="0070C0"/>
                </a:solidFill>
              </a:rPr>
              <a:t> </a:t>
            </a:r>
          </a:p>
        </p:txBody>
      </p:sp>
    </p:spTree>
    <p:extLst>
      <p:ext uri="{BB962C8B-B14F-4D97-AF65-F5344CB8AC3E}">
        <p14:creationId xmlns:p14="http://schemas.microsoft.com/office/powerpoint/2010/main" val="38048066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600" b="1" spc="150" dirty="0">
              <a:solidFill>
                <a:schemeClr val="bg1"/>
              </a:solidFill>
            </a:endParaRPr>
          </a:p>
          <a:p>
            <a:pPr marL="347667" lvl="2" defTabSz="914411">
              <a:lnSpc>
                <a:spcPct val="150000"/>
              </a:lnSpc>
              <a:spcAft>
                <a:spcPts val="1200"/>
              </a:spcAft>
            </a:pPr>
            <a:r>
              <a:rPr lang="en-US" sz="2000" b="1" spc="150" dirty="0">
                <a:solidFill>
                  <a:schemeClr val="bg1"/>
                </a:solidFill>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Branding &amp; Messaging</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Brochures, Web Site, Media, etc.</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2000" dirty="0">
                <a:solidFill>
                  <a:schemeClr val="bg1"/>
                </a:solidFill>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22</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5B70C6AA-61AD-4DD0-B983-F52567B64AFF}"/>
              </a:ext>
            </a:extLst>
          </p:cNvPr>
          <p:cNvPicPr>
            <a:picLocks noChangeAspect="1" noChangeArrowheads="1"/>
          </p:cNvPicPr>
          <p:nvPr/>
        </p:nvPicPr>
        <p:blipFill rotWithShape="1">
          <a:blip r:embed="rId2" cstate="screen">
            <a:duotone>
              <a:schemeClr val="bg2">
                <a:shade val="45000"/>
                <a:satMod val="135000"/>
              </a:schemeClr>
              <a:prstClr val="white"/>
            </a:duotone>
            <a:alphaModFix amt="35000"/>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E3AEE789-2E94-43A2-BF20-56F3182F3E86}"/>
              </a:ext>
            </a:extLst>
          </p:cNvPr>
          <p:cNvSpPr>
            <a:spLocks noGrp="1"/>
          </p:cNvSpPr>
          <p:nvPr>
            <p:ph type="title"/>
          </p:nvPr>
        </p:nvSpPr>
        <p:spPr>
          <a:xfrm>
            <a:off x="1691038" y="626557"/>
            <a:ext cx="8809923" cy="938167"/>
          </a:xfrm>
          <a:noFill/>
          <a:ln>
            <a:noFill/>
          </a:ln>
        </p:spPr>
        <p:txBody>
          <a:bodyPr>
            <a:noAutofit/>
          </a:bodyPr>
          <a:lstStyle/>
          <a:p>
            <a:r>
              <a:rPr lang="en-US" sz="2800" cap="all" dirty="0">
                <a:solidFill>
                  <a:srgbClr val="244F9A"/>
                </a:solidFill>
              </a:rPr>
              <a:t>Complete Sales Distribution System</a:t>
            </a:r>
          </a:p>
        </p:txBody>
      </p:sp>
      <p:graphicFrame>
        <p:nvGraphicFramePr>
          <p:cNvPr id="4" name="Diagram 6">
            <a:extLst>
              <a:ext uri="{FF2B5EF4-FFF2-40B4-BE49-F238E27FC236}">
                <a16:creationId xmlns:a16="http://schemas.microsoft.com/office/drawing/2014/main" id="{9538C73A-9FA7-458F-A114-0449E816E242}"/>
              </a:ext>
            </a:extLst>
          </p:cNvPr>
          <p:cNvGraphicFramePr/>
          <p:nvPr/>
        </p:nvGraphicFramePr>
        <p:xfrm>
          <a:off x="738414" y="1667230"/>
          <a:ext cx="10715172" cy="5023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3">
            <a:extLst>
              <a:ext uri="{FF2B5EF4-FFF2-40B4-BE49-F238E27FC236}">
                <a16:creationId xmlns:a16="http://schemas.microsoft.com/office/drawing/2014/main" id="{26AD7A8A-66DD-4BA6-A8DA-CC8BB638DACA}"/>
              </a:ext>
            </a:extLst>
          </p:cNvPr>
          <p:cNvSpPr>
            <a:spLocks noGrp="1"/>
          </p:cNvSpPr>
          <p:nvPr>
            <p:ph type="sldNum" sz="quarter" idx="12"/>
          </p:nvPr>
        </p:nvSpPr>
        <p:spPr>
          <a:xfrm>
            <a:off x="11353800" y="6428186"/>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23</a:t>
            </a:fld>
            <a:endParaRPr lang="en-US" sz="1100" dirty="0">
              <a:solidFill>
                <a:schemeClr val="tx1">
                  <a:lumMod val="50000"/>
                  <a:lumOff val="50000"/>
                </a:schemeClr>
              </a:solidFill>
            </a:endParaRPr>
          </a:p>
        </p:txBody>
      </p:sp>
      <p:sp>
        <p:nvSpPr>
          <p:cNvPr id="6" name="Footer Placeholder 1">
            <a:extLst>
              <a:ext uri="{FF2B5EF4-FFF2-40B4-BE49-F238E27FC236}">
                <a16:creationId xmlns:a16="http://schemas.microsoft.com/office/drawing/2014/main" id="{73EB584F-B688-4D65-AC70-27857B058937}"/>
              </a:ext>
            </a:extLst>
          </p:cNvPr>
          <p:cNvSpPr>
            <a:spLocks noGrp="1"/>
          </p:cNvSpPr>
          <p:nvPr>
            <p:ph type="ftr" sz="quarter" idx="11"/>
          </p:nvPr>
        </p:nvSpPr>
        <p:spPr/>
        <p:txBody>
          <a:bodyPr/>
          <a:lstStyle/>
          <a:p>
            <a:r>
              <a:rPr lang="en-US" dirty="0"/>
              <a:t>Key Benefit Administrators</a:t>
            </a:r>
          </a:p>
        </p:txBody>
      </p:sp>
      <p:sp>
        <p:nvSpPr>
          <p:cNvPr id="7" name="TextBox 3">
            <a:extLst>
              <a:ext uri="{FF2B5EF4-FFF2-40B4-BE49-F238E27FC236}">
                <a16:creationId xmlns:a16="http://schemas.microsoft.com/office/drawing/2014/main" id="{812A6EF0-F485-2EBB-BDEB-7A43025A5A29}"/>
              </a:ext>
            </a:extLst>
          </p:cNvPr>
          <p:cNvSpPr txBox="1"/>
          <p:nvPr/>
        </p:nvSpPr>
        <p:spPr>
          <a:xfrm>
            <a:off x="856622" y="2414098"/>
            <a:ext cx="2811026" cy="1515800"/>
          </a:xfrm>
          <a:prstGeom prst="rect">
            <a:avLst/>
          </a:prstGeom>
          <a:noFill/>
        </p:spPr>
        <p:txBody>
          <a:bodyPr wrap="square">
            <a:spAutoFit/>
          </a:bodyPr>
          <a:lstStyle/>
          <a:p>
            <a:pPr marL="285750" lvl="0" indent="-285750">
              <a:lnSpc>
                <a:spcPct val="100000"/>
              </a:lnSpc>
              <a:spcAft>
                <a:spcPts val="300"/>
              </a:spcAft>
              <a:buFont typeface="Arial" panose="020B0604020202020204" pitchFamily="34" charset="0"/>
              <a:buChar char="•"/>
            </a:pPr>
            <a:r>
              <a:rPr lang="en-US" sz="1700" b="0" dirty="0"/>
              <a:t>Identification of Key Distribution Agents</a:t>
            </a:r>
          </a:p>
          <a:p>
            <a:pPr marL="285750" lvl="0" indent="-285750">
              <a:lnSpc>
                <a:spcPct val="100000"/>
              </a:lnSpc>
              <a:spcAft>
                <a:spcPts val="300"/>
              </a:spcAft>
              <a:buFont typeface="Arial" panose="020B0604020202020204" pitchFamily="34" charset="0"/>
              <a:buChar char="•"/>
            </a:pPr>
            <a:r>
              <a:rPr lang="en-US" sz="1700" b="0" dirty="0"/>
              <a:t>Training and Development</a:t>
            </a:r>
          </a:p>
          <a:p>
            <a:pPr marL="285750" lvl="0" indent="-285750">
              <a:lnSpc>
                <a:spcPct val="100000"/>
              </a:lnSpc>
              <a:spcAft>
                <a:spcPts val="300"/>
              </a:spcAft>
              <a:buFont typeface="Arial" panose="020B0604020202020204" pitchFamily="34" charset="0"/>
              <a:buChar char="•"/>
            </a:pPr>
            <a:r>
              <a:rPr lang="en-US" sz="1700" b="0" dirty="0"/>
              <a:t>Quote Evaluation</a:t>
            </a:r>
          </a:p>
          <a:p>
            <a:pPr marL="285750" lvl="0" indent="-285750">
              <a:lnSpc>
                <a:spcPct val="100000"/>
              </a:lnSpc>
              <a:spcAft>
                <a:spcPts val="300"/>
              </a:spcAft>
              <a:buFont typeface="Arial" panose="020B0604020202020204" pitchFamily="34" charset="0"/>
              <a:buChar char="•"/>
            </a:pPr>
            <a:r>
              <a:rPr lang="en-US" sz="1700" b="0" dirty="0"/>
              <a:t>Compensation</a:t>
            </a:r>
          </a:p>
        </p:txBody>
      </p:sp>
      <p:sp>
        <p:nvSpPr>
          <p:cNvPr id="8" name="TextBox 9">
            <a:extLst>
              <a:ext uri="{FF2B5EF4-FFF2-40B4-BE49-F238E27FC236}">
                <a16:creationId xmlns:a16="http://schemas.microsoft.com/office/drawing/2014/main" id="{537397C7-FB49-032A-7017-50CDF43FA202}"/>
              </a:ext>
            </a:extLst>
          </p:cNvPr>
          <p:cNvSpPr txBox="1"/>
          <p:nvPr/>
        </p:nvSpPr>
        <p:spPr>
          <a:xfrm>
            <a:off x="4499567" y="2390254"/>
            <a:ext cx="2885971" cy="2077492"/>
          </a:xfrm>
          <a:prstGeom prst="rect">
            <a:avLst/>
          </a:prstGeom>
          <a:noFill/>
        </p:spPr>
        <p:txBody>
          <a:bodyPr wrap="square">
            <a:spAutoFit/>
          </a:bodyPr>
          <a:lstStyle/>
          <a:p>
            <a:pPr marL="285750" lvl="0" indent="-285750">
              <a:lnSpc>
                <a:spcPct val="100000"/>
              </a:lnSpc>
              <a:spcAft>
                <a:spcPts val="300"/>
              </a:spcAft>
              <a:buFont typeface="Arial" panose="020B0604020202020204" pitchFamily="34" charset="0"/>
              <a:buChar char="•"/>
            </a:pPr>
            <a:r>
              <a:rPr lang="en-US" sz="1700" b="0" dirty="0"/>
              <a:t>Identification of Key Targets</a:t>
            </a:r>
          </a:p>
          <a:p>
            <a:pPr marL="285750" lvl="0" indent="-285750">
              <a:lnSpc>
                <a:spcPct val="100000"/>
              </a:lnSpc>
              <a:spcAft>
                <a:spcPts val="300"/>
              </a:spcAft>
              <a:buFont typeface="Arial" panose="020B0604020202020204" pitchFamily="34" charset="0"/>
              <a:buChar char="•"/>
            </a:pPr>
            <a:r>
              <a:rPr lang="en-US" sz="1700" b="0" dirty="0">
                <a:solidFill/>
              </a:rPr>
              <a:t>Working with Yale New Haven Health System to Engage Specific Employers</a:t>
            </a:r>
          </a:p>
          <a:p>
            <a:pPr marL="285750" lvl="0" indent="-285750">
              <a:lnSpc>
                <a:spcPct val="100000"/>
              </a:lnSpc>
              <a:spcAft>
                <a:spcPts val="300"/>
              </a:spcAft>
              <a:buFont typeface="Arial" panose="020B0604020202020204" pitchFamily="34" charset="0"/>
              <a:buChar char="•"/>
            </a:pPr>
            <a:r>
              <a:rPr lang="en-US" sz="1700" b="0" dirty="0"/>
              <a:t>Meet and Greet</a:t>
            </a:r>
          </a:p>
          <a:p>
            <a:pPr marL="285750" lvl="0" indent="-285750">
              <a:lnSpc>
                <a:spcPct val="100000"/>
              </a:lnSpc>
              <a:spcAft>
                <a:spcPts val="300"/>
              </a:spcAft>
              <a:buFont typeface="Arial" panose="020B0604020202020204" pitchFamily="34" charset="0"/>
              <a:buChar char="•"/>
            </a:pPr>
            <a:r>
              <a:rPr lang="en-US" sz="1700" b="0" dirty="0"/>
              <a:t>Sales Process</a:t>
            </a:r>
          </a:p>
          <a:p>
            <a:pPr marL="285750" lvl="0" indent="-285750">
              <a:lnSpc>
                <a:spcPct val="100000"/>
              </a:lnSpc>
              <a:spcAft>
                <a:spcPts val="300"/>
              </a:spcAft>
              <a:buFont typeface="Arial" panose="020B0604020202020204" pitchFamily="34" charset="0"/>
              <a:buChar char="•"/>
            </a:pPr>
            <a:r>
              <a:rPr lang="en-US" sz="1700" b="0" dirty="0"/>
              <a:t>Closing</a:t>
            </a:r>
          </a:p>
        </p:txBody>
      </p:sp>
      <p:sp>
        <p:nvSpPr>
          <p:cNvPr id="9" name="TextBox 11">
            <a:extLst>
              <a:ext uri="{FF2B5EF4-FFF2-40B4-BE49-F238E27FC236}">
                <a16:creationId xmlns:a16="http://schemas.microsoft.com/office/drawing/2014/main" id="{32AE8163-8376-4B77-CD83-691410ECD2AE}"/>
              </a:ext>
            </a:extLst>
          </p:cNvPr>
          <p:cNvSpPr txBox="1"/>
          <p:nvPr/>
        </p:nvSpPr>
        <p:spPr>
          <a:xfrm>
            <a:off x="8217457" y="2414098"/>
            <a:ext cx="2690445" cy="1554272"/>
          </a:xfrm>
          <a:prstGeom prst="rect">
            <a:avLst/>
          </a:prstGeom>
          <a:noFill/>
        </p:spPr>
        <p:txBody>
          <a:bodyPr wrap="square">
            <a:spAutoFit/>
          </a:bodyPr>
          <a:lstStyle/>
          <a:p>
            <a:pPr marL="285750" lvl="0" indent="-285750">
              <a:lnSpc>
                <a:spcPct val="100000"/>
              </a:lnSpc>
              <a:spcAft>
                <a:spcPts val="300"/>
              </a:spcAft>
              <a:buFont typeface="Arial" panose="020B0604020202020204" pitchFamily="34" charset="0"/>
              <a:buChar char="•"/>
            </a:pPr>
            <a:r>
              <a:rPr lang="en-US" sz="1700" b="0" dirty="0"/>
              <a:t>Quote System</a:t>
            </a:r>
          </a:p>
          <a:p>
            <a:pPr marL="285750" lvl="0" indent="-285750">
              <a:lnSpc>
                <a:spcPct val="100000"/>
              </a:lnSpc>
              <a:spcAft>
                <a:spcPts val="300"/>
              </a:spcAft>
              <a:buFont typeface="Arial" panose="020B0604020202020204" pitchFamily="34" charset="0"/>
              <a:buChar char="•"/>
            </a:pPr>
            <a:r>
              <a:rPr lang="en-US" sz="1700" b="0" dirty="0"/>
              <a:t>Proposal Development</a:t>
            </a:r>
          </a:p>
          <a:p>
            <a:pPr marL="285750" lvl="0" indent="-285750">
              <a:lnSpc>
                <a:spcPct val="100000"/>
              </a:lnSpc>
              <a:spcAft>
                <a:spcPts val="300"/>
              </a:spcAft>
              <a:buFont typeface="Arial" panose="020B0604020202020204" pitchFamily="34" charset="0"/>
              <a:buChar char="•"/>
            </a:pPr>
            <a:r>
              <a:rPr lang="en-US" sz="1700" b="0" dirty="0"/>
              <a:t>Stop Loss Negotiations</a:t>
            </a:r>
          </a:p>
          <a:p>
            <a:pPr marL="285750" lvl="0" indent="-285750">
              <a:lnSpc>
                <a:spcPct val="100000"/>
              </a:lnSpc>
              <a:spcAft>
                <a:spcPts val="300"/>
              </a:spcAft>
              <a:buFont typeface="Arial" panose="020B0604020202020204" pitchFamily="34" charset="0"/>
              <a:buChar char="•"/>
            </a:pPr>
            <a:r>
              <a:rPr lang="en-US" sz="1700" b="0" dirty="0"/>
              <a:t>Reporting &amp; Analysis</a:t>
            </a:r>
          </a:p>
          <a:p>
            <a:pPr marL="342900" lvl="0" indent="-342900">
              <a:lnSpc>
                <a:spcPct val="100000"/>
              </a:lnSpc>
              <a:spcAft>
                <a:spcPts val="300"/>
              </a:spcAft>
              <a:buFont typeface="Arial" panose="020B0604020202020204" pitchFamily="34" charset="0"/>
              <a:buChar char="•"/>
            </a:pPr>
            <a:endParaRPr lang="en-US" sz="1700" b="0" dirty="0"/>
          </a:p>
        </p:txBody>
      </p:sp>
    </p:spTree>
    <p:extLst>
      <p:ext uri="{BB962C8B-B14F-4D97-AF65-F5344CB8AC3E}">
        <p14:creationId xmlns:p14="http://schemas.microsoft.com/office/powerpoint/2010/main" val="6193244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AEF7E883-34E5-46DB-B50C-C63CA63E190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32682" y="174481"/>
            <a:ext cx="5529323" cy="3080297"/>
          </a:xfrm>
          <a:prstGeom prst="rect">
            <a:avLst/>
          </a:prstGeom>
        </p:spPr>
      </p:pic>
      <p:sp>
        <p:nvSpPr>
          <p:cNvPr id="3" name="Rectangle: Single Corner Rounded 2">
            <a:extLst>
              <a:ext uri="{FF2B5EF4-FFF2-40B4-BE49-F238E27FC236}">
                <a16:creationId xmlns:a16="http://schemas.microsoft.com/office/drawing/2014/main" id="{0E0827A4-8831-4F72-BCCA-ED2FC12E6729}"/>
              </a:ext>
            </a:extLst>
          </p:cNvPr>
          <p:cNvSpPr/>
          <p:nvPr/>
        </p:nvSpPr>
        <p:spPr>
          <a:xfrm flipV="1">
            <a:off x="-12708" y="-1"/>
            <a:ext cx="6201467" cy="2586748"/>
          </a:xfrm>
          <a:prstGeom prst="round1Rect">
            <a:avLst>
              <a:gd name="adj" fmla="val 14176"/>
            </a:avLst>
          </a:prstGeom>
          <a:solidFill>
            <a:srgbClr val="59CAE8">
              <a:alpha val="94000"/>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6597641" cy="580655"/>
          </a:xfrm>
          <a:noFill/>
        </p:spPr>
        <p:txBody>
          <a:bodyPr>
            <a:normAutofit/>
          </a:bodyPr>
          <a:lstStyle/>
          <a:p>
            <a:r>
              <a:rPr lang="en-US" sz="2400" cap="all" dirty="0">
                <a:solidFill>
                  <a:schemeClr val="bg1"/>
                </a:solidFill>
              </a:rPr>
              <a:t>Complete Marketing System</a:t>
            </a:r>
          </a:p>
        </p:txBody>
      </p:sp>
      <p:sp>
        <p:nvSpPr>
          <p:cNvPr id="5" name="TextBox 9">
            <a:extLst>
              <a:ext uri="{FF2B5EF4-FFF2-40B4-BE49-F238E27FC236}">
                <a16:creationId xmlns:a16="http://schemas.microsoft.com/office/drawing/2014/main" id="{ED71BB9D-3705-447C-AA44-226373980B76}"/>
              </a:ext>
            </a:extLst>
          </p:cNvPr>
          <p:cNvSpPr txBox="1"/>
          <p:nvPr/>
        </p:nvSpPr>
        <p:spPr>
          <a:xfrm>
            <a:off x="296181" y="755136"/>
            <a:ext cx="5799819" cy="1631216"/>
          </a:xfrm>
          <a:prstGeom prst="rect">
            <a:avLst/>
          </a:prstGeom>
          <a:noFill/>
        </p:spPr>
        <p:txBody>
          <a:bodyPr wrap="square" rtlCol="0">
            <a:spAutoFit/>
          </a:bodyPr>
          <a:lstStyle/>
          <a:p>
            <a:pPr marL="342905" indent="-342905">
              <a:spcAft>
                <a:spcPts val="600"/>
              </a:spcAft>
              <a:buFont typeface="Wingdings" panose="05000000000000000000" pitchFamily="2" charset="2"/>
              <a:buChar char="§"/>
            </a:pPr>
            <a:r>
              <a:rPr lang="en-US" sz="1600" dirty="0">
                <a:solidFill>
                  <a:schemeClr val="bg1"/>
                </a:solidFill>
              </a:rPr>
              <a:t>Customized Branding and Messaging</a:t>
            </a:r>
          </a:p>
          <a:p>
            <a:pPr marL="342905" indent="-342905">
              <a:spcAft>
                <a:spcPts val="600"/>
              </a:spcAft>
              <a:buFont typeface="Wingdings" panose="05000000000000000000" pitchFamily="2" charset="2"/>
              <a:buChar char="§"/>
            </a:pPr>
            <a:r>
              <a:rPr lang="en-US" sz="1600" dirty="0">
                <a:solidFill>
                  <a:schemeClr val="bg1"/>
                </a:solidFill>
              </a:rPr>
              <a:t>Customized Brochures</a:t>
            </a:r>
          </a:p>
          <a:p>
            <a:pPr marL="342905" indent="-342905">
              <a:spcAft>
                <a:spcPts val="600"/>
              </a:spcAft>
              <a:buFont typeface="Wingdings" panose="05000000000000000000" pitchFamily="2" charset="2"/>
              <a:buChar char="§"/>
            </a:pPr>
            <a:r>
              <a:rPr lang="en-US" sz="1600" dirty="0">
                <a:solidFill>
                  <a:schemeClr val="bg1"/>
                </a:solidFill>
              </a:rPr>
              <a:t>Customized Web Site</a:t>
            </a:r>
          </a:p>
          <a:p>
            <a:pPr marL="342905" indent="-342905">
              <a:spcAft>
                <a:spcPts val="600"/>
              </a:spcAft>
              <a:buFont typeface="Wingdings" panose="05000000000000000000" pitchFamily="2" charset="2"/>
              <a:buChar char="§"/>
            </a:pPr>
            <a:r>
              <a:rPr lang="en-US" sz="1600" dirty="0">
                <a:solidFill>
                  <a:schemeClr val="bg1"/>
                </a:solidFill>
              </a:rPr>
              <a:t>Targeted Employer Outreach</a:t>
            </a:r>
          </a:p>
          <a:p>
            <a:pPr marL="342905" indent="-342905">
              <a:spcAft>
                <a:spcPts val="600"/>
              </a:spcAft>
              <a:buFont typeface="Wingdings" panose="05000000000000000000" pitchFamily="2" charset="2"/>
              <a:buChar char="§"/>
            </a:pPr>
            <a:r>
              <a:rPr lang="en-US" sz="1600" dirty="0">
                <a:solidFill>
                  <a:schemeClr val="bg1"/>
                </a:solidFill>
              </a:rPr>
              <a:t>Sales System (Social Media, Email, Text, etc.)</a:t>
            </a:r>
          </a:p>
        </p:txBody>
      </p:sp>
      <p:pic>
        <p:nvPicPr>
          <p:cNvPr id="6" name="Picture 10">
            <a:extLst>
              <a:ext uri="{FF2B5EF4-FFF2-40B4-BE49-F238E27FC236}">
                <a16:creationId xmlns:a16="http://schemas.microsoft.com/office/drawing/2014/main" id="{611A4305-92DF-45EF-9B03-0DB9043431A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36485" y="2995528"/>
            <a:ext cx="2223274" cy="2808514"/>
          </a:xfrm>
          <a:prstGeom prst="rect">
            <a:avLst/>
          </a:prstGeom>
          <a:ln>
            <a:noFill/>
          </a:ln>
          <a:effectLst>
            <a:outerShdw blurRad="292100" dist="139700" dir="2700000" algn="tl" rotWithShape="0">
              <a:srgbClr val="333333">
                <a:alpha val="65000"/>
              </a:srgbClr>
            </a:outerShdw>
          </a:effectLst>
        </p:spPr>
      </p:pic>
      <p:pic>
        <p:nvPicPr>
          <p:cNvPr id="7" name="Picture 11">
            <a:extLst>
              <a:ext uri="{FF2B5EF4-FFF2-40B4-BE49-F238E27FC236}">
                <a16:creationId xmlns:a16="http://schemas.microsoft.com/office/drawing/2014/main" id="{FED11506-66B0-49FB-A0EF-209B8223184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98496" y="2995528"/>
            <a:ext cx="2233972" cy="2808514"/>
          </a:xfrm>
          <a:prstGeom prst="rect">
            <a:avLst/>
          </a:prstGeom>
          <a:ln>
            <a:noFill/>
          </a:ln>
          <a:effectLst>
            <a:outerShdw blurRad="292100" dist="139700" dir="2700000" algn="tl" rotWithShape="0">
              <a:srgbClr val="333333">
                <a:alpha val="65000"/>
              </a:srgbClr>
            </a:outerShdw>
          </a:effectLst>
        </p:spPr>
      </p:pic>
      <p:pic>
        <p:nvPicPr>
          <p:cNvPr id="8" name="Picture 12">
            <a:extLst>
              <a:ext uri="{FF2B5EF4-FFF2-40B4-BE49-F238E27FC236}">
                <a16:creationId xmlns:a16="http://schemas.microsoft.com/office/drawing/2014/main" id="{71A4353A-F77C-46E5-A059-7B4875A5C5E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271205" y="2995528"/>
            <a:ext cx="2316270" cy="2847494"/>
          </a:xfrm>
          <a:prstGeom prst="rect">
            <a:avLst/>
          </a:prstGeom>
          <a:ln>
            <a:noFill/>
          </a:ln>
          <a:effectLst>
            <a:outerShdw blurRad="292100" dist="139700" dir="2700000" algn="tl" rotWithShape="0">
              <a:srgbClr val="333333">
                <a:alpha val="65000"/>
              </a:srgbClr>
            </a:outerShdw>
          </a:effectLst>
        </p:spPr>
      </p:pic>
      <p:pic>
        <p:nvPicPr>
          <p:cNvPr id="9" name="Picture 13">
            <a:extLst>
              <a:ext uri="{FF2B5EF4-FFF2-40B4-BE49-F238E27FC236}">
                <a16:creationId xmlns:a16="http://schemas.microsoft.com/office/drawing/2014/main" id="{2CFB10C7-2DC6-451E-90C6-2D68BD31A6E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826212" y="2995528"/>
            <a:ext cx="2197436" cy="2864971"/>
          </a:xfrm>
          <a:prstGeom prst="rect">
            <a:avLst/>
          </a:prstGeom>
          <a:ln>
            <a:noFill/>
          </a:ln>
          <a:effectLst>
            <a:outerShdw blurRad="292100" dist="139700" dir="2700000" algn="tl" rotWithShape="0">
              <a:srgbClr val="333333">
                <a:alpha val="65000"/>
              </a:srgbClr>
            </a:outerShdw>
          </a:effectLst>
        </p:spPr>
      </p:pic>
      <p:pic>
        <p:nvPicPr>
          <p:cNvPr id="10" name="Picture 14">
            <a:extLst>
              <a:ext uri="{FF2B5EF4-FFF2-40B4-BE49-F238E27FC236}">
                <a16:creationId xmlns:a16="http://schemas.microsoft.com/office/drawing/2014/main" id="{775544D0-D189-4053-BD03-A061BD918D83}"/>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262385" y="2995528"/>
            <a:ext cx="2329516" cy="2861400"/>
          </a:xfrm>
          <a:prstGeom prst="rect">
            <a:avLst/>
          </a:prstGeom>
          <a:ln>
            <a:noFill/>
          </a:ln>
          <a:effectLst>
            <a:outerShdw blurRad="292100" dist="139700" dir="2700000" algn="tl" rotWithShape="0">
              <a:srgbClr val="333333">
                <a:alpha val="65000"/>
              </a:srgbClr>
            </a:outerShdw>
          </a:effectLst>
        </p:spPr>
      </p:pic>
      <p:pic>
        <p:nvPicPr>
          <p:cNvPr id="11" name="Picture 15">
            <a:extLst>
              <a:ext uri="{FF2B5EF4-FFF2-40B4-BE49-F238E27FC236}">
                <a16:creationId xmlns:a16="http://schemas.microsoft.com/office/drawing/2014/main" id="{C064D670-84E1-4B9A-97F8-E62D958DB0B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830638" y="2995528"/>
            <a:ext cx="2525626" cy="2919327"/>
          </a:xfrm>
          <a:prstGeom prst="rect">
            <a:avLst/>
          </a:prstGeom>
          <a:ln>
            <a:noFill/>
          </a:ln>
          <a:effectLst>
            <a:outerShdw blurRad="292100" dist="139700" dir="2700000" algn="tl" rotWithShape="0">
              <a:srgbClr val="333333">
                <a:alpha val="65000"/>
              </a:srgbClr>
            </a:outerShdw>
          </a:effectLst>
        </p:spPr>
      </p:pic>
      <p:pic>
        <p:nvPicPr>
          <p:cNvPr id="12" name="Picture 16">
            <a:extLst>
              <a:ext uri="{FF2B5EF4-FFF2-40B4-BE49-F238E27FC236}">
                <a16:creationId xmlns:a16="http://schemas.microsoft.com/office/drawing/2014/main" id="{87B797F5-B8C2-4C24-8A7A-FE90F04BE322}"/>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3595002" y="2995528"/>
            <a:ext cx="2372536" cy="2936059"/>
          </a:xfrm>
          <a:prstGeom prst="rect">
            <a:avLst/>
          </a:prstGeom>
          <a:ln>
            <a:noFill/>
          </a:ln>
          <a:effectLst>
            <a:outerShdw blurRad="292100" dist="139700" dir="2700000" algn="tl" rotWithShape="0">
              <a:srgbClr val="333333">
                <a:alpha val="65000"/>
              </a:srgbClr>
            </a:outerShdw>
          </a:effectLst>
        </p:spPr>
      </p:pic>
      <p:sp>
        <p:nvSpPr>
          <p:cNvPr id="13" name="Slide Number Placeholder 3">
            <a:extLst>
              <a:ext uri="{FF2B5EF4-FFF2-40B4-BE49-F238E27FC236}">
                <a16:creationId xmlns:a16="http://schemas.microsoft.com/office/drawing/2014/main" id="{43B0C0D7-286F-40CC-99F2-E1758486FAF3}"/>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24</a:t>
            </a:fld>
            <a:endParaRPr lang="en-US" sz="1100" dirty="0">
              <a:solidFill>
                <a:schemeClr val="tx1">
                  <a:lumMod val="50000"/>
                  <a:lumOff val="50000"/>
                </a:schemeClr>
              </a:solidFill>
            </a:endParaRPr>
          </a:p>
        </p:txBody>
      </p:sp>
      <p:sp>
        <p:nvSpPr>
          <p:cNvPr id="14" name="Footer Placeholder 1">
            <a:extLst>
              <a:ext uri="{FF2B5EF4-FFF2-40B4-BE49-F238E27FC236}">
                <a16:creationId xmlns:a16="http://schemas.microsoft.com/office/drawing/2014/main" id="{CDED59B1-EA18-471C-9E96-59ECEF4AB7A5}"/>
              </a:ext>
            </a:extLst>
          </p:cNvPr>
          <p:cNvSpPr>
            <a:spLocks noGrp="1"/>
          </p:cNvSpPr>
          <p:nvPr>
            <p:ph type="ftr" sz="quarter" idx="11"/>
          </p:nvPr>
        </p:nvSpPr>
        <p:spPr/>
        <p:txBody>
          <a:bodyPr/>
          <a:lstStyle/>
          <a:p>
            <a:r>
              <a:rPr lang="en-US" dirty="0"/>
              <a:t>Key Benefit Administrators</a:t>
            </a:r>
          </a:p>
        </p:txBody>
      </p:sp>
      <p:pic>
        <p:nvPicPr>
          <p:cNvPr id="15" name="Picture 4">
            <a:extLst>
              <a:ext uri="{FF2B5EF4-FFF2-40B4-BE49-F238E27FC236}">
                <a16:creationId xmlns:a16="http://schemas.microsoft.com/office/drawing/2014/main" id="{95AED82D-3AD7-4F96-899E-4F246EB12576}"/>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6757012" y="2543534"/>
            <a:ext cx="5291531" cy="3637660"/>
          </a:xfrm>
          <a:prstGeom prst="rect">
            <a:avLst/>
          </a:prstGeom>
          <a:effectLst>
            <a:outerShdw blurRad="203200" dist="38100" algn="l" rotWithShape="0">
              <a:prstClr val="black">
                <a:alpha val="40000"/>
              </a:prstClr>
            </a:outerShdw>
          </a:effectLst>
        </p:spPr>
      </p:pic>
    </p:spTree>
    <p:extLst>
      <p:ext uri="{BB962C8B-B14F-4D97-AF65-F5344CB8AC3E}">
        <p14:creationId xmlns:p14="http://schemas.microsoft.com/office/powerpoint/2010/main" val="4209598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4825757" y="3179851"/>
            <a:ext cx="6092786" cy="2127287"/>
          </a:xfrm>
        </p:spPr>
        <p:txBody>
          <a:bodyPr vert="horz" lIns="91440" tIns="45720" rIns="91440" bIns="45720" rtlCol="0" anchor="b">
            <a:normAutofit fontScale="90000"/>
          </a:bodyPr>
          <a:lstStyle/>
          <a:p>
            <a:pPr defTabSz="914400"/>
            <a:r>
              <a:rPr lang="en-US" sz="4800" kern="1200" dirty="0">
                <a:solidFill>
                  <a:schemeClr val="tx1"/>
                </a:solidFill>
                <a:latin typeface="+mj-lt"/>
                <a:ea typeface="+mj-ea"/>
                <a:cs typeface="+mj-cs"/>
              </a:rPr>
              <a:t>FINANCIAL PROJECTIONS &amp; ASSUMPTIONS:</a:t>
            </a:r>
            <a:br>
              <a:rPr lang="en-US" sz="4800" kern="1200" dirty="0">
                <a:solidFill>
                  <a:schemeClr val="tx1"/>
                </a:solidFill>
                <a:latin typeface="+mj-lt"/>
                <a:ea typeface="+mj-ea"/>
                <a:cs typeface="+mj-cs"/>
              </a:rPr>
            </a:br>
            <a:endParaRPr lang="en-US" sz="4800" kern="1200" dirty="0">
              <a:solidFill>
                <a:schemeClr val="tx1"/>
              </a:solidFill>
              <a:latin typeface="+mj-lt"/>
              <a:ea typeface="+mj-ea"/>
              <a:cs typeface="+mj-cs"/>
            </a:endParaRPr>
          </a:p>
        </p:txBody>
      </p:sp>
      <p:sp>
        <p:nvSpPr>
          <p:cNvPr id="3"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364091" y="0"/>
            <a:ext cx="826383" cy="680018"/>
          </a:xfrm>
        </p:spPr>
        <p:txBody>
          <a:bodyPr vert="horz" lIns="91440" tIns="45720" rIns="91440" bIns="45720" rtlCol="0" anchor="ctr">
            <a:normAutofit/>
          </a:bodyPr>
          <a:lstStyle/>
          <a:p>
            <a:pPr algn="ctr" defTabSz="914400">
              <a:spcAft>
                <a:spcPts val="600"/>
              </a:spcAft>
            </a:pPr>
            <a:fld id="{3AFC719D-C4A7-4544-876E-D411D11AF6C9}" type="slidenum">
              <a:rPr lang="en-US"/>
              <a:pPr algn="ctr" defTabSz="914400">
                <a:spcAft>
                  <a:spcPts val="600"/>
                </a:spcAft>
              </a:pPr>
              <a:t>25</a:t>
            </a:fld>
            <a:endParaRPr lang="en-US"/>
          </a:p>
        </p:txBody>
      </p:sp>
      <p:pic>
        <p:nvPicPr>
          <p:cNvPr id="4" name="Graphic 9" descr="Upward trend">
            <a:extLst>
              <a:ext uri="{FF2B5EF4-FFF2-40B4-BE49-F238E27FC236}">
                <a16:creationId xmlns:a16="http://schemas.microsoft.com/office/drawing/2014/main" id="{5AD3A551-BDF6-660B-89E2-69C3F94703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3576" y="1550862"/>
            <a:ext cx="3756276" cy="3756276"/>
          </a:xfrm>
          <a:prstGeom prst="rect">
            <a:avLst/>
          </a:prstGeom>
        </p:spPr>
      </p:pic>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a:xfrm>
            <a:off x="6825444" y="6144656"/>
            <a:ext cx="4114800" cy="713344"/>
          </a:xfrm>
        </p:spPr>
        <p:txBody>
          <a:bodyPr vert="horz" lIns="91440" tIns="45720" rIns="91440" bIns="45720" rtlCol="0" anchor="ctr">
            <a:normAutofit/>
          </a:bodyPr>
          <a:lstStyle/>
          <a:p>
            <a:pPr algn="r" defTabSz="914400">
              <a:spcAft>
                <a:spcPts val="600"/>
              </a:spcAft>
            </a:pPr>
            <a:r>
              <a:rPr lang="en-US" kern="1200">
                <a:solidFill>
                  <a:schemeClr val="tx1">
                    <a:tint val="75000"/>
                  </a:schemeClr>
                </a:solidFill>
                <a:latin typeface="+mn-lt"/>
                <a:ea typeface="+mn-ea"/>
                <a:cs typeface="+mn-cs"/>
              </a:rPr>
              <a:t>Key Benefit Administrators</a:t>
            </a:r>
          </a:p>
        </p:txBody>
      </p:sp>
    </p:spTree>
    <p:extLst>
      <p:ext uri="{BB962C8B-B14F-4D97-AF65-F5344CB8AC3E}">
        <p14:creationId xmlns:p14="http://schemas.microsoft.com/office/powerpoint/2010/main" val="32773959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474980" y="192960"/>
            <a:ext cx="11242040" cy="1325563"/>
          </a:xfrm>
        </p:spPr>
        <p:txBody>
          <a:bodyPr>
            <a:normAutofit/>
          </a:bodyPr>
          <a:lstStyle/>
          <a:p>
            <a:r>
              <a:rPr lang="en-US" sz="4000" b="1" dirty="0">
                <a:solidFill/>
                <a:latin typeface="+mn-lt"/>
                <a:cs typeface="Arial" panose="020B0604020202020204" pitchFamily="34" charset="0"/>
              </a:rPr>
              <a:t>Estimation of Yale New Haven Health System</a:t>
            </a:r>
            <a:r>
              <a:rPr lang="en-US" sz="4000" b="1">
                <a:latin typeface="+mn-lt"/>
                <a:cs typeface="Arial" panose="020B0604020202020204" pitchFamily="34" charset="0"/>
              </a:rPr>
              <a:t>’s 2022 </a:t>
            </a:r>
            <a:r>
              <a:rPr lang="en-US" sz="4000" b="1" dirty="0">
                <a:latin typeface="+mn-lt"/>
                <a:cs typeface="Arial" panose="020B0604020202020204" pitchFamily="34" charset="0"/>
              </a:rPr>
              <a:t>Payer Mix</a:t>
            </a:r>
          </a:p>
        </p:txBody>
      </p:sp>
      <p:sp>
        <p:nvSpPr>
          <p:cNvPr id="3" name="Footer Placeholder 2">
            <a:extLst>
              <a:ext uri="{FF2B5EF4-FFF2-40B4-BE49-F238E27FC236}">
                <a16:creationId xmlns:a16="http://schemas.microsoft.com/office/drawing/2014/main" id="{F881BDBD-806B-1BF1-DC4C-DADBDE399686}"/>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64A413-F33A-E029-FE1C-032E6F189EE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graphicFrame>
        <p:nvGraphicFramePr>
          <p:cNvPr id="5" name="Table 7">
            <a:extLst>
              <a:ext uri="{FF2B5EF4-FFF2-40B4-BE49-F238E27FC236}">
                <a16:creationId xmlns:a16="http://schemas.microsoft.com/office/drawing/2014/main" id="{713AD275-CC86-F2BC-8594-AECC0B66117F}"/>
              </a:ext>
            </a:extLst>
          </p:cNvPr>
          <p:cNvGraphicFramePr>
            <a:graphicFrameLocks noGrp="1"/>
          </p:cNvGraphicFramePr>
          <p:nvPr/>
        </p:nvGraphicFramePr>
        <p:xfrm>
          <a:off x="243838" y="1690689"/>
          <a:ext cx="5516882" cy="2773680"/>
        </p:xfrm>
        <a:graphic>
          <a:graphicData uri="http://schemas.openxmlformats.org/drawingml/2006/table">
            <a:tbl>
              <a:tblPr firstRow="1" bandRow="1">
                <a:tableStyleId>{5C22544A-7EE6-4342-B048-85BDC9FD1C3A}</a:tableStyleId>
              </a:tblPr>
              <a:tblGrid>
                <a:gridCol w="1970375">
                  <a:extLst>
                    <a:ext uri="{9D8B030D-6E8A-4147-A177-3AD203B41FA5}">
                      <a16:colId xmlns:a16="http://schemas.microsoft.com/office/drawing/2014/main" val="1990432805"/>
                    </a:ext>
                  </a:extLst>
                </a:gridCol>
                <a:gridCol w="1072861">
                  <a:extLst>
                    <a:ext uri="{9D8B030D-6E8A-4147-A177-3AD203B41FA5}">
                      <a16:colId xmlns:a16="http://schemas.microsoft.com/office/drawing/2014/main" val="2178546237"/>
                    </a:ext>
                  </a:extLst>
                </a:gridCol>
                <a:gridCol w="1326330">
                  <a:extLst>
                    <a:ext uri="{9D8B030D-6E8A-4147-A177-3AD203B41FA5}">
                      <a16:colId xmlns:a16="http://schemas.microsoft.com/office/drawing/2014/main" val="3494448363"/>
                    </a:ext>
                  </a:extLst>
                </a:gridCol>
                <a:gridCol w="1147316">
                  <a:extLst>
                    <a:ext uri="{9D8B030D-6E8A-4147-A177-3AD203B41FA5}">
                      <a16:colId xmlns:a16="http://schemas.microsoft.com/office/drawing/2014/main" val="3564552567"/>
                    </a:ext>
                  </a:extLst>
                </a:gridCol>
              </a:tblGrid>
              <a:tr h="569290">
                <a:tc>
                  <a:txBody>
                    <a:bodyPr/>
                    <a:lstStyle/>
                    <a:p>
                      <a:r>
                        <a:rPr lang="en-US" sz="1400" dirty="0"/>
                        <a:t>Payer Group</a:t>
                      </a:r>
                    </a:p>
                  </a:txBody>
                  <a:tcPr/>
                </a:tc>
                <a:tc>
                  <a:txBody>
                    <a:bodyPr/>
                    <a:lstStyle/>
                    <a:p>
                      <a:r>
                        <a:rPr lang="en-US" sz="1400" dirty="0"/>
                        <a:t>Total Inpatient Days</a:t>
                      </a:r>
                    </a:p>
                  </a:txBody>
                  <a:tcPr/>
                </a:tc>
                <a:tc>
                  <a:txBody>
                    <a:bodyPr/>
                    <a:lstStyle/>
                    <a:p>
                      <a:r>
                        <a:rPr lang="en-US" sz="1400" dirty="0"/>
                        <a:t>Revenue</a:t>
                      </a:r>
                    </a:p>
                  </a:txBody>
                  <a:tcPr/>
                </a:tc>
                <a:tc>
                  <a:txBody>
                    <a:bodyPr/>
                    <a:lstStyle/>
                    <a:p>
                      <a:r>
                        <a:rPr lang="en-US" sz="1400" dirty="0"/>
                        <a:t>Payer Mix</a:t>
                      </a:r>
                    </a:p>
                  </a:txBody>
                  <a:tcPr/>
                </a:tc>
                <a:extLst>
                  <a:ext uri="{0D108BD9-81ED-4DB2-BD59-A6C34878D82A}">
                    <a16:rowId xmlns:a16="http://schemas.microsoft.com/office/drawing/2014/main" val="1397373735"/>
                  </a:ext>
                </a:extLst>
              </a:tr>
              <a:tr h="237204">
                <a:tc>
                  <a:txBody>
                    <a:bodyPr/>
                    <a:lstStyle/>
                    <a:p>
                      <a:r>
                        <a:rPr lang="en-US" sz="1400" dirty="0">
                          <a:solidFill/>
                        </a:rPr>
                        <a:t>All Yale New Haven Health System</a:t>
                      </a:r>
                    </a:p>
                  </a:txBody>
                  <a:tcPr>
                    <a:solidFill>
                      <a:schemeClr val="accent3">
                        <a:lumMod val="20000"/>
                        <a:lumOff val="80000"/>
                      </a:schemeClr>
                    </a:solidFill>
                  </a:tcPr>
                </a:tc>
                <a:tc>
                  <a:txBody>
                    <a:bodyPr/>
                    <a:lstStyle/>
                    <a:p>
                      <a:pPr algn="ctr"/>
                      <a:r>
                        <a:rPr lang="en-US" sz="1400" dirty="0">
                          <a:solidFill>
                            <a:schemeClr val="accent1">
                              <a:lumMod val="75000"/>
                            </a:schemeClr>
                          </a:solidFill>
                        </a:rPr>
                        <a:t>652,417</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$5,457,154K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237204">
                <a:tc>
                  <a:txBody>
                    <a:bodyPr/>
                    <a:lstStyle/>
                    <a:p>
                      <a:r>
                        <a:rPr lang="en-US" sz="1400" dirty="0"/>
                        <a:t>Medicare</a:t>
                      </a:r>
                    </a:p>
                  </a:txBody>
                  <a:tcPr>
                    <a:solidFill>
                      <a:schemeClr val="accent3">
                        <a:lumMod val="20000"/>
                        <a:lumOff val="80000"/>
                      </a:schemeClr>
                    </a:solidFill>
                  </a:tcPr>
                </a:tc>
                <a:tc>
                  <a:txBody>
                    <a:bodyPr/>
                    <a:lstStyle/>
                    <a:p>
                      <a:pPr algn="ctr"/>
                      <a:r>
                        <a:rPr lang="en-US" sz="1400" dirty="0">
                          <a:solidFill>
                            <a:schemeClr val="accent1">
                              <a:lumMod val="75000"/>
                            </a:schemeClr>
                          </a:solidFill>
                        </a:rPr>
                        <a:t>173,840</a:t>
                      </a:r>
                    </a:p>
                  </a:txBody>
                  <a:tcPr anchor="ctr">
                    <a:solidFill>
                      <a:schemeClr val="accent3">
                        <a:lumMod val="20000"/>
                        <a:lumOff val="80000"/>
                      </a:schemeClr>
                    </a:solidFill>
                  </a:tcPr>
                </a:tc>
                <a:tc>
                  <a:txBody>
                    <a:bodyPr/>
                    <a:lstStyle/>
                    <a:p>
                      <a:pPr algn="ctr"/>
                      <a:r>
                        <a:rPr lang="en-US" sz="1400" dirty="0">
                          <a:solidFill>
                            <a:schemeClr val="accent4">
                              <a:lumMod val="75000"/>
                            </a:schemeClr>
                          </a:solidFill>
                        </a:rPr>
                        <a:t>$888,687K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26%</a:t>
                      </a:r>
                    </a:p>
                  </a:txBody>
                  <a:tcPr anchor="ctr">
                    <a:solidFill>
                      <a:schemeClr val="accent3">
                        <a:lumMod val="20000"/>
                        <a:lumOff val="80000"/>
                      </a:schemeClr>
                    </a:solidFill>
                  </a:tcPr>
                </a:tc>
                <a:extLst>
                  <a:ext uri="{0D108BD9-81ED-4DB2-BD59-A6C34878D82A}">
                    <a16:rowId xmlns:a16="http://schemas.microsoft.com/office/drawing/2014/main" val="1145544718"/>
                  </a:ext>
                </a:extLst>
              </a:tr>
              <a:tr h="237204">
                <a:tc>
                  <a:txBody>
                    <a:bodyPr/>
                    <a:lstStyle/>
                    <a:p>
                      <a:r>
                        <a:rPr lang="en-US" sz="1400" dirty="0"/>
                        <a:t>Medicaid</a:t>
                      </a:r>
                    </a:p>
                  </a:txBody>
                  <a:tcPr>
                    <a:solidFill>
                      <a:schemeClr val="accent3">
                        <a:lumMod val="20000"/>
                        <a:lumOff val="80000"/>
                      </a:schemeClr>
                    </a:solidFill>
                  </a:tcPr>
                </a:tc>
                <a:tc>
                  <a:txBody>
                    <a:bodyPr/>
                    <a:lstStyle/>
                    <a:p>
                      <a:pPr algn="ctr"/>
                      <a:r>
                        <a:rPr lang="en-US" sz="1400" dirty="0">
                          <a:solidFill>
                            <a:schemeClr val="accent1">
                              <a:lumMod val="75000"/>
                            </a:schemeClr>
                          </a:solidFill>
                        </a:rPr>
                        <a:t>149,473</a:t>
                      </a:r>
                    </a:p>
                  </a:txBody>
                  <a:tcPr anchor="ctr">
                    <a:solidFill>
                      <a:schemeClr val="accent3">
                        <a:lumMod val="20000"/>
                        <a:lumOff val="80000"/>
                      </a:schemeClr>
                    </a:solidFill>
                  </a:tcPr>
                </a:tc>
                <a:tc rowSpan="2">
                  <a:txBody>
                    <a:bodyPr/>
                    <a:lstStyle/>
                    <a:p>
                      <a:pPr algn="ctr"/>
                      <a:r>
                        <a:rPr lang="en-US" sz="1400" dirty="0">
                          <a:solidFill>
                            <a:schemeClr val="accent4">
                              <a:lumMod val="75000"/>
                            </a:schemeClr>
                          </a:solidFill>
                        </a:rPr>
                        <a:t>$803,858K</a:t>
                      </a:r>
                    </a:p>
                  </a:txBody>
                  <a:tcPr anchor="ctr">
                    <a:solidFill>
                      <a:schemeClr val="accent3">
                        <a:lumMod val="20000"/>
                        <a:lumOff val="80000"/>
                      </a:schemeClr>
                    </a:solidFill>
                  </a:tcPr>
                </a:tc>
                <a:tc rowSpan="2">
                  <a:txBody>
                    <a:bodyPr/>
                    <a:lstStyle/>
                    <a:p>
                      <a:pPr algn="ctr"/>
                      <a:r>
                        <a:rPr lang="en-US" sz="1400" dirty="0">
                          <a:solidFill>
                            <a:schemeClr val="accent2">
                              <a:lumMod val="75000"/>
                            </a:schemeClr>
                          </a:solidFill>
                        </a:rPr>
                        <a:t>24%</a:t>
                      </a:r>
                    </a:p>
                  </a:txBody>
                  <a:tcPr anchor="ctr">
                    <a:solidFill>
                      <a:schemeClr val="accent3">
                        <a:lumMod val="20000"/>
                        <a:lumOff val="80000"/>
                      </a:schemeClr>
                    </a:solidFill>
                  </a:tcPr>
                </a:tc>
                <a:extLst>
                  <a:ext uri="{0D108BD9-81ED-4DB2-BD59-A6C34878D82A}">
                    <a16:rowId xmlns:a16="http://schemas.microsoft.com/office/drawing/2014/main" val="680733009"/>
                  </a:ext>
                </a:extLst>
              </a:tr>
              <a:tr h="279964">
                <a:tc>
                  <a:txBody>
                    <a:bodyPr/>
                    <a:lstStyle/>
                    <a:p>
                      <a:r>
                        <a:rPr lang="en-US" sz="1400" dirty="0"/>
                        <a:t>Other Government Pay</a:t>
                      </a:r>
                    </a:p>
                  </a:txBody>
                  <a:tcPr>
                    <a:solidFill>
                      <a:schemeClr val="accent3">
                        <a:lumMod val="20000"/>
                        <a:lumOff val="80000"/>
                      </a:schemeClr>
                    </a:solidFill>
                  </a:tcPr>
                </a:tc>
                <a:tc>
                  <a:txBody>
                    <a:bodyPr/>
                    <a:lstStyle/>
                    <a:p>
                      <a:pPr algn="ctr"/>
                      <a:r>
                        <a:rPr lang="en-US" sz="1400" dirty="0">
                          <a:solidFill>
                            <a:schemeClr val="accent1">
                              <a:lumMod val="75000"/>
                            </a:schemeClr>
                          </a:solidFill>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237204">
                <a:tc>
                  <a:txBody>
                    <a:bodyPr/>
                    <a:lstStyle/>
                    <a:p>
                      <a:r>
                        <a:rPr lang="en-US" sz="1400" dirty="0"/>
                        <a:t>No-Pay, Charity Care</a:t>
                      </a:r>
                    </a:p>
                  </a:txBody>
                  <a:tcPr>
                    <a:solidFill>
                      <a:schemeClr val="accent3">
                        <a:lumMod val="20000"/>
                        <a:lumOff val="80000"/>
                      </a:schemeClr>
                    </a:solidFill>
                  </a:tcPr>
                </a:tc>
                <a:tc>
                  <a:txBody>
                    <a:bodyPr/>
                    <a:lstStyle/>
                    <a:p>
                      <a:pPr algn="ctr"/>
                      <a:r>
                        <a:rPr lang="en-US" sz="1400" dirty="0">
                          <a:solidFill>
                            <a:schemeClr val="accent2">
                              <a:lumMod val="75000"/>
                            </a:schemeClr>
                          </a:solidFill>
                        </a:rPr>
                        <a:t>46,485</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-$412,190K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7%</a:t>
                      </a:r>
                    </a:p>
                  </a:txBody>
                  <a:tcPr anchor="ctr">
                    <a:solidFill>
                      <a:schemeClr val="accent3">
                        <a:lumMod val="20000"/>
                        <a:lumOff val="80000"/>
                      </a:schemeClr>
                    </a:solidFill>
                  </a:tcPr>
                </a:tc>
                <a:extLst>
                  <a:ext uri="{0D108BD9-81ED-4DB2-BD59-A6C34878D82A}">
                    <a16:rowId xmlns:a16="http://schemas.microsoft.com/office/drawing/2014/main" val="1248958224"/>
                  </a:ext>
                </a:extLst>
              </a:tr>
              <a:tr h="237204">
                <a:tc>
                  <a:txBody>
                    <a:bodyPr/>
                    <a:lstStyle/>
                    <a:p>
                      <a:r>
                        <a:rPr lang="en-US" sz="1400" dirty="0"/>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282,619</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$3,768,541K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43%</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6"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Commercial/self pay is assumed to be the rest of the total payer mix share. </a:t>
            </a:r>
          </a:p>
        </p:txBody>
      </p:sp>
      <p:sp>
        <p:nvSpPr>
          <p:cNvPr id="7"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8" name="TextBox 11">
            <a:extLst>
              <a:ext uri="{FF2B5EF4-FFF2-40B4-BE49-F238E27FC236}">
                <a16:creationId xmlns:a16="http://schemas.microsoft.com/office/drawing/2014/main" id="{B06F8AA7-185E-8401-4C51-579C44EE0B64}"/>
              </a:ext>
            </a:extLst>
          </p:cNvPr>
          <p:cNvSpPr txBox="1"/>
          <p:nvPr/>
        </p:nvSpPr>
        <p:spPr>
          <a:xfrm>
            <a:off x="416560" y="4435821"/>
            <a:ext cx="5161280" cy="76944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Values in blue are taken from the 2021 Medicare Provider Cost Report (</a:t>
            </a: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hlinkClick r:id="rId2"/>
              </a:rPr>
              <a:t>https://data.cms.gov/provider-compliance/cost-report/hospital-provider-cost-report/data</a:t>
            </a: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endParaRPr>
          </a:p>
        </p:txBody>
      </p:sp>
      <p:sp>
        <p:nvSpPr>
          <p:cNvPr id="9" name="TextBox 12">
            <a:extLst>
              <a:ext uri="{FF2B5EF4-FFF2-40B4-BE49-F238E27FC236}">
                <a16:creationId xmlns:a16="http://schemas.microsoft.com/office/drawing/2014/main" id="{CF495B2A-50EF-4B94-1C1C-99E3DB78B211}"/>
              </a:ext>
            </a:extLst>
          </p:cNvPr>
          <p:cNvSpPr txBox="1"/>
          <p:nvPr/>
        </p:nvSpPr>
        <p:spPr>
          <a:xfrm>
            <a:off x="416560" y="5446530"/>
            <a:ext cx="5161280" cy="4308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Total Medicare patient revenue is reported by CMS in the Medicare Provider Analysis and Review Report (</a:t>
            </a:r>
            <a:r>
              <a:rPr kumimoji="0" lang="en-US" sz="1100" b="0" i="0" u="none" strike="noStrike" kern="1200" cap="none" spc="0" normalizeH="0" baseline="0" noProof="0" dirty="0" err="1">
                <a:ln>
                  <a:noFill/>
                </a:ln>
                <a:solidFill>
                  <a:srgbClr val="70AD47">
                    <a:lumMod val="75000"/>
                  </a:srgbClr>
                </a:solidFill>
                <a:effectLst/>
                <a:uLnTx/>
                <a:uFillTx/>
                <a:latin typeface="Arial" panose="020B0604020202020204" pitchFamily="34" charset="0"/>
                <a:cs typeface="Arial" panose="020B0604020202020204" pitchFamily="34" charset="0"/>
              </a:rPr>
              <a:t>MedPAR</a:t>
            </a: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 </a:t>
            </a:r>
          </a:p>
        </p:txBody>
      </p:sp>
      <p:sp>
        <p:nvSpPr>
          <p:cNvPr id="10" name="Rectangle 16">
            <a:extLst>
              <a:ext uri="{FF2B5EF4-FFF2-40B4-BE49-F238E27FC236}">
                <a16:creationId xmlns:a16="http://schemas.microsoft.com/office/drawing/2014/main" id="{802290A3-B694-4505-9BF2-D6CD7AF07C8B}"/>
              </a:ext>
            </a:extLst>
          </p:cNvPr>
          <p:cNvSpPr/>
          <p:nvPr/>
        </p:nvSpPr>
        <p:spPr>
          <a:xfrm>
            <a:off x="675642" y="6276083"/>
            <a:ext cx="3362960" cy="43088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In other analysis, the outpatient payer mix is assumed to mirror the inpatient payer mix. </a:t>
            </a:r>
          </a:p>
        </p:txBody>
      </p:sp>
      <p:sp>
        <p:nvSpPr>
          <p:cNvPr id="11" name="TextBox 12">
            <a:extLst>
              <a:ext uri="{FF2B5EF4-FFF2-40B4-BE49-F238E27FC236}">
                <a16:creationId xmlns:a16="http://schemas.microsoft.com/office/drawing/2014/main" id="{4D7BD8F7-B0DB-8CCC-E477-F7ABE50AAD26}"/>
              </a:ext>
            </a:extLst>
          </p:cNvPr>
          <p:cNvSpPr txBox="1"/>
          <p:nvPr/>
        </p:nvSpPr>
        <p:spPr>
          <a:xfrm>
            <a:off x="416560" y="5101049"/>
            <a:ext cx="5161280"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accent4">
                    <a:lumMod val="75000"/>
                  </a:schemeClr>
                </a:solidFill>
                <a:effectLst/>
                <a:uLnTx/>
                <a:uFillTx/>
                <a:latin typeface="Arial" panose="020B0604020202020204" pitchFamily="34" charset="0"/>
                <a:cs typeface="Arial" panose="020B0604020202020204" pitchFamily="34" charset="0"/>
              </a:rPr>
              <a:t>Values in yellow are taken from Definitive Healthcare data. </a:t>
            </a:r>
          </a:p>
        </p:txBody>
      </p:sp>
    </p:spTree>
    <p:extLst>
      <p:ext uri="{BB962C8B-B14F-4D97-AF65-F5344CB8AC3E}">
        <p14:creationId xmlns:p14="http://schemas.microsoft.com/office/powerpoint/2010/main" val="8386315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p:txBody>
          <a:bodyPr/>
          <a:lstStyle/>
          <a:p>
            <a:r>
              <a:rPr lang="en-US" b="1" dirty="0">
                <a:latin typeface="+mn-lt"/>
                <a:cs typeface="Arial" panose="020B0604020202020204" pitchFamily="34" charset="0"/>
              </a:rPr>
              <a:t>Estimation of Margin for </a:t>
            </a:r>
            <a:br>
              <a:rPr lang="en-US" b="1" dirty="0">
                <a:latin typeface="+mn-lt"/>
                <a:cs typeface="Arial" panose="020B0604020202020204" pitchFamily="34" charset="0"/>
              </a:rPr>
            </a:br>
            <a:r>
              <a:rPr lang="en-US" b="1" dirty="0">
                <a:latin typeface="+mn-lt"/>
                <a:cs typeface="Arial" panose="020B0604020202020204" pitchFamily="34" charset="0"/>
              </a:rPr>
              <a:t>Commercial vs. Government Pay</a:t>
            </a:r>
          </a:p>
        </p:txBody>
      </p:sp>
      <p:sp>
        <p:nvSpPr>
          <p:cNvPr id="3" name="Footer Placeholder 3">
            <a:extLst>
              <a:ext uri="{FF2B5EF4-FFF2-40B4-BE49-F238E27FC236}">
                <a16:creationId xmlns:a16="http://schemas.microsoft.com/office/drawing/2014/main" id="{AFDF3D97-D614-8EA4-3954-16EBCFCE0752}"/>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4" name="Slide Number Placeholder 4">
            <a:extLst>
              <a:ext uri="{FF2B5EF4-FFF2-40B4-BE49-F238E27FC236}">
                <a16:creationId xmlns:a16="http://schemas.microsoft.com/office/drawing/2014/main" id="{EDD4D069-E3A2-B95F-CBCE-DE712439D970}"/>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18BFBD36-1E96-1E59-E3A7-CCEF02D0CF96}"/>
              </a:ext>
            </a:extLst>
          </p:cNvPr>
          <p:cNvSpPr txBox="1">
            <a:spLocks/>
          </p:cNvSpPr>
          <p:nvPr/>
        </p:nvSpPr>
        <p:spPr>
          <a:xfrm>
            <a:off x="838200" y="2970212"/>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6" name="TextBox 7">
            <a:extLst>
              <a:ext uri="{FF2B5EF4-FFF2-40B4-BE49-F238E27FC236}">
                <a16:creationId xmlns:a16="http://schemas.microsoft.com/office/drawing/2014/main" id="{85163DF1-EB5C-1C3C-A93D-5F16CEEC2B92}"/>
              </a:ext>
            </a:extLst>
          </p:cNvPr>
          <p:cNvSpPr txBox="1"/>
          <p:nvPr/>
        </p:nvSpPr>
        <p:spPr>
          <a:xfrm>
            <a:off x="838199" y="1933595"/>
            <a:ext cx="4742179"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CMS/Government pay was paying at commercial rates)</a:t>
            </a:r>
          </a:p>
        </p:txBody>
      </p:sp>
      <p:sp>
        <p:nvSpPr>
          <p:cNvPr id="7" name="TextBox 8">
            <a:extLst>
              <a:ext uri="{FF2B5EF4-FFF2-40B4-BE49-F238E27FC236}">
                <a16:creationId xmlns:a16="http://schemas.microsoft.com/office/drawing/2014/main" id="{020B90EA-11B9-6E81-60B7-F3AFEA7FC5A7}"/>
              </a:ext>
            </a:extLst>
          </p:cNvPr>
          <p:cNvSpPr txBox="1"/>
          <p:nvPr/>
        </p:nvSpPr>
        <p:spPr>
          <a:xfrm>
            <a:off x="6827522" y="1933595"/>
            <a:ext cx="4358640"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commercial pay was paying at Medicare rate)</a:t>
            </a:r>
          </a:p>
        </p:txBody>
      </p:sp>
      <p:graphicFrame>
        <p:nvGraphicFramePr>
          <p:cNvPr id="8" name="Table 10">
            <a:extLst>
              <a:ext uri="{FF2B5EF4-FFF2-40B4-BE49-F238E27FC236}">
                <a16:creationId xmlns:a16="http://schemas.microsoft.com/office/drawing/2014/main" id="{30CE50B1-E66B-B63F-C96E-A434E7ECFB6C}"/>
              </a:ext>
            </a:extLst>
          </p:cNvPr>
          <p:cNvGraphicFramePr>
            <a:graphicFrameLocks noGrp="1"/>
          </p:cNvGraphicFramePr>
          <p:nvPr/>
        </p:nvGraphicFramePr>
        <p:xfrm>
          <a:off x="964071" y="3022094"/>
          <a:ext cx="4478017" cy="2021840"/>
        </p:xfrm>
        <a:graphic>
          <a:graphicData uri="http://schemas.openxmlformats.org/drawingml/2006/table">
            <a:tbl>
              <a:tblPr bandRow="1">
                <a:tableStyleId>{2D5ABB26-0587-4C30-8999-92F81FD0307C}</a:tableStyleId>
              </a:tblPr>
              <a:tblGrid>
                <a:gridCol w="2785247">
                  <a:extLst>
                    <a:ext uri="{9D8B030D-6E8A-4147-A177-3AD203B41FA5}">
                      <a16:colId xmlns:a16="http://schemas.microsoft.com/office/drawing/2014/main" val="1477699201"/>
                    </a:ext>
                  </a:extLst>
                </a:gridCol>
                <a:gridCol w="1692770">
                  <a:extLst>
                    <a:ext uri="{9D8B030D-6E8A-4147-A177-3AD203B41FA5}">
                      <a16:colId xmlns:a16="http://schemas.microsoft.com/office/drawing/2014/main" val="3897938436"/>
                    </a:ext>
                  </a:extLst>
                </a:gridCol>
              </a:tblGrid>
              <a:tr h="370840">
                <a:tc>
                  <a:txBody>
                    <a:bodyPr/>
                    <a:lstStyle/>
                    <a:p>
                      <a:r>
                        <a:rPr lang="en-US" dirty="0">
                          <a:solidFill>
                            <a:schemeClr val="tx1"/>
                          </a:solidFill>
                        </a:rPr>
                        <a:t>Estimated Total Revenue if All Patients Have Commercial Insurance*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8,693,841</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6,163,043</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rPr>
                        <a:t>$2,530,798K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rPr>
                        <a:t>29%</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9" name="Table 11">
            <a:extLst>
              <a:ext uri="{FF2B5EF4-FFF2-40B4-BE49-F238E27FC236}">
                <a16:creationId xmlns:a16="http://schemas.microsoft.com/office/drawing/2014/main" id="{BB254502-CBB2-8520-631D-31E05AB0F371}"/>
              </a:ext>
            </a:extLst>
          </p:cNvPr>
          <p:cNvGraphicFramePr>
            <a:graphicFrameLocks noGrp="1"/>
          </p:cNvGraphicFramePr>
          <p:nvPr/>
        </p:nvGraphicFramePr>
        <p:xfrm>
          <a:off x="6827522" y="3017014"/>
          <a:ext cx="4358640" cy="2026920"/>
        </p:xfrm>
        <a:graphic>
          <a:graphicData uri="http://schemas.openxmlformats.org/drawingml/2006/table">
            <a:tbl>
              <a:tblPr bandRow="1">
                <a:tableStyleId>{2D5ABB26-0587-4C30-8999-92F81FD0307C}</a:tableStyleId>
              </a:tblPr>
              <a:tblGrid>
                <a:gridCol w="2710997">
                  <a:extLst>
                    <a:ext uri="{9D8B030D-6E8A-4147-A177-3AD203B41FA5}">
                      <a16:colId xmlns:a16="http://schemas.microsoft.com/office/drawing/2014/main" val="1477699201"/>
                    </a:ext>
                  </a:extLst>
                </a:gridCol>
                <a:gridCol w="1647643">
                  <a:extLst>
                    <a:ext uri="{9D8B030D-6E8A-4147-A177-3AD203B41FA5}">
                      <a16:colId xmlns:a16="http://schemas.microsoft.com/office/drawing/2014/main" val="3897938436"/>
                    </a:ext>
                  </a:extLst>
                </a:gridCol>
              </a:tblGrid>
              <a:tr h="370840">
                <a:tc>
                  <a:txBody>
                    <a:bodyPr/>
                    <a:lstStyle/>
                    <a:p>
                      <a:r>
                        <a:rPr lang="en-US" dirty="0">
                          <a:solidFill>
                            <a:schemeClr val="tx1"/>
                          </a:solidFill>
                        </a:rPr>
                        <a:t>Estimated Total Revenue if All Patients Have Gov-Pay Insurance*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2,998,019</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6,163,043</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rPr>
                        <a:t>$ -3,165,024</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rPr>
                        <a:t>-106%</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sp>
        <p:nvSpPr>
          <p:cNvPr id="10" name="TextBox 12">
            <a:extLst>
              <a:ext uri="{FF2B5EF4-FFF2-40B4-BE49-F238E27FC236}">
                <a16:creationId xmlns:a16="http://schemas.microsoft.com/office/drawing/2014/main" id="{879CF531-03B5-98C7-7BF8-469C9D55F9E4}"/>
              </a:ext>
            </a:extLst>
          </p:cNvPr>
          <p:cNvSpPr txBox="1"/>
          <p:nvPr/>
        </p:nvSpPr>
        <p:spPr>
          <a:xfrm>
            <a:off x="1043940" y="5314948"/>
            <a:ext cx="4398148" cy="523220"/>
          </a:xfrm>
          <a:prstGeom prst="rect">
            <a:avLst/>
          </a:prstGeom>
          <a:noFill/>
        </p:spPr>
        <p:txBody>
          <a:bodyPr wrap="square" rtlCol="0">
            <a:spAutoFit/>
          </a:bodyPr>
          <a:lstStyle/>
          <a:p>
            <a:r>
              <a:rPr lang="en-US" sz="1400" dirty="0"/>
              <a:t>Calculated by dividing the current commercial revenue by the current commercial inpatient day payer mix.  </a:t>
            </a:r>
          </a:p>
        </p:txBody>
      </p:sp>
      <p:sp>
        <p:nvSpPr>
          <p:cNvPr id="11" name="TextBox 13">
            <a:extLst>
              <a:ext uri="{FF2B5EF4-FFF2-40B4-BE49-F238E27FC236}">
                <a16:creationId xmlns:a16="http://schemas.microsoft.com/office/drawing/2014/main" id="{5FAEC66D-2C5F-1BA4-6070-07C2BC7D18E6}"/>
              </a:ext>
            </a:extLst>
          </p:cNvPr>
          <p:cNvSpPr txBox="1"/>
          <p:nvPr/>
        </p:nvSpPr>
        <p:spPr>
          <a:xfrm>
            <a:off x="6827522" y="5314558"/>
            <a:ext cx="4114800" cy="523220"/>
          </a:xfrm>
          <a:prstGeom prst="rect">
            <a:avLst/>
          </a:prstGeom>
          <a:noFill/>
        </p:spPr>
        <p:txBody>
          <a:bodyPr wrap="square" rtlCol="0">
            <a:spAutoFit/>
          </a:bodyPr>
          <a:lstStyle/>
          <a:p>
            <a:r>
              <a:rPr lang="en-US" sz="1400" dirty="0"/>
              <a:t>Calculated by dividing the current gov-pay revenue by the current gov-pay inpatient day payer mix.  </a:t>
            </a:r>
          </a:p>
        </p:txBody>
      </p:sp>
    </p:spTree>
    <p:extLst>
      <p:ext uri="{BB962C8B-B14F-4D97-AF65-F5344CB8AC3E}">
        <p14:creationId xmlns:p14="http://schemas.microsoft.com/office/powerpoint/2010/main" val="36183411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838200" y="-184997"/>
            <a:ext cx="10515600" cy="1325563"/>
          </a:xfrm>
        </p:spPr>
        <p:txBody>
          <a:bodyPr>
            <a:normAutofit/>
          </a:bodyPr>
          <a:lstStyle/>
          <a:p>
            <a:r>
              <a:rPr lang="en-US" sz="4000" b="1" dirty="0">
                <a:solidFill>
                  <a:schemeClr val="tx1">
                    <a:lumMod val="85000"/>
                    <a:lumOff val="15000"/>
                  </a:schemeClr>
                </a:solidFill>
                <a:latin typeface="Arial" panose="020B0604020202020204" pitchFamily="34" charset="0"/>
                <a:cs typeface="Arial" panose="020B0604020202020204" pitchFamily="34" charset="0"/>
              </a:rPr>
              <a:t>Estimating Market Share</a:t>
            </a:r>
          </a:p>
        </p:txBody>
      </p:sp>
      <p:sp>
        <p:nvSpPr>
          <p:cNvPr id="3" name="Footer Placeholder 3">
            <a:extLst>
              <a:ext uri="{FF2B5EF4-FFF2-40B4-BE49-F238E27FC236}">
                <a16:creationId xmlns:a16="http://schemas.microsoft.com/office/drawing/2014/main" id="{E092F34F-7748-D9DB-3EE4-D064EA0B844B}"/>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4">
            <a:extLst>
              <a:ext uri="{FF2B5EF4-FFF2-40B4-BE49-F238E27FC236}">
                <a16:creationId xmlns:a16="http://schemas.microsoft.com/office/drawing/2014/main" id="{D40FF682-D105-5BF8-1FB9-A89C8D2FA780}"/>
              </a:ext>
            </a:extLst>
          </p:cNvPr>
          <p:cNvSpPr>
            <a:spLocks noGrp="1"/>
          </p:cNvSpPr>
          <p:nvPr>
            <p:ph type="sldNum" sz="quarter" idx="12"/>
          </p:nvPr>
        </p:nvSpPr>
        <p:spPr/>
        <p:txBody>
          <a:bodyPr/>
          <a:lstStyle/>
          <a:p>
            <a:fld id="{3AFC719D-C4A7-4544-876E-D411D11AF6C9}" type="slidenum">
              <a:rPr lang="en-US" smtClean="0"/>
              <a:t>28</a:t>
            </a:fld>
            <a:endParaRPr lang="en-US" dirty="0"/>
          </a:p>
        </p:txBody>
      </p:sp>
      <p:sp>
        <p:nvSpPr>
          <p:cNvPr id="5" name="TextBox 9">
            <a:extLst>
              <a:ext uri="{FF2B5EF4-FFF2-40B4-BE49-F238E27FC236}">
                <a16:creationId xmlns:a16="http://schemas.microsoft.com/office/drawing/2014/main" id="{DD333F58-1E5B-D213-65EE-BB627B8B12A8}"/>
              </a:ext>
            </a:extLst>
          </p:cNvPr>
          <p:cNvSpPr txBox="1"/>
          <p:nvPr/>
        </p:nvSpPr>
        <p:spPr>
          <a:xfrm>
            <a:off x="838199" y="6088454"/>
            <a:ext cx="10515600" cy="507831"/>
          </a:xfrm>
          <a:prstGeom prst="rect">
            <a:avLst/>
          </a:prstGeom>
          <a:noFill/>
        </p:spPr>
        <p:txBody>
          <a:bodyPr wrap="square" rtlCol="0">
            <a:spAutoFit/>
          </a:bodyPr>
          <a:lstStyle/>
          <a:p>
            <a:r>
              <a:rPr lang="en-US" sz="900" dirty="0">
                <a:solidFill/>
                <a:latin typeface="Arial" panose="020B0604020202020204" pitchFamily="34" charset="0"/>
                <a:cs typeface="Arial" panose="020B0604020202020204" pitchFamily="34" charset="0"/>
              </a:rPr>
              <a:t>For outpatient market share, it is estimated that only 56.1% of local physicians are employed by area hospitals (Research from the Physician Advocacy Institute:  </a:t>
            </a:r>
            <a:r>
              <a:rPr lang="en-US" sz="900" dirty="0">
                <a:latin typeface="Arial" panose="020B0604020202020204" pitchFamily="34" charset="0"/>
                <a:cs typeface="Arial" panose="020B0604020202020204" pitchFamily="34" charset="0"/>
                <a:hlinkClick r:id="rId2"/>
              </a:rPr>
              <a:t>https://www.physiciansadvocacyinstitute.org/Portals/0/assets/docs/PAI-Research/PAI-Avalere%20Physician%20Employment%20Trends%20Study%202019-2023%20Final.pdf?ver=uGHF46u1GSeZgYXMKFyYvw%3d%3d</a:t>
            </a:r>
            <a:r>
              <a:rPr lang="en-US" sz="900" dirty="0">
                <a:latin typeface="Arial" panose="020B0604020202020204" pitchFamily="34" charset="0"/>
                <a:cs typeface="Arial" panose="020B0604020202020204" pitchFamily="34" charset="0"/>
              </a:rPr>
              <a:t>)</a:t>
            </a:r>
          </a:p>
        </p:txBody>
      </p:sp>
      <p:graphicFrame>
        <p:nvGraphicFramePr>
          <p:cNvPr id="6" name="Table 5"/>
          <p:cNvGraphicFramePr>
            <a:graphicFrameLocks noGrp="1"/>
          </p:cNvGraphicFramePr>
          <p:nvPr>
            <p:extLst>
              <p:ext uri="{D42A27DB-BD31-4B8C-83A1-F6EECF244321}">
                <p14:modId xmlns:p14="http://schemas.microsoft.com/office/powerpoint/2010/main" val="1630215810"/>
              </p:ext>
            </p:extLst>
          </p:nvPr>
        </p:nvGraphicFramePr>
        <p:xfrm>
          <a:off x="914400" y="813917"/>
          <a:ext cx="9829800" cy="5247640"/>
        </p:xfrm>
        <a:graphic>
          <a:graphicData uri="http://schemas.openxmlformats.org/drawingml/2006/table">
            <a:tbl>
              <a:tblPr/>
              <a:tblGrid>
                <a:gridCol w="2743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319314">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Percent of Market Total (Assuming 56.1%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75627">
                <a:tc>
                  <a:txBody>
                    <a:bodyPr/>
                    <a:lstStyle/>
                    <a:p>
                      <a:pPr marL="63500" marR="63500" algn="l">
                        <a:lnSpc>
                          <a:spcPct val="100000"/>
                        </a:lnSpc>
                        <a:spcBef>
                          <a:spcPts val="0"/>
                        </a:spcBef>
                        <a:spcAft>
                          <a:spcPts val="0"/>
                        </a:spcAft>
                        <a:buNone/>
                      </a:pPr>
                      <a:r>
                        <a:rPr sz="1000" b="1" i="0" u="none" cap="none" dirty="0">
                          <a:solidFill>
                            <a:schemeClr val="accent1"/>
                          </a:solidFill>
                          <a:latin typeface="Arial"/>
                          <a:cs typeface="Arial"/>
                          <a:sym typeface="Arial"/>
                        </a:rPr>
                        <a:t>Lawrence &amp;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1" i="0" u="none" cap="none">
                          <a:solidFill>
                            <a:schemeClr val="accent1"/>
                          </a:solidFill>
                          <a:latin typeface="Arial"/>
                          <a:cs typeface="Arial"/>
                          <a:sym typeface="Arial"/>
                        </a:rPr>
                        <a:t>236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1" i="0" u="none" cap="none">
                          <a:solidFill>
                            <a:schemeClr val="accent1"/>
                          </a:solidFill>
                          <a:latin typeface="Arial"/>
                          <a:cs typeface="Arial"/>
                          <a:sym typeface="Arial"/>
                        </a:rPr>
                        <a:t>$  447,586.8K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1" i="0" u="none" cap="none">
                          <a:solidFill>
                            <a:schemeClr val="accent1"/>
                          </a:solidFill>
                          <a:latin typeface="Arial"/>
                          <a:cs typeface="Arial"/>
                          <a:sym typeface="Arial"/>
                        </a:rPr>
                        <a:t>$  954,108.5K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1" i="0" u="none" cap="none">
                          <a:solidFill>
                            <a:schemeClr val="accent1"/>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1" i="0" u="none" cap="none">
                          <a:solidFill>
                            <a:schemeClr val="accent1"/>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75627">
                <a:tc>
                  <a:txBody>
                    <a:bodyPr/>
                    <a:lstStyle/>
                    <a:p>
                      <a:pPr marL="63500" marR="63500" algn="l">
                        <a:lnSpc>
                          <a:spcPct val="100000"/>
                        </a:lnSpc>
                        <a:spcBef>
                          <a:spcPts val="0"/>
                        </a:spcBef>
                        <a:spcAft>
                          <a:spcPts val="0"/>
                        </a:spcAft>
                        <a:buNone/>
                      </a:pPr>
                      <a:r>
                        <a:rPr sz="1000" b="1" i="0" u="none" cap="none">
                          <a:solidFill>
                            <a:schemeClr val="accent1"/>
                          </a:solidFill>
                          <a:latin typeface="Arial"/>
                          <a:cs typeface="Arial"/>
                          <a:sym typeface="Arial"/>
                        </a:rPr>
                        <a:t>Bridgeport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1" i="0" u="none" cap="none" dirty="0">
                          <a:solidFill>
                            <a:schemeClr val="accent1"/>
                          </a:solidFill>
                          <a:latin typeface="Arial"/>
                          <a:cs typeface="Arial"/>
                          <a:sym typeface="Arial"/>
                        </a:rPr>
                        <a:t>390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1" i="0" u="none" cap="none">
                          <a:solidFill>
                            <a:schemeClr val="accent1"/>
                          </a:solidFill>
                          <a:latin typeface="Arial"/>
                          <a:cs typeface="Arial"/>
                          <a:sym typeface="Arial"/>
                        </a:rPr>
                        <a:t>$1,218,329.2K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1" i="0" u="none" cap="none">
                          <a:solidFill>
                            <a:schemeClr val="accent1"/>
                          </a:solidFill>
                          <a:latin typeface="Arial"/>
                          <a:cs typeface="Arial"/>
                          <a:sym typeface="Arial"/>
                        </a:rPr>
                        <a:t>$1,660,953.2K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1" i="0" u="none" cap="none">
                          <a:solidFill>
                            <a:schemeClr val="accent1"/>
                          </a:solidFill>
                          <a:latin typeface="Arial"/>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1" i="0" u="none" cap="none">
                          <a:solidFill>
                            <a:schemeClr val="accent1"/>
                          </a:solidFill>
                          <a:latin typeface="Arial"/>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75627">
                <a:tc>
                  <a:txBody>
                    <a:bodyPr/>
                    <a:lstStyle/>
                    <a:p>
                      <a:pPr marL="63500" marR="63500" algn="l">
                        <a:lnSpc>
                          <a:spcPct val="100000"/>
                        </a:lnSpc>
                        <a:spcBef>
                          <a:spcPts val="0"/>
                        </a:spcBef>
                        <a:spcAft>
                          <a:spcPts val="0"/>
                        </a:spcAft>
                        <a:buNone/>
                      </a:pPr>
                      <a:r>
                        <a:rPr sz="1000" b="1" i="0" u="none" cap="none">
                          <a:solidFill>
                            <a:schemeClr val="accent1"/>
                          </a:solidFill>
                          <a:latin typeface="Arial"/>
                          <a:cs typeface="Arial"/>
                          <a:sym typeface="Arial"/>
                        </a:rPr>
                        <a:t>Greenwich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1" i="0" u="none" cap="none">
                          <a:solidFill>
                            <a:schemeClr val="accent1"/>
                          </a:solidFill>
                          <a:latin typeface="Arial"/>
                          <a:cs typeface="Arial"/>
                          <a:sym typeface="Arial"/>
                        </a:rPr>
                        <a:t>185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1" i="0" u="none" cap="none" dirty="0">
                          <a:solidFill>
                            <a:schemeClr val="accent1"/>
                          </a:solidFill>
                          <a:latin typeface="Arial"/>
                          <a:cs typeface="Arial"/>
                          <a:sym typeface="Arial"/>
                        </a:rPr>
                        <a:t>$  554,635.2K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1" i="0" u="none" cap="none" dirty="0">
                          <a:solidFill>
                            <a:schemeClr val="accent1"/>
                          </a:solidFill>
                          <a:latin typeface="Arial"/>
                          <a:cs typeface="Arial"/>
                          <a:sym typeface="Arial"/>
                        </a:rPr>
                        <a:t>$1,059,206.2K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1" i="0" u="none" cap="none">
                          <a:solidFill>
                            <a:schemeClr val="accent1"/>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1" i="0" u="none" cap="none">
                          <a:solidFill>
                            <a:schemeClr val="accent1"/>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75627">
                <a:tc>
                  <a:txBody>
                    <a:bodyPr/>
                    <a:lstStyle/>
                    <a:p>
                      <a:pPr marL="63500" marR="63500" algn="l">
                        <a:lnSpc>
                          <a:spcPct val="100000"/>
                        </a:lnSpc>
                        <a:spcBef>
                          <a:spcPts val="0"/>
                        </a:spcBef>
                        <a:spcAft>
                          <a:spcPts val="0"/>
                        </a:spcAft>
                        <a:buNone/>
                      </a:pPr>
                      <a:r>
                        <a:rPr sz="1000" b="1" i="0" u="none" cap="none">
                          <a:solidFill>
                            <a:schemeClr val="accent1"/>
                          </a:solidFill>
                          <a:latin typeface="Arial"/>
                          <a:cs typeface="Arial"/>
                          <a:sym typeface="Arial"/>
                        </a:rPr>
                        <a:t>Yale New Haven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1" i="0" u="none" cap="none">
                          <a:solidFill>
                            <a:schemeClr val="accent1"/>
                          </a:solidFill>
                          <a:latin typeface="Arial"/>
                          <a:cs typeface="Arial"/>
                          <a:sym typeface="Arial"/>
                        </a:rPr>
                        <a:t>1,293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1" i="0" u="none" cap="none">
                          <a:solidFill>
                            <a:schemeClr val="accent1"/>
                          </a:solidFill>
                          <a:latin typeface="Arial"/>
                          <a:cs typeface="Arial"/>
                          <a:sym typeface="Arial"/>
                        </a:rPr>
                        <a:t>$5,654,580.0K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1" i="0" u="none" cap="none">
                          <a:solidFill>
                            <a:schemeClr val="accent1"/>
                          </a:solidFill>
                          <a:latin typeface="Arial"/>
                          <a:cs typeface="Arial"/>
                          <a:sym typeface="Arial"/>
                        </a:rPr>
                        <a:t>$6,311,818.3K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1" i="0" u="none" cap="none" dirty="0">
                          <a:solidFill>
                            <a:schemeClr val="accent1"/>
                          </a:solidFill>
                          <a:latin typeface="Arial"/>
                          <a:cs typeface="Arial"/>
                          <a:sym typeface="Arial"/>
                        </a:rPr>
                        <a:t>21%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1" i="0" u="none" cap="none">
                          <a:solidFill>
                            <a:schemeClr val="accent1"/>
                          </a:solidFill>
                          <a:latin typeface="Arial"/>
                          <a:cs typeface="Arial"/>
                          <a:sym typeface="Arial"/>
                        </a:rPr>
                        <a:t>10%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75627">
                <a:tc>
                  <a:txBody>
                    <a:bodyPr/>
                    <a:lstStyle/>
                    <a:p>
                      <a:pPr marL="63500" marR="63500" algn="l">
                        <a:lnSpc>
                          <a:spcPct val="100000"/>
                        </a:lnSpc>
                        <a:spcBef>
                          <a:spcPts val="0"/>
                        </a:spcBef>
                        <a:spcAft>
                          <a:spcPts val="0"/>
                        </a:spcAft>
                        <a:buNone/>
                      </a:pPr>
                      <a:r>
                        <a:rPr sz="1000" b="1" i="0" u="none" cap="none">
                          <a:solidFill>
                            <a:schemeClr val="accent1"/>
                          </a:solidFill>
                          <a:latin typeface="Arial"/>
                          <a:cs typeface="Arial"/>
                          <a:sym typeface="Arial"/>
                        </a:rPr>
                        <a:t>Westerly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1" i="0" u="none" cap="none">
                          <a:solidFill>
                            <a:schemeClr val="accent1"/>
                          </a:solidFill>
                          <a:latin typeface="Arial"/>
                          <a:cs typeface="Arial"/>
                          <a:sym typeface="Arial"/>
                        </a:rPr>
                        <a:t>77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1" i="0" u="none" cap="none">
                          <a:solidFill>
                            <a:schemeClr val="accent1"/>
                          </a:solidFill>
                          <a:latin typeface="Arial"/>
                          <a:cs typeface="Arial"/>
                          <a:sym typeface="Arial"/>
                        </a:rPr>
                        <a:t>$  124,194.6K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1" i="0" u="none" cap="none">
                          <a:solidFill>
                            <a:schemeClr val="accent1"/>
                          </a:solidFill>
                          <a:latin typeface="Arial"/>
                          <a:cs typeface="Arial"/>
                          <a:sym typeface="Arial"/>
                        </a:rPr>
                        <a:t>$  346,220.4K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1" i="0" u="none" cap="none" dirty="0">
                          <a:solidFill>
                            <a:schemeClr val="accent1"/>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1" i="0" u="none" cap="none" dirty="0">
                          <a:solidFill>
                            <a:schemeClr val="accent1"/>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75627">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Saint Francis Hospital and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413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$1,340,247.2K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$1,541,642.9K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75627">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Day Kimball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104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85,840.4K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220,492.4K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75627">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Sharon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50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47,816.9K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91,125.9K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75627">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Waterbury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235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736,554.5K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510,313.8K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75627">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Stamford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288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984,887.5K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$2,604,293.6K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75627">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Johnson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44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   41,578.9K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110,572.4K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75627">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Charlotte Hungerford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108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228,909.8K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384,815.7K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75627">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Rockville General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102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12,608.7K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113,957.7K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75627">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Saint Marys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146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380,829.7K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  690,785.1K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75627">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MidState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143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  500,688.5K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571,440.7K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r h="75627">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Middlesex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187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534,236.7K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$1,085,720.5K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6"/>
                  </a:ext>
                </a:extLst>
              </a:tr>
              <a:tr h="75627">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Windham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46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74,380.7K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291,897.5K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7"/>
                  </a:ext>
                </a:extLst>
              </a:tr>
              <a:tr h="75627">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The William W Backus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187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  571,547.5K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  893,592.3K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8"/>
                  </a:ext>
                </a:extLst>
              </a:tr>
              <a:tr h="75627">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Hartford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723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$3,487,497.8K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$2,075,998.8K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9"/>
                  </a:ext>
                </a:extLst>
              </a:tr>
              <a:tr h="75627">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Manchester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123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460,607.7K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397,124.9K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0"/>
                  </a:ext>
                </a:extLst>
              </a:tr>
              <a:tr h="75627">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St Vincents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219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$1,070,223.8K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  852,257.2K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1"/>
                  </a:ext>
                </a:extLst>
              </a:tr>
              <a:tr h="75627">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Bristol Health</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123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208,923.8K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407,273.7K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2"/>
                  </a:ext>
                </a:extLst>
              </a:tr>
              <a:tr h="75627">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Griffin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101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356,761.5K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712,958.1K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3"/>
                  </a:ext>
                </a:extLst>
              </a:tr>
              <a:tr h="75627">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Danbury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423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$1,074,812.4K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$1,426,508.1K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4"/>
                  </a:ext>
                </a:extLst>
              </a:tr>
              <a:tr h="75627">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Norwalk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186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537,149.7K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  673,734.5K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5"/>
                  </a:ext>
                </a:extLst>
              </a:tr>
              <a:tr h="75627">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The Hospital of Central Connecticut - Bradley Memorial Campus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414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840,329.7K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$1,071,579.3K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6"/>
                  </a:ext>
                </a:extLst>
              </a:tr>
              <a:tr h="75627">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UConn John Dempsey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141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602,843.6K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$1,165,156.3K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7"/>
                  </a:ext>
                </a:extLst>
              </a:tr>
              <a:tr h="75627">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The Connecticut Hospice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5,319.3K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11,392.9K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8"/>
                  </a:ext>
                </a:extLst>
              </a:tr>
              <a:tr h="75627">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Connecticut Childrens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187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639,114.5K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547,547.5K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9"/>
                  </a:ext>
                </a:extLst>
              </a:tr>
              <a:tr h="75627">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Roger Williams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148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241,746.0K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368,552.4K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0"/>
                  </a:ext>
                </a:extLst>
              </a:tr>
              <a:tr h="75627">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Our Lady of Fatima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185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232,639.5K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334,609.3K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1"/>
                  </a:ext>
                </a:extLst>
              </a:tr>
              <a:tr h="75627">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Newport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66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146,440.5K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256,665.1K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2"/>
                  </a:ext>
                </a:extLst>
              </a:tr>
              <a:tr h="75627">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Rhode Island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737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$1,888,355.2K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$2,563,481.1K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3"/>
                  </a:ext>
                </a:extLst>
              </a:tr>
              <a:tr h="75627">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South County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79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191,787.0K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524,498.8K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4"/>
                  </a:ext>
                </a:extLst>
              </a:tr>
              <a:tr h="75627">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Kent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323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443,081.7K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624,297.1K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5"/>
                  </a:ext>
                </a:extLst>
              </a:tr>
              <a:tr h="75627">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Women &amp; Infants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247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455,540.2K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610,806.8K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6"/>
                  </a:ext>
                </a:extLst>
              </a:tr>
              <a:tr h="75627">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Landmark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113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333,949.5K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387,442.8K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7"/>
                  </a:ext>
                </a:extLst>
              </a:tr>
              <a:tr h="75627">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Miriam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247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685,354.4K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$1,147,561.2K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8"/>
                  </a:ext>
                </a:extLst>
              </a:tr>
            </a:tbl>
          </a:graphicData>
        </a:graphic>
      </p:graphicFrame>
    </p:spTree>
    <p:extLst>
      <p:ext uri="{BB962C8B-B14F-4D97-AF65-F5344CB8AC3E}">
        <p14:creationId xmlns:p14="http://schemas.microsoft.com/office/powerpoint/2010/main" val="30349230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407746286"/>
              </p:ext>
            </p:extLst>
          </p:nvPr>
        </p:nvGraphicFramePr>
        <p:xfrm>
          <a:off x="0" y="-1"/>
          <a:ext cx="12192000" cy="6734633"/>
        </p:xfrm>
        <a:graphic>
          <a:graphicData uri="http://schemas.openxmlformats.org/drawingml/2006/table">
            <a:tbl>
              <a:tblPr/>
              <a:tblGrid>
                <a:gridCol w="3300414">
                  <a:extLst>
                    <a:ext uri="{9D8B030D-6E8A-4147-A177-3AD203B41FA5}">
                      <a16:colId xmlns:a16="http://schemas.microsoft.com/office/drawing/2014/main" val="20000"/>
                    </a:ext>
                  </a:extLst>
                </a:gridCol>
                <a:gridCol w="2324967">
                  <a:extLst>
                    <a:ext uri="{9D8B030D-6E8A-4147-A177-3AD203B41FA5}">
                      <a16:colId xmlns:a16="http://schemas.microsoft.com/office/drawing/2014/main" val="20001"/>
                    </a:ext>
                  </a:extLst>
                </a:gridCol>
                <a:gridCol w="1583615">
                  <a:extLst>
                    <a:ext uri="{9D8B030D-6E8A-4147-A177-3AD203B41FA5}">
                      <a16:colId xmlns:a16="http://schemas.microsoft.com/office/drawing/2014/main" val="20002"/>
                    </a:ext>
                  </a:extLst>
                </a:gridCol>
                <a:gridCol w="1583895">
                  <a:extLst>
                    <a:ext uri="{9D8B030D-6E8A-4147-A177-3AD203B41FA5}">
                      <a16:colId xmlns:a16="http://schemas.microsoft.com/office/drawing/2014/main" val="20003"/>
                    </a:ext>
                  </a:extLst>
                </a:gridCol>
                <a:gridCol w="1950616">
                  <a:extLst>
                    <a:ext uri="{9D8B030D-6E8A-4147-A177-3AD203B41FA5}">
                      <a16:colId xmlns:a16="http://schemas.microsoft.com/office/drawing/2014/main" val="20004"/>
                    </a:ext>
                  </a:extLst>
                </a:gridCol>
                <a:gridCol w="1448493">
                  <a:extLst>
                    <a:ext uri="{9D8B030D-6E8A-4147-A177-3AD203B41FA5}">
                      <a16:colId xmlns:a16="http://schemas.microsoft.com/office/drawing/2014/main" val="20005"/>
                    </a:ext>
                  </a:extLst>
                </a:gridCol>
              </a:tblGrid>
              <a:tr h="325010">
                <a:tc gridSpan="6">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516819">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Lawrence &amp; Memorial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Bridgeport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Greenwich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Yale New Haven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Westerly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930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$144,123K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$326,512K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$166,391K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$1,713,338K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$32,787K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2930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$307,223K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$445,135K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$317,762K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$1,912,481K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$91,402K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2930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$68,499K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$135,666K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$84,155K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$575,969K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$24,398K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45288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$58,481K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$134,595K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$27,485K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$572,102K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$11,196K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2930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$324,582K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$500,601K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$373,280K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$2,481,412K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$88,665K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2930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$35,841K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$81,586K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$25,767K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$260,645K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$8,350K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2930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$149,748K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$382,086K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$182,594K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$1,943,925K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$38,546K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2930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$319,215K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$520,900K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$348,706K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$2,169,869K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$107,455K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2930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$468,963K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$902,986K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$531,300K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$4,113,794K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$146,000K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2930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$-17,401K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$-132,124K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$-46,379K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$-484,311K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$-21,741K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2930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Medicare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30.8%</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28.9%</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36.4%</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23.7%</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35.4%</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2"/>
                  </a:ext>
                </a:extLst>
              </a:tr>
              <a:tr h="2930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Medicaid</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19.7%</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23.3%</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4.7%</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26.6%</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0.7%</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3"/>
                  </a:ext>
                </a:extLst>
              </a:tr>
              <a:tr h="2930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Other Government-Pay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4"/>
                  </a:ext>
                </a:extLst>
              </a:tr>
              <a:tr h="2930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Payer Mix Percent No 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 9.6%</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6.7%</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6.3%</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5"/>
                  </a:ext>
                </a:extLst>
              </a:tr>
              <a:tr h="2930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Commercial</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42.2%</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38.2%</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53.8%</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43.0%</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57.7%</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16"/>
                  </a:ext>
                </a:extLst>
              </a:tr>
              <a:tr h="2930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39.1%</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31.0%</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23.4%</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28.7%</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261073">
                <a:tc gridSpan="6">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61073">
                <a:tc gridSpan="6">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61073">
                <a:tc gridSpan="6">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261073">
                <a:tc gridSpan="6">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E54E0CA3-8729-0C22-A99D-64AA84C3DC78}"/>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7C883DE4-3AC3-AC60-06C5-41C0EE69E332}"/>
              </a:ext>
            </a:extLst>
          </p:cNvPr>
          <p:cNvSpPr>
            <a:spLocks noGrp="1"/>
          </p:cNvSpPr>
          <p:nvPr>
            <p:ph type="title"/>
          </p:nvPr>
        </p:nvSpPr>
        <p:spPr>
          <a:xfrm>
            <a:off x="611635" y="389125"/>
            <a:ext cx="10955969" cy="1325563"/>
          </a:xfrm>
        </p:spPr>
        <p:txBody>
          <a:bodyPr/>
          <a:lstStyle/>
          <a:p>
            <a:r>
              <a:rPr lang="en-US" b="1" dirty="0">
                <a:latin typeface="Arial" panose="020B0604020202020204" pitchFamily="34" charset="0"/>
                <a:cs typeface="Arial" panose="020B0604020202020204" pitchFamily="34" charset="0"/>
              </a:rPr>
              <a:t>Estimating PMPY Spend (KBA Data)</a:t>
            </a:r>
          </a:p>
        </p:txBody>
      </p:sp>
      <p:graphicFrame>
        <p:nvGraphicFramePr>
          <p:cNvPr id="4" name="Content Placeholder 5">
            <a:extLst>
              <a:ext uri="{FF2B5EF4-FFF2-40B4-BE49-F238E27FC236}">
                <a16:creationId xmlns:a16="http://schemas.microsoft.com/office/drawing/2014/main" id="{3C07E302-CC45-B04C-2C2D-C436C7863084}"/>
              </a:ext>
            </a:extLst>
          </p:cNvPr>
          <p:cNvGraphicFramePr>
            <a:graphicFrameLocks noGrp="1"/>
          </p:cNvGraphicFramePr>
          <p:nvPr>
            <p:ph idx="1"/>
          </p:nvPr>
        </p:nvGraphicFramePr>
        <p:xfrm>
          <a:off x="727045" y="2103813"/>
          <a:ext cx="10955969" cy="1977078"/>
        </p:xfrm>
        <a:graphic>
          <a:graphicData uri="http://schemas.openxmlformats.org/drawingml/2006/table">
            <a:tbl>
              <a:tblPr>
                <a:tableStyleId>{0E3FDE45-AF77-4B5C-9715-49D594BDF05E}</a:tableStyleId>
              </a:tblPr>
              <a:tblGrid>
                <a:gridCol w="1547010">
                  <a:extLst>
                    <a:ext uri="{9D8B030D-6E8A-4147-A177-3AD203B41FA5}">
                      <a16:colId xmlns:a16="http://schemas.microsoft.com/office/drawing/2014/main" val="3362999399"/>
                    </a:ext>
                  </a:extLst>
                </a:gridCol>
                <a:gridCol w="1623242">
                  <a:extLst>
                    <a:ext uri="{9D8B030D-6E8A-4147-A177-3AD203B41FA5}">
                      <a16:colId xmlns:a16="http://schemas.microsoft.com/office/drawing/2014/main" val="2451770454"/>
                    </a:ext>
                  </a:extLst>
                </a:gridCol>
                <a:gridCol w="1926454">
                  <a:extLst>
                    <a:ext uri="{9D8B030D-6E8A-4147-A177-3AD203B41FA5}">
                      <a16:colId xmlns:a16="http://schemas.microsoft.com/office/drawing/2014/main" val="502797257"/>
                    </a:ext>
                  </a:extLst>
                </a:gridCol>
                <a:gridCol w="1677880">
                  <a:extLst>
                    <a:ext uri="{9D8B030D-6E8A-4147-A177-3AD203B41FA5}">
                      <a16:colId xmlns:a16="http://schemas.microsoft.com/office/drawing/2014/main" val="922876968"/>
                    </a:ext>
                  </a:extLst>
                </a:gridCol>
                <a:gridCol w="1633491">
                  <a:extLst>
                    <a:ext uri="{9D8B030D-6E8A-4147-A177-3AD203B41FA5}">
                      <a16:colId xmlns:a16="http://schemas.microsoft.com/office/drawing/2014/main" val="182128588"/>
                    </a:ext>
                  </a:extLst>
                </a:gridCol>
                <a:gridCol w="2547892">
                  <a:extLst>
                    <a:ext uri="{9D8B030D-6E8A-4147-A177-3AD203B41FA5}">
                      <a16:colId xmlns:a16="http://schemas.microsoft.com/office/drawing/2014/main" val="3900443217"/>
                    </a:ext>
                  </a:extLst>
                </a:gridCol>
              </a:tblGrid>
              <a:tr h="620649">
                <a:tc>
                  <a:txBody>
                    <a:bodyPr/>
                    <a:lstStyle/>
                    <a:p>
                      <a:pPr algn="l" fontAlgn="b"/>
                      <a:r>
                        <a:rPr lang="en-US" sz="1400" u="none" strike="noStrike" dirty="0">
                          <a:effectLst/>
                        </a:rPr>
                        <a:t>Category</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Allowed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Paid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Member Years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Nationwide Average of Paid Claims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1" u="none" strike="noStrike" dirty="0">
                          <a:effectLst/>
                        </a:rPr>
                        <a:t>Adjusted </a:t>
                      </a:r>
                      <a:r>
                        <a:rPr lang="en-US" sz="1400" b="1" u="none" strike="noStrike">
                          <a:solidFill/>
                          <a:effectLst/>
                        </a:rPr>
                        <a:t>to Connecticut and Rhode Island </a:t>
                      </a:r>
                      <a:r>
                        <a:rPr lang="en-US" sz="1400" b="1" u="none" strike="noStrike" dirty="0">
                          <a:effectLst/>
                        </a:rPr>
                        <a:t>Rates</a:t>
                      </a:r>
                      <a:endParaRPr lang="en-US" sz="1400" b="1" i="0" u="none" strike="noStrike" dirty="0">
                        <a:solidFill>
                          <a:srgbClr val="000000"/>
                        </a:solidFill>
                        <a:effectLst/>
                        <a:latin typeface="Calibri" panose="020F0502020204030204" pitchFamily="34"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953059960"/>
                  </a:ext>
                </a:extLst>
              </a:tr>
              <a:tr h="452143">
                <a:tc>
                  <a:txBody>
                    <a:bodyPr/>
                    <a:lstStyle/>
                    <a:p>
                      <a:pPr algn="l" fontAlgn="b"/>
                      <a:r>
                        <a:rPr lang="en-US" sz="1400" u="none" strike="noStrike" dirty="0">
                          <a:effectLst/>
                        </a:rPr>
                        <a:t>Inpatient</a:t>
                      </a:r>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$ 561,766,609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$ 358,815,229 </a:t>
                      </a:r>
                    </a:p>
                  </a:txBody>
                  <a:tcPr marL="9525" marR="9525" marT="9525" marB="0" anchor="b"/>
                </a:tc>
                <a:tc rowSpan="3">
                  <a:txBody>
                    <a:bodyPr/>
                    <a:lstStyle/>
                    <a:p>
                      <a:pPr algn="ctr" fontAlgn="b"/>
                      <a:r>
                        <a:rPr lang="en-US" sz="1400" b="0" i="0" u="none" strike="noStrike" dirty="0">
                          <a:solidFill>
                            <a:srgbClr val="000000"/>
                          </a:solidFill>
                          <a:effectLst/>
                          <a:latin typeface="Calibri" panose="020F0502020204030204" pitchFamily="34" charset="0"/>
                        </a:rPr>
                        <a:t> 105,492 </a:t>
                      </a:r>
                    </a:p>
                    <a:p>
                      <a:pPr algn="ctr" fontAlgn="b"/>
                      <a:r>
                        <a:rPr lang="en-US" sz="1400" b="0" i="0" u="none" strike="noStrike" dirty="0">
                          <a:solidFill>
                            <a:srgbClr val="000000"/>
                          </a:solidFill>
                          <a:effectLst/>
                          <a:latin typeface="Calibri" panose="020F0502020204030204" pitchFamily="34" charset="0"/>
                        </a:rPr>
                        <a:t> </a:t>
                      </a:r>
                    </a:p>
                    <a:p>
                      <a:pPr algn="ctr" fontAlgn="b"/>
                      <a:endParaRPr lang="en-US" sz="1400" b="0" i="0" u="none" strike="noStrike" dirty="0">
                        <a:solidFill>
                          <a:srgbClr val="000000"/>
                        </a:solidFill>
                        <a:effectLst/>
                        <a:latin typeface="Calibri" panose="020F0502020204030204" pitchFamily="34" charset="0"/>
                      </a:endParaRPr>
                    </a:p>
                    <a:p>
                      <a:pPr algn="ctr" fontAlgn="b"/>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$ 3,401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$ 3,401</a:t>
                      </a:r>
                    </a:p>
                  </a:txBody>
                  <a:tcPr marL="9525" marR="9525" marT="9525" marB="0" anchor="b">
                    <a:solidFill>
                      <a:schemeClr val="accent1">
                        <a:lumMod val="20000"/>
                        <a:lumOff val="80000"/>
                      </a:schemeClr>
                    </a:solidFill>
                  </a:tcPr>
                </a:tc>
                <a:extLst>
                  <a:ext uri="{0D108BD9-81ED-4DB2-BD59-A6C34878D82A}">
                    <a16:rowId xmlns:a16="http://schemas.microsoft.com/office/drawing/2014/main" val="405929793"/>
                  </a:ext>
                </a:extLst>
              </a:tr>
              <a:tr h="452143">
                <a:tc>
                  <a:txBody>
                    <a:bodyPr/>
                    <a:lstStyle/>
                    <a:p>
                      <a:pPr algn="l" fontAlgn="b"/>
                      <a:r>
                        <a:rPr lang="en-US" sz="1400" u="none" strike="noStrike">
                          <a:effectLst/>
                        </a:rPr>
                        <a:t>OutPatient</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$ 1,223,989,466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$ 652,333,702 </a:t>
                      </a:r>
                    </a:p>
                  </a:txBody>
                  <a:tcPr marL="9525" marR="9525" marT="9525" marB="0" anchor="b"/>
                </a:tc>
                <a:tc vMerge="1">
                  <a:txBody>
                    <a:bodyPr/>
                    <a:lstStyle/>
                    <a:p>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$ 6,184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$ 6,184</a:t>
                      </a:r>
                    </a:p>
                  </a:txBody>
                  <a:tcPr marL="9525" marR="9525" marT="9525" marB="0" anchor="b">
                    <a:solidFill>
                      <a:schemeClr val="accent1">
                        <a:lumMod val="20000"/>
                        <a:lumOff val="80000"/>
                      </a:schemeClr>
                    </a:solidFill>
                  </a:tcPr>
                </a:tc>
                <a:extLst>
                  <a:ext uri="{0D108BD9-81ED-4DB2-BD59-A6C34878D82A}">
                    <a16:rowId xmlns:a16="http://schemas.microsoft.com/office/drawing/2014/main" val="1220429663"/>
                  </a:ext>
                </a:extLst>
              </a:tr>
              <a:tr h="452143">
                <a:tc>
                  <a:txBody>
                    <a:bodyPr/>
                    <a:lstStyle/>
                    <a:p>
                      <a:pPr algn="l" fontAlgn="b"/>
                      <a:r>
                        <a:rPr lang="en-US" sz="1400" u="none" strike="noStrike">
                          <a:effectLst/>
                        </a:rPr>
                        <a:t>Professional</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$ 549,353,224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$ 304,634,120 </a:t>
                      </a:r>
                    </a:p>
                  </a:txBody>
                  <a:tcPr marL="9525" marR="9525" marT="9525" marB="0" anchor="b"/>
                </a:tc>
                <a:tc vMerge="1">
                  <a:txBody>
                    <a:bodyPr/>
                    <a:lstStyle/>
                    <a:p>
                      <a:endParaRPr dirty="0"/>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$ 2,888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$ 2,888</a:t>
                      </a:r>
                    </a:p>
                  </a:txBody>
                  <a:tcPr marL="9525" marR="9525" marT="9525" marB="0" anchor="b">
                    <a:solidFill>
                      <a:schemeClr val="accent1">
                        <a:lumMod val="20000"/>
                        <a:lumOff val="80000"/>
                      </a:schemeClr>
                    </a:solidFill>
                  </a:tcPr>
                </a:tc>
                <a:extLst>
                  <a:ext uri="{0D108BD9-81ED-4DB2-BD59-A6C34878D82A}">
                    <a16:rowId xmlns:a16="http://schemas.microsoft.com/office/drawing/2014/main" val="3164641254"/>
                  </a:ext>
                </a:extLst>
              </a:tr>
            </a:tbl>
          </a:graphicData>
        </a:graphic>
      </p:graphicFrame>
      <p:sp>
        <p:nvSpPr>
          <p:cNvPr id="5" name="Footer Placeholder 3">
            <a:extLst>
              <a:ext uri="{FF2B5EF4-FFF2-40B4-BE49-F238E27FC236}">
                <a16:creationId xmlns:a16="http://schemas.microsoft.com/office/drawing/2014/main" id="{7BA580EB-C284-801F-0C01-7F0E0784CDF5}"/>
              </a:ext>
            </a:extLst>
          </p:cNvPr>
          <p:cNvSpPr>
            <a:spLocks noGrp="1"/>
          </p:cNvSpPr>
          <p:nvPr>
            <p:ph type="ftr" sz="quarter" idx="11"/>
          </p:nvPr>
        </p:nvSpPr>
        <p:spPr/>
        <p:txBody>
          <a:bodyPr/>
          <a:lstStyle/>
          <a:p>
            <a:r>
              <a:rPr lang="en-US"/>
              <a:t>Key Benefit Administrators</a:t>
            </a:r>
            <a:endParaRPr lang="en-US" dirty="0"/>
          </a:p>
        </p:txBody>
      </p:sp>
      <p:sp>
        <p:nvSpPr>
          <p:cNvPr id="6" name="Slide Number Placeholder 4">
            <a:extLst>
              <a:ext uri="{FF2B5EF4-FFF2-40B4-BE49-F238E27FC236}">
                <a16:creationId xmlns:a16="http://schemas.microsoft.com/office/drawing/2014/main" id="{61D448FD-C0CB-66DA-9574-CB79C1BD7A9D}"/>
              </a:ext>
            </a:extLst>
          </p:cNvPr>
          <p:cNvSpPr>
            <a:spLocks noGrp="1"/>
          </p:cNvSpPr>
          <p:nvPr>
            <p:ph type="sldNum" sz="quarter" idx="12"/>
          </p:nvPr>
        </p:nvSpPr>
        <p:spPr/>
        <p:txBody>
          <a:bodyPr/>
          <a:lstStyle/>
          <a:p>
            <a:fld id="{3AFC719D-C4A7-4544-876E-D411D11AF6C9}" type="slidenum">
              <a:rPr lang="en-US" smtClean="0"/>
              <a:t>30</a:t>
            </a:fld>
            <a:endParaRPr lang="en-US" dirty="0"/>
          </a:p>
        </p:txBody>
      </p:sp>
      <p:sp>
        <p:nvSpPr>
          <p:cNvPr id="7" name="TextBox 6">
            <a:extLst>
              <a:ext uri="{FF2B5EF4-FFF2-40B4-BE49-F238E27FC236}">
                <a16:creationId xmlns:a16="http://schemas.microsoft.com/office/drawing/2014/main" id="{CD602C75-9647-2A81-5720-669FD6EEB5F4}"/>
              </a:ext>
            </a:extLst>
          </p:cNvPr>
          <p:cNvSpPr txBox="1"/>
          <p:nvPr/>
        </p:nvSpPr>
        <p:spPr>
          <a:xfrm>
            <a:off x="1012053" y="4583495"/>
            <a:ext cx="10555551" cy="1384995"/>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KBA utilizes its data warehouse with greater than $3B in yearly adjudicated charges to estimate PMPY spend by inpatient, outpatient and professional charges. Pharmacy and non-health-system charges are excluded.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Using the Milliman area adjustment factors by zip code, charges are standardized to local estimates.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These estimated charges are conservative as KBA claims average ~15% below the market average. </a:t>
            </a:r>
          </a:p>
        </p:txBody>
      </p:sp>
    </p:spTree>
    <p:extLst>
      <p:ext uri="{BB962C8B-B14F-4D97-AF65-F5344CB8AC3E}">
        <p14:creationId xmlns:p14="http://schemas.microsoft.com/office/powerpoint/2010/main" val="949441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475B7D0B-6778-5BAB-C7D4-9C15D73239FD}"/>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a:extLst>
              <a:ext uri="{FF2B5EF4-FFF2-40B4-BE49-F238E27FC236}">
                <a16:creationId xmlns:a16="http://schemas.microsoft.com/office/drawing/2014/main" id="{4953670C-7BD0-B908-CA73-21D945CCB08B}"/>
              </a:ext>
            </a:extLst>
          </p:cNvPr>
          <p:cNvSpPr>
            <a:spLocks noGrp="1"/>
          </p:cNvSpPr>
          <p:nvPr>
            <p:ph type="title"/>
          </p:nvPr>
        </p:nvSpPr>
        <p:spPr/>
        <p:txBody>
          <a:bodyPr>
            <a:normAutofit/>
          </a:bodyPr>
          <a:lstStyle/>
          <a:p>
            <a:r>
              <a:rPr lang="en-US" sz="4000" b="1" dirty="0">
                <a:latin typeface="Arial" panose="020B0604020202020204" pitchFamily="34" charset="0"/>
                <a:cs typeface="Arial" panose="020B0604020202020204" pitchFamily="34" charset="0"/>
              </a:rPr>
              <a:t>Estimating Expected Steerage (KBA Data)</a:t>
            </a:r>
          </a:p>
        </p:txBody>
      </p:sp>
      <p:sp>
        <p:nvSpPr>
          <p:cNvPr id="4" name="Footer Placeholder 3">
            <a:extLst>
              <a:ext uri="{FF2B5EF4-FFF2-40B4-BE49-F238E27FC236}">
                <a16:creationId xmlns:a16="http://schemas.microsoft.com/office/drawing/2014/main" id="{7FE81BA0-6CC4-7AA2-91FB-5DA5805980DF}"/>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7A5BE937-4283-AC8F-5066-93360F2AD61D}"/>
              </a:ext>
            </a:extLst>
          </p:cNvPr>
          <p:cNvSpPr>
            <a:spLocks noGrp="1"/>
          </p:cNvSpPr>
          <p:nvPr>
            <p:ph type="sldNum" sz="quarter" idx="12"/>
          </p:nvPr>
        </p:nvSpPr>
        <p:spPr/>
        <p:txBody>
          <a:bodyPr/>
          <a:lstStyle/>
          <a:p>
            <a:fld id="{3AFC719D-C4A7-4544-876E-D411D11AF6C9}" type="slidenum">
              <a:rPr lang="en-US" smtClean="0"/>
              <a:t>31</a:t>
            </a:fld>
            <a:endParaRPr lang="en-US" dirty="0"/>
          </a:p>
        </p:txBody>
      </p:sp>
      <p:graphicFrame>
        <p:nvGraphicFramePr>
          <p:cNvPr id="6" name="Table 5">
            <a:extLst>
              <a:ext uri="{FF2B5EF4-FFF2-40B4-BE49-F238E27FC236}">
                <a16:creationId xmlns:a16="http://schemas.microsoft.com/office/drawing/2014/main" id="{A3BBF012-AA0D-5710-B532-CE355455856C}"/>
              </a:ext>
            </a:extLst>
          </p:cNvPr>
          <p:cNvGraphicFramePr>
            <a:graphicFrameLocks noGrp="1"/>
          </p:cNvGraphicFramePr>
          <p:nvPr/>
        </p:nvGraphicFramePr>
        <p:xfrm>
          <a:off x="629020" y="1690688"/>
          <a:ext cx="9282575" cy="4626660"/>
        </p:xfrm>
        <a:graphic>
          <a:graphicData uri="http://schemas.openxmlformats.org/drawingml/2006/table">
            <a:tbl>
              <a:tblPr/>
              <a:tblGrid>
                <a:gridCol w="1560295">
                  <a:extLst>
                    <a:ext uri="{9D8B030D-6E8A-4147-A177-3AD203B41FA5}">
                      <a16:colId xmlns:a16="http://schemas.microsoft.com/office/drawing/2014/main" val="2016668870"/>
                    </a:ext>
                  </a:extLst>
                </a:gridCol>
                <a:gridCol w="1770126">
                  <a:extLst>
                    <a:ext uri="{9D8B030D-6E8A-4147-A177-3AD203B41FA5}">
                      <a16:colId xmlns:a16="http://schemas.microsoft.com/office/drawing/2014/main" val="2087362137"/>
                    </a:ext>
                  </a:extLst>
                </a:gridCol>
                <a:gridCol w="1318786">
                  <a:extLst>
                    <a:ext uri="{9D8B030D-6E8A-4147-A177-3AD203B41FA5}">
                      <a16:colId xmlns:a16="http://schemas.microsoft.com/office/drawing/2014/main" val="1244890546"/>
                    </a:ext>
                  </a:extLst>
                </a:gridCol>
                <a:gridCol w="1806154">
                  <a:extLst>
                    <a:ext uri="{9D8B030D-6E8A-4147-A177-3AD203B41FA5}">
                      <a16:colId xmlns:a16="http://schemas.microsoft.com/office/drawing/2014/main" val="3152637151"/>
                    </a:ext>
                  </a:extLst>
                </a:gridCol>
                <a:gridCol w="1282758">
                  <a:extLst>
                    <a:ext uri="{9D8B030D-6E8A-4147-A177-3AD203B41FA5}">
                      <a16:colId xmlns:a16="http://schemas.microsoft.com/office/drawing/2014/main" val="663229898"/>
                    </a:ext>
                  </a:extLst>
                </a:gridCol>
                <a:gridCol w="1544456">
                  <a:extLst>
                    <a:ext uri="{9D8B030D-6E8A-4147-A177-3AD203B41FA5}">
                      <a16:colId xmlns:a16="http://schemas.microsoft.com/office/drawing/2014/main" val="1905754699"/>
                    </a:ext>
                  </a:extLst>
                </a:gridCol>
              </a:tblGrid>
              <a:tr h="322321">
                <a:tc>
                  <a:txBody>
                    <a:bodyPr/>
                    <a:lstStyle/>
                    <a:p>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gridSpan="4">
                  <a:txBody>
                    <a:bodyPr/>
                    <a:lstStyle/>
                    <a:p>
                      <a:r>
                        <a:rPr lang="en-US" sz="1600" b="1" u="sng" dirty="0">
                          <a:latin typeface="Arial" panose="020B0604020202020204" pitchFamily="34" charset="0"/>
                          <a:cs typeface="Arial" panose="020B0604020202020204" pitchFamily="34" charset="0"/>
                        </a:rPr>
                        <a:t>DTE Health Plan Tier 1 Utilization –  </a:t>
                      </a:r>
                      <a:r>
                        <a:rPr lang="en-US" sz="1600" b="1" u="sng" dirty="0">
                          <a:solidFill>
                            <a:schemeClr val="accent2"/>
                          </a:solidFill>
                          <a:latin typeface="Arial" panose="020B0604020202020204" pitchFamily="34" charset="0"/>
                          <a:cs typeface="Arial" panose="020B0604020202020204" pitchFamily="34" charset="0"/>
                        </a:rPr>
                        <a:t>Q1 2024</a:t>
                      </a:r>
                      <a:endParaRPr lang="en-US" sz="1600" dirty="0">
                        <a:solidFill>
                          <a:schemeClr val="accent2"/>
                        </a:solidFill>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23845498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Charges</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Discount Equivalent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978587454"/>
                  </a:ext>
                </a:extLst>
              </a:tr>
              <a:tr h="322321">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Charge to 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651634651"/>
                  </a:ext>
                </a:extLst>
              </a:tr>
              <a:tr h="322321">
                <a:tc>
                  <a:txBody>
                    <a:bodyPr/>
                    <a:lstStyle/>
                    <a:p>
                      <a:r>
                        <a:rPr lang="en-US" sz="1600" b="1" u="sng">
                          <a:latin typeface="Arial" panose="020B0604020202020204" pitchFamily="34" charset="0"/>
                          <a:cs typeface="Arial" panose="020B0604020202020204" pitchFamily="34" charset="0"/>
                        </a:rPr>
                        <a:t>Tier 1</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81.26%</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423413711"/>
                  </a:ext>
                </a:extLst>
              </a:tr>
              <a:tr h="564062">
                <a:tc>
                  <a:txBody>
                    <a:bodyPr/>
                    <a:lstStyle/>
                    <a:p>
                      <a:r>
                        <a:rPr lang="en-US" sz="1600" dirty="0">
                          <a:latin typeface="Arial" panose="020B0604020202020204" pitchFamily="34" charset="0"/>
                          <a:cs typeface="Arial" panose="020B0604020202020204" pitchFamily="34" charset="0"/>
                        </a:rPr>
                        <a:t>Current DTE Network #1</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17,913,805.69</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54.82%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6,907,327.88</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58.63%</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-61.44%</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1979987418"/>
                  </a:ext>
                </a:extLst>
              </a:tr>
              <a:tr h="564062">
                <a:tc>
                  <a:txBody>
                    <a:bodyPr/>
                    <a:lstStyle/>
                    <a:p>
                      <a:r>
                        <a:rPr lang="en-US" sz="1600" dirty="0">
                          <a:latin typeface="Arial" panose="020B0604020202020204" pitchFamily="34" charset="0"/>
                          <a:cs typeface="Arial" panose="020B0604020202020204" pitchFamily="34" charset="0"/>
                        </a:rPr>
                        <a:t>Current DTE Network #2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8,460,570.40</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78.37%</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3,280,571.45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77.62%</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-61.23%</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238957396"/>
                  </a:ext>
                </a:extLst>
              </a:tr>
              <a:tr h="564062">
                <a:tc>
                  <a:txBody>
                    <a:bodyPr/>
                    <a:lstStyle/>
                    <a:p>
                      <a:r>
                        <a:rPr lang="en-US" sz="1600" dirty="0">
                          <a:latin typeface="Arial" panose="020B0604020202020204" pitchFamily="34" charset="0"/>
                          <a:cs typeface="Arial" panose="020B0604020202020204" pitchFamily="34" charset="0"/>
                        </a:rPr>
                        <a:t>Current DTE Network #3</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629,748.27</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72.98%</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198,216.95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80.64%</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-68.52%</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512199195"/>
                  </a:ext>
                </a:extLst>
              </a:tr>
              <a:tr h="564062">
                <a:tc>
                  <a:txBody>
                    <a:bodyPr/>
                    <a:lstStyle/>
                    <a:p>
                      <a:r>
                        <a:rPr lang="en-US" sz="1600" dirty="0">
                          <a:latin typeface="Arial" panose="020B0604020202020204" pitchFamily="34" charset="0"/>
                          <a:cs typeface="Arial" panose="020B0604020202020204" pitchFamily="34" charset="0"/>
                        </a:rPr>
                        <a:t>Current DTE Network #4</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58,261,069.02</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96.15%</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12,968,046.77</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93.20%</a:t>
                      </a: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-77.74%</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6122587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85,265,193.38 </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23,354,163.05</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2643862706"/>
                  </a:ext>
                </a:extLst>
              </a:tr>
            </a:tbl>
          </a:graphicData>
        </a:graphic>
      </p:graphicFrame>
      <p:sp>
        <p:nvSpPr>
          <p:cNvPr id="7" name="Callout: Bent Line 2">
            <a:extLst>
              <a:ext uri="{FF2B5EF4-FFF2-40B4-BE49-F238E27FC236}">
                <a16:creationId xmlns:a16="http://schemas.microsoft.com/office/drawing/2014/main" id="{26207AF0-B0E9-F90C-AD44-E16816462440}"/>
              </a:ext>
            </a:extLst>
          </p:cNvPr>
          <p:cNvSpPr/>
          <p:nvPr/>
        </p:nvSpPr>
        <p:spPr>
          <a:xfrm>
            <a:off x="9911595" y="1690688"/>
            <a:ext cx="1950205" cy="1325563"/>
          </a:xfrm>
          <a:prstGeom prst="borderCallout2">
            <a:avLst>
              <a:gd name="adj1" fmla="val 18750"/>
              <a:gd name="adj2" fmla="val -8333"/>
              <a:gd name="adj3" fmla="val 18750"/>
              <a:gd name="adj4" fmla="val -16667"/>
              <a:gd name="adj5" fmla="val 127829"/>
              <a:gd name="adj6" fmla="val -10918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Arial" panose="020B0604020202020204" pitchFamily="34" charset="0"/>
                <a:cs typeface="Arial" panose="020B0604020202020204" pitchFamily="34" charset="0"/>
              </a:rPr>
              <a:t>DTE Steerage Impact on an EPO Plan Structure</a:t>
            </a:r>
            <a:endParaRPr lang="en-US" dirty="0">
              <a:solidFill>
                <a:schemeClr val="bg1"/>
              </a:solidFill>
              <a:latin typeface="Arial" panose="020B0604020202020204" pitchFamily="34" charset="0"/>
              <a:cs typeface="Arial" panose="020B0604020202020204" pitchFamily="34" charset="0"/>
            </a:endParaRPr>
          </a:p>
        </p:txBody>
      </p:sp>
      <p:sp>
        <p:nvSpPr>
          <p:cNvPr id="8" name="Rectangle 9">
            <a:extLst>
              <a:ext uri="{FF2B5EF4-FFF2-40B4-BE49-F238E27FC236}">
                <a16:creationId xmlns:a16="http://schemas.microsoft.com/office/drawing/2014/main" id="{1F3C1433-AC36-92EF-BE3F-FF3E9903B966}"/>
              </a:ext>
            </a:extLst>
          </p:cNvPr>
          <p:cNvSpPr/>
          <p:nvPr/>
        </p:nvSpPr>
        <p:spPr>
          <a:xfrm>
            <a:off x="7213600" y="3381376"/>
            <a:ext cx="1066800" cy="2447924"/>
          </a:xfrm>
          <a:prstGeom prst="rect">
            <a:avLst/>
          </a:prstGeom>
          <a:no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0">
            <a:extLst>
              <a:ext uri="{FF2B5EF4-FFF2-40B4-BE49-F238E27FC236}">
                <a16:creationId xmlns:a16="http://schemas.microsoft.com/office/drawing/2014/main" id="{19A2854E-BB8B-2CAE-F670-0D2E7447BA42}"/>
              </a:ext>
            </a:extLst>
          </p:cNvPr>
          <p:cNvSpPr/>
          <p:nvPr/>
        </p:nvSpPr>
        <p:spPr>
          <a:xfrm>
            <a:off x="9804400" y="3429000"/>
            <a:ext cx="2197100" cy="244792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rPr>
              <a:t>KBA is modeling steerage in line with other observed DTE networks.</a:t>
            </a:r>
          </a:p>
        </p:txBody>
      </p:sp>
    </p:spTree>
    <p:extLst>
      <p:ext uri="{BB962C8B-B14F-4D97-AF65-F5344CB8AC3E}">
        <p14:creationId xmlns:p14="http://schemas.microsoft.com/office/powerpoint/2010/main" val="36165022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AD3DCB03-C008-AD89-6957-4E05EFDE3F7B}"/>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4">
            <a:extLst>
              <a:ext uri="{FF2B5EF4-FFF2-40B4-BE49-F238E27FC236}">
                <a16:creationId xmlns:a16="http://schemas.microsoft.com/office/drawing/2014/main" id="{45156905-E918-9971-55DA-1B3D3593A1EC}"/>
              </a:ext>
            </a:extLst>
          </p:cNvPr>
          <p:cNvSpPr>
            <a:spLocks noGrp="1"/>
          </p:cNvSpPr>
          <p:nvPr>
            <p:ph type="sldNum" sz="quarter" idx="12"/>
          </p:nvPr>
        </p:nvSpPr>
        <p:spPr/>
        <p:txBody>
          <a:bodyPr/>
          <a:lstStyle/>
          <a:p>
            <a:fld id="{3AFC719D-C4A7-4544-876E-D411D11AF6C9}" type="slidenum">
              <a:rPr lang="en-US" smtClean="0"/>
              <a:t>32</a:t>
            </a:fld>
            <a:endParaRPr lang="en-US" dirty="0"/>
          </a:p>
        </p:txBody>
      </p:sp>
      <p:sp>
        <p:nvSpPr>
          <p:cNvPr id="4" name="Rectangle 6">
            <a:extLst>
              <a:ext uri="{FF2B5EF4-FFF2-40B4-BE49-F238E27FC236}">
                <a16:creationId xmlns:a16="http://schemas.microsoft.com/office/drawing/2014/main" id="{8E28090C-2F27-C065-17C4-ABD81529AB09}"/>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5" name="Title 1">
            <a:extLst>
              <a:ext uri="{FF2B5EF4-FFF2-40B4-BE49-F238E27FC236}">
                <a16:creationId xmlns:a16="http://schemas.microsoft.com/office/drawing/2014/main" id="{A1043D87-228F-7EE7-994A-5E1D92DA9012}"/>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PROJECTED PLAN GROWTH</a:t>
            </a:r>
          </a:p>
        </p:txBody>
      </p:sp>
      <p:sp>
        <p:nvSpPr>
          <p:cNvPr id="6" name="TextBox 12">
            <a:extLst>
              <a:ext uri="{FF2B5EF4-FFF2-40B4-BE49-F238E27FC236}">
                <a16:creationId xmlns:a16="http://schemas.microsoft.com/office/drawing/2014/main" id="{E799F91A-3FD1-47AB-858A-263DC729BC42}"/>
              </a:ext>
            </a:extLst>
          </p:cNvPr>
          <p:cNvSpPr txBox="1"/>
          <p:nvPr/>
        </p:nvSpPr>
        <p:spPr>
          <a:xfrm>
            <a:off x="8932985" y="1054579"/>
            <a:ext cx="2868171" cy="3754874"/>
          </a:xfrm>
          <a:prstGeom prst="rect">
            <a:avLst/>
          </a:prstGeom>
          <a:noFill/>
        </p:spPr>
        <p:txBody>
          <a:bodyPr wrap="square" rtlCol="0">
            <a:spAutoFit/>
          </a:bodyPr>
          <a:lstStyle/>
          <a:p>
            <a:r>
              <a:rPr lang="en-US" sz="1400" dirty="0">
                <a:solidFill/>
              </a:rPr>
              <a:t>KBA currently estimates that Yale New Haven Health System has 29% inpatient market share, and 16% outpatient market compared to hospitals/clinics in the Connecticut and Rhode Island.</a:t>
            </a:r>
          </a:p>
          <a:p>
            <a:endParaRPr lang="en-US" sz="1400" dirty="0">
              <a:solidFill/>
            </a:endParaRPr>
          </a:p>
          <a:p>
            <a:r>
              <a:rPr lang="en-US" sz="1400" dirty="0">
                <a:solidFill/>
              </a:rPr>
              <a:t>Based on previous DTE experience, KBA expects a significant bump in patient steerage to Yale New Haven Health System.</a:t>
            </a:r>
          </a:p>
          <a:p>
            <a:endParaRPr lang="en-US" sz="1400" dirty="0">
              <a:solidFill/>
            </a:endParaRPr>
          </a:p>
          <a:p>
            <a:r>
              <a:rPr lang="en-US" sz="1400" dirty="0">
                <a:solidFill/>
              </a:rPr>
              <a:t>Additional steerage will occur from additional steerage patient benefits and the patient card.  </a:t>
            </a:r>
          </a:p>
          <a:p>
            <a:endParaRPr lang="en-US" sz="1400" dirty="0">
              <a:solidFill/>
            </a:endParaRPr>
          </a:p>
          <a:p>
            <a:r>
              <a:rPr lang="en-US" sz="1400" dirty="0">
                <a:solidFill/>
              </a:rPr>
              <a:t>High estimates start nearly 10% higher than target with low estimates at 10% lower than target</a:t>
            </a:r>
          </a:p>
        </p:txBody>
      </p:sp>
      <p:graphicFrame>
        <p:nvGraphicFramePr>
          <p:cNvPr id="7" name="Table 6"/>
          <p:cNvGraphicFramePr>
            <a:graphicFrameLocks noGrp="1"/>
          </p:cNvGraphicFramePr>
          <p:nvPr>
            <p:extLst>
              <p:ext uri="{D42A27DB-BD31-4B8C-83A1-F6EECF244321}">
                <p14:modId xmlns:p14="http://schemas.microsoft.com/office/powerpoint/2010/main" val="3597127015"/>
              </p:ext>
            </p:extLst>
          </p:nvPr>
        </p:nvGraphicFramePr>
        <p:xfrm>
          <a:off x="1316736" y="384048"/>
          <a:ext cx="6858000" cy="5844875"/>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73431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Percent of Members Choosing Yale New Haven Health System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Percent of Members Choosing Yale New Haven Health System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0026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0026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0026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0026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0026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59%</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0026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0026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0026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0026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0026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41,400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0026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51,700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0026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35,000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0026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41,700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75,100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0026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48,400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87,100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0026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54,800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98,600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0026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109,300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0026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118,400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0026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126,000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0026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73,400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132,100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0026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76,000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136,800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0"/>
                  </a:ext>
                </a:extLst>
              </a:tr>
              <a:tr h="20026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78,100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140,600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1"/>
                  </a:ext>
                </a:extLst>
              </a:tr>
              <a:tr h="20026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79,600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143,300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2"/>
                  </a:ext>
                </a:extLst>
              </a:tr>
              <a:tr h="20026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80,700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145,300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3"/>
                  </a:ext>
                </a:extLst>
              </a:tr>
              <a:tr h="20026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81,600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146,900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4"/>
                  </a:ext>
                </a:extLst>
              </a:tr>
              <a:tr h="20026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148,000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68%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5"/>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Key Benefit Administrators</a:t>
            </a:r>
            <a:endParaRPr lang="en-US" dirty="0">
              <a:latin typeface="Arial" panose="020B0604020202020204" pitchFamily="34" charset="0"/>
              <a:cs typeface="Arial" panose="020B0604020202020204" pitchFamily="34" charset="0"/>
            </a:endParaRPr>
          </a:p>
        </p:txBody>
      </p:sp>
      <p:sp>
        <p:nvSpPr>
          <p:cNvPr id="3"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latin typeface="Arial" panose="020B0604020202020204" pitchFamily="34" charset="0"/>
                <a:cs typeface="Arial" panose="020B0604020202020204" pitchFamily="34" charset="0"/>
              </a:rPr>
              <a:t>33</a:t>
            </a:fld>
            <a:endParaRPr lang="en-US" dirty="0">
              <a:latin typeface="Arial" panose="020B0604020202020204" pitchFamily="34" charset="0"/>
              <a:cs typeface="Arial" panose="020B0604020202020204" pitchFamily="34" charset="0"/>
            </a:endParaRPr>
          </a:p>
        </p:txBody>
      </p:sp>
      <p:graphicFrame>
        <p:nvGraphicFramePr>
          <p:cNvPr id="4"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1212883613"/>
              </p:ext>
            </p:extLst>
          </p:nvPr>
        </p:nvGraphicFramePr>
        <p:xfrm>
          <a:off x="418056" y="764777"/>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Pre-DTE Cohort of 6,700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$ 6,642,990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$ 6,745,354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$ 3,150,023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$ 16,538,367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$ 1,541,174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$ 1,564,922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$ 730,805.3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$ 3,836,901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5"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6"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095924731"/>
              </p:ext>
            </p:extLst>
          </p:nvPr>
        </p:nvGraphicFramePr>
        <p:xfrm>
          <a:off x="462503" y="4085951"/>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$ 7,842,409</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$ 80,400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$ 7,847,209</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dirty="0">
                          <a:solidFill/>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$ 7,742,809</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7"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435280258"/>
              </p:ext>
            </p:extLst>
          </p:nvPr>
        </p:nvGraphicFramePr>
        <p:xfrm>
          <a:off x="418055" y="2234768"/>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$ 15,260,202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$ 23,914,011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$ 11,167,640</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$ 50,341,853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$ 3,540,367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$ 5,548,051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$ 2,590,892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$ 11,679,310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8"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Assuming proportional revenues from market shares of 29% (inpatient) and 16% (outpatient)</a:t>
            </a:r>
          </a:p>
        </p:txBody>
      </p:sp>
      <p:sp>
        <p:nvSpPr>
          <p:cNvPr id="9" name="TextBox 2">
            <a:extLst>
              <a:ext uri="{FF2B5EF4-FFF2-40B4-BE49-F238E27FC236}">
                <a16:creationId xmlns:a16="http://schemas.microsoft.com/office/drawing/2014/main" id="{6CDBA057-BBD2-8F54-E977-26B782E37F88}"/>
              </a:ext>
            </a:extLst>
          </p:cNvPr>
          <p:cNvSpPr txBox="1"/>
          <p:nvPr/>
        </p:nvSpPr>
        <p:spPr>
          <a:xfrm>
            <a:off x="7752549" y="1801103"/>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23.2% (80% of the estimated commercial margin)</a:t>
            </a:r>
          </a:p>
        </p:txBody>
      </p:sp>
      <p:sp>
        <p:nvSpPr>
          <p:cNvPr id="10"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⁰ Assuming </a:t>
            </a:r>
            <a:r>
              <a:rPr lang="en-US" sz="1400" dirty="0">
                <a:solidFill/>
                <a:latin typeface="Arial" panose="020B0604020202020204" pitchFamily="34" charset="0"/>
                <a:cs typeface="Arial" panose="020B0604020202020204" pitchFamily="34" charset="0"/>
              </a:rPr>
              <a:t>67% inpatient and 58%  </a:t>
            </a:r>
            <a:r>
              <a:rPr lang="en-US" sz="1400" dirty="0">
                <a:latin typeface="Arial" panose="020B0604020202020204" pitchFamily="34" charset="0"/>
                <a:cs typeface="Arial" panose="020B0604020202020204" pitchFamily="34" charset="0"/>
              </a:rPr>
              <a:t>market steerage based on KBA narrow network DTE experience </a:t>
            </a:r>
            <a:r>
              <a:rPr lang="en-US" sz="1400" dirty="0">
                <a:solidFill/>
                <a:latin typeface="Arial" panose="020B0604020202020204" pitchFamily="34" charset="0"/>
                <a:cs typeface="Arial" panose="020B0604020202020204" pitchFamily="34" charset="0"/>
              </a:rPr>
              <a:t>(see previous slide)</a:t>
            </a:r>
            <a:endParaRPr lang="en-US" sz="1400" dirty="0">
              <a:latin typeface="Arial" panose="020B0604020202020204" pitchFamily="34" charset="0"/>
              <a:cs typeface="Arial" panose="020B0604020202020204" pitchFamily="34" charset="0"/>
            </a:endParaRPr>
          </a:p>
        </p:txBody>
      </p:sp>
      <p:sp>
        <p:nvSpPr>
          <p:cNvPr id="11" name="TextBox 7">
            <a:extLst>
              <a:ext uri="{FF2B5EF4-FFF2-40B4-BE49-F238E27FC236}">
                <a16:creationId xmlns:a16="http://schemas.microsoft.com/office/drawing/2014/main" id="{A897897D-C568-B204-6568-514AD4B71A5C}"/>
              </a:ext>
            </a:extLst>
          </p:cNvPr>
          <p:cNvSpPr txBox="1"/>
          <p:nvPr/>
        </p:nvSpPr>
        <p:spPr>
          <a:xfrm>
            <a:off x="7752548" y="3324229"/>
            <a:ext cx="4318001" cy="1384995"/>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 Conservatively assuming a commercial margin of 23.2%, </a:t>
            </a:r>
            <a:r>
              <a:rPr lang="en-US" sz="1400" dirty="0">
                <a:solidFill/>
                <a:latin typeface="Arial" panose="020B0604020202020204" pitchFamily="34" charset="0"/>
                <a:cs typeface="Arial" panose="020B0604020202020204" pitchFamily="34" charset="0"/>
              </a:rPr>
              <a:t>with a 10 percentage-point reduction to reflect competitive-edge rates and a 10 percentage-point increase due to lower billing costs and higher patient responsibility collections because of the member credit card. </a:t>
            </a:r>
            <a:endParaRPr lang="en-US" sz="1400" dirty="0">
              <a:latin typeface="Arial" panose="020B0604020202020204" pitchFamily="34" charset="0"/>
              <a:cs typeface="Arial" panose="020B0604020202020204" pitchFamily="34" charset="0"/>
            </a:endParaRPr>
          </a:p>
        </p:txBody>
      </p:sp>
      <p:sp>
        <p:nvSpPr>
          <p:cNvPr id="12" name="TextBox 8">
            <a:extLst>
              <a:ext uri="{FF2B5EF4-FFF2-40B4-BE49-F238E27FC236}">
                <a16:creationId xmlns:a16="http://schemas.microsoft.com/office/drawing/2014/main" id="{1BBEE831-0583-9B2A-D9B8-C57C918E4C3C}"/>
              </a:ext>
            </a:extLst>
          </p:cNvPr>
          <p:cNvSpPr txBox="1"/>
          <p:nvPr/>
        </p:nvSpPr>
        <p:spPr>
          <a:xfrm>
            <a:off x="316454" y="34749"/>
            <a:ext cx="6286914" cy="584775"/>
          </a:xfrm>
          <a:prstGeom prst="rect">
            <a:avLst/>
          </a:prstGeom>
          <a:noFill/>
        </p:spPr>
        <p:txBody>
          <a:bodyPr wrap="none" rtlCol="0">
            <a:spAutoFit/>
          </a:bodyPr>
          <a:lstStyle/>
          <a:p>
            <a:r>
              <a:rPr lang="en-US" sz="3200" b="1" dirty="0">
                <a:latin typeface="Calibri" panose="020F0502020204030204" pitchFamily="34" charset="0"/>
                <a:cs typeface="Calibri" panose="020F0502020204030204" pitchFamily="34" charset="0"/>
              </a:rPr>
              <a:t>Year </a:t>
            </a:r>
            <a:r>
              <a:rPr lang="en-US" sz="3200" b="1">
                <a:latin typeface="Calibri" panose="020F0502020204030204" pitchFamily="34" charset="0"/>
                <a:cs typeface="Calibri" panose="020F0502020204030204" pitchFamily="34" charset="0"/>
              </a:rPr>
              <a:t>4 Projected </a:t>
            </a:r>
            <a:r>
              <a:rPr lang="en-US" sz="3200" b="1" dirty="0">
                <a:latin typeface="Calibri" panose="020F0502020204030204" pitchFamily="34" charset="0"/>
                <a:cs typeface="Calibri" panose="020F0502020204030204" pitchFamily="34" charset="0"/>
              </a:rPr>
              <a:t>Revenue and Profit</a:t>
            </a:r>
          </a:p>
        </p:txBody>
      </p:sp>
    </p:spTree>
    <p:extLst>
      <p:ext uri="{BB962C8B-B14F-4D97-AF65-F5344CB8AC3E}">
        <p14:creationId xmlns:p14="http://schemas.microsoft.com/office/powerpoint/2010/main" val="14198165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493631345"/>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84592">
                <a:tc gridSpan="5">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526132">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411042">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$1,234.2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$2,468.4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$12,342.1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$61,710.3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$572.7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$2,863.4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$14,316.8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$3,292.8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$6,585.6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$32,928.1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$164,640.3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1842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$2,058.6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$4,117.2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$20,586.0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$102,930.0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81842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$763.9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$1,527.9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$7,639.3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$38,196.6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$477.6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$955.2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$4,776.0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$23,879.8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411042">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$153.6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$637.2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$4,506.0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$23,849.8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085902858"/>
              </p:ext>
            </p:extLst>
          </p:nvPr>
        </p:nvGraphicFramePr>
        <p:xfrm>
          <a:off x="0" y="0"/>
          <a:ext cx="12198096" cy="6858003"/>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329068">
                <a:tc gridSpan="5">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96162">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231377">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$495.7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$991.5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$4,957.5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$24,787.3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$230.0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$1,150.1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$5,750.6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$1,021.8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$2,043.6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$10,218.1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$51,090.6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$237.1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$474.1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$2,370.6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$11,853.0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$526.1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$1,052.1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$5,260.7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$26,303.3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$244.1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$1,220.5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$6,102.4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$503.4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$1,006.8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$5,033.8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$25,169.2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$233.6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$1,167.9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$5,839.3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$1,548.1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$3,096.1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$15,480.6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$77,403.1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$359.2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$718.3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$3,591.5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$17,957.5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$1,044.7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$2,089.4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$10,446.8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$52,233.9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$242.4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$484.7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$2,423.7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$12,118.3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$235.1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$470.2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$2,350.8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$11,753.8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$545.4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$2,726.9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$722.9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$1,445.9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$7,229.3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$36,146.6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$167.7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$335.4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$1,677.2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$8,386.0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$487.9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$975.7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$4,878.6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$24,392.8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$113.2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$226.4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$1,131.8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$5,659.1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31377">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$153.6</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$637.2</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$4,506.0</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$23,849.8</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646236669"/>
              </p:ext>
            </p:extLst>
          </p:nvPr>
        </p:nvGraphicFramePr>
        <p:xfrm>
          <a:off x="0" y="0"/>
          <a:ext cx="12198096" cy="6857996"/>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49550">
                <a:tc gridSpan="5">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60%+ Within-Plan Steerage and a Commercial Margin of 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60%+ Within-Plan Steerage and a Commercial Margin of 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60%+ Within-Plan Steerage and a Commercial Margin of 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60%+ Within-Plan Steerage and a Commercial Margin of 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60%+ Within-Plan Steerage and a Commercial Margin of 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84595">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71448">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$1,234.2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$2,468.4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$12,342.1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$61,710.3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$572.7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$2,863.4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$14,316.8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$3,911.2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$7,822.5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$39,112.3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$195,561.3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909371">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$2,677.0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$5,354.0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$26,770.2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$133,851.0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$1,103.0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$2,205.9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$11,029.7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$55,148.3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$816.6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$1,633.3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$8,166.3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$40,831.5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71448">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$492.6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$1,315.3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$7,896.3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$40,801.5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202463588"/>
              </p:ext>
            </p:extLst>
          </p:nvPr>
        </p:nvGraphicFramePr>
        <p:xfrm>
          <a:off x="0" y="0"/>
          <a:ext cx="12198096" cy="6857996"/>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49550">
                <a:tc gridSpan="5">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40%+ Within-Plan Steerage and a Commercial Margin of 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40%+ Within-Plan Steerage and a Commercial Margin of 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40%+ Within-Plan Steerage and a Commercial Margin of 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40%+ Within-Plan Steerage and a Commercial Margin of 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40%+ Within-Plan Steerage and a Commercial Margin of 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84595">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71448">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$1,234.2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$2,468.4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$12,342.1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$61,710.3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$572.7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$2,863.4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$14,316.8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$2,667.1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$5,334.3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$26,671.3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$133,356.5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909371">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$1,432.9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$2,865.8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$14,329.2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$71,646.2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$485.4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$970.8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$4,854.2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$24,270.9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$398.2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$1,990.8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$9,954.1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71448">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$-124.9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$80.2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$1,720.8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$9,924.1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Incremental Revenues and Margin</a:t>
            </a:r>
          </a:p>
          <a:p>
            <a:pPr marL="285753" indent="-285753">
              <a:spcAft>
                <a:spcPts val="200"/>
              </a:spcAft>
              <a:buFont typeface="Wingdings" panose="05000000000000000000" pitchFamily="2" charset="2"/>
              <a:buChar char="§"/>
            </a:pPr>
            <a:r>
              <a:rPr lang="en-US" sz="1500" spc="70" dirty="0">
                <a:latin typeface="+mj-lt"/>
              </a:rPr>
              <a:t>Branding &amp; Messaging</a:t>
            </a:r>
          </a:p>
          <a:p>
            <a:pPr marL="285753" indent="-285753">
              <a:spcAft>
                <a:spcPts val="200"/>
              </a:spcAft>
              <a:buFont typeface="Wingdings" panose="05000000000000000000" pitchFamily="2" charset="2"/>
              <a:buChar char="§"/>
            </a:pPr>
            <a:r>
              <a:rPr lang="en-US" sz="1500" spc="70" dirty="0">
                <a:latin typeface="+mj-lt"/>
              </a:rPr>
              <a:t>Benefit Plan Integration</a:t>
            </a:r>
          </a:p>
          <a:p>
            <a:pPr marL="285753" indent="-285753">
              <a:spcAft>
                <a:spcPts val="200"/>
              </a:spcAft>
              <a:buFont typeface="Wingdings" panose="05000000000000000000" pitchFamily="2" charset="2"/>
              <a:buChar char="§"/>
            </a:pPr>
            <a:r>
              <a:rPr lang="en-US" sz="1500" spc="70" dirty="0">
                <a:latin typeface="+mj-lt"/>
              </a:rPr>
              <a:t>Network Steerage</a:t>
            </a:r>
          </a:p>
          <a:p>
            <a:pPr marL="285753" indent="-285753">
              <a:spcAft>
                <a:spcPts val="200"/>
              </a:spcAft>
              <a:buFont typeface="Wingdings" panose="05000000000000000000" pitchFamily="2" charset="2"/>
              <a:buChar char="§"/>
            </a:pPr>
            <a:r>
              <a:rPr lang="en-US" sz="1500" spc="70" dirty="0">
                <a:latin typeface="+mj-lt"/>
              </a:rPr>
              <a:t>Direct Relationship with Self-Funded Employers</a:t>
            </a:r>
          </a:p>
          <a:p>
            <a:pPr marL="285753" indent="-285753">
              <a:spcAft>
                <a:spcPts val="200"/>
              </a:spcAft>
              <a:buFont typeface="Wingdings" panose="05000000000000000000" pitchFamily="2" charset="2"/>
              <a:buChar char="§"/>
            </a:pPr>
            <a:r>
              <a:rPr lang="en-US" sz="1500" spc="70" dirty="0">
                <a:latin typeface="+mj-lt"/>
              </a:rPr>
              <a:t>Referral Authorization</a:t>
            </a:r>
          </a:p>
          <a:p>
            <a:pPr marL="285753" indent="-285753">
              <a:spcAft>
                <a:spcPts val="200"/>
              </a:spcAft>
              <a:buFont typeface="Wingdings" panose="05000000000000000000" pitchFamily="2" charset="2"/>
              <a:buChar char="§"/>
            </a:pPr>
            <a:r>
              <a:rPr lang="en-US" sz="1500" spc="70" dirty="0">
                <a:latin typeface="+mj-lt"/>
              </a:rPr>
              <a:t>Plan Transparency</a:t>
            </a:r>
          </a:p>
          <a:p>
            <a:pPr marL="285753" indent="-285753">
              <a:spcAft>
                <a:spcPts val="200"/>
              </a:spcAft>
              <a:buFont typeface="Wingdings" panose="05000000000000000000" pitchFamily="2" charset="2"/>
              <a:buChar char="§"/>
            </a:pPr>
            <a:r>
              <a:rPr lang="en-US" sz="1500" spc="70" dirty="0">
                <a:latin typeface="+mj-lt"/>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b="1" spc="300" dirty="0"/>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Full TPA Administration</a:t>
            </a:r>
          </a:p>
          <a:p>
            <a:pPr marL="285753" indent="-285753">
              <a:spcAft>
                <a:spcPts val="200"/>
              </a:spcAft>
              <a:buFont typeface="Wingdings" panose="05000000000000000000" pitchFamily="2" charset="2"/>
              <a:buChar char="§"/>
            </a:pPr>
            <a:r>
              <a:rPr lang="en-US" sz="1500" spc="70" dirty="0">
                <a:latin typeface="+mj-lt"/>
              </a:rPr>
              <a:t>Stop-Loss Administration</a:t>
            </a:r>
          </a:p>
          <a:p>
            <a:pPr marL="285753" indent="-285753">
              <a:spcAft>
                <a:spcPts val="200"/>
              </a:spcAft>
              <a:buFont typeface="Wingdings" panose="05000000000000000000" pitchFamily="2" charset="2"/>
              <a:buChar char="§"/>
            </a:pPr>
            <a:r>
              <a:rPr lang="en-US" sz="1500" spc="70" dirty="0">
                <a:latin typeface="+mj-lt"/>
              </a:rPr>
              <a:t>True Transparency &amp; Analytics</a:t>
            </a:r>
          </a:p>
          <a:p>
            <a:pPr marL="285753" indent="-285753">
              <a:spcAft>
                <a:spcPts val="200"/>
              </a:spcAft>
              <a:buFont typeface="Wingdings" panose="05000000000000000000" pitchFamily="2" charset="2"/>
              <a:buChar char="§"/>
            </a:pPr>
            <a:r>
              <a:rPr lang="en-US" sz="1500" spc="70" dirty="0">
                <a:latin typeface="+mj-lt"/>
              </a:rPr>
              <a:t>Population Health  Management</a:t>
            </a:r>
          </a:p>
          <a:p>
            <a:pPr marL="285753" indent="-285753">
              <a:spcAft>
                <a:spcPts val="200"/>
              </a:spcAft>
              <a:buFont typeface="Wingdings" panose="05000000000000000000" pitchFamily="2" charset="2"/>
              <a:buChar char="§"/>
            </a:pPr>
            <a:r>
              <a:rPr lang="en-US" sz="1500" spc="70" dirty="0">
                <a:latin typeface="+mj-lt"/>
              </a:rPr>
              <a:t>Utilization &amp; Case Management</a:t>
            </a:r>
          </a:p>
          <a:p>
            <a:pPr marL="285753" indent="-285753">
              <a:spcAft>
                <a:spcPts val="200"/>
              </a:spcAft>
              <a:buFont typeface="Wingdings" panose="05000000000000000000" pitchFamily="2" charset="2"/>
              <a:buChar char="§"/>
            </a:pPr>
            <a:r>
              <a:rPr lang="en-US" sz="1500" spc="70" dirty="0">
                <a:latin typeface="+mj-lt"/>
              </a:rPr>
              <a:t>Sales &amp; Marketing</a:t>
            </a:r>
          </a:p>
          <a:p>
            <a:pPr marL="285753" indent="-285753">
              <a:spcAft>
                <a:spcPts val="200"/>
              </a:spcAft>
              <a:buFont typeface="Wingdings" panose="05000000000000000000" pitchFamily="2" charset="2"/>
              <a:buChar char="§"/>
            </a:pPr>
            <a:r>
              <a:rPr lang="en-US" sz="1500" spc="70" dirty="0">
                <a:latin typeface="+mj-lt"/>
              </a:rPr>
              <a:t>Transparent PBM</a:t>
            </a:r>
          </a:p>
          <a:p>
            <a:pPr marL="285753" indent="-285753">
              <a:spcAft>
                <a:spcPts val="200"/>
              </a:spcAft>
              <a:buFont typeface="Wingdings" panose="05000000000000000000" pitchFamily="2" charset="2"/>
              <a:buChar char="§"/>
            </a:pPr>
            <a:r>
              <a:rPr lang="en-US" sz="1500" spc="70" dirty="0">
                <a:latin typeface="+mj-lt"/>
              </a:rPr>
              <a:t>Website &amp; Mobile App</a:t>
            </a:r>
          </a:p>
          <a:p>
            <a:pPr marL="285753" indent="-285753">
              <a:spcAft>
                <a:spcPts val="200"/>
              </a:spcAft>
              <a:buFont typeface="Wingdings" panose="05000000000000000000" pitchFamily="2" charset="2"/>
              <a:buChar char="§"/>
            </a:pPr>
            <a:r>
              <a:rPr lang="en-US" sz="1500" spc="70" dirty="0">
                <a:latin typeface="+mj-lt"/>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Out of Pocket</a:t>
            </a:r>
          </a:p>
          <a:p>
            <a:pPr marL="285753" indent="-285753">
              <a:spcAft>
                <a:spcPts val="200"/>
              </a:spcAft>
              <a:buFont typeface="Wingdings" panose="05000000000000000000" pitchFamily="2" charset="2"/>
              <a:buChar char="§"/>
            </a:pPr>
            <a:r>
              <a:rPr lang="en-US" sz="1500" spc="70" dirty="0">
                <a:latin typeface="+mj-lt"/>
              </a:rPr>
              <a:t>Improved Health</a:t>
            </a:r>
          </a:p>
          <a:p>
            <a:pPr marL="285753" indent="-285753">
              <a:spcAft>
                <a:spcPts val="200"/>
              </a:spcAft>
              <a:buFont typeface="Wingdings" panose="05000000000000000000" pitchFamily="2" charset="2"/>
              <a:buChar char="§"/>
            </a:pPr>
            <a:r>
              <a:rPr lang="en-US" sz="1500" spc="70" dirty="0">
                <a:latin typeface="+mj-lt"/>
              </a:rPr>
              <a:t>Better Coordination &amp; Navigation of Care </a:t>
            </a:r>
          </a:p>
          <a:p>
            <a:pPr marL="285753" indent="-285753">
              <a:spcAft>
                <a:spcPts val="200"/>
              </a:spcAft>
              <a:buFont typeface="Wingdings" panose="05000000000000000000" pitchFamily="2" charset="2"/>
              <a:buChar char="§"/>
            </a:pPr>
            <a:r>
              <a:rPr lang="en-US" sz="1500" spc="70" dirty="0">
                <a:latin typeface="+mj-lt"/>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500" spc="70" dirty="0">
              <a:latin typeface="+mj-lt"/>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Arial" panose="020B0604020202020204" pitchFamily="34"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mtClean="0"/>
              <a:t>38</a:t>
            </a:fld>
            <a:endParaRPr lang="en-US"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290788" y="2296347"/>
            <a:ext cx="2895398" cy="646331"/>
          </a:xfrm>
          <a:prstGeom prst="rect">
            <a:avLst/>
          </a:prstGeom>
          <a:noFill/>
        </p:spPr>
        <p:txBody>
          <a:bodyPr wrap="square">
            <a:spAutoFit/>
          </a:bodyPr>
          <a:lstStyle/>
          <a:p>
            <a:r>
              <a:rPr lang="en-US" b="1" spc="300" dirty="0">
                <a:solidFill>
                  <a:schemeClr val="bg1"/>
                </a:solidFill>
              </a:rPr>
              <a:t>Yale New Haven Health System’s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2092881"/>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500" spc="70" dirty="0">
                <a:solidFill>
                  <a:schemeClr val="bg1"/>
                </a:solidFill>
                <a:latin typeface="+mj-lt"/>
              </a:rPr>
              <a:t>Reduced Spend</a:t>
            </a:r>
          </a:p>
          <a:p>
            <a:pPr marL="285753" indent="-285753">
              <a:spcAft>
                <a:spcPts val="200"/>
              </a:spcAft>
              <a:buFont typeface="Wingdings" panose="05000000000000000000" pitchFamily="2" charset="2"/>
              <a:buChar char="§"/>
            </a:pPr>
            <a:r>
              <a:rPr lang="en-US" sz="1500" spc="70" dirty="0">
                <a:solidFill>
                  <a:schemeClr val="bg1"/>
                </a:solidFill>
                <a:latin typeface="+mj-lt"/>
              </a:rPr>
              <a:t>“At The Table” with Yale New Haven Health System</a:t>
            </a:r>
          </a:p>
          <a:p>
            <a:pPr marL="285753" indent="-285753">
              <a:spcAft>
                <a:spcPts val="200"/>
              </a:spcAft>
              <a:buFont typeface="Wingdings" panose="05000000000000000000" pitchFamily="2" charset="2"/>
              <a:buChar char="§"/>
            </a:pPr>
            <a:r>
              <a:rPr lang="en-US" sz="1500" spc="70" dirty="0">
                <a:solidFill>
                  <a:schemeClr val="bg1"/>
                </a:solidFill>
                <a:latin typeface="+mj-lt"/>
              </a:rPr>
              <a:t>Improved Analytics</a:t>
            </a:r>
          </a:p>
          <a:p>
            <a:pPr marL="285753" indent="-285753">
              <a:spcAft>
                <a:spcPts val="200"/>
              </a:spcAft>
              <a:buFont typeface="Wingdings" panose="05000000000000000000" pitchFamily="2" charset="2"/>
              <a:buChar char="§"/>
            </a:pPr>
            <a:r>
              <a:rPr lang="en-US" sz="1500" spc="70" dirty="0">
                <a:solidFill>
                  <a:schemeClr val="bg1"/>
                </a:solidFill>
                <a:latin typeface="+mj-lt"/>
              </a:rPr>
              <a:t>Complete Transparency</a:t>
            </a:r>
          </a:p>
          <a:p>
            <a:pPr marL="285753" indent="-285753">
              <a:spcAft>
                <a:spcPts val="200"/>
              </a:spcAft>
              <a:buFont typeface="Wingdings" panose="05000000000000000000" pitchFamily="2" charset="2"/>
              <a:buChar char="§"/>
            </a:pPr>
            <a:r>
              <a:rPr lang="en-US" sz="1500" spc="70" dirty="0">
                <a:solidFill>
                  <a:schemeClr val="bg1"/>
                </a:solidFill>
                <a:latin typeface="+mj-lt"/>
              </a:rPr>
              <a:t>Lower Stop-Loss</a:t>
            </a:r>
          </a:p>
          <a:p>
            <a:pPr marL="285753" indent="-285753">
              <a:spcAft>
                <a:spcPts val="200"/>
              </a:spcAft>
              <a:buFont typeface="Wingdings" panose="05000000000000000000" pitchFamily="2" charset="2"/>
              <a:buChar char="§"/>
            </a:pPr>
            <a:r>
              <a:rPr lang="en-US" sz="1500" spc="70" dirty="0">
                <a:solidFill>
                  <a:schemeClr val="bg1"/>
                </a:solidFill>
                <a:latin typeface="+mj-lt"/>
              </a:rPr>
              <a:t>Benefit Plan Stabilization </a:t>
            </a:r>
          </a:p>
          <a:p>
            <a:pPr marL="285753" indent="-285753">
              <a:spcAft>
                <a:spcPts val="200"/>
              </a:spcAft>
              <a:buFont typeface="Wingdings" panose="05000000000000000000" pitchFamily="2" charset="2"/>
              <a:buChar char="§"/>
            </a:pPr>
            <a:r>
              <a:rPr lang="en-US" sz="1500" spc="70" dirty="0">
                <a:solidFill>
                  <a:schemeClr val="bg1"/>
                </a:solidFill>
                <a:latin typeface="+mj-lt"/>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3" name="Table 4">
            <a:extLst>
              <a:ext uri="{FF2B5EF4-FFF2-40B4-BE49-F238E27FC236}">
                <a16:creationId xmlns:a16="http://schemas.microsoft.com/office/drawing/2014/main" id="{3DE2040A-C011-4979-87CF-A22C198DE3CA}"/>
              </a:ext>
            </a:extLst>
          </p:cNvPr>
          <p:cNvGraphicFramePr>
            <a:graphicFrameLocks noGrp="1"/>
          </p:cNvGraphicFramePr>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rPr>
                        <a:t>SERVICES &amp; ADMINISTRATIVE SYSTEMS PROVIDED BY:</a:t>
                      </a:r>
                      <a:endParaRPr lang="en-US" sz="1400" spc="3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Yale New Haven Health System</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rPr>
                        <a:t>KBA Operations</a:t>
                      </a:r>
                      <a:endPar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solidFill/>
                          <a:effectLst/>
                        </a:rPr>
                        <a:t>Facilitate program communication and engagement with Yale New Haven Health System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4"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39</a:t>
            </a:fld>
            <a:endParaRPr lang="en-US" sz="1100" dirty="0">
              <a:solidFill>
                <a:schemeClr val="tx1">
                  <a:lumMod val="50000"/>
                  <a:lumOff val="50000"/>
                </a:schemeClr>
              </a:solidFill>
            </a:endParaRPr>
          </a:p>
        </p:txBody>
      </p:sp>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40</a:t>
            </a:fld>
            <a:endParaRPr lang="en-US" sz="110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200329"/>
          </a:xfrm>
          <a:prstGeom prst="rect">
            <a:avLst/>
          </a:prstGeom>
          <a:noFill/>
        </p:spPr>
        <p:txBody>
          <a:bodyPr wrap="square">
            <a:spAutoFit/>
          </a:bodyPr>
          <a:lstStyle/>
          <a:p>
            <a:pPr marL="285750" lvl="0" indent="-285750">
              <a:buFont typeface="Arial" panose="020B0604020202020204" pitchFamily="34" charset="0"/>
              <a:buChar char="•"/>
            </a:pPr>
            <a:r>
              <a:rPr lang="en-US" sz="1800" dirty="0"/>
              <a:t>Determine Gaps in Medical Service Delivery</a:t>
            </a:r>
          </a:p>
          <a:p>
            <a:pPr marL="285750" lvl="0" indent="-285750">
              <a:buFont typeface="Arial" panose="020B0604020202020204" pitchFamily="34" charset="0"/>
              <a:buChar char="•"/>
            </a:pPr>
            <a:r>
              <a:rPr lang="en-US" sz="1800" dirty="0">
                <a:solidFill/>
              </a:rPr>
              <a:t>Identify Other Key Providers to Potentially Contract with on Behalf of Yale New Haven Health System</a:t>
            </a:r>
          </a:p>
          <a:p>
            <a:pPr marL="285750" lvl="0" indent="-285750">
              <a:buFont typeface="Arial" panose="020B0604020202020204" pitchFamily="34" charset="0"/>
              <a:buChar char="•"/>
            </a:pPr>
            <a:r>
              <a:rPr lang="en-US" sz="1800" dirty="0"/>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923330"/>
          </a:xfrm>
          <a:prstGeom prst="rect">
            <a:avLst/>
          </a:prstGeom>
          <a:noFill/>
        </p:spPr>
        <p:txBody>
          <a:bodyPr wrap="square">
            <a:spAutoFit/>
          </a:bodyPr>
          <a:lstStyle/>
          <a:p>
            <a:pPr marL="285750" lvl="0" indent="-285750">
              <a:buFont typeface="Arial" panose="020B0604020202020204" pitchFamily="34" charset="0"/>
              <a:buChar char="•"/>
            </a:pPr>
            <a:r>
              <a:rPr lang="en-US" sz="1800" dirty="0">
                <a:solidFill/>
              </a:rPr>
              <a:t>To Dial in Competitive Stop-Loss Rates and Yale New Haven Health System’s Net Revenues/Margins</a:t>
            </a:r>
          </a:p>
          <a:p>
            <a:pPr marL="285750" lvl="0" indent="-285750">
              <a:buFont typeface="Arial" panose="020B0604020202020204" pitchFamily="34" charset="0"/>
              <a:buChar char="•"/>
            </a:pPr>
            <a:r>
              <a:rPr lang="en-US" sz="1800" dirty="0"/>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graphicFrame>
        <p:nvGraphicFramePr>
          <p:cNvPr id="5" name="Diagram 4">
            <a:extLst>
              <a:ext uri="{FF2B5EF4-FFF2-40B4-BE49-F238E27FC236}">
                <a16:creationId xmlns:a16="http://schemas.microsoft.com/office/drawing/2014/main" id="{8E6E34C3-E019-4EEA-855C-769086D79D48}"/>
              </a:ext>
            </a:extLst>
          </p:cNvPr>
          <p:cNvGraphicFramePr/>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41</a:t>
            </a:fld>
            <a:endParaRPr lang="en-US" sz="110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6" y="560444"/>
            <a:ext cx="6850224" cy="782540"/>
          </a:xfrm>
        </p:spPr>
        <p:txBody>
          <a:bodyPr/>
          <a:lstStyle/>
          <a:p>
            <a:r>
              <a:rPr lang="en-US"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mtClean="0">
                <a:solidFill>
                  <a:schemeClr val="bg1"/>
                </a:solidFill>
              </a:rPr>
              <a:t>42</a:t>
            </a:fld>
            <a:endParaRPr lang="en-US"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200329"/>
            <a:chOff x="908754" y="2695500"/>
            <a:chExt cx="10558665" cy="1200329"/>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646331"/>
            </a:xfrm>
            <a:prstGeom prst="rect">
              <a:avLst/>
            </a:prstGeom>
          </p:spPr>
          <p:txBody>
            <a:bodyPr wrap="square">
              <a:spAutoFit/>
            </a:bodyPr>
            <a:lstStyle/>
            <a:p>
              <a:r>
                <a:rPr lang="en-US" b="1" dirty="0">
                  <a:solidFill>
                    <a:schemeClr val="bg1"/>
                  </a:solidFill>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646331"/>
            </a:xfrm>
            <a:prstGeom prst="rect">
              <a:avLst/>
            </a:prstGeom>
          </p:spPr>
          <p:txBody>
            <a:bodyPr wrap="square">
              <a:spAutoFit/>
            </a:bodyPr>
            <a:lstStyle/>
            <a:p>
              <a:r>
                <a:rPr lang="en-US" b="1" dirty="0">
                  <a:solidFill>
                    <a:schemeClr val="bg1"/>
                  </a:solidFill>
                </a:rPr>
                <a:t>WE KNOW THE </a:t>
              </a:r>
            </a:p>
            <a:p>
              <a:r>
                <a:rPr lang="en-US" b="1" dirty="0">
                  <a:solidFill>
                    <a:schemeClr val="bg1"/>
                  </a:solidFill>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646331"/>
            </a:xfrm>
            <a:prstGeom prst="rect">
              <a:avLst/>
            </a:prstGeom>
          </p:spPr>
          <p:txBody>
            <a:bodyPr wrap="square">
              <a:spAutoFit/>
            </a:bodyPr>
            <a:lstStyle/>
            <a:p>
              <a:r>
                <a:rPr lang="en-US" b="1" dirty="0">
                  <a:solidFill>
                    <a:schemeClr val="bg1"/>
                  </a:solidFill>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200329"/>
            </a:xfrm>
            <a:prstGeom prst="rect">
              <a:avLst/>
            </a:prstGeom>
          </p:spPr>
          <p:txBody>
            <a:bodyPr wrap="square">
              <a:spAutoFit/>
            </a:bodyPr>
            <a:lstStyle/>
            <a:p>
              <a:r>
                <a:rPr lang="en-US" b="1" dirty="0">
                  <a:solidFill>
                    <a:schemeClr val="bg1"/>
                  </a:solidFill>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646331"/>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dirty="0">
                <a:solidFill>
                  <a:schemeClr val="bg1"/>
                </a:solidFill>
                <a:latin typeface="Arial" panose="020B0604020202020204" pitchFamily="34" charset="0"/>
                <a:cs typeface="Arial" panose="020B0604020202020204" pitchFamily="34" charset="0"/>
              </a:rPr>
              <a:t>Derek Moore, Senior Vice President – KBA</a:t>
            </a:r>
          </a:p>
          <a:p>
            <a:pPr algn="ctr"/>
            <a:r>
              <a:rPr lang="en-US" dirty="0">
                <a:solidFill>
                  <a:schemeClr val="bg1"/>
                </a:solidFill>
                <a:latin typeface="Arial" panose="020B0604020202020204" pitchFamily="34"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2.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6F5604B-F201-4300-A086-2482203EA6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46114</TotalTime>
  <Words>5849</Words>
  <Application>Microsoft Office PowerPoint</Application>
  <PresentationFormat>Widescreen</PresentationFormat>
  <Paragraphs>1733</Paragraphs>
  <Slides>42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Aptos Narrow</vt:lpstr>
      <vt:lpstr>Arial</vt:lpstr>
      <vt:lpstr>Arial Black</vt:lpstr>
      <vt:lpstr>Calibri</vt:lpstr>
      <vt:lpstr>Calibri Light</vt:lpstr>
      <vt:lpstr>Century Gothic</vt:lpstr>
      <vt:lpstr>Wingdings</vt:lpstr>
      <vt:lpstr>Office Theme</vt:lpstr>
      <vt:lpstr>PowerPoint Presentation</vt:lpstr>
      <vt:lpstr>PowerPoint Presentation</vt:lpstr>
      <vt:lpstr>Market Leader in Private Labeled DTE Plans</vt:lpstr>
      <vt:lpstr>Direct-to-Employer (DTE)  Your Health Plan Focused on a Direct Relationship with Self-Funded Employers in Your Market</vt:lpstr>
      <vt:lpstr>DTE Keys to Success for Yale New Haven Health System</vt:lpstr>
      <vt:lpstr>Every $1 of Care</vt:lpstr>
      <vt:lpstr>Direct-to-Employer Strategy: Powerful Employer Value</vt:lpstr>
      <vt:lpstr>Significant Opportunity for Plan Growth Researched for Connecticut and Rhode Island</vt:lpstr>
      <vt:lpstr>Plan Potential Growth Paths</vt:lpstr>
      <vt:lpstr>Growing Powerful, Lasting Profitability</vt:lpstr>
      <vt:lpstr>Estimated Financial Returns and Assumptions</vt:lpstr>
      <vt:lpstr>FOUR-YEAR PROJECTIONS</vt:lpstr>
      <vt:lpstr>Direct-to-Employer Strategy: Only Available to Premier Health Systems</vt:lpstr>
      <vt:lpstr>Yale New Haven Health System is Patient Recommended</vt:lpstr>
      <vt:lpstr>NETWORK DESIGN</vt:lpstr>
      <vt:lpstr>PowerPoint Presentation</vt:lpstr>
      <vt:lpstr>SINGLE YEAR SUMMARY</vt:lpstr>
      <vt:lpstr>the missing piece to population health success</vt:lpstr>
      <vt:lpstr>PowerPoint Presentation</vt:lpstr>
      <vt:lpstr>Transparent PBM Integration </vt:lpstr>
      <vt:lpstr>STOP-LOSS INSURANCE</vt:lpstr>
      <vt:lpstr>DTE  PROGRAM MARKETING  &amp; SALES</vt:lpstr>
      <vt:lpstr>Complete Sales Distribution System</vt:lpstr>
      <vt:lpstr>Complete Marketing System</vt:lpstr>
      <vt:lpstr>FINANCIAL PROJECTIONS &amp; ASSUMPTIONS: </vt:lpstr>
      <vt:lpstr>Estimation of Yale New Haven Health System’s 2022 Payer Mix</vt:lpstr>
      <vt:lpstr>Estimation of Margin for  Commercial vs. Government Pay</vt:lpstr>
      <vt:lpstr>Estimating Market Share</vt:lpstr>
      <vt:lpstr>PowerPoint Presentation</vt:lpstr>
      <vt:lpstr>Estimating PMPY Spend (KBA Data)</vt:lpstr>
      <vt:lpstr>Estimating Expected Steerage (KBA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111</cp:revision>
  <cp:lastPrinted>2023-07-13T10:24:43Z</cp:lastPrinted>
  <dcterms:created xsi:type="dcterms:W3CDTF">2021-01-20T14:12:11Z</dcterms:created>
  <dcterms:modified xsi:type="dcterms:W3CDTF">2024-11-21T01:28:22Z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