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0" r:id="rId4"/>
    <p:sldId id="261" r:id="rId5"/>
    <p:sldId id="262" r:id="rId6"/>
    <p:sldId id="263" r:id="rId7"/>
    <p:sldId id="264" r:id="rId8"/>
    <p:sldId id="265" r:id="rId9"/>
    <p:sldId id="266" r:id="rId10"/>
    <p:sldId id="267" r:id="rId11"/>
    <p:sldId id="268" r:id="rId12"/>
    <p:sldId id="269" r:id="rId13"/>
    <p:sldId id="270" r:id="rId14"/>
    <p:sldId id="271" r:id="rId15"/>
    <p:sldId id="272" r:id="rId16"/>
  </p:sldIdLst>
  <p:sldSz cx="9144000" cy="5143500" type="screen16x9"/>
  <p:notesSz cx="6858000" cy="9144000"/>
  <p:custDataLst>
    <p:tags r:id="rId1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p:cViewPr>
        <p:scale>
          <a:sx n="100" d="100"/>
          <a:sy n="100" d="100"/>
        </p:scale>
        <p:origin x="1950" y="72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E6744CE3-0875-4B69-89C0-6F72D8139561}" type="datetimeFigureOut">
              <a:rPr lang="en-GB" smtClean="0"/>
              <a:t>13/05/2026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42148811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E6744CE3-0875-4B69-89C0-6F72D8139561}" type="datetimeFigureOut">
              <a:rPr lang="en-GB" smtClean="0"/>
              <a:t>13/05/2026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2715769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6744CE3-0875-4B69-89C0-6F72D8139561}" type="datetimeFigureOut">
              <a:rPr lang="en-GB" smtClean="0"/>
              <a:t>13/05/2026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14315455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E6744CE3-0875-4B69-89C0-6F72D8139561}" type="datetimeFigureOut">
              <a:rPr lang="en-GB" smtClean="0"/>
              <a:t>13/05/2026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4683922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E6744CE3-0875-4B69-89C0-6F72D8139561}" type="datetimeFigureOut">
              <a:rPr lang="en-GB" smtClean="0"/>
              <a:t>13/05/2026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21203491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E6744CE3-0875-4B69-89C0-6F72D8139561}" type="datetimeFigureOut">
              <a:rPr lang="en-GB" smtClean="0"/>
              <a:t>13/05/2026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13858079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744CE3-0875-4B69-89C0-6F72D8139561}" type="datetimeFigureOut">
              <a:rPr lang="en-GB" smtClean="0"/>
              <a:t>13/05/2026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27559960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744CE3-0875-4B69-89C0-6F72D8139561}" type="datetimeFigureOut">
              <a:rPr lang="en-GB" smtClean="0"/>
              <a:t>13/05/2026</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ADB20D-508E-4C6D-A9E4-257D5607B0F6}" type="slidenum">
              <a:rPr lang="en-GB" smtClean="0"/>
              <a:t>‹#›</a:t>
            </a:fld>
            <a:endParaRPr lang="en-GB"/>
          </a:p>
        </p:txBody>
      </p:sp>
    </p:spTree>
    <p:extLst>
      <p:ext uri="{BB962C8B-B14F-4D97-AF65-F5344CB8AC3E}">
        <p14:creationId xmlns:p14="http://schemas.microsoft.com/office/powerpoint/2010/main" val="3078236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eft_panel"/>
          <p:cNvSpPr>
            <a:spLocks noGrp="1"/>
          </p:cNvSpPr>
          <p:nvPr/>
        </p:nvSpPr>
        <p:spPr>
          <a:xfrm>
            <a:off x="0" y="0"/>
            <a:ext cx="3474720" cy="5143500"/>
          </a:xfrm>
          <a:prstGeom prst="rect">
            <a:avLst/>
          </a:prstGeom>
          <a:solidFill>
            <a:srgbClr val="1A3A5C"/>
          </a:solidFill>
          <a:ln>
            <a:noFill/>
          </a:ln>
        </p:spPr>
        <p:txBody>
          <a:bodyPr/>
          <a:lstStyle/>
          <a:p>
            <a:endParaRPr/>
          </a:p>
        </p:txBody>
      </p:sp>
      <p:sp>
        <p:nvSpPr>
          <p:cNvPr id="3" name="divider"/>
          <p:cNvSpPr>
            <a:spLocks noGrp="1"/>
          </p:cNvSpPr>
          <p:nvPr/>
        </p:nvSpPr>
        <p:spPr>
          <a:xfrm>
            <a:off x="3474720" y="0"/>
            <a:ext cx="109728" cy="5143500"/>
          </a:xfrm>
          <a:prstGeom prst="rect">
            <a:avLst/>
          </a:prstGeom>
          <a:solidFill>
            <a:srgbClr val="2C7A7B"/>
          </a:solidFill>
          <a:ln>
            <a:noFill/>
          </a:ln>
        </p:spPr>
        <p:txBody>
          <a:bodyPr/>
          <a:lstStyle/>
          <a:p>
            <a:endParaRPr/>
          </a:p>
        </p:txBody>
      </p:sp>
      <p:sp>
        <p:nvSpPr>
          <p:cNvPr id="4" name="title_1"/>
          <p:cNvSpPr/>
          <p:nvPr/>
        </p:nvSpPr>
        <p:spPr>
          <a:xfrm>
            <a:off x="320040" y="914400"/>
            <a:ext cx="2926080" cy="594360"/>
          </a:xfrm>
          <a:prstGeom prst="rect">
            <a:avLst/>
          </a:prstGeom>
          <a:noFill/>
          <a:ln>
            <a:noFill/>
          </a:ln>
        </p:spPr>
        <p:txBody>
          <a:bodyPr wrap="square" rtlCol="0" anchor="ctr"/>
          <a:lstStyle/>
          <a:p>
            <a:pPr marL="0" indent="0" algn="l">
              <a:buNone/>
            </a:pPr>
            <a:r>
              <a:rPr lang="en-US" sz="2800" b="1" dirty="0">
                <a:solidFill>
                  <a:srgbClr val="FFFFFF"/>
                </a:solidFill>
                <a:latin typeface="Calibri" pitchFamily="34" charset="0"/>
              </a:rPr>
              <a:t>Orlando</a:t>
            </a:r>
          </a:p>
        </p:txBody>
      </p:sp>
      <p:sp>
        <p:nvSpPr>
          <p:cNvPr id="5" name="title_2"/>
          <p:cNvSpPr/>
          <p:nvPr/>
        </p:nvSpPr>
        <p:spPr>
          <a:xfrm>
            <a:off x="320040" y="1554480"/>
            <a:ext cx="2926080" cy="594360"/>
          </a:xfrm>
          <a:prstGeom prst="rect">
            <a:avLst/>
          </a:prstGeom>
          <a:noFill/>
          <a:ln>
            <a:noFill/>
          </a:ln>
        </p:spPr>
        <p:txBody>
          <a:bodyPr wrap="square" rtlCol="0" anchor="ctr"/>
          <a:lstStyle/>
          <a:p>
            <a:pPr marL="0" indent="0" algn="l">
              <a:buNone/>
            </a:pPr>
            <a:r>
              <a:rPr lang="en-US" sz="2800" b="1" dirty="0">
                <a:solidFill>
                  <a:srgbClr val="93C5FD"/>
                </a:solidFill>
                <a:latin typeface="Calibri" pitchFamily="34" charset="0"/>
              </a:rPr>
              <a:t>BROKER</a:t>
            </a:r>
          </a:p>
        </p:txBody>
      </p:sp>
      <p:sp>
        <p:nvSpPr>
          <p:cNvPr id="6" name="title_3"/>
          <p:cNvSpPr/>
          <p:nvPr/>
        </p:nvSpPr>
        <p:spPr>
          <a:xfrm>
            <a:off x="320040" y="2194560"/>
            <a:ext cx="2926080" cy="594360"/>
          </a:xfrm>
          <a:prstGeom prst="rect">
            <a:avLst/>
          </a:prstGeom>
          <a:noFill/>
          <a:ln>
            <a:noFill/>
          </a:ln>
        </p:spPr>
        <p:txBody>
          <a:bodyPr wrap="square" rtlCol="0" anchor="ctr"/>
          <a:lstStyle/>
          <a:p>
            <a:pPr marL="0" indent="0" algn="l">
              <a:buNone/>
            </a:pPr>
            <a:r>
              <a:rPr lang="en-US" sz="2800" b="1" dirty="0">
                <a:solidFill>
                  <a:srgbClr val="93C5FD"/>
                </a:solidFill>
                <a:latin typeface="Calibri" pitchFamily="34" charset="0"/>
              </a:rPr>
              <a:t>MARKET</a:t>
            </a:r>
          </a:p>
        </p:txBody>
      </p:sp>
      <p:sp>
        <p:nvSpPr>
          <p:cNvPr id="7" name="title_4"/>
          <p:cNvSpPr/>
          <p:nvPr/>
        </p:nvSpPr>
        <p:spPr>
          <a:xfrm>
            <a:off x="320040" y="2834640"/>
            <a:ext cx="2926080" cy="594360"/>
          </a:xfrm>
          <a:prstGeom prst="rect">
            <a:avLst/>
          </a:prstGeom>
          <a:noFill/>
          <a:ln>
            <a:noFill/>
          </a:ln>
        </p:spPr>
        <p:txBody>
          <a:bodyPr wrap="square" rtlCol="0" anchor="ctr"/>
          <a:lstStyle/>
          <a:p>
            <a:pPr marL="0" indent="0" algn="l">
              <a:buNone/>
            </a:pPr>
            <a:r>
              <a:rPr lang="en-US" sz="2800" b="1" dirty="0">
                <a:solidFill>
                  <a:srgbClr val="FFFFFF"/>
                </a:solidFill>
                <a:latin typeface="Calibri" pitchFamily="34" charset="0"/>
              </a:rPr>
              <a:t>SHARE</a:t>
            </a:r>
          </a:p>
        </p:txBody>
      </p:sp>
      <p:sp>
        <p:nvSpPr>
          <p:cNvPr id="8" name="stat_bg_1"/>
          <p:cNvSpPr>
            <a:spLocks noGrp="1"/>
          </p:cNvSpPr>
          <p:nvPr/>
        </p:nvSpPr>
        <p:spPr>
          <a:xfrm>
            <a:off x="3931920" y="1325880"/>
            <a:ext cx="1508760" cy="1280160"/>
          </a:xfrm>
          <a:prstGeom prst="rect">
            <a:avLst/>
          </a:prstGeom>
          <a:solidFill>
            <a:srgbClr val="F7F9FC"/>
          </a:solidFill>
          <a:ln w="12700">
            <a:solidFill>
              <a:srgbClr val="E2E8F0"/>
            </a:solidFill>
            <a:prstDash val="solid"/>
          </a:ln>
        </p:spPr>
        <p:txBody>
          <a:bodyPr/>
          <a:lstStyle/>
          <a:p>
            <a:endParaRPr/>
          </a:p>
        </p:txBody>
      </p:sp>
      <p:sp>
        <p:nvSpPr>
          <p:cNvPr id="9" name="stat_val_1"/>
          <p:cNvSpPr/>
          <p:nvPr/>
        </p:nvSpPr>
        <p:spPr>
          <a:xfrm>
            <a:off x="3931920" y="1417320"/>
            <a:ext cx="1508760" cy="548640"/>
          </a:xfrm>
          <a:prstGeom prst="rect">
            <a:avLst/>
          </a:prstGeom>
          <a:noFill/>
          <a:ln>
            <a:noFill/>
          </a:ln>
        </p:spPr>
        <p:txBody>
          <a:bodyPr wrap="square" rtlCol="0" anchor="ctr"/>
          <a:lstStyle/>
          <a:p>
            <a:pPr marL="0" indent="0" algn="l">
              <a:buNone/>
            </a:pPr>
            <a:r>
              <a:rPr lang="en-US" sz="2200" b="1" dirty="0">
                <a:solidFill>
                  <a:srgbClr val="1A3A5C"/>
                </a:solidFill>
                <a:latin typeface="Calibri" pitchFamily="34" charset="0"/>
              </a:rPr>
              <a:t>111</a:t>
            </a:r>
          </a:p>
        </p:txBody>
      </p:sp>
      <p:sp>
        <p:nvSpPr>
          <p:cNvPr id="10" name="stat_lbl_1"/>
          <p:cNvSpPr/>
          <p:nvPr/>
        </p:nvSpPr>
        <p:spPr>
          <a:xfrm>
            <a:off x="3931920" y="1993392"/>
            <a:ext cx="1508760" cy="411480"/>
          </a:xfrm>
          <a:prstGeom prst="rect">
            <a:avLst/>
          </a:prstGeom>
          <a:noFill/>
          <a:ln>
            <a:noFill/>
          </a:ln>
        </p:spPr>
        <p:txBody>
          <a:bodyPr wrap="square" rtlCol="0" anchor="t"/>
          <a:lstStyle/>
          <a:p>
            <a:pPr marL="0" indent="0" algn="l">
              <a:buNone/>
            </a:pPr>
            <a:r>
              <a:rPr lang="en-US" sz="900" dirty="0">
                <a:solidFill>
                  <a:srgbClr val="4A5568"/>
                </a:solidFill>
                <a:latin typeface="Calibri" pitchFamily="34" charset="0"/>
              </a:rPr>
              <a:t>Brokers / Consultants</a:t>
            </a:r>
          </a:p>
        </p:txBody>
      </p:sp>
      <p:sp>
        <p:nvSpPr>
          <p:cNvPr id="11" name="stat_bg_2"/>
          <p:cNvSpPr>
            <a:spLocks noGrp="1"/>
          </p:cNvSpPr>
          <p:nvPr/>
        </p:nvSpPr>
        <p:spPr>
          <a:xfrm>
            <a:off x="5669280" y="1325880"/>
            <a:ext cx="1508760" cy="1280160"/>
          </a:xfrm>
          <a:prstGeom prst="rect">
            <a:avLst/>
          </a:prstGeom>
          <a:solidFill>
            <a:srgbClr val="F7F9FC"/>
          </a:solidFill>
          <a:ln w="12700">
            <a:solidFill>
              <a:srgbClr val="E2E8F0"/>
            </a:solidFill>
            <a:prstDash val="solid"/>
          </a:ln>
        </p:spPr>
        <p:txBody>
          <a:bodyPr/>
          <a:lstStyle/>
          <a:p>
            <a:endParaRPr/>
          </a:p>
        </p:txBody>
      </p:sp>
      <p:sp>
        <p:nvSpPr>
          <p:cNvPr id="12" name="stat_val_2"/>
          <p:cNvSpPr/>
          <p:nvPr/>
        </p:nvSpPr>
        <p:spPr>
          <a:xfrm>
            <a:off x="5669280" y="1417320"/>
            <a:ext cx="1508760" cy="548640"/>
          </a:xfrm>
          <a:prstGeom prst="rect">
            <a:avLst/>
          </a:prstGeom>
          <a:noFill/>
          <a:ln>
            <a:noFill/>
          </a:ln>
        </p:spPr>
        <p:txBody>
          <a:bodyPr wrap="square" rtlCol="0" anchor="ctr"/>
          <a:lstStyle/>
          <a:p>
            <a:pPr marL="0" indent="0" algn="l">
              <a:buNone/>
            </a:pPr>
            <a:r>
              <a:rPr lang="en-US" sz="2200" b="1" dirty="0">
                <a:solidFill>
                  <a:srgbClr val="1A3A5C"/>
                </a:solidFill>
                <a:latin typeface="Calibri" pitchFamily="34" charset="0"/>
              </a:rPr>
              <a:t>522</a:t>
            </a:r>
          </a:p>
        </p:txBody>
      </p:sp>
      <p:sp>
        <p:nvSpPr>
          <p:cNvPr id="13" name="stat_lbl_2"/>
          <p:cNvSpPr/>
          <p:nvPr/>
        </p:nvSpPr>
        <p:spPr>
          <a:xfrm>
            <a:off x="5669280" y="1993392"/>
            <a:ext cx="1508760" cy="411480"/>
          </a:xfrm>
          <a:prstGeom prst="rect">
            <a:avLst/>
          </a:prstGeom>
          <a:noFill/>
          <a:ln>
            <a:noFill/>
          </a:ln>
        </p:spPr>
        <p:txBody>
          <a:bodyPr wrap="square" rtlCol="0" anchor="t"/>
          <a:lstStyle/>
          <a:p>
            <a:pPr marL="0" indent="0" algn="l">
              <a:buNone/>
            </a:pPr>
            <a:r>
              <a:rPr lang="en-US" sz="900" dirty="0">
                <a:solidFill>
                  <a:srgbClr val="4A5568"/>
                </a:solidFill>
                <a:latin typeface="Calibri" pitchFamily="34" charset="0"/>
              </a:rPr>
              <a:t>Employers Tracked</a:t>
            </a:r>
          </a:p>
        </p:txBody>
      </p:sp>
      <p:sp>
        <p:nvSpPr>
          <p:cNvPr id="14" name="stat_bg_3"/>
          <p:cNvSpPr>
            <a:spLocks noGrp="1"/>
          </p:cNvSpPr>
          <p:nvPr/>
        </p:nvSpPr>
        <p:spPr>
          <a:xfrm>
            <a:off x="7406640" y="1325880"/>
            <a:ext cx="1508760" cy="1280160"/>
          </a:xfrm>
          <a:prstGeom prst="rect">
            <a:avLst/>
          </a:prstGeom>
          <a:solidFill>
            <a:srgbClr val="F7F9FC"/>
          </a:solidFill>
          <a:ln w="12700">
            <a:solidFill>
              <a:srgbClr val="E2E8F0"/>
            </a:solidFill>
            <a:prstDash val="solid"/>
          </a:ln>
        </p:spPr>
        <p:txBody>
          <a:bodyPr/>
          <a:lstStyle/>
          <a:p>
            <a:endParaRPr/>
          </a:p>
        </p:txBody>
      </p:sp>
      <p:sp>
        <p:nvSpPr>
          <p:cNvPr id="15" name="stat_val_3"/>
          <p:cNvSpPr/>
          <p:nvPr/>
        </p:nvSpPr>
        <p:spPr>
          <a:xfrm>
            <a:off x="7406640" y="1417320"/>
            <a:ext cx="1508760" cy="548640"/>
          </a:xfrm>
          <a:prstGeom prst="rect">
            <a:avLst/>
          </a:prstGeom>
          <a:noFill/>
          <a:ln>
            <a:noFill/>
          </a:ln>
        </p:spPr>
        <p:txBody>
          <a:bodyPr wrap="square" rtlCol="0" anchor="ctr"/>
          <a:lstStyle/>
          <a:p>
            <a:pPr marL="0" indent="0" algn="l">
              <a:buNone/>
            </a:pPr>
            <a:r>
              <a:rPr lang="en-US" sz="2200" b="1" dirty="0">
                <a:solidFill>
                  <a:srgbClr val="1A3A5C"/>
                </a:solidFill>
                <a:latin typeface="Calibri" pitchFamily="34" charset="0"/>
              </a:rPr>
              <a:t>382,957</a:t>
            </a:r>
          </a:p>
        </p:txBody>
      </p:sp>
      <p:sp>
        <p:nvSpPr>
          <p:cNvPr id="16" name="stat_lbl_3"/>
          <p:cNvSpPr/>
          <p:nvPr/>
        </p:nvSpPr>
        <p:spPr>
          <a:xfrm>
            <a:off x="7406640" y="1993392"/>
            <a:ext cx="1508760" cy="411480"/>
          </a:xfrm>
          <a:prstGeom prst="rect">
            <a:avLst/>
          </a:prstGeom>
          <a:noFill/>
          <a:ln>
            <a:noFill/>
          </a:ln>
        </p:spPr>
        <p:txBody>
          <a:bodyPr wrap="square" rtlCol="0" anchor="t"/>
          <a:lstStyle/>
          <a:p>
            <a:pPr marL="0" indent="0" algn="l">
              <a:buNone/>
            </a:pPr>
            <a:r>
              <a:rPr lang="en-US" sz="900" dirty="0">
                <a:solidFill>
                  <a:srgbClr val="4A5568"/>
                </a:solidFill>
                <a:latin typeface="Calibri" pitchFamily="34" charset="0"/>
              </a:rPr>
              <a:t>Covered Employees</a:t>
            </a:r>
          </a:p>
        </p:txBody>
      </p:sp>
      <p:sp>
        <p:nvSpPr>
          <p:cNvPr id="17" name="subtitle_1"/>
          <p:cNvSpPr/>
          <p:nvPr/>
        </p:nvSpPr>
        <p:spPr>
          <a:xfrm>
            <a:off x="3840480" y="3017520"/>
            <a:ext cx="5029200" cy="365760"/>
          </a:xfrm>
          <a:prstGeom prst="rect">
            <a:avLst/>
          </a:prstGeom>
          <a:noFill/>
          <a:ln>
            <a:noFill/>
          </a:ln>
        </p:spPr>
        <p:txBody>
          <a:bodyPr wrap="square" rtlCol="0" anchor="ctr"/>
          <a:lstStyle/>
          <a:p>
            <a:pPr marL="0" indent="0" algn="l">
              <a:buNone/>
            </a:pPr>
            <a:r>
              <a:rPr lang="en-US" sz="1100" b="1" dirty="0">
                <a:solidFill>
                  <a:srgbClr val="1A3A5C"/>
                </a:solidFill>
                <a:latin typeface="Calibri" pitchFamily="34" charset="0"/>
              </a:rPr>
              <a:t>Benefits Broker &amp; Consultant Analysis - Orlando State</a:t>
            </a:r>
          </a:p>
        </p:txBody>
      </p:sp>
      <p:sp>
        <p:nvSpPr>
          <p:cNvPr id="18" name="subtitle_2"/>
          <p:cNvSpPr/>
          <p:nvPr/>
        </p:nvSpPr>
        <p:spPr>
          <a:xfrm>
            <a:off x="3840480" y="3401568"/>
            <a:ext cx="5029200" cy="502920"/>
          </a:xfrm>
          <a:prstGeom prst="rect">
            <a:avLst/>
          </a:prstGeom>
          <a:noFill/>
          <a:ln>
            <a:noFill/>
          </a:ln>
        </p:spPr>
        <p:txBody>
          <a:bodyPr wrap="square" rtlCol="0" anchor="t"/>
          <a:lstStyle/>
          <a:p>
            <a:pPr marL="0" indent="0" algn="l">
              <a:buNone/>
            </a:pPr>
            <a:r>
              <a:rPr lang="en-US" sz="900" dirty="0">
                <a:solidFill>
                  <a:srgbClr val="4A5568"/>
                </a:solidFill>
                <a:latin typeface="Calibri" pitchFamily="34" charset="0"/>
              </a:rPr>
              <a:t>5500 Filings Data | All Groups With Identified Benefits Broker</a:t>
            </a:r>
          </a:p>
        </p:txBody>
      </p:sp>
      <p:sp>
        <p:nvSpPr>
          <p:cNvPr id="19" name="conf_txt"/>
          <p:cNvSpPr/>
          <p:nvPr/>
        </p:nvSpPr>
        <p:spPr>
          <a:xfrm>
            <a:off x="3840480" y="4732020"/>
            <a:ext cx="5029200" cy="320040"/>
          </a:xfrm>
          <a:prstGeom prst="rect">
            <a:avLst/>
          </a:prstGeom>
          <a:noFill/>
          <a:ln>
            <a:noFill/>
          </a:ln>
        </p:spPr>
        <p:txBody>
          <a:bodyPr wrap="square" rtlCol="0" anchor="ctr"/>
          <a:lstStyle/>
          <a:p>
            <a:pPr marL="0" indent="0" algn="l">
              <a:buNone/>
            </a:pPr>
            <a:r>
              <a:rPr lang="en-US" sz="900" dirty="0">
                <a:solidFill>
                  <a:srgbClr val="4A5568"/>
                </a:solidFill>
                <a:latin typeface="Calibri" pitchFamily="34" charset="0"/>
              </a:rPr>
              <a:t>Confidential - Internal Use Only</a:t>
            </a:r>
          </a:p>
        </p:txBody>
      </p:sp>
      <p:pic>
        <p:nvPicPr>
          <p:cNvPr id="20" name="Picture 19">
            <a:extLst>
              <a:ext uri="{FF2B5EF4-FFF2-40B4-BE49-F238E27FC236}">
                <a16:creationId xmlns:a16="http://schemas.microsoft.com/office/drawing/2014/main" id="{E4DC7160-AE71-750D-AAC3-1516C1893E1E}"/>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7386150" y="4701485"/>
            <a:ext cx="1723470" cy="37603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dr_bar"/>
          <p:cNvSpPr>
            <a:spLocks noGrp="1"/>
          </p:cNvSpPr>
          <p:nvPr/>
        </p:nvSpPr>
        <p:spPr>
          <a:xfrm>
            <a:off x="0" y="0"/>
            <a:ext cx="9144000" cy="640080"/>
          </a:xfrm>
          <a:prstGeom prst="rect">
            <a:avLst/>
          </a:prstGeom>
          <a:solidFill>
            <a:srgbClr val="1A3A5C"/>
          </a:solidFill>
          <a:ln>
            <a:noFill/>
          </a:ln>
        </p:spPr>
        <p:txBody>
          <a:bodyPr/>
          <a:lstStyle/>
          <a:p>
            <a:endParaRPr/>
          </a:p>
        </p:txBody>
      </p:sp>
      <p:sp>
        <p:nvSpPr>
          <p:cNvPr id="3" name="hdr_title"/>
          <p:cNvSpPr/>
          <p:nvPr/>
        </p:nvSpPr>
        <p:spPr>
          <a:xfrm>
            <a:off x="274320" y="73152"/>
            <a:ext cx="8595360" cy="493776"/>
          </a:xfrm>
          <a:prstGeom prst="rect">
            <a:avLst/>
          </a:prstGeom>
          <a:noFill/>
          <a:ln>
            <a:noFill/>
          </a:ln>
        </p:spPr>
        <p:txBody>
          <a:bodyPr wrap="square" rtlCol="0" anchor="ctr"/>
          <a:lstStyle/>
          <a:p>
            <a:pPr marL="0" indent="0" algn="l">
              <a:buNone/>
            </a:pPr>
            <a:r>
              <a:rPr lang="en-US" sz="1500" b="1" dirty="0">
                <a:solidFill>
                  <a:srgbClr val="FFFFFF"/>
                </a:solidFill>
                <a:latin typeface="Calibri" pitchFamily="34" charset="0"/>
              </a:rPr>
              <a:t>Market Share by Broker - Ranked by Covered Employees</a:t>
            </a:r>
          </a:p>
        </p:txBody>
      </p:sp>
      <p:sp>
        <p:nvSpPr>
          <p:cNvPr id="4" name="ftr_bar"/>
          <p:cNvSpPr>
            <a:spLocks noGrp="1"/>
          </p:cNvSpPr>
          <p:nvPr/>
        </p:nvSpPr>
        <p:spPr>
          <a:xfrm>
            <a:off x="0" y="4846320"/>
            <a:ext cx="9144000" cy="297180"/>
          </a:xfrm>
          <a:prstGeom prst="rect">
            <a:avLst/>
          </a:prstGeom>
          <a:solidFill>
            <a:srgbClr val="1A3A5C"/>
          </a:solidFill>
          <a:ln>
            <a:noFill/>
          </a:ln>
        </p:spPr>
        <p:txBody>
          <a:bodyPr/>
          <a:lstStyle/>
          <a:p>
            <a:endParaRPr/>
          </a:p>
        </p:txBody>
      </p:sp>
      <p:sp>
        <p:nvSpPr>
          <p:cNvPr id="5" name="ftr_txt"/>
          <p:cNvSpPr/>
          <p:nvPr/>
        </p:nvSpPr>
        <p:spPr>
          <a:xfrm>
            <a:off x="365760" y="4864608"/>
            <a:ext cx="6400800" cy="256032"/>
          </a:xfrm>
          <a:prstGeom prst="rect">
            <a:avLst/>
          </a:prstGeom>
          <a:noFill/>
          <a:ln>
            <a:noFill/>
          </a:ln>
        </p:spPr>
        <p:txBody>
          <a:bodyPr wrap="square" rtlCol="0" anchor="ctr"/>
          <a:lstStyle/>
          <a:p>
            <a:pPr marL="0" indent="0" algn="l">
              <a:buNone/>
            </a:pPr>
            <a:r>
              <a:rPr lang="en-US" sz="900" dirty="0">
                <a:solidFill>
                  <a:srgbClr val="E2E8F0"/>
                </a:solidFill>
                <a:latin typeface="Calibri" pitchFamily="34" charset="0"/>
              </a:rPr>
              <a:t>5500 Filings Data | All Groups With Identified Benefits Broker</a:t>
            </a:r>
          </a:p>
        </p:txBody>
      </p:sp>
      <p:sp>
        <p:nvSpPr>
          <p:cNvPr id="6" name="ftr_conf"/>
          <p:cNvSpPr/>
          <p:nvPr/>
        </p:nvSpPr>
        <p:spPr>
          <a:xfrm>
            <a:off x="6858000" y="4864608"/>
            <a:ext cx="2011680" cy="256032"/>
          </a:xfrm>
          <a:prstGeom prst="rect">
            <a:avLst/>
          </a:prstGeom>
          <a:noFill/>
          <a:ln>
            <a:noFill/>
          </a:ln>
        </p:spPr>
        <p:txBody>
          <a:bodyPr wrap="square" rtlCol="0" anchor="ctr"/>
          <a:lstStyle/>
          <a:p>
            <a:pPr marL="0" indent="0" algn="r">
              <a:buNone/>
            </a:pPr>
            <a:r>
              <a:rPr lang="en-US" sz="900" dirty="0">
                <a:solidFill>
                  <a:srgbClr val="E2E8F0"/>
                </a:solidFill>
                <a:latin typeface="Calibri" pitchFamily="34" charset="0"/>
              </a:rPr>
              <a:t>Confidential - Internal Use Only</a:t>
            </a:r>
          </a:p>
        </p:txBody>
      </p:sp>
      <p:graphicFrame>
        <p:nvGraphicFramePr>
          <p:cNvPr id="7" name="Table 6"/>
          <p:cNvGraphicFramePr>
            <a:graphicFrameLocks noGrp="1"/>
          </p:cNvGraphicFramePr>
          <p:nvPr/>
        </p:nvGraphicFramePr>
        <p:xfrm>
          <a:off x="182880" y="713232"/>
          <a:ext cx="6766560" cy="4114800"/>
        </p:xfrm>
        <a:graphic>
          <a:graphicData uri="http://schemas.openxmlformats.org/drawingml/2006/table">
            <a:tbl>
              <a:tblPr/>
              <a:tblGrid>
                <a:gridCol w="320040">
                  <a:extLst>
                    <a:ext uri="{9D8B030D-6E8A-4147-A177-3AD203B41FA5}">
                      <a16:colId xmlns:a16="http://schemas.microsoft.com/office/drawing/2014/main" val="20000"/>
                    </a:ext>
                  </a:extLst>
                </a:gridCol>
                <a:gridCol w="347472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868680">
                  <a:extLst>
                    <a:ext uri="{9D8B030D-6E8A-4147-A177-3AD203B41FA5}">
                      <a16:colId xmlns:a16="http://schemas.microsoft.com/office/drawing/2014/main" val="20003"/>
                    </a:ext>
                  </a:extLst>
                </a:gridCol>
                <a:gridCol w="685800">
                  <a:extLst>
                    <a:ext uri="{9D8B030D-6E8A-4147-A177-3AD203B41FA5}">
                      <a16:colId xmlns:a16="http://schemas.microsoft.com/office/drawing/2014/main" val="20004"/>
                    </a:ext>
                  </a:extLst>
                </a:gridCol>
                <a:gridCol w="685800">
                  <a:extLst>
                    <a:ext uri="{9D8B030D-6E8A-4147-A177-3AD203B41FA5}">
                      <a16:colId xmlns:a16="http://schemas.microsoft.com/office/drawing/2014/main" val="20005"/>
                    </a:ext>
                  </a:extLst>
                </a:gridCol>
              </a:tblGrid>
              <a:tr h="228600">
                <a:tc>
                  <a:txBody>
                    <a:bodyPr/>
                    <a:lstStyle/>
                    <a:p>
                      <a:pPr marL="25400" marR="25400" algn="ctr">
                        <a:lnSpc>
                          <a:spcPct val="100000"/>
                        </a:lnSpc>
                        <a:spcBef>
                          <a:spcPts val="200"/>
                        </a:spcBef>
                        <a:spcAft>
                          <a:spcPts val="200"/>
                        </a:spcAft>
                        <a:buNone/>
                      </a:pPr>
                      <a:r>
                        <a:rPr sz="900" b="1" i="0" u="none" strike="noStrike" cap="none">
                          <a:solidFill>
                            <a:srgbClr val="FFFFFF">
                              <a:alpha val="100000"/>
                            </a:srgbClr>
                          </a:solidFill>
                          <a:latin typeface="Calibri"/>
                          <a:cs typeface="Calibri"/>
                          <a:sym typeface="Calibri"/>
                        </a:rPr>
                        <a:t>#</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alpha val="100000"/>
                        </a:srgbClr>
                      </a:solidFill>
                      <a:prstDash val="solid"/>
                    </a:lnT>
                    <a:lnB w="6350" cap="flat" cmpd="sng" algn="ctr">
                      <a:solidFill>
                        <a:srgbClr val="E2E8F0">
                          <a:alpha val="100000"/>
                        </a:srgbClr>
                      </a:solidFill>
                      <a:prstDash val="solid"/>
                    </a:lnB>
                    <a:solidFill>
                      <a:srgbClr val="1A3A5C">
                        <a:alpha val="100000"/>
                      </a:srgbClr>
                    </a:solidFill>
                  </a:tcPr>
                </a:tc>
                <a:tc>
                  <a:txBody>
                    <a:bodyPr/>
                    <a:lstStyle/>
                    <a:p>
                      <a:pPr marL="25400" marR="25400" algn="l">
                        <a:lnSpc>
                          <a:spcPct val="100000"/>
                        </a:lnSpc>
                        <a:spcBef>
                          <a:spcPts val="200"/>
                        </a:spcBef>
                        <a:spcAft>
                          <a:spcPts val="200"/>
                        </a:spcAft>
                        <a:buNone/>
                      </a:pPr>
                      <a:r>
                        <a:rPr sz="900" b="1" i="0" u="none" strike="noStrike" cap="none">
                          <a:solidFill>
                            <a:srgbClr val="FFFFFF">
                              <a:alpha val="100000"/>
                            </a:srgbClr>
                          </a:solidFill>
                          <a:latin typeface="Calibri"/>
                          <a:cs typeface="Calibri"/>
                          <a:sym typeface="Calibri"/>
                        </a:rPr>
                        <a:t>Broker / Consultant</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alpha val="100000"/>
                        </a:srgbClr>
                      </a:solidFill>
                      <a:prstDash val="solid"/>
                    </a:lnT>
                    <a:lnB w="6350" cap="flat" cmpd="sng" algn="ctr">
                      <a:solidFill>
                        <a:srgbClr val="E2E8F0">
                          <a:alpha val="100000"/>
                        </a:srgbClr>
                      </a:solidFill>
                      <a:prstDash val="solid"/>
                    </a:lnB>
                    <a:solidFill>
                      <a:srgbClr val="1A3A5C">
                        <a:alpha val="100000"/>
                      </a:srgbClr>
                    </a:solidFill>
                  </a:tcPr>
                </a:tc>
                <a:tc>
                  <a:txBody>
                    <a:bodyPr/>
                    <a:lstStyle/>
                    <a:p>
                      <a:pPr marL="25400" marR="25400" algn="ctr">
                        <a:lnSpc>
                          <a:spcPct val="100000"/>
                        </a:lnSpc>
                        <a:spcBef>
                          <a:spcPts val="200"/>
                        </a:spcBef>
                        <a:spcAft>
                          <a:spcPts val="200"/>
                        </a:spcAft>
                        <a:buNone/>
                      </a:pPr>
                      <a:r>
                        <a:rPr sz="900" b="1" i="0" u="none" strike="noStrike" cap="none">
                          <a:solidFill>
                            <a:srgbClr val="FFFFFF">
                              <a:alpha val="100000"/>
                            </a:srgbClr>
                          </a:solidFill>
                          <a:latin typeface="Calibri"/>
                          <a:cs typeface="Calibri"/>
                          <a:sym typeface="Calibri"/>
                        </a:rPr>
                        <a:t>Employers</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alpha val="100000"/>
                        </a:srgbClr>
                      </a:solidFill>
                      <a:prstDash val="solid"/>
                    </a:lnT>
                    <a:lnB w="6350" cap="flat" cmpd="sng" algn="ctr">
                      <a:solidFill>
                        <a:srgbClr val="E2E8F0">
                          <a:alpha val="100000"/>
                        </a:srgbClr>
                      </a:solidFill>
                      <a:prstDash val="solid"/>
                    </a:lnB>
                    <a:solidFill>
                      <a:srgbClr val="1A3A5C">
                        <a:alpha val="100000"/>
                      </a:srgbClr>
                    </a:solidFill>
                  </a:tcPr>
                </a:tc>
                <a:tc>
                  <a:txBody>
                    <a:bodyPr/>
                    <a:lstStyle/>
                    <a:p>
                      <a:pPr marL="25400" marR="25400" algn="ctr">
                        <a:lnSpc>
                          <a:spcPct val="100000"/>
                        </a:lnSpc>
                        <a:spcBef>
                          <a:spcPts val="200"/>
                        </a:spcBef>
                        <a:spcAft>
                          <a:spcPts val="200"/>
                        </a:spcAft>
                        <a:buNone/>
                      </a:pPr>
                      <a:r>
                        <a:rPr sz="900" b="1" i="0" u="none" strike="noStrike" cap="none">
                          <a:solidFill>
                            <a:srgbClr val="FFFFFF">
                              <a:alpha val="100000"/>
                            </a:srgbClr>
                          </a:solidFill>
                          <a:latin typeface="Calibri"/>
                          <a:cs typeface="Calibri"/>
                          <a:sym typeface="Calibri"/>
                        </a:rPr>
                        <a:t>Covered EEs</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alpha val="100000"/>
                        </a:srgbClr>
                      </a:solidFill>
                      <a:prstDash val="solid"/>
                    </a:lnT>
                    <a:lnB w="6350" cap="flat" cmpd="sng" algn="ctr">
                      <a:solidFill>
                        <a:srgbClr val="E2E8F0">
                          <a:alpha val="100000"/>
                        </a:srgbClr>
                      </a:solidFill>
                      <a:prstDash val="solid"/>
                    </a:lnB>
                    <a:solidFill>
                      <a:srgbClr val="1A3A5C">
                        <a:alpha val="100000"/>
                      </a:srgbClr>
                    </a:solidFill>
                  </a:tcPr>
                </a:tc>
                <a:tc>
                  <a:txBody>
                    <a:bodyPr/>
                    <a:lstStyle/>
                    <a:p>
                      <a:pPr marL="25400" marR="25400" algn="ctr">
                        <a:lnSpc>
                          <a:spcPct val="100000"/>
                        </a:lnSpc>
                        <a:spcBef>
                          <a:spcPts val="200"/>
                        </a:spcBef>
                        <a:spcAft>
                          <a:spcPts val="200"/>
                        </a:spcAft>
                        <a:buNone/>
                      </a:pPr>
                      <a:r>
                        <a:rPr sz="900" b="1" i="0" u="none" strike="noStrike" cap="none">
                          <a:solidFill>
                            <a:srgbClr val="FFFFFF">
                              <a:alpha val="100000"/>
                            </a:srgbClr>
                          </a:solidFill>
                          <a:latin typeface="Calibri"/>
                          <a:cs typeface="Calibri"/>
                          <a:sym typeface="Calibri"/>
                        </a:rPr>
                        <a:t>EE Share</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alpha val="100000"/>
                        </a:srgbClr>
                      </a:solidFill>
                      <a:prstDash val="solid"/>
                    </a:lnT>
                    <a:lnB w="6350" cap="flat" cmpd="sng" algn="ctr">
                      <a:solidFill>
                        <a:srgbClr val="E2E8F0">
                          <a:alpha val="100000"/>
                        </a:srgbClr>
                      </a:solidFill>
                      <a:prstDash val="solid"/>
                    </a:lnB>
                    <a:solidFill>
                      <a:srgbClr val="1A3A5C">
                        <a:alpha val="100000"/>
                      </a:srgbClr>
                    </a:solidFill>
                  </a:tcPr>
                </a:tc>
                <a:tc>
                  <a:txBody>
                    <a:bodyPr/>
                    <a:lstStyle/>
                    <a:p>
                      <a:pPr marL="25400" marR="25400" algn="ctr">
                        <a:lnSpc>
                          <a:spcPct val="100000"/>
                        </a:lnSpc>
                        <a:spcBef>
                          <a:spcPts val="200"/>
                        </a:spcBef>
                        <a:spcAft>
                          <a:spcPts val="200"/>
                        </a:spcAft>
                        <a:buNone/>
                      </a:pPr>
                      <a:r>
                        <a:rPr sz="900" b="1" i="0" u="none" strike="noStrike" cap="none">
                          <a:solidFill>
                            <a:srgbClr val="FFFFFF">
                              <a:alpha val="100000"/>
                            </a:srgbClr>
                          </a:solidFill>
                          <a:latin typeface="Calibri"/>
                          <a:cs typeface="Calibri"/>
                          <a:sym typeface="Calibri"/>
                        </a:rPr>
                        <a:t>Emp. Share</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6350" cap="flat" cmpd="sng" algn="ctr">
                      <a:solidFill>
                        <a:srgbClr val="E2E8F0">
                          <a:alpha val="100000"/>
                        </a:srgbClr>
                      </a:solidFill>
                      <a:prstDash val="solid"/>
                    </a:lnT>
                    <a:lnB w="6350" cap="flat" cmpd="sng" algn="ctr">
                      <a:solidFill>
                        <a:srgbClr val="E2E8F0">
                          <a:alpha val="100000"/>
                        </a:srgbClr>
                      </a:solidFill>
                      <a:prstDash val="solid"/>
                    </a:lnB>
                    <a:solidFill>
                      <a:srgbClr val="1A3A5C">
                        <a:alpha val="100000"/>
                      </a:srgbClr>
                    </a:solidFill>
                  </a:tcPr>
                </a:tc>
                <a:extLst>
                  <a:ext uri="{0D108BD9-81ED-4DB2-BD59-A6C34878D82A}">
                    <a16:rowId xmlns:a16="http://schemas.microsoft.com/office/drawing/2014/main" val="10000"/>
                  </a:ext>
                </a:extLst>
              </a:tr>
              <a:tr h="228600">
                <a:tc>
                  <a:txBody>
                    <a:bodyPr/>
                    <a:lstStyle/>
                    <a:p>
                      <a:pPr marL="25400" marR="25400" algn="ctr">
                        <a:lnSpc>
                          <a:spcPct val="100000"/>
                        </a:lnSpc>
                        <a:spcBef>
                          <a:spcPts val="200"/>
                        </a:spcBef>
                        <a:spcAft>
                          <a:spcPts val="200"/>
                        </a:spcAft>
                        <a:buNone/>
                      </a:pPr>
                      <a:r>
                        <a:rPr sz="800" b="0" i="0" u="none" strike="noStrike" cap="none">
                          <a:solidFill>
                            <a:srgbClr val="000000">
                              <a:alpha val="100000"/>
                            </a:srgbClr>
                          </a:solidFill>
                          <a:latin typeface="Calibri"/>
                          <a:cs typeface="Calibri"/>
                          <a:sym typeface="Calibri"/>
                        </a:rPr>
                        <a:t>1</a:t>
                      </a:r>
                    </a:p>
                  </a:txBody>
                  <a:tcPr marL="0" marR="0" marT="25400" marB="25400" anchor="ctr">
                    <a:lnL w="38100" cap="flat" cmpd="sng" algn="ctr">
                      <a:solidFill>
                        <a:srgbClr val="2C7A7B">
                          <a:alpha val="100000"/>
                        </a:srgbClr>
                      </a:solidFill>
                      <a:prstDash val="solid"/>
                    </a:lnL>
                    <a:lnR w="3175" cap="flat" cmpd="sng" algn="ctr">
                      <a:solidFill>
                        <a:srgbClr val="E2E8F0">
                          <a:alpha val="100000"/>
                        </a:srgbClr>
                      </a:solidFill>
                      <a:prstDash val="solid"/>
                    </a:lnR>
                    <a:lnT w="6350" cap="flat" cmpd="sng" algn="ctr">
                      <a:solidFill>
                        <a:srgbClr val="E2E8F0"/>
                      </a:solidFill>
                      <a:prstDash val="solid"/>
                      <a:round/>
                      <a:headEnd type="none" w="med" len="med"/>
                      <a:tailEnd type="none" w="med" len="me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800" b="0" i="0" u="none" strike="noStrike" cap="none">
                          <a:solidFill>
                            <a:srgbClr val="000000">
                              <a:alpha val="100000"/>
                            </a:srgbClr>
                          </a:solidFill>
                          <a:latin typeface="Calibri"/>
                          <a:cs typeface="Calibri"/>
                          <a:sym typeface="Calibri"/>
                        </a:rPr>
                        <a:t>MERCER HEALTH AND BENEFITS</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solidFill>
                      <a:prstDash val="solid"/>
                      <a:round/>
                      <a:headEnd type="none" w="med" len="med"/>
                      <a:tailEnd type="none" w="med" len="me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800" b="0" i="0" u="none" strike="noStrike" cap="none">
                          <a:solidFill>
                            <a:srgbClr val="000000">
                              <a:alpha val="100000"/>
                            </a:srgbClr>
                          </a:solidFill>
                          <a:latin typeface="Calibri"/>
                          <a:cs typeface="Calibri"/>
                          <a:sym typeface="Calibri"/>
                        </a:rPr>
                        <a:t>22</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solidFill>
                      <a:prstDash val="solid"/>
                      <a:round/>
                      <a:headEnd type="none" w="med" len="med"/>
                      <a:tailEnd type="none" w="med" len="me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800" b="0" i="0" u="none" strike="noStrike" cap="none">
                          <a:solidFill>
                            <a:srgbClr val="000000">
                              <a:alpha val="100000"/>
                            </a:srgbClr>
                          </a:solidFill>
                          <a:latin typeface="Calibri"/>
                          <a:cs typeface="Calibri"/>
                          <a:sym typeface="Calibri"/>
                        </a:rPr>
                        <a:t>84,126</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solidFill>
                      <a:prstDash val="solid"/>
                      <a:round/>
                      <a:headEnd type="none" w="med" len="med"/>
                      <a:tailEnd type="none" w="med" len="me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800" b="0" i="0" u="none" strike="noStrike" cap="none">
                          <a:solidFill>
                            <a:srgbClr val="000000">
                              <a:alpha val="100000"/>
                            </a:srgbClr>
                          </a:solidFill>
                          <a:latin typeface="Calibri"/>
                          <a:cs typeface="Calibri"/>
                          <a:sym typeface="Calibri"/>
                        </a:rPr>
                        <a:t>22%</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solidFill>
                      <a:prstDash val="solid"/>
                      <a:round/>
                      <a:headEnd type="none" w="med" len="med"/>
                      <a:tailEnd type="none" w="med" len="me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800" b="0" i="0" u="none" strike="noStrike" cap="none">
                          <a:solidFill>
                            <a:srgbClr val="000000">
                              <a:alpha val="100000"/>
                            </a:srgbClr>
                          </a:solidFill>
                          <a:latin typeface="Calibri"/>
                          <a:cs typeface="Calibri"/>
                          <a:sym typeface="Calibri"/>
                        </a:rPr>
                        <a:t>4.2%</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6350" cap="flat" cmpd="sng" algn="ctr">
                      <a:solidFill>
                        <a:srgbClr val="E2E8F0"/>
                      </a:solidFill>
                      <a:prstDash val="solid"/>
                      <a:round/>
                      <a:headEnd type="none" w="med" len="med"/>
                      <a:tailEnd type="none" w="med" len="med"/>
                    </a:lnT>
                    <a:lnB w="3175"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25400" marR="25400" algn="ctr">
                        <a:lnSpc>
                          <a:spcPct val="100000"/>
                        </a:lnSpc>
                        <a:spcBef>
                          <a:spcPts val="200"/>
                        </a:spcBef>
                        <a:spcAft>
                          <a:spcPts val="200"/>
                        </a:spcAft>
                        <a:buNone/>
                      </a:pPr>
                      <a:r>
                        <a:rPr sz="800" b="0" i="0" u="none" strike="noStrike" cap="none">
                          <a:solidFill>
                            <a:srgbClr val="000000">
                              <a:alpha val="100000"/>
                            </a:srgbClr>
                          </a:solidFill>
                          <a:latin typeface="Calibri"/>
                          <a:cs typeface="Calibri"/>
                          <a:sym typeface="Calibri"/>
                        </a:rPr>
                        <a:t>2</a:t>
                      </a:r>
                    </a:p>
                  </a:txBody>
                  <a:tcPr marL="0" marR="0" marT="25400" marB="25400" anchor="ctr">
                    <a:lnL w="38100" cap="flat" cmpd="sng" algn="ctr">
                      <a:solidFill>
                        <a:srgbClr val="2C7A7B">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800" b="0" i="0" u="none" strike="noStrike" cap="none">
                          <a:solidFill>
                            <a:srgbClr val="000000">
                              <a:alpha val="100000"/>
                            </a:srgbClr>
                          </a:solidFill>
                          <a:latin typeface="Calibri"/>
                          <a:cs typeface="Calibri"/>
                          <a:sym typeface="Calibri"/>
                        </a:rPr>
                        <a:t>AON</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800" b="0" i="0" u="none" strike="noStrike" cap="none">
                          <a:solidFill>
                            <a:srgbClr val="000000">
                              <a:alpha val="100000"/>
                            </a:srgbClr>
                          </a:solidFill>
                          <a:latin typeface="Calibri"/>
                          <a:cs typeface="Calibri"/>
                          <a:sym typeface="Calibri"/>
                        </a:rPr>
                        <a:t>20</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800" b="0" i="0" u="none" strike="noStrike" cap="none">
                          <a:solidFill>
                            <a:srgbClr val="000000">
                              <a:alpha val="100000"/>
                            </a:srgbClr>
                          </a:solidFill>
                          <a:latin typeface="Calibri"/>
                          <a:cs typeface="Calibri"/>
                          <a:sym typeface="Calibri"/>
                        </a:rPr>
                        <a:t>41,543</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800" b="0" i="0" u="none" strike="noStrike" cap="none">
                          <a:solidFill>
                            <a:srgbClr val="000000">
                              <a:alpha val="100000"/>
                            </a:srgbClr>
                          </a:solidFill>
                          <a:latin typeface="Calibri"/>
                          <a:cs typeface="Calibri"/>
                          <a:sym typeface="Calibri"/>
                        </a:rPr>
                        <a:t>10.8%</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800" b="0" i="0" u="none" strike="noStrike" cap="none">
                          <a:solidFill>
                            <a:srgbClr val="000000">
                              <a:alpha val="100000"/>
                            </a:srgbClr>
                          </a:solidFill>
                          <a:latin typeface="Calibri"/>
                          <a:cs typeface="Calibri"/>
                          <a:sym typeface="Calibri"/>
                        </a:rPr>
                        <a:t>3.8%</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extLst>
                  <a:ext uri="{0D108BD9-81ED-4DB2-BD59-A6C34878D82A}">
                    <a16:rowId xmlns:a16="http://schemas.microsoft.com/office/drawing/2014/main" val="10002"/>
                  </a:ext>
                </a:extLst>
              </a:tr>
              <a:tr h="228600">
                <a:tc>
                  <a:txBody>
                    <a:bodyPr/>
                    <a:lstStyle/>
                    <a:p>
                      <a:pPr marL="25400" marR="25400" algn="ctr">
                        <a:lnSpc>
                          <a:spcPct val="100000"/>
                        </a:lnSpc>
                        <a:spcBef>
                          <a:spcPts val="200"/>
                        </a:spcBef>
                        <a:spcAft>
                          <a:spcPts val="200"/>
                        </a:spcAft>
                        <a:buNone/>
                      </a:pPr>
                      <a:r>
                        <a:rPr sz="800" b="0" i="0" u="none" strike="noStrike" cap="none">
                          <a:solidFill>
                            <a:srgbClr val="000000">
                              <a:alpha val="100000"/>
                            </a:srgbClr>
                          </a:solidFill>
                          <a:latin typeface="Calibri"/>
                          <a:cs typeface="Calibri"/>
                          <a:sym typeface="Calibri"/>
                        </a:rPr>
                        <a:t>3</a:t>
                      </a:r>
                    </a:p>
                  </a:txBody>
                  <a:tcPr marL="0" marR="0" marT="25400" marB="25400" anchor="ctr">
                    <a:lnL w="38100" cap="flat" cmpd="sng" algn="ctr">
                      <a:solidFill>
                        <a:srgbClr val="2C7A7B">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800" b="0" i="0" u="none" strike="noStrike" cap="none" dirty="0">
                          <a:solidFill>
                            <a:srgbClr val="000000">
                              <a:alpha val="100000"/>
                            </a:srgbClr>
                          </a:solidFill>
                          <a:latin typeface="Calibri"/>
                          <a:cs typeface="Calibri"/>
                          <a:sym typeface="Calibri"/>
                        </a:rPr>
                        <a:t>ONEDIGITAL</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800" b="0" i="0" u="none" strike="noStrike" cap="none">
                          <a:solidFill>
                            <a:srgbClr val="000000">
                              <a:alpha val="100000"/>
                            </a:srgbClr>
                          </a:solidFill>
                          <a:latin typeface="Calibri"/>
                          <a:cs typeface="Calibri"/>
                          <a:sym typeface="Calibri"/>
                        </a:rPr>
                        <a:t>45</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800" b="0" i="0" u="none" strike="noStrike" cap="none">
                          <a:solidFill>
                            <a:srgbClr val="000000">
                              <a:alpha val="100000"/>
                            </a:srgbClr>
                          </a:solidFill>
                          <a:latin typeface="Calibri"/>
                          <a:cs typeface="Calibri"/>
                          <a:sym typeface="Calibri"/>
                        </a:rPr>
                        <a:t>29,180</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800" b="0" i="0" u="none" strike="noStrike" cap="none">
                          <a:solidFill>
                            <a:srgbClr val="000000">
                              <a:alpha val="100000"/>
                            </a:srgbClr>
                          </a:solidFill>
                          <a:latin typeface="Calibri"/>
                          <a:cs typeface="Calibri"/>
                          <a:sym typeface="Calibri"/>
                        </a:rPr>
                        <a:t>7.6%</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800" b="0" i="0" u="none" strike="noStrike" cap="none">
                          <a:solidFill>
                            <a:srgbClr val="000000">
                              <a:alpha val="100000"/>
                            </a:srgbClr>
                          </a:solidFill>
                          <a:latin typeface="Calibri"/>
                          <a:cs typeface="Calibri"/>
                          <a:sym typeface="Calibri"/>
                        </a:rPr>
                        <a:t>8.6%</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25400" marR="25400" algn="ctr">
                        <a:lnSpc>
                          <a:spcPct val="100000"/>
                        </a:lnSpc>
                        <a:spcBef>
                          <a:spcPts val="200"/>
                        </a:spcBef>
                        <a:spcAft>
                          <a:spcPts val="200"/>
                        </a:spcAft>
                        <a:buNone/>
                      </a:pPr>
                      <a:r>
                        <a:rPr sz="800" b="0" i="0" u="none" strike="noStrike" cap="none">
                          <a:solidFill>
                            <a:srgbClr val="000000">
                              <a:alpha val="100000"/>
                            </a:srgbClr>
                          </a:solidFill>
                          <a:latin typeface="Calibri"/>
                          <a:cs typeface="Calibri"/>
                          <a:sym typeface="Calibri"/>
                        </a:rPr>
                        <a:t>4</a:t>
                      </a:r>
                    </a:p>
                  </a:txBody>
                  <a:tcPr marL="0" marR="0" marT="25400" marB="25400" anchor="ctr">
                    <a:lnL w="38100" cap="flat" cmpd="sng" algn="ctr">
                      <a:solidFill>
                        <a:srgbClr val="2C7A7B">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800" b="0" i="0" u="none" strike="noStrike" cap="none">
                          <a:solidFill>
                            <a:srgbClr val="000000">
                              <a:alpha val="100000"/>
                            </a:srgbClr>
                          </a:solidFill>
                          <a:latin typeface="Calibri"/>
                          <a:cs typeface="Calibri"/>
                          <a:sym typeface="Calibri"/>
                        </a:rPr>
                        <a:t>MARSH AND MCLENNAN AGENCY</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800" b="0" i="0" u="none" strike="noStrike" cap="none">
                          <a:solidFill>
                            <a:srgbClr val="000000">
                              <a:alpha val="100000"/>
                            </a:srgbClr>
                          </a:solidFill>
                          <a:latin typeface="Calibri"/>
                          <a:cs typeface="Calibri"/>
                          <a:sym typeface="Calibri"/>
                        </a:rPr>
                        <a:t>43</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800" b="0" i="0" u="none" strike="noStrike" cap="none">
                          <a:solidFill>
                            <a:srgbClr val="000000">
                              <a:alpha val="100000"/>
                            </a:srgbClr>
                          </a:solidFill>
                          <a:latin typeface="Calibri"/>
                          <a:cs typeface="Calibri"/>
                          <a:sym typeface="Calibri"/>
                        </a:rPr>
                        <a:t>23,634</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800" b="0" i="0" u="none" strike="noStrike" cap="none">
                          <a:solidFill>
                            <a:srgbClr val="000000">
                              <a:alpha val="100000"/>
                            </a:srgbClr>
                          </a:solidFill>
                          <a:latin typeface="Calibri"/>
                          <a:cs typeface="Calibri"/>
                          <a:sym typeface="Calibri"/>
                        </a:rPr>
                        <a:t>6.2%</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800" b="0" i="0" u="none" strike="noStrike" cap="none">
                          <a:solidFill>
                            <a:srgbClr val="000000">
                              <a:alpha val="100000"/>
                            </a:srgbClr>
                          </a:solidFill>
                          <a:latin typeface="Calibri"/>
                          <a:cs typeface="Calibri"/>
                          <a:sym typeface="Calibri"/>
                        </a:rPr>
                        <a:t>8.2%</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extLst>
                  <a:ext uri="{0D108BD9-81ED-4DB2-BD59-A6C34878D82A}">
                    <a16:rowId xmlns:a16="http://schemas.microsoft.com/office/drawing/2014/main" val="10004"/>
                  </a:ext>
                </a:extLst>
              </a:tr>
              <a:tr h="228600">
                <a:tc>
                  <a:txBody>
                    <a:bodyPr/>
                    <a:lstStyle/>
                    <a:p>
                      <a:pPr marL="25400" marR="25400" algn="ctr">
                        <a:lnSpc>
                          <a:spcPct val="100000"/>
                        </a:lnSpc>
                        <a:spcBef>
                          <a:spcPts val="200"/>
                        </a:spcBef>
                        <a:spcAft>
                          <a:spcPts val="200"/>
                        </a:spcAft>
                        <a:buNone/>
                      </a:pPr>
                      <a:r>
                        <a:rPr sz="800" b="0" i="0" u="none" strike="noStrike" cap="none">
                          <a:solidFill>
                            <a:srgbClr val="000000">
                              <a:alpha val="100000"/>
                            </a:srgbClr>
                          </a:solidFill>
                          <a:latin typeface="Calibri"/>
                          <a:cs typeface="Calibri"/>
                          <a:sym typeface="Calibri"/>
                        </a:rPr>
                        <a:t>5</a:t>
                      </a:r>
                    </a:p>
                  </a:txBody>
                  <a:tcPr marL="0" marR="0" marT="25400" marB="25400" anchor="ctr">
                    <a:lnL w="38100" cap="flat" cmpd="sng" algn="ctr">
                      <a:solidFill>
                        <a:srgbClr val="2C7A7B">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800" b="0" i="0" u="none" strike="noStrike" cap="none">
                          <a:solidFill>
                            <a:srgbClr val="000000">
                              <a:alpha val="100000"/>
                            </a:srgbClr>
                          </a:solidFill>
                          <a:latin typeface="Calibri"/>
                          <a:cs typeface="Calibri"/>
                          <a:sym typeface="Calibri"/>
                        </a:rPr>
                        <a:t>BROWN AND BROWN</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800" b="0" i="0" u="none" strike="noStrike" cap="none">
                          <a:solidFill>
                            <a:srgbClr val="000000">
                              <a:alpha val="100000"/>
                            </a:srgbClr>
                          </a:solidFill>
                          <a:latin typeface="Calibri"/>
                          <a:cs typeface="Calibri"/>
                          <a:sym typeface="Calibri"/>
                        </a:rPr>
                        <a:t>58</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800" b="0" i="0" u="none" strike="noStrike" cap="none">
                          <a:solidFill>
                            <a:srgbClr val="000000">
                              <a:alpha val="100000"/>
                            </a:srgbClr>
                          </a:solidFill>
                          <a:latin typeface="Calibri"/>
                          <a:cs typeface="Calibri"/>
                          <a:sym typeface="Calibri"/>
                        </a:rPr>
                        <a:t>21,471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800" b="0" i="0" u="none" strike="noStrike" cap="none">
                          <a:solidFill>
                            <a:srgbClr val="000000">
                              <a:alpha val="100000"/>
                            </a:srgbClr>
                          </a:solidFill>
                          <a:latin typeface="Calibri"/>
                          <a:cs typeface="Calibri"/>
                          <a:sym typeface="Calibri"/>
                        </a:rPr>
                        <a:t>5.6%</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800" b="0" i="0" u="none" strike="noStrike" cap="none">
                          <a:solidFill>
                            <a:srgbClr val="000000">
                              <a:alpha val="100000"/>
                            </a:srgbClr>
                          </a:solidFill>
                          <a:latin typeface="Calibri"/>
                          <a:cs typeface="Calibri"/>
                          <a:sym typeface="Calibri"/>
                        </a:rPr>
                        <a:t>11.1%</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25400" marR="25400" algn="ctr">
                        <a:lnSpc>
                          <a:spcPct val="100000"/>
                        </a:lnSpc>
                        <a:spcBef>
                          <a:spcPts val="200"/>
                        </a:spcBef>
                        <a:spcAft>
                          <a:spcPts val="200"/>
                        </a:spcAft>
                        <a:buNone/>
                      </a:pPr>
                      <a:r>
                        <a:rPr sz="800" b="0" i="0" u="none" strike="noStrike" cap="none">
                          <a:solidFill>
                            <a:srgbClr val="000000">
                              <a:alpha val="100000"/>
                            </a:srgbClr>
                          </a:solidFill>
                          <a:latin typeface="Calibri"/>
                          <a:cs typeface="Calibri"/>
                          <a:sym typeface="Calibri"/>
                        </a:rPr>
                        <a:t>6</a:t>
                      </a:r>
                    </a:p>
                  </a:txBody>
                  <a:tcPr marL="0" marR="0" marT="25400" marB="25400" anchor="ctr">
                    <a:lnL w="38100" cap="flat" cmpd="sng" algn="ctr">
                      <a:solidFill>
                        <a:srgbClr val="2C7A7B">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800" b="0" i="0" u="none" strike="noStrike" cap="none">
                          <a:solidFill>
                            <a:srgbClr val="000000">
                              <a:alpha val="100000"/>
                            </a:srgbClr>
                          </a:solidFill>
                          <a:latin typeface="Calibri"/>
                          <a:cs typeface="Calibri"/>
                          <a:sym typeface="Calibri"/>
                        </a:rPr>
                        <a:t>GALLAGHER</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800" b="0" i="0" u="none" strike="noStrike" cap="none">
                          <a:solidFill>
                            <a:srgbClr val="000000">
                              <a:alpha val="100000"/>
                            </a:srgbClr>
                          </a:solidFill>
                          <a:latin typeface="Calibri"/>
                          <a:cs typeface="Calibri"/>
                          <a:sym typeface="Calibri"/>
                        </a:rPr>
                        <a:t>24</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800" b="0" i="0" u="none" strike="noStrike" cap="none">
                          <a:solidFill>
                            <a:srgbClr val="000000">
                              <a:alpha val="100000"/>
                            </a:srgbClr>
                          </a:solidFill>
                          <a:latin typeface="Calibri"/>
                          <a:cs typeface="Calibri"/>
                          <a:sym typeface="Calibri"/>
                        </a:rPr>
                        <a:t>20,249</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800" b="0" i="0" u="none" strike="noStrike" cap="none">
                          <a:solidFill>
                            <a:srgbClr val="000000">
                              <a:alpha val="100000"/>
                            </a:srgbClr>
                          </a:solidFill>
                          <a:latin typeface="Calibri"/>
                          <a:cs typeface="Calibri"/>
                          <a:sym typeface="Calibri"/>
                        </a:rPr>
                        <a:t>5.3%</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800" b="0" i="0" u="none" strike="noStrike" cap="none">
                          <a:solidFill>
                            <a:srgbClr val="000000">
                              <a:alpha val="100000"/>
                            </a:srgbClr>
                          </a:solidFill>
                          <a:latin typeface="Calibri"/>
                          <a:cs typeface="Calibri"/>
                          <a:sym typeface="Calibri"/>
                        </a:rPr>
                        <a:t>4.6%</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extLst>
                  <a:ext uri="{0D108BD9-81ED-4DB2-BD59-A6C34878D82A}">
                    <a16:rowId xmlns:a16="http://schemas.microsoft.com/office/drawing/2014/main" val="10006"/>
                  </a:ext>
                </a:extLst>
              </a:tr>
              <a:tr h="228600">
                <a:tc>
                  <a:txBody>
                    <a:bodyPr/>
                    <a:lstStyle/>
                    <a:p>
                      <a:pPr marL="25400" marR="25400" algn="ctr">
                        <a:lnSpc>
                          <a:spcPct val="100000"/>
                        </a:lnSpc>
                        <a:spcBef>
                          <a:spcPts val="200"/>
                        </a:spcBef>
                        <a:spcAft>
                          <a:spcPts val="200"/>
                        </a:spcAft>
                        <a:buNone/>
                      </a:pPr>
                      <a:r>
                        <a:rPr sz="800" b="0" i="0" u="none" strike="noStrike" cap="none">
                          <a:solidFill>
                            <a:srgbClr val="000000">
                              <a:alpha val="100000"/>
                            </a:srgbClr>
                          </a:solidFill>
                          <a:latin typeface="Calibri"/>
                          <a:cs typeface="Calibri"/>
                          <a:sym typeface="Calibri"/>
                        </a:rPr>
                        <a:t>7</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800" b="0" i="0" u="none" strike="noStrike" cap="none">
                          <a:solidFill>
                            <a:srgbClr val="000000">
                              <a:alpha val="100000"/>
                            </a:srgbClr>
                          </a:solidFill>
                          <a:latin typeface="Calibri"/>
                          <a:cs typeface="Calibri"/>
                          <a:sym typeface="Calibri"/>
                        </a:rPr>
                        <a:t>GBC</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800" b="0" i="0" u="none" strike="noStrike" cap="none">
                          <a:solidFill>
                            <a:srgbClr val="000000">
                              <a:alpha val="100000"/>
                            </a:srgbClr>
                          </a:solidFill>
                          <a:latin typeface="Calibri"/>
                          <a:cs typeface="Calibri"/>
                          <a:sym typeface="Calibri"/>
                        </a:rPr>
                        <a:t>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800" b="0" i="0" u="none" strike="noStrike" cap="none">
                          <a:solidFill>
                            <a:srgbClr val="000000">
                              <a:alpha val="100000"/>
                            </a:srgbClr>
                          </a:solidFill>
                          <a:latin typeface="Calibri"/>
                          <a:cs typeface="Calibri"/>
                          <a:sym typeface="Calibri"/>
                        </a:rPr>
                        <a:t>15,400</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800" b="0" i="0" u="none" strike="noStrike" cap="none">
                          <a:solidFill>
                            <a:srgbClr val="000000">
                              <a:alpha val="100000"/>
                            </a:srgbClr>
                          </a:solidFill>
                          <a:latin typeface="Calibri"/>
                          <a:cs typeface="Calibri"/>
                          <a:sym typeface="Calibri"/>
                        </a:rPr>
                        <a:t>4%</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800" b="0" i="0" u="none" strike="noStrike" cap="none">
                          <a:solidFill>
                            <a:srgbClr val="000000">
                              <a:alpha val="100000"/>
                            </a:srgbClr>
                          </a:solidFill>
                          <a:latin typeface="Calibri"/>
                          <a:cs typeface="Calibri"/>
                          <a:sym typeface="Calibri"/>
                        </a:rPr>
                        <a:t>0.2%</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07"/>
                  </a:ext>
                </a:extLst>
              </a:tr>
              <a:tr h="228600">
                <a:tc>
                  <a:txBody>
                    <a:bodyPr/>
                    <a:lstStyle/>
                    <a:p>
                      <a:pPr marL="25400" marR="25400" algn="ctr">
                        <a:lnSpc>
                          <a:spcPct val="100000"/>
                        </a:lnSpc>
                        <a:spcBef>
                          <a:spcPts val="200"/>
                        </a:spcBef>
                        <a:spcAft>
                          <a:spcPts val="200"/>
                        </a:spcAft>
                        <a:buNone/>
                      </a:pPr>
                      <a:r>
                        <a:rPr sz="800" b="0" i="0" u="none" strike="noStrike" cap="none">
                          <a:solidFill>
                            <a:srgbClr val="000000">
                              <a:alpha val="100000"/>
                            </a:srgbClr>
                          </a:solidFill>
                          <a:latin typeface="Calibri"/>
                          <a:cs typeface="Calibri"/>
                          <a:sym typeface="Calibri"/>
                        </a:rPr>
                        <a:t>8</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800" b="0" i="0" u="none" strike="noStrike" cap="none">
                          <a:solidFill>
                            <a:srgbClr val="000000">
                              <a:alpha val="100000"/>
                            </a:srgbClr>
                          </a:solidFill>
                          <a:latin typeface="Calibri"/>
                          <a:cs typeface="Calibri"/>
                          <a:sym typeface="Calibri"/>
                        </a:rPr>
                        <a:t>US BENETEC WORKPLACE SOLUTIONS</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800" b="0" i="0" u="none" strike="noStrike" cap="none">
                          <a:solidFill>
                            <a:srgbClr val="000000">
                              <a:alpha val="100000"/>
                            </a:srgbClr>
                          </a:solidFill>
                          <a:latin typeface="Calibri"/>
                          <a:cs typeface="Calibri"/>
                          <a:sym typeface="Calibri"/>
                        </a:rPr>
                        <a:t>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800" b="0" i="0" u="none" strike="noStrike" cap="none">
                          <a:solidFill>
                            <a:srgbClr val="000000">
                              <a:alpha val="100000"/>
                            </a:srgbClr>
                          </a:solidFill>
                          <a:latin typeface="Calibri"/>
                          <a:cs typeface="Calibri"/>
                          <a:sym typeface="Calibri"/>
                        </a:rPr>
                        <a:t>15,178</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800" b="0" i="0" u="none" strike="noStrike" cap="none">
                          <a:solidFill>
                            <a:srgbClr val="000000">
                              <a:alpha val="100000"/>
                            </a:srgbClr>
                          </a:solidFill>
                          <a:latin typeface="Calibri"/>
                          <a:cs typeface="Calibri"/>
                          <a:sym typeface="Calibri"/>
                        </a:rPr>
                        <a:t>4%</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800" b="0" i="0" u="none" strike="noStrike" cap="none">
                          <a:solidFill>
                            <a:srgbClr val="000000">
                              <a:alpha val="100000"/>
                            </a:srgbClr>
                          </a:solidFill>
                          <a:latin typeface="Calibri"/>
                          <a:cs typeface="Calibri"/>
                          <a:sym typeface="Calibri"/>
                        </a:rPr>
                        <a:t>0.2%</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extLst>
                  <a:ext uri="{0D108BD9-81ED-4DB2-BD59-A6C34878D82A}">
                    <a16:rowId xmlns:a16="http://schemas.microsoft.com/office/drawing/2014/main" val="10008"/>
                  </a:ext>
                </a:extLst>
              </a:tr>
              <a:tr h="228600">
                <a:tc>
                  <a:txBody>
                    <a:bodyPr/>
                    <a:lstStyle/>
                    <a:p>
                      <a:pPr marL="25400" marR="25400" algn="ctr">
                        <a:lnSpc>
                          <a:spcPct val="100000"/>
                        </a:lnSpc>
                        <a:spcBef>
                          <a:spcPts val="200"/>
                        </a:spcBef>
                        <a:spcAft>
                          <a:spcPts val="200"/>
                        </a:spcAft>
                        <a:buNone/>
                      </a:pPr>
                      <a:r>
                        <a:rPr sz="800" b="0" i="0" u="none" strike="noStrike" cap="none">
                          <a:solidFill>
                            <a:srgbClr val="000000">
                              <a:alpha val="100000"/>
                            </a:srgbClr>
                          </a:solidFill>
                          <a:latin typeface="Calibri"/>
                          <a:cs typeface="Calibri"/>
                          <a:sym typeface="Calibri"/>
                        </a:rPr>
                        <a:t>9</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800" b="0" i="0" u="none" strike="noStrike" cap="none">
                          <a:solidFill>
                            <a:srgbClr val="000000">
                              <a:alpha val="100000"/>
                            </a:srgbClr>
                          </a:solidFill>
                          <a:latin typeface="Calibri"/>
                          <a:cs typeface="Calibri"/>
                          <a:sym typeface="Calibri"/>
                        </a:rPr>
                        <a:t>INSURANCE OFFICE OF AMERICA</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800" b="0" i="0" u="none" strike="noStrike" cap="none">
                          <a:solidFill>
                            <a:srgbClr val="000000">
                              <a:alpha val="100000"/>
                            </a:srgbClr>
                          </a:solidFill>
                          <a:latin typeface="Calibri"/>
                          <a:cs typeface="Calibri"/>
                          <a:sym typeface="Calibri"/>
                        </a:rPr>
                        <a:t>33</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800" b="0" i="0" u="none" strike="noStrike" cap="none">
                          <a:solidFill>
                            <a:srgbClr val="000000">
                              <a:alpha val="100000"/>
                            </a:srgbClr>
                          </a:solidFill>
                          <a:latin typeface="Calibri"/>
                          <a:cs typeface="Calibri"/>
                          <a:sym typeface="Calibri"/>
                        </a:rPr>
                        <a:t>14,785</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800" b="0" i="0" u="none" strike="noStrike" cap="none">
                          <a:solidFill>
                            <a:srgbClr val="000000">
                              <a:alpha val="100000"/>
                            </a:srgbClr>
                          </a:solidFill>
                          <a:latin typeface="Calibri"/>
                          <a:cs typeface="Calibri"/>
                          <a:sym typeface="Calibri"/>
                        </a:rPr>
                        <a:t>3.9%</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800" b="0" i="0" u="none" strike="noStrike" cap="none">
                          <a:solidFill>
                            <a:srgbClr val="000000">
                              <a:alpha val="100000"/>
                            </a:srgbClr>
                          </a:solidFill>
                          <a:latin typeface="Calibri"/>
                          <a:cs typeface="Calibri"/>
                          <a:sym typeface="Calibri"/>
                        </a:rPr>
                        <a:t>6.3%</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09"/>
                  </a:ext>
                </a:extLst>
              </a:tr>
              <a:tr h="228600">
                <a:tc>
                  <a:txBody>
                    <a:bodyPr/>
                    <a:lstStyle/>
                    <a:p>
                      <a:pPr marL="25400" marR="25400" algn="ctr">
                        <a:lnSpc>
                          <a:spcPct val="100000"/>
                        </a:lnSpc>
                        <a:spcBef>
                          <a:spcPts val="200"/>
                        </a:spcBef>
                        <a:spcAft>
                          <a:spcPts val="200"/>
                        </a:spcAft>
                        <a:buNone/>
                      </a:pPr>
                      <a:r>
                        <a:rPr sz="800" b="0" i="0" u="none" strike="noStrike" cap="none">
                          <a:solidFill>
                            <a:srgbClr val="000000">
                              <a:alpha val="100000"/>
                            </a:srgbClr>
                          </a:solidFill>
                          <a:latin typeface="Calibri"/>
                          <a:cs typeface="Calibri"/>
                          <a:sym typeface="Calibri"/>
                        </a:rPr>
                        <a:t>10</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800" b="0" i="0" u="none" strike="noStrike" cap="none">
                          <a:solidFill>
                            <a:srgbClr val="000000">
                              <a:alpha val="100000"/>
                            </a:srgbClr>
                          </a:solidFill>
                          <a:latin typeface="Calibri"/>
                          <a:cs typeface="Calibri"/>
                          <a:sym typeface="Calibri"/>
                        </a:rPr>
                        <a:t>ALLIANT INSURANCE SERVICES</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800" b="0" i="0" u="none" strike="noStrike" cap="none">
                          <a:solidFill>
                            <a:srgbClr val="000000">
                              <a:alpha val="100000"/>
                            </a:srgbClr>
                          </a:solidFill>
                          <a:latin typeface="Calibri"/>
                          <a:cs typeface="Calibri"/>
                          <a:sym typeface="Calibri"/>
                        </a:rPr>
                        <a:t>20</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800" b="0" i="0" u="none" strike="noStrike" cap="none">
                          <a:solidFill>
                            <a:srgbClr val="000000">
                              <a:alpha val="100000"/>
                            </a:srgbClr>
                          </a:solidFill>
                          <a:latin typeface="Calibri"/>
                          <a:cs typeface="Calibri"/>
                          <a:sym typeface="Calibri"/>
                        </a:rPr>
                        <a:t>13,108</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800" b="0" i="0" u="none" strike="noStrike" cap="none">
                          <a:solidFill>
                            <a:srgbClr val="000000">
                              <a:alpha val="100000"/>
                            </a:srgbClr>
                          </a:solidFill>
                          <a:latin typeface="Calibri"/>
                          <a:cs typeface="Calibri"/>
                          <a:sym typeface="Calibri"/>
                        </a:rPr>
                        <a:t>3.4%</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800" b="0" i="0" u="none" strike="noStrike" cap="none">
                          <a:solidFill>
                            <a:srgbClr val="000000">
                              <a:alpha val="100000"/>
                            </a:srgbClr>
                          </a:solidFill>
                          <a:latin typeface="Calibri"/>
                          <a:cs typeface="Calibri"/>
                          <a:sym typeface="Calibri"/>
                        </a:rPr>
                        <a:t>3.8%</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extLst>
                  <a:ext uri="{0D108BD9-81ED-4DB2-BD59-A6C34878D82A}">
                    <a16:rowId xmlns:a16="http://schemas.microsoft.com/office/drawing/2014/main" val="10010"/>
                  </a:ext>
                </a:extLst>
              </a:tr>
              <a:tr h="228600">
                <a:tc>
                  <a:txBody>
                    <a:bodyPr/>
                    <a:lstStyle/>
                    <a:p>
                      <a:pPr marL="25400" marR="25400" algn="ctr">
                        <a:lnSpc>
                          <a:spcPct val="100000"/>
                        </a:lnSpc>
                        <a:spcBef>
                          <a:spcPts val="200"/>
                        </a:spcBef>
                        <a:spcAft>
                          <a:spcPts val="200"/>
                        </a:spcAft>
                        <a:buNone/>
                      </a:pPr>
                      <a:r>
                        <a:rPr sz="800" b="0" i="0" u="none" strike="noStrike" cap="none">
                          <a:solidFill>
                            <a:srgbClr val="000000">
                              <a:alpha val="100000"/>
                            </a:srgbClr>
                          </a:solidFill>
                          <a:latin typeface="Calibri"/>
                          <a:cs typeface="Calibri"/>
                          <a:sym typeface="Calibri"/>
                        </a:rPr>
                        <a:t>11</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800" b="0" i="0" u="none" strike="noStrike" cap="none">
                          <a:solidFill>
                            <a:srgbClr val="000000">
                              <a:alpha val="100000"/>
                            </a:srgbClr>
                          </a:solidFill>
                          <a:latin typeface="Calibri"/>
                          <a:cs typeface="Calibri"/>
                          <a:sym typeface="Calibri"/>
                        </a:rPr>
                        <a:t>HUB INTERNATIONAL</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800" b="0" i="0" u="none" strike="noStrike" cap="none">
                          <a:solidFill>
                            <a:srgbClr val="000000">
                              <a:alpha val="100000"/>
                            </a:srgbClr>
                          </a:solidFill>
                          <a:latin typeface="Calibri"/>
                          <a:cs typeface="Calibri"/>
                          <a:sym typeface="Calibri"/>
                        </a:rPr>
                        <a:t>22</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800" b="0" i="0" u="none" strike="noStrike" cap="none">
                          <a:solidFill>
                            <a:srgbClr val="000000">
                              <a:alpha val="100000"/>
                            </a:srgbClr>
                          </a:solidFill>
                          <a:latin typeface="Calibri"/>
                          <a:cs typeface="Calibri"/>
                          <a:sym typeface="Calibri"/>
                        </a:rPr>
                        <a:t>9,104</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800" b="0" i="0" u="none" strike="noStrike" cap="none">
                          <a:solidFill>
                            <a:srgbClr val="000000">
                              <a:alpha val="100000"/>
                            </a:srgbClr>
                          </a:solidFill>
                          <a:latin typeface="Calibri"/>
                          <a:cs typeface="Calibri"/>
                          <a:sym typeface="Calibri"/>
                        </a:rPr>
                        <a:t>2.4%</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800" b="0" i="0" u="none" strike="noStrike" cap="none">
                          <a:solidFill>
                            <a:srgbClr val="000000">
                              <a:alpha val="100000"/>
                            </a:srgbClr>
                          </a:solidFill>
                          <a:latin typeface="Calibri"/>
                          <a:cs typeface="Calibri"/>
                          <a:sym typeface="Calibri"/>
                        </a:rPr>
                        <a:t>4.2%</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11"/>
                  </a:ext>
                </a:extLst>
              </a:tr>
              <a:tr h="228600">
                <a:tc>
                  <a:txBody>
                    <a:bodyPr/>
                    <a:lstStyle/>
                    <a:p>
                      <a:pPr marL="25400" marR="25400" algn="ctr">
                        <a:lnSpc>
                          <a:spcPct val="100000"/>
                        </a:lnSpc>
                        <a:spcBef>
                          <a:spcPts val="200"/>
                        </a:spcBef>
                        <a:spcAft>
                          <a:spcPts val="200"/>
                        </a:spcAft>
                        <a:buNone/>
                      </a:pPr>
                      <a:r>
                        <a:rPr sz="800" b="0" i="0" u="none" strike="noStrike" cap="none">
                          <a:solidFill>
                            <a:srgbClr val="000000">
                              <a:alpha val="100000"/>
                            </a:srgbClr>
                          </a:solidFill>
                          <a:latin typeface="Calibri"/>
                          <a:cs typeface="Calibri"/>
                          <a:sym typeface="Calibri"/>
                        </a:rPr>
                        <a:t>12</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800" b="0" i="0" u="none" strike="noStrike" cap="none">
                          <a:solidFill>
                            <a:srgbClr val="000000">
                              <a:alpha val="100000"/>
                            </a:srgbClr>
                          </a:solidFill>
                          <a:latin typeface="Calibri"/>
                          <a:cs typeface="Calibri"/>
                          <a:sym typeface="Calibri"/>
                        </a:rPr>
                        <a:t>LOCKTON COMPANIES</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800" b="0" i="0" u="none" strike="noStrike" cap="none">
                          <a:solidFill>
                            <a:srgbClr val="000000">
                              <a:alpha val="100000"/>
                            </a:srgbClr>
                          </a:solidFill>
                          <a:latin typeface="Calibri"/>
                          <a:cs typeface="Calibri"/>
                          <a:sym typeface="Calibri"/>
                        </a:rPr>
                        <a:t>15</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800" b="0" i="0" u="none" strike="noStrike" cap="none">
                          <a:solidFill>
                            <a:srgbClr val="000000">
                              <a:alpha val="100000"/>
                            </a:srgbClr>
                          </a:solidFill>
                          <a:latin typeface="Calibri"/>
                          <a:cs typeface="Calibri"/>
                          <a:sym typeface="Calibri"/>
                        </a:rPr>
                        <a:t>8,957</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800" b="0" i="0" u="none" strike="noStrike" cap="none">
                          <a:solidFill>
                            <a:srgbClr val="000000">
                              <a:alpha val="100000"/>
                            </a:srgbClr>
                          </a:solidFill>
                          <a:latin typeface="Calibri"/>
                          <a:cs typeface="Calibri"/>
                          <a:sym typeface="Calibri"/>
                        </a:rPr>
                        <a:t>2.3%</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800" b="0" i="0" u="none" strike="noStrike" cap="none">
                          <a:solidFill>
                            <a:srgbClr val="000000">
                              <a:alpha val="100000"/>
                            </a:srgbClr>
                          </a:solidFill>
                          <a:latin typeface="Calibri"/>
                          <a:cs typeface="Calibri"/>
                          <a:sym typeface="Calibri"/>
                        </a:rPr>
                        <a:t>2.9%</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extLst>
                  <a:ext uri="{0D108BD9-81ED-4DB2-BD59-A6C34878D82A}">
                    <a16:rowId xmlns:a16="http://schemas.microsoft.com/office/drawing/2014/main" val="10012"/>
                  </a:ext>
                </a:extLst>
              </a:tr>
              <a:tr h="228600">
                <a:tc>
                  <a:txBody>
                    <a:bodyPr/>
                    <a:lstStyle/>
                    <a:p>
                      <a:pPr marL="25400" marR="25400" algn="ctr">
                        <a:lnSpc>
                          <a:spcPct val="100000"/>
                        </a:lnSpc>
                        <a:spcBef>
                          <a:spcPts val="200"/>
                        </a:spcBef>
                        <a:spcAft>
                          <a:spcPts val="200"/>
                        </a:spcAft>
                        <a:buNone/>
                      </a:pPr>
                      <a:r>
                        <a:rPr sz="800" b="0" i="0" u="none" strike="noStrike" cap="none">
                          <a:solidFill>
                            <a:srgbClr val="000000">
                              <a:alpha val="100000"/>
                            </a:srgbClr>
                          </a:solidFill>
                          <a:latin typeface="Calibri"/>
                          <a:cs typeface="Calibri"/>
                          <a:sym typeface="Calibri"/>
                        </a:rPr>
                        <a:t>13</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800" b="0" i="0" u="none" strike="noStrike" cap="none">
                          <a:solidFill>
                            <a:srgbClr val="000000">
                              <a:alpha val="100000"/>
                            </a:srgbClr>
                          </a:solidFill>
                          <a:latin typeface="Calibri"/>
                          <a:cs typeface="Calibri"/>
                          <a:sym typeface="Calibri"/>
                        </a:rPr>
                        <a:t>FEDELI GROUP</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800" b="0" i="0" u="none" strike="noStrike" cap="none">
                          <a:solidFill>
                            <a:srgbClr val="000000">
                              <a:alpha val="100000"/>
                            </a:srgbClr>
                          </a:solidFill>
                          <a:latin typeface="Calibri"/>
                          <a:cs typeface="Calibri"/>
                          <a:sym typeface="Calibri"/>
                        </a:rPr>
                        <a:t>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800" b="0" i="0" u="none" strike="noStrike" cap="none">
                          <a:solidFill>
                            <a:srgbClr val="000000">
                              <a:alpha val="100000"/>
                            </a:srgbClr>
                          </a:solidFill>
                          <a:latin typeface="Calibri"/>
                          <a:cs typeface="Calibri"/>
                          <a:sym typeface="Calibri"/>
                        </a:rPr>
                        <a:t>8,166</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800" b="0" i="0" u="none" strike="noStrike" cap="none">
                          <a:solidFill>
                            <a:srgbClr val="000000">
                              <a:alpha val="100000"/>
                            </a:srgbClr>
                          </a:solidFill>
                          <a:latin typeface="Calibri"/>
                          <a:cs typeface="Calibri"/>
                          <a:sym typeface="Calibri"/>
                        </a:rPr>
                        <a:t>2.1%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800" b="0" i="0" u="none" strike="noStrike" cap="none">
                          <a:solidFill>
                            <a:srgbClr val="000000">
                              <a:alpha val="100000"/>
                            </a:srgbClr>
                          </a:solidFill>
                          <a:latin typeface="Calibri"/>
                          <a:cs typeface="Calibri"/>
                          <a:sym typeface="Calibri"/>
                        </a:rPr>
                        <a:t>0.2%</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13"/>
                  </a:ext>
                </a:extLst>
              </a:tr>
              <a:tr h="228600">
                <a:tc>
                  <a:txBody>
                    <a:bodyPr/>
                    <a:lstStyle/>
                    <a:p>
                      <a:pPr marL="25400" marR="25400" algn="ctr">
                        <a:lnSpc>
                          <a:spcPct val="100000"/>
                        </a:lnSpc>
                        <a:spcBef>
                          <a:spcPts val="200"/>
                        </a:spcBef>
                        <a:spcAft>
                          <a:spcPts val="200"/>
                        </a:spcAft>
                        <a:buNone/>
                      </a:pPr>
                      <a:r>
                        <a:rPr sz="800" b="0" i="0" u="none" strike="noStrike" cap="none">
                          <a:solidFill>
                            <a:srgbClr val="000000">
                              <a:alpha val="100000"/>
                            </a:srgbClr>
                          </a:solidFill>
                          <a:latin typeface="Calibri"/>
                          <a:cs typeface="Calibri"/>
                          <a:sym typeface="Calibri"/>
                        </a:rPr>
                        <a:t>14</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800" b="0" i="0" u="none" strike="noStrike" cap="none">
                          <a:solidFill>
                            <a:srgbClr val="000000">
                              <a:alpha val="100000"/>
                            </a:srgbClr>
                          </a:solidFill>
                          <a:latin typeface="Calibri"/>
                          <a:cs typeface="Calibri"/>
                          <a:sym typeface="Calibri"/>
                        </a:rPr>
                        <a:t>FOUNDATION RISK PARTNERS</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800" b="0" i="0" u="none" strike="noStrike" cap="none">
                          <a:solidFill>
                            <a:srgbClr val="000000">
                              <a:alpha val="100000"/>
                            </a:srgbClr>
                          </a:solidFill>
                          <a:latin typeface="Calibri"/>
                          <a:cs typeface="Calibri"/>
                          <a:sym typeface="Calibri"/>
                        </a:rPr>
                        <a:t>10</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800" b="0" i="0" u="none" strike="noStrike" cap="none">
                          <a:solidFill>
                            <a:srgbClr val="000000">
                              <a:alpha val="100000"/>
                            </a:srgbClr>
                          </a:solidFill>
                          <a:latin typeface="Calibri"/>
                          <a:cs typeface="Calibri"/>
                          <a:sym typeface="Calibri"/>
                        </a:rPr>
                        <a:t>8,051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800" b="0" i="0" u="none" strike="noStrike" cap="none">
                          <a:solidFill>
                            <a:srgbClr val="000000">
                              <a:alpha val="100000"/>
                            </a:srgbClr>
                          </a:solidFill>
                          <a:latin typeface="Calibri"/>
                          <a:cs typeface="Calibri"/>
                          <a:sym typeface="Calibri"/>
                        </a:rPr>
                        <a:t>2.1%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800" b="0" i="0" u="none" strike="noStrike" cap="none">
                          <a:solidFill>
                            <a:srgbClr val="000000">
                              <a:alpha val="100000"/>
                            </a:srgbClr>
                          </a:solidFill>
                          <a:latin typeface="Calibri"/>
                          <a:cs typeface="Calibri"/>
                          <a:sym typeface="Calibri"/>
                        </a:rPr>
                        <a:t>1.9%</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extLst>
                  <a:ext uri="{0D108BD9-81ED-4DB2-BD59-A6C34878D82A}">
                    <a16:rowId xmlns:a16="http://schemas.microsoft.com/office/drawing/2014/main" val="10014"/>
                  </a:ext>
                </a:extLst>
              </a:tr>
              <a:tr h="228600">
                <a:tc>
                  <a:txBody>
                    <a:bodyPr/>
                    <a:lstStyle/>
                    <a:p>
                      <a:pPr marL="25400" marR="25400" algn="ctr">
                        <a:lnSpc>
                          <a:spcPct val="100000"/>
                        </a:lnSpc>
                        <a:spcBef>
                          <a:spcPts val="200"/>
                        </a:spcBef>
                        <a:spcAft>
                          <a:spcPts val="200"/>
                        </a:spcAft>
                        <a:buNone/>
                      </a:pPr>
                      <a:r>
                        <a:rPr sz="800" b="0" i="0" u="none" strike="noStrike" cap="none">
                          <a:solidFill>
                            <a:srgbClr val="000000">
                              <a:alpha val="100000"/>
                            </a:srgbClr>
                          </a:solidFill>
                          <a:latin typeface="Calibri"/>
                          <a:cs typeface="Calibri"/>
                          <a:sym typeface="Calibri"/>
                        </a:rPr>
                        <a:t>15</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800" b="0" i="0" u="none" strike="noStrike" cap="none">
                          <a:solidFill>
                            <a:srgbClr val="000000">
                              <a:alpha val="100000"/>
                            </a:srgbClr>
                          </a:solidFill>
                          <a:latin typeface="Calibri"/>
                          <a:cs typeface="Calibri"/>
                          <a:sym typeface="Calibri"/>
                        </a:rPr>
                        <a:t>HYLANT</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800" b="0" i="0" u="none" strike="noStrike" cap="none">
                          <a:solidFill>
                            <a:srgbClr val="000000">
                              <a:alpha val="100000"/>
                            </a:srgbClr>
                          </a:solidFill>
                          <a:latin typeface="Calibri"/>
                          <a:cs typeface="Calibri"/>
                          <a:sym typeface="Calibri"/>
                        </a:rPr>
                        <a:t>20</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800" b="0" i="0" u="none" strike="noStrike" cap="none">
                          <a:solidFill>
                            <a:srgbClr val="000000">
                              <a:alpha val="100000"/>
                            </a:srgbClr>
                          </a:solidFill>
                          <a:latin typeface="Calibri"/>
                          <a:cs typeface="Calibri"/>
                          <a:sym typeface="Calibri"/>
                        </a:rPr>
                        <a:t>7,964</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800" b="0" i="0" u="none" strike="noStrike" cap="none">
                          <a:solidFill>
                            <a:srgbClr val="000000">
                              <a:alpha val="100000"/>
                            </a:srgbClr>
                          </a:solidFill>
                          <a:latin typeface="Calibri"/>
                          <a:cs typeface="Calibri"/>
                          <a:sym typeface="Calibri"/>
                        </a:rPr>
                        <a:t>2.1%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800" b="0" i="0" u="none" strike="noStrike" cap="none">
                          <a:solidFill>
                            <a:srgbClr val="000000">
                              <a:alpha val="100000"/>
                            </a:srgbClr>
                          </a:solidFill>
                          <a:latin typeface="Calibri"/>
                          <a:cs typeface="Calibri"/>
                          <a:sym typeface="Calibri"/>
                        </a:rPr>
                        <a:t>3.8%</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15"/>
                  </a:ext>
                </a:extLst>
              </a:tr>
              <a:tr h="228600">
                <a:tc>
                  <a:txBody>
                    <a:bodyPr/>
                    <a:lstStyle/>
                    <a:p>
                      <a:pPr marL="25400" marR="25400" algn="ctr">
                        <a:lnSpc>
                          <a:spcPct val="100000"/>
                        </a:lnSpc>
                        <a:spcBef>
                          <a:spcPts val="200"/>
                        </a:spcBef>
                        <a:spcAft>
                          <a:spcPts val="200"/>
                        </a:spcAft>
                        <a:buNone/>
                      </a:pPr>
                      <a:r>
                        <a:rPr sz="800" b="0" i="0" u="none" strike="noStrike" cap="none">
                          <a:solidFill>
                            <a:srgbClr val="000000">
                              <a:alpha val="100000"/>
                            </a:srgbClr>
                          </a:solidFill>
                          <a:latin typeface="Calibri"/>
                          <a:cs typeface="Calibri"/>
                          <a:sym typeface="Calibri"/>
                        </a:rPr>
                        <a:t>16</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800" b="0" i="0" u="none" strike="noStrike" cap="none">
                          <a:solidFill>
                            <a:srgbClr val="000000">
                              <a:alpha val="100000"/>
                            </a:srgbClr>
                          </a:solidFill>
                          <a:latin typeface="Calibri"/>
                          <a:cs typeface="Calibri"/>
                          <a:sym typeface="Calibri"/>
                        </a:rPr>
                        <a:t>EPIC</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800" b="0" i="0" u="none" strike="noStrike" cap="none">
                          <a:solidFill>
                            <a:srgbClr val="000000">
                              <a:alpha val="100000"/>
                            </a:srgbClr>
                          </a:solidFill>
                          <a:latin typeface="Calibri"/>
                          <a:cs typeface="Calibri"/>
                          <a:sym typeface="Calibri"/>
                        </a:rPr>
                        <a:t>3</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800" b="0" i="0" u="none" strike="noStrike" cap="none">
                          <a:solidFill>
                            <a:srgbClr val="000000">
                              <a:alpha val="100000"/>
                            </a:srgbClr>
                          </a:solidFill>
                          <a:latin typeface="Calibri"/>
                          <a:cs typeface="Calibri"/>
                          <a:sym typeface="Calibri"/>
                        </a:rPr>
                        <a:t>7,854</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800" b="0" i="0" u="none" strike="noStrike" cap="none">
                          <a:solidFill>
                            <a:srgbClr val="000000">
                              <a:alpha val="100000"/>
                            </a:srgbClr>
                          </a:solidFill>
                          <a:latin typeface="Calibri"/>
                          <a:cs typeface="Calibri"/>
                          <a:sym typeface="Calibri"/>
                        </a:rPr>
                        <a:t>2.1%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800" b="0" i="0" u="none" strike="noStrike" cap="none">
                          <a:solidFill>
                            <a:srgbClr val="000000">
                              <a:alpha val="100000"/>
                            </a:srgbClr>
                          </a:solidFill>
                          <a:latin typeface="Calibri"/>
                          <a:cs typeface="Calibri"/>
                          <a:sym typeface="Calibri"/>
                        </a:rPr>
                        <a:t>0.6%</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extLst>
                  <a:ext uri="{0D108BD9-81ED-4DB2-BD59-A6C34878D82A}">
                    <a16:rowId xmlns:a16="http://schemas.microsoft.com/office/drawing/2014/main" val="10016"/>
                  </a:ext>
                </a:extLst>
              </a:tr>
              <a:tr h="228600">
                <a:tc>
                  <a:txBody>
                    <a:bodyPr/>
                    <a:lstStyle/>
                    <a:p>
                      <a:pPr marL="25400" marR="25400" algn="ctr">
                        <a:lnSpc>
                          <a:spcPct val="100000"/>
                        </a:lnSpc>
                        <a:spcBef>
                          <a:spcPts val="200"/>
                        </a:spcBef>
                        <a:spcAft>
                          <a:spcPts val="200"/>
                        </a:spcAft>
                        <a:buNone/>
                      </a:pPr>
                      <a:endParaRPr sz="800" b="1" i="1" u="none" strike="noStrike" cap="none">
                        <a:solidFill>
                          <a:srgbClr val="FFFFFF">
                            <a:alpha val="100000"/>
                          </a:srgbClr>
                        </a:solidFill>
                        <a:latin typeface="Calibri"/>
                        <a:cs typeface="Calibri"/>
                        <a:sym typeface="Calibri"/>
                      </a:endParaRP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6350" cap="flat" cmpd="sng" algn="ctr">
                      <a:solidFill>
                        <a:srgbClr val="E2E8F0">
                          <a:alpha val="100000"/>
                        </a:srgbClr>
                      </a:solidFill>
                      <a:prstDash val="solid"/>
                    </a:lnB>
                    <a:solidFill>
                      <a:srgbClr val="4A5568">
                        <a:alpha val="100000"/>
                      </a:srgbClr>
                    </a:solidFill>
                  </a:tcPr>
                </a:tc>
                <a:tc>
                  <a:txBody>
                    <a:bodyPr/>
                    <a:lstStyle/>
                    <a:p>
                      <a:pPr marL="25400" marR="25400" algn="l">
                        <a:lnSpc>
                          <a:spcPct val="100000"/>
                        </a:lnSpc>
                        <a:spcBef>
                          <a:spcPts val="200"/>
                        </a:spcBef>
                        <a:spcAft>
                          <a:spcPts val="200"/>
                        </a:spcAft>
                        <a:buNone/>
                      </a:pPr>
                      <a:r>
                        <a:rPr sz="800" b="1" i="1" u="none" strike="noStrike" cap="none">
                          <a:solidFill>
                            <a:srgbClr val="FFFFFF">
                              <a:alpha val="100000"/>
                            </a:srgbClr>
                          </a:solidFill>
                          <a:latin typeface="Calibri"/>
                          <a:cs typeface="Calibri"/>
                          <a:sym typeface="Calibri"/>
                        </a:rPr>
                        <a:t>All Others</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6350" cap="flat" cmpd="sng" algn="ctr">
                      <a:solidFill>
                        <a:srgbClr val="E2E8F0">
                          <a:alpha val="100000"/>
                        </a:srgbClr>
                      </a:solidFill>
                      <a:prstDash val="solid"/>
                    </a:lnB>
                    <a:solidFill>
                      <a:srgbClr val="4A5568">
                        <a:alpha val="100000"/>
                      </a:srgbClr>
                    </a:solidFill>
                  </a:tcPr>
                </a:tc>
                <a:tc>
                  <a:txBody>
                    <a:bodyPr/>
                    <a:lstStyle/>
                    <a:p>
                      <a:pPr marL="25400" marR="25400" algn="ctr">
                        <a:lnSpc>
                          <a:spcPct val="100000"/>
                        </a:lnSpc>
                        <a:spcBef>
                          <a:spcPts val="200"/>
                        </a:spcBef>
                        <a:spcAft>
                          <a:spcPts val="200"/>
                        </a:spcAft>
                        <a:buNone/>
                      </a:pPr>
                      <a:r>
                        <a:rPr sz="800" b="1" i="1" u="none" strike="noStrike" cap="none">
                          <a:solidFill>
                            <a:srgbClr val="FFFFFF">
                              <a:alpha val="100000"/>
                            </a:srgbClr>
                          </a:solidFill>
                          <a:latin typeface="Calibri"/>
                          <a:cs typeface="Calibri"/>
                          <a:sym typeface="Calibri"/>
                        </a:rPr>
                        <a:t>184</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6350" cap="flat" cmpd="sng" algn="ctr">
                      <a:solidFill>
                        <a:srgbClr val="E2E8F0">
                          <a:alpha val="100000"/>
                        </a:srgbClr>
                      </a:solidFill>
                      <a:prstDash val="solid"/>
                    </a:lnB>
                    <a:solidFill>
                      <a:srgbClr val="4A5568">
                        <a:alpha val="100000"/>
                      </a:srgbClr>
                    </a:solidFill>
                  </a:tcPr>
                </a:tc>
                <a:tc>
                  <a:txBody>
                    <a:bodyPr/>
                    <a:lstStyle/>
                    <a:p>
                      <a:pPr marL="25400" marR="25400" algn="ctr">
                        <a:lnSpc>
                          <a:spcPct val="100000"/>
                        </a:lnSpc>
                        <a:spcBef>
                          <a:spcPts val="200"/>
                        </a:spcBef>
                        <a:spcAft>
                          <a:spcPts val="200"/>
                        </a:spcAft>
                        <a:buNone/>
                      </a:pPr>
                      <a:r>
                        <a:rPr sz="800" b="1" i="1" u="none" strike="noStrike" cap="none">
                          <a:solidFill>
                            <a:srgbClr val="FFFFFF">
                              <a:alpha val="100000"/>
                            </a:srgbClr>
                          </a:solidFill>
                          <a:latin typeface="Calibri"/>
                          <a:cs typeface="Calibri"/>
                          <a:sym typeface="Calibri"/>
                        </a:rPr>
                        <a:t>54,187</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6350" cap="flat" cmpd="sng" algn="ctr">
                      <a:solidFill>
                        <a:srgbClr val="E2E8F0">
                          <a:alpha val="100000"/>
                        </a:srgbClr>
                      </a:solidFill>
                      <a:prstDash val="solid"/>
                    </a:lnB>
                    <a:solidFill>
                      <a:srgbClr val="4A5568">
                        <a:alpha val="100000"/>
                      </a:srgbClr>
                    </a:solidFill>
                  </a:tcPr>
                </a:tc>
                <a:tc>
                  <a:txBody>
                    <a:bodyPr/>
                    <a:lstStyle/>
                    <a:p>
                      <a:pPr marL="25400" marR="25400" algn="ctr">
                        <a:lnSpc>
                          <a:spcPct val="100000"/>
                        </a:lnSpc>
                        <a:spcBef>
                          <a:spcPts val="200"/>
                        </a:spcBef>
                        <a:spcAft>
                          <a:spcPts val="200"/>
                        </a:spcAft>
                        <a:buNone/>
                      </a:pPr>
                      <a:r>
                        <a:rPr sz="800" b="1" i="1" u="none" strike="noStrike" cap="none">
                          <a:solidFill>
                            <a:srgbClr val="FFFFFF">
                              <a:alpha val="100000"/>
                            </a:srgbClr>
                          </a:solidFill>
                          <a:latin typeface="Calibri"/>
                          <a:cs typeface="Calibri"/>
                          <a:sym typeface="Calibri"/>
                        </a:rPr>
                        <a:t>14.1%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6350" cap="flat" cmpd="sng" algn="ctr">
                      <a:solidFill>
                        <a:srgbClr val="E2E8F0">
                          <a:alpha val="100000"/>
                        </a:srgbClr>
                      </a:solidFill>
                      <a:prstDash val="solid"/>
                    </a:lnB>
                    <a:solidFill>
                      <a:srgbClr val="4A5568">
                        <a:alpha val="100000"/>
                      </a:srgbClr>
                    </a:solidFill>
                  </a:tcPr>
                </a:tc>
                <a:tc>
                  <a:txBody>
                    <a:bodyPr/>
                    <a:lstStyle/>
                    <a:p>
                      <a:pPr marL="25400" marR="25400" algn="ctr">
                        <a:lnSpc>
                          <a:spcPct val="100000"/>
                        </a:lnSpc>
                        <a:spcBef>
                          <a:spcPts val="200"/>
                        </a:spcBef>
                        <a:spcAft>
                          <a:spcPts val="200"/>
                        </a:spcAft>
                        <a:buNone/>
                      </a:pPr>
                      <a:r>
                        <a:rPr sz="800" b="1" i="1" u="none" strike="noStrike" cap="none" dirty="0">
                          <a:solidFill>
                            <a:srgbClr val="FFFFFF">
                              <a:alpha val="100000"/>
                            </a:srgbClr>
                          </a:solidFill>
                          <a:latin typeface="Calibri"/>
                          <a:cs typeface="Calibri"/>
                          <a:sym typeface="Calibri"/>
                        </a:rPr>
                        <a:t>35.2%</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6350" cap="flat" cmpd="sng" algn="ctr">
                      <a:solidFill>
                        <a:srgbClr val="E2E8F0">
                          <a:alpha val="100000"/>
                        </a:srgbClr>
                      </a:solidFill>
                      <a:prstDash val="solid"/>
                    </a:lnB>
                    <a:solidFill>
                      <a:srgbClr val="4A5568">
                        <a:alpha val="100000"/>
                      </a:srgbClr>
                    </a:solidFill>
                  </a:tcPr>
                </a:tc>
                <a:extLst>
                  <a:ext uri="{0D108BD9-81ED-4DB2-BD59-A6C34878D82A}">
                    <a16:rowId xmlns:a16="http://schemas.microsoft.com/office/drawing/2014/main" val="10017"/>
                  </a:ext>
                </a:extLst>
              </a:tr>
            </a:tbl>
          </a:graphicData>
        </a:graphic>
      </p:graphicFrame>
      <p:sp>
        <p:nvSpPr>
          <p:cNvPr id="9" name="Object 8">
            <a:extLst>
              <a:ext uri="{FF2B5EF4-FFF2-40B4-BE49-F238E27FC236}">
                <a16:creationId xmlns:a16="http://schemas.microsoft.com/office/drawing/2014/main" id="{861C6866-EC78-A1A2-0B7D-C6309D7D9375}"/>
              </a:ext>
            </a:extLst>
          </p:cNvPr>
          <p:cNvSpPr/>
          <p:nvPr/>
        </p:nvSpPr>
        <p:spPr>
          <a:xfrm>
            <a:off x="7058962" y="73152"/>
            <a:ext cx="2005028" cy="476131"/>
          </a:xfrm>
          <a:prstGeom prst="rect">
            <a:avLst/>
          </a:pr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10" name="Object 9">
            <a:extLst>
              <a:ext uri="{FF2B5EF4-FFF2-40B4-BE49-F238E27FC236}">
                <a16:creationId xmlns:a16="http://schemas.microsoft.com/office/drawing/2014/main" id="{B7AE332B-CEED-4AE6-85EC-91E424D6BA82}"/>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7211324" y="168378"/>
            <a:ext cx="1700304" cy="28567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dr_bar"/>
          <p:cNvSpPr>
            <a:spLocks noGrp="1"/>
          </p:cNvSpPr>
          <p:nvPr/>
        </p:nvSpPr>
        <p:spPr>
          <a:xfrm>
            <a:off x="0" y="0"/>
            <a:ext cx="9144000" cy="640080"/>
          </a:xfrm>
          <a:prstGeom prst="rect">
            <a:avLst/>
          </a:prstGeom>
          <a:solidFill>
            <a:srgbClr val="1A3A5C"/>
          </a:solidFill>
          <a:ln>
            <a:noFill/>
          </a:ln>
        </p:spPr>
        <p:txBody>
          <a:bodyPr/>
          <a:lstStyle/>
          <a:p>
            <a:endParaRPr/>
          </a:p>
        </p:txBody>
      </p:sp>
      <p:sp>
        <p:nvSpPr>
          <p:cNvPr id="3" name="hdr_label"/>
          <p:cNvSpPr/>
          <p:nvPr/>
        </p:nvSpPr>
        <p:spPr>
          <a:xfrm>
            <a:off x="274320" y="73152"/>
            <a:ext cx="1463040" cy="493776"/>
          </a:xfrm>
          <a:prstGeom prst="rect">
            <a:avLst/>
          </a:prstGeom>
          <a:noFill/>
          <a:ln>
            <a:noFill/>
          </a:ln>
        </p:spPr>
        <p:txBody>
          <a:bodyPr wrap="square" rtlCol="0" anchor="ctr"/>
          <a:lstStyle/>
          <a:p>
            <a:pPr marL="0" indent="0" algn="l">
              <a:buNone/>
            </a:pPr>
            <a:r>
              <a:rPr lang="en-US" sz="1100" dirty="0">
                <a:solidFill>
                  <a:srgbClr val="93C5FD"/>
                </a:solidFill>
                <a:latin typeface="Calibri" pitchFamily="34" charset="0"/>
              </a:rPr>
              <a:t>Broker Detail</a:t>
            </a:r>
          </a:p>
        </p:txBody>
      </p:sp>
      <p:sp>
        <p:nvSpPr>
          <p:cNvPr id="4" name="hdr_name"/>
          <p:cNvSpPr/>
          <p:nvPr/>
        </p:nvSpPr>
        <p:spPr>
          <a:xfrm>
            <a:off x="1828800" y="73152"/>
            <a:ext cx="7040880" cy="493776"/>
          </a:xfrm>
          <a:prstGeom prst="rect">
            <a:avLst/>
          </a:prstGeom>
          <a:noFill/>
          <a:ln>
            <a:noFill/>
          </a:ln>
        </p:spPr>
        <p:txBody>
          <a:bodyPr wrap="square" rtlCol="0" anchor="ctr"/>
          <a:lstStyle/>
          <a:p>
            <a:pPr marL="0" indent="0" algn="l">
              <a:buNone/>
            </a:pPr>
            <a:r>
              <a:rPr lang="en-US" sz="1500" b="1" dirty="0">
                <a:solidFill>
                  <a:srgbClr val="FFFFFF"/>
                </a:solidFill>
                <a:latin typeface="Calibri" pitchFamily="34" charset="0"/>
              </a:rPr>
              <a:t>MERCER HEALTH AND BENEFITS</a:t>
            </a:r>
          </a:p>
        </p:txBody>
      </p:sp>
      <p:sp>
        <p:nvSpPr>
          <p:cNvPr id="5" name="sbox_bg_1"/>
          <p:cNvSpPr>
            <a:spLocks noGrp="1"/>
          </p:cNvSpPr>
          <p:nvPr/>
        </p:nvSpPr>
        <p:spPr>
          <a:xfrm>
            <a:off x="274320" y="749808"/>
            <a:ext cx="2011680" cy="822960"/>
          </a:xfrm>
          <a:prstGeom prst="rect">
            <a:avLst/>
          </a:prstGeom>
          <a:solidFill>
            <a:srgbClr val="F7F9FC"/>
          </a:solidFill>
          <a:ln w="12700">
            <a:solidFill>
              <a:srgbClr val="E2E8F0"/>
            </a:solidFill>
            <a:prstDash val="solid"/>
          </a:ln>
        </p:spPr>
        <p:txBody>
          <a:bodyPr/>
          <a:lstStyle/>
          <a:p>
            <a:endParaRPr/>
          </a:p>
        </p:txBody>
      </p:sp>
      <p:sp>
        <p:nvSpPr>
          <p:cNvPr id="6" name="sbox_val_1"/>
          <p:cNvSpPr/>
          <p:nvPr/>
        </p:nvSpPr>
        <p:spPr>
          <a:xfrm>
            <a:off x="274320" y="777240"/>
            <a:ext cx="2011680" cy="457200"/>
          </a:xfrm>
          <a:prstGeom prst="rect">
            <a:avLst/>
          </a:prstGeom>
          <a:noFill/>
          <a:ln>
            <a:noFill/>
          </a:ln>
        </p:spPr>
        <p:txBody>
          <a:bodyPr wrap="square" rtlCol="0" anchor="ctr"/>
          <a:lstStyle/>
          <a:p>
            <a:pPr marL="0" indent="0" algn="l">
              <a:buNone/>
            </a:pPr>
            <a:r>
              <a:rPr lang="en-US" sz="1800" b="1" dirty="0">
                <a:solidFill>
                  <a:srgbClr val="1A3A5C"/>
                </a:solidFill>
                <a:latin typeface="Calibri" pitchFamily="34" charset="0"/>
              </a:rPr>
              <a:t>22</a:t>
            </a:r>
          </a:p>
        </p:txBody>
      </p:sp>
      <p:sp>
        <p:nvSpPr>
          <p:cNvPr id="7" name="sbox_lbl_1"/>
          <p:cNvSpPr/>
          <p:nvPr/>
        </p:nvSpPr>
        <p:spPr>
          <a:xfrm>
            <a:off x="274320" y="1261872"/>
            <a:ext cx="2011680" cy="256032"/>
          </a:xfrm>
          <a:prstGeom prst="rect">
            <a:avLst/>
          </a:prstGeom>
          <a:noFill/>
          <a:ln>
            <a:noFill/>
          </a:ln>
        </p:spPr>
        <p:txBody>
          <a:bodyPr wrap="square" rtlCol="0" anchor="t"/>
          <a:lstStyle/>
          <a:p>
            <a:pPr marL="0" indent="0" algn="l">
              <a:buNone/>
            </a:pPr>
            <a:r>
              <a:rPr lang="en-US" sz="800" dirty="0">
                <a:solidFill>
                  <a:srgbClr val="4A5568"/>
                </a:solidFill>
                <a:latin typeface="Calibri" pitchFamily="34" charset="0"/>
              </a:rPr>
              <a:t>Employers</a:t>
            </a:r>
          </a:p>
        </p:txBody>
      </p:sp>
      <p:sp>
        <p:nvSpPr>
          <p:cNvPr id="8" name="sbox_bg_2"/>
          <p:cNvSpPr>
            <a:spLocks noGrp="1"/>
          </p:cNvSpPr>
          <p:nvPr/>
        </p:nvSpPr>
        <p:spPr>
          <a:xfrm>
            <a:off x="2450592" y="749808"/>
            <a:ext cx="2011680" cy="822960"/>
          </a:xfrm>
          <a:prstGeom prst="rect">
            <a:avLst/>
          </a:prstGeom>
          <a:solidFill>
            <a:srgbClr val="F7F9FC"/>
          </a:solidFill>
          <a:ln w="12700">
            <a:solidFill>
              <a:srgbClr val="E2E8F0"/>
            </a:solidFill>
            <a:prstDash val="solid"/>
          </a:ln>
        </p:spPr>
        <p:txBody>
          <a:bodyPr/>
          <a:lstStyle/>
          <a:p>
            <a:endParaRPr/>
          </a:p>
        </p:txBody>
      </p:sp>
      <p:sp>
        <p:nvSpPr>
          <p:cNvPr id="9" name="sbox_val_2"/>
          <p:cNvSpPr/>
          <p:nvPr/>
        </p:nvSpPr>
        <p:spPr>
          <a:xfrm>
            <a:off x="2450592" y="777240"/>
            <a:ext cx="2011680" cy="457200"/>
          </a:xfrm>
          <a:prstGeom prst="rect">
            <a:avLst/>
          </a:prstGeom>
          <a:noFill/>
          <a:ln>
            <a:noFill/>
          </a:ln>
        </p:spPr>
        <p:txBody>
          <a:bodyPr wrap="square" rtlCol="0" anchor="ctr"/>
          <a:lstStyle/>
          <a:p>
            <a:pPr marL="0" indent="0" algn="l">
              <a:buNone/>
            </a:pPr>
            <a:r>
              <a:rPr lang="en-US" sz="1800" b="1" dirty="0">
                <a:solidFill>
                  <a:srgbClr val="1A3A5C"/>
                </a:solidFill>
                <a:latin typeface="Calibri" pitchFamily="34" charset="0"/>
              </a:rPr>
              <a:t>84,126</a:t>
            </a:r>
          </a:p>
        </p:txBody>
      </p:sp>
      <p:sp>
        <p:nvSpPr>
          <p:cNvPr id="10" name="sbox_lbl_2"/>
          <p:cNvSpPr/>
          <p:nvPr/>
        </p:nvSpPr>
        <p:spPr>
          <a:xfrm>
            <a:off x="2450592" y="1261872"/>
            <a:ext cx="2011680" cy="256032"/>
          </a:xfrm>
          <a:prstGeom prst="rect">
            <a:avLst/>
          </a:prstGeom>
          <a:noFill/>
          <a:ln>
            <a:noFill/>
          </a:ln>
        </p:spPr>
        <p:txBody>
          <a:bodyPr wrap="square" rtlCol="0" anchor="t"/>
          <a:lstStyle/>
          <a:p>
            <a:pPr marL="0" indent="0" algn="l">
              <a:buNone/>
            </a:pPr>
            <a:r>
              <a:rPr lang="en-US" sz="800" dirty="0">
                <a:solidFill>
                  <a:srgbClr val="4A5568"/>
                </a:solidFill>
                <a:latin typeface="Calibri" pitchFamily="34" charset="0"/>
              </a:rPr>
              <a:t>Covered Employees</a:t>
            </a:r>
          </a:p>
        </p:txBody>
      </p:sp>
      <p:sp>
        <p:nvSpPr>
          <p:cNvPr id="11" name="sbox_bg_3"/>
          <p:cNvSpPr>
            <a:spLocks noGrp="1"/>
          </p:cNvSpPr>
          <p:nvPr/>
        </p:nvSpPr>
        <p:spPr>
          <a:xfrm>
            <a:off x="4626864" y="749808"/>
            <a:ext cx="2011680" cy="822960"/>
          </a:xfrm>
          <a:prstGeom prst="rect">
            <a:avLst/>
          </a:prstGeom>
          <a:solidFill>
            <a:srgbClr val="F7F9FC"/>
          </a:solidFill>
          <a:ln w="12700">
            <a:solidFill>
              <a:srgbClr val="E2E8F0"/>
            </a:solidFill>
            <a:prstDash val="solid"/>
          </a:ln>
        </p:spPr>
        <p:txBody>
          <a:bodyPr/>
          <a:lstStyle/>
          <a:p>
            <a:endParaRPr/>
          </a:p>
        </p:txBody>
      </p:sp>
      <p:sp>
        <p:nvSpPr>
          <p:cNvPr id="12" name="sbox_val_3"/>
          <p:cNvSpPr/>
          <p:nvPr/>
        </p:nvSpPr>
        <p:spPr>
          <a:xfrm>
            <a:off x="4626864" y="777240"/>
            <a:ext cx="2011680" cy="457200"/>
          </a:xfrm>
          <a:prstGeom prst="rect">
            <a:avLst/>
          </a:prstGeom>
          <a:noFill/>
          <a:ln>
            <a:noFill/>
          </a:ln>
        </p:spPr>
        <p:txBody>
          <a:bodyPr wrap="square" rtlCol="0" anchor="ctr"/>
          <a:lstStyle/>
          <a:p>
            <a:pPr marL="0" indent="0" algn="l">
              <a:buNone/>
            </a:pPr>
            <a:r>
              <a:rPr lang="en-US" sz="1800" b="1" dirty="0">
                <a:solidFill>
                  <a:srgbClr val="1A3A5C"/>
                </a:solidFill>
                <a:latin typeface="Calibri" pitchFamily="34" charset="0"/>
              </a:rPr>
              <a:t>22%</a:t>
            </a:r>
          </a:p>
        </p:txBody>
      </p:sp>
      <p:sp>
        <p:nvSpPr>
          <p:cNvPr id="13" name="sbox_lbl_3"/>
          <p:cNvSpPr/>
          <p:nvPr/>
        </p:nvSpPr>
        <p:spPr>
          <a:xfrm>
            <a:off x="4626864" y="1261872"/>
            <a:ext cx="2011680" cy="256032"/>
          </a:xfrm>
          <a:prstGeom prst="rect">
            <a:avLst/>
          </a:prstGeom>
          <a:noFill/>
          <a:ln>
            <a:noFill/>
          </a:ln>
        </p:spPr>
        <p:txBody>
          <a:bodyPr wrap="square" rtlCol="0" anchor="t"/>
          <a:lstStyle/>
          <a:p>
            <a:pPr marL="0" indent="0" algn="l">
              <a:buNone/>
            </a:pPr>
            <a:r>
              <a:rPr lang="en-US" sz="800" dirty="0">
                <a:solidFill>
                  <a:srgbClr val="4A5568"/>
                </a:solidFill>
                <a:latin typeface="Calibri" pitchFamily="34" charset="0"/>
              </a:rPr>
              <a:t>EE Market Share</a:t>
            </a:r>
          </a:p>
        </p:txBody>
      </p:sp>
      <p:sp>
        <p:nvSpPr>
          <p:cNvPr id="14" name="sbox_bg_4"/>
          <p:cNvSpPr>
            <a:spLocks noGrp="1"/>
          </p:cNvSpPr>
          <p:nvPr/>
        </p:nvSpPr>
        <p:spPr>
          <a:xfrm>
            <a:off x="6803136" y="749808"/>
            <a:ext cx="2011680" cy="822960"/>
          </a:xfrm>
          <a:prstGeom prst="rect">
            <a:avLst/>
          </a:prstGeom>
          <a:solidFill>
            <a:srgbClr val="F7F9FC"/>
          </a:solidFill>
          <a:ln w="12700">
            <a:solidFill>
              <a:srgbClr val="E2E8F0"/>
            </a:solidFill>
            <a:prstDash val="solid"/>
          </a:ln>
        </p:spPr>
        <p:txBody>
          <a:bodyPr/>
          <a:lstStyle/>
          <a:p>
            <a:endParaRPr/>
          </a:p>
        </p:txBody>
      </p:sp>
      <p:sp>
        <p:nvSpPr>
          <p:cNvPr id="15" name="sbox_val_4"/>
          <p:cNvSpPr/>
          <p:nvPr/>
        </p:nvSpPr>
        <p:spPr>
          <a:xfrm>
            <a:off x="6803136" y="777240"/>
            <a:ext cx="2011680" cy="457200"/>
          </a:xfrm>
          <a:prstGeom prst="rect">
            <a:avLst/>
          </a:prstGeom>
          <a:noFill/>
          <a:ln>
            <a:noFill/>
          </a:ln>
        </p:spPr>
        <p:txBody>
          <a:bodyPr wrap="square" rtlCol="0" anchor="ctr"/>
          <a:lstStyle/>
          <a:p>
            <a:pPr marL="0" indent="0" algn="l">
              <a:buNone/>
            </a:pPr>
            <a:r>
              <a:rPr lang="en-US" sz="1800" b="1" dirty="0">
                <a:solidFill>
                  <a:srgbClr val="1A3A5C"/>
                </a:solidFill>
                <a:latin typeface="Calibri" pitchFamily="34" charset="0"/>
              </a:rPr>
              <a:t>#1 of 111</a:t>
            </a:r>
          </a:p>
        </p:txBody>
      </p:sp>
      <p:sp>
        <p:nvSpPr>
          <p:cNvPr id="16" name="sbox_lbl_4"/>
          <p:cNvSpPr/>
          <p:nvPr/>
        </p:nvSpPr>
        <p:spPr>
          <a:xfrm>
            <a:off x="6803136" y="1261872"/>
            <a:ext cx="2011680" cy="256032"/>
          </a:xfrm>
          <a:prstGeom prst="rect">
            <a:avLst/>
          </a:prstGeom>
          <a:noFill/>
          <a:ln>
            <a:noFill/>
          </a:ln>
        </p:spPr>
        <p:txBody>
          <a:bodyPr wrap="square" rtlCol="0" anchor="t"/>
          <a:lstStyle/>
          <a:p>
            <a:pPr marL="0" indent="0" algn="l">
              <a:buNone/>
            </a:pPr>
            <a:r>
              <a:rPr lang="en-US" sz="800" dirty="0">
                <a:solidFill>
                  <a:srgbClr val="4A5568"/>
                </a:solidFill>
                <a:latin typeface="Calibri" pitchFamily="34" charset="0"/>
              </a:rPr>
              <a:t>Rank</a:t>
            </a:r>
          </a:p>
        </p:txBody>
      </p:sp>
      <p:sp>
        <p:nvSpPr>
          <p:cNvPr id="17" name="ftr_bar"/>
          <p:cNvSpPr>
            <a:spLocks noGrp="1"/>
          </p:cNvSpPr>
          <p:nvPr/>
        </p:nvSpPr>
        <p:spPr>
          <a:xfrm>
            <a:off x="0" y="4846320"/>
            <a:ext cx="9144000" cy="297180"/>
          </a:xfrm>
          <a:prstGeom prst="rect">
            <a:avLst/>
          </a:prstGeom>
          <a:solidFill>
            <a:srgbClr val="1A3A5C"/>
          </a:solidFill>
          <a:ln>
            <a:noFill/>
          </a:ln>
        </p:spPr>
        <p:txBody>
          <a:bodyPr/>
          <a:lstStyle/>
          <a:p>
            <a:endParaRPr/>
          </a:p>
        </p:txBody>
      </p:sp>
      <p:sp>
        <p:nvSpPr>
          <p:cNvPr id="18" name="ftr_txt"/>
          <p:cNvSpPr/>
          <p:nvPr/>
        </p:nvSpPr>
        <p:spPr>
          <a:xfrm>
            <a:off x="365760" y="4864608"/>
            <a:ext cx="6400800" cy="256032"/>
          </a:xfrm>
          <a:prstGeom prst="rect">
            <a:avLst/>
          </a:prstGeom>
          <a:noFill/>
          <a:ln>
            <a:noFill/>
          </a:ln>
        </p:spPr>
        <p:txBody>
          <a:bodyPr wrap="square" rtlCol="0" anchor="ctr"/>
          <a:lstStyle/>
          <a:p>
            <a:pPr marL="0" indent="0" algn="l">
              <a:buNone/>
            </a:pPr>
            <a:r>
              <a:rPr lang="en-US" sz="900" dirty="0">
                <a:solidFill>
                  <a:srgbClr val="E2E8F0"/>
                </a:solidFill>
                <a:latin typeface="Calibri" pitchFamily="34" charset="0"/>
              </a:rPr>
              <a:t>5500 Filings Data | All Groups With Identified Benefits Broker</a:t>
            </a:r>
          </a:p>
        </p:txBody>
      </p:sp>
      <p:sp>
        <p:nvSpPr>
          <p:cNvPr id="19" name="ftr_conf"/>
          <p:cNvSpPr/>
          <p:nvPr/>
        </p:nvSpPr>
        <p:spPr>
          <a:xfrm>
            <a:off x="6858000" y="4864608"/>
            <a:ext cx="2011680" cy="256032"/>
          </a:xfrm>
          <a:prstGeom prst="rect">
            <a:avLst/>
          </a:prstGeom>
          <a:noFill/>
          <a:ln>
            <a:noFill/>
          </a:ln>
        </p:spPr>
        <p:txBody>
          <a:bodyPr wrap="square" rtlCol="0" anchor="ctr"/>
          <a:lstStyle/>
          <a:p>
            <a:pPr marL="0" indent="0" algn="r">
              <a:buNone/>
            </a:pPr>
            <a:r>
              <a:rPr lang="en-US" sz="900" dirty="0">
                <a:solidFill>
                  <a:srgbClr val="E2E8F0"/>
                </a:solidFill>
                <a:latin typeface="Calibri" pitchFamily="34" charset="0"/>
              </a:rPr>
              <a:t>Confidential - Internal Use Only</a:t>
            </a:r>
          </a:p>
        </p:txBody>
      </p:sp>
      <p:graphicFrame>
        <p:nvGraphicFramePr>
          <p:cNvPr id="20" name="Table 19"/>
          <p:cNvGraphicFramePr>
            <a:graphicFrameLocks noGrp="1"/>
          </p:cNvGraphicFramePr>
          <p:nvPr>
            <p:extLst>
              <p:ext uri="{D42A27DB-BD31-4B8C-83A1-F6EECF244321}">
                <p14:modId xmlns:p14="http://schemas.microsoft.com/office/powerpoint/2010/main" val="2470351497"/>
              </p:ext>
            </p:extLst>
          </p:nvPr>
        </p:nvGraphicFramePr>
        <p:xfrm>
          <a:off x="274320" y="1463052"/>
          <a:ext cx="7970088" cy="3185160"/>
        </p:xfrm>
        <a:graphic>
          <a:graphicData uri="http://schemas.openxmlformats.org/drawingml/2006/table">
            <a:tbl>
              <a:tblPr/>
              <a:tblGrid>
                <a:gridCol w="3188035">
                  <a:extLst>
                    <a:ext uri="{9D8B030D-6E8A-4147-A177-3AD203B41FA5}">
                      <a16:colId xmlns:a16="http://schemas.microsoft.com/office/drawing/2014/main" val="20000"/>
                    </a:ext>
                  </a:extLst>
                </a:gridCol>
                <a:gridCol w="1195513">
                  <a:extLst>
                    <a:ext uri="{9D8B030D-6E8A-4147-A177-3AD203B41FA5}">
                      <a16:colId xmlns:a16="http://schemas.microsoft.com/office/drawing/2014/main" val="20001"/>
                    </a:ext>
                  </a:extLst>
                </a:gridCol>
                <a:gridCol w="1494392">
                  <a:extLst>
                    <a:ext uri="{9D8B030D-6E8A-4147-A177-3AD203B41FA5}">
                      <a16:colId xmlns:a16="http://schemas.microsoft.com/office/drawing/2014/main" val="20002"/>
                    </a:ext>
                  </a:extLst>
                </a:gridCol>
                <a:gridCol w="1195513">
                  <a:extLst>
                    <a:ext uri="{9D8B030D-6E8A-4147-A177-3AD203B41FA5}">
                      <a16:colId xmlns:a16="http://schemas.microsoft.com/office/drawing/2014/main" val="20003"/>
                    </a:ext>
                  </a:extLst>
                </a:gridCol>
                <a:gridCol w="896635">
                  <a:extLst>
                    <a:ext uri="{9D8B030D-6E8A-4147-A177-3AD203B41FA5}">
                      <a16:colId xmlns:a16="http://schemas.microsoft.com/office/drawing/2014/main" val="20004"/>
                    </a:ext>
                  </a:extLst>
                </a:gridCol>
              </a:tblGrid>
              <a:tr h="157163">
                <a:tc>
                  <a:txBody>
                    <a:bodyPr/>
                    <a:lstStyle/>
                    <a:p>
                      <a:pPr marL="38100" marR="38100" algn="l">
                        <a:lnSpc>
                          <a:spcPct val="100000"/>
                        </a:lnSpc>
                        <a:spcBef>
                          <a:spcPts val="300"/>
                        </a:spcBef>
                        <a:spcAft>
                          <a:spcPts val="300"/>
                        </a:spcAft>
                        <a:buNone/>
                      </a:pPr>
                      <a:r>
                        <a:rPr sz="900" b="1" i="0" u="none" strike="noStrike" cap="none">
                          <a:solidFill>
                            <a:srgbClr val="FFFFFF">
                              <a:alpha val="100000"/>
                            </a:srgbClr>
                          </a:solidFill>
                          <a:latin typeface="Calibri"/>
                          <a:cs typeface="Calibri"/>
                          <a:sym typeface="Calibri"/>
                        </a:rPr>
                        <a:t>Employer</a:t>
                      </a:r>
                    </a:p>
                  </a:txBody>
                  <a:tcPr marL="0" marR="0" marT="38100" marB="38100" anchor="ctr">
                    <a:lnL w="6350"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alpha val="100000"/>
                        </a:srgbClr>
                      </a:solidFill>
                      <a:prstDash val="solid"/>
                    </a:lnT>
                    <a:lnB w="6350" cap="flat" cmpd="sng" algn="ctr">
                      <a:solidFill>
                        <a:srgbClr val="E2E8F0">
                          <a:alpha val="100000"/>
                        </a:srgbClr>
                      </a:solidFill>
                      <a:prstDash val="solid"/>
                    </a:lnB>
                    <a:solidFill>
                      <a:srgbClr val="1A3A5C">
                        <a:alpha val="100000"/>
                      </a:srgbClr>
                    </a:solidFill>
                  </a:tcPr>
                </a:tc>
                <a:tc>
                  <a:txBody>
                    <a:bodyPr/>
                    <a:lstStyle/>
                    <a:p>
                      <a:pPr marL="38100" marR="38100" algn="l">
                        <a:lnSpc>
                          <a:spcPct val="100000"/>
                        </a:lnSpc>
                        <a:spcBef>
                          <a:spcPts val="300"/>
                        </a:spcBef>
                        <a:spcAft>
                          <a:spcPts val="300"/>
                        </a:spcAft>
                        <a:buNone/>
                      </a:pPr>
                      <a:r>
                        <a:rPr sz="900" b="1" i="0" u="none" strike="noStrike" cap="none">
                          <a:solidFill>
                            <a:srgbClr val="FFFFFF">
                              <a:alpha val="100000"/>
                            </a:srgbClr>
                          </a:solidFill>
                          <a:latin typeface="Calibri"/>
                          <a:cs typeface="Calibri"/>
                          <a:sym typeface="Calibri"/>
                        </a:rPr>
                        <a:t>City</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alpha val="100000"/>
                        </a:srgbClr>
                      </a:solidFill>
                      <a:prstDash val="solid"/>
                    </a:lnT>
                    <a:lnB w="6350" cap="flat" cmpd="sng" algn="ctr">
                      <a:solidFill>
                        <a:srgbClr val="E2E8F0">
                          <a:alpha val="100000"/>
                        </a:srgbClr>
                      </a:solidFill>
                      <a:prstDash val="solid"/>
                    </a:lnB>
                    <a:solidFill>
                      <a:srgbClr val="1A3A5C">
                        <a:alpha val="100000"/>
                      </a:srgbClr>
                    </a:solidFill>
                  </a:tcPr>
                </a:tc>
                <a:tc>
                  <a:txBody>
                    <a:bodyPr/>
                    <a:lstStyle/>
                    <a:p>
                      <a:pPr marL="38100" marR="38100" algn="l">
                        <a:lnSpc>
                          <a:spcPct val="100000"/>
                        </a:lnSpc>
                        <a:spcBef>
                          <a:spcPts val="300"/>
                        </a:spcBef>
                        <a:spcAft>
                          <a:spcPts val="300"/>
                        </a:spcAft>
                        <a:buNone/>
                      </a:pPr>
                      <a:r>
                        <a:rPr sz="900" b="1" i="0" u="none" strike="noStrike" cap="none">
                          <a:solidFill>
                            <a:srgbClr val="FFFFFF">
                              <a:alpha val="100000"/>
                            </a:srgbClr>
                          </a:solidFill>
                          <a:latin typeface="Calibri"/>
                          <a:cs typeface="Calibri"/>
                          <a:sym typeface="Calibri"/>
                        </a:rPr>
                        <a:t>Revenue Range</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alpha val="100000"/>
                        </a:srgbClr>
                      </a:solidFill>
                      <a:prstDash val="solid"/>
                    </a:lnT>
                    <a:lnB w="6350" cap="flat" cmpd="sng" algn="ctr">
                      <a:solidFill>
                        <a:srgbClr val="E2E8F0">
                          <a:alpha val="100000"/>
                        </a:srgbClr>
                      </a:solidFill>
                      <a:prstDash val="solid"/>
                    </a:lnB>
                    <a:solidFill>
                      <a:srgbClr val="1A3A5C">
                        <a:alpha val="100000"/>
                      </a:srgbClr>
                    </a:solidFill>
                  </a:tcPr>
                </a:tc>
                <a:tc>
                  <a:txBody>
                    <a:bodyPr/>
                    <a:lstStyle/>
                    <a:p>
                      <a:pPr marL="38100" marR="38100" algn="ctr">
                        <a:lnSpc>
                          <a:spcPct val="100000"/>
                        </a:lnSpc>
                        <a:spcBef>
                          <a:spcPts val="300"/>
                        </a:spcBef>
                        <a:spcAft>
                          <a:spcPts val="300"/>
                        </a:spcAft>
                        <a:buNone/>
                      </a:pPr>
                      <a:r>
                        <a:rPr sz="900" b="1" i="0" u="none" strike="noStrike" cap="none">
                          <a:solidFill>
                            <a:srgbClr val="FFFFFF">
                              <a:alpha val="100000"/>
                            </a:srgbClr>
                          </a:solidFill>
                          <a:latin typeface="Calibri"/>
                          <a:cs typeface="Calibri"/>
                          <a:sym typeface="Calibri"/>
                        </a:rPr>
                        <a:t>Covered EEs</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alpha val="100000"/>
                        </a:srgbClr>
                      </a:solidFill>
                      <a:prstDash val="solid"/>
                    </a:lnT>
                    <a:lnB w="6350" cap="flat" cmpd="sng" algn="ctr">
                      <a:solidFill>
                        <a:srgbClr val="E2E8F0">
                          <a:alpha val="100000"/>
                        </a:srgbClr>
                      </a:solidFill>
                      <a:prstDash val="solid"/>
                    </a:lnB>
                    <a:solidFill>
                      <a:srgbClr val="1A3A5C">
                        <a:alpha val="100000"/>
                      </a:srgbClr>
                    </a:solidFill>
                  </a:tcPr>
                </a:tc>
                <a:tc>
                  <a:txBody>
                    <a:bodyPr/>
                    <a:lstStyle/>
                    <a:p>
                      <a:pPr marL="38100" marR="38100" algn="ctr">
                        <a:lnSpc>
                          <a:spcPct val="100000"/>
                        </a:lnSpc>
                        <a:spcBef>
                          <a:spcPts val="300"/>
                        </a:spcBef>
                        <a:spcAft>
                          <a:spcPts val="300"/>
                        </a:spcAft>
                        <a:buNone/>
                      </a:pPr>
                      <a:r>
                        <a:rPr sz="900" b="1" i="0" u="none" strike="noStrike" cap="none">
                          <a:solidFill>
                            <a:srgbClr val="FFFFFF">
                              <a:alpha val="100000"/>
                            </a:srgbClr>
                          </a:solidFill>
                          <a:latin typeface="Calibri"/>
                          <a:cs typeface="Calibri"/>
                          <a:sym typeface="Calibri"/>
                        </a:rPr>
                        <a:t>% of Book</a:t>
                      </a:r>
                    </a:p>
                  </a:txBody>
                  <a:tcPr marL="0" marR="0" marT="38100" marB="38100" anchor="ctr">
                    <a:lnL w="3175" cap="flat" cmpd="sng" algn="ctr">
                      <a:solidFill>
                        <a:srgbClr val="E2E8F0">
                          <a:alpha val="100000"/>
                        </a:srgbClr>
                      </a:solidFill>
                      <a:prstDash val="solid"/>
                    </a:lnL>
                    <a:lnR w="6350" cap="flat" cmpd="sng" algn="ctr">
                      <a:solidFill>
                        <a:srgbClr val="E2E8F0">
                          <a:alpha val="100000"/>
                        </a:srgbClr>
                      </a:solidFill>
                      <a:prstDash val="solid"/>
                    </a:lnR>
                    <a:lnT w="6350" cap="flat" cmpd="sng" algn="ctr">
                      <a:solidFill>
                        <a:srgbClr val="E2E8F0">
                          <a:alpha val="100000"/>
                        </a:srgbClr>
                      </a:solidFill>
                      <a:prstDash val="solid"/>
                    </a:lnT>
                    <a:lnB w="6350" cap="flat" cmpd="sng" algn="ctr">
                      <a:solidFill>
                        <a:srgbClr val="E2E8F0">
                          <a:alpha val="100000"/>
                        </a:srgbClr>
                      </a:solidFill>
                      <a:prstDash val="solid"/>
                    </a:lnB>
                    <a:solidFill>
                      <a:srgbClr val="1A3A5C">
                        <a:alpha val="100000"/>
                      </a:srgbClr>
                    </a:solidFill>
                  </a:tcPr>
                </a:tc>
                <a:extLst>
                  <a:ext uri="{0D108BD9-81ED-4DB2-BD59-A6C34878D82A}">
                    <a16:rowId xmlns:a16="http://schemas.microsoft.com/office/drawing/2014/main" val="10000"/>
                  </a:ext>
                </a:extLst>
              </a:tr>
              <a:tr h="157163">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ORLANDO HEALTH INC</a:t>
                      </a:r>
                    </a:p>
                  </a:txBody>
                  <a:tcPr marL="0" marR="0" marT="38100" marB="38100" anchor="ctr">
                    <a:lnL w="6350"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solidFill>
                      <a:prstDash val="solid"/>
                      <a:round/>
                      <a:headEnd type="none" w="med" len="med"/>
                      <a:tailEnd type="none" w="med" len="med"/>
                    </a:lnT>
                    <a:lnB w="3175" cap="flat" cmpd="sng" algn="ctr">
                      <a:solidFill>
                        <a:srgbClr val="E2E8F0">
                          <a:alpha val="100000"/>
                        </a:srgbClr>
                      </a:solidFill>
                      <a:prstDash val="solid"/>
                    </a:lnB>
                    <a:solidFill>
                      <a:srgbClr val="FFFFFF">
                        <a:alpha val="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ORLANDO</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solidFill>
                      <a:prstDash val="solid"/>
                      <a:round/>
                      <a:headEnd type="none" w="med" len="med"/>
                      <a:tailEnd type="none" w="med" len="med"/>
                    </a:lnT>
                    <a:lnB w="3175" cap="flat" cmpd="sng" algn="ctr">
                      <a:solidFill>
                        <a:srgbClr val="E2E8F0">
                          <a:alpha val="100000"/>
                        </a:srgbClr>
                      </a:solidFill>
                      <a:prstDash val="solid"/>
                    </a:lnB>
                    <a:solidFill>
                      <a:srgbClr val="FFFFFF">
                        <a:alpha val="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&gt; 1B</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solidFill>
                      <a:prstDash val="solid"/>
                      <a:round/>
                      <a:headEnd type="none" w="med" len="med"/>
                      <a:tailEnd type="none" w="med" len="med"/>
                    </a:lnT>
                    <a:lnB w="3175" cap="flat" cmpd="sng" algn="ctr">
                      <a:solidFill>
                        <a:srgbClr val="E2E8F0">
                          <a:alpha val="100000"/>
                        </a:srgbClr>
                      </a:solidFill>
                      <a:prstDash val="solid"/>
                    </a:lnB>
                    <a:solidFill>
                      <a:srgbClr val="FFFFFF">
                        <a:alpha val="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34,992</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solidFill>
                      <a:prstDash val="solid"/>
                      <a:round/>
                      <a:headEnd type="none" w="med" len="med"/>
                      <a:tailEnd type="none" w="med" len="med"/>
                    </a:lnT>
                    <a:lnB w="3175" cap="flat" cmpd="sng" algn="ctr">
                      <a:solidFill>
                        <a:srgbClr val="E2E8F0">
                          <a:alpha val="100000"/>
                        </a:srgbClr>
                      </a:solidFill>
                      <a:prstDash val="solid"/>
                    </a:lnB>
                    <a:solidFill>
                      <a:srgbClr val="FFFFFF">
                        <a:alpha val="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41.6%</a:t>
                      </a:r>
                    </a:p>
                  </a:txBody>
                  <a:tcPr marL="0" marR="0" marT="38100" marB="38100" anchor="ctr">
                    <a:lnL w="3175" cap="flat" cmpd="sng" algn="ctr">
                      <a:solidFill>
                        <a:srgbClr val="E2E8F0">
                          <a:alpha val="100000"/>
                        </a:srgbClr>
                      </a:solidFill>
                      <a:prstDash val="solid"/>
                    </a:lnL>
                    <a:lnR w="6350" cap="flat" cmpd="sng" algn="ctr">
                      <a:solidFill>
                        <a:srgbClr val="E2E8F0">
                          <a:alpha val="100000"/>
                        </a:srgbClr>
                      </a:solidFill>
                      <a:prstDash val="solid"/>
                    </a:lnR>
                    <a:lnT w="6350" cap="flat" cmpd="sng" algn="ctr">
                      <a:solidFill>
                        <a:srgbClr val="E2E8F0"/>
                      </a:solidFill>
                      <a:prstDash val="solid"/>
                      <a:round/>
                      <a:headEnd type="none" w="med" len="med"/>
                      <a:tailEnd type="none" w="med" len="med"/>
                    </a:lnT>
                    <a:lnB w="3175"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01"/>
                  </a:ext>
                </a:extLst>
              </a:tr>
              <a:tr h="157163">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WYNDHAM DESTINATIONS INC</a:t>
                      </a:r>
                    </a:p>
                  </a:txBody>
                  <a:tcPr marL="0" marR="0" marT="38100" marB="381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ORLANDO</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&gt; 1B</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13,819</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16.4%</a:t>
                      </a:r>
                    </a:p>
                  </a:txBody>
                  <a:tcPr marL="0" marR="0" marT="38100" marB="381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extLst>
                  <a:ext uri="{0D108BD9-81ED-4DB2-BD59-A6C34878D82A}">
                    <a16:rowId xmlns:a16="http://schemas.microsoft.com/office/drawing/2014/main" val="10002"/>
                  </a:ext>
                </a:extLst>
              </a:tr>
              <a:tr h="157163">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HILTON GRAND VACATIONS INC</a:t>
                      </a:r>
                    </a:p>
                  </a:txBody>
                  <a:tcPr marL="0" marR="0" marT="38100" marB="381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ORLANDO</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&gt; 1B</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13,167</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15.7%</a:t>
                      </a:r>
                    </a:p>
                  </a:txBody>
                  <a:tcPr marL="0" marR="0" marT="38100" marB="381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03"/>
                  </a:ext>
                </a:extLst>
              </a:tr>
              <a:tr h="157163">
                <a:tc>
                  <a:txBody>
                    <a:bodyPr/>
                    <a:lstStyle/>
                    <a:p>
                      <a:pPr marL="38100" marR="38100" algn="l">
                        <a:lnSpc>
                          <a:spcPct val="100000"/>
                        </a:lnSpc>
                        <a:spcBef>
                          <a:spcPts val="300"/>
                        </a:spcBef>
                        <a:spcAft>
                          <a:spcPts val="300"/>
                        </a:spcAft>
                        <a:buNone/>
                      </a:pPr>
                      <a:r>
                        <a:rPr sz="800" b="0" i="0" u="none" strike="noStrike" cap="none" dirty="0">
                          <a:solidFill>
                            <a:srgbClr val="000000">
                              <a:alpha val="100000"/>
                            </a:srgbClr>
                          </a:solidFill>
                          <a:latin typeface="Calibri"/>
                          <a:cs typeface="Calibri"/>
                          <a:sym typeface="Calibri"/>
                        </a:rPr>
                        <a:t>AAA</a:t>
                      </a:r>
                    </a:p>
                  </a:txBody>
                  <a:tcPr marL="0" marR="0" marT="38100" marB="381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HEATHROW</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&gt; 1B</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5,013</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6%</a:t>
                      </a:r>
                    </a:p>
                  </a:txBody>
                  <a:tcPr marL="0" marR="0" marT="38100" marB="381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extLst>
                  <a:ext uri="{0D108BD9-81ED-4DB2-BD59-A6C34878D82A}">
                    <a16:rowId xmlns:a16="http://schemas.microsoft.com/office/drawing/2014/main" val="10004"/>
                  </a:ext>
                </a:extLst>
              </a:tr>
              <a:tr h="157163">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LOEWS HOTELS AT UNIVERSAL ORLANDO RESORT</a:t>
                      </a:r>
                    </a:p>
                  </a:txBody>
                  <a:tcPr marL="0" marR="0" marT="38100" marB="381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ORLANDO</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200M - 1B</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4,184</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5%</a:t>
                      </a:r>
                    </a:p>
                  </a:txBody>
                  <a:tcPr marL="0" marR="0" marT="38100" marB="381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05"/>
                  </a:ext>
                </a:extLst>
              </a:tr>
              <a:tr h="157163">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ROTECH HEALTHCARE INC</a:t>
                      </a:r>
                    </a:p>
                  </a:txBody>
                  <a:tcPr marL="0" marR="0" marT="38100" marB="381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ORLANDO</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200M - 1B</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3,554</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4.2%</a:t>
                      </a:r>
                    </a:p>
                  </a:txBody>
                  <a:tcPr marL="0" marR="0" marT="38100" marB="381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extLst>
                  <a:ext uri="{0D108BD9-81ED-4DB2-BD59-A6C34878D82A}">
                    <a16:rowId xmlns:a16="http://schemas.microsoft.com/office/drawing/2014/main" val="10006"/>
                  </a:ext>
                </a:extLst>
              </a:tr>
              <a:tr h="157163">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VINCI CONSTRUCTION USA</a:t>
                      </a:r>
                    </a:p>
                  </a:txBody>
                  <a:tcPr marL="0" marR="0" marT="38100" marB="381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WINTER PARK</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200M - 1B</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2,598</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3.1%</a:t>
                      </a:r>
                    </a:p>
                  </a:txBody>
                  <a:tcPr marL="0" marR="0" marT="38100" marB="381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07"/>
                  </a:ext>
                </a:extLst>
              </a:tr>
              <a:tr h="157163">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APC WORKFORCE SOLUTIONS LLC</a:t>
                      </a:r>
                    </a:p>
                  </a:txBody>
                  <a:tcPr marL="0" marR="0" marT="38100" marB="381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ORLANDO</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&gt; 1B</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1,799</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2.1%</a:t>
                      </a:r>
                    </a:p>
                  </a:txBody>
                  <a:tcPr marL="0" marR="0" marT="38100" marB="381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extLst>
                  <a:ext uri="{0D108BD9-81ED-4DB2-BD59-A6C34878D82A}">
                    <a16:rowId xmlns:a16="http://schemas.microsoft.com/office/drawing/2014/main" val="10008"/>
                  </a:ext>
                </a:extLst>
              </a:tr>
              <a:tr h="157163">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MILLERS ALE HOUSE INC</a:t>
                      </a:r>
                    </a:p>
                  </a:txBody>
                  <a:tcPr marL="0" marR="0" marT="38100" marB="381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ORLANDO</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&gt; 1B</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852</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1%</a:t>
                      </a:r>
                    </a:p>
                  </a:txBody>
                  <a:tcPr marL="0" marR="0" marT="38100" marB="381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09"/>
                  </a:ext>
                </a:extLst>
              </a:tr>
              <a:tr h="157163">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HELLO DESTINATION MANAGEMENT LLC</a:t>
                      </a:r>
                    </a:p>
                  </a:txBody>
                  <a:tcPr marL="0" marR="0" marT="38100" marB="381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ORLANDO</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100M - 200M</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664</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0.8%</a:t>
                      </a:r>
                    </a:p>
                  </a:txBody>
                  <a:tcPr marL="0" marR="0" marT="38100" marB="381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extLst>
                  <a:ext uri="{0D108BD9-81ED-4DB2-BD59-A6C34878D82A}">
                    <a16:rowId xmlns:a16="http://schemas.microsoft.com/office/drawing/2014/main" val="10010"/>
                  </a:ext>
                </a:extLst>
              </a:tr>
              <a:tr h="157163">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TUPPERWARE BRANDS CORPORATION</a:t>
                      </a:r>
                    </a:p>
                  </a:txBody>
                  <a:tcPr marL="0" marR="0" marT="38100" marB="381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ORLANDO</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&gt; 1B</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564</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0.7%</a:t>
                      </a:r>
                    </a:p>
                  </a:txBody>
                  <a:tcPr marL="0" marR="0" marT="38100" marB="381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11"/>
                  </a:ext>
                </a:extLst>
              </a:tr>
              <a:tr h="157163">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DRAKE BEAM MORIN INC</a:t>
                      </a:r>
                    </a:p>
                  </a:txBody>
                  <a:tcPr marL="0" marR="0" marT="38100" marB="381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MAITLAND</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200M - 1B</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416</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0.5%</a:t>
                      </a:r>
                    </a:p>
                  </a:txBody>
                  <a:tcPr marL="0" marR="0" marT="38100" marB="381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extLst>
                  <a:ext uri="{0D108BD9-81ED-4DB2-BD59-A6C34878D82A}">
                    <a16:rowId xmlns:a16="http://schemas.microsoft.com/office/drawing/2014/main" val="10012"/>
                  </a:ext>
                </a:extLst>
              </a:tr>
              <a:tr h="157163">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FARO TECHNOLOGIES INC</a:t>
                      </a:r>
                    </a:p>
                  </a:txBody>
                  <a:tcPr marL="0" marR="0" marT="38100" marB="381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ORLANDO</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200M - 1B</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396</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0.5%</a:t>
                      </a:r>
                    </a:p>
                  </a:txBody>
                  <a:tcPr marL="0" marR="0" marT="38100" marB="381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13"/>
                  </a:ext>
                </a:extLst>
              </a:tr>
              <a:tr h="157163">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TURNINGPOINT HEALTHCARE SOLUTIONS LLC</a:t>
                      </a:r>
                    </a:p>
                  </a:txBody>
                  <a:tcPr marL="0" marR="0" marT="38100" marB="381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LAKE MARY</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10M - 50M</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377</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0.4%</a:t>
                      </a:r>
                    </a:p>
                  </a:txBody>
                  <a:tcPr marL="0" marR="0" marT="38100" marB="381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extLst>
                  <a:ext uri="{0D108BD9-81ED-4DB2-BD59-A6C34878D82A}">
                    <a16:rowId xmlns:a16="http://schemas.microsoft.com/office/drawing/2014/main" val="10014"/>
                  </a:ext>
                </a:extLst>
              </a:tr>
              <a:tr h="157163">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VILLAGE FARMS INTERNATIONAL INC</a:t>
                      </a:r>
                    </a:p>
                  </a:txBody>
                  <a:tcPr marL="0" marR="0" marT="38100" marB="381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6350" cap="flat" cmpd="sng" algn="ctr">
                      <a:solidFill>
                        <a:srgbClr val="E2E8F0">
                          <a:alpha val="100000"/>
                        </a:srgbClr>
                      </a:solidFill>
                      <a:prstDash val="solid"/>
                    </a:lnB>
                    <a:solidFill>
                      <a:srgbClr val="FFFFFF">
                        <a:alpha val="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LAKE MARY</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6350" cap="flat" cmpd="sng" algn="ctr">
                      <a:solidFill>
                        <a:srgbClr val="E2E8F0">
                          <a:alpha val="100000"/>
                        </a:srgbClr>
                      </a:solidFill>
                      <a:prstDash val="solid"/>
                    </a:lnB>
                    <a:solidFill>
                      <a:srgbClr val="FFFFFF">
                        <a:alpha val="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100M - 200M</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6350" cap="flat" cmpd="sng" algn="ctr">
                      <a:solidFill>
                        <a:srgbClr val="E2E8F0">
                          <a:alpha val="100000"/>
                        </a:srgbClr>
                      </a:solidFill>
                      <a:prstDash val="solid"/>
                    </a:lnB>
                    <a:solidFill>
                      <a:srgbClr val="FFFFFF">
                        <a:alpha val="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361</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6350" cap="flat" cmpd="sng" algn="ctr">
                      <a:solidFill>
                        <a:srgbClr val="E2E8F0">
                          <a:alpha val="100000"/>
                        </a:srgbClr>
                      </a:solidFill>
                      <a:prstDash val="solid"/>
                    </a:lnB>
                    <a:solidFill>
                      <a:srgbClr val="FFFFFF">
                        <a:alpha val="0"/>
                      </a:srgbClr>
                    </a:solidFill>
                  </a:tcPr>
                </a:tc>
                <a:tc>
                  <a:txBody>
                    <a:bodyPr/>
                    <a:lstStyle/>
                    <a:p>
                      <a:pPr marL="38100" marR="38100" algn="ctr">
                        <a:lnSpc>
                          <a:spcPct val="100000"/>
                        </a:lnSpc>
                        <a:spcBef>
                          <a:spcPts val="300"/>
                        </a:spcBef>
                        <a:spcAft>
                          <a:spcPts val="300"/>
                        </a:spcAft>
                        <a:buNone/>
                      </a:pPr>
                      <a:r>
                        <a:rPr sz="800" b="0" i="0" u="none" strike="noStrike" cap="none" dirty="0">
                          <a:solidFill>
                            <a:srgbClr val="000000">
                              <a:alpha val="100000"/>
                            </a:srgbClr>
                          </a:solidFill>
                          <a:latin typeface="Calibri"/>
                          <a:cs typeface="Calibri"/>
                          <a:sym typeface="Calibri"/>
                        </a:rPr>
                        <a:t>0.4%</a:t>
                      </a:r>
                    </a:p>
                  </a:txBody>
                  <a:tcPr marL="0" marR="0" marT="38100" marB="381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6350"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15"/>
                  </a:ext>
                </a:extLst>
              </a:tr>
            </a:tbl>
          </a:graphicData>
        </a:graphic>
      </p:graphicFrame>
      <p:sp>
        <p:nvSpPr>
          <p:cNvPr id="21" name="summary_line"/>
          <p:cNvSpPr/>
          <p:nvPr/>
        </p:nvSpPr>
        <p:spPr>
          <a:xfrm>
            <a:off x="274320" y="4590288"/>
            <a:ext cx="8595360" cy="228600"/>
          </a:xfrm>
          <a:prstGeom prst="rect">
            <a:avLst/>
          </a:prstGeom>
          <a:noFill/>
          <a:ln>
            <a:noFill/>
          </a:ln>
        </p:spPr>
        <p:txBody>
          <a:bodyPr wrap="square" rtlCol="0" anchor="ctr"/>
          <a:lstStyle/>
          <a:p>
            <a:pPr marL="0" indent="0" algn="l">
              <a:buNone/>
            </a:pPr>
            <a:r>
              <a:rPr lang="en-US" sz="750" dirty="0">
                <a:solidFill>
                  <a:srgbClr val="4A5568"/>
                </a:solidFill>
                <a:latin typeface="Calibri" pitchFamily="34" charset="0"/>
              </a:rPr>
              <a:t>MERCER HEALTH AND BENEFITS  |  84,126 covered employees  |  22% market share  |  Top 15 of 22 employers shown</a:t>
            </a:r>
          </a:p>
        </p:txBody>
      </p:sp>
      <p:sp>
        <p:nvSpPr>
          <p:cNvPr id="22" name="Object 8">
            <a:extLst>
              <a:ext uri="{FF2B5EF4-FFF2-40B4-BE49-F238E27FC236}">
                <a16:creationId xmlns:a16="http://schemas.microsoft.com/office/drawing/2014/main" id="{6FEEF42E-8DB4-AC26-CA4B-FACEFCFCC01F}"/>
              </a:ext>
            </a:extLst>
          </p:cNvPr>
          <p:cNvSpPr/>
          <p:nvPr/>
        </p:nvSpPr>
        <p:spPr>
          <a:xfrm>
            <a:off x="7058962" y="73152"/>
            <a:ext cx="2005028" cy="476131"/>
          </a:xfrm>
          <a:prstGeom prst="rect">
            <a:avLst/>
          </a:pr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23" name="Object 9">
            <a:extLst>
              <a:ext uri="{FF2B5EF4-FFF2-40B4-BE49-F238E27FC236}">
                <a16:creationId xmlns:a16="http://schemas.microsoft.com/office/drawing/2014/main" id="{5D7260AC-7424-3839-13EB-E232FC322BE9}"/>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7211324" y="168378"/>
            <a:ext cx="1700304" cy="28567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dr_bar"/>
          <p:cNvSpPr>
            <a:spLocks noGrp="1"/>
          </p:cNvSpPr>
          <p:nvPr/>
        </p:nvSpPr>
        <p:spPr>
          <a:xfrm>
            <a:off x="0" y="0"/>
            <a:ext cx="9144000" cy="640080"/>
          </a:xfrm>
          <a:prstGeom prst="rect">
            <a:avLst/>
          </a:prstGeom>
          <a:solidFill>
            <a:srgbClr val="1A3A5C"/>
          </a:solidFill>
          <a:ln>
            <a:noFill/>
          </a:ln>
        </p:spPr>
        <p:txBody>
          <a:bodyPr/>
          <a:lstStyle/>
          <a:p>
            <a:endParaRPr/>
          </a:p>
        </p:txBody>
      </p:sp>
      <p:sp>
        <p:nvSpPr>
          <p:cNvPr id="3" name="hdr_label"/>
          <p:cNvSpPr/>
          <p:nvPr/>
        </p:nvSpPr>
        <p:spPr>
          <a:xfrm>
            <a:off x="274320" y="73152"/>
            <a:ext cx="1463040" cy="493776"/>
          </a:xfrm>
          <a:prstGeom prst="rect">
            <a:avLst/>
          </a:prstGeom>
          <a:noFill/>
          <a:ln>
            <a:noFill/>
          </a:ln>
        </p:spPr>
        <p:txBody>
          <a:bodyPr wrap="square" rtlCol="0" anchor="ctr"/>
          <a:lstStyle/>
          <a:p>
            <a:pPr marL="0" indent="0" algn="l">
              <a:buNone/>
            </a:pPr>
            <a:r>
              <a:rPr lang="en-US" sz="1100" dirty="0">
                <a:solidFill>
                  <a:srgbClr val="93C5FD"/>
                </a:solidFill>
                <a:latin typeface="Calibri" pitchFamily="34" charset="0"/>
              </a:rPr>
              <a:t>Broker Detail</a:t>
            </a:r>
          </a:p>
        </p:txBody>
      </p:sp>
      <p:sp>
        <p:nvSpPr>
          <p:cNvPr id="4" name="hdr_name"/>
          <p:cNvSpPr/>
          <p:nvPr/>
        </p:nvSpPr>
        <p:spPr>
          <a:xfrm>
            <a:off x="1828800" y="73152"/>
            <a:ext cx="7040880" cy="493776"/>
          </a:xfrm>
          <a:prstGeom prst="rect">
            <a:avLst/>
          </a:prstGeom>
          <a:noFill/>
          <a:ln>
            <a:noFill/>
          </a:ln>
        </p:spPr>
        <p:txBody>
          <a:bodyPr wrap="square" rtlCol="0" anchor="ctr"/>
          <a:lstStyle/>
          <a:p>
            <a:pPr marL="0" indent="0" algn="l">
              <a:buNone/>
            </a:pPr>
            <a:r>
              <a:rPr lang="en-US" sz="1500" b="1" dirty="0">
                <a:solidFill>
                  <a:srgbClr val="FFFFFF"/>
                </a:solidFill>
                <a:latin typeface="Calibri" pitchFamily="34" charset="0"/>
              </a:rPr>
              <a:t>AON</a:t>
            </a:r>
          </a:p>
        </p:txBody>
      </p:sp>
      <p:sp>
        <p:nvSpPr>
          <p:cNvPr id="5" name="sbox_bg_1"/>
          <p:cNvSpPr>
            <a:spLocks noGrp="1"/>
          </p:cNvSpPr>
          <p:nvPr/>
        </p:nvSpPr>
        <p:spPr>
          <a:xfrm>
            <a:off x="274320" y="749808"/>
            <a:ext cx="2011680" cy="822960"/>
          </a:xfrm>
          <a:prstGeom prst="rect">
            <a:avLst/>
          </a:prstGeom>
          <a:solidFill>
            <a:srgbClr val="F7F9FC"/>
          </a:solidFill>
          <a:ln w="12700">
            <a:solidFill>
              <a:srgbClr val="E2E8F0"/>
            </a:solidFill>
            <a:prstDash val="solid"/>
          </a:ln>
        </p:spPr>
        <p:txBody>
          <a:bodyPr/>
          <a:lstStyle/>
          <a:p>
            <a:endParaRPr/>
          </a:p>
        </p:txBody>
      </p:sp>
      <p:sp>
        <p:nvSpPr>
          <p:cNvPr id="6" name="sbox_val_1"/>
          <p:cNvSpPr/>
          <p:nvPr/>
        </p:nvSpPr>
        <p:spPr>
          <a:xfrm>
            <a:off x="274320" y="777240"/>
            <a:ext cx="2011680" cy="457200"/>
          </a:xfrm>
          <a:prstGeom prst="rect">
            <a:avLst/>
          </a:prstGeom>
          <a:noFill/>
          <a:ln>
            <a:noFill/>
          </a:ln>
        </p:spPr>
        <p:txBody>
          <a:bodyPr wrap="square" rtlCol="0" anchor="ctr"/>
          <a:lstStyle/>
          <a:p>
            <a:pPr marL="0" indent="0" algn="l">
              <a:buNone/>
            </a:pPr>
            <a:r>
              <a:rPr lang="en-US" sz="1800" b="1" dirty="0">
                <a:solidFill>
                  <a:srgbClr val="1A3A5C"/>
                </a:solidFill>
                <a:latin typeface="Calibri" pitchFamily="34" charset="0"/>
              </a:rPr>
              <a:t>20</a:t>
            </a:r>
          </a:p>
        </p:txBody>
      </p:sp>
      <p:sp>
        <p:nvSpPr>
          <p:cNvPr id="7" name="sbox_lbl_1"/>
          <p:cNvSpPr/>
          <p:nvPr/>
        </p:nvSpPr>
        <p:spPr>
          <a:xfrm>
            <a:off x="274320" y="1261872"/>
            <a:ext cx="2011680" cy="256032"/>
          </a:xfrm>
          <a:prstGeom prst="rect">
            <a:avLst/>
          </a:prstGeom>
          <a:noFill/>
          <a:ln>
            <a:noFill/>
          </a:ln>
        </p:spPr>
        <p:txBody>
          <a:bodyPr wrap="square" rtlCol="0" anchor="t"/>
          <a:lstStyle/>
          <a:p>
            <a:pPr marL="0" indent="0" algn="l">
              <a:buNone/>
            </a:pPr>
            <a:r>
              <a:rPr lang="en-US" sz="800" dirty="0">
                <a:solidFill>
                  <a:srgbClr val="4A5568"/>
                </a:solidFill>
                <a:latin typeface="Calibri" pitchFamily="34" charset="0"/>
              </a:rPr>
              <a:t>Employers</a:t>
            </a:r>
          </a:p>
        </p:txBody>
      </p:sp>
      <p:sp>
        <p:nvSpPr>
          <p:cNvPr id="8" name="sbox_bg_2"/>
          <p:cNvSpPr>
            <a:spLocks noGrp="1"/>
          </p:cNvSpPr>
          <p:nvPr/>
        </p:nvSpPr>
        <p:spPr>
          <a:xfrm>
            <a:off x="2450592" y="749808"/>
            <a:ext cx="2011680" cy="822960"/>
          </a:xfrm>
          <a:prstGeom prst="rect">
            <a:avLst/>
          </a:prstGeom>
          <a:solidFill>
            <a:srgbClr val="F7F9FC"/>
          </a:solidFill>
          <a:ln w="12700">
            <a:solidFill>
              <a:srgbClr val="E2E8F0"/>
            </a:solidFill>
            <a:prstDash val="solid"/>
          </a:ln>
        </p:spPr>
        <p:txBody>
          <a:bodyPr/>
          <a:lstStyle/>
          <a:p>
            <a:endParaRPr/>
          </a:p>
        </p:txBody>
      </p:sp>
      <p:sp>
        <p:nvSpPr>
          <p:cNvPr id="9" name="sbox_val_2"/>
          <p:cNvSpPr/>
          <p:nvPr/>
        </p:nvSpPr>
        <p:spPr>
          <a:xfrm>
            <a:off x="2450592" y="777240"/>
            <a:ext cx="2011680" cy="457200"/>
          </a:xfrm>
          <a:prstGeom prst="rect">
            <a:avLst/>
          </a:prstGeom>
          <a:noFill/>
          <a:ln>
            <a:noFill/>
          </a:ln>
        </p:spPr>
        <p:txBody>
          <a:bodyPr wrap="square" rtlCol="0" anchor="ctr"/>
          <a:lstStyle/>
          <a:p>
            <a:pPr marL="0" indent="0" algn="l">
              <a:buNone/>
            </a:pPr>
            <a:r>
              <a:rPr lang="en-US" sz="1800" b="1" dirty="0">
                <a:solidFill>
                  <a:srgbClr val="1A3A5C"/>
                </a:solidFill>
                <a:latin typeface="Calibri" pitchFamily="34" charset="0"/>
              </a:rPr>
              <a:t>41,543</a:t>
            </a:r>
          </a:p>
        </p:txBody>
      </p:sp>
      <p:sp>
        <p:nvSpPr>
          <p:cNvPr id="10" name="sbox_lbl_2"/>
          <p:cNvSpPr/>
          <p:nvPr/>
        </p:nvSpPr>
        <p:spPr>
          <a:xfrm>
            <a:off x="2450592" y="1261872"/>
            <a:ext cx="2011680" cy="256032"/>
          </a:xfrm>
          <a:prstGeom prst="rect">
            <a:avLst/>
          </a:prstGeom>
          <a:noFill/>
          <a:ln>
            <a:noFill/>
          </a:ln>
        </p:spPr>
        <p:txBody>
          <a:bodyPr wrap="square" rtlCol="0" anchor="t"/>
          <a:lstStyle/>
          <a:p>
            <a:pPr marL="0" indent="0" algn="l">
              <a:buNone/>
            </a:pPr>
            <a:r>
              <a:rPr lang="en-US" sz="800" dirty="0">
                <a:solidFill>
                  <a:srgbClr val="4A5568"/>
                </a:solidFill>
                <a:latin typeface="Calibri" pitchFamily="34" charset="0"/>
              </a:rPr>
              <a:t>Covered Employees</a:t>
            </a:r>
          </a:p>
        </p:txBody>
      </p:sp>
      <p:sp>
        <p:nvSpPr>
          <p:cNvPr id="11" name="sbox_bg_3"/>
          <p:cNvSpPr>
            <a:spLocks noGrp="1"/>
          </p:cNvSpPr>
          <p:nvPr/>
        </p:nvSpPr>
        <p:spPr>
          <a:xfrm>
            <a:off x="4626864" y="749808"/>
            <a:ext cx="2011680" cy="822960"/>
          </a:xfrm>
          <a:prstGeom prst="rect">
            <a:avLst/>
          </a:prstGeom>
          <a:solidFill>
            <a:srgbClr val="F7F9FC"/>
          </a:solidFill>
          <a:ln w="12700">
            <a:solidFill>
              <a:srgbClr val="E2E8F0"/>
            </a:solidFill>
            <a:prstDash val="solid"/>
          </a:ln>
        </p:spPr>
        <p:txBody>
          <a:bodyPr/>
          <a:lstStyle/>
          <a:p>
            <a:endParaRPr/>
          </a:p>
        </p:txBody>
      </p:sp>
      <p:sp>
        <p:nvSpPr>
          <p:cNvPr id="12" name="sbox_val_3"/>
          <p:cNvSpPr/>
          <p:nvPr/>
        </p:nvSpPr>
        <p:spPr>
          <a:xfrm>
            <a:off x="4626864" y="777240"/>
            <a:ext cx="2011680" cy="457200"/>
          </a:xfrm>
          <a:prstGeom prst="rect">
            <a:avLst/>
          </a:prstGeom>
          <a:noFill/>
          <a:ln>
            <a:noFill/>
          </a:ln>
        </p:spPr>
        <p:txBody>
          <a:bodyPr wrap="square" rtlCol="0" anchor="ctr"/>
          <a:lstStyle/>
          <a:p>
            <a:pPr marL="0" indent="0" algn="l">
              <a:buNone/>
            </a:pPr>
            <a:r>
              <a:rPr lang="en-US" sz="1800" b="1" dirty="0">
                <a:solidFill>
                  <a:srgbClr val="1A3A5C"/>
                </a:solidFill>
                <a:latin typeface="Calibri" pitchFamily="34" charset="0"/>
              </a:rPr>
              <a:t>10.8%</a:t>
            </a:r>
          </a:p>
        </p:txBody>
      </p:sp>
      <p:sp>
        <p:nvSpPr>
          <p:cNvPr id="13" name="sbox_lbl_3"/>
          <p:cNvSpPr/>
          <p:nvPr/>
        </p:nvSpPr>
        <p:spPr>
          <a:xfrm>
            <a:off x="4626864" y="1261872"/>
            <a:ext cx="2011680" cy="256032"/>
          </a:xfrm>
          <a:prstGeom prst="rect">
            <a:avLst/>
          </a:prstGeom>
          <a:noFill/>
          <a:ln>
            <a:noFill/>
          </a:ln>
        </p:spPr>
        <p:txBody>
          <a:bodyPr wrap="square" rtlCol="0" anchor="t"/>
          <a:lstStyle/>
          <a:p>
            <a:pPr marL="0" indent="0" algn="l">
              <a:buNone/>
            </a:pPr>
            <a:r>
              <a:rPr lang="en-US" sz="800" dirty="0">
                <a:solidFill>
                  <a:srgbClr val="4A5568"/>
                </a:solidFill>
                <a:latin typeface="Calibri" pitchFamily="34" charset="0"/>
              </a:rPr>
              <a:t>EE Market Share</a:t>
            </a:r>
          </a:p>
        </p:txBody>
      </p:sp>
      <p:sp>
        <p:nvSpPr>
          <p:cNvPr id="14" name="sbox_bg_4"/>
          <p:cNvSpPr>
            <a:spLocks noGrp="1"/>
          </p:cNvSpPr>
          <p:nvPr/>
        </p:nvSpPr>
        <p:spPr>
          <a:xfrm>
            <a:off x="6803136" y="749808"/>
            <a:ext cx="2011680" cy="822960"/>
          </a:xfrm>
          <a:prstGeom prst="rect">
            <a:avLst/>
          </a:prstGeom>
          <a:solidFill>
            <a:srgbClr val="F7F9FC"/>
          </a:solidFill>
          <a:ln w="12700">
            <a:solidFill>
              <a:srgbClr val="E2E8F0"/>
            </a:solidFill>
            <a:prstDash val="solid"/>
          </a:ln>
        </p:spPr>
        <p:txBody>
          <a:bodyPr/>
          <a:lstStyle/>
          <a:p>
            <a:endParaRPr/>
          </a:p>
        </p:txBody>
      </p:sp>
      <p:sp>
        <p:nvSpPr>
          <p:cNvPr id="15" name="sbox_val_4"/>
          <p:cNvSpPr/>
          <p:nvPr/>
        </p:nvSpPr>
        <p:spPr>
          <a:xfrm>
            <a:off x="6803136" y="777240"/>
            <a:ext cx="2011680" cy="457200"/>
          </a:xfrm>
          <a:prstGeom prst="rect">
            <a:avLst/>
          </a:prstGeom>
          <a:noFill/>
          <a:ln>
            <a:noFill/>
          </a:ln>
        </p:spPr>
        <p:txBody>
          <a:bodyPr wrap="square" rtlCol="0" anchor="ctr"/>
          <a:lstStyle/>
          <a:p>
            <a:pPr marL="0" indent="0" algn="l">
              <a:buNone/>
            </a:pPr>
            <a:r>
              <a:rPr lang="en-US" sz="1800" b="1" dirty="0">
                <a:solidFill>
                  <a:srgbClr val="1A3A5C"/>
                </a:solidFill>
                <a:latin typeface="Calibri" pitchFamily="34" charset="0"/>
              </a:rPr>
              <a:t>#2 of 111</a:t>
            </a:r>
          </a:p>
        </p:txBody>
      </p:sp>
      <p:sp>
        <p:nvSpPr>
          <p:cNvPr id="16" name="sbox_lbl_4"/>
          <p:cNvSpPr/>
          <p:nvPr/>
        </p:nvSpPr>
        <p:spPr>
          <a:xfrm>
            <a:off x="6803136" y="1261872"/>
            <a:ext cx="2011680" cy="256032"/>
          </a:xfrm>
          <a:prstGeom prst="rect">
            <a:avLst/>
          </a:prstGeom>
          <a:noFill/>
          <a:ln>
            <a:noFill/>
          </a:ln>
        </p:spPr>
        <p:txBody>
          <a:bodyPr wrap="square" rtlCol="0" anchor="t"/>
          <a:lstStyle/>
          <a:p>
            <a:pPr marL="0" indent="0" algn="l">
              <a:buNone/>
            </a:pPr>
            <a:r>
              <a:rPr lang="en-US" sz="800" dirty="0">
                <a:solidFill>
                  <a:srgbClr val="4A5568"/>
                </a:solidFill>
                <a:latin typeface="Calibri" pitchFamily="34" charset="0"/>
              </a:rPr>
              <a:t>Rank</a:t>
            </a:r>
          </a:p>
        </p:txBody>
      </p:sp>
      <p:sp>
        <p:nvSpPr>
          <p:cNvPr id="17" name="ftr_bar"/>
          <p:cNvSpPr>
            <a:spLocks noGrp="1"/>
          </p:cNvSpPr>
          <p:nvPr/>
        </p:nvSpPr>
        <p:spPr>
          <a:xfrm>
            <a:off x="0" y="4846320"/>
            <a:ext cx="9144000" cy="297180"/>
          </a:xfrm>
          <a:prstGeom prst="rect">
            <a:avLst/>
          </a:prstGeom>
          <a:solidFill>
            <a:srgbClr val="1A3A5C"/>
          </a:solidFill>
          <a:ln>
            <a:noFill/>
          </a:ln>
        </p:spPr>
        <p:txBody>
          <a:bodyPr/>
          <a:lstStyle/>
          <a:p>
            <a:endParaRPr/>
          </a:p>
        </p:txBody>
      </p:sp>
      <p:sp>
        <p:nvSpPr>
          <p:cNvPr id="18" name="ftr_txt"/>
          <p:cNvSpPr/>
          <p:nvPr/>
        </p:nvSpPr>
        <p:spPr>
          <a:xfrm>
            <a:off x="365760" y="4864608"/>
            <a:ext cx="6400800" cy="256032"/>
          </a:xfrm>
          <a:prstGeom prst="rect">
            <a:avLst/>
          </a:prstGeom>
          <a:noFill/>
          <a:ln>
            <a:noFill/>
          </a:ln>
        </p:spPr>
        <p:txBody>
          <a:bodyPr wrap="square" rtlCol="0" anchor="ctr"/>
          <a:lstStyle/>
          <a:p>
            <a:pPr marL="0" indent="0" algn="l">
              <a:buNone/>
            </a:pPr>
            <a:r>
              <a:rPr lang="en-US" sz="900" dirty="0">
                <a:solidFill>
                  <a:srgbClr val="E2E8F0"/>
                </a:solidFill>
                <a:latin typeface="Calibri" pitchFamily="34" charset="0"/>
              </a:rPr>
              <a:t>5500 Filings Data | All Groups With Identified Benefits Broker</a:t>
            </a:r>
          </a:p>
        </p:txBody>
      </p:sp>
      <p:sp>
        <p:nvSpPr>
          <p:cNvPr id="19" name="ftr_conf"/>
          <p:cNvSpPr/>
          <p:nvPr/>
        </p:nvSpPr>
        <p:spPr>
          <a:xfrm>
            <a:off x="6858000" y="4864608"/>
            <a:ext cx="2011680" cy="256032"/>
          </a:xfrm>
          <a:prstGeom prst="rect">
            <a:avLst/>
          </a:prstGeom>
          <a:noFill/>
          <a:ln>
            <a:noFill/>
          </a:ln>
        </p:spPr>
        <p:txBody>
          <a:bodyPr wrap="square" rtlCol="0" anchor="ctr"/>
          <a:lstStyle/>
          <a:p>
            <a:pPr marL="0" indent="0" algn="r">
              <a:buNone/>
            </a:pPr>
            <a:r>
              <a:rPr lang="en-US" sz="900" dirty="0">
                <a:solidFill>
                  <a:srgbClr val="E2E8F0"/>
                </a:solidFill>
                <a:latin typeface="Calibri" pitchFamily="34" charset="0"/>
              </a:rPr>
              <a:t>Confidential - Internal Use Only</a:t>
            </a:r>
          </a:p>
        </p:txBody>
      </p:sp>
      <p:graphicFrame>
        <p:nvGraphicFramePr>
          <p:cNvPr id="20" name="Table 19"/>
          <p:cNvGraphicFramePr>
            <a:graphicFrameLocks noGrp="1"/>
          </p:cNvGraphicFramePr>
          <p:nvPr>
            <p:extLst>
              <p:ext uri="{D42A27DB-BD31-4B8C-83A1-F6EECF244321}">
                <p14:modId xmlns:p14="http://schemas.microsoft.com/office/powerpoint/2010/main" val="1020195248"/>
              </p:ext>
            </p:extLst>
          </p:nvPr>
        </p:nvGraphicFramePr>
        <p:xfrm>
          <a:off x="258321" y="1571637"/>
          <a:ext cx="7315200" cy="3185160"/>
        </p:xfrm>
        <a:graphic>
          <a:graphicData uri="http://schemas.openxmlformats.org/drawingml/2006/table">
            <a:tbl>
              <a:tblPr/>
              <a:tblGrid>
                <a:gridCol w="292608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822960">
                  <a:extLst>
                    <a:ext uri="{9D8B030D-6E8A-4147-A177-3AD203B41FA5}">
                      <a16:colId xmlns:a16="http://schemas.microsoft.com/office/drawing/2014/main" val="20004"/>
                    </a:ext>
                  </a:extLst>
                </a:gridCol>
              </a:tblGrid>
              <a:tr h="139446">
                <a:tc>
                  <a:txBody>
                    <a:bodyPr/>
                    <a:lstStyle/>
                    <a:p>
                      <a:pPr marL="38100" marR="38100" algn="l">
                        <a:lnSpc>
                          <a:spcPct val="100000"/>
                        </a:lnSpc>
                        <a:spcBef>
                          <a:spcPts val="300"/>
                        </a:spcBef>
                        <a:spcAft>
                          <a:spcPts val="300"/>
                        </a:spcAft>
                        <a:buNone/>
                      </a:pPr>
                      <a:r>
                        <a:rPr sz="900" b="1" i="0" u="none" strike="noStrike" cap="none">
                          <a:solidFill>
                            <a:srgbClr val="FFFFFF">
                              <a:alpha val="100000"/>
                            </a:srgbClr>
                          </a:solidFill>
                          <a:latin typeface="Calibri"/>
                          <a:cs typeface="Calibri"/>
                          <a:sym typeface="Calibri"/>
                        </a:rPr>
                        <a:t>Employer</a:t>
                      </a:r>
                    </a:p>
                  </a:txBody>
                  <a:tcPr marL="0" marR="0" marT="38100" marB="38100" anchor="ctr">
                    <a:lnL w="6350"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alpha val="100000"/>
                        </a:srgbClr>
                      </a:solidFill>
                      <a:prstDash val="solid"/>
                    </a:lnT>
                    <a:lnB w="6350" cap="flat" cmpd="sng" algn="ctr">
                      <a:solidFill>
                        <a:srgbClr val="E2E8F0">
                          <a:alpha val="100000"/>
                        </a:srgbClr>
                      </a:solidFill>
                      <a:prstDash val="solid"/>
                    </a:lnB>
                    <a:solidFill>
                      <a:srgbClr val="1A3A5C">
                        <a:alpha val="100000"/>
                      </a:srgbClr>
                    </a:solidFill>
                  </a:tcPr>
                </a:tc>
                <a:tc>
                  <a:txBody>
                    <a:bodyPr/>
                    <a:lstStyle/>
                    <a:p>
                      <a:pPr marL="38100" marR="38100" algn="l">
                        <a:lnSpc>
                          <a:spcPct val="100000"/>
                        </a:lnSpc>
                        <a:spcBef>
                          <a:spcPts val="300"/>
                        </a:spcBef>
                        <a:spcAft>
                          <a:spcPts val="300"/>
                        </a:spcAft>
                        <a:buNone/>
                      </a:pPr>
                      <a:r>
                        <a:rPr sz="900" b="1" i="0" u="none" strike="noStrike" cap="none">
                          <a:solidFill>
                            <a:srgbClr val="FFFFFF">
                              <a:alpha val="100000"/>
                            </a:srgbClr>
                          </a:solidFill>
                          <a:latin typeface="Calibri"/>
                          <a:cs typeface="Calibri"/>
                          <a:sym typeface="Calibri"/>
                        </a:rPr>
                        <a:t>City</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alpha val="100000"/>
                        </a:srgbClr>
                      </a:solidFill>
                      <a:prstDash val="solid"/>
                    </a:lnT>
                    <a:lnB w="6350" cap="flat" cmpd="sng" algn="ctr">
                      <a:solidFill>
                        <a:srgbClr val="E2E8F0">
                          <a:alpha val="100000"/>
                        </a:srgbClr>
                      </a:solidFill>
                      <a:prstDash val="solid"/>
                    </a:lnB>
                    <a:solidFill>
                      <a:srgbClr val="1A3A5C">
                        <a:alpha val="100000"/>
                      </a:srgbClr>
                    </a:solidFill>
                  </a:tcPr>
                </a:tc>
                <a:tc>
                  <a:txBody>
                    <a:bodyPr/>
                    <a:lstStyle/>
                    <a:p>
                      <a:pPr marL="38100" marR="38100" algn="l">
                        <a:lnSpc>
                          <a:spcPct val="100000"/>
                        </a:lnSpc>
                        <a:spcBef>
                          <a:spcPts val="300"/>
                        </a:spcBef>
                        <a:spcAft>
                          <a:spcPts val="300"/>
                        </a:spcAft>
                        <a:buNone/>
                      </a:pPr>
                      <a:r>
                        <a:rPr sz="900" b="1" i="0" u="none" strike="noStrike" cap="none">
                          <a:solidFill>
                            <a:srgbClr val="FFFFFF">
                              <a:alpha val="100000"/>
                            </a:srgbClr>
                          </a:solidFill>
                          <a:latin typeface="Calibri"/>
                          <a:cs typeface="Calibri"/>
                          <a:sym typeface="Calibri"/>
                        </a:rPr>
                        <a:t>Revenue Range</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alpha val="100000"/>
                        </a:srgbClr>
                      </a:solidFill>
                      <a:prstDash val="solid"/>
                    </a:lnT>
                    <a:lnB w="6350" cap="flat" cmpd="sng" algn="ctr">
                      <a:solidFill>
                        <a:srgbClr val="E2E8F0">
                          <a:alpha val="100000"/>
                        </a:srgbClr>
                      </a:solidFill>
                      <a:prstDash val="solid"/>
                    </a:lnB>
                    <a:solidFill>
                      <a:srgbClr val="1A3A5C">
                        <a:alpha val="100000"/>
                      </a:srgbClr>
                    </a:solidFill>
                  </a:tcPr>
                </a:tc>
                <a:tc>
                  <a:txBody>
                    <a:bodyPr/>
                    <a:lstStyle/>
                    <a:p>
                      <a:pPr marL="38100" marR="38100" algn="ctr">
                        <a:lnSpc>
                          <a:spcPct val="100000"/>
                        </a:lnSpc>
                        <a:spcBef>
                          <a:spcPts val="300"/>
                        </a:spcBef>
                        <a:spcAft>
                          <a:spcPts val="300"/>
                        </a:spcAft>
                        <a:buNone/>
                      </a:pPr>
                      <a:r>
                        <a:rPr sz="900" b="1" i="0" u="none" strike="noStrike" cap="none">
                          <a:solidFill>
                            <a:srgbClr val="FFFFFF">
                              <a:alpha val="100000"/>
                            </a:srgbClr>
                          </a:solidFill>
                          <a:latin typeface="Calibri"/>
                          <a:cs typeface="Calibri"/>
                          <a:sym typeface="Calibri"/>
                        </a:rPr>
                        <a:t>Covered EEs</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alpha val="100000"/>
                        </a:srgbClr>
                      </a:solidFill>
                      <a:prstDash val="solid"/>
                    </a:lnT>
                    <a:lnB w="6350" cap="flat" cmpd="sng" algn="ctr">
                      <a:solidFill>
                        <a:srgbClr val="E2E8F0">
                          <a:alpha val="100000"/>
                        </a:srgbClr>
                      </a:solidFill>
                      <a:prstDash val="solid"/>
                    </a:lnB>
                    <a:solidFill>
                      <a:srgbClr val="1A3A5C">
                        <a:alpha val="100000"/>
                      </a:srgbClr>
                    </a:solidFill>
                  </a:tcPr>
                </a:tc>
                <a:tc>
                  <a:txBody>
                    <a:bodyPr/>
                    <a:lstStyle/>
                    <a:p>
                      <a:pPr marL="38100" marR="38100" algn="ctr">
                        <a:lnSpc>
                          <a:spcPct val="100000"/>
                        </a:lnSpc>
                        <a:spcBef>
                          <a:spcPts val="300"/>
                        </a:spcBef>
                        <a:spcAft>
                          <a:spcPts val="300"/>
                        </a:spcAft>
                        <a:buNone/>
                      </a:pPr>
                      <a:r>
                        <a:rPr sz="900" b="1" i="0" u="none" strike="noStrike" cap="none">
                          <a:solidFill>
                            <a:srgbClr val="FFFFFF">
                              <a:alpha val="100000"/>
                            </a:srgbClr>
                          </a:solidFill>
                          <a:latin typeface="Calibri"/>
                          <a:cs typeface="Calibri"/>
                          <a:sym typeface="Calibri"/>
                        </a:rPr>
                        <a:t>% of Book</a:t>
                      </a:r>
                    </a:p>
                  </a:txBody>
                  <a:tcPr marL="0" marR="0" marT="38100" marB="38100" anchor="ctr">
                    <a:lnL w="3175" cap="flat" cmpd="sng" algn="ctr">
                      <a:solidFill>
                        <a:srgbClr val="E2E8F0">
                          <a:alpha val="100000"/>
                        </a:srgbClr>
                      </a:solidFill>
                      <a:prstDash val="solid"/>
                    </a:lnL>
                    <a:lnR w="6350" cap="flat" cmpd="sng" algn="ctr">
                      <a:solidFill>
                        <a:srgbClr val="E2E8F0">
                          <a:alpha val="100000"/>
                        </a:srgbClr>
                      </a:solidFill>
                      <a:prstDash val="solid"/>
                    </a:lnR>
                    <a:lnT w="6350" cap="flat" cmpd="sng" algn="ctr">
                      <a:solidFill>
                        <a:srgbClr val="E2E8F0">
                          <a:alpha val="100000"/>
                        </a:srgbClr>
                      </a:solidFill>
                      <a:prstDash val="solid"/>
                    </a:lnT>
                    <a:lnB w="6350" cap="flat" cmpd="sng" algn="ctr">
                      <a:solidFill>
                        <a:srgbClr val="E2E8F0">
                          <a:alpha val="100000"/>
                        </a:srgbClr>
                      </a:solidFill>
                      <a:prstDash val="solid"/>
                    </a:lnB>
                    <a:solidFill>
                      <a:srgbClr val="1A3A5C">
                        <a:alpha val="100000"/>
                      </a:srgbClr>
                    </a:solidFill>
                  </a:tcPr>
                </a:tc>
                <a:extLst>
                  <a:ext uri="{0D108BD9-81ED-4DB2-BD59-A6C34878D82A}">
                    <a16:rowId xmlns:a16="http://schemas.microsoft.com/office/drawing/2014/main" val="10000"/>
                  </a:ext>
                </a:extLst>
              </a:tr>
              <a:tr h="139446">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DARDEN RESTAURANTS INC</a:t>
                      </a:r>
                    </a:p>
                  </a:txBody>
                  <a:tcPr marL="0" marR="0" marT="38100" marB="38100" anchor="ctr">
                    <a:lnL w="6350"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solidFill>
                      <a:prstDash val="solid"/>
                      <a:round/>
                      <a:headEnd type="none" w="med" len="med"/>
                      <a:tailEnd type="none" w="med" len="med"/>
                    </a:lnT>
                    <a:lnB w="3175" cap="flat" cmpd="sng" algn="ctr">
                      <a:solidFill>
                        <a:srgbClr val="E2E8F0">
                          <a:alpha val="100000"/>
                        </a:srgbClr>
                      </a:solidFill>
                      <a:prstDash val="solid"/>
                    </a:lnB>
                    <a:solidFill>
                      <a:srgbClr val="FFFFFF">
                        <a:alpha val="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ORLANDO</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solidFill>
                      <a:prstDash val="solid"/>
                      <a:round/>
                      <a:headEnd type="none" w="med" len="med"/>
                      <a:tailEnd type="none" w="med" len="med"/>
                    </a:lnT>
                    <a:lnB w="3175" cap="flat" cmpd="sng" algn="ctr">
                      <a:solidFill>
                        <a:srgbClr val="E2E8F0">
                          <a:alpha val="100000"/>
                        </a:srgbClr>
                      </a:solidFill>
                      <a:prstDash val="solid"/>
                    </a:lnB>
                    <a:solidFill>
                      <a:srgbClr val="FFFFFF">
                        <a:alpha val="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&gt; 1B</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solidFill>
                      <a:prstDash val="solid"/>
                      <a:round/>
                      <a:headEnd type="none" w="med" len="med"/>
                      <a:tailEnd type="none" w="med" len="med"/>
                    </a:lnT>
                    <a:lnB w="3175" cap="flat" cmpd="sng" algn="ctr">
                      <a:solidFill>
                        <a:srgbClr val="E2E8F0">
                          <a:alpha val="100000"/>
                        </a:srgbClr>
                      </a:solidFill>
                      <a:prstDash val="solid"/>
                    </a:lnB>
                    <a:solidFill>
                      <a:srgbClr val="FFFFFF">
                        <a:alpha val="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22,905</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solidFill>
                      <a:prstDash val="solid"/>
                      <a:round/>
                      <a:headEnd type="none" w="med" len="med"/>
                      <a:tailEnd type="none" w="med" len="med"/>
                    </a:lnT>
                    <a:lnB w="3175" cap="flat" cmpd="sng" algn="ctr">
                      <a:solidFill>
                        <a:srgbClr val="E2E8F0">
                          <a:alpha val="100000"/>
                        </a:srgbClr>
                      </a:solidFill>
                      <a:prstDash val="solid"/>
                    </a:lnB>
                    <a:solidFill>
                      <a:srgbClr val="FFFFFF">
                        <a:alpha val="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55.1%</a:t>
                      </a:r>
                    </a:p>
                  </a:txBody>
                  <a:tcPr marL="0" marR="0" marT="38100" marB="38100" anchor="ctr">
                    <a:lnL w="3175" cap="flat" cmpd="sng" algn="ctr">
                      <a:solidFill>
                        <a:srgbClr val="E2E8F0">
                          <a:alpha val="100000"/>
                        </a:srgbClr>
                      </a:solidFill>
                      <a:prstDash val="solid"/>
                    </a:lnL>
                    <a:lnR w="6350" cap="flat" cmpd="sng" algn="ctr">
                      <a:solidFill>
                        <a:srgbClr val="E2E8F0">
                          <a:alpha val="100000"/>
                        </a:srgbClr>
                      </a:solidFill>
                      <a:prstDash val="solid"/>
                    </a:lnR>
                    <a:lnT w="6350" cap="flat" cmpd="sng" algn="ctr">
                      <a:solidFill>
                        <a:srgbClr val="E2E8F0"/>
                      </a:solidFill>
                      <a:prstDash val="solid"/>
                      <a:round/>
                      <a:headEnd type="none" w="med" len="med"/>
                      <a:tailEnd type="none" w="med" len="med"/>
                    </a:lnT>
                    <a:lnB w="3175"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01"/>
                  </a:ext>
                </a:extLst>
              </a:tr>
              <a:tr h="139446">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SIEMENS ENERGY</a:t>
                      </a:r>
                    </a:p>
                  </a:txBody>
                  <a:tcPr marL="0" marR="0" marT="38100" marB="381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ORLANDO</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&gt; 1B</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10,072</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24.2%</a:t>
                      </a:r>
                    </a:p>
                  </a:txBody>
                  <a:tcPr marL="0" marR="0" marT="38100" marB="381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extLst>
                  <a:ext uri="{0D108BD9-81ED-4DB2-BD59-A6C34878D82A}">
                    <a16:rowId xmlns:a16="http://schemas.microsoft.com/office/drawing/2014/main" val="10002"/>
                  </a:ext>
                </a:extLst>
              </a:tr>
              <a:tr h="139446">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HORNBLOWER GROUP INC</a:t>
                      </a:r>
                    </a:p>
                  </a:txBody>
                  <a:tcPr marL="0" marR="0" marT="38100" marB="381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ORLANDO</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&gt; 1B</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2,596</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6.2%</a:t>
                      </a:r>
                    </a:p>
                  </a:txBody>
                  <a:tcPr marL="0" marR="0" marT="38100" marB="381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03"/>
                  </a:ext>
                </a:extLst>
              </a:tr>
              <a:tr h="139446">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MORGAN &amp; MORGAN PA</a:t>
                      </a:r>
                    </a:p>
                  </a:txBody>
                  <a:tcPr marL="0" marR="0" marT="38100" marB="381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ORLANDO</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200M - 1B</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1,830</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4.4%</a:t>
                      </a:r>
                    </a:p>
                  </a:txBody>
                  <a:tcPr marL="0" marR="0" marT="38100" marB="381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extLst>
                  <a:ext uri="{0D108BD9-81ED-4DB2-BD59-A6C34878D82A}">
                    <a16:rowId xmlns:a16="http://schemas.microsoft.com/office/drawing/2014/main" val="10004"/>
                  </a:ext>
                </a:extLst>
              </a:tr>
              <a:tr h="139446">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DRMP INC</a:t>
                      </a:r>
                    </a:p>
                  </a:txBody>
                  <a:tcPr marL="0" marR="0" marT="38100" marB="381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ORLANDO</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l">
                        <a:lnSpc>
                          <a:spcPct val="100000"/>
                        </a:lnSpc>
                        <a:spcBef>
                          <a:spcPts val="300"/>
                        </a:spcBef>
                        <a:spcAft>
                          <a:spcPts val="300"/>
                        </a:spcAft>
                        <a:buNone/>
                      </a:pPr>
                      <a:r>
                        <a:rPr sz="800" b="0" i="0" u="none" strike="noStrike" cap="none" dirty="0">
                          <a:solidFill>
                            <a:srgbClr val="000000">
                              <a:alpha val="100000"/>
                            </a:srgbClr>
                          </a:solidFill>
                          <a:latin typeface="Calibri"/>
                          <a:cs typeface="Calibri"/>
                          <a:sym typeface="Calibri"/>
                        </a:rPr>
                        <a:t>100M - 200M</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1,128</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2.7%</a:t>
                      </a:r>
                    </a:p>
                  </a:txBody>
                  <a:tcPr marL="0" marR="0" marT="38100" marB="381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05"/>
                  </a:ext>
                </a:extLst>
              </a:tr>
              <a:tr h="139446">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TEMPUR SHERWOOD LLC</a:t>
                      </a:r>
                    </a:p>
                  </a:txBody>
                  <a:tcPr marL="0" marR="0" marT="38100" marB="381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ORLANDO</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10M - 50M</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557</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1.3%</a:t>
                      </a:r>
                    </a:p>
                  </a:txBody>
                  <a:tcPr marL="0" marR="0" marT="38100" marB="381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extLst>
                  <a:ext uri="{0D108BD9-81ED-4DB2-BD59-A6C34878D82A}">
                    <a16:rowId xmlns:a16="http://schemas.microsoft.com/office/drawing/2014/main" val="10006"/>
                  </a:ext>
                </a:extLst>
              </a:tr>
              <a:tr h="139446">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ACCESSO LLC</a:t>
                      </a:r>
                    </a:p>
                  </a:txBody>
                  <a:tcPr marL="0" marR="0" marT="38100" marB="381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LAKE MARY</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100M - 200M</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358</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0.9%</a:t>
                      </a:r>
                    </a:p>
                  </a:txBody>
                  <a:tcPr marL="0" marR="0" marT="38100" marB="381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07"/>
                  </a:ext>
                </a:extLst>
              </a:tr>
              <a:tr h="139446">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AMTIS INC</a:t>
                      </a:r>
                    </a:p>
                  </a:txBody>
                  <a:tcPr marL="0" marR="0" marT="38100" marB="381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MAITLAND</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10M - 50M</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304</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0.7%</a:t>
                      </a:r>
                    </a:p>
                  </a:txBody>
                  <a:tcPr marL="0" marR="0" marT="38100" marB="381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extLst>
                  <a:ext uri="{0D108BD9-81ED-4DB2-BD59-A6C34878D82A}">
                    <a16:rowId xmlns:a16="http://schemas.microsoft.com/office/drawing/2014/main" val="10008"/>
                  </a:ext>
                </a:extLst>
              </a:tr>
              <a:tr h="139446">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HUDSONS FURNITURE SHOWROOM INC</a:t>
                      </a:r>
                    </a:p>
                  </a:txBody>
                  <a:tcPr marL="0" marR="0" marT="38100" marB="381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SANFORD</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50M - 100M</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221</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0.5%</a:t>
                      </a:r>
                    </a:p>
                  </a:txBody>
                  <a:tcPr marL="0" marR="0" marT="38100" marB="381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09"/>
                  </a:ext>
                </a:extLst>
              </a:tr>
              <a:tr h="139446">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MCCOY FEDERAL CREDIT UNION</a:t>
                      </a:r>
                    </a:p>
                  </a:txBody>
                  <a:tcPr marL="0" marR="0" marT="38100" marB="381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ORLANDO</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50M - 100M</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193</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0.5%</a:t>
                      </a:r>
                    </a:p>
                  </a:txBody>
                  <a:tcPr marL="0" marR="0" marT="38100" marB="381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extLst>
                  <a:ext uri="{0D108BD9-81ED-4DB2-BD59-A6C34878D82A}">
                    <a16:rowId xmlns:a16="http://schemas.microsoft.com/office/drawing/2014/main" val="10010"/>
                  </a:ext>
                </a:extLst>
              </a:tr>
              <a:tr h="139446">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OLDACH ASSOCIATES LLC</a:t>
                      </a:r>
                    </a:p>
                  </a:txBody>
                  <a:tcPr marL="0" marR="0" marT="38100" marB="381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ORLANDO</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10M - 50M</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173</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0.4%</a:t>
                      </a:r>
                    </a:p>
                  </a:txBody>
                  <a:tcPr marL="0" marR="0" marT="38100" marB="381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11"/>
                  </a:ext>
                </a:extLst>
              </a:tr>
              <a:tr h="139446">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FORTRESS INFORMATION SECURITY LLC</a:t>
                      </a:r>
                    </a:p>
                  </a:txBody>
                  <a:tcPr marL="0" marR="0" marT="38100" marB="381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ORLANDO</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1M - 10M</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165</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0.4%</a:t>
                      </a:r>
                    </a:p>
                  </a:txBody>
                  <a:tcPr marL="0" marR="0" marT="38100" marB="381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extLst>
                  <a:ext uri="{0D108BD9-81ED-4DB2-BD59-A6C34878D82A}">
                    <a16:rowId xmlns:a16="http://schemas.microsoft.com/office/drawing/2014/main" val="10012"/>
                  </a:ext>
                </a:extLst>
              </a:tr>
              <a:tr h="139446">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SPARTAN RACE INC</a:t>
                      </a:r>
                    </a:p>
                  </a:txBody>
                  <a:tcPr marL="0" marR="0" marT="38100" marB="381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ORLANDO</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10M - 50M</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164</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0.4%</a:t>
                      </a:r>
                    </a:p>
                  </a:txBody>
                  <a:tcPr marL="0" marR="0" marT="38100" marB="381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13"/>
                  </a:ext>
                </a:extLst>
              </a:tr>
              <a:tr h="139446">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DURA-STRESS INC</a:t>
                      </a:r>
                    </a:p>
                  </a:txBody>
                  <a:tcPr marL="0" marR="0" marT="38100" marB="381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LEESBURG</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10M - 50M</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158</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0.4%</a:t>
                      </a:r>
                    </a:p>
                  </a:txBody>
                  <a:tcPr marL="0" marR="0" marT="38100" marB="381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extLst>
                  <a:ext uri="{0D108BD9-81ED-4DB2-BD59-A6C34878D82A}">
                    <a16:rowId xmlns:a16="http://schemas.microsoft.com/office/drawing/2014/main" val="10014"/>
                  </a:ext>
                </a:extLst>
              </a:tr>
              <a:tr h="139446">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INSIGHT CREDIT UNION</a:t>
                      </a:r>
                    </a:p>
                  </a:txBody>
                  <a:tcPr marL="0" marR="0" marT="38100" marB="381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6350" cap="flat" cmpd="sng" algn="ctr">
                      <a:solidFill>
                        <a:srgbClr val="E2E8F0">
                          <a:alpha val="100000"/>
                        </a:srgbClr>
                      </a:solidFill>
                      <a:prstDash val="solid"/>
                    </a:lnB>
                    <a:solidFill>
                      <a:srgbClr val="FFFFFF">
                        <a:alpha val="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WINTER SPRINGS</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6350" cap="flat" cmpd="sng" algn="ctr">
                      <a:solidFill>
                        <a:srgbClr val="E2E8F0">
                          <a:alpha val="100000"/>
                        </a:srgbClr>
                      </a:solidFill>
                      <a:prstDash val="solid"/>
                    </a:lnB>
                    <a:solidFill>
                      <a:srgbClr val="FFFFFF">
                        <a:alpha val="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10M - 50M</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6350" cap="flat" cmpd="sng" algn="ctr">
                      <a:solidFill>
                        <a:srgbClr val="E2E8F0">
                          <a:alpha val="100000"/>
                        </a:srgbClr>
                      </a:solidFill>
                      <a:prstDash val="solid"/>
                    </a:lnB>
                    <a:solidFill>
                      <a:srgbClr val="FFFFFF">
                        <a:alpha val="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150</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6350" cap="flat" cmpd="sng" algn="ctr">
                      <a:solidFill>
                        <a:srgbClr val="E2E8F0">
                          <a:alpha val="100000"/>
                        </a:srgbClr>
                      </a:solidFill>
                      <a:prstDash val="solid"/>
                    </a:lnB>
                    <a:solidFill>
                      <a:srgbClr val="FFFFFF">
                        <a:alpha val="0"/>
                      </a:srgbClr>
                    </a:solidFill>
                  </a:tcPr>
                </a:tc>
                <a:tc>
                  <a:txBody>
                    <a:bodyPr/>
                    <a:lstStyle/>
                    <a:p>
                      <a:pPr marL="38100" marR="38100" algn="ctr">
                        <a:lnSpc>
                          <a:spcPct val="100000"/>
                        </a:lnSpc>
                        <a:spcBef>
                          <a:spcPts val="300"/>
                        </a:spcBef>
                        <a:spcAft>
                          <a:spcPts val="300"/>
                        </a:spcAft>
                        <a:buNone/>
                      </a:pPr>
                      <a:r>
                        <a:rPr sz="800" b="0" i="0" u="none" strike="noStrike" cap="none" dirty="0">
                          <a:solidFill>
                            <a:srgbClr val="000000">
                              <a:alpha val="100000"/>
                            </a:srgbClr>
                          </a:solidFill>
                          <a:latin typeface="Calibri"/>
                          <a:cs typeface="Calibri"/>
                          <a:sym typeface="Calibri"/>
                        </a:rPr>
                        <a:t>0.4%</a:t>
                      </a:r>
                    </a:p>
                  </a:txBody>
                  <a:tcPr marL="0" marR="0" marT="38100" marB="381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6350"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15"/>
                  </a:ext>
                </a:extLst>
              </a:tr>
            </a:tbl>
          </a:graphicData>
        </a:graphic>
      </p:graphicFrame>
      <p:sp>
        <p:nvSpPr>
          <p:cNvPr id="21" name="summary_line"/>
          <p:cNvSpPr/>
          <p:nvPr/>
        </p:nvSpPr>
        <p:spPr>
          <a:xfrm>
            <a:off x="274320" y="4677156"/>
            <a:ext cx="8595360" cy="228600"/>
          </a:xfrm>
          <a:prstGeom prst="rect">
            <a:avLst/>
          </a:prstGeom>
          <a:noFill/>
          <a:ln>
            <a:noFill/>
          </a:ln>
        </p:spPr>
        <p:txBody>
          <a:bodyPr wrap="square" rtlCol="0" anchor="ctr"/>
          <a:lstStyle/>
          <a:p>
            <a:pPr marL="0" indent="0" algn="l">
              <a:buNone/>
            </a:pPr>
            <a:r>
              <a:rPr lang="en-US" sz="750" dirty="0">
                <a:solidFill>
                  <a:srgbClr val="4A5568"/>
                </a:solidFill>
                <a:latin typeface="Calibri" pitchFamily="34" charset="0"/>
              </a:rPr>
              <a:t>AON  |  41,543 covered employees  |  10.8% market share  |  Top 15 of 20 employers shown</a:t>
            </a:r>
          </a:p>
        </p:txBody>
      </p:sp>
      <p:sp>
        <p:nvSpPr>
          <p:cNvPr id="22" name="Object 8">
            <a:extLst>
              <a:ext uri="{FF2B5EF4-FFF2-40B4-BE49-F238E27FC236}">
                <a16:creationId xmlns:a16="http://schemas.microsoft.com/office/drawing/2014/main" id="{FD5ABD7A-E623-F72C-4C16-EC5012182B6C}"/>
              </a:ext>
            </a:extLst>
          </p:cNvPr>
          <p:cNvSpPr/>
          <p:nvPr/>
        </p:nvSpPr>
        <p:spPr>
          <a:xfrm>
            <a:off x="7058962" y="73152"/>
            <a:ext cx="2005028" cy="476131"/>
          </a:xfrm>
          <a:prstGeom prst="rect">
            <a:avLst/>
          </a:pr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23" name="Object 9">
            <a:extLst>
              <a:ext uri="{FF2B5EF4-FFF2-40B4-BE49-F238E27FC236}">
                <a16:creationId xmlns:a16="http://schemas.microsoft.com/office/drawing/2014/main" id="{B56088D2-91F1-325D-7918-D0E474FD314D}"/>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7211324" y="168378"/>
            <a:ext cx="1700304" cy="28567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dr_bar"/>
          <p:cNvSpPr>
            <a:spLocks noGrp="1"/>
          </p:cNvSpPr>
          <p:nvPr/>
        </p:nvSpPr>
        <p:spPr>
          <a:xfrm>
            <a:off x="0" y="0"/>
            <a:ext cx="9144000" cy="640080"/>
          </a:xfrm>
          <a:prstGeom prst="rect">
            <a:avLst/>
          </a:prstGeom>
          <a:solidFill>
            <a:srgbClr val="1A3A5C"/>
          </a:solidFill>
          <a:ln>
            <a:noFill/>
          </a:ln>
        </p:spPr>
        <p:txBody>
          <a:bodyPr/>
          <a:lstStyle/>
          <a:p>
            <a:endParaRPr/>
          </a:p>
        </p:txBody>
      </p:sp>
      <p:sp>
        <p:nvSpPr>
          <p:cNvPr id="3" name="hdr_label"/>
          <p:cNvSpPr/>
          <p:nvPr/>
        </p:nvSpPr>
        <p:spPr>
          <a:xfrm>
            <a:off x="274320" y="73152"/>
            <a:ext cx="1463040" cy="493776"/>
          </a:xfrm>
          <a:prstGeom prst="rect">
            <a:avLst/>
          </a:prstGeom>
          <a:noFill/>
          <a:ln>
            <a:noFill/>
          </a:ln>
        </p:spPr>
        <p:txBody>
          <a:bodyPr wrap="square" rtlCol="0" anchor="ctr"/>
          <a:lstStyle/>
          <a:p>
            <a:pPr marL="0" indent="0" algn="l">
              <a:buNone/>
            </a:pPr>
            <a:r>
              <a:rPr lang="en-US" sz="1100" dirty="0">
                <a:solidFill>
                  <a:srgbClr val="93C5FD"/>
                </a:solidFill>
                <a:latin typeface="Calibri" pitchFamily="34" charset="0"/>
              </a:rPr>
              <a:t>Broker Detail</a:t>
            </a:r>
          </a:p>
        </p:txBody>
      </p:sp>
      <p:sp>
        <p:nvSpPr>
          <p:cNvPr id="4" name="hdr_name"/>
          <p:cNvSpPr/>
          <p:nvPr/>
        </p:nvSpPr>
        <p:spPr>
          <a:xfrm>
            <a:off x="1828800" y="73152"/>
            <a:ext cx="7040880" cy="493776"/>
          </a:xfrm>
          <a:prstGeom prst="rect">
            <a:avLst/>
          </a:prstGeom>
          <a:noFill/>
          <a:ln>
            <a:noFill/>
          </a:ln>
        </p:spPr>
        <p:txBody>
          <a:bodyPr wrap="square" rtlCol="0" anchor="ctr"/>
          <a:lstStyle/>
          <a:p>
            <a:pPr marL="0" indent="0" algn="l">
              <a:buNone/>
            </a:pPr>
            <a:r>
              <a:rPr lang="en-US" sz="1500" b="1" dirty="0">
                <a:solidFill>
                  <a:srgbClr val="FFFFFF"/>
                </a:solidFill>
                <a:latin typeface="Calibri" pitchFamily="34" charset="0"/>
              </a:rPr>
              <a:t>ONEDIGITAL</a:t>
            </a:r>
          </a:p>
        </p:txBody>
      </p:sp>
      <p:sp>
        <p:nvSpPr>
          <p:cNvPr id="5" name="sbox_bg_1"/>
          <p:cNvSpPr>
            <a:spLocks noGrp="1"/>
          </p:cNvSpPr>
          <p:nvPr/>
        </p:nvSpPr>
        <p:spPr>
          <a:xfrm>
            <a:off x="274320" y="749808"/>
            <a:ext cx="2011680" cy="822960"/>
          </a:xfrm>
          <a:prstGeom prst="rect">
            <a:avLst/>
          </a:prstGeom>
          <a:solidFill>
            <a:srgbClr val="F7F9FC"/>
          </a:solidFill>
          <a:ln w="12700">
            <a:solidFill>
              <a:srgbClr val="E2E8F0"/>
            </a:solidFill>
            <a:prstDash val="solid"/>
          </a:ln>
        </p:spPr>
        <p:txBody>
          <a:bodyPr/>
          <a:lstStyle/>
          <a:p>
            <a:endParaRPr/>
          </a:p>
        </p:txBody>
      </p:sp>
      <p:sp>
        <p:nvSpPr>
          <p:cNvPr id="6" name="sbox_val_1"/>
          <p:cNvSpPr/>
          <p:nvPr/>
        </p:nvSpPr>
        <p:spPr>
          <a:xfrm>
            <a:off x="274320" y="777240"/>
            <a:ext cx="2011680" cy="457200"/>
          </a:xfrm>
          <a:prstGeom prst="rect">
            <a:avLst/>
          </a:prstGeom>
          <a:noFill/>
          <a:ln>
            <a:noFill/>
          </a:ln>
        </p:spPr>
        <p:txBody>
          <a:bodyPr wrap="square" rtlCol="0" anchor="ctr"/>
          <a:lstStyle/>
          <a:p>
            <a:pPr marL="0" indent="0" algn="l">
              <a:buNone/>
            </a:pPr>
            <a:r>
              <a:rPr lang="en-US" sz="1800" b="1" dirty="0">
                <a:solidFill>
                  <a:srgbClr val="1A3A5C"/>
                </a:solidFill>
                <a:latin typeface="Calibri" pitchFamily="34" charset="0"/>
              </a:rPr>
              <a:t>45</a:t>
            </a:r>
          </a:p>
        </p:txBody>
      </p:sp>
      <p:sp>
        <p:nvSpPr>
          <p:cNvPr id="7" name="sbox_lbl_1"/>
          <p:cNvSpPr/>
          <p:nvPr/>
        </p:nvSpPr>
        <p:spPr>
          <a:xfrm>
            <a:off x="274320" y="1261872"/>
            <a:ext cx="2011680" cy="256032"/>
          </a:xfrm>
          <a:prstGeom prst="rect">
            <a:avLst/>
          </a:prstGeom>
          <a:noFill/>
          <a:ln>
            <a:noFill/>
          </a:ln>
        </p:spPr>
        <p:txBody>
          <a:bodyPr wrap="square" rtlCol="0" anchor="t"/>
          <a:lstStyle/>
          <a:p>
            <a:pPr marL="0" indent="0" algn="l">
              <a:buNone/>
            </a:pPr>
            <a:r>
              <a:rPr lang="en-US" sz="800" dirty="0">
                <a:solidFill>
                  <a:srgbClr val="4A5568"/>
                </a:solidFill>
                <a:latin typeface="Calibri" pitchFamily="34" charset="0"/>
              </a:rPr>
              <a:t>Employers</a:t>
            </a:r>
          </a:p>
        </p:txBody>
      </p:sp>
      <p:sp>
        <p:nvSpPr>
          <p:cNvPr id="8" name="sbox_bg_2"/>
          <p:cNvSpPr>
            <a:spLocks noGrp="1"/>
          </p:cNvSpPr>
          <p:nvPr/>
        </p:nvSpPr>
        <p:spPr>
          <a:xfrm>
            <a:off x="2450592" y="749808"/>
            <a:ext cx="2011680" cy="822960"/>
          </a:xfrm>
          <a:prstGeom prst="rect">
            <a:avLst/>
          </a:prstGeom>
          <a:solidFill>
            <a:srgbClr val="F7F9FC"/>
          </a:solidFill>
          <a:ln w="12700">
            <a:solidFill>
              <a:srgbClr val="E2E8F0"/>
            </a:solidFill>
            <a:prstDash val="solid"/>
          </a:ln>
        </p:spPr>
        <p:txBody>
          <a:bodyPr/>
          <a:lstStyle/>
          <a:p>
            <a:endParaRPr/>
          </a:p>
        </p:txBody>
      </p:sp>
      <p:sp>
        <p:nvSpPr>
          <p:cNvPr id="9" name="sbox_val_2"/>
          <p:cNvSpPr/>
          <p:nvPr/>
        </p:nvSpPr>
        <p:spPr>
          <a:xfrm>
            <a:off x="2450592" y="777240"/>
            <a:ext cx="2011680" cy="457200"/>
          </a:xfrm>
          <a:prstGeom prst="rect">
            <a:avLst/>
          </a:prstGeom>
          <a:noFill/>
          <a:ln>
            <a:noFill/>
          </a:ln>
        </p:spPr>
        <p:txBody>
          <a:bodyPr wrap="square" rtlCol="0" anchor="ctr"/>
          <a:lstStyle/>
          <a:p>
            <a:pPr marL="0" indent="0" algn="l">
              <a:buNone/>
            </a:pPr>
            <a:r>
              <a:rPr lang="en-US" sz="1800" b="1" dirty="0">
                <a:solidFill>
                  <a:srgbClr val="1A3A5C"/>
                </a:solidFill>
                <a:latin typeface="Calibri" pitchFamily="34" charset="0"/>
              </a:rPr>
              <a:t>29,180</a:t>
            </a:r>
          </a:p>
        </p:txBody>
      </p:sp>
      <p:sp>
        <p:nvSpPr>
          <p:cNvPr id="10" name="sbox_lbl_2"/>
          <p:cNvSpPr/>
          <p:nvPr/>
        </p:nvSpPr>
        <p:spPr>
          <a:xfrm>
            <a:off x="2450592" y="1261872"/>
            <a:ext cx="2011680" cy="256032"/>
          </a:xfrm>
          <a:prstGeom prst="rect">
            <a:avLst/>
          </a:prstGeom>
          <a:noFill/>
          <a:ln>
            <a:noFill/>
          </a:ln>
        </p:spPr>
        <p:txBody>
          <a:bodyPr wrap="square" rtlCol="0" anchor="t"/>
          <a:lstStyle/>
          <a:p>
            <a:pPr marL="0" indent="0" algn="l">
              <a:buNone/>
            </a:pPr>
            <a:r>
              <a:rPr lang="en-US" sz="800" dirty="0">
                <a:solidFill>
                  <a:srgbClr val="4A5568"/>
                </a:solidFill>
                <a:latin typeface="Calibri" pitchFamily="34" charset="0"/>
              </a:rPr>
              <a:t>Covered Employees</a:t>
            </a:r>
          </a:p>
        </p:txBody>
      </p:sp>
      <p:sp>
        <p:nvSpPr>
          <p:cNvPr id="11" name="sbox_bg_3"/>
          <p:cNvSpPr>
            <a:spLocks noGrp="1"/>
          </p:cNvSpPr>
          <p:nvPr/>
        </p:nvSpPr>
        <p:spPr>
          <a:xfrm>
            <a:off x="4626864" y="749808"/>
            <a:ext cx="2011680" cy="822960"/>
          </a:xfrm>
          <a:prstGeom prst="rect">
            <a:avLst/>
          </a:prstGeom>
          <a:solidFill>
            <a:srgbClr val="F7F9FC"/>
          </a:solidFill>
          <a:ln w="12700">
            <a:solidFill>
              <a:srgbClr val="E2E8F0"/>
            </a:solidFill>
            <a:prstDash val="solid"/>
          </a:ln>
        </p:spPr>
        <p:txBody>
          <a:bodyPr/>
          <a:lstStyle/>
          <a:p>
            <a:endParaRPr/>
          </a:p>
        </p:txBody>
      </p:sp>
      <p:sp>
        <p:nvSpPr>
          <p:cNvPr id="12" name="sbox_val_3"/>
          <p:cNvSpPr/>
          <p:nvPr/>
        </p:nvSpPr>
        <p:spPr>
          <a:xfrm>
            <a:off x="4626864" y="777240"/>
            <a:ext cx="2011680" cy="457200"/>
          </a:xfrm>
          <a:prstGeom prst="rect">
            <a:avLst/>
          </a:prstGeom>
          <a:noFill/>
          <a:ln>
            <a:noFill/>
          </a:ln>
        </p:spPr>
        <p:txBody>
          <a:bodyPr wrap="square" rtlCol="0" anchor="ctr"/>
          <a:lstStyle/>
          <a:p>
            <a:pPr marL="0" indent="0" algn="l">
              <a:buNone/>
            </a:pPr>
            <a:r>
              <a:rPr lang="en-US" sz="1800" b="1" dirty="0">
                <a:solidFill>
                  <a:srgbClr val="1A3A5C"/>
                </a:solidFill>
                <a:latin typeface="Calibri" pitchFamily="34" charset="0"/>
              </a:rPr>
              <a:t>7.6%</a:t>
            </a:r>
          </a:p>
        </p:txBody>
      </p:sp>
      <p:sp>
        <p:nvSpPr>
          <p:cNvPr id="13" name="sbox_lbl_3"/>
          <p:cNvSpPr/>
          <p:nvPr/>
        </p:nvSpPr>
        <p:spPr>
          <a:xfrm>
            <a:off x="4626864" y="1261872"/>
            <a:ext cx="2011680" cy="256032"/>
          </a:xfrm>
          <a:prstGeom prst="rect">
            <a:avLst/>
          </a:prstGeom>
          <a:noFill/>
          <a:ln>
            <a:noFill/>
          </a:ln>
        </p:spPr>
        <p:txBody>
          <a:bodyPr wrap="square" rtlCol="0" anchor="t"/>
          <a:lstStyle/>
          <a:p>
            <a:pPr marL="0" indent="0" algn="l">
              <a:buNone/>
            </a:pPr>
            <a:r>
              <a:rPr lang="en-US" sz="800" dirty="0">
                <a:solidFill>
                  <a:srgbClr val="4A5568"/>
                </a:solidFill>
                <a:latin typeface="Calibri" pitchFamily="34" charset="0"/>
              </a:rPr>
              <a:t>EE Market Share</a:t>
            </a:r>
          </a:p>
        </p:txBody>
      </p:sp>
      <p:sp>
        <p:nvSpPr>
          <p:cNvPr id="14" name="sbox_bg_4"/>
          <p:cNvSpPr>
            <a:spLocks noGrp="1"/>
          </p:cNvSpPr>
          <p:nvPr/>
        </p:nvSpPr>
        <p:spPr>
          <a:xfrm>
            <a:off x="6803136" y="749808"/>
            <a:ext cx="2011680" cy="822960"/>
          </a:xfrm>
          <a:prstGeom prst="rect">
            <a:avLst/>
          </a:prstGeom>
          <a:solidFill>
            <a:srgbClr val="F7F9FC"/>
          </a:solidFill>
          <a:ln w="12700">
            <a:solidFill>
              <a:srgbClr val="E2E8F0"/>
            </a:solidFill>
            <a:prstDash val="solid"/>
          </a:ln>
        </p:spPr>
        <p:txBody>
          <a:bodyPr/>
          <a:lstStyle/>
          <a:p>
            <a:endParaRPr/>
          </a:p>
        </p:txBody>
      </p:sp>
      <p:sp>
        <p:nvSpPr>
          <p:cNvPr id="15" name="sbox_val_4"/>
          <p:cNvSpPr/>
          <p:nvPr/>
        </p:nvSpPr>
        <p:spPr>
          <a:xfrm>
            <a:off x="6803136" y="777240"/>
            <a:ext cx="2011680" cy="457200"/>
          </a:xfrm>
          <a:prstGeom prst="rect">
            <a:avLst/>
          </a:prstGeom>
          <a:noFill/>
          <a:ln>
            <a:noFill/>
          </a:ln>
        </p:spPr>
        <p:txBody>
          <a:bodyPr wrap="square" rtlCol="0" anchor="ctr"/>
          <a:lstStyle/>
          <a:p>
            <a:pPr marL="0" indent="0" algn="l">
              <a:buNone/>
            </a:pPr>
            <a:r>
              <a:rPr lang="en-US" sz="1800" b="1" dirty="0">
                <a:solidFill>
                  <a:srgbClr val="1A3A5C"/>
                </a:solidFill>
                <a:latin typeface="Calibri" pitchFamily="34" charset="0"/>
              </a:rPr>
              <a:t>#3 of 111</a:t>
            </a:r>
          </a:p>
        </p:txBody>
      </p:sp>
      <p:sp>
        <p:nvSpPr>
          <p:cNvPr id="16" name="sbox_lbl_4"/>
          <p:cNvSpPr/>
          <p:nvPr/>
        </p:nvSpPr>
        <p:spPr>
          <a:xfrm>
            <a:off x="6803136" y="1261872"/>
            <a:ext cx="2011680" cy="256032"/>
          </a:xfrm>
          <a:prstGeom prst="rect">
            <a:avLst/>
          </a:prstGeom>
          <a:noFill/>
          <a:ln>
            <a:noFill/>
          </a:ln>
        </p:spPr>
        <p:txBody>
          <a:bodyPr wrap="square" rtlCol="0" anchor="t"/>
          <a:lstStyle/>
          <a:p>
            <a:pPr marL="0" indent="0" algn="l">
              <a:buNone/>
            </a:pPr>
            <a:r>
              <a:rPr lang="en-US" sz="800" dirty="0">
                <a:solidFill>
                  <a:srgbClr val="4A5568"/>
                </a:solidFill>
                <a:latin typeface="Calibri" pitchFamily="34" charset="0"/>
              </a:rPr>
              <a:t>Rank</a:t>
            </a:r>
          </a:p>
        </p:txBody>
      </p:sp>
      <p:sp>
        <p:nvSpPr>
          <p:cNvPr id="17" name="ftr_bar"/>
          <p:cNvSpPr>
            <a:spLocks noGrp="1"/>
          </p:cNvSpPr>
          <p:nvPr/>
        </p:nvSpPr>
        <p:spPr>
          <a:xfrm>
            <a:off x="0" y="4846320"/>
            <a:ext cx="9144000" cy="297180"/>
          </a:xfrm>
          <a:prstGeom prst="rect">
            <a:avLst/>
          </a:prstGeom>
          <a:solidFill>
            <a:srgbClr val="1A3A5C"/>
          </a:solidFill>
          <a:ln>
            <a:noFill/>
          </a:ln>
        </p:spPr>
        <p:txBody>
          <a:bodyPr/>
          <a:lstStyle/>
          <a:p>
            <a:endParaRPr/>
          </a:p>
        </p:txBody>
      </p:sp>
      <p:sp>
        <p:nvSpPr>
          <p:cNvPr id="18" name="ftr_txt"/>
          <p:cNvSpPr/>
          <p:nvPr/>
        </p:nvSpPr>
        <p:spPr>
          <a:xfrm>
            <a:off x="365760" y="4864608"/>
            <a:ext cx="6400800" cy="256032"/>
          </a:xfrm>
          <a:prstGeom prst="rect">
            <a:avLst/>
          </a:prstGeom>
          <a:noFill/>
          <a:ln>
            <a:noFill/>
          </a:ln>
        </p:spPr>
        <p:txBody>
          <a:bodyPr wrap="square" rtlCol="0" anchor="ctr"/>
          <a:lstStyle/>
          <a:p>
            <a:pPr marL="0" indent="0" algn="l">
              <a:buNone/>
            </a:pPr>
            <a:r>
              <a:rPr lang="en-US" sz="900" dirty="0">
                <a:solidFill>
                  <a:srgbClr val="E2E8F0"/>
                </a:solidFill>
                <a:latin typeface="Calibri" pitchFamily="34" charset="0"/>
              </a:rPr>
              <a:t>5500 Filings Data | All Groups With Identified Benefits Broker</a:t>
            </a:r>
          </a:p>
        </p:txBody>
      </p:sp>
      <p:sp>
        <p:nvSpPr>
          <p:cNvPr id="19" name="ftr_conf"/>
          <p:cNvSpPr/>
          <p:nvPr/>
        </p:nvSpPr>
        <p:spPr>
          <a:xfrm>
            <a:off x="6858000" y="4864608"/>
            <a:ext cx="2011680" cy="256032"/>
          </a:xfrm>
          <a:prstGeom prst="rect">
            <a:avLst/>
          </a:prstGeom>
          <a:noFill/>
          <a:ln>
            <a:noFill/>
          </a:ln>
        </p:spPr>
        <p:txBody>
          <a:bodyPr wrap="square" rtlCol="0" anchor="ctr"/>
          <a:lstStyle/>
          <a:p>
            <a:pPr marL="0" indent="0" algn="r">
              <a:buNone/>
            </a:pPr>
            <a:r>
              <a:rPr lang="en-US" sz="900" dirty="0">
                <a:solidFill>
                  <a:srgbClr val="E2E8F0"/>
                </a:solidFill>
                <a:latin typeface="Calibri" pitchFamily="34" charset="0"/>
              </a:rPr>
              <a:t>Confidential - Internal Use Only</a:t>
            </a:r>
          </a:p>
        </p:txBody>
      </p:sp>
      <p:graphicFrame>
        <p:nvGraphicFramePr>
          <p:cNvPr id="20" name="Table 19"/>
          <p:cNvGraphicFramePr>
            <a:graphicFrameLocks noGrp="1"/>
          </p:cNvGraphicFramePr>
          <p:nvPr>
            <p:extLst>
              <p:ext uri="{D42A27DB-BD31-4B8C-83A1-F6EECF244321}">
                <p14:modId xmlns:p14="http://schemas.microsoft.com/office/powerpoint/2010/main" val="91491269"/>
              </p:ext>
            </p:extLst>
          </p:nvPr>
        </p:nvGraphicFramePr>
        <p:xfrm>
          <a:off x="274320" y="1572768"/>
          <a:ext cx="7315200" cy="3185160"/>
        </p:xfrm>
        <a:graphic>
          <a:graphicData uri="http://schemas.openxmlformats.org/drawingml/2006/table">
            <a:tbl>
              <a:tblPr/>
              <a:tblGrid>
                <a:gridCol w="292608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822960">
                  <a:extLst>
                    <a:ext uri="{9D8B030D-6E8A-4147-A177-3AD203B41FA5}">
                      <a16:colId xmlns:a16="http://schemas.microsoft.com/office/drawing/2014/main" val="20004"/>
                    </a:ext>
                  </a:extLst>
                </a:gridCol>
              </a:tblGrid>
              <a:tr h="141161">
                <a:tc>
                  <a:txBody>
                    <a:bodyPr/>
                    <a:lstStyle/>
                    <a:p>
                      <a:pPr marL="38100" marR="38100" algn="l">
                        <a:lnSpc>
                          <a:spcPct val="100000"/>
                        </a:lnSpc>
                        <a:spcBef>
                          <a:spcPts val="300"/>
                        </a:spcBef>
                        <a:spcAft>
                          <a:spcPts val="300"/>
                        </a:spcAft>
                        <a:buNone/>
                      </a:pPr>
                      <a:r>
                        <a:rPr sz="900" b="1" i="0" u="none" strike="noStrike" cap="none">
                          <a:solidFill>
                            <a:srgbClr val="FFFFFF">
                              <a:alpha val="100000"/>
                            </a:srgbClr>
                          </a:solidFill>
                          <a:latin typeface="Calibri"/>
                          <a:cs typeface="Calibri"/>
                          <a:sym typeface="Calibri"/>
                        </a:rPr>
                        <a:t>Employer</a:t>
                      </a:r>
                    </a:p>
                  </a:txBody>
                  <a:tcPr marL="0" marR="0" marT="38100" marB="38100" anchor="ctr">
                    <a:lnL w="6350"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alpha val="100000"/>
                        </a:srgbClr>
                      </a:solidFill>
                      <a:prstDash val="solid"/>
                    </a:lnT>
                    <a:lnB w="6350" cap="flat" cmpd="sng" algn="ctr">
                      <a:solidFill>
                        <a:srgbClr val="E2E8F0">
                          <a:alpha val="100000"/>
                        </a:srgbClr>
                      </a:solidFill>
                      <a:prstDash val="solid"/>
                    </a:lnB>
                    <a:solidFill>
                      <a:srgbClr val="1A3A5C">
                        <a:alpha val="100000"/>
                      </a:srgbClr>
                    </a:solidFill>
                  </a:tcPr>
                </a:tc>
                <a:tc>
                  <a:txBody>
                    <a:bodyPr/>
                    <a:lstStyle/>
                    <a:p>
                      <a:pPr marL="38100" marR="38100" algn="l">
                        <a:lnSpc>
                          <a:spcPct val="100000"/>
                        </a:lnSpc>
                        <a:spcBef>
                          <a:spcPts val="300"/>
                        </a:spcBef>
                        <a:spcAft>
                          <a:spcPts val="300"/>
                        </a:spcAft>
                        <a:buNone/>
                      </a:pPr>
                      <a:r>
                        <a:rPr sz="900" b="1" i="0" u="none" strike="noStrike" cap="none">
                          <a:solidFill>
                            <a:srgbClr val="FFFFFF">
                              <a:alpha val="100000"/>
                            </a:srgbClr>
                          </a:solidFill>
                          <a:latin typeface="Calibri"/>
                          <a:cs typeface="Calibri"/>
                          <a:sym typeface="Calibri"/>
                        </a:rPr>
                        <a:t>City</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alpha val="100000"/>
                        </a:srgbClr>
                      </a:solidFill>
                      <a:prstDash val="solid"/>
                    </a:lnT>
                    <a:lnB w="6350" cap="flat" cmpd="sng" algn="ctr">
                      <a:solidFill>
                        <a:srgbClr val="E2E8F0">
                          <a:alpha val="100000"/>
                        </a:srgbClr>
                      </a:solidFill>
                      <a:prstDash val="solid"/>
                    </a:lnB>
                    <a:solidFill>
                      <a:srgbClr val="1A3A5C">
                        <a:alpha val="100000"/>
                      </a:srgbClr>
                    </a:solidFill>
                  </a:tcPr>
                </a:tc>
                <a:tc>
                  <a:txBody>
                    <a:bodyPr/>
                    <a:lstStyle/>
                    <a:p>
                      <a:pPr marL="38100" marR="38100" algn="l">
                        <a:lnSpc>
                          <a:spcPct val="100000"/>
                        </a:lnSpc>
                        <a:spcBef>
                          <a:spcPts val="300"/>
                        </a:spcBef>
                        <a:spcAft>
                          <a:spcPts val="300"/>
                        </a:spcAft>
                        <a:buNone/>
                      </a:pPr>
                      <a:r>
                        <a:rPr sz="900" b="1" i="0" u="none" strike="noStrike" cap="none">
                          <a:solidFill>
                            <a:srgbClr val="FFFFFF">
                              <a:alpha val="100000"/>
                            </a:srgbClr>
                          </a:solidFill>
                          <a:latin typeface="Calibri"/>
                          <a:cs typeface="Calibri"/>
                          <a:sym typeface="Calibri"/>
                        </a:rPr>
                        <a:t>Revenue Range</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alpha val="100000"/>
                        </a:srgbClr>
                      </a:solidFill>
                      <a:prstDash val="solid"/>
                    </a:lnT>
                    <a:lnB w="6350" cap="flat" cmpd="sng" algn="ctr">
                      <a:solidFill>
                        <a:srgbClr val="E2E8F0">
                          <a:alpha val="100000"/>
                        </a:srgbClr>
                      </a:solidFill>
                      <a:prstDash val="solid"/>
                    </a:lnB>
                    <a:solidFill>
                      <a:srgbClr val="1A3A5C">
                        <a:alpha val="100000"/>
                      </a:srgbClr>
                    </a:solidFill>
                  </a:tcPr>
                </a:tc>
                <a:tc>
                  <a:txBody>
                    <a:bodyPr/>
                    <a:lstStyle/>
                    <a:p>
                      <a:pPr marL="38100" marR="38100" algn="ctr">
                        <a:lnSpc>
                          <a:spcPct val="100000"/>
                        </a:lnSpc>
                        <a:spcBef>
                          <a:spcPts val="300"/>
                        </a:spcBef>
                        <a:spcAft>
                          <a:spcPts val="300"/>
                        </a:spcAft>
                        <a:buNone/>
                      </a:pPr>
                      <a:r>
                        <a:rPr sz="900" b="1" i="0" u="none" strike="noStrike" cap="none">
                          <a:solidFill>
                            <a:srgbClr val="FFFFFF">
                              <a:alpha val="100000"/>
                            </a:srgbClr>
                          </a:solidFill>
                          <a:latin typeface="Calibri"/>
                          <a:cs typeface="Calibri"/>
                          <a:sym typeface="Calibri"/>
                        </a:rPr>
                        <a:t>Covered EEs</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alpha val="100000"/>
                        </a:srgbClr>
                      </a:solidFill>
                      <a:prstDash val="solid"/>
                    </a:lnT>
                    <a:lnB w="6350" cap="flat" cmpd="sng" algn="ctr">
                      <a:solidFill>
                        <a:srgbClr val="E2E8F0">
                          <a:alpha val="100000"/>
                        </a:srgbClr>
                      </a:solidFill>
                      <a:prstDash val="solid"/>
                    </a:lnB>
                    <a:solidFill>
                      <a:srgbClr val="1A3A5C">
                        <a:alpha val="100000"/>
                      </a:srgbClr>
                    </a:solidFill>
                  </a:tcPr>
                </a:tc>
                <a:tc>
                  <a:txBody>
                    <a:bodyPr/>
                    <a:lstStyle/>
                    <a:p>
                      <a:pPr marL="38100" marR="38100" algn="ctr">
                        <a:lnSpc>
                          <a:spcPct val="100000"/>
                        </a:lnSpc>
                        <a:spcBef>
                          <a:spcPts val="300"/>
                        </a:spcBef>
                        <a:spcAft>
                          <a:spcPts val="300"/>
                        </a:spcAft>
                        <a:buNone/>
                      </a:pPr>
                      <a:r>
                        <a:rPr sz="900" b="1" i="0" u="none" strike="noStrike" cap="none">
                          <a:solidFill>
                            <a:srgbClr val="FFFFFF">
                              <a:alpha val="100000"/>
                            </a:srgbClr>
                          </a:solidFill>
                          <a:latin typeface="Calibri"/>
                          <a:cs typeface="Calibri"/>
                          <a:sym typeface="Calibri"/>
                        </a:rPr>
                        <a:t>% of Book</a:t>
                      </a:r>
                    </a:p>
                  </a:txBody>
                  <a:tcPr marL="0" marR="0" marT="38100" marB="38100" anchor="ctr">
                    <a:lnL w="3175" cap="flat" cmpd="sng" algn="ctr">
                      <a:solidFill>
                        <a:srgbClr val="E2E8F0">
                          <a:alpha val="100000"/>
                        </a:srgbClr>
                      </a:solidFill>
                      <a:prstDash val="solid"/>
                    </a:lnL>
                    <a:lnR w="6350" cap="flat" cmpd="sng" algn="ctr">
                      <a:solidFill>
                        <a:srgbClr val="E2E8F0">
                          <a:alpha val="100000"/>
                        </a:srgbClr>
                      </a:solidFill>
                      <a:prstDash val="solid"/>
                    </a:lnR>
                    <a:lnT w="6350" cap="flat" cmpd="sng" algn="ctr">
                      <a:solidFill>
                        <a:srgbClr val="E2E8F0">
                          <a:alpha val="100000"/>
                        </a:srgbClr>
                      </a:solidFill>
                      <a:prstDash val="solid"/>
                    </a:lnT>
                    <a:lnB w="6350" cap="flat" cmpd="sng" algn="ctr">
                      <a:solidFill>
                        <a:srgbClr val="E2E8F0">
                          <a:alpha val="100000"/>
                        </a:srgbClr>
                      </a:solidFill>
                      <a:prstDash val="solid"/>
                    </a:lnB>
                    <a:solidFill>
                      <a:srgbClr val="1A3A5C">
                        <a:alpha val="100000"/>
                      </a:srgbClr>
                    </a:solidFill>
                  </a:tcPr>
                </a:tc>
                <a:extLst>
                  <a:ext uri="{0D108BD9-81ED-4DB2-BD59-A6C34878D82A}">
                    <a16:rowId xmlns:a16="http://schemas.microsoft.com/office/drawing/2014/main" val="10000"/>
                  </a:ext>
                </a:extLst>
              </a:tr>
              <a:tr h="141161">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TRANSPORT LABOR CONTRACT LEASING INC</a:t>
                      </a:r>
                    </a:p>
                  </a:txBody>
                  <a:tcPr marL="0" marR="0" marT="38100" marB="38100" anchor="ctr">
                    <a:lnL w="6350"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solidFill>
                      <a:prstDash val="solid"/>
                      <a:round/>
                      <a:headEnd type="none" w="med" len="med"/>
                      <a:tailEnd type="none" w="med" len="med"/>
                    </a:lnT>
                    <a:lnB w="3175" cap="flat" cmpd="sng" algn="ctr">
                      <a:solidFill>
                        <a:srgbClr val="E2E8F0">
                          <a:alpha val="100000"/>
                        </a:srgbClr>
                      </a:solidFill>
                      <a:prstDash val="solid"/>
                    </a:lnB>
                    <a:solidFill>
                      <a:srgbClr val="FFFFFF">
                        <a:alpha val="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ORLANDO</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solidFill>
                      <a:prstDash val="solid"/>
                      <a:round/>
                      <a:headEnd type="none" w="med" len="med"/>
                      <a:tailEnd type="none" w="med" len="med"/>
                    </a:lnT>
                    <a:lnB w="3175" cap="flat" cmpd="sng" algn="ctr">
                      <a:solidFill>
                        <a:srgbClr val="E2E8F0">
                          <a:alpha val="100000"/>
                        </a:srgbClr>
                      </a:solidFill>
                      <a:prstDash val="solid"/>
                    </a:lnB>
                    <a:solidFill>
                      <a:srgbClr val="FFFFFF">
                        <a:alpha val="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200M - 1B</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solidFill>
                      <a:prstDash val="solid"/>
                      <a:round/>
                      <a:headEnd type="none" w="med" len="med"/>
                      <a:tailEnd type="none" w="med" len="med"/>
                    </a:lnT>
                    <a:lnB w="3175" cap="flat" cmpd="sng" algn="ctr">
                      <a:solidFill>
                        <a:srgbClr val="E2E8F0">
                          <a:alpha val="100000"/>
                        </a:srgbClr>
                      </a:solidFill>
                      <a:prstDash val="solid"/>
                    </a:lnB>
                    <a:solidFill>
                      <a:srgbClr val="FFFFFF">
                        <a:alpha val="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4,757</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solidFill>
                      <a:prstDash val="solid"/>
                      <a:round/>
                      <a:headEnd type="none" w="med" len="med"/>
                      <a:tailEnd type="none" w="med" len="med"/>
                    </a:lnT>
                    <a:lnB w="3175" cap="flat" cmpd="sng" algn="ctr">
                      <a:solidFill>
                        <a:srgbClr val="E2E8F0">
                          <a:alpha val="100000"/>
                        </a:srgbClr>
                      </a:solidFill>
                      <a:prstDash val="solid"/>
                    </a:lnB>
                    <a:solidFill>
                      <a:srgbClr val="FFFFFF">
                        <a:alpha val="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16.3%</a:t>
                      </a:r>
                    </a:p>
                  </a:txBody>
                  <a:tcPr marL="0" marR="0" marT="38100" marB="38100" anchor="ctr">
                    <a:lnL w="3175" cap="flat" cmpd="sng" algn="ctr">
                      <a:solidFill>
                        <a:srgbClr val="E2E8F0">
                          <a:alpha val="100000"/>
                        </a:srgbClr>
                      </a:solidFill>
                      <a:prstDash val="solid"/>
                    </a:lnL>
                    <a:lnR w="6350" cap="flat" cmpd="sng" algn="ctr">
                      <a:solidFill>
                        <a:srgbClr val="E2E8F0">
                          <a:alpha val="100000"/>
                        </a:srgbClr>
                      </a:solidFill>
                      <a:prstDash val="solid"/>
                    </a:lnR>
                    <a:lnT w="6350" cap="flat" cmpd="sng" algn="ctr">
                      <a:solidFill>
                        <a:srgbClr val="E2E8F0"/>
                      </a:solidFill>
                      <a:prstDash val="solid"/>
                      <a:round/>
                      <a:headEnd type="none" w="med" len="med"/>
                      <a:tailEnd type="none" w="med" len="med"/>
                    </a:lnT>
                    <a:lnB w="3175"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01"/>
                  </a:ext>
                </a:extLst>
              </a:tr>
              <a:tr h="141161">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CENTRAL FLORIDA INVESTMENTS INC</a:t>
                      </a:r>
                    </a:p>
                  </a:txBody>
                  <a:tcPr marL="0" marR="0" marT="38100" marB="381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ORLANDO</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&gt; 1B</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4,568</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15.7%</a:t>
                      </a:r>
                    </a:p>
                  </a:txBody>
                  <a:tcPr marL="0" marR="0" marT="38100" marB="381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extLst>
                  <a:ext uri="{0D108BD9-81ED-4DB2-BD59-A6C34878D82A}">
                    <a16:rowId xmlns:a16="http://schemas.microsoft.com/office/drawing/2014/main" val="10002"/>
                  </a:ext>
                </a:extLst>
              </a:tr>
              <a:tr h="141161">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MASTERCORP INC</a:t>
                      </a:r>
                    </a:p>
                  </a:txBody>
                  <a:tcPr marL="0" marR="0" marT="38100" marB="381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ORLANDO</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200M - 1B</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3,309</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11.3%</a:t>
                      </a:r>
                    </a:p>
                  </a:txBody>
                  <a:tcPr marL="0" marR="0" marT="38100" marB="381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03"/>
                  </a:ext>
                </a:extLst>
              </a:tr>
              <a:tr h="141161">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FULL SAIL LLC</a:t>
                      </a:r>
                    </a:p>
                  </a:txBody>
                  <a:tcPr marL="0" marR="0" marT="38100" marB="381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WINTER PARK</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200M - 1B</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2,593</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8.9%</a:t>
                      </a:r>
                    </a:p>
                  </a:txBody>
                  <a:tcPr marL="0" marR="0" marT="38100" marB="381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extLst>
                  <a:ext uri="{0D108BD9-81ED-4DB2-BD59-A6C34878D82A}">
                    <a16:rowId xmlns:a16="http://schemas.microsoft.com/office/drawing/2014/main" val="10004"/>
                  </a:ext>
                </a:extLst>
              </a:tr>
              <a:tr h="141161">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GRAND PERFORMER INC</a:t>
                      </a:r>
                    </a:p>
                  </a:txBody>
                  <a:tcPr marL="0" marR="0" marT="38100" marB="381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ORLANDO</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&gt; 1B</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1,194</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4.1%</a:t>
                      </a:r>
                    </a:p>
                  </a:txBody>
                  <a:tcPr marL="0" marR="0" marT="38100" marB="381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05"/>
                  </a:ext>
                </a:extLst>
              </a:tr>
              <a:tr h="141161">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A DUDA &amp; SONS INC</a:t>
                      </a:r>
                    </a:p>
                  </a:txBody>
                  <a:tcPr marL="0" marR="0" marT="38100" marB="381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OVIEDO</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200M - 1B</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1,071</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3.7%</a:t>
                      </a:r>
                    </a:p>
                  </a:txBody>
                  <a:tcPr marL="0" marR="0" marT="38100" marB="381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extLst>
                  <a:ext uri="{0D108BD9-81ED-4DB2-BD59-A6C34878D82A}">
                    <a16:rowId xmlns:a16="http://schemas.microsoft.com/office/drawing/2014/main" val="10006"/>
                  </a:ext>
                </a:extLst>
              </a:tr>
              <a:tr h="141161">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RESOURCE EMPLOYMENT SOLUTIONS II LLC</a:t>
                      </a:r>
                    </a:p>
                  </a:txBody>
                  <a:tcPr marL="0" marR="0" marT="38100" marB="381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ORLANDO</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&gt; 1B</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864</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3%</a:t>
                      </a:r>
                    </a:p>
                  </a:txBody>
                  <a:tcPr marL="0" marR="0" marT="38100" marB="381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07"/>
                  </a:ext>
                </a:extLst>
              </a:tr>
              <a:tr h="141161">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TRI-CITY ELECTRICAL CONTRACTORS INC</a:t>
                      </a:r>
                    </a:p>
                  </a:txBody>
                  <a:tcPr marL="0" marR="0" marT="38100" marB="381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ALTAMONTE SPRINGS</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100M - 200M</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826</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2.8%</a:t>
                      </a:r>
                    </a:p>
                  </a:txBody>
                  <a:tcPr marL="0" marR="0" marT="38100" marB="381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extLst>
                  <a:ext uri="{0D108BD9-81ED-4DB2-BD59-A6C34878D82A}">
                    <a16:rowId xmlns:a16="http://schemas.microsoft.com/office/drawing/2014/main" val="10008"/>
                  </a:ext>
                </a:extLst>
              </a:tr>
              <a:tr h="141161">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COLONIAL MANAGEMENT GROUP LP</a:t>
                      </a:r>
                    </a:p>
                  </a:txBody>
                  <a:tcPr marL="0" marR="0" marT="38100" marB="381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MAITLAND</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200M - 1B</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746</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2.6%</a:t>
                      </a:r>
                    </a:p>
                  </a:txBody>
                  <a:tcPr marL="0" marR="0" marT="38100" marB="381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09"/>
                  </a:ext>
                </a:extLst>
              </a:tr>
              <a:tr h="141161">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WAYNE AUTOMATIC FIRE SPRINKLERS</a:t>
                      </a:r>
                    </a:p>
                  </a:txBody>
                  <a:tcPr marL="0" marR="0" marT="38100" marB="381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OCOEE</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100M - 200M</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687</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2.4%</a:t>
                      </a:r>
                    </a:p>
                  </a:txBody>
                  <a:tcPr marL="0" marR="0" marT="38100" marB="381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extLst>
                  <a:ext uri="{0D108BD9-81ED-4DB2-BD59-A6C34878D82A}">
                    <a16:rowId xmlns:a16="http://schemas.microsoft.com/office/drawing/2014/main" val="10010"/>
                  </a:ext>
                </a:extLst>
              </a:tr>
              <a:tr h="141161">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AMERICAN SURVEYING &amp; MAPPING INC</a:t>
                      </a:r>
                    </a:p>
                  </a:txBody>
                  <a:tcPr marL="0" marR="0" marT="38100" marB="381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LAKE MARY</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200M - 1B</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610</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2.1%</a:t>
                      </a:r>
                    </a:p>
                  </a:txBody>
                  <a:tcPr marL="0" marR="0" marT="38100" marB="381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11"/>
                  </a:ext>
                </a:extLst>
              </a:tr>
              <a:tr h="141161">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REGAL MARINE INDUSTRIES INC</a:t>
                      </a:r>
                    </a:p>
                  </a:txBody>
                  <a:tcPr marL="0" marR="0" marT="38100" marB="381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ORLANDO</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100M - 200M</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600</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2.1%</a:t>
                      </a:r>
                    </a:p>
                  </a:txBody>
                  <a:tcPr marL="0" marR="0" marT="38100" marB="381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extLst>
                  <a:ext uri="{0D108BD9-81ED-4DB2-BD59-A6C34878D82A}">
                    <a16:rowId xmlns:a16="http://schemas.microsoft.com/office/drawing/2014/main" val="10012"/>
                  </a:ext>
                </a:extLst>
              </a:tr>
              <a:tr h="141161">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FBC MORTGAGE LLC</a:t>
                      </a:r>
                    </a:p>
                  </a:txBody>
                  <a:tcPr marL="0" marR="0" marT="38100" marB="381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ORLANDO</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100M - 200M</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592</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2%</a:t>
                      </a:r>
                    </a:p>
                  </a:txBody>
                  <a:tcPr marL="0" marR="0" marT="38100" marB="381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13"/>
                  </a:ext>
                </a:extLst>
              </a:tr>
              <a:tr h="141161">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FAIRWINDS CREDIT UNION</a:t>
                      </a:r>
                    </a:p>
                  </a:txBody>
                  <a:tcPr marL="0" marR="0" marT="38100" marB="381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ORLANDO</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100M - 200M</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591</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2%</a:t>
                      </a:r>
                    </a:p>
                  </a:txBody>
                  <a:tcPr marL="0" marR="0" marT="38100" marB="381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extLst>
                  <a:ext uri="{0D108BD9-81ED-4DB2-BD59-A6C34878D82A}">
                    <a16:rowId xmlns:a16="http://schemas.microsoft.com/office/drawing/2014/main" val="10014"/>
                  </a:ext>
                </a:extLst>
              </a:tr>
              <a:tr h="141161">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CLUB EXPLORIA LLC</a:t>
                      </a:r>
                    </a:p>
                  </a:txBody>
                  <a:tcPr marL="0" marR="0" marT="38100" marB="381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6350" cap="flat" cmpd="sng" algn="ctr">
                      <a:solidFill>
                        <a:srgbClr val="E2E8F0">
                          <a:alpha val="100000"/>
                        </a:srgbClr>
                      </a:solidFill>
                      <a:prstDash val="solid"/>
                    </a:lnB>
                    <a:solidFill>
                      <a:srgbClr val="FFFFFF">
                        <a:alpha val="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CLERMONT</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6350" cap="flat" cmpd="sng" algn="ctr">
                      <a:solidFill>
                        <a:srgbClr val="E2E8F0">
                          <a:alpha val="100000"/>
                        </a:srgbClr>
                      </a:solidFill>
                      <a:prstDash val="solid"/>
                    </a:lnB>
                    <a:solidFill>
                      <a:srgbClr val="FFFFFF">
                        <a:alpha val="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100M - 200M</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6350" cap="flat" cmpd="sng" algn="ctr">
                      <a:solidFill>
                        <a:srgbClr val="E2E8F0">
                          <a:alpha val="100000"/>
                        </a:srgbClr>
                      </a:solidFill>
                      <a:prstDash val="solid"/>
                    </a:lnB>
                    <a:solidFill>
                      <a:srgbClr val="FFFFFF">
                        <a:alpha val="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502</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6350" cap="flat" cmpd="sng" algn="ctr">
                      <a:solidFill>
                        <a:srgbClr val="E2E8F0">
                          <a:alpha val="100000"/>
                        </a:srgbClr>
                      </a:solidFill>
                      <a:prstDash val="solid"/>
                    </a:lnB>
                    <a:solidFill>
                      <a:srgbClr val="FFFFFF">
                        <a:alpha val="0"/>
                      </a:srgbClr>
                    </a:solidFill>
                  </a:tcPr>
                </a:tc>
                <a:tc>
                  <a:txBody>
                    <a:bodyPr/>
                    <a:lstStyle/>
                    <a:p>
                      <a:pPr marL="38100" marR="38100" algn="ctr">
                        <a:lnSpc>
                          <a:spcPct val="100000"/>
                        </a:lnSpc>
                        <a:spcBef>
                          <a:spcPts val="300"/>
                        </a:spcBef>
                        <a:spcAft>
                          <a:spcPts val="300"/>
                        </a:spcAft>
                        <a:buNone/>
                      </a:pPr>
                      <a:r>
                        <a:rPr sz="800" b="0" i="0" u="none" strike="noStrike" cap="none" dirty="0">
                          <a:solidFill>
                            <a:srgbClr val="000000">
                              <a:alpha val="100000"/>
                            </a:srgbClr>
                          </a:solidFill>
                          <a:latin typeface="Calibri"/>
                          <a:cs typeface="Calibri"/>
                          <a:sym typeface="Calibri"/>
                        </a:rPr>
                        <a:t>1.7%</a:t>
                      </a:r>
                    </a:p>
                  </a:txBody>
                  <a:tcPr marL="0" marR="0" marT="38100" marB="381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6350"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15"/>
                  </a:ext>
                </a:extLst>
              </a:tr>
            </a:tbl>
          </a:graphicData>
        </a:graphic>
      </p:graphicFrame>
      <p:sp>
        <p:nvSpPr>
          <p:cNvPr id="21" name="summary_line"/>
          <p:cNvSpPr/>
          <p:nvPr/>
        </p:nvSpPr>
        <p:spPr>
          <a:xfrm>
            <a:off x="274320" y="4687824"/>
            <a:ext cx="8595360" cy="228600"/>
          </a:xfrm>
          <a:prstGeom prst="rect">
            <a:avLst/>
          </a:prstGeom>
          <a:noFill/>
          <a:ln>
            <a:noFill/>
          </a:ln>
        </p:spPr>
        <p:txBody>
          <a:bodyPr wrap="square" rtlCol="0" anchor="ctr"/>
          <a:lstStyle/>
          <a:p>
            <a:pPr marL="0" indent="0" algn="l">
              <a:buNone/>
            </a:pPr>
            <a:r>
              <a:rPr lang="en-US" sz="750" dirty="0">
                <a:solidFill>
                  <a:srgbClr val="4A5568"/>
                </a:solidFill>
                <a:latin typeface="Calibri" pitchFamily="34" charset="0"/>
              </a:rPr>
              <a:t>ONEDIGITAL  |  29,180 covered employees  |  7.6% market share  |  Top 15 of 45 employers shown</a:t>
            </a:r>
          </a:p>
        </p:txBody>
      </p:sp>
      <p:sp>
        <p:nvSpPr>
          <p:cNvPr id="22" name="Object 8">
            <a:extLst>
              <a:ext uri="{FF2B5EF4-FFF2-40B4-BE49-F238E27FC236}">
                <a16:creationId xmlns:a16="http://schemas.microsoft.com/office/drawing/2014/main" id="{79E85C16-DFE2-A593-02C7-DE42768CEE85}"/>
              </a:ext>
            </a:extLst>
          </p:cNvPr>
          <p:cNvSpPr/>
          <p:nvPr/>
        </p:nvSpPr>
        <p:spPr>
          <a:xfrm>
            <a:off x="7058962" y="73152"/>
            <a:ext cx="2005028" cy="476131"/>
          </a:xfrm>
          <a:prstGeom prst="rect">
            <a:avLst/>
          </a:pr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23" name="Object 9">
            <a:extLst>
              <a:ext uri="{FF2B5EF4-FFF2-40B4-BE49-F238E27FC236}">
                <a16:creationId xmlns:a16="http://schemas.microsoft.com/office/drawing/2014/main" id="{B5D23DEE-D331-2729-4F84-DC1BC6503493}"/>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7211324" y="168378"/>
            <a:ext cx="1700304" cy="28567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dr_bar"/>
          <p:cNvSpPr>
            <a:spLocks noGrp="1"/>
          </p:cNvSpPr>
          <p:nvPr/>
        </p:nvSpPr>
        <p:spPr>
          <a:xfrm>
            <a:off x="0" y="0"/>
            <a:ext cx="9144000" cy="640080"/>
          </a:xfrm>
          <a:prstGeom prst="rect">
            <a:avLst/>
          </a:prstGeom>
          <a:solidFill>
            <a:srgbClr val="1A3A5C"/>
          </a:solidFill>
          <a:ln>
            <a:noFill/>
          </a:ln>
        </p:spPr>
        <p:txBody>
          <a:bodyPr/>
          <a:lstStyle/>
          <a:p>
            <a:endParaRPr/>
          </a:p>
        </p:txBody>
      </p:sp>
      <p:sp>
        <p:nvSpPr>
          <p:cNvPr id="3" name="hdr_label"/>
          <p:cNvSpPr/>
          <p:nvPr/>
        </p:nvSpPr>
        <p:spPr>
          <a:xfrm>
            <a:off x="274320" y="73152"/>
            <a:ext cx="1463040" cy="493776"/>
          </a:xfrm>
          <a:prstGeom prst="rect">
            <a:avLst/>
          </a:prstGeom>
          <a:noFill/>
          <a:ln>
            <a:noFill/>
          </a:ln>
        </p:spPr>
        <p:txBody>
          <a:bodyPr wrap="square" rtlCol="0" anchor="ctr"/>
          <a:lstStyle/>
          <a:p>
            <a:pPr marL="0" indent="0" algn="l">
              <a:buNone/>
            </a:pPr>
            <a:r>
              <a:rPr lang="en-US" sz="1100" dirty="0">
                <a:solidFill>
                  <a:srgbClr val="93C5FD"/>
                </a:solidFill>
                <a:latin typeface="Calibri" pitchFamily="34" charset="0"/>
              </a:rPr>
              <a:t>Broker Detail</a:t>
            </a:r>
          </a:p>
        </p:txBody>
      </p:sp>
      <p:sp>
        <p:nvSpPr>
          <p:cNvPr id="4" name="hdr_name"/>
          <p:cNvSpPr/>
          <p:nvPr/>
        </p:nvSpPr>
        <p:spPr>
          <a:xfrm>
            <a:off x="1828800" y="73152"/>
            <a:ext cx="7040880" cy="493776"/>
          </a:xfrm>
          <a:prstGeom prst="rect">
            <a:avLst/>
          </a:prstGeom>
          <a:noFill/>
          <a:ln>
            <a:noFill/>
          </a:ln>
        </p:spPr>
        <p:txBody>
          <a:bodyPr wrap="square" rtlCol="0" anchor="ctr"/>
          <a:lstStyle/>
          <a:p>
            <a:pPr marL="0" indent="0" algn="l">
              <a:buNone/>
            </a:pPr>
            <a:r>
              <a:rPr lang="en-US" sz="1500" b="1" dirty="0">
                <a:solidFill>
                  <a:srgbClr val="FFFFFF"/>
                </a:solidFill>
                <a:latin typeface="Calibri" pitchFamily="34" charset="0"/>
              </a:rPr>
              <a:t>MARSH AND MCLENNAN AGENCY</a:t>
            </a:r>
          </a:p>
        </p:txBody>
      </p:sp>
      <p:sp>
        <p:nvSpPr>
          <p:cNvPr id="5" name="sbox_bg_1"/>
          <p:cNvSpPr>
            <a:spLocks noGrp="1"/>
          </p:cNvSpPr>
          <p:nvPr/>
        </p:nvSpPr>
        <p:spPr>
          <a:xfrm>
            <a:off x="274320" y="749808"/>
            <a:ext cx="2011680" cy="822960"/>
          </a:xfrm>
          <a:prstGeom prst="rect">
            <a:avLst/>
          </a:prstGeom>
          <a:solidFill>
            <a:srgbClr val="F7F9FC"/>
          </a:solidFill>
          <a:ln w="12700">
            <a:solidFill>
              <a:srgbClr val="E2E8F0"/>
            </a:solidFill>
            <a:prstDash val="solid"/>
          </a:ln>
        </p:spPr>
        <p:txBody>
          <a:bodyPr/>
          <a:lstStyle/>
          <a:p>
            <a:endParaRPr/>
          </a:p>
        </p:txBody>
      </p:sp>
      <p:sp>
        <p:nvSpPr>
          <p:cNvPr id="6" name="sbox_val_1"/>
          <p:cNvSpPr/>
          <p:nvPr/>
        </p:nvSpPr>
        <p:spPr>
          <a:xfrm>
            <a:off x="274320" y="777240"/>
            <a:ext cx="2011680" cy="457200"/>
          </a:xfrm>
          <a:prstGeom prst="rect">
            <a:avLst/>
          </a:prstGeom>
          <a:noFill/>
          <a:ln>
            <a:noFill/>
          </a:ln>
        </p:spPr>
        <p:txBody>
          <a:bodyPr wrap="square" rtlCol="0" anchor="ctr"/>
          <a:lstStyle/>
          <a:p>
            <a:pPr marL="0" indent="0" algn="l">
              <a:buNone/>
            </a:pPr>
            <a:r>
              <a:rPr lang="en-US" sz="1800" b="1" dirty="0">
                <a:solidFill>
                  <a:srgbClr val="1A3A5C"/>
                </a:solidFill>
                <a:latin typeface="Calibri" pitchFamily="34" charset="0"/>
              </a:rPr>
              <a:t>43</a:t>
            </a:r>
          </a:p>
        </p:txBody>
      </p:sp>
      <p:sp>
        <p:nvSpPr>
          <p:cNvPr id="7" name="sbox_lbl_1"/>
          <p:cNvSpPr/>
          <p:nvPr/>
        </p:nvSpPr>
        <p:spPr>
          <a:xfrm>
            <a:off x="274320" y="1261872"/>
            <a:ext cx="2011680" cy="256032"/>
          </a:xfrm>
          <a:prstGeom prst="rect">
            <a:avLst/>
          </a:prstGeom>
          <a:noFill/>
          <a:ln>
            <a:noFill/>
          </a:ln>
        </p:spPr>
        <p:txBody>
          <a:bodyPr wrap="square" rtlCol="0" anchor="t"/>
          <a:lstStyle/>
          <a:p>
            <a:pPr marL="0" indent="0" algn="l">
              <a:buNone/>
            </a:pPr>
            <a:r>
              <a:rPr lang="en-US" sz="800" dirty="0">
                <a:solidFill>
                  <a:srgbClr val="4A5568"/>
                </a:solidFill>
                <a:latin typeface="Calibri" pitchFamily="34" charset="0"/>
              </a:rPr>
              <a:t>Employers</a:t>
            </a:r>
          </a:p>
        </p:txBody>
      </p:sp>
      <p:sp>
        <p:nvSpPr>
          <p:cNvPr id="8" name="sbox_bg_2"/>
          <p:cNvSpPr>
            <a:spLocks noGrp="1"/>
          </p:cNvSpPr>
          <p:nvPr/>
        </p:nvSpPr>
        <p:spPr>
          <a:xfrm>
            <a:off x="2450592" y="749808"/>
            <a:ext cx="2011680" cy="822960"/>
          </a:xfrm>
          <a:prstGeom prst="rect">
            <a:avLst/>
          </a:prstGeom>
          <a:solidFill>
            <a:srgbClr val="F7F9FC"/>
          </a:solidFill>
          <a:ln w="12700">
            <a:solidFill>
              <a:srgbClr val="E2E8F0"/>
            </a:solidFill>
            <a:prstDash val="solid"/>
          </a:ln>
        </p:spPr>
        <p:txBody>
          <a:bodyPr/>
          <a:lstStyle/>
          <a:p>
            <a:endParaRPr/>
          </a:p>
        </p:txBody>
      </p:sp>
      <p:sp>
        <p:nvSpPr>
          <p:cNvPr id="9" name="sbox_val_2"/>
          <p:cNvSpPr/>
          <p:nvPr/>
        </p:nvSpPr>
        <p:spPr>
          <a:xfrm>
            <a:off x="2450592" y="777240"/>
            <a:ext cx="2011680" cy="457200"/>
          </a:xfrm>
          <a:prstGeom prst="rect">
            <a:avLst/>
          </a:prstGeom>
          <a:noFill/>
          <a:ln>
            <a:noFill/>
          </a:ln>
        </p:spPr>
        <p:txBody>
          <a:bodyPr wrap="square" rtlCol="0" anchor="ctr"/>
          <a:lstStyle/>
          <a:p>
            <a:pPr marL="0" indent="0" algn="l">
              <a:buNone/>
            </a:pPr>
            <a:r>
              <a:rPr lang="en-US" sz="1800" b="1" dirty="0">
                <a:solidFill>
                  <a:srgbClr val="1A3A5C"/>
                </a:solidFill>
                <a:latin typeface="Calibri" pitchFamily="34" charset="0"/>
              </a:rPr>
              <a:t>23,634</a:t>
            </a:r>
          </a:p>
        </p:txBody>
      </p:sp>
      <p:sp>
        <p:nvSpPr>
          <p:cNvPr id="10" name="sbox_lbl_2"/>
          <p:cNvSpPr/>
          <p:nvPr/>
        </p:nvSpPr>
        <p:spPr>
          <a:xfrm>
            <a:off x="2450592" y="1261872"/>
            <a:ext cx="2011680" cy="256032"/>
          </a:xfrm>
          <a:prstGeom prst="rect">
            <a:avLst/>
          </a:prstGeom>
          <a:noFill/>
          <a:ln>
            <a:noFill/>
          </a:ln>
        </p:spPr>
        <p:txBody>
          <a:bodyPr wrap="square" rtlCol="0" anchor="t"/>
          <a:lstStyle/>
          <a:p>
            <a:pPr marL="0" indent="0" algn="l">
              <a:buNone/>
            </a:pPr>
            <a:r>
              <a:rPr lang="en-US" sz="800" dirty="0">
                <a:solidFill>
                  <a:srgbClr val="4A5568"/>
                </a:solidFill>
                <a:latin typeface="Calibri" pitchFamily="34" charset="0"/>
              </a:rPr>
              <a:t>Covered Employees</a:t>
            </a:r>
          </a:p>
        </p:txBody>
      </p:sp>
      <p:sp>
        <p:nvSpPr>
          <p:cNvPr id="11" name="sbox_bg_3"/>
          <p:cNvSpPr>
            <a:spLocks noGrp="1"/>
          </p:cNvSpPr>
          <p:nvPr/>
        </p:nvSpPr>
        <p:spPr>
          <a:xfrm>
            <a:off x="4626864" y="749808"/>
            <a:ext cx="2011680" cy="822960"/>
          </a:xfrm>
          <a:prstGeom prst="rect">
            <a:avLst/>
          </a:prstGeom>
          <a:solidFill>
            <a:srgbClr val="F7F9FC"/>
          </a:solidFill>
          <a:ln w="12700">
            <a:solidFill>
              <a:srgbClr val="E2E8F0"/>
            </a:solidFill>
            <a:prstDash val="solid"/>
          </a:ln>
        </p:spPr>
        <p:txBody>
          <a:bodyPr/>
          <a:lstStyle/>
          <a:p>
            <a:endParaRPr/>
          </a:p>
        </p:txBody>
      </p:sp>
      <p:sp>
        <p:nvSpPr>
          <p:cNvPr id="12" name="sbox_val_3"/>
          <p:cNvSpPr/>
          <p:nvPr/>
        </p:nvSpPr>
        <p:spPr>
          <a:xfrm>
            <a:off x="4626864" y="777240"/>
            <a:ext cx="2011680" cy="457200"/>
          </a:xfrm>
          <a:prstGeom prst="rect">
            <a:avLst/>
          </a:prstGeom>
          <a:noFill/>
          <a:ln>
            <a:noFill/>
          </a:ln>
        </p:spPr>
        <p:txBody>
          <a:bodyPr wrap="square" rtlCol="0" anchor="ctr"/>
          <a:lstStyle/>
          <a:p>
            <a:pPr marL="0" indent="0" algn="l">
              <a:buNone/>
            </a:pPr>
            <a:r>
              <a:rPr lang="en-US" sz="1800" b="1" dirty="0">
                <a:solidFill>
                  <a:srgbClr val="1A3A5C"/>
                </a:solidFill>
                <a:latin typeface="Calibri" pitchFamily="34" charset="0"/>
              </a:rPr>
              <a:t>6.2%</a:t>
            </a:r>
          </a:p>
        </p:txBody>
      </p:sp>
      <p:sp>
        <p:nvSpPr>
          <p:cNvPr id="13" name="sbox_lbl_3"/>
          <p:cNvSpPr/>
          <p:nvPr/>
        </p:nvSpPr>
        <p:spPr>
          <a:xfrm>
            <a:off x="4626864" y="1261872"/>
            <a:ext cx="2011680" cy="256032"/>
          </a:xfrm>
          <a:prstGeom prst="rect">
            <a:avLst/>
          </a:prstGeom>
          <a:noFill/>
          <a:ln>
            <a:noFill/>
          </a:ln>
        </p:spPr>
        <p:txBody>
          <a:bodyPr wrap="square" rtlCol="0" anchor="t"/>
          <a:lstStyle/>
          <a:p>
            <a:pPr marL="0" indent="0" algn="l">
              <a:buNone/>
            </a:pPr>
            <a:r>
              <a:rPr lang="en-US" sz="800" dirty="0">
                <a:solidFill>
                  <a:srgbClr val="4A5568"/>
                </a:solidFill>
                <a:latin typeface="Calibri" pitchFamily="34" charset="0"/>
              </a:rPr>
              <a:t>EE Market Share</a:t>
            </a:r>
          </a:p>
        </p:txBody>
      </p:sp>
      <p:sp>
        <p:nvSpPr>
          <p:cNvPr id="14" name="sbox_bg_4"/>
          <p:cNvSpPr>
            <a:spLocks noGrp="1"/>
          </p:cNvSpPr>
          <p:nvPr/>
        </p:nvSpPr>
        <p:spPr>
          <a:xfrm>
            <a:off x="6803136" y="749808"/>
            <a:ext cx="2011680" cy="822960"/>
          </a:xfrm>
          <a:prstGeom prst="rect">
            <a:avLst/>
          </a:prstGeom>
          <a:solidFill>
            <a:srgbClr val="F7F9FC"/>
          </a:solidFill>
          <a:ln w="12700">
            <a:solidFill>
              <a:srgbClr val="E2E8F0"/>
            </a:solidFill>
            <a:prstDash val="solid"/>
          </a:ln>
        </p:spPr>
        <p:txBody>
          <a:bodyPr/>
          <a:lstStyle/>
          <a:p>
            <a:endParaRPr/>
          </a:p>
        </p:txBody>
      </p:sp>
      <p:sp>
        <p:nvSpPr>
          <p:cNvPr id="15" name="sbox_val_4"/>
          <p:cNvSpPr/>
          <p:nvPr/>
        </p:nvSpPr>
        <p:spPr>
          <a:xfrm>
            <a:off x="6803136" y="777240"/>
            <a:ext cx="2011680" cy="457200"/>
          </a:xfrm>
          <a:prstGeom prst="rect">
            <a:avLst/>
          </a:prstGeom>
          <a:noFill/>
          <a:ln>
            <a:noFill/>
          </a:ln>
        </p:spPr>
        <p:txBody>
          <a:bodyPr wrap="square" rtlCol="0" anchor="ctr"/>
          <a:lstStyle/>
          <a:p>
            <a:pPr marL="0" indent="0" algn="l">
              <a:buNone/>
            </a:pPr>
            <a:r>
              <a:rPr lang="en-US" sz="1800" b="1" dirty="0">
                <a:solidFill>
                  <a:srgbClr val="1A3A5C"/>
                </a:solidFill>
                <a:latin typeface="Calibri" pitchFamily="34" charset="0"/>
              </a:rPr>
              <a:t>#4 of 111</a:t>
            </a:r>
          </a:p>
        </p:txBody>
      </p:sp>
      <p:sp>
        <p:nvSpPr>
          <p:cNvPr id="16" name="sbox_lbl_4"/>
          <p:cNvSpPr/>
          <p:nvPr/>
        </p:nvSpPr>
        <p:spPr>
          <a:xfrm>
            <a:off x="6803136" y="1261872"/>
            <a:ext cx="2011680" cy="256032"/>
          </a:xfrm>
          <a:prstGeom prst="rect">
            <a:avLst/>
          </a:prstGeom>
          <a:noFill/>
          <a:ln>
            <a:noFill/>
          </a:ln>
        </p:spPr>
        <p:txBody>
          <a:bodyPr wrap="square" rtlCol="0" anchor="t"/>
          <a:lstStyle/>
          <a:p>
            <a:pPr marL="0" indent="0" algn="l">
              <a:buNone/>
            </a:pPr>
            <a:r>
              <a:rPr lang="en-US" sz="800" dirty="0">
                <a:solidFill>
                  <a:srgbClr val="4A5568"/>
                </a:solidFill>
                <a:latin typeface="Calibri" pitchFamily="34" charset="0"/>
              </a:rPr>
              <a:t>Rank</a:t>
            </a:r>
          </a:p>
        </p:txBody>
      </p:sp>
      <p:sp>
        <p:nvSpPr>
          <p:cNvPr id="17" name="ftr_bar"/>
          <p:cNvSpPr>
            <a:spLocks noGrp="1"/>
          </p:cNvSpPr>
          <p:nvPr/>
        </p:nvSpPr>
        <p:spPr>
          <a:xfrm>
            <a:off x="0" y="4846320"/>
            <a:ext cx="9144000" cy="297180"/>
          </a:xfrm>
          <a:prstGeom prst="rect">
            <a:avLst/>
          </a:prstGeom>
          <a:solidFill>
            <a:srgbClr val="1A3A5C"/>
          </a:solidFill>
          <a:ln>
            <a:noFill/>
          </a:ln>
        </p:spPr>
        <p:txBody>
          <a:bodyPr/>
          <a:lstStyle/>
          <a:p>
            <a:endParaRPr/>
          </a:p>
        </p:txBody>
      </p:sp>
      <p:sp>
        <p:nvSpPr>
          <p:cNvPr id="18" name="ftr_txt"/>
          <p:cNvSpPr/>
          <p:nvPr/>
        </p:nvSpPr>
        <p:spPr>
          <a:xfrm>
            <a:off x="365760" y="4864608"/>
            <a:ext cx="6400800" cy="256032"/>
          </a:xfrm>
          <a:prstGeom prst="rect">
            <a:avLst/>
          </a:prstGeom>
          <a:noFill/>
          <a:ln>
            <a:noFill/>
          </a:ln>
        </p:spPr>
        <p:txBody>
          <a:bodyPr wrap="square" rtlCol="0" anchor="ctr"/>
          <a:lstStyle/>
          <a:p>
            <a:pPr marL="0" indent="0" algn="l">
              <a:buNone/>
            </a:pPr>
            <a:r>
              <a:rPr lang="en-US" sz="900" dirty="0">
                <a:solidFill>
                  <a:srgbClr val="E2E8F0"/>
                </a:solidFill>
                <a:latin typeface="Calibri" pitchFamily="34" charset="0"/>
              </a:rPr>
              <a:t>5500 Filings Data | All Groups With Identified Benefits Broker</a:t>
            </a:r>
          </a:p>
        </p:txBody>
      </p:sp>
      <p:sp>
        <p:nvSpPr>
          <p:cNvPr id="19" name="ftr_conf"/>
          <p:cNvSpPr/>
          <p:nvPr/>
        </p:nvSpPr>
        <p:spPr>
          <a:xfrm>
            <a:off x="6858000" y="4864608"/>
            <a:ext cx="2011680" cy="256032"/>
          </a:xfrm>
          <a:prstGeom prst="rect">
            <a:avLst/>
          </a:prstGeom>
          <a:noFill/>
          <a:ln>
            <a:noFill/>
          </a:ln>
        </p:spPr>
        <p:txBody>
          <a:bodyPr wrap="square" rtlCol="0" anchor="ctr"/>
          <a:lstStyle/>
          <a:p>
            <a:pPr marL="0" indent="0" algn="r">
              <a:buNone/>
            </a:pPr>
            <a:r>
              <a:rPr lang="en-US" sz="900" dirty="0">
                <a:solidFill>
                  <a:srgbClr val="E2E8F0"/>
                </a:solidFill>
                <a:latin typeface="Calibri" pitchFamily="34" charset="0"/>
              </a:rPr>
              <a:t>Confidential - Internal Use Only</a:t>
            </a:r>
          </a:p>
        </p:txBody>
      </p:sp>
      <p:graphicFrame>
        <p:nvGraphicFramePr>
          <p:cNvPr id="20" name="Table 19"/>
          <p:cNvGraphicFramePr>
            <a:graphicFrameLocks noGrp="1"/>
          </p:cNvGraphicFramePr>
          <p:nvPr>
            <p:extLst>
              <p:ext uri="{D42A27DB-BD31-4B8C-83A1-F6EECF244321}">
                <p14:modId xmlns:p14="http://schemas.microsoft.com/office/powerpoint/2010/main" val="925657249"/>
              </p:ext>
            </p:extLst>
          </p:nvPr>
        </p:nvGraphicFramePr>
        <p:xfrm>
          <a:off x="274320" y="1562873"/>
          <a:ext cx="7315200" cy="3185160"/>
        </p:xfrm>
        <a:graphic>
          <a:graphicData uri="http://schemas.openxmlformats.org/drawingml/2006/table">
            <a:tbl>
              <a:tblPr/>
              <a:tblGrid>
                <a:gridCol w="292608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822960">
                  <a:extLst>
                    <a:ext uri="{9D8B030D-6E8A-4147-A177-3AD203B41FA5}">
                      <a16:colId xmlns:a16="http://schemas.microsoft.com/office/drawing/2014/main" val="20004"/>
                    </a:ext>
                  </a:extLst>
                </a:gridCol>
              </a:tblGrid>
              <a:tr h="144626">
                <a:tc>
                  <a:txBody>
                    <a:bodyPr/>
                    <a:lstStyle/>
                    <a:p>
                      <a:pPr marL="38100" marR="38100" algn="l">
                        <a:lnSpc>
                          <a:spcPct val="100000"/>
                        </a:lnSpc>
                        <a:spcBef>
                          <a:spcPts val="300"/>
                        </a:spcBef>
                        <a:spcAft>
                          <a:spcPts val="300"/>
                        </a:spcAft>
                        <a:buNone/>
                      </a:pPr>
                      <a:r>
                        <a:rPr sz="900" b="1" i="0" u="none" strike="noStrike" cap="none">
                          <a:solidFill>
                            <a:srgbClr val="FFFFFF">
                              <a:alpha val="100000"/>
                            </a:srgbClr>
                          </a:solidFill>
                          <a:latin typeface="Calibri"/>
                          <a:cs typeface="Calibri"/>
                          <a:sym typeface="Calibri"/>
                        </a:rPr>
                        <a:t>Employer</a:t>
                      </a:r>
                    </a:p>
                  </a:txBody>
                  <a:tcPr marL="0" marR="0" marT="38100" marB="38100" anchor="ctr">
                    <a:lnL w="6350"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alpha val="100000"/>
                        </a:srgbClr>
                      </a:solidFill>
                      <a:prstDash val="solid"/>
                    </a:lnT>
                    <a:lnB w="6350" cap="flat" cmpd="sng" algn="ctr">
                      <a:solidFill>
                        <a:srgbClr val="E2E8F0">
                          <a:alpha val="100000"/>
                        </a:srgbClr>
                      </a:solidFill>
                      <a:prstDash val="solid"/>
                    </a:lnB>
                    <a:solidFill>
                      <a:srgbClr val="1A3A5C">
                        <a:alpha val="100000"/>
                      </a:srgbClr>
                    </a:solidFill>
                  </a:tcPr>
                </a:tc>
                <a:tc>
                  <a:txBody>
                    <a:bodyPr/>
                    <a:lstStyle/>
                    <a:p>
                      <a:pPr marL="38100" marR="38100" algn="l">
                        <a:lnSpc>
                          <a:spcPct val="100000"/>
                        </a:lnSpc>
                        <a:spcBef>
                          <a:spcPts val="300"/>
                        </a:spcBef>
                        <a:spcAft>
                          <a:spcPts val="300"/>
                        </a:spcAft>
                        <a:buNone/>
                      </a:pPr>
                      <a:r>
                        <a:rPr sz="900" b="1" i="0" u="none" strike="noStrike" cap="none">
                          <a:solidFill>
                            <a:srgbClr val="FFFFFF">
                              <a:alpha val="100000"/>
                            </a:srgbClr>
                          </a:solidFill>
                          <a:latin typeface="Calibri"/>
                          <a:cs typeface="Calibri"/>
                          <a:sym typeface="Calibri"/>
                        </a:rPr>
                        <a:t>City</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alpha val="100000"/>
                        </a:srgbClr>
                      </a:solidFill>
                      <a:prstDash val="solid"/>
                    </a:lnT>
                    <a:lnB w="6350" cap="flat" cmpd="sng" algn="ctr">
                      <a:solidFill>
                        <a:srgbClr val="E2E8F0">
                          <a:alpha val="100000"/>
                        </a:srgbClr>
                      </a:solidFill>
                      <a:prstDash val="solid"/>
                    </a:lnB>
                    <a:solidFill>
                      <a:srgbClr val="1A3A5C">
                        <a:alpha val="100000"/>
                      </a:srgbClr>
                    </a:solidFill>
                  </a:tcPr>
                </a:tc>
                <a:tc>
                  <a:txBody>
                    <a:bodyPr/>
                    <a:lstStyle/>
                    <a:p>
                      <a:pPr marL="38100" marR="38100" algn="l">
                        <a:lnSpc>
                          <a:spcPct val="100000"/>
                        </a:lnSpc>
                        <a:spcBef>
                          <a:spcPts val="300"/>
                        </a:spcBef>
                        <a:spcAft>
                          <a:spcPts val="300"/>
                        </a:spcAft>
                        <a:buNone/>
                      </a:pPr>
                      <a:r>
                        <a:rPr sz="900" b="1" i="0" u="none" strike="noStrike" cap="none">
                          <a:solidFill>
                            <a:srgbClr val="FFFFFF">
                              <a:alpha val="100000"/>
                            </a:srgbClr>
                          </a:solidFill>
                          <a:latin typeface="Calibri"/>
                          <a:cs typeface="Calibri"/>
                          <a:sym typeface="Calibri"/>
                        </a:rPr>
                        <a:t>Revenue Range</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alpha val="100000"/>
                        </a:srgbClr>
                      </a:solidFill>
                      <a:prstDash val="solid"/>
                    </a:lnT>
                    <a:lnB w="6350" cap="flat" cmpd="sng" algn="ctr">
                      <a:solidFill>
                        <a:srgbClr val="E2E8F0">
                          <a:alpha val="100000"/>
                        </a:srgbClr>
                      </a:solidFill>
                      <a:prstDash val="solid"/>
                    </a:lnB>
                    <a:solidFill>
                      <a:srgbClr val="1A3A5C">
                        <a:alpha val="100000"/>
                      </a:srgbClr>
                    </a:solidFill>
                  </a:tcPr>
                </a:tc>
                <a:tc>
                  <a:txBody>
                    <a:bodyPr/>
                    <a:lstStyle/>
                    <a:p>
                      <a:pPr marL="38100" marR="38100" algn="ctr">
                        <a:lnSpc>
                          <a:spcPct val="100000"/>
                        </a:lnSpc>
                        <a:spcBef>
                          <a:spcPts val="300"/>
                        </a:spcBef>
                        <a:spcAft>
                          <a:spcPts val="300"/>
                        </a:spcAft>
                        <a:buNone/>
                      </a:pPr>
                      <a:r>
                        <a:rPr sz="900" b="1" i="0" u="none" strike="noStrike" cap="none">
                          <a:solidFill>
                            <a:srgbClr val="FFFFFF">
                              <a:alpha val="100000"/>
                            </a:srgbClr>
                          </a:solidFill>
                          <a:latin typeface="Calibri"/>
                          <a:cs typeface="Calibri"/>
                          <a:sym typeface="Calibri"/>
                        </a:rPr>
                        <a:t>Covered EEs</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alpha val="100000"/>
                        </a:srgbClr>
                      </a:solidFill>
                      <a:prstDash val="solid"/>
                    </a:lnT>
                    <a:lnB w="6350" cap="flat" cmpd="sng" algn="ctr">
                      <a:solidFill>
                        <a:srgbClr val="E2E8F0">
                          <a:alpha val="100000"/>
                        </a:srgbClr>
                      </a:solidFill>
                      <a:prstDash val="solid"/>
                    </a:lnB>
                    <a:solidFill>
                      <a:srgbClr val="1A3A5C">
                        <a:alpha val="100000"/>
                      </a:srgbClr>
                    </a:solidFill>
                  </a:tcPr>
                </a:tc>
                <a:tc>
                  <a:txBody>
                    <a:bodyPr/>
                    <a:lstStyle/>
                    <a:p>
                      <a:pPr marL="38100" marR="38100" algn="ctr">
                        <a:lnSpc>
                          <a:spcPct val="100000"/>
                        </a:lnSpc>
                        <a:spcBef>
                          <a:spcPts val="300"/>
                        </a:spcBef>
                        <a:spcAft>
                          <a:spcPts val="300"/>
                        </a:spcAft>
                        <a:buNone/>
                      </a:pPr>
                      <a:r>
                        <a:rPr sz="900" b="1" i="0" u="none" strike="noStrike" cap="none">
                          <a:solidFill>
                            <a:srgbClr val="FFFFFF">
                              <a:alpha val="100000"/>
                            </a:srgbClr>
                          </a:solidFill>
                          <a:latin typeface="Calibri"/>
                          <a:cs typeface="Calibri"/>
                          <a:sym typeface="Calibri"/>
                        </a:rPr>
                        <a:t>% of Book</a:t>
                      </a:r>
                    </a:p>
                  </a:txBody>
                  <a:tcPr marL="0" marR="0" marT="38100" marB="38100" anchor="ctr">
                    <a:lnL w="3175" cap="flat" cmpd="sng" algn="ctr">
                      <a:solidFill>
                        <a:srgbClr val="E2E8F0">
                          <a:alpha val="100000"/>
                        </a:srgbClr>
                      </a:solidFill>
                      <a:prstDash val="solid"/>
                    </a:lnL>
                    <a:lnR w="6350" cap="flat" cmpd="sng" algn="ctr">
                      <a:solidFill>
                        <a:srgbClr val="E2E8F0">
                          <a:alpha val="100000"/>
                        </a:srgbClr>
                      </a:solidFill>
                      <a:prstDash val="solid"/>
                    </a:lnR>
                    <a:lnT w="6350" cap="flat" cmpd="sng" algn="ctr">
                      <a:solidFill>
                        <a:srgbClr val="E2E8F0">
                          <a:alpha val="100000"/>
                        </a:srgbClr>
                      </a:solidFill>
                      <a:prstDash val="solid"/>
                    </a:lnT>
                    <a:lnB w="6350" cap="flat" cmpd="sng" algn="ctr">
                      <a:solidFill>
                        <a:srgbClr val="E2E8F0">
                          <a:alpha val="100000"/>
                        </a:srgbClr>
                      </a:solidFill>
                      <a:prstDash val="solid"/>
                    </a:lnB>
                    <a:solidFill>
                      <a:srgbClr val="1A3A5C">
                        <a:alpha val="100000"/>
                      </a:srgbClr>
                    </a:solidFill>
                  </a:tcPr>
                </a:tc>
                <a:extLst>
                  <a:ext uri="{0D108BD9-81ED-4DB2-BD59-A6C34878D82A}">
                    <a16:rowId xmlns:a16="http://schemas.microsoft.com/office/drawing/2014/main" val="10000"/>
                  </a:ext>
                </a:extLst>
              </a:tr>
              <a:tr h="144626">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SOVEREIGN HEALTHCARE HOLDINGS LLC</a:t>
                      </a:r>
                    </a:p>
                  </a:txBody>
                  <a:tcPr marL="0" marR="0" marT="38100" marB="38100" anchor="ctr">
                    <a:lnL w="6350"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solidFill>
                      <a:prstDash val="solid"/>
                      <a:round/>
                      <a:headEnd type="none" w="med" len="med"/>
                      <a:tailEnd type="none" w="med" len="med"/>
                    </a:lnT>
                    <a:lnB w="3175" cap="flat" cmpd="sng" algn="ctr">
                      <a:solidFill>
                        <a:srgbClr val="E2E8F0">
                          <a:alpha val="100000"/>
                        </a:srgbClr>
                      </a:solidFill>
                      <a:prstDash val="solid"/>
                    </a:lnB>
                    <a:solidFill>
                      <a:srgbClr val="FFFFFF">
                        <a:alpha val="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CASSELBERRY</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solidFill>
                      <a:prstDash val="solid"/>
                      <a:round/>
                      <a:headEnd type="none" w="med" len="med"/>
                      <a:tailEnd type="none" w="med" len="med"/>
                    </a:lnT>
                    <a:lnB w="3175" cap="flat" cmpd="sng" algn="ctr">
                      <a:solidFill>
                        <a:srgbClr val="E2E8F0">
                          <a:alpha val="100000"/>
                        </a:srgbClr>
                      </a:solidFill>
                      <a:prstDash val="solid"/>
                    </a:lnB>
                    <a:solidFill>
                      <a:srgbClr val="FFFFFF">
                        <a:alpha val="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200M - 1B</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solidFill>
                      <a:prstDash val="solid"/>
                      <a:round/>
                      <a:headEnd type="none" w="med" len="med"/>
                      <a:tailEnd type="none" w="med" len="med"/>
                    </a:lnT>
                    <a:lnB w="3175" cap="flat" cmpd="sng" algn="ctr">
                      <a:solidFill>
                        <a:srgbClr val="E2E8F0">
                          <a:alpha val="100000"/>
                        </a:srgbClr>
                      </a:solidFill>
                      <a:prstDash val="solid"/>
                    </a:lnB>
                    <a:solidFill>
                      <a:srgbClr val="FFFFFF">
                        <a:alpha val="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4,100</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solidFill>
                      <a:prstDash val="solid"/>
                      <a:round/>
                      <a:headEnd type="none" w="med" len="med"/>
                      <a:tailEnd type="none" w="med" len="med"/>
                    </a:lnT>
                    <a:lnB w="3175" cap="flat" cmpd="sng" algn="ctr">
                      <a:solidFill>
                        <a:srgbClr val="E2E8F0">
                          <a:alpha val="100000"/>
                        </a:srgbClr>
                      </a:solidFill>
                      <a:prstDash val="solid"/>
                    </a:lnB>
                    <a:solidFill>
                      <a:srgbClr val="FFFFFF">
                        <a:alpha val="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17.3%</a:t>
                      </a:r>
                    </a:p>
                  </a:txBody>
                  <a:tcPr marL="0" marR="0" marT="38100" marB="38100" anchor="ctr">
                    <a:lnL w="3175" cap="flat" cmpd="sng" algn="ctr">
                      <a:solidFill>
                        <a:srgbClr val="E2E8F0">
                          <a:alpha val="100000"/>
                        </a:srgbClr>
                      </a:solidFill>
                      <a:prstDash val="solid"/>
                    </a:lnL>
                    <a:lnR w="6350" cap="flat" cmpd="sng" algn="ctr">
                      <a:solidFill>
                        <a:srgbClr val="E2E8F0">
                          <a:alpha val="100000"/>
                        </a:srgbClr>
                      </a:solidFill>
                      <a:prstDash val="solid"/>
                    </a:lnR>
                    <a:lnT w="6350" cap="flat" cmpd="sng" algn="ctr">
                      <a:solidFill>
                        <a:srgbClr val="E2E8F0"/>
                      </a:solidFill>
                      <a:prstDash val="solid"/>
                      <a:round/>
                      <a:headEnd type="none" w="med" len="med"/>
                      <a:tailEnd type="none" w="med" len="med"/>
                    </a:lnT>
                    <a:lnB w="3175"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01"/>
                  </a:ext>
                </a:extLst>
              </a:tr>
              <a:tr h="144626">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UNIVERSAL ENGINEERING SCIENCES HOLDINGS INC</a:t>
                      </a:r>
                    </a:p>
                  </a:txBody>
                  <a:tcPr marL="0" marR="0" marT="38100" marB="381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ORLANDO</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200M - 1B</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3,402</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14.4%</a:t>
                      </a:r>
                    </a:p>
                  </a:txBody>
                  <a:tcPr marL="0" marR="0" marT="38100" marB="381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extLst>
                  <a:ext uri="{0D108BD9-81ED-4DB2-BD59-A6C34878D82A}">
                    <a16:rowId xmlns:a16="http://schemas.microsoft.com/office/drawing/2014/main" val="10002"/>
                  </a:ext>
                </a:extLst>
              </a:tr>
              <a:tr h="144626">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STRADA SERVICES LLC</a:t>
                      </a:r>
                    </a:p>
                  </a:txBody>
                  <a:tcPr marL="0" marR="0" marT="38100" marB="381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SANFORD</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50M - 100M</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2,421</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10.2%</a:t>
                      </a:r>
                    </a:p>
                  </a:txBody>
                  <a:tcPr marL="0" marR="0" marT="38100" marB="381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03"/>
                  </a:ext>
                </a:extLst>
              </a:tr>
              <a:tr h="177164">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ZRS MANAGEMENT LLC</a:t>
                      </a:r>
                    </a:p>
                  </a:txBody>
                  <a:tcPr marL="0" marR="0" marT="38100" marB="381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ORLANDO</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100M - 200M</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2,065</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8.7%</a:t>
                      </a:r>
                    </a:p>
                  </a:txBody>
                  <a:tcPr marL="0" marR="0" marT="38100" marB="381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extLst>
                  <a:ext uri="{0D108BD9-81ED-4DB2-BD59-A6C34878D82A}">
                    <a16:rowId xmlns:a16="http://schemas.microsoft.com/office/drawing/2014/main" val="10004"/>
                  </a:ext>
                </a:extLst>
              </a:tr>
              <a:tr h="144626">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GOODWILL INDUSTRIES OF CENTRAL FLORIDA INC</a:t>
                      </a:r>
                    </a:p>
                  </a:txBody>
                  <a:tcPr marL="0" marR="0" marT="38100" marB="381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ORLANDO</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100M - 200M</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1,243</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5.3%</a:t>
                      </a:r>
                    </a:p>
                  </a:txBody>
                  <a:tcPr marL="0" marR="0" marT="38100" marB="381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05"/>
                  </a:ext>
                </a:extLst>
              </a:tr>
              <a:tr h="144626">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MULLINAX FORD OF CENTRAL FLORIDA</a:t>
                      </a:r>
                    </a:p>
                  </a:txBody>
                  <a:tcPr marL="0" marR="0" marT="38100" marB="381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APOPKA</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100M - 200M</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972</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4.1%</a:t>
                      </a:r>
                    </a:p>
                  </a:txBody>
                  <a:tcPr marL="0" marR="0" marT="38100" marB="381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extLst>
                  <a:ext uri="{0D108BD9-81ED-4DB2-BD59-A6C34878D82A}">
                    <a16:rowId xmlns:a16="http://schemas.microsoft.com/office/drawing/2014/main" val="10006"/>
                  </a:ext>
                </a:extLst>
              </a:tr>
              <a:tr h="144626">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SONATA HEALTH CARE LLC</a:t>
                      </a:r>
                    </a:p>
                  </a:txBody>
                  <a:tcPr marL="0" marR="0" marT="38100" marB="381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ORLANDO</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50M - 100M</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724</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3.1%</a:t>
                      </a:r>
                    </a:p>
                  </a:txBody>
                  <a:tcPr marL="0" marR="0" marT="38100" marB="381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07"/>
                  </a:ext>
                </a:extLst>
              </a:tr>
              <a:tr h="144626">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LOYAL SOURCE GOVERNMENT SERVICES LLC</a:t>
                      </a:r>
                    </a:p>
                  </a:txBody>
                  <a:tcPr marL="0" marR="0" marT="38100" marB="381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ORLANDO</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200M - 1B</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605</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2.6%</a:t>
                      </a:r>
                    </a:p>
                  </a:txBody>
                  <a:tcPr marL="0" marR="0" marT="38100" marB="381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extLst>
                  <a:ext uri="{0D108BD9-81ED-4DB2-BD59-A6C34878D82A}">
                    <a16:rowId xmlns:a16="http://schemas.microsoft.com/office/drawing/2014/main" val="10008"/>
                  </a:ext>
                </a:extLst>
              </a:tr>
              <a:tr h="144626">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EARL ENTERPRISES</a:t>
                      </a:r>
                    </a:p>
                  </a:txBody>
                  <a:tcPr marL="0" marR="0" marT="38100" marB="381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ORLANDO</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&gt; 1B</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539</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2.3%</a:t>
                      </a:r>
                    </a:p>
                  </a:txBody>
                  <a:tcPr marL="0" marR="0" marT="38100" marB="381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09"/>
                  </a:ext>
                </a:extLst>
              </a:tr>
              <a:tr h="144626">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RO-MAC LUMBER AND SUPPLY INC</a:t>
                      </a:r>
                    </a:p>
                  </a:txBody>
                  <a:tcPr marL="0" marR="0" marT="38100" marB="381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LEESBURG</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10M - 50M</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521</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2.2%</a:t>
                      </a:r>
                    </a:p>
                  </a:txBody>
                  <a:tcPr marL="0" marR="0" marT="38100" marB="381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extLst>
                  <a:ext uri="{0D108BD9-81ED-4DB2-BD59-A6C34878D82A}">
                    <a16:rowId xmlns:a16="http://schemas.microsoft.com/office/drawing/2014/main" val="10010"/>
                  </a:ext>
                </a:extLst>
              </a:tr>
              <a:tr h="144626">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TLC ENGINEERING SOLUTIONS INC</a:t>
                      </a:r>
                    </a:p>
                  </a:txBody>
                  <a:tcPr marL="0" marR="0" marT="38100" marB="381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ORLANDO</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50M - 100M</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491</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2.1%</a:t>
                      </a:r>
                    </a:p>
                  </a:txBody>
                  <a:tcPr marL="0" marR="0" marT="38100" marB="381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11"/>
                  </a:ext>
                </a:extLst>
              </a:tr>
              <a:tr h="144626">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METRO CORRAL PARTNERS LLC</a:t>
                      </a:r>
                    </a:p>
                  </a:txBody>
                  <a:tcPr marL="0" marR="0" marT="38100" marB="381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MAITLAND</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10M - 50M</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447</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1.9%</a:t>
                      </a:r>
                    </a:p>
                  </a:txBody>
                  <a:tcPr marL="0" marR="0" marT="38100" marB="381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extLst>
                  <a:ext uri="{0D108BD9-81ED-4DB2-BD59-A6C34878D82A}">
                    <a16:rowId xmlns:a16="http://schemas.microsoft.com/office/drawing/2014/main" val="10012"/>
                  </a:ext>
                </a:extLst>
              </a:tr>
              <a:tr h="144626">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RSR GROUP INC</a:t>
                      </a:r>
                    </a:p>
                  </a:txBody>
                  <a:tcPr marL="0" marR="0" marT="38100" marB="381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WINTER PARK</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50M - 100M</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416</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1.8%</a:t>
                      </a:r>
                    </a:p>
                  </a:txBody>
                  <a:tcPr marL="0" marR="0" marT="38100" marB="381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13"/>
                  </a:ext>
                </a:extLst>
              </a:tr>
              <a:tr h="144626">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SW INGREDIENTS HOLDINGS LLC</a:t>
                      </a:r>
                    </a:p>
                  </a:txBody>
                  <a:tcPr marL="0" marR="0" marT="38100" marB="381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ORLANDO</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10M - 50M</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355</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1.5%</a:t>
                      </a:r>
                    </a:p>
                  </a:txBody>
                  <a:tcPr marL="0" marR="0" marT="38100" marB="381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extLst>
                  <a:ext uri="{0D108BD9-81ED-4DB2-BD59-A6C34878D82A}">
                    <a16:rowId xmlns:a16="http://schemas.microsoft.com/office/drawing/2014/main" val="10014"/>
                  </a:ext>
                </a:extLst>
              </a:tr>
              <a:tr h="144626">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CRYSTAL LAKE SUPPORTIVE ENVIRONMENTS</a:t>
                      </a:r>
                    </a:p>
                  </a:txBody>
                  <a:tcPr marL="0" marR="0" marT="38100" marB="381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6350" cap="flat" cmpd="sng" algn="ctr">
                      <a:solidFill>
                        <a:srgbClr val="E2E8F0">
                          <a:alpha val="100000"/>
                        </a:srgbClr>
                      </a:solidFill>
                      <a:prstDash val="solid"/>
                    </a:lnB>
                    <a:solidFill>
                      <a:srgbClr val="FFFFFF">
                        <a:alpha val="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ORLANDO</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6350" cap="flat" cmpd="sng" algn="ctr">
                      <a:solidFill>
                        <a:srgbClr val="E2E8F0">
                          <a:alpha val="100000"/>
                        </a:srgbClr>
                      </a:solidFill>
                      <a:prstDash val="solid"/>
                    </a:lnB>
                    <a:solidFill>
                      <a:srgbClr val="FFFFFF">
                        <a:alpha val="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1M - 10M</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6350" cap="flat" cmpd="sng" algn="ctr">
                      <a:solidFill>
                        <a:srgbClr val="E2E8F0">
                          <a:alpha val="100000"/>
                        </a:srgbClr>
                      </a:solidFill>
                      <a:prstDash val="solid"/>
                    </a:lnB>
                    <a:solidFill>
                      <a:srgbClr val="FFFFFF">
                        <a:alpha val="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335</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6350" cap="flat" cmpd="sng" algn="ctr">
                      <a:solidFill>
                        <a:srgbClr val="E2E8F0">
                          <a:alpha val="100000"/>
                        </a:srgbClr>
                      </a:solidFill>
                      <a:prstDash val="solid"/>
                    </a:lnB>
                    <a:solidFill>
                      <a:srgbClr val="FFFFFF">
                        <a:alpha val="0"/>
                      </a:srgbClr>
                    </a:solidFill>
                  </a:tcPr>
                </a:tc>
                <a:tc>
                  <a:txBody>
                    <a:bodyPr/>
                    <a:lstStyle/>
                    <a:p>
                      <a:pPr marL="38100" marR="38100" algn="ctr">
                        <a:lnSpc>
                          <a:spcPct val="100000"/>
                        </a:lnSpc>
                        <a:spcBef>
                          <a:spcPts val="300"/>
                        </a:spcBef>
                        <a:spcAft>
                          <a:spcPts val="300"/>
                        </a:spcAft>
                        <a:buNone/>
                      </a:pPr>
                      <a:r>
                        <a:rPr sz="800" b="0" i="0" u="none" strike="noStrike" cap="none" dirty="0">
                          <a:solidFill>
                            <a:srgbClr val="000000">
                              <a:alpha val="100000"/>
                            </a:srgbClr>
                          </a:solidFill>
                          <a:latin typeface="Calibri"/>
                          <a:cs typeface="Calibri"/>
                          <a:sym typeface="Calibri"/>
                        </a:rPr>
                        <a:t>1.4%</a:t>
                      </a:r>
                    </a:p>
                  </a:txBody>
                  <a:tcPr marL="0" marR="0" marT="38100" marB="381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6350"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15"/>
                  </a:ext>
                </a:extLst>
              </a:tr>
            </a:tbl>
          </a:graphicData>
        </a:graphic>
      </p:graphicFrame>
      <p:sp>
        <p:nvSpPr>
          <p:cNvPr id="21" name="summary_line"/>
          <p:cNvSpPr/>
          <p:nvPr/>
        </p:nvSpPr>
        <p:spPr>
          <a:xfrm>
            <a:off x="267871" y="4682877"/>
            <a:ext cx="8595360" cy="228600"/>
          </a:xfrm>
          <a:prstGeom prst="rect">
            <a:avLst/>
          </a:prstGeom>
          <a:noFill/>
          <a:ln>
            <a:noFill/>
          </a:ln>
        </p:spPr>
        <p:txBody>
          <a:bodyPr wrap="square" rtlCol="0" anchor="ctr"/>
          <a:lstStyle/>
          <a:p>
            <a:pPr marL="0" indent="0" algn="l">
              <a:buNone/>
            </a:pPr>
            <a:r>
              <a:rPr lang="en-US" sz="750" dirty="0">
                <a:solidFill>
                  <a:srgbClr val="4A5568"/>
                </a:solidFill>
                <a:latin typeface="Calibri" pitchFamily="34" charset="0"/>
              </a:rPr>
              <a:t>MARSH AND MCLENNAN AGENCY  |  23,634 covered employees  |  6.2% market share  |  Top 15 of 43 employers shown</a:t>
            </a:r>
          </a:p>
        </p:txBody>
      </p:sp>
      <p:sp>
        <p:nvSpPr>
          <p:cNvPr id="22" name="Object 8">
            <a:extLst>
              <a:ext uri="{FF2B5EF4-FFF2-40B4-BE49-F238E27FC236}">
                <a16:creationId xmlns:a16="http://schemas.microsoft.com/office/drawing/2014/main" id="{2F4BFD9A-5B8F-46A4-E6B9-6DCBA788AC8C}"/>
              </a:ext>
            </a:extLst>
          </p:cNvPr>
          <p:cNvSpPr/>
          <p:nvPr/>
        </p:nvSpPr>
        <p:spPr>
          <a:xfrm>
            <a:off x="7058962" y="73152"/>
            <a:ext cx="2005028" cy="476131"/>
          </a:xfrm>
          <a:prstGeom prst="rect">
            <a:avLst/>
          </a:pr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23" name="Object 9">
            <a:extLst>
              <a:ext uri="{FF2B5EF4-FFF2-40B4-BE49-F238E27FC236}">
                <a16:creationId xmlns:a16="http://schemas.microsoft.com/office/drawing/2014/main" id="{CC676865-6EDE-864C-3089-EDCE1CC85BCB}"/>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7211324" y="168378"/>
            <a:ext cx="1700304" cy="28567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dr_bar"/>
          <p:cNvSpPr>
            <a:spLocks noGrp="1"/>
          </p:cNvSpPr>
          <p:nvPr/>
        </p:nvSpPr>
        <p:spPr>
          <a:xfrm>
            <a:off x="0" y="0"/>
            <a:ext cx="9144000" cy="640080"/>
          </a:xfrm>
          <a:prstGeom prst="rect">
            <a:avLst/>
          </a:prstGeom>
          <a:solidFill>
            <a:srgbClr val="1A3A5C"/>
          </a:solidFill>
          <a:ln>
            <a:noFill/>
          </a:ln>
        </p:spPr>
        <p:txBody>
          <a:bodyPr/>
          <a:lstStyle/>
          <a:p>
            <a:endParaRPr/>
          </a:p>
        </p:txBody>
      </p:sp>
      <p:sp>
        <p:nvSpPr>
          <p:cNvPr id="3" name="hdr_label"/>
          <p:cNvSpPr/>
          <p:nvPr/>
        </p:nvSpPr>
        <p:spPr>
          <a:xfrm>
            <a:off x="274320" y="73152"/>
            <a:ext cx="1463040" cy="493776"/>
          </a:xfrm>
          <a:prstGeom prst="rect">
            <a:avLst/>
          </a:prstGeom>
          <a:noFill/>
          <a:ln>
            <a:noFill/>
          </a:ln>
        </p:spPr>
        <p:txBody>
          <a:bodyPr wrap="square" rtlCol="0" anchor="ctr"/>
          <a:lstStyle/>
          <a:p>
            <a:pPr marL="0" indent="0" algn="l">
              <a:buNone/>
            </a:pPr>
            <a:r>
              <a:rPr lang="en-US" sz="1100" dirty="0">
                <a:solidFill>
                  <a:srgbClr val="93C5FD"/>
                </a:solidFill>
                <a:latin typeface="Calibri" pitchFamily="34" charset="0"/>
              </a:rPr>
              <a:t>Broker Detail</a:t>
            </a:r>
          </a:p>
        </p:txBody>
      </p:sp>
      <p:sp>
        <p:nvSpPr>
          <p:cNvPr id="4" name="hdr_name"/>
          <p:cNvSpPr/>
          <p:nvPr/>
        </p:nvSpPr>
        <p:spPr>
          <a:xfrm>
            <a:off x="1828800" y="73152"/>
            <a:ext cx="7040880" cy="493776"/>
          </a:xfrm>
          <a:prstGeom prst="rect">
            <a:avLst/>
          </a:prstGeom>
          <a:noFill/>
          <a:ln>
            <a:noFill/>
          </a:ln>
        </p:spPr>
        <p:txBody>
          <a:bodyPr wrap="square" rtlCol="0" anchor="ctr"/>
          <a:lstStyle/>
          <a:p>
            <a:pPr marL="0" indent="0" algn="l">
              <a:buNone/>
            </a:pPr>
            <a:r>
              <a:rPr lang="en-US" sz="1500" b="1" dirty="0">
                <a:solidFill>
                  <a:srgbClr val="FFFFFF"/>
                </a:solidFill>
                <a:latin typeface="Calibri" pitchFamily="34" charset="0"/>
              </a:rPr>
              <a:t>BROWN AND BROWN</a:t>
            </a:r>
          </a:p>
        </p:txBody>
      </p:sp>
      <p:sp>
        <p:nvSpPr>
          <p:cNvPr id="5" name="sbox_bg_1"/>
          <p:cNvSpPr>
            <a:spLocks noGrp="1"/>
          </p:cNvSpPr>
          <p:nvPr/>
        </p:nvSpPr>
        <p:spPr>
          <a:xfrm>
            <a:off x="274320" y="749808"/>
            <a:ext cx="2011680" cy="822960"/>
          </a:xfrm>
          <a:prstGeom prst="rect">
            <a:avLst/>
          </a:prstGeom>
          <a:solidFill>
            <a:srgbClr val="F7F9FC"/>
          </a:solidFill>
          <a:ln w="12700">
            <a:solidFill>
              <a:srgbClr val="E2E8F0"/>
            </a:solidFill>
            <a:prstDash val="solid"/>
          </a:ln>
        </p:spPr>
        <p:txBody>
          <a:bodyPr/>
          <a:lstStyle/>
          <a:p>
            <a:endParaRPr/>
          </a:p>
        </p:txBody>
      </p:sp>
      <p:sp>
        <p:nvSpPr>
          <p:cNvPr id="6" name="sbox_val_1"/>
          <p:cNvSpPr/>
          <p:nvPr/>
        </p:nvSpPr>
        <p:spPr>
          <a:xfrm>
            <a:off x="274320" y="777240"/>
            <a:ext cx="2011680" cy="457200"/>
          </a:xfrm>
          <a:prstGeom prst="rect">
            <a:avLst/>
          </a:prstGeom>
          <a:noFill/>
          <a:ln>
            <a:noFill/>
          </a:ln>
        </p:spPr>
        <p:txBody>
          <a:bodyPr wrap="square" rtlCol="0" anchor="ctr"/>
          <a:lstStyle/>
          <a:p>
            <a:pPr marL="0" indent="0" algn="l">
              <a:buNone/>
            </a:pPr>
            <a:r>
              <a:rPr lang="en-US" sz="1800" b="1" dirty="0">
                <a:solidFill>
                  <a:srgbClr val="1A3A5C"/>
                </a:solidFill>
                <a:latin typeface="Calibri" pitchFamily="34" charset="0"/>
              </a:rPr>
              <a:t>58</a:t>
            </a:r>
          </a:p>
        </p:txBody>
      </p:sp>
      <p:sp>
        <p:nvSpPr>
          <p:cNvPr id="7" name="sbox_lbl_1"/>
          <p:cNvSpPr/>
          <p:nvPr/>
        </p:nvSpPr>
        <p:spPr>
          <a:xfrm>
            <a:off x="274320" y="1261872"/>
            <a:ext cx="2011680" cy="256032"/>
          </a:xfrm>
          <a:prstGeom prst="rect">
            <a:avLst/>
          </a:prstGeom>
          <a:noFill/>
          <a:ln>
            <a:noFill/>
          </a:ln>
        </p:spPr>
        <p:txBody>
          <a:bodyPr wrap="square" rtlCol="0" anchor="t"/>
          <a:lstStyle/>
          <a:p>
            <a:pPr marL="0" indent="0" algn="l">
              <a:buNone/>
            </a:pPr>
            <a:r>
              <a:rPr lang="en-US" sz="800" dirty="0">
                <a:solidFill>
                  <a:srgbClr val="4A5568"/>
                </a:solidFill>
                <a:latin typeface="Calibri" pitchFamily="34" charset="0"/>
              </a:rPr>
              <a:t>Employers</a:t>
            </a:r>
          </a:p>
        </p:txBody>
      </p:sp>
      <p:sp>
        <p:nvSpPr>
          <p:cNvPr id="8" name="sbox_bg_2"/>
          <p:cNvSpPr>
            <a:spLocks noGrp="1"/>
          </p:cNvSpPr>
          <p:nvPr/>
        </p:nvSpPr>
        <p:spPr>
          <a:xfrm>
            <a:off x="2450592" y="749808"/>
            <a:ext cx="2011680" cy="822960"/>
          </a:xfrm>
          <a:prstGeom prst="rect">
            <a:avLst/>
          </a:prstGeom>
          <a:solidFill>
            <a:srgbClr val="F7F9FC"/>
          </a:solidFill>
          <a:ln w="12700">
            <a:solidFill>
              <a:srgbClr val="E2E8F0"/>
            </a:solidFill>
            <a:prstDash val="solid"/>
          </a:ln>
        </p:spPr>
        <p:txBody>
          <a:bodyPr/>
          <a:lstStyle/>
          <a:p>
            <a:endParaRPr/>
          </a:p>
        </p:txBody>
      </p:sp>
      <p:sp>
        <p:nvSpPr>
          <p:cNvPr id="9" name="sbox_val_2"/>
          <p:cNvSpPr/>
          <p:nvPr/>
        </p:nvSpPr>
        <p:spPr>
          <a:xfrm>
            <a:off x="2450592" y="777240"/>
            <a:ext cx="2011680" cy="457200"/>
          </a:xfrm>
          <a:prstGeom prst="rect">
            <a:avLst/>
          </a:prstGeom>
          <a:noFill/>
          <a:ln>
            <a:noFill/>
          </a:ln>
        </p:spPr>
        <p:txBody>
          <a:bodyPr wrap="square" rtlCol="0" anchor="ctr"/>
          <a:lstStyle/>
          <a:p>
            <a:pPr marL="0" indent="0" algn="l">
              <a:buNone/>
            </a:pPr>
            <a:r>
              <a:rPr lang="en-US" sz="1800" b="1" dirty="0">
                <a:solidFill>
                  <a:srgbClr val="1A3A5C"/>
                </a:solidFill>
                <a:latin typeface="Calibri" pitchFamily="34" charset="0"/>
              </a:rPr>
              <a:t>21,471</a:t>
            </a:r>
          </a:p>
        </p:txBody>
      </p:sp>
      <p:sp>
        <p:nvSpPr>
          <p:cNvPr id="10" name="sbox_lbl_2"/>
          <p:cNvSpPr/>
          <p:nvPr/>
        </p:nvSpPr>
        <p:spPr>
          <a:xfrm>
            <a:off x="2450592" y="1261872"/>
            <a:ext cx="2011680" cy="256032"/>
          </a:xfrm>
          <a:prstGeom prst="rect">
            <a:avLst/>
          </a:prstGeom>
          <a:noFill/>
          <a:ln>
            <a:noFill/>
          </a:ln>
        </p:spPr>
        <p:txBody>
          <a:bodyPr wrap="square" rtlCol="0" anchor="t"/>
          <a:lstStyle/>
          <a:p>
            <a:pPr marL="0" indent="0" algn="l">
              <a:buNone/>
            </a:pPr>
            <a:r>
              <a:rPr lang="en-US" sz="800" dirty="0">
                <a:solidFill>
                  <a:srgbClr val="4A5568"/>
                </a:solidFill>
                <a:latin typeface="Calibri" pitchFamily="34" charset="0"/>
              </a:rPr>
              <a:t>Covered Employees</a:t>
            </a:r>
          </a:p>
        </p:txBody>
      </p:sp>
      <p:sp>
        <p:nvSpPr>
          <p:cNvPr id="11" name="sbox_bg_3"/>
          <p:cNvSpPr>
            <a:spLocks noGrp="1"/>
          </p:cNvSpPr>
          <p:nvPr/>
        </p:nvSpPr>
        <p:spPr>
          <a:xfrm>
            <a:off x="4626864" y="749808"/>
            <a:ext cx="2011680" cy="822960"/>
          </a:xfrm>
          <a:prstGeom prst="rect">
            <a:avLst/>
          </a:prstGeom>
          <a:solidFill>
            <a:srgbClr val="F7F9FC"/>
          </a:solidFill>
          <a:ln w="12700">
            <a:solidFill>
              <a:srgbClr val="E2E8F0"/>
            </a:solidFill>
            <a:prstDash val="solid"/>
          </a:ln>
        </p:spPr>
        <p:txBody>
          <a:bodyPr/>
          <a:lstStyle/>
          <a:p>
            <a:endParaRPr/>
          </a:p>
        </p:txBody>
      </p:sp>
      <p:sp>
        <p:nvSpPr>
          <p:cNvPr id="12" name="sbox_val_3"/>
          <p:cNvSpPr/>
          <p:nvPr/>
        </p:nvSpPr>
        <p:spPr>
          <a:xfrm>
            <a:off x="4626864" y="777240"/>
            <a:ext cx="2011680" cy="457200"/>
          </a:xfrm>
          <a:prstGeom prst="rect">
            <a:avLst/>
          </a:prstGeom>
          <a:noFill/>
          <a:ln>
            <a:noFill/>
          </a:ln>
        </p:spPr>
        <p:txBody>
          <a:bodyPr wrap="square" rtlCol="0" anchor="ctr"/>
          <a:lstStyle/>
          <a:p>
            <a:pPr marL="0" indent="0" algn="l">
              <a:buNone/>
            </a:pPr>
            <a:r>
              <a:rPr lang="en-US" sz="1800" b="1" dirty="0">
                <a:solidFill>
                  <a:srgbClr val="1A3A5C"/>
                </a:solidFill>
                <a:latin typeface="Calibri" pitchFamily="34" charset="0"/>
              </a:rPr>
              <a:t>5.6%</a:t>
            </a:r>
          </a:p>
        </p:txBody>
      </p:sp>
      <p:sp>
        <p:nvSpPr>
          <p:cNvPr id="13" name="sbox_lbl_3"/>
          <p:cNvSpPr/>
          <p:nvPr/>
        </p:nvSpPr>
        <p:spPr>
          <a:xfrm>
            <a:off x="4626864" y="1261872"/>
            <a:ext cx="2011680" cy="256032"/>
          </a:xfrm>
          <a:prstGeom prst="rect">
            <a:avLst/>
          </a:prstGeom>
          <a:noFill/>
          <a:ln>
            <a:noFill/>
          </a:ln>
        </p:spPr>
        <p:txBody>
          <a:bodyPr wrap="square" rtlCol="0" anchor="t"/>
          <a:lstStyle/>
          <a:p>
            <a:pPr marL="0" indent="0" algn="l">
              <a:buNone/>
            </a:pPr>
            <a:r>
              <a:rPr lang="en-US" sz="800" dirty="0">
                <a:solidFill>
                  <a:srgbClr val="4A5568"/>
                </a:solidFill>
                <a:latin typeface="Calibri" pitchFamily="34" charset="0"/>
              </a:rPr>
              <a:t>EE Market Share</a:t>
            </a:r>
          </a:p>
        </p:txBody>
      </p:sp>
      <p:sp>
        <p:nvSpPr>
          <p:cNvPr id="14" name="sbox_bg_4"/>
          <p:cNvSpPr>
            <a:spLocks noGrp="1"/>
          </p:cNvSpPr>
          <p:nvPr/>
        </p:nvSpPr>
        <p:spPr>
          <a:xfrm>
            <a:off x="6803136" y="749808"/>
            <a:ext cx="2011680" cy="822960"/>
          </a:xfrm>
          <a:prstGeom prst="rect">
            <a:avLst/>
          </a:prstGeom>
          <a:solidFill>
            <a:srgbClr val="F7F9FC"/>
          </a:solidFill>
          <a:ln w="12700">
            <a:solidFill>
              <a:srgbClr val="E2E8F0"/>
            </a:solidFill>
            <a:prstDash val="solid"/>
          </a:ln>
        </p:spPr>
        <p:txBody>
          <a:bodyPr/>
          <a:lstStyle/>
          <a:p>
            <a:endParaRPr/>
          </a:p>
        </p:txBody>
      </p:sp>
      <p:sp>
        <p:nvSpPr>
          <p:cNvPr id="15" name="sbox_val_4"/>
          <p:cNvSpPr/>
          <p:nvPr/>
        </p:nvSpPr>
        <p:spPr>
          <a:xfrm>
            <a:off x="6803136" y="777240"/>
            <a:ext cx="2011680" cy="457200"/>
          </a:xfrm>
          <a:prstGeom prst="rect">
            <a:avLst/>
          </a:prstGeom>
          <a:noFill/>
          <a:ln>
            <a:noFill/>
          </a:ln>
        </p:spPr>
        <p:txBody>
          <a:bodyPr wrap="square" rtlCol="0" anchor="ctr"/>
          <a:lstStyle/>
          <a:p>
            <a:pPr marL="0" indent="0" algn="l">
              <a:buNone/>
            </a:pPr>
            <a:r>
              <a:rPr lang="en-US" sz="1800" b="1" dirty="0">
                <a:solidFill>
                  <a:srgbClr val="1A3A5C"/>
                </a:solidFill>
                <a:latin typeface="Calibri" pitchFamily="34" charset="0"/>
              </a:rPr>
              <a:t>#5 of 111</a:t>
            </a:r>
          </a:p>
        </p:txBody>
      </p:sp>
      <p:sp>
        <p:nvSpPr>
          <p:cNvPr id="16" name="sbox_lbl_4"/>
          <p:cNvSpPr/>
          <p:nvPr/>
        </p:nvSpPr>
        <p:spPr>
          <a:xfrm>
            <a:off x="6803136" y="1261872"/>
            <a:ext cx="2011680" cy="256032"/>
          </a:xfrm>
          <a:prstGeom prst="rect">
            <a:avLst/>
          </a:prstGeom>
          <a:noFill/>
          <a:ln>
            <a:noFill/>
          </a:ln>
        </p:spPr>
        <p:txBody>
          <a:bodyPr wrap="square" rtlCol="0" anchor="t"/>
          <a:lstStyle/>
          <a:p>
            <a:pPr marL="0" indent="0" algn="l">
              <a:buNone/>
            </a:pPr>
            <a:r>
              <a:rPr lang="en-US" sz="800" dirty="0">
                <a:solidFill>
                  <a:srgbClr val="4A5568"/>
                </a:solidFill>
                <a:latin typeface="Calibri" pitchFamily="34" charset="0"/>
              </a:rPr>
              <a:t>Rank</a:t>
            </a:r>
          </a:p>
        </p:txBody>
      </p:sp>
      <p:sp>
        <p:nvSpPr>
          <p:cNvPr id="17" name="ftr_bar"/>
          <p:cNvSpPr>
            <a:spLocks noGrp="1"/>
          </p:cNvSpPr>
          <p:nvPr/>
        </p:nvSpPr>
        <p:spPr>
          <a:xfrm>
            <a:off x="0" y="4846320"/>
            <a:ext cx="9144000" cy="297180"/>
          </a:xfrm>
          <a:prstGeom prst="rect">
            <a:avLst/>
          </a:prstGeom>
          <a:solidFill>
            <a:srgbClr val="1A3A5C"/>
          </a:solidFill>
          <a:ln>
            <a:noFill/>
          </a:ln>
        </p:spPr>
        <p:txBody>
          <a:bodyPr/>
          <a:lstStyle/>
          <a:p>
            <a:endParaRPr/>
          </a:p>
        </p:txBody>
      </p:sp>
      <p:sp>
        <p:nvSpPr>
          <p:cNvPr id="18" name="ftr_txt"/>
          <p:cNvSpPr/>
          <p:nvPr/>
        </p:nvSpPr>
        <p:spPr>
          <a:xfrm>
            <a:off x="365760" y="4864608"/>
            <a:ext cx="6400800" cy="256032"/>
          </a:xfrm>
          <a:prstGeom prst="rect">
            <a:avLst/>
          </a:prstGeom>
          <a:noFill/>
          <a:ln>
            <a:noFill/>
          </a:ln>
        </p:spPr>
        <p:txBody>
          <a:bodyPr wrap="square" rtlCol="0" anchor="ctr"/>
          <a:lstStyle/>
          <a:p>
            <a:pPr marL="0" indent="0" algn="l">
              <a:buNone/>
            </a:pPr>
            <a:r>
              <a:rPr lang="en-US" sz="900" dirty="0">
                <a:solidFill>
                  <a:srgbClr val="E2E8F0"/>
                </a:solidFill>
                <a:latin typeface="Calibri" pitchFamily="34" charset="0"/>
              </a:rPr>
              <a:t>5500 Filings Data | All Groups With Identified Benefits Broker</a:t>
            </a:r>
          </a:p>
        </p:txBody>
      </p:sp>
      <p:sp>
        <p:nvSpPr>
          <p:cNvPr id="19" name="ftr_conf"/>
          <p:cNvSpPr/>
          <p:nvPr/>
        </p:nvSpPr>
        <p:spPr>
          <a:xfrm>
            <a:off x="6858000" y="4864608"/>
            <a:ext cx="2011680" cy="256032"/>
          </a:xfrm>
          <a:prstGeom prst="rect">
            <a:avLst/>
          </a:prstGeom>
          <a:noFill/>
          <a:ln>
            <a:noFill/>
          </a:ln>
        </p:spPr>
        <p:txBody>
          <a:bodyPr wrap="square" rtlCol="0" anchor="ctr"/>
          <a:lstStyle/>
          <a:p>
            <a:pPr marL="0" indent="0" algn="r">
              <a:buNone/>
            </a:pPr>
            <a:r>
              <a:rPr lang="en-US" sz="900" dirty="0">
                <a:solidFill>
                  <a:srgbClr val="E2E8F0"/>
                </a:solidFill>
                <a:latin typeface="Calibri" pitchFamily="34" charset="0"/>
              </a:rPr>
              <a:t>Confidential - Internal Use Only</a:t>
            </a:r>
          </a:p>
        </p:txBody>
      </p:sp>
      <p:graphicFrame>
        <p:nvGraphicFramePr>
          <p:cNvPr id="20" name="Table 19"/>
          <p:cNvGraphicFramePr>
            <a:graphicFrameLocks noGrp="1"/>
          </p:cNvGraphicFramePr>
          <p:nvPr>
            <p:extLst>
              <p:ext uri="{D42A27DB-BD31-4B8C-83A1-F6EECF244321}">
                <p14:modId xmlns:p14="http://schemas.microsoft.com/office/powerpoint/2010/main" val="2178811945"/>
              </p:ext>
            </p:extLst>
          </p:nvPr>
        </p:nvGraphicFramePr>
        <p:xfrm>
          <a:off x="252616" y="1572768"/>
          <a:ext cx="7315200" cy="3185160"/>
        </p:xfrm>
        <a:graphic>
          <a:graphicData uri="http://schemas.openxmlformats.org/drawingml/2006/table">
            <a:tbl>
              <a:tblPr/>
              <a:tblGrid>
                <a:gridCol w="292608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822960">
                  <a:extLst>
                    <a:ext uri="{9D8B030D-6E8A-4147-A177-3AD203B41FA5}">
                      <a16:colId xmlns:a16="http://schemas.microsoft.com/office/drawing/2014/main" val="20004"/>
                    </a:ext>
                  </a:extLst>
                </a:gridCol>
              </a:tblGrid>
              <a:tr h="160306">
                <a:tc>
                  <a:txBody>
                    <a:bodyPr/>
                    <a:lstStyle/>
                    <a:p>
                      <a:pPr marL="38100" marR="38100" algn="l">
                        <a:lnSpc>
                          <a:spcPct val="100000"/>
                        </a:lnSpc>
                        <a:spcBef>
                          <a:spcPts val="300"/>
                        </a:spcBef>
                        <a:spcAft>
                          <a:spcPts val="300"/>
                        </a:spcAft>
                        <a:buNone/>
                      </a:pPr>
                      <a:r>
                        <a:rPr sz="900" b="1" i="0" u="none" strike="noStrike" cap="none">
                          <a:solidFill>
                            <a:srgbClr val="FFFFFF">
                              <a:alpha val="100000"/>
                            </a:srgbClr>
                          </a:solidFill>
                          <a:latin typeface="Calibri"/>
                          <a:cs typeface="Calibri"/>
                          <a:sym typeface="Calibri"/>
                        </a:rPr>
                        <a:t>Employer</a:t>
                      </a:r>
                    </a:p>
                  </a:txBody>
                  <a:tcPr marL="0" marR="0" marT="38100" marB="38100" anchor="ctr">
                    <a:lnL w="6350"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alpha val="100000"/>
                        </a:srgbClr>
                      </a:solidFill>
                      <a:prstDash val="solid"/>
                    </a:lnT>
                    <a:lnB w="6350" cap="flat" cmpd="sng" algn="ctr">
                      <a:solidFill>
                        <a:srgbClr val="E2E8F0">
                          <a:alpha val="100000"/>
                        </a:srgbClr>
                      </a:solidFill>
                      <a:prstDash val="solid"/>
                    </a:lnB>
                    <a:solidFill>
                      <a:srgbClr val="1A3A5C">
                        <a:alpha val="100000"/>
                      </a:srgbClr>
                    </a:solidFill>
                  </a:tcPr>
                </a:tc>
                <a:tc>
                  <a:txBody>
                    <a:bodyPr/>
                    <a:lstStyle/>
                    <a:p>
                      <a:pPr marL="38100" marR="38100" algn="l">
                        <a:lnSpc>
                          <a:spcPct val="100000"/>
                        </a:lnSpc>
                        <a:spcBef>
                          <a:spcPts val="300"/>
                        </a:spcBef>
                        <a:spcAft>
                          <a:spcPts val="300"/>
                        </a:spcAft>
                        <a:buNone/>
                      </a:pPr>
                      <a:r>
                        <a:rPr sz="900" b="1" i="0" u="none" strike="noStrike" cap="none" dirty="0">
                          <a:solidFill>
                            <a:srgbClr val="FFFFFF">
                              <a:alpha val="100000"/>
                            </a:srgbClr>
                          </a:solidFill>
                          <a:latin typeface="Calibri"/>
                          <a:cs typeface="Calibri"/>
                          <a:sym typeface="Calibri"/>
                        </a:rPr>
                        <a:t>City</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alpha val="100000"/>
                        </a:srgbClr>
                      </a:solidFill>
                      <a:prstDash val="solid"/>
                    </a:lnT>
                    <a:lnB w="6350" cap="flat" cmpd="sng" algn="ctr">
                      <a:solidFill>
                        <a:srgbClr val="E2E8F0">
                          <a:alpha val="100000"/>
                        </a:srgbClr>
                      </a:solidFill>
                      <a:prstDash val="solid"/>
                    </a:lnB>
                    <a:solidFill>
                      <a:srgbClr val="1A3A5C">
                        <a:alpha val="100000"/>
                      </a:srgbClr>
                    </a:solidFill>
                  </a:tcPr>
                </a:tc>
                <a:tc>
                  <a:txBody>
                    <a:bodyPr/>
                    <a:lstStyle/>
                    <a:p>
                      <a:pPr marL="38100" marR="38100" algn="l">
                        <a:lnSpc>
                          <a:spcPct val="100000"/>
                        </a:lnSpc>
                        <a:spcBef>
                          <a:spcPts val="300"/>
                        </a:spcBef>
                        <a:spcAft>
                          <a:spcPts val="300"/>
                        </a:spcAft>
                        <a:buNone/>
                      </a:pPr>
                      <a:r>
                        <a:rPr sz="900" b="1" i="0" u="none" strike="noStrike" cap="none">
                          <a:solidFill>
                            <a:srgbClr val="FFFFFF">
                              <a:alpha val="100000"/>
                            </a:srgbClr>
                          </a:solidFill>
                          <a:latin typeface="Calibri"/>
                          <a:cs typeface="Calibri"/>
                          <a:sym typeface="Calibri"/>
                        </a:rPr>
                        <a:t>Revenue Range</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alpha val="100000"/>
                        </a:srgbClr>
                      </a:solidFill>
                      <a:prstDash val="solid"/>
                    </a:lnT>
                    <a:lnB w="6350" cap="flat" cmpd="sng" algn="ctr">
                      <a:solidFill>
                        <a:srgbClr val="E2E8F0">
                          <a:alpha val="100000"/>
                        </a:srgbClr>
                      </a:solidFill>
                      <a:prstDash val="solid"/>
                    </a:lnB>
                    <a:solidFill>
                      <a:srgbClr val="1A3A5C">
                        <a:alpha val="100000"/>
                      </a:srgbClr>
                    </a:solidFill>
                  </a:tcPr>
                </a:tc>
                <a:tc>
                  <a:txBody>
                    <a:bodyPr/>
                    <a:lstStyle/>
                    <a:p>
                      <a:pPr marL="38100" marR="38100" algn="ctr">
                        <a:lnSpc>
                          <a:spcPct val="100000"/>
                        </a:lnSpc>
                        <a:spcBef>
                          <a:spcPts val="300"/>
                        </a:spcBef>
                        <a:spcAft>
                          <a:spcPts val="300"/>
                        </a:spcAft>
                        <a:buNone/>
                      </a:pPr>
                      <a:r>
                        <a:rPr sz="900" b="1" i="0" u="none" strike="noStrike" cap="none">
                          <a:solidFill>
                            <a:srgbClr val="FFFFFF">
                              <a:alpha val="100000"/>
                            </a:srgbClr>
                          </a:solidFill>
                          <a:latin typeface="Calibri"/>
                          <a:cs typeface="Calibri"/>
                          <a:sym typeface="Calibri"/>
                        </a:rPr>
                        <a:t>Covered EEs</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alpha val="100000"/>
                        </a:srgbClr>
                      </a:solidFill>
                      <a:prstDash val="solid"/>
                    </a:lnT>
                    <a:lnB w="6350" cap="flat" cmpd="sng" algn="ctr">
                      <a:solidFill>
                        <a:srgbClr val="E2E8F0">
                          <a:alpha val="100000"/>
                        </a:srgbClr>
                      </a:solidFill>
                      <a:prstDash val="solid"/>
                    </a:lnB>
                    <a:solidFill>
                      <a:srgbClr val="1A3A5C">
                        <a:alpha val="100000"/>
                      </a:srgbClr>
                    </a:solidFill>
                  </a:tcPr>
                </a:tc>
                <a:tc>
                  <a:txBody>
                    <a:bodyPr/>
                    <a:lstStyle/>
                    <a:p>
                      <a:pPr marL="38100" marR="38100" algn="ctr">
                        <a:lnSpc>
                          <a:spcPct val="100000"/>
                        </a:lnSpc>
                        <a:spcBef>
                          <a:spcPts val="300"/>
                        </a:spcBef>
                        <a:spcAft>
                          <a:spcPts val="300"/>
                        </a:spcAft>
                        <a:buNone/>
                      </a:pPr>
                      <a:r>
                        <a:rPr sz="900" b="1" i="0" u="none" strike="noStrike" cap="none">
                          <a:solidFill>
                            <a:srgbClr val="FFFFFF">
                              <a:alpha val="100000"/>
                            </a:srgbClr>
                          </a:solidFill>
                          <a:latin typeface="Calibri"/>
                          <a:cs typeface="Calibri"/>
                          <a:sym typeface="Calibri"/>
                        </a:rPr>
                        <a:t>% of Book</a:t>
                      </a:r>
                    </a:p>
                  </a:txBody>
                  <a:tcPr marL="0" marR="0" marT="38100" marB="38100" anchor="ctr">
                    <a:lnL w="3175" cap="flat" cmpd="sng" algn="ctr">
                      <a:solidFill>
                        <a:srgbClr val="E2E8F0">
                          <a:alpha val="100000"/>
                        </a:srgbClr>
                      </a:solidFill>
                      <a:prstDash val="solid"/>
                    </a:lnL>
                    <a:lnR w="6350" cap="flat" cmpd="sng" algn="ctr">
                      <a:solidFill>
                        <a:srgbClr val="E2E8F0">
                          <a:alpha val="100000"/>
                        </a:srgbClr>
                      </a:solidFill>
                      <a:prstDash val="solid"/>
                    </a:lnR>
                    <a:lnT w="6350" cap="flat" cmpd="sng" algn="ctr">
                      <a:solidFill>
                        <a:srgbClr val="E2E8F0">
                          <a:alpha val="100000"/>
                        </a:srgbClr>
                      </a:solidFill>
                      <a:prstDash val="solid"/>
                    </a:lnT>
                    <a:lnB w="6350" cap="flat" cmpd="sng" algn="ctr">
                      <a:solidFill>
                        <a:srgbClr val="E2E8F0">
                          <a:alpha val="100000"/>
                        </a:srgbClr>
                      </a:solidFill>
                      <a:prstDash val="solid"/>
                    </a:lnB>
                    <a:solidFill>
                      <a:srgbClr val="1A3A5C">
                        <a:alpha val="100000"/>
                      </a:srgbClr>
                    </a:solidFill>
                  </a:tcPr>
                </a:tc>
                <a:extLst>
                  <a:ext uri="{0D108BD9-81ED-4DB2-BD59-A6C34878D82A}">
                    <a16:rowId xmlns:a16="http://schemas.microsoft.com/office/drawing/2014/main" val="10000"/>
                  </a:ext>
                </a:extLst>
              </a:tr>
              <a:tr h="160306">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HOLIDAY INN CLUB VACATIONS INC</a:t>
                      </a:r>
                    </a:p>
                  </a:txBody>
                  <a:tcPr marL="0" marR="0" marT="38100" marB="38100" anchor="ctr">
                    <a:lnL w="6350"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solidFill>
                      <a:prstDash val="solid"/>
                      <a:round/>
                      <a:headEnd type="none" w="med" len="med"/>
                      <a:tailEnd type="none" w="med" len="med"/>
                    </a:lnT>
                    <a:lnB w="3175" cap="flat" cmpd="sng" algn="ctr">
                      <a:solidFill>
                        <a:srgbClr val="E2E8F0">
                          <a:alpha val="100000"/>
                        </a:srgbClr>
                      </a:solidFill>
                      <a:prstDash val="solid"/>
                    </a:lnB>
                    <a:solidFill>
                      <a:srgbClr val="FFFFFF">
                        <a:alpha val="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ORLANDO</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solidFill>
                      <a:prstDash val="solid"/>
                      <a:round/>
                      <a:headEnd type="none" w="med" len="med"/>
                      <a:tailEnd type="none" w="med" len="med"/>
                    </a:lnT>
                    <a:lnB w="3175" cap="flat" cmpd="sng" algn="ctr">
                      <a:solidFill>
                        <a:srgbClr val="E2E8F0">
                          <a:alpha val="100000"/>
                        </a:srgbClr>
                      </a:solidFill>
                      <a:prstDash val="solid"/>
                    </a:lnB>
                    <a:solidFill>
                      <a:srgbClr val="FFFFFF">
                        <a:alpha val="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&gt; 1B</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solidFill>
                      <a:prstDash val="solid"/>
                      <a:round/>
                      <a:headEnd type="none" w="med" len="med"/>
                      <a:tailEnd type="none" w="med" len="med"/>
                    </a:lnT>
                    <a:lnB w="3175" cap="flat" cmpd="sng" algn="ctr">
                      <a:solidFill>
                        <a:srgbClr val="E2E8F0">
                          <a:alpha val="100000"/>
                        </a:srgbClr>
                      </a:solidFill>
                      <a:prstDash val="solid"/>
                    </a:lnB>
                    <a:solidFill>
                      <a:srgbClr val="FFFFFF">
                        <a:alpha val="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3,541</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solidFill>
                      <a:prstDash val="solid"/>
                      <a:round/>
                      <a:headEnd type="none" w="med" len="med"/>
                      <a:tailEnd type="none" w="med" len="med"/>
                    </a:lnT>
                    <a:lnB w="3175" cap="flat" cmpd="sng" algn="ctr">
                      <a:solidFill>
                        <a:srgbClr val="E2E8F0">
                          <a:alpha val="100000"/>
                        </a:srgbClr>
                      </a:solidFill>
                      <a:prstDash val="solid"/>
                    </a:lnB>
                    <a:solidFill>
                      <a:srgbClr val="FFFFFF">
                        <a:alpha val="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16.5%</a:t>
                      </a:r>
                    </a:p>
                  </a:txBody>
                  <a:tcPr marL="0" marR="0" marT="38100" marB="38100" anchor="ctr">
                    <a:lnL w="3175" cap="flat" cmpd="sng" algn="ctr">
                      <a:solidFill>
                        <a:srgbClr val="E2E8F0">
                          <a:alpha val="100000"/>
                        </a:srgbClr>
                      </a:solidFill>
                      <a:prstDash val="solid"/>
                    </a:lnL>
                    <a:lnR w="6350" cap="flat" cmpd="sng" algn="ctr">
                      <a:solidFill>
                        <a:srgbClr val="E2E8F0">
                          <a:alpha val="100000"/>
                        </a:srgbClr>
                      </a:solidFill>
                      <a:prstDash val="solid"/>
                    </a:lnR>
                    <a:lnT w="6350" cap="flat" cmpd="sng" algn="ctr">
                      <a:solidFill>
                        <a:srgbClr val="E2E8F0"/>
                      </a:solidFill>
                      <a:prstDash val="solid"/>
                      <a:round/>
                      <a:headEnd type="none" w="med" len="med"/>
                      <a:tailEnd type="none" w="med" len="med"/>
                    </a:lnT>
                    <a:lnB w="3175"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01"/>
                  </a:ext>
                </a:extLst>
              </a:tr>
              <a:tr h="160306">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RAVAGO AMERICAS LLC</a:t>
                      </a:r>
                    </a:p>
                  </a:txBody>
                  <a:tcPr marL="0" marR="0" marT="38100" marB="381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ORLANDO</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&gt; 1B</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1,867</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8.7%</a:t>
                      </a:r>
                    </a:p>
                  </a:txBody>
                  <a:tcPr marL="0" marR="0" marT="38100" marB="381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extLst>
                  <a:ext uri="{0D108BD9-81ED-4DB2-BD59-A6C34878D82A}">
                    <a16:rowId xmlns:a16="http://schemas.microsoft.com/office/drawing/2014/main" val="10002"/>
                  </a:ext>
                </a:extLst>
              </a:tr>
              <a:tr h="160306">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CORRECT CRAFT HOLDING COMPANY LLC</a:t>
                      </a:r>
                    </a:p>
                  </a:txBody>
                  <a:tcPr marL="0" marR="0" marT="38100" marB="381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ORLANDO</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200M - 1B</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1,531</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7.1%</a:t>
                      </a:r>
                    </a:p>
                  </a:txBody>
                  <a:tcPr marL="0" marR="0" marT="38100" marB="381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03"/>
                  </a:ext>
                </a:extLst>
              </a:tr>
              <a:tr h="160306">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AVANT HEALTHCARE PROFESSIONALS LLC</a:t>
                      </a:r>
                    </a:p>
                  </a:txBody>
                  <a:tcPr marL="0" marR="0" marT="38100" marB="381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MAITLAND</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50M - 100M</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1,465</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6.8%</a:t>
                      </a:r>
                    </a:p>
                  </a:txBody>
                  <a:tcPr marL="0" marR="0" marT="38100" marB="381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extLst>
                  <a:ext uri="{0D108BD9-81ED-4DB2-BD59-A6C34878D82A}">
                    <a16:rowId xmlns:a16="http://schemas.microsoft.com/office/drawing/2014/main" val="10004"/>
                  </a:ext>
                </a:extLst>
              </a:tr>
              <a:tr h="160306">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CHILDRENS HOME SOCIETY OF FLORIDA</a:t>
                      </a:r>
                    </a:p>
                  </a:txBody>
                  <a:tcPr marL="0" marR="0" marT="38100" marB="381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ORLANDO</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200M - 1B</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965</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4.5%</a:t>
                      </a:r>
                    </a:p>
                  </a:txBody>
                  <a:tcPr marL="0" marR="0" marT="38100" marB="381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05"/>
                  </a:ext>
                </a:extLst>
              </a:tr>
              <a:tr h="160306">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MATTAMY FLORIDA LLC</a:t>
                      </a:r>
                    </a:p>
                  </a:txBody>
                  <a:tcPr marL="0" marR="0" marT="38100" marB="381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ORLANDO</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50M - 100M</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825</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3.8%</a:t>
                      </a:r>
                    </a:p>
                  </a:txBody>
                  <a:tcPr marL="0" marR="0" marT="38100" marB="381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extLst>
                  <a:ext uri="{0D108BD9-81ED-4DB2-BD59-A6C34878D82A}">
                    <a16:rowId xmlns:a16="http://schemas.microsoft.com/office/drawing/2014/main" val="10006"/>
                  </a:ext>
                </a:extLst>
              </a:tr>
              <a:tr h="160306">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FINFROCK HOLDINGS INC</a:t>
                      </a:r>
                    </a:p>
                  </a:txBody>
                  <a:tcPr marL="0" marR="0" marT="38100" marB="381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APOPKA</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50M - 100M</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612</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2.9%</a:t>
                      </a:r>
                    </a:p>
                  </a:txBody>
                  <a:tcPr marL="0" marR="0" marT="38100" marB="381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07"/>
                  </a:ext>
                </a:extLst>
              </a:tr>
              <a:tr h="160306">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AUTOMOTIVE SERVICES NETWORK INC</a:t>
                      </a:r>
                    </a:p>
                  </a:txBody>
                  <a:tcPr marL="0" marR="0" marT="38100" marB="381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WINTER PARK</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100M - 200M</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581</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2.7%</a:t>
                      </a:r>
                    </a:p>
                  </a:txBody>
                  <a:tcPr marL="0" marR="0" marT="38100" marB="381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extLst>
                  <a:ext uri="{0D108BD9-81ED-4DB2-BD59-A6C34878D82A}">
                    <a16:rowId xmlns:a16="http://schemas.microsoft.com/office/drawing/2014/main" val="10008"/>
                  </a:ext>
                </a:extLst>
              </a:tr>
              <a:tr h="160306">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LIFESTREAM BEHAVIORAL CENTER INC</a:t>
                      </a:r>
                    </a:p>
                  </a:txBody>
                  <a:tcPr marL="0" marR="0" marT="38100" marB="381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LEESBURG</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10M - 50M</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562</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2.6%</a:t>
                      </a:r>
                    </a:p>
                  </a:txBody>
                  <a:tcPr marL="0" marR="0" marT="38100" marB="381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09"/>
                  </a:ext>
                </a:extLst>
              </a:tr>
              <a:tr h="160306">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KUSTOM US INC</a:t>
                      </a:r>
                    </a:p>
                  </a:txBody>
                  <a:tcPr marL="0" marR="0" marT="38100" marB="381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LONGWOOD</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10M - 50M</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561</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2.6%</a:t>
                      </a:r>
                    </a:p>
                  </a:txBody>
                  <a:tcPr marL="0" marR="0" marT="38100" marB="381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extLst>
                  <a:ext uri="{0D108BD9-81ED-4DB2-BD59-A6C34878D82A}">
                    <a16:rowId xmlns:a16="http://schemas.microsoft.com/office/drawing/2014/main" val="10010"/>
                  </a:ext>
                </a:extLst>
              </a:tr>
              <a:tr h="160306">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CAREPATHRX SERVICES LLC</a:t>
                      </a:r>
                    </a:p>
                  </a:txBody>
                  <a:tcPr marL="0" marR="0" marT="38100" marB="381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MAITLAND</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l">
                        <a:lnSpc>
                          <a:spcPct val="100000"/>
                        </a:lnSpc>
                        <a:spcBef>
                          <a:spcPts val="300"/>
                        </a:spcBef>
                        <a:spcAft>
                          <a:spcPts val="300"/>
                        </a:spcAft>
                        <a:buNone/>
                      </a:pPr>
                      <a:endParaRPr sz="800" b="0" i="0" u="none" strike="noStrike" cap="none">
                        <a:solidFill>
                          <a:srgbClr val="000000">
                            <a:alpha val="100000"/>
                          </a:srgbClr>
                        </a:solidFill>
                        <a:latin typeface="Calibri"/>
                        <a:cs typeface="Calibri"/>
                        <a:sym typeface="Calibri"/>
                      </a:endParaRP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540</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2.5%</a:t>
                      </a:r>
                    </a:p>
                  </a:txBody>
                  <a:tcPr marL="0" marR="0" marT="38100" marB="381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11"/>
                  </a:ext>
                </a:extLst>
              </a:tr>
              <a:tr h="160306">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GRAYROBINSON PA</a:t>
                      </a:r>
                    </a:p>
                  </a:txBody>
                  <a:tcPr marL="0" marR="0" marT="38100" marB="381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ORLANDO</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100M - 200M</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519</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2.4%</a:t>
                      </a:r>
                    </a:p>
                  </a:txBody>
                  <a:tcPr marL="0" marR="0" marT="38100" marB="381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extLst>
                  <a:ext uri="{0D108BD9-81ED-4DB2-BD59-A6C34878D82A}">
                    <a16:rowId xmlns:a16="http://schemas.microsoft.com/office/drawing/2014/main" val="10012"/>
                  </a:ext>
                </a:extLst>
              </a:tr>
              <a:tr h="160306">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ENERGY AIR INC</a:t>
                      </a:r>
                    </a:p>
                  </a:txBody>
                  <a:tcPr marL="0" marR="0" marT="38100" marB="381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ORLANDO</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50M - 100M</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414</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1.9%</a:t>
                      </a:r>
                    </a:p>
                  </a:txBody>
                  <a:tcPr marL="0" marR="0" marT="38100" marB="381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13"/>
                  </a:ext>
                </a:extLst>
              </a:tr>
              <a:tr h="160306">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XEC LLC</a:t>
                      </a:r>
                    </a:p>
                  </a:txBody>
                  <a:tcPr marL="0" marR="0" marT="38100" marB="381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l">
                        <a:lnSpc>
                          <a:spcPct val="100000"/>
                        </a:lnSpc>
                        <a:spcBef>
                          <a:spcPts val="300"/>
                        </a:spcBef>
                        <a:spcAft>
                          <a:spcPts val="300"/>
                        </a:spcAft>
                        <a:buNone/>
                      </a:pPr>
                      <a:r>
                        <a:rPr sz="800" b="0" i="0" u="none" strike="noStrike" cap="none" dirty="0">
                          <a:solidFill>
                            <a:srgbClr val="000000">
                              <a:alpha val="100000"/>
                            </a:srgbClr>
                          </a:solidFill>
                          <a:latin typeface="Calibri"/>
                          <a:cs typeface="Calibri"/>
                          <a:sym typeface="Calibri"/>
                        </a:rPr>
                        <a:t>ORLANDO</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100M - 200M</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393</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1.8%</a:t>
                      </a:r>
                    </a:p>
                  </a:txBody>
                  <a:tcPr marL="0" marR="0" marT="38100" marB="381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extLst>
                  <a:ext uri="{0D108BD9-81ED-4DB2-BD59-A6C34878D82A}">
                    <a16:rowId xmlns:a16="http://schemas.microsoft.com/office/drawing/2014/main" val="10014"/>
                  </a:ext>
                </a:extLst>
              </a:tr>
              <a:tr h="160306">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VAXCARE CORPORATION</a:t>
                      </a:r>
                    </a:p>
                  </a:txBody>
                  <a:tcPr marL="0" marR="0" marT="38100" marB="381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6350" cap="flat" cmpd="sng" algn="ctr">
                      <a:solidFill>
                        <a:srgbClr val="E2E8F0">
                          <a:alpha val="100000"/>
                        </a:srgbClr>
                      </a:solidFill>
                      <a:prstDash val="solid"/>
                    </a:lnB>
                    <a:solidFill>
                      <a:srgbClr val="FFFFFF">
                        <a:alpha val="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ORLANDO</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6350" cap="flat" cmpd="sng" algn="ctr">
                      <a:solidFill>
                        <a:srgbClr val="E2E8F0">
                          <a:alpha val="100000"/>
                        </a:srgbClr>
                      </a:solidFill>
                      <a:prstDash val="solid"/>
                    </a:lnB>
                    <a:solidFill>
                      <a:srgbClr val="FFFFFF">
                        <a:alpha val="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10M - 50M</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6350" cap="flat" cmpd="sng" algn="ctr">
                      <a:solidFill>
                        <a:srgbClr val="E2E8F0">
                          <a:alpha val="100000"/>
                        </a:srgbClr>
                      </a:solidFill>
                      <a:prstDash val="solid"/>
                    </a:lnB>
                    <a:solidFill>
                      <a:srgbClr val="FFFFFF">
                        <a:alpha val="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391</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6350" cap="flat" cmpd="sng" algn="ctr">
                      <a:solidFill>
                        <a:srgbClr val="E2E8F0">
                          <a:alpha val="100000"/>
                        </a:srgbClr>
                      </a:solidFill>
                      <a:prstDash val="solid"/>
                    </a:lnB>
                    <a:solidFill>
                      <a:srgbClr val="FFFFFF">
                        <a:alpha val="0"/>
                      </a:srgbClr>
                    </a:solidFill>
                  </a:tcPr>
                </a:tc>
                <a:tc>
                  <a:txBody>
                    <a:bodyPr/>
                    <a:lstStyle/>
                    <a:p>
                      <a:pPr marL="38100" marR="38100" algn="ctr">
                        <a:lnSpc>
                          <a:spcPct val="100000"/>
                        </a:lnSpc>
                        <a:spcBef>
                          <a:spcPts val="300"/>
                        </a:spcBef>
                        <a:spcAft>
                          <a:spcPts val="300"/>
                        </a:spcAft>
                        <a:buNone/>
                      </a:pPr>
                      <a:r>
                        <a:rPr sz="800" b="0" i="0" u="none" strike="noStrike" cap="none" dirty="0">
                          <a:solidFill>
                            <a:srgbClr val="000000">
                              <a:alpha val="100000"/>
                            </a:srgbClr>
                          </a:solidFill>
                          <a:latin typeface="Calibri"/>
                          <a:cs typeface="Calibri"/>
                          <a:sym typeface="Calibri"/>
                        </a:rPr>
                        <a:t>1.8%</a:t>
                      </a:r>
                    </a:p>
                  </a:txBody>
                  <a:tcPr marL="0" marR="0" marT="38100" marB="381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6350"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15"/>
                  </a:ext>
                </a:extLst>
              </a:tr>
            </a:tbl>
          </a:graphicData>
        </a:graphic>
      </p:graphicFrame>
      <p:sp>
        <p:nvSpPr>
          <p:cNvPr id="21" name="summary_line"/>
          <p:cNvSpPr/>
          <p:nvPr/>
        </p:nvSpPr>
        <p:spPr>
          <a:xfrm>
            <a:off x="274320" y="4683986"/>
            <a:ext cx="8595360" cy="228600"/>
          </a:xfrm>
          <a:prstGeom prst="rect">
            <a:avLst/>
          </a:prstGeom>
          <a:noFill/>
          <a:ln>
            <a:noFill/>
          </a:ln>
        </p:spPr>
        <p:txBody>
          <a:bodyPr wrap="square" rtlCol="0" anchor="ctr"/>
          <a:lstStyle/>
          <a:p>
            <a:pPr marL="0" indent="0" algn="l">
              <a:buNone/>
            </a:pPr>
            <a:r>
              <a:rPr lang="en-US" sz="750" dirty="0">
                <a:solidFill>
                  <a:srgbClr val="4A5568"/>
                </a:solidFill>
                <a:latin typeface="Calibri" pitchFamily="34" charset="0"/>
              </a:rPr>
              <a:t>BROWN AND BROWN  |  21,471 covered employees  |  5.6% market share  |  Top 15 of 58 employers shown</a:t>
            </a:r>
          </a:p>
        </p:txBody>
      </p:sp>
      <p:sp>
        <p:nvSpPr>
          <p:cNvPr id="22" name="Object 8">
            <a:extLst>
              <a:ext uri="{FF2B5EF4-FFF2-40B4-BE49-F238E27FC236}">
                <a16:creationId xmlns:a16="http://schemas.microsoft.com/office/drawing/2014/main" id="{FD6AFB04-7D7E-9AF4-A7A8-1A0F87E0229F}"/>
              </a:ext>
            </a:extLst>
          </p:cNvPr>
          <p:cNvSpPr/>
          <p:nvPr/>
        </p:nvSpPr>
        <p:spPr>
          <a:xfrm>
            <a:off x="7058962" y="73152"/>
            <a:ext cx="2005028" cy="476131"/>
          </a:xfrm>
          <a:prstGeom prst="rect">
            <a:avLst/>
          </a:pr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23" name="Object 9">
            <a:extLst>
              <a:ext uri="{FF2B5EF4-FFF2-40B4-BE49-F238E27FC236}">
                <a16:creationId xmlns:a16="http://schemas.microsoft.com/office/drawing/2014/main" id="{3B7E5A50-C0D7-9EAF-9E79-54727FDAC8CE}"/>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7211324" y="168378"/>
            <a:ext cx="1700304" cy="28567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dr_bar"/>
          <p:cNvSpPr>
            <a:spLocks noGrp="1"/>
          </p:cNvSpPr>
          <p:nvPr/>
        </p:nvSpPr>
        <p:spPr>
          <a:xfrm>
            <a:off x="0" y="0"/>
            <a:ext cx="9144000" cy="640080"/>
          </a:xfrm>
          <a:prstGeom prst="rect">
            <a:avLst/>
          </a:prstGeom>
          <a:solidFill>
            <a:srgbClr val="1A3A5C"/>
          </a:solidFill>
          <a:ln>
            <a:noFill/>
          </a:ln>
        </p:spPr>
        <p:txBody>
          <a:bodyPr/>
          <a:lstStyle/>
          <a:p>
            <a:endParaRPr/>
          </a:p>
        </p:txBody>
      </p:sp>
      <p:sp>
        <p:nvSpPr>
          <p:cNvPr id="3" name="hdr_label"/>
          <p:cNvSpPr/>
          <p:nvPr/>
        </p:nvSpPr>
        <p:spPr>
          <a:xfrm>
            <a:off x="274320" y="73152"/>
            <a:ext cx="1463040" cy="493776"/>
          </a:xfrm>
          <a:prstGeom prst="rect">
            <a:avLst/>
          </a:prstGeom>
          <a:noFill/>
          <a:ln>
            <a:noFill/>
          </a:ln>
        </p:spPr>
        <p:txBody>
          <a:bodyPr wrap="square" rtlCol="0" anchor="ctr"/>
          <a:lstStyle/>
          <a:p>
            <a:pPr marL="0" indent="0" algn="l">
              <a:buNone/>
            </a:pPr>
            <a:r>
              <a:rPr lang="en-US" sz="1100" dirty="0">
                <a:solidFill>
                  <a:srgbClr val="93C5FD"/>
                </a:solidFill>
                <a:latin typeface="Calibri" pitchFamily="34" charset="0"/>
              </a:rPr>
              <a:t>Broker Detail</a:t>
            </a:r>
          </a:p>
        </p:txBody>
      </p:sp>
      <p:sp>
        <p:nvSpPr>
          <p:cNvPr id="4" name="hdr_name"/>
          <p:cNvSpPr/>
          <p:nvPr/>
        </p:nvSpPr>
        <p:spPr>
          <a:xfrm>
            <a:off x="1828800" y="73152"/>
            <a:ext cx="7040880" cy="493776"/>
          </a:xfrm>
          <a:prstGeom prst="rect">
            <a:avLst/>
          </a:prstGeom>
          <a:noFill/>
          <a:ln>
            <a:noFill/>
          </a:ln>
        </p:spPr>
        <p:txBody>
          <a:bodyPr wrap="square" rtlCol="0" anchor="ctr"/>
          <a:lstStyle/>
          <a:p>
            <a:pPr marL="0" indent="0" algn="l">
              <a:buNone/>
            </a:pPr>
            <a:r>
              <a:rPr lang="en-US" sz="1500" b="1" dirty="0">
                <a:solidFill>
                  <a:srgbClr val="FFFFFF"/>
                </a:solidFill>
                <a:latin typeface="Calibri" pitchFamily="34" charset="0"/>
              </a:rPr>
              <a:t>GALLAGHER</a:t>
            </a:r>
          </a:p>
        </p:txBody>
      </p:sp>
      <p:sp>
        <p:nvSpPr>
          <p:cNvPr id="5" name="sbox_bg_1"/>
          <p:cNvSpPr>
            <a:spLocks noGrp="1"/>
          </p:cNvSpPr>
          <p:nvPr/>
        </p:nvSpPr>
        <p:spPr>
          <a:xfrm>
            <a:off x="274320" y="749808"/>
            <a:ext cx="2011680" cy="822960"/>
          </a:xfrm>
          <a:prstGeom prst="rect">
            <a:avLst/>
          </a:prstGeom>
          <a:solidFill>
            <a:srgbClr val="F7F9FC"/>
          </a:solidFill>
          <a:ln w="12700">
            <a:solidFill>
              <a:srgbClr val="E2E8F0"/>
            </a:solidFill>
            <a:prstDash val="solid"/>
          </a:ln>
        </p:spPr>
        <p:txBody>
          <a:bodyPr/>
          <a:lstStyle/>
          <a:p>
            <a:endParaRPr/>
          </a:p>
        </p:txBody>
      </p:sp>
      <p:sp>
        <p:nvSpPr>
          <p:cNvPr id="6" name="sbox_val_1"/>
          <p:cNvSpPr/>
          <p:nvPr/>
        </p:nvSpPr>
        <p:spPr>
          <a:xfrm>
            <a:off x="274320" y="777240"/>
            <a:ext cx="2011680" cy="457200"/>
          </a:xfrm>
          <a:prstGeom prst="rect">
            <a:avLst/>
          </a:prstGeom>
          <a:noFill/>
          <a:ln>
            <a:noFill/>
          </a:ln>
        </p:spPr>
        <p:txBody>
          <a:bodyPr wrap="square" rtlCol="0" anchor="ctr"/>
          <a:lstStyle/>
          <a:p>
            <a:pPr marL="0" indent="0" algn="l">
              <a:buNone/>
            </a:pPr>
            <a:r>
              <a:rPr lang="en-US" sz="1800" b="1" dirty="0">
                <a:solidFill>
                  <a:srgbClr val="1A3A5C"/>
                </a:solidFill>
                <a:latin typeface="Calibri" pitchFamily="34" charset="0"/>
              </a:rPr>
              <a:t>24</a:t>
            </a:r>
          </a:p>
        </p:txBody>
      </p:sp>
      <p:sp>
        <p:nvSpPr>
          <p:cNvPr id="7" name="sbox_lbl_1"/>
          <p:cNvSpPr/>
          <p:nvPr/>
        </p:nvSpPr>
        <p:spPr>
          <a:xfrm>
            <a:off x="274320" y="1261872"/>
            <a:ext cx="2011680" cy="256032"/>
          </a:xfrm>
          <a:prstGeom prst="rect">
            <a:avLst/>
          </a:prstGeom>
          <a:noFill/>
          <a:ln>
            <a:noFill/>
          </a:ln>
        </p:spPr>
        <p:txBody>
          <a:bodyPr wrap="square" rtlCol="0" anchor="t"/>
          <a:lstStyle/>
          <a:p>
            <a:pPr marL="0" indent="0" algn="l">
              <a:buNone/>
            </a:pPr>
            <a:r>
              <a:rPr lang="en-US" sz="800" dirty="0">
                <a:solidFill>
                  <a:srgbClr val="4A5568"/>
                </a:solidFill>
                <a:latin typeface="Calibri" pitchFamily="34" charset="0"/>
              </a:rPr>
              <a:t>Employers</a:t>
            </a:r>
          </a:p>
        </p:txBody>
      </p:sp>
      <p:sp>
        <p:nvSpPr>
          <p:cNvPr id="8" name="sbox_bg_2"/>
          <p:cNvSpPr>
            <a:spLocks noGrp="1"/>
          </p:cNvSpPr>
          <p:nvPr/>
        </p:nvSpPr>
        <p:spPr>
          <a:xfrm>
            <a:off x="2450592" y="749808"/>
            <a:ext cx="2011680" cy="822960"/>
          </a:xfrm>
          <a:prstGeom prst="rect">
            <a:avLst/>
          </a:prstGeom>
          <a:solidFill>
            <a:srgbClr val="F7F9FC"/>
          </a:solidFill>
          <a:ln w="12700">
            <a:solidFill>
              <a:srgbClr val="E2E8F0"/>
            </a:solidFill>
            <a:prstDash val="solid"/>
          </a:ln>
        </p:spPr>
        <p:txBody>
          <a:bodyPr/>
          <a:lstStyle/>
          <a:p>
            <a:endParaRPr/>
          </a:p>
        </p:txBody>
      </p:sp>
      <p:sp>
        <p:nvSpPr>
          <p:cNvPr id="9" name="sbox_val_2"/>
          <p:cNvSpPr/>
          <p:nvPr/>
        </p:nvSpPr>
        <p:spPr>
          <a:xfrm>
            <a:off x="2450592" y="777240"/>
            <a:ext cx="2011680" cy="457200"/>
          </a:xfrm>
          <a:prstGeom prst="rect">
            <a:avLst/>
          </a:prstGeom>
          <a:noFill/>
          <a:ln>
            <a:noFill/>
          </a:ln>
        </p:spPr>
        <p:txBody>
          <a:bodyPr wrap="square" rtlCol="0" anchor="ctr"/>
          <a:lstStyle/>
          <a:p>
            <a:pPr marL="0" indent="0" algn="l">
              <a:buNone/>
            </a:pPr>
            <a:r>
              <a:rPr lang="en-US" sz="1800" b="1" dirty="0">
                <a:solidFill>
                  <a:srgbClr val="1A3A5C"/>
                </a:solidFill>
                <a:latin typeface="Calibri" pitchFamily="34" charset="0"/>
              </a:rPr>
              <a:t>20,249</a:t>
            </a:r>
          </a:p>
        </p:txBody>
      </p:sp>
      <p:sp>
        <p:nvSpPr>
          <p:cNvPr id="10" name="sbox_lbl_2"/>
          <p:cNvSpPr/>
          <p:nvPr/>
        </p:nvSpPr>
        <p:spPr>
          <a:xfrm>
            <a:off x="2450592" y="1261872"/>
            <a:ext cx="2011680" cy="256032"/>
          </a:xfrm>
          <a:prstGeom prst="rect">
            <a:avLst/>
          </a:prstGeom>
          <a:noFill/>
          <a:ln>
            <a:noFill/>
          </a:ln>
        </p:spPr>
        <p:txBody>
          <a:bodyPr wrap="square" rtlCol="0" anchor="t"/>
          <a:lstStyle/>
          <a:p>
            <a:pPr marL="0" indent="0" algn="l">
              <a:buNone/>
            </a:pPr>
            <a:r>
              <a:rPr lang="en-US" sz="800" dirty="0">
                <a:solidFill>
                  <a:srgbClr val="4A5568"/>
                </a:solidFill>
                <a:latin typeface="Calibri" pitchFamily="34" charset="0"/>
              </a:rPr>
              <a:t>Covered Employees</a:t>
            </a:r>
          </a:p>
        </p:txBody>
      </p:sp>
      <p:sp>
        <p:nvSpPr>
          <p:cNvPr id="11" name="sbox_bg_3"/>
          <p:cNvSpPr>
            <a:spLocks noGrp="1"/>
          </p:cNvSpPr>
          <p:nvPr/>
        </p:nvSpPr>
        <p:spPr>
          <a:xfrm>
            <a:off x="4626864" y="749808"/>
            <a:ext cx="2011680" cy="822960"/>
          </a:xfrm>
          <a:prstGeom prst="rect">
            <a:avLst/>
          </a:prstGeom>
          <a:solidFill>
            <a:srgbClr val="F7F9FC"/>
          </a:solidFill>
          <a:ln w="12700">
            <a:solidFill>
              <a:srgbClr val="E2E8F0"/>
            </a:solidFill>
            <a:prstDash val="solid"/>
          </a:ln>
        </p:spPr>
        <p:txBody>
          <a:bodyPr/>
          <a:lstStyle/>
          <a:p>
            <a:endParaRPr/>
          </a:p>
        </p:txBody>
      </p:sp>
      <p:sp>
        <p:nvSpPr>
          <p:cNvPr id="12" name="sbox_val_3"/>
          <p:cNvSpPr/>
          <p:nvPr/>
        </p:nvSpPr>
        <p:spPr>
          <a:xfrm>
            <a:off x="4626864" y="777240"/>
            <a:ext cx="2011680" cy="457200"/>
          </a:xfrm>
          <a:prstGeom prst="rect">
            <a:avLst/>
          </a:prstGeom>
          <a:noFill/>
          <a:ln>
            <a:noFill/>
          </a:ln>
        </p:spPr>
        <p:txBody>
          <a:bodyPr wrap="square" rtlCol="0" anchor="ctr"/>
          <a:lstStyle/>
          <a:p>
            <a:pPr marL="0" indent="0" algn="l">
              <a:buNone/>
            </a:pPr>
            <a:r>
              <a:rPr lang="en-US" sz="1800" b="1" dirty="0">
                <a:solidFill>
                  <a:srgbClr val="1A3A5C"/>
                </a:solidFill>
                <a:latin typeface="Calibri" pitchFamily="34" charset="0"/>
              </a:rPr>
              <a:t>5.3%</a:t>
            </a:r>
          </a:p>
        </p:txBody>
      </p:sp>
      <p:sp>
        <p:nvSpPr>
          <p:cNvPr id="13" name="sbox_lbl_3"/>
          <p:cNvSpPr/>
          <p:nvPr/>
        </p:nvSpPr>
        <p:spPr>
          <a:xfrm>
            <a:off x="4626864" y="1261872"/>
            <a:ext cx="2011680" cy="256032"/>
          </a:xfrm>
          <a:prstGeom prst="rect">
            <a:avLst/>
          </a:prstGeom>
          <a:noFill/>
          <a:ln>
            <a:noFill/>
          </a:ln>
        </p:spPr>
        <p:txBody>
          <a:bodyPr wrap="square" rtlCol="0" anchor="t"/>
          <a:lstStyle/>
          <a:p>
            <a:pPr marL="0" indent="0" algn="l">
              <a:buNone/>
            </a:pPr>
            <a:r>
              <a:rPr lang="en-US" sz="800" dirty="0">
                <a:solidFill>
                  <a:srgbClr val="4A5568"/>
                </a:solidFill>
                <a:latin typeface="Calibri" pitchFamily="34" charset="0"/>
              </a:rPr>
              <a:t>EE Market Share</a:t>
            </a:r>
          </a:p>
        </p:txBody>
      </p:sp>
      <p:sp>
        <p:nvSpPr>
          <p:cNvPr id="14" name="sbox_bg_4"/>
          <p:cNvSpPr>
            <a:spLocks noGrp="1"/>
          </p:cNvSpPr>
          <p:nvPr/>
        </p:nvSpPr>
        <p:spPr>
          <a:xfrm>
            <a:off x="6803136" y="749808"/>
            <a:ext cx="2011680" cy="822960"/>
          </a:xfrm>
          <a:prstGeom prst="rect">
            <a:avLst/>
          </a:prstGeom>
          <a:solidFill>
            <a:srgbClr val="F7F9FC"/>
          </a:solidFill>
          <a:ln w="12700">
            <a:solidFill>
              <a:srgbClr val="E2E8F0"/>
            </a:solidFill>
            <a:prstDash val="solid"/>
          </a:ln>
        </p:spPr>
        <p:txBody>
          <a:bodyPr/>
          <a:lstStyle/>
          <a:p>
            <a:endParaRPr/>
          </a:p>
        </p:txBody>
      </p:sp>
      <p:sp>
        <p:nvSpPr>
          <p:cNvPr id="15" name="sbox_val_4"/>
          <p:cNvSpPr/>
          <p:nvPr/>
        </p:nvSpPr>
        <p:spPr>
          <a:xfrm>
            <a:off x="6803136" y="777240"/>
            <a:ext cx="2011680" cy="457200"/>
          </a:xfrm>
          <a:prstGeom prst="rect">
            <a:avLst/>
          </a:prstGeom>
          <a:noFill/>
          <a:ln>
            <a:noFill/>
          </a:ln>
        </p:spPr>
        <p:txBody>
          <a:bodyPr wrap="square" rtlCol="0" anchor="ctr"/>
          <a:lstStyle/>
          <a:p>
            <a:pPr marL="0" indent="0" algn="l">
              <a:buNone/>
            </a:pPr>
            <a:r>
              <a:rPr lang="en-US" sz="1800" b="1" dirty="0">
                <a:solidFill>
                  <a:srgbClr val="1A3A5C"/>
                </a:solidFill>
                <a:latin typeface="Calibri" pitchFamily="34" charset="0"/>
              </a:rPr>
              <a:t>#6 of 111</a:t>
            </a:r>
          </a:p>
        </p:txBody>
      </p:sp>
      <p:sp>
        <p:nvSpPr>
          <p:cNvPr id="16" name="sbox_lbl_4"/>
          <p:cNvSpPr/>
          <p:nvPr/>
        </p:nvSpPr>
        <p:spPr>
          <a:xfrm>
            <a:off x="6803136" y="1261872"/>
            <a:ext cx="2011680" cy="256032"/>
          </a:xfrm>
          <a:prstGeom prst="rect">
            <a:avLst/>
          </a:prstGeom>
          <a:noFill/>
          <a:ln>
            <a:noFill/>
          </a:ln>
        </p:spPr>
        <p:txBody>
          <a:bodyPr wrap="square" rtlCol="0" anchor="t"/>
          <a:lstStyle/>
          <a:p>
            <a:pPr marL="0" indent="0" algn="l">
              <a:buNone/>
            </a:pPr>
            <a:r>
              <a:rPr lang="en-US" sz="800" dirty="0">
                <a:solidFill>
                  <a:srgbClr val="4A5568"/>
                </a:solidFill>
                <a:latin typeface="Calibri" pitchFamily="34" charset="0"/>
              </a:rPr>
              <a:t>Rank</a:t>
            </a:r>
          </a:p>
        </p:txBody>
      </p:sp>
      <p:sp>
        <p:nvSpPr>
          <p:cNvPr id="17" name="ftr_bar"/>
          <p:cNvSpPr>
            <a:spLocks noGrp="1"/>
          </p:cNvSpPr>
          <p:nvPr/>
        </p:nvSpPr>
        <p:spPr>
          <a:xfrm>
            <a:off x="0" y="4846320"/>
            <a:ext cx="9144000" cy="297180"/>
          </a:xfrm>
          <a:prstGeom prst="rect">
            <a:avLst/>
          </a:prstGeom>
          <a:solidFill>
            <a:srgbClr val="1A3A5C"/>
          </a:solidFill>
          <a:ln>
            <a:noFill/>
          </a:ln>
        </p:spPr>
        <p:txBody>
          <a:bodyPr/>
          <a:lstStyle/>
          <a:p>
            <a:endParaRPr/>
          </a:p>
        </p:txBody>
      </p:sp>
      <p:sp>
        <p:nvSpPr>
          <p:cNvPr id="18" name="ftr_txt"/>
          <p:cNvSpPr/>
          <p:nvPr/>
        </p:nvSpPr>
        <p:spPr>
          <a:xfrm>
            <a:off x="365760" y="4864608"/>
            <a:ext cx="6400800" cy="256032"/>
          </a:xfrm>
          <a:prstGeom prst="rect">
            <a:avLst/>
          </a:prstGeom>
          <a:noFill/>
          <a:ln>
            <a:noFill/>
          </a:ln>
        </p:spPr>
        <p:txBody>
          <a:bodyPr wrap="square" rtlCol="0" anchor="ctr"/>
          <a:lstStyle/>
          <a:p>
            <a:pPr marL="0" indent="0" algn="l">
              <a:buNone/>
            </a:pPr>
            <a:r>
              <a:rPr lang="en-US" sz="900" dirty="0">
                <a:solidFill>
                  <a:srgbClr val="E2E8F0"/>
                </a:solidFill>
                <a:latin typeface="Calibri" pitchFamily="34" charset="0"/>
              </a:rPr>
              <a:t>5500 Filings Data | All Groups With Identified Benefits Broker</a:t>
            </a:r>
          </a:p>
        </p:txBody>
      </p:sp>
      <p:sp>
        <p:nvSpPr>
          <p:cNvPr id="19" name="ftr_conf"/>
          <p:cNvSpPr/>
          <p:nvPr/>
        </p:nvSpPr>
        <p:spPr>
          <a:xfrm>
            <a:off x="6858000" y="4864608"/>
            <a:ext cx="2011680" cy="256032"/>
          </a:xfrm>
          <a:prstGeom prst="rect">
            <a:avLst/>
          </a:prstGeom>
          <a:noFill/>
          <a:ln>
            <a:noFill/>
          </a:ln>
        </p:spPr>
        <p:txBody>
          <a:bodyPr wrap="square" rtlCol="0" anchor="ctr"/>
          <a:lstStyle/>
          <a:p>
            <a:pPr marL="0" indent="0" algn="r">
              <a:buNone/>
            </a:pPr>
            <a:r>
              <a:rPr lang="en-US" sz="900" dirty="0">
                <a:solidFill>
                  <a:srgbClr val="E2E8F0"/>
                </a:solidFill>
                <a:latin typeface="Calibri" pitchFamily="34" charset="0"/>
              </a:rPr>
              <a:t>Confidential - Internal Use Only</a:t>
            </a:r>
          </a:p>
        </p:txBody>
      </p:sp>
      <p:graphicFrame>
        <p:nvGraphicFramePr>
          <p:cNvPr id="20" name="Table 19"/>
          <p:cNvGraphicFramePr>
            <a:graphicFrameLocks noGrp="1"/>
          </p:cNvGraphicFramePr>
          <p:nvPr>
            <p:extLst>
              <p:ext uri="{D42A27DB-BD31-4B8C-83A1-F6EECF244321}">
                <p14:modId xmlns:p14="http://schemas.microsoft.com/office/powerpoint/2010/main" val="3769439323"/>
              </p:ext>
            </p:extLst>
          </p:nvPr>
        </p:nvGraphicFramePr>
        <p:xfrm>
          <a:off x="274320" y="1572768"/>
          <a:ext cx="7315200" cy="3185160"/>
        </p:xfrm>
        <a:graphic>
          <a:graphicData uri="http://schemas.openxmlformats.org/drawingml/2006/table">
            <a:tbl>
              <a:tblPr/>
              <a:tblGrid>
                <a:gridCol w="292608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822960">
                  <a:extLst>
                    <a:ext uri="{9D8B030D-6E8A-4147-A177-3AD203B41FA5}">
                      <a16:colId xmlns:a16="http://schemas.microsoft.com/office/drawing/2014/main" val="20004"/>
                    </a:ext>
                  </a:extLst>
                </a:gridCol>
              </a:tblGrid>
              <a:tr h="123444">
                <a:tc>
                  <a:txBody>
                    <a:bodyPr/>
                    <a:lstStyle/>
                    <a:p>
                      <a:pPr marL="38100" marR="38100" algn="l">
                        <a:lnSpc>
                          <a:spcPct val="100000"/>
                        </a:lnSpc>
                        <a:spcBef>
                          <a:spcPts val="300"/>
                        </a:spcBef>
                        <a:spcAft>
                          <a:spcPts val="300"/>
                        </a:spcAft>
                        <a:buNone/>
                      </a:pPr>
                      <a:r>
                        <a:rPr sz="900" b="1" i="0" u="none" strike="noStrike" cap="none">
                          <a:solidFill>
                            <a:srgbClr val="FFFFFF">
                              <a:alpha val="100000"/>
                            </a:srgbClr>
                          </a:solidFill>
                          <a:latin typeface="Calibri"/>
                          <a:cs typeface="Calibri"/>
                          <a:sym typeface="Calibri"/>
                        </a:rPr>
                        <a:t>Employer</a:t>
                      </a:r>
                    </a:p>
                  </a:txBody>
                  <a:tcPr marL="0" marR="0" marT="38100" marB="38100" anchor="ctr">
                    <a:lnL w="6350"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alpha val="100000"/>
                        </a:srgbClr>
                      </a:solidFill>
                      <a:prstDash val="solid"/>
                    </a:lnT>
                    <a:lnB w="6350" cap="flat" cmpd="sng" algn="ctr">
                      <a:solidFill>
                        <a:srgbClr val="E2E8F0">
                          <a:alpha val="100000"/>
                        </a:srgbClr>
                      </a:solidFill>
                      <a:prstDash val="solid"/>
                    </a:lnB>
                    <a:solidFill>
                      <a:srgbClr val="1A3A5C">
                        <a:alpha val="100000"/>
                      </a:srgbClr>
                    </a:solidFill>
                  </a:tcPr>
                </a:tc>
                <a:tc>
                  <a:txBody>
                    <a:bodyPr/>
                    <a:lstStyle/>
                    <a:p>
                      <a:pPr marL="38100" marR="38100" algn="l">
                        <a:lnSpc>
                          <a:spcPct val="100000"/>
                        </a:lnSpc>
                        <a:spcBef>
                          <a:spcPts val="300"/>
                        </a:spcBef>
                        <a:spcAft>
                          <a:spcPts val="300"/>
                        </a:spcAft>
                        <a:buNone/>
                      </a:pPr>
                      <a:r>
                        <a:rPr sz="900" b="1" i="0" u="none" strike="noStrike" cap="none">
                          <a:solidFill>
                            <a:srgbClr val="FFFFFF">
                              <a:alpha val="100000"/>
                            </a:srgbClr>
                          </a:solidFill>
                          <a:latin typeface="Calibri"/>
                          <a:cs typeface="Calibri"/>
                          <a:sym typeface="Calibri"/>
                        </a:rPr>
                        <a:t>City</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alpha val="100000"/>
                        </a:srgbClr>
                      </a:solidFill>
                      <a:prstDash val="solid"/>
                    </a:lnT>
                    <a:lnB w="6350" cap="flat" cmpd="sng" algn="ctr">
                      <a:solidFill>
                        <a:srgbClr val="E2E8F0">
                          <a:alpha val="100000"/>
                        </a:srgbClr>
                      </a:solidFill>
                      <a:prstDash val="solid"/>
                    </a:lnB>
                    <a:solidFill>
                      <a:srgbClr val="1A3A5C">
                        <a:alpha val="100000"/>
                      </a:srgbClr>
                    </a:solidFill>
                  </a:tcPr>
                </a:tc>
                <a:tc>
                  <a:txBody>
                    <a:bodyPr/>
                    <a:lstStyle/>
                    <a:p>
                      <a:pPr marL="38100" marR="38100" algn="l">
                        <a:lnSpc>
                          <a:spcPct val="100000"/>
                        </a:lnSpc>
                        <a:spcBef>
                          <a:spcPts val="300"/>
                        </a:spcBef>
                        <a:spcAft>
                          <a:spcPts val="300"/>
                        </a:spcAft>
                        <a:buNone/>
                      </a:pPr>
                      <a:r>
                        <a:rPr sz="900" b="1" i="0" u="none" strike="noStrike" cap="none">
                          <a:solidFill>
                            <a:srgbClr val="FFFFFF">
                              <a:alpha val="100000"/>
                            </a:srgbClr>
                          </a:solidFill>
                          <a:latin typeface="Calibri"/>
                          <a:cs typeface="Calibri"/>
                          <a:sym typeface="Calibri"/>
                        </a:rPr>
                        <a:t>Revenue Range</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alpha val="100000"/>
                        </a:srgbClr>
                      </a:solidFill>
                      <a:prstDash val="solid"/>
                    </a:lnT>
                    <a:lnB w="6350" cap="flat" cmpd="sng" algn="ctr">
                      <a:solidFill>
                        <a:srgbClr val="E2E8F0">
                          <a:alpha val="100000"/>
                        </a:srgbClr>
                      </a:solidFill>
                      <a:prstDash val="solid"/>
                    </a:lnB>
                    <a:solidFill>
                      <a:srgbClr val="1A3A5C">
                        <a:alpha val="100000"/>
                      </a:srgbClr>
                    </a:solidFill>
                  </a:tcPr>
                </a:tc>
                <a:tc>
                  <a:txBody>
                    <a:bodyPr/>
                    <a:lstStyle/>
                    <a:p>
                      <a:pPr marL="38100" marR="38100" algn="ctr">
                        <a:lnSpc>
                          <a:spcPct val="100000"/>
                        </a:lnSpc>
                        <a:spcBef>
                          <a:spcPts val="300"/>
                        </a:spcBef>
                        <a:spcAft>
                          <a:spcPts val="300"/>
                        </a:spcAft>
                        <a:buNone/>
                      </a:pPr>
                      <a:r>
                        <a:rPr sz="900" b="1" i="0" u="none" strike="noStrike" cap="none">
                          <a:solidFill>
                            <a:srgbClr val="FFFFFF">
                              <a:alpha val="100000"/>
                            </a:srgbClr>
                          </a:solidFill>
                          <a:latin typeface="Calibri"/>
                          <a:cs typeface="Calibri"/>
                          <a:sym typeface="Calibri"/>
                        </a:rPr>
                        <a:t>Covered EEs</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alpha val="100000"/>
                        </a:srgbClr>
                      </a:solidFill>
                      <a:prstDash val="solid"/>
                    </a:lnT>
                    <a:lnB w="6350" cap="flat" cmpd="sng" algn="ctr">
                      <a:solidFill>
                        <a:srgbClr val="E2E8F0">
                          <a:alpha val="100000"/>
                        </a:srgbClr>
                      </a:solidFill>
                      <a:prstDash val="solid"/>
                    </a:lnB>
                    <a:solidFill>
                      <a:srgbClr val="1A3A5C">
                        <a:alpha val="100000"/>
                      </a:srgbClr>
                    </a:solidFill>
                  </a:tcPr>
                </a:tc>
                <a:tc>
                  <a:txBody>
                    <a:bodyPr/>
                    <a:lstStyle/>
                    <a:p>
                      <a:pPr marL="38100" marR="38100" algn="ctr">
                        <a:lnSpc>
                          <a:spcPct val="100000"/>
                        </a:lnSpc>
                        <a:spcBef>
                          <a:spcPts val="300"/>
                        </a:spcBef>
                        <a:spcAft>
                          <a:spcPts val="300"/>
                        </a:spcAft>
                        <a:buNone/>
                      </a:pPr>
                      <a:r>
                        <a:rPr sz="900" b="1" i="0" u="none" strike="noStrike" cap="none">
                          <a:solidFill>
                            <a:srgbClr val="FFFFFF">
                              <a:alpha val="100000"/>
                            </a:srgbClr>
                          </a:solidFill>
                          <a:latin typeface="Calibri"/>
                          <a:cs typeface="Calibri"/>
                          <a:sym typeface="Calibri"/>
                        </a:rPr>
                        <a:t>% of Book</a:t>
                      </a:r>
                    </a:p>
                  </a:txBody>
                  <a:tcPr marL="0" marR="0" marT="38100" marB="38100" anchor="ctr">
                    <a:lnL w="3175" cap="flat" cmpd="sng" algn="ctr">
                      <a:solidFill>
                        <a:srgbClr val="E2E8F0">
                          <a:alpha val="100000"/>
                        </a:srgbClr>
                      </a:solidFill>
                      <a:prstDash val="solid"/>
                    </a:lnL>
                    <a:lnR w="6350" cap="flat" cmpd="sng" algn="ctr">
                      <a:solidFill>
                        <a:srgbClr val="E2E8F0">
                          <a:alpha val="100000"/>
                        </a:srgbClr>
                      </a:solidFill>
                      <a:prstDash val="solid"/>
                    </a:lnR>
                    <a:lnT w="6350" cap="flat" cmpd="sng" algn="ctr">
                      <a:solidFill>
                        <a:srgbClr val="E2E8F0">
                          <a:alpha val="100000"/>
                        </a:srgbClr>
                      </a:solidFill>
                      <a:prstDash val="solid"/>
                    </a:lnT>
                    <a:lnB w="6350" cap="flat" cmpd="sng" algn="ctr">
                      <a:solidFill>
                        <a:srgbClr val="E2E8F0">
                          <a:alpha val="100000"/>
                        </a:srgbClr>
                      </a:solidFill>
                      <a:prstDash val="solid"/>
                    </a:lnB>
                    <a:solidFill>
                      <a:srgbClr val="1A3A5C">
                        <a:alpha val="100000"/>
                      </a:srgbClr>
                    </a:solidFill>
                  </a:tcPr>
                </a:tc>
                <a:extLst>
                  <a:ext uri="{0D108BD9-81ED-4DB2-BD59-A6C34878D82A}">
                    <a16:rowId xmlns:a16="http://schemas.microsoft.com/office/drawing/2014/main" val="10000"/>
                  </a:ext>
                </a:extLst>
              </a:tr>
              <a:tr h="123444">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RUTHS HOSPITALITY GROUP INC</a:t>
                      </a:r>
                    </a:p>
                  </a:txBody>
                  <a:tcPr marL="0" marR="0" marT="38100" marB="38100" anchor="ctr">
                    <a:lnL w="6350"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solidFill>
                      <a:prstDash val="solid"/>
                      <a:round/>
                      <a:headEnd type="none" w="med" len="med"/>
                      <a:tailEnd type="none" w="med" len="med"/>
                    </a:lnT>
                    <a:lnB w="3175" cap="flat" cmpd="sng" algn="ctr">
                      <a:solidFill>
                        <a:srgbClr val="E2E8F0">
                          <a:alpha val="100000"/>
                        </a:srgbClr>
                      </a:solidFill>
                      <a:prstDash val="solid"/>
                    </a:lnB>
                    <a:solidFill>
                      <a:srgbClr val="FFFFFF">
                        <a:alpha val="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WINTER PARK</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solidFill>
                      <a:prstDash val="solid"/>
                      <a:round/>
                      <a:headEnd type="none" w="med" len="med"/>
                      <a:tailEnd type="none" w="med" len="med"/>
                    </a:lnT>
                    <a:lnB w="3175" cap="flat" cmpd="sng" algn="ctr">
                      <a:solidFill>
                        <a:srgbClr val="E2E8F0">
                          <a:alpha val="100000"/>
                        </a:srgbClr>
                      </a:solidFill>
                      <a:prstDash val="solid"/>
                    </a:lnB>
                    <a:solidFill>
                      <a:srgbClr val="FFFFFF">
                        <a:alpha val="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200M - 1B</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solidFill>
                      <a:prstDash val="solid"/>
                      <a:round/>
                      <a:headEnd type="none" w="med" len="med"/>
                      <a:tailEnd type="none" w="med" len="med"/>
                    </a:lnT>
                    <a:lnB w="3175" cap="flat" cmpd="sng" algn="ctr">
                      <a:solidFill>
                        <a:srgbClr val="E2E8F0">
                          <a:alpha val="100000"/>
                        </a:srgbClr>
                      </a:solidFill>
                      <a:prstDash val="solid"/>
                    </a:lnB>
                    <a:solidFill>
                      <a:srgbClr val="FFFFFF">
                        <a:alpha val="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4,995</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solidFill>
                      <a:prstDash val="solid"/>
                      <a:round/>
                      <a:headEnd type="none" w="med" len="med"/>
                      <a:tailEnd type="none" w="med" len="med"/>
                    </a:lnT>
                    <a:lnB w="3175" cap="flat" cmpd="sng" algn="ctr">
                      <a:solidFill>
                        <a:srgbClr val="E2E8F0">
                          <a:alpha val="100000"/>
                        </a:srgbClr>
                      </a:solidFill>
                      <a:prstDash val="solid"/>
                    </a:lnB>
                    <a:solidFill>
                      <a:srgbClr val="FFFFFF">
                        <a:alpha val="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24.7%</a:t>
                      </a:r>
                    </a:p>
                  </a:txBody>
                  <a:tcPr marL="0" marR="0" marT="38100" marB="38100" anchor="ctr">
                    <a:lnL w="3175" cap="flat" cmpd="sng" algn="ctr">
                      <a:solidFill>
                        <a:srgbClr val="E2E8F0">
                          <a:alpha val="100000"/>
                        </a:srgbClr>
                      </a:solidFill>
                      <a:prstDash val="solid"/>
                    </a:lnL>
                    <a:lnR w="6350" cap="flat" cmpd="sng" algn="ctr">
                      <a:solidFill>
                        <a:srgbClr val="E2E8F0">
                          <a:alpha val="100000"/>
                        </a:srgbClr>
                      </a:solidFill>
                      <a:prstDash val="solid"/>
                    </a:lnR>
                    <a:lnT w="6350" cap="flat" cmpd="sng" algn="ctr">
                      <a:solidFill>
                        <a:srgbClr val="E2E8F0"/>
                      </a:solidFill>
                      <a:prstDash val="solid"/>
                      <a:round/>
                      <a:headEnd type="none" w="med" len="med"/>
                      <a:tailEnd type="none" w="med" len="med"/>
                    </a:lnT>
                    <a:lnB w="3175"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01"/>
                  </a:ext>
                </a:extLst>
              </a:tr>
              <a:tr h="123444">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SIGNATURE AVIATION PLC</a:t>
                      </a:r>
                    </a:p>
                  </a:txBody>
                  <a:tcPr marL="0" marR="0" marT="38100" marB="381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ORLANDO</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&gt; 1B</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4,937</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24.4%</a:t>
                      </a:r>
                    </a:p>
                  </a:txBody>
                  <a:tcPr marL="0" marR="0" marT="38100" marB="381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extLst>
                  <a:ext uri="{0D108BD9-81ED-4DB2-BD59-A6C34878D82A}">
                    <a16:rowId xmlns:a16="http://schemas.microsoft.com/office/drawing/2014/main" val="10002"/>
                  </a:ext>
                </a:extLst>
              </a:tr>
              <a:tr h="123444">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GROUND SERVICES INTERNATIONAL</a:t>
                      </a:r>
                    </a:p>
                  </a:txBody>
                  <a:tcPr marL="0" marR="0" marT="38100" marB="381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ORLANDO</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200M - 1B</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1,997</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9.9%</a:t>
                      </a:r>
                    </a:p>
                  </a:txBody>
                  <a:tcPr marL="0" marR="0" marT="38100" marB="381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03"/>
                  </a:ext>
                </a:extLst>
              </a:tr>
              <a:tr h="123444">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MERLIN ENTERTAINMENTS GROUP US LLC</a:t>
                      </a:r>
                    </a:p>
                  </a:txBody>
                  <a:tcPr marL="0" marR="0" marT="38100" marB="381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ORLANDO</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200M - 1B</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1,899</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9.4%</a:t>
                      </a:r>
                    </a:p>
                  </a:txBody>
                  <a:tcPr marL="0" marR="0" marT="38100" marB="381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extLst>
                  <a:ext uri="{0D108BD9-81ED-4DB2-BD59-A6C34878D82A}">
                    <a16:rowId xmlns:a16="http://schemas.microsoft.com/office/drawing/2014/main" val="10004"/>
                  </a:ext>
                </a:extLst>
              </a:tr>
              <a:tr h="123444">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INDUSTRIAL CONTANIER SERVICES LLC</a:t>
                      </a:r>
                    </a:p>
                  </a:txBody>
                  <a:tcPr marL="0" marR="0" marT="38100" marB="381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MAITLAND</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200M - 1B</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997</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4.9%</a:t>
                      </a:r>
                    </a:p>
                  </a:txBody>
                  <a:tcPr marL="0" marR="0" marT="38100" marB="381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05"/>
                  </a:ext>
                </a:extLst>
              </a:tr>
              <a:tr h="123444">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SMART FINANCIAL HOLDINGS LLC</a:t>
                      </a:r>
                    </a:p>
                  </a:txBody>
                  <a:tcPr marL="0" marR="0" marT="38100" marB="381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ORLANDO</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50M - 100M</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659</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3.3%</a:t>
                      </a:r>
                    </a:p>
                  </a:txBody>
                  <a:tcPr marL="0" marR="0" marT="38100" marB="381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extLst>
                  <a:ext uri="{0D108BD9-81ED-4DB2-BD59-A6C34878D82A}">
                    <a16:rowId xmlns:a16="http://schemas.microsoft.com/office/drawing/2014/main" val="10006"/>
                  </a:ext>
                </a:extLst>
              </a:tr>
              <a:tr h="123444">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NORTH AMERICAN RISK SERVICES INC</a:t>
                      </a:r>
                    </a:p>
                  </a:txBody>
                  <a:tcPr marL="0" marR="0" marT="38100" marB="381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LAKE MARY</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50M - 100M</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546</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2.7%</a:t>
                      </a:r>
                    </a:p>
                  </a:txBody>
                  <a:tcPr marL="0" marR="0" marT="38100" marB="381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07"/>
                  </a:ext>
                </a:extLst>
              </a:tr>
              <a:tr h="123444">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ARDAN INC</a:t>
                      </a:r>
                    </a:p>
                  </a:txBody>
                  <a:tcPr marL="0" marR="0" marT="38100" marB="381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MAITLAND</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200M - 1B</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475</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2.3%</a:t>
                      </a:r>
                    </a:p>
                  </a:txBody>
                  <a:tcPr marL="0" marR="0" marT="38100" marB="381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extLst>
                  <a:ext uri="{0D108BD9-81ED-4DB2-BD59-A6C34878D82A}">
                    <a16:rowId xmlns:a16="http://schemas.microsoft.com/office/drawing/2014/main" val="10008"/>
                  </a:ext>
                </a:extLst>
              </a:tr>
              <a:tr h="123444">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LUMINAR TECHNOLOGIES INC</a:t>
                      </a:r>
                    </a:p>
                  </a:txBody>
                  <a:tcPr marL="0" marR="0" marT="38100" marB="381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ORLANDO</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50M - 100M</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475</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2.3%</a:t>
                      </a:r>
                    </a:p>
                  </a:txBody>
                  <a:tcPr marL="0" marR="0" marT="38100" marB="381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09"/>
                  </a:ext>
                </a:extLst>
              </a:tr>
              <a:tr h="123444">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GLOBAL BLOCKCHAIN ACQUISITION CORPORATION</a:t>
                      </a:r>
                    </a:p>
                  </a:txBody>
                  <a:tcPr marL="0" marR="0" marT="38100" marB="381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ORLANDO</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200M - 1B</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455</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2.2%</a:t>
                      </a:r>
                    </a:p>
                  </a:txBody>
                  <a:tcPr marL="0" marR="0" marT="38100" marB="381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extLst>
                  <a:ext uri="{0D108BD9-81ED-4DB2-BD59-A6C34878D82A}">
                    <a16:rowId xmlns:a16="http://schemas.microsoft.com/office/drawing/2014/main" val="10010"/>
                  </a:ext>
                </a:extLst>
              </a:tr>
              <a:tr h="123444">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ONLINE LABELS GROUP LLC</a:t>
                      </a:r>
                    </a:p>
                  </a:txBody>
                  <a:tcPr marL="0" marR="0" marT="38100" marB="381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SANFORD</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10M - 50M</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381</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1.9%</a:t>
                      </a:r>
                    </a:p>
                  </a:txBody>
                  <a:tcPr marL="0" marR="0" marT="38100" marB="381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11"/>
                  </a:ext>
                </a:extLst>
              </a:tr>
              <a:tr h="123444">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JSM &amp; ASSOCIATES LLC</a:t>
                      </a:r>
                    </a:p>
                  </a:txBody>
                  <a:tcPr marL="0" marR="0" marT="38100" marB="381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APOPKA</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10M - 50M</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377</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1.9%</a:t>
                      </a:r>
                    </a:p>
                  </a:txBody>
                  <a:tcPr marL="0" marR="0" marT="38100" marB="381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extLst>
                  <a:ext uri="{0D108BD9-81ED-4DB2-BD59-A6C34878D82A}">
                    <a16:rowId xmlns:a16="http://schemas.microsoft.com/office/drawing/2014/main" val="10012"/>
                  </a:ext>
                </a:extLst>
              </a:tr>
              <a:tr h="123444">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HANNOVER LIFE REASSURANCE COMPANY OF AMERICA</a:t>
                      </a:r>
                    </a:p>
                  </a:txBody>
                  <a:tcPr marL="0" marR="0" marT="38100" marB="381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ORLANDO</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50M - 100M</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363</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1.8%</a:t>
                      </a:r>
                    </a:p>
                  </a:txBody>
                  <a:tcPr marL="0" marR="0" marT="38100" marB="381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13"/>
                  </a:ext>
                </a:extLst>
              </a:tr>
              <a:tr h="123444">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AMERICAN SAFETY COUNCIL INC</a:t>
                      </a:r>
                    </a:p>
                  </a:txBody>
                  <a:tcPr marL="0" marR="0" marT="38100" marB="381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ORLANDO</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10M - 50M</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329</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1.6%</a:t>
                      </a:r>
                    </a:p>
                  </a:txBody>
                  <a:tcPr marL="0" marR="0" marT="38100" marB="381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extLst>
                  <a:ext uri="{0D108BD9-81ED-4DB2-BD59-A6C34878D82A}">
                    <a16:rowId xmlns:a16="http://schemas.microsoft.com/office/drawing/2014/main" val="10014"/>
                  </a:ext>
                </a:extLst>
              </a:tr>
              <a:tr h="123444">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BRIDGES OF AMERICA INC</a:t>
                      </a:r>
                    </a:p>
                  </a:txBody>
                  <a:tcPr marL="0" marR="0" marT="38100" marB="381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6350" cap="flat" cmpd="sng" algn="ctr">
                      <a:solidFill>
                        <a:srgbClr val="E2E8F0">
                          <a:alpha val="100000"/>
                        </a:srgbClr>
                      </a:solidFill>
                      <a:prstDash val="solid"/>
                    </a:lnB>
                    <a:solidFill>
                      <a:srgbClr val="FFFFFF">
                        <a:alpha val="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ORLANDO</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6350" cap="flat" cmpd="sng" algn="ctr">
                      <a:solidFill>
                        <a:srgbClr val="E2E8F0">
                          <a:alpha val="100000"/>
                        </a:srgbClr>
                      </a:solidFill>
                      <a:prstDash val="solid"/>
                    </a:lnB>
                    <a:solidFill>
                      <a:srgbClr val="FFFFFF">
                        <a:alpha val="0"/>
                      </a:srgbClr>
                    </a:solidFill>
                  </a:tcPr>
                </a:tc>
                <a:tc>
                  <a:txBody>
                    <a:bodyPr/>
                    <a:lstStyle/>
                    <a:p>
                      <a:pPr marL="38100" marR="38100" algn="l">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100M - 200M</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6350" cap="flat" cmpd="sng" algn="ctr">
                      <a:solidFill>
                        <a:srgbClr val="E2E8F0">
                          <a:alpha val="100000"/>
                        </a:srgbClr>
                      </a:solidFill>
                      <a:prstDash val="solid"/>
                    </a:lnB>
                    <a:solidFill>
                      <a:srgbClr val="FFFFFF">
                        <a:alpha val="0"/>
                      </a:srgbClr>
                    </a:solidFill>
                  </a:tcPr>
                </a:tc>
                <a:tc>
                  <a:txBody>
                    <a:bodyPr/>
                    <a:lstStyle/>
                    <a:p>
                      <a:pPr marL="38100" marR="38100" algn="ctr">
                        <a:lnSpc>
                          <a:spcPct val="100000"/>
                        </a:lnSpc>
                        <a:spcBef>
                          <a:spcPts val="300"/>
                        </a:spcBef>
                        <a:spcAft>
                          <a:spcPts val="300"/>
                        </a:spcAft>
                        <a:buNone/>
                      </a:pPr>
                      <a:r>
                        <a:rPr sz="800" b="0" i="0" u="none" strike="noStrike" cap="none">
                          <a:solidFill>
                            <a:srgbClr val="000000">
                              <a:alpha val="100000"/>
                            </a:srgbClr>
                          </a:solidFill>
                          <a:latin typeface="Calibri"/>
                          <a:cs typeface="Calibri"/>
                          <a:sym typeface="Calibri"/>
                        </a:rPr>
                        <a:t>275</a:t>
                      </a:r>
                    </a:p>
                  </a:txBody>
                  <a:tcPr marL="0" marR="0" marT="38100" marB="381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6350" cap="flat" cmpd="sng" algn="ctr">
                      <a:solidFill>
                        <a:srgbClr val="E2E8F0">
                          <a:alpha val="100000"/>
                        </a:srgbClr>
                      </a:solidFill>
                      <a:prstDash val="solid"/>
                    </a:lnB>
                    <a:solidFill>
                      <a:srgbClr val="FFFFFF">
                        <a:alpha val="0"/>
                      </a:srgbClr>
                    </a:solidFill>
                  </a:tcPr>
                </a:tc>
                <a:tc>
                  <a:txBody>
                    <a:bodyPr/>
                    <a:lstStyle/>
                    <a:p>
                      <a:pPr marL="38100" marR="38100" algn="ctr">
                        <a:lnSpc>
                          <a:spcPct val="100000"/>
                        </a:lnSpc>
                        <a:spcBef>
                          <a:spcPts val="300"/>
                        </a:spcBef>
                        <a:spcAft>
                          <a:spcPts val="300"/>
                        </a:spcAft>
                        <a:buNone/>
                      </a:pPr>
                      <a:r>
                        <a:rPr sz="800" b="0" i="0" u="none" strike="noStrike" cap="none" dirty="0">
                          <a:solidFill>
                            <a:srgbClr val="000000">
                              <a:alpha val="100000"/>
                            </a:srgbClr>
                          </a:solidFill>
                          <a:latin typeface="Calibri"/>
                          <a:cs typeface="Calibri"/>
                          <a:sym typeface="Calibri"/>
                        </a:rPr>
                        <a:t>1.4%</a:t>
                      </a:r>
                    </a:p>
                  </a:txBody>
                  <a:tcPr marL="0" marR="0" marT="38100" marB="381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6350"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15"/>
                  </a:ext>
                </a:extLst>
              </a:tr>
            </a:tbl>
          </a:graphicData>
        </a:graphic>
      </p:graphicFrame>
      <p:sp>
        <p:nvSpPr>
          <p:cNvPr id="21" name="summary_line"/>
          <p:cNvSpPr/>
          <p:nvPr/>
        </p:nvSpPr>
        <p:spPr>
          <a:xfrm>
            <a:off x="274345" y="4677156"/>
            <a:ext cx="8595360" cy="228600"/>
          </a:xfrm>
          <a:prstGeom prst="rect">
            <a:avLst/>
          </a:prstGeom>
          <a:noFill/>
          <a:ln>
            <a:noFill/>
          </a:ln>
        </p:spPr>
        <p:txBody>
          <a:bodyPr wrap="square" rtlCol="0" anchor="ctr"/>
          <a:lstStyle/>
          <a:p>
            <a:pPr marL="0" indent="0" algn="l">
              <a:buNone/>
            </a:pPr>
            <a:r>
              <a:rPr lang="en-US" sz="750" dirty="0">
                <a:solidFill>
                  <a:srgbClr val="4A5568"/>
                </a:solidFill>
                <a:latin typeface="Calibri" pitchFamily="34" charset="0"/>
              </a:rPr>
              <a:t>GALLAGHER  |  20,249 covered employees  |  5.3% market share  |  Top 15 of 24 employers shown</a:t>
            </a:r>
          </a:p>
        </p:txBody>
      </p:sp>
      <p:sp>
        <p:nvSpPr>
          <p:cNvPr id="22" name="Object 8">
            <a:extLst>
              <a:ext uri="{FF2B5EF4-FFF2-40B4-BE49-F238E27FC236}">
                <a16:creationId xmlns:a16="http://schemas.microsoft.com/office/drawing/2014/main" id="{FA4A027C-23D3-1982-65D7-BAFDCB31CC59}"/>
              </a:ext>
            </a:extLst>
          </p:cNvPr>
          <p:cNvSpPr/>
          <p:nvPr/>
        </p:nvSpPr>
        <p:spPr>
          <a:xfrm>
            <a:off x="7058962" y="73152"/>
            <a:ext cx="2005028" cy="476131"/>
          </a:xfrm>
          <a:prstGeom prst="rect">
            <a:avLst/>
          </a:pr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23" name="Object 9">
            <a:extLst>
              <a:ext uri="{FF2B5EF4-FFF2-40B4-BE49-F238E27FC236}">
                <a16:creationId xmlns:a16="http://schemas.microsoft.com/office/drawing/2014/main" id="{E4D0CA70-4D1B-AFB3-3148-7B77CD340AA9}"/>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7211324" y="168378"/>
            <a:ext cx="1700304" cy="28567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dr_bar"/>
          <p:cNvSpPr>
            <a:spLocks noGrp="1"/>
          </p:cNvSpPr>
          <p:nvPr/>
        </p:nvSpPr>
        <p:spPr>
          <a:xfrm>
            <a:off x="0" y="0"/>
            <a:ext cx="9144000" cy="640080"/>
          </a:xfrm>
          <a:prstGeom prst="rect">
            <a:avLst/>
          </a:prstGeom>
          <a:solidFill>
            <a:srgbClr val="1A3A5C"/>
          </a:solidFill>
          <a:ln>
            <a:noFill/>
          </a:ln>
        </p:spPr>
        <p:txBody>
          <a:bodyPr/>
          <a:lstStyle/>
          <a:p>
            <a:endParaRPr/>
          </a:p>
        </p:txBody>
      </p:sp>
      <p:sp>
        <p:nvSpPr>
          <p:cNvPr id="3" name="hdr_title"/>
          <p:cNvSpPr/>
          <p:nvPr/>
        </p:nvSpPr>
        <p:spPr>
          <a:xfrm>
            <a:off x="274320" y="73152"/>
            <a:ext cx="8595360" cy="493776"/>
          </a:xfrm>
          <a:prstGeom prst="rect">
            <a:avLst/>
          </a:prstGeom>
          <a:noFill/>
          <a:ln>
            <a:noFill/>
          </a:ln>
        </p:spPr>
        <p:txBody>
          <a:bodyPr wrap="square" rtlCol="0" anchor="ctr"/>
          <a:lstStyle/>
          <a:p>
            <a:pPr marL="0" indent="0" algn="l">
              <a:buNone/>
            </a:pPr>
            <a:r>
              <a:rPr lang="en-US" sz="1500" b="1" dirty="0">
                <a:solidFill>
                  <a:srgbClr val="FFFFFF"/>
                </a:solidFill>
                <a:latin typeface="Calibri" pitchFamily="34" charset="0"/>
              </a:rPr>
              <a:t>Remaining Brokers - Summary (Part 1 of 7)</a:t>
            </a:r>
          </a:p>
        </p:txBody>
      </p:sp>
      <p:sp>
        <p:nvSpPr>
          <p:cNvPr id="4" name="ftr_bar"/>
          <p:cNvSpPr>
            <a:spLocks noGrp="1"/>
          </p:cNvSpPr>
          <p:nvPr/>
        </p:nvSpPr>
        <p:spPr>
          <a:xfrm>
            <a:off x="0" y="4846320"/>
            <a:ext cx="9144000" cy="297180"/>
          </a:xfrm>
          <a:prstGeom prst="rect">
            <a:avLst/>
          </a:prstGeom>
          <a:solidFill>
            <a:srgbClr val="1A3A5C"/>
          </a:solidFill>
          <a:ln>
            <a:noFill/>
          </a:ln>
        </p:spPr>
        <p:txBody>
          <a:bodyPr/>
          <a:lstStyle/>
          <a:p>
            <a:endParaRPr/>
          </a:p>
        </p:txBody>
      </p:sp>
      <p:sp>
        <p:nvSpPr>
          <p:cNvPr id="5" name="ftr_txt"/>
          <p:cNvSpPr/>
          <p:nvPr/>
        </p:nvSpPr>
        <p:spPr>
          <a:xfrm>
            <a:off x="365760" y="4864608"/>
            <a:ext cx="6400800" cy="256032"/>
          </a:xfrm>
          <a:prstGeom prst="rect">
            <a:avLst/>
          </a:prstGeom>
          <a:noFill/>
          <a:ln>
            <a:noFill/>
          </a:ln>
        </p:spPr>
        <p:txBody>
          <a:bodyPr wrap="square" rtlCol="0" anchor="ctr"/>
          <a:lstStyle/>
          <a:p>
            <a:pPr marL="0" indent="0" algn="l">
              <a:buNone/>
            </a:pPr>
            <a:r>
              <a:rPr lang="en-US" sz="900" dirty="0">
                <a:solidFill>
                  <a:srgbClr val="E2E8F0"/>
                </a:solidFill>
                <a:latin typeface="Calibri" pitchFamily="34" charset="0"/>
              </a:rPr>
              <a:t>5500 Filings Data | All Groups With Identified Benefits Broker</a:t>
            </a:r>
          </a:p>
        </p:txBody>
      </p:sp>
      <p:sp>
        <p:nvSpPr>
          <p:cNvPr id="6" name="ftr_conf"/>
          <p:cNvSpPr/>
          <p:nvPr/>
        </p:nvSpPr>
        <p:spPr>
          <a:xfrm>
            <a:off x="6858000" y="4864608"/>
            <a:ext cx="2011680" cy="256032"/>
          </a:xfrm>
          <a:prstGeom prst="rect">
            <a:avLst/>
          </a:prstGeom>
          <a:noFill/>
          <a:ln>
            <a:noFill/>
          </a:ln>
        </p:spPr>
        <p:txBody>
          <a:bodyPr wrap="square" rtlCol="0" anchor="ctr"/>
          <a:lstStyle/>
          <a:p>
            <a:pPr marL="0" indent="0" algn="r">
              <a:buNone/>
            </a:pPr>
            <a:r>
              <a:rPr lang="en-US" sz="900" dirty="0">
                <a:solidFill>
                  <a:srgbClr val="E2E8F0"/>
                </a:solidFill>
                <a:latin typeface="Calibri" pitchFamily="34" charset="0"/>
              </a:rPr>
              <a:t>Confidential - Internal Use Only</a:t>
            </a:r>
          </a:p>
        </p:txBody>
      </p:sp>
      <p:graphicFrame>
        <p:nvGraphicFramePr>
          <p:cNvPr id="7" name="Table 6"/>
          <p:cNvGraphicFramePr>
            <a:graphicFrameLocks noGrp="1"/>
          </p:cNvGraphicFramePr>
          <p:nvPr>
            <p:extLst>
              <p:ext uri="{D42A27DB-BD31-4B8C-83A1-F6EECF244321}">
                <p14:modId xmlns:p14="http://schemas.microsoft.com/office/powerpoint/2010/main" val="4232471352"/>
              </p:ext>
            </p:extLst>
          </p:nvPr>
        </p:nvGraphicFramePr>
        <p:xfrm>
          <a:off x="182880" y="749808"/>
          <a:ext cx="8503920" cy="4075304"/>
        </p:xfrm>
        <a:graphic>
          <a:graphicData uri="http://schemas.openxmlformats.org/drawingml/2006/table">
            <a:tbl>
              <a:tblPr/>
              <a:tblGrid>
                <a:gridCol w="27432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gridCol w="685800">
                  <a:extLst>
                    <a:ext uri="{9D8B030D-6E8A-4147-A177-3AD203B41FA5}">
                      <a16:colId xmlns:a16="http://schemas.microsoft.com/office/drawing/2014/main" val="20004"/>
                    </a:ext>
                  </a:extLst>
                </a:gridCol>
                <a:gridCol w="4160520">
                  <a:extLst>
                    <a:ext uri="{9D8B030D-6E8A-4147-A177-3AD203B41FA5}">
                      <a16:colId xmlns:a16="http://schemas.microsoft.com/office/drawing/2014/main" val="20005"/>
                    </a:ext>
                  </a:extLst>
                </a:gridCol>
              </a:tblGrid>
              <a:tr h="163973">
                <a:tc>
                  <a:txBody>
                    <a:bodyPr/>
                    <a:lstStyle/>
                    <a:p>
                      <a:pPr marL="25400" marR="25400" algn="ctr">
                        <a:lnSpc>
                          <a:spcPct val="100000"/>
                        </a:lnSpc>
                        <a:spcBef>
                          <a:spcPts val="200"/>
                        </a:spcBef>
                        <a:spcAft>
                          <a:spcPts val="200"/>
                        </a:spcAft>
                        <a:buNone/>
                      </a:pPr>
                      <a:r>
                        <a:rPr sz="800" b="1" i="0" u="none" strike="noStrike" cap="none">
                          <a:solidFill>
                            <a:srgbClr val="FFFFFF">
                              <a:alpha val="100000"/>
                            </a:srgbClr>
                          </a:solidFill>
                          <a:latin typeface="Calibri"/>
                          <a:cs typeface="Calibri"/>
                          <a:sym typeface="Calibri"/>
                        </a:rPr>
                        <a:t>#</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alpha val="100000"/>
                        </a:srgbClr>
                      </a:solidFill>
                      <a:prstDash val="solid"/>
                    </a:lnT>
                    <a:lnB w="6350" cap="flat" cmpd="sng" algn="ctr">
                      <a:solidFill>
                        <a:srgbClr val="E2E8F0">
                          <a:alpha val="100000"/>
                        </a:srgbClr>
                      </a:solidFill>
                      <a:prstDash val="solid"/>
                    </a:lnB>
                    <a:solidFill>
                      <a:srgbClr val="1A3A5C">
                        <a:alpha val="100000"/>
                      </a:srgbClr>
                    </a:solidFill>
                  </a:tcPr>
                </a:tc>
                <a:tc>
                  <a:txBody>
                    <a:bodyPr/>
                    <a:lstStyle/>
                    <a:p>
                      <a:pPr marL="25400" marR="25400" algn="l">
                        <a:lnSpc>
                          <a:spcPct val="100000"/>
                        </a:lnSpc>
                        <a:spcBef>
                          <a:spcPts val="200"/>
                        </a:spcBef>
                        <a:spcAft>
                          <a:spcPts val="200"/>
                        </a:spcAft>
                        <a:buNone/>
                      </a:pPr>
                      <a:r>
                        <a:rPr sz="800" b="1" i="0" u="none" strike="noStrike" cap="none">
                          <a:solidFill>
                            <a:srgbClr val="FFFFFF">
                              <a:alpha val="100000"/>
                            </a:srgbClr>
                          </a:solidFill>
                          <a:latin typeface="Calibri"/>
                          <a:cs typeface="Calibri"/>
                          <a:sym typeface="Calibri"/>
                        </a:rPr>
                        <a:t>Broker / Consultant</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alpha val="100000"/>
                        </a:srgbClr>
                      </a:solidFill>
                      <a:prstDash val="solid"/>
                    </a:lnT>
                    <a:lnB w="6350" cap="flat" cmpd="sng" algn="ctr">
                      <a:solidFill>
                        <a:srgbClr val="E2E8F0">
                          <a:alpha val="100000"/>
                        </a:srgbClr>
                      </a:solidFill>
                      <a:prstDash val="solid"/>
                    </a:lnB>
                    <a:solidFill>
                      <a:srgbClr val="1A3A5C">
                        <a:alpha val="100000"/>
                      </a:srgbClr>
                    </a:solidFill>
                  </a:tcPr>
                </a:tc>
                <a:tc>
                  <a:txBody>
                    <a:bodyPr/>
                    <a:lstStyle/>
                    <a:p>
                      <a:pPr marL="25400" marR="25400" algn="ctr">
                        <a:lnSpc>
                          <a:spcPct val="100000"/>
                        </a:lnSpc>
                        <a:spcBef>
                          <a:spcPts val="200"/>
                        </a:spcBef>
                        <a:spcAft>
                          <a:spcPts val="200"/>
                        </a:spcAft>
                        <a:buNone/>
                      </a:pPr>
                      <a:r>
                        <a:rPr sz="800" b="1" i="0" u="none" strike="noStrike" cap="none">
                          <a:solidFill>
                            <a:srgbClr val="FFFFFF">
                              <a:alpha val="100000"/>
                            </a:srgbClr>
                          </a:solidFill>
                          <a:latin typeface="Calibri"/>
                          <a:cs typeface="Calibri"/>
                          <a:sym typeface="Calibri"/>
                        </a:rPr>
                        <a:t>Employers</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alpha val="100000"/>
                        </a:srgbClr>
                      </a:solidFill>
                      <a:prstDash val="solid"/>
                    </a:lnT>
                    <a:lnB w="6350" cap="flat" cmpd="sng" algn="ctr">
                      <a:solidFill>
                        <a:srgbClr val="E2E8F0">
                          <a:alpha val="100000"/>
                        </a:srgbClr>
                      </a:solidFill>
                      <a:prstDash val="solid"/>
                    </a:lnB>
                    <a:solidFill>
                      <a:srgbClr val="1A3A5C">
                        <a:alpha val="100000"/>
                      </a:srgbClr>
                    </a:solidFill>
                  </a:tcPr>
                </a:tc>
                <a:tc>
                  <a:txBody>
                    <a:bodyPr/>
                    <a:lstStyle/>
                    <a:p>
                      <a:pPr marL="25400" marR="25400" algn="ctr">
                        <a:lnSpc>
                          <a:spcPct val="100000"/>
                        </a:lnSpc>
                        <a:spcBef>
                          <a:spcPts val="200"/>
                        </a:spcBef>
                        <a:spcAft>
                          <a:spcPts val="200"/>
                        </a:spcAft>
                        <a:buNone/>
                      </a:pPr>
                      <a:r>
                        <a:rPr sz="800" b="1" i="0" u="none" strike="noStrike" cap="none">
                          <a:solidFill>
                            <a:srgbClr val="FFFFFF">
                              <a:alpha val="100000"/>
                            </a:srgbClr>
                          </a:solidFill>
                          <a:latin typeface="Calibri"/>
                          <a:cs typeface="Calibri"/>
                          <a:sym typeface="Calibri"/>
                        </a:rPr>
                        <a:t>Covered EEs</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alpha val="100000"/>
                        </a:srgbClr>
                      </a:solidFill>
                      <a:prstDash val="solid"/>
                    </a:lnT>
                    <a:lnB w="6350" cap="flat" cmpd="sng" algn="ctr">
                      <a:solidFill>
                        <a:srgbClr val="E2E8F0">
                          <a:alpha val="100000"/>
                        </a:srgbClr>
                      </a:solidFill>
                      <a:prstDash val="solid"/>
                    </a:lnB>
                    <a:solidFill>
                      <a:srgbClr val="1A3A5C">
                        <a:alpha val="100000"/>
                      </a:srgbClr>
                    </a:solidFill>
                  </a:tcPr>
                </a:tc>
                <a:tc>
                  <a:txBody>
                    <a:bodyPr/>
                    <a:lstStyle/>
                    <a:p>
                      <a:pPr marL="25400" marR="25400" algn="ctr">
                        <a:lnSpc>
                          <a:spcPct val="100000"/>
                        </a:lnSpc>
                        <a:spcBef>
                          <a:spcPts val="200"/>
                        </a:spcBef>
                        <a:spcAft>
                          <a:spcPts val="200"/>
                        </a:spcAft>
                        <a:buNone/>
                      </a:pPr>
                      <a:r>
                        <a:rPr sz="800" b="1" i="0" u="none" strike="noStrike" cap="none">
                          <a:solidFill>
                            <a:srgbClr val="FFFFFF">
                              <a:alpha val="100000"/>
                            </a:srgbClr>
                          </a:solidFill>
                          <a:latin typeface="Calibri"/>
                          <a:cs typeface="Calibri"/>
                          <a:sym typeface="Calibri"/>
                        </a:rPr>
                        <a:t>Market Share</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alpha val="100000"/>
                        </a:srgbClr>
                      </a:solidFill>
                      <a:prstDash val="solid"/>
                    </a:lnT>
                    <a:lnB w="6350" cap="flat" cmpd="sng" algn="ctr">
                      <a:solidFill>
                        <a:srgbClr val="E2E8F0">
                          <a:alpha val="100000"/>
                        </a:srgbClr>
                      </a:solidFill>
                      <a:prstDash val="solid"/>
                    </a:lnB>
                    <a:solidFill>
                      <a:srgbClr val="1A3A5C">
                        <a:alpha val="100000"/>
                      </a:srgbClr>
                    </a:solidFill>
                  </a:tcPr>
                </a:tc>
                <a:tc>
                  <a:txBody>
                    <a:bodyPr/>
                    <a:lstStyle/>
                    <a:p>
                      <a:pPr marL="25400" marR="25400" algn="l">
                        <a:lnSpc>
                          <a:spcPct val="100000"/>
                        </a:lnSpc>
                        <a:spcBef>
                          <a:spcPts val="200"/>
                        </a:spcBef>
                        <a:spcAft>
                          <a:spcPts val="200"/>
                        </a:spcAft>
                        <a:buNone/>
                      </a:pPr>
                      <a:r>
                        <a:rPr sz="800" b="1" i="0" u="none" strike="noStrike" cap="none">
                          <a:solidFill>
                            <a:srgbClr val="FFFFFF">
                              <a:alpha val="100000"/>
                            </a:srgbClr>
                          </a:solidFill>
                          <a:latin typeface="Calibri"/>
                          <a:cs typeface="Calibri"/>
                          <a:sym typeface="Calibri"/>
                        </a:rPr>
                        <a:t>Employer List</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6350" cap="flat" cmpd="sng" algn="ctr">
                      <a:solidFill>
                        <a:srgbClr val="E2E8F0">
                          <a:alpha val="100000"/>
                        </a:srgbClr>
                      </a:solidFill>
                      <a:prstDash val="solid"/>
                    </a:lnT>
                    <a:lnB w="6350" cap="flat" cmpd="sng" algn="ctr">
                      <a:solidFill>
                        <a:srgbClr val="E2E8F0">
                          <a:alpha val="100000"/>
                        </a:srgbClr>
                      </a:solidFill>
                      <a:prstDash val="solid"/>
                    </a:lnB>
                    <a:solidFill>
                      <a:srgbClr val="1A3A5C">
                        <a:alpha val="100000"/>
                      </a:srgbClr>
                    </a:solidFill>
                  </a:tcPr>
                </a:tc>
                <a:extLst>
                  <a:ext uri="{0D108BD9-81ED-4DB2-BD59-A6C34878D82A}">
                    <a16:rowId xmlns:a16="http://schemas.microsoft.com/office/drawing/2014/main" val="10000"/>
                  </a:ext>
                </a:extLst>
              </a:tr>
              <a:tr h="163973">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7</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solidFill>
                      <a:prstDash val="solid"/>
                      <a:round/>
                      <a:headEnd type="none" w="med" len="med"/>
                      <a:tailEnd type="none" w="med" len="me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GBC</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solidFill>
                      <a:prstDash val="solid"/>
                      <a:round/>
                      <a:headEnd type="none" w="med" len="med"/>
                      <a:tailEnd type="none" w="med" len="me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solidFill>
                      <a:prstDash val="solid"/>
                      <a:round/>
                      <a:headEnd type="none" w="med" len="med"/>
                      <a:tailEnd type="none" w="med" len="me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15,400</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solidFill>
                      <a:prstDash val="solid"/>
                      <a:round/>
                      <a:headEnd type="none" w="med" len="med"/>
                      <a:tailEnd type="none" w="med" len="me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4%</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solidFill>
                      <a:prstDash val="solid"/>
                      <a:round/>
                      <a:headEnd type="none" w="med" len="med"/>
                      <a:tailEnd type="none" w="med" len="me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MARRIOTT VACATIONS WORLDWIDE CORPORATION</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6350" cap="flat" cmpd="sng" algn="ctr">
                      <a:solidFill>
                        <a:srgbClr val="E2E8F0"/>
                      </a:solidFill>
                      <a:prstDash val="solid"/>
                      <a:round/>
                      <a:headEnd type="none" w="med" len="med"/>
                      <a:tailEnd type="none" w="med" len="med"/>
                    </a:lnT>
                    <a:lnB w="3175"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01"/>
                  </a:ext>
                </a:extLst>
              </a:tr>
              <a:tr h="163973">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8</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US BENETEC WORKPLACE SOLUTIONS</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15,178</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4%</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PEOPLEASE LLC</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extLst>
                  <a:ext uri="{0D108BD9-81ED-4DB2-BD59-A6C34878D82A}">
                    <a16:rowId xmlns:a16="http://schemas.microsoft.com/office/drawing/2014/main" val="10002"/>
                  </a:ext>
                </a:extLst>
              </a:tr>
              <a:tr h="266000">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9</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INSURANCE OFFICE OF AMERICA</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33</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14,785</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3.9%</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WASTE PRO USA INC, INSURANCE OFFICE OF AMERICA INC, JR DAVIS CONSTRUCTION COMPANY INC, CERTIFIED AUTO REPAIR OF CENTRAL FL INC, FRONTLINE INSURANCE MANAGERS INC, UNITED CEREBRAL PALSY OF CENTRAL FLORIDA (+ 27 more)</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03"/>
                  </a:ext>
                </a:extLst>
              </a:tr>
              <a:tr h="189479">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10</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ALLIANT INSURANCE SERVICES</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20</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13,108</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3.4%</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UNITED PARKS &amp; RESORTS INC, ONEBLOOD INC, SPRING ARBOR MANAGEMENT LLC, JACKSON THERAPY PARTNERS LLC, NNN REIT INC, FLORIDA FOOD PRODUCTS LLC (+ 14 more)</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extLst>
                  <a:ext uri="{0D108BD9-81ED-4DB2-BD59-A6C34878D82A}">
                    <a16:rowId xmlns:a16="http://schemas.microsoft.com/office/drawing/2014/main" val="10004"/>
                  </a:ext>
                </a:extLst>
              </a:tr>
              <a:tr h="189479">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11</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HUB INTERNATIONAL</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22</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9,104</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2.4%</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FLORIDA BANKERS HEALTH CONSORTIUM, SOUTHERN HVAC CORPORATION, S &amp; F RESTAURANT VENTURES INC, COMMUNITY HEALTH CENTERS INC, ALS EDUCATION LLC, HOLIDAY CHEVROLET LLC (+ 16 more)</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05"/>
                  </a:ext>
                </a:extLst>
              </a:tr>
              <a:tr h="189479">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12</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LOCKTON COMPANIES</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15</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8,957</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2.3%</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WESTMINSTER SERVICES INC, HEALTHCARE SUPPORT STAFFING LLC, CENTRALSQUARE TECHNOLOGIES LLC, FINASTRA USA CORPORATION, ROLLINS COLLEGE, ACOUSTI ENGINEERING COMPANY OF FLORIDA (+ 9 more)</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extLst>
                  <a:ext uri="{0D108BD9-81ED-4DB2-BD59-A6C34878D82A}">
                    <a16:rowId xmlns:a16="http://schemas.microsoft.com/office/drawing/2014/main" val="10006"/>
                  </a:ext>
                </a:extLst>
              </a:tr>
              <a:tr h="163973">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13</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FEDELI GROUP</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8,166</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2.1%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SIMCOM INC</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07"/>
                  </a:ext>
                </a:extLst>
              </a:tr>
              <a:tr h="189479">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14</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FOUNDATION RISK PARTNERS</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10</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8,051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2.1%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M E FIELDS INC, SOFIDEL AMERICA CORPORATION, ALAKA INA FOUNDATION, ABC FINE WINE &amp; SPIRITS, CONCORD MANAGEMENT LTD, ACORN STAIRLIFTS INC (+ 4 more)</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extLst>
                  <a:ext uri="{0D108BD9-81ED-4DB2-BD59-A6C34878D82A}">
                    <a16:rowId xmlns:a16="http://schemas.microsoft.com/office/drawing/2014/main" val="10008"/>
                  </a:ext>
                </a:extLst>
              </a:tr>
              <a:tr h="266000">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15</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HYLANT</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20</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7,964</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2.1%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ADVENTHEALTH BENEFITS ADMINISTRATIVE COMMITTEE, FOUNDATION PARTNERS GROUP LLC, ADDITION FINANCIAL CREDIT UNION, FAMILY CARE PARTNERS OF NORTHEAST FL LLC, PROFESSIONAL EMPLOYER RESOURCES INC, MAYFLOWER RETIREMENT CENTER INC (+ 14 more)</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09"/>
                  </a:ext>
                </a:extLst>
              </a:tr>
              <a:tr h="163973">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16</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EPIC</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3</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7,854</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2.1%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RED LOBSTER MANAGEMENT LLC, CUES INC, STAX PAYMENTS INC</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extLst>
                  <a:ext uri="{0D108BD9-81ED-4DB2-BD59-A6C34878D82A}">
                    <a16:rowId xmlns:a16="http://schemas.microsoft.com/office/drawing/2014/main" val="10010"/>
                  </a:ext>
                </a:extLst>
              </a:tr>
              <a:tr h="189479">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17</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dirty="0">
                          <a:solidFill>
                            <a:srgbClr val="000000">
                              <a:alpha val="100000"/>
                            </a:srgbClr>
                          </a:solidFill>
                          <a:latin typeface="Calibri"/>
                          <a:cs typeface="Calibri"/>
                          <a:sym typeface="Calibri"/>
                        </a:rPr>
                        <a:t>USI INSURANCE SERVICES</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25</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5,568</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1.5%</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SENTRY MANAGEMENT INC, WHARTON-SMITH INC, I M G ENTERPRISE INC, WATERMAN COMMUNITIES INC, SOUTHEAST AIRPORT SERVICES INC, PARAMOUNT HOSPITALITY MANAGEMENT (+ 19 more)</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11"/>
                  </a:ext>
                </a:extLst>
              </a:tr>
              <a:tr h="189479">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18</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WILLIS TOWERS WATSON</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5</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4,749</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1.2%</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SIEMENS GAMESA RENEWABLE ENERGY INC, QUALUS CORPORATION, AMES COMPANIES INC, OUTCOMES ONE INC, ALLY BUILDING SOLUTIONS LLC</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extLst>
                  <a:ext uri="{0D108BD9-81ED-4DB2-BD59-A6C34878D82A}">
                    <a16:rowId xmlns:a16="http://schemas.microsoft.com/office/drawing/2014/main" val="10012"/>
                  </a:ext>
                </a:extLst>
              </a:tr>
              <a:tr h="189479">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19</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ACRISURE</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22</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4,232</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ASPIRE HEALTH PARTNERS, ONE STOP COOLING AND HEATING LLC, LIFE CONCEPTS INC, TEAK ISLE INC, LAKE MEDICAL IMAGING &amp; BREAST CENTER AT THE VILLAGES LLC, PARK PLACE BEHAVIORAL HEALTH CARE (+ 16 more)</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13"/>
                  </a:ext>
                </a:extLst>
              </a:tr>
              <a:tr h="163973">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20</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BENEFIT COMMUNICATIONS</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2,951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0.8%</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CONSULATE HEALTH CARE LLC</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extLst>
                  <a:ext uri="{0D108BD9-81ED-4DB2-BD59-A6C34878D82A}">
                    <a16:rowId xmlns:a16="http://schemas.microsoft.com/office/drawing/2014/main" val="10014"/>
                  </a:ext>
                </a:extLst>
              </a:tr>
              <a:tr h="163973">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21</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ROSENSURE INC</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2</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2,561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0.7%</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ROSEN HOTELS &amp; RESORTS INC, EDINBURGH MANAGEMENT LLC</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15"/>
                  </a:ext>
                </a:extLst>
              </a:tr>
              <a:tr h="163973">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22</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WILLIAM R MOORE III</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1,755</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0.5%</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BRAMBLES USA INC</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extLst>
                  <a:ext uri="{0D108BD9-81ED-4DB2-BD59-A6C34878D82A}">
                    <a16:rowId xmlns:a16="http://schemas.microsoft.com/office/drawing/2014/main" val="10016"/>
                  </a:ext>
                </a:extLst>
              </a:tr>
              <a:tr h="163973">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23</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6350"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LEVEL 3 BENEFITS ADVISORS</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6350"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6350"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1,558</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6350"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0.4%</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6350"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dirty="0">
                          <a:solidFill>
                            <a:srgbClr val="000000">
                              <a:alpha val="100000"/>
                            </a:srgbClr>
                          </a:solidFill>
                          <a:latin typeface="Calibri"/>
                          <a:cs typeface="Calibri"/>
                          <a:sym typeface="Calibri"/>
                        </a:rPr>
                        <a:t>ASSISTRX LLC</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6350"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17"/>
                  </a:ext>
                </a:extLst>
              </a:tr>
            </a:tbl>
          </a:graphicData>
        </a:graphic>
      </p:graphicFrame>
      <p:sp>
        <p:nvSpPr>
          <p:cNvPr id="8" name="Object 8">
            <a:extLst>
              <a:ext uri="{FF2B5EF4-FFF2-40B4-BE49-F238E27FC236}">
                <a16:creationId xmlns:a16="http://schemas.microsoft.com/office/drawing/2014/main" id="{4816BA14-26A1-8D05-2EA3-729DE342A027}"/>
              </a:ext>
            </a:extLst>
          </p:cNvPr>
          <p:cNvSpPr/>
          <p:nvPr/>
        </p:nvSpPr>
        <p:spPr>
          <a:xfrm>
            <a:off x="7058962" y="73152"/>
            <a:ext cx="2005028" cy="476131"/>
          </a:xfrm>
          <a:prstGeom prst="rect">
            <a:avLst/>
          </a:pr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9" name="Object 9">
            <a:extLst>
              <a:ext uri="{FF2B5EF4-FFF2-40B4-BE49-F238E27FC236}">
                <a16:creationId xmlns:a16="http://schemas.microsoft.com/office/drawing/2014/main" id="{F810B216-EFCA-AB83-CFEE-ADF102433258}"/>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7211324" y="168378"/>
            <a:ext cx="1700304" cy="28567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dr_bar"/>
          <p:cNvSpPr>
            <a:spLocks noGrp="1"/>
          </p:cNvSpPr>
          <p:nvPr/>
        </p:nvSpPr>
        <p:spPr>
          <a:xfrm>
            <a:off x="0" y="0"/>
            <a:ext cx="9144000" cy="640080"/>
          </a:xfrm>
          <a:prstGeom prst="rect">
            <a:avLst/>
          </a:prstGeom>
          <a:solidFill>
            <a:srgbClr val="1A3A5C"/>
          </a:solidFill>
          <a:ln>
            <a:noFill/>
          </a:ln>
        </p:spPr>
        <p:txBody>
          <a:bodyPr/>
          <a:lstStyle/>
          <a:p>
            <a:endParaRPr/>
          </a:p>
        </p:txBody>
      </p:sp>
      <p:sp>
        <p:nvSpPr>
          <p:cNvPr id="3" name="hdr_title"/>
          <p:cNvSpPr/>
          <p:nvPr/>
        </p:nvSpPr>
        <p:spPr>
          <a:xfrm>
            <a:off x="274320" y="73152"/>
            <a:ext cx="8595360" cy="493776"/>
          </a:xfrm>
          <a:prstGeom prst="rect">
            <a:avLst/>
          </a:prstGeom>
          <a:noFill/>
          <a:ln>
            <a:noFill/>
          </a:ln>
        </p:spPr>
        <p:txBody>
          <a:bodyPr wrap="square" rtlCol="0" anchor="ctr"/>
          <a:lstStyle/>
          <a:p>
            <a:pPr marL="0" indent="0" algn="l">
              <a:buNone/>
            </a:pPr>
            <a:r>
              <a:rPr lang="en-US" sz="1500" b="1" dirty="0">
                <a:solidFill>
                  <a:srgbClr val="FFFFFF"/>
                </a:solidFill>
                <a:latin typeface="Calibri" pitchFamily="34" charset="0"/>
              </a:rPr>
              <a:t>Remaining Brokers - Summary (Part 2 of 7)</a:t>
            </a:r>
          </a:p>
        </p:txBody>
      </p:sp>
      <p:sp>
        <p:nvSpPr>
          <p:cNvPr id="4" name="ftr_bar"/>
          <p:cNvSpPr>
            <a:spLocks noGrp="1"/>
          </p:cNvSpPr>
          <p:nvPr/>
        </p:nvSpPr>
        <p:spPr>
          <a:xfrm>
            <a:off x="0" y="4846320"/>
            <a:ext cx="9144000" cy="297180"/>
          </a:xfrm>
          <a:prstGeom prst="rect">
            <a:avLst/>
          </a:prstGeom>
          <a:solidFill>
            <a:srgbClr val="1A3A5C"/>
          </a:solidFill>
          <a:ln>
            <a:noFill/>
          </a:ln>
        </p:spPr>
        <p:txBody>
          <a:bodyPr/>
          <a:lstStyle/>
          <a:p>
            <a:endParaRPr/>
          </a:p>
        </p:txBody>
      </p:sp>
      <p:sp>
        <p:nvSpPr>
          <p:cNvPr id="5" name="ftr_txt"/>
          <p:cNvSpPr/>
          <p:nvPr/>
        </p:nvSpPr>
        <p:spPr>
          <a:xfrm>
            <a:off x="365760" y="4864608"/>
            <a:ext cx="6400800" cy="256032"/>
          </a:xfrm>
          <a:prstGeom prst="rect">
            <a:avLst/>
          </a:prstGeom>
          <a:noFill/>
          <a:ln>
            <a:noFill/>
          </a:ln>
        </p:spPr>
        <p:txBody>
          <a:bodyPr wrap="square" rtlCol="0" anchor="ctr"/>
          <a:lstStyle/>
          <a:p>
            <a:pPr marL="0" indent="0" algn="l">
              <a:buNone/>
            </a:pPr>
            <a:r>
              <a:rPr lang="en-US" sz="900" dirty="0">
                <a:solidFill>
                  <a:srgbClr val="E2E8F0"/>
                </a:solidFill>
                <a:latin typeface="Calibri" pitchFamily="34" charset="0"/>
              </a:rPr>
              <a:t>5500 Filings Data | All Groups With Identified Benefits Broker</a:t>
            </a:r>
          </a:p>
        </p:txBody>
      </p:sp>
      <p:sp>
        <p:nvSpPr>
          <p:cNvPr id="6" name="ftr_conf"/>
          <p:cNvSpPr/>
          <p:nvPr/>
        </p:nvSpPr>
        <p:spPr>
          <a:xfrm>
            <a:off x="6858000" y="4864608"/>
            <a:ext cx="2011680" cy="256032"/>
          </a:xfrm>
          <a:prstGeom prst="rect">
            <a:avLst/>
          </a:prstGeom>
          <a:noFill/>
          <a:ln>
            <a:noFill/>
          </a:ln>
        </p:spPr>
        <p:txBody>
          <a:bodyPr wrap="square" rtlCol="0" anchor="ctr"/>
          <a:lstStyle/>
          <a:p>
            <a:pPr marL="0" indent="0" algn="r">
              <a:buNone/>
            </a:pPr>
            <a:r>
              <a:rPr lang="en-US" sz="900" dirty="0">
                <a:solidFill>
                  <a:srgbClr val="E2E8F0"/>
                </a:solidFill>
                <a:latin typeface="Calibri" pitchFamily="34" charset="0"/>
              </a:rPr>
              <a:t>Confidential - Internal Use Only</a:t>
            </a:r>
          </a:p>
        </p:txBody>
      </p:sp>
      <p:graphicFrame>
        <p:nvGraphicFramePr>
          <p:cNvPr id="7" name="Table 6"/>
          <p:cNvGraphicFramePr>
            <a:graphicFrameLocks noGrp="1"/>
          </p:cNvGraphicFramePr>
          <p:nvPr>
            <p:extLst>
              <p:ext uri="{D42A27DB-BD31-4B8C-83A1-F6EECF244321}">
                <p14:modId xmlns:p14="http://schemas.microsoft.com/office/powerpoint/2010/main" val="3892929018"/>
              </p:ext>
            </p:extLst>
          </p:nvPr>
        </p:nvGraphicFramePr>
        <p:xfrm>
          <a:off x="182880" y="749808"/>
          <a:ext cx="8503920" cy="4119168"/>
        </p:xfrm>
        <a:graphic>
          <a:graphicData uri="http://schemas.openxmlformats.org/drawingml/2006/table">
            <a:tbl>
              <a:tblPr/>
              <a:tblGrid>
                <a:gridCol w="27432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gridCol w="685800">
                  <a:extLst>
                    <a:ext uri="{9D8B030D-6E8A-4147-A177-3AD203B41FA5}">
                      <a16:colId xmlns:a16="http://schemas.microsoft.com/office/drawing/2014/main" val="20004"/>
                    </a:ext>
                  </a:extLst>
                </a:gridCol>
                <a:gridCol w="4160520">
                  <a:extLst>
                    <a:ext uri="{9D8B030D-6E8A-4147-A177-3AD203B41FA5}">
                      <a16:colId xmlns:a16="http://schemas.microsoft.com/office/drawing/2014/main" val="20005"/>
                    </a:ext>
                  </a:extLst>
                </a:gridCol>
              </a:tblGrid>
              <a:tr h="218752">
                <a:tc>
                  <a:txBody>
                    <a:bodyPr/>
                    <a:lstStyle/>
                    <a:p>
                      <a:pPr marL="25400" marR="25400" algn="ctr">
                        <a:lnSpc>
                          <a:spcPct val="100000"/>
                        </a:lnSpc>
                        <a:spcBef>
                          <a:spcPts val="200"/>
                        </a:spcBef>
                        <a:spcAft>
                          <a:spcPts val="200"/>
                        </a:spcAft>
                        <a:buNone/>
                      </a:pPr>
                      <a:r>
                        <a:rPr sz="800" b="1" i="0" u="none" strike="noStrike" cap="none">
                          <a:solidFill>
                            <a:srgbClr val="FFFFFF">
                              <a:alpha val="100000"/>
                            </a:srgbClr>
                          </a:solidFill>
                          <a:latin typeface="Calibri"/>
                          <a:cs typeface="Calibri"/>
                          <a:sym typeface="Calibri"/>
                        </a:rPr>
                        <a:t>#</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alpha val="100000"/>
                        </a:srgbClr>
                      </a:solidFill>
                      <a:prstDash val="solid"/>
                    </a:lnT>
                    <a:lnB w="6350" cap="flat" cmpd="sng" algn="ctr">
                      <a:solidFill>
                        <a:srgbClr val="E2E8F0">
                          <a:alpha val="100000"/>
                        </a:srgbClr>
                      </a:solidFill>
                      <a:prstDash val="solid"/>
                    </a:lnB>
                    <a:solidFill>
                      <a:srgbClr val="1A3A5C">
                        <a:alpha val="100000"/>
                      </a:srgbClr>
                    </a:solidFill>
                  </a:tcPr>
                </a:tc>
                <a:tc>
                  <a:txBody>
                    <a:bodyPr/>
                    <a:lstStyle/>
                    <a:p>
                      <a:pPr marL="25400" marR="25400" algn="l">
                        <a:lnSpc>
                          <a:spcPct val="100000"/>
                        </a:lnSpc>
                        <a:spcBef>
                          <a:spcPts val="200"/>
                        </a:spcBef>
                        <a:spcAft>
                          <a:spcPts val="200"/>
                        </a:spcAft>
                        <a:buNone/>
                      </a:pPr>
                      <a:r>
                        <a:rPr sz="800" b="1" i="0" u="none" strike="noStrike" cap="none">
                          <a:solidFill>
                            <a:srgbClr val="FFFFFF">
                              <a:alpha val="100000"/>
                            </a:srgbClr>
                          </a:solidFill>
                          <a:latin typeface="Calibri"/>
                          <a:cs typeface="Calibri"/>
                          <a:sym typeface="Calibri"/>
                        </a:rPr>
                        <a:t>Broker / Consultant</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alpha val="100000"/>
                        </a:srgbClr>
                      </a:solidFill>
                      <a:prstDash val="solid"/>
                    </a:lnT>
                    <a:lnB w="6350" cap="flat" cmpd="sng" algn="ctr">
                      <a:solidFill>
                        <a:srgbClr val="E2E8F0">
                          <a:alpha val="100000"/>
                        </a:srgbClr>
                      </a:solidFill>
                      <a:prstDash val="solid"/>
                    </a:lnB>
                    <a:solidFill>
                      <a:srgbClr val="1A3A5C">
                        <a:alpha val="100000"/>
                      </a:srgbClr>
                    </a:solidFill>
                  </a:tcPr>
                </a:tc>
                <a:tc>
                  <a:txBody>
                    <a:bodyPr/>
                    <a:lstStyle/>
                    <a:p>
                      <a:pPr marL="25400" marR="25400" algn="ctr">
                        <a:lnSpc>
                          <a:spcPct val="100000"/>
                        </a:lnSpc>
                        <a:spcBef>
                          <a:spcPts val="200"/>
                        </a:spcBef>
                        <a:spcAft>
                          <a:spcPts val="200"/>
                        </a:spcAft>
                        <a:buNone/>
                      </a:pPr>
                      <a:r>
                        <a:rPr sz="800" b="1" i="0" u="none" strike="noStrike" cap="none">
                          <a:solidFill>
                            <a:srgbClr val="FFFFFF">
                              <a:alpha val="100000"/>
                            </a:srgbClr>
                          </a:solidFill>
                          <a:latin typeface="Calibri"/>
                          <a:cs typeface="Calibri"/>
                          <a:sym typeface="Calibri"/>
                        </a:rPr>
                        <a:t>Employers</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alpha val="100000"/>
                        </a:srgbClr>
                      </a:solidFill>
                      <a:prstDash val="solid"/>
                    </a:lnT>
                    <a:lnB w="6350" cap="flat" cmpd="sng" algn="ctr">
                      <a:solidFill>
                        <a:srgbClr val="E2E8F0">
                          <a:alpha val="100000"/>
                        </a:srgbClr>
                      </a:solidFill>
                      <a:prstDash val="solid"/>
                    </a:lnB>
                    <a:solidFill>
                      <a:srgbClr val="1A3A5C">
                        <a:alpha val="100000"/>
                      </a:srgbClr>
                    </a:solidFill>
                  </a:tcPr>
                </a:tc>
                <a:tc>
                  <a:txBody>
                    <a:bodyPr/>
                    <a:lstStyle/>
                    <a:p>
                      <a:pPr marL="25400" marR="25400" algn="ctr">
                        <a:lnSpc>
                          <a:spcPct val="100000"/>
                        </a:lnSpc>
                        <a:spcBef>
                          <a:spcPts val="200"/>
                        </a:spcBef>
                        <a:spcAft>
                          <a:spcPts val="200"/>
                        </a:spcAft>
                        <a:buNone/>
                      </a:pPr>
                      <a:r>
                        <a:rPr sz="800" b="1" i="0" u="none" strike="noStrike" cap="none">
                          <a:solidFill>
                            <a:srgbClr val="FFFFFF">
                              <a:alpha val="100000"/>
                            </a:srgbClr>
                          </a:solidFill>
                          <a:latin typeface="Calibri"/>
                          <a:cs typeface="Calibri"/>
                          <a:sym typeface="Calibri"/>
                        </a:rPr>
                        <a:t>Covered EEs</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alpha val="100000"/>
                        </a:srgbClr>
                      </a:solidFill>
                      <a:prstDash val="solid"/>
                    </a:lnT>
                    <a:lnB w="6350" cap="flat" cmpd="sng" algn="ctr">
                      <a:solidFill>
                        <a:srgbClr val="E2E8F0">
                          <a:alpha val="100000"/>
                        </a:srgbClr>
                      </a:solidFill>
                      <a:prstDash val="solid"/>
                    </a:lnB>
                    <a:solidFill>
                      <a:srgbClr val="1A3A5C">
                        <a:alpha val="100000"/>
                      </a:srgbClr>
                    </a:solidFill>
                  </a:tcPr>
                </a:tc>
                <a:tc>
                  <a:txBody>
                    <a:bodyPr/>
                    <a:lstStyle/>
                    <a:p>
                      <a:pPr marL="25400" marR="25400" algn="ctr">
                        <a:lnSpc>
                          <a:spcPct val="100000"/>
                        </a:lnSpc>
                        <a:spcBef>
                          <a:spcPts val="200"/>
                        </a:spcBef>
                        <a:spcAft>
                          <a:spcPts val="200"/>
                        </a:spcAft>
                        <a:buNone/>
                      </a:pPr>
                      <a:r>
                        <a:rPr sz="800" b="1" i="0" u="none" strike="noStrike" cap="none">
                          <a:solidFill>
                            <a:srgbClr val="FFFFFF">
                              <a:alpha val="100000"/>
                            </a:srgbClr>
                          </a:solidFill>
                          <a:latin typeface="Calibri"/>
                          <a:cs typeface="Calibri"/>
                          <a:sym typeface="Calibri"/>
                        </a:rPr>
                        <a:t>Market Share</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alpha val="100000"/>
                        </a:srgbClr>
                      </a:solidFill>
                      <a:prstDash val="solid"/>
                    </a:lnT>
                    <a:lnB w="6350" cap="flat" cmpd="sng" algn="ctr">
                      <a:solidFill>
                        <a:srgbClr val="E2E8F0">
                          <a:alpha val="100000"/>
                        </a:srgbClr>
                      </a:solidFill>
                      <a:prstDash val="solid"/>
                    </a:lnB>
                    <a:solidFill>
                      <a:srgbClr val="1A3A5C">
                        <a:alpha val="100000"/>
                      </a:srgbClr>
                    </a:solidFill>
                  </a:tcPr>
                </a:tc>
                <a:tc>
                  <a:txBody>
                    <a:bodyPr/>
                    <a:lstStyle/>
                    <a:p>
                      <a:pPr marL="25400" marR="25400" algn="l">
                        <a:lnSpc>
                          <a:spcPct val="100000"/>
                        </a:lnSpc>
                        <a:spcBef>
                          <a:spcPts val="200"/>
                        </a:spcBef>
                        <a:spcAft>
                          <a:spcPts val="200"/>
                        </a:spcAft>
                        <a:buNone/>
                      </a:pPr>
                      <a:r>
                        <a:rPr sz="800" b="1" i="0" u="none" strike="noStrike" cap="none">
                          <a:solidFill>
                            <a:srgbClr val="FFFFFF">
                              <a:alpha val="100000"/>
                            </a:srgbClr>
                          </a:solidFill>
                          <a:latin typeface="Calibri"/>
                          <a:cs typeface="Calibri"/>
                          <a:sym typeface="Calibri"/>
                        </a:rPr>
                        <a:t>Employer List</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6350" cap="flat" cmpd="sng" algn="ctr">
                      <a:solidFill>
                        <a:srgbClr val="E2E8F0">
                          <a:alpha val="100000"/>
                        </a:srgbClr>
                      </a:solidFill>
                      <a:prstDash val="solid"/>
                    </a:lnT>
                    <a:lnB w="6350" cap="flat" cmpd="sng" algn="ctr">
                      <a:solidFill>
                        <a:srgbClr val="E2E8F0">
                          <a:alpha val="100000"/>
                        </a:srgbClr>
                      </a:solidFill>
                      <a:prstDash val="solid"/>
                    </a:lnB>
                    <a:solidFill>
                      <a:srgbClr val="1A3A5C">
                        <a:alpha val="100000"/>
                      </a:srgbClr>
                    </a:solidFill>
                  </a:tcPr>
                </a:tc>
                <a:extLst>
                  <a:ext uri="{0D108BD9-81ED-4DB2-BD59-A6C34878D82A}">
                    <a16:rowId xmlns:a16="http://schemas.microsoft.com/office/drawing/2014/main" val="10000"/>
                  </a:ext>
                </a:extLst>
              </a:tr>
              <a:tr h="252780">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24</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solidFill>
                      <a:prstDash val="solid"/>
                      <a:round/>
                      <a:headEnd type="none" w="med" len="med"/>
                      <a:tailEnd type="none" w="med" len="me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ENTERPRISE TEAM INC</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solidFill>
                      <a:prstDash val="solid"/>
                      <a:round/>
                      <a:headEnd type="none" w="med" len="med"/>
                      <a:tailEnd type="none" w="med" len="me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8</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solidFill>
                      <a:prstDash val="solid"/>
                      <a:round/>
                      <a:headEnd type="none" w="med" len="med"/>
                      <a:tailEnd type="none" w="med" len="me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1,508</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solidFill>
                      <a:prstDash val="solid"/>
                      <a:round/>
                      <a:headEnd type="none" w="med" len="med"/>
                      <a:tailEnd type="none" w="med" len="me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0.4%</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solidFill>
                      <a:prstDash val="solid"/>
                      <a:round/>
                      <a:headEnd type="none" w="med" len="med"/>
                      <a:tailEnd type="none" w="med" len="me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DYNAFIRE LLC, ORLANDO FREIGHTLINER INC, CUHACI AND PETERSON ARCHITECTS LLC, RECREATION WORLD INC, STAR ISLAND MANAGEMENT CORPORATION, ATTRACTION SUPPORT SERVICES LLC (+ 2 more)</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6350" cap="flat" cmpd="sng" algn="ctr">
                      <a:solidFill>
                        <a:srgbClr val="E2E8F0"/>
                      </a:solidFill>
                      <a:prstDash val="solid"/>
                      <a:round/>
                      <a:headEnd type="none" w="med" len="med"/>
                      <a:tailEnd type="none" w="med" len="med"/>
                    </a:lnT>
                    <a:lnB w="3175"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01"/>
                  </a:ext>
                </a:extLst>
              </a:tr>
              <a:tr h="218752">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25</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AMWINS</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1,370</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0.4%</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AKERMAN LLP</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extLst>
                  <a:ext uri="{0D108BD9-81ED-4DB2-BD59-A6C34878D82A}">
                    <a16:rowId xmlns:a16="http://schemas.microsoft.com/office/drawing/2014/main" val="10002"/>
                  </a:ext>
                </a:extLst>
              </a:tr>
              <a:tr h="218752">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26</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RT CONSULTING OF NORTHEAST LLC</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1,322</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0.3%</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ADCS CLINICS LLC</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03"/>
                  </a:ext>
                </a:extLst>
              </a:tr>
              <a:tr h="218752">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27</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BENEPORT</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1,131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0.3%</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SORT LLC</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extLst>
                  <a:ext uri="{0D108BD9-81ED-4DB2-BD59-A6C34878D82A}">
                    <a16:rowId xmlns:a16="http://schemas.microsoft.com/office/drawing/2014/main" val="10004"/>
                  </a:ext>
                </a:extLst>
              </a:tr>
              <a:tr h="218752">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28</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PRINCOR FINANCIAL SERVICES CORPORATION</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1,106</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0.3%</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GREENWAY FORD INC</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05"/>
                  </a:ext>
                </a:extLst>
              </a:tr>
              <a:tr h="218752">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29</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ALERA GROUP</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3</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1,055</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0.3%</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GWS HOLDINGS, US PACK SERVICES LLC, GCR ACQUISITION COMPANY LLC</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extLst>
                  <a:ext uri="{0D108BD9-81ED-4DB2-BD59-A6C34878D82A}">
                    <a16:rowId xmlns:a16="http://schemas.microsoft.com/office/drawing/2014/main" val="10006"/>
                  </a:ext>
                </a:extLst>
              </a:tr>
              <a:tr h="218752">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30</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IMA</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4</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1,028</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0.3%</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WIGINTON CORPORATION, KITTELSON &amp; ASSOCIATES INC, PROLIFICS INC, PLATEAU EXCAVATION INC</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07"/>
                  </a:ext>
                </a:extLst>
              </a:tr>
              <a:tr h="252780">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31</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BALDWIN GROUP</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5</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1,012</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0.3%</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CENTRAL FLORIDA YMCA, SLA MANAGEMENT, FLORIDA PAINTS &amp; COATINGS LLC, CENTRAL FLORIDA INPATIENT MEDICINE LLC, LELAND ENTERPRISES INC</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extLst>
                  <a:ext uri="{0D108BD9-81ED-4DB2-BD59-A6C34878D82A}">
                    <a16:rowId xmlns:a16="http://schemas.microsoft.com/office/drawing/2014/main" val="10008"/>
                  </a:ext>
                </a:extLst>
              </a:tr>
              <a:tr h="252780">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32</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INSURANCE AND PAYROLL RESOURCE GROUP</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5</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946</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0.2%</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RISSMAN BARRETT HURT DONAHUE MCLAIN &amp; MANGAN PA, LEGACY VACATION CLUB SERVICES LLC, AGPM LLC, VISTA CLINICAL DIAGNOSTICS LLC, SOUTHWEST REGIONAL PCR LLC</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09"/>
                  </a:ext>
                </a:extLst>
              </a:tr>
              <a:tr h="218752">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33</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BURCH BAGGETT</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826</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0.2%</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CIEL SENIOR LIVING</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extLst>
                  <a:ext uri="{0D108BD9-81ED-4DB2-BD59-A6C34878D82A}">
                    <a16:rowId xmlns:a16="http://schemas.microsoft.com/office/drawing/2014/main" val="10010"/>
                  </a:ext>
                </a:extLst>
              </a:tr>
              <a:tr h="252780">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34</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PROVINSURE</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3</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622</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0.2%</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FUN SPOT OF FLORIDA INC, SECOND HARVEST FOOD BANK SANTA CRUZ COUNTY, WELBRO BUILDING CORPORATION</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11"/>
                  </a:ext>
                </a:extLst>
              </a:tr>
              <a:tr h="218752">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35</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OLYMPIC AGENCY</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601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0.2%</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ANA G MENDEZ UNIVERSITY INC</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extLst>
                  <a:ext uri="{0D108BD9-81ED-4DB2-BD59-A6C34878D82A}">
                    <a16:rowId xmlns:a16="http://schemas.microsoft.com/office/drawing/2014/main" val="10012"/>
                  </a:ext>
                </a:extLst>
              </a:tr>
              <a:tr h="218752">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36</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FOSTER AND FOSTER CONSULTING ACTUARIE</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593</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0.2%</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ETHNOS360</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13"/>
                  </a:ext>
                </a:extLst>
              </a:tr>
              <a:tr h="218752">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37</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BOON CHAPMAN BENEFITS ADMINISTRATORS</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3</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589</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0.2%</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CV FAMILY CORPORATION LLC, QUALITY MANUFACTURING SERVICES INC, EXXELIA USA INC</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extLst>
                  <a:ext uri="{0D108BD9-81ED-4DB2-BD59-A6C34878D82A}">
                    <a16:rowId xmlns:a16="http://schemas.microsoft.com/office/drawing/2014/main" val="10014"/>
                  </a:ext>
                </a:extLst>
              </a:tr>
              <a:tr h="218752">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38</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TRUIST INSURANCE</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553</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0.1%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SCHENCK COMPANY</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15"/>
                  </a:ext>
                </a:extLst>
              </a:tr>
              <a:tr h="218752">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39</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FRINGE BENEFITS PLANS</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2</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552</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0.1%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LELAND MANAGEMENT INC, 4R RESTAURANT GROUP LLC</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extLst>
                  <a:ext uri="{0D108BD9-81ED-4DB2-BD59-A6C34878D82A}">
                    <a16:rowId xmlns:a16="http://schemas.microsoft.com/office/drawing/2014/main" val="10016"/>
                  </a:ext>
                </a:extLst>
              </a:tr>
              <a:tr h="218752">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40</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6350"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VENTURA &amp; SMITH INC</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6350"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2</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6350"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521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6350"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dirty="0">
                          <a:solidFill>
                            <a:srgbClr val="000000">
                              <a:alpha val="100000"/>
                            </a:srgbClr>
                          </a:solidFill>
                          <a:latin typeface="Calibri"/>
                          <a:cs typeface="Calibri"/>
                          <a:sym typeface="Calibri"/>
                        </a:rPr>
                        <a:t>0.1%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6350"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dirty="0">
                          <a:solidFill>
                            <a:srgbClr val="000000">
                              <a:alpha val="100000"/>
                            </a:srgbClr>
                          </a:solidFill>
                          <a:latin typeface="Calibri"/>
                          <a:cs typeface="Calibri"/>
                          <a:sym typeface="Calibri"/>
                        </a:rPr>
                        <a:t>EASTER SEALS FLORIDA INC, EASTER SEALS FLORIDA INC</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6350"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17"/>
                  </a:ext>
                </a:extLst>
              </a:tr>
            </a:tbl>
          </a:graphicData>
        </a:graphic>
      </p:graphicFrame>
      <p:sp>
        <p:nvSpPr>
          <p:cNvPr id="8" name="Object 8">
            <a:extLst>
              <a:ext uri="{FF2B5EF4-FFF2-40B4-BE49-F238E27FC236}">
                <a16:creationId xmlns:a16="http://schemas.microsoft.com/office/drawing/2014/main" id="{85EDEFC8-5E82-28CC-3A45-C7806DDA9F20}"/>
              </a:ext>
            </a:extLst>
          </p:cNvPr>
          <p:cNvSpPr/>
          <p:nvPr/>
        </p:nvSpPr>
        <p:spPr>
          <a:xfrm>
            <a:off x="7058962" y="73152"/>
            <a:ext cx="2005028" cy="476131"/>
          </a:xfrm>
          <a:prstGeom prst="rect">
            <a:avLst/>
          </a:pr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9" name="Object 9">
            <a:extLst>
              <a:ext uri="{FF2B5EF4-FFF2-40B4-BE49-F238E27FC236}">
                <a16:creationId xmlns:a16="http://schemas.microsoft.com/office/drawing/2014/main" id="{7E1D0D5E-A974-24FC-D98B-1865F39294E4}"/>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7211324" y="168378"/>
            <a:ext cx="1700304" cy="28567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dr_bar"/>
          <p:cNvSpPr>
            <a:spLocks noGrp="1"/>
          </p:cNvSpPr>
          <p:nvPr/>
        </p:nvSpPr>
        <p:spPr>
          <a:xfrm>
            <a:off x="0" y="0"/>
            <a:ext cx="9144000" cy="640080"/>
          </a:xfrm>
          <a:prstGeom prst="rect">
            <a:avLst/>
          </a:prstGeom>
          <a:solidFill>
            <a:srgbClr val="1A3A5C"/>
          </a:solidFill>
          <a:ln>
            <a:noFill/>
          </a:ln>
        </p:spPr>
        <p:txBody>
          <a:bodyPr/>
          <a:lstStyle/>
          <a:p>
            <a:endParaRPr/>
          </a:p>
        </p:txBody>
      </p:sp>
      <p:sp>
        <p:nvSpPr>
          <p:cNvPr id="3" name="hdr_title"/>
          <p:cNvSpPr/>
          <p:nvPr/>
        </p:nvSpPr>
        <p:spPr>
          <a:xfrm>
            <a:off x="274320" y="73152"/>
            <a:ext cx="8595360" cy="493776"/>
          </a:xfrm>
          <a:prstGeom prst="rect">
            <a:avLst/>
          </a:prstGeom>
          <a:noFill/>
          <a:ln>
            <a:noFill/>
          </a:ln>
        </p:spPr>
        <p:txBody>
          <a:bodyPr wrap="square" rtlCol="0" anchor="ctr"/>
          <a:lstStyle/>
          <a:p>
            <a:pPr marL="0" indent="0" algn="l">
              <a:buNone/>
            </a:pPr>
            <a:r>
              <a:rPr lang="en-US" sz="1500" b="1" dirty="0">
                <a:solidFill>
                  <a:srgbClr val="FFFFFF"/>
                </a:solidFill>
                <a:latin typeface="Calibri" pitchFamily="34" charset="0"/>
              </a:rPr>
              <a:t>Remaining Brokers - Summary (Part 3 of 7)</a:t>
            </a:r>
          </a:p>
        </p:txBody>
      </p:sp>
      <p:sp>
        <p:nvSpPr>
          <p:cNvPr id="4" name="ftr_bar"/>
          <p:cNvSpPr>
            <a:spLocks noGrp="1"/>
          </p:cNvSpPr>
          <p:nvPr/>
        </p:nvSpPr>
        <p:spPr>
          <a:xfrm>
            <a:off x="0" y="4846320"/>
            <a:ext cx="9144000" cy="297180"/>
          </a:xfrm>
          <a:prstGeom prst="rect">
            <a:avLst/>
          </a:prstGeom>
          <a:solidFill>
            <a:srgbClr val="1A3A5C"/>
          </a:solidFill>
          <a:ln>
            <a:noFill/>
          </a:ln>
        </p:spPr>
        <p:txBody>
          <a:bodyPr/>
          <a:lstStyle/>
          <a:p>
            <a:endParaRPr/>
          </a:p>
        </p:txBody>
      </p:sp>
      <p:sp>
        <p:nvSpPr>
          <p:cNvPr id="5" name="ftr_txt"/>
          <p:cNvSpPr/>
          <p:nvPr/>
        </p:nvSpPr>
        <p:spPr>
          <a:xfrm>
            <a:off x="365760" y="4864608"/>
            <a:ext cx="6400800" cy="256032"/>
          </a:xfrm>
          <a:prstGeom prst="rect">
            <a:avLst/>
          </a:prstGeom>
          <a:noFill/>
          <a:ln>
            <a:noFill/>
          </a:ln>
        </p:spPr>
        <p:txBody>
          <a:bodyPr wrap="square" rtlCol="0" anchor="ctr"/>
          <a:lstStyle/>
          <a:p>
            <a:pPr marL="0" indent="0" algn="l">
              <a:buNone/>
            </a:pPr>
            <a:r>
              <a:rPr lang="en-US" sz="900" dirty="0">
                <a:solidFill>
                  <a:srgbClr val="E2E8F0"/>
                </a:solidFill>
                <a:latin typeface="Calibri" pitchFamily="34" charset="0"/>
              </a:rPr>
              <a:t>5500 Filings Data | All Groups With Identified Benefits Broker</a:t>
            </a:r>
          </a:p>
        </p:txBody>
      </p:sp>
      <p:sp>
        <p:nvSpPr>
          <p:cNvPr id="6" name="ftr_conf"/>
          <p:cNvSpPr/>
          <p:nvPr/>
        </p:nvSpPr>
        <p:spPr>
          <a:xfrm>
            <a:off x="6858000" y="4864608"/>
            <a:ext cx="2011680" cy="256032"/>
          </a:xfrm>
          <a:prstGeom prst="rect">
            <a:avLst/>
          </a:prstGeom>
          <a:noFill/>
          <a:ln>
            <a:noFill/>
          </a:ln>
        </p:spPr>
        <p:txBody>
          <a:bodyPr wrap="square" rtlCol="0" anchor="ctr"/>
          <a:lstStyle/>
          <a:p>
            <a:pPr marL="0" indent="0" algn="r">
              <a:buNone/>
            </a:pPr>
            <a:r>
              <a:rPr lang="en-US" sz="900" dirty="0">
                <a:solidFill>
                  <a:srgbClr val="E2E8F0"/>
                </a:solidFill>
                <a:latin typeface="Calibri" pitchFamily="34" charset="0"/>
              </a:rPr>
              <a:t>Confidential - Internal Use Only</a:t>
            </a:r>
          </a:p>
        </p:txBody>
      </p:sp>
      <p:graphicFrame>
        <p:nvGraphicFramePr>
          <p:cNvPr id="7" name="Table 6"/>
          <p:cNvGraphicFramePr>
            <a:graphicFrameLocks noGrp="1"/>
          </p:cNvGraphicFramePr>
          <p:nvPr/>
        </p:nvGraphicFramePr>
        <p:xfrm>
          <a:off x="182880" y="749808"/>
          <a:ext cx="8503920" cy="4150360"/>
        </p:xfrm>
        <a:graphic>
          <a:graphicData uri="http://schemas.openxmlformats.org/drawingml/2006/table">
            <a:tbl>
              <a:tblPr/>
              <a:tblGrid>
                <a:gridCol w="27432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gridCol w="685800">
                  <a:extLst>
                    <a:ext uri="{9D8B030D-6E8A-4147-A177-3AD203B41FA5}">
                      <a16:colId xmlns:a16="http://schemas.microsoft.com/office/drawing/2014/main" val="20004"/>
                    </a:ext>
                  </a:extLst>
                </a:gridCol>
                <a:gridCol w="4160520">
                  <a:extLst>
                    <a:ext uri="{9D8B030D-6E8A-4147-A177-3AD203B41FA5}">
                      <a16:colId xmlns:a16="http://schemas.microsoft.com/office/drawing/2014/main" val="20005"/>
                    </a:ext>
                  </a:extLst>
                </a:gridCol>
              </a:tblGrid>
              <a:tr h="228600">
                <a:tc>
                  <a:txBody>
                    <a:bodyPr/>
                    <a:lstStyle/>
                    <a:p>
                      <a:pPr marL="25400" marR="25400" algn="ctr">
                        <a:lnSpc>
                          <a:spcPct val="100000"/>
                        </a:lnSpc>
                        <a:spcBef>
                          <a:spcPts val="200"/>
                        </a:spcBef>
                        <a:spcAft>
                          <a:spcPts val="200"/>
                        </a:spcAft>
                        <a:buNone/>
                      </a:pPr>
                      <a:r>
                        <a:rPr sz="800" b="1" i="0" u="none" strike="noStrike" cap="none">
                          <a:solidFill>
                            <a:srgbClr val="FFFFFF">
                              <a:alpha val="100000"/>
                            </a:srgbClr>
                          </a:solidFill>
                          <a:latin typeface="Calibri"/>
                          <a:cs typeface="Calibri"/>
                          <a:sym typeface="Calibri"/>
                        </a:rPr>
                        <a:t>#</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alpha val="100000"/>
                        </a:srgbClr>
                      </a:solidFill>
                      <a:prstDash val="solid"/>
                    </a:lnT>
                    <a:lnB w="6350" cap="flat" cmpd="sng" algn="ctr">
                      <a:solidFill>
                        <a:srgbClr val="E2E8F0">
                          <a:alpha val="100000"/>
                        </a:srgbClr>
                      </a:solidFill>
                      <a:prstDash val="solid"/>
                    </a:lnB>
                    <a:solidFill>
                      <a:srgbClr val="1A3A5C">
                        <a:alpha val="100000"/>
                      </a:srgbClr>
                    </a:solidFill>
                  </a:tcPr>
                </a:tc>
                <a:tc>
                  <a:txBody>
                    <a:bodyPr/>
                    <a:lstStyle/>
                    <a:p>
                      <a:pPr marL="25400" marR="25400" algn="l">
                        <a:lnSpc>
                          <a:spcPct val="100000"/>
                        </a:lnSpc>
                        <a:spcBef>
                          <a:spcPts val="200"/>
                        </a:spcBef>
                        <a:spcAft>
                          <a:spcPts val="200"/>
                        </a:spcAft>
                        <a:buNone/>
                      </a:pPr>
                      <a:r>
                        <a:rPr sz="800" b="1" i="0" u="none" strike="noStrike" cap="none">
                          <a:solidFill>
                            <a:srgbClr val="FFFFFF">
                              <a:alpha val="100000"/>
                            </a:srgbClr>
                          </a:solidFill>
                          <a:latin typeface="Calibri"/>
                          <a:cs typeface="Calibri"/>
                          <a:sym typeface="Calibri"/>
                        </a:rPr>
                        <a:t>Broker / Consultant</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alpha val="100000"/>
                        </a:srgbClr>
                      </a:solidFill>
                      <a:prstDash val="solid"/>
                    </a:lnT>
                    <a:lnB w="6350" cap="flat" cmpd="sng" algn="ctr">
                      <a:solidFill>
                        <a:srgbClr val="E2E8F0">
                          <a:alpha val="100000"/>
                        </a:srgbClr>
                      </a:solidFill>
                      <a:prstDash val="solid"/>
                    </a:lnB>
                    <a:solidFill>
                      <a:srgbClr val="1A3A5C">
                        <a:alpha val="100000"/>
                      </a:srgbClr>
                    </a:solidFill>
                  </a:tcPr>
                </a:tc>
                <a:tc>
                  <a:txBody>
                    <a:bodyPr/>
                    <a:lstStyle/>
                    <a:p>
                      <a:pPr marL="25400" marR="25400" algn="ctr">
                        <a:lnSpc>
                          <a:spcPct val="100000"/>
                        </a:lnSpc>
                        <a:spcBef>
                          <a:spcPts val="200"/>
                        </a:spcBef>
                        <a:spcAft>
                          <a:spcPts val="200"/>
                        </a:spcAft>
                        <a:buNone/>
                      </a:pPr>
                      <a:r>
                        <a:rPr sz="800" b="1" i="0" u="none" strike="noStrike" cap="none">
                          <a:solidFill>
                            <a:srgbClr val="FFFFFF">
                              <a:alpha val="100000"/>
                            </a:srgbClr>
                          </a:solidFill>
                          <a:latin typeface="Calibri"/>
                          <a:cs typeface="Calibri"/>
                          <a:sym typeface="Calibri"/>
                        </a:rPr>
                        <a:t>Employers</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alpha val="100000"/>
                        </a:srgbClr>
                      </a:solidFill>
                      <a:prstDash val="solid"/>
                    </a:lnT>
                    <a:lnB w="6350" cap="flat" cmpd="sng" algn="ctr">
                      <a:solidFill>
                        <a:srgbClr val="E2E8F0">
                          <a:alpha val="100000"/>
                        </a:srgbClr>
                      </a:solidFill>
                      <a:prstDash val="solid"/>
                    </a:lnB>
                    <a:solidFill>
                      <a:srgbClr val="1A3A5C">
                        <a:alpha val="100000"/>
                      </a:srgbClr>
                    </a:solidFill>
                  </a:tcPr>
                </a:tc>
                <a:tc>
                  <a:txBody>
                    <a:bodyPr/>
                    <a:lstStyle/>
                    <a:p>
                      <a:pPr marL="25400" marR="25400" algn="ctr">
                        <a:lnSpc>
                          <a:spcPct val="100000"/>
                        </a:lnSpc>
                        <a:spcBef>
                          <a:spcPts val="200"/>
                        </a:spcBef>
                        <a:spcAft>
                          <a:spcPts val="200"/>
                        </a:spcAft>
                        <a:buNone/>
                      </a:pPr>
                      <a:r>
                        <a:rPr sz="800" b="1" i="0" u="none" strike="noStrike" cap="none">
                          <a:solidFill>
                            <a:srgbClr val="FFFFFF">
                              <a:alpha val="100000"/>
                            </a:srgbClr>
                          </a:solidFill>
                          <a:latin typeface="Calibri"/>
                          <a:cs typeface="Calibri"/>
                          <a:sym typeface="Calibri"/>
                        </a:rPr>
                        <a:t>Covered EEs</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alpha val="100000"/>
                        </a:srgbClr>
                      </a:solidFill>
                      <a:prstDash val="solid"/>
                    </a:lnT>
                    <a:lnB w="6350" cap="flat" cmpd="sng" algn="ctr">
                      <a:solidFill>
                        <a:srgbClr val="E2E8F0">
                          <a:alpha val="100000"/>
                        </a:srgbClr>
                      </a:solidFill>
                      <a:prstDash val="solid"/>
                    </a:lnB>
                    <a:solidFill>
                      <a:srgbClr val="1A3A5C">
                        <a:alpha val="100000"/>
                      </a:srgbClr>
                    </a:solidFill>
                  </a:tcPr>
                </a:tc>
                <a:tc>
                  <a:txBody>
                    <a:bodyPr/>
                    <a:lstStyle/>
                    <a:p>
                      <a:pPr marL="25400" marR="25400" algn="ctr">
                        <a:lnSpc>
                          <a:spcPct val="100000"/>
                        </a:lnSpc>
                        <a:spcBef>
                          <a:spcPts val="200"/>
                        </a:spcBef>
                        <a:spcAft>
                          <a:spcPts val="200"/>
                        </a:spcAft>
                        <a:buNone/>
                      </a:pPr>
                      <a:r>
                        <a:rPr sz="800" b="1" i="0" u="none" strike="noStrike" cap="none">
                          <a:solidFill>
                            <a:srgbClr val="FFFFFF">
                              <a:alpha val="100000"/>
                            </a:srgbClr>
                          </a:solidFill>
                          <a:latin typeface="Calibri"/>
                          <a:cs typeface="Calibri"/>
                          <a:sym typeface="Calibri"/>
                        </a:rPr>
                        <a:t>Market Share</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alpha val="100000"/>
                        </a:srgbClr>
                      </a:solidFill>
                      <a:prstDash val="solid"/>
                    </a:lnT>
                    <a:lnB w="6350" cap="flat" cmpd="sng" algn="ctr">
                      <a:solidFill>
                        <a:srgbClr val="E2E8F0">
                          <a:alpha val="100000"/>
                        </a:srgbClr>
                      </a:solidFill>
                      <a:prstDash val="solid"/>
                    </a:lnB>
                    <a:solidFill>
                      <a:srgbClr val="1A3A5C">
                        <a:alpha val="100000"/>
                      </a:srgbClr>
                    </a:solidFill>
                  </a:tcPr>
                </a:tc>
                <a:tc>
                  <a:txBody>
                    <a:bodyPr/>
                    <a:lstStyle/>
                    <a:p>
                      <a:pPr marL="25400" marR="25400" algn="l">
                        <a:lnSpc>
                          <a:spcPct val="100000"/>
                        </a:lnSpc>
                        <a:spcBef>
                          <a:spcPts val="200"/>
                        </a:spcBef>
                        <a:spcAft>
                          <a:spcPts val="200"/>
                        </a:spcAft>
                        <a:buNone/>
                      </a:pPr>
                      <a:r>
                        <a:rPr sz="800" b="1" i="0" u="none" strike="noStrike" cap="none">
                          <a:solidFill>
                            <a:srgbClr val="FFFFFF">
                              <a:alpha val="100000"/>
                            </a:srgbClr>
                          </a:solidFill>
                          <a:latin typeface="Calibri"/>
                          <a:cs typeface="Calibri"/>
                          <a:sym typeface="Calibri"/>
                        </a:rPr>
                        <a:t>Employer List</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6350" cap="flat" cmpd="sng" algn="ctr">
                      <a:solidFill>
                        <a:srgbClr val="E2E8F0">
                          <a:alpha val="100000"/>
                        </a:srgbClr>
                      </a:solidFill>
                      <a:prstDash val="solid"/>
                    </a:lnT>
                    <a:lnB w="6350" cap="flat" cmpd="sng" algn="ctr">
                      <a:solidFill>
                        <a:srgbClr val="E2E8F0">
                          <a:alpha val="100000"/>
                        </a:srgbClr>
                      </a:solidFill>
                      <a:prstDash val="solid"/>
                    </a:lnB>
                    <a:solidFill>
                      <a:srgbClr val="1A3A5C">
                        <a:alpha val="100000"/>
                      </a:srgbClr>
                    </a:solidFill>
                  </a:tcPr>
                </a:tc>
                <a:extLst>
                  <a:ext uri="{0D108BD9-81ED-4DB2-BD59-A6C34878D82A}">
                    <a16:rowId xmlns:a16="http://schemas.microsoft.com/office/drawing/2014/main" val="10000"/>
                  </a:ext>
                </a:extLst>
              </a:tr>
              <a:tr h="228600">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41</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solidFill>
                      <a:prstDash val="solid"/>
                      <a:round/>
                      <a:headEnd type="none" w="med" len="med"/>
                      <a:tailEnd type="none" w="med" len="me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NEW HORIZON BENEFITS GROUP</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solidFill>
                      <a:prstDash val="solid"/>
                      <a:round/>
                      <a:headEnd type="none" w="med" len="med"/>
                      <a:tailEnd type="none" w="med" len="me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solidFill>
                      <a:prstDash val="solid"/>
                      <a:round/>
                      <a:headEnd type="none" w="med" len="med"/>
                      <a:tailEnd type="none" w="med" len="me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492</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solidFill>
                      <a:prstDash val="solid"/>
                      <a:round/>
                      <a:headEnd type="none" w="med" len="med"/>
                      <a:tailEnd type="none" w="med" len="me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0.1%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solidFill>
                      <a:prstDash val="solid"/>
                      <a:round/>
                      <a:headEnd type="none" w="med" len="med"/>
                      <a:tailEnd type="none" w="med" len="me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CELEBRATION RESTAURANT GROUP LLC</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6350" cap="flat" cmpd="sng" algn="ctr">
                      <a:solidFill>
                        <a:srgbClr val="E2E8F0"/>
                      </a:solidFill>
                      <a:prstDash val="solid"/>
                      <a:round/>
                      <a:headEnd type="none" w="med" len="med"/>
                      <a:tailEnd type="none" w="med" len="med"/>
                    </a:lnT>
                    <a:lnB w="3175"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42</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RISK STRATEGIES COMPANY</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2</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466</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0.1%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REAL CAPITAL LEASING LLC, MINNEOLA CHARTER SCHOOL</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extLst>
                  <a:ext uri="{0D108BD9-81ED-4DB2-BD59-A6C34878D82A}">
                    <a16:rowId xmlns:a16="http://schemas.microsoft.com/office/drawing/2014/main" val="10002"/>
                  </a:ext>
                </a:extLst>
              </a:tr>
              <a:tr h="228600">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43</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HIGGINBOTHAM INSURANCE</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3</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463</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0.1%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HEALTHNET SERVICES INC, FENCE OUTLET INC, MURPHY AUTO GROUP INC</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44</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ABENTRAS</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2</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462</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0.1%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SOUTHERN DEVELOPMENT &amp; CONSTRUCTION INC, KMK HOLDING COMPANY</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extLst>
                  <a:ext uri="{0D108BD9-81ED-4DB2-BD59-A6C34878D82A}">
                    <a16:rowId xmlns:a16="http://schemas.microsoft.com/office/drawing/2014/main" val="10004"/>
                  </a:ext>
                </a:extLst>
              </a:tr>
              <a:tr h="228600">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45</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BENNETT AND ASSOCIATES</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446</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0.1%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GREENBERG DENTAL ASSOCIATES LLC</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46</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HAUSER INSURANCE GROUP</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2</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442</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0.1%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FITNESS VENTURES HOLDINGS INC, ASCENSION ACQUISITION LLC</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extLst>
                  <a:ext uri="{0D108BD9-81ED-4DB2-BD59-A6C34878D82A}">
                    <a16:rowId xmlns:a16="http://schemas.microsoft.com/office/drawing/2014/main" val="10006"/>
                  </a:ext>
                </a:extLst>
              </a:tr>
              <a:tr h="228600">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47</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LEVI AND ASSOCIATES INSURANCE</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410</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0.1%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RETINA FLORIDA MSO LLC</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07"/>
                  </a:ext>
                </a:extLst>
              </a:tr>
              <a:tr h="228600">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48</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COLONIAL LIFE ACCIDENT INSURANCE COMPANY</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408</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0.1%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CENTRAL FLORIDA PATHOLOGY ASSOCIATES PA</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extLst>
                  <a:ext uri="{0D108BD9-81ED-4DB2-BD59-A6C34878D82A}">
                    <a16:rowId xmlns:a16="http://schemas.microsoft.com/office/drawing/2014/main" val="10008"/>
                  </a:ext>
                </a:extLst>
              </a:tr>
              <a:tr h="228600">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49</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J DONOVAN FINANCIAL</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2</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407</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0.1%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KALOS SERVICES INC, Q1 LLC</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09"/>
                  </a:ext>
                </a:extLst>
              </a:tr>
              <a:tr h="228600">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50</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RELATION</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405</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0.1%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RLS USA INC</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extLst>
                  <a:ext uri="{0D108BD9-81ED-4DB2-BD59-A6C34878D82A}">
                    <a16:rowId xmlns:a16="http://schemas.microsoft.com/office/drawing/2014/main" val="10010"/>
                  </a:ext>
                </a:extLst>
              </a:tr>
              <a:tr h="228600">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51</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JAMES L HUFSTETLER AND COMPANY</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2</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389</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0.1%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DANIELS MANUFACTURING CORPORATION, LEWARE CONSTRUCTION COMPANY OF FLORIDA INC</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11"/>
                  </a:ext>
                </a:extLst>
              </a:tr>
              <a:tr h="228600">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52</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HILB GROUP</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2</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373</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0.1%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AUTO AUCTION HOLDINGS LLC, TRANSPREMIER LLC</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extLst>
                  <a:ext uri="{0D108BD9-81ED-4DB2-BD59-A6C34878D82A}">
                    <a16:rowId xmlns:a16="http://schemas.microsoft.com/office/drawing/2014/main" val="10012"/>
                  </a:ext>
                </a:extLst>
              </a:tr>
              <a:tr h="228600">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53</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MJ INSURANCE</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367</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0.1%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ALCANZA CLINICAL RESEARCH LLC</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13"/>
                  </a:ext>
                </a:extLst>
              </a:tr>
              <a:tr h="228600">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54</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CYPRESS RISK PARTNERS LLC</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363</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0.1%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COMPLETE CARE CENTERS LLC</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extLst>
                  <a:ext uri="{0D108BD9-81ED-4DB2-BD59-A6C34878D82A}">
                    <a16:rowId xmlns:a16="http://schemas.microsoft.com/office/drawing/2014/main" val="10014"/>
                  </a:ext>
                </a:extLst>
              </a:tr>
              <a:tr h="228600">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55</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UNITED BENEFIT ADVISORS</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3</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363</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0.1%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MASTERS ACADEMY OF CENTRAL FLORIDA INC, HANDEX CONSULTING AND REMEDIATION, GIDEONS BAKEHOUSE INC</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15"/>
                  </a:ext>
                </a:extLst>
              </a:tr>
              <a:tr h="228600">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56</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FLORIDA FINANCIAL GROUP</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352</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0.1%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TRAFFIC CONTROL DEVICES INC</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extLst>
                  <a:ext uri="{0D108BD9-81ED-4DB2-BD59-A6C34878D82A}">
                    <a16:rowId xmlns:a16="http://schemas.microsoft.com/office/drawing/2014/main" val="10016"/>
                  </a:ext>
                </a:extLst>
              </a:tr>
              <a:tr h="228600">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57</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6350"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RICHARD S BERNSTEIN AND ASSOCIATES</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6350"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6350"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352</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6350"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0.1%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6350"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DANIEL J NEWLIN PA</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6350"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17"/>
                  </a:ext>
                </a:extLst>
              </a:tr>
            </a:tbl>
          </a:graphicData>
        </a:graphic>
      </p:graphicFrame>
      <p:sp>
        <p:nvSpPr>
          <p:cNvPr id="8" name="Object 8">
            <a:extLst>
              <a:ext uri="{FF2B5EF4-FFF2-40B4-BE49-F238E27FC236}">
                <a16:creationId xmlns:a16="http://schemas.microsoft.com/office/drawing/2014/main" id="{70863EF2-BB68-5A72-8ADA-5BEBBA46ACB3}"/>
              </a:ext>
            </a:extLst>
          </p:cNvPr>
          <p:cNvSpPr/>
          <p:nvPr/>
        </p:nvSpPr>
        <p:spPr>
          <a:xfrm>
            <a:off x="7058962" y="73152"/>
            <a:ext cx="2005028" cy="476131"/>
          </a:xfrm>
          <a:prstGeom prst="rect">
            <a:avLst/>
          </a:pr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9" name="Object 9">
            <a:extLst>
              <a:ext uri="{FF2B5EF4-FFF2-40B4-BE49-F238E27FC236}">
                <a16:creationId xmlns:a16="http://schemas.microsoft.com/office/drawing/2014/main" id="{AE66998D-1477-9BD6-D970-5B8E3B2804CC}"/>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7211324" y="168378"/>
            <a:ext cx="1700304" cy="28567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dr_bar"/>
          <p:cNvSpPr>
            <a:spLocks noGrp="1"/>
          </p:cNvSpPr>
          <p:nvPr/>
        </p:nvSpPr>
        <p:spPr>
          <a:xfrm>
            <a:off x="0" y="0"/>
            <a:ext cx="9144000" cy="640080"/>
          </a:xfrm>
          <a:prstGeom prst="rect">
            <a:avLst/>
          </a:prstGeom>
          <a:solidFill>
            <a:srgbClr val="1A3A5C"/>
          </a:solidFill>
          <a:ln>
            <a:noFill/>
          </a:ln>
        </p:spPr>
        <p:txBody>
          <a:bodyPr/>
          <a:lstStyle/>
          <a:p>
            <a:endParaRPr/>
          </a:p>
        </p:txBody>
      </p:sp>
      <p:sp>
        <p:nvSpPr>
          <p:cNvPr id="3" name="hdr_title"/>
          <p:cNvSpPr/>
          <p:nvPr/>
        </p:nvSpPr>
        <p:spPr>
          <a:xfrm>
            <a:off x="274320" y="73152"/>
            <a:ext cx="8595360" cy="493776"/>
          </a:xfrm>
          <a:prstGeom prst="rect">
            <a:avLst/>
          </a:prstGeom>
          <a:noFill/>
          <a:ln>
            <a:noFill/>
          </a:ln>
        </p:spPr>
        <p:txBody>
          <a:bodyPr wrap="square" rtlCol="0" anchor="ctr"/>
          <a:lstStyle/>
          <a:p>
            <a:pPr marL="0" indent="0" algn="l">
              <a:buNone/>
            </a:pPr>
            <a:r>
              <a:rPr lang="en-US" sz="1500" b="1" dirty="0">
                <a:solidFill>
                  <a:srgbClr val="FFFFFF"/>
                </a:solidFill>
                <a:latin typeface="Calibri" pitchFamily="34" charset="0"/>
              </a:rPr>
              <a:t>Remaining Brokers - Summary (Part 4 of 7)</a:t>
            </a:r>
          </a:p>
        </p:txBody>
      </p:sp>
      <p:sp>
        <p:nvSpPr>
          <p:cNvPr id="4" name="ftr_bar"/>
          <p:cNvSpPr>
            <a:spLocks noGrp="1"/>
          </p:cNvSpPr>
          <p:nvPr/>
        </p:nvSpPr>
        <p:spPr>
          <a:xfrm>
            <a:off x="0" y="4846320"/>
            <a:ext cx="9144000" cy="297180"/>
          </a:xfrm>
          <a:prstGeom prst="rect">
            <a:avLst/>
          </a:prstGeom>
          <a:solidFill>
            <a:srgbClr val="1A3A5C"/>
          </a:solidFill>
          <a:ln>
            <a:noFill/>
          </a:ln>
        </p:spPr>
        <p:txBody>
          <a:bodyPr/>
          <a:lstStyle/>
          <a:p>
            <a:endParaRPr/>
          </a:p>
        </p:txBody>
      </p:sp>
      <p:sp>
        <p:nvSpPr>
          <p:cNvPr id="5" name="ftr_txt"/>
          <p:cNvSpPr/>
          <p:nvPr/>
        </p:nvSpPr>
        <p:spPr>
          <a:xfrm>
            <a:off x="365760" y="4864608"/>
            <a:ext cx="6400800" cy="256032"/>
          </a:xfrm>
          <a:prstGeom prst="rect">
            <a:avLst/>
          </a:prstGeom>
          <a:noFill/>
          <a:ln>
            <a:noFill/>
          </a:ln>
        </p:spPr>
        <p:txBody>
          <a:bodyPr wrap="square" rtlCol="0" anchor="ctr"/>
          <a:lstStyle/>
          <a:p>
            <a:pPr marL="0" indent="0" algn="l">
              <a:buNone/>
            </a:pPr>
            <a:r>
              <a:rPr lang="en-US" sz="900" dirty="0">
                <a:solidFill>
                  <a:srgbClr val="E2E8F0"/>
                </a:solidFill>
                <a:latin typeface="Calibri" pitchFamily="34" charset="0"/>
              </a:rPr>
              <a:t>5500 Filings Data | All Groups With Identified Benefits Broker</a:t>
            </a:r>
          </a:p>
        </p:txBody>
      </p:sp>
      <p:sp>
        <p:nvSpPr>
          <p:cNvPr id="6" name="ftr_conf"/>
          <p:cNvSpPr/>
          <p:nvPr/>
        </p:nvSpPr>
        <p:spPr>
          <a:xfrm>
            <a:off x="6858000" y="4864608"/>
            <a:ext cx="2011680" cy="256032"/>
          </a:xfrm>
          <a:prstGeom prst="rect">
            <a:avLst/>
          </a:prstGeom>
          <a:noFill/>
          <a:ln>
            <a:noFill/>
          </a:ln>
        </p:spPr>
        <p:txBody>
          <a:bodyPr wrap="square" rtlCol="0" anchor="ctr"/>
          <a:lstStyle/>
          <a:p>
            <a:pPr marL="0" indent="0" algn="r">
              <a:buNone/>
            </a:pPr>
            <a:r>
              <a:rPr lang="en-US" sz="900" dirty="0">
                <a:solidFill>
                  <a:srgbClr val="E2E8F0"/>
                </a:solidFill>
                <a:latin typeface="Calibri" pitchFamily="34" charset="0"/>
              </a:rPr>
              <a:t>Confidential - Internal Use Only</a:t>
            </a:r>
          </a:p>
        </p:txBody>
      </p:sp>
      <p:graphicFrame>
        <p:nvGraphicFramePr>
          <p:cNvPr id="7" name="Table 6"/>
          <p:cNvGraphicFramePr>
            <a:graphicFrameLocks noGrp="1"/>
          </p:cNvGraphicFramePr>
          <p:nvPr/>
        </p:nvGraphicFramePr>
        <p:xfrm>
          <a:off x="182880" y="749808"/>
          <a:ext cx="8503920" cy="4114800"/>
        </p:xfrm>
        <a:graphic>
          <a:graphicData uri="http://schemas.openxmlformats.org/drawingml/2006/table">
            <a:tbl>
              <a:tblPr/>
              <a:tblGrid>
                <a:gridCol w="27432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gridCol w="685800">
                  <a:extLst>
                    <a:ext uri="{9D8B030D-6E8A-4147-A177-3AD203B41FA5}">
                      <a16:colId xmlns:a16="http://schemas.microsoft.com/office/drawing/2014/main" val="20004"/>
                    </a:ext>
                  </a:extLst>
                </a:gridCol>
                <a:gridCol w="4160520">
                  <a:extLst>
                    <a:ext uri="{9D8B030D-6E8A-4147-A177-3AD203B41FA5}">
                      <a16:colId xmlns:a16="http://schemas.microsoft.com/office/drawing/2014/main" val="20005"/>
                    </a:ext>
                  </a:extLst>
                </a:gridCol>
              </a:tblGrid>
              <a:tr h="228600">
                <a:tc>
                  <a:txBody>
                    <a:bodyPr/>
                    <a:lstStyle/>
                    <a:p>
                      <a:pPr marL="25400" marR="25400" algn="ctr">
                        <a:lnSpc>
                          <a:spcPct val="100000"/>
                        </a:lnSpc>
                        <a:spcBef>
                          <a:spcPts val="200"/>
                        </a:spcBef>
                        <a:spcAft>
                          <a:spcPts val="200"/>
                        </a:spcAft>
                        <a:buNone/>
                      </a:pPr>
                      <a:r>
                        <a:rPr sz="800" b="1" i="0" u="none" strike="noStrike" cap="none">
                          <a:solidFill>
                            <a:srgbClr val="FFFFFF">
                              <a:alpha val="100000"/>
                            </a:srgbClr>
                          </a:solidFill>
                          <a:latin typeface="Calibri"/>
                          <a:cs typeface="Calibri"/>
                          <a:sym typeface="Calibri"/>
                        </a:rPr>
                        <a:t>#</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alpha val="100000"/>
                        </a:srgbClr>
                      </a:solidFill>
                      <a:prstDash val="solid"/>
                    </a:lnT>
                    <a:lnB w="6350" cap="flat" cmpd="sng" algn="ctr">
                      <a:solidFill>
                        <a:srgbClr val="E2E8F0">
                          <a:alpha val="100000"/>
                        </a:srgbClr>
                      </a:solidFill>
                      <a:prstDash val="solid"/>
                    </a:lnB>
                    <a:solidFill>
                      <a:srgbClr val="1A3A5C">
                        <a:alpha val="100000"/>
                      </a:srgbClr>
                    </a:solidFill>
                  </a:tcPr>
                </a:tc>
                <a:tc>
                  <a:txBody>
                    <a:bodyPr/>
                    <a:lstStyle/>
                    <a:p>
                      <a:pPr marL="25400" marR="25400" algn="l">
                        <a:lnSpc>
                          <a:spcPct val="100000"/>
                        </a:lnSpc>
                        <a:spcBef>
                          <a:spcPts val="200"/>
                        </a:spcBef>
                        <a:spcAft>
                          <a:spcPts val="200"/>
                        </a:spcAft>
                        <a:buNone/>
                      </a:pPr>
                      <a:r>
                        <a:rPr sz="800" b="1" i="0" u="none" strike="noStrike" cap="none">
                          <a:solidFill>
                            <a:srgbClr val="FFFFFF">
                              <a:alpha val="100000"/>
                            </a:srgbClr>
                          </a:solidFill>
                          <a:latin typeface="Calibri"/>
                          <a:cs typeface="Calibri"/>
                          <a:sym typeface="Calibri"/>
                        </a:rPr>
                        <a:t>Broker / Consultant</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alpha val="100000"/>
                        </a:srgbClr>
                      </a:solidFill>
                      <a:prstDash val="solid"/>
                    </a:lnT>
                    <a:lnB w="6350" cap="flat" cmpd="sng" algn="ctr">
                      <a:solidFill>
                        <a:srgbClr val="E2E8F0">
                          <a:alpha val="100000"/>
                        </a:srgbClr>
                      </a:solidFill>
                      <a:prstDash val="solid"/>
                    </a:lnB>
                    <a:solidFill>
                      <a:srgbClr val="1A3A5C">
                        <a:alpha val="100000"/>
                      </a:srgbClr>
                    </a:solidFill>
                  </a:tcPr>
                </a:tc>
                <a:tc>
                  <a:txBody>
                    <a:bodyPr/>
                    <a:lstStyle/>
                    <a:p>
                      <a:pPr marL="25400" marR="25400" algn="ctr">
                        <a:lnSpc>
                          <a:spcPct val="100000"/>
                        </a:lnSpc>
                        <a:spcBef>
                          <a:spcPts val="200"/>
                        </a:spcBef>
                        <a:spcAft>
                          <a:spcPts val="200"/>
                        </a:spcAft>
                        <a:buNone/>
                      </a:pPr>
                      <a:r>
                        <a:rPr sz="800" b="1" i="0" u="none" strike="noStrike" cap="none">
                          <a:solidFill>
                            <a:srgbClr val="FFFFFF">
                              <a:alpha val="100000"/>
                            </a:srgbClr>
                          </a:solidFill>
                          <a:latin typeface="Calibri"/>
                          <a:cs typeface="Calibri"/>
                          <a:sym typeface="Calibri"/>
                        </a:rPr>
                        <a:t>Employers</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alpha val="100000"/>
                        </a:srgbClr>
                      </a:solidFill>
                      <a:prstDash val="solid"/>
                    </a:lnT>
                    <a:lnB w="6350" cap="flat" cmpd="sng" algn="ctr">
                      <a:solidFill>
                        <a:srgbClr val="E2E8F0">
                          <a:alpha val="100000"/>
                        </a:srgbClr>
                      </a:solidFill>
                      <a:prstDash val="solid"/>
                    </a:lnB>
                    <a:solidFill>
                      <a:srgbClr val="1A3A5C">
                        <a:alpha val="100000"/>
                      </a:srgbClr>
                    </a:solidFill>
                  </a:tcPr>
                </a:tc>
                <a:tc>
                  <a:txBody>
                    <a:bodyPr/>
                    <a:lstStyle/>
                    <a:p>
                      <a:pPr marL="25400" marR="25400" algn="ctr">
                        <a:lnSpc>
                          <a:spcPct val="100000"/>
                        </a:lnSpc>
                        <a:spcBef>
                          <a:spcPts val="200"/>
                        </a:spcBef>
                        <a:spcAft>
                          <a:spcPts val="200"/>
                        </a:spcAft>
                        <a:buNone/>
                      </a:pPr>
                      <a:r>
                        <a:rPr sz="800" b="1" i="0" u="none" strike="noStrike" cap="none">
                          <a:solidFill>
                            <a:srgbClr val="FFFFFF">
                              <a:alpha val="100000"/>
                            </a:srgbClr>
                          </a:solidFill>
                          <a:latin typeface="Calibri"/>
                          <a:cs typeface="Calibri"/>
                          <a:sym typeface="Calibri"/>
                        </a:rPr>
                        <a:t>Covered EEs</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alpha val="100000"/>
                        </a:srgbClr>
                      </a:solidFill>
                      <a:prstDash val="solid"/>
                    </a:lnT>
                    <a:lnB w="6350" cap="flat" cmpd="sng" algn="ctr">
                      <a:solidFill>
                        <a:srgbClr val="E2E8F0">
                          <a:alpha val="100000"/>
                        </a:srgbClr>
                      </a:solidFill>
                      <a:prstDash val="solid"/>
                    </a:lnB>
                    <a:solidFill>
                      <a:srgbClr val="1A3A5C">
                        <a:alpha val="100000"/>
                      </a:srgbClr>
                    </a:solidFill>
                  </a:tcPr>
                </a:tc>
                <a:tc>
                  <a:txBody>
                    <a:bodyPr/>
                    <a:lstStyle/>
                    <a:p>
                      <a:pPr marL="25400" marR="25400" algn="ctr">
                        <a:lnSpc>
                          <a:spcPct val="100000"/>
                        </a:lnSpc>
                        <a:spcBef>
                          <a:spcPts val="200"/>
                        </a:spcBef>
                        <a:spcAft>
                          <a:spcPts val="200"/>
                        </a:spcAft>
                        <a:buNone/>
                      </a:pPr>
                      <a:r>
                        <a:rPr sz="800" b="1" i="0" u="none" strike="noStrike" cap="none">
                          <a:solidFill>
                            <a:srgbClr val="FFFFFF">
                              <a:alpha val="100000"/>
                            </a:srgbClr>
                          </a:solidFill>
                          <a:latin typeface="Calibri"/>
                          <a:cs typeface="Calibri"/>
                          <a:sym typeface="Calibri"/>
                        </a:rPr>
                        <a:t>Market Share</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alpha val="100000"/>
                        </a:srgbClr>
                      </a:solidFill>
                      <a:prstDash val="solid"/>
                    </a:lnT>
                    <a:lnB w="6350" cap="flat" cmpd="sng" algn="ctr">
                      <a:solidFill>
                        <a:srgbClr val="E2E8F0">
                          <a:alpha val="100000"/>
                        </a:srgbClr>
                      </a:solidFill>
                      <a:prstDash val="solid"/>
                    </a:lnB>
                    <a:solidFill>
                      <a:srgbClr val="1A3A5C">
                        <a:alpha val="100000"/>
                      </a:srgbClr>
                    </a:solidFill>
                  </a:tcPr>
                </a:tc>
                <a:tc>
                  <a:txBody>
                    <a:bodyPr/>
                    <a:lstStyle/>
                    <a:p>
                      <a:pPr marL="25400" marR="25400" algn="l">
                        <a:lnSpc>
                          <a:spcPct val="100000"/>
                        </a:lnSpc>
                        <a:spcBef>
                          <a:spcPts val="200"/>
                        </a:spcBef>
                        <a:spcAft>
                          <a:spcPts val="200"/>
                        </a:spcAft>
                        <a:buNone/>
                      </a:pPr>
                      <a:r>
                        <a:rPr sz="800" b="1" i="0" u="none" strike="noStrike" cap="none">
                          <a:solidFill>
                            <a:srgbClr val="FFFFFF">
                              <a:alpha val="100000"/>
                            </a:srgbClr>
                          </a:solidFill>
                          <a:latin typeface="Calibri"/>
                          <a:cs typeface="Calibri"/>
                          <a:sym typeface="Calibri"/>
                        </a:rPr>
                        <a:t>Employer List</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6350" cap="flat" cmpd="sng" algn="ctr">
                      <a:solidFill>
                        <a:srgbClr val="E2E8F0">
                          <a:alpha val="100000"/>
                        </a:srgbClr>
                      </a:solidFill>
                      <a:prstDash val="solid"/>
                    </a:lnT>
                    <a:lnB w="6350" cap="flat" cmpd="sng" algn="ctr">
                      <a:solidFill>
                        <a:srgbClr val="E2E8F0">
                          <a:alpha val="100000"/>
                        </a:srgbClr>
                      </a:solidFill>
                      <a:prstDash val="solid"/>
                    </a:lnB>
                    <a:solidFill>
                      <a:srgbClr val="1A3A5C">
                        <a:alpha val="100000"/>
                      </a:srgbClr>
                    </a:solidFill>
                  </a:tcPr>
                </a:tc>
                <a:extLst>
                  <a:ext uri="{0D108BD9-81ED-4DB2-BD59-A6C34878D82A}">
                    <a16:rowId xmlns:a16="http://schemas.microsoft.com/office/drawing/2014/main" val="10000"/>
                  </a:ext>
                </a:extLst>
              </a:tr>
              <a:tr h="228600">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58</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solidFill>
                      <a:prstDash val="solid"/>
                      <a:round/>
                      <a:headEnd type="none" w="med" len="med"/>
                      <a:tailEnd type="none" w="med" len="me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SHARON LYNN SMITH</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solidFill>
                      <a:prstDash val="solid"/>
                      <a:round/>
                      <a:headEnd type="none" w="med" len="med"/>
                      <a:tailEnd type="none" w="med" len="me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solidFill>
                      <a:prstDash val="solid"/>
                      <a:round/>
                      <a:headEnd type="none" w="med" len="med"/>
                      <a:tailEnd type="none" w="med" len="me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343</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solidFill>
                      <a:prstDash val="solid"/>
                      <a:round/>
                      <a:headEnd type="none" w="med" len="med"/>
                      <a:tailEnd type="none" w="med" len="me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0.1%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solidFill>
                      <a:prstDash val="solid"/>
                      <a:round/>
                      <a:headEnd type="none" w="med" len="med"/>
                      <a:tailEnd type="none" w="med" len="me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LAKE HIGHLAND PREPARATORY SCHOOL</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6350" cap="flat" cmpd="sng" algn="ctr">
                      <a:solidFill>
                        <a:srgbClr val="E2E8F0"/>
                      </a:solidFill>
                      <a:prstDash val="solid"/>
                      <a:round/>
                      <a:headEnd type="none" w="med" len="med"/>
                      <a:tailEnd type="none" w="med" len="med"/>
                    </a:lnT>
                    <a:lnB w="3175"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59</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JAMES F TULLIS AND ASSOCIATES</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341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0.1%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OPERATION DENTAL LLC</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extLst>
                  <a:ext uri="{0D108BD9-81ED-4DB2-BD59-A6C34878D82A}">
                    <a16:rowId xmlns:a16="http://schemas.microsoft.com/office/drawing/2014/main" val="10002"/>
                  </a:ext>
                </a:extLst>
              </a:tr>
              <a:tr h="228600">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60</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ROBERT VINCENT</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323</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0.1%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ANOTHER BROKEN EGG OF AMERICA FRANCHISING LLC</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61</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JUSTIN MCGANE</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314</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0.1%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IMCMV HOLDINGS INC</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extLst>
                  <a:ext uri="{0D108BD9-81ED-4DB2-BD59-A6C34878D82A}">
                    <a16:rowId xmlns:a16="http://schemas.microsoft.com/office/drawing/2014/main" val="10004"/>
                  </a:ext>
                </a:extLst>
              </a:tr>
              <a:tr h="228600">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62</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ACCESS 1 INSURANCE</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304</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0.1%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REED MOTORS INC</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63</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EMPLOYEE NAVIGATOR LLC</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297</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0.1%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TERRYS ELECTRIC INC</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extLst>
                  <a:ext uri="{0D108BD9-81ED-4DB2-BD59-A6C34878D82A}">
                    <a16:rowId xmlns:a16="http://schemas.microsoft.com/office/drawing/2014/main" val="10006"/>
                  </a:ext>
                </a:extLst>
              </a:tr>
              <a:tr h="228600">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64</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PAYCHEX INSURANCE AGENCY</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2</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297</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0.1%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METRIS LLC, ACTIVUS CONNECT LLC</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07"/>
                  </a:ext>
                </a:extLst>
              </a:tr>
              <a:tr h="228600">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65</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BUTLER BENEFITS GROUP</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295</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0.1%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NASSAL HOLDINGS INC</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extLst>
                  <a:ext uri="{0D108BD9-81ED-4DB2-BD59-A6C34878D82A}">
                    <a16:rowId xmlns:a16="http://schemas.microsoft.com/office/drawing/2014/main" val="10008"/>
                  </a:ext>
                </a:extLst>
              </a:tr>
              <a:tr h="228600">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66</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BENNIE INSURANCE LLC</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2</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277</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0.1%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ON DEMAND TECHNOLOGIES INC, MY FLORIDA REGIONAL MLS INC</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09"/>
                  </a:ext>
                </a:extLst>
              </a:tr>
              <a:tr h="228600">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67</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NYLIFE SECURITIES</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274</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0.1%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SHINE516 INC</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extLst>
                  <a:ext uri="{0D108BD9-81ED-4DB2-BD59-A6C34878D82A}">
                    <a16:rowId xmlns:a16="http://schemas.microsoft.com/office/drawing/2014/main" val="10010"/>
                  </a:ext>
                </a:extLst>
              </a:tr>
              <a:tr h="228600">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68</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KORE HEALTH AND BENEFITS</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269</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0.1%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INGENUS PHARMACEUTICALS LLC</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11"/>
                  </a:ext>
                </a:extLst>
              </a:tr>
              <a:tr h="228600">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69</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PROVIDENCE BENEFITS SOLUTIONS LLC</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2</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256</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0.1%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ACTION NISSAN INC, MCCORKLE CONSTRUCTION COMPANY</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extLst>
                  <a:ext uri="{0D108BD9-81ED-4DB2-BD59-A6C34878D82A}">
                    <a16:rowId xmlns:a16="http://schemas.microsoft.com/office/drawing/2014/main" val="10012"/>
                  </a:ext>
                </a:extLst>
              </a:tr>
              <a:tr h="228600">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70</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CENTRAL FLORIDA GROUP SERVICES INC</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218</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0.1%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CURRENCY EXCHANGE INTERNATIONAL CORPORATION</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13"/>
                  </a:ext>
                </a:extLst>
              </a:tr>
              <a:tr h="228600">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71</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NEWTEK INSURANCE AGENCY</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211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0.1%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PERFECT GAME INC</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extLst>
                  <a:ext uri="{0D108BD9-81ED-4DB2-BD59-A6C34878D82A}">
                    <a16:rowId xmlns:a16="http://schemas.microsoft.com/office/drawing/2014/main" val="10014"/>
                  </a:ext>
                </a:extLst>
              </a:tr>
              <a:tr h="228600">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72</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EA LEGACY LLC</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dirty="0">
                          <a:solidFill>
                            <a:srgbClr val="000000">
                              <a:alpha val="100000"/>
                            </a:srgbClr>
                          </a:solidFill>
                          <a:latin typeface="Calibri"/>
                          <a:cs typeface="Calibri"/>
                          <a:sym typeface="Calibri"/>
                        </a:rPr>
                        <a:t>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196</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0.1%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FLEXTRUDE ALUMINUM SHAPES</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15"/>
                  </a:ext>
                </a:extLst>
              </a:tr>
              <a:tr h="228600">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73</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GREMEL GROUP</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195</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0.1%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NORTHERN JET INC</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extLst>
                  <a:ext uri="{0D108BD9-81ED-4DB2-BD59-A6C34878D82A}">
                    <a16:rowId xmlns:a16="http://schemas.microsoft.com/office/drawing/2014/main" val="10016"/>
                  </a:ext>
                </a:extLst>
              </a:tr>
              <a:tr h="228600">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74</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6350"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APEX INSURANCE ADVISORS INC</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6350"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6350"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194</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6350"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0.1%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6350"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dirty="0">
                          <a:solidFill>
                            <a:srgbClr val="000000">
                              <a:alpha val="100000"/>
                            </a:srgbClr>
                          </a:solidFill>
                          <a:latin typeface="Calibri"/>
                          <a:cs typeface="Calibri"/>
                          <a:sym typeface="Calibri"/>
                        </a:rPr>
                        <a:t>MTB ENTERPRISES</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6350"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17"/>
                  </a:ext>
                </a:extLst>
              </a:tr>
            </a:tbl>
          </a:graphicData>
        </a:graphic>
      </p:graphicFrame>
      <p:sp>
        <p:nvSpPr>
          <p:cNvPr id="8" name="Object 8">
            <a:extLst>
              <a:ext uri="{FF2B5EF4-FFF2-40B4-BE49-F238E27FC236}">
                <a16:creationId xmlns:a16="http://schemas.microsoft.com/office/drawing/2014/main" id="{2D108ABB-B39B-CCB1-EABF-CC5A42748F6B}"/>
              </a:ext>
            </a:extLst>
          </p:cNvPr>
          <p:cNvSpPr/>
          <p:nvPr/>
        </p:nvSpPr>
        <p:spPr>
          <a:xfrm>
            <a:off x="7058962" y="73152"/>
            <a:ext cx="2005028" cy="476131"/>
          </a:xfrm>
          <a:prstGeom prst="rect">
            <a:avLst/>
          </a:pr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9" name="Object 9">
            <a:extLst>
              <a:ext uri="{FF2B5EF4-FFF2-40B4-BE49-F238E27FC236}">
                <a16:creationId xmlns:a16="http://schemas.microsoft.com/office/drawing/2014/main" id="{F5AFE106-0D95-56A2-7D51-5AF8C19011E1}"/>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7211324" y="168378"/>
            <a:ext cx="1700304" cy="28567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dr_bar"/>
          <p:cNvSpPr>
            <a:spLocks noGrp="1"/>
          </p:cNvSpPr>
          <p:nvPr/>
        </p:nvSpPr>
        <p:spPr>
          <a:xfrm>
            <a:off x="0" y="0"/>
            <a:ext cx="9144000" cy="640080"/>
          </a:xfrm>
          <a:prstGeom prst="rect">
            <a:avLst/>
          </a:prstGeom>
          <a:solidFill>
            <a:srgbClr val="1A3A5C"/>
          </a:solidFill>
          <a:ln>
            <a:noFill/>
          </a:ln>
        </p:spPr>
        <p:txBody>
          <a:bodyPr/>
          <a:lstStyle/>
          <a:p>
            <a:endParaRPr/>
          </a:p>
        </p:txBody>
      </p:sp>
      <p:sp>
        <p:nvSpPr>
          <p:cNvPr id="3" name="hdr_title"/>
          <p:cNvSpPr/>
          <p:nvPr/>
        </p:nvSpPr>
        <p:spPr>
          <a:xfrm>
            <a:off x="274320" y="73152"/>
            <a:ext cx="8595360" cy="493776"/>
          </a:xfrm>
          <a:prstGeom prst="rect">
            <a:avLst/>
          </a:prstGeom>
          <a:noFill/>
          <a:ln>
            <a:noFill/>
          </a:ln>
        </p:spPr>
        <p:txBody>
          <a:bodyPr wrap="square" rtlCol="0" anchor="ctr"/>
          <a:lstStyle/>
          <a:p>
            <a:pPr marL="0" indent="0" algn="l">
              <a:buNone/>
            </a:pPr>
            <a:r>
              <a:rPr lang="en-US" sz="1500" b="1" dirty="0">
                <a:solidFill>
                  <a:srgbClr val="FFFFFF"/>
                </a:solidFill>
                <a:latin typeface="Calibri" pitchFamily="34" charset="0"/>
              </a:rPr>
              <a:t>Remaining Brokers - Summary (Part 5 of 7)</a:t>
            </a:r>
          </a:p>
        </p:txBody>
      </p:sp>
      <p:sp>
        <p:nvSpPr>
          <p:cNvPr id="4" name="ftr_bar"/>
          <p:cNvSpPr>
            <a:spLocks noGrp="1"/>
          </p:cNvSpPr>
          <p:nvPr/>
        </p:nvSpPr>
        <p:spPr>
          <a:xfrm>
            <a:off x="0" y="4846320"/>
            <a:ext cx="9144000" cy="297180"/>
          </a:xfrm>
          <a:prstGeom prst="rect">
            <a:avLst/>
          </a:prstGeom>
          <a:solidFill>
            <a:srgbClr val="1A3A5C"/>
          </a:solidFill>
          <a:ln>
            <a:noFill/>
          </a:ln>
        </p:spPr>
        <p:txBody>
          <a:bodyPr/>
          <a:lstStyle/>
          <a:p>
            <a:endParaRPr/>
          </a:p>
        </p:txBody>
      </p:sp>
      <p:sp>
        <p:nvSpPr>
          <p:cNvPr id="5" name="ftr_txt"/>
          <p:cNvSpPr/>
          <p:nvPr/>
        </p:nvSpPr>
        <p:spPr>
          <a:xfrm>
            <a:off x="365760" y="4864608"/>
            <a:ext cx="6400800" cy="256032"/>
          </a:xfrm>
          <a:prstGeom prst="rect">
            <a:avLst/>
          </a:prstGeom>
          <a:noFill/>
          <a:ln>
            <a:noFill/>
          </a:ln>
        </p:spPr>
        <p:txBody>
          <a:bodyPr wrap="square" rtlCol="0" anchor="ctr"/>
          <a:lstStyle/>
          <a:p>
            <a:pPr marL="0" indent="0" algn="l">
              <a:buNone/>
            </a:pPr>
            <a:r>
              <a:rPr lang="en-US" sz="900" dirty="0">
                <a:solidFill>
                  <a:srgbClr val="E2E8F0"/>
                </a:solidFill>
                <a:latin typeface="Calibri" pitchFamily="34" charset="0"/>
              </a:rPr>
              <a:t>5500 Filings Data | All Groups With Identified Benefits Broker</a:t>
            </a:r>
          </a:p>
        </p:txBody>
      </p:sp>
      <p:sp>
        <p:nvSpPr>
          <p:cNvPr id="6" name="ftr_conf"/>
          <p:cNvSpPr/>
          <p:nvPr/>
        </p:nvSpPr>
        <p:spPr>
          <a:xfrm>
            <a:off x="6858000" y="4864608"/>
            <a:ext cx="2011680" cy="256032"/>
          </a:xfrm>
          <a:prstGeom prst="rect">
            <a:avLst/>
          </a:prstGeom>
          <a:noFill/>
          <a:ln>
            <a:noFill/>
          </a:ln>
        </p:spPr>
        <p:txBody>
          <a:bodyPr wrap="square" rtlCol="0" anchor="ctr"/>
          <a:lstStyle/>
          <a:p>
            <a:pPr marL="0" indent="0" algn="r">
              <a:buNone/>
            </a:pPr>
            <a:r>
              <a:rPr lang="en-US" sz="900" dirty="0">
                <a:solidFill>
                  <a:srgbClr val="E2E8F0"/>
                </a:solidFill>
                <a:latin typeface="Calibri" pitchFamily="34" charset="0"/>
              </a:rPr>
              <a:t>Confidential - Internal Use Only</a:t>
            </a:r>
          </a:p>
        </p:txBody>
      </p:sp>
      <p:graphicFrame>
        <p:nvGraphicFramePr>
          <p:cNvPr id="7" name="Table 6"/>
          <p:cNvGraphicFramePr>
            <a:graphicFrameLocks noGrp="1"/>
          </p:cNvGraphicFramePr>
          <p:nvPr/>
        </p:nvGraphicFramePr>
        <p:xfrm>
          <a:off x="182880" y="749808"/>
          <a:ext cx="8503920" cy="4114800"/>
        </p:xfrm>
        <a:graphic>
          <a:graphicData uri="http://schemas.openxmlformats.org/drawingml/2006/table">
            <a:tbl>
              <a:tblPr/>
              <a:tblGrid>
                <a:gridCol w="27432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gridCol w="685800">
                  <a:extLst>
                    <a:ext uri="{9D8B030D-6E8A-4147-A177-3AD203B41FA5}">
                      <a16:colId xmlns:a16="http://schemas.microsoft.com/office/drawing/2014/main" val="20004"/>
                    </a:ext>
                  </a:extLst>
                </a:gridCol>
                <a:gridCol w="4160520">
                  <a:extLst>
                    <a:ext uri="{9D8B030D-6E8A-4147-A177-3AD203B41FA5}">
                      <a16:colId xmlns:a16="http://schemas.microsoft.com/office/drawing/2014/main" val="20005"/>
                    </a:ext>
                  </a:extLst>
                </a:gridCol>
              </a:tblGrid>
              <a:tr h="228600">
                <a:tc>
                  <a:txBody>
                    <a:bodyPr/>
                    <a:lstStyle/>
                    <a:p>
                      <a:pPr marL="25400" marR="25400" algn="ctr">
                        <a:lnSpc>
                          <a:spcPct val="100000"/>
                        </a:lnSpc>
                        <a:spcBef>
                          <a:spcPts val="200"/>
                        </a:spcBef>
                        <a:spcAft>
                          <a:spcPts val="200"/>
                        </a:spcAft>
                        <a:buNone/>
                      </a:pPr>
                      <a:r>
                        <a:rPr sz="800" b="1" i="0" u="none" strike="noStrike" cap="none">
                          <a:solidFill>
                            <a:srgbClr val="FFFFFF">
                              <a:alpha val="100000"/>
                            </a:srgbClr>
                          </a:solidFill>
                          <a:latin typeface="Calibri"/>
                          <a:cs typeface="Calibri"/>
                          <a:sym typeface="Calibri"/>
                        </a:rPr>
                        <a:t>#</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alpha val="100000"/>
                        </a:srgbClr>
                      </a:solidFill>
                      <a:prstDash val="solid"/>
                    </a:lnT>
                    <a:lnB w="6350" cap="flat" cmpd="sng" algn="ctr">
                      <a:solidFill>
                        <a:srgbClr val="E2E8F0">
                          <a:alpha val="100000"/>
                        </a:srgbClr>
                      </a:solidFill>
                      <a:prstDash val="solid"/>
                    </a:lnB>
                    <a:solidFill>
                      <a:srgbClr val="1A3A5C">
                        <a:alpha val="100000"/>
                      </a:srgbClr>
                    </a:solidFill>
                  </a:tcPr>
                </a:tc>
                <a:tc>
                  <a:txBody>
                    <a:bodyPr/>
                    <a:lstStyle/>
                    <a:p>
                      <a:pPr marL="25400" marR="25400" algn="l">
                        <a:lnSpc>
                          <a:spcPct val="100000"/>
                        </a:lnSpc>
                        <a:spcBef>
                          <a:spcPts val="200"/>
                        </a:spcBef>
                        <a:spcAft>
                          <a:spcPts val="200"/>
                        </a:spcAft>
                        <a:buNone/>
                      </a:pPr>
                      <a:r>
                        <a:rPr sz="800" b="1" i="0" u="none" strike="noStrike" cap="none">
                          <a:solidFill>
                            <a:srgbClr val="FFFFFF">
                              <a:alpha val="100000"/>
                            </a:srgbClr>
                          </a:solidFill>
                          <a:latin typeface="Calibri"/>
                          <a:cs typeface="Calibri"/>
                          <a:sym typeface="Calibri"/>
                        </a:rPr>
                        <a:t>Broker / Consultant</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alpha val="100000"/>
                        </a:srgbClr>
                      </a:solidFill>
                      <a:prstDash val="solid"/>
                    </a:lnT>
                    <a:lnB w="6350" cap="flat" cmpd="sng" algn="ctr">
                      <a:solidFill>
                        <a:srgbClr val="E2E8F0">
                          <a:alpha val="100000"/>
                        </a:srgbClr>
                      </a:solidFill>
                      <a:prstDash val="solid"/>
                    </a:lnB>
                    <a:solidFill>
                      <a:srgbClr val="1A3A5C">
                        <a:alpha val="100000"/>
                      </a:srgbClr>
                    </a:solidFill>
                  </a:tcPr>
                </a:tc>
                <a:tc>
                  <a:txBody>
                    <a:bodyPr/>
                    <a:lstStyle/>
                    <a:p>
                      <a:pPr marL="25400" marR="25400" algn="ctr">
                        <a:lnSpc>
                          <a:spcPct val="100000"/>
                        </a:lnSpc>
                        <a:spcBef>
                          <a:spcPts val="200"/>
                        </a:spcBef>
                        <a:spcAft>
                          <a:spcPts val="200"/>
                        </a:spcAft>
                        <a:buNone/>
                      </a:pPr>
                      <a:r>
                        <a:rPr sz="800" b="1" i="0" u="none" strike="noStrike" cap="none">
                          <a:solidFill>
                            <a:srgbClr val="FFFFFF">
                              <a:alpha val="100000"/>
                            </a:srgbClr>
                          </a:solidFill>
                          <a:latin typeface="Calibri"/>
                          <a:cs typeface="Calibri"/>
                          <a:sym typeface="Calibri"/>
                        </a:rPr>
                        <a:t>Employers</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alpha val="100000"/>
                        </a:srgbClr>
                      </a:solidFill>
                      <a:prstDash val="solid"/>
                    </a:lnT>
                    <a:lnB w="6350" cap="flat" cmpd="sng" algn="ctr">
                      <a:solidFill>
                        <a:srgbClr val="E2E8F0">
                          <a:alpha val="100000"/>
                        </a:srgbClr>
                      </a:solidFill>
                      <a:prstDash val="solid"/>
                    </a:lnB>
                    <a:solidFill>
                      <a:srgbClr val="1A3A5C">
                        <a:alpha val="100000"/>
                      </a:srgbClr>
                    </a:solidFill>
                  </a:tcPr>
                </a:tc>
                <a:tc>
                  <a:txBody>
                    <a:bodyPr/>
                    <a:lstStyle/>
                    <a:p>
                      <a:pPr marL="25400" marR="25400" algn="ctr">
                        <a:lnSpc>
                          <a:spcPct val="100000"/>
                        </a:lnSpc>
                        <a:spcBef>
                          <a:spcPts val="200"/>
                        </a:spcBef>
                        <a:spcAft>
                          <a:spcPts val="200"/>
                        </a:spcAft>
                        <a:buNone/>
                      </a:pPr>
                      <a:r>
                        <a:rPr sz="800" b="1" i="0" u="none" strike="noStrike" cap="none">
                          <a:solidFill>
                            <a:srgbClr val="FFFFFF">
                              <a:alpha val="100000"/>
                            </a:srgbClr>
                          </a:solidFill>
                          <a:latin typeface="Calibri"/>
                          <a:cs typeface="Calibri"/>
                          <a:sym typeface="Calibri"/>
                        </a:rPr>
                        <a:t>Covered EEs</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alpha val="100000"/>
                        </a:srgbClr>
                      </a:solidFill>
                      <a:prstDash val="solid"/>
                    </a:lnT>
                    <a:lnB w="6350" cap="flat" cmpd="sng" algn="ctr">
                      <a:solidFill>
                        <a:srgbClr val="E2E8F0">
                          <a:alpha val="100000"/>
                        </a:srgbClr>
                      </a:solidFill>
                      <a:prstDash val="solid"/>
                    </a:lnB>
                    <a:solidFill>
                      <a:srgbClr val="1A3A5C">
                        <a:alpha val="100000"/>
                      </a:srgbClr>
                    </a:solidFill>
                  </a:tcPr>
                </a:tc>
                <a:tc>
                  <a:txBody>
                    <a:bodyPr/>
                    <a:lstStyle/>
                    <a:p>
                      <a:pPr marL="25400" marR="25400" algn="ctr">
                        <a:lnSpc>
                          <a:spcPct val="100000"/>
                        </a:lnSpc>
                        <a:spcBef>
                          <a:spcPts val="200"/>
                        </a:spcBef>
                        <a:spcAft>
                          <a:spcPts val="200"/>
                        </a:spcAft>
                        <a:buNone/>
                      </a:pPr>
                      <a:r>
                        <a:rPr sz="800" b="1" i="0" u="none" strike="noStrike" cap="none">
                          <a:solidFill>
                            <a:srgbClr val="FFFFFF">
                              <a:alpha val="100000"/>
                            </a:srgbClr>
                          </a:solidFill>
                          <a:latin typeface="Calibri"/>
                          <a:cs typeface="Calibri"/>
                          <a:sym typeface="Calibri"/>
                        </a:rPr>
                        <a:t>Market Share</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alpha val="100000"/>
                        </a:srgbClr>
                      </a:solidFill>
                      <a:prstDash val="solid"/>
                    </a:lnT>
                    <a:lnB w="6350" cap="flat" cmpd="sng" algn="ctr">
                      <a:solidFill>
                        <a:srgbClr val="E2E8F0">
                          <a:alpha val="100000"/>
                        </a:srgbClr>
                      </a:solidFill>
                      <a:prstDash val="solid"/>
                    </a:lnB>
                    <a:solidFill>
                      <a:srgbClr val="1A3A5C">
                        <a:alpha val="100000"/>
                      </a:srgbClr>
                    </a:solidFill>
                  </a:tcPr>
                </a:tc>
                <a:tc>
                  <a:txBody>
                    <a:bodyPr/>
                    <a:lstStyle/>
                    <a:p>
                      <a:pPr marL="25400" marR="25400" algn="l">
                        <a:lnSpc>
                          <a:spcPct val="100000"/>
                        </a:lnSpc>
                        <a:spcBef>
                          <a:spcPts val="200"/>
                        </a:spcBef>
                        <a:spcAft>
                          <a:spcPts val="200"/>
                        </a:spcAft>
                        <a:buNone/>
                      </a:pPr>
                      <a:r>
                        <a:rPr sz="800" b="1" i="0" u="none" strike="noStrike" cap="none">
                          <a:solidFill>
                            <a:srgbClr val="FFFFFF">
                              <a:alpha val="100000"/>
                            </a:srgbClr>
                          </a:solidFill>
                          <a:latin typeface="Calibri"/>
                          <a:cs typeface="Calibri"/>
                          <a:sym typeface="Calibri"/>
                        </a:rPr>
                        <a:t>Employer List</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6350" cap="flat" cmpd="sng" algn="ctr">
                      <a:solidFill>
                        <a:srgbClr val="E2E8F0">
                          <a:alpha val="100000"/>
                        </a:srgbClr>
                      </a:solidFill>
                      <a:prstDash val="solid"/>
                    </a:lnT>
                    <a:lnB w="6350" cap="flat" cmpd="sng" algn="ctr">
                      <a:solidFill>
                        <a:srgbClr val="E2E8F0">
                          <a:alpha val="100000"/>
                        </a:srgbClr>
                      </a:solidFill>
                      <a:prstDash val="solid"/>
                    </a:lnB>
                    <a:solidFill>
                      <a:srgbClr val="1A3A5C">
                        <a:alpha val="100000"/>
                      </a:srgbClr>
                    </a:solidFill>
                  </a:tcPr>
                </a:tc>
                <a:extLst>
                  <a:ext uri="{0D108BD9-81ED-4DB2-BD59-A6C34878D82A}">
                    <a16:rowId xmlns:a16="http://schemas.microsoft.com/office/drawing/2014/main" val="10000"/>
                  </a:ext>
                </a:extLst>
              </a:tr>
              <a:tr h="228600">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75</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solidFill>
                      <a:prstDash val="solid"/>
                      <a:round/>
                      <a:headEnd type="none" w="med" len="med"/>
                      <a:tailEnd type="none" w="med" len="me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SKOLNIK BENEFITS SOLUTIONS</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solidFill>
                      <a:prstDash val="solid"/>
                      <a:round/>
                      <a:headEnd type="none" w="med" len="med"/>
                      <a:tailEnd type="none" w="med" len="me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solidFill>
                      <a:prstDash val="solid"/>
                      <a:round/>
                      <a:headEnd type="none" w="med" len="med"/>
                      <a:tailEnd type="none" w="med" len="me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187</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solidFill>
                      <a:prstDash val="solid"/>
                      <a:round/>
                      <a:headEnd type="none" w="med" len="med"/>
                      <a:tailEnd type="none" w="med" len="me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&lt;0.1%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solidFill>
                      <a:prstDash val="solid"/>
                      <a:round/>
                      <a:headEnd type="none" w="med" len="med"/>
                      <a:tailEnd type="none" w="med" len="me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LIGHTHOUSE MANAGEMENT COMPANY</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6350" cap="flat" cmpd="sng" algn="ctr">
                      <a:solidFill>
                        <a:srgbClr val="E2E8F0"/>
                      </a:solidFill>
                      <a:prstDash val="solid"/>
                      <a:round/>
                      <a:headEnd type="none" w="med" len="med"/>
                      <a:tailEnd type="none" w="med" len="med"/>
                    </a:lnT>
                    <a:lnB w="3175"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76</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AGAPE BENEFITS CONSULTING LLC</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184</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&lt;0.1%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WESTBROOK SERVICE CORPORATION</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extLst>
                  <a:ext uri="{0D108BD9-81ED-4DB2-BD59-A6C34878D82A}">
                    <a16:rowId xmlns:a16="http://schemas.microsoft.com/office/drawing/2014/main" val="10002"/>
                  </a:ext>
                </a:extLst>
              </a:tr>
              <a:tr h="228600">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77</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M E WILSON COMPANY LLC</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180</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&lt;0.1%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YENMAN ENTERPRISES LLC</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78</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ADMINISTRATORS ADVISORY GROUP</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156</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&lt;0.1%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INTERPLAN LLC</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extLst>
                  <a:ext uri="{0D108BD9-81ED-4DB2-BD59-A6C34878D82A}">
                    <a16:rowId xmlns:a16="http://schemas.microsoft.com/office/drawing/2014/main" val="10004"/>
                  </a:ext>
                </a:extLst>
              </a:tr>
              <a:tr h="228600">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79</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IVAN VALDES</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153</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&lt;0.1%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NEPHROLOGY ASSOCIATES OF NORTH CENTRAL FLORIDA PA</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80</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BEV CAP MANAGEMENT</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150</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&lt;0.1%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WAYNE DENSCH INC</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extLst>
                  <a:ext uri="{0D108BD9-81ED-4DB2-BD59-A6C34878D82A}">
                    <a16:rowId xmlns:a16="http://schemas.microsoft.com/office/drawing/2014/main" val="10006"/>
                  </a:ext>
                </a:extLst>
              </a:tr>
              <a:tr h="228600">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81</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KEYSTONE BENEFITS GROUP</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149</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&lt;0.1%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CARLEY CORPORATION</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07"/>
                  </a:ext>
                </a:extLst>
              </a:tr>
              <a:tr h="228600">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82</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CORPORATE COVERAGE</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144</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&lt;0.1%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HPP PROPERTY SERVICES LLC</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extLst>
                  <a:ext uri="{0D108BD9-81ED-4DB2-BD59-A6C34878D82A}">
                    <a16:rowId xmlns:a16="http://schemas.microsoft.com/office/drawing/2014/main" val="10008"/>
                  </a:ext>
                </a:extLst>
              </a:tr>
              <a:tr h="228600">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83</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POINTENORTH INSURANCE GROUP</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144</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&lt;0.1%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KINGWOOD ORLANDO REUNION RESORT</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09"/>
                  </a:ext>
                </a:extLst>
              </a:tr>
              <a:tr h="228600">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84</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THOMPSON INSURANCE &amp; FINANCIAL SERVICES</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143</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&lt;0.1%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SIHLE INSURANCE GROUP</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extLst>
                  <a:ext uri="{0D108BD9-81ED-4DB2-BD59-A6C34878D82A}">
                    <a16:rowId xmlns:a16="http://schemas.microsoft.com/office/drawing/2014/main" val="10010"/>
                  </a:ext>
                </a:extLst>
              </a:tr>
              <a:tr h="228600">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85</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STERLING SEACREST PARTNERS INC</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141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&lt;0.1%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DTL TRANSPORTATION LLC</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11"/>
                  </a:ext>
                </a:extLst>
              </a:tr>
              <a:tr h="228600">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86</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MADDOCK AND ASSOCIATES</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139</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&lt;0.1%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ERSG US HOLDINGS INC</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extLst>
                  <a:ext uri="{0D108BD9-81ED-4DB2-BD59-A6C34878D82A}">
                    <a16:rowId xmlns:a16="http://schemas.microsoft.com/office/drawing/2014/main" val="10012"/>
                  </a:ext>
                </a:extLst>
              </a:tr>
              <a:tr h="228600">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87</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CBIZ</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136</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&lt;0.1%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ADVANTOR SYSTEMS CORPORATION</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13"/>
                  </a:ext>
                </a:extLst>
              </a:tr>
              <a:tr h="228600">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88</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ALLEBACH FINANCIAL SOLUTIONS LLC</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126</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&lt;0.1%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FULL-TILT CONSTRUCTORS</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extLst>
                  <a:ext uri="{0D108BD9-81ED-4DB2-BD59-A6C34878D82A}">
                    <a16:rowId xmlns:a16="http://schemas.microsoft.com/office/drawing/2014/main" val="10014"/>
                  </a:ext>
                </a:extLst>
              </a:tr>
              <a:tr h="228600">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89</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PRIMEGROUP INSURANCE SERVICES</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121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&lt;0.1%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OPENWATER SEAFOOD</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15"/>
                  </a:ext>
                </a:extLst>
              </a:tr>
              <a:tr h="228600">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90</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BRIAN W MURRAY</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117</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&lt;0.1%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VUAANT INC</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extLst>
                  <a:ext uri="{0D108BD9-81ED-4DB2-BD59-A6C34878D82A}">
                    <a16:rowId xmlns:a16="http://schemas.microsoft.com/office/drawing/2014/main" val="10016"/>
                  </a:ext>
                </a:extLst>
              </a:tr>
              <a:tr h="228600">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91</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6350"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FINTRUST INSURANCE &amp; BENEFITS INC</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6350"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6350"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116</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6350"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&lt;0.1%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6350"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ANUVIA PLANT NUTRIENTS CORPORATION</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6350"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17"/>
                  </a:ext>
                </a:extLst>
              </a:tr>
            </a:tbl>
          </a:graphicData>
        </a:graphic>
      </p:graphicFrame>
      <p:sp>
        <p:nvSpPr>
          <p:cNvPr id="8" name="Object 8">
            <a:extLst>
              <a:ext uri="{FF2B5EF4-FFF2-40B4-BE49-F238E27FC236}">
                <a16:creationId xmlns:a16="http://schemas.microsoft.com/office/drawing/2014/main" id="{2F495AF0-F1A9-7CBA-2A81-A972857D75C3}"/>
              </a:ext>
            </a:extLst>
          </p:cNvPr>
          <p:cNvSpPr/>
          <p:nvPr/>
        </p:nvSpPr>
        <p:spPr>
          <a:xfrm>
            <a:off x="7058962" y="73152"/>
            <a:ext cx="2005028" cy="476131"/>
          </a:xfrm>
          <a:prstGeom prst="rect">
            <a:avLst/>
          </a:pr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9" name="Object 9">
            <a:extLst>
              <a:ext uri="{FF2B5EF4-FFF2-40B4-BE49-F238E27FC236}">
                <a16:creationId xmlns:a16="http://schemas.microsoft.com/office/drawing/2014/main" id="{32E7F8B1-9EF3-E1C9-0CE2-13883F3EA422}"/>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7211324" y="168378"/>
            <a:ext cx="1700304" cy="28567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dr_bar"/>
          <p:cNvSpPr>
            <a:spLocks noGrp="1"/>
          </p:cNvSpPr>
          <p:nvPr/>
        </p:nvSpPr>
        <p:spPr>
          <a:xfrm>
            <a:off x="0" y="0"/>
            <a:ext cx="9144000" cy="640080"/>
          </a:xfrm>
          <a:prstGeom prst="rect">
            <a:avLst/>
          </a:prstGeom>
          <a:solidFill>
            <a:srgbClr val="1A3A5C"/>
          </a:solidFill>
          <a:ln>
            <a:noFill/>
          </a:ln>
        </p:spPr>
        <p:txBody>
          <a:bodyPr/>
          <a:lstStyle/>
          <a:p>
            <a:endParaRPr/>
          </a:p>
        </p:txBody>
      </p:sp>
      <p:sp>
        <p:nvSpPr>
          <p:cNvPr id="3" name="hdr_title"/>
          <p:cNvSpPr/>
          <p:nvPr/>
        </p:nvSpPr>
        <p:spPr>
          <a:xfrm>
            <a:off x="274320" y="73152"/>
            <a:ext cx="8595360" cy="493776"/>
          </a:xfrm>
          <a:prstGeom prst="rect">
            <a:avLst/>
          </a:prstGeom>
          <a:noFill/>
          <a:ln>
            <a:noFill/>
          </a:ln>
        </p:spPr>
        <p:txBody>
          <a:bodyPr wrap="square" rtlCol="0" anchor="ctr"/>
          <a:lstStyle/>
          <a:p>
            <a:pPr marL="0" indent="0" algn="l">
              <a:buNone/>
            </a:pPr>
            <a:r>
              <a:rPr lang="en-US" sz="1500" b="1" dirty="0">
                <a:solidFill>
                  <a:srgbClr val="FFFFFF"/>
                </a:solidFill>
                <a:latin typeface="Calibri" pitchFamily="34" charset="0"/>
              </a:rPr>
              <a:t>Remaining Brokers - Summary (Part 6 of 7)</a:t>
            </a:r>
          </a:p>
        </p:txBody>
      </p:sp>
      <p:sp>
        <p:nvSpPr>
          <p:cNvPr id="4" name="ftr_bar"/>
          <p:cNvSpPr>
            <a:spLocks noGrp="1"/>
          </p:cNvSpPr>
          <p:nvPr/>
        </p:nvSpPr>
        <p:spPr>
          <a:xfrm>
            <a:off x="0" y="4846320"/>
            <a:ext cx="9144000" cy="297180"/>
          </a:xfrm>
          <a:prstGeom prst="rect">
            <a:avLst/>
          </a:prstGeom>
          <a:solidFill>
            <a:srgbClr val="1A3A5C"/>
          </a:solidFill>
          <a:ln>
            <a:noFill/>
          </a:ln>
        </p:spPr>
        <p:txBody>
          <a:bodyPr/>
          <a:lstStyle/>
          <a:p>
            <a:endParaRPr/>
          </a:p>
        </p:txBody>
      </p:sp>
      <p:sp>
        <p:nvSpPr>
          <p:cNvPr id="5" name="ftr_txt"/>
          <p:cNvSpPr/>
          <p:nvPr/>
        </p:nvSpPr>
        <p:spPr>
          <a:xfrm>
            <a:off x="365760" y="4864608"/>
            <a:ext cx="6400800" cy="256032"/>
          </a:xfrm>
          <a:prstGeom prst="rect">
            <a:avLst/>
          </a:prstGeom>
          <a:noFill/>
          <a:ln>
            <a:noFill/>
          </a:ln>
        </p:spPr>
        <p:txBody>
          <a:bodyPr wrap="square" rtlCol="0" anchor="ctr"/>
          <a:lstStyle/>
          <a:p>
            <a:pPr marL="0" indent="0" algn="l">
              <a:buNone/>
            </a:pPr>
            <a:r>
              <a:rPr lang="en-US" sz="900" dirty="0">
                <a:solidFill>
                  <a:srgbClr val="E2E8F0"/>
                </a:solidFill>
                <a:latin typeface="Calibri" pitchFamily="34" charset="0"/>
              </a:rPr>
              <a:t>5500 Filings Data | All Groups With Identified Benefits Broker</a:t>
            </a:r>
          </a:p>
        </p:txBody>
      </p:sp>
      <p:sp>
        <p:nvSpPr>
          <p:cNvPr id="6" name="ftr_conf"/>
          <p:cNvSpPr/>
          <p:nvPr/>
        </p:nvSpPr>
        <p:spPr>
          <a:xfrm>
            <a:off x="6858000" y="4864608"/>
            <a:ext cx="2011680" cy="256032"/>
          </a:xfrm>
          <a:prstGeom prst="rect">
            <a:avLst/>
          </a:prstGeom>
          <a:noFill/>
          <a:ln>
            <a:noFill/>
          </a:ln>
        </p:spPr>
        <p:txBody>
          <a:bodyPr wrap="square" rtlCol="0" anchor="ctr"/>
          <a:lstStyle/>
          <a:p>
            <a:pPr marL="0" indent="0" algn="r">
              <a:buNone/>
            </a:pPr>
            <a:r>
              <a:rPr lang="en-US" sz="900" dirty="0">
                <a:solidFill>
                  <a:srgbClr val="E2E8F0"/>
                </a:solidFill>
                <a:latin typeface="Calibri" pitchFamily="34" charset="0"/>
              </a:rPr>
              <a:t>Confidential - Internal Use Only</a:t>
            </a:r>
          </a:p>
        </p:txBody>
      </p:sp>
      <p:graphicFrame>
        <p:nvGraphicFramePr>
          <p:cNvPr id="7" name="Table 6"/>
          <p:cNvGraphicFramePr>
            <a:graphicFrameLocks noGrp="1"/>
          </p:cNvGraphicFramePr>
          <p:nvPr/>
        </p:nvGraphicFramePr>
        <p:xfrm>
          <a:off x="182880" y="749808"/>
          <a:ext cx="8503920" cy="4114800"/>
        </p:xfrm>
        <a:graphic>
          <a:graphicData uri="http://schemas.openxmlformats.org/drawingml/2006/table">
            <a:tbl>
              <a:tblPr/>
              <a:tblGrid>
                <a:gridCol w="27432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gridCol w="685800">
                  <a:extLst>
                    <a:ext uri="{9D8B030D-6E8A-4147-A177-3AD203B41FA5}">
                      <a16:colId xmlns:a16="http://schemas.microsoft.com/office/drawing/2014/main" val="20004"/>
                    </a:ext>
                  </a:extLst>
                </a:gridCol>
                <a:gridCol w="4160520">
                  <a:extLst>
                    <a:ext uri="{9D8B030D-6E8A-4147-A177-3AD203B41FA5}">
                      <a16:colId xmlns:a16="http://schemas.microsoft.com/office/drawing/2014/main" val="20005"/>
                    </a:ext>
                  </a:extLst>
                </a:gridCol>
              </a:tblGrid>
              <a:tr h="228600">
                <a:tc>
                  <a:txBody>
                    <a:bodyPr/>
                    <a:lstStyle/>
                    <a:p>
                      <a:pPr marL="25400" marR="25400" algn="ctr">
                        <a:lnSpc>
                          <a:spcPct val="100000"/>
                        </a:lnSpc>
                        <a:spcBef>
                          <a:spcPts val="200"/>
                        </a:spcBef>
                        <a:spcAft>
                          <a:spcPts val="200"/>
                        </a:spcAft>
                        <a:buNone/>
                      </a:pPr>
                      <a:r>
                        <a:rPr sz="800" b="1" i="0" u="none" strike="noStrike" cap="none">
                          <a:solidFill>
                            <a:srgbClr val="FFFFFF">
                              <a:alpha val="100000"/>
                            </a:srgbClr>
                          </a:solidFill>
                          <a:latin typeface="Calibri"/>
                          <a:cs typeface="Calibri"/>
                          <a:sym typeface="Calibri"/>
                        </a:rPr>
                        <a:t>#</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alpha val="100000"/>
                        </a:srgbClr>
                      </a:solidFill>
                      <a:prstDash val="solid"/>
                    </a:lnT>
                    <a:lnB w="6350" cap="flat" cmpd="sng" algn="ctr">
                      <a:solidFill>
                        <a:srgbClr val="E2E8F0">
                          <a:alpha val="100000"/>
                        </a:srgbClr>
                      </a:solidFill>
                      <a:prstDash val="solid"/>
                    </a:lnB>
                    <a:solidFill>
                      <a:srgbClr val="1A3A5C">
                        <a:alpha val="100000"/>
                      </a:srgbClr>
                    </a:solidFill>
                  </a:tcPr>
                </a:tc>
                <a:tc>
                  <a:txBody>
                    <a:bodyPr/>
                    <a:lstStyle/>
                    <a:p>
                      <a:pPr marL="25400" marR="25400" algn="l">
                        <a:lnSpc>
                          <a:spcPct val="100000"/>
                        </a:lnSpc>
                        <a:spcBef>
                          <a:spcPts val="200"/>
                        </a:spcBef>
                        <a:spcAft>
                          <a:spcPts val="200"/>
                        </a:spcAft>
                        <a:buNone/>
                      </a:pPr>
                      <a:r>
                        <a:rPr sz="800" b="1" i="0" u="none" strike="noStrike" cap="none">
                          <a:solidFill>
                            <a:srgbClr val="FFFFFF">
                              <a:alpha val="100000"/>
                            </a:srgbClr>
                          </a:solidFill>
                          <a:latin typeface="Calibri"/>
                          <a:cs typeface="Calibri"/>
                          <a:sym typeface="Calibri"/>
                        </a:rPr>
                        <a:t>Broker / Consultant</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alpha val="100000"/>
                        </a:srgbClr>
                      </a:solidFill>
                      <a:prstDash val="solid"/>
                    </a:lnT>
                    <a:lnB w="6350" cap="flat" cmpd="sng" algn="ctr">
                      <a:solidFill>
                        <a:srgbClr val="E2E8F0">
                          <a:alpha val="100000"/>
                        </a:srgbClr>
                      </a:solidFill>
                      <a:prstDash val="solid"/>
                    </a:lnB>
                    <a:solidFill>
                      <a:srgbClr val="1A3A5C">
                        <a:alpha val="100000"/>
                      </a:srgbClr>
                    </a:solidFill>
                  </a:tcPr>
                </a:tc>
                <a:tc>
                  <a:txBody>
                    <a:bodyPr/>
                    <a:lstStyle/>
                    <a:p>
                      <a:pPr marL="25400" marR="25400" algn="ctr">
                        <a:lnSpc>
                          <a:spcPct val="100000"/>
                        </a:lnSpc>
                        <a:spcBef>
                          <a:spcPts val="200"/>
                        </a:spcBef>
                        <a:spcAft>
                          <a:spcPts val="200"/>
                        </a:spcAft>
                        <a:buNone/>
                      </a:pPr>
                      <a:r>
                        <a:rPr sz="800" b="1" i="0" u="none" strike="noStrike" cap="none">
                          <a:solidFill>
                            <a:srgbClr val="FFFFFF">
                              <a:alpha val="100000"/>
                            </a:srgbClr>
                          </a:solidFill>
                          <a:latin typeface="Calibri"/>
                          <a:cs typeface="Calibri"/>
                          <a:sym typeface="Calibri"/>
                        </a:rPr>
                        <a:t>Employers</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alpha val="100000"/>
                        </a:srgbClr>
                      </a:solidFill>
                      <a:prstDash val="solid"/>
                    </a:lnT>
                    <a:lnB w="6350" cap="flat" cmpd="sng" algn="ctr">
                      <a:solidFill>
                        <a:srgbClr val="E2E8F0">
                          <a:alpha val="100000"/>
                        </a:srgbClr>
                      </a:solidFill>
                      <a:prstDash val="solid"/>
                    </a:lnB>
                    <a:solidFill>
                      <a:srgbClr val="1A3A5C">
                        <a:alpha val="100000"/>
                      </a:srgbClr>
                    </a:solidFill>
                  </a:tcPr>
                </a:tc>
                <a:tc>
                  <a:txBody>
                    <a:bodyPr/>
                    <a:lstStyle/>
                    <a:p>
                      <a:pPr marL="25400" marR="25400" algn="ctr">
                        <a:lnSpc>
                          <a:spcPct val="100000"/>
                        </a:lnSpc>
                        <a:spcBef>
                          <a:spcPts val="200"/>
                        </a:spcBef>
                        <a:spcAft>
                          <a:spcPts val="200"/>
                        </a:spcAft>
                        <a:buNone/>
                      </a:pPr>
                      <a:r>
                        <a:rPr sz="800" b="1" i="0" u="none" strike="noStrike" cap="none">
                          <a:solidFill>
                            <a:srgbClr val="FFFFFF">
                              <a:alpha val="100000"/>
                            </a:srgbClr>
                          </a:solidFill>
                          <a:latin typeface="Calibri"/>
                          <a:cs typeface="Calibri"/>
                          <a:sym typeface="Calibri"/>
                        </a:rPr>
                        <a:t>Covered EEs</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alpha val="100000"/>
                        </a:srgbClr>
                      </a:solidFill>
                      <a:prstDash val="solid"/>
                    </a:lnT>
                    <a:lnB w="6350" cap="flat" cmpd="sng" algn="ctr">
                      <a:solidFill>
                        <a:srgbClr val="E2E8F0">
                          <a:alpha val="100000"/>
                        </a:srgbClr>
                      </a:solidFill>
                      <a:prstDash val="solid"/>
                    </a:lnB>
                    <a:solidFill>
                      <a:srgbClr val="1A3A5C">
                        <a:alpha val="100000"/>
                      </a:srgbClr>
                    </a:solidFill>
                  </a:tcPr>
                </a:tc>
                <a:tc>
                  <a:txBody>
                    <a:bodyPr/>
                    <a:lstStyle/>
                    <a:p>
                      <a:pPr marL="25400" marR="25400" algn="ctr">
                        <a:lnSpc>
                          <a:spcPct val="100000"/>
                        </a:lnSpc>
                        <a:spcBef>
                          <a:spcPts val="200"/>
                        </a:spcBef>
                        <a:spcAft>
                          <a:spcPts val="200"/>
                        </a:spcAft>
                        <a:buNone/>
                      </a:pPr>
                      <a:r>
                        <a:rPr sz="800" b="1" i="0" u="none" strike="noStrike" cap="none">
                          <a:solidFill>
                            <a:srgbClr val="FFFFFF">
                              <a:alpha val="100000"/>
                            </a:srgbClr>
                          </a:solidFill>
                          <a:latin typeface="Calibri"/>
                          <a:cs typeface="Calibri"/>
                          <a:sym typeface="Calibri"/>
                        </a:rPr>
                        <a:t>Market Share</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alpha val="100000"/>
                        </a:srgbClr>
                      </a:solidFill>
                      <a:prstDash val="solid"/>
                    </a:lnT>
                    <a:lnB w="6350" cap="flat" cmpd="sng" algn="ctr">
                      <a:solidFill>
                        <a:srgbClr val="E2E8F0">
                          <a:alpha val="100000"/>
                        </a:srgbClr>
                      </a:solidFill>
                      <a:prstDash val="solid"/>
                    </a:lnB>
                    <a:solidFill>
                      <a:srgbClr val="1A3A5C">
                        <a:alpha val="100000"/>
                      </a:srgbClr>
                    </a:solidFill>
                  </a:tcPr>
                </a:tc>
                <a:tc>
                  <a:txBody>
                    <a:bodyPr/>
                    <a:lstStyle/>
                    <a:p>
                      <a:pPr marL="25400" marR="25400" algn="l">
                        <a:lnSpc>
                          <a:spcPct val="100000"/>
                        </a:lnSpc>
                        <a:spcBef>
                          <a:spcPts val="200"/>
                        </a:spcBef>
                        <a:spcAft>
                          <a:spcPts val="200"/>
                        </a:spcAft>
                        <a:buNone/>
                      </a:pPr>
                      <a:r>
                        <a:rPr sz="800" b="1" i="0" u="none" strike="noStrike" cap="none">
                          <a:solidFill>
                            <a:srgbClr val="FFFFFF">
                              <a:alpha val="100000"/>
                            </a:srgbClr>
                          </a:solidFill>
                          <a:latin typeface="Calibri"/>
                          <a:cs typeface="Calibri"/>
                          <a:sym typeface="Calibri"/>
                        </a:rPr>
                        <a:t>Employer List</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6350" cap="flat" cmpd="sng" algn="ctr">
                      <a:solidFill>
                        <a:srgbClr val="E2E8F0">
                          <a:alpha val="100000"/>
                        </a:srgbClr>
                      </a:solidFill>
                      <a:prstDash val="solid"/>
                    </a:lnT>
                    <a:lnB w="6350" cap="flat" cmpd="sng" algn="ctr">
                      <a:solidFill>
                        <a:srgbClr val="E2E8F0">
                          <a:alpha val="100000"/>
                        </a:srgbClr>
                      </a:solidFill>
                      <a:prstDash val="solid"/>
                    </a:lnB>
                    <a:solidFill>
                      <a:srgbClr val="1A3A5C">
                        <a:alpha val="100000"/>
                      </a:srgbClr>
                    </a:solidFill>
                  </a:tcPr>
                </a:tc>
                <a:extLst>
                  <a:ext uri="{0D108BD9-81ED-4DB2-BD59-A6C34878D82A}">
                    <a16:rowId xmlns:a16="http://schemas.microsoft.com/office/drawing/2014/main" val="10000"/>
                  </a:ext>
                </a:extLst>
              </a:tr>
              <a:tr h="228600">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92</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solidFill>
                      <a:prstDash val="solid"/>
                      <a:round/>
                      <a:headEnd type="none" w="med" len="med"/>
                      <a:tailEnd type="none" w="med" len="me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PATRIOT</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solidFill>
                      <a:prstDash val="solid"/>
                      <a:round/>
                      <a:headEnd type="none" w="med" len="med"/>
                      <a:tailEnd type="none" w="med" len="me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solidFill>
                      <a:prstDash val="solid"/>
                      <a:round/>
                      <a:headEnd type="none" w="med" len="med"/>
                      <a:tailEnd type="none" w="med" len="me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116</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solidFill>
                      <a:prstDash val="solid"/>
                      <a:round/>
                      <a:headEnd type="none" w="med" len="med"/>
                      <a:tailEnd type="none" w="med" len="me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&lt;0.1%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solidFill>
                      <a:prstDash val="solid"/>
                      <a:round/>
                      <a:headEnd type="none" w="med" len="med"/>
                      <a:tailEnd type="none" w="med" len="me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ENVIRONMENTAL PRODUCTS GROUP INC</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6350" cap="flat" cmpd="sng" algn="ctr">
                      <a:solidFill>
                        <a:srgbClr val="E2E8F0"/>
                      </a:solidFill>
                      <a:prstDash val="solid"/>
                      <a:round/>
                      <a:headEnd type="none" w="med" len="med"/>
                      <a:tailEnd type="none" w="med" len="med"/>
                    </a:lnT>
                    <a:lnB w="3175"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93</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SIHLE INSURANCE GROUP</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110</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&lt;0.1%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SEITO SUSHI SAND LAKE</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extLst>
                  <a:ext uri="{0D108BD9-81ED-4DB2-BD59-A6C34878D82A}">
                    <a16:rowId xmlns:a16="http://schemas.microsoft.com/office/drawing/2014/main" val="10002"/>
                  </a:ext>
                </a:extLst>
              </a:tr>
              <a:tr h="228600">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94</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FINANCIAL CENTERS OF AMERICA INC</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109</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&lt;0.1%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AIR FLOW DESIGNS INC</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95</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RANDALL INSURANCE GROUP INC</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109</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&lt;0.1%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RANDALL CONSTRUCTION HOLDINGS INC</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extLst>
                  <a:ext uri="{0D108BD9-81ED-4DB2-BD59-A6C34878D82A}">
                    <a16:rowId xmlns:a16="http://schemas.microsoft.com/office/drawing/2014/main" val="10004"/>
                  </a:ext>
                </a:extLst>
              </a:tr>
              <a:tr h="228600">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96</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HR BENEFITS SERVICES</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108</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&lt;0.1%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INCHARGE EDUCATION FOUNDATION INC</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97</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360 WEALTH &amp; BENEFITS</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93</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&lt;0.1%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AMA CONSULTING</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extLst>
                  <a:ext uri="{0D108BD9-81ED-4DB2-BD59-A6C34878D82A}">
                    <a16:rowId xmlns:a16="http://schemas.microsoft.com/office/drawing/2014/main" val="10006"/>
                  </a:ext>
                </a:extLst>
              </a:tr>
              <a:tr h="228600">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98</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LAURETTA INSURANCE AGENCY</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88</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&lt;0.1%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YANG ENTERPRISES INC</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07"/>
                  </a:ext>
                </a:extLst>
              </a:tr>
              <a:tr h="228600">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99</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RONALD W KERBIS</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85</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&lt;0.1%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RAIL EUROPE AMERICAS INC</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extLst>
                  <a:ext uri="{0D108BD9-81ED-4DB2-BD59-A6C34878D82A}">
                    <a16:rowId xmlns:a16="http://schemas.microsoft.com/office/drawing/2014/main" val="10008"/>
                  </a:ext>
                </a:extLst>
              </a:tr>
              <a:tr h="228600">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100</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JACK RICHARDS INSURANCE AGENCY</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84</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&lt;0.1%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PRIME CONSTRUCTION GROUP INC</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09"/>
                  </a:ext>
                </a:extLst>
              </a:tr>
              <a:tr h="228600">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101</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JJ DOORHY &amp; ASSOCIATES</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76</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&lt;0.1%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ADVANCED MECHANICAL SERVICES OF CENTRAL FLORIDA LLC</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extLst>
                  <a:ext uri="{0D108BD9-81ED-4DB2-BD59-A6C34878D82A}">
                    <a16:rowId xmlns:a16="http://schemas.microsoft.com/office/drawing/2014/main" val="10010"/>
                  </a:ext>
                </a:extLst>
              </a:tr>
              <a:tr h="228600">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102</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OMS INSURANCE GROUP</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69</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&lt;0.1%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PREMIER CORPORATE PROFESSIONAL SERVICES</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11"/>
                  </a:ext>
                </a:extLst>
              </a:tr>
              <a:tr h="228600">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103</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DECISELY INSURANCE SERVICES</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66</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&lt;0.1%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KARDIA TRANSPORT LLC</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extLst>
                  <a:ext uri="{0D108BD9-81ED-4DB2-BD59-A6C34878D82A}">
                    <a16:rowId xmlns:a16="http://schemas.microsoft.com/office/drawing/2014/main" val="10012"/>
                  </a:ext>
                </a:extLst>
              </a:tr>
              <a:tr h="228600">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104</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INNOVATIVE BENEFITS SOLUTIONS</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63</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&lt;0.1%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PROACTIVE TECHNOLOGIES LLC</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13"/>
                  </a:ext>
                </a:extLst>
              </a:tr>
              <a:tr h="228600">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105</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PRESIDIO INSURANCE</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59</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&lt;0.1%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TAVARES VILLAGE RETIREMENT COMMUNITY LLC</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extLst>
                  <a:ext uri="{0D108BD9-81ED-4DB2-BD59-A6C34878D82A}">
                    <a16:rowId xmlns:a16="http://schemas.microsoft.com/office/drawing/2014/main" val="10014"/>
                  </a:ext>
                </a:extLst>
              </a:tr>
              <a:tr h="228600">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106</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HEFFERNAN INSURANCE BROKERS</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57</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&lt;0.1%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ORLANDO CENTRAL FILL INC</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15"/>
                  </a:ext>
                </a:extLst>
              </a:tr>
              <a:tr h="228600">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107</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LOSSING STRICKLAND INSURANCE GROUP</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41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&lt;0.1%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TRANSITION HOUSE</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extLst>
                  <a:ext uri="{0D108BD9-81ED-4DB2-BD59-A6C34878D82A}">
                    <a16:rowId xmlns:a16="http://schemas.microsoft.com/office/drawing/2014/main" val="10016"/>
                  </a:ext>
                </a:extLst>
              </a:tr>
              <a:tr h="228600">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108</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6350"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TRES HEALTH HBA</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6350"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6350"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33</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6350"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&lt;0.1%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6350"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MPR DEVELOPMENT LLC</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6350"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17"/>
                  </a:ext>
                </a:extLst>
              </a:tr>
            </a:tbl>
          </a:graphicData>
        </a:graphic>
      </p:graphicFrame>
      <p:sp>
        <p:nvSpPr>
          <p:cNvPr id="8" name="Object 8">
            <a:extLst>
              <a:ext uri="{FF2B5EF4-FFF2-40B4-BE49-F238E27FC236}">
                <a16:creationId xmlns:a16="http://schemas.microsoft.com/office/drawing/2014/main" id="{3B3708D7-2A36-91D2-61A4-9C0B6E36670D}"/>
              </a:ext>
            </a:extLst>
          </p:cNvPr>
          <p:cNvSpPr/>
          <p:nvPr/>
        </p:nvSpPr>
        <p:spPr>
          <a:xfrm>
            <a:off x="7058962" y="73152"/>
            <a:ext cx="2005028" cy="476131"/>
          </a:xfrm>
          <a:prstGeom prst="rect">
            <a:avLst/>
          </a:pr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9" name="Object 9">
            <a:extLst>
              <a:ext uri="{FF2B5EF4-FFF2-40B4-BE49-F238E27FC236}">
                <a16:creationId xmlns:a16="http://schemas.microsoft.com/office/drawing/2014/main" id="{D6DBFEC9-066D-9EA2-A630-BBCAF784D5D2}"/>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7211324" y="168378"/>
            <a:ext cx="1700304" cy="28567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dr_bar"/>
          <p:cNvSpPr>
            <a:spLocks noGrp="1"/>
          </p:cNvSpPr>
          <p:nvPr/>
        </p:nvSpPr>
        <p:spPr>
          <a:xfrm>
            <a:off x="0" y="0"/>
            <a:ext cx="9144000" cy="640080"/>
          </a:xfrm>
          <a:prstGeom prst="rect">
            <a:avLst/>
          </a:prstGeom>
          <a:solidFill>
            <a:srgbClr val="1A3A5C"/>
          </a:solidFill>
          <a:ln>
            <a:noFill/>
          </a:ln>
        </p:spPr>
        <p:txBody>
          <a:bodyPr/>
          <a:lstStyle/>
          <a:p>
            <a:endParaRPr/>
          </a:p>
        </p:txBody>
      </p:sp>
      <p:sp>
        <p:nvSpPr>
          <p:cNvPr id="3" name="hdr_title"/>
          <p:cNvSpPr/>
          <p:nvPr/>
        </p:nvSpPr>
        <p:spPr>
          <a:xfrm>
            <a:off x="274320" y="73152"/>
            <a:ext cx="8595360" cy="493776"/>
          </a:xfrm>
          <a:prstGeom prst="rect">
            <a:avLst/>
          </a:prstGeom>
          <a:noFill/>
          <a:ln>
            <a:noFill/>
          </a:ln>
        </p:spPr>
        <p:txBody>
          <a:bodyPr wrap="square" rtlCol="0" anchor="ctr"/>
          <a:lstStyle/>
          <a:p>
            <a:pPr marL="0" indent="0" algn="l">
              <a:buNone/>
            </a:pPr>
            <a:r>
              <a:rPr lang="en-US" sz="1500" b="1" dirty="0">
                <a:solidFill>
                  <a:srgbClr val="FFFFFF"/>
                </a:solidFill>
                <a:latin typeface="Calibri" pitchFamily="34" charset="0"/>
              </a:rPr>
              <a:t>Remaining Brokers - Summary (Part 7 of 7)</a:t>
            </a:r>
          </a:p>
        </p:txBody>
      </p:sp>
      <p:sp>
        <p:nvSpPr>
          <p:cNvPr id="4" name="ftr_bar"/>
          <p:cNvSpPr>
            <a:spLocks noGrp="1"/>
          </p:cNvSpPr>
          <p:nvPr/>
        </p:nvSpPr>
        <p:spPr>
          <a:xfrm>
            <a:off x="0" y="4846320"/>
            <a:ext cx="9144000" cy="297180"/>
          </a:xfrm>
          <a:prstGeom prst="rect">
            <a:avLst/>
          </a:prstGeom>
          <a:solidFill>
            <a:srgbClr val="1A3A5C"/>
          </a:solidFill>
          <a:ln>
            <a:noFill/>
          </a:ln>
        </p:spPr>
        <p:txBody>
          <a:bodyPr/>
          <a:lstStyle/>
          <a:p>
            <a:endParaRPr/>
          </a:p>
        </p:txBody>
      </p:sp>
      <p:sp>
        <p:nvSpPr>
          <p:cNvPr id="5" name="ftr_txt"/>
          <p:cNvSpPr/>
          <p:nvPr/>
        </p:nvSpPr>
        <p:spPr>
          <a:xfrm>
            <a:off x="365760" y="4864608"/>
            <a:ext cx="6400800" cy="256032"/>
          </a:xfrm>
          <a:prstGeom prst="rect">
            <a:avLst/>
          </a:prstGeom>
          <a:noFill/>
          <a:ln>
            <a:noFill/>
          </a:ln>
        </p:spPr>
        <p:txBody>
          <a:bodyPr wrap="square" rtlCol="0" anchor="ctr"/>
          <a:lstStyle/>
          <a:p>
            <a:pPr marL="0" indent="0" algn="l">
              <a:buNone/>
            </a:pPr>
            <a:r>
              <a:rPr lang="en-US" sz="900" dirty="0">
                <a:solidFill>
                  <a:srgbClr val="E2E8F0"/>
                </a:solidFill>
                <a:latin typeface="Calibri" pitchFamily="34" charset="0"/>
              </a:rPr>
              <a:t>5500 Filings Data | All Groups With Identified Benefits Broker</a:t>
            </a:r>
          </a:p>
        </p:txBody>
      </p:sp>
      <p:sp>
        <p:nvSpPr>
          <p:cNvPr id="6" name="ftr_conf"/>
          <p:cNvSpPr/>
          <p:nvPr/>
        </p:nvSpPr>
        <p:spPr>
          <a:xfrm>
            <a:off x="6858000" y="4864608"/>
            <a:ext cx="2011680" cy="256032"/>
          </a:xfrm>
          <a:prstGeom prst="rect">
            <a:avLst/>
          </a:prstGeom>
          <a:noFill/>
          <a:ln>
            <a:noFill/>
          </a:ln>
        </p:spPr>
        <p:txBody>
          <a:bodyPr wrap="square" rtlCol="0" anchor="ctr"/>
          <a:lstStyle/>
          <a:p>
            <a:pPr marL="0" indent="0" algn="r">
              <a:buNone/>
            </a:pPr>
            <a:r>
              <a:rPr lang="en-US" sz="900" dirty="0">
                <a:solidFill>
                  <a:srgbClr val="E2E8F0"/>
                </a:solidFill>
                <a:latin typeface="Calibri" pitchFamily="34" charset="0"/>
              </a:rPr>
              <a:t>Confidential - Internal Use Only</a:t>
            </a:r>
          </a:p>
        </p:txBody>
      </p:sp>
      <p:graphicFrame>
        <p:nvGraphicFramePr>
          <p:cNvPr id="7" name="Table 6"/>
          <p:cNvGraphicFramePr>
            <a:graphicFrameLocks noGrp="1"/>
          </p:cNvGraphicFramePr>
          <p:nvPr/>
        </p:nvGraphicFramePr>
        <p:xfrm>
          <a:off x="182880" y="749808"/>
          <a:ext cx="8503920" cy="914400"/>
        </p:xfrm>
        <a:graphic>
          <a:graphicData uri="http://schemas.openxmlformats.org/drawingml/2006/table">
            <a:tbl>
              <a:tblPr/>
              <a:tblGrid>
                <a:gridCol w="27432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gridCol w="685800">
                  <a:extLst>
                    <a:ext uri="{9D8B030D-6E8A-4147-A177-3AD203B41FA5}">
                      <a16:colId xmlns:a16="http://schemas.microsoft.com/office/drawing/2014/main" val="20004"/>
                    </a:ext>
                  </a:extLst>
                </a:gridCol>
                <a:gridCol w="4160520">
                  <a:extLst>
                    <a:ext uri="{9D8B030D-6E8A-4147-A177-3AD203B41FA5}">
                      <a16:colId xmlns:a16="http://schemas.microsoft.com/office/drawing/2014/main" val="20005"/>
                    </a:ext>
                  </a:extLst>
                </a:gridCol>
              </a:tblGrid>
              <a:tr h="228600">
                <a:tc>
                  <a:txBody>
                    <a:bodyPr/>
                    <a:lstStyle/>
                    <a:p>
                      <a:pPr marL="25400" marR="25400" algn="ctr">
                        <a:lnSpc>
                          <a:spcPct val="100000"/>
                        </a:lnSpc>
                        <a:spcBef>
                          <a:spcPts val="200"/>
                        </a:spcBef>
                        <a:spcAft>
                          <a:spcPts val="200"/>
                        </a:spcAft>
                        <a:buNone/>
                      </a:pPr>
                      <a:r>
                        <a:rPr sz="800" b="1" i="0" u="none" strike="noStrike" cap="none">
                          <a:solidFill>
                            <a:srgbClr val="FFFFFF">
                              <a:alpha val="100000"/>
                            </a:srgbClr>
                          </a:solidFill>
                          <a:latin typeface="Calibri"/>
                          <a:cs typeface="Calibri"/>
                          <a:sym typeface="Calibri"/>
                        </a:rPr>
                        <a:t>#</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alpha val="100000"/>
                        </a:srgbClr>
                      </a:solidFill>
                      <a:prstDash val="solid"/>
                    </a:lnT>
                    <a:lnB w="6350" cap="flat" cmpd="sng" algn="ctr">
                      <a:solidFill>
                        <a:srgbClr val="E2E8F0">
                          <a:alpha val="100000"/>
                        </a:srgbClr>
                      </a:solidFill>
                      <a:prstDash val="solid"/>
                    </a:lnB>
                    <a:solidFill>
                      <a:srgbClr val="1A3A5C">
                        <a:alpha val="100000"/>
                      </a:srgbClr>
                    </a:solidFill>
                  </a:tcPr>
                </a:tc>
                <a:tc>
                  <a:txBody>
                    <a:bodyPr/>
                    <a:lstStyle/>
                    <a:p>
                      <a:pPr marL="25400" marR="25400" algn="l">
                        <a:lnSpc>
                          <a:spcPct val="100000"/>
                        </a:lnSpc>
                        <a:spcBef>
                          <a:spcPts val="200"/>
                        </a:spcBef>
                        <a:spcAft>
                          <a:spcPts val="200"/>
                        </a:spcAft>
                        <a:buNone/>
                      </a:pPr>
                      <a:r>
                        <a:rPr sz="800" b="1" i="0" u="none" strike="noStrike" cap="none">
                          <a:solidFill>
                            <a:srgbClr val="FFFFFF">
                              <a:alpha val="100000"/>
                            </a:srgbClr>
                          </a:solidFill>
                          <a:latin typeface="Calibri"/>
                          <a:cs typeface="Calibri"/>
                          <a:sym typeface="Calibri"/>
                        </a:rPr>
                        <a:t>Broker / Consultant</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alpha val="100000"/>
                        </a:srgbClr>
                      </a:solidFill>
                      <a:prstDash val="solid"/>
                    </a:lnT>
                    <a:lnB w="6350" cap="flat" cmpd="sng" algn="ctr">
                      <a:solidFill>
                        <a:srgbClr val="E2E8F0">
                          <a:alpha val="100000"/>
                        </a:srgbClr>
                      </a:solidFill>
                      <a:prstDash val="solid"/>
                    </a:lnB>
                    <a:solidFill>
                      <a:srgbClr val="1A3A5C">
                        <a:alpha val="100000"/>
                      </a:srgbClr>
                    </a:solidFill>
                  </a:tcPr>
                </a:tc>
                <a:tc>
                  <a:txBody>
                    <a:bodyPr/>
                    <a:lstStyle/>
                    <a:p>
                      <a:pPr marL="25400" marR="25400" algn="ctr">
                        <a:lnSpc>
                          <a:spcPct val="100000"/>
                        </a:lnSpc>
                        <a:spcBef>
                          <a:spcPts val="200"/>
                        </a:spcBef>
                        <a:spcAft>
                          <a:spcPts val="200"/>
                        </a:spcAft>
                        <a:buNone/>
                      </a:pPr>
                      <a:r>
                        <a:rPr sz="800" b="1" i="0" u="none" strike="noStrike" cap="none">
                          <a:solidFill>
                            <a:srgbClr val="FFFFFF">
                              <a:alpha val="100000"/>
                            </a:srgbClr>
                          </a:solidFill>
                          <a:latin typeface="Calibri"/>
                          <a:cs typeface="Calibri"/>
                          <a:sym typeface="Calibri"/>
                        </a:rPr>
                        <a:t>Employers</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alpha val="100000"/>
                        </a:srgbClr>
                      </a:solidFill>
                      <a:prstDash val="solid"/>
                    </a:lnT>
                    <a:lnB w="6350" cap="flat" cmpd="sng" algn="ctr">
                      <a:solidFill>
                        <a:srgbClr val="E2E8F0">
                          <a:alpha val="100000"/>
                        </a:srgbClr>
                      </a:solidFill>
                      <a:prstDash val="solid"/>
                    </a:lnB>
                    <a:solidFill>
                      <a:srgbClr val="1A3A5C">
                        <a:alpha val="100000"/>
                      </a:srgbClr>
                    </a:solidFill>
                  </a:tcPr>
                </a:tc>
                <a:tc>
                  <a:txBody>
                    <a:bodyPr/>
                    <a:lstStyle/>
                    <a:p>
                      <a:pPr marL="25400" marR="25400" algn="ctr">
                        <a:lnSpc>
                          <a:spcPct val="100000"/>
                        </a:lnSpc>
                        <a:spcBef>
                          <a:spcPts val="200"/>
                        </a:spcBef>
                        <a:spcAft>
                          <a:spcPts val="200"/>
                        </a:spcAft>
                        <a:buNone/>
                      </a:pPr>
                      <a:r>
                        <a:rPr sz="800" b="1" i="0" u="none" strike="noStrike" cap="none">
                          <a:solidFill>
                            <a:srgbClr val="FFFFFF">
                              <a:alpha val="100000"/>
                            </a:srgbClr>
                          </a:solidFill>
                          <a:latin typeface="Calibri"/>
                          <a:cs typeface="Calibri"/>
                          <a:sym typeface="Calibri"/>
                        </a:rPr>
                        <a:t>Covered EEs</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alpha val="100000"/>
                        </a:srgbClr>
                      </a:solidFill>
                      <a:prstDash val="solid"/>
                    </a:lnT>
                    <a:lnB w="6350" cap="flat" cmpd="sng" algn="ctr">
                      <a:solidFill>
                        <a:srgbClr val="E2E8F0">
                          <a:alpha val="100000"/>
                        </a:srgbClr>
                      </a:solidFill>
                      <a:prstDash val="solid"/>
                    </a:lnB>
                    <a:solidFill>
                      <a:srgbClr val="1A3A5C">
                        <a:alpha val="100000"/>
                      </a:srgbClr>
                    </a:solidFill>
                  </a:tcPr>
                </a:tc>
                <a:tc>
                  <a:txBody>
                    <a:bodyPr/>
                    <a:lstStyle/>
                    <a:p>
                      <a:pPr marL="25400" marR="25400" algn="ctr">
                        <a:lnSpc>
                          <a:spcPct val="100000"/>
                        </a:lnSpc>
                        <a:spcBef>
                          <a:spcPts val="200"/>
                        </a:spcBef>
                        <a:spcAft>
                          <a:spcPts val="200"/>
                        </a:spcAft>
                        <a:buNone/>
                      </a:pPr>
                      <a:r>
                        <a:rPr sz="800" b="1" i="0" u="none" strike="noStrike" cap="none">
                          <a:solidFill>
                            <a:srgbClr val="FFFFFF">
                              <a:alpha val="100000"/>
                            </a:srgbClr>
                          </a:solidFill>
                          <a:latin typeface="Calibri"/>
                          <a:cs typeface="Calibri"/>
                          <a:sym typeface="Calibri"/>
                        </a:rPr>
                        <a:t>Market Share</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alpha val="100000"/>
                        </a:srgbClr>
                      </a:solidFill>
                      <a:prstDash val="solid"/>
                    </a:lnT>
                    <a:lnB w="6350" cap="flat" cmpd="sng" algn="ctr">
                      <a:solidFill>
                        <a:srgbClr val="E2E8F0">
                          <a:alpha val="100000"/>
                        </a:srgbClr>
                      </a:solidFill>
                      <a:prstDash val="solid"/>
                    </a:lnB>
                    <a:solidFill>
                      <a:srgbClr val="1A3A5C">
                        <a:alpha val="100000"/>
                      </a:srgbClr>
                    </a:solidFill>
                  </a:tcPr>
                </a:tc>
                <a:tc>
                  <a:txBody>
                    <a:bodyPr/>
                    <a:lstStyle/>
                    <a:p>
                      <a:pPr marL="25400" marR="25400" algn="l">
                        <a:lnSpc>
                          <a:spcPct val="100000"/>
                        </a:lnSpc>
                        <a:spcBef>
                          <a:spcPts val="200"/>
                        </a:spcBef>
                        <a:spcAft>
                          <a:spcPts val="200"/>
                        </a:spcAft>
                        <a:buNone/>
                      </a:pPr>
                      <a:r>
                        <a:rPr sz="800" b="1" i="0" u="none" strike="noStrike" cap="none">
                          <a:solidFill>
                            <a:srgbClr val="FFFFFF">
                              <a:alpha val="100000"/>
                            </a:srgbClr>
                          </a:solidFill>
                          <a:latin typeface="Calibri"/>
                          <a:cs typeface="Calibri"/>
                          <a:sym typeface="Calibri"/>
                        </a:rPr>
                        <a:t>Employer List</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6350" cap="flat" cmpd="sng" algn="ctr">
                      <a:solidFill>
                        <a:srgbClr val="E2E8F0">
                          <a:alpha val="100000"/>
                        </a:srgbClr>
                      </a:solidFill>
                      <a:prstDash val="solid"/>
                    </a:lnT>
                    <a:lnB w="6350" cap="flat" cmpd="sng" algn="ctr">
                      <a:solidFill>
                        <a:srgbClr val="E2E8F0">
                          <a:alpha val="100000"/>
                        </a:srgbClr>
                      </a:solidFill>
                      <a:prstDash val="solid"/>
                    </a:lnB>
                    <a:solidFill>
                      <a:srgbClr val="1A3A5C">
                        <a:alpha val="100000"/>
                      </a:srgbClr>
                    </a:solidFill>
                  </a:tcPr>
                </a:tc>
                <a:extLst>
                  <a:ext uri="{0D108BD9-81ED-4DB2-BD59-A6C34878D82A}">
                    <a16:rowId xmlns:a16="http://schemas.microsoft.com/office/drawing/2014/main" val="10000"/>
                  </a:ext>
                </a:extLst>
              </a:tr>
              <a:tr h="228600">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109</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solidFill>
                      <a:prstDash val="solid"/>
                      <a:round/>
                      <a:headEnd type="none" w="med" len="med"/>
                      <a:tailEnd type="none" w="med" len="me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BEACON BENEFITS CONSULTING</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solidFill>
                      <a:prstDash val="solid"/>
                      <a:round/>
                      <a:headEnd type="none" w="med" len="med"/>
                      <a:tailEnd type="none" w="med" len="me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solidFill>
                      <a:prstDash val="solid"/>
                      <a:round/>
                      <a:headEnd type="none" w="med" len="med"/>
                      <a:tailEnd type="none" w="med" len="me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29</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solidFill>
                      <a:prstDash val="solid"/>
                      <a:round/>
                      <a:headEnd type="none" w="med" len="med"/>
                      <a:tailEnd type="none" w="med" len="med"/>
                    </a:lnT>
                    <a:lnB w="3175"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&lt;0.1%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6350" cap="flat" cmpd="sng" algn="ctr">
                      <a:solidFill>
                        <a:srgbClr val="E2E8F0"/>
                      </a:solidFill>
                      <a:prstDash val="solid"/>
                      <a:round/>
                      <a:headEnd type="none" w="med" len="med"/>
                      <a:tailEnd type="none" w="med" len="med"/>
                    </a:lnT>
                    <a:lnB w="3175"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HADLEY &amp; LYDEN INC</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6350" cap="flat" cmpd="sng" algn="ctr">
                      <a:solidFill>
                        <a:srgbClr val="E2E8F0"/>
                      </a:solidFill>
                      <a:prstDash val="solid"/>
                      <a:round/>
                      <a:headEnd type="none" w="med" len="med"/>
                      <a:tailEnd type="none" w="med" len="med"/>
                    </a:lnT>
                    <a:lnB w="3175"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110</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GIS BENEFITS</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29</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&lt;0.1%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MILVETS SYSTEMS TECHNOLOGY INC</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3175" cap="flat" cmpd="sng" algn="ctr">
                      <a:solidFill>
                        <a:srgbClr val="E2E8F0">
                          <a:alpha val="100000"/>
                        </a:srgbClr>
                      </a:solidFill>
                      <a:prstDash val="solid"/>
                    </a:lnB>
                    <a:solidFill>
                      <a:srgbClr val="F0F4F8">
                        <a:alpha val="100000"/>
                      </a:srgbClr>
                    </a:solidFill>
                  </a:tcPr>
                </a:tc>
                <a:extLst>
                  <a:ext uri="{0D108BD9-81ED-4DB2-BD59-A6C34878D82A}">
                    <a16:rowId xmlns:a16="http://schemas.microsoft.com/office/drawing/2014/main" val="10002"/>
                  </a:ext>
                </a:extLst>
              </a:tr>
              <a:tr h="228600">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111</a:t>
                      </a:r>
                    </a:p>
                  </a:txBody>
                  <a:tcPr marL="0" marR="0" marT="25400" marB="25400" anchor="ctr">
                    <a:lnL w="6350"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6350"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NGMS OF CENTRAL FLORIDA</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6350"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6350"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4</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6350" cap="flat" cmpd="sng" algn="ctr">
                      <a:solidFill>
                        <a:srgbClr val="E2E8F0">
                          <a:alpha val="100000"/>
                        </a:srgbClr>
                      </a:solidFill>
                      <a:prstDash val="solid"/>
                    </a:lnB>
                    <a:solidFill>
                      <a:srgbClr val="FFFFFF">
                        <a:alpha val="0"/>
                      </a:srgbClr>
                    </a:solidFill>
                  </a:tcPr>
                </a:tc>
                <a:tc>
                  <a:txBody>
                    <a:bodyPr/>
                    <a:lstStyle/>
                    <a:p>
                      <a:pPr marL="25400" marR="25400" algn="ctr">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&lt;0.1%</a:t>
                      </a:r>
                    </a:p>
                  </a:txBody>
                  <a:tcPr marL="0" marR="0" marT="25400" marB="25400" anchor="ctr">
                    <a:lnL w="3175" cap="flat" cmpd="sng" algn="ctr">
                      <a:solidFill>
                        <a:srgbClr val="E2E8F0">
                          <a:alpha val="100000"/>
                        </a:srgbClr>
                      </a:solidFill>
                      <a:prstDash val="solid"/>
                    </a:lnL>
                    <a:lnR w="3175" cap="flat" cmpd="sng" algn="ctr">
                      <a:solidFill>
                        <a:srgbClr val="E2E8F0">
                          <a:alpha val="100000"/>
                        </a:srgbClr>
                      </a:solidFill>
                      <a:prstDash val="solid"/>
                    </a:lnR>
                    <a:lnT w="3175" cap="flat" cmpd="sng" algn="ctr">
                      <a:solidFill>
                        <a:srgbClr val="E2E8F0">
                          <a:alpha val="100000"/>
                        </a:srgbClr>
                      </a:solidFill>
                      <a:prstDash val="solid"/>
                    </a:lnT>
                    <a:lnB w="6350" cap="flat" cmpd="sng" algn="ctr">
                      <a:solidFill>
                        <a:srgbClr val="E2E8F0">
                          <a:alpha val="100000"/>
                        </a:srgbClr>
                      </a:solidFill>
                      <a:prstDash val="solid"/>
                    </a:lnB>
                    <a:solidFill>
                      <a:srgbClr val="FFFFFF">
                        <a:alpha val="0"/>
                      </a:srgbClr>
                    </a:solidFill>
                  </a:tcPr>
                </a:tc>
                <a:tc>
                  <a:txBody>
                    <a:bodyPr/>
                    <a:lstStyle/>
                    <a:p>
                      <a:pPr marL="25400" marR="25400" algn="l">
                        <a:lnSpc>
                          <a:spcPct val="100000"/>
                        </a:lnSpc>
                        <a:spcBef>
                          <a:spcPts val="200"/>
                        </a:spcBef>
                        <a:spcAft>
                          <a:spcPts val="200"/>
                        </a:spcAft>
                        <a:buNone/>
                      </a:pPr>
                      <a:r>
                        <a:rPr sz="700" b="0" i="0" u="none" strike="noStrike" cap="none">
                          <a:solidFill>
                            <a:srgbClr val="000000">
                              <a:alpha val="100000"/>
                            </a:srgbClr>
                          </a:solidFill>
                          <a:latin typeface="Calibri"/>
                          <a:cs typeface="Calibri"/>
                          <a:sym typeface="Calibri"/>
                        </a:rPr>
                        <a:t>MID-FLORIDA UROLOGICAL ASSOCIATES PA</a:t>
                      </a:r>
                    </a:p>
                  </a:txBody>
                  <a:tcPr marL="0" marR="0" marT="25400" marB="25400" anchor="ctr">
                    <a:lnL w="3175" cap="flat" cmpd="sng" algn="ctr">
                      <a:solidFill>
                        <a:srgbClr val="E2E8F0">
                          <a:alpha val="100000"/>
                        </a:srgbClr>
                      </a:solidFill>
                      <a:prstDash val="solid"/>
                    </a:lnL>
                    <a:lnR w="6350" cap="flat" cmpd="sng" algn="ctr">
                      <a:solidFill>
                        <a:srgbClr val="E2E8F0">
                          <a:alpha val="100000"/>
                        </a:srgbClr>
                      </a:solidFill>
                      <a:prstDash val="solid"/>
                    </a:lnR>
                    <a:lnT w="3175" cap="flat" cmpd="sng" algn="ctr">
                      <a:solidFill>
                        <a:srgbClr val="E2E8F0">
                          <a:alpha val="100000"/>
                        </a:srgbClr>
                      </a:solidFill>
                      <a:prstDash val="solid"/>
                    </a:lnT>
                    <a:lnB w="6350" cap="flat" cmpd="sng" algn="ctr">
                      <a:solidFill>
                        <a:srgbClr val="E2E8F0">
                          <a:alpha val="100000"/>
                        </a:srgbClr>
                      </a:solidFill>
                      <a:prstDash val="solid"/>
                    </a:lnB>
                    <a:solidFill>
                      <a:srgbClr val="FFFFFF">
                        <a:alpha val="0"/>
                      </a:srgbClr>
                    </a:solidFill>
                  </a:tcPr>
                </a:tc>
                <a:extLst>
                  <a:ext uri="{0D108BD9-81ED-4DB2-BD59-A6C34878D82A}">
                    <a16:rowId xmlns:a16="http://schemas.microsoft.com/office/drawing/2014/main" val="10003"/>
                  </a:ext>
                </a:extLst>
              </a:tr>
            </a:tbl>
          </a:graphicData>
        </a:graphic>
      </p:graphicFrame>
      <p:sp>
        <p:nvSpPr>
          <p:cNvPr id="8" name="Object 8">
            <a:extLst>
              <a:ext uri="{FF2B5EF4-FFF2-40B4-BE49-F238E27FC236}">
                <a16:creationId xmlns:a16="http://schemas.microsoft.com/office/drawing/2014/main" id="{4CE83567-A33F-42E1-BC4C-12A4872CB314}"/>
              </a:ext>
            </a:extLst>
          </p:cNvPr>
          <p:cNvSpPr/>
          <p:nvPr/>
        </p:nvSpPr>
        <p:spPr>
          <a:xfrm>
            <a:off x="7058962" y="73152"/>
            <a:ext cx="2005028" cy="476131"/>
          </a:xfrm>
          <a:prstGeom prst="rect">
            <a:avLst/>
          </a:pr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9" name="Object 9">
            <a:extLst>
              <a:ext uri="{FF2B5EF4-FFF2-40B4-BE49-F238E27FC236}">
                <a16:creationId xmlns:a16="http://schemas.microsoft.com/office/drawing/2014/main" id="{0EACDEF0-E49B-EAA1-D08C-C6B12BFAF14D}"/>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7211324" y="168378"/>
            <a:ext cx="1700304" cy="285679"/>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_AMO_UNIQUEIDENTIFIER" val="Empty"/>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3484</Words>
  <Application>Microsoft Office PowerPoint</Application>
  <PresentationFormat>On-screen Show (16:9)</PresentationFormat>
  <Paragraphs>1373</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Montserrat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Taylor Davis</dc:creator>
  <cp:keywords/>
  <dc:description/>
  <cp:lastModifiedBy>Taylor Davis</cp:lastModifiedBy>
  <cp:revision>4</cp:revision>
  <dcterms:created xsi:type="dcterms:W3CDTF">2017-02-13T16:18:36Z</dcterms:created>
  <dcterms:modified xsi:type="dcterms:W3CDTF">2026-05-13T23:04:41Z</dcterms:modified>
  <cp:category/>
</cp:coreProperties>
</file>