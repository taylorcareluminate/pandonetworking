
<file path=[Content_Types].xml><?xml version="1.0" encoding="utf-8"?>
<Types xmlns="http://schemas.openxmlformats.org/package/2006/content-types">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6.xml" ContentType="application/vnd.openxmlformats-officedocument.presentationml.tags+xml"/>
  <Override PartName="/ppt/comments/modernComment_7FE53189_F808901F.xml" ContentType="application/vnd.ms-powerpoint.comment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7FE53192_3C36F9F4.xml" ContentType="application/vnd.ms-powerpoint.comments+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3"/>
  </p:notesMasterIdLst>
  <p:sldIdLst>
    <p:sldId id="588" r:id="rId10"/>
    <p:sldId id="454" r:id="rId11"/>
    <p:sldId id="2145726874" r:id="rId12"/>
    <p:sldId id="2145726929" r:id="rId13"/>
    <p:sldId id="2145726869" r:id="rId14"/>
    <p:sldId id="466" r:id="rId15"/>
    <p:sldId id="2145726867" r:id="rId16"/>
    <p:sldId id="559" r:id="rId17"/>
    <p:sldId id="580" r:id="rId18"/>
    <p:sldId id="582" r:id="rId19"/>
    <p:sldId id="558" r:id="rId20"/>
    <p:sldId id="548" r:id="rId21"/>
    <p:sldId id="521" r:id="rId22"/>
    <p:sldId id="2145726913" r:id="rId23"/>
    <p:sldId id="2145726911" r:id="rId24"/>
    <p:sldId id="499" r:id="rId25"/>
    <p:sldId id="613" r:id="rId26"/>
    <p:sldId id="458" r:id="rId27"/>
    <p:sldId id="2145726859" r:id="rId28"/>
    <p:sldId id="2145726857" r:id="rId29"/>
    <p:sldId id="469" r:id="rId30"/>
    <p:sldId id="2145726856" r:id="rId31"/>
    <p:sldId id="614" r:id="rId32"/>
    <p:sldId id="459" r:id="rId33"/>
    <p:sldId id="2145726870" r:id="rId34"/>
    <p:sldId id="281" r:id="rId35"/>
    <p:sldId id="2145726866" r:id="rId36"/>
    <p:sldId id="583" r:id="rId37"/>
    <p:sldId id="525" r:id="rId38"/>
    <p:sldId id="2145726868" r:id="rId39"/>
    <p:sldId id="571" r:id="rId40"/>
    <p:sldId id="2145726864" r:id="rId41"/>
    <p:sldId id="585" r:id="rId42"/>
    <p:sldId id="536" r:id="rId43"/>
    <p:sldId id="256" r:id="rId44"/>
    <p:sldId id="574" r:id="rId45"/>
    <p:sldId id="572" r:id="rId46"/>
    <p:sldId id="575" r:id="rId47"/>
    <p:sldId id="498" r:id="rId48"/>
    <p:sldId id="325" r:id="rId49"/>
    <p:sldId id="326" r:id="rId50"/>
    <p:sldId id="491" r:id="rId51"/>
    <p:sldId id="472" r:id="rId52"/>
  </p:sldIdLst>
  <p:sldSz cx="12192000" cy="6858000"/>
  <p:notesSz cx="7315200" cy="9601200"/>
  <p:custDataLst>
    <p:tags r:id="rId5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39F"/>
    <a:srgbClr val="244F9A"/>
    <a:srgbClr val="30589B"/>
    <a:srgbClr val="2F5597"/>
    <a:srgbClr val="6087CE"/>
    <a:srgbClr val="4468A5"/>
    <a:srgbClr val="F2F2F2"/>
    <a:srgbClr val="C55A11"/>
    <a:srgbClr val="F424AA"/>
    <a:srgbClr val="E234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97904F-924F-4FAC-A026-4BB22034B86E}" v="3" dt="2026-03-06T22:20:29.606"/>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14" autoAdjust="0"/>
    <p:restoredTop sz="88609" autoAdjust="0"/>
  </p:normalViewPr>
  <p:slideViewPr>
    <p:cSldViewPr snapToGrid="0">
      <p:cViewPr varScale="1">
        <p:scale>
          <a:sx n="98" d="100"/>
          <a:sy n="98" d="100"/>
        </p:scale>
        <p:origin x="162" y="8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8/10/relationships/authors" Target="authors.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ableStyles" Target="tableStyle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viewProps" Target="view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1.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svg"/><Relationship Id="rId1" Type="http://schemas.openxmlformats.org/officeDocument/2006/relationships/image" Target="../media/image41.svg"/><Relationship Id="rId5" Type="http://schemas.openxmlformats.org/officeDocument/2006/relationships/image" Target="../media/image45.svg"/><Relationship Id="rId4" Type="http://schemas.openxmlformats.org/officeDocument/2006/relationships/image" Target="../media/image4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svg"/><Relationship Id="rId1" Type="http://schemas.openxmlformats.org/officeDocument/2006/relationships/image" Target="../media/image41.svg"/><Relationship Id="rId5" Type="http://schemas.openxmlformats.org/officeDocument/2006/relationships/image" Target="../media/image45.svg"/><Relationship Id="rId4" Type="http://schemas.openxmlformats.org/officeDocument/2006/relationships/image" Target="../media/image44.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5/13/2026</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7</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10</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E945107D-4628-D235-6066-8599CEE9787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4691" name="Notes Placeholder 2">
            <a:extLst>
              <a:ext uri="{FF2B5EF4-FFF2-40B4-BE49-F238E27FC236}">
                <a16:creationId xmlns:a16="http://schemas.microsoft.com/office/drawing/2014/main" id="{B03D0642-BA93-ED1F-6F70-44AE88C20FE1}"/>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
        <p:nvSpPr>
          <p:cNvPr id="114692" name="Slide Number Placeholder 3">
            <a:extLst>
              <a:ext uri="{FF2B5EF4-FFF2-40B4-BE49-F238E27FC236}">
                <a16:creationId xmlns:a16="http://schemas.microsoft.com/office/drawing/2014/main" id="{48ABE3F4-2649-7B40-95FA-F3A10E6101DE}"/>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4025B96-9ED9-48DD-A30E-5B1DC145D260}" type="slidenum">
              <a:rPr lang="en-US" altLang="en-US">
                <a:solidFill>
                  <a:srgbClr val="000000"/>
                </a:solidFill>
              </a:rPr>
              <a:pPr/>
              <a:t>14</a:t>
            </a:fld>
            <a:endParaRPr lang="en-US" altLang="en-US">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a:extLst>
              <a:ext uri="{FF2B5EF4-FFF2-40B4-BE49-F238E27FC236}">
                <a16:creationId xmlns:a16="http://schemas.microsoft.com/office/drawing/2014/main" id="{A50FE8A8-97ED-FDC7-C0B5-F7617F9E5102}"/>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0595" name="Notes Placeholder 2">
            <a:extLst>
              <a:ext uri="{FF2B5EF4-FFF2-40B4-BE49-F238E27FC236}">
                <a16:creationId xmlns:a16="http://schemas.microsoft.com/office/drawing/2014/main" id="{98B20BE8-EF72-1FD1-E0BA-F3222396D979}"/>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
        <p:nvSpPr>
          <p:cNvPr id="110596" name="Slide Number Placeholder 3">
            <a:extLst>
              <a:ext uri="{FF2B5EF4-FFF2-40B4-BE49-F238E27FC236}">
                <a16:creationId xmlns:a16="http://schemas.microsoft.com/office/drawing/2014/main" id="{03712E2D-0BD3-85CB-AF50-09AFEEF0D341}"/>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6F27017-4F09-4675-82C0-AAC95484694C}" type="slidenum">
              <a:rPr lang="en-US" altLang="en-US" sz="1200">
                <a:solidFill>
                  <a:srgbClr val="000000"/>
                </a:solidFill>
                <a:latin typeface="Aptos" panose="020B0004020202020204" pitchFamily="34" charset="0"/>
              </a:rPr>
              <a:pPr algn="r" eaLnBrk="1" hangingPunct="1"/>
              <a:t>24</a:t>
            </a:fld>
            <a:endParaRPr lang="en-US" altLang="en-US" sz="1200">
              <a:solidFill>
                <a:srgbClr val="000000"/>
              </a:solidFill>
              <a:latin typeface="Aptos" panose="020B00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E97793FA-FB1F-6E11-725C-63C747CEFA41}"/>
              </a:ext>
            </a:extLst>
          </p:cNvPr>
          <p:cNvSpPr>
            <a:spLocks noGrp="1" noRot="1" noChangeAspect="1" noChangeArrowheads="1"/>
          </p:cNvSpPr>
          <p:nvPr>
            <p:ph type="sldImg"/>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2643" name="Notes Placeholder 2">
            <a:extLst>
              <a:ext uri="{FF2B5EF4-FFF2-40B4-BE49-F238E27FC236}">
                <a16:creationId xmlns:a16="http://schemas.microsoft.com/office/drawing/2014/main" id="{6A6F21D1-E85A-DA78-A39D-E1F6649EB0DB}"/>
              </a:ext>
            </a:extLst>
          </p:cNvPr>
          <p:cNvSpPr>
            <a:spLocks noGrp="1" noChangeArrowheads="1"/>
          </p:cNvSpPr>
          <p:nvPr>
            <p:ph type="body" idx="1"/>
          </p:nvPr>
        </p:nvSpPr>
        <p:spPr bwMode="auto">
          <a:xfrm>
            <a:off x="-2147483648" y="-2147483648"/>
            <a:ext cx="0" cy="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dirty="0"/>
          </a:p>
        </p:txBody>
      </p:sp>
      <p:sp>
        <p:nvSpPr>
          <p:cNvPr id="112644" name="Slide Number Placeholder 3">
            <a:extLst>
              <a:ext uri="{FF2B5EF4-FFF2-40B4-BE49-F238E27FC236}">
                <a16:creationId xmlns:a16="http://schemas.microsoft.com/office/drawing/2014/main" id="{A73E266B-7A84-C243-1D0C-6C16C29DFB42}"/>
              </a:ext>
            </a:extLst>
          </p:cNvPr>
          <p:cNvSpPr>
            <a:spLocks noGrp="1" noChangeArrowheads="1"/>
          </p:cNvSpPr>
          <p:nvPr>
            <p:ph type="sldNum" sz="quarter" idx="4294967295"/>
          </p:nvPr>
        </p:nvSpPr>
        <p:spPr bwMode="auto">
          <a:xfrm>
            <a:off x="0" y="0"/>
            <a:ext cx="0" cy="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AFF9F3-C8AB-436D-99D0-D375E19F3267}" type="slidenum">
              <a:rPr lang="en-US" altLang="en-US">
                <a:solidFill>
                  <a:srgbClr val="000000"/>
                </a:solidFill>
                <a:latin typeface="Montserrat" panose="00000500000000000000" pitchFamily="2" charset="0"/>
              </a:rPr>
              <a:pPr eaLnBrk="1" hangingPunct="1"/>
              <a:t>25</a:t>
            </a:fld>
            <a:endParaRPr lang="en-US" altLang="en-US">
              <a:solidFill>
                <a:srgbClr val="000000"/>
              </a:solidFill>
              <a:latin typeface="Montserrat" panose="00000500000000000000" pitchFamily="2"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5/13/2026</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5/13/2026</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5/13/2026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5/13/2026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5/13/2026</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5/13/2026</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5/13/2026</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5/13/2026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5/13/2026</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5/13/2026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5/13/2026</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6E6E6"/>
          </a:solidFill>
          <a:ln/>
        </p:spPr>
      </p:sp>
      <p:sp>
        <p:nvSpPr>
          <p:cNvPr id="3" name="Shape 1"/>
          <p:cNvSpPr/>
          <p:nvPr/>
        </p:nvSpPr>
        <p:spPr>
          <a:xfrm>
            <a:off x="0" y="0"/>
            <a:ext cx="12192000" cy="6858000"/>
          </a:xfrm>
          <a:prstGeom prst="rect">
            <a:avLst/>
          </a:prstGeom>
          <a:solidFill>
            <a:srgbClr val="FFFFFF"/>
          </a:solidFill>
          <a:ln/>
        </p:spPr>
      </p:sp>
    </p:spTree>
    <p:extLst>
      <p:ext uri="{BB962C8B-B14F-4D97-AF65-F5344CB8AC3E}">
        <p14:creationId xmlns:p14="http://schemas.microsoft.com/office/powerpoint/2010/main" val="16558378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5/13/2026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5/13/2026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5/13/2026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5/13/2026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5/13/2026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5/13/2026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5/13/2026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5/13/2026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5/13/2026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5/13/2026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5/13/2026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5/13/2026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5/13/2026</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5/13/2026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5/13/2026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5/13/2026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5/13/2026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5/13/2026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5/13/2026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5/13/2026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5/13/2026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5/13/2026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5/13/2026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5/13/2026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5/13/2026</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5/13/2026</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5/13/2026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5/13/2026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5/13/2026</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5/13/2026</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5/13/2026</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5/13/2026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5/13/2026</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5/13/2026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5/13/2026</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5/13/2026</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tags" Target="../tags/tag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3.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ags" Target="../tags/tag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5.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6" Type="http://schemas.openxmlformats.org/officeDocument/2006/relationships/tags" Target="../tags/tag5.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theme" Target="../theme/theme6.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5/13/2026</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4"/>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812" r:id="rId12"/>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5/13/2026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5/13/2026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5/13/2026</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6.jp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33.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svg"/><Relationship Id="rId3" Type="http://schemas.openxmlformats.org/officeDocument/2006/relationships/image" Target="../media/image17.png"/><Relationship Id="rId7" Type="http://schemas.openxmlformats.org/officeDocument/2006/relationships/image" Target="../media/image21.svg"/><Relationship Id="rId12" Type="http://schemas.openxmlformats.org/officeDocument/2006/relationships/image" Target="../media/image26.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0.svg"/><Relationship Id="rId11" Type="http://schemas.openxmlformats.org/officeDocument/2006/relationships/image" Target="../media/image25.svg"/><Relationship Id="rId5" Type="http://schemas.openxmlformats.org/officeDocument/2006/relationships/image" Target="../media/image19.svg"/><Relationship Id="rId15" Type="http://schemas.openxmlformats.org/officeDocument/2006/relationships/image" Target="../media/image13.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svg"/><Relationship Id="rId14" Type="http://schemas.openxmlformats.org/officeDocument/2006/relationships/image" Target="../media/image28.svg"/></Relationships>
</file>

<file path=ppt/slides/_rels/slide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slideLayout" Target="../slideLayouts/slideLayout15.xml"/><Relationship Id="rId1" Type="http://schemas.openxmlformats.org/officeDocument/2006/relationships/tags" Target="../tags/tag6.xml"/><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2" Type="http://schemas.openxmlformats.org/officeDocument/2006/relationships/image" Target="../media/image38.svg"/><Relationship Id="rId1" Type="http://schemas.openxmlformats.org/officeDocument/2006/relationships/slideLayout" Target="../slideLayouts/slideLayout44.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9.pn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microsoft.com/office/2018/10/relationships/comments" Target="../comments/modernComment_7FE53189_F808901F.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8" Type="http://schemas.openxmlformats.org/officeDocument/2006/relationships/image" Target="../media/image46.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6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3.png"/><Relationship Id="rId1" Type="http://schemas.openxmlformats.org/officeDocument/2006/relationships/slideLayout" Target="../slideLayouts/slideLayout19.xml"/><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8.xml"/><Relationship Id="rId1" Type="http://schemas.openxmlformats.org/officeDocument/2006/relationships/slideLayout" Target="../slideLayouts/slideLayout29.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29.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52.svg"/><Relationship Id="rId4" Type="http://schemas.openxmlformats.org/officeDocument/2006/relationships/image" Target="../media/image51.jpeg"/></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53.png"/></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jpeg"/><Relationship Id="rId1" Type="http://schemas.openxmlformats.org/officeDocument/2006/relationships/slideLayout" Target="../slideLayouts/slideLayout2.xml"/><Relationship Id="rId6" Type="http://schemas.openxmlformats.org/officeDocument/2006/relationships/image" Target="../media/image57.jpeg"/><Relationship Id="rId5" Type="http://schemas.openxmlformats.org/officeDocument/2006/relationships/image" Target="../media/image56.jpeg"/><Relationship Id="rId4" Type="http://schemas.microsoft.com/office/2007/relationships/hdphoto" Target="../media/hdphoto1.wdp"/></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58.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8.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60.svg"/><Relationship Id="rId7" Type="http://schemas.openxmlformats.org/officeDocument/2006/relationships/image" Target="../media/image8.png"/><Relationship Id="rId2" Type="http://schemas.openxmlformats.org/officeDocument/2006/relationships/image" Target="../media/image59.jpeg"/><Relationship Id="rId1" Type="http://schemas.openxmlformats.org/officeDocument/2006/relationships/slideLayout" Target="../slideLayouts/slideLayout6.xml"/><Relationship Id="rId6" Type="http://schemas.openxmlformats.org/officeDocument/2006/relationships/image" Target="../media/image63.svg"/><Relationship Id="rId5" Type="http://schemas.openxmlformats.org/officeDocument/2006/relationships/image" Target="../media/image62.svg"/><Relationship Id="rId4" Type="http://schemas.openxmlformats.org/officeDocument/2006/relationships/image" Target="../media/image6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75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an Orlando Health DTE Health Plan</a:t>
            </a:r>
            <a:endParaRPr kumimoji="0" lang="en-US" sz="175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6"/>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D9CFD-1D5C-FF21-4A1E-7AB392E8DF2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39B371-73B9-408F-674E-7CD4D0AB597E}"/>
              </a:ext>
            </a:extLst>
          </p:cNvPr>
          <p:cNvSpPr/>
          <p:nvPr/>
        </p:nvSpPr>
        <p:spPr>
          <a:xfrm>
            <a:off x="1" y="0"/>
            <a:ext cx="4846964" cy="6870346"/>
          </a:xfrm>
          <a:prstGeom prst="rect">
            <a:avLst/>
          </a:prstGeom>
          <a:solidFill>
            <a:srgbClr val="11162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3" name="Footer Placeholder 2">
            <a:extLst>
              <a:ext uri="{FF2B5EF4-FFF2-40B4-BE49-F238E27FC236}">
                <a16:creationId xmlns:a16="http://schemas.microsoft.com/office/drawing/2014/main" id="{1229C9EE-93FE-78B8-4BCD-C09DECB33A6A}"/>
              </a:ext>
            </a:extLst>
          </p:cNvPr>
          <p:cNvSpPr>
            <a:spLocks noGrp="1"/>
          </p:cNvSpPr>
          <p:nvPr>
            <p:ph type="ftr" sz="quarter" idx="11"/>
          </p:nvPr>
        </p:nvSpPr>
        <p:spPr>
          <a:xfrm>
            <a:off x="7029520" y="6421464"/>
            <a:ext cx="4114800" cy="365125"/>
          </a:xfrm>
        </p:spPr>
        <p:txBody>
          <a:bodyPr/>
          <a:lstStyle/>
          <a:p>
            <a:r>
              <a:rPr lang="en-US"/>
              <a:t>Key Benefit Administrators</a:t>
            </a:r>
          </a:p>
        </p:txBody>
      </p:sp>
      <p:sp>
        <p:nvSpPr>
          <p:cNvPr id="4" name="Title 1">
            <a:extLst>
              <a:ext uri="{FF2B5EF4-FFF2-40B4-BE49-F238E27FC236}">
                <a16:creationId xmlns:a16="http://schemas.microsoft.com/office/drawing/2014/main" id="{22966400-D608-A464-A105-DE053AB4932B}"/>
              </a:ext>
            </a:extLst>
          </p:cNvPr>
          <p:cNvSpPr>
            <a:spLocks noGrp="1"/>
          </p:cNvSpPr>
          <p:nvPr>
            <p:ph type="title"/>
          </p:nvPr>
        </p:nvSpPr>
        <p:spPr>
          <a:xfrm>
            <a:off x="5652655" y="683306"/>
            <a:ext cx="5957965" cy="1325563"/>
          </a:xfrm>
        </p:spPr>
        <p:txBody>
          <a:bodyPr>
            <a:noAutofit/>
          </a:bodyPr>
          <a:lstStyle/>
          <a:p>
            <a:pPr>
              <a:lnSpc>
                <a:spcPct val="100000"/>
              </a:lnSpc>
              <a:spcBef>
                <a:spcPts val="1800"/>
              </a:spcBef>
              <a:spcAft>
                <a:spcPts val="600"/>
              </a:spcAft>
            </a:pPr>
            <a:r>
              <a:rPr lang="en-US" sz="2000">
                <a:solidFill>
                  <a:srgbClr val="000B2E"/>
                </a:solidFill>
              </a:rPr>
              <a:t>Our Founding and Heritage:</a:t>
            </a:r>
            <a:br>
              <a:rPr lang="en-US" sz="4000" b="1">
                <a:solidFill>
                  <a:srgbClr val="000B2E"/>
                </a:solidFill>
              </a:rPr>
            </a:br>
            <a:r>
              <a:rPr lang="en-US" sz="3600" b="0">
                <a:solidFill>
                  <a:srgbClr val="000B2E"/>
                </a:solidFill>
              </a:rPr>
              <a:t>46 Years of Striving for Honesty in Healthcare</a:t>
            </a:r>
            <a:endParaRPr lang="en-US" sz="1600" b="0">
              <a:solidFill>
                <a:schemeClr val="tx1">
                  <a:lumMod val="75000"/>
                  <a:lumOff val="25000"/>
                </a:schemeClr>
              </a:solidFill>
            </a:endParaRPr>
          </a:p>
        </p:txBody>
      </p:sp>
      <p:pic>
        <p:nvPicPr>
          <p:cNvPr id="5" name="Picture 2" descr="Larry Dust - Crunchbase Person Profile">
            <a:extLst>
              <a:ext uri="{FF2B5EF4-FFF2-40B4-BE49-F238E27FC236}">
                <a16:creationId xmlns:a16="http://schemas.microsoft.com/office/drawing/2014/main" id="{F7A901A5-A0C2-992D-8392-CF98ABD42E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442" y="1049081"/>
            <a:ext cx="2498081" cy="249808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 name="Picture 4" descr="Working at Key Benefit Administrators | Top Workplaces">
            <a:extLst>
              <a:ext uri="{FF2B5EF4-FFF2-40B4-BE49-F238E27FC236}">
                <a16:creationId xmlns:a16="http://schemas.microsoft.com/office/drawing/2014/main" id="{F140746C-3B1E-D8A0-5BED-E05A5C3DA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057" y="3913332"/>
            <a:ext cx="2990850" cy="16383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0">
            <a:extLst>
              <a:ext uri="{FF2B5EF4-FFF2-40B4-BE49-F238E27FC236}">
                <a16:creationId xmlns:a16="http://schemas.microsoft.com/office/drawing/2014/main" id="{0CBFE08E-E446-CB70-FF81-2CC0C8485DAB}"/>
              </a:ext>
            </a:extLst>
          </p:cNvPr>
          <p:cNvPicPr>
            <a:picLocks noChangeAspect="1"/>
          </p:cNvPicPr>
          <p:nvPr/>
        </p:nvPicPr>
        <p:blipFill>
          <a:blip r:embed="rId4"/>
          <a:stretch>
            <a:fillRect/>
          </a:stretch>
        </p:blipFill>
        <p:spPr>
          <a:xfrm>
            <a:off x="5747206" y="2298120"/>
            <a:ext cx="5863414" cy="3984231"/>
          </a:xfrm>
          <a:prstGeom prst="rect">
            <a:avLst/>
          </a:prstGeom>
        </p:spPr>
      </p:pic>
    </p:spTree>
    <p:extLst>
      <p:ext uri="{BB962C8B-B14F-4D97-AF65-F5344CB8AC3E}">
        <p14:creationId xmlns:p14="http://schemas.microsoft.com/office/powerpoint/2010/main" val="3982481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8164A0C1-BFEB-42FC-9B91-3B356AD1460F}"/>
              </a:ext>
            </a:extLst>
          </p:cNvPr>
          <p:cNvPicPr>
            <a:picLocks noChangeAspect="1"/>
          </p:cNvPicPr>
          <p:nvPr/>
        </p:nvPicPr>
        <p:blipFill>
          <a:blip r:embed="rId2"/>
          <a:stretch>
            <a:fillRect/>
          </a:stretch>
        </p:blipFill>
        <p:spPr>
          <a:xfrm>
            <a:off x="27221" y="557029"/>
            <a:ext cx="8696197" cy="5515786"/>
          </a:xfrm>
          <a:prstGeom prst="rect">
            <a:avLst/>
          </a:prstGeom>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82000"/>
                </a:prstClr>
              </a:solidFill>
              <a:effectLst/>
              <a:uLnTx/>
              <a:uFillTx/>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207056" y="3627456"/>
            <a:ext cx="2304822" cy="443143"/>
          </a:xfrm>
          <a:prstGeom prst="roundRect">
            <a:avLst>
              <a:gd name="adj" fmla="val 42849"/>
            </a:avLst>
          </a:prstGeom>
          <a:solidFill>
            <a:srgbClr val="3B82F6"/>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prstClr val="white"/>
                </a:solidFill>
                <a:latin typeface="Montserrat" panose="00000500000000000000" pitchFamily="2" charset="0"/>
                <a:cs typeface="Arial" panose="020B0604020202020204" pitchFamily="34" charset="0"/>
              </a:rPr>
              <a:t>(Developing)</a:t>
            </a:r>
            <a:endPar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2468734" y="4628564"/>
            <a:ext cx="1781467" cy="443143"/>
          </a:xfrm>
          <a:prstGeom prst="roundRect">
            <a:avLst>
              <a:gd name="adj" fmla="val 42849"/>
            </a:avLst>
          </a:prstGeom>
          <a:solidFill>
            <a:srgbClr val="93C5FD"/>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Dallas Fort Worth, TX</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prstClr val="white"/>
                </a:solidFill>
                <a:latin typeface="Montserrat" panose="00000500000000000000" pitchFamily="2" charset="0"/>
                <a:cs typeface="Arial" panose="020B0604020202020204" pitchFamily="34" charset="0"/>
              </a:rPr>
              <a:t>Launching Q3 2026</a:t>
            </a:r>
            <a:endPar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701745" y="5071707"/>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(Established)</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B82F6"/>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(Developing)</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478203" y="2930729"/>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prstClr val="white"/>
                </a:solidFill>
                <a:latin typeface="Montserrat" panose="00000500000000000000" pitchFamily="2" charset="0"/>
                <a:cs typeface="Arial" panose="020B0604020202020204" pitchFamily="34" charset="0"/>
              </a:rPr>
              <a:t>(Established)</a:t>
            </a:r>
            <a:endPar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3913172" y="2992891"/>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prstClr val="white"/>
                </a:solidFill>
                <a:latin typeface="Montserrat" panose="00000500000000000000" pitchFamily="2" charset="0"/>
                <a:cs typeface="Arial" panose="020B0604020202020204" pitchFamily="34" charset="0"/>
              </a:rPr>
              <a:t>(Established)</a:t>
            </a:r>
            <a:endPar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
        <p:nvSpPr>
          <p:cNvPr id="13" name="Rectangle: Rounded Corners 12">
            <a:extLst>
              <a:ext uri="{FF2B5EF4-FFF2-40B4-BE49-F238E27FC236}">
                <a16:creationId xmlns:a16="http://schemas.microsoft.com/office/drawing/2014/main" id="{1E4CD584-8CF7-DD3D-64A2-A93AEE54754C}"/>
              </a:ext>
            </a:extLst>
          </p:cNvPr>
          <p:cNvSpPr/>
          <p:nvPr/>
        </p:nvSpPr>
        <p:spPr>
          <a:xfrm>
            <a:off x="6962035" y="2256594"/>
            <a:ext cx="1751526" cy="443143"/>
          </a:xfrm>
          <a:prstGeom prst="roundRect">
            <a:avLst>
              <a:gd name="adj" fmla="val 42849"/>
            </a:avLst>
          </a:prstGeom>
          <a:solidFill>
            <a:srgbClr val="93C5FD"/>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Cleveland, OH</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prstClr val="white"/>
                </a:solidFill>
                <a:latin typeface="Montserrat" panose="00000500000000000000" pitchFamily="2" charset="0"/>
                <a:cs typeface="Arial" panose="020B0604020202020204" pitchFamily="34" charset="0"/>
              </a:rPr>
              <a:t>Launching Q2 2026</a:t>
            </a:r>
            <a:endPar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16" name="Rectangle: Rounded Corners 12">
            <a:extLst>
              <a:ext uri="{FF2B5EF4-FFF2-40B4-BE49-F238E27FC236}">
                <a16:creationId xmlns:a16="http://schemas.microsoft.com/office/drawing/2014/main" id="{8DCA77C1-11D7-E906-CB5B-80CE68D00928}"/>
              </a:ext>
            </a:extLst>
          </p:cNvPr>
          <p:cNvSpPr/>
          <p:nvPr/>
        </p:nvSpPr>
        <p:spPr>
          <a:xfrm>
            <a:off x="4959693" y="1448178"/>
            <a:ext cx="2272613" cy="443143"/>
          </a:xfrm>
          <a:prstGeom prst="roundRect">
            <a:avLst>
              <a:gd name="adj" fmla="val 42849"/>
            </a:avLst>
          </a:prstGeom>
          <a:solidFill>
            <a:srgbClr val="93C5FD"/>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Grand Rapids/Ann Arbor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dirty="0">
                <a:solidFill>
                  <a:prstClr val="white"/>
                </a:solidFill>
                <a:latin typeface="Montserrat" panose="00000500000000000000" pitchFamily="2" charset="0"/>
                <a:cs typeface="Arial" panose="020B0604020202020204" pitchFamily="34" charset="0"/>
              </a:rPr>
              <a:t>Launching Q4 2026</a:t>
            </a:r>
            <a:endPar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Tree>
    <p:extLst>
      <p:ext uri="{BB962C8B-B14F-4D97-AF65-F5344CB8AC3E}">
        <p14:creationId xmlns:p14="http://schemas.microsoft.com/office/powerpoint/2010/main" val="610224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a:stretch>
            <a:fillRect/>
          </a:stretch>
        </p:blipFill>
        <p:spPr>
          <a:xfrm>
            <a:off x="9646920" y="347472"/>
            <a:ext cx="1483603"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6</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Orlando Health</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15">
            <a:clrChange>
              <a:clrFrom>
                <a:srgbClr val="FFFFFF"/>
              </a:clrFrom>
              <a:clrTo>
                <a:srgbClr val="FFFFFF">
                  <a:alpha val="0"/>
                </a:srgbClr>
              </a:clrTo>
            </a:clrChange>
          </a:blip>
          <a:stretch>
            <a:fillRect/>
          </a:stretch>
        </p:blipFill>
        <p:spPr>
          <a:xfrm>
            <a:off x="10465482" y="642722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77755" y="1364008"/>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4,500+ Employers       1.3M</a:t>
            </a:r>
            <a:r>
              <a:rPr lang="en-US" sz="1600" spc="200" dirty="0">
                <a:latin typeface="Montserrat" panose="00000500000000000000" pitchFamily="2" charset="0"/>
                <a:cs typeface="+mj-cs"/>
                <a:sym typeface="Wingdings" panose="05000000000000000000" pitchFamily="2" charset="2"/>
              </a:rPr>
              <a:t>+ Employees       2.4M+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496047" y="1656395"/>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056511" y="166105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334326640"/>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buNone/>
                      </a:pPr>
                      <a:r>
                        <a:rPr lang="en-US" sz="1100" b="0" i="0" u="none" strike="noStrike">
                          <a:solidFill>
                            <a:srgbClr val="000000"/>
                          </a:solidFill>
                          <a:effectLst/>
                          <a:latin typeface="Aptos Narrow" panose="020B0004020202020204" pitchFamily="34" charset="0"/>
                        </a:rPr>
                        <a:t>2,541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1,054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643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63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a:solidFill>
                            <a:srgbClr val="000000"/>
                          </a:solidFill>
                          <a:effectLst/>
                          <a:latin typeface="Aptos Narrow" panose="020B0004020202020204" pitchFamily="34" charset="0"/>
                        </a:rPr>
                        <a:t>376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buNone/>
                      </a:pPr>
                      <a:r>
                        <a:rPr lang="en-US" sz="1100" b="0" i="0" u="none" strike="noStrike" dirty="0">
                          <a:solidFill>
                            <a:srgbClr val="000000"/>
                          </a:solidFill>
                          <a:effectLst/>
                          <a:latin typeface="Aptos Narrow" panose="020B0004020202020204" pitchFamily="34" charset="0"/>
                        </a:rPr>
                        <a:t>91</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190,600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158,100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192,900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44,100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752,000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546,000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buNone/>
                      </a:pPr>
                      <a:r>
                        <a:rPr lang="en-US" sz="1200" b="0" i="0" u="none" strike="noStrike">
                          <a:solidFill>
                            <a:srgbClr val="000000"/>
                          </a:solidFill>
                          <a:effectLst/>
                          <a:latin typeface="Aptos Narrow" panose="020B0004020202020204" pitchFamily="34" charset="0"/>
                        </a:rPr>
                        <a:t>343,100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284,600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347,200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79,400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a:solidFill>
                            <a:srgbClr val="000000"/>
                          </a:solidFill>
                          <a:effectLst/>
                          <a:latin typeface="Aptos Narrow" panose="020B0004020202020204" pitchFamily="34" charset="0"/>
                        </a:rPr>
                        <a:t>1,353,600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buNone/>
                      </a:pPr>
                      <a:r>
                        <a:rPr lang="en-US" sz="1200" b="0" i="0" u="none" strike="noStrike" dirty="0">
                          <a:solidFill>
                            <a:srgbClr val="000000"/>
                          </a:solidFill>
                          <a:effectLst/>
                          <a:latin typeface="Aptos Narrow" panose="020B0004020202020204" pitchFamily="34" charset="0"/>
                        </a:rPr>
                        <a:t>982,800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a:stretch>
            <a:fillRect/>
          </a:stretch>
        </p:blipFill>
        <p:spPr>
          <a:xfrm>
            <a:off x="0" y="2298012"/>
            <a:ext cx="4799584" cy="379984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Orlando Health service area in Brevard, Hillsborough, Indian River, Lake, Manatee, Orange, Osceola, Pinellas, Polk, Seminole, and Sumter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3,774K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2,253K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1,549K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938K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$33.84M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$6.16M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$201.55M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$37.68M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$413.29M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$77.37M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4294051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Orlando Health has 24% inpatient market share, and 12% outpatient market compared to hospitals/clinics in the Orlando Health service area (see slide 8). The DTE tiered structure will create immediate steerage, with additional steerage over time from patient bonus benefits and the patient convenience card (see slide 33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Orlando Health 23%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13.4%</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18.4%</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23.4%</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11,400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2,026.1K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4,050.0K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7,540.5K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12,052.3K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91.2K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136.8K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1,723.7K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3,925.2K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7,451.7K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12,009.1K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11,400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17,200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3,083.2K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6,075.0K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11,310.7K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18,184.2K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82.8K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136.8K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2,795.2K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5,977.8K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11,267.5K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18,210.6K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5,700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1,057.1K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2,025.0K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3,770.2K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6,026.2K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27.6K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45.6K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68.4K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Montserrat"/>
                          <a:sym typeface="Montserrat"/>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741.5K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1,872.6K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3,635.8K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strike="noStrike" cap="none">
                          <a:solidFill>
                            <a:srgbClr val="000000">
                              <a:alpha val="100000"/>
                            </a:srgbClr>
                          </a:solidFill>
                          <a:latin typeface="Montserrat"/>
                          <a:cs typeface="Montserrat"/>
                          <a:sym typeface="Montserrat"/>
                        </a:rPr>
                        <a:t>5,914.6K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a:stretch>
            <a:fillRect/>
          </a:stretch>
        </p:blipFill>
        <p:spPr>
          <a:xfrm>
            <a:off x="1179576" y="0"/>
            <a:ext cx="4572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a:stretch>
            <a:fillRect/>
          </a:stretch>
        </p:blipFill>
        <p:spPr>
          <a:xfrm>
            <a:off x="1508760" y="2834640"/>
            <a:ext cx="3154680" cy="1652695"/>
          </a:xfrm>
          <a:prstGeom prst="rect">
            <a:avLst/>
          </a:prstGeom>
        </p:spPr>
      </p:pic>
    </p:spTree>
    <p:extLst>
      <p:ext uri="{BB962C8B-B14F-4D97-AF65-F5344CB8AC3E}">
        <p14:creationId xmlns:p14="http://schemas.microsoft.com/office/powerpoint/2010/main" val="500461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E542DB07-D2DC-0A56-8F8F-4BED448FDB22}"/>
              </a:ext>
            </a:extLst>
          </p:cNvPr>
          <p:cNvSpPr txBox="1">
            <a:spLocks noChangeArrowheads="1"/>
          </p:cNvSpPr>
          <p:nvPr/>
        </p:nvSpPr>
        <p:spPr bwMode="auto">
          <a:xfrm>
            <a:off x="288925" y="261938"/>
            <a:ext cx="11534775"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dirty="0">
                <a:solidFill>
                  <a:srgbClr val="44546A"/>
                </a:solidFill>
                <a:cs typeface="Arial" panose="020B0604020202020204" pitchFamily="34" charset="0"/>
              </a:rPr>
              <a:t>The Key Incentive Plan </a:t>
            </a:r>
          </a:p>
          <a:p>
            <a:pPr algn="ctr" eaLnBrk="1" hangingPunct="1">
              <a:lnSpc>
                <a:spcPct val="90000"/>
              </a:lnSpc>
              <a:spcBef>
                <a:spcPts val="1000"/>
              </a:spcBef>
            </a:pPr>
            <a:endParaRPr lang="en-US" altLang="en-US" sz="3800" dirty="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FADE1019-68FD-3A1C-E52B-8DFA47A32742}"/>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FFB1E76E-23B6-4BB3-AB94-886503EF8F9B}" type="slidenum">
              <a:rPr lang="en-US" altLang="en-US" smtClean="0">
                <a:solidFill>
                  <a:srgbClr val="898989"/>
                </a:solidFill>
                <a:latin typeface="Montserrat" panose="00000500000000000000" pitchFamily="2" charset="0"/>
              </a:rPr>
              <a:pPr fontAlgn="base">
                <a:spcBef>
                  <a:spcPct val="0"/>
                </a:spcBef>
                <a:spcAft>
                  <a:spcPct val="0"/>
                </a:spcAft>
              </a:pPr>
              <a:t>14</a:t>
            </a:fld>
            <a:endParaRPr lang="en-US" altLang="en-US">
              <a:solidFill>
                <a:srgbClr val="898989"/>
              </a:solidFill>
              <a:latin typeface="Montserrat" panose="00000500000000000000" pitchFamily="2" charset="0"/>
            </a:endParaRPr>
          </a:p>
        </p:txBody>
      </p:sp>
      <p:pic>
        <p:nvPicPr>
          <p:cNvPr id="4" name="Picture 12">
            <a:extLst>
              <a:ext uri="{FF2B5EF4-FFF2-40B4-BE49-F238E27FC236}">
                <a16:creationId xmlns:a16="http://schemas.microsoft.com/office/drawing/2014/main" id="{DD3C9745-379F-EA01-5692-A06333CD9F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FFC4D94-EFD5-78D7-358F-F03284992CED}"/>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extBox 6">
            <a:extLst>
              <a:ext uri="{FF2B5EF4-FFF2-40B4-BE49-F238E27FC236}">
                <a16:creationId xmlns:a16="http://schemas.microsoft.com/office/drawing/2014/main" id="{E95F4BB9-6CDD-7F04-4DFC-483C445D9CA8}"/>
              </a:ext>
            </a:extLst>
          </p:cNvPr>
          <p:cNvSpPr txBox="1">
            <a:spLocks noChangeArrowheads="1"/>
          </p:cNvSpPr>
          <p:nvPr/>
        </p:nvSpPr>
        <p:spPr bwMode="auto">
          <a:xfrm>
            <a:off x="368300" y="915988"/>
            <a:ext cx="115347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600" b="1" u="sng" dirty="0">
                <a:solidFill>
                  <a:srgbClr val="C00000"/>
                </a:solidFill>
                <a:cs typeface="Arial" panose="020B0604020202020204" pitchFamily="34" charset="0"/>
              </a:rPr>
              <a:t>Affordability Without Compromise</a:t>
            </a:r>
          </a:p>
          <a:p>
            <a:r>
              <a:rPr lang="en-US" altLang="en-US" sz="2600" dirty="0">
                <a:solidFill>
                  <a:srgbClr val="000000"/>
                </a:solidFill>
                <a:cs typeface="Arial" panose="020B0604020202020204" pitchFamily="34" charset="0"/>
              </a:rPr>
              <a:t> </a:t>
            </a:r>
          </a:p>
        </p:txBody>
      </p:sp>
      <p:sp>
        <p:nvSpPr>
          <p:cNvPr id="7" name="TextBox 5">
            <a:extLst>
              <a:ext uri="{FF2B5EF4-FFF2-40B4-BE49-F238E27FC236}">
                <a16:creationId xmlns:a16="http://schemas.microsoft.com/office/drawing/2014/main" id="{8E087B30-4892-789D-376A-F35793EFF5BE}"/>
              </a:ext>
            </a:extLst>
          </p:cNvPr>
          <p:cNvSpPr txBox="1">
            <a:spLocks noChangeArrowheads="1"/>
          </p:cNvSpPr>
          <p:nvPr/>
        </p:nvSpPr>
        <p:spPr bwMode="auto">
          <a:xfrm>
            <a:off x="166688" y="1465263"/>
            <a:ext cx="118554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700" dirty="0">
                <a:solidFill>
                  <a:srgbClr val="000000"/>
                </a:solidFill>
                <a:cs typeface="Arial" panose="020B0604020202020204" pitchFamily="34" charset="0"/>
              </a:rPr>
              <a:t>The </a:t>
            </a:r>
            <a:r>
              <a:rPr lang="en-US" altLang="en-US" sz="1700" b="1" dirty="0">
                <a:solidFill>
                  <a:srgbClr val="44546A"/>
                </a:solidFill>
                <a:cs typeface="Arial" panose="020B0604020202020204" pitchFamily="34" charset="0"/>
              </a:rPr>
              <a:t>Key Incentive Plan </a:t>
            </a:r>
            <a:r>
              <a:rPr lang="en-US" altLang="en-US" sz="1700" dirty="0">
                <a:solidFill>
                  <a:srgbClr val="000000"/>
                </a:solidFill>
                <a:cs typeface="Arial" panose="020B0604020202020204" pitchFamily="34" charset="0"/>
              </a:rPr>
              <a:t>is a one-of-a-kind solution, empowering employers to take back control of their healthcare programs, that offers freedom of choice when choosing providers in your local community, while incenting members to choose high-quality, cost-effective care. </a:t>
            </a:r>
            <a:endParaRPr lang="en-US" altLang="en-US" sz="1700" dirty="0">
              <a:solidFill>
                <a:srgbClr val="000000"/>
              </a:solidFill>
            </a:endParaRPr>
          </a:p>
        </p:txBody>
      </p:sp>
      <p:sp>
        <p:nvSpPr>
          <p:cNvPr id="8" name="TextBox 15">
            <a:extLst>
              <a:ext uri="{FF2B5EF4-FFF2-40B4-BE49-F238E27FC236}">
                <a16:creationId xmlns:a16="http://schemas.microsoft.com/office/drawing/2014/main" id="{018542B8-ECF1-5CCF-E9B3-AA0B01113918}"/>
              </a:ext>
            </a:extLst>
          </p:cNvPr>
          <p:cNvSpPr txBox="1">
            <a:spLocks noChangeArrowheads="1"/>
          </p:cNvSpPr>
          <p:nvPr/>
        </p:nvSpPr>
        <p:spPr bwMode="auto">
          <a:xfrm>
            <a:off x="2525713" y="6657975"/>
            <a:ext cx="9929812"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900" i="1" dirty="0">
                <a:solidFill>
                  <a:srgbClr val="FFFFFF"/>
                </a:solidFill>
                <a:cs typeface="Arial" panose="020B0604020202020204" pitchFamily="34" charset="0"/>
              </a:rPr>
              <a:t>*Daily Inpatient Hospital Benefit, OP Surgery/Anesthesia, OP Radiology/X-Ray, OP Diagnostic Labs, Health Screening Benefit, Wellness Benefit, Critical Illness</a:t>
            </a:r>
          </a:p>
        </p:txBody>
      </p:sp>
      <p:sp>
        <p:nvSpPr>
          <p:cNvPr id="9" name="Freeform 9">
            <a:extLst>
              <a:ext uri="{FF2B5EF4-FFF2-40B4-BE49-F238E27FC236}">
                <a16:creationId xmlns:a16="http://schemas.microsoft.com/office/drawing/2014/main" id="{163AA3EC-B4EC-2EAD-02F5-FE74A5ECE5A3}"/>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pic>
        <p:nvPicPr>
          <p:cNvPr id="10" name="Picture 155">
            <a:extLst>
              <a:ext uri="{FF2B5EF4-FFF2-40B4-BE49-F238E27FC236}">
                <a16:creationId xmlns:a16="http://schemas.microsoft.com/office/drawing/2014/main" id="{6F12CF8A-8847-902E-833A-A7D12DB37A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537" y="2311400"/>
            <a:ext cx="12052300"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B9513E0E-7997-5087-8A07-209BA195F47F}"/>
              </a:ext>
            </a:extLst>
          </p:cNvPr>
          <p:cNvSpPr txBox="1"/>
          <p:nvPr/>
        </p:nvSpPr>
        <p:spPr>
          <a:xfrm>
            <a:off x="571062" y="2690336"/>
            <a:ext cx="3326860" cy="738664"/>
          </a:xfrm>
          <a:prstGeom prst="rect">
            <a:avLst/>
          </a:prstGeom>
          <a:solidFill>
            <a:schemeClr val="bg1"/>
          </a:solidFill>
        </p:spPr>
        <p:txBody>
          <a:bodyPr wrap="square" rtlCol="0">
            <a:spAutoFit/>
          </a:bodyPr>
          <a:lstStyle/>
          <a:p>
            <a:pPr algn="r"/>
            <a:r>
              <a:rPr lang="en-US" b="1" dirty="0">
                <a:solidFill>
                  <a:srgbClr val="00529F"/>
                </a:solidFill>
              </a:rPr>
              <a:t>Basic Medical Benefit</a:t>
            </a:r>
          </a:p>
          <a:p>
            <a:pPr algn="r"/>
            <a:r>
              <a:rPr lang="en-US" sz="1200" dirty="0"/>
              <a:t>Customized major medical plan with access to a broad network of providers</a:t>
            </a:r>
          </a:p>
        </p:txBody>
      </p:sp>
      <p:sp>
        <p:nvSpPr>
          <p:cNvPr id="12" name="TextBox 11">
            <a:extLst>
              <a:ext uri="{FF2B5EF4-FFF2-40B4-BE49-F238E27FC236}">
                <a16:creationId xmlns:a16="http://schemas.microsoft.com/office/drawing/2014/main" id="{B30CC588-ADF1-8271-E978-1C05B8F21774}"/>
              </a:ext>
            </a:extLst>
          </p:cNvPr>
          <p:cNvSpPr txBox="1"/>
          <p:nvPr/>
        </p:nvSpPr>
        <p:spPr>
          <a:xfrm>
            <a:off x="571062" y="3721139"/>
            <a:ext cx="3326860" cy="1107996"/>
          </a:xfrm>
          <a:prstGeom prst="rect">
            <a:avLst/>
          </a:prstGeom>
          <a:solidFill>
            <a:schemeClr val="bg1"/>
          </a:solidFill>
        </p:spPr>
        <p:txBody>
          <a:bodyPr wrap="square" rtlCol="0">
            <a:spAutoFit/>
          </a:bodyPr>
          <a:lstStyle/>
          <a:p>
            <a:pPr algn="r"/>
            <a:r>
              <a:rPr lang="en-US" b="1" dirty="0">
                <a:solidFill>
                  <a:srgbClr val="E86D01"/>
                </a:solidFill>
              </a:rPr>
              <a:t>Health Guardian Account</a:t>
            </a:r>
          </a:p>
          <a:p>
            <a:pPr algn="r"/>
            <a:r>
              <a:rPr lang="en-US" sz="1200" dirty="0"/>
              <a:t>You get the care you need. We do the work to track and administer your Preferred Plus Benefits, Out-of-Pocket Expenses, and Healthcare Convenience Card</a:t>
            </a:r>
          </a:p>
        </p:txBody>
      </p:sp>
      <p:sp>
        <p:nvSpPr>
          <p:cNvPr id="13" name="TextBox 12">
            <a:extLst>
              <a:ext uri="{FF2B5EF4-FFF2-40B4-BE49-F238E27FC236}">
                <a16:creationId xmlns:a16="http://schemas.microsoft.com/office/drawing/2014/main" id="{6330D609-9D4F-4462-7DFB-73AFB229B6DF}"/>
              </a:ext>
            </a:extLst>
          </p:cNvPr>
          <p:cNvSpPr txBox="1"/>
          <p:nvPr/>
        </p:nvSpPr>
        <p:spPr>
          <a:xfrm>
            <a:off x="166688" y="4926349"/>
            <a:ext cx="3818783" cy="1015663"/>
          </a:xfrm>
          <a:prstGeom prst="rect">
            <a:avLst/>
          </a:prstGeom>
          <a:solidFill>
            <a:schemeClr val="bg1"/>
          </a:solidFill>
        </p:spPr>
        <p:txBody>
          <a:bodyPr wrap="square" rtlCol="0">
            <a:spAutoFit/>
          </a:bodyPr>
          <a:lstStyle/>
          <a:p>
            <a:pPr algn="r"/>
            <a:r>
              <a:rPr lang="en-US" b="1" dirty="0">
                <a:solidFill>
                  <a:srgbClr val="F3B03C"/>
                </a:solidFill>
              </a:rPr>
              <a:t>Chronic Disease and Acute Illness Management</a:t>
            </a:r>
          </a:p>
          <a:p>
            <a:pPr algn="r"/>
            <a:r>
              <a:rPr lang="en-US" sz="1200" dirty="0"/>
              <a:t>Patented and proven program focusing on 28 chronic illnesses with a proven 11%-17% savings and a $14:$1 ROI</a:t>
            </a:r>
          </a:p>
        </p:txBody>
      </p:sp>
      <p:sp>
        <p:nvSpPr>
          <p:cNvPr id="14" name="TextBox 13">
            <a:extLst>
              <a:ext uri="{FF2B5EF4-FFF2-40B4-BE49-F238E27FC236}">
                <a16:creationId xmlns:a16="http://schemas.microsoft.com/office/drawing/2014/main" id="{D5A7278E-5F43-01FB-27CE-523F5D70FFF8}"/>
              </a:ext>
            </a:extLst>
          </p:cNvPr>
          <p:cNvSpPr txBox="1"/>
          <p:nvPr/>
        </p:nvSpPr>
        <p:spPr>
          <a:xfrm>
            <a:off x="8496840" y="2967335"/>
            <a:ext cx="3326860" cy="923330"/>
          </a:xfrm>
          <a:prstGeom prst="rect">
            <a:avLst/>
          </a:prstGeom>
          <a:solidFill>
            <a:schemeClr val="bg1"/>
          </a:solidFill>
        </p:spPr>
        <p:txBody>
          <a:bodyPr wrap="square" rtlCol="0">
            <a:spAutoFit/>
          </a:bodyPr>
          <a:lstStyle/>
          <a:p>
            <a:r>
              <a:rPr lang="en-US" b="1" dirty="0">
                <a:solidFill>
                  <a:srgbClr val="00529F"/>
                </a:solidFill>
              </a:rPr>
              <a:t>Preferred Plus Benefits*</a:t>
            </a:r>
          </a:p>
          <a:p>
            <a:r>
              <a:rPr lang="en-US" sz="1200" dirty="0"/>
              <a:t>Benefits payable at KIP preferred providers, offering real dollars to members who get the are they need, when they need it!*</a:t>
            </a:r>
          </a:p>
        </p:txBody>
      </p:sp>
      <p:sp>
        <p:nvSpPr>
          <p:cNvPr id="15" name="TextBox 14">
            <a:extLst>
              <a:ext uri="{FF2B5EF4-FFF2-40B4-BE49-F238E27FC236}">
                <a16:creationId xmlns:a16="http://schemas.microsoft.com/office/drawing/2014/main" id="{A3BA68FB-A0A4-0328-8E6A-0F114DC881F6}"/>
              </a:ext>
            </a:extLst>
          </p:cNvPr>
          <p:cNvSpPr txBox="1"/>
          <p:nvPr/>
        </p:nvSpPr>
        <p:spPr>
          <a:xfrm>
            <a:off x="8496840" y="4054772"/>
            <a:ext cx="3326860" cy="923330"/>
          </a:xfrm>
          <a:prstGeom prst="rect">
            <a:avLst/>
          </a:prstGeom>
          <a:solidFill>
            <a:schemeClr val="bg1"/>
          </a:solidFill>
        </p:spPr>
        <p:txBody>
          <a:bodyPr wrap="square" rtlCol="0">
            <a:spAutoFit/>
          </a:bodyPr>
          <a:lstStyle/>
          <a:p>
            <a:r>
              <a:rPr lang="en-US" b="1" dirty="0">
                <a:solidFill>
                  <a:srgbClr val="C0CF31"/>
                </a:solidFill>
              </a:rPr>
              <a:t>Healthcare Convenience Card</a:t>
            </a:r>
          </a:p>
          <a:p>
            <a:r>
              <a:rPr lang="en-US" sz="1200" dirty="0"/>
              <a:t>0% interest, no-fee Convenience Card, giving members a simple and convenient way to pay for out-of-pocket expenses at Preferred Providers</a:t>
            </a:r>
          </a:p>
        </p:txBody>
      </p:sp>
      <p:sp>
        <p:nvSpPr>
          <p:cNvPr id="16" name="TextBox 15">
            <a:extLst>
              <a:ext uri="{FF2B5EF4-FFF2-40B4-BE49-F238E27FC236}">
                <a16:creationId xmlns:a16="http://schemas.microsoft.com/office/drawing/2014/main" id="{26B6C314-B6EE-234A-324E-DD5719029ACB}"/>
              </a:ext>
            </a:extLst>
          </p:cNvPr>
          <p:cNvSpPr txBox="1"/>
          <p:nvPr/>
        </p:nvSpPr>
        <p:spPr>
          <a:xfrm>
            <a:off x="8116111" y="5113874"/>
            <a:ext cx="4060808" cy="1323439"/>
          </a:xfrm>
          <a:prstGeom prst="rect">
            <a:avLst/>
          </a:prstGeom>
          <a:solidFill>
            <a:schemeClr val="bg1"/>
          </a:solidFill>
        </p:spPr>
        <p:txBody>
          <a:bodyPr wrap="square" rtlCol="0">
            <a:spAutoFit/>
          </a:bodyPr>
          <a:lstStyle/>
          <a:p>
            <a:r>
              <a:rPr lang="en-US" sz="1600" b="1" dirty="0">
                <a:solidFill>
                  <a:srgbClr val="3C4EAD"/>
                </a:solidFill>
              </a:rPr>
              <a:t>Pharmacy Benefit Manager, Specialty Rx, and Obesity Management Program (GLP-1)</a:t>
            </a:r>
          </a:p>
          <a:p>
            <a:r>
              <a:rPr lang="en-US" sz="1200" dirty="0"/>
              <a:t>Truly transparent and innovative Rx programs that offer real savings and 1-on-1, personalized coaching for members. ~20%+ savings on Rx spend, 10% savings on overall claims spend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484357"/>
            <a:ext cx="7941568" cy="335955"/>
          </a:xfrm>
          <a:prstGeom prst="rect">
            <a:avLst/>
          </a:prstGeom>
          <a:noFill/>
          <a:ln/>
        </p:spPr>
        <p:txBody>
          <a:bodyPr wrap="none" lIns="0" tIns="0" rIns="0" bIns="0" rtlCol="0" anchor="t"/>
          <a:lstStyle/>
          <a:p>
            <a:pPr>
              <a:lnSpc>
                <a:spcPts val="2625"/>
              </a:lnSpc>
            </a:pPr>
            <a:r>
              <a:rPr lang="en-US" sz="2800" b="1" dirty="0">
                <a:solidFill>
                  <a:srgbClr val="00539F"/>
                </a:solidFill>
                <a:latin typeface="Montserrat Bold" pitchFamily="34" charset="0"/>
                <a:ea typeface="Montserrat Bold" pitchFamily="34" charset="-122"/>
                <a:cs typeface="Montserrat Bold" pitchFamily="34" charset="-120"/>
              </a:rPr>
              <a:t>Weight Management (GLP-1s) that Don't Break the Bank</a:t>
            </a:r>
            <a:endParaRPr lang="en-US" sz="2800" dirty="0">
              <a:solidFill>
                <a:srgbClr val="00539F"/>
              </a:solidFill>
            </a:endParaRPr>
          </a:p>
        </p:txBody>
      </p:sp>
      <p:sp>
        <p:nvSpPr>
          <p:cNvPr id="3" name="Text 1"/>
          <p:cNvSpPr/>
          <p:nvPr/>
        </p:nvSpPr>
        <p:spPr>
          <a:xfrm>
            <a:off x="661492" y="1244303"/>
            <a:ext cx="1086901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The GLP-1 medication market has experienced explosive growth, fundamentally reshaping healthcare spending across America. Prime Therapeutics reports that per-member-per-month spend has tripled by March 2025, with these breakthrough medications now representing approximately 15% of total pharmacy spend. More than 1 in 50 members filed a GLP-1 claim in Q1 2025 alone, demonstrating unprecedented demand for these life-changing treatments.</a:t>
            </a:r>
            <a:endParaRPr lang="en-US" sz="833" dirty="0"/>
          </a:p>
        </p:txBody>
      </p:sp>
      <p:sp>
        <p:nvSpPr>
          <p:cNvPr id="4" name="Shape 2"/>
          <p:cNvSpPr/>
          <p:nvPr/>
        </p:nvSpPr>
        <p:spPr>
          <a:xfrm>
            <a:off x="66149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5" name="Text 3"/>
          <p:cNvSpPr/>
          <p:nvPr/>
        </p:nvSpPr>
        <p:spPr>
          <a:xfrm>
            <a:off x="77529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Challenge</a:t>
            </a:r>
            <a:endParaRPr lang="en-US" sz="1042" dirty="0"/>
          </a:p>
        </p:txBody>
      </p:sp>
      <p:sp>
        <p:nvSpPr>
          <p:cNvPr id="6" name="Text 4"/>
          <p:cNvSpPr/>
          <p:nvPr/>
        </p:nvSpPr>
        <p:spPr>
          <a:xfrm>
            <a:off x="77529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Traditional GLP-1 medications cost between $1,089-$1,349 monthly, creating unsustainable budget pressures for employers while limiting employee access to essential treatments.</a:t>
            </a:r>
            <a:endParaRPr lang="en-US" sz="833" dirty="0"/>
          </a:p>
        </p:txBody>
      </p:sp>
      <p:sp>
        <p:nvSpPr>
          <p:cNvPr id="7" name="Shape 5"/>
          <p:cNvSpPr/>
          <p:nvPr/>
        </p:nvSpPr>
        <p:spPr>
          <a:xfrm>
            <a:off x="4320282" y="1881287"/>
            <a:ext cx="3551337"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8" name="Text 6"/>
          <p:cNvSpPr/>
          <p:nvPr/>
        </p:nvSpPr>
        <p:spPr>
          <a:xfrm>
            <a:off x="4434086"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Our Solution</a:t>
            </a:r>
            <a:endParaRPr lang="en-US" sz="1042" dirty="0"/>
          </a:p>
        </p:txBody>
      </p:sp>
      <p:sp>
        <p:nvSpPr>
          <p:cNvPr id="9" name="Text 7"/>
          <p:cNvSpPr/>
          <p:nvPr/>
        </p:nvSpPr>
        <p:spPr>
          <a:xfrm>
            <a:off x="4434086" y="2227461"/>
            <a:ext cx="3323729"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Key Benefits secures generic GLP-1 medications for just $249 per month, enabling comprehensive workforce health while maintaining strict budget control and financial stability.</a:t>
            </a:r>
            <a:endParaRPr lang="en-US" sz="833" dirty="0"/>
          </a:p>
        </p:txBody>
      </p:sp>
      <p:sp>
        <p:nvSpPr>
          <p:cNvPr id="10" name="Shape 8"/>
          <p:cNvSpPr/>
          <p:nvPr/>
        </p:nvSpPr>
        <p:spPr>
          <a:xfrm>
            <a:off x="7979073" y="1881287"/>
            <a:ext cx="3551436" cy="976114"/>
          </a:xfrm>
          <a:prstGeom prst="roundRect">
            <a:avLst>
              <a:gd name="adj" fmla="val 4626"/>
            </a:avLst>
          </a:prstGeom>
          <a:solidFill>
            <a:srgbClr val="CDE4FE"/>
          </a:solidFill>
          <a:ln w="7620">
            <a:solidFill>
              <a:srgbClr val="B3CAE4"/>
            </a:solidFill>
            <a:prstDash val="solid"/>
          </a:ln>
        </p:spPr>
        <p:txBody>
          <a:bodyPr/>
          <a:lstStyle/>
          <a:p>
            <a:endParaRPr lang="en-US"/>
          </a:p>
        </p:txBody>
      </p:sp>
      <p:sp>
        <p:nvSpPr>
          <p:cNvPr id="11" name="Text 9"/>
          <p:cNvSpPr/>
          <p:nvPr/>
        </p:nvSpPr>
        <p:spPr>
          <a:xfrm>
            <a:off x="8092877" y="1995091"/>
            <a:ext cx="1343819" cy="167878"/>
          </a:xfrm>
          <a:prstGeom prst="rect">
            <a:avLst/>
          </a:prstGeom>
          <a:noFill/>
          <a:ln/>
        </p:spPr>
        <p:txBody>
          <a:bodyPr wrap="none" lIns="0" tIns="0" rIns="0" bIns="0" rtlCol="0" anchor="t"/>
          <a:lstStyle/>
          <a:p>
            <a:pPr>
              <a:lnSpc>
                <a:spcPts val="1292"/>
              </a:lnSpc>
            </a:pPr>
            <a:r>
              <a:rPr lang="en-US" sz="1042" b="1" dirty="0">
                <a:solidFill>
                  <a:srgbClr val="000000"/>
                </a:solidFill>
                <a:latin typeface="Montserrat Bold" pitchFamily="34" charset="0"/>
                <a:ea typeface="Montserrat Bold" pitchFamily="34" charset="-122"/>
                <a:cs typeface="Montserrat Bold" pitchFamily="34" charset="-120"/>
              </a:rPr>
              <a:t>The Impact</a:t>
            </a:r>
            <a:endParaRPr lang="en-US" sz="1042" dirty="0"/>
          </a:p>
        </p:txBody>
      </p:sp>
      <p:sp>
        <p:nvSpPr>
          <p:cNvPr id="12" name="Text 10"/>
          <p:cNvSpPr/>
          <p:nvPr/>
        </p:nvSpPr>
        <p:spPr>
          <a:xfrm>
            <a:off x="8092877" y="2227461"/>
            <a:ext cx="3323828"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Deliver a healthier population, increased employee satisfaction, and sustainable costs that support long-term organizational success and employee wellbeing.</a:t>
            </a:r>
            <a:endParaRPr lang="en-US" sz="833" dirty="0"/>
          </a:p>
        </p:txBody>
      </p:sp>
      <p:sp>
        <p:nvSpPr>
          <p:cNvPr id="13" name="Text 11"/>
          <p:cNvSpPr/>
          <p:nvPr/>
        </p:nvSpPr>
        <p:spPr>
          <a:xfrm>
            <a:off x="661492" y="3085704"/>
            <a:ext cx="3055044" cy="201513"/>
          </a:xfrm>
          <a:prstGeom prst="rect">
            <a:avLst/>
          </a:prstGeom>
          <a:noFill/>
          <a:ln/>
        </p:spPr>
        <p:txBody>
          <a:bodyPr wrap="none" lIns="0" tIns="0" rIns="0" bIns="0" rtlCol="0" anchor="t"/>
          <a:lstStyle/>
          <a:p>
            <a:pPr>
              <a:lnSpc>
                <a:spcPts val="1583"/>
              </a:lnSpc>
            </a:pPr>
            <a:r>
              <a:rPr lang="en-US" sz="1250" b="1" dirty="0">
                <a:solidFill>
                  <a:srgbClr val="024693"/>
                </a:solidFill>
                <a:latin typeface="Montserrat Bold" pitchFamily="34" charset="0"/>
                <a:ea typeface="Montserrat Bold" pitchFamily="34" charset="-122"/>
                <a:cs typeface="Montserrat Bold" pitchFamily="34" charset="-120"/>
              </a:rPr>
              <a:t>Proven Results: $7M Annual Savings</a:t>
            </a:r>
            <a:endParaRPr lang="en-US" sz="1250" dirty="0"/>
          </a:p>
        </p:txBody>
      </p:sp>
      <p:sp>
        <p:nvSpPr>
          <p:cNvPr id="14" name="Text 12"/>
          <p:cNvSpPr/>
          <p:nvPr/>
        </p:nvSpPr>
        <p:spPr>
          <a:xfrm>
            <a:off x="661492" y="3394670"/>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One major city spending $11 million annually on GLP-1 medications achieved $7 million in cost savings through our comprehensive approach. This dramatic reduction demonstrates how strategic sourcing combined with clinical support creates sustainable, scalable solutions for large employers facing escalating pharmaceutical costs.</a:t>
            </a:r>
            <a:endParaRPr lang="en-US" sz="833" dirty="0"/>
          </a:p>
        </p:txBody>
      </p:sp>
      <p:sp>
        <p:nvSpPr>
          <p:cNvPr id="15" name="Text 13"/>
          <p:cNvSpPr/>
          <p:nvPr/>
        </p:nvSpPr>
        <p:spPr>
          <a:xfrm>
            <a:off x="661492" y="4018260"/>
            <a:ext cx="2902644" cy="167878"/>
          </a:xfrm>
          <a:prstGeom prst="rect">
            <a:avLst/>
          </a:prstGeom>
          <a:noFill/>
          <a:ln/>
        </p:spPr>
        <p:txBody>
          <a:bodyPr wrap="none" lIns="0" tIns="0" rIns="0" bIns="0" rtlCol="0" anchor="t"/>
          <a:lstStyle/>
          <a:p>
            <a:pPr>
              <a:lnSpc>
                <a:spcPts val="1292"/>
              </a:lnSpc>
            </a:pPr>
            <a:r>
              <a:rPr lang="en-US" sz="1042" b="1" dirty="0">
                <a:solidFill>
                  <a:srgbClr val="000B2E"/>
                </a:solidFill>
                <a:latin typeface="Montserrat Bold" pitchFamily="34" charset="0"/>
                <a:ea typeface="Montserrat Bold" pitchFamily="34" charset="-122"/>
                <a:cs typeface="Montserrat Bold" pitchFamily="34" charset="-120"/>
              </a:rPr>
              <a:t>Beyond Medication: Comprehensive Care</a:t>
            </a:r>
            <a:endParaRPr lang="en-US" sz="1042" dirty="0"/>
          </a:p>
        </p:txBody>
      </p:sp>
      <p:sp>
        <p:nvSpPr>
          <p:cNvPr id="16" name="Text 14"/>
          <p:cNvSpPr/>
          <p:nvPr/>
        </p:nvSpPr>
        <p:spPr>
          <a:xfrm>
            <a:off x="661492" y="4293593"/>
            <a:ext cx="6416477" cy="516136"/>
          </a:xfrm>
          <a:prstGeom prst="rect">
            <a:avLst/>
          </a:prstGeom>
          <a:noFill/>
          <a:ln/>
        </p:spPr>
        <p:txBody>
          <a:bodyPr wrap="square" lIns="0" tIns="0" rIns="0" bIns="0" rtlCol="0" anchor="t"/>
          <a:lstStyle/>
          <a:p>
            <a:pPr>
              <a:lnSpc>
                <a:spcPts val="1333"/>
              </a:lnSpc>
            </a:pPr>
            <a:r>
              <a:rPr lang="en-US" sz="833" dirty="0">
                <a:solidFill>
                  <a:srgbClr val="000000"/>
                </a:solidFill>
                <a:latin typeface="Inter" pitchFamily="34" charset="0"/>
                <a:ea typeface="Inter" pitchFamily="34" charset="-122"/>
                <a:cs typeface="Inter" pitchFamily="34" charset="-120"/>
              </a:rPr>
              <a:t>Our program extends far beyond cost-effective medication access. Members receive specialized coaching twice monthly, focusing on maintaining muscular strength, engaging in moderate exercise, and developing sustainable lifestyle changes that support long-term weight maintenance after GLP-1 treatment completion.</a:t>
            </a:r>
            <a:endParaRPr lang="en-US" sz="833" dirty="0"/>
          </a:p>
        </p:txBody>
      </p:sp>
      <p:sp>
        <p:nvSpPr>
          <p:cNvPr id="17" name="Text 15"/>
          <p:cNvSpPr/>
          <p:nvPr/>
        </p:nvSpPr>
        <p:spPr>
          <a:xfrm>
            <a:off x="7346455" y="3152775"/>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270</a:t>
            </a:r>
            <a:endParaRPr lang="en-US" sz="2792" dirty="0"/>
          </a:p>
        </p:txBody>
      </p:sp>
      <p:sp>
        <p:nvSpPr>
          <p:cNvPr id="18" name="Text 16"/>
          <p:cNvSpPr/>
          <p:nvPr/>
        </p:nvSpPr>
        <p:spPr>
          <a:xfrm>
            <a:off x="8769648" y="3641725"/>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Health Conditions</a:t>
            </a:r>
            <a:endParaRPr lang="en-US" sz="1042" dirty="0"/>
          </a:p>
        </p:txBody>
      </p:sp>
      <p:sp>
        <p:nvSpPr>
          <p:cNvPr id="19" name="Text 17"/>
          <p:cNvSpPr/>
          <p:nvPr/>
        </p:nvSpPr>
        <p:spPr>
          <a:xfrm>
            <a:off x="7346455" y="3917057"/>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Created or exacerbated by obesity according to Cleveland Clinic research</a:t>
            </a:r>
            <a:endParaRPr lang="en-US" sz="833" dirty="0"/>
          </a:p>
        </p:txBody>
      </p:sp>
      <p:sp>
        <p:nvSpPr>
          <p:cNvPr id="20" name="Text 18"/>
          <p:cNvSpPr/>
          <p:nvPr/>
        </p:nvSpPr>
        <p:spPr>
          <a:xfrm>
            <a:off x="7346455" y="4357787"/>
            <a:ext cx="4190306" cy="354707"/>
          </a:xfrm>
          <a:prstGeom prst="rect">
            <a:avLst/>
          </a:prstGeom>
          <a:noFill/>
          <a:ln/>
        </p:spPr>
        <p:txBody>
          <a:bodyPr wrap="none" lIns="0" tIns="0" rIns="0" bIns="0" rtlCol="0" anchor="t"/>
          <a:lstStyle/>
          <a:p>
            <a:pPr algn="ctr">
              <a:lnSpc>
                <a:spcPts val="2792"/>
              </a:lnSpc>
            </a:pPr>
            <a:r>
              <a:rPr lang="en-US" sz="2792" b="1" dirty="0">
                <a:solidFill>
                  <a:srgbClr val="000000"/>
                </a:solidFill>
                <a:latin typeface="Montserrat Bold" pitchFamily="34" charset="0"/>
                <a:ea typeface="Montserrat Bold" pitchFamily="34" charset="-122"/>
                <a:cs typeface="Montserrat Bold" pitchFamily="34" charset="-120"/>
              </a:rPr>
              <a:t>$8.5K</a:t>
            </a:r>
            <a:endParaRPr lang="en-US" sz="2792" dirty="0"/>
          </a:p>
        </p:txBody>
      </p:sp>
      <p:sp>
        <p:nvSpPr>
          <p:cNvPr id="21" name="Text 19"/>
          <p:cNvSpPr/>
          <p:nvPr/>
        </p:nvSpPr>
        <p:spPr>
          <a:xfrm>
            <a:off x="8769648" y="4846737"/>
            <a:ext cx="1343819" cy="167878"/>
          </a:xfrm>
          <a:prstGeom prst="rect">
            <a:avLst/>
          </a:prstGeom>
          <a:noFill/>
          <a:ln/>
        </p:spPr>
        <p:txBody>
          <a:bodyPr wrap="none" lIns="0" tIns="0" rIns="0" bIns="0" rtlCol="0" anchor="t"/>
          <a:lstStyle/>
          <a:p>
            <a:pPr algn="ctr">
              <a:lnSpc>
                <a:spcPts val="1292"/>
              </a:lnSpc>
            </a:pPr>
            <a:r>
              <a:rPr lang="en-US" sz="1042" b="1" dirty="0">
                <a:solidFill>
                  <a:srgbClr val="000000"/>
                </a:solidFill>
                <a:latin typeface="Montserrat Bold" pitchFamily="34" charset="0"/>
                <a:ea typeface="Montserrat Bold" pitchFamily="34" charset="-122"/>
                <a:cs typeface="Montserrat Bold" pitchFamily="34" charset="-120"/>
              </a:rPr>
              <a:t>Additional Spend</a:t>
            </a:r>
            <a:endParaRPr lang="en-US" sz="1042" dirty="0"/>
          </a:p>
        </p:txBody>
      </p:sp>
      <p:sp>
        <p:nvSpPr>
          <p:cNvPr id="22" name="Text 20"/>
          <p:cNvSpPr/>
          <p:nvPr/>
        </p:nvSpPr>
        <p:spPr>
          <a:xfrm>
            <a:off x="7346455" y="5122069"/>
            <a:ext cx="4190306" cy="172045"/>
          </a:xfrm>
          <a:prstGeom prst="rect">
            <a:avLst/>
          </a:prstGeom>
          <a:noFill/>
          <a:ln/>
        </p:spPr>
        <p:txBody>
          <a:bodyPr wrap="none" lIns="0" tIns="0" rIns="0" bIns="0" rtlCol="0" anchor="t"/>
          <a:lstStyle/>
          <a:p>
            <a:pPr algn="ctr">
              <a:lnSpc>
                <a:spcPts val="1333"/>
              </a:lnSpc>
            </a:pPr>
            <a:r>
              <a:rPr lang="en-US" sz="833" dirty="0">
                <a:solidFill>
                  <a:srgbClr val="000000"/>
                </a:solidFill>
                <a:latin typeface="Inter" pitchFamily="34" charset="0"/>
                <a:ea typeface="Inter" pitchFamily="34" charset="-122"/>
                <a:cs typeface="Inter" pitchFamily="34" charset="-120"/>
              </a:rPr>
              <a:t>Average annual healthcare costs above normal for obese individuals (KFF)</a:t>
            </a:r>
            <a:endParaRPr lang="en-US" sz="833" dirty="0"/>
          </a:p>
        </p:txBody>
      </p:sp>
      <p:sp>
        <p:nvSpPr>
          <p:cNvPr id="23" name="Shape 21"/>
          <p:cNvSpPr/>
          <p:nvPr/>
        </p:nvSpPr>
        <p:spPr>
          <a:xfrm>
            <a:off x="661492" y="5535811"/>
            <a:ext cx="10869018" cy="628749"/>
          </a:xfrm>
          <a:prstGeom prst="roundRect">
            <a:avLst>
              <a:gd name="adj" fmla="val 7181"/>
            </a:avLst>
          </a:prstGeom>
          <a:solidFill>
            <a:schemeClr val="accent1">
              <a:lumMod val="20000"/>
              <a:lumOff val="80000"/>
            </a:schemeClr>
          </a:solidFill>
          <a:ln/>
        </p:spPr>
        <p:txBody>
          <a:bodyPr/>
          <a:lstStyle/>
          <a:p>
            <a:endParaRPr lang="en-US"/>
          </a:p>
        </p:txBody>
      </p:sp>
      <p:pic>
        <p:nvPicPr>
          <p:cNvPr id="24" name="Image 0" descr="preencoded.png"/>
          <p:cNvPicPr>
            <a:picLocks noChangeAspect="1"/>
          </p:cNvPicPr>
          <p:nvPr/>
        </p:nvPicPr>
        <p:blipFill>
          <a:blip r:embed="rId3"/>
          <a:stretch>
            <a:fillRect/>
          </a:stretch>
        </p:blipFill>
        <p:spPr>
          <a:xfrm>
            <a:off x="768945" y="5696645"/>
            <a:ext cx="134343" cy="107454"/>
          </a:xfrm>
          <a:prstGeom prst="rect">
            <a:avLst/>
          </a:prstGeom>
        </p:spPr>
      </p:pic>
      <p:sp>
        <p:nvSpPr>
          <p:cNvPr id="25" name="Text 22"/>
          <p:cNvSpPr/>
          <p:nvPr/>
        </p:nvSpPr>
        <p:spPr>
          <a:xfrm>
            <a:off x="1010742" y="5670055"/>
            <a:ext cx="10412313" cy="344091"/>
          </a:xfrm>
          <a:prstGeom prst="rect">
            <a:avLst/>
          </a:prstGeom>
          <a:noFill/>
          <a:ln/>
        </p:spPr>
        <p:txBody>
          <a:bodyPr wrap="square" lIns="0" tIns="0" rIns="0" bIns="0" rtlCol="0" anchor="t"/>
          <a:lstStyle/>
          <a:p>
            <a:pPr>
              <a:lnSpc>
                <a:spcPts val="1333"/>
              </a:lnSpc>
            </a:pPr>
            <a:r>
              <a:rPr lang="en-US" sz="1000" b="1" dirty="0">
                <a:solidFill>
                  <a:srgbClr val="000000"/>
                </a:solidFill>
                <a:latin typeface="Inter" pitchFamily="34" charset="0"/>
                <a:ea typeface="Inter" pitchFamily="34" charset="-122"/>
                <a:cs typeface="Inter" pitchFamily="34" charset="-120"/>
              </a:rPr>
              <a:t>Transform Your Healthcare Strategy:</a:t>
            </a:r>
            <a:r>
              <a:rPr lang="en-US" sz="1000" dirty="0">
                <a:solidFill>
                  <a:srgbClr val="000000"/>
                </a:solidFill>
                <a:latin typeface="Inter" pitchFamily="34" charset="0"/>
                <a:ea typeface="Inter" pitchFamily="34" charset="-122"/>
                <a:cs typeface="Inter" pitchFamily="34" charset="-120"/>
              </a:rPr>
              <a:t> Join forward-thinking employers who are providing comprehensive weight management solutions while protecting their bottom line. Our approach combines clinical excellence with fiscal responsibility, creating a win-win for organizations and their valued employees.</a:t>
            </a:r>
            <a:endParaRPr lang="en-US" sz="1000" dirty="0"/>
          </a:p>
        </p:txBody>
      </p:sp>
      <p:pic>
        <p:nvPicPr>
          <p:cNvPr id="26" name="Picture 10">
            <a:extLst>
              <a:ext uri="{FF2B5EF4-FFF2-40B4-BE49-F238E27FC236}">
                <a16:creationId xmlns:a16="http://schemas.microsoft.com/office/drawing/2014/main" id="{032C243F-5508-CF0B-45ED-B7E09DF022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Freeform 11">
            <a:extLst>
              <a:ext uri="{FF2B5EF4-FFF2-40B4-BE49-F238E27FC236}">
                <a16:creationId xmlns:a16="http://schemas.microsoft.com/office/drawing/2014/main" id="{6A0AB534-2581-F240-64D6-6846AFCC745B}"/>
              </a:ext>
            </a:extLst>
          </p:cNvPr>
          <p:cNvSpPr>
            <a:spLocks/>
          </p:cNvSpPr>
          <p:nvPr/>
        </p:nvSpPr>
        <p:spPr bwMode="auto">
          <a:xfrm rot="16200000" flipV="1">
            <a:off x="7289801"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16</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27.  </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Orlando Health’s approved site(s) with network integration, and development of Orlando Health’s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strike="noStrik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strike="noStrik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121K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87K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-242K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927K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171K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3,289K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$ 2,361K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110K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$ 1,855K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6,577K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$ 4,722K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$ 1,210K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869K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551K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$ 4,637K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853K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$ 16,443K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$11,806K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$ 3,026K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$ 2,172K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$ 1,872K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$18,550K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$3,413K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$ 65,773K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$47,223K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$12,102K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$ 8,689K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$ 8,479K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$37,100K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$6,826K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$131,546K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$94,447K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$24,205K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strike="noStrike" cap="none">
                          <a:solidFill>
                            <a:srgbClr val="000000">
                              <a:alpha val="100000"/>
                            </a:srgbClr>
                          </a:solidFill>
                          <a:latin typeface="Montserrat"/>
                          <a:cs typeface="Arial"/>
                          <a:sym typeface="Arial"/>
                        </a:rPr>
                        <a:t>$17,378K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strike="noStrike" cap="none">
                          <a:solidFill>
                            <a:srgbClr val="FFFFFF">
                              <a:alpha val="100000"/>
                            </a:srgbClr>
                          </a:solidFill>
                          <a:latin typeface="Montserrat"/>
                          <a:cs typeface="Arial"/>
                          <a:sym typeface="Arial"/>
                        </a:rPr>
                        <a:t>$17,288K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Orlando Health’s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Orlando Health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Orlando Health’s managed care with KBA’s programs positions Orlando Health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Orlando Health’s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Orlando Health’s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Orlando Health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21</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9FF97C79-4A33-43A3-1EC1-DCE4FFCCA043}"/>
              </a:ext>
            </a:extLst>
          </p:cNvPr>
          <p:cNvSpPr txBox="1">
            <a:spLocks noChangeArrowheads="1"/>
          </p:cNvSpPr>
          <p:nvPr/>
        </p:nvSpPr>
        <p:spPr bwMode="auto">
          <a:xfrm>
            <a:off x="441325" y="923925"/>
            <a:ext cx="1153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2600">
                <a:solidFill>
                  <a:srgbClr val="000000"/>
                </a:solidFill>
                <a:cs typeface="Arial" panose="020B0604020202020204" pitchFamily="34" charset="0"/>
              </a:rPr>
              <a:t>Base Medical + Preferred Plus Benefits = Your Deductible Can Simply Vanish</a:t>
            </a:r>
            <a:endParaRPr lang="en-US" altLang="en-US" sz="3800">
              <a:solidFill>
                <a:srgbClr val="000000"/>
              </a:solidFill>
              <a:latin typeface="Book Antiqua" panose="02040602050305030304" pitchFamily="18" charset="0"/>
            </a:endParaRPr>
          </a:p>
        </p:txBody>
      </p:sp>
      <p:sp>
        <p:nvSpPr>
          <p:cNvPr id="3" name="Slide Number Placeholder 3">
            <a:extLst>
              <a:ext uri="{FF2B5EF4-FFF2-40B4-BE49-F238E27FC236}">
                <a16:creationId xmlns:a16="http://schemas.microsoft.com/office/drawing/2014/main" id="{C3ECC346-71F1-52A3-EA9D-D5B9815B1177}"/>
              </a:ext>
            </a:extLst>
          </p:cNvPr>
          <p:cNvSpPr>
            <a:spLocks noGrp="1" noChangeArrowheads="1"/>
          </p:cNvSpPr>
          <p:nvPr>
            <p:ph type="sldNum" sz="quarter" idx="12"/>
          </p:nvPr>
        </p:nvSpPr>
        <p:spPr bwMode="auto">
          <a:xfrm>
            <a:off x="9448800" y="64071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968EF9-8F85-4F1F-9876-15E5B44FFF67}" type="slidenum">
              <a:rPr lang="en-US" altLang="en-US">
                <a:solidFill>
                  <a:srgbClr val="767676"/>
                </a:solidFill>
                <a:latin typeface="Aptos" panose="020B0004020202020204" pitchFamily="34" charset="0"/>
              </a:rPr>
              <a:pPr eaLnBrk="1" hangingPunct="1"/>
              <a:t>24</a:t>
            </a:fld>
            <a:endParaRPr lang="en-US" altLang="en-US">
              <a:solidFill>
                <a:srgbClr val="767676"/>
              </a:solidFill>
              <a:latin typeface="Aptos" panose="020B0004020202020204" pitchFamily="34" charset="0"/>
            </a:endParaRPr>
          </a:p>
        </p:txBody>
      </p:sp>
      <p:pic>
        <p:nvPicPr>
          <p:cNvPr id="4" name="Picture 12">
            <a:extLst>
              <a:ext uri="{FF2B5EF4-FFF2-40B4-BE49-F238E27FC236}">
                <a16:creationId xmlns:a16="http://schemas.microsoft.com/office/drawing/2014/main" id="{45768469-CF94-61BC-49D6-61C78A1E2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688" y="6556375"/>
            <a:ext cx="1370012"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3">
            <a:extLst>
              <a:ext uri="{FF2B5EF4-FFF2-40B4-BE49-F238E27FC236}">
                <a16:creationId xmlns:a16="http://schemas.microsoft.com/office/drawing/2014/main" id="{8236F4D5-E223-F4EC-5C68-233260C45221}"/>
              </a:ext>
            </a:extLst>
          </p:cNvPr>
          <p:cNvSpPr>
            <a:spLocks/>
          </p:cNvSpPr>
          <p:nvPr/>
        </p:nvSpPr>
        <p:spPr bwMode="auto">
          <a:xfrm rot="16200000" flipV="1">
            <a:off x="7292976" y="1958975"/>
            <a:ext cx="195262" cy="9628187"/>
          </a:xfrm>
          <a:custGeom>
            <a:avLst/>
            <a:gdLst>
              <a:gd name="T0" fmla="*/ 0 w 165300"/>
              <a:gd name="T1" fmla="*/ 0 h 503014"/>
              <a:gd name="T2" fmla="*/ 194251 w 165300"/>
              <a:gd name="T3" fmla="*/ 0 h 503014"/>
              <a:gd name="T4" fmla="*/ 194251 w 165300"/>
              <a:gd name="T5" fmla="*/ 9629274 h 503014"/>
              <a:gd name="T6" fmla="*/ 0 w 165300"/>
              <a:gd name="T7" fmla="*/ 9629274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Title 2">
            <a:extLst>
              <a:ext uri="{FF2B5EF4-FFF2-40B4-BE49-F238E27FC236}">
                <a16:creationId xmlns:a16="http://schemas.microsoft.com/office/drawing/2014/main" id="{35B9937C-D670-849A-EFB3-6E9349885EE1}"/>
              </a:ext>
            </a:extLst>
          </p:cNvPr>
          <p:cNvSpPr txBox="1">
            <a:spLocks noChangeArrowheads="1"/>
          </p:cNvSpPr>
          <p:nvPr/>
        </p:nvSpPr>
        <p:spPr bwMode="auto">
          <a:xfrm>
            <a:off x="441325" y="296863"/>
            <a:ext cx="1153477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90000"/>
              </a:lnSpc>
              <a:spcBef>
                <a:spcPts val="1000"/>
              </a:spcBef>
            </a:pPr>
            <a:r>
              <a:rPr lang="en-US" altLang="en-US" sz="4400" b="1">
                <a:solidFill>
                  <a:srgbClr val="0053A0"/>
                </a:solidFill>
                <a:cs typeface="Arial" panose="020B0604020202020204" pitchFamily="34" charset="0"/>
              </a:rPr>
              <a:t>The Key Incentive Plan</a:t>
            </a:r>
          </a:p>
        </p:txBody>
      </p:sp>
      <p:sp>
        <p:nvSpPr>
          <p:cNvPr id="7" name="TextBox 7">
            <a:extLst>
              <a:ext uri="{FF2B5EF4-FFF2-40B4-BE49-F238E27FC236}">
                <a16:creationId xmlns:a16="http://schemas.microsoft.com/office/drawing/2014/main" id="{97DF678D-7946-6B2B-92C9-44445ED1AB2A}"/>
              </a:ext>
            </a:extLst>
          </p:cNvPr>
          <p:cNvSpPr txBox="1">
            <a:spLocks noChangeArrowheads="1"/>
          </p:cNvSpPr>
          <p:nvPr/>
        </p:nvSpPr>
        <p:spPr bwMode="auto">
          <a:xfrm>
            <a:off x="515938" y="1365250"/>
            <a:ext cx="115347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i="1" dirty="0">
                <a:solidFill>
                  <a:srgbClr val="000000"/>
                </a:solidFill>
                <a:latin typeface="Aptos" panose="020B0004020202020204" pitchFamily="34" charset="0"/>
              </a:rPr>
              <a:t>Example:</a:t>
            </a:r>
            <a:r>
              <a:rPr lang="en-US" altLang="en-US" sz="1600" i="1" dirty="0">
                <a:solidFill>
                  <a:srgbClr val="000000"/>
                </a:solidFill>
                <a:latin typeface="Aptos" panose="020B0004020202020204" pitchFamily="34" charset="0"/>
              </a:rPr>
              <a:t> Member with a $2,500 deductible / $4,500 max out-of-pocket has a heart attack and cardiac surgery, resulting in a 5-day in-patient stay. In this example, the member would have a $4,500 OOP with $5,050 Preferred Plus Benefits for a </a:t>
            </a:r>
            <a:r>
              <a:rPr lang="en-US" altLang="en-US" sz="1600" b="1" i="1" u="sng" dirty="0">
                <a:solidFill>
                  <a:srgbClr val="000000"/>
                </a:solidFill>
                <a:latin typeface="Aptos" panose="020B0004020202020204" pitchFamily="34" charset="0"/>
              </a:rPr>
              <a:t>net OOP $0 due to the preferred provider </a:t>
            </a:r>
            <a:r>
              <a:rPr lang="en-US" altLang="en-US" sz="1600" b="1" i="1" dirty="0">
                <a:solidFill>
                  <a:srgbClr val="000000"/>
                </a:solidFill>
                <a:latin typeface="Aptos" panose="020B0004020202020204" pitchFamily="34" charset="0"/>
              </a:rPr>
              <a:t>versus $4,500 OOP exposure at any non-preferred provider.</a:t>
            </a:r>
          </a:p>
        </p:txBody>
      </p:sp>
      <p:graphicFrame>
        <p:nvGraphicFramePr>
          <p:cNvPr id="8" name="Table 14">
            <a:extLst>
              <a:ext uri="{FF2B5EF4-FFF2-40B4-BE49-F238E27FC236}">
                <a16:creationId xmlns:a16="http://schemas.microsoft.com/office/drawing/2014/main" id="{9EE69140-F83A-5990-E7B6-C51DE5264BEF}"/>
              </a:ext>
            </a:extLst>
          </p:cNvPr>
          <p:cNvGraphicFramePr>
            <a:graphicFrameLocks noGrp="1"/>
          </p:cNvGraphicFramePr>
          <p:nvPr>
            <p:extLst>
              <p:ext uri="{D42A27DB-BD31-4B8C-83A1-F6EECF244321}">
                <p14:modId xmlns:p14="http://schemas.microsoft.com/office/powerpoint/2010/main" val="1422134331"/>
              </p:ext>
            </p:extLst>
          </p:nvPr>
        </p:nvGraphicFramePr>
        <p:xfrm>
          <a:off x="1063625" y="2195513"/>
          <a:ext cx="10290174" cy="4114799"/>
        </p:xfrm>
        <a:graphic>
          <a:graphicData uri="http://schemas.openxmlformats.org/drawingml/2006/table">
            <a:tbl>
              <a:tblPr/>
              <a:tblGrid>
                <a:gridCol w="1390986">
                  <a:extLst>
                    <a:ext uri="{9D8B030D-6E8A-4147-A177-3AD203B41FA5}">
                      <a16:colId xmlns:a16="http://schemas.microsoft.com/office/drawing/2014/main" val="20000"/>
                    </a:ext>
                  </a:extLst>
                </a:gridCol>
                <a:gridCol w="2045566">
                  <a:extLst>
                    <a:ext uri="{9D8B030D-6E8A-4147-A177-3AD203B41FA5}">
                      <a16:colId xmlns:a16="http://schemas.microsoft.com/office/drawing/2014/main" val="20001"/>
                    </a:ext>
                  </a:extLst>
                </a:gridCol>
                <a:gridCol w="81824">
                  <a:extLst>
                    <a:ext uri="{9D8B030D-6E8A-4147-A177-3AD203B41FA5}">
                      <a16:colId xmlns:a16="http://schemas.microsoft.com/office/drawing/2014/main" val="20002"/>
                    </a:ext>
                  </a:extLst>
                </a:gridCol>
                <a:gridCol w="2904447">
                  <a:extLst>
                    <a:ext uri="{9D8B030D-6E8A-4147-A177-3AD203B41FA5}">
                      <a16:colId xmlns:a16="http://schemas.microsoft.com/office/drawing/2014/main" val="20003"/>
                    </a:ext>
                  </a:extLst>
                </a:gridCol>
                <a:gridCol w="1990718">
                  <a:extLst>
                    <a:ext uri="{9D8B030D-6E8A-4147-A177-3AD203B41FA5}">
                      <a16:colId xmlns:a16="http://schemas.microsoft.com/office/drawing/2014/main" val="20004"/>
                    </a:ext>
                  </a:extLst>
                </a:gridCol>
                <a:gridCol w="1876633">
                  <a:extLst>
                    <a:ext uri="{9D8B030D-6E8A-4147-A177-3AD203B41FA5}">
                      <a16:colId xmlns:a16="http://schemas.microsoft.com/office/drawing/2014/main" val="20005"/>
                    </a:ext>
                  </a:extLst>
                </a:gridCol>
              </a:tblGrid>
              <a:tr h="291027">
                <a:tc gridSpan="2">
                  <a:txBody>
                    <a:bodyPr/>
                    <a:lstStyle/>
                    <a:p>
                      <a:pPr algn="ctr" fontAlgn="b"/>
                      <a:r>
                        <a:rPr lang="en-US" sz="1400" b="1" i="0" u="none" strike="noStrike" dirty="0">
                          <a:solidFill>
                            <a:srgbClr val="FFFFFF"/>
                          </a:solidFill>
                          <a:effectLst/>
                          <a:latin typeface="Arial" panose="020B0604020202020204" pitchFamily="34" charset="0"/>
                        </a:rPr>
                        <a:t>BASE MEDICAL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400" b="1" i="0" u="none" strike="noStrike">
                          <a:solidFill>
                            <a:srgbClr val="FFFFFF"/>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50606">
                <a:tc gridSpan="2">
                  <a:txBody>
                    <a:bodyPr/>
                    <a:lstStyle/>
                    <a:p>
                      <a:pPr algn="ctr" fontAlgn="b"/>
                      <a:r>
                        <a:rPr lang="en-US" sz="1200" b="1" i="0" u="none" strike="noStrike">
                          <a:solidFill>
                            <a:srgbClr val="000000"/>
                          </a:solidFill>
                          <a:effectLst/>
                          <a:latin typeface="Arial" panose="020B0604020202020204" pitchFamily="34" charset="0"/>
                        </a:rPr>
                        <a:t>Deductible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gridSpan="3">
                  <a:txBody>
                    <a:bodyPr/>
                    <a:lstStyle/>
                    <a:p>
                      <a:pPr algn="ctr" fontAlgn="b"/>
                      <a:r>
                        <a:rPr lang="en-US" sz="1100" b="1" i="0" u="none" strike="noStrike">
                          <a:solidFill>
                            <a:srgbClr val="000000"/>
                          </a:solidFill>
                          <a:effectLst/>
                          <a:latin typeface="Arial" panose="020B0604020202020204" pitchFamily="34" charset="0"/>
                        </a:rPr>
                        <a:t>Benefits automatically included in your plan!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0" i="0" u="none" strike="noStrike">
                          <a:solidFill>
                            <a:srgbClr val="000000"/>
                          </a:solidFill>
                          <a:effectLst/>
                          <a:latin typeface="Arial" panose="020B0604020202020204" pitchFamily="34"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1" i="0" u="none" strike="noStrike">
                          <a:solidFill>
                            <a:srgbClr val="000000"/>
                          </a:solidFill>
                          <a:effectLst/>
                          <a:latin typeface="Arial" panose="020B0604020202020204" pitchFamily="34" charset="0"/>
                        </a:rPr>
                        <a:t>Non-Preferred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2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250606">
                <a:tc gridSpan="2">
                  <a:txBody>
                    <a:bodyPr/>
                    <a:lstStyle/>
                    <a:p>
                      <a:pPr algn="ctr" fontAlgn="b"/>
                      <a:r>
                        <a:rPr lang="en-US" sz="1200" b="1" i="0" u="none" strike="noStrike">
                          <a:solidFill>
                            <a:srgbClr val="000000"/>
                          </a:solidFill>
                          <a:effectLst/>
                          <a:latin typeface="Arial" panose="020B0604020202020204" pitchFamily="34" charset="0"/>
                        </a:rPr>
                        <a:t>Coinsurance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r h="250606">
                <a:tc gridSpan="2">
                  <a:txBody>
                    <a:bodyPr/>
                    <a:lstStyle/>
                    <a:p>
                      <a:pPr algn="ctr" fontAlgn="b"/>
                      <a:r>
                        <a:rPr lang="en-US" sz="1200" b="0" i="0" u="none" strike="noStrike">
                          <a:solidFill>
                            <a:srgbClr val="000000"/>
                          </a:solidFill>
                          <a:effectLst/>
                          <a:latin typeface="Arial" panose="020B0604020202020204" pitchFamily="34" charset="0"/>
                        </a:rPr>
                        <a:t>80% / 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250606">
                <a:tc gridSpan="2">
                  <a:txBody>
                    <a:bodyPr/>
                    <a:lstStyle/>
                    <a:p>
                      <a:pPr algn="ctr" fontAlgn="b"/>
                      <a:r>
                        <a:rPr lang="en-US" sz="1200" b="1" i="0" u="none" strike="noStrike">
                          <a:solidFill>
                            <a:srgbClr val="000000"/>
                          </a:solidFill>
                          <a:effectLst/>
                          <a:latin typeface="Arial" panose="020B0604020202020204" pitchFamily="34" charset="0"/>
                        </a:rPr>
                        <a:t>Maximum Out-of-Pocket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6"/>
                  </a:ext>
                </a:extLst>
              </a:tr>
              <a:tr h="250606">
                <a:tc>
                  <a:txBody>
                    <a:bodyPr/>
                    <a:lstStyle/>
                    <a:p>
                      <a:pPr algn="ctr" fontAlgn="b"/>
                      <a:r>
                        <a:rPr lang="en-US" sz="1200" b="0" i="0" u="none" strike="noStrike">
                          <a:solidFill>
                            <a:srgbClr val="000000"/>
                          </a:solidFill>
                          <a:effectLst/>
                          <a:latin typeface="Arial" panose="020B0604020202020204" pitchFamily="34" charset="0"/>
                        </a:rPr>
                        <a:t>Single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dirty="0">
                          <a:solidFill>
                            <a:srgbClr val="000000"/>
                          </a:solidFill>
                          <a:effectLst/>
                          <a:latin typeface="Arial" panose="020B0604020202020204" pitchFamily="34" charset="0"/>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7"/>
                  </a:ext>
                </a:extLst>
              </a:tr>
              <a:tr h="250606">
                <a:tc>
                  <a:txBody>
                    <a:bodyPr/>
                    <a:lstStyle/>
                    <a:p>
                      <a:pPr algn="ctr" fontAlgn="b"/>
                      <a:r>
                        <a:rPr lang="en-US" sz="1200" b="0" i="0" u="none" strike="noStrike">
                          <a:solidFill>
                            <a:srgbClr val="000000"/>
                          </a:solidFill>
                          <a:effectLst/>
                          <a:latin typeface="Arial" panose="020B0604020202020204" pitchFamily="34" charset="0"/>
                        </a:rPr>
                        <a:t>Family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200" b="0" i="0" u="none" strike="noStrike">
                          <a:solidFill>
                            <a:srgbClr val="000000"/>
                          </a:solidFill>
                          <a:effectLst/>
                          <a:latin typeface="Arial" panose="020B0604020202020204" pitchFamily="34" charset="0"/>
                        </a:rPr>
                        <a:t>$9,000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Total Employee OOP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8"/>
                  </a:ext>
                </a:extLst>
              </a:tr>
              <a:tr h="606308">
                <a:tc gridSpan="2">
                  <a:txBody>
                    <a:bodyPr/>
                    <a:lstStyle/>
                    <a:p>
                      <a:pPr algn="l" fontAlgn="ctr"/>
                      <a:r>
                        <a:rPr lang="en-US" sz="1100" b="0" i="1" u="none" strike="noStrike">
                          <a:solidFill>
                            <a:srgbClr val="000000"/>
                          </a:solidFill>
                          <a:effectLst/>
                          <a:latin typeface="Arial" panose="020B0604020202020204" pitchFamily="34" charset="0"/>
                        </a:rPr>
                        <a:t>Chronic Disease Management Regimens of Care Covered at 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r>
                        <a:rPr lang="en-US" sz="1100" b="1" i="0" u="none" strike="noStrike" dirty="0">
                          <a:solidFill>
                            <a:srgbClr val="000000"/>
                          </a:solidFill>
                          <a:effectLst/>
                          <a:latin typeface="Arial" panose="020B0604020202020204" pitchFamily="34" charset="0"/>
                        </a:rPr>
                        <a:t>Preferred Plus Benefits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dirty="0">
                          <a:solidFill>
                            <a:srgbClr val="000000"/>
                          </a:solidFill>
                          <a:effectLst/>
                          <a:latin typeface="Arial" panose="020B0604020202020204" pitchFamily="34" charset="0"/>
                        </a:rPr>
                        <a:t>$4,925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0" i="0" u="none" strike="noStrike">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09"/>
                  </a:ext>
                </a:extLst>
              </a:tr>
              <a:tr h="606308">
                <a:tc gridSpan="2">
                  <a:txBody>
                    <a:bodyPr/>
                    <a:lstStyle/>
                    <a:p>
                      <a:pPr algn="l" fontAlgn="ctr"/>
                      <a:r>
                        <a:rPr lang="en-US" sz="1100" b="0" i="1" u="none" strike="noStrike">
                          <a:solidFill>
                            <a:srgbClr val="000000"/>
                          </a:solidFill>
                          <a:effectLst/>
                          <a:latin typeface="Arial" panose="020B0604020202020204" pitchFamily="34" charset="0"/>
                        </a:rPr>
                        <a:t>Healthcare Convenience </a:t>
                      </a:r>
                      <a:r>
                        <a:rPr lang="en-US" sz="1100" b="0" i="1" u="none" strike="noStrike" dirty="0">
                          <a:solidFill>
                            <a:srgbClr val="000000"/>
                          </a:solidFill>
                          <a:effectLst/>
                          <a:latin typeface="Arial" panose="020B0604020202020204" pitchFamily="34" charset="0"/>
                        </a:rPr>
                        <a:t>Card to Cover Out-of-Pocket Expenses at 0% interest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Employee Amount Due to Provider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00" b="1" i="0" u="none" strike="noStrike">
                          <a:solidFill>
                            <a:srgbClr val="0061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FCE"/>
                    </a:solidFill>
                  </a:tcPr>
                </a:tc>
                <a:tc>
                  <a:txBody>
                    <a:bodyPr/>
                    <a:lstStyle/>
                    <a:p>
                      <a:pPr algn="ctr" fontAlgn="ctr"/>
                      <a:r>
                        <a:rPr lang="en-US" sz="1100" b="1" i="0" u="none" strike="noStrike">
                          <a:solidFill>
                            <a:srgbClr val="9C0006"/>
                          </a:solidFill>
                          <a:effectLst/>
                          <a:latin typeface="Arial" panose="020B0604020202020204" pitchFamily="34" charset="0"/>
                        </a:rPr>
                        <a:t>$4,500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7CE"/>
                    </a:solidFill>
                  </a:tcPr>
                </a:tc>
                <a:extLst>
                  <a:ext uri="{0D108BD9-81ED-4DB2-BD59-A6C34878D82A}">
                    <a16:rowId xmlns:a16="http://schemas.microsoft.com/office/drawing/2014/main" val="10010"/>
                  </a:ext>
                </a:extLst>
              </a:tr>
              <a:tr h="606308">
                <a:tc gridSpan="2">
                  <a:txBody>
                    <a:bodyPr/>
                    <a:lstStyle/>
                    <a:p>
                      <a:pPr algn="l" fontAlgn="ctr"/>
                      <a:r>
                        <a:rPr lang="en-US" sz="1100" b="0" i="1" u="none" strike="noStrike" dirty="0">
                          <a:solidFill>
                            <a:srgbClr val="000000"/>
                          </a:solidFill>
                          <a:effectLst/>
                          <a:latin typeface="Arial" panose="020B0604020202020204" pitchFamily="34" charset="0"/>
                        </a:rPr>
                        <a:t>Health Guardian Account to help members manage their healthcare expenses at Preferred Providers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en-US"/>
                    </a:p>
                  </a:txBody>
                  <a:tcPr/>
                </a:tc>
                <a:tc>
                  <a:txBody>
                    <a:bodyPr/>
                    <a:lstStyle/>
                    <a:p>
                      <a:pPr algn="l" fontAlgn="b"/>
                      <a:endParaRPr lang="en-US" sz="1100" b="0" i="0" u="none" strike="noStrike">
                        <a:solidFill>
                          <a:srgbClr val="000000"/>
                        </a:solidFill>
                        <a:effectLst/>
                        <a:latin typeface="Arial" panose="020B0604020202020204" pitchFamily="34"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ctr"/>
                      <a:r>
                        <a:rPr lang="en-US" sz="1100" b="1" i="0" u="none" strike="noStrike">
                          <a:solidFill>
                            <a:srgbClr val="000000"/>
                          </a:solidFill>
                          <a:effectLst/>
                          <a:latin typeface="Arial" panose="020B0604020202020204" pitchFamily="34" charset="0"/>
                        </a:rPr>
                        <a:t>Additional Benefit Payable to the Health Guardian Account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$425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100" b="1" i="0" u="none" strike="noStrike" dirty="0">
                          <a:solidFill>
                            <a:srgbClr val="000000"/>
                          </a:solidFill>
                          <a:effectLst/>
                          <a:latin typeface="Arial" panose="020B0604020202020204" pitchFamily="34"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0011"/>
                  </a:ext>
                </a:extLst>
              </a:tr>
            </a:tbl>
          </a:graphicData>
        </a:graphic>
      </p:graphicFrame>
      <p:sp>
        <p:nvSpPr>
          <p:cNvPr id="9" name="TextBox 1">
            <a:extLst>
              <a:ext uri="{FF2B5EF4-FFF2-40B4-BE49-F238E27FC236}">
                <a16:creationId xmlns:a16="http://schemas.microsoft.com/office/drawing/2014/main" id="{44DBDC61-BD46-77F3-6F4A-E238A3B3F130}"/>
              </a:ext>
            </a:extLst>
          </p:cNvPr>
          <p:cNvSpPr txBox="1">
            <a:spLocks noChangeArrowheads="1"/>
          </p:cNvSpPr>
          <p:nvPr/>
        </p:nvSpPr>
        <p:spPr bwMode="auto">
          <a:xfrm>
            <a:off x="1035050" y="6332538"/>
            <a:ext cx="69786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100" i="1">
                <a:solidFill>
                  <a:srgbClr val="000000"/>
                </a:solidFill>
                <a:latin typeface="Aptos" panose="020B0004020202020204" pitchFamily="34" charset="0"/>
              </a:rPr>
              <a:t>*Base Medical Benefits are for illustration purposes only. Base benefits can be customized to meet client needs.</a:t>
            </a:r>
          </a:p>
        </p:txBody>
      </p:sp>
      <p:sp>
        <p:nvSpPr>
          <p:cNvPr id="10" name="Freeform 9">
            <a:extLst>
              <a:ext uri="{FF2B5EF4-FFF2-40B4-BE49-F238E27FC236}">
                <a16:creationId xmlns:a16="http://schemas.microsoft.com/office/drawing/2014/main" id="{53CA7810-E974-2773-613F-7C57BCBAA5FD}"/>
              </a:ext>
            </a:extLst>
          </p:cNvPr>
          <p:cNvSpPr>
            <a:spLocks/>
          </p:cNvSpPr>
          <p:nvPr/>
        </p:nvSpPr>
        <p:spPr bwMode="auto">
          <a:xfrm rot="16200000" flipV="1">
            <a:off x="5969793" y="-5957093"/>
            <a:ext cx="271463" cy="12192000"/>
          </a:xfrm>
          <a:custGeom>
            <a:avLst/>
            <a:gdLst>
              <a:gd name="T0" fmla="*/ 0 w 165300"/>
              <a:gd name="T1" fmla="*/ 0 h 503014"/>
              <a:gd name="T2" fmla="*/ 271862 w 165300"/>
              <a:gd name="T3" fmla="*/ 0 h 503014"/>
              <a:gd name="T4" fmla="*/ 271862 w 165300"/>
              <a:gd name="T5" fmla="*/ 12192000 h 503014"/>
              <a:gd name="T6" fmla="*/ 0 w 165300"/>
              <a:gd name="T7" fmla="*/ 12192000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1FA40FF6-6F06-E7AC-B58F-754B92C3F5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00188"/>
            <a:ext cx="724058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1">
            <a:extLst>
              <a:ext uri="{FF2B5EF4-FFF2-40B4-BE49-F238E27FC236}">
                <a16:creationId xmlns:a16="http://schemas.microsoft.com/office/drawing/2014/main" id="{EB2CE0FD-6B1E-B7F0-53B0-E04CE9D1F342}"/>
              </a:ext>
            </a:extLst>
          </p:cNvPr>
          <p:cNvSpPr>
            <a:spLocks noGrp="1" noChangeArrowheads="1"/>
          </p:cNvSpPr>
          <p:nvPr>
            <p:ph type="sldNum" sz="quarter" idx="12"/>
          </p:nvPr>
        </p:nvSpPr>
        <p:spPr bwMode="auto">
          <a:xfrm>
            <a:off x="8959850" y="6335713"/>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fld id="{EA699914-4451-4BEC-AE9A-05A627140C49}" type="slidenum">
              <a:rPr lang="en-US" altLang="en-US" smtClean="0">
                <a:solidFill>
                  <a:srgbClr val="898989"/>
                </a:solidFill>
                <a:latin typeface="Montserrat" panose="00000500000000000000" pitchFamily="2" charset="0"/>
              </a:rPr>
              <a:pPr fontAlgn="base">
                <a:spcBef>
                  <a:spcPct val="0"/>
                </a:spcBef>
                <a:spcAft>
                  <a:spcPct val="0"/>
                </a:spcAft>
              </a:pPr>
              <a:t>25</a:t>
            </a:fld>
            <a:endParaRPr lang="en-US" altLang="en-US" dirty="0">
              <a:solidFill>
                <a:srgbClr val="898989"/>
              </a:solidFill>
              <a:latin typeface="Montserrat" panose="00000500000000000000" pitchFamily="2" charset="0"/>
            </a:endParaRPr>
          </a:p>
        </p:txBody>
      </p:sp>
      <p:pic>
        <p:nvPicPr>
          <p:cNvPr id="4" name="Picture 14">
            <a:extLst>
              <a:ext uri="{FF2B5EF4-FFF2-40B4-BE49-F238E27FC236}">
                <a16:creationId xmlns:a16="http://schemas.microsoft.com/office/drawing/2014/main" id="{24DABA54-344C-0002-7993-38600E1AC5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6356350"/>
            <a:ext cx="21240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15">
            <a:extLst>
              <a:ext uri="{FF2B5EF4-FFF2-40B4-BE49-F238E27FC236}">
                <a16:creationId xmlns:a16="http://schemas.microsoft.com/office/drawing/2014/main" id="{C7195C47-ACB6-7506-6D43-E4D4E204766B}"/>
              </a:ext>
            </a:extLst>
          </p:cNvPr>
          <p:cNvSpPr>
            <a:spLocks/>
          </p:cNvSpPr>
          <p:nvPr/>
        </p:nvSpPr>
        <p:spPr bwMode="auto">
          <a:xfrm rot="16200000" flipV="1">
            <a:off x="7292976" y="1958975"/>
            <a:ext cx="195262" cy="9628187"/>
          </a:xfrm>
          <a:custGeom>
            <a:avLst/>
            <a:gdLst>
              <a:gd name="T0" fmla="*/ 0 w 165300"/>
              <a:gd name="T1" fmla="*/ 0 h 503014"/>
              <a:gd name="T2" fmla="*/ 229461 w 165300"/>
              <a:gd name="T3" fmla="*/ 0 h 503014"/>
              <a:gd name="T4" fmla="*/ 229461 w 165300"/>
              <a:gd name="T5" fmla="*/ 184313858 h 503014"/>
              <a:gd name="T6" fmla="*/ 0 w 165300"/>
              <a:gd name="T7" fmla="*/ 184313858 h 5030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5300" h="503014">
                <a:moveTo>
                  <a:pt x="0" y="0"/>
                </a:moveTo>
                <a:lnTo>
                  <a:pt x="165300" y="0"/>
                </a:lnTo>
                <a:lnTo>
                  <a:pt x="165300" y="503014"/>
                </a:lnTo>
                <a:lnTo>
                  <a:pt x="0" y="503014"/>
                </a:lnTo>
                <a:lnTo>
                  <a:pt x="0" y="0"/>
                </a:lnTo>
                <a:close/>
              </a:path>
            </a:pathLst>
          </a:custGeom>
          <a:solidFill>
            <a:srgbClr val="00539F"/>
          </a:solidFill>
          <a:ln>
            <a:noFill/>
          </a:ln>
          <a:extLst>
            <a:ext uri="{91240B29-F687-4F45-9708-019B960494DF}">
              <a14:hiddenLine xmlns:a14="http://schemas.microsoft.com/office/drawing/2010/main" w="0" cap="flat">
                <a:solidFill>
                  <a:srgbClr val="000000"/>
                </a:solidFill>
                <a:prstDash val="solid"/>
                <a:miter lim="800000"/>
                <a:headEnd/>
                <a:tailEnd/>
              </a14:hiddenLine>
            </a:ext>
          </a:extLst>
        </p:spPr>
        <p:txBody>
          <a:bodyPr anchor="ctr"/>
          <a:lstStyle/>
          <a:p>
            <a:endParaRPr lang="en-US"/>
          </a:p>
        </p:txBody>
      </p:sp>
      <p:sp>
        <p:nvSpPr>
          <p:cNvPr id="6" name="Rectangle 10">
            <a:extLst>
              <a:ext uri="{FF2B5EF4-FFF2-40B4-BE49-F238E27FC236}">
                <a16:creationId xmlns:a16="http://schemas.microsoft.com/office/drawing/2014/main" id="{2C3C063F-478C-1983-EB9B-BC9212331397}"/>
              </a:ext>
            </a:extLst>
          </p:cNvPr>
          <p:cNvSpPr/>
          <p:nvPr/>
        </p:nvSpPr>
        <p:spPr>
          <a:xfrm>
            <a:off x="8037513" y="1449547"/>
            <a:ext cx="3736975" cy="4886166"/>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pic>
        <p:nvPicPr>
          <p:cNvPr id="7" name="Picture 16">
            <a:extLst>
              <a:ext uri="{FF2B5EF4-FFF2-40B4-BE49-F238E27FC236}">
                <a16:creationId xmlns:a16="http://schemas.microsoft.com/office/drawing/2014/main" id="{AC6455EE-959B-4362-17D7-EFB7941BCA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23238" y="1578134"/>
            <a:ext cx="119697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rrow: Pentagon 17">
            <a:extLst>
              <a:ext uri="{FF2B5EF4-FFF2-40B4-BE49-F238E27FC236}">
                <a16:creationId xmlns:a16="http://schemas.microsoft.com/office/drawing/2014/main" id="{2B66BBAF-AA35-B92F-61FA-4E65114689A0}"/>
              </a:ext>
            </a:extLst>
          </p:cNvPr>
          <p:cNvSpPr/>
          <p:nvPr/>
        </p:nvSpPr>
        <p:spPr>
          <a:xfrm>
            <a:off x="0" y="5080000"/>
            <a:ext cx="7639050" cy="766763"/>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latin typeface="Montserrat" panose="00000500000000000000" pitchFamily="2" charset="0"/>
            </a:endParaRPr>
          </a:p>
        </p:txBody>
      </p:sp>
      <p:sp>
        <p:nvSpPr>
          <p:cNvPr id="9" name="TextBox 2">
            <a:extLst>
              <a:ext uri="{FF2B5EF4-FFF2-40B4-BE49-F238E27FC236}">
                <a16:creationId xmlns:a16="http://schemas.microsoft.com/office/drawing/2014/main" id="{F0DF9754-79F6-1B64-8084-B9999BBEBED8}"/>
              </a:ext>
            </a:extLst>
          </p:cNvPr>
          <p:cNvSpPr txBox="1">
            <a:spLocks noChangeArrowheads="1"/>
          </p:cNvSpPr>
          <p:nvPr/>
        </p:nvSpPr>
        <p:spPr bwMode="auto">
          <a:xfrm>
            <a:off x="58738" y="5308600"/>
            <a:ext cx="76073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Montserrat" panose="00000500000000000000" pitchFamily="2" charset="0"/>
              </a:defRPr>
            </a:lvl1pPr>
            <a:lvl2pPr marL="742950" indent="-285750">
              <a:lnSpc>
                <a:spcPct val="90000"/>
              </a:lnSpc>
              <a:spcBef>
                <a:spcPts val="500"/>
              </a:spcBef>
              <a:buFont typeface="Arial" panose="020B0604020202020204" pitchFamily="34" charset="0"/>
              <a:buChar char="•"/>
              <a:defRPr sz="2400">
                <a:solidFill>
                  <a:schemeClr val="tx1"/>
                </a:solidFill>
                <a:latin typeface="Montserrat" panose="00000500000000000000" pitchFamily="2" charset="0"/>
              </a:defRPr>
            </a:lvl2pPr>
            <a:lvl3pPr marL="1143000" indent="-228600">
              <a:lnSpc>
                <a:spcPct val="90000"/>
              </a:lnSpc>
              <a:spcBef>
                <a:spcPts val="500"/>
              </a:spcBef>
              <a:buFont typeface="Arial" panose="020B0604020202020204" pitchFamily="34" charset="0"/>
              <a:buChar char="•"/>
              <a:defRPr sz="2000">
                <a:solidFill>
                  <a:schemeClr val="tx1"/>
                </a:solidFill>
                <a:latin typeface="Montserrat" panose="00000500000000000000" pitchFamily="2" charset="0"/>
              </a:defRPr>
            </a:lvl3pPr>
            <a:lvl4pPr marL="16002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4pPr>
            <a:lvl5pPr marL="2057400" indent="-228600">
              <a:lnSpc>
                <a:spcPct val="90000"/>
              </a:lnSpc>
              <a:spcBef>
                <a:spcPts val="500"/>
              </a:spcBef>
              <a:buFont typeface="Arial" panose="020B0604020202020204" pitchFamily="34" charset="0"/>
              <a:buChar char="•"/>
              <a:defRPr>
                <a:solidFill>
                  <a:schemeClr val="tx1"/>
                </a:solidFill>
                <a:latin typeface="Montserrat" panose="00000500000000000000" pitchFamily="2"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Montserrat" panose="00000500000000000000" pitchFamily="2" charset="0"/>
              </a:defRPr>
            </a:lvl9pPr>
          </a:lstStyle>
          <a:p>
            <a:pPr eaLnBrk="1" hangingPunct="1">
              <a:lnSpc>
                <a:spcPct val="100000"/>
              </a:lnSpc>
              <a:spcBef>
                <a:spcPct val="0"/>
              </a:spcBef>
              <a:buFontTx/>
              <a:buNone/>
            </a:pPr>
            <a:r>
              <a:rPr lang="en-US" altLang="en-US" sz="1600" dirty="0">
                <a:solidFill>
                  <a:srgbClr val="000000"/>
                </a:solidFill>
              </a:rPr>
              <a:t>Orlando Health patients can have all out-of-pocket liability reduced to $0!</a:t>
            </a:r>
          </a:p>
        </p:txBody>
      </p:sp>
      <p:graphicFrame>
        <p:nvGraphicFramePr>
          <p:cNvPr id="10" name="Table 6">
            <a:extLst>
              <a:ext uri="{FF2B5EF4-FFF2-40B4-BE49-F238E27FC236}">
                <a16:creationId xmlns:a16="http://schemas.microsoft.com/office/drawing/2014/main" id="{50F6F2E0-D342-3007-3295-A5A48FF44313}"/>
              </a:ext>
            </a:extLst>
          </p:cNvPr>
          <p:cNvGraphicFramePr>
            <a:graphicFrameLocks noGrp="1"/>
          </p:cNvGraphicFramePr>
          <p:nvPr>
            <p:extLst>
              <p:ext uri="{D42A27DB-BD31-4B8C-83A1-F6EECF244321}">
                <p14:modId xmlns:p14="http://schemas.microsoft.com/office/powerpoint/2010/main" val="3920873317"/>
              </p:ext>
            </p:extLst>
          </p:nvPr>
        </p:nvGraphicFramePr>
        <p:xfrm>
          <a:off x="8123238" y="1876901"/>
          <a:ext cx="3579812" cy="4471035"/>
        </p:xfrm>
        <a:graphic>
          <a:graphicData uri="http://schemas.openxmlformats.org/drawingml/2006/table">
            <a:tbl>
              <a:tblPr/>
              <a:tblGrid>
                <a:gridCol w="2000483">
                  <a:extLst>
                    <a:ext uri="{9D8B030D-6E8A-4147-A177-3AD203B41FA5}">
                      <a16:colId xmlns:a16="http://schemas.microsoft.com/office/drawing/2014/main" val="1876924050"/>
                    </a:ext>
                  </a:extLst>
                </a:gridCol>
                <a:gridCol w="1579329">
                  <a:extLst>
                    <a:ext uri="{9D8B030D-6E8A-4147-A177-3AD203B41FA5}">
                      <a16:colId xmlns:a16="http://schemas.microsoft.com/office/drawing/2014/main" val="2083762870"/>
                    </a:ext>
                  </a:extLst>
                </a:gridCol>
              </a:tblGrid>
              <a:tr h="228600">
                <a:tc gridSpan="2">
                  <a:txBody>
                    <a:bodyPr/>
                    <a:lstStyle/>
                    <a:p>
                      <a:pPr algn="ctr" fontAlgn="b">
                        <a:buNone/>
                      </a:pPr>
                      <a:r>
                        <a:rPr lang="en-US" sz="1800" b="1" i="0" u="none" strike="noStrike" dirty="0">
                          <a:solidFill>
                            <a:srgbClr val="FFFFFF"/>
                          </a:solidFill>
                          <a:effectLst/>
                          <a:latin typeface="Aptos Narrow" panose="020B0004020202020204" pitchFamily="34" charset="0"/>
                        </a:rPr>
                        <a:t>Explanation of Benefits</a:t>
                      </a:r>
                    </a:p>
                  </a:txBody>
                  <a:tcPr marL="9525" marR="9525" marT="9525" marB="0" anchor="b">
                    <a:lnL>
                      <a:noFill/>
                    </a:lnL>
                    <a:lnR>
                      <a:noFill/>
                    </a:lnR>
                    <a:lnT>
                      <a:noFill/>
                    </a:lnT>
                    <a:lnB w="6350" cap="flat" cmpd="sng" algn="ctr">
                      <a:solidFill>
                        <a:srgbClr val="000000"/>
                      </a:solidFill>
                      <a:prstDash val="solid"/>
                      <a:round/>
                      <a:headEnd type="none" w="med" len="med"/>
                      <a:tailEnd type="none" w="med" len="med"/>
                    </a:lnB>
                    <a:solidFill>
                      <a:srgbClr val="0E2841"/>
                    </a:solidFill>
                  </a:tcPr>
                </a:tc>
                <a:tc hMerge="1">
                  <a:txBody>
                    <a:bodyPr/>
                    <a:lstStyle/>
                    <a:p>
                      <a:endParaRPr lang="en-US"/>
                    </a:p>
                  </a:txBody>
                  <a:tcPr/>
                </a:tc>
                <a:extLst>
                  <a:ext uri="{0D108BD9-81ED-4DB2-BD59-A6C34878D82A}">
                    <a16:rowId xmlns:a16="http://schemas.microsoft.com/office/drawing/2014/main" val="3443869175"/>
                  </a:ext>
                </a:extLst>
              </a:tr>
              <a:tr h="182880">
                <a:tc gridSpan="2">
                  <a:txBody>
                    <a:bodyPr/>
                    <a:lstStyle/>
                    <a:p>
                      <a:pPr algn="ctr" fontAlgn="b">
                        <a:buNone/>
                      </a:pPr>
                      <a:r>
                        <a:rPr lang="en-US" sz="1400" b="0" i="0" u="none" strike="noStrike" dirty="0">
                          <a:solidFill>
                            <a:srgbClr val="000000"/>
                          </a:solidFill>
                          <a:effectLst/>
                          <a:latin typeface="Aptos Narrow" panose="020B0004020202020204" pitchFamily="34" charset="0"/>
                        </a:rPr>
                        <a:t>Heart Attack, Cardiac Surgery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3803465819"/>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CHARGES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447156677"/>
                  </a:ext>
                </a:extLst>
              </a:tr>
              <a:tr h="182880">
                <a:tc>
                  <a:txBody>
                    <a:bodyPr/>
                    <a:lstStyle/>
                    <a:p>
                      <a:pPr algn="l" fontAlgn="b">
                        <a:buNone/>
                      </a:pPr>
                      <a:r>
                        <a:rPr lang="en-US" sz="1400" b="0" i="0" u="none" strike="noStrike">
                          <a:solidFill>
                            <a:srgbClr val="000000"/>
                          </a:solidFill>
                          <a:effectLst/>
                          <a:latin typeface="Aptos Narrow" panose="020B0004020202020204" pitchFamily="34" charset="0"/>
                        </a:rPr>
                        <a:t>Medical Bills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a:solidFill>
                            <a:srgbClr val="000000"/>
                          </a:solidFill>
                          <a:effectLst/>
                          <a:latin typeface="Aptos Narrow" panose="020B0004020202020204" pitchFamily="34" charset="0"/>
                        </a:rPr>
                        <a:t>$25,000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060622463"/>
                  </a:ext>
                </a:extLst>
              </a:tr>
              <a:tr h="365760">
                <a:tc>
                  <a:txBody>
                    <a:bodyPr/>
                    <a:lstStyle/>
                    <a:p>
                      <a:pPr algn="l" fontAlgn="b">
                        <a:buNone/>
                      </a:pPr>
                      <a:r>
                        <a:rPr lang="en-US" sz="1400" b="0" i="0" u="none" strike="noStrike" dirty="0">
                          <a:solidFill>
                            <a:srgbClr val="000000"/>
                          </a:solidFill>
                          <a:effectLst/>
                          <a:latin typeface="Aptos Narrow" panose="020B0004020202020204" pitchFamily="34" charset="0"/>
                        </a:rPr>
                        <a:t>Healthcare out-of-pocket due to provider</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a:solidFill>
                            <a:srgbClr val="000000"/>
                          </a:solidFill>
                          <a:effectLst/>
                          <a:latin typeface="Aptos Narrow" panose="020B0004020202020204" pitchFamily="34" charset="0"/>
                        </a:rPr>
                        <a:t>$4,500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944777"/>
                  </a:ext>
                </a:extLst>
              </a:tr>
              <a:tr h="617220">
                <a:tc gridSpan="2">
                  <a:txBody>
                    <a:bodyPr/>
                    <a:lstStyle/>
                    <a:p>
                      <a:pPr algn="ctr" fontAlgn="b">
                        <a:buNone/>
                      </a:pPr>
                      <a:r>
                        <a:rPr lang="en-US" sz="1400" b="0" i="0" u="none" strike="noStrike">
                          <a:solidFill>
                            <a:srgbClr val="000000"/>
                          </a:solidFill>
                          <a:effectLst/>
                          <a:latin typeface="Aptos Narrow" panose="020B0004020202020204" pitchFamily="34" charset="0"/>
                        </a:rPr>
                        <a:t>Since your out of pocket maximum has been met, the rest of your eligible charges this year will be paid at 100%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982997664"/>
                  </a:ext>
                </a:extLst>
              </a:tr>
              <a:tr h="182880">
                <a:tc gridSpan="2">
                  <a:txBody>
                    <a:bodyPr/>
                    <a:lstStyle/>
                    <a:p>
                      <a:pPr algn="ctr" fontAlgn="b">
                        <a:buNone/>
                      </a:pPr>
                      <a:r>
                        <a:rPr lang="en-US" sz="1400" b="1" i="0" u="none" strike="noStrike">
                          <a:solidFill>
                            <a:srgbClr val="000000"/>
                          </a:solidFill>
                          <a:effectLst/>
                          <a:latin typeface="Aptos Narrow" panose="020B0004020202020204" pitchFamily="34" charset="0"/>
                        </a:rPr>
                        <a:t>THE CREDITS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212104715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Radiology/X-Ray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6438341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OP Diagnostic  Labs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974529705"/>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Preferred Hospital Stay ($500/day, 5 days)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432235782"/>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Critical Illness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$2,000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042279429"/>
                  </a:ext>
                </a:extLst>
              </a:tr>
              <a:tr h="182880">
                <a:tc>
                  <a:txBody>
                    <a:bodyPr/>
                    <a:lstStyle/>
                    <a:p>
                      <a:pPr algn="l" fontAlgn="b"/>
                      <a:r>
                        <a:rPr lang="en-US" sz="1400" b="0" i="0" u="none" strike="noStrike" kern="1200" dirty="0">
                          <a:solidFill>
                            <a:srgbClr val="000000"/>
                          </a:solidFill>
                          <a:effectLst/>
                          <a:latin typeface="Aptos Narrow" panose="020B0004020202020204" pitchFamily="34" charset="0"/>
                          <a:ea typeface="+mn-ea"/>
                          <a:cs typeface="+mn-cs"/>
                        </a:rPr>
                        <a:t>Health Screening Benefit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r" fontAlgn="b"/>
                      <a:r>
                        <a:rPr lang="en-US" sz="1400" b="0" i="0" u="none" strike="noStrike" kern="1200" dirty="0">
                          <a:solidFill>
                            <a:srgbClr val="000000"/>
                          </a:solidFill>
                          <a:effectLst/>
                          <a:latin typeface="Aptos Narrow" panose="020B0004020202020204" pitchFamily="34" charset="0"/>
                          <a:ea typeface="+mn-ea"/>
                          <a:cs typeface="+mn-cs"/>
                        </a:rPr>
                        <a:t>$125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0345252"/>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Benefit Total</a:t>
                      </a: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r" fontAlgn="b">
                        <a:buNone/>
                      </a:pPr>
                      <a:r>
                        <a:rPr lang="en-US" sz="1400" b="0" i="0" u="none" strike="noStrike" dirty="0">
                          <a:solidFill>
                            <a:srgbClr val="000000"/>
                          </a:solidFill>
                          <a:effectLst/>
                          <a:latin typeface="Aptos Narrow" panose="020B0004020202020204" pitchFamily="34" charset="0"/>
                        </a:rPr>
                        <a:t>$4,925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830504511"/>
                  </a:ext>
                </a:extLst>
              </a:tr>
              <a:tr h="182880">
                <a:tc>
                  <a:txBody>
                    <a:bodyPr/>
                    <a:lstStyle/>
                    <a:p>
                      <a:pPr algn="l" fontAlgn="b">
                        <a:buNone/>
                      </a:pPr>
                      <a:r>
                        <a:rPr lang="en-US" sz="1400" b="0" i="0" u="none" strike="noStrike" dirty="0">
                          <a:solidFill>
                            <a:srgbClr val="000000"/>
                          </a:solidFill>
                          <a:effectLst/>
                          <a:latin typeface="Aptos Narrow" panose="020B0004020202020204" pitchFamily="34" charset="0"/>
                        </a:rPr>
                        <a:t>Out of Pocket Paid to Hospital</a:t>
                      </a:r>
                    </a:p>
                  </a:txBody>
                  <a:tcPr marL="9525" marR="9525" marT="9525"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0" i="0" u="none" strike="noStrike" dirty="0">
                          <a:solidFill>
                            <a:srgbClr val="FF0000"/>
                          </a:solidFill>
                          <a:effectLst/>
                          <a:latin typeface="Aptos Narrow" panose="020B0004020202020204" pitchFamily="34" charset="0"/>
                        </a:rPr>
                        <a:t>($4,500)</a:t>
                      </a:r>
                    </a:p>
                  </a:txBody>
                  <a:tcPr marL="9525" marR="9525" marT="9525"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7779125"/>
                  </a:ext>
                </a:extLst>
              </a:tr>
              <a:tr h="182880">
                <a:tc>
                  <a:txBody>
                    <a:bodyPr/>
                    <a:lstStyle/>
                    <a:p>
                      <a:pPr algn="l" fontAlgn="b">
                        <a:buNone/>
                      </a:pPr>
                      <a:r>
                        <a:rPr lang="en-US" sz="1400" b="1" i="0" u="none" strike="noStrike" dirty="0">
                          <a:solidFill>
                            <a:srgbClr val="000000"/>
                          </a:solidFill>
                          <a:effectLst/>
                          <a:latin typeface="Aptos Narrow" panose="020B0004020202020204" pitchFamily="34" charset="0"/>
                        </a:rPr>
                        <a:t>Balance Paid </a:t>
                      </a:r>
                      <a:r>
                        <a:rPr lang="en-US" sz="1400" b="1" i="0" u="none" strike="noStrike">
                          <a:solidFill>
                            <a:srgbClr val="000000"/>
                          </a:solidFill>
                          <a:effectLst/>
                          <a:latin typeface="Aptos Narrow" panose="020B0004020202020204" pitchFamily="34" charset="0"/>
                        </a:rPr>
                        <a:t>to HSA</a:t>
                      </a:r>
                      <a:endParaRPr lang="en-US" sz="1400" b="1" i="0" u="none" strike="noStrike" dirty="0">
                        <a:solidFill>
                          <a:srgbClr val="000000"/>
                        </a:solidFill>
                        <a:effectLst/>
                        <a:latin typeface="Aptos Narrow" panose="020B00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b">
                        <a:buNone/>
                      </a:pPr>
                      <a:r>
                        <a:rPr lang="en-US" sz="1400" b="1" i="0" u="none" strike="noStrike" dirty="0">
                          <a:solidFill>
                            <a:srgbClr val="000000"/>
                          </a:solidFill>
                          <a:effectLst/>
                          <a:latin typeface="Aptos Narrow" panose="020B0004020202020204" pitchFamily="34" charset="0"/>
                        </a:rPr>
                        <a:t>$425 </a:t>
                      </a:r>
                    </a:p>
                  </a:txBody>
                  <a:tcPr marL="9525" marR="9525" marT="9525"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4894644"/>
                  </a:ext>
                </a:extLst>
              </a:tr>
            </a:tbl>
          </a:graphicData>
        </a:graphic>
      </p:graphicFrame>
      <p:sp>
        <p:nvSpPr>
          <p:cNvPr id="11" name="Title 2">
            <a:extLst>
              <a:ext uri="{FF2B5EF4-FFF2-40B4-BE49-F238E27FC236}">
                <a16:creationId xmlns:a16="http://schemas.microsoft.com/office/drawing/2014/main" id="{540D5885-347A-7711-D396-2864B8FC4403}"/>
              </a:ext>
            </a:extLst>
          </p:cNvPr>
          <p:cNvSpPr txBox="1">
            <a:spLocks/>
          </p:cNvSpPr>
          <p:nvPr/>
        </p:nvSpPr>
        <p:spPr>
          <a:xfrm>
            <a:off x="117445" y="207689"/>
            <a:ext cx="11534623" cy="1082169"/>
          </a:xfrm>
          <a:prstGeom prst="rect">
            <a:avLst/>
          </a:prstGeom>
        </p:spPr>
        <p:txBody>
          <a:bodyPr vert="horz" lIns="91440" tIns="45720" rIns="91440" bIns="45720" rtlCol="0">
            <a:normAutofit fontScale="62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spcBef>
                <a:spcPts val="1000"/>
              </a:spcBef>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ORLANDO HEALTH</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a:t>
            </a:r>
            <a:r>
              <a:rPr lang="en-US" sz="1800" b="1" dirty="0">
                <a:solidFill>
                  <a:srgbClr val="00539F"/>
                </a:solidFill>
                <a:latin typeface="Montserrat" panose="00000500000000000000" pitchFamily="2" charset="0"/>
                <a:cs typeface="Arial" panose="020B0604020202020204" pitchFamily="34" charset="0"/>
              </a:rPr>
              <a:t>Convenience</a:t>
            </a: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960674"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000" b="0"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KBA HEALTHCARE CONVENIENCE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ASSUMPTIONS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ORLANDO HEALTH</a:t>
            </a:r>
            <a:r>
              <a:rPr lang="en-US" sz="2800">
                <a:latin typeface="Montserrat" panose="00000500000000000000" pitchFamily="2" charset="0"/>
                <a:cs typeface="Arial" panose="020B0604020202020204" pitchFamily="34" charset="0"/>
              </a:rPr>
              <a:t>’S 2023 </a:t>
            </a:r>
            <a:r>
              <a:rPr lang="en-US" sz="2800" dirty="0">
                <a:latin typeface="Montserrat" panose="00000500000000000000" pitchFamily="2" charset="0"/>
                <a:cs typeface="Arial" panose="020B0604020202020204" pitchFamily="34" charset="0"/>
              </a:rPr>
              <a:t>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Orlando Health</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692,808</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$5,292,311K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122,516</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$497,291K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17%</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42,608</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$444,908K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6%</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51,528</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-$421,424K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7%</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476,156</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$4,386,498K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69%</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2022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Orlando Health estimates commercial insurance reimbursements at 304%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4,386,498K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304%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2,867,875K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7,254,373</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5,554,567</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$1,699,806K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23%</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49428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304%</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1,441,120K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942,199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2,383,319</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5,554,567</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-3,171,248</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-133%</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49.1%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24%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12%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2313964517"/>
              </p:ext>
            </p:extLst>
          </p:nvPr>
        </p:nvGraphicFramePr>
        <p:xfrm>
          <a:off x="265176" y="914400"/>
          <a:ext cx="9829800" cy="4400552"/>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1774544">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strike="noStrike" cap="none">
                          <a:solidFill>
                            <a:srgbClr val="000000">
                              <a:alpha val="100000"/>
                            </a:srgbClr>
                          </a:solidFill>
                          <a:latin typeface="Montserrat"/>
                          <a:cs typeface="Arial"/>
                          <a:sym typeface="Arial"/>
                        </a:rPr>
                        <a:t>Outpatient Percent of Market Total (Assuming 49.1%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477456">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Orlando Health Orlando Regional Medical Center</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1,754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$14,501,412.9K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$ 9,829,748.7K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358092">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Orlando Health - Health Central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276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$ 1,558,770.8K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$ 1,275,319.8K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358092">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Orlando Health Bayfront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264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$ 2,014,390.8K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$ 1,175,440.6K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358092">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Orlando Health South Lake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225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$ 1,629,087.9K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$ 1,513,260.7K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358092">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Orlando Health Sebastian River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145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356,235.3K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542,063.6K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358092">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Orlando Health Melbourne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119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397,948.2K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681,443.6K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358092">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Orlando Health St Cloud Hospital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82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533,328.2K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   526,756.3K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a:solidFill>
                            <a:srgbClr val="000000">
                              <a:alpha val="100000"/>
                            </a:srgbClr>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1000" b="0" i="0" u="none" strike="noStrike" cap="none" dirty="0">
                          <a:solidFill>
                            <a:srgbClr val="000000">
                              <a:alpha val="100000"/>
                            </a:srgbClr>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275516759"/>
              </p:ext>
            </p:extLst>
          </p:nvPr>
        </p:nvGraphicFramePr>
        <p:xfrm>
          <a:off x="1" y="0"/>
          <a:ext cx="12192000" cy="6761480"/>
        </p:xfrm>
        <a:graphic>
          <a:graphicData uri="http://schemas.openxmlformats.org/drawingml/2006/table">
            <a:tbl>
              <a:tblPr/>
              <a:tblGrid>
                <a:gridCol w="1735166">
                  <a:extLst>
                    <a:ext uri="{9D8B030D-6E8A-4147-A177-3AD203B41FA5}">
                      <a16:colId xmlns:a16="http://schemas.microsoft.com/office/drawing/2014/main" val="20000"/>
                    </a:ext>
                  </a:extLst>
                </a:gridCol>
                <a:gridCol w="1875637">
                  <a:extLst>
                    <a:ext uri="{9D8B030D-6E8A-4147-A177-3AD203B41FA5}">
                      <a16:colId xmlns:a16="http://schemas.microsoft.com/office/drawing/2014/main" val="20001"/>
                    </a:ext>
                  </a:extLst>
                </a:gridCol>
                <a:gridCol w="1565641">
                  <a:extLst>
                    <a:ext uri="{9D8B030D-6E8A-4147-A177-3AD203B41FA5}">
                      <a16:colId xmlns:a16="http://schemas.microsoft.com/office/drawing/2014/main" val="20002"/>
                    </a:ext>
                  </a:extLst>
                </a:gridCol>
                <a:gridCol w="1318475">
                  <a:extLst>
                    <a:ext uri="{9D8B030D-6E8A-4147-A177-3AD203B41FA5}">
                      <a16:colId xmlns:a16="http://schemas.microsoft.com/office/drawing/2014/main" val="20003"/>
                    </a:ext>
                  </a:extLst>
                </a:gridCol>
                <a:gridCol w="1414838">
                  <a:extLst>
                    <a:ext uri="{9D8B030D-6E8A-4147-A177-3AD203B41FA5}">
                      <a16:colId xmlns:a16="http://schemas.microsoft.com/office/drawing/2014/main" val="20004"/>
                    </a:ext>
                  </a:extLst>
                </a:gridCol>
                <a:gridCol w="1574180">
                  <a:extLst>
                    <a:ext uri="{9D8B030D-6E8A-4147-A177-3AD203B41FA5}">
                      <a16:colId xmlns:a16="http://schemas.microsoft.com/office/drawing/2014/main" val="20005"/>
                    </a:ext>
                  </a:extLst>
                </a:gridCol>
                <a:gridCol w="1389662">
                  <a:extLst>
                    <a:ext uri="{9D8B030D-6E8A-4147-A177-3AD203B41FA5}">
                      <a16:colId xmlns:a16="http://schemas.microsoft.com/office/drawing/2014/main" val="20006"/>
                    </a:ext>
                  </a:extLst>
                </a:gridCol>
                <a:gridCol w="1318401">
                  <a:extLst>
                    <a:ext uri="{9D8B030D-6E8A-4147-A177-3AD203B41FA5}">
                      <a16:colId xmlns:a16="http://schemas.microsoft.com/office/drawing/2014/main" val="20007"/>
                    </a:ext>
                  </a:extLst>
                </a:gridCol>
              </a:tblGrid>
              <a:tr h="190462">
                <a:tc gridSpan="8">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408861">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Orlando Health Orlando Regional Medical Center</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Orlando Health - Health Central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Orlando Health Bayfront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Orlando Health South Lake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Orlando Health Sebastian River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Orlando Health Melbourne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strike="noStrike" cap="none">
                          <a:solidFill>
                            <a:srgbClr val="000000">
                              <a:alpha val="100000"/>
                            </a:srgbClr>
                          </a:solidFill>
                          <a:latin typeface="Montserrat"/>
                          <a:cs typeface="Arial"/>
                          <a:sym typeface="Arial"/>
                        </a:rPr>
                        <a:t>Orlando Health St Cloud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20564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$2,247,719K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$221,345K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$247,770K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$215,040K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$32,417K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$35,815K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$66,666K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20564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$1,523,611K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$181,095K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$144,579K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$199,750K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$49,328K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$61,330K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$65,845K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180036">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$307,853K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$33,828K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$47,991K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$58,425K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$18,108K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$17,649K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$13,437K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278219">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$336,475K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$16,047K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$71,767K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$11,459K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$5,083K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$4,076K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20564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$3,125,294K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$352,918K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$273,322K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$346,468K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$92,599K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$81,442K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$114,456K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20564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$246,597K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$66,391K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$42,252K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$42,184K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$734K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$5,688K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$17,577K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20564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$2,432,131K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$197,549K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$259,460K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$186,901K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$50,258K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$35,404K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$60,628K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20564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$1,648,614K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$161,626K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$151,401K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$173,613K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$76,475K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$60,626K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$59,880K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20564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$4,080,746K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$359,175K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$410,861K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$360,514K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$126,733K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$96,030K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$120,508K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180036">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$-311,124K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$43,619K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$-17,781K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$55,839K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$-16,027K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$8,144K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$11,460K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205640">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19.8%</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28.8%</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35.6%</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35.5%</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14.2%</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a:solidFill>
                            <a:srgbClr val="000000">
                              <a:alpha val="100000"/>
                            </a:srgbClr>
                          </a:solidFill>
                          <a:latin typeface="Montserrat"/>
                          <a:cs typeface="Arial"/>
                          <a:sym typeface="Arial"/>
                        </a:rPr>
                        <a:t>36.2%</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strike="noStrike" cap="none" dirty="0">
                          <a:solidFill>
                            <a:srgbClr val="000000">
                              <a:alpha val="100000"/>
                            </a:srgbClr>
                          </a:solidFill>
                          <a:latin typeface="Montserrat"/>
                          <a:cs typeface="Arial"/>
                          <a:sym typeface="Arial"/>
                        </a:rPr>
                        <a:t>28.2%</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0">
                <a:tc gridSpan="8">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gridSpan="8">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gridSpan="8">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0">
                <a:tc gridSpan="8">
                  <a:txBody>
                    <a:bodyPr/>
                    <a:lstStyle/>
                    <a:p>
                      <a:pPr marL="63500" marR="63500" algn="l">
                        <a:lnSpc>
                          <a:spcPct val="100000"/>
                        </a:lnSpc>
                        <a:spcBef>
                          <a:spcPts val="500"/>
                        </a:spcBef>
                        <a:spcAft>
                          <a:spcPts val="500"/>
                        </a:spcAft>
                        <a:buNone/>
                      </a:pPr>
                      <a:r>
                        <a:rPr sz="800" b="0" i="0" u="none" strike="noStrik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strike="noStrik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Orlando Health has 24% inpatient market share, and 12% outpatient market compared to hospitals/clinics in the Orlando Health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Orlando Health.</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convenience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High estimates start nearly 10% higher than target with low estimates at 10% lower than target</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3770860657"/>
              </p:ext>
            </p:extLst>
          </p:nvPr>
        </p:nvGraphicFramePr>
        <p:xfrm>
          <a:off x="838200" y="934720"/>
          <a:ext cx="7199375" cy="5060691"/>
        </p:xfrm>
        <a:graphic>
          <a:graphicData uri="http://schemas.openxmlformats.org/drawingml/2006/table">
            <a:tbl>
              <a:tblPr/>
              <a:tblGrid>
                <a:gridCol w="1439875">
                  <a:extLst>
                    <a:ext uri="{9D8B030D-6E8A-4147-A177-3AD203B41FA5}">
                      <a16:colId xmlns:a16="http://schemas.microsoft.com/office/drawing/2014/main" val="20000"/>
                    </a:ext>
                  </a:extLst>
                </a:gridCol>
                <a:gridCol w="1439875">
                  <a:extLst>
                    <a:ext uri="{9D8B030D-6E8A-4147-A177-3AD203B41FA5}">
                      <a16:colId xmlns:a16="http://schemas.microsoft.com/office/drawing/2014/main" val="20001"/>
                    </a:ext>
                  </a:extLst>
                </a:gridCol>
                <a:gridCol w="1439875">
                  <a:extLst>
                    <a:ext uri="{9D8B030D-6E8A-4147-A177-3AD203B41FA5}">
                      <a16:colId xmlns:a16="http://schemas.microsoft.com/office/drawing/2014/main" val="20002"/>
                    </a:ext>
                  </a:extLst>
                </a:gridCol>
                <a:gridCol w="1439875">
                  <a:extLst>
                    <a:ext uri="{9D8B030D-6E8A-4147-A177-3AD203B41FA5}">
                      <a16:colId xmlns:a16="http://schemas.microsoft.com/office/drawing/2014/main" val="20003"/>
                    </a:ext>
                  </a:extLst>
                </a:gridCol>
                <a:gridCol w="1439875">
                  <a:extLst>
                    <a:ext uri="{9D8B030D-6E8A-4147-A177-3AD203B41FA5}">
                      <a16:colId xmlns:a16="http://schemas.microsoft.com/office/drawing/2014/main" val="20004"/>
                    </a:ext>
                  </a:extLst>
                </a:gridCol>
              </a:tblGrid>
              <a:tr h="784051">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Orlando Health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Percent of Members Choosing Orlando Health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1383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1,300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2,300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1383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1383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1383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1383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1383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12,400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22,300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1383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29,500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1383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1383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26,300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69%</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62%</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1383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32,000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1383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37,900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1383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78,500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1383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49,000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88,200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1383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96,700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1383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57,800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104,000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1383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110,000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1383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63,700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114,700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1383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118,300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1383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121,100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13832">
                <a:tc>
                  <a:txBody>
                    <a:bodyPr/>
                    <a:lstStyle/>
                    <a:p>
                      <a:pPr marL="0" marR="0" algn="ctr">
                        <a:lnSpc>
                          <a:spcPct val="100000"/>
                        </a:lnSpc>
                        <a:spcBef>
                          <a:spcPts val="0"/>
                        </a:spcBef>
                        <a:spcAft>
                          <a:spcPts val="0"/>
                        </a:spcAft>
                        <a:buNone/>
                      </a:pPr>
                      <a:r>
                        <a:rPr sz="1100" b="1" i="0" u="none" strike="noStrik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68,400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123,100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a:solidFill>
                            <a:srgbClr val="000000">
                              <a:alpha val="100000"/>
                            </a:srgbClr>
                          </a:solidFill>
                          <a:latin typeface="Montserrat"/>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strike="noStrike" cap="none" dirty="0">
                          <a:solidFill>
                            <a:srgbClr val="000000">
                              <a:alpha val="100000"/>
                            </a:srgbClr>
                          </a:solidFill>
                          <a:latin typeface="Montserrat"/>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287256461"/>
              </p:ext>
            </p:extLst>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11,400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$ 9,154,722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$ 8,174,712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$ 3,817,521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$ 21,146,955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$ 1,684,469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$ 1,504,147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$ 702,423.9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$ 3,891,040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484940483"/>
              </p:ext>
            </p:extLst>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$ 11,915,515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$ 136,800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$ 12,052,315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$ 11,872,315</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967198922"/>
              </p:ext>
            </p:extLst>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$ 26,029,332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$ 40,815,408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$ 19,060,449</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$ 85,905,188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$ 4,789,397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$ 7,510,035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$ 3,507,123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$ 15,806,555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6" name="TextBox 1">
            <a:extLst>
              <a:ext uri="{FF2B5EF4-FFF2-40B4-BE49-F238E27FC236}">
                <a16:creationId xmlns:a16="http://schemas.microsoft.com/office/drawing/2014/main" id="{60820A86-1B9D-21A4-BBB6-DDFB73605882}"/>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24% (inpatient) and 12% (outpatient)</a:t>
            </a:r>
          </a:p>
        </p:txBody>
      </p:sp>
      <p:sp>
        <p:nvSpPr>
          <p:cNvPr id="7" name="TextBox 2">
            <a:extLst>
              <a:ext uri="{FF2B5EF4-FFF2-40B4-BE49-F238E27FC236}">
                <a16:creationId xmlns:a16="http://schemas.microsoft.com/office/drawing/2014/main" id="{6CDBA057-BBD2-8F54-E977-26B782E37F88}"/>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18.4% (80% of the estimated commercial margin)</a:t>
            </a:r>
          </a:p>
        </p:txBody>
      </p:sp>
      <p:sp>
        <p:nvSpPr>
          <p:cNvPr id="8" name="TextBox 6">
            <a:extLst>
              <a:ext uri="{FF2B5EF4-FFF2-40B4-BE49-F238E27FC236}">
                <a16:creationId xmlns:a16="http://schemas.microsoft.com/office/drawing/2014/main" id="{C690F22E-C9CA-61DC-5584-149573110610}"/>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67% inpatient and 58%  market steerage based on KBA narrow network DTE experience (see previous slide)</a:t>
            </a:r>
          </a:p>
        </p:txBody>
      </p:sp>
      <p:sp>
        <p:nvSpPr>
          <p:cNvPr id="9" name="TextBox 7">
            <a:extLst>
              <a:ext uri="{FF2B5EF4-FFF2-40B4-BE49-F238E27FC236}">
                <a16:creationId xmlns:a16="http://schemas.microsoft.com/office/drawing/2014/main" id="{A897897D-C568-B204-6568-514AD4B71A5C}"/>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18.4%, with a 10 percentage-point reduction to reflect competitive-edge rates and a 10 percentage-point increase due to lower billing costs and higher patient responsibility collections because of the member convenience card. </a:t>
            </a:r>
          </a:p>
        </p:txBody>
      </p:sp>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419816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571519333"/>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329293">
                <a:tc gridSpan="5">
                  <a:txBody>
                    <a:bodyPr/>
                    <a:lstStyle/>
                    <a:p>
                      <a:pPr marL="63500" marR="63500" algn="l">
                        <a:lnSpc>
                          <a:spcPct val="100000"/>
                        </a:lnSpc>
                        <a:spcBef>
                          <a:spcPts val="5"/>
                        </a:spcBef>
                        <a:spcAft>
                          <a:spcPts val="5"/>
                        </a:spcAft>
                        <a:buNone/>
                      </a:pPr>
                      <a:r>
                        <a:rPr sz="1800" b="1" i="0" u="none" strike="noStrike" cap="none" dirty="0">
                          <a:solidFill>
                            <a:srgbClr val="FFFFFF">
                              <a:alpha val="100000"/>
                            </a:srgbClr>
                          </a:solidFill>
                          <a:latin typeface="Montserrat"/>
                          <a:cs typeface="Arial"/>
                          <a:sym typeface="Arial"/>
                        </a:rPr>
                        <a:t>Target Estimate Assuming 50%+ Within-Plan Steerage and a Commercial Margin of 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92705">
                <a:tc gridSpan="5">
                  <a:txBody>
                    <a:bodyPr/>
                    <a:lstStyle/>
                    <a:p>
                      <a:pPr marL="63500" marR="63500" algn="l">
                        <a:lnSpc>
                          <a:spcPct val="100000"/>
                        </a:lnSpc>
                        <a:spcBef>
                          <a:spcPts val="5"/>
                        </a:spcBef>
                        <a:spcAft>
                          <a:spcPts val="5"/>
                        </a:spcAft>
                        <a:buNone/>
                      </a:pPr>
                      <a:r>
                        <a:rPr sz="16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257261">
                <a:tc>
                  <a:txBody>
                    <a:bodyPr/>
                    <a:lstStyle/>
                    <a:p>
                      <a:pPr marL="63500" marR="63500" algn="l">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$401.5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$803.0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$4,015.2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$20,076.1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$738.8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$3,694.0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$1,020.8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$2,041.6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$10,208.0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$51,040.0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$187.8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$375.7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$1,878.3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$9,391.4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390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$619.3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$1,238.6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$6,192.8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$30,963.9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4390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$113.9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$227.9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$1,139.5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$5,697.3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$358.5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$717.1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$3,585.4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$17,927.0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$66.0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$659.7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$3,298.6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$1,545.9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$3,091.9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$15,459.3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$77,296.4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$284.5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$568.9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$2,844.5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$14,222.5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4390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$1,187.4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$2,374.8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$11,873.9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$59,369.4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4390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$218.5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$437.0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$2,184.8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$10,924.0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$167.4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$334.9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$1,674.4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$8,371.8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$308.1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$1,540.4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$721.9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$1,443.9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$7,219.4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$36,096.8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257261">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$265.7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$1,328.4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$6,641.8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4390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$554.5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$1,109.0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$5,545.0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$27,725.0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439058">
                <a:tc>
                  <a:txBody>
                    <a:bodyPr/>
                    <a:lstStyle/>
                    <a:p>
                      <a:pPr marL="63500" marR="63500" algn="l">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$204.1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$1,020.3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strike="noStrike" cap="none">
                          <a:solidFill>
                            <a:srgbClr val="000000">
                              <a:alpha val="100000"/>
                            </a:srgbClr>
                          </a:solidFill>
                          <a:latin typeface="Montserrat"/>
                          <a:cs typeface="Arial"/>
                          <a:sym typeface="Arial"/>
                        </a:rPr>
                        <a:t>$5,101.4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257261">
                <a:tc>
                  <a:txBody>
                    <a:bodyPr/>
                    <a:lstStyle/>
                    <a:p>
                      <a:pPr marL="63500" marR="63500" algn="l">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$110.5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$550.9</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a:solidFill>
                            <a:srgbClr val="000000">
                              <a:alpha val="100000"/>
                            </a:srgbClr>
                          </a:solidFill>
                          <a:latin typeface="Montserrat"/>
                          <a:cs typeface="Arial"/>
                          <a:sym typeface="Arial"/>
                        </a:rPr>
                        <a:t>$4,074.5</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strike="noStrike" cap="none" dirty="0">
                          <a:solidFill>
                            <a:srgbClr val="000000">
                              <a:alpha val="100000"/>
                            </a:srgbClr>
                          </a:solidFill>
                          <a:latin typeface="Montserrat"/>
                          <a:cs typeface="Arial"/>
                          <a:sym typeface="Arial"/>
                        </a:rPr>
                        <a:t>$21,692.7</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361140487"/>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Target Estimate Assuming 50%+ Within-Plan Steerage and a Commercial Margin of 18.4%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$927.5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$1,855.0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$9,275.0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$46,374.9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$341.3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$1,706.6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$8,533.0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$3,288.7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$6,577.3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$32,886.6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$164,433.1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$2,361.2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$4,722.3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$23,611.6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$118,058.2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$1,210.2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$6,051.1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$30,255.7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$434.5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$868.9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$4,344.5</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$21,722.7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dirty="0">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$110.5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$550.9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$4,074.5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$21,692.7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549252681"/>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23.4%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23.4%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23.4%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23.4%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High Estimate Assuming 60%+ Within-Plan Steerage and a Commercial Margin of 23.4%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$927.5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$1,855.0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$9,275.0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$46,374.9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$341.3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$1,706.6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$8,533.0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$3,910.7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$7,821.4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$39,107.0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$195,534.8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$2,983.2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$5,966.4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$29,832.0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$149,159.9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$915.1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$1,830.2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$9,151.0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$45,755.1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$744.4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dirty="0">
                          <a:solidFill>
                            <a:srgbClr val="000000">
                              <a:alpha val="100000"/>
                            </a:srgbClr>
                          </a:solidFill>
                          <a:latin typeface="Montserrat"/>
                          <a:cs typeface="Arial"/>
                          <a:sym typeface="Arial"/>
                        </a:rPr>
                        <a:t>$1,488.9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$7,444.4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$37,222.2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$420.4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$1,170.9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$7,174.4</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$37,192.2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09475382"/>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13.4%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13.4%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13.4%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13.4%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strike="noStrike" cap="none">
                          <a:solidFill>
                            <a:srgbClr val="FFFFFF">
                              <a:alpha val="100000"/>
                            </a:srgbClr>
                          </a:solidFill>
                          <a:latin typeface="Montserrat"/>
                          <a:cs typeface="Arial"/>
                          <a:sym typeface="Arial"/>
                        </a:rPr>
                        <a:t>Low Estimate Assuming 40%+ Within-Plan Steerage and a Commercial Margin of 13.4%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strike="noStrik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strike="noStrik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$927.5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$1,855.0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$9,275.0</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$46,374.9</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$341.3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$1,706.6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$8,533.0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$2,665.3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$5,330.7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$26,653.3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$133,266.6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$1,737.8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$3,475.7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dirty="0">
                          <a:solidFill>
                            <a:srgbClr val="000000">
                              <a:alpha val="100000"/>
                            </a:srgbClr>
                          </a:solidFill>
                          <a:latin typeface="Montserrat"/>
                          <a:cs typeface="Arial"/>
                          <a:sym typeface="Arial"/>
                        </a:rPr>
                        <a:t>$17,378.3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$86,891.7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$357.2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$714.3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$3,571.5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$17,857.7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$373.0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$1,864.9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$9,324.7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strike="noStrike" cap="none">
                          <a:solidFill>
                            <a:srgbClr val="000000">
                              <a:alpha val="100000"/>
                            </a:srgbClr>
                          </a:solidFill>
                          <a:latin typeface="Montserrat"/>
                          <a:cs typeface="Arial"/>
                          <a:sym typeface="Arial"/>
                        </a:rPr>
                        <a:t>$180.0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$-137.5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$55.0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a:solidFill>
                            <a:srgbClr val="000000">
                              <a:alpha val="100000"/>
                            </a:srgbClr>
                          </a:solidFill>
                          <a:latin typeface="Montserrat"/>
                          <a:cs typeface="Arial"/>
                          <a:sym typeface="Arial"/>
                        </a:rPr>
                        <a:t>$1,594.9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strike="noStrike" cap="none" dirty="0">
                          <a:solidFill>
                            <a:srgbClr val="000000">
                              <a:alpha val="100000"/>
                            </a:srgbClr>
                          </a:solidFill>
                          <a:latin typeface="Montserrat"/>
                          <a:cs typeface="Arial"/>
                          <a:sym typeface="Arial"/>
                        </a:rPr>
                        <a:t>$9,294.7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39</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Orlando Health’s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Orlando Health</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Orlando Health</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Orlando Health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41</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Orlando Health</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Orlando Health’s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42</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43</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46190</TotalTime>
  <Words>5299</Words>
  <Application>Microsoft Office PowerPoint</Application>
  <PresentationFormat>Widescreen</PresentationFormat>
  <Paragraphs>1327</Paragraphs>
  <Slides>43</Slides>
  <Notes>11</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43</vt:i4>
      </vt:variant>
    </vt:vector>
  </HeadingPairs>
  <TitlesOfParts>
    <vt:vector size="57" baseType="lpstr">
      <vt:lpstr>Aptos</vt:lpstr>
      <vt:lpstr>Aptos Narrow</vt:lpstr>
      <vt:lpstr>Arial</vt:lpstr>
      <vt:lpstr>Book Antiqua</vt:lpstr>
      <vt:lpstr>Inter</vt:lpstr>
      <vt:lpstr>Montserrat</vt:lpstr>
      <vt:lpstr>Montserrat Bold</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Our Founding and Heritage: 46 Years of Striving for Honesty in Healthcare</vt:lpstr>
      <vt:lpstr>PowerPoint Presentation</vt:lpstr>
      <vt:lpstr>DIRECT-TO-EMPLOYER (DTE)  </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PowerPoint Presentation</vt:lpstr>
      <vt:lpstr>PowerPoint Presentation</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ORLANDO HEALTH’S 2023 PAYER MIX</vt:lpstr>
      <vt:lpstr>ESTIMATION OF MARGIN FOR COMMERCIAL VS. GOVERNMENT PAY</vt:lpstr>
      <vt:lpstr>ESTIMATING MARKET SHARE</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114</cp:revision>
  <cp:lastPrinted>2023-07-13T10:24:43Z</cp:lastPrinted>
  <dcterms:created xsi:type="dcterms:W3CDTF">2021-01-20T14:12:11Z</dcterms:created>
  <dcterms:modified xsi:type="dcterms:W3CDTF">2026-05-13T23:35:15Z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