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2"/>
  </p:notesMasterIdLst>
  <p:sldIdLst>
    <p:sldId id="588" r:id="rId8"/>
    <p:sldId id="454" r:id="rId9"/>
    <p:sldId id="2145726874" r:id="rId10"/>
    <p:sldId id="2145726912" r:id="rId11"/>
    <p:sldId id="2145726869" r:id="rId12"/>
    <p:sldId id="559" r:id="rId13"/>
    <p:sldId id="580" r:id="rId14"/>
    <p:sldId id="582" r:id="rId15"/>
    <p:sldId id="548" r:id="rId16"/>
    <p:sldId id="521" r:id="rId17"/>
    <p:sldId id="564" r:id="rId18"/>
    <p:sldId id="585" r:id="rId19"/>
    <p:sldId id="536" r:id="rId20"/>
    <p:sldId id="472" r:id="rId21"/>
  </p:sldIdLst>
  <p:sldSz cx="12192000" cy="6858000"/>
  <p:notesSz cx="7315200" cy="96012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8609" autoAdjust="0"/>
  </p:normalViewPr>
  <p:slideViewPr>
    <p:cSldViewPr snapToGrid="0">
      <p:cViewPr>
        <p:scale>
          <a:sx n="75" d="100"/>
          <a:sy n="75" d="100"/>
        </p:scale>
        <p:origin x="1962"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5/13/2026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8</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5/13/2026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5/13/2026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5/13/2026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5/13/2026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5/13/2026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3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8.png"/><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Main Line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6"/>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595404" y="-20124"/>
            <a:ext cx="2123548" cy="1498181"/>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0" y="1368706"/>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5,000+ Employers       1.2M</a:t>
            </a:r>
            <a:r>
              <a:rPr lang="en-US" sz="1600" spc="200" dirty="0">
                <a:latin typeface="Montserrat" panose="00000500000000000000" pitchFamily="2" charset="0"/>
                <a:cs typeface="+mj-cs"/>
                <a:sym typeface="Wingdings" panose="05000000000000000000" pitchFamily="2" charset="2"/>
              </a:rPr>
              <a:t>+ Employees       1.9M+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588976" y="1683107"/>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54631" y="1661093"/>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919280895"/>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2,652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1,114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448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129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198,900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167,100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221,100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313,600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334,000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774,000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358,000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300,800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398,000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564,500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601,200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1,393,200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stretch>
            <a:fillRect/>
          </a:stretch>
        </p:blipFill>
        <p:spPr>
          <a:xfrm>
            <a:off x="-155644" y="2203024"/>
            <a:ext cx="4856307" cy="4049478"/>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Main Line Health service area in New Castle, Burlington, Camden, Gloucester, Chester, Delaware, Montgomery, and Philadelphia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3,296K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1,994K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1,413K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818K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$20.4M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$3.45M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$119.59M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$21.21M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$242.98M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$43.24M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4,366.8K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6,971.3K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883.8K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2,247.5K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4,226.4K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6,851.3K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6,087.0K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9,759.9K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1,369.3K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3,218.5K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5,962.2K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9,663.9K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2,646.5K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4,182.8K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398.3K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1,276.5K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2,490.5K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4,038.8K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2099894"/>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MAIN LINE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Main Line Health has one of the the strongest brand qualities in New Castle, Burlington, Camden, Gloucester, Chester, Delaware, Montgomery, and Philadelphia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755603308"/>
              </p:ext>
            </p:extLst>
          </p:nvPr>
        </p:nvGraphicFramePr>
        <p:xfrm>
          <a:off x="511868" y="1130354"/>
          <a:ext cx="8233297" cy="5060501"/>
        </p:xfrm>
        <a:graphic>
          <a:graphicData uri="http://schemas.openxmlformats.org/drawingml/2006/table">
            <a:tbl>
              <a:tblPr/>
              <a:tblGrid>
                <a:gridCol w="2412235">
                  <a:extLst>
                    <a:ext uri="{9D8B030D-6E8A-4147-A177-3AD203B41FA5}">
                      <a16:colId xmlns:a16="http://schemas.microsoft.com/office/drawing/2014/main" val="20000"/>
                    </a:ext>
                  </a:extLst>
                </a:gridCol>
                <a:gridCol w="1486094">
                  <a:extLst>
                    <a:ext uri="{9D8B030D-6E8A-4147-A177-3AD203B41FA5}">
                      <a16:colId xmlns:a16="http://schemas.microsoft.com/office/drawing/2014/main" val="20001"/>
                    </a:ext>
                  </a:extLst>
                </a:gridCol>
                <a:gridCol w="995114">
                  <a:extLst>
                    <a:ext uri="{9D8B030D-6E8A-4147-A177-3AD203B41FA5}">
                      <a16:colId xmlns:a16="http://schemas.microsoft.com/office/drawing/2014/main" val="20002"/>
                    </a:ext>
                  </a:extLst>
                </a:gridCol>
                <a:gridCol w="963067">
                  <a:extLst>
                    <a:ext uri="{9D8B030D-6E8A-4147-A177-3AD203B41FA5}">
                      <a16:colId xmlns:a16="http://schemas.microsoft.com/office/drawing/2014/main" val="20003"/>
                    </a:ext>
                  </a:extLst>
                </a:gridCol>
                <a:gridCol w="1172263">
                  <a:extLst>
                    <a:ext uri="{9D8B030D-6E8A-4147-A177-3AD203B41FA5}">
                      <a16:colId xmlns:a16="http://schemas.microsoft.com/office/drawing/2014/main" val="20004"/>
                    </a:ext>
                  </a:extLst>
                </a:gridCol>
                <a:gridCol w="1204524">
                  <a:extLst>
                    <a:ext uri="{9D8B030D-6E8A-4147-A177-3AD203B41FA5}">
                      <a16:colId xmlns:a16="http://schemas.microsoft.com/office/drawing/2014/main" val="20005"/>
                    </a:ext>
                  </a:extLst>
                </a:gridCol>
              </a:tblGrid>
              <a:tr h="747945">
                <a:tc>
                  <a:txBody>
                    <a:bodyPr/>
                    <a:lstStyle/>
                    <a:p>
                      <a:pPr marL="63500" marR="63500" algn="l">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CMS Stars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6030">
                <a:tc>
                  <a:txBody>
                    <a:bodyPr/>
                    <a:lstStyle/>
                    <a:p>
                      <a:pPr marL="63500" marR="63500" algn="l">
                        <a:lnSpc>
                          <a:spcPct val="100000"/>
                        </a:lnSpc>
                        <a:spcBef>
                          <a:spcPts val="500"/>
                        </a:spcBef>
                        <a:spcAft>
                          <a:spcPts val="500"/>
                        </a:spcAft>
                        <a:buNone/>
                      </a:pPr>
                      <a:r>
                        <a:rPr sz="1100" b="0" i="0" u="none" strike="noStrike" cap="none" dirty="0">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65D9E">
                        <a:alpha val="100000"/>
                      </a:srgbClr>
                    </a:solidFill>
                  </a:tcPr>
                </a:tc>
                <a:tc>
                  <a:txBody>
                    <a:bodyPr/>
                    <a:lstStyle/>
                    <a:p>
                      <a:pPr marL="63500" marR="63500" algn="ctr">
                        <a:lnSpc>
                          <a:spcPct val="100000"/>
                        </a:lnSpc>
                        <a:spcBef>
                          <a:spcPts val="500"/>
                        </a:spcBef>
                        <a:spcAft>
                          <a:spcPts val="500"/>
                        </a:spcAft>
                        <a:buNone/>
                      </a:pPr>
                      <a:endParaRPr sz="1100" b="0" i="0" u="none" strike="noStrike" cap="none">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267A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180B3">
                        <a:alpha val="100000"/>
                      </a:srgbClr>
                    </a:solidFill>
                  </a:tcPr>
                </a:tc>
                <a:extLst>
                  <a:ext uri="{0D108BD9-81ED-4DB2-BD59-A6C34878D82A}">
                    <a16:rowId xmlns:a16="http://schemas.microsoft.com/office/drawing/2014/main" val="10001"/>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Penn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85E9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extLst>
                  <a:ext uri="{0D108BD9-81ED-4DB2-BD59-A6C34878D82A}">
                    <a16:rowId xmlns:a16="http://schemas.microsoft.com/office/drawing/2014/main" val="10002"/>
                  </a:ext>
                </a:extLst>
              </a:tr>
              <a:tr h="340313">
                <a:tc>
                  <a:txBody>
                    <a:bodyPr/>
                    <a:lstStyle/>
                    <a:p>
                      <a:pPr marL="63500" marR="63500" algn="l">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Main Line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3"/>
                  </a:ext>
                </a:extLst>
              </a:tr>
              <a:tr h="36750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Cooper University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4"/>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Redeemer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05"/>
                  </a:ext>
                </a:extLst>
              </a:tr>
              <a:tr h="34152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Jefferson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2CEE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EBDD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6"/>
                  </a:ext>
                </a:extLst>
              </a:tr>
              <a:tr h="365965">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65D9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7"/>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Virtua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8"/>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Tower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3B5D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9"/>
                  </a:ext>
                </a:extLst>
              </a:tr>
              <a:tr h="43352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Temple University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0"/>
                  </a:ext>
                </a:extLst>
              </a:tr>
              <a:tr h="36590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11"/>
                  </a:ext>
                </a:extLst>
              </a:tr>
              <a:tr h="34152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Main Line Health has 9% inpatient market share, and 4% outpatient market compared to hospitals/clinics in the Main Line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Main Line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547788476"/>
              </p:ext>
            </p:extLst>
          </p:nvPr>
        </p:nvGraphicFramePr>
        <p:xfrm>
          <a:off x="698500" y="812800"/>
          <a:ext cx="7339075" cy="5182621"/>
        </p:xfrm>
        <a:graphic>
          <a:graphicData uri="http://schemas.openxmlformats.org/drawingml/2006/table">
            <a:tbl>
              <a:tblPr/>
              <a:tblGrid>
                <a:gridCol w="1467815">
                  <a:extLst>
                    <a:ext uri="{9D8B030D-6E8A-4147-A177-3AD203B41FA5}">
                      <a16:colId xmlns:a16="http://schemas.microsoft.com/office/drawing/2014/main" val="20000"/>
                    </a:ext>
                  </a:extLst>
                </a:gridCol>
                <a:gridCol w="1467815">
                  <a:extLst>
                    <a:ext uri="{9D8B030D-6E8A-4147-A177-3AD203B41FA5}">
                      <a16:colId xmlns:a16="http://schemas.microsoft.com/office/drawing/2014/main" val="20001"/>
                    </a:ext>
                  </a:extLst>
                </a:gridCol>
                <a:gridCol w="1467815">
                  <a:extLst>
                    <a:ext uri="{9D8B030D-6E8A-4147-A177-3AD203B41FA5}">
                      <a16:colId xmlns:a16="http://schemas.microsoft.com/office/drawing/2014/main" val="20002"/>
                    </a:ext>
                  </a:extLst>
                </a:gridCol>
                <a:gridCol w="1467815">
                  <a:extLst>
                    <a:ext uri="{9D8B030D-6E8A-4147-A177-3AD203B41FA5}">
                      <a16:colId xmlns:a16="http://schemas.microsoft.com/office/drawing/2014/main" val="20003"/>
                    </a:ext>
                  </a:extLst>
                </a:gridCol>
                <a:gridCol w="1467815">
                  <a:extLst>
                    <a:ext uri="{9D8B030D-6E8A-4147-A177-3AD203B41FA5}">
                      <a16:colId xmlns:a16="http://schemas.microsoft.com/office/drawing/2014/main" val="20004"/>
                    </a:ext>
                  </a:extLst>
                </a:gridCol>
              </a:tblGrid>
              <a:tr h="802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Main Line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Main Line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$ 1,744,215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$ 1,326,073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$ 619,264.7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$ 3,689,553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$ 306,981.9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$ 233,388.8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$ 108,990.6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$ 649,361.3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$ 6,911,325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$ 6,971,325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$ 6,791,325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$ 13,013,812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$ 20,412,275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$ 9,532,359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$ 42,958,446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$ 2,290,431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$ 3,592,560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$ 1,677,695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$ 7,560,686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9% (inpatient) and 4%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46168</TotalTime>
  <Words>1274</Words>
  <Application>Microsoft Office PowerPoint</Application>
  <PresentationFormat>Widescreen</PresentationFormat>
  <Paragraphs>479</Paragraphs>
  <Slides>14</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14</vt:i4>
      </vt:variant>
    </vt:vector>
  </HeadingPairs>
  <TitlesOfParts>
    <vt:vector size="21"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Our Founding and Heritage: 46 Years of Striving for Honesty in Healthcare</vt:lpstr>
      <vt:lpstr>PowerPoint Presentation</vt:lpstr>
      <vt:lpstr>DIRECT-TO-EMPLOYER (DTE)  </vt:lpstr>
      <vt:lpstr>SIGNIFICANT OPPORTUNITY FOR PLAN GROWTH Researched for the below highlighted service area</vt:lpstr>
      <vt:lpstr>PLAN POTENTIAL GROWTH PATHS</vt:lpstr>
      <vt:lpstr>GROWING POWERFUL, LASTING PROFITABILITY</vt:lpstr>
      <vt:lpstr>FOUR-YEAR PROJECTIONS</vt:lpstr>
      <vt:lpstr>DIRECT-TO-EMPLOYER STRATEGY: ONLY AVAILABLE TO PREMIER HEALTH SYSTEMS</vt:lpstr>
      <vt:lpstr>MAIN LINE HEALTH IS PATIENT RECOMMENDED</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2026-05-13T23:31:42Z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