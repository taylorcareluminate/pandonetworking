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2145726874" r:id="rId12"/>
    <p:sldId id="2145726912" r:id="rId13"/>
    <p:sldId id="2145726869" r:id="rId14"/>
    <p:sldId id="466" r:id="rId15"/>
    <p:sldId id="2145726867" r:id="rId16"/>
    <p:sldId id="2145726914" r:id="rId17"/>
    <p:sldId id="580" r:id="rId18"/>
    <p:sldId id="582" r:id="rId19"/>
    <p:sldId id="558" r:id="rId20"/>
    <p:sldId id="548" r:id="rId21"/>
    <p:sldId id="521" r:id="rId22"/>
    <p:sldId id="564" r:id="rId23"/>
    <p:sldId id="2145726913"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1BFC60-6055-4162-A0A8-BF894A1E0A0E}" v="1" dt="2026-05-13T23:07:15.958"/>
    <p1510:client id="{F2CC7491-75E8-4441-B729-148478130ED1}" v="3" dt="2026-05-13T23:18:35.19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8609" autoAdjust="0"/>
  </p:normalViewPr>
  <p:slideViewPr>
    <p:cSldViewPr snapToGrid="0">
      <p:cViewPr varScale="1">
        <p:scale>
          <a:sx n="98" d="100"/>
          <a:sy n="98" d="100"/>
        </p:scale>
        <p:origin x="37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5" Type="http://schemas.openxmlformats.org/officeDocument/2006/relationships/image" Target="../media/image45.svg"/><Relationship Id="rId4"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5" Type="http://schemas.openxmlformats.org/officeDocument/2006/relationships/image" Target="../media/image45.sv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5/13/2026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5/13/2026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5/13/2026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5/13/2026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5/13/2026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5/13/2026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3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3.png"/><Relationship Id="rId1" Type="http://schemas.openxmlformats.org/officeDocument/2006/relationships/slideLayout" Target="../slideLayouts/slideLayout19.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52.svg"/><Relationship Id="rId4" Type="http://schemas.openxmlformats.org/officeDocument/2006/relationships/image" Target="../media/image51.jpe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60.svg"/><Relationship Id="rId7" Type="http://schemas.openxmlformats.org/officeDocument/2006/relationships/image" Target="../media/image8.png"/><Relationship Id="rId2" Type="http://schemas.openxmlformats.org/officeDocument/2006/relationships/image" Target="../media/image59.jpeg"/><Relationship Id="rId1" Type="http://schemas.openxmlformats.org/officeDocument/2006/relationships/slideLayout" Target="../slideLayouts/slideLayout6.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6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Main Line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6"/>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595404" y="-20124"/>
            <a:ext cx="2123548" cy="1498181"/>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Main Line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0" y="1368706"/>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5,000+ Employers       1.2M</a:t>
            </a:r>
            <a:r>
              <a:rPr lang="en-US" sz="1600" spc="200" dirty="0">
                <a:latin typeface="Montserrat" panose="00000500000000000000" pitchFamily="2" charset="0"/>
                <a:cs typeface="+mj-cs"/>
                <a:sym typeface="Wingdings" panose="05000000000000000000" pitchFamily="2" charset="2"/>
              </a:rPr>
              <a:t>+ Employees       1.9M+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588976" y="1683107"/>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54631" y="1661093"/>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2,652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1,114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448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129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198,900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167,100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221,100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313,600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334,000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774,000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358,000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300,800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398,000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564,500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601,200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1,393,200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stretch>
            <a:fillRect/>
          </a:stretch>
        </p:blipFill>
        <p:spPr>
          <a:xfrm>
            <a:off x="-155644" y="2203024"/>
            <a:ext cx="4856307" cy="4049478"/>
          </a:xfrm>
          <a:prstGeom prst="rect">
            <a:avLst/>
          </a:prstGeom>
        </p:spPr>
      </p:pic>
    </p:spTree>
    <p:extLst>
      <p:ext uri="{BB962C8B-B14F-4D97-AF65-F5344CB8AC3E}">
        <p14:creationId xmlns:p14="http://schemas.microsoft.com/office/powerpoint/2010/main" val="3596352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Main Line Health service area in New Castle, Burlington, Camden, Gloucester, Chester, Delaware, Montgomery, and Philadelphia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3,296K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1,994K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1,413K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818K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$20.4M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$3.45M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$119.59M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$21.21M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$242.98M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$43.24M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Main Line Health has 9% inpatient market share, and 4% outpatient market compared to hospitals/clinics in the Main Line Health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Main Line Health 22%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12.6%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17.6%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22.6%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4,366.8K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6,971.3K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883.8K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2,247.5K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4,226.4K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6,851.3K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6,087.0K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9,759.9K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1,369.3K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3,218.5K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5,962.2K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9,663.9K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2,646.5K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4,182.8K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398.3K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1,276.5K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2,490.5K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4,038.8K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2099894"/>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MAIN LINE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Main Line Health has one of the strongest </a:t>
            </a:r>
            <a:r>
              <a:rPr lang="en-US" sz="1600">
                <a:solidFill>
                  <a:schemeClr val="tx1"/>
                </a:solidFill>
                <a:latin typeface="Montserrat" panose="00000500000000000000" pitchFamily="2" charset="0"/>
              </a:rPr>
              <a:t>brand qualities </a:t>
            </a:r>
            <a:r>
              <a:rPr lang="en-US" sz="1600" dirty="0">
                <a:solidFill>
                  <a:schemeClr val="tx1"/>
                </a:solidFill>
                <a:latin typeface="Montserrat" panose="00000500000000000000" pitchFamily="2" charset="0"/>
              </a:rPr>
              <a:t>in New Castle, Burlington, Camden, Gloucester, Chester, Delaware, Montgomery, and Philadelphia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755603308"/>
              </p:ext>
            </p:extLst>
          </p:nvPr>
        </p:nvGraphicFramePr>
        <p:xfrm>
          <a:off x="511868" y="1130354"/>
          <a:ext cx="8233297" cy="5060501"/>
        </p:xfrm>
        <a:graphic>
          <a:graphicData uri="http://schemas.openxmlformats.org/drawingml/2006/table">
            <a:tbl>
              <a:tblPr/>
              <a:tblGrid>
                <a:gridCol w="2412235">
                  <a:extLst>
                    <a:ext uri="{9D8B030D-6E8A-4147-A177-3AD203B41FA5}">
                      <a16:colId xmlns:a16="http://schemas.microsoft.com/office/drawing/2014/main" val="20000"/>
                    </a:ext>
                  </a:extLst>
                </a:gridCol>
                <a:gridCol w="1486094">
                  <a:extLst>
                    <a:ext uri="{9D8B030D-6E8A-4147-A177-3AD203B41FA5}">
                      <a16:colId xmlns:a16="http://schemas.microsoft.com/office/drawing/2014/main" val="20001"/>
                    </a:ext>
                  </a:extLst>
                </a:gridCol>
                <a:gridCol w="995114">
                  <a:extLst>
                    <a:ext uri="{9D8B030D-6E8A-4147-A177-3AD203B41FA5}">
                      <a16:colId xmlns:a16="http://schemas.microsoft.com/office/drawing/2014/main" val="20002"/>
                    </a:ext>
                  </a:extLst>
                </a:gridCol>
                <a:gridCol w="963067">
                  <a:extLst>
                    <a:ext uri="{9D8B030D-6E8A-4147-A177-3AD203B41FA5}">
                      <a16:colId xmlns:a16="http://schemas.microsoft.com/office/drawing/2014/main" val="20003"/>
                    </a:ext>
                  </a:extLst>
                </a:gridCol>
                <a:gridCol w="1172263">
                  <a:extLst>
                    <a:ext uri="{9D8B030D-6E8A-4147-A177-3AD203B41FA5}">
                      <a16:colId xmlns:a16="http://schemas.microsoft.com/office/drawing/2014/main" val="20004"/>
                    </a:ext>
                  </a:extLst>
                </a:gridCol>
                <a:gridCol w="1204524">
                  <a:extLst>
                    <a:ext uri="{9D8B030D-6E8A-4147-A177-3AD203B41FA5}">
                      <a16:colId xmlns:a16="http://schemas.microsoft.com/office/drawing/2014/main" val="20005"/>
                    </a:ext>
                  </a:extLst>
                </a:gridCol>
              </a:tblGrid>
              <a:tr h="747945">
                <a:tc>
                  <a:txBody>
                    <a:bodyPr/>
                    <a:lstStyle/>
                    <a:p>
                      <a:pPr marL="63500" marR="63500" algn="l">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CMS Stars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6030">
                <a:tc>
                  <a:txBody>
                    <a:bodyPr/>
                    <a:lstStyle/>
                    <a:p>
                      <a:pPr marL="63500" marR="63500" algn="l">
                        <a:lnSpc>
                          <a:spcPct val="100000"/>
                        </a:lnSpc>
                        <a:spcBef>
                          <a:spcPts val="500"/>
                        </a:spcBef>
                        <a:spcAft>
                          <a:spcPts val="500"/>
                        </a:spcAft>
                        <a:buNone/>
                      </a:pPr>
                      <a:r>
                        <a:rPr sz="1100" b="0" i="0" u="none" strike="noStrike" cap="none" dirty="0">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65D9E">
                        <a:alpha val="100000"/>
                      </a:srgbClr>
                    </a:solidFill>
                  </a:tcPr>
                </a:tc>
                <a:tc>
                  <a:txBody>
                    <a:bodyPr/>
                    <a:lstStyle/>
                    <a:p>
                      <a:pPr marL="63500" marR="63500" algn="ctr">
                        <a:lnSpc>
                          <a:spcPct val="100000"/>
                        </a:lnSpc>
                        <a:spcBef>
                          <a:spcPts val="500"/>
                        </a:spcBef>
                        <a:spcAft>
                          <a:spcPts val="500"/>
                        </a:spcAft>
                        <a:buNone/>
                      </a:pPr>
                      <a:endParaRPr sz="1100" b="0" i="0" u="none" strike="noStrike" cap="none">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267A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180B3">
                        <a:alpha val="100000"/>
                      </a:srgbClr>
                    </a:solidFill>
                  </a:tcPr>
                </a:tc>
                <a:extLst>
                  <a:ext uri="{0D108BD9-81ED-4DB2-BD59-A6C34878D82A}">
                    <a16:rowId xmlns:a16="http://schemas.microsoft.com/office/drawing/2014/main" val="10001"/>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Penn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85E9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extLst>
                  <a:ext uri="{0D108BD9-81ED-4DB2-BD59-A6C34878D82A}">
                    <a16:rowId xmlns:a16="http://schemas.microsoft.com/office/drawing/2014/main" val="10002"/>
                  </a:ext>
                </a:extLst>
              </a:tr>
              <a:tr h="340313">
                <a:tc>
                  <a:txBody>
                    <a:bodyPr/>
                    <a:lstStyle/>
                    <a:p>
                      <a:pPr marL="63500" marR="63500" algn="l">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Main Line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3"/>
                  </a:ext>
                </a:extLst>
              </a:tr>
              <a:tr h="36750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Cooper University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4"/>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Redeemer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05"/>
                  </a:ext>
                </a:extLst>
              </a:tr>
              <a:tr h="34152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Jefferson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2CEE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EBDD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6"/>
                  </a:ext>
                </a:extLst>
              </a:tr>
              <a:tr h="365965">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65D9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7"/>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Virtua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8"/>
                  </a:ext>
                </a:extLst>
              </a:tr>
              <a:tr h="340377">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Tower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3B5D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9"/>
                  </a:ext>
                </a:extLst>
              </a:tr>
              <a:tr h="43352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Temple University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0"/>
                  </a:ext>
                </a:extLst>
              </a:tr>
              <a:tr h="36590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11"/>
                  </a:ext>
                </a:extLst>
              </a:tr>
              <a:tr h="34152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dirty="0">
                <a:solidFill>
                  <a:srgbClr val="C00000"/>
                </a:solidFill>
                <a:cs typeface="Arial" panose="020B0604020202020204" pitchFamily="34" charset="0"/>
              </a:rPr>
              <a:t>Affordability Without Compromise</a:t>
            </a:r>
          </a:p>
          <a:p>
            <a:r>
              <a:rPr lang="en-US" altLang="en-US" sz="2600" dirty="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dirty="0">
                <a:solidFill>
                  <a:srgbClr val="FFFFFF"/>
                </a:solidFill>
                <a:cs typeface="Arial" panose="020B0604020202020204" pitchFamily="34" charset="0"/>
              </a:rPr>
              <a:t>*Daily Inpatient Hospital Benefit, OP Surgery/Anesthesia,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 y="231140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B9513E0E-7997-5087-8A07-209BA195F47F}"/>
              </a:ext>
            </a:extLst>
          </p:cNvPr>
          <p:cNvSpPr txBox="1"/>
          <p:nvPr/>
        </p:nvSpPr>
        <p:spPr>
          <a:xfrm>
            <a:off x="571062" y="2690336"/>
            <a:ext cx="3326860" cy="738664"/>
          </a:xfrm>
          <a:prstGeom prst="rect">
            <a:avLst/>
          </a:prstGeom>
          <a:solidFill>
            <a:schemeClr val="bg1"/>
          </a:solidFill>
        </p:spPr>
        <p:txBody>
          <a:bodyPr wrap="square" rtlCol="0">
            <a:spAutoFit/>
          </a:bodyPr>
          <a:lstStyle/>
          <a:p>
            <a:pPr algn="r"/>
            <a:r>
              <a:rPr lang="en-US" b="1" dirty="0">
                <a:solidFill>
                  <a:srgbClr val="00529F"/>
                </a:solidFill>
              </a:rPr>
              <a:t>Basic Medical Benefit</a:t>
            </a:r>
          </a:p>
          <a:p>
            <a:pPr algn="r"/>
            <a:r>
              <a:rPr lang="en-US" sz="1200" dirty="0"/>
              <a:t>Customized major medical plan with access to a broad network of providers</a:t>
            </a:r>
          </a:p>
        </p:txBody>
      </p:sp>
      <p:sp>
        <p:nvSpPr>
          <p:cNvPr id="12" name="TextBox 11">
            <a:extLst>
              <a:ext uri="{FF2B5EF4-FFF2-40B4-BE49-F238E27FC236}">
                <a16:creationId xmlns:a16="http://schemas.microsoft.com/office/drawing/2014/main" id="{B30CC588-ADF1-8271-E978-1C05B8F21774}"/>
              </a:ext>
            </a:extLst>
          </p:cNvPr>
          <p:cNvSpPr txBox="1"/>
          <p:nvPr/>
        </p:nvSpPr>
        <p:spPr>
          <a:xfrm>
            <a:off x="571062" y="3721139"/>
            <a:ext cx="3326860" cy="1107996"/>
          </a:xfrm>
          <a:prstGeom prst="rect">
            <a:avLst/>
          </a:prstGeom>
          <a:solidFill>
            <a:schemeClr val="bg1"/>
          </a:solidFill>
        </p:spPr>
        <p:txBody>
          <a:bodyPr wrap="square" rtlCol="0">
            <a:spAutoFit/>
          </a:bodyPr>
          <a:lstStyle/>
          <a:p>
            <a:pPr algn="r"/>
            <a:r>
              <a:rPr lang="en-US" b="1" dirty="0">
                <a:solidFill>
                  <a:srgbClr val="E86D01"/>
                </a:solidFill>
              </a:rPr>
              <a:t>Health Guardian Account</a:t>
            </a:r>
          </a:p>
          <a:p>
            <a:pPr algn="r"/>
            <a:r>
              <a:rPr lang="en-US" sz="1200" dirty="0"/>
              <a:t>You get the care you need. We do the work to track and administer your Preferred Plus Benefits, Out-of-Pocket Expenses, and Healthcare Convenience Card</a:t>
            </a:r>
          </a:p>
        </p:txBody>
      </p:sp>
      <p:sp>
        <p:nvSpPr>
          <p:cNvPr id="13" name="TextBox 12">
            <a:extLst>
              <a:ext uri="{FF2B5EF4-FFF2-40B4-BE49-F238E27FC236}">
                <a16:creationId xmlns:a16="http://schemas.microsoft.com/office/drawing/2014/main" id="{6330D609-9D4F-4462-7DFB-73AFB229B6DF}"/>
              </a:ext>
            </a:extLst>
          </p:cNvPr>
          <p:cNvSpPr txBox="1"/>
          <p:nvPr/>
        </p:nvSpPr>
        <p:spPr>
          <a:xfrm>
            <a:off x="166688" y="4926349"/>
            <a:ext cx="3818783" cy="1015663"/>
          </a:xfrm>
          <a:prstGeom prst="rect">
            <a:avLst/>
          </a:prstGeom>
          <a:solidFill>
            <a:schemeClr val="bg1"/>
          </a:solidFill>
        </p:spPr>
        <p:txBody>
          <a:bodyPr wrap="square" rtlCol="0">
            <a:spAutoFit/>
          </a:bodyPr>
          <a:lstStyle/>
          <a:p>
            <a:pPr algn="r"/>
            <a:r>
              <a:rPr lang="en-US" b="1" dirty="0">
                <a:solidFill>
                  <a:srgbClr val="F3B03C"/>
                </a:solidFill>
              </a:rPr>
              <a:t>Chronic Disease and Acute Illness Management</a:t>
            </a:r>
          </a:p>
          <a:p>
            <a:pPr algn="r"/>
            <a:r>
              <a:rPr lang="en-US" sz="1200" dirty="0"/>
              <a:t>Patented and proven program focusing on 28 chronic illnesses with a proven 11%-17% savings and a $14:$1 ROI</a:t>
            </a:r>
          </a:p>
        </p:txBody>
      </p:sp>
      <p:sp>
        <p:nvSpPr>
          <p:cNvPr id="14" name="TextBox 13">
            <a:extLst>
              <a:ext uri="{FF2B5EF4-FFF2-40B4-BE49-F238E27FC236}">
                <a16:creationId xmlns:a16="http://schemas.microsoft.com/office/drawing/2014/main" id="{D5A7278E-5F43-01FB-27CE-523F5D70FFF8}"/>
              </a:ext>
            </a:extLst>
          </p:cNvPr>
          <p:cNvSpPr txBox="1"/>
          <p:nvPr/>
        </p:nvSpPr>
        <p:spPr>
          <a:xfrm>
            <a:off x="8496840" y="2967335"/>
            <a:ext cx="3326860" cy="923330"/>
          </a:xfrm>
          <a:prstGeom prst="rect">
            <a:avLst/>
          </a:prstGeom>
          <a:solidFill>
            <a:schemeClr val="bg1"/>
          </a:solidFill>
        </p:spPr>
        <p:txBody>
          <a:bodyPr wrap="square" rtlCol="0">
            <a:spAutoFit/>
          </a:bodyPr>
          <a:lstStyle/>
          <a:p>
            <a:r>
              <a:rPr lang="en-US" b="1" dirty="0">
                <a:solidFill>
                  <a:srgbClr val="00529F"/>
                </a:solidFill>
              </a:rPr>
              <a:t>Preferred Plus Benefits*</a:t>
            </a:r>
          </a:p>
          <a:p>
            <a:r>
              <a:rPr lang="en-US" sz="1200" dirty="0"/>
              <a:t>Benefits payable at KIP preferred providers, offering real dollars to members who get the are they need, when they need it!*</a:t>
            </a:r>
          </a:p>
        </p:txBody>
      </p:sp>
      <p:sp>
        <p:nvSpPr>
          <p:cNvPr id="15" name="TextBox 14">
            <a:extLst>
              <a:ext uri="{FF2B5EF4-FFF2-40B4-BE49-F238E27FC236}">
                <a16:creationId xmlns:a16="http://schemas.microsoft.com/office/drawing/2014/main" id="{A3BA68FB-A0A4-0328-8E6A-0F114DC881F6}"/>
              </a:ext>
            </a:extLst>
          </p:cNvPr>
          <p:cNvSpPr txBox="1"/>
          <p:nvPr/>
        </p:nvSpPr>
        <p:spPr>
          <a:xfrm>
            <a:off x="8496840" y="4054772"/>
            <a:ext cx="3326860" cy="923330"/>
          </a:xfrm>
          <a:prstGeom prst="rect">
            <a:avLst/>
          </a:prstGeom>
          <a:solidFill>
            <a:schemeClr val="bg1"/>
          </a:solidFill>
        </p:spPr>
        <p:txBody>
          <a:bodyPr wrap="square" rtlCol="0">
            <a:spAutoFit/>
          </a:bodyPr>
          <a:lstStyle/>
          <a:p>
            <a:r>
              <a:rPr lang="en-US" b="1" dirty="0">
                <a:solidFill>
                  <a:srgbClr val="C0CF31"/>
                </a:solidFill>
              </a:rPr>
              <a:t>Healthcare Convenience Card</a:t>
            </a:r>
          </a:p>
          <a:p>
            <a:r>
              <a:rPr lang="en-US" sz="1200" dirty="0"/>
              <a:t>0% interest, no-fee Convenience Card, giving members a simple and convenient way to pay for out-of-pocket expenses at Preferred Providers</a:t>
            </a:r>
          </a:p>
        </p:txBody>
      </p:sp>
      <p:sp>
        <p:nvSpPr>
          <p:cNvPr id="16" name="TextBox 15">
            <a:extLst>
              <a:ext uri="{FF2B5EF4-FFF2-40B4-BE49-F238E27FC236}">
                <a16:creationId xmlns:a16="http://schemas.microsoft.com/office/drawing/2014/main" id="{26B6C314-B6EE-234A-324E-DD5719029ACB}"/>
              </a:ext>
            </a:extLst>
          </p:cNvPr>
          <p:cNvSpPr txBox="1"/>
          <p:nvPr/>
        </p:nvSpPr>
        <p:spPr>
          <a:xfrm>
            <a:off x="8116111" y="5113874"/>
            <a:ext cx="4060808" cy="1323439"/>
          </a:xfrm>
          <a:prstGeom prst="rect">
            <a:avLst/>
          </a:prstGeom>
          <a:solidFill>
            <a:schemeClr val="bg1"/>
          </a:solidFill>
        </p:spPr>
        <p:txBody>
          <a:bodyPr wrap="square" rtlCol="0">
            <a:spAutoFit/>
          </a:bodyPr>
          <a:lstStyle/>
          <a:p>
            <a:r>
              <a:rPr lang="en-US" sz="1600" b="1" dirty="0">
                <a:solidFill>
                  <a:srgbClr val="3C4EAD"/>
                </a:solidFill>
              </a:rPr>
              <a:t>Pharmacy Benefit Manager, Specialty Rx, and Obesity Management Program (GLP-1)</a:t>
            </a:r>
          </a:p>
          <a:p>
            <a:r>
              <a:rPr lang="en-US" sz="1200" dirty="0"/>
              <a:t>Truly transparent and innovative Rx programs that offer real savings and 1-on-1, personalized coaching for members. ~20%+ savings on Rx spend, 10% savings on overall claims spend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Main Line Health’s approved site(s) with network integration, and development of Main Line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3,380K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6,760K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$ 18,745K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$ 16,900K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$ 2,674K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$ 7,379K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$ 74,979K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$ 67,600K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$13,196K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$11,898K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$11,688K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$14,758K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$149,959K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$135,201K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$26,393K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$23,795K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$23,705K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Main Line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Main Line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Main Line Health’s managed care with KBA’s programs positions Main Line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Main Line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Main Line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Main Line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extLst>
              <p:ext uri="{D42A27DB-BD31-4B8C-83A1-F6EECF244321}">
                <p14:modId xmlns:p14="http://schemas.microsoft.com/office/powerpoint/2010/main" val="368417503"/>
              </p:ext>
            </p:extLst>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Convenience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Main Line Health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MAIN LINE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MAIN LINE HEALTH</a:t>
            </a:r>
            <a:r>
              <a:rPr lang="en-US" sz="2800" dirty="0">
                <a:latin typeface="Montserrat" panose="00000500000000000000" pitchFamily="2" charset="0"/>
                <a:cs typeface="Arial" panose="020B0604020202020204" pitchFamily="34" charset="0"/>
              </a:rPr>
              <a:t>’S 2024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Main Line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308,733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$1,870,099K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109,344</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$415,453K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4,209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$90,517K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12,247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-$83,881K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182,933</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$1,362,979K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59%</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Main Line Health estimates commercial insurance reimbursements at 238%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1,362,979K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238%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1,203,376K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2,566,355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1,997,118</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$569,237K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238%</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573,077K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505,970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1,079,047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1,997,118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-918,071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-85%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56.1%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9%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4%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563546957"/>
              </p:ext>
            </p:extLst>
          </p:nvPr>
        </p:nvGraphicFramePr>
        <p:xfrm>
          <a:off x="265176" y="914400"/>
          <a:ext cx="9829800" cy="4252685"/>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11685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427167">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Bryn Mawr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$ 1,091,660.7K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839,026.7K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27167">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Paoli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$ 1,259,978.4K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773,087.7K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427167">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Lankenau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370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$ 2,067,365.8K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$ 1,411,180.3K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427167">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Riddle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812,025.1K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701,108.7K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427167">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Bryn Mawr Rehab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201,521.5K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77,005.8K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40693685"/>
              </p:ext>
            </p:extLst>
          </p:nvPr>
        </p:nvGraphicFramePr>
        <p:xfrm>
          <a:off x="36024" y="0"/>
          <a:ext cx="12119952" cy="6858003"/>
        </p:xfrm>
        <a:graphic>
          <a:graphicData uri="http://schemas.openxmlformats.org/drawingml/2006/table">
            <a:tbl>
              <a:tblPr/>
              <a:tblGrid>
                <a:gridCol w="3507955">
                  <a:extLst>
                    <a:ext uri="{9D8B030D-6E8A-4147-A177-3AD203B41FA5}">
                      <a16:colId xmlns:a16="http://schemas.microsoft.com/office/drawing/2014/main" val="20000"/>
                    </a:ext>
                  </a:extLst>
                </a:gridCol>
                <a:gridCol w="1683421">
                  <a:extLst>
                    <a:ext uri="{9D8B030D-6E8A-4147-A177-3AD203B41FA5}">
                      <a16:colId xmlns:a16="http://schemas.microsoft.com/office/drawing/2014/main" val="20001"/>
                    </a:ext>
                  </a:extLst>
                </a:gridCol>
                <a:gridCol w="1268489">
                  <a:extLst>
                    <a:ext uri="{9D8B030D-6E8A-4147-A177-3AD203B41FA5}">
                      <a16:colId xmlns:a16="http://schemas.microsoft.com/office/drawing/2014/main" val="20002"/>
                    </a:ext>
                  </a:extLst>
                </a:gridCol>
                <a:gridCol w="2098577">
                  <a:extLst>
                    <a:ext uri="{9D8B030D-6E8A-4147-A177-3AD203B41FA5}">
                      <a16:colId xmlns:a16="http://schemas.microsoft.com/office/drawing/2014/main" val="20003"/>
                    </a:ext>
                  </a:extLst>
                </a:gridCol>
                <a:gridCol w="1369989">
                  <a:extLst>
                    <a:ext uri="{9D8B030D-6E8A-4147-A177-3AD203B41FA5}">
                      <a16:colId xmlns:a16="http://schemas.microsoft.com/office/drawing/2014/main" val="20004"/>
                    </a:ext>
                  </a:extLst>
                </a:gridCol>
                <a:gridCol w="2191521">
                  <a:extLst>
                    <a:ext uri="{9D8B030D-6E8A-4147-A177-3AD203B41FA5}">
                      <a16:colId xmlns:a16="http://schemas.microsoft.com/office/drawing/2014/main" val="20005"/>
                    </a:ext>
                  </a:extLst>
                </a:gridCol>
              </a:tblGrid>
              <a:tr h="330964">
                <a:tc gridSpan="6">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26286">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Bryn Mawr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Paoli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Lankenau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Riddle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Bryn Mawr Rehab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$235,799K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$248,216K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$409,338K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$148,601K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$62,875K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$181,230K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$152,298K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$279,414K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$128,303K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$24,026K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$89,074K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$82,520K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$158,126K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$61,394K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$24,339K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61179">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$14,953K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$13,187K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$49,679K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$12,699K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$312,497K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$304,151K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$481,477K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$202,316K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$62,537K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$21,887K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$15,885K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$35,851K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$10,257K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$255,051K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$251,625K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$448,943K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$159,990K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$62,591K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$196,027K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$154,390K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$306,448K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$138,137K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$23,917K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$451,077K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$406,015K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$755,391K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$298,127K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$86,508K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$-34,554K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$-6,157K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$-66,109K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$-21,717K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37.6%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37.3%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39.3%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56.4%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63.9%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56.2%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9841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28.2%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65856">
                <a:tc gridSpan="6">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5856">
                <a:tc gridSpan="6">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5856">
                <a:tc gridSpan="6">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65856">
                <a:tc gridSpan="6">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Main Line Health has 9% inpatient market share, and 4% outpatient market compared to hospitals/clinics in the Main Line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Main Line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547788476"/>
              </p:ext>
            </p:extLst>
          </p:nvPr>
        </p:nvGraphicFramePr>
        <p:xfrm>
          <a:off x="698500" y="812800"/>
          <a:ext cx="7339075" cy="5182621"/>
        </p:xfrm>
        <a:graphic>
          <a:graphicData uri="http://schemas.openxmlformats.org/drawingml/2006/table">
            <a:tbl>
              <a:tblPr/>
              <a:tblGrid>
                <a:gridCol w="1467815">
                  <a:extLst>
                    <a:ext uri="{9D8B030D-6E8A-4147-A177-3AD203B41FA5}">
                      <a16:colId xmlns:a16="http://schemas.microsoft.com/office/drawing/2014/main" val="20000"/>
                    </a:ext>
                  </a:extLst>
                </a:gridCol>
                <a:gridCol w="1467815">
                  <a:extLst>
                    <a:ext uri="{9D8B030D-6E8A-4147-A177-3AD203B41FA5}">
                      <a16:colId xmlns:a16="http://schemas.microsoft.com/office/drawing/2014/main" val="20001"/>
                    </a:ext>
                  </a:extLst>
                </a:gridCol>
                <a:gridCol w="1467815">
                  <a:extLst>
                    <a:ext uri="{9D8B030D-6E8A-4147-A177-3AD203B41FA5}">
                      <a16:colId xmlns:a16="http://schemas.microsoft.com/office/drawing/2014/main" val="20002"/>
                    </a:ext>
                  </a:extLst>
                </a:gridCol>
                <a:gridCol w="1467815">
                  <a:extLst>
                    <a:ext uri="{9D8B030D-6E8A-4147-A177-3AD203B41FA5}">
                      <a16:colId xmlns:a16="http://schemas.microsoft.com/office/drawing/2014/main" val="20003"/>
                    </a:ext>
                  </a:extLst>
                </a:gridCol>
                <a:gridCol w="1467815">
                  <a:extLst>
                    <a:ext uri="{9D8B030D-6E8A-4147-A177-3AD203B41FA5}">
                      <a16:colId xmlns:a16="http://schemas.microsoft.com/office/drawing/2014/main" val="20004"/>
                    </a:ext>
                  </a:extLst>
                </a:gridCol>
              </a:tblGrid>
              <a:tr h="80294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Main Line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Main Line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8984">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$ 1,744,215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$ 1,326,073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$ 619,264.7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$ 3,689,553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$ 306,981.9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$ 233,388.8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$ 108,990.6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$ 649,361.3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$ 6,911,325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$ 6,971,325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$ 6,791,325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$ 13,013,812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$ 20,412,275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$ 9,532,359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$ 42,958,446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$ 2,290,431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$ 3,592,560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$ 1,677,695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$ 7,560,686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9% (inpatient) and 4%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24078886"/>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1932">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3739">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8234">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$348.8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$8,721.1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$58,180.3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$409.6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$2,047.9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$10,239.7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$1,978.4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$9,891.8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$49,459.2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$348.2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$1,741.0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$8,704.8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$6,630.4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$88,117.9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$15,508.7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$16,297.5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$81,487.5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$573.7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$2,868.4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$14,341.8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$3,096.3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$8,230.1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$41,150.3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8234">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$1,448.5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$7,242.5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$38,054.0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705">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$133.9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$1,339.5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$6,697.5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8234">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$270.9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$871.8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$5,678.8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$29,714.1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69345792"/>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$737.9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$3,689.6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$18,447.8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$3,749.0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$37,489.7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$187,448.4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$6,760.0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$33,800.1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$169,000.7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$6,598.2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$32,990.9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$594.9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$1,189.8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$5,948.8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$29,744.1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$871.8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$5,678.8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$29,714.1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1157969"/>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$737.9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$3,689.6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$18,447.8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$8,914.7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$44,573.4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$222,867.1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$4,088.4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$40,883.9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$204,419.3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$10,073.6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$50,368.0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$9,424.2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$47,121.2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$618.4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$1,566.8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$9,154.2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$47,091.2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2649639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$737.9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$3,689.6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$18,447.8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$30,286.3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$151,431.6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$26,596.8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$132,983.8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$3,816.1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$19,080.4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$633.3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$15,833.6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$315.3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$2,896.7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$15,803.6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Main Line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Main Line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Main Line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Main Line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46166</TotalTime>
  <Words>5146</Words>
  <Application>Microsoft Office PowerPoint</Application>
  <PresentationFormat>Widescreen</PresentationFormat>
  <Paragraphs>1343</Paragraphs>
  <Slides>43</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43</vt:i4>
      </vt:variant>
    </vt:vector>
  </HeadingPairs>
  <TitlesOfParts>
    <vt:vector size="57"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MAIN LINE HEALTH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MAIN LINE HEALTH’S 2024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2026-05-13T23:32:13Z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